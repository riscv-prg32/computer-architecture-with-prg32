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1717fde-836d-2e3e-7f30-dff878ae6359}">
          <p14:sldIdLst>
            <p14:sldId id="256"/>
            <p14:sldId id="257"/>
          </p14:sldIdLst>
        </p14:section>
        <p14:section name="Warm-up on the machine" id="{6e2de286-26a1-813a-cbc3-2f9349acc758}">
          <p14:sldIdLst>
            <p14:sldId id="258"/>
          </p14:sldIdLst>
        </p14:section>
        <p14:section name="Natural numbers and overflow" id="{c43099a3-d421-a197-a1ed-f535623f9bee}">
          <p14:sldIdLst>
            <p14:sldId id="259"/>
          </p14:sldIdLst>
        </p14:section>
        <p14:section name="Signed integers" id="{eb78b87a-fb8e-1790-1bc9-7bc4c8a51de1}">
          <p14:sldIdLst>
            <p14:sldId id="260"/>
          </p14:sldIdLst>
        </p14:section>
        <p14:section name="Back to the machine" id="{e3dba708-8dfd-a5e7-2ac5-ceaa67ff2138}">
          <p14:sldIdLst>
            <p14:sldId id="261"/>
            <p14:sldId id="262"/>
            <p14:sldId id="263"/>
            <p14:sldId id="264"/>
          </p14:sldIdLst>
        </p14:section>
        <p14:section name="The complete program" id="{8eb77c71-18e2-64e1-72bb-6e6a805989d3}">
          <p14:sldIdLst>
            <p14:sldId id="265"/>
            <p14:sldId id="266"/>
            <p14:sldId id="267"/>
            <p14:sldId id="268"/>
            <p14:sldId id="269"/>
          </p14:sldIdLst>
        </p14:section>
        <p14:section name="Run it and test it" id="{9b96c292-5b7c-f9c2-dd1a-a0f62463714c}">
          <p14:sldIdLst>
            <p14:sldId id="270"/>
            <p14:sldId id="271"/>
            <p14:sldId id="272"/>
            <p14:sldId id="273"/>
            <p14:sldId id="274"/>
          </p14:sldIdLst>
        </p14:section>
        <p14:section name="Exercises" id="{166d6d09-1bd7-6990-6689-aadeb98f7ccb}">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05.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two's complement; base conversions; naturals and overflow; shifts as multiplications; sign and magnitude; signed or unsigned instructions; sign extension. USE NOW: the PRG32 runtime calls, the complete program, the PRG32 tools (used, not studied, in this course). UNDERSTAND LATER: nothing.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~/arc12/code/l05.S; tools/tests/cartridges/run.py builds it, runs it on PRG32-QT with scripted input and checks the pixels of the frame.
For the lecturer: Get the code once: git clone https://github.com/riscv-prg32/computer-architecture-with-prg32 ~/arc12. The program of this lecture is ~/arc12/code/l05.S;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The code reads the buttons, loads marker_x from memory, subtracts 1 if LEFT is pressed and stores the result back: the load-modify-store idiom of Lecture 02. Holding LEFT, the printed value runs 00000002, 00000001, 00000000, and then FFFFFFFF. Is this an error? Is FFFFFFFF the number 4,294,967,295, or minus one? The fourth callout anticipates the answer: both, depending on how the bits are interpreted. The remainder of the lecture develops the rules behind that sentence, and by its end the phenomenon should be fully explicable.
UNDERSTAND NOW: two's complement. USE NOW: the PRG32 runtime calls (used, not studied, in this course).
For the lecturer: Adapted from textbook lab 06-asm-state-and-input (step2_move.S) with SPEED 1 and a console print. Where to look: on the board and in QEMU the console is drawn on the screen, as 0x00000002 ... 0xffffffff; PRG32-QT does not draw the console, it collects it in its log, as 00000002 ... FFFFFFFF. Run it live before any theory, and write the students' guesses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properties of binary strings, each with a practical use. Extending a number on the left with zeros leaves its value unchanged. Shifting left by k positions multiplies by 2^k: 00101, five, becomes 01010, ten. Shifting right by k positions divides by 2^k and discards the remainder. A shift is far cheaper in hardware than a general multiplication, and the code on the right shows the decomposition that compilers routinely apply: ten times x equals eight times x plus two times x, that is, two shifts and one addition. Shifts also underlie the fixed-point arithmetic of Lecture 06.
UNDERSTAND NOW: shifts as multiplications.
For the lecturer: You used slli t1, t1, 2 in Lecture 04 to multiply an array index by four. Shifts are also the basis of fixed-point arithmetic (Lecture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methods change the sign of a two's complement number. The first complements every bit and adds 1: six, 0110, becomes 1001 and then 1010, minus six. The second, faster by hand, scans from the right, copies the bits up to and including the first 1, and complements all the others. The justification of the first method is algebraic: the complement of x equals (2^n - 1) - x, so adding 1 yields 2^n - x, the representation of -x. RISC-V needs no dedicated instruction: neg is a pseudo-instruction for sub from the register zero. One exception remains: the most negative number has no positive counterpart, and negating it returns the same pattern.
UNDERSTAND NOW: two's complement.
For the lecturer: Why method 1 works: the complement of x is (2^n - 1) - x, so adding 1 gives 2^n - x. The source slide described method 2 'from the left'; the rule scans from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can now be explained completely. The marker stood at 0, and addi with -1 moved it one step backwards on a circle of 2^32 positions, leaving thirty-two ones in the register. Read as unsigned, they denote 4,294,967,295; read in two's complement, -1. The printing routine displays the pattern and takes no position on its meaning. The marker disappears because it is drawn off screen under either interpretation. The processor did not err: the program lacked a decision about how its value was to be interpreted and constrained.
UNDERSTAND NOW: signed or unsigned instructions.
For the lecturer: Not a bug in the processor: a missing decision in the program. The fix is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RISC-V registers carry no type: thirty-two bits are signed or unsigned only for the instruction that reads them. The table identifies where the two interpretations require different instructions. Addition, subtraction and the low half of a product are identical for both. Comparisons, branches, right shifts, byte loads and division come in pairs: slt and sltu, blt and bltu, sra and srl, lb and lbu, div and divu. The letter u in the mnemonic always denotes the unsigned variant. Selecting the wrong member of a pair is a classic and instructive error.
UNDERSTAND NOW: signed or unsigned instructions.
For the lecturer: RISC-V registers have no type. The same 32 bits are signed or unsigned only in the eye of the instruction that reads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corrected program keeps the marker on the screen. After the two possible displacements, bgez tests whether the position is greater than or equal to zero, interpreting it as a signed number, and if it is not, sets it to 0. ble then compares it with the maximum, 304, again as a signed number, and limits it accordingly. This technique is called clamping. The method deserves notice: a game does not detect overflow after the fact, but keeps its values within a range in which overflow cannot occur. A single sw at the end stores the adjusted value.
UNDERSTAND NOW: signed or unsigned instructions.
For the lecturer: Source: textbook lab 06-asm-state-and-input, step3_clamp.S. Ask what happens with bgeu or bltu instead: an instructive bug to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processors provide a carry flag and an overflow flag; RISC-V provides neither, and overflow is detected by comparison. In the unsigned case, if the sum after add is smaller than one of the operands, the result has wrapped around, a condition that sltu tests in a single instruction. In the signed case, adding a negative number must decrease the sum and adding a non-negative one must not; if these two facts disagree, overflow has occurred. In terms of the number wheel, the first test detects the crossing at the top and the second the crossing at the bottom. The absence of flags is a deliberate design choice, discussed in Lecture 18.
UNDERSTAND NOW: signed or unsigned instructions.
For the lecturer: Both idioms are the ones suggested in the RISC-V specification. Compare with the wheel: sltu detects crossing the top, the signed test detects crossing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three on paper and two on the machine. Convert 2026 and the fraction 0.1; write -100 in two representations; compute three eight-bit sums and determine which overflow. Then, in the clamping code, replace the signed branches by their unsigned counterparts and predict the behaviour before running it: the resulting error is instructive precisely because it is predictable. Finally, write an update that adds 0x10000000 at each frame and signals the signed overflow. The expected results are given in the green box, which should remain covered until one's own answers have been obtained.
For the lecturer: 2026 = 3752 octal. -100: sign and magnitude 1110 0100, two's complement 1001 1100. 90 + 60 = 150 overflows; -90 - 60 = -150 overflows; 90 - 60 = 30 does not. 0.1 = 0.00011001(1001...).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05: Number representation (integers)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05</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Number Representation: Integers: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05-Computer_Architecture-Number_Representation_Integers.pptx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lab2_step2_move.png">    </p:cNvPr>
          <p:cNvPicPr>
            <a:picLocks noChangeAspect="1"/>
          </p:cNvPicPr>
          <p:nvPr/>
        </p:nvPicPr>
        <p:blipFill>
          <a:blip r:embed="rId1"/>
          <a:stretch>
            <a:fillRect/>
          </a:stretch>
        </p:blipFill>
        <p:spPr>
          <a:xfrm>
            <a:off x="8716975" y="4280535"/>
            <a:ext cx="2834640" cy="177165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5 listings of Lecture 05,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code/l05.S, 93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Hold LEFT and watch the number</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steer_update: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500" dirty="0">
                <a:solidFill>
                  <a:srgbClr val="8FB3A0"/>
                </a:solidFill>
                <a:latin typeface="Courier New" pitchFamily="34" charset="0"/>
                <a:ea typeface="Courier New" pitchFamily="34" charset="-122"/>
                <a:cs typeface="Courier New" pitchFamily="34" charset="-120"/>
              </a:rPr>
              <a:t># a0 = button mask</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mv   t0, 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t1, marker_x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t2, 0(t1)             </a:t>
            </a:r>
            <a:pPr indent="0" marL="0">
              <a:buNone/>
            </a:pPr>
            <a:r>
              <a:rPr lang="en-US" sz="1500" dirty="0">
                <a:solidFill>
                  <a:srgbClr val="8FB3A0"/>
                </a:solidFill>
                <a:latin typeface="Courier New" pitchFamily="34" charset="0"/>
                <a:ea typeface="Courier New" pitchFamily="34" charset="-122"/>
                <a:cs typeface="Courier New" pitchFamily="34" charset="-120"/>
              </a:rPr>
              <a:t># t2 = marker_x, starts at 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andi t3, t0, BTN_LEFT      </a:t>
            </a:r>
            <a:pPr indent="0" marL="0">
              <a:buNone/>
            </a:pPr>
            <a:r>
              <a:rPr lang="en-US" sz="1500" dirty="0">
                <a:solidFill>
                  <a:srgbClr val="8FB3A0"/>
                </a:solidFill>
                <a:latin typeface="Courier New" pitchFamily="34" charset="0"/>
                <a:ea typeface="Courier New" pitchFamily="34" charset="-122"/>
                <a:cs typeface="Courier New" pitchFamily="34" charset="-120"/>
              </a:rPr>
              <a:t># is LEFT pressed?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beqz t3, 1f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t2, t2, -1            </a:t>
            </a:r>
            <a:pPr indent="0" marL="0">
              <a:buNone/>
            </a:pPr>
            <a:r>
              <a:rPr lang="en-US" sz="1500" dirty="0">
                <a:solidFill>
                  <a:srgbClr val="8FB3A0"/>
                </a:solidFill>
                <a:latin typeface="Courier New" pitchFamily="34" charset="0"/>
                <a:ea typeface="Courier New" pitchFamily="34" charset="-122"/>
                <a:cs typeface="Courier New" pitchFamily="34" charset="-120"/>
              </a:rPr>
              <a:t># one step to the left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1:  sw   t2, 0(t1)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draw prints marker_x with prg32_console_hex32</a:t>
            </a:r>
            <a:endParaRPr lang="en-US" sz="15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Hold LEFT: the value shown goes 00000002, 00000001, 00000000 ...</a:t>
            </a:r>
            <a:endParaRPr lang="en-US" sz="16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 and then FFFFFFFF. Is it a bug?</a:t>
            </a:r>
            <a:endParaRPr lang="en-US" sz="16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Is 0xFFFFFFFF the number 4,294,967,295 or the number -1?</a:t>
            </a:r>
            <a:endParaRPr lang="en-US" sz="16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Both. It depends on how you read the bits: this lecture gives the rules</a:t>
            </a:r>
            <a:endParaRPr lang="en-US" sz="1600" dirty="0"/>
          </a:p>
        </p:txBody>
      </p:sp>
      <p:sp>
        <p:nvSpPr>
          <p:cNvPr id="17" name="Shape 15"/>
          <p:cNvSpPr/>
          <p:nvPr/>
        </p:nvSpPr>
        <p:spPr>
          <a:xfrm>
            <a:off x="8762695" y="91440"/>
            <a:ext cx="2880360" cy="274320"/>
          </a:xfrm>
          <a:prstGeom prst="rect">
            <a:avLst/>
          </a:prstGeom>
          <a:solidFill>
            <a:srgbClr val="FEF3C7"/>
          </a:solidFill>
          <a:ln w="12700">
            <a:solidFill>
              <a:srgbClr val="B45309"/>
            </a:solidFill>
            <a:prstDash val="solid"/>
          </a:ln>
        </p:spPr>
      </p:sp>
      <p:sp>
        <p:nvSpPr>
          <p:cNvPr id="18" name="Shape 16"/>
          <p:cNvSpPr/>
          <p:nvPr/>
        </p:nvSpPr>
        <p:spPr>
          <a:xfrm>
            <a:off x="8762695" y="91440"/>
            <a:ext cx="27432" cy="274320"/>
          </a:xfrm>
          <a:prstGeom prst="rect">
            <a:avLst/>
          </a:prstGeom>
          <a:solidFill>
            <a:srgbClr val="B45309"/>
          </a:solidFill>
          <a:ln w="12700">
            <a:solidFill>
              <a:srgbClr val="B45309"/>
            </a:solidFill>
            <a:prstDash val="solid"/>
          </a:ln>
        </p:spPr>
      </p:sp>
      <p:sp>
        <p:nvSpPr>
          <p:cNvPr id="19" name="Shape 17"/>
          <p:cNvSpPr/>
          <p:nvPr/>
        </p:nvSpPr>
        <p:spPr>
          <a:xfrm>
            <a:off x="8817559"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890711" y="128016"/>
            <a:ext cx="201168" cy="201168"/>
          </a:xfrm>
          <a:prstGeom prst="rect">
            <a:avLst/>
          </a:prstGeom>
        </p:spPr>
      </p:pic>
      <p:sp>
        <p:nvSpPr>
          <p:cNvPr id="21" name="Text 18"/>
          <p:cNvSpPr txBox="1"/>
          <p:nvPr/>
        </p:nvSpPr>
        <p:spPr>
          <a:xfrm>
            <a:off x="9146743" y="91440"/>
            <a:ext cx="245973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runtime calls</a:t>
            </a:r>
            <a:endParaRPr lang="en-US" sz="1100" dirty="0"/>
          </a:p>
        </p:txBody>
      </p:sp>
      <p:sp>
        <p:nvSpPr>
          <p:cNvPr id="22" name="Shape 19"/>
          <p:cNvSpPr/>
          <p:nvPr/>
        </p:nvSpPr>
        <p:spPr>
          <a:xfrm>
            <a:off x="5625922" y="91440"/>
            <a:ext cx="3027045" cy="274320"/>
          </a:xfrm>
          <a:prstGeom prst="rect">
            <a:avLst/>
          </a:prstGeom>
          <a:solidFill>
            <a:srgbClr val="E0F2FE"/>
          </a:solidFill>
          <a:ln w="12700">
            <a:solidFill>
              <a:srgbClr val="0369A1"/>
            </a:solidFill>
            <a:prstDash val="solid"/>
          </a:ln>
        </p:spPr>
      </p:sp>
      <p:sp>
        <p:nvSpPr>
          <p:cNvPr id="23" name="Shape 20"/>
          <p:cNvSpPr/>
          <p:nvPr/>
        </p:nvSpPr>
        <p:spPr>
          <a:xfrm>
            <a:off x="5625922" y="91440"/>
            <a:ext cx="73152" cy="274320"/>
          </a:xfrm>
          <a:prstGeom prst="rect">
            <a:avLst/>
          </a:prstGeom>
          <a:solidFill>
            <a:srgbClr val="0369A1"/>
          </a:solidFill>
          <a:ln w="12700">
            <a:solidFill>
              <a:srgbClr val="0369A1"/>
            </a:solidFill>
            <a:prstDash val="solid"/>
          </a:ln>
        </p:spPr>
      </p:sp>
      <p:pic>
        <p:nvPicPr>
          <p:cNvPr id="24" name="Image 1" descr="preencoded.png">    </p:cNvPr>
          <p:cNvPicPr>
            <a:picLocks noChangeAspect="1"/>
          </p:cNvPicPr>
          <p:nvPr/>
        </p:nvPicPr>
        <p:blipFill>
          <a:blip r:embed="rId2"/>
          <a:stretch>
            <a:fillRect/>
          </a:stretch>
        </p:blipFill>
        <p:spPr>
          <a:xfrm>
            <a:off x="5753938" y="128016"/>
            <a:ext cx="201168" cy="201168"/>
          </a:xfrm>
          <a:prstGeom prst="rect">
            <a:avLst/>
          </a:prstGeom>
        </p:spPr>
      </p:pic>
      <p:sp>
        <p:nvSpPr>
          <p:cNvPr id="25" name="Text 21"/>
          <p:cNvSpPr txBox="1"/>
          <p:nvPr/>
        </p:nvSpPr>
        <p:spPr>
          <a:xfrm>
            <a:off x="6009970"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two's complement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Properties of binary strings</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Extension on the left with zeros does not change the value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5 = 101 = 00101</a:t>
            </a:r>
            <a:endParaRPr lang="en-US" sz="2200" dirty="0"/>
          </a:p>
        </p:txBody>
      </p:sp>
      <p:sp>
        <p:nvSpPr>
          <p:cNvPr id="5" name="Shape 3"/>
          <p:cNvSpPr/>
          <p:nvPr/>
        </p:nvSpPr>
        <p:spPr>
          <a:xfrm>
            <a:off x="548640" y="266970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63283"/>
            <a:ext cx="546811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Multiplying by 2^k is a shift left by k positions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00101 x 2 = 01010: five becomes ten</a:t>
            </a:r>
            <a:endParaRPr lang="en-US" sz="2200" dirty="0"/>
          </a:p>
        </p:txBody>
      </p:sp>
      <p:sp>
        <p:nvSpPr>
          <p:cNvPr id="7" name="Shape 5"/>
          <p:cNvSpPr/>
          <p:nvPr/>
        </p:nvSpPr>
        <p:spPr>
          <a:xfrm>
            <a:off x="548640" y="381567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09247"/>
            <a:ext cx="5468112" cy="130708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Integer division by 2^k is a shift right by k positions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00101 / 2 = 00010: five becomes two, the remainder is lost</a:t>
            </a:r>
            <a:endParaRPr lang="en-US" sz="2200" dirty="0"/>
          </a:p>
        </p:txBody>
      </p:sp>
      <p:sp>
        <p:nvSpPr>
          <p:cNvPr id="9" name="Shape 7"/>
          <p:cNvSpPr/>
          <p:nvPr/>
        </p:nvSpPr>
        <p:spPr>
          <a:xfrm>
            <a:off x="548640" y="525602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49596"/>
            <a:ext cx="546811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Shifts are much cheaper than multiplications: compilers use them whenever they can</a:t>
            </a:r>
            <a:endParaRPr lang="en-US" sz="2200" dirty="0"/>
          </a:p>
        </p:txBody>
      </p:sp>
      <p:sp>
        <p:nvSpPr>
          <p:cNvPr id="11" name="Shape 9"/>
          <p:cNvSpPr/>
          <p:nvPr/>
        </p:nvSpPr>
        <p:spPr>
          <a:xfrm>
            <a:off x="6766560" y="1417320"/>
            <a:ext cx="4876495" cy="3566160"/>
          </a:xfrm>
          <a:prstGeom prst="roundRect">
            <a:avLst>
              <a:gd name="adj" fmla="val 2051"/>
            </a:avLst>
          </a:prstGeom>
          <a:solidFill>
            <a:srgbClr val="12202B"/>
          </a:solidFill>
          <a:ln w="12700">
            <a:solidFill>
              <a:srgbClr val="12202B"/>
            </a:solidFill>
            <a:prstDash val="solid"/>
          </a:ln>
        </p:spPr>
      </p:sp>
      <p:sp>
        <p:nvSpPr>
          <p:cNvPr id="12" name="Text 10"/>
          <p:cNvSpPr txBox="1"/>
          <p:nvPr/>
        </p:nvSpPr>
        <p:spPr>
          <a:xfrm>
            <a:off x="6995160" y="1600200"/>
            <a:ext cx="4419295" cy="3200400"/>
          </a:xfrm>
          <a:prstGeom prst="rect">
            <a:avLst/>
          </a:prstGeom>
          <a:noFill/>
          <a:ln/>
        </p:spPr>
        <p:txBody>
          <a:bodyPr wrap="square" lIns="0" tIns="0" rIns="0" bIns="0" rtlCol="0" anchor="t"/>
          <a:lstStyle/>
          <a:p>
            <a:pPr indent="0" marL="0">
              <a:buNone/>
            </a:pPr>
            <a:r>
              <a:rPr lang="en-US" sz="1600" dirty="0">
                <a:solidFill>
                  <a:srgbClr val="8FB3A0"/>
                </a:solidFill>
                <a:latin typeface="Courier New" pitchFamily="34" charset="0"/>
                <a:ea typeface="Courier New" pitchFamily="34" charset="-122"/>
                <a:cs typeface="Courier New" pitchFamily="34" charset="-120"/>
              </a:rPr>
              <a:t># multiply by 4</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t0, t0, 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divide by 2 (unsigned)</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srli t0, t0, 1</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x * 10 = x*8 + x*2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t1, t0, 3</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t2, t0, 1</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add  t0, t1, t2</a:t>
            </a:r>
            <a:endParaRPr lang="en-US" sz="1600" dirty="0"/>
          </a:p>
        </p:txBody>
      </p:sp>
      <p:sp>
        <p:nvSpPr>
          <p:cNvPr id="13" name="Shape 11"/>
          <p:cNvSpPr/>
          <p:nvPr/>
        </p:nvSpPr>
        <p:spPr>
          <a:xfrm>
            <a:off x="8025079" y="91440"/>
            <a:ext cx="3617976" cy="274320"/>
          </a:xfrm>
          <a:prstGeom prst="rect">
            <a:avLst/>
          </a:prstGeom>
          <a:solidFill>
            <a:srgbClr val="E0F2FE"/>
          </a:solidFill>
          <a:ln w="12700">
            <a:solidFill>
              <a:srgbClr val="0369A1"/>
            </a:solidFill>
            <a:prstDash val="solid"/>
          </a:ln>
        </p:spPr>
      </p:sp>
      <p:sp>
        <p:nvSpPr>
          <p:cNvPr id="14" name="Shape 12"/>
          <p:cNvSpPr/>
          <p:nvPr/>
        </p:nvSpPr>
        <p:spPr>
          <a:xfrm>
            <a:off x="8025079"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8153095" y="128016"/>
            <a:ext cx="201168" cy="201168"/>
          </a:xfrm>
          <a:prstGeom prst="rect">
            <a:avLst/>
          </a:prstGeom>
        </p:spPr>
      </p:pic>
      <p:sp>
        <p:nvSpPr>
          <p:cNvPr id="16" name="Text 13"/>
          <p:cNvSpPr txBox="1"/>
          <p:nvPr/>
        </p:nvSpPr>
        <p:spPr>
          <a:xfrm>
            <a:off x="8409127" y="91440"/>
            <a:ext cx="319735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shifts as multiplications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Negating a number</a:t>
            </a:r>
            <a:endParaRPr lang="en-US" sz="3200" dirty="0"/>
          </a:p>
        </p:txBody>
      </p:sp>
      <p:sp>
        <p:nvSpPr>
          <p:cNvPr id="3" name="Shape 1"/>
          <p:cNvSpPr/>
          <p:nvPr/>
        </p:nvSpPr>
        <p:spPr>
          <a:xfrm>
            <a:off x="548640" y="15286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37767"/>
            <a:ext cx="5468112"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By definition -x is represented by 2^n - x</a:t>
            </a:r>
            <a:endParaRPr lang="en-US" sz="2000" dirty="0"/>
          </a:p>
        </p:txBody>
      </p:sp>
      <p:sp>
        <p:nvSpPr>
          <p:cNvPr id="5" name="Shape 3"/>
          <p:cNvSpPr/>
          <p:nvPr/>
        </p:nvSpPr>
        <p:spPr>
          <a:xfrm>
            <a:off x="548640" y="229577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04847"/>
            <a:ext cx="5468112" cy="609854"/>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Method 1: complement every bit, then add 1</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6 = 0110, complement 1001, plus one: 1010 = -6</a:t>
            </a:r>
            <a:endParaRPr lang="en-US" sz="2000" dirty="0"/>
          </a:p>
        </p:txBody>
      </p:sp>
      <p:sp>
        <p:nvSpPr>
          <p:cNvPr id="7" name="Shape 5"/>
          <p:cNvSpPr/>
          <p:nvPr/>
        </p:nvSpPr>
        <p:spPr>
          <a:xfrm>
            <a:off x="548640" y="336283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71901"/>
            <a:ext cx="5468112" cy="149301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Method 2: starting from the right, copy the bits up to and including the first 1, complement all the others</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5 = 0101 gives 1011 = -5; 1 = 0001 gives 1111 = -1</a:t>
            </a:r>
            <a:endParaRPr lang="en-US" sz="2000" dirty="0"/>
          </a:p>
        </p:txBody>
      </p:sp>
      <p:sp>
        <p:nvSpPr>
          <p:cNvPr id="9" name="Shape 7"/>
          <p:cNvSpPr/>
          <p:nvPr/>
        </p:nvSpPr>
        <p:spPr>
          <a:xfrm>
            <a:off x="548640" y="531304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222113"/>
            <a:ext cx="546811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Negating twice returns the original number, with one exception: the most negative number has no positive partner</a:t>
            </a:r>
            <a:endParaRPr lang="en-US" sz="2000" dirty="0"/>
          </a:p>
        </p:txBody>
      </p:sp>
      <p:sp>
        <p:nvSpPr>
          <p:cNvPr id="11" name="Shape 9"/>
          <p:cNvSpPr/>
          <p:nvPr/>
        </p:nvSpPr>
        <p:spPr>
          <a:xfrm>
            <a:off x="6766560" y="1417320"/>
            <a:ext cx="4876495" cy="2468880"/>
          </a:xfrm>
          <a:prstGeom prst="roundRect">
            <a:avLst>
              <a:gd name="adj" fmla="val 2963"/>
            </a:avLst>
          </a:prstGeom>
          <a:solidFill>
            <a:srgbClr val="12202B"/>
          </a:solidFill>
          <a:ln w="12700">
            <a:solidFill>
              <a:srgbClr val="12202B"/>
            </a:solidFill>
            <a:prstDash val="solid"/>
          </a:ln>
        </p:spPr>
      </p:sp>
      <p:sp>
        <p:nvSpPr>
          <p:cNvPr id="12" name="Text 10"/>
          <p:cNvSpPr txBox="1"/>
          <p:nvPr/>
        </p:nvSpPr>
        <p:spPr>
          <a:xfrm>
            <a:off x="6995160" y="1600200"/>
            <a:ext cx="4419295" cy="2103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neg t0, t1 is a pseudo-instruction: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sub  t0, zero, 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the same thing by hand: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not  t0, t1        </a:t>
            </a:r>
            <a:pPr indent="0" marL="0">
              <a:buNone/>
            </a:pPr>
            <a:r>
              <a:rPr lang="en-US" sz="1500" dirty="0">
                <a:solidFill>
                  <a:srgbClr val="8FB3A0"/>
                </a:solidFill>
                <a:latin typeface="Courier New" pitchFamily="34" charset="0"/>
                <a:ea typeface="Courier New" pitchFamily="34" charset="-122"/>
                <a:cs typeface="Courier New" pitchFamily="34" charset="-120"/>
              </a:rPr>
              <a:t># complement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addi t0, t0, 1     </a:t>
            </a:r>
            <a:pPr indent="0" marL="0">
              <a:buNone/>
            </a:pPr>
            <a:r>
              <a:rPr lang="en-US" sz="1500" dirty="0">
                <a:solidFill>
                  <a:srgbClr val="8FB3A0"/>
                </a:solidFill>
                <a:latin typeface="Courier New" pitchFamily="34" charset="0"/>
                <a:ea typeface="Courier New" pitchFamily="34" charset="-122"/>
                <a:cs typeface="Courier New" pitchFamily="34" charset="-120"/>
              </a:rPr>
              <a:t># plus one</a:t>
            </a:r>
            <a:endParaRPr lang="en-US" sz="1500" dirty="0"/>
          </a:p>
        </p:txBody>
      </p:sp>
      <p:sp>
        <p:nvSpPr>
          <p:cNvPr id="13" name="Shape 11"/>
          <p:cNvSpPr/>
          <p:nvPr/>
        </p:nvSpPr>
        <p:spPr>
          <a:xfrm>
            <a:off x="8616010" y="91440"/>
            <a:ext cx="3027045" cy="274320"/>
          </a:xfrm>
          <a:prstGeom prst="rect">
            <a:avLst/>
          </a:prstGeom>
          <a:solidFill>
            <a:srgbClr val="E0F2FE"/>
          </a:solidFill>
          <a:ln w="12700">
            <a:solidFill>
              <a:srgbClr val="0369A1"/>
            </a:solidFill>
            <a:prstDash val="solid"/>
          </a:ln>
        </p:spPr>
      </p:sp>
      <p:sp>
        <p:nvSpPr>
          <p:cNvPr id="14" name="Shape 12"/>
          <p:cNvSpPr/>
          <p:nvPr/>
        </p:nvSpPr>
        <p:spPr>
          <a:xfrm>
            <a:off x="8616010"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6" name="Text 13"/>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two's complement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warm-up, explained</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marker_x held 0; addi t2, t2, -1 moved one step back on a wheel with 2^32 positions</a:t>
            </a:r>
            <a:endParaRPr lang="en-US" sz="2200" dirty="0"/>
          </a:p>
        </p:txBody>
      </p:sp>
      <p:sp>
        <p:nvSpPr>
          <p:cNvPr id="5" name="Shape 3"/>
          <p:cNvSpPr/>
          <p:nvPr/>
        </p:nvSpPr>
        <p:spPr>
          <a:xfrm>
            <a:off x="548640" y="23740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67649"/>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register now holds thirty-two ones: 0xFFFFFFFF</a:t>
            </a:r>
            <a:endParaRPr lang="en-US" sz="2200" dirty="0"/>
          </a:p>
        </p:txBody>
      </p:sp>
      <p:sp>
        <p:nvSpPr>
          <p:cNvPr id="7" name="Shape 5"/>
          <p:cNvSpPr/>
          <p:nvPr/>
        </p:nvSpPr>
        <p:spPr>
          <a:xfrm>
            <a:off x="548640" y="322440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17977"/>
            <a:ext cx="656539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Read as unsigned it is 4,294,967,295; read in two's complement it is -1</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 adder did the same thing in both cases</a:t>
            </a:r>
            <a:endParaRPr lang="en-US" sz="2200" dirty="0"/>
          </a:p>
        </p:txBody>
      </p:sp>
      <p:sp>
        <p:nvSpPr>
          <p:cNvPr id="9" name="Shape 7"/>
          <p:cNvSpPr/>
          <p:nvPr/>
        </p:nvSpPr>
        <p:spPr>
          <a:xfrm>
            <a:off x="548640" y="440569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29926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prg32_console_hex32 prints the pattern, not an interpretation: it is neither right nor wrong</a:t>
            </a:r>
            <a:endParaRPr lang="en-US" sz="2200" dirty="0"/>
          </a:p>
        </p:txBody>
      </p:sp>
      <p:sp>
        <p:nvSpPr>
          <p:cNvPr id="11" name="Shape 9"/>
          <p:cNvSpPr/>
          <p:nvPr/>
        </p:nvSpPr>
        <p:spPr>
          <a:xfrm>
            <a:off x="548640" y="525602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49596"/>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marker disappears because prg32_gfx_rect is asked to draw at a huge x, or at -1: off the screen either way</a:t>
            </a:r>
            <a:endParaRPr lang="en-US" sz="2200" dirty="0"/>
          </a:p>
        </p:txBody>
      </p:sp>
      <p:pic>
        <p:nvPicPr>
          <p:cNvPr id="13" name="Image 0" descr="/Users/raffaelemontella/devel/riscv-prg32/computer-architecture-with-prg32/tools/assets/lab2_step2_move.png">    </p:cNvPr>
          <p:cNvPicPr>
            <a:picLocks noChangeAspect="1"/>
          </p:cNvPicPr>
          <p:nvPr/>
        </p:nvPicPr>
        <p:blipFill>
          <a:blip r:embed="rId1"/>
          <a:stretch>
            <a:fillRect/>
          </a:stretch>
        </p:blipFill>
        <p:spPr>
          <a:xfrm>
            <a:off x="7863840" y="2385155"/>
            <a:ext cx="3779215" cy="236201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Lab 06, step 2: seven lamps for the button bits and a marker</a:t>
            </a:r>
            <a:endParaRPr lang="en-US" sz="1200" dirty="0"/>
          </a:p>
        </p:txBody>
      </p:sp>
      <p:sp>
        <p:nvSpPr>
          <p:cNvPr id="15" name="Shape 12"/>
          <p:cNvSpPr/>
          <p:nvPr/>
        </p:nvSpPr>
        <p:spPr>
          <a:xfrm>
            <a:off x="7631125" y="91440"/>
            <a:ext cx="4011930" cy="274320"/>
          </a:xfrm>
          <a:prstGeom prst="rect">
            <a:avLst/>
          </a:prstGeom>
          <a:solidFill>
            <a:srgbClr val="E0F2FE"/>
          </a:solidFill>
          <a:ln w="12700">
            <a:solidFill>
              <a:srgbClr val="0369A1"/>
            </a:solidFill>
            <a:prstDash val="solid"/>
          </a:ln>
        </p:spPr>
      </p:sp>
      <p:sp>
        <p:nvSpPr>
          <p:cNvPr id="16" name="Shape 13"/>
          <p:cNvSpPr/>
          <p:nvPr/>
        </p:nvSpPr>
        <p:spPr>
          <a:xfrm>
            <a:off x="7631125"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7759141" y="128016"/>
            <a:ext cx="201168" cy="201168"/>
          </a:xfrm>
          <a:prstGeom prst="rect">
            <a:avLst/>
          </a:prstGeom>
        </p:spPr>
      </p:pic>
      <p:sp>
        <p:nvSpPr>
          <p:cNvPr id="18" name="Text 14"/>
          <p:cNvSpPr txBox="1"/>
          <p:nvPr/>
        </p:nvSpPr>
        <p:spPr>
          <a:xfrm>
            <a:off x="8015173" y="91440"/>
            <a:ext cx="359130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signed or unsigned instructions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Signed or unsigned? You choose with the instruction</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64384"/>
                <a:gridCol w="2182508"/>
                <a:gridCol w="2182508"/>
                <a:gridCol w="4365016"/>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Operation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Signed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Unsigned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Why they differ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add, subtract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add, addi, sub</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the same</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two's complement: one adder for both</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multiply (low word)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mul</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the same</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low 32 bits do not depend on the sign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compare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slt, slti</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sltu, sltiu</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is 0xFFFFFFFF less than 0? yes if signed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branch</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blt, bge</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bltu, bgeu</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same question, as a jump</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shift right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sra, srai</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srl, srli</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copy the sign bit, or insert zeros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load a byte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lb</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lbu</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sign extension or zero extension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divide, remainder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div, rem</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divu, remu</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magnitudes are read differently</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631125" y="91440"/>
            <a:ext cx="4011930" cy="274320"/>
          </a:xfrm>
          <a:prstGeom prst="rect">
            <a:avLst/>
          </a:prstGeom>
          <a:solidFill>
            <a:srgbClr val="E0F2FE"/>
          </a:solidFill>
          <a:ln w="12700">
            <a:solidFill>
              <a:srgbClr val="0369A1"/>
            </a:solidFill>
            <a:prstDash val="solid"/>
          </a:ln>
        </p:spPr>
      </p:sp>
      <p:sp>
        <p:nvSpPr>
          <p:cNvPr id="5" name="Shape 2"/>
          <p:cNvSpPr/>
          <p:nvPr/>
        </p:nvSpPr>
        <p:spPr>
          <a:xfrm>
            <a:off x="7631125"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7759141" y="128016"/>
            <a:ext cx="201168" cy="201168"/>
          </a:xfrm>
          <a:prstGeom prst="rect">
            <a:avLst/>
          </a:prstGeom>
        </p:spPr>
      </p:pic>
      <p:sp>
        <p:nvSpPr>
          <p:cNvPr id="7" name="Text 3"/>
          <p:cNvSpPr txBox="1"/>
          <p:nvPr/>
        </p:nvSpPr>
        <p:spPr>
          <a:xfrm>
            <a:off x="8015173" y="91440"/>
            <a:ext cx="359130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signed or unsigned instructions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Keeping the marker on the screen</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    andi t3, t0, BTN_LEFT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beqz t3, 1f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t2, t2, -SPEED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1:  andi t3, t0, BTN_RIGHT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beqz t3, 2f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t2, t2, SPEED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bgez t2, 3f            </a:t>
            </a:r>
            <a:pPr indent="0" marL="0">
              <a:buNone/>
            </a:pPr>
            <a:r>
              <a:rPr lang="en-US" sz="1450" dirty="0">
                <a:solidFill>
                  <a:srgbClr val="8FB3A0"/>
                </a:solidFill>
                <a:latin typeface="Courier New" pitchFamily="34" charset="0"/>
                <a:ea typeface="Courier New" pitchFamily="34" charset="-122"/>
                <a:cs typeface="Courier New" pitchFamily="34" charset="-120"/>
              </a:rPr>
              <a:t># x &lt; 0 ?  clamp to 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t2, 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3:  li   t3, MAX_X         </a:t>
            </a:r>
            <a:pPr indent="0" marL="0">
              <a:buNone/>
            </a:pPr>
            <a:r>
              <a:rPr lang="en-US" sz="1450" dirty="0">
                <a:solidFill>
                  <a:srgbClr val="8FB3A0"/>
                </a:solidFill>
                <a:latin typeface="Courier New" pitchFamily="34" charset="0"/>
                <a:ea typeface="Courier New" pitchFamily="34" charset="-122"/>
                <a:cs typeface="Courier New" pitchFamily="34" charset="-120"/>
              </a:rPr>
              <a:t># .equ MAX_X, 304</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ble  t2, t3, 4f        </a:t>
            </a:r>
            <a:pPr indent="0" marL="0">
              <a:buNone/>
            </a:pPr>
            <a:r>
              <a:rPr lang="en-US" sz="1450" dirty="0">
                <a:solidFill>
                  <a:srgbClr val="8FB3A0"/>
                </a:solidFill>
                <a:latin typeface="Courier New" pitchFamily="34" charset="0"/>
                <a:ea typeface="Courier New" pitchFamily="34" charset="-122"/>
                <a:cs typeface="Courier New" pitchFamily="34" charset="-120"/>
              </a:rPr>
              <a:t># x &gt; 304 ?  clamp to 304</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mv   t2, t3</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4:</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t2, 0(t1)         </a:t>
            </a:r>
            <a:pPr indent="0" marL="0">
              <a:buNone/>
            </a:pPr>
            <a:r>
              <a:rPr lang="en-US" sz="1450" dirty="0">
                <a:solidFill>
                  <a:srgbClr val="8FB3A0"/>
                </a:solidFill>
                <a:latin typeface="Courier New" pitchFamily="34" charset="0"/>
                <a:ea typeface="Courier New" pitchFamily="34" charset="-122"/>
                <a:cs typeface="Courier New" pitchFamily="34" charset="-120"/>
              </a:rPr>
              <a:t># one store, after all adjustments</a:t>
            </a:r>
            <a:endParaRPr lang="en-US" sz="14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bgez reads t2 as a signed number: it tests the sign bit</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ble is a signed comparison too: -1 is less than 304. With bleu, 0xFFFFFFFF would be far greater</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game does not detect overflow after the fact: it keeps values inside a range where overflow cannot happen</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-SPEED is an immediate: twelve bits in two's complement, from -2048 to +2047</a:t>
            </a:r>
            <a:endParaRPr lang="en-US" sz="1200" dirty="0"/>
          </a:p>
        </p:txBody>
      </p:sp>
      <p:sp>
        <p:nvSpPr>
          <p:cNvPr id="17" name="Shape 15"/>
          <p:cNvSpPr/>
          <p:nvPr/>
        </p:nvSpPr>
        <p:spPr>
          <a:xfrm>
            <a:off x="7631125" y="91440"/>
            <a:ext cx="4011930" cy="274320"/>
          </a:xfrm>
          <a:prstGeom prst="rect">
            <a:avLst/>
          </a:prstGeom>
          <a:solidFill>
            <a:srgbClr val="E0F2FE"/>
          </a:solidFill>
          <a:ln w="12700">
            <a:solidFill>
              <a:srgbClr val="0369A1"/>
            </a:solidFill>
            <a:prstDash val="solid"/>
          </a:ln>
        </p:spPr>
      </p:sp>
      <p:sp>
        <p:nvSpPr>
          <p:cNvPr id="18" name="Shape 16"/>
          <p:cNvSpPr/>
          <p:nvPr/>
        </p:nvSpPr>
        <p:spPr>
          <a:xfrm>
            <a:off x="763112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759141" y="128016"/>
            <a:ext cx="201168" cy="201168"/>
          </a:xfrm>
          <a:prstGeom prst="rect">
            <a:avLst/>
          </a:prstGeom>
        </p:spPr>
      </p:pic>
      <p:sp>
        <p:nvSpPr>
          <p:cNvPr id="20" name="Text 17"/>
          <p:cNvSpPr txBox="1"/>
          <p:nvPr/>
        </p:nvSpPr>
        <p:spPr>
          <a:xfrm>
            <a:off x="8015173" y="91440"/>
            <a:ext cx="359130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signed or unsigned instructions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Detecting overflow without flags</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unsigned: did the sum wrap around?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t2, t0, t1        </a:t>
            </a:r>
            <a:pPr indent="0" marL="0">
              <a:buNone/>
            </a:pPr>
            <a:r>
              <a:rPr lang="en-US" sz="1350" dirty="0">
                <a:solidFill>
                  <a:srgbClr val="8FB3A0"/>
                </a:solidFill>
                <a:latin typeface="Courier New" pitchFamily="34" charset="0"/>
                <a:ea typeface="Courier New" pitchFamily="34" charset="-122"/>
                <a:cs typeface="Courier New" pitchFamily="34" charset="-120"/>
              </a:rPr>
              <a:t># t2 = t0 + t1   (modulo 2^32)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sltu t3, t2, t0        </a:t>
            </a:r>
            <a:pPr indent="0" marL="0">
              <a:buNone/>
            </a:pPr>
            <a:r>
              <a:rPr lang="en-US" sz="1350" dirty="0">
                <a:solidFill>
                  <a:srgbClr val="8FB3A0"/>
                </a:solidFill>
                <a:latin typeface="Courier New" pitchFamily="34" charset="0"/>
                <a:ea typeface="Courier New" pitchFamily="34" charset="-122"/>
                <a:cs typeface="Courier New" pitchFamily="34" charset="-120"/>
              </a:rPr>
              <a:t># t3 = 1 if the sum is smaller than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pPr indent="0" marL="0">
              <a:buNone/>
            </a:pPr>
            <a:r>
              <a:rPr lang="en-US" sz="1350" dirty="0">
                <a:solidFill>
                  <a:srgbClr val="8FB3A0"/>
                </a:solidFill>
                <a:latin typeface="Courier New" pitchFamily="34" charset="0"/>
                <a:ea typeface="Courier New" pitchFamily="34" charset="-122"/>
                <a:cs typeface="Courier New" pitchFamily="34" charset="-120"/>
              </a:rPr>
              <a:t>#        an operand: a carry was lost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signed: did the sign come out wrong?</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t2, t0, t1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slti t3, t1, 0         </a:t>
            </a:r>
            <a:pPr indent="0" marL="0">
              <a:buNone/>
            </a:pPr>
            <a:r>
              <a:rPr lang="en-US" sz="1350" dirty="0">
                <a:solidFill>
                  <a:srgbClr val="8FB3A0"/>
                </a:solidFill>
                <a:latin typeface="Courier New" pitchFamily="34" charset="0"/>
                <a:ea typeface="Courier New" pitchFamily="34" charset="-122"/>
                <a:cs typeface="Courier New" pitchFamily="34" charset="-120"/>
              </a:rPr>
              <a:t># t3 = 1 if t1 is negative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slt  t4, t2, t0        </a:t>
            </a:r>
            <a:pPr indent="0" marL="0">
              <a:buNone/>
            </a:pPr>
            <a:r>
              <a:rPr lang="en-US" sz="1350" dirty="0">
                <a:solidFill>
                  <a:srgbClr val="8FB3A0"/>
                </a:solidFill>
                <a:latin typeface="Courier New" pitchFamily="34" charset="0"/>
                <a:ea typeface="Courier New" pitchFamily="34" charset="-122"/>
                <a:cs typeface="Courier New" pitchFamily="34" charset="-120"/>
              </a:rPr>
              <a:t># t4 = 1 if the sum is less than 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bne  t3, t4, overflow  </a:t>
            </a:r>
            <a:pPr indent="0" marL="0">
              <a:buNone/>
            </a:pPr>
            <a:r>
              <a:rPr lang="en-US" sz="1350" dirty="0">
                <a:solidFill>
                  <a:srgbClr val="8FB3A0"/>
                </a:solidFill>
                <a:latin typeface="Courier New" pitchFamily="34" charset="0"/>
                <a:ea typeface="Courier New" pitchFamily="34" charset="-122"/>
                <a:cs typeface="Courier New" pitchFamily="34" charset="-120"/>
              </a:rPr>
              <a:t># they must agree</a:t>
            </a:r>
            <a:endParaRPr lang="en-US" sz="1350" dirty="0"/>
          </a:p>
        </p:txBody>
      </p:sp>
      <p:sp>
        <p:nvSpPr>
          <p:cNvPr id="5" name="Shape 3"/>
          <p:cNvSpPr/>
          <p:nvPr/>
        </p:nvSpPr>
        <p:spPr>
          <a:xfrm>
            <a:off x="8229600" y="1417320"/>
            <a:ext cx="341345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RISC-V has no carry flag and no overflow flag: fewer hidden states, a simpler processor</a:t>
            </a:r>
            <a:endParaRPr lang="en-US" sz="1600" dirty="0"/>
          </a:p>
        </p:txBody>
      </p:sp>
      <p:sp>
        <p:nvSpPr>
          <p:cNvPr id="8" name="Shape 6"/>
          <p:cNvSpPr/>
          <p:nvPr/>
        </p:nvSpPr>
        <p:spPr>
          <a:xfrm>
            <a:off x="8229600" y="3069336"/>
            <a:ext cx="341345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839419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3206496"/>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Unsigned: a sum that wrapped is always smaller than either operand</a:t>
            </a:r>
            <a:endParaRPr lang="en-US" sz="1600" dirty="0"/>
          </a:p>
        </p:txBody>
      </p:sp>
      <p:sp>
        <p:nvSpPr>
          <p:cNvPr id="11" name="Shape 9"/>
          <p:cNvSpPr/>
          <p:nvPr/>
        </p:nvSpPr>
        <p:spPr>
          <a:xfrm>
            <a:off x="8229600" y="4721352"/>
            <a:ext cx="341345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839419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858512"/>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Signed: adding a negative number must make the sum smaller; adding a non-negative one must not</a:t>
            </a:r>
            <a:endParaRPr lang="en-US" sz="1600" dirty="0"/>
          </a:p>
        </p:txBody>
      </p:sp>
      <p:sp>
        <p:nvSpPr>
          <p:cNvPr id="14" name="Shape 12"/>
          <p:cNvSpPr/>
          <p:nvPr/>
        </p:nvSpPr>
        <p:spPr>
          <a:xfrm>
            <a:off x="7631125" y="91440"/>
            <a:ext cx="4011930" cy="274320"/>
          </a:xfrm>
          <a:prstGeom prst="rect">
            <a:avLst/>
          </a:prstGeom>
          <a:solidFill>
            <a:srgbClr val="E0F2FE"/>
          </a:solidFill>
          <a:ln w="12700">
            <a:solidFill>
              <a:srgbClr val="0369A1"/>
            </a:solidFill>
            <a:prstDash val="solid"/>
          </a:ln>
        </p:spPr>
      </p:sp>
      <p:sp>
        <p:nvSpPr>
          <p:cNvPr id="15" name="Shape 13"/>
          <p:cNvSpPr/>
          <p:nvPr/>
        </p:nvSpPr>
        <p:spPr>
          <a:xfrm>
            <a:off x="763112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7759141" y="128016"/>
            <a:ext cx="201168" cy="201168"/>
          </a:xfrm>
          <a:prstGeom prst="rect">
            <a:avLst/>
          </a:prstGeom>
        </p:spPr>
      </p:pic>
      <p:sp>
        <p:nvSpPr>
          <p:cNvPr id="17" name="Text 14"/>
          <p:cNvSpPr txBox="1"/>
          <p:nvPr/>
        </p:nvSpPr>
        <p:spPr>
          <a:xfrm>
            <a:off x="8015173" y="91440"/>
            <a:ext cx="359130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signed or unsigned instructions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l05.S (1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ARC12 Computer Architecture - Lecture 05: Number Representation: Integers</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l05.S: hold LEFT and watch a number go below zero</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On the screen: the 32 bits of marker_x as lamps. It starts at 2 (one lamp); each</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frame with LEFT held subtracts 1: after 2, 1 and 0 every lamp lights up, 0xFFFFFFFF,</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which is -1.</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Build: python3 -m prg32 cartridge build l05.S --portable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--entry-prefix l05 --name l05 --out l05.prg32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.option norelax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BLACK,  0x0000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GREY,   0x4208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YELLOW, 0xffe0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BTN_LEFT, 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l05_init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l05_update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l05_draw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l05_init: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l05.S (2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l05_update: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800" dirty="0">
                <a:solidFill>
                  <a:srgbClr val="8FB3A0"/>
                </a:solidFill>
                <a:latin typeface="Courier New" pitchFamily="34" charset="0"/>
                <a:ea typeface="Courier New" pitchFamily="34" charset="-122"/>
                <a:cs typeface="Courier New" pitchFamily="34" charset="-120"/>
              </a:rPr>
              <a:t># a0 = button mask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mv   t0, a0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t1, marker_x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t2, 0(t1)             </a:t>
            </a:r>
            <a:pPr indent="0" marL="0">
              <a:buNone/>
            </a:pPr>
            <a:r>
              <a:rPr lang="en-US" sz="1800" dirty="0">
                <a:solidFill>
                  <a:srgbClr val="8FB3A0"/>
                </a:solidFill>
                <a:latin typeface="Courier New" pitchFamily="34" charset="0"/>
                <a:ea typeface="Courier New" pitchFamily="34" charset="-122"/>
                <a:cs typeface="Courier New" pitchFamily="34" charset="-120"/>
              </a:rPr>
              <a:t># t2 = marker_x, starts at 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t3, t0, BTN_LEFT      </a:t>
            </a:r>
            <a:pPr indent="0" marL="0">
              <a:buNone/>
            </a:pPr>
            <a:r>
              <a:rPr lang="en-US" sz="1800" dirty="0">
                <a:solidFill>
                  <a:srgbClr val="8FB3A0"/>
                </a:solidFill>
                <a:latin typeface="Courier New" pitchFamily="34" charset="0"/>
                <a:ea typeface="Courier New" pitchFamily="34" charset="-122"/>
                <a:cs typeface="Courier New" pitchFamily="34" charset="-120"/>
              </a:rPr>
              <a:t># is LEFT pressed?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beqz t3, 1f</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t2, t2, -1            </a:t>
            </a:r>
            <a:pPr indent="0" marL="0">
              <a:buNone/>
            </a:pPr>
            <a:r>
              <a:rPr lang="en-US" sz="1800" dirty="0">
                <a:solidFill>
                  <a:srgbClr val="8FB3A0"/>
                </a:solidFill>
                <a:latin typeface="Courier New" pitchFamily="34" charset="0"/>
                <a:ea typeface="Courier New" pitchFamily="34" charset="-122"/>
                <a:cs typeface="Courier New" pitchFamily="34" charset="-120"/>
              </a:rPr>
              <a:t># one step to the left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1:  sw   t2, 0(t1)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l05.S (3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l05_draw: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BLACK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prg32_gfx_clear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prg32_console_clear   </a:t>
            </a:r>
            <a:pPr indent="0" marL="0">
              <a:buNone/>
            </a:pPr>
            <a:r>
              <a:rPr lang="en-US" sz="1800" dirty="0">
                <a:solidFill>
                  <a:srgbClr val="8FB3A0"/>
                </a:solidFill>
                <a:latin typeface="Courier New" pitchFamily="34" charset="0"/>
                <a:ea typeface="Courier New" pitchFamily="34" charset="-122"/>
                <a:cs typeface="Courier New" pitchFamily="34" charset="-120"/>
              </a:rPr>
              <a:t># the number in hexadecimal, on the console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marker_x          </a:t>
            </a:r>
            <a:pPr indent="0" marL="0">
              <a:buNone/>
            </a:pPr>
            <a:r>
              <a:rPr lang="en-US" sz="1800" dirty="0">
                <a:solidFill>
                  <a:srgbClr val="8FB3A0"/>
                </a:solidFill>
                <a:latin typeface="Courier New" pitchFamily="34" charset="0"/>
                <a:ea typeface="Courier New" pitchFamily="34" charset="-122"/>
                <a:cs typeface="Courier New" pitchFamily="34" charset="-120"/>
              </a:rPr>
              <a:t># (the board and QEMU show it on the screen,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             </a:t>
            </a:r>
            <a:pPr indent="0" marL="0">
              <a:buNone/>
            </a:pPr>
            <a:r>
              <a:rPr lang="en-US" sz="1800" dirty="0">
                <a:solidFill>
                  <a:srgbClr val="8FB3A0"/>
                </a:solidFill>
                <a:latin typeface="Courier New" pitchFamily="34" charset="0"/>
                <a:ea typeface="Courier New" pitchFamily="34" charset="-122"/>
                <a:cs typeface="Courier New" pitchFamily="34" charset="-120"/>
              </a:rPr>
              <a:t>#  PRG32-QT in its log)</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prg32_console_hex32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marker_x          </a:t>
            </a:r>
            <a:pPr indent="0" marL="0">
              <a:buNone/>
            </a:pPr>
            <a:r>
              <a:rPr lang="en-US" sz="1800" dirty="0">
                <a:solidFill>
                  <a:srgbClr val="8FB3A0"/>
                </a:solidFill>
                <a:latin typeface="Courier New" pitchFamily="34" charset="0"/>
                <a:ea typeface="Courier New" pitchFamily="34" charset="-122"/>
                <a:cs typeface="Courier New" pitchFamily="34" charset="-120"/>
              </a:rPr>
              <a:t># and the same number, bit by bit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96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lamps32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l05.S (4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lamps32: show the 32 bits of a word as a row of lamps, bit 31 on the left.</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a0 = the word, a1 = y of the row.  A lamp is yellow for 1, grey for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lamps32: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28(sp)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24(sp)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s1, 20(sp)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s2, 16(sp)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s0, a0              </a:t>
            </a:r>
            <a:pPr indent="0" marL="0">
              <a:buNone/>
            </a:pPr>
            <a:r>
              <a:rPr lang="en-US" sz="1200" dirty="0">
                <a:solidFill>
                  <a:srgbClr val="8FB3A0"/>
                </a:solidFill>
                <a:latin typeface="Courier New" pitchFamily="34" charset="0"/>
                <a:ea typeface="Courier New" pitchFamily="34" charset="-122"/>
                <a:cs typeface="Courier New" pitchFamily="34" charset="-120"/>
              </a:rPr>
              <a:t># the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s1, a1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s2, 0               </a:t>
            </a:r>
            <a:pPr indent="0" marL="0">
              <a:buNone/>
            </a:pPr>
            <a:r>
              <a:rPr lang="en-US" sz="1200" dirty="0">
                <a:solidFill>
                  <a:srgbClr val="8FB3A0"/>
                </a:solidFill>
                <a:latin typeface="Courier New" pitchFamily="34" charset="0"/>
                <a:ea typeface="Courier New" pitchFamily="34" charset="-122"/>
                <a:cs typeface="Courier New" pitchFamily="34" charset="-120"/>
              </a:rPr>
              <a:t># lamp number, 0 on the 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li   t0, 31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sub  t0, t0, s2          </a:t>
            </a:r>
            <a:pPr indent="0" marL="0">
              <a:buNone/>
            </a:pPr>
            <a:r>
              <a:rPr lang="en-US" sz="1200" dirty="0">
                <a:solidFill>
                  <a:srgbClr val="8FB3A0"/>
                </a:solidFill>
                <a:latin typeface="Courier New" pitchFamily="34" charset="0"/>
                <a:ea typeface="Courier New" pitchFamily="34" charset="-122"/>
                <a:cs typeface="Courier New" pitchFamily="34" charset="-120"/>
              </a:rPr>
              <a:t># lamp i shows bit 31 -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srl  t1, s0, t0          </a:t>
            </a:r>
            <a:pPr indent="0" marL="0">
              <a:buNone/>
            </a:pPr>
            <a:r>
              <a:rPr lang="en-US" sz="1200" dirty="0">
                <a:solidFill>
                  <a:srgbClr val="8FB3A0"/>
                </a:solidFill>
                <a:latin typeface="Courier New" pitchFamily="34" charset="0"/>
                <a:ea typeface="Courier New" pitchFamily="34" charset="-122"/>
                <a:cs typeface="Courier New" pitchFamily="34" charset="-120"/>
              </a:rPr>
              <a:t># bring that bit down to bit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t1, t1, 1           </a:t>
            </a:r>
            <a:pPr indent="0" marL="0">
              <a:buNone/>
            </a:pPr>
            <a:r>
              <a:rPr lang="en-US" sz="1200" dirty="0">
                <a:solidFill>
                  <a:srgbClr val="8FB3A0"/>
                </a:solidFill>
                <a:latin typeface="Courier New" pitchFamily="34" charset="0"/>
                <a:ea typeface="Courier New" pitchFamily="34" charset="-122"/>
                <a:cs typeface="Courier New" pitchFamily="34" charset="-120"/>
              </a:rPr>
              <a:t># keep it, clear all the others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GREY            </a:t>
            </a:r>
            <a:pPr indent="0" marL="0">
              <a:buNone/>
            </a:pPr>
            <a:r>
              <a:rPr lang="en-US" sz="1200" dirty="0">
                <a:solidFill>
                  <a:srgbClr val="8FB3A0"/>
                </a:solidFill>
                <a:latin typeface="Courier New" pitchFamily="34" charset="0"/>
                <a:ea typeface="Courier New" pitchFamily="34" charset="-122"/>
                <a:cs typeface="Courier New" pitchFamily="34" charset="-120"/>
              </a:rPr>
              <a:t># lamp off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t1,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YELLOW          </a:t>
            </a:r>
            <a:pPr indent="0" marL="0">
              <a:buNone/>
            </a:pPr>
            <a:r>
              <a:rPr lang="en-US" sz="1200" dirty="0">
                <a:solidFill>
                  <a:srgbClr val="8FB3A0"/>
                </a:solidFill>
                <a:latin typeface="Courier New" pitchFamily="34" charset="0"/>
                <a:ea typeface="Courier New" pitchFamily="34" charset="-122"/>
                <a:cs typeface="Courier New" pitchFamily="34" charset="-120"/>
              </a:rPr>
              <a:t># lamp on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slli a0, s2,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a0, a0, s2          </a:t>
            </a:r>
            <a:pPr indent="0" marL="0">
              <a:buNone/>
            </a:pPr>
            <a:r>
              <a:rPr lang="en-US" sz="1200" dirty="0">
                <a:solidFill>
                  <a:srgbClr val="8FB3A0"/>
                </a:solidFill>
                <a:latin typeface="Courier New" pitchFamily="34" charset="0"/>
                <a:ea typeface="Courier New" pitchFamily="34" charset="-122"/>
                <a:cs typeface="Courier New" pitchFamily="34" charset="-120"/>
              </a:rPr>
              <a:t>#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a0, a0, 16          </a:t>
            </a:r>
            <a:pPr indent="0" marL="0">
              <a:buNone/>
            </a:pPr>
            <a:r>
              <a:rPr lang="en-US" sz="1200" dirty="0">
                <a:solidFill>
                  <a:srgbClr val="8FB3A0"/>
                </a:solidFill>
                <a:latin typeface="Courier New" pitchFamily="34" charset="0"/>
                <a:ea typeface="Courier New" pitchFamily="34" charset="-122"/>
                <a:cs typeface="Courier New" pitchFamily="34" charset="-120"/>
              </a:rPr>
              <a:t># x = 16 + 9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8</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l05.S (5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marker_x: .word 2</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the 32 bits of marker_x as lamps. It starts at 2 (one lamp); each frame with LEFT held subtracts 1: after 2, 1 and 0 every lamp lights up, 0xFFFFFFFF, which is -1.</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hold LEFT for a few frames</a:t>
            </a:r>
            <a:endParaRPr lang="en-US" sz="2400" dirty="0"/>
          </a:p>
        </p:txBody>
      </p:sp>
      <p:pic>
        <p:nvPicPr>
          <p:cNvPr id="7" name="Image 0" descr="/Users/raffaelemontella/devel/riscv-prg32/computer-architecture-with-prg32/tools/assets/lab_l05.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~/arc12/code/l05.S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l05 --name l05 --out l05.prg32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l05.prg32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~/arc12/code/l05.S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l05 --name l05 --architecture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l05-qemu.prg32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l05-qemu.prg32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~/arc12/code/l05.S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l05 --name l05 --architecture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l05-esp32c6.prg32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l05-esp32c6.prg32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l05;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Convert 2026 to binary, octal and hexadecimal; convert 0.1 to binary up to eight fractional bits</a:t>
            </a:r>
            <a:endParaRPr lang="en-US" sz="2000" dirty="0"/>
          </a:p>
        </p:txBody>
      </p:sp>
      <p:sp>
        <p:nvSpPr>
          <p:cNvPr id="6" name="Text 4"/>
          <p:cNvSpPr txBox="1"/>
          <p:nvPr/>
        </p:nvSpPr>
        <p:spPr>
          <a:xfrm>
            <a:off x="548640" y="223977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221484"/>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-100 on 8 bits in sign and magnitude and in two's complement</a:t>
            </a:r>
            <a:endParaRPr lang="en-US" sz="2000" dirty="0"/>
          </a:p>
        </p:txBody>
      </p:sp>
      <p:sp>
        <p:nvSpPr>
          <p:cNvPr id="8" name="Text 6"/>
          <p:cNvSpPr txBox="1"/>
          <p:nvPr/>
        </p:nvSpPr>
        <p:spPr>
          <a:xfrm>
            <a:off x="548640" y="28630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4480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Compute on 8 bits in two's complement: 90 + 60, -90 - 60, 90 - 60. Which overflow?</a:t>
            </a:r>
            <a:endParaRPr lang="en-US" sz="2000" dirty="0"/>
          </a:p>
        </p:txBody>
      </p:sp>
      <p:sp>
        <p:nvSpPr>
          <p:cNvPr id="10" name="Text 8"/>
          <p:cNvSpPr txBox="1"/>
          <p:nvPr/>
        </p:nvSpPr>
        <p:spPr>
          <a:xfrm>
            <a:off x="548640" y="34864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46811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the clamp code replace bgez and ble with their unsigned versions, predict the behaviour, then run it</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an update that adds 0x10000000 to a counter each frame and lights a red rectangle when the signed sum overflows</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2026 = 0x7EA = 111 1110 1010. On PRG32: the red rectangle flashes once every sixteen frames, when the counter passes from 0x7... to 0x8...</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Number Representation: Integers: the code</dc:title>
  <dc:subject>Lecture 05</dc:subject>
  <dc:creator>Raffaele Montella</dc:creator>
  <cp:lastModifiedBy>Raffaele Montella</cp:lastModifiedBy>
  <cp:revision>1</cp:revision>
  <dcterms:created xsi:type="dcterms:W3CDTF">2026-10-16T23:36:43Z</dcterms:created>
  <dcterms:modified xsi:type="dcterms:W3CDTF">2026-10-16T23:36:43Z</dcterms:modified>
</cp:coreProperties>
</file>