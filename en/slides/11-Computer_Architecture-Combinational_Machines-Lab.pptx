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e65385-5b7d-e142-a45b-0cd05ad758ef}">
          <p14:sldIdLst>
            <p14:sldId id="256"/>
            <p14:sldId id="257"/>
          </p14:sldIdLst>
        </p14:section>
        <p14:section name="Warm-up on the machine" id="{dfac289f-c122-d321-7969-5b615b450a59}">
          <p14:sldIdLst>
            <p14:sldId id="258"/>
          </p14:sldIdLst>
        </p14:section>
        <p14:section name="Decoders and encoders" id="{8c5d1d34-3d98-bc1d-b947-05e31324de3e}">
          <p14:sldIdLst>
            <p14:sldId id="259"/>
          </p14:sldIdLst>
        </p14:section>
        <p14:section name="Multiplexers and demultiplexers" id="{e14d1a64-320e-aa3e-5ced-87aae6fadc5a}">
          <p14:sldIdLst>
            <p14:sldId id="260"/>
          </p14:sldIdLst>
        </p14:section>
        <p14:section name="Comparing and checking" id="{c9d085d6-e0f8-7d89-d99d-49aad6f88cec}">
          <p14:sldIdLst>
            <p14:sldId id="261"/>
          </p14:sldIdLst>
        </p14:section>
        <p14:section name="The arithmetic logic unit" id="{6e15db9a-4711-ebb5-7a40-0e352588c442}">
          <p14:sldIdLst>
            <p14:sldId id="262"/>
          </p14:sldIdLst>
        </p14:section>
        <p14:section name="The complete program" id="{e617a762-254d-5878-394d-4545fde90c8d}">
          <p14:sldIdLst>
            <p14:sldId id="263"/>
            <p14:sldId id="264"/>
            <p14:sldId id="265"/>
          </p14:sldIdLst>
        </p14:section>
        <p14:section name="Run it and test it" id="{74cf1ec2-cb60-6642-7028-2303783663a6}">
          <p14:sldIdLst>
            <p14:sldId id="266"/>
            <p14:sldId id="267"/>
            <p14:sldId id="268"/>
            <p14:sldId id="269"/>
            <p14:sldId id="270"/>
          </p14:sldIdLst>
        </p14:section>
        <p14:section name="Exercises" id="{bf8ccc69-bd89-0d42-e73e-392f5316ba69}">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11.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multiplexers; combinational machines; codes; decoders and encoders; comparators and parity; the ALU. USE NOW: the complete program, the PRG32 tools (used, not studied, in this course). UNDERSTAND LATER: finite-state machines (Lecture 13).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~/arc12/code/l11.S; tools/tests/cartridges/run.py builds it, runs it on PRG32-QT with scripted input and checks the pixels of the frame.
For the lecturer: Get the code once: git clone https://github.com/riscv-prg32/computer-architecture-with-prg32 ~/arc12. The program of this lecture is ~/arc12/code/l11.S;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a0 holds a selector from 0 to 3, and the four instructions are the array access of Lecture 04: load the address of the table, multiply the selector by 4, add, and load the selected word. The same selector always yields the same colour, and nothing persists from one use to the next. This behaviour, outputs determined solely by present inputs, defines the machines studied today. In hardware this particular machine is a multiplexer: four data inputs, two selection bits, one output. The software takes four instructions; the hardware answers in a fraction of a nanosecond.
UNDERSTAND NOW: multiplexers.
For the lecturer: The array access of Lecture 04, read as a circuit. In the processor the selection is done by gates in well under a nanosecond; here it takes four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decoder at work in the processor. The instruction addi t1, t1, 1 contains a 5-bit field, rd, holding the number of the destination register: 00110, that is 6, the register t1. A 5-to-32 decoder turns those five bits into thirty-two write-enable lines, of which only the sixth is active, so that only that register receives the result. The same instruction contains two further register numbers, which select the registers to be read, by means of multiplexers.
UNDERSTAND NOW: decoders and encoders.
For the lecturer: The instruction of Lecture 02. Grey fields are not involved. The write enable of x0 is simply not connected: x0 always reads zero. Reading uses multiplexers, shown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multiplexer at work in the processor. add t2, t0, t1 adds two registers; addi t2, t0, 5 adds a register and a constant drawn from the instruction. Both use the same adder. A multiplexer in front of the second ALU input chooses between the value of a register and the constant, its selection line being 0 for add and 1 for addi. It is a multiplexer on whole words, thirty-two one-bit multiplexers sharing a selection line. Reading a register from the register file is likewise a multiplexer, with the register number as selector.
UNDERSTAND NOW: multiplexers.
For the lecturer: In the textbook datapath of Patterson and Hennessy the selection signal is called ALUSrc. A gate applied to every bit of a word with a common control is a word gate (porta di parola).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parity network in software, for one byte. Each pair of instructions shifts the value right and combines it with itself by XOR: the first fold reduces eight bits to four, the second four to two, the third two to one. The final instruction retains only the lowest bit, which is the parity. In hardware the same three levels constitute a tree of seven XOR gates, whose depth, logarithmic in the number of bits, determines its delay. The listing should be traced by hand with 0x53, which has four 1s, and with 0x13, which has three.
UNDERSTAND NOW: comparators and parity.
For the lecturer: Written for this lecture. Trace it with 0x53 = 0101 0011 (four 1s, result 0) and with 0x13 = 0001 0011 (three 1s, result 1). In hardware the three levels are a tree of seven XOR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instruction selects the operation. The 3-bit field funct3 of the instruction is a compact code: 000 for sum or difference, 001 for left shift, 100 for XOR, 110 for OR, 111 for AND. A small decoder turns it into the selection lines of the ALU multiplexer. Where two instructions share a code, such as add and sub, an additional bit elsewhere in the instruction distinguishes them. A code, a decoder, a multiplexer: the entire lecture appears in one table, embedded in the processor.
UNDERSTAND NOW: the ALU.
For the lecturer: funct3 is the 3-bit field of the instruction seen in Lecture 02 (bits 14 to 12). Three bits, eight code words: a compact code that a small decoder turns into the selection lines of the ALU multiplexer.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Synthesise segment g with a Karnaugh map, exploiting the don't-care conditions. Build a 3-to-8 decoder from two 2-to-4 decoders with enable and one inverter. Implement a function with a single multiplexer by placing its truth table on the data inputs, and identify the function. Write a comparator in assembly using only xor and sltiu. And draw a seven-segment digit on PRG32: a table of ten bytes, one per digit, and seven rectangles lit by testing its bits, which is a transcoder realised in software.
For the lecturer: Exercise 3: put 0, 1, 1, 0, 1, 0, 0, 1 on the data inputs: it is the three-input XOR, the sum bit of the full adder. Exercise 4: xor a0, a0, a1 then sltiu a0, a0, 1 (the pseudo-instruction seqz). Exercise 5 is a software transcoder followed by seven bit tests: the table is the truth table of this lecture, one row per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11: Combinational machines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Combinational Machines: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11-Computer_Architecture-Combinational_Machines.pptx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breakout.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11,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code/l11.S, 50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Choose one of four colours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a0 = selector, 0 to 3      result: a4 = the selected colour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palette         </a:t>
            </a:r>
            <a:pPr indent="0" marL="0">
              <a:buNone/>
            </a:pPr>
            <a:r>
              <a:rPr lang="en-US" sz="1300" dirty="0">
                <a:solidFill>
                  <a:srgbClr val="8FB3A0"/>
                </a:solidFill>
                <a:latin typeface="Courier New" pitchFamily="34" charset="0"/>
                <a:ea typeface="Courier New" pitchFamily="34" charset="-122"/>
                <a:cs typeface="Courier New" pitchFamily="34" charset="-120"/>
              </a:rPr>
              <a:t># four words: the data inputs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a0, 2           </a:t>
            </a:r>
            <a:pPr indent="0" marL="0">
              <a:buNone/>
            </a:pPr>
            <a:r>
              <a:rPr lang="en-US" sz="1300" dirty="0">
                <a:solidFill>
                  <a:srgbClr val="8FB3A0"/>
                </a:solidFill>
                <a:latin typeface="Courier New" pitchFamily="34" charset="0"/>
                <a:ea typeface="Courier New" pitchFamily="34" charset="-122"/>
                <a:cs typeface="Courier New" pitchFamily="34" charset="-120"/>
              </a:rPr>
              <a:t># selector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          </a:t>
            </a:r>
            <a:pPr indent="0" marL="0">
              <a:buNone/>
            </a:pPr>
            <a:r>
              <a:rPr lang="en-US" sz="1300" dirty="0">
                <a:solidFill>
                  <a:srgbClr val="8FB3A0"/>
                </a:solidFill>
                <a:latin typeface="Courier New" pitchFamily="34" charset="0"/>
                <a:ea typeface="Courier New" pitchFamily="34" charset="-122"/>
                <a:cs typeface="Courier New" pitchFamily="34" charset="-120"/>
              </a:rPr>
              <a:t># address of the selected word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a4, 0(t0)           </a:t>
            </a:r>
            <a:pPr indent="0" marL="0">
              <a:buNone/>
            </a:pPr>
            <a:r>
              <a:rPr lang="en-US" sz="1300" dirty="0">
                <a:solidFill>
                  <a:srgbClr val="8FB3A0"/>
                </a:solidFill>
                <a:latin typeface="Courier New" pitchFamily="34" charset="0"/>
                <a:ea typeface="Courier New" pitchFamily="34" charset="-122"/>
                <a:cs typeface="Courier New" pitchFamily="34" charset="-120"/>
              </a:rPr>
              <a:t># the selected input reaches the output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.rodata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red, green, blue, yellow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palette: .word 0xf800, 0x07e0, 0x001f, 0xffe0</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selector always gives the same colour: the result depends only on the present inputs</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Nothing is remembered from one use to the next</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 hardware this is a multiplexer: four data inputs, two selection bits, one output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processor contains dozens of them. How are they built?</a:t>
            </a:r>
            <a:endParaRPr lang="en-US" sz="1200" dirty="0"/>
          </a:p>
        </p:txBody>
      </p:sp>
      <p:sp>
        <p:nvSpPr>
          <p:cNvPr id="17" name="Shape 15"/>
          <p:cNvSpPr/>
          <p:nvPr/>
        </p:nvSpPr>
        <p:spPr>
          <a:xfrm>
            <a:off x="8878646" y="91440"/>
            <a:ext cx="2764409" cy="274320"/>
          </a:xfrm>
          <a:prstGeom prst="rect">
            <a:avLst/>
          </a:prstGeom>
          <a:solidFill>
            <a:srgbClr val="E0F2FE"/>
          </a:solidFill>
          <a:ln w="12700">
            <a:solidFill>
              <a:srgbClr val="0369A1"/>
            </a:solidFill>
            <a:prstDash val="solid"/>
          </a:ln>
        </p:spPr>
      </p:sp>
      <p:sp>
        <p:nvSpPr>
          <p:cNvPr id="18" name="Shape 16"/>
          <p:cNvSpPr/>
          <p:nvPr/>
        </p:nvSpPr>
        <p:spPr>
          <a:xfrm>
            <a:off x="887864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06662" y="128016"/>
            <a:ext cx="201168" cy="201168"/>
          </a:xfrm>
          <a:prstGeom prst="rect">
            <a:avLst/>
          </a:prstGeom>
        </p:spPr>
      </p:pic>
      <p:sp>
        <p:nvSpPr>
          <p:cNvPr id="20" name="Text 17"/>
          <p:cNvSpPr txBox="1"/>
          <p:nvPr/>
        </p:nvSpPr>
        <p:spPr>
          <a:xfrm>
            <a:off x="9262694" y="91440"/>
            <a:ext cx="234378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multiplexers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the processor: which register is written?</a:t>
            </a:r>
            <a:endParaRPr lang="en-US" sz="3200" dirty="0"/>
          </a:p>
        </p:txBody>
      </p:sp>
      <p:sp>
        <p:nvSpPr>
          <p:cNvPr id="3" name="Text 1"/>
          <p:cNvSpPr txBox="1"/>
          <p:nvPr/>
        </p:nvSpPr>
        <p:spPr>
          <a:xfrm>
            <a:off x="548640" y="1325880"/>
            <a:ext cx="11094415" cy="411480"/>
          </a:xfrm>
          <a:prstGeom prst="rect">
            <a:avLst/>
          </a:prstGeom>
          <a:noFill/>
          <a:ln/>
        </p:spPr>
        <p:txBody>
          <a:bodyPr wrap="square" lIns="0" tIns="0" rIns="0" bIns="0" rtlCol="0" anchor="t"/>
          <a:lstStyle/>
          <a:p>
            <a:pPr algn="ctr" indent="0" marL="0">
              <a:buNone/>
            </a:pPr>
            <a:r>
              <a:rPr lang="en-US" sz="2100" b="1" dirty="0">
                <a:solidFill>
                  <a:srgbClr val="2E4A62"/>
                </a:solidFill>
                <a:latin typeface="Courier New" pitchFamily="34" charset="0"/>
                <a:ea typeface="Courier New" pitchFamily="34" charset="-122"/>
                <a:cs typeface="Courier New" pitchFamily="34" charset="-120"/>
              </a:rPr>
              <a:t>addi t1, t1, 1     =     0x00130313</a:t>
            </a:r>
            <a:endParaRPr lang="en-US" sz="2100" dirty="0"/>
          </a:p>
        </p:txBody>
      </p:sp>
      <p:sp>
        <p:nvSpPr>
          <p:cNvPr id="4" name="Text 2"/>
          <p:cNvSpPr txBox="1"/>
          <p:nvPr/>
        </p:nvSpPr>
        <p:spPr>
          <a:xfrm>
            <a:off x="914400" y="2194560"/>
            <a:ext cx="3806308"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000000000001</a:t>
            </a:r>
            <a:endParaRPr lang="en-US" sz="1600" dirty="0"/>
          </a:p>
        </p:txBody>
      </p:sp>
      <p:sp>
        <p:nvSpPr>
          <p:cNvPr id="5" name="Text 3"/>
          <p:cNvSpPr txBox="1"/>
          <p:nvPr/>
        </p:nvSpPr>
        <p:spPr>
          <a:xfrm>
            <a:off x="950976" y="1956816"/>
            <a:ext cx="190315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2817554" y="1956816"/>
            <a:ext cx="186657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7" name="Text 5"/>
          <p:cNvSpPr txBox="1"/>
          <p:nvPr/>
        </p:nvSpPr>
        <p:spPr>
          <a:xfrm>
            <a:off x="4720708" y="2194560"/>
            <a:ext cx="1585962"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8" name="Text 6"/>
          <p:cNvSpPr txBox="1"/>
          <p:nvPr/>
        </p:nvSpPr>
        <p:spPr>
          <a:xfrm>
            <a:off x="4757284" y="195681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9" name="Text 7"/>
          <p:cNvSpPr txBox="1"/>
          <p:nvPr/>
        </p:nvSpPr>
        <p:spPr>
          <a:xfrm>
            <a:off x="5513689" y="195681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0" name="Text 8"/>
          <p:cNvSpPr txBox="1"/>
          <p:nvPr/>
        </p:nvSpPr>
        <p:spPr>
          <a:xfrm>
            <a:off x="6306670" y="2194560"/>
            <a:ext cx="1164317"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1" name="Text 9"/>
          <p:cNvSpPr txBox="1"/>
          <p:nvPr/>
        </p:nvSpPr>
        <p:spPr>
          <a:xfrm>
            <a:off x="6343246" y="1956816"/>
            <a:ext cx="58215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2" name="Text 10"/>
          <p:cNvSpPr txBox="1"/>
          <p:nvPr/>
        </p:nvSpPr>
        <p:spPr>
          <a:xfrm>
            <a:off x="6888828" y="1956816"/>
            <a:ext cx="54558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3" name="Text 11"/>
          <p:cNvSpPr txBox="1"/>
          <p:nvPr/>
        </p:nvSpPr>
        <p:spPr>
          <a:xfrm>
            <a:off x="7470987" y="2194560"/>
            <a:ext cx="1585962"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4" name="Text 12"/>
          <p:cNvSpPr txBox="1"/>
          <p:nvPr/>
        </p:nvSpPr>
        <p:spPr>
          <a:xfrm>
            <a:off x="7470987" y="279806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 = 6</a:t>
            </a:r>
            <a:endParaRPr lang="en-US" sz="1300" dirty="0"/>
          </a:p>
        </p:txBody>
      </p:sp>
      <p:sp>
        <p:nvSpPr>
          <p:cNvPr id="15" name="Text 13"/>
          <p:cNvSpPr txBox="1"/>
          <p:nvPr/>
        </p:nvSpPr>
        <p:spPr>
          <a:xfrm>
            <a:off x="7507563" y="195681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6" name="Text 14"/>
          <p:cNvSpPr txBox="1"/>
          <p:nvPr/>
        </p:nvSpPr>
        <p:spPr>
          <a:xfrm>
            <a:off x="8263968" y="195681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7" name="Text 15"/>
          <p:cNvSpPr txBox="1"/>
          <p:nvPr/>
        </p:nvSpPr>
        <p:spPr>
          <a:xfrm>
            <a:off x="9056949" y="2194560"/>
            <a:ext cx="2220347" cy="548640"/>
          </a:xfrm>
          <a:prstGeom prst="rect">
            <a:avLst/>
          </a:prstGeom>
          <a:solidFill>
            <a:srgbClr val="5B6B78"/>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0010011</a:t>
            </a:r>
            <a:endParaRPr lang="en-US" sz="1600" dirty="0"/>
          </a:p>
        </p:txBody>
      </p:sp>
      <p:sp>
        <p:nvSpPr>
          <p:cNvPr id="18" name="Text 16"/>
          <p:cNvSpPr txBox="1"/>
          <p:nvPr/>
        </p:nvSpPr>
        <p:spPr>
          <a:xfrm>
            <a:off x="9093525" y="1956816"/>
            <a:ext cx="111017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19" name="Text 17"/>
          <p:cNvSpPr txBox="1"/>
          <p:nvPr/>
        </p:nvSpPr>
        <p:spPr>
          <a:xfrm>
            <a:off x="10167122" y="1956816"/>
            <a:ext cx="107359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0" name="Text 18"/>
          <p:cNvSpPr txBox="1"/>
          <p:nvPr/>
        </p:nvSpPr>
        <p:spPr>
          <a:xfrm>
            <a:off x="6400800" y="3337560"/>
            <a:ext cx="2926080" cy="502920"/>
          </a:xfrm>
          <a:prstGeom prst="roundRect">
            <a:avLst>
              <a:gd name="adj" fmla="val 10909"/>
            </a:avLst>
          </a:prstGeom>
          <a:solidFill>
            <a:srgbClr val="2F7D4F"/>
          </a:solidFill>
          <a:ln>
            <a:solidFill>
              <a:srgbClr val="2F7D4F"/>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decoder 5-to-32</a:t>
            </a:r>
            <a:endParaRPr lang="en-US" sz="1600" dirty="0"/>
          </a:p>
        </p:txBody>
      </p:sp>
      <p:sp>
        <p:nvSpPr>
          <p:cNvPr id="21" name="Shape 19"/>
          <p:cNvSpPr/>
          <p:nvPr/>
        </p:nvSpPr>
        <p:spPr>
          <a:xfrm>
            <a:off x="7863840" y="3081528"/>
            <a:ext cx="0" cy="237744"/>
          </a:xfrm>
          <a:prstGeom prst="line">
            <a:avLst/>
          </a:prstGeom>
          <a:noFill/>
          <a:ln w="28575">
            <a:solidFill>
              <a:srgbClr val="2F7D4F"/>
            </a:solidFill>
            <a:prstDash val="solid"/>
            <a:tailEnd type="triangle"/>
          </a:ln>
        </p:spPr>
      </p:sp>
      <p:sp>
        <p:nvSpPr>
          <p:cNvPr id="22" name="Shape 20"/>
          <p:cNvSpPr/>
          <p:nvPr/>
        </p:nvSpPr>
        <p:spPr>
          <a:xfrm>
            <a:off x="7863840" y="3858768"/>
            <a:ext cx="0" cy="466344"/>
          </a:xfrm>
          <a:prstGeom prst="line">
            <a:avLst/>
          </a:prstGeom>
          <a:noFill/>
          <a:ln w="28575">
            <a:solidFill>
              <a:srgbClr val="2F7D4F"/>
            </a:solidFill>
            <a:prstDash val="solid"/>
            <a:tailEnd type="triangle"/>
          </a:ln>
        </p:spPr>
      </p:sp>
      <p:sp>
        <p:nvSpPr>
          <p:cNvPr id="23" name="Text 21"/>
          <p:cNvSpPr txBox="1"/>
          <p:nvPr/>
        </p:nvSpPr>
        <p:spPr>
          <a:xfrm>
            <a:off x="54864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4" name="Text 22"/>
          <p:cNvSpPr txBox="1"/>
          <p:nvPr/>
        </p:nvSpPr>
        <p:spPr>
          <a:xfrm>
            <a:off x="54864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x0</a:t>
            </a:r>
            <a:endParaRPr lang="en-US" sz="900" dirty="0"/>
          </a:p>
        </p:txBody>
      </p:sp>
      <p:sp>
        <p:nvSpPr>
          <p:cNvPr id="25" name="Text 23"/>
          <p:cNvSpPr txBox="1"/>
          <p:nvPr/>
        </p:nvSpPr>
        <p:spPr>
          <a:xfrm>
            <a:off x="89534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6" name="Text 24"/>
          <p:cNvSpPr txBox="1"/>
          <p:nvPr/>
        </p:nvSpPr>
        <p:spPr>
          <a:xfrm>
            <a:off x="89534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a:t>
            </a:r>
            <a:endParaRPr lang="en-US" sz="900" dirty="0"/>
          </a:p>
        </p:txBody>
      </p:sp>
      <p:sp>
        <p:nvSpPr>
          <p:cNvPr id="27" name="Text 25"/>
          <p:cNvSpPr txBox="1"/>
          <p:nvPr/>
        </p:nvSpPr>
        <p:spPr>
          <a:xfrm>
            <a:off x="124204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28" name="Text 26"/>
          <p:cNvSpPr txBox="1"/>
          <p:nvPr/>
        </p:nvSpPr>
        <p:spPr>
          <a:xfrm>
            <a:off x="124204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a:t>
            </a:r>
            <a:endParaRPr lang="en-US" sz="900" dirty="0"/>
          </a:p>
        </p:txBody>
      </p:sp>
      <p:sp>
        <p:nvSpPr>
          <p:cNvPr id="29" name="Text 27"/>
          <p:cNvSpPr txBox="1"/>
          <p:nvPr/>
        </p:nvSpPr>
        <p:spPr>
          <a:xfrm>
            <a:off x="158874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0" name="Text 28"/>
          <p:cNvSpPr txBox="1"/>
          <p:nvPr/>
        </p:nvSpPr>
        <p:spPr>
          <a:xfrm>
            <a:off x="158874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a:t>
            </a:r>
            <a:endParaRPr lang="en-US" sz="900" dirty="0"/>
          </a:p>
        </p:txBody>
      </p:sp>
      <p:sp>
        <p:nvSpPr>
          <p:cNvPr id="31" name="Text 29"/>
          <p:cNvSpPr txBox="1"/>
          <p:nvPr/>
        </p:nvSpPr>
        <p:spPr>
          <a:xfrm>
            <a:off x="193544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2" name="Text 30"/>
          <p:cNvSpPr txBox="1"/>
          <p:nvPr/>
        </p:nvSpPr>
        <p:spPr>
          <a:xfrm>
            <a:off x="193544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x4</a:t>
            </a:r>
            <a:endParaRPr lang="en-US" sz="900" dirty="0"/>
          </a:p>
        </p:txBody>
      </p:sp>
      <p:sp>
        <p:nvSpPr>
          <p:cNvPr id="33" name="Text 31"/>
          <p:cNvSpPr txBox="1"/>
          <p:nvPr/>
        </p:nvSpPr>
        <p:spPr>
          <a:xfrm>
            <a:off x="228214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4" name="Text 32"/>
          <p:cNvSpPr txBox="1"/>
          <p:nvPr/>
        </p:nvSpPr>
        <p:spPr>
          <a:xfrm>
            <a:off x="228214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x5</a:t>
            </a:r>
            <a:endParaRPr lang="en-US" sz="900" dirty="0"/>
          </a:p>
        </p:txBody>
      </p:sp>
      <p:sp>
        <p:nvSpPr>
          <p:cNvPr id="35" name="Text 33"/>
          <p:cNvSpPr txBox="1"/>
          <p:nvPr/>
        </p:nvSpPr>
        <p:spPr>
          <a:xfrm>
            <a:off x="2628843" y="4343400"/>
            <a:ext cx="346700" cy="45720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36" name="Text 34"/>
          <p:cNvSpPr txBox="1"/>
          <p:nvPr/>
        </p:nvSpPr>
        <p:spPr>
          <a:xfrm>
            <a:off x="262884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x6</a:t>
            </a:r>
            <a:endParaRPr lang="en-US" sz="900" dirty="0"/>
          </a:p>
        </p:txBody>
      </p:sp>
      <p:sp>
        <p:nvSpPr>
          <p:cNvPr id="37" name="Text 35"/>
          <p:cNvSpPr txBox="1"/>
          <p:nvPr/>
        </p:nvSpPr>
        <p:spPr>
          <a:xfrm>
            <a:off x="297554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38" name="Text 36"/>
          <p:cNvSpPr txBox="1"/>
          <p:nvPr/>
        </p:nvSpPr>
        <p:spPr>
          <a:xfrm>
            <a:off x="297554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x7</a:t>
            </a:r>
            <a:endParaRPr lang="en-US" sz="900" dirty="0"/>
          </a:p>
        </p:txBody>
      </p:sp>
      <p:sp>
        <p:nvSpPr>
          <p:cNvPr id="39" name="Text 37"/>
          <p:cNvSpPr txBox="1"/>
          <p:nvPr/>
        </p:nvSpPr>
        <p:spPr>
          <a:xfrm>
            <a:off x="332224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0" name="Text 38"/>
          <p:cNvSpPr txBox="1"/>
          <p:nvPr/>
        </p:nvSpPr>
        <p:spPr>
          <a:xfrm>
            <a:off x="332224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x8</a:t>
            </a:r>
            <a:endParaRPr lang="en-US" sz="900" dirty="0"/>
          </a:p>
        </p:txBody>
      </p:sp>
      <p:sp>
        <p:nvSpPr>
          <p:cNvPr id="41" name="Text 39"/>
          <p:cNvSpPr txBox="1"/>
          <p:nvPr/>
        </p:nvSpPr>
        <p:spPr>
          <a:xfrm>
            <a:off x="366894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2" name="Text 40"/>
          <p:cNvSpPr txBox="1"/>
          <p:nvPr/>
        </p:nvSpPr>
        <p:spPr>
          <a:xfrm>
            <a:off x="366894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x9</a:t>
            </a:r>
            <a:endParaRPr lang="en-US" sz="900" dirty="0"/>
          </a:p>
        </p:txBody>
      </p:sp>
      <p:sp>
        <p:nvSpPr>
          <p:cNvPr id="43" name="Text 41"/>
          <p:cNvSpPr txBox="1"/>
          <p:nvPr/>
        </p:nvSpPr>
        <p:spPr>
          <a:xfrm>
            <a:off x="401564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4" name="Text 42"/>
          <p:cNvSpPr txBox="1"/>
          <p:nvPr/>
        </p:nvSpPr>
        <p:spPr>
          <a:xfrm>
            <a:off x="401564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x10</a:t>
            </a:r>
            <a:endParaRPr lang="en-US" sz="900" dirty="0"/>
          </a:p>
        </p:txBody>
      </p:sp>
      <p:sp>
        <p:nvSpPr>
          <p:cNvPr id="45" name="Text 43"/>
          <p:cNvSpPr txBox="1"/>
          <p:nvPr/>
        </p:nvSpPr>
        <p:spPr>
          <a:xfrm>
            <a:off x="436234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6" name="Text 44"/>
          <p:cNvSpPr txBox="1"/>
          <p:nvPr/>
        </p:nvSpPr>
        <p:spPr>
          <a:xfrm>
            <a:off x="436234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x11</a:t>
            </a:r>
            <a:endParaRPr lang="en-US" sz="900" dirty="0"/>
          </a:p>
        </p:txBody>
      </p:sp>
      <p:sp>
        <p:nvSpPr>
          <p:cNvPr id="47" name="Text 45"/>
          <p:cNvSpPr txBox="1"/>
          <p:nvPr/>
        </p:nvSpPr>
        <p:spPr>
          <a:xfrm>
            <a:off x="4709046"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48" name="Text 46"/>
          <p:cNvSpPr txBox="1"/>
          <p:nvPr/>
        </p:nvSpPr>
        <p:spPr>
          <a:xfrm>
            <a:off x="4709046"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x12</a:t>
            </a:r>
            <a:endParaRPr lang="en-US" sz="900" dirty="0"/>
          </a:p>
        </p:txBody>
      </p:sp>
      <p:sp>
        <p:nvSpPr>
          <p:cNvPr id="49" name="Text 47"/>
          <p:cNvSpPr txBox="1"/>
          <p:nvPr/>
        </p:nvSpPr>
        <p:spPr>
          <a:xfrm>
            <a:off x="5055746"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0" name="Text 48"/>
          <p:cNvSpPr txBox="1"/>
          <p:nvPr/>
        </p:nvSpPr>
        <p:spPr>
          <a:xfrm>
            <a:off x="5055746"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x13</a:t>
            </a:r>
            <a:endParaRPr lang="en-US" sz="900" dirty="0"/>
          </a:p>
        </p:txBody>
      </p:sp>
      <p:sp>
        <p:nvSpPr>
          <p:cNvPr id="51" name="Text 49"/>
          <p:cNvSpPr txBox="1"/>
          <p:nvPr/>
        </p:nvSpPr>
        <p:spPr>
          <a:xfrm>
            <a:off x="5402447"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2" name="Text 50"/>
          <p:cNvSpPr txBox="1"/>
          <p:nvPr/>
        </p:nvSpPr>
        <p:spPr>
          <a:xfrm>
            <a:off x="5402447"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x14</a:t>
            </a:r>
            <a:endParaRPr lang="en-US" sz="900" dirty="0"/>
          </a:p>
        </p:txBody>
      </p:sp>
      <p:sp>
        <p:nvSpPr>
          <p:cNvPr id="53" name="Text 51"/>
          <p:cNvSpPr txBox="1"/>
          <p:nvPr/>
        </p:nvSpPr>
        <p:spPr>
          <a:xfrm>
            <a:off x="5749147"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4" name="Text 52"/>
          <p:cNvSpPr txBox="1"/>
          <p:nvPr/>
        </p:nvSpPr>
        <p:spPr>
          <a:xfrm>
            <a:off x="5749147"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x15</a:t>
            </a:r>
            <a:endParaRPr lang="en-US" sz="900" dirty="0"/>
          </a:p>
        </p:txBody>
      </p:sp>
      <p:sp>
        <p:nvSpPr>
          <p:cNvPr id="55" name="Text 53"/>
          <p:cNvSpPr txBox="1"/>
          <p:nvPr/>
        </p:nvSpPr>
        <p:spPr>
          <a:xfrm>
            <a:off x="6095848"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6" name="Text 54"/>
          <p:cNvSpPr txBox="1"/>
          <p:nvPr/>
        </p:nvSpPr>
        <p:spPr>
          <a:xfrm>
            <a:off x="6095848"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x16</a:t>
            </a:r>
            <a:endParaRPr lang="en-US" sz="900" dirty="0"/>
          </a:p>
        </p:txBody>
      </p:sp>
      <p:sp>
        <p:nvSpPr>
          <p:cNvPr id="57" name="Text 55"/>
          <p:cNvSpPr txBox="1"/>
          <p:nvPr/>
        </p:nvSpPr>
        <p:spPr>
          <a:xfrm>
            <a:off x="6442548"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58" name="Text 56"/>
          <p:cNvSpPr txBox="1"/>
          <p:nvPr/>
        </p:nvSpPr>
        <p:spPr>
          <a:xfrm>
            <a:off x="6442548"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x17</a:t>
            </a:r>
            <a:endParaRPr lang="en-US" sz="900" dirty="0"/>
          </a:p>
        </p:txBody>
      </p:sp>
      <p:sp>
        <p:nvSpPr>
          <p:cNvPr id="59" name="Text 57"/>
          <p:cNvSpPr txBox="1"/>
          <p:nvPr/>
        </p:nvSpPr>
        <p:spPr>
          <a:xfrm>
            <a:off x="6789249"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0" name="Text 58"/>
          <p:cNvSpPr txBox="1"/>
          <p:nvPr/>
        </p:nvSpPr>
        <p:spPr>
          <a:xfrm>
            <a:off x="6789249"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x18</a:t>
            </a:r>
            <a:endParaRPr lang="en-US" sz="900" dirty="0"/>
          </a:p>
        </p:txBody>
      </p:sp>
      <p:sp>
        <p:nvSpPr>
          <p:cNvPr id="61" name="Text 59"/>
          <p:cNvSpPr txBox="1"/>
          <p:nvPr/>
        </p:nvSpPr>
        <p:spPr>
          <a:xfrm>
            <a:off x="7135949"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2" name="Text 60"/>
          <p:cNvSpPr txBox="1"/>
          <p:nvPr/>
        </p:nvSpPr>
        <p:spPr>
          <a:xfrm>
            <a:off x="7135949"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x19</a:t>
            </a:r>
            <a:endParaRPr lang="en-US" sz="900" dirty="0"/>
          </a:p>
        </p:txBody>
      </p:sp>
      <p:sp>
        <p:nvSpPr>
          <p:cNvPr id="63" name="Text 61"/>
          <p:cNvSpPr txBox="1"/>
          <p:nvPr/>
        </p:nvSpPr>
        <p:spPr>
          <a:xfrm>
            <a:off x="74826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4" name="Text 62"/>
          <p:cNvSpPr txBox="1"/>
          <p:nvPr/>
        </p:nvSpPr>
        <p:spPr>
          <a:xfrm>
            <a:off x="74826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x20</a:t>
            </a:r>
            <a:endParaRPr lang="en-US" sz="900" dirty="0"/>
          </a:p>
        </p:txBody>
      </p:sp>
      <p:sp>
        <p:nvSpPr>
          <p:cNvPr id="65" name="Text 63"/>
          <p:cNvSpPr txBox="1"/>
          <p:nvPr/>
        </p:nvSpPr>
        <p:spPr>
          <a:xfrm>
            <a:off x="78293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6" name="Text 64"/>
          <p:cNvSpPr txBox="1"/>
          <p:nvPr/>
        </p:nvSpPr>
        <p:spPr>
          <a:xfrm>
            <a:off x="78293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x21</a:t>
            </a:r>
            <a:endParaRPr lang="en-US" sz="900" dirty="0"/>
          </a:p>
        </p:txBody>
      </p:sp>
      <p:sp>
        <p:nvSpPr>
          <p:cNvPr id="67" name="Text 65"/>
          <p:cNvSpPr txBox="1"/>
          <p:nvPr/>
        </p:nvSpPr>
        <p:spPr>
          <a:xfrm>
            <a:off x="8176050"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68" name="Text 66"/>
          <p:cNvSpPr txBox="1"/>
          <p:nvPr/>
        </p:nvSpPr>
        <p:spPr>
          <a:xfrm>
            <a:off x="8176050"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x22</a:t>
            </a:r>
            <a:endParaRPr lang="en-US" sz="900" dirty="0"/>
          </a:p>
        </p:txBody>
      </p:sp>
      <p:sp>
        <p:nvSpPr>
          <p:cNvPr id="69" name="Text 67"/>
          <p:cNvSpPr txBox="1"/>
          <p:nvPr/>
        </p:nvSpPr>
        <p:spPr>
          <a:xfrm>
            <a:off x="852275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0" name="Text 68"/>
          <p:cNvSpPr txBox="1"/>
          <p:nvPr/>
        </p:nvSpPr>
        <p:spPr>
          <a:xfrm>
            <a:off x="852275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x23</a:t>
            </a:r>
            <a:endParaRPr lang="en-US" sz="900" dirty="0"/>
          </a:p>
        </p:txBody>
      </p:sp>
      <p:sp>
        <p:nvSpPr>
          <p:cNvPr id="71" name="Text 69"/>
          <p:cNvSpPr txBox="1"/>
          <p:nvPr/>
        </p:nvSpPr>
        <p:spPr>
          <a:xfrm>
            <a:off x="8869451"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2" name="Text 70"/>
          <p:cNvSpPr txBox="1"/>
          <p:nvPr/>
        </p:nvSpPr>
        <p:spPr>
          <a:xfrm>
            <a:off x="8869451"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x24</a:t>
            </a:r>
            <a:endParaRPr lang="en-US" sz="900" dirty="0"/>
          </a:p>
        </p:txBody>
      </p:sp>
      <p:sp>
        <p:nvSpPr>
          <p:cNvPr id="73" name="Text 71"/>
          <p:cNvSpPr txBox="1"/>
          <p:nvPr/>
        </p:nvSpPr>
        <p:spPr>
          <a:xfrm>
            <a:off x="921615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4" name="Text 72"/>
          <p:cNvSpPr txBox="1"/>
          <p:nvPr/>
        </p:nvSpPr>
        <p:spPr>
          <a:xfrm>
            <a:off x="921615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x25</a:t>
            </a:r>
            <a:endParaRPr lang="en-US" sz="900" dirty="0"/>
          </a:p>
        </p:txBody>
      </p:sp>
      <p:sp>
        <p:nvSpPr>
          <p:cNvPr id="75" name="Text 73"/>
          <p:cNvSpPr txBox="1"/>
          <p:nvPr/>
        </p:nvSpPr>
        <p:spPr>
          <a:xfrm>
            <a:off x="9562852"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6" name="Text 74"/>
          <p:cNvSpPr txBox="1"/>
          <p:nvPr/>
        </p:nvSpPr>
        <p:spPr>
          <a:xfrm>
            <a:off x="9562852"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x26</a:t>
            </a:r>
            <a:endParaRPr lang="en-US" sz="900" dirty="0"/>
          </a:p>
        </p:txBody>
      </p:sp>
      <p:sp>
        <p:nvSpPr>
          <p:cNvPr id="77" name="Text 75"/>
          <p:cNvSpPr txBox="1"/>
          <p:nvPr/>
        </p:nvSpPr>
        <p:spPr>
          <a:xfrm>
            <a:off x="990955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78" name="Text 76"/>
          <p:cNvSpPr txBox="1"/>
          <p:nvPr/>
        </p:nvSpPr>
        <p:spPr>
          <a:xfrm>
            <a:off x="990955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x27</a:t>
            </a:r>
            <a:endParaRPr lang="en-US" sz="900" dirty="0"/>
          </a:p>
        </p:txBody>
      </p:sp>
      <p:sp>
        <p:nvSpPr>
          <p:cNvPr id="79" name="Text 77"/>
          <p:cNvSpPr txBox="1"/>
          <p:nvPr/>
        </p:nvSpPr>
        <p:spPr>
          <a:xfrm>
            <a:off x="10256253"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0" name="Text 78"/>
          <p:cNvSpPr txBox="1"/>
          <p:nvPr/>
        </p:nvSpPr>
        <p:spPr>
          <a:xfrm>
            <a:off x="10256253"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x28</a:t>
            </a:r>
            <a:endParaRPr lang="en-US" sz="900" dirty="0"/>
          </a:p>
        </p:txBody>
      </p:sp>
      <p:sp>
        <p:nvSpPr>
          <p:cNvPr id="81" name="Text 79"/>
          <p:cNvSpPr txBox="1"/>
          <p:nvPr/>
        </p:nvSpPr>
        <p:spPr>
          <a:xfrm>
            <a:off x="1060295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2" name="Text 80"/>
          <p:cNvSpPr txBox="1"/>
          <p:nvPr/>
        </p:nvSpPr>
        <p:spPr>
          <a:xfrm>
            <a:off x="1060295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x29</a:t>
            </a:r>
            <a:endParaRPr lang="en-US" sz="900" dirty="0"/>
          </a:p>
        </p:txBody>
      </p:sp>
      <p:sp>
        <p:nvSpPr>
          <p:cNvPr id="83" name="Text 81"/>
          <p:cNvSpPr txBox="1"/>
          <p:nvPr/>
        </p:nvSpPr>
        <p:spPr>
          <a:xfrm>
            <a:off x="10949654"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4" name="Text 82"/>
          <p:cNvSpPr txBox="1"/>
          <p:nvPr/>
        </p:nvSpPr>
        <p:spPr>
          <a:xfrm>
            <a:off x="10949654"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x30</a:t>
            </a:r>
            <a:endParaRPr lang="en-US" sz="900" dirty="0"/>
          </a:p>
        </p:txBody>
      </p:sp>
      <p:sp>
        <p:nvSpPr>
          <p:cNvPr id="85" name="Text 83"/>
          <p:cNvSpPr txBox="1"/>
          <p:nvPr/>
        </p:nvSpPr>
        <p:spPr>
          <a:xfrm>
            <a:off x="11296355" y="4343400"/>
            <a:ext cx="346700" cy="4572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200" b="1" dirty="0">
                <a:solidFill>
                  <a:srgbClr val="1B2530"/>
                </a:solidFill>
                <a:latin typeface="Courier New" pitchFamily="34" charset="0"/>
                <a:ea typeface="Courier New" pitchFamily="34" charset="-122"/>
                <a:cs typeface="Courier New" pitchFamily="34" charset="-120"/>
              </a:rPr>
              <a:t>0</a:t>
            </a:r>
            <a:endParaRPr lang="en-US" sz="1200" dirty="0"/>
          </a:p>
        </p:txBody>
      </p:sp>
      <p:sp>
        <p:nvSpPr>
          <p:cNvPr id="86" name="Text 84"/>
          <p:cNvSpPr txBox="1"/>
          <p:nvPr/>
        </p:nvSpPr>
        <p:spPr>
          <a:xfrm>
            <a:off x="11296355" y="4837176"/>
            <a:ext cx="346700" cy="274320"/>
          </a:xfrm>
          <a:prstGeom prst="rect">
            <a:avLst/>
          </a:prstGeom>
          <a:noFill/>
          <a:ln/>
        </p:spPr>
        <p:txBody>
          <a:bodyPr wrap="square" lIns="0" tIns="0" rIns="0" bIns="0" rtlCol="0" anchor="t"/>
          <a:lstStyle/>
          <a:p>
            <a:pPr algn="ctr" indent="0" marL="0">
              <a:buNone/>
            </a:pPr>
            <a:r>
              <a:rPr lang="en-US" sz="900" dirty="0">
                <a:solidFill>
                  <a:srgbClr val="1B2530"/>
                </a:solidFill>
                <a:latin typeface="Calibri" pitchFamily="34" charset="0"/>
                <a:ea typeface="Calibri" pitchFamily="34" charset="-122"/>
                <a:cs typeface="Calibri" pitchFamily="34" charset="-120"/>
              </a:rPr>
              <a:t>x31</a:t>
            </a:r>
            <a:endParaRPr lang="en-US" sz="900" dirty="0"/>
          </a:p>
        </p:txBody>
      </p:sp>
      <p:sp>
        <p:nvSpPr>
          <p:cNvPr id="87" name="Shape 85"/>
          <p:cNvSpPr/>
          <p:nvPr/>
        </p:nvSpPr>
        <p:spPr>
          <a:xfrm>
            <a:off x="548640" y="5274818"/>
            <a:ext cx="146304" cy="146304"/>
          </a:xfrm>
          <a:prstGeom prst="rect">
            <a:avLst/>
          </a:prstGeom>
          <a:solidFill>
            <a:srgbClr val="0E7C86"/>
          </a:solidFill>
          <a:ln w="12700">
            <a:solidFill>
              <a:srgbClr val="0E7C86"/>
            </a:solidFill>
            <a:prstDash val="solid"/>
          </a:ln>
        </p:spPr>
      </p:sp>
      <p:sp>
        <p:nvSpPr>
          <p:cNvPr id="88" name="Text 86"/>
          <p:cNvSpPr txBox="1"/>
          <p:nvPr/>
        </p:nvSpPr>
        <p:spPr>
          <a:xfrm>
            <a:off x="932688" y="5230368"/>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The five bits of rd are a code word: thirty-two registers, ceil(log2 32) = 5</a:t>
            </a:r>
            <a:endParaRPr lang="en-US" sz="1400" dirty="0"/>
          </a:p>
        </p:txBody>
      </p:sp>
      <p:sp>
        <p:nvSpPr>
          <p:cNvPr id="89" name="Shape 87"/>
          <p:cNvSpPr/>
          <p:nvPr/>
        </p:nvSpPr>
        <p:spPr>
          <a:xfrm>
            <a:off x="548640" y="5637276"/>
            <a:ext cx="146304" cy="146304"/>
          </a:xfrm>
          <a:prstGeom prst="rect">
            <a:avLst/>
          </a:prstGeom>
          <a:solidFill>
            <a:srgbClr val="C7791B"/>
          </a:solidFill>
          <a:ln w="12700">
            <a:solidFill>
              <a:srgbClr val="C7791B"/>
            </a:solidFill>
            <a:prstDash val="solid"/>
          </a:ln>
        </p:spPr>
      </p:sp>
      <p:sp>
        <p:nvSpPr>
          <p:cNvPr id="90" name="Text 88"/>
          <p:cNvSpPr txBox="1"/>
          <p:nvPr/>
        </p:nvSpPr>
        <p:spPr>
          <a:xfrm>
            <a:off x="932688" y="5592826"/>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A 5-to-32 decoder turns them into thirty-two write-enable lines: only x6, that is t1, receives the result</a:t>
            </a:r>
            <a:endParaRPr lang="en-US" sz="1400" dirty="0"/>
          </a:p>
        </p:txBody>
      </p:sp>
      <p:sp>
        <p:nvSpPr>
          <p:cNvPr id="91" name="Shape 89"/>
          <p:cNvSpPr/>
          <p:nvPr/>
        </p:nvSpPr>
        <p:spPr>
          <a:xfrm>
            <a:off x="548640" y="5999734"/>
            <a:ext cx="146304" cy="146304"/>
          </a:xfrm>
          <a:prstGeom prst="rect">
            <a:avLst/>
          </a:prstGeom>
          <a:solidFill>
            <a:srgbClr val="0E7C86"/>
          </a:solidFill>
          <a:ln w="12700">
            <a:solidFill>
              <a:srgbClr val="0E7C86"/>
            </a:solidFill>
            <a:prstDash val="solid"/>
          </a:ln>
        </p:spPr>
      </p:sp>
      <p:sp>
        <p:nvSpPr>
          <p:cNvPr id="92" name="Text 90"/>
          <p:cNvSpPr txBox="1"/>
          <p:nvPr/>
        </p:nvSpPr>
        <p:spPr>
          <a:xfrm>
            <a:off x="932688" y="5955284"/>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Two more selections, on rs1 and rs2, choose which registers are read</a:t>
            </a:r>
            <a:endParaRPr lang="en-US" sz="1400" dirty="0"/>
          </a:p>
        </p:txBody>
      </p:sp>
      <p:sp>
        <p:nvSpPr>
          <p:cNvPr id="93" name="Shape 91"/>
          <p:cNvSpPr/>
          <p:nvPr/>
        </p:nvSpPr>
        <p:spPr>
          <a:xfrm>
            <a:off x="8287715" y="91440"/>
            <a:ext cx="3355340" cy="274320"/>
          </a:xfrm>
          <a:prstGeom prst="rect">
            <a:avLst/>
          </a:prstGeom>
          <a:solidFill>
            <a:srgbClr val="E0F2FE"/>
          </a:solidFill>
          <a:ln w="12700">
            <a:solidFill>
              <a:srgbClr val="0369A1"/>
            </a:solidFill>
            <a:prstDash val="solid"/>
          </a:ln>
        </p:spPr>
      </p:sp>
      <p:sp>
        <p:nvSpPr>
          <p:cNvPr id="94" name="Shape 92"/>
          <p:cNvSpPr/>
          <p:nvPr/>
        </p:nvSpPr>
        <p:spPr>
          <a:xfrm>
            <a:off x="8287715" y="91440"/>
            <a:ext cx="73152" cy="274320"/>
          </a:xfrm>
          <a:prstGeom prst="rect">
            <a:avLst/>
          </a:prstGeom>
          <a:solidFill>
            <a:srgbClr val="0369A1"/>
          </a:solidFill>
          <a:ln w="12700">
            <a:solidFill>
              <a:srgbClr val="0369A1"/>
            </a:solidFill>
            <a:prstDash val="solid"/>
          </a:ln>
        </p:spPr>
      </p:sp>
      <p:pic>
        <p:nvPicPr>
          <p:cNvPr id="95"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96" name="Text 93"/>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decoders and encoders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the processor: register or constant?</a:t>
            </a:r>
            <a:endParaRPr lang="en-US" sz="3200" dirty="0"/>
          </a:p>
        </p:txBody>
      </p:sp>
      <p:sp>
        <p:nvSpPr>
          <p:cNvPr id="3" name="Text 1"/>
          <p:cNvSpPr txBox="1"/>
          <p:nvPr/>
        </p:nvSpPr>
        <p:spPr>
          <a:xfrm>
            <a:off x="548640" y="1600200"/>
            <a:ext cx="237744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 file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value of rs1</a:t>
            </a:r>
            <a:endParaRPr lang="en-US" sz="1500" dirty="0"/>
          </a:p>
        </p:txBody>
      </p:sp>
      <p:sp>
        <p:nvSpPr>
          <p:cNvPr id="4" name="Text 2"/>
          <p:cNvSpPr txBox="1"/>
          <p:nvPr/>
        </p:nvSpPr>
        <p:spPr>
          <a:xfrm>
            <a:off x="548640" y="2971800"/>
            <a:ext cx="237744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 file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value of rs2</a:t>
            </a:r>
            <a:endParaRPr lang="en-US" sz="1500" dirty="0"/>
          </a:p>
        </p:txBody>
      </p:sp>
      <p:sp>
        <p:nvSpPr>
          <p:cNvPr id="5" name="Text 3"/>
          <p:cNvSpPr txBox="1"/>
          <p:nvPr/>
        </p:nvSpPr>
        <p:spPr>
          <a:xfrm>
            <a:off x="548640" y="4114800"/>
            <a:ext cx="2377440" cy="822960"/>
          </a:xfrm>
          <a:prstGeom prst="roundRect">
            <a:avLst>
              <a:gd name="adj" fmla="val 6667"/>
            </a:avLst>
          </a:prstGeom>
          <a:solidFill>
            <a:srgbClr val="C7791B"/>
          </a:solidFill>
          <a:ln>
            <a:solidFill>
              <a:srgbClr val="C7791B"/>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immediate from the</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instruction, sign-extended</a:t>
            </a:r>
            <a:endParaRPr lang="en-US" sz="1350" dirty="0"/>
          </a:p>
        </p:txBody>
      </p:sp>
      <p:sp>
        <p:nvSpPr>
          <p:cNvPr id="6" name="Text 4"/>
          <p:cNvSpPr txBox="1"/>
          <p:nvPr/>
        </p:nvSpPr>
        <p:spPr>
          <a:xfrm>
            <a:off x="4206240" y="3017520"/>
            <a:ext cx="1005840" cy="1874520"/>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MUX</a:t>
            </a:r>
            <a:endParaRPr lang="en-US" sz="1700" dirty="0"/>
          </a:p>
        </p:txBody>
      </p:sp>
      <p:sp>
        <p:nvSpPr>
          <p:cNvPr id="7" name="Text 5"/>
          <p:cNvSpPr txBox="1"/>
          <p:nvPr/>
        </p:nvSpPr>
        <p:spPr>
          <a:xfrm>
            <a:off x="6400800" y="1691640"/>
            <a:ext cx="1737360" cy="2743200"/>
          </a:xfrm>
          <a:prstGeom prst="roundRect">
            <a:avLst>
              <a:gd name="adj" fmla="val 3158"/>
            </a:avLst>
          </a:prstGeom>
          <a:solidFill>
            <a:srgbClr val="6B4FA0"/>
          </a:solidFill>
          <a:ln>
            <a:solidFill>
              <a:srgbClr val="6B4FA0"/>
            </a:solidFill>
          </a:ln>
        </p:spPr>
        <p:txBody>
          <a:bodyPr wrap="square" lIns="38100" tIns="38100" rIns="38100" bIns="381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ALU</a:t>
            </a:r>
            <a:endParaRPr lang="en-US" sz="2200" dirty="0"/>
          </a:p>
        </p:txBody>
      </p:sp>
      <p:sp>
        <p:nvSpPr>
          <p:cNvPr id="8" name="Shape 6"/>
          <p:cNvSpPr/>
          <p:nvPr/>
        </p:nvSpPr>
        <p:spPr>
          <a:xfrm>
            <a:off x="2953512" y="2011680"/>
            <a:ext cx="3419856" cy="0"/>
          </a:xfrm>
          <a:prstGeom prst="line">
            <a:avLst/>
          </a:prstGeom>
          <a:noFill/>
          <a:ln w="28575">
            <a:solidFill>
              <a:srgbClr val="5B6B78"/>
            </a:solidFill>
            <a:prstDash val="solid"/>
            <a:tailEnd type="triangle"/>
          </a:ln>
        </p:spPr>
      </p:sp>
      <p:sp>
        <p:nvSpPr>
          <p:cNvPr id="9" name="Text 7"/>
          <p:cNvSpPr txBox="1"/>
          <p:nvPr/>
        </p:nvSpPr>
        <p:spPr>
          <a:xfrm>
            <a:off x="5852160" y="1673352"/>
            <a:ext cx="457200" cy="274320"/>
          </a:xfrm>
          <a:prstGeom prst="rect">
            <a:avLst/>
          </a:prstGeom>
          <a:noFill/>
          <a:ln/>
        </p:spPr>
        <p:txBody>
          <a:bodyPr wrap="square" lIns="0" tIns="0" rIns="0" bIns="0" rtlCol="0" anchor="t"/>
          <a:lstStyle/>
          <a:p>
            <a:pPr indent="0" marL="0">
              <a:buNone/>
            </a:pPr>
            <a:r>
              <a:rPr lang="en-US" sz="1500" b="1" dirty="0">
                <a:solidFill>
                  <a:srgbClr val="1B2530"/>
                </a:solidFill>
                <a:latin typeface="Courier New" pitchFamily="34" charset="0"/>
                <a:ea typeface="Courier New" pitchFamily="34" charset="-122"/>
                <a:cs typeface="Courier New" pitchFamily="34" charset="-120"/>
              </a:rPr>
              <a:t>A</a:t>
            </a:r>
            <a:endParaRPr lang="en-US" sz="1500" dirty="0"/>
          </a:p>
        </p:txBody>
      </p:sp>
      <p:sp>
        <p:nvSpPr>
          <p:cNvPr id="10" name="Shape 8"/>
          <p:cNvSpPr/>
          <p:nvPr/>
        </p:nvSpPr>
        <p:spPr>
          <a:xfrm>
            <a:off x="2953512" y="3383280"/>
            <a:ext cx="1225296" cy="0"/>
          </a:xfrm>
          <a:prstGeom prst="line">
            <a:avLst/>
          </a:prstGeom>
          <a:noFill/>
          <a:ln w="28575">
            <a:solidFill>
              <a:srgbClr val="5B6B78"/>
            </a:solidFill>
            <a:prstDash val="solid"/>
            <a:tailEnd type="triangle"/>
          </a:ln>
        </p:spPr>
      </p:sp>
      <p:sp>
        <p:nvSpPr>
          <p:cNvPr id="11" name="Text 9"/>
          <p:cNvSpPr txBox="1"/>
          <p:nvPr/>
        </p:nvSpPr>
        <p:spPr>
          <a:xfrm>
            <a:off x="3794760" y="3044952"/>
            <a:ext cx="365760" cy="274320"/>
          </a:xfrm>
          <a:prstGeom prst="rect">
            <a:avLst/>
          </a:prstGeom>
          <a:noFill/>
          <a:ln/>
        </p:spPr>
        <p:txBody>
          <a:bodyPr wrap="square" lIns="0" tIns="0" rIns="0" bIns="0" rtlCol="0" anchor="t"/>
          <a:lstStyle/>
          <a:p>
            <a:pPr indent="0" marL="0">
              <a:buNone/>
            </a:pPr>
            <a:r>
              <a:rPr lang="en-US" sz="1400" b="1" dirty="0">
                <a:solidFill>
                  <a:srgbClr val="0E7C86"/>
                </a:solidFill>
                <a:latin typeface="Courier New" pitchFamily="34" charset="0"/>
                <a:ea typeface="Courier New" pitchFamily="34" charset="-122"/>
                <a:cs typeface="Courier New" pitchFamily="34" charset="-120"/>
              </a:rPr>
              <a:t>0</a:t>
            </a:r>
            <a:endParaRPr lang="en-US" sz="1400" dirty="0"/>
          </a:p>
        </p:txBody>
      </p:sp>
      <p:sp>
        <p:nvSpPr>
          <p:cNvPr id="12" name="Shape 10"/>
          <p:cNvSpPr/>
          <p:nvPr/>
        </p:nvSpPr>
        <p:spPr>
          <a:xfrm>
            <a:off x="2953512" y="4526280"/>
            <a:ext cx="1225296" cy="0"/>
          </a:xfrm>
          <a:prstGeom prst="line">
            <a:avLst/>
          </a:prstGeom>
          <a:noFill/>
          <a:ln w="28575">
            <a:solidFill>
              <a:srgbClr val="5B6B78"/>
            </a:solidFill>
            <a:prstDash val="solid"/>
            <a:tailEnd type="triangle"/>
          </a:ln>
        </p:spPr>
      </p:sp>
      <p:sp>
        <p:nvSpPr>
          <p:cNvPr id="13" name="Text 11"/>
          <p:cNvSpPr txBox="1"/>
          <p:nvPr/>
        </p:nvSpPr>
        <p:spPr>
          <a:xfrm>
            <a:off x="3794760" y="4187952"/>
            <a:ext cx="365760" cy="274320"/>
          </a:xfrm>
          <a:prstGeom prst="rect">
            <a:avLst/>
          </a:prstGeom>
          <a:noFill/>
          <a:ln/>
        </p:spPr>
        <p:txBody>
          <a:bodyPr wrap="square" lIns="0" tIns="0" rIns="0" bIns="0" rtlCol="0" anchor="t"/>
          <a:lstStyle/>
          <a:p>
            <a:pPr indent="0" marL="0">
              <a:buNone/>
            </a:pPr>
            <a:r>
              <a:rPr lang="en-US" sz="1400" b="1" dirty="0">
                <a:solidFill>
                  <a:srgbClr val="0E7C86"/>
                </a:solidFill>
                <a:latin typeface="Courier New" pitchFamily="34" charset="0"/>
                <a:ea typeface="Courier New" pitchFamily="34" charset="-122"/>
                <a:cs typeface="Courier New" pitchFamily="34" charset="-120"/>
              </a:rPr>
              <a:t>1</a:t>
            </a:r>
            <a:endParaRPr lang="en-US" sz="1400" dirty="0"/>
          </a:p>
        </p:txBody>
      </p:sp>
      <p:sp>
        <p:nvSpPr>
          <p:cNvPr id="14" name="Shape 12"/>
          <p:cNvSpPr/>
          <p:nvPr/>
        </p:nvSpPr>
        <p:spPr>
          <a:xfrm>
            <a:off x="5239512" y="3931920"/>
            <a:ext cx="1133856" cy="0"/>
          </a:xfrm>
          <a:prstGeom prst="line">
            <a:avLst/>
          </a:prstGeom>
          <a:noFill/>
          <a:ln w="28575">
            <a:solidFill>
              <a:srgbClr val="5B6B78"/>
            </a:solidFill>
            <a:prstDash val="solid"/>
            <a:tailEnd type="triangle"/>
          </a:ln>
        </p:spPr>
      </p:sp>
      <p:sp>
        <p:nvSpPr>
          <p:cNvPr id="15" name="Text 13"/>
          <p:cNvSpPr txBox="1"/>
          <p:nvPr/>
        </p:nvSpPr>
        <p:spPr>
          <a:xfrm>
            <a:off x="5852160" y="3593592"/>
            <a:ext cx="457200" cy="274320"/>
          </a:xfrm>
          <a:prstGeom prst="rect">
            <a:avLst/>
          </a:prstGeom>
          <a:noFill/>
          <a:ln/>
        </p:spPr>
        <p:txBody>
          <a:bodyPr wrap="square" lIns="0" tIns="0" rIns="0" bIns="0" rtlCol="0" anchor="t"/>
          <a:lstStyle/>
          <a:p>
            <a:pPr indent="0" marL="0">
              <a:buNone/>
            </a:pPr>
            <a:r>
              <a:rPr lang="en-US" sz="1500" b="1" dirty="0">
                <a:solidFill>
                  <a:srgbClr val="1B2530"/>
                </a:solidFill>
                <a:latin typeface="Courier New" pitchFamily="34" charset="0"/>
                <a:ea typeface="Courier New" pitchFamily="34" charset="-122"/>
                <a:cs typeface="Courier New" pitchFamily="34" charset="-120"/>
              </a:rPr>
              <a:t>B</a:t>
            </a:r>
            <a:endParaRPr lang="en-US" sz="1500" dirty="0"/>
          </a:p>
        </p:txBody>
      </p:sp>
      <p:sp>
        <p:nvSpPr>
          <p:cNvPr id="16" name="Shape 14"/>
          <p:cNvSpPr/>
          <p:nvPr/>
        </p:nvSpPr>
        <p:spPr>
          <a:xfrm flipV="1">
            <a:off x="4709160" y="4919472"/>
            <a:ext cx="0" cy="612648"/>
          </a:xfrm>
          <a:prstGeom prst="line">
            <a:avLst/>
          </a:prstGeom>
          <a:noFill/>
          <a:ln w="28575">
            <a:solidFill>
              <a:srgbClr val="B23A48"/>
            </a:solidFill>
            <a:prstDash val="solid"/>
            <a:tailEnd type="triangle"/>
          </a:ln>
        </p:spPr>
      </p:sp>
      <p:sp>
        <p:nvSpPr>
          <p:cNvPr id="17" name="Text 15"/>
          <p:cNvSpPr txBox="1"/>
          <p:nvPr/>
        </p:nvSpPr>
        <p:spPr>
          <a:xfrm>
            <a:off x="3017520" y="5550408"/>
            <a:ext cx="347472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selection: 0 for add, 1 for addi</a:t>
            </a:r>
            <a:endParaRPr lang="en-US" sz="1350" dirty="0"/>
          </a:p>
        </p:txBody>
      </p:sp>
      <p:sp>
        <p:nvSpPr>
          <p:cNvPr id="18" name="Shape 16"/>
          <p:cNvSpPr/>
          <p:nvPr/>
        </p:nvSpPr>
        <p:spPr>
          <a:xfrm>
            <a:off x="8165592" y="3063240"/>
            <a:ext cx="704088" cy="0"/>
          </a:xfrm>
          <a:prstGeom prst="line">
            <a:avLst/>
          </a:prstGeom>
          <a:noFill/>
          <a:ln w="28575">
            <a:solidFill>
              <a:srgbClr val="5B6B78"/>
            </a:solidFill>
            <a:prstDash val="solid"/>
            <a:tailEnd type="triangle"/>
          </a:ln>
        </p:spPr>
      </p:sp>
      <p:sp>
        <p:nvSpPr>
          <p:cNvPr id="19" name="Text 17"/>
          <p:cNvSpPr txBox="1"/>
          <p:nvPr/>
        </p:nvSpPr>
        <p:spPr>
          <a:xfrm>
            <a:off x="8229600" y="2697480"/>
            <a:ext cx="731520" cy="274320"/>
          </a:xfrm>
          <a:prstGeom prst="rect">
            <a:avLst/>
          </a:prstGeom>
          <a:noFill/>
          <a:ln/>
        </p:spPr>
        <p:txBody>
          <a:bodyPr wrap="square" lIns="0" tIns="0" rIns="0" bIns="0" rtlCol="0" anchor="t"/>
          <a:lstStyle/>
          <a:p>
            <a:pPr indent="0" marL="0">
              <a:buNone/>
            </a:pPr>
            <a:r>
              <a:rPr lang="en-US" sz="1300" i="1" dirty="0">
                <a:solidFill>
                  <a:srgbClr val="5B6B78"/>
                </a:solidFill>
                <a:latin typeface="Calibri" pitchFamily="34" charset="0"/>
                <a:ea typeface="Calibri" pitchFamily="34" charset="-122"/>
                <a:cs typeface="Calibri" pitchFamily="34" charset="-120"/>
              </a:rPr>
              <a:t>result</a:t>
            </a:r>
            <a:endParaRPr lang="en-US" sz="1300" dirty="0"/>
          </a:p>
        </p:txBody>
      </p:sp>
      <p:sp>
        <p:nvSpPr>
          <p:cNvPr id="20" name="Shape 18"/>
          <p:cNvSpPr/>
          <p:nvPr/>
        </p:nvSpPr>
        <p:spPr>
          <a:xfrm>
            <a:off x="9052560" y="1469517"/>
            <a:ext cx="146304" cy="146304"/>
          </a:xfrm>
          <a:prstGeom prst="rect">
            <a:avLst/>
          </a:prstGeom>
          <a:solidFill>
            <a:srgbClr val="0E7C86"/>
          </a:solidFill>
          <a:ln w="12700">
            <a:solidFill>
              <a:srgbClr val="0E7C86"/>
            </a:solidFill>
            <a:prstDash val="solid"/>
          </a:ln>
        </p:spPr>
      </p:sp>
      <p:sp>
        <p:nvSpPr>
          <p:cNvPr id="21" name="Text 19"/>
          <p:cNvSpPr txBox="1"/>
          <p:nvPr/>
        </p:nvSpPr>
        <p:spPr>
          <a:xfrm>
            <a:off x="9436608" y="1417320"/>
            <a:ext cx="220644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add t2, t0, t1 and addi t2, t0, 5 use the same adder</a:t>
            </a:r>
            <a:endParaRPr lang="en-US" sz="1500" dirty="0"/>
          </a:p>
        </p:txBody>
      </p:sp>
      <p:sp>
        <p:nvSpPr>
          <p:cNvPr id="22" name="Shape 20"/>
          <p:cNvSpPr/>
          <p:nvPr/>
        </p:nvSpPr>
        <p:spPr>
          <a:xfrm>
            <a:off x="9052560" y="2357247"/>
            <a:ext cx="146304" cy="146304"/>
          </a:xfrm>
          <a:prstGeom prst="rect">
            <a:avLst/>
          </a:prstGeom>
          <a:solidFill>
            <a:srgbClr val="C7791B"/>
          </a:solidFill>
          <a:ln w="12700">
            <a:solidFill>
              <a:srgbClr val="C7791B"/>
            </a:solidFill>
            <a:prstDash val="solid"/>
          </a:ln>
        </p:spPr>
      </p:sp>
      <p:sp>
        <p:nvSpPr>
          <p:cNvPr id="23" name="Text 21"/>
          <p:cNvSpPr txBox="1"/>
          <p:nvPr/>
        </p:nvSpPr>
        <p:spPr>
          <a:xfrm>
            <a:off x="9436608" y="230505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A multiplexer in front of the ALU chooses the second operand: a register or the constant</a:t>
            </a:r>
            <a:endParaRPr lang="en-US" sz="1500" dirty="0"/>
          </a:p>
        </p:txBody>
      </p:sp>
      <p:sp>
        <p:nvSpPr>
          <p:cNvPr id="24" name="Shape 22"/>
          <p:cNvSpPr/>
          <p:nvPr/>
        </p:nvSpPr>
        <p:spPr>
          <a:xfrm>
            <a:off x="9052560" y="3709797"/>
            <a:ext cx="146304" cy="146304"/>
          </a:xfrm>
          <a:prstGeom prst="rect">
            <a:avLst/>
          </a:prstGeom>
          <a:solidFill>
            <a:srgbClr val="0E7C86"/>
          </a:solidFill>
          <a:ln w="12700">
            <a:solidFill>
              <a:srgbClr val="0E7C86"/>
            </a:solidFill>
            <a:prstDash val="solid"/>
          </a:ln>
        </p:spPr>
      </p:sp>
      <p:sp>
        <p:nvSpPr>
          <p:cNvPr id="25" name="Text 23"/>
          <p:cNvSpPr txBox="1"/>
          <p:nvPr/>
        </p:nvSpPr>
        <p:spPr>
          <a:xfrm>
            <a:off x="9436608" y="365760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It is a multiplexer on words: thirty-two one-bit multiplexers sharing one selection line</a:t>
            </a:r>
            <a:endParaRPr lang="en-US" sz="1500" dirty="0"/>
          </a:p>
        </p:txBody>
      </p:sp>
      <p:sp>
        <p:nvSpPr>
          <p:cNvPr id="26" name="Shape 24"/>
          <p:cNvSpPr/>
          <p:nvPr/>
        </p:nvSpPr>
        <p:spPr>
          <a:xfrm>
            <a:off x="9052560" y="5062347"/>
            <a:ext cx="146304" cy="146304"/>
          </a:xfrm>
          <a:prstGeom prst="rect">
            <a:avLst/>
          </a:prstGeom>
          <a:solidFill>
            <a:srgbClr val="C7791B"/>
          </a:solidFill>
          <a:ln w="12700">
            <a:solidFill>
              <a:srgbClr val="C7791B"/>
            </a:solidFill>
            <a:prstDash val="solid"/>
          </a:ln>
        </p:spPr>
      </p:sp>
      <p:sp>
        <p:nvSpPr>
          <p:cNvPr id="27" name="Text 25"/>
          <p:cNvSpPr txBox="1"/>
          <p:nvPr/>
        </p:nvSpPr>
        <p:spPr>
          <a:xfrm>
            <a:off x="9436608" y="5010150"/>
            <a:ext cx="2206447" cy="116205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Reading a register is a multiplexer too: 32 words in, 5 selection bits (rs1), one word out</a:t>
            </a:r>
            <a:endParaRPr lang="en-US" sz="1500" dirty="0"/>
          </a:p>
        </p:txBody>
      </p:sp>
      <p:sp>
        <p:nvSpPr>
          <p:cNvPr id="28" name="Shape 26"/>
          <p:cNvSpPr/>
          <p:nvPr/>
        </p:nvSpPr>
        <p:spPr>
          <a:xfrm>
            <a:off x="8878646" y="91440"/>
            <a:ext cx="2764409" cy="274320"/>
          </a:xfrm>
          <a:prstGeom prst="rect">
            <a:avLst/>
          </a:prstGeom>
          <a:solidFill>
            <a:srgbClr val="E0F2FE"/>
          </a:solidFill>
          <a:ln w="12700">
            <a:solidFill>
              <a:srgbClr val="0369A1"/>
            </a:solidFill>
            <a:prstDash val="solid"/>
          </a:ln>
        </p:spPr>
      </p:sp>
      <p:sp>
        <p:nvSpPr>
          <p:cNvPr id="29" name="Shape 27"/>
          <p:cNvSpPr/>
          <p:nvPr/>
        </p:nvSpPr>
        <p:spPr>
          <a:xfrm>
            <a:off x="8878646" y="91440"/>
            <a:ext cx="73152" cy="274320"/>
          </a:xfrm>
          <a:prstGeom prst="rect">
            <a:avLst/>
          </a:prstGeom>
          <a:solidFill>
            <a:srgbClr val="0369A1"/>
          </a:solidFill>
          <a:ln w="12700">
            <a:solidFill>
              <a:srgbClr val="0369A1"/>
            </a:solidFill>
            <a:prstDash val="solid"/>
          </a:ln>
        </p:spPr>
      </p:sp>
      <p:pic>
        <p:nvPicPr>
          <p:cNvPr id="30" name="Image 0" descr="preencoded.png">    </p:cNvPr>
          <p:cNvPicPr>
            <a:picLocks noChangeAspect="1"/>
          </p:cNvPicPr>
          <p:nvPr/>
        </p:nvPicPr>
        <p:blipFill>
          <a:blip r:embed="rId1"/>
          <a:stretch>
            <a:fillRect/>
          </a:stretch>
        </p:blipFill>
        <p:spPr>
          <a:xfrm>
            <a:off x="9006662" y="128016"/>
            <a:ext cx="201168" cy="201168"/>
          </a:xfrm>
          <a:prstGeom prst="rect">
            <a:avLst/>
          </a:prstGeom>
        </p:spPr>
      </p:pic>
      <p:sp>
        <p:nvSpPr>
          <p:cNvPr id="31" name="Text 28"/>
          <p:cNvSpPr txBox="1"/>
          <p:nvPr/>
        </p:nvSpPr>
        <p:spPr>
          <a:xfrm>
            <a:off x="9262694" y="91440"/>
            <a:ext cx="234378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multiplexers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parity network in seven instructions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a0 = one byte        result: a0 = 1 if the number of 1 bits is odd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4</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eight bits onto four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four bits onto two</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srli t0, a0,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xor  a0, a0, t0      </a:t>
            </a:r>
            <a:pPr indent="0" marL="0">
              <a:buNone/>
            </a:pPr>
            <a:r>
              <a:rPr lang="en-US" sz="1300" dirty="0">
                <a:solidFill>
                  <a:srgbClr val="8FB3A0"/>
                </a:solidFill>
                <a:latin typeface="Courier New" pitchFamily="34" charset="0"/>
                <a:ea typeface="Courier New" pitchFamily="34" charset="-122"/>
                <a:cs typeface="Courier New" pitchFamily="34" charset="-120"/>
              </a:rPr>
              <a:t># fold two bits onto 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a0, a0, 1       </a:t>
            </a:r>
            <a:pPr indent="0" marL="0">
              <a:buNone/>
            </a:pPr>
            <a:r>
              <a:rPr lang="en-US" sz="1300" dirty="0">
                <a:solidFill>
                  <a:srgbClr val="8FB3A0"/>
                </a:solidFill>
                <a:latin typeface="Courier New" pitchFamily="34" charset="0"/>
                <a:ea typeface="Courier New" pitchFamily="34" charset="-122"/>
                <a:cs typeface="Courier New" pitchFamily="34" charset="-120"/>
              </a:rPr>
              <a:t># keep the parity bit</a:t>
            </a:r>
            <a:endParaRPr lang="en-US" sz="130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Each xor combines the upper half of the bits with the lower half</a:t>
            </a:r>
            <a:endParaRPr lang="en-US" sz="17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levels for eight bits: the software version of a tree of XOR gates</a:t>
            </a:r>
            <a:endParaRPr lang="en-US" sz="17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same value appended to the byte makes its total parity even</a:t>
            </a:r>
            <a:endParaRPr lang="en-US" sz="17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comparators and parity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instructions and the ALU</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455005"/>
                <a:gridCol w="2728135"/>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Instruction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funct3</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ALU operation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Unit that produces the result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add, sub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000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sum or difference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adder / subtractor (one more bit, in funct7, chooses)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sll</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001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 left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 sltu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010, 011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set if less than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subtractor, then the sign rules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xor</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100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XOR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XOR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srl, sra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101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 right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shifter (funct7 chooses logical or arithmetic)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or</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110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OR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and</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111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bitwise AND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AND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funct3 is a 3-bit code inside the instruction: the ALU multiplexer is driven by decoding it.</a:t>
            </a:r>
            <a:endParaRPr lang="en-US" sz="1500" dirty="0"/>
          </a:p>
        </p:txBody>
      </p:sp>
      <p:sp>
        <p:nvSpPr>
          <p:cNvPr id="5" name="Shape 2"/>
          <p:cNvSpPr/>
          <p:nvPr/>
        </p:nvSpPr>
        <p:spPr>
          <a:xfrm>
            <a:off x="9206941" y="91440"/>
            <a:ext cx="2436114" cy="274320"/>
          </a:xfrm>
          <a:prstGeom prst="rect">
            <a:avLst/>
          </a:prstGeom>
          <a:solidFill>
            <a:srgbClr val="E0F2FE"/>
          </a:solidFill>
          <a:ln w="12700">
            <a:solidFill>
              <a:srgbClr val="0369A1"/>
            </a:solidFill>
            <a:prstDash val="solid"/>
          </a:ln>
        </p:spPr>
      </p:sp>
      <p:sp>
        <p:nvSpPr>
          <p:cNvPr id="6" name="Shape 3"/>
          <p:cNvSpPr/>
          <p:nvPr/>
        </p:nvSpPr>
        <p:spPr>
          <a:xfrm>
            <a:off x="9206941"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334957" y="128016"/>
            <a:ext cx="201168" cy="201168"/>
          </a:xfrm>
          <a:prstGeom prst="rect">
            <a:avLst/>
          </a:prstGeom>
        </p:spPr>
      </p:pic>
      <p:sp>
        <p:nvSpPr>
          <p:cNvPr id="8" name="Text 4"/>
          <p:cNvSpPr txBox="1"/>
          <p:nvPr/>
        </p:nvSpPr>
        <p:spPr>
          <a:xfrm>
            <a:off x="9590989" y="91440"/>
            <a:ext cx="201549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ALU</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11: Combinational Machines</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l11.S: a multiplexer in software: a selector chooses one of four colours</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four horizontal bars, red, green, blue and yellow from the top: bar k</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is drawn in the colour that the selector k chooses in the table.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l11.S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l11 --name l11 --out l11.prg32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l11_draw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l11_init: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l11_update: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l11_draw: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the selector,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bars: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s0              </a:t>
            </a:r>
            <a:pPr indent="0" marL="0">
              <a:buNone/>
            </a:pPr>
            <a:r>
              <a:rPr lang="en-US" sz="1200" dirty="0">
                <a:solidFill>
                  <a:srgbClr val="8FB3A0"/>
                </a:solidFill>
                <a:latin typeface="Courier New" pitchFamily="34" charset="0"/>
                <a:ea typeface="Courier New" pitchFamily="34" charset="-122"/>
                <a:cs typeface="Courier New" pitchFamily="34" charset="-120"/>
              </a:rPr>
              <a:t># a0 = selector,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palette         </a:t>
            </a:r>
            <a:pPr indent="0" marL="0">
              <a:buNone/>
            </a:pPr>
            <a:r>
              <a:rPr lang="en-US" sz="1200" dirty="0">
                <a:solidFill>
                  <a:srgbClr val="8FB3A0"/>
                </a:solidFill>
                <a:latin typeface="Courier New" pitchFamily="34" charset="0"/>
                <a:ea typeface="Courier New" pitchFamily="34" charset="-122"/>
                <a:cs typeface="Courier New" pitchFamily="34" charset="-120"/>
              </a:rPr>
              <a:t># four words: the data inputs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a0, 2           </a:t>
            </a:r>
            <a:pPr indent="0" marL="0">
              <a:buNone/>
            </a:pPr>
            <a:r>
              <a:rPr lang="en-US" sz="1200" dirty="0">
                <a:solidFill>
                  <a:srgbClr val="8FB3A0"/>
                </a:solidFill>
                <a:latin typeface="Courier New" pitchFamily="34" charset="0"/>
                <a:ea typeface="Courier New" pitchFamily="34" charset="-122"/>
                <a:cs typeface="Courier New" pitchFamily="34" charset="-120"/>
              </a:rPr>
              <a:t># selector * 4 bytes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          </a:t>
            </a:r>
            <a:pPr indent="0" marL="0">
              <a:buNone/>
            </a:pPr>
            <a:r>
              <a:rPr lang="en-US" sz="1200" dirty="0">
                <a:solidFill>
                  <a:srgbClr val="8FB3A0"/>
                </a:solidFill>
                <a:latin typeface="Courier New" pitchFamily="34" charset="0"/>
                <a:ea typeface="Courier New" pitchFamily="34" charset="-122"/>
                <a:cs typeface="Courier New" pitchFamily="34" charset="-120"/>
              </a:rPr>
              <a:t># address of the selected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a4, 0(t0)           </a:t>
            </a:r>
            <a:pPr indent="0" marL="0">
              <a:buNone/>
            </a:pPr>
            <a:r>
              <a:rPr lang="en-US" sz="1200" dirty="0">
                <a:solidFill>
                  <a:srgbClr val="8FB3A0"/>
                </a:solidFill>
                <a:latin typeface="Courier New" pitchFamily="34" charset="0"/>
                <a:ea typeface="Courier New" pitchFamily="34" charset="-122"/>
                <a:cs typeface="Courier New" pitchFamily="34" charset="-120"/>
              </a:rPr>
              <a:t># the selected input reaches the output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20          </a:t>
            </a:r>
            <a:pPr indent="0" marL="0">
              <a:buNone/>
            </a:pPr>
            <a:r>
              <a:rPr lang="en-US" sz="1200" dirty="0">
                <a:solidFill>
                  <a:srgbClr val="8FB3A0"/>
                </a:solidFill>
                <a:latin typeface="Courier New" pitchFamily="34" charset="0"/>
                <a:ea typeface="Courier New" pitchFamily="34" charset="-122"/>
                <a:cs typeface="Courier New" pitchFamily="34" charset="-120"/>
              </a:rPr>
              <a:t># y = 20 + 32 * selector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200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blt  s0, t0, bars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red, green, blue,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palette: .word 0xf800, 0x07e0, 0x001f, 0xffe0</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horizontal bars, red, green, blue and yellow from the top: bar k is drawn in the colour that the selector k chooses in the table.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l11 --out l11.prg32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l11 --name l11 --architecture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Synthesise segment g of the seven-segment transcoder with a Karnaugh map, using the don't-cares</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Build a 3-to-8 decoder from two 2-to-4 decoders with enable and one inverter</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Implement F = sum of m(1, 2, 4, 7) with one multiplexer of 8 inputs. Which function is it?</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a comparator in assembly: a0 = 1 if a0 and a1 are equal, using xor and sltiu only</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seven-segment digit on PRG32: a table of ten bytes, one per digit, and seven rectangles lit by testing its bits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 large digit that counts from 0 to 9, one step per second, drawn from seven rectangles.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Combinational Machines: the code</dc:title>
  <dc:subject>Lecture 11</dc:subject>
  <dc:creator>Raffaele Montella</dc:creator>
  <cp:lastModifiedBy>Raffaele Montella</cp:lastModifiedBy>
  <cp:revision>1</cp:revision>
  <dcterms:created xsi:type="dcterms:W3CDTF">2026-10-16T20:22:24Z</dcterms:created>
  <dcterms:modified xsi:type="dcterms:W3CDTF">2026-10-16T20:22:24Z</dcterms:modified>
</cp:coreProperties>
</file>