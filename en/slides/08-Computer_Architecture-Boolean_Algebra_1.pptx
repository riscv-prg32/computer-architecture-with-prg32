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aa5a29c-2204-c083-ad57-747e74a6ed8f}">
          <p14:sldIdLst>
            <p14:sldId id="256"/>
            <p14:sldId id="257"/>
          </p14:sldIdLst>
        </p14:section>
        <p14:section name="Warm-up on the machine" id="{98b07f28-dee4-f32d-f9e5-632c95a6dec8}">
          <p14:sldIdLst>
            <p14:sldId id="258"/>
            <p14:sldId id="259"/>
            <p14:sldId id="260"/>
          </p14:sldIdLst>
        </p14:section>
        <p14:section name="The computer as a logic machine" id="{4e1a3e1d-2480-56ae-fd31-a4b171322be0}">
          <p14:sldIdLst>
            <p14:sldId id="261"/>
            <p14:sldId id="262"/>
            <p14:sldId id="263"/>
            <p14:sldId id="264"/>
            <p14:sldId id="265"/>
            <p14:sldId id="266"/>
          </p14:sldIdLst>
        </p14:section>
        <p14:section name="Boolean algebra" id="{9288429a-5933-c6c6-2c5f-c9d94c0198d6}">
          <p14:sldIdLst>
            <p14:sldId id="267"/>
            <p14:sldId id="268"/>
            <p14:sldId id="269"/>
            <p14:sldId id="270"/>
            <p14:sldId id="271"/>
            <p14:sldId id="272"/>
            <p14:sldId id="273"/>
            <p14:sldId id="274"/>
            <p14:sldId id="275"/>
          </p14:sldIdLst>
        </p14:section>
        <p14:section name="Back to the machine" id="{b1e8d807-01af-12eb-9afb-6f698a5434d9}">
          <p14:sldIdLst>
            <p14:sldId id="276"/>
            <p14:sldId id="277"/>
            <p14:sldId id="278"/>
            <p14:sldId id="279"/>
            <p14:sldId id="280"/>
            <p14:sldId id="281"/>
            <p14:sldId id="282"/>
            <p14:sldId id="283"/>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block of the course begins: logic. After learning what bits mean, you learn how they are combined. You have in fact been using Boolean algebra since the first days, every time you tested a button with andi; this lecture gives that operation a name and builds the algebra around it. The White Rabbit on the cover is always in a hurry: the processor too does everything by tiny logical steps, billions of them per second.
For the lecturer: Spiral: the students have used andi to test a button since the first days. The lecture names what they did (a mask is an AND), then builds the algebra, then returns to the bitwise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Describe a computer as three subsystems connected by a bus. Distinguish the two problems of logic design, analysis and synthesis. Write the truth tables and recognise the symbols of six gates. Apply the properties of the algebra, including De Morgan's laws, to simplify an expression. And, back on the machine, use the bitwise instructions of RISC-V to test, set, clear and toggle single bits of a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is code that you already know. Read it again with a new question in mind: what exactly does andi do to the thirty-two bits of a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prg32_input_read returns all the buttons at once in a0, one bit per button. andi t3, t0, 0x01 keeps bit 0 and forces every other bit to zero; the result is different from zero exactly when LEFT is pressed, and beqz skips the movement otherwise. The same pattern, with 0x02, tests RIGHT. The constant used with andi is called a mask. The last callout asks the question of the lecture: andi is thirty-two AND gates working side by side, so what is an AND?
For the lecturer: From textbook chapter 6 (State and Input) and lab 06-asm-state-and-input. The constant used with andi is called a mask.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returned by the buttons is a word in which each bit has a meaning: bit 0 is LEFT, bit 1 RIGHT, bit 2 UP, bit 3 DOWN, bits 4 and 5 are A and B, bit 6 is START. If you hold RIGHT and A together you get 0x12, that is 0001 0010. In the picture each lamp is one bit of this word. Every question you can ask about the joystick, such as "is LEFT pressed but not RIGHT?", is a Boolean expression over these seven variables.
For the lecturer: Button constants from prg32.h (PRG32_BTN_*). Player two uses the same layout in higher 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algebra, a look at the machine from one level below the instructions: which parts it is made of, what the processor does, and what kind of circuits everything is built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computer has three subsystems: the processor, which executes instructions; the main memory, which holds instructions and data; and input/output, which connects the machine to the world. They are joined by a bus, a set of shared wires divided into address lines, data lines and control lines. It is the von Neumann model of Lecture 03 in today's terms. Everything that travels on the bus is a pattern of bits. On the ESP32-C6 all of this is inside one chip.
For the lecturer: Replaces the two pictures of the source deck (von Neumann model; architecture with bus). On the ESP32-C6 the three subsystems and the bus are all inside one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processor is where the processing capability resides. It executes instructions, which are explicit commands of two kinds: those that govern the transfer of information, inside the computer and to and from the devices, and those that specify arithmetic and logic operations. The memory holds the data and the sequence of instructions, and a sequence of instructions stored in memory is a program. The processor does one thing for ever: it fetches an instruction, executes it, and repeats.
For the lecturer: RV32I: about forty instructions. You have used addi, lw, sw, andi, beqz, call and ret: transfer, arithmetic, logic and control are all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adjectives define an electronic computer. Numeric, or digital: all the information is strings of bits. Automatic: once started it proceeds by itself. Stored-program: the program is in memory and can be replaced, so the same machine does different jobs. Electronic: it is built from circuits that store and process bits. Each adjective excludes something: an abacus is numeric but not automatic; a mechanical music box is automatic but its program is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circuits that store and process bits are called switching circuits, or logic circuits; connected together they form a switching network, and designing one is logic design. To describe what such circuits do we use an algebra. It plays for circuits the role that ordinary algebra plays for quantities: a notation in which you can calculate instead of trying every case. The values are two, 0 and 1: two voltage levels, two states of a switch.
For the lecturer: Switching circuits: circuiti di commutazione. The algebra is Boole's (1854), applied to switches by Nakajima and Shannon in the 1930s (Lecture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and one algebra for both. Analysis: you are given the structure of a circuit, how it is made, and you must find its behaviour, what it does. Reading andi t3, t0, 1 and saying what ends up in t3 is analysis. Synthesis goes the other way: from a desired behaviour to a structure that realises it, for example from the table of a sum to an adder. Synthesis usually has many solutions; choosing the cheapest is the subject of the next lecture.
For the lecturer: Synthesis usually has many solutions; choosing the cheapest is the minimisation problem of Lecture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algebra itself: its variables, its three basic operations, three more gates that are used everywhere, and the properties that allow you to transform expressions.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Boolean algebra a variable can take only two values, 0 and 1, and there are three basic operations. AND, the logical product, written with a dot or by simply putting the variables side by side. OR, the logical sum, written with a plus sign. NOT, the complement, written here with a prime, as in x', so that it can be typed. Do not be misled by the symbols: the plus is not an arithmetic sum, as you will see at once in the truth table of OR.
For the lecturer: Conjunction, disjunction, negation: congiunzione, disgiunzione, negazione. In these slides the complement is written with a prime (x') so that it can be typed.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panel shows an operation in three ways: the symbol of the gate, the notation and the truth table, which lists the output for every combination of the inputs. AND gives 1 only when both inputs are 1. OR gives 0 only when both inputs are 0, so 1 OR 1 is 1, not 2. NOT has one input and inverts it. Learn the three shapes: a flat back and a round front for AND, a curved back and a pointed front for OR, a triangle with a small circle for NOT.
For the lecturer: AND is 1 only when both inputs are 1; OR is 0 only when both inputs are 0; NOT inverts. A truth table lists the output for every combination of the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gates. XOR, the exclusive or, gives 1 when the two inputs are different: it is the sum bit of a one-bit addition. NAND and NOR are AND and OR followed by a negation: the small circle on the output of a symbol always means NOT. NAND gives 0 only when both inputs are 1; NOR gives 1 only when both are 0. They matter in practice because they are the gates that are cheapest to build with transistors, as Lecture 10 will show.
For the lecturer: New slide. XOR is 1 when the inputs differ: it is the sum bit of an addition, and RISC-V has it as an instruction. The small circle on a symbol means negation.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four properties, each in two forms, one for AND and one for OR. Commutative and associative are as in ordinary algebra; thanks to the second, AND and OR extend to any number of operands. Idempotence is new: x AND x is x, and x OR x is x; repeating a variable adds nothing. Absorption is the most useful for simplifying: x OR (x AND y) is simply x, because when x is 1 the result is 1 whatever y is, and when x is 0 both terms are 0.
For the lecturer: Because of the associative property AND and OR can be defined on more than two operands: x . y . z. Every property comes in a pair: swap AND with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more properties. The first distributive law is the familiar one. The second, x + yz = (x + y)(x + z), has no equivalent in ordinary algebra: here OR distributes over AND too. Then the constants: 1 is the identity for AND and 0 for OR; 0 annuls an AND and 1 saturates an OR. The complement laws say that a variable and its negation give 0 with AND and 1 with OR. Involution: negating twice returns the variable. Two of these, identity and null element, explain how a mask works.
For the lecturer: The second distributive law has no counterpart in ordinary algebra. The source slide called involution 'convoluzione' and grouped identity and null element as 'minimum and maximum'; the complement laws are added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Morgan's laws connect the three operations: the complement of a product is the sum of the complements, and the complement of a sum is the product of the complements. The table proves the first by perfect induction: since the variables have only two values, a law can be verified by checking every row. The two highlighted columns are identical. In terms of gates: a NAND is an OR with negated inputs. You will use these laws constantly, on paper and in programs.
For the lecturer: Augustus De Morgan, 1847. The laws generalise to any number of variables. The source deck showed the proof as a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general rules. Duality: every identity remains true if you swap AND with OR and 0 with 1; this is why the properties came in pairs, and it halves the work of proving them. Precedence: NOT is applied first, then AND, then OR, as powers come before products and products before sums; parentheses change the order. And a definition to remember: two expressions are equivalent when they have the same truth table.
For the lecturer: Duality halves the work: prove one law of each pair and the other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algebra at work. The expression xy + xy' needs two AND gates, an OR and an inverter. Collecting x with the distributive law gives x(y + y'); the complement law turns the parenthesis into 1; the identity law leaves x. Three gates have become a piece of wire. Each line of the table names the law that justifies it: when you simplify, always be able to say which law you are applying. The caption shows a second simplification that will be used again.
For the lecturer: Two literals and three gates become a wire. The identity in the caption (sometimes called the simplification theorem) uses the distributive law of OR over AND; it is used again in Lecture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instructions. The gates you have just studied are inside the processor, thirty-two of each kind for every bitwise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or, xor and not apply one gate to every pair of corresponding bits of two registers, all positions at once. The third column works out an example on eight bits: with a equal to 1100 1010 and b equal to 0000 1111, AND gives 0000 1010, OR gives 1100 1111, XOR gives 1100 0101. The last column shows the same operators in C. not is a pseudo-instruction: it is xori with minus 1, because minus 1 in two's complement is all ones.
For the lecturer: Each instruction applies the same gate to all thirty-two pairs of bits at once (eight shown). The immediate forms andi, ori and xori take a 12-bit constant; not is the pseudo-instruction xori t0, a, -1, because -1 is all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standard uses of a mask, each resting on a law of the algebra. To test a bit, AND with a mask that has 1 in that position: x AND 1 is x, x AND 0 is 0. To set it to 1, OR with the same mask. To clear it, AND with the complemented mask. To toggle it, XOR with the mask. In the last three cases the other bits are unchanged, and this is the whole point: a mask acts on the bits you choose and leaves the rest alone.
For the lecturer: The identity and null-element laws are exactly what makes a mask work: a 1 in the mask lets the bit through (AND) or forces it (OR); a 0 does the opposite. ~0x10 is 0xFFFFFFEF, which the assembler encodes as the immediate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Morgan in a program. The player is idle when neither LEFT nor RIGHT is pressed. The short version uses a mask with two bits, 0x03: the result is zero only if both bits are zero, that is NOT (LEFT OR RIGHT). The long version tests each button separately: (NOT LEFT) AND (NOT RIGHT). The second law of De Morgan says that the two are the same condition. Two instructions instead of five: simplifying an expression is useful in software as well as in hardware.
For the lecturer: (x + y)' = x' . y'. Two instructions instead of five: minimisation is not only for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read bit number n of a word when n is in a register: shift the word right by n positions, so that the bit you want arrives in position 0, then mask with 1. Here s0 holds the number of the lamp, srl shifts the button word, andi isolates the bit, and the colour is chosen accordingly: grey for off, yellow for on. Shift and mask is one of the most common idioms in low-level programming.
For the lecturer: Source: textbook lab 06-asm-state-and-input, step1_lamps.S (inside lamp_loop). srl is a logical shift right (Lecture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NAND is AND followed by NOT. Start from AND: for which single row of its table is the output 1? That is the only row in which NAND is 0.
For the lecturer: Answer: C. NAND is the complement of AND: it is 0 only when both inputs are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the first law of De Morgan to the product of a and b': the complement becomes the sum of the complements, a' plus the complement of b'. Then use involution on the second term.
For the lecturer: Answer: B. (a . b')' = a' + (b')' = a' + b, using involution on the second term.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0x5A in binary, 0101 1010, and the mask 0x0F, 0000 1111. The AND keeps the bits where the mask has 1, the low four, and clears the others.
For the lecturer: Answer: C. 0x5A = 0101 1010; AND with 0000 1111 keeps the low nibble: 1010 = 0xA.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the four instructions with the table of the mask. AND with 0x20 would clear all the other bits. XOR would invert the bit, turning a 1 into a 0. An arithmetic addition would work only if the bit was 0, and would produce a carry otherwise. Only OR sets the bit and leaves the rest unchanged.
For the lecturer: Answer: B. OR with a mask: x + 1 = 1 on bit 5, x + 0 = x elsewhere. xori would toggle it; addi would carry into bit 6 if the bit was already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Prove the second law of De Morgan with a truth table. Simplify an expression, naming the law at each step. Write the mask and the test for "A and B pressed together": note that testing for a non-zero result would mean A or B. Change the lamps so that they show the complement of the buttons. And convert a letter between upper and lower case with one instruction, remembering from Lecture 04 that the two differ in one bit.
For the lecturer: Exercise 2: x y + x y' z + x' y = y (x + x') + x y' z = y + x y' z = y + x z. Exercise 3: andi t1, t0, 0x30 then compare with 0x30 (li t2, 0x30; beq t1, t2, both): testing for non-zero would mean A OR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Truth table is the table that defines a function by listing all cases. Logical product and logical sum are AND and OR. To set, to clear and to toggle a bit mean to put it to 1, to put it to 0 and to invert it; Italian has no single verbs for them and uses short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conclusions. The von Neumann architecture describes a real machine in simplified form. Boolean algebra describes logic functions that electronic circuits can implement. Three operations, a few properties and De Morgan's laws are enough to transform any expression. And a bitwise instruction is the algebra applied to thirty-two bits at once, with the mask as the identity law at work. The next lecture goes from operators to functions: canonical forms and minimisation.
For the lecturer: Next lecture: Boolean functions, canonical forms and minimisation.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08: Boolean algebra (1)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08</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Elements of Boolean Algebra</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100" dirty="0">
                <a:solidFill>
                  <a:srgbClr val="CFE3EA"/>
                </a:solidFill>
                <a:latin typeface="Calibri" pitchFamily="34" charset="0"/>
                <a:ea typeface="Calibri" pitchFamily="34" charset="-122"/>
                <a:cs typeface="Calibri" pitchFamily="34" charset="-120"/>
              </a:rPr>
              <a:t>Part 1: the computer as a logic machine; operators and their properties</a:t>
            </a:r>
            <a:endParaRPr lang="en-US" sz="21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“Oh dear! Oh dear! I shall be too late!”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Lewis Carroll, Alice's Adventures in Wonderland, 1865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2_step1_lamps.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computer as processor, memory and input/output, connected by a bus</a:t>
            </a:r>
            <a:endParaRPr lang="en-US" sz="2200" dirty="0"/>
          </a:p>
        </p:txBody>
      </p:sp>
      <p:sp>
        <p:nvSpPr>
          <p:cNvPr id="5" name="Text 3"/>
          <p:cNvSpPr txBox="1"/>
          <p:nvPr/>
        </p:nvSpPr>
        <p:spPr>
          <a:xfrm>
            <a:off x="548640" y="24538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3560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the difference between the analysis and the synthesis of a logic circuit</a:t>
            </a:r>
            <a:endParaRPr lang="en-US" sz="2200" dirty="0"/>
          </a:p>
        </p:txBody>
      </p:sp>
      <p:sp>
        <p:nvSpPr>
          <p:cNvPr id="7" name="Text 5"/>
          <p:cNvSpPr txBox="1"/>
          <p:nvPr/>
        </p:nvSpPr>
        <p:spPr>
          <a:xfrm>
            <a:off x="548640" y="34721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538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truth tables of AND, OR, NOT, XOR, NAND and NOR and recognise their symbols</a:t>
            </a:r>
            <a:endParaRPr lang="en-US" sz="2200" dirty="0"/>
          </a:p>
        </p:txBody>
      </p:sp>
      <p:sp>
        <p:nvSpPr>
          <p:cNvPr id="9" name="Text 7"/>
          <p:cNvSpPr txBox="1"/>
          <p:nvPr/>
        </p:nvSpPr>
        <p:spPr>
          <a:xfrm>
            <a:off x="548640" y="44904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21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Apply the properties of Boolean algebra, De Morgan's laws included, to simplify an expression</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Use and, or, xor and not on RISC-V to test, set, clear and toggle single bits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01</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Warm-up on the machine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You have been doing Boolean algebra since the first days.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Is LEFT pressed?</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350" dirty="0">
                <a:solidFill>
                  <a:srgbClr val="8FB3A0"/>
                </a:solidFill>
                <a:latin typeface="Courier New" pitchFamily="34" charset="0"/>
                <a:ea typeface="Courier New" pitchFamily="34" charset="-122"/>
                <a:cs typeface="Courier New" pitchFamily="34" charset="-120"/>
              </a:rPr>
              <a:t># a0 = all the buttons, one bit each</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mv   t0, a0              </a:t>
            </a:r>
            <a:pPr indent="0" marL="0">
              <a:buNone/>
            </a:pPr>
            <a:r>
              <a:rPr lang="en-US" sz="1350" dirty="0">
                <a:solidFill>
                  <a:srgbClr val="8FB3A0"/>
                </a:solidFill>
                <a:latin typeface="Courier New" pitchFamily="34" charset="0"/>
                <a:ea typeface="Courier New" pitchFamily="34" charset="-122"/>
                <a:cs typeface="Courier New" pitchFamily="34" charset="-120"/>
              </a:rPr>
              <a:t># keep our own copy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t3, t0, 0x01        </a:t>
            </a:r>
            <a:pPr indent="0" marL="0">
              <a:buNone/>
            </a:pPr>
            <a:r>
              <a:rPr lang="en-US" sz="1350" dirty="0">
                <a:solidFill>
                  <a:srgbClr val="8FB3A0"/>
                </a:solidFill>
                <a:latin typeface="Courier New" pitchFamily="34" charset="0"/>
                <a:ea typeface="Courier New" pitchFamily="34" charset="-122"/>
                <a:cs typeface="Courier New" pitchFamily="34" charset="-120"/>
              </a:rPr>
              <a:t># keep only bit 0: LEFT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t3, 1f              </a:t>
            </a:r>
            <a:pPr indent="0" marL="0">
              <a:buNone/>
            </a:pPr>
            <a:r>
              <a:rPr lang="en-US" sz="1350" dirty="0">
                <a:solidFill>
                  <a:srgbClr val="8FB3A0"/>
                </a:solidFill>
                <a:latin typeface="Courier New" pitchFamily="34" charset="0"/>
                <a:ea typeface="Courier New" pitchFamily="34" charset="-122"/>
                <a:cs typeface="Courier New" pitchFamily="34" charset="-120"/>
              </a:rPr>
              <a:t># zero: LEFT is not pressed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t2, t2, -2          </a:t>
            </a:r>
            <a:pPr indent="0" marL="0">
              <a:buNone/>
            </a:pPr>
            <a:r>
              <a:rPr lang="en-US" sz="1350" dirty="0">
                <a:solidFill>
                  <a:srgbClr val="8FB3A0"/>
                </a:solidFill>
                <a:latin typeface="Courier New" pitchFamily="34" charset="0"/>
                <a:ea typeface="Courier New" pitchFamily="34" charset="-122"/>
                <a:cs typeface="Courier New" pitchFamily="34" charset="-120"/>
              </a:rPr>
              <a:t># move left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t3, t0, 0x02        </a:t>
            </a:r>
            <a:pPr indent="0" marL="0">
              <a:buNone/>
            </a:pPr>
            <a:r>
              <a:rPr lang="en-US" sz="1350" dirty="0">
                <a:solidFill>
                  <a:srgbClr val="8FB3A0"/>
                </a:solidFill>
                <a:latin typeface="Courier New" pitchFamily="34" charset="0"/>
                <a:ea typeface="Courier New" pitchFamily="34" charset="-122"/>
                <a:cs typeface="Courier New" pitchFamily="34" charset="-120"/>
              </a:rPr>
              <a:t># keep only bit 1: RIGHT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t3, 2f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t2, t2, 2           </a:t>
            </a:r>
            <a:pPr indent="0" marL="0">
              <a:buNone/>
            </a:pPr>
            <a:r>
              <a:rPr lang="en-US" sz="1350" dirty="0">
                <a:solidFill>
                  <a:srgbClr val="8FB3A0"/>
                </a:solidFill>
                <a:latin typeface="Courier New" pitchFamily="34" charset="0"/>
                <a:ea typeface="Courier New" pitchFamily="34" charset="-122"/>
                <a:cs typeface="Courier New" pitchFamily="34" charset="-120"/>
              </a:rPr>
              <a:t># move right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prg32_input_read returns all the buttons at once: one bit per button</a:t>
            </a:r>
            <a:endParaRPr lang="en-US" sz="14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andi with 0x01 keeps bit 0 and forces every other bit to zero</a:t>
            </a:r>
            <a:endParaRPr lang="en-US" sz="14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The result is non-zero exactly when LEFT is pressed</a:t>
            </a:r>
            <a:endParaRPr lang="en-US" sz="14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andi is thirty-two AND gates working side by side: what is an AND, exactly?</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bit per button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LEFT 0x01, RIGHT 0x02, UP 0x04, DOWN 0x08: bits 0 to 3</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0x10, B 0x20, START / SELECT 0x40: bits 4 to 6</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Holding RIGHT and A together gives 0x12 = 0001 0010</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Each lamp of the lab is one bit of the mask: lit when the bit is 1</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question about the joystick is a Boolean expression over these variables</a:t>
            </a:r>
            <a:endParaRPr lang="en-US" sz="2200" dirty="0"/>
          </a:p>
        </p:txBody>
      </p:sp>
      <p:pic>
        <p:nvPicPr>
          <p:cNvPr id="13" name="Image 0" descr="/Users/raffaelemontella/devel/riscv-prg32/computer-architecture-with-prg32/tools/assets/lab2_step1_lamps.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Lab 06, step 1: seven lamps, one per button bit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02</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The computer as a logic machine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One level below the instructions.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electronic computer: three subsystems and a bus</a:t>
            </a:r>
            <a:endParaRPr lang="en-US" sz="3200" dirty="0"/>
          </a:p>
        </p:txBody>
      </p:sp>
      <p:sp>
        <p:nvSpPr>
          <p:cNvPr id="3" name="Text 1"/>
          <p:cNvSpPr txBox="1"/>
          <p:nvPr/>
        </p:nvSpPr>
        <p:spPr>
          <a:xfrm>
            <a:off x="548640" y="1508760"/>
            <a:ext cx="3210458" cy="2103120"/>
          </a:xfrm>
          <a:prstGeom prst="roundRect">
            <a:avLst>
              <a:gd name="adj" fmla="val 3478"/>
            </a:avLst>
          </a:prstGeom>
          <a:solidFill>
            <a:srgbClr val="0E7C86"/>
          </a:solidFill>
          <a:ln>
            <a:solidFill>
              <a:srgbClr val="0E7C86"/>
            </a:solidFill>
          </a:ln>
        </p:spPr>
        <p:txBody>
          <a:bodyPr wrap="square" lIns="101600" tIns="101600" rIns="101600" bIns="1016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Processor (CPU)</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control unit, ALU, registers</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executes the instructions</a:t>
            </a:r>
            <a:endParaRPr lang="en-US" sz="2000" dirty="0"/>
          </a:p>
        </p:txBody>
      </p:sp>
      <p:sp>
        <p:nvSpPr>
          <p:cNvPr id="4" name="Shape 2"/>
          <p:cNvSpPr/>
          <p:nvPr/>
        </p:nvSpPr>
        <p:spPr>
          <a:xfrm>
            <a:off x="1925269" y="3611880"/>
            <a:ext cx="0" cy="502920"/>
          </a:xfrm>
          <a:prstGeom prst="line">
            <a:avLst/>
          </a:prstGeom>
          <a:noFill/>
          <a:ln w="38100">
            <a:solidFill>
              <a:srgbClr val="2E4A62"/>
            </a:solidFill>
            <a:prstDash val="solid"/>
          </a:ln>
        </p:spPr>
      </p:sp>
      <p:sp>
        <p:nvSpPr>
          <p:cNvPr id="5" name="Shape 3"/>
          <p:cNvSpPr/>
          <p:nvPr/>
        </p:nvSpPr>
        <p:spPr>
          <a:xfrm>
            <a:off x="2382469" y="3611880"/>
            <a:ext cx="0" cy="502920"/>
          </a:xfrm>
          <a:prstGeom prst="line">
            <a:avLst/>
          </a:prstGeom>
          <a:noFill/>
          <a:ln w="38100">
            <a:solidFill>
              <a:srgbClr val="2E4A62"/>
            </a:solidFill>
            <a:prstDash val="solid"/>
          </a:ln>
        </p:spPr>
      </p:sp>
      <p:sp>
        <p:nvSpPr>
          <p:cNvPr id="6" name="Text 4"/>
          <p:cNvSpPr txBox="1"/>
          <p:nvPr/>
        </p:nvSpPr>
        <p:spPr>
          <a:xfrm>
            <a:off x="4490618" y="1508760"/>
            <a:ext cx="3210458" cy="2103120"/>
          </a:xfrm>
          <a:prstGeom prst="roundRect">
            <a:avLst>
              <a:gd name="adj" fmla="val 3478"/>
            </a:avLst>
          </a:prstGeom>
          <a:solidFill>
            <a:srgbClr val="2E4A62"/>
          </a:solidFill>
          <a:ln>
            <a:solidFill>
              <a:srgbClr val="2E4A62"/>
            </a:solidFill>
          </a:ln>
        </p:spPr>
        <p:txBody>
          <a:bodyPr wrap="square" lIns="101600" tIns="101600" rIns="101600" bIns="1016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Main memory</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holds the instructions</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and the data</a:t>
            </a:r>
            <a:endParaRPr lang="en-US" sz="2000" dirty="0"/>
          </a:p>
        </p:txBody>
      </p:sp>
      <p:sp>
        <p:nvSpPr>
          <p:cNvPr id="7" name="Shape 5"/>
          <p:cNvSpPr/>
          <p:nvPr/>
        </p:nvSpPr>
        <p:spPr>
          <a:xfrm>
            <a:off x="5867248" y="3611880"/>
            <a:ext cx="0" cy="502920"/>
          </a:xfrm>
          <a:prstGeom prst="line">
            <a:avLst/>
          </a:prstGeom>
          <a:noFill/>
          <a:ln w="38100">
            <a:solidFill>
              <a:srgbClr val="2E4A62"/>
            </a:solidFill>
            <a:prstDash val="solid"/>
          </a:ln>
        </p:spPr>
      </p:sp>
      <p:sp>
        <p:nvSpPr>
          <p:cNvPr id="8" name="Shape 6"/>
          <p:cNvSpPr/>
          <p:nvPr/>
        </p:nvSpPr>
        <p:spPr>
          <a:xfrm>
            <a:off x="6324448" y="3611880"/>
            <a:ext cx="0" cy="502920"/>
          </a:xfrm>
          <a:prstGeom prst="line">
            <a:avLst/>
          </a:prstGeom>
          <a:noFill/>
          <a:ln w="38100">
            <a:solidFill>
              <a:srgbClr val="2E4A62"/>
            </a:solidFill>
            <a:prstDash val="solid"/>
          </a:ln>
        </p:spPr>
      </p:sp>
      <p:sp>
        <p:nvSpPr>
          <p:cNvPr id="9" name="Text 7"/>
          <p:cNvSpPr txBox="1"/>
          <p:nvPr/>
        </p:nvSpPr>
        <p:spPr>
          <a:xfrm>
            <a:off x="8432597" y="1508760"/>
            <a:ext cx="3210458" cy="2103120"/>
          </a:xfrm>
          <a:prstGeom prst="roundRect">
            <a:avLst>
              <a:gd name="adj" fmla="val 3478"/>
            </a:avLst>
          </a:prstGeom>
          <a:solidFill>
            <a:srgbClr val="2F7D4F"/>
          </a:solidFill>
          <a:ln>
            <a:solidFill>
              <a:srgbClr val="2F7D4F"/>
            </a:solidFill>
          </a:ln>
        </p:spPr>
        <p:txBody>
          <a:bodyPr wrap="square" lIns="101600" tIns="101600" rIns="101600" bIns="1016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Input / output</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joystick, display, sound,</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network, storage</a:t>
            </a:r>
            <a:endParaRPr lang="en-US" sz="2000" dirty="0"/>
          </a:p>
        </p:txBody>
      </p:sp>
      <p:sp>
        <p:nvSpPr>
          <p:cNvPr id="10" name="Shape 8"/>
          <p:cNvSpPr/>
          <p:nvPr/>
        </p:nvSpPr>
        <p:spPr>
          <a:xfrm>
            <a:off x="9809226" y="3611880"/>
            <a:ext cx="0" cy="502920"/>
          </a:xfrm>
          <a:prstGeom prst="line">
            <a:avLst/>
          </a:prstGeom>
          <a:noFill/>
          <a:ln w="38100">
            <a:solidFill>
              <a:srgbClr val="2E4A62"/>
            </a:solidFill>
            <a:prstDash val="solid"/>
          </a:ln>
        </p:spPr>
      </p:sp>
      <p:sp>
        <p:nvSpPr>
          <p:cNvPr id="11" name="Shape 9"/>
          <p:cNvSpPr/>
          <p:nvPr/>
        </p:nvSpPr>
        <p:spPr>
          <a:xfrm>
            <a:off x="10266426" y="3611880"/>
            <a:ext cx="0" cy="502920"/>
          </a:xfrm>
          <a:prstGeom prst="line">
            <a:avLst/>
          </a:prstGeom>
          <a:noFill/>
          <a:ln w="38100">
            <a:solidFill>
              <a:srgbClr val="2E4A62"/>
            </a:solidFill>
            <a:prstDash val="solid"/>
          </a:ln>
        </p:spPr>
      </p:sp>
      <p:sp>
        <p:nvSpPr>
          <p:cNvPr id="12" name="Text 10"/>
          <p:cNvSpPr txBox="1"/>
          <p:nvPr/>
        </p:nvSpPr>
        <p:spPr>
          <a:xfrm>
            <a:off x="548640" y="4114800"/>
            <a:ext cx="11094415" cy="548640"/>
          </a:xfrm>
          <a:prstGeom prst="rect">
            <a:avLst/>
          </a:prstGeom>
          <a:solidFill>
            <a:srgbClr val="C7791B"/>
          </a:solidFill>
          <a:ln>
            <a:solidFill>
              <a:srgbClr val="C7791B"/>
            </a:solid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Bus: address lines, data lines, control lines</a:t>
            </a:r>
            <a:endParaRPr lang="en-US" sz="1700" dirty="0"/>
          </a:p>
        </p:txBody>
      </p:sp>
      <p:sp>
        <p:nvSpPr>
          <p:cNvPr id="13" name="Shape 11"/>
          <p:cNvSpPr/>
          <p:nvPr/>
        </p:nvSpPr>
        <p:spPr>
          <a:xfrm>
            <a:off x="548640" y="5089906"/>
            <a:ext cx="146304" cy="146304"/>
          </a:xfrm>
          <a:prstGeom prst="rect">
            <a:avLst/>
          </a:prstGeom>
          <a:solidFill>
            <a:srgbClr val="0E7C86"/>
          </a:solidFill>
          <a:ln w="12700">
            <a:solidFill>
              <a:srgbClr val="0E7C86"/>
            </a:solidFill>
            <a:prstDash val="solid"/>
          </a:ln>
        </p:spPr>
      </p:sp>
      <p:sp>
        <p:nvSpPr>
          <p:cNvPr id="14" name="Text 12"/>
          <p:cNvSpPr txBox="1"/>
          <p:nvPr/>
        </p:nvSpPr>
        <p:spPr>
          <a:xfrm>
            <a:off x="932688" y="498348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von Neumann model in today's terms: the units of 1945, connected by shared wires</a:t>
            </a:r>
            <a:endParaRPr lang="en-US" sz="2200" dirty="0"/>
          </a:p>
        </p:txBody>
      </p:sp>
      <p:sp>
        <p:nvSpPr>
          <p:cNvPr id="15" name="Shape 13"/>
          <p:cNvSpPr/>
          <p:nvPr/>
        </p:nvSpPr>
        <p:spPr>
          <a:xfrm>
            <a:off x="548640" y="5937758"/>
            <a:ext cx="146304" cy="146304"/>
          </a:xfrm>
          <a:prstGeom prst="rect">
            <a:avLst/>
          </a:prstGeom>
          <a:solidFill>
            <a:srgbClr val="C7791B"/>
          </a:solidFill>
          <a:ln w="12700">
            <a:solidFill>
              <a:srgbClr val="C7791B"/>
            </a:solidFill>
            <a:prstDash val="solid"/>
          </a:ln>
        </p:spPr>
      </p:sp>
      <p:sp>
        <p:nvSpPr>
          <p:cNvPr id="16" name="Text 14"/>
          <p:cNvSpPr txBox="1"/>
          <p:nvPr/>
        </p:nvSpPr>
        <p:spPr>
          <a:xfrm>
            <a:off x="932688" y="583133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Everything that travels on the bus is a pattern of bits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processor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processing capability of the computer resides in the processor</a:t>
            </a:r>
            <a:endParaRPr lang="en-US" sz="21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2751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can execute a set of elementary actions, more or less complex: the instructions</a:t>
            </a:r>
            <a:endParaRPr lang="en-US" sz="2100" dirty="0"/>
          </a:p>
        </p:txBody>
      </p:sp>
      <p:sp>
        <p:nvSpPr>
          <p:cNvPr id="7" name="Shape 5"/>
          <p:cNvSpPr/>
          <p:nvPr/>
        </p:nvSpPr>
        <p:spPr>
          <a:xfrm>
            <a:off x="548640" y="313639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37713"/>
            <a:ext cx="6565392" cy="151409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Instructions are explicit commands that</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govern the transfer of information inside the computer and between the computer and the I/O devices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specify the arithmetic and logic operations to perform</a:t>
            </a:r>
            <a:endParaRPr lang="en-US" sz="2100" dirty="0"/>
          </a:p>
        </p:txBody>
      </p:sp>
      <p:sp>
        <p:nvSpPr>
          <p:cNvPr id="9" name="Shape 7"/>
          <p:cNvSpPr/>
          <p:nvPr/>
        </p:nvSpPr>
        <p:spPr>
          <a:xfrm>
            <a:off x="548640" y="4809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1125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Main memory holds the input and output data of the computation, and the sequence of instructions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sequence of instructions stored in main memory is a program</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3900" b="1" dirty="0">
                <a:solidFill>
                  <a:srgbClr val="FFFFFF"/>
                </a:solidFill>
                <a:latin typeface="Cambria" pitchFamily="34" charset="0"/>
                <a:ea typeface="Cambria" pitchFamily="34" charset="-122"/>
                <a:cs typeface="Cambria" pitchFamily="34" charset="-120"/>
              </a:rPr>
              <a:t>fetch, execute, repeat</a:t>
            </a:r>
            <a:endParaRPr lang="en-US" sz="3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processor takes the instructions from memory and executes them, one by one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kind of system is an electronic computer?</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Numeric</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It is a digital system: all the information it handles is expressed as strings of bits.</a:t>
            </a:r>
            <a:endParaRPr lang="en-US" sz="20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Automatic</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Once started it proceeds by itself, instruction after instruction, with no human intervention.</a:t>
            </a:r>
            <a:endParaRPr lang="en-US" sz="20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Stored-program</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The program is recorded in memory and can be replaced: the same machine does different jobs.</a:t>
            </a:r>
            <a:endParaRPr lang="en-US" sz="20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Electronic</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It is built from electronic circuits that store bits and process them.</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Logic circuits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All the information handled by a numeric device is expressed by strings of bits</a:t>
            </a:r>
            <a:endParaRPr lang="en-US" sz="2400" dirty="0"/>
          </a:p>
        </p:txBody>
      </p:sp>
      <p:sp>
        <p:nvSpPr>
          <p:cNvPr id="5" name="Shape 3"/>
          <p:cNvSpPr/>
          <p:nvPr/>
        </p:nvSpPr>
        <p:spPr>
          <a:xfrm>
            <a:off x="548640" y="250444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82520"/>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electronic circuits that store bits and process them are called switching circuits, or logic circuits</a:t>
            </a:r>
            <a:endParaRPr lang="en-US" sz="2400" dirty="0"/>
          </a:p>
        </p:txBody>
      </p:sp>
      <p:sp>
        <p:nvSpPr>
          <p:cNvPr id="7" name="Shape 5"/>
          <p:cNvSpPr/>
          <p:nvPr/>
        </p:nvSpPr>
        <p:spPr>
          <a:xfrm>
            <a:off x="548640" y="384149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9576"/>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logic circuit forms a switching network; designing it is called logic design</a:t>
            </a:r>
            <a:endParaRPr lang="en-US" sz="2400" dirty="0"/>
          </a:p>
        </p:txBody>
      </p:sp>
      <p:sp>
        <p:nvSpPr>
          <p:cNvPr id="9" name="Shape 7"/>
          <p:cNvSpPr/>
          <p:nvPr/>
        </p:nvSpPr>
        <p:spPr>
          <a:xfrm>
            <a:off x="548640" y="480669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84776"/>
            <a:ext cx="6565392" cy="148742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To describe the behaviour of logic circuits we use an algebra: a mathematical notation that simplifies the analysis and the synthesis of logic networks</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and 1</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two voltage levels on a wire, two states of a switch, two values of a Boolean variable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problems, one algebra</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Analysis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Given: the description of the STRUCTURE of a circuit (how it is made)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Find: its BEHAVIOUR (what it does)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reading a schematic and deriving its truth table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reading andi t3, t0, 1 and saying what ends up in t3</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Synthesis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Given: the description of the BEHAVIOUR (what it must do)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Find: a STRUCTURE that realises it (how to build it)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from the truth table of a sum to an adder circuit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from 'move if LEFT or RIGHT is pressed' to a mask and a branch</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03</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Boolean algebra</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Variables with two values, three basic operations.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Boolean algebra</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200" i="1" dirty="0">
                <a:solidFill>
                  <a:srgbClr val="1B2530"/>
                </a:solidFill>
                <a:latin typeface="Cambria" pitchFamily="34" charset="0"/>
                <a:ea typeface="Cambria" pitchFamily="34" charset="-122"/>
                <a:cs typeface="Cambria" pitchFamily="34" charset="-120"/>
              </a:rPr>
              <a:t>The algebra used to analyse and to synthesise logic circuits: variables that can take only two values, 0 and 1, and three basic operations.</a:t>
            </a:r>
            <a:endParaRPr lang="en-US" sz="2200" dirty="0"/>
          </a:p>
        </p:txBody>
      </p:sp>
      <p:sp>
        <p:nvSpPr>
          <p:cNvPr id="6" name="Shape 4"/>
          <p:cNvSpPr/>
          <p:nvPr/>
        </p:nvSpPr>
        <p:spPr>
          <a:xfrm>
            <a:off x="548640" y="345541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Variables are binary and are usually written with letters: A, B, ... or x, y, ...</a:t>
            </a:r>
            <a:endParaRPr lang="en-US" sz="2400" dirty="0"/>
          </a:p>
        </p:txBody>
      </p:sp>
      <p:sp>
        <p:nvSpPr>
          <p:cNvPr id="8" name="Shape 6"/>
          <p:cNvSpPr/>
          <p:nvPr/>
        </p:nvSpPr>
        <p:spPr>
          <a:xfrm>
            <a:off x="548640" y="4525603"/>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403683"/>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AND, the logical product: written x AND y, or x . y, or simply xy</a:t>
            </a:r>
            <a:endParaRPr lang="en-US" sz="2400" dirty="0"/>
          </a:p>
        </p:txBody>
      </p:sp>
      <p:sp>
        <p:nvSpPr>
          <p:cNvPr id="10" name="Shape 8"/>
          <p:cNvSpPr/>
          <p:nvPr/>
        </p:nvSpPr>
        <p:spPr>
          <a:xfrm>
            <a:off x="548640" y="5223933"/>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102013"/>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OR, the logical sum: written x OR y, or x + y</a:t>
            </a:r>
            <a:endParaRPr lang="en-US" sz="2400" dirty="0"/>
          </a:p>
        </p:txBody>
      </p:sp>
      <p:sp>
        <p:nvSpPr>
          <p:cNvPr id="12" name="Shape 10"/>
          <p:cNvSpPr/>
          <p:nvPr/>
        </p:nvSpPr>
        <p:spPr>
          <a:xfrm>
            <a:off x="548640" y="5922264"/>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NOT, the complement: written NOT x, or x', or x with a bar above it</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three fundamental operations</a:t>
            </a:r>
            <a:endParaRPr lang="en-US" sz="3200" dirty="0"/>
          </a:p>
        </p:txBody>
      </p:sp>
      <p:sp>
        <p:nvSpPr>
          <p:cNvPr id="3" name="Shape 1"/>
          <p:cNvSpPr/>
          <p:nvPr/>
        </p:nvSpPr>
        <p:spPr>
          <a:xfrm>
            <a:off x="548640" y="1417320"/>
            <a:ext cx="3515258" cy="4754880"/>
          </a:xfrm>
          <a:prstGeom prst="roundRect">
            <a:avLst>
              <a:gd name="adj" fmla="val 2081"/>
            </a:avLst>
          </a:prstGeom>
          <a:solidFill>
            <a:srgbClr val="EEF2F4"/>
          </a:solidFill>
          <a:ln w="12700">
            <a:solidFill>
              <a:srgbClr val="EEF2F4"/>
            </a:solidFill>
            <a:prstDash val="solid"/>
          </a:ln>
        </p:spPr>
      </p:sp>
      <p:sp>
        <p:nvSpPr>
          <p:cNvPr id="4" name="Text 2"/>
          <p:cNvSpPr txBox="1"/>
          <p:nvPr/>
        </p:nvSpPr>
        <p:spPr>
          <a:xfrm>
            <a:off x="777240" y="1600200"/>
            <a:ext cx="3058058" cy="457200"/>
          </a:xfrm>
          <a:prstGeom prst="roundRect">
            <a:avLst>
              <a:gd name="adj" fmla="val 16000"/>
            </a:avLst>
          </a:prstGeom>
          <a:solidFill>
            <a:srgbClr val="0E7C86"/>
          </a:solidFill>
          <a:ln>
            <a:solidFill>
              <a:srgbClr val="0E7C86"/>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AND (conjunction)</a:t>
            </a:r>
            <a:endParaRPr lang="en-US" sz="1800" dirty="0"/>
          </a:p>
        </p:txBody>
      </p:sp>
      <p:pic>
        <p:nvPicPr>
          <p:cNvPr id="6" name="Image 0" descr="preencoded.png">    </p:cNvPr>
          <p:cNvPicPr>
            <a:picLocks noChangeAspect="1"/>
          </p:cNvPicPr>
          <p:nvPr/>
        </p:nvPicPr>
        <p:blipFill>
          <a:blip r:embed="rId1"/>
          <a:stretch>
            <a:fillRect/>
          </a:stretch>
        </p:blipFill>
        <p:spPr>
          <a:xfrm>
            <a:off x="822960" y="2236278"/>
            <a:ext cx="2966618" cy="830964"/>
          </a:xfrm>
          <a:prstGeom prst="rect">
            <a:avLst/>
          </a:prstGeom>
        </p:spPr>
      </p:pic>
      <p:sp>
        <p:nvSpPr>
          <p:cNvPr id="7" name="Text 3"/>
          <p:cNvSpPr txBox="1"/>
          <p:nvPr/>
        </p:nvSpPr>
        <p:spPr>
          <a:xfrm>
            <a:off x="731520"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1208989"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0E7C86"/>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0E7C86"/>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0E7C86"/>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9" name="Shape 4"/>
          <p:cNvSpPr/>
          <p:nvPr/>
        </p:nvSpPr>
        <p:spPr>
          <a:xfrm>
            <a:off x="4338218" y="1417320"/>
            <a:ext cx="3515258" cy="4754880"/>
          </a:xfrm>
          <a:prstGeom prst="roundRect">
            <a:avLst>
              <a:gd name="adj" fmla="val 2081"/>
            </a:avLst>
          </a:prstGeom>
          <a:solidFill>
            <a:srgbClr val="EEF2F4"/>
          </a:solidFill>
          <a:ln w="12700">
            <a:solidFill>
              <a:srgbClr val="EEF2F4"/>
            </a:solidFill>
            <a:prstDash val="solid"/>
          </a:ln>
        </p:spPr>
      </p:sp>
      <p:sp>
        <p:nvSpPr>
          <p:cNvPr id="10" name="Text 5"/>
          <p:cNvSpPr txBox="1"/>
          <p:nvPr/>
        </p:nvSpPr>
        <p:spPr>
          <a:xfrm>
            <a:off x="4566818" y="1600200"/>
            <a:ext cx="3058058" cy="457200"/>
          </a:xfrm>
          <a:prstGeom prst="roundRect">
            <a:avLst>
              <a:gd name="adj" fmla="val 16000"/>
            </a:avLst>
          </a:prstGeom>
          <a:solidFill>
            <a:srgbClr val="C7791B"/>
          </a:solidFill>
          <a:ln>
            <a:solidFill>
              <a:srgbClr val="C7791B"/>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OR (disjunction)</a:t>
            </a:r>
            <a:endParaRPr lang="en-US" sz="1800" dirty="0"/>
          </a:p>
        </p:txBody>
      </p:sp>
      <p:pic>
        <p:nvPicPr>
          <p:cNvPr id="11" name="Image 1" descr="preencoded.png">    </p:cNvPr>
          <p:cNvPicPr>
            <a:picLocks noChangeAspect="1"/>
          </p:cNvPicPr>
          <p:nvPr/>
        </p:nvPicPr>
        <p:blipFill>
          <a:blip r:embed="rId2"/>
          <a:stretch>
            <a:fillRect/>
          </a:stretch>
        </p:blipFill>
        <p:spPr>
          <a:xfrm>
            <a:off x="4612538" y="2236278"/>
            <a:ext cx="2966618" cy="830964"/>
          </a:xfrm>
          <a:prstGeom prst="rect">
            <a:avLst/>
          </a:prstGeom>
        </p:spPr>
      </p:pic>
      <p:sp>
        <p:nvSpPr>
          <p:cNvPr id="12" name="Text 6"/>
          <p:cNvSpPr txBox="1"/>
          <p:nvPr/>
        </p:nvSpPr>
        <p:spPr>
          <a:xfrm>
            <a:off x="4521098"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4998568"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C7791B"/>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C7791B"/>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C7791B"/>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4" name="Shape 7"/>
          <p:cNvSpPr/>
          <p:nvPr/>
        </p:nvSpPr>
        <p:spPr>
          <a:xfrm>
            <a:off x="8127797" y="1417320"/>
            <a:ext cx="3515258" cy="4754880"/>
          </a:xfrm>
          <a:prstGeom prst="roundRect">
            <a:avLst>
              <a:gd name="adj" fmla="val 2081"/>
            </a:avLst>
          </a:prstGeom>
          <a:solidFill>
            <a:srgbClr val="EEF2F4"/>
          </a:solidFill>
          <a:ln w="12700">
            <a:solidFill>
              <a:srgbClr val="EEF2F4"/>
            </a:solidFill>
            <a:prstDash val="solid"/>
          </a:ln>
        </p:spPr>
      </p:sp>
      <p:sp>
        <p:nvSpPr>
          <p:cNvPr id="15" name="Text 8"/>
          <p:cNvSpPr txBox="1"/>
          <p:nvPr/>
        </p:nvSpPr>
        <p:spPr>
          <a:xfrm>
            <a:off x="8356397" y="1600200"/>
            <a:ext cx="3058058" cy="457200"/>
          </a:xfrm>
          <a:prstGeom prst="roundRect">
            <a:avLst>
              <a:gd name="adj" fmla="val 16000"/>
            </a:avLst>
          </a:prstGeom>
          <a:solidFill>
            <a:srgbClr val="6B4FA0"/>
          </a:solidFill>
          <a:ln>
            <a:solidFill>
              <a:srgbClr val="6B4FA0"/>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NOT (negation)</a:t>
            </a:r>
            <a:endParaRPr lang="en-US" sz="1800" dirty="0"/>
          </a:p>
        </p:txBody>
      </p:sp>
      <p:pic>
        <p:nvPicPr>
          <p:cNvPr id="16" name="Image 2" descr="preencoded.png">    </p:cNvPr>
          <p:cNvPicPr>
            <a:picLocks noChangeAspect="1"/>
          </p:cNvPicPr>
          <p:nvPr/>
        </p:nvPicPr>
        <p:blipFill>
          <a:blip r:embed="rId3"/>
          <a:stretch>
            <a:fillRect/>
          </a:stretch>
        </p:blipFill>
        <p:spPr>
          <a:xfrm>
            <a:off x="8402117" y="2236278"/>
            <a:ext cx="2966618" cy="830964"/>
          </a:xfrm>
          <a:prstGeom prst="rect">
            <a:avLst/>
          </a:prstGeom>
        </p:spPr>
      </p:pic>
      <p:sp>
        <p:nvSpPr>
          <p:cNvPr id="17" name="Text 9"/>
          <p:cNvSpPr txBox="1"/>
          <p:nvPr/>
        </p:nvSpPr>
        <p:spPr>
          <a:xfrm>
            <a:off x="8310677"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a:t>
            </a:r>
            <a:endParaRPr lang="en-US" sz="1500" dirty="0"/>
          </a:p>
        </p:txBody>
      </p:sp>
      <p:graphicFrame>
        <p:nvGraphicFramePr>
          <p:cNvPr id="43" name="Table 2"/>
          <p:cNvGraphicFramePr>
            <a:graphicFrameLocks noGrp="1"/>
          </p:cNvGraphicFramePr>
          <p:nvPr>
            <p:extLst>
              <p:ext uri="{D42A27DB-BD31-4B8C-83A1-F6EECF244321}">
                <p14:modId xmlns:p14="http://schemas.microsoft.com/office/powerpoint/2010/main" val="1579011935"/>
              </p:ext>
            </p:extLst>
          </p:nvPr>
        </p:nvGraphicFramePr>
        <p:xfrm>
          <a:off x="8971026" y="3840480"/>
          <a:ext cx="1828800" cy="914400"/>
        </p:xfrm>
        <a:graphic>
          <a:graphicData uri="http://schemas.openxmlformats.org/drawingml/2006/table">
            <a:tbl>
              <a:tblPr/>
              <a:tblGrid>
                <a:gridCol w="914400"/>
                <a:gridCol w="91440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6B4FA0"/>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6B4FA0"/>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 more gates you will meet everywhere</a:t>
            </a:r>
            <a:endParaRPr lang="en-US" sz="3200" dirty="0"/>
          </a:p>
        </p:txBody>
      </p:sp>
      <p:sp>
        <p:nvSpPr>
          <p:cNvPr id="3" name="Shape 1"/>
          <p:cNvSpPr/>
          <p:nvPr/>
        </p:nvSpPr>
        <p:spPr>
          <a:xfrm>
            <a:off x="548640" y="1417320"/>
            <a:ext cx="3515258" cy="4754880"/>
          </a:xfrm>
          <a:prstGeom prst="roundRect">
            <a:avLst>
              <a:gd name="adj" fmla="val 2081"/>
            </a:avLst>
          </a:prstGeom>
          <a:solidFill>
            <a:srgbClr val="EEF2F4"/>
          </a:solidFill>
          <a:ln w="12700">
            <a:solidFill>
              <a:srgbClr val="EEF2F4"/>
            </a:solidFill>
            <a:prstDash val="solid"/>
          </a:ln>
        </p:spPr>
      </p:sp>
      <p:sp>
        <p:nvSpPr>
          <p:cNvPr id="4" name="Text 2"/>
          <p:cNvSpPr txBox="1"/>
          <p:nvPr/>
        </p:nvSpPr>
        <p:spPr>
          <a:xfrm>
            <a:off x="777240" y="1600200"/>
            <a:ext cx="3058058"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XOR (exclusive or)</a:t>
            </a:r>
            <a:endParaRPr lang="en-US" sz="1800" dirty="0"/>
          </a:p>
        </p:txBody>
      </p:sp>
      <p:pic>
        <p:nvPicPr>
          <p:cNvPr id="6" name="Image 0" descr="preencoded.png">    </p:cNvPr>
          <p:cNvPicPr>
            <a:picLocks noChangeAspect="1"/>
          </p:cNvPicPr>
          <p:nvPr/>
        </p:nvPicPr>
        <p:blipFill>
          <a:blip r:embed="rId1"/>
          <a:stretch>
            <a:fillRect/>
          </a:stretch>
        </p:blipFill>
        <p:spPr>
          <a:xfrm>
            <a:off x="822960" y="2236278"/>
            <a:ext cx="2966618" cy="830964"/>
          </a:xfrm>
          <a:prstGeom prst="rect">
            <a:avLst/>
          </a:prstGeom>
        </p:spPr>
      </p:pic>
      <p:sp>
        <p:nvSpPr>
          <p:cNvPr id="7" name="Text 3"/>
          <p:cNvSpPr txBox="1"/>
          <p:nvPr/>
        </p:nvSpPr>
        <p:spPr>
          <a:xfrm>
            <a:off x="731520"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x'y + xy'</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1208989"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F7D4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F7D4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F7D4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9" name="Shape 4"/>
          <p:cNvSpPr/>
          <p:nvPr/>
        </p:nvSpPr>
        <p:spPr>
          <a:xfrm>
            <a:off x="4338218" y="1417320"/>
            <a:ext cx="3515258" cy="4754880"/>
          </a:xfrm>
          <a:prstGeom prst="roundRect">
            <a:avLst>
              <a:gd name="adj" fmla="val 2081"/>
            </a:avLst>
          </a:prstGeom>
          <a:solidFill>
            <a:srgbClr val="EEF2F4"/>
          </a:solidFill>
          <a:ln w="12700">
            <a:solidFill>
              <a:srgbClr val="EEF2F4"/>
            </a:solidFill>
            <a:prstDash val="solid"/>
          </a:ln>
        </p:spPr>
      </p:sp>
      <p:sp>
        <p:nvSpPr>
          <p:cNvPr id="10" name="Text 5"/>
          <p:cNvSpPr txBox="1"/>
          <p:nvPr/>
        </p:nvSpPr>
        <p:spPr>
          <a:xfrm>
            <a:off x="4566818" y="1600200"/>
            <a:ext cx="3058058" cy="457200"/>
          </a:xfrm>
          <a:prstGeom prst="roundRect">
            <a:avLst>
              <a:gd name="adj" fmla="val 16000"/>
            </a:avLst>
          </a:prstGeom>
          <a:solidFill>
            <a:srgbClr val="B23A48"/>
          </a:solidFill>
          <a:ln>
            <a:solidFill>
              <a:srgbClr val="B23A4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NAND (not and)</a:t>
            </a:r>
            <a:endParaRPr lang="en-US" sz="1800" dirty="0"/>
          </a:p>
        </p:txBody>
      </p:sp>
      <p:pic>
        <p:nvPicPr>
          <p:cNvPr id="11" name="Image 1" descr="preencoded.png">    </p:cNvPr>
          <p:cNvPicPr>
            <a:picLocks noChangeAspect="1"/>
          </p:cNvPicPr>
          <p:nvPr/>
        </p:nvPicPr>
        <p:blipFill>
          <a:blip r:embed="rId2"/>
          <a:stretch>
            <a:fillRect/>
          </a:stretch>
        </p:blipFill>
        <p:spPr>
          <a:xfrm>
            <a:off x="4612538" y="2236278"/>
            <a:ext cx="2966618" cy="830964"/>
          </a:xfrm>
          <a:prstGeom prst="rect">
            <a:avLst/>
          </a:prstGeom>
        </p:spPr>
      </p:pic>
      <p:sp>
        <p:nvSpPr>
          <p:cNvPr id="12" name="Text 6"/>
          <p:cNvSpPr txBox="1"/>
          <p:nvPr/>
        </p:nvSpPr>
        <p:spPr>
          <a:xfrm>
            <a:off x="4521098"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4998568"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B23A4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B23A4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B23A48"/>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4" name="Shape 7"/>
          <p:cNvSpPr/>
          <p:nvPr/>
        </p:nvSpPr>
        <p:spPr>
          <a:xfrm>
            <a:off x="8127797" y="1417320"/>
            <a:ext cx="3515258" cy="4754880"/>
          </a:xfrm>
          <a:prstGeom prst="roundRect">
            <a:avLst>
              <a:gd name="adj" fmla="val 2081"/>
            </a:avLst>
          </a:prstGeom>
          <a:solidFill>
            <a:srgbClr val="EEF2F4"/>
          </a:solidFill>
          <a:ln w="12700">
            <a:solidFill>
              <a:srgbClr val="EEF2F4"/>
            </a:solidFill>
            <a:prstDash val="solid"/>
          </a:ln>
        </p:spPr>
      </p:sp>
      <p:sp>
        <p:nvSpPr>
          <p:cNvPr id="15" name="Text 8"/>
          <p:cNvSpPr txBox="1"/>
          <p:nvPr/>
        </p:nvSpPr>
        <p:spPr>
          <a:xfrm>
            <a:off x="8356397" y="1600200"/>
            <a:ext cx="3058058" cy="457200"/>
          </a:xfrm>
          <a:prstGeom prst="roundRect">
            <a:avLst>
              <a:gd name="adj" fmla="val 16000"/>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NOR (not or)</a:t>
            </a:r>
            <a:endParaRPr lang="en-US" sz="1800" dirty="0"/>
          </a:p>
        </p:txBody>
      </p:sp>
      <p:pic>
        <p:nvPicPr>
          <p:cNvPr id="16" name="Image 2" descr="preencoded.png">    </p:cNvPr>
          <p:cNvPicPr>
            <a:picLocks noChangeAspect="1"/>
          </p:cNvPicPr>
          <p:nvPr/>
        </p:nvPicPr>
        <p:blipFill>
          <a:blip r:embed="rId3"/>
          <a:stretch>
            <a:fillRect/>
          </a:stretch>
        </p:blipFill>
        <p:spPr>
          <a:xfrm>
            <a:off x="8402117" y="2236278"/>
            <a:ext cx="2966618" cy="830964"/>
          </a:xfrm>
          <a:prstGeom prst="rect">
            <a:avLst/>
          </a:prstGeom>
        </p:spPr>
      </p:pic>
      <p:sp>
        <p:nvSpPr>
          <p:cNvPr id="17" name="Text 9"/>
          <p:cNvSpPr txBox="1"/>
          <p:nvPr/>
        </p:nvSpPr>
        <p:spPr>
          <a:xfrm>
            <a:off x="8310677"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46" name="Table 2"/>
          <p:cNvGraphicFramePr>
            <a:graphicFrameLocks noGrp="1"/>
          </p:cNvGraphicFramePr>
          <p:nvPr>
            <p:extLst>
              <p:ext uri="{D42A27DB-BD31-4B8C-83A1-F6EECF244321}">
                <p14:modId xmlns:p14="http://schemas.microsoft.com/office/powerpoint/2010/main" val="1579011935"/>
              </p:ext>
            </p:extLst>
          </p:nvPr>
        </p:nvGraphicFramePr>
        <p:xfrm>
          <a:off x="8788146"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Properties of Boolean algebra (1)</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64384"/>
                <a:gridCol w="4365016"/>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Property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AND form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OR form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Commutative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Associative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z = x . (y . z)</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z = x + (y + z)</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Idempotence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Absorption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By associativity AND and OR extend to any number of operands: x . y . z, x + y + z.</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Properties of Boolean algebra (2)</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91570"/>
                <a:gridCol w="4274078"/>
                <a:gridCol w="4728767"/>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Property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AND form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OR form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Distributive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(y + z) = x . y + x . z</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y . z = (x + y) . (x + z)</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Identity element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1 = x</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+ 0 = x</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Null element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0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+ 1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Complement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x'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x'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Involution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x</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Careful: OR distributes over AND too. This is false for ordinary sum and product.</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 Morgan's laws</a:t>
            </a:r>
            <a:endParaRPr lang="en-US" sz="3200" dirty="0"/>
          </a:p>
        </p:txBody>
      </p:sp>
      <p:sp>
        <p:nvSpPr>
          <p:cNvPr id="3" name="Shape 1"/>
          <p:cNvSpPr/>
          <p:nvPr/>
        </p:nvSpPr>
        <p:spPr>
          <a:xfrm>
            <a:off x="548640" y="1417320"/>
            <a:ext cx="5120640" cy="1051560"/>
          </a:xfrm>
          <a:prstGeom prst="roundRect">
            <a:avLst>
              <a:gd name="adj" fmla="val 6957"/>
            </a:avLst>
          </a:prstGeom>
          <a:solidFill>
            <a:srgbClr val="D8ECEE"/>
          </a:solidFill>
          <a:ln w="12700">
            <a:solidFill>
              <a:srgbClr val="D8ECEE"/>
            </a:solidFill>
            <a:prstDash val="solid"/>
          </a:ln>
        </p:spPr>
      </p:sp>
      <p:sp>
        <p:nvSpPr>
          <p:cNvPr id="4" name="Shape 2"/>
          <p:cNvSpPr/>
          <p:nvPr/>
        </p:nvSpPr>
        <p:spPr>
          <a:xfrm>
            <a:off x="548640" y="2651760"/>
            <a:ext cx="5120640" cy="1051560"/>
          </a:xfrm>
          <a:prstGeom prst="roundRect">
            <a:avLst>
              <a:gd name="adj" fmla="val 6957"/>
            </a:avLst>
          </a:prstGeom>
          <a:solidFill>
            <a:srgbClr val="F6E7D2"/>
          </a:solidFill>
          <a:ln w="12700">
            <a:solidFill>
              <a:srgbClr val="F6E7D2"/>
            </a:solidFill>
            <a:prstDash val="solid"/>
          </a:ln>
        </p:spPr>
      </p:sp>
      <p:sp>
        <p:nvSpPr>
          <p:cNvPr id="5" name="Text 3"/>
          <p:cNvSpPr txBox="1"/>
          <p:nvPr/>
        </p:nvSpPr>
        <p:spPr>
          <a:xfrm>
            <a:off x="548640" y="1417320"/>
            <a:ext cx="5120640" cy="1051560"/>
          </a:xfrm>
          <a:prstGeom prst="rect">
            <a:avLst/>
          </a:prstGeom>
          <a:noFill/>
          <a:ln/>
        </p:spPr>
        <p:txBody>
          <a:bodyPr wrap="square" lIns="0" tIns="0" rIns="0" bIns="0" rtlCol="0" anchor="ctr"/>
          <a:lstStyle/>
          <a:p>
            <a:pPr algn="ctr" indent="0" marL="0">
              <a:buNone/>
            </a:pPr>
            <a:r>
              <a:rPr lang="en-US" sz="2800" b="1" dirty="0">
                <a:solidFill>
                  <a:srgbClr val="1B2530"/>
                </a:solidFill>
                <a:latin typeface="Courier New" pitchFamily="34" charset="0"/>
                <a:ea typeface="Courier New" pitchFamily="34" charset="-122"/>
                <a:cs typeface="Courier New" pitchFamily="34" charset="-120"/>
              </a:rPr>
              <a:t>(x . y)' = x' + y'</a:t>
            </a:r>
            <a:endParaRPr lang="en-US" sz="2800" dirty="0"/>
          </a:p>
        </p:txBody>
      </p:sp>
      <p:sp>
        <p:nvSpPr>
          <p:cNvPr id="6" name="Text 4"/>
          <p:cNvSpPr txBox="1"/>
          <p:nvPr/>
        </p:nvSpPr>
        <p:spPr>
          <a:xfrm>
            <a:off x="548640" y="2651760"/>
            <a:ext cx="5120640" cy="1051560"/>
          </a:xfrm>
          <a:prstGeom prst="rect">
            <a:avLst/>
          </a:prstGeom>
          <a:noFill/>
          <a:ln/>
        </p:spPr>
        <p:txBody>
          <a:bodyPr wrap="square" lIns="0" tIns="0" rIns="0" bIns="0" rtlCol="0" anchor="ctr"/>
          <a:lstStyle/>
          <a:p>
            <a:pPr algn="ctr" indent="0" marL="0">
              <a:buNone/>
            </a:pPr>
            <a:r>
              <a:rPr lang="en-US" sz="2800" b="1" dirty="0">
                <a:solidFill>
                  <a:srgbClr val="1B2530"/>
                </a:solidFill>
                <a:latin typeface="Courier New" pitchFamily="34" charset="0"/>
                <a:ea typeface="Courier New" pitchFamily="34" charset="-122"/>
                <a:cs typeface="Courier New" pitchFamily="34" charset="-120"/>
              </a:rPr>
              <a:t>(x + y)' = x' . y'</a:t>
            </a:r>
            <a:endParaRPr lang="en-US" sz="2800" dirty="0"/>
          </a:p>
        </p:txBody>
      </p:sp>
      <p:sp>
        <p:nvSpPr>
          <p:cNvPr id="7" name="Shape 5"/>
          <p:cNvSpPr/>
          <p:nvPr/>
        </p:nvSpPr>
        <p:spPr>
          <a:xfrm>
            <a:off x="548640" y="401510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31920"/>
            <a:ext cx="47365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complement of a product is the sum of the complements, and vice versa</a:t>
            </a:r>
            <a:endParaRPr lang="en-US" sz="1900" dirty="0"/>
          </a:p>
        </p:txBody>
      </p:sp>
      <p:sp>
        <p:nvSpPr>
          <p:cNvPr id="9" name="Shape 7"/>
          <p:cNvSpPr/>
          <p:nvPr/>
        </p:nvSpPr>
        <p:spPr>
          <a:xfrm>
            <a:off x="548640" y="484085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57674"/>
            <a:ext cx="47365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Proof by perfect induction: check every row of the truth table</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47365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NAND is an OR of the negated inputs; a NOR is an AND of the negated inputs</a:t>
            </a:r>
            <a:endParaRPr lang="en-US" sz="1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989320" y="1417320"/>
          <a:ext cx="5632704" cy="914400"/>
        </p:xfrm>
        <a:graphic>
          <a:graphicData uri="http://schemas.openxmlformats.org/drawingml/2006/table">
            <a:tbl>
              <a:tblPr/>
              <a:tblGrid>
                <a:gridCol w="640080"/>
                <a:gridCol w="640080"/>
                <a:gridCol w="941832"/>
                <a:gridCol w="941832"/>
                <a:gridCol w="685800"/>
                <a:gridCol w="685800"/>
                <a:gridCol w="1097280"/>
              </a:tblGrid>
              <a:tr h="45720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 . 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 . 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 + 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14" name="Text 11"/>
          <p:cNvSpPr txBox="1"/>
          <p:nvPr/>
        </p:nvSpPr>
        <p:spPr>
          <a:xfrm>
            <a:off x="6035040" y="3931920"/>
            <a:ext cx="5605272" cy="822960"/>
          </a:xfrm>
          <a:prstGeom prst="rect">
            <a:avLst/>
          </a:prstGeom>
          <a:noFill/>
          <a:ln/>
        </p:spPr>
        <p:txBody>
          <a:bodyPr wrap="square" lIns="0" tIns="0" rIns="0" bIns="0" rtlCol="0" anchor="t"/>
          <a:lstStyle/>
          <a:p>
            <a:pPr indent="0" marL="0">
              <a:buNone/>
            </a:pPr>
            <a:r>
              <a:rPr lang="en-US" sz="1500" i="1" dirty="0">
                <a:solidFill>
                  <a:srgbClr val="5B6B78"/>
                </a:solidFill>
                <a:latin typeface="Calibri" pitchFamily="34" charset="0"/>
                <a:ea typeface="Calibri" pitchFamily="34" charset="-122"/>
                <a:cs typeface="Calibri" pitchFamily="34" charset="-120"/>
              </a:rPr>
              <a:t>The two highlighted columns are identical: the first law holds. The second is proved the same way.</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Duality and precedence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Duality principle: every identity stays true if you swap AND with OR and 0 with 1</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x . 1 = x becomes x + 0 = x; De Morgan's two laws are each other's dual</a:t>
            </a:r>
            <a:endParaRPr lang="en-US" sz="2400" dirty="0"/>
          </a:p>
        </p:txBody>
      </p:sp>
      <p:sp>
        <p:nvSpPr>
          <p:cNvPr id="5" name="Shape 3"/>
          <p:cNvSpPr/>
          <p:nvPr/>
        </p:nvSpPr>
        <p:spPr>
          <a:xfrm>
            <a:off x="548640" y="32849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63062"/>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Precedence: NOT first, then AND, then OR, as with powers, products and sums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x + y . z' means x + (y . (z'))</a:t>
            </a:r>
            <a:endParaRPr lang="en-US" sz="2400" dirty="0"/>
          </a:p>
        </p:txBody>
      </p:sp>
      <p:sp>
        <p:nvSpPr>
          <p:cNvPr id="7" name="Shape 5"/>
          <p:cNvSpPr/>
          <p:nvPr/>
        </p:nvSpPr>
        <p:spPr>
          <a:xfrm>
            <a:off x="548640" y="48478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72592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Parentheses change the order, exactly as in ordinary algebra</a:t>
            </a:r>
            <a:endParaRPr lang="en-US" sz="2400" dirty="0"/>
          </a:p>
        </p:txBody>
      </p:sp>
      <p:sp>
        <p:nvSpPr>
          <p:cNvPr id="9" name="Shape 7"/>
          <p:cNvSpPr/>
          <p:nvPr/>
        </p:nvSpPr>
        <p:spPr>
          <a:xfrm>
            <a:off x="548640" y="567690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5498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Two expressions are equivalent if they have the same truth table</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Simplifying with the algebra</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001264"/>
                <a:gridCol w="7093151"/>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Expression</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Law applied</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x . y + x . y'</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the expression to simplify: three gates and an inverter</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 x . (y + y')</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distributive law, read from right to left</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 x . 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complement law: y + y' = 1</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 x</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identity element: only a wire is left</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In the same way: x + x' . y = (x + x') . (x + y) = 1 . (x + y) = x + y</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04</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Back to the machine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Thirty-two gates per instruction.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Bitwise instructions: the algebra on a whole register</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28135"/>
                <a:gridCol w="2728135"/>
                <a:gridCol w="3819389"/>
                <a:gridCol w="1818757"/>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Operation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 = 1100 1010, b = 0000 1111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 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  t0, a,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by bit AND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0000 1010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 &amp;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or   t0, a,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by bit 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1100 1111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 |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xor  t0, a,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by bit XOR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1100 0101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 ^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not  t0, 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complement every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0011 0101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Each instruction applies one gate to every bit position at once. not is a pseudo-instruction: xori with -1, that is, with all ones.</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things to do with a mask</a:t>
            </a:r>
            <a:endParaRPr lang="en-US" sz="3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80203"/>
                <a:gridCol w="3120304"/>
                <a:gridCol w="3293655"/>
                <a:gridCol w="26002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Goal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Law used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Instruction (bit 4 = button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Effect on the other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Test a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1 = x,  x . 0 = 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andi t1, t0, 0x10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forced to 0 in the result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Set a bit to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+ 1 = 1,  x + 0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ori  t0, t0, 0x10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unchanged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Clear a bit to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0 = 0,  x . 1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andi t0, t0, ~0x10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unchanged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Toggle a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xor 1 = x',  x xor 0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xori t0, t0, 0x10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unchanged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 Morgan at the joystick</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"idle" when NEITHER LEFT NOR RIGHT is pressed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t3, t0, 0x03        </a:t>
            </a:r>
            <a:pPr indent="0" marL="0">
              <a:buNone/>
            </a:pPr>
            <a:r>
              <a:rPr lang="en-US" sz="1350" dirty="0">
                <a:solidFill>
                  <a:srgbClr val="8FB3A0"/>
                </a:solidFill>
                <a:latin typeface="Courier New" pitchFamily="34" charset="0"/>
                <a:ea typeface="Courier New" pitchFamily="34" charset="-122"/>
                <a:cs typeface="Courier New" pitchFamily="34" charset="-120"/>
              </a:rPr>
              <a:t># 0x03 = LEFT | RIGHT: keep both bits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t3, idle            </a:t>
            </a:r>
            <a:pPr indent="0" marL="0">
              <a:buNone/>
            </a:pPr>
            <a:r>
              <a:rPr lang="en-US" sz="1350" dirty="0">
                <a:solidFill>
                  <a:srgbClr val="8FB3A0"/>
                </a:solidFill>
                <a:latin typeface="Courier New" pitchFamily="34" charset="0"/>
                <a:ea typeface="Courier New" pitchFamily="34" charset="-122"/>
                <a:cs typeface="Courier New" pitchFamily="34" charset="-120"/>
              </a:rPr>
              <a:t># all zero: (LEFT + RIGHT)' is true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the long way: test each button, the result is the same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t3, t0, 0x01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bnez t3, moving          </a:t>
            </a:r>
            <a:pPr indent="0" marL="0">
              <a:buNone/>
            </a:pPr>
            <a:r>
              <a:rPr lang="en-US" sz="1350" dirty="0">
                <a:solidFill>
                  <a:srgbClr val="8FB3A0"/>
                </a:solidFill>
                <a:latin typeface="Courier New" pitchFamily="34" charset="0"/>
                <a:ea typeface="Courier New" pitchFamily="34" charset="-122"/>
                <a:cs typeface="Courier New" pitchFamily="34" charset="-120"/>
              </a:rPr>
              <a:t># LEFT pressed: not idle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t3, t0, 0x02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bnez t3, moving          </a:t>
            </a:r>
            <a:pPr indent="0" marL="0">
              <a:buNone/>
            </a:pPr>
            <a:r>
              <a:rPr lang="en-US" sz="1350" dirty="0">
                <a:solidFill>
                  <a:srgbClr val="8FB3A0"/>
                </a:solidFill>
                <a:latin typeface="Courier New" pitchFamily="34" charset="0"/>
                <a:ea typeface="Courier New" pitchFamily="34" charset="-122"/>
                <a:cs typeface="Courier New" pitchFamily="34" charset="-120"/>
              </a:rPr>
              <a:t># RIGHT pressed: not idle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j    idle                </a:t>
            </a:r>
            <a:pPr indent="0" marL="0">
              <a:buNone/>
            </a:pPr>
            <a:r>
              <a:rPr lang="en-US" sz="1350" dirty="0">
                <a:solidFill>
                  <a:srgbClr val="8FB3A0"/>
                </a:solidFill>
                <a:latin typeface="Courier New" pitchFamily="34" charset="0"/>
                <a:ea typeface="Courier New" pitchFamily="34" charset="-122"/>
                <a:cs typeface="Courier New" pitchFamily="34" charset="-120"/>
              </a:rPr>
              <a:t># LEFT' . RIGHT'</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mask with two bits tests two buttons in one instruction</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result is zero only if both bits are zero: NOT (LEFT OR RIGHT)</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By De Morgan this equals (NOT LEFT) AND (NOT RIGHT): the long way below</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algebra tells you that the two programs are equivalent, and which is cheaper</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lamp per bit: shifting and masking</a:t>
            </a:r>
            <a:endParaRPr lang="en-US" sz="3200" dirty="0"/>
          </a:p>
        </p:txBody>
      </p:sp>
      <p:sp>
        <p:nvSpPr>
          <p:cNvPr id="3" name="Shape 1"/>
          <p:cNvSpPr/>
          <p:nvPr/>
        </p:nvSpPr>
        <p:spPr>
          <a:xfrm>
            <a:off x="548640" y="1417320"/>
            <a:ext cx="667512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21792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    </a:t>
            </a:r>
            <a:pPr indent="0" marL="0">
              <a:buNone/>
            </a:pPr>
            <a:r>
              <a:rPr lang="en-US" sz="1250" dirty="0">
                <a:solidFill>
                  <a:srgbClr val="8FB3A0"/>
                </a:solidFill>
                <a:latin typeface="Courier New" pitchFamily="34" charset="0"/>
                <a:ea typeface="Courier New" pitchFamily="34" charset="-122"/>
                <a:cs typeface="Courier New" pitchFamily="34" charset="-120"/>
              </a:rPr>
              <a:t># s0 = bit number, 0 to 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buttons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           </a:t>
            </a:r>
            <a:pPr indent="0" marL="0">
              <a:buNone/>
            </a:pPr>
            <a:r>
              <a:rPr lang="en-US" sz="1250" dirty="0">
                <a:solidFill>
                  <a:srgbClr val="8FB3A0"/>
                </a:solidFill>
                <a:latin typeface="Courier New" pitchFamily="34" charset="0"/>
                <a:ea typeface="Courier New" pitchFamily="34" charset="-122"/>
                <a:cs typeface="Courier New" pitchFamily="34" charset="-120"/>
              </a:rPr>
              <a:t># t1 = the button mask</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srl  t1, t1, s0          </a:t>
            </a:r>
            <a:pPr indent="0" marL="0">
              <a:buNone/>
            </a:pPr>
            <a:r>
              <a:rPr lang="en-US" sz="1250" dirty="0">
                <a:solidFill>
                  <a:srgbClr val="8FB3A0"/>
                </a:solidFill>
                <a:latin typeface="Courier New" pitchFamily="34" charset="0"/>
                <a:ea typeface="Courier New" pitchFamily="34" charset="-122"/>
                <a:cs typeface="Courier New" pitchFamily="34" charset="-120"/>
              </a:rPr>
              <a:t># bring bit number s0 down to bit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andi t1, t1, 1           </a:t>
            </a:r>
            <a:pPr indent="0" marL="0">
              <a:buNone/>
            </a:pPr>
            <a:r>
              <a:rPr lang="en-US" sz="1250" dirty="0">
                <a:solidFill>
                  <a:srgbClr val="8FB3A0"/>
                </a:solidFill>
                <a:latin typeface="Courier New" pitchFamily="34" charset="0"/>
                <a:ea typeface="Courier New" pitchFamily="34" charset="-122"/>
                <a:cs typeface="Courier New" pitchFamily="34" charset="-120"/>
              </a:rPr>
              <a:t># keep it, clear all the others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a4, GREY            </a:t>
            </a:r>
            <a:pPr indent="0" marL="0">
              <a:buNone/>
            </a:pPr>
            <a:r>
              <a:rPr lang="en-US" sz="1250" dirty="0">
                <a:solidFill>
                  <a:srgbClr val="8FB3A0"/>
                </a:solidFill>
                <a:latin typeface="Courier New" pitchFamily="34" charset="0"/>
                <a:ea typeface="Courier New" pitchFamily="34" charset="-122"/>
                <a:cs typeface="Courier New" pitchFamily="34" charset="-120"/>
              </a:rPr>
              <a:t># lamp off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t1, 1f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a4, YELLOW          </a:t>
            </a:r>
            <a:pPr indent="0" marL="0">
              <a:buNone/>
            </a:pPr>
            <a:r>
              <a:rPr lang="en-US" sz="1250" dirty="0">
                <a:solidFill>
                  <a:srgbClr val="8FB3A0"/>
                </a:solidFill>
                <a:latin typeface="Courier New" pitchFamily="34" charset="0"/>
                <a:ea typeface="Courier New" pitchFamily="34" charset="-122"/>
                <a:cs typeface="Courier New" pitchFamily="34" charset="-120"/>
              </a:rPr>
              <a:t># lamp 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1:  call prg32_gfx_rect</a:t>
            </a:r>
            <a:endParaRPr lang="en-US" sz="1250" dirty="0"/>
          </a:p>
        </p:txBody>
      </p:sp>
      <p:sp>
        <p:nvSpPr>
          <p:cNvPr id="5" name="Shape 3"/>
          <p:cNvSpPr/>
          <p:nvPr/>
        </p:nvSpPr>
        <p:spPr>
          <a:xfrm>
            <a:off x="7470648" y="1399032"/>
            <a:ext cx="4245559" cy="2708339"/>
          </a:xfrm>
          <a:prstGeom prst="roundRect">
            <a:avLst>
              <a:gd name="adj" fmla="val 2701"/>
            </a:avLst>
          </a:prstGeom>
          <a:solidFill>
            <a:srgbClr val="1B2530"/>
          </a:solidFill>
          <a:ln w="12700">
            <a:solidFill>
              <a:srgbClr val="1B2530"/>
            </a:solidFill>
            <a:prstDash val="solid"/>
          </a:ln>
        </p:spPr>
      </p:sp>
      <p:pic>
        <p:nvPicPr>
          <p:cNvPr id="6" name="Image 0" descr="/Users/raffaelemontella/devel/riscv-prg32/computer-architecture-with-prg32/tools/assets/lab2_step1_lamps.png">    </p:cNvPr>
          <p:cNvPicPr>
            <a:picLocks noChangeAspect="1"/>
          </p:cNvPicPr>
          <p:nvPr/>
        </p:nvPicPr>
        <p:blipFill>
          <a:blip r:embed="rId1"/>
          <a:stretch>
            <a:fillRect/>
          </a:stretch>
        </p:blipFill>
        <p:spPr>
          <a:xfrm>
            <a:off x="7543800" y="1472184"/>
            <a:ext cx="4099255" cy="2562035"/>
          </a:xfrm>
          <a:prstGeom prst="rect">
            <a:avLst/>
          </a:prstGeom>
        </p:spPr>
      </p:pic>
      <p:sp>
        <p:nvSpPr>
          <p:cNvPr id="7" name="Text 4"/>
          <p:cNvSpPr txBox="1"/>
          <p:nvPr/>
        </p:nvSpPr>
        <p:spPr>
          <a:xfrm>
            <a:off x="7543800" y="4180523"/>
            <a:ext cx="4099255" cy="256032"/>
          </a:xfrm>
          <a:prstGeom prst="rect">
            <a:avLst/>
          </a:prstGeom>
          <a:noFill/>
          <a:ln/>
        </p:spPr>
        <p:txBody>
          <a:bodyPr wrap="square" lIns="0" tIns="0" rIns="0" bIns="0" rtlCol="0" anchor="t"/>
          <a:lstStyle/>
          <a:p>
            <a:pPr indent="0" marL="0">
              <a:buNone/>
            </a:pPr>
            <a:r>
              <a:rPr lang="en-US" sz="1150" i="1" dirty="0">
                <a:solidFill>
                  <a:srgbClr val="5B6B78"/>
                </a:solidFill>
                <a:latin typeface="Calibri" pitchFamily="34" charset="0"/>
                <a:ea typeface="Calibri" pitchFamily="34" charset="-122"/>
                <a:cs typeface="Calibri" pitchFamily="34" charset="-120"/>
              </a:rPr>
              <a:t>Screenshot: this step, built and run on PRG32</a:t>
            </a:r>
            <a:endParaRPr lang="en-US" sz="1150" dirty="0"/>
          </a:p>
        </p:txBody>
      </p:sp>
      <p:sp>
        <p:nvSpPr>
          <p:cNvPr id="8" name="Shape 5"/>
          <p:cNvSpPr/>
          <p:nvPr/>
        </p:nvSpPr>
        <p:spPr>
          <a:xfrm>
            <a:off x="7470648" y="4527995"/>
            <a:ext cx="4245559" cy="1644205"/>
          </a:xfrm>
          <a:prstGeom prst="roundRect">
            <a:avLst>
              <a:gd name="adj" fmla="val 4449"/>
            </a:avLst>
          </a:prstGeom>
          <a:solidFill>
            <a:srgbClr val="EEF2F4"/>
          </a:solidFill>
          <a:ln w="12700">
            <a:solidFill>
              <a:srgbClr val="EEF2F4"/>
            </a:solidFill>
            <a:prstDash val="solid"/>
          </a:ln>
        </p:spPr>
      </p:sp>
      <p:sp>
        <p:nvSpPr>
          <p:cNvPr id="9" name="Text 6"/>
          <p:cNvSpPr txBox="1"/>
          <p:nvPr/>
        </p:nvSpPr>
        <p:spPr>
          <a:xfrm>
            <a:off x="7680960" y="4637723"/>
            <a:ext cx="3824935" cy="1424749"/>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Shift, then mask with 1: the standard way to read bit number n of a word.</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For which inputs is x NAND y equal to 0?</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x = 0, y = 0</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x = 0, y = 1</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x = 1, y = 1</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never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By De Morgan, (a . b')' is equal to:</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 . b</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 + b</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 + b'</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 + b'</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t0 = 0x0000005A. What is in t1 after andi t1, t0, 0x0F?</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0x0000005A</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0x00000050</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0x0000000A</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0x0000000F</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Which instruction turns bit 5 of t0 to 1 and leaves every other bit unchanged?</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andi t0, t0, 0x20</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ori t0, t0, 0x20</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xori t0, t0, 0x20</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addi t0, t0, 0x20</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Prove the second De Morgan law, (x + y)' = x' . y', with a truth table</a:t>
            </a:r>
            <a:endParaRPr lang="en-US" sz="2000" dirty="0"/>
          </a:p>
        </p:txBody>
      </p:sp>
      <p:sp>
        <p:nvSpPr>
          <p:cNvPr id="6" name="Text 4"/>
          <p:cNvSpPr txBox="1"/>
          <p:nvPr/>
        </p:nvSpPr>
        <p:spPr>
          <a:xfrm>
            <a:off x="548640" y="20589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04063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Simplify with the algebra: x . y + x . y' . z + x' . y, naming the law used at each step</a:t>
            </a:r>
            <a:endParaRPr lang="en-US" sz="2000" dirty="0"/>
          </a:p>
        </p:txBody>
      </p:sp>
      <p:sp>
        <p:nvSpPr>
          <p:cNvPr id="8" name="Text 6"/>
          <p:cNvSpPr txBox="1"/>
          <p:nvPr/>
        </p:nvSpPr>
        <p:spPr>
          <a:xfrm>
            <a:off x="548640" y="28630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4480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the mask and the instruction that test whether A and B are pressed together</a:t>
            </a:r>
            <a:endParaRPr lang="en-US" sz="2000" dirty="0"/>
          </a:p>
        </p:txBody>
      </p:sp>
      <p:sp>
        <p:nvSpPr>
          <p:cNvPr id="10" name="Text 8"/>
          <p:cNvSpPr txBox="1"/>
          <p:nvPr/>
        </p:nvSpPr>
        <p:spPr>
          <a:xfrm>
            <a:off x="548640" y="34864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46811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Change the lamp program so that the lamps show the complement of the buttons (lit when released)</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Convert a letter from upper to lower case and back using one bitwise instruction (hint: ASCII, Lecture 04)</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PRG32: all seven lamps lit at rest, each one going dark while its button is held. For the letter: xori with 0x20 toggles bit 5.</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817629"/>
                <a:gridCol w="2993731"/>
                <a:gridCol w="2465426"/>
                <a:gridCol w="2817629"/>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logic circuit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circuito logico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truth table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tabella di verità</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switching network</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rete di commutazione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logic gate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porta logica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analysis / synthesis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analisi / sintesi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complement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complemento (negazione)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logical product (AND)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prodotto logico (congiunzione)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duality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dualità</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logical sum (OR)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somma logica (disgiunzione)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mask</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maschera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involution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involuzione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to set / clear / toggle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porre a 1 / azzerare / invertire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von Neumann architecture represents a real machine in simplified form: processor, memory, input/output</a:t>
            </a:r>
            <a:endParaRPr lang="en-US" sz="2100" dirty="0"/>
          </a:p>
        </p:txBody>
      </p:sp>
      <p:sp>
        <p:nvSpPr>
          <p:cNvPr id="5" name="Shape 3"/>
          <p:cNvSpPr/>
          <p:nvPr/>
        </p:nvSpPr>
        <p:spPr>
          <a:xfrm>
            <a:off x="548640" y="231705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18373"/>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Boolean algebra represents logic functions that can be implemented with electronic circuits</a:t>
            </a:r>
            <a:endParaRPr lang="en-US" sz="2100" dirty="0"/>
          </a:p>
        </p:txBody>
      </p:sp>
      <p:sp>
        <p:nvSpPr>
          <p:cNvPr id="7" name="Shape 5"/>
          <p:cNvSpPr/>
          <p:nvPr/>
        </p:nvSpPr>
        <p:spPr>
          <a:xfrm>
            <a:off x="548640" y="311810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19425"/>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Three operations, a handful of properties and De Morgan's laws are enough to transform any expression</a:t>
            </a:r>
            <a:endParaRPr lang="en-US" sz="2100" dirty="0"/>
          </a:p>
        </p:txBody>
      </p:sp>
      <p:sp>
        <p:nvSpPr>
          <p:cNvPr id="9" name="Shape 7"/>
          <p:cNvSpPr/>
          <p:nvPr/>
        </p:nvSpPr>
        <p:spPr>
          <a:xfrm>
            <a:off x="548640" y="391915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20477"/>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bitwise instruction is the algebra applied to thirty-two bits at once; a mask is the identity law at work</a:t>
            </a:r>
            <a:endParaRPr lang="en-US" sz="2100" dirty="0"/>
          </a:p>
        </p:txBody>
      </p:sp>
      <p:sp>
        <p:nvSpPr>
          <p:cNvPr id="11" name="Shape 9"/>
          <p:cNvSpPr/>
          <p:nvPr/>
        </p:nvSpPr>
        <p:spPr>
          <a:xfrm>
            <a:off x="548640" y="4720209"/>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621530"/>
            <a:ext cx="10710367" cy="155067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Computer Organization and Design, RISC-V Edition, appendix A (The Basics of Logic Design)</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Playing with RISC-V, chapter 6: State and Input: Branches, Bitmasks, and Boundaries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Bucci: Architettura dei calcolatori elettronici, chapters on Boolean algebra</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Elements of Boolean Algebra</dc:title>
  <dc:subject>Lecture 08</dc:subject>
  <dc:creator>Raffaele Montella</dc:creator>
  <cp:lastModifiedBy>Raffaele Montella</cp:lastModifiedBy>
  <cp:revision>1</cp:revision>
  <dcterms:created xsi:type="dcterms:W3CDTF">2026-10-12T11:28:39Z</dcterms:created>
  <dcterms:modified xsi:type="dcterms:W3CDTF">2026-10-12T11:28:39Z</dcterms:modified>
</cp:coreProperties>
</file>