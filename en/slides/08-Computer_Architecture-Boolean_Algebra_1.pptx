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e9965c-2d7d-b8d1-05c8-0c8501977adb}">
          <p14:sldIdLst>
            <p14:sldId id="256"/>
            <p14:sldId id="257"/>
          </p14:sldIdLst>
        </p14:section>
        <p14:section name="The computer as a logic machine" id="{2ff6de32-1c9c-774a-8614-a6132d311065}">
          <p14:sldIdLst>
            <p14:sldId id="258"/>
            <p14:sldId id="259"/>
            <p14:sldId id="260"/>
            <p14:sldId id="261"/>
            <p14:sldId id="262"/>
          </p14:sldIdLst>
        </p14:section>
        <p14:section name="Boolean algebra" id="{5c33655b-1dcc-6ba7-2710-393e5f67dfc3}">
          <p14:sldIdLst>
            <p14:sldId id="263"/>
            <p14:sldId id="264"/>
            <p14:sldId id="265"/>
            <p14:sldId id="266"/>
            <p14:sldId id="267"/>
            <p14:sldId id="268"/>
            <p14:sldId id="269"/>
            <p14:sldId id="270"/>
          </p14:sldIdLst>
        </p14:section>
        <p14:section name="Back to the machine" id="{e21425e4-9a82-071f-3874-b1f907948fb5}">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block of the course begins: logic. After learning what bits mean, you learn how they are combined. You have in fact been using Boolean algebra since the first days, every time you tested a button with andi; this lecture gives that operation a name and builds the algebra around it. The White Rabbit on the cover is always in a hurry: the processor too does everything by tiny logical steps, billions of them per second.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For the lecturer: Spiral: the students have used andi to test a button since the first days. The lecture names what they did (a mask is an AND), then builds the algebra, then returns to the bitwise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computer as three subsystems connected by a bus. Distinguish the two problems of logic design, analysis and synthesis. Write the truth tables and recognise the symbols of six gates. Apply the properties of the algebra, including De Morgan's laws, to simplify an expression. And, back on the machine, use the bitwise instructions of RISC-V to test, set, clear and toggle single bits of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computer has three subsystems: the processor, which executes instructions; the main memory, which holds instructions and data; and input/output, which connects the machine to the world. They are joined by a bus, a set of shared wires divided into address lines, data lines and control lines. It is the von Neumann model of Lecture 03 in today's terms. Everything that travels on the bus is a pattern of bits. On the ESP32-C6 all of this is inside one chip.
UNDERSTAND NOW: the von Neumann architecture.
For the lecturer: Replaces the two pictures of the source deck (von Neumann model; architecture with bus). On the ESP32-C6 the three subsystems and the bus are all inside one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is where the processing capability resides. It executes instructions, which are explicit commands of two kinds: those that govern the transfer of information, inside the computer and to and from the devices, and those that specify arithmetic and logic operations. The memory holds the data and the sequence of instructions, and a sequence of instructions stored in memory is a program. The processor does one thing for ever: it fetches an instruction, executes it, and repeats.
UNDERSTAND NOW: the von Neumann architecture.
For the lecturer: RV32I: about forty instructions. You have used addi, lw, sw, andi, beqz, call and ret: transfer, arithmetic, logic and control are all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adjectives define an electronic computer. Numeric, or digital: all the information is strings of bits. Automatic: once started it proceeds by itself. Stored-program: the program is in memory and can be replaced, so the same machine does different jobs. Electronic: it is built from circuits that store and process bits. Each adjective excludes something: an abacus is numeric but not automatic; a mechanical music box is automatic but its program is fixed.
UNDERSTAND NOW: the von Neumann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circuits that store and process bits are called switching circuits, or logic circuits; connected together they form a switching network, and designing one is logic design. To describe what such circuits do we use an algebra. It plays for circuits the role that ordinary algebra plays for quantities: a notation in which you can calculate instead of trying every case. The values are two, 0 and 1: two voltage levels, two states of a switch.
UNDERSTAND NOW: analysis and synthesis.
For the lecturer: Switching circuits: circuiti di commutazione. The algebra is Boole's (1854), applied to switches by Nakajima and Shannon in the 1930s (Lecture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and one algebra for both. Analysis: you are given the structure of a circuit, how it is made, and you must find its behaviour, what it does. Reading andi t3, t0, 1 and saying what ends up in t3 is analysis. Synthesis goes the other way: from a desired behaviour to a structure that realises it, for example from the table of a sum to an adder. Synthesis usually has many solutions; choosing the cheapest is the subject of the next lecture.
UNDERSTAND NOW: analysis and synthesis. UNDERSTAND LATER: minimisation, Karnaugh maps (studied in Lecture 09).
For the lecturer: Synthesis usually has many solutions; choosing the cheapest is the minimisation problem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Boolean algebra a variable can take only two values, 0 and 1, and there are three basic operations. AND, the logical product, written with a dot or by simply putting the variables side by side. OR, the logical sum, written with a plus sign. NOT, the complement, written here with a prime, as in x', so that it can be typed. Do not be misled by the symbols: the plus is not an arithmetic sum, as you will see at once in the truth table of OR.
UNDERSTAND NOW: Boolean algebra.
For the lecturer: Conjunction, disjunction, negation: congiunzione, disgiunzione, negazione. In these slides the complement is written with a prime (x') so that it can be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shows an operation in three ways: the symbol of the gate, the notation and the truth table, which lists the output for every combination of the inputs. AND gives 1 only when both inputs are 1. OR gives 0 only when both inputs are 0, so 1 OR 1 is 1, not 2. NOT has one input and inverts it. Learn the three shapes: a flat back and a round front for AND, a curved back and a pointed front for OR, a triangle with a small circle for NOT.
UNDERSTAND NOW: logic gates.
For the lecturer: AND is 1 only when both inputs are 1; OR is 0 only when both inputs are 0; NOT inverts. A truth table lists the output for every combination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gates. XOR, the exclusive or, gives 1 when the two inputs are different: it is the sum bit of a one-bit addition. NAND and NOR are AND and OR followed by a negation: the small circle on the output of a symbol always means NOT. NAND gives 0 only when both inputs are 1; NOR gives 1 only when both are 0. They matter in practice because they are the gates that are cheapest to build with transistors, as Lecture 10 will show.
UNDERSTAND NOW: logic gates.
For the lecturer: New slide. XOR is 1 when the inputs differ: it is the sum bit of an addition, and RISC-V has it as an instruction. The small circle on a symbol means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properties, each in two forms, one for AND and one for OR. Commutative and associative are as in ordinary algebra; thanks to the second, AND and OR extend to any number of operands. Idempotence is new: x AND x is x, and x OR x is x; repeating a variable adds nothing. Absorption is the most useful for simplifying: x OR (x AND y) is simply x, because when x is 1 the result is 1 whatever y is, and when x is 0 both terms are 0.
UNDERSTAND NOW: Boolean algebra.
For the lecturer: Because of the associative property AND and OR can be defined on more than two operands: x . y . z. Every property comes in a pair: swap AND with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more properties. The first distributive law is the familiar one. The second, x + yz = (x + y)(x + z), has no equivalent in ordinary algebra: here OR distributes over AND too. Then the constants: 1 is the identity for AND and 0 for OR; 0 annuls an AND and 1 saturates an OR. The complement laws say that a variable and its negation give 0 with AND and 1 with OR. Involution: negating twice returns the variable. Two of these, identity and null element, explain how a mask works.
UNDERSTAND NOW: Boolean algebra.
For the lecturer: The second distributive law has no counterpart in ordinary algebra. The source slide called involution 'convoluzione' and grouped identity and null element as 'minimum and maximum'; the complement laws are added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connect the three operations: the complement of a product is the sum of the complements, and the complement of a sum is the product of the complements. The table proves the first by perfect induction: since the variables have only two values, a law can be verified by checking every row. The two highlighted columns are identical. In terms of gates: a NAND is an OR with negated inputs. You will use these laws constantly, on paper and in programs.
UNDERSTAND NOW: Boolean algebra.
For the lecturer: Augustus De Morgan, 1847. The laws generalise to any number of variables. The source deck showed the proof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general rules. Duality: every identity remains true if you swap AND with OR and 0 with 1; this is why the properties came in pairs, and it halves the work of proving them. Precedence: NOT is applied first, then AND, then OR, as powers come before products and products before sums; parentheses change the order. And a definition to remember: two expressions are equivalent when they have the same truth table.
UNDERSTAND NOW: Boolean algebra.
For the lecturer: Duality halves the work: prove one law of each pair and the other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algebra at work. The expression xy + xy' needs two AND gates, an OR and an inverter. Collecting x with the distributive law gives x(y + y'); the complement law turns the parenthesis into 1; the identity law leaves x. Three gates have become a piece of wire. Each line of the table names the law that justifies it: when you simplify, always be able to say which law you are applying. The caption shows a second simplification that will be used again.
UNDERSTAND NOW: Boolean algebra.
For the lecturer: Two literals and three gates become a wire. The identity in the caption (sometimes called the simplification theorem) uses the distributive law of OR over AND; it is used again in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 is AND followed by NOT. Start from AND: for which single row of its table is the output 1? That is the only row in which NAND is 0.
Apply the first law of De Morgan to the product of a and b': the complement becomes the sum of the complements, a' plus the complement of b'. Then use involution on the second term.
For the lecturer: 1. Answer: C. NAND is the complement of AND: it is 0 only when both inputs are 1.
2. Answer: B. (a . b')' = a' + (b')' = a' + b, using involution on the second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0x5A in binary, 0101 1010, and the mask 0x0F, 0000 1111. The AND keeps the bits where the mask has 1, the low four, and clears the others.
Compare the four instructions with the table of the mask. AND with 0x20 would clear all the other bits. XOR would invert the bit, turning a 1 into a 0. An arithmetic addition would work only if the bit was 0, and would produce a carry otherwise. Only OR sets the bit and leaves the rest unchanged.
For the lecturer: 1. Answer: C. 0x5A = 0101 1010; AND with 0000 1111 keeps the low nibble: 1010 = 0xA.
2. Answer: B. OR with a mask: x + 1 = 1 on bit 5, x + 0 = x elsewhere. xori would toggle it; addi would carry into bit 6 if the bit was already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Truth table is the table that defines a function by listing all cases. Logical product and logical sum are AND and OR. To set, to clear and to toggle a bit mean to put it to 1, to put it to 0 and to invert it; Italian has no single verbs for them and uses short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The von Neumann architecture describes a real machine in simplified form. Boolean algebra describes logic functions that electronic circuits can implement. Three operations, a few properties and De Morgan's laws are enough to transform any expression. And a bitwise instruction is the algebra applied to thirty-two bits at once, with the mask as the identity law at work. The next lecture goes from operators to functions: canonical forms and minimisation.
Learning status, recap.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For the lecturer: Next lecture: Boolean functions, canonical forms and minimisation.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1: the computer as a logic machine; operators and their properties</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computer as processor, memory and input/output, connected by a bus</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the analysis and the synthesis of a logic circuit</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truth tables of AND, OR, NOT, XOR, NAND and NOR and recognise their symbols</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Apply the properties of Boolean algebra, De Morgan's laws included, to simplify an expression</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and, or, xor and not on RISC-V to test, set, clear and toggle single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electronic computer: three subsystems and a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control unit, ALU, registers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executes the instructions</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Main memory</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holds the instructions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and the data</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Input / output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sound,</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network, storage</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address lines, data lines, control lines</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model in today's terms: the units of 1945, connected by shared wires</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Everything that travels on the bus is a pattern of bits</a:t>
            </a:r>
            <a:endParaRPr lang="en-US" sz="2200" dirty="0"/>
          </a:p>
        </p:txBody>
      </p:sp>
      <p:sp>
        <p:nvSpPr>
          <p:cNvPr id="17" name="Shape 15"/>
          <p:cNvSpPr/>
          <p:nvPr/>
        </p:nvSpPr>
        <p:spPr>
          <a:xfrm>
            <a:off x="7828102" y="91440"/>
            <a:ext cx="3814953" cy="274320"/>
          </a:xfrm>
          <a:prstGeom prst="rect">
            <a:avLst/>
          </a:prstGeom>
          <a:solidFill>
            <a:srgbClr val="E0F2FE"/>
          </a:solidFill>
          <a:ln w="12700">
            <a:solidFill>
              <a:srgbClr val="0369A1"/>
            </a:solidFill>
            <a:prstDash val="solid"/>
          </a:ln>
        </p:spPr>
      </p:sp>
      <p:sp>
        <p:nvSpPr>
          <p:cNvPr id="18" name="Shape 16"/>
          <p:cNvSpPr/>
          <p:nvPr/>
        </p:nvSpPr>
        <p:spPr>
          <a:xfrm>
            <a:off x="782810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0" name="Text 17"/>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processing capability of the computer resides in the processor</a:t>
            </a:r>
            <a:endParaRPr lang="en-US" sz="21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751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can execute a set of elementary actions, more or less complex: the instructions</a:t>
            </a:r>
            <a:endParaRPr lang="en-US" sz="2100" dirty="0"/>
          </a:p>
        </p:txBody>
      </p:sp>
      <p:sp>
        <p:nvSpPr>
          <p:cNvPr id="7" name="Shape 5"/>
          <p:cNvSpPr/>
          <p:nvPr/>
        </p:nvSpPr>
        <p:spPr>
          <a:xfrm>
            <a:off x="548640" y="31363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7713"/>
            <a:ext cx="6565392" cy="151409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are explicit commands that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govern the transfer of information inside the computer and between the computer and the I/O devices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specify the arithmetic and logic operations to perform</a:t>
            </a:r>
            <a:endParaRPr lang="en-US" sz="2100" dirty="0"/>
          </a:p>
        </p:txBody>
      </p:sp>
      <p:sp>
        <p:nvSpPr>
          <p:cNvPr id="9" name="Shape 7"/>
          <p:cNvSpPr/>
          <p:nvPr/>
        </p:nvSpPr>
        <p:spPr>
          <a:xfrm>
            <a:off x="548640" y="4809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1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Main memory holds the input and output data of the computation, and the sequence of instructions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sequence of instructions stored in main memory is a program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fetch, execute, repeat</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processor takes the instructions from memory and executes them, one by one</a:t>
            </a:r>
            <a:endParaRPr lang="en-US" sz="1900" dirty="0"/>
          </a:p>
        </p:txBody>
      </p:sp>
      <p:sp>
        <p:nvSpPr>
          <p:cNvPr id="16" name="Shape 14"/>
          <p:cNvSpPr/>
          <p:nvPr/>
        </p:nvSpPr>
        <p:spPr>
          <a:xfrm>
            <a:off x="7828102" y="91440"/>
            <a:ext cx="3814953" cy="274320"/>
          </a:xfrm>
          <a:prstGeom prst="rect">
            <a:avLst/>
          </a:prstGeom>
          <a:solidFill>
            <a:srgbClr val="E0F2FE"/>
          </a:solidFill>
          <a:ln w="12700">
            <a:solidFill>
              <a:srgbClr val="0369A1"/>
            </a:solidFill>
            <a:prstDash val="solid"/>
          </a:ln>
        </p:spPr>
      </p:sp>
      <p:sp>
        <p:nvSpPr>
          <p:cNvPr id="17" name="Shape 15"/>
          <p:cNvSpPr/>
          <p:nvPr/>
        </p:nvSpPr>
        <p:spPr>
          <a:xfrm>
            <a:off x="7828102"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19" name="Text 16"/>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kind of system is an electronic computer?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a digital system: all the information it handles is expressed as strings of bits.</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Once started it proceeds by itself, instruction after instruction, with no human intervention.</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Stored-program</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is recorded in memory and can be replaced: the same machine does different jobs.</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Electronic</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built from electronic circuits that store bits and process them.</a:t>
            </a:r>
            <a:endParaRPr lang="en-US" sz="2000" dirty="0"/>
          </a:p>
        </p:txBody>
      </p:sp>
      <p:sp>
        <p:nvSpPr>
          <p:cNvPr id="19" name="Shape 17"/>
          <p:cNvSpPr/>
          <p:nvPr/>
        </p:nvSpPr>
        <p:spPr>
          <a:xfrm>
            <a:off x="7828102" y="91440"/>
            <a:ext cx="3814953" cy="274320"/>
          </a:xfrm>
          <a:prstGeom prst="rect">
            <a:avLst/>
          </a:prstGeom>
          <a:solidFill>
            <a:srgbClr val="E0F2FE"/>
          </a:solidFill>
          <a:ln w="12700">
            <a:solidFill>
              <a:srgbClr val="0369A1"/>
            </a:solidFill>
            <a:prstDash val="solid"/>
          </a:ln>
        </p:spPr>
      </p:sp>
      <p:sp>
        <p:nvSpPr>
          <p:cNvPr id="20" name="Shape 18"/>
          <p:cNvSpPr/>
          <p:nvPr/>
        </p:nvSpPr>
        <p:spPr>
          <a:xfrm>
            <a:off x="7828102"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2" name="Text 19"/>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circuits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All the information handled by a numeric device is expressed by strings of bits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electronic circuits that store bits and process them are called switching circuits, or logic circuits</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logic circuit forms a switching network; designing it is called logic design</a:t>
            </a:r>
            <a:endParaRPr lang="en-US" sz="2400" dirty="0"/>
          </a:p>
        </p:txBody>
      </p:sp>
      <p:sp>
        <p:nvSpPr>
          <p:cNvPr id="9" name="Shape 7"/>
          <p:cNvSpPr/>
          <p:nvPr/>
        </p:nvSpPr>
        <p:spPr>
          <a:xfrm>
            <a:off x="548640" y="480669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4776"/>
            <a:ext cx="6565392" cy="1487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To describe the behaviour of logic circuits we use an algebra: a mathematical notation that simplifies the analysis and the synthesis of logic networks</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and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two voltage levels on a wire, two states of a switch, two values of a Boolean variable</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analysis and synthesis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problems, one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Analysis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STRUCTURE of a circuit (how it is made)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its BEHAVIOUR (what it does)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 schematic and deriving its truth table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andi t3, t0, 1 and saying what ends up in t3</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Synthesis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BEHAVIOUR (what it must 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a STRUCTURE that realises it (how to build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the truth table of a sum to an adder circuit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'move if LEFT or RIGHT is pressed' to a mask and a branch</a:t>
            </a:r>
            <a:endParaRPr lang="en-US" sz="2100" dirty="0"/>
          </a:p>
        </p:txBody>
      </p:sp>
      <p:sp>
        <p:nvSpPr>
          <p:cNvPr id="9" name="Shape 7"/>
          <p:cNvSpPr/>
          <p:nvPr/>
        </p:nvSpPr>
        <p:spPr>
          <a:xfrm>
            <a:off x="6758000" y="91440"/>
            <a:ext cx="4885055" cy="274320"/>
          </a:xfrm>
          <a:prstGeom prst="rect">
            <a:avLst/>
          </a:prstGeom>
          <a:solidFill>
            <a:srgbClr val="F3E8FF"/>
          </a:solidFill>
          <a:ln w="12700">
            <a:solidFill>
              <a:srgbClr val="7E22CE"/>
            </a:solidFill>
            <a:prstDash val="dash"/>
          </a:ln>
        </p:spPr>
      </p:sp>
      <p:sp>
        <p:nvSpPr>
          <p:cNvPr id="10" name="Shape 8"/>
          <p:cNvSpPr/>
          <p:nvPr/>
        </p:nvSpPr>
        <p:spPr>
          <a:xfrm>
            <a:off x="6785432" y="128016"/>
            <a:ext cx="45720" cy="45720"/>
          </a:xfrm>
          <a:prstGeom prst="rect">
            <a:avLst/>
          </a:prstGeom>
          <a:solidFill>
            <a:srgbClr val="7E22CE"/>
          </a:solidFill>
          <a:ln w="12700">
            <a:solidFill>
              <a:srgbClr val="7E22CE"/>
            </a:solidFill>
            <a:prstDash val="solid"/>
          </a:ln>
        </p:spPr>
      </p:sp>
      <p:sp>
        <p:nvSpPr>
          <p:cNvPr id="11" name="Shape 9"/>
          <p:cNvSpPr/>
          <p:nvPr/>
        </p:nvSpPr>
        <p:spPr>
          <a:xfrm>
            <a:off x="6785432" y="205740"/>
            <a:ext cx="45720" cy="45720"/>
          </a:xfrm>
          <a:prstGeom prst="rect">
            <a:avLst/>
          </a:prstGeom>
          <a:solidFill>
            <a:srgbClr val="7E22CE"/>
          </a:solidFill>
          <a:ln w="12700">
            <a:solidFill>
              <a:srgbClr val="7E22CE"/>
            </a:solidFill>
            <a:prstDash val="solid"/>
          </a:ln>
        </p:spPr>
      </p:sp>
      <p:sp>
        <p:nvSpPr>
          <p:cNvPr id="12" name="Shape 10"/>
          <p:cNvSpPr/>
          <p:nvPr/>
        </p:nvSpPr>
        <p:spPr>
          <a:xfrm>
            <a:off x="6785432"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886016" y="128016"/>
            <a:ext cx="201168" cy="201168"/>
          </a:xfrm>
          <a:prstGeom prst="rect">
            <a:avLst/>
          </a:prstGeom>
        </p:spPr>
      </p:pic>
      <p:sp>
        <p:nvSpPr>
          <p:cNvPr id="14" name="Text 11"/>
          <p:cNvSpPr txBox="1"/>
          <p:nvPr/>
        </p:nvSpPr>
        <p:spPr>
          <a:xfrm>
            <a:off x="7142048" y="91440"/>
            <a:ext cx="446443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minimisation, Karnaugh maps</a:t>
            </a:r>
            <a:pPr indent="0" marL="0">
              <a:buNone/>
            </a:pPr>
            <a:r>
              <a:rPr lang="en-US" sz="1100" b="1" dirty="0">
                <a:solidFill>
                  <a:srgbClr val="6B21A8"/>
                </a:solidFill>
                <a:latin typeface="Calibri" pitchFamily="34" charset="0"/>
                <a:ea typeface="Calibri" pitchFamily="34" charset="-122"/>
                <a:cs typeface="Calibri" pitchFamily="34" charset="-120"/>
              </a:rPr>
              <a:t> → Lecture 09</a:t>
            </a:r>
            <a:endParaRPr lang="en-US" sz="1100" dirty="0"/>
          </a:p>
        </p:txBody>
      </p:sp>
      <p:sp>
        <p:nvSpPr>
          <p:cNvPr id="15" name="Shape 12"/>
          <p:cNvSpPr/>
          <p:nvPr/>
        </p:nvSpPr>
        <p:spPr>
          <a:xfrm>
            <a:off x="3227273" y="91440"/>
            <a:ext cx="3420999" cy="274320"/>
          </a:xfrm>
          <a:prstGeom prst="rect">
            <a:avLst/>
          </a:prstGeom>
          <a:solidFill>
            <a:srgbClr val="E0F2FE"/>
          </a:solidFill>
          <a:ln w="12700">
            <a:solidFill>
              <a:srgbClr val="0369A1"/>
            </a:solidFill>
            <a:prstDash val="solid"/>
          </a:ln>
        </p:spPr>
      </p:sp>
      <p:sp>
        <p:nvSpPr>
          <p:cNvPr id="16" name="Shape 13"/>
          <p:cNvSpPr/>
          <p:nvPr/>
        </p:nvSpPr>
        <p:spPr>
          <a:xfrm>
            <a:off x="322727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3355289" y="128016"/>
            <a:ext cx="201168" cy="201168"/>
          </a:xfrm>
          <a:prstGeom prst="rect">
            <a:avLst/>
          </a:prstGeom>
        </p:spPr>
      </p:pic>
      <p:sp>
        <p:nvSpPr>
          <p:cNvPr id="18" name="Text 14"/>
          <p:cNvSpPr txBox="1"/>
          <p:nvPr/>
        </p:nvSpPr>
        <p:spPr>
          <a:xfrm>
            <a:off x="3611321"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analysis and synthesis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algebra</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algebra used to analyse and to synthesise logic circuits: variables that can take only two values, 0 and 1, and three basic operations.</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Variables are binary and are usually written with letters: A, B, ... or x, y, ...</a:t>
            </a:r>
            <a:endParaRPr lang="en-US" sz="2400" dirty="0"/>
          </a:p>
        </p:txBody>
      </p:sp>
      <p:sp>
        <p:nvSpPr>
          <p:cNvPr id="8" name="Shape 6"/>
          <p:cNvSpPr/>
          <p:nvPr/>
        </p:nvSpPr>
        <p:spPr>
          <a:xfrm>
            <a:off x="548640" y="4525603"/>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40368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AND, the logical product: written x AND y, or x . y, or simply xy</a:t>
            </a:r>
            <a:endParaRPr lang="en-US" sz="2400" dirty="0"/>
          </a:p>
        </p:txBody>
      </p:sp>
      <p:sp>
        <p:nvSpPr>
          <p:cNvPr id="10" name="Shape 8"/>
          <p:cNvSpPr/>
          <p:nvPr/>
        </p:nvSpPr>
        <p:spPr>
          <a:xfrm>
            <a:off x="548640" y="522393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0201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OR, the logical sum: written x OR y, or x + y</a:t>
            </a:r>
            <a:endParaRPr lang="en-US" sz="2400" dirty="0"/>
          </a:p>
        </p:txBody>
      </p:sp>
      <p:sp>
        <p:nvSpPr>
          <p:cNvPr id="12" name="Shape 10"/>
          <p:cNvSpPr/>
          <p:nvPr/>
        </p:nvSpPr>
        <p:spPr>
          <a:xfrm>
            <a:off x="548640" y="5922264"/>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 the complement: written NOT x, or x', or x with a bar above it</a:t>
            </a:r>
            <a:endParaRPr lang="en-US" sz="2400" dirty="0"/>
          </a:p>
        </p:txBody>
      </p:sp>
      <p:sp>
        <p:nvSpPr>
          <p:cNvPr id="14" name="Shape 12"/>
          <p:cNvSpPr/>
          <p:nvPr/>
        </p:nvSpPr>
        <p:spPr>
          <a:xfrm>
            <a:off x="8681669" y="91440"/>
            <a:ext cx="2961386" cy="274320"/>
          </a:xfrm>
          <a:prstGeom prst="rect">
            <a:avLst/>
          </a:prstGeom>
          <a:solidFill>
            <a:srgbClr val="E0F2FE"/>
          </a:solidFill>
          <a:ln w="12700">
            <a:solidFill>
              <a:srgbClr val="0369A1"/>
            </a:solidFill>
            <a:prstDash val="solid"/>
          </a:ln>
        </p:spPr>
      </p:sp>
      <p:sp>
        <p:nvSpPr>
          <p:cNvPr id="15" name="Shape 13"/>
          <p:cNvSpPr/>
          <p:nvPr/>
        </p:nvSpPr>
        <p:spPr>
          <a:xfrm>
            <a:off x="868166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7" name="Text 1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fundamental operations</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(conjunction)</a:t>
            </a:r>
            <a:endParaRPr lang="en-US" sz="1800" dirty="0"/>
          </a:p>
        </p:txBody>
      </p:sp>
      <p:sp>
        <p:nvSpPr>
          <p:cNvPr id="5" name="Shape 3"/>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4"/>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5"/>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logic gates</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(disjunction)</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(negation)</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more gates you will meet everywhere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(exclusive or)</a:t>
            </a:r>
            <a:endParaRPr lang="en-US" sz="1800" dirty="0"/>
          </a:p>
        </p:txBody>
      </p:sp>
      <p:sp>
        <p:nvSpPr>
          <p:cNvPr id="5" name="Shape 3"/>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4"/>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5"/>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logic gates</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Property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AND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Absorption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By associativity AND and OR extend to any number of operands: x . y . z, x + y + z.</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Property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AND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OR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Identity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Null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Careful: OR distributes over AND too. This is false for ordinary sum and product.</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Morgan's laws</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151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complement of a product is the sum of the complements, and vice versa</a:t>
            </a:r>
            <a:endParaRPr lang="en-US" sz="1900" dirty="0"/>
          </a:p>
        </p:txBody>
      </p:sp>
      <p:sp>
        <p:nvSpPr>
          <p:cNvPr id="9" name="Shape 7"/>
          <p:cNvSpPr/>
          <p:nvPr/>
        </p:nvSpPr>
        <p:spPr>
          <a:xfrm>
            <a:off x="548640" y="48408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7674"/>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Proof by perfect induction: check every row of the truth table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NAND is an OR of the negated inputs; a NOR is an AND of the negated inputs</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The two highlighted columns are identical: the first law holds. The second is proved the same way.</a:t>
            </a:r>
            <a:endParaRPr lang="en-US" sz="1500" dirty="0"/>
          </a:p>
        </p:txBody>
      </p:sp>
      <p:sp>
        <p:nvSpPr>
          <p:cNvPr id="15" name="Shape 12"/>
          <p:cNvSpPr/>
          <p:nvPr/>
        </p:nvSpPr>
        <p:spPr>
          <a:xfrm>
            <a:off x="8681669" y="91440"/>
            <a:ext cx="2961386" cy="274320"/>
          </a:xfrm>
          <a:prstGeom prst="rect">
            <a:avLst/>
          </a:prstGeom>
          <a:solidFill>
            <a:srgbClr val="E0F2FE"/>
          </a:solidFill>
          <a:ln w="12700">
            <a:solidFill>
              <a:srgbClr val="0369A1"/>
            </a:solidFill>
            <a:prstDash val="solid"/>
          </a:ln>
        </p:spPr>
      </p:sp>
      <p:sp>
        <p:nvSpPr>
          <p:cNvPr id="16" name="Shape 13"/>
          <p:cNvSpPr/>
          <p:nvPr/>
        </p:nvSpPr>
        <p:spPr>
          <a:xfrm>
            <a:off x="868166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8" name="Text 1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Duality and precedence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Duality principle: every identity stays true if you swap AND with OR and 0 with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becomes x + 0 = x; De Morgan's two laws are each other's dual</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Precedence: NOT first, then AND, then OR, as with powers, products and sums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means x + (y . (z'))</a:t>
            </a:r>
            <a:endParaRPr lang="en-US" sz="2400" dirty="0"/>
          </a:p>
        </p:txBody>
      </p:sp>
      <p:sp>
        <p:nvSpPr>
          <p:cNvPr id="7" name="Shape 5"/>
          <p:cNvSpPr/>
          <p:nvPr/>
        </p:nvSpPr>
        <p:spPr>
          <a:xfrm>
            <a:off x="548640" y="48478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59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Parentheses change the order, exactly as in ordinary algebra</a:t>
            </a:r>
            <a:endParaRPr lang="en-US" sz="2400" dirty="0"/>
          </a:p>
        </p:txBody>
      </p:sp>
      <p:sp>
        <p:nvSpPr>
          <p:cNvPr id="9" name="Shape 7"/>
          <p:cNvSpPr/>
          <p:nvPr/>
        </p:nvSpPr>
        <p:spPr>
          <a:xfrm>
            <a:off x="548640" y="567690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49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Two expressions are equivalent if they have the same truth table</a:t>
            </a:r>
            <a:endParaRPr lang="en-US" sz="2400" dirty="0"/>
          </a:p>
        </p:txBody>
      </p:sp>
      <p:sp>
        <p:nvSpPr>
          <p:cNvPr id="11"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2"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4"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Simplifying with the 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Expression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Law applied</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the expression to simplify: three gates and an inverter</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distributive law, read from right to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complement law: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identity element: only a wire is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In the same way: x + x' . y = (x + x') . (x + y) = 1 . (x + y) = x + y</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For which inputs is x NAND y equal to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never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By De Morgan, (a . b')' is equal 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What is in t1 after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instruction turns bit 5 of t0 to 1 and leaves every other bit unchanged?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von Neumann architecture represents a real machine in simplified form: processor, memory, input/output</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Boolean algebra represents logic functions that can be implemented with electronic circuits</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operations, a handful of properties and De Morgan's laws are enough to transform any expression</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bitwise instruction is the algebra applied to thirty-two bits at once; a mask is the identity law at work</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 (The Basics of Logic Design)</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chapter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Boolean algebra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08</dc:subject>
  <dc:creator>Raffaele Montella</dc:creator>
  <cp:lastModifiedBy>Raffaele Montella</cp:lastModifiedBy>
  <cp:revision>1</cp:revision>
  <dcterms:created xsi:type="dcterms:W3CDTF">2026-10-16T15:51:37Z</dcterms:created>
  <dcterms:modified xsi:type="dcterms:W3CDTF">2026-10-16T15:51:37Z</dcterms:modified>
</cp:coreProperties>
</file>