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067d8c-f377-9114-e2f0-37a26a56628c}">
          <p14:sldIdLst>
            <p14:sldId id="256"/>
            <p14:sldId id="257"/>
          </p14:sldIdLst>
        </p14:section>
        <p14:section name="Data structures" id="{cb225f0f-0ee4-8e57-4db6-1c704dafbea1}">
          <p14:sldIdLst>
            <p14:sldId id="258"/>
          </p14:sldIdLst>
        </p14:section>
        <p14:section name="Data and algorithms" id="{dc02fa9f-d4d5-57c5-d344-3ec68f46d603}">
          <p14:sldIdLst>
            <p14:sldId id="259"/>
          </p14:sldIdLst>
        </p14:section>
        <p14:section name="The complete program" id="{cecc6442-ed05-2058-2815-9512c17fcf34}">
          <p14:sldIdLst>
            <p14:sldId id="260"/>
            <p14:sldId id="261"/>
            <p14:sldId id="262"/>
          </p14:sldIdLst>
        </p14:section>
        <p14:section name="Run it and test it" id="{bd2fa6b4-33ff-8a68-63f7-c5bd5dbd5ac2}">
          <p14:sldIdLst>
            <p14:sldId id="263"/>
            <p14:sldId id="264"/>
            <p14:sldId id="265"/>
            <p14:sldId id="266"/>
            <p14:sldId id="267"/>
          </p14:sldIdLst>
        </p14:section>
        <p14:section name="Exercises" id="{9edb25d9-e6fd-0ff7-6952-60eb9e058b7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04.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~/arc12/code/l04.S; tools/tests/cartridges/run.py builds it, runs it on PRG32-QT with scripted input and checks the pixels of the frame.
For the lecturer: Get the code once: git clone https://github.com/riscv-prg32/computer-architecture-with-prg32 ~/arc12. The program of this lecture is ~/arc12/code/l04.S;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of four words, and the four instructions that read element 2. la loads the base address, that of the first element. The index is multiplied by 4, the size of a word in bytes, by a left shift of two positions, since shifting a binary number one position to the left doubles it; this property is proved in Lecture 05 and is used here. add forms the address of the element, base plus scaled index, and lw reads its value, 34. The high-level expression scores[i] compiles to exactly this sequence. What is absent is equally instructive: nothing checks that the index is less than 4, so an out-of-range index silently reads whatever follows the array in memory.
UNDERSTAND NOW: arrays in memory. USE NOW: shifts as multiplications (studied in Lecture 05).
For the lecturer: The shift-as-multiplication property is proved in Lecture 05 (properties of binary strings). Ask: what does lw read if i = 4? Whatever follows the array in memory: the machine does not check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algorithms that use randomness deliberately. The first tests whether a number is prime by trying random bases: if any test fails, the number is certainly composite; if thirty tests pass, it is prime with overwhelming probability. Accepting a negligible probability of error in exchange for a large gain in speed is standard practice in cryptography, where real libraries use the Miller-Rabin variant of the test. The second is a random walk: the path differs at every run, and a simulation estimates its properties by averaging many runs. The listing is pseudo-code, intended to convey the algorithm rather than to be compiled.
UNDERSTAND NOW: algorithms.
For the lecturer: The Fermat test shown here is the simplest; real libraries use Miller-Rabin, which closes its loopholes. Both examples are from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exercises on the cartridge of Lecture 02. An RGB565 value is computed by hand before it is tried: the three intensities are chosen, the fields written in binary, and the bits grouped by four to obtain the hexadecimal constant. The student's name is printed and its bytes counted, terminator included. An array of colours is declared with .word and read with lw, following the pattern of the array slide. Finally the string and the array are located in the memory view of PRG32-QT, where the terminating zero should be found and each word should be seen to present its least significant byte first, confirming the little-endian order.
For the lecturer: Dark grey example: red 8 of 31, green 16 of 63, blue 8 of 31 = 01000 010000 01000 = 0x4208, the GREY of the textbook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code/l04.S, 56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array in memory, an element in a register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350" dirty="0">
                <a:solidFill>
                  <a:srgbClr val="8FB3A0"/>
                </a:solidFill>
                <a:latin typeface="Courier New" pitchFamily="34" charset="0"/>
                <a:ea typeface="Courier New" pitchFamily="34" charset="-122"/>
                <a:cs typeface="Courier New" pitchFamily="34" charset="-120"/>
              </a:rPr>
              <a:t># four 32-bit words, 16 bytes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scores      </a:t>
            </a:r>
            <a:pPr indent="0" marL="0">
              <a:buNone/>
            </a:pPr>
            <a:r>
              <a:rPr lang="en-US" sz="1350" dirty="0">
                <a:solidFill>
                  <a:srgbClr val="8FB3A0"/>
                </a:solidFill>
                <a:latin typeface="Courier New" pitchFamily="34" charset="0"/>
                <a:ea typeface="Courier New" pitchFamily="34" charset="-122"/>
                <a:cs typeface="Courier New" pitchFamily="34" charset="-120"/>
              </a:rPr>
              <a:t># t0 = ADDRESS of element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           </a:t>
            </a:r>
            <a:pPr indent="0" marL="0">
              <a:buNone/>
            </a:pPr>
            <a:r>
              <a:rPr lang="en-US" sz="1350" dirty="0">
                <a:solidFill>
                  <a:srgbClr val="8FB3A0"/>
                </a:solidFill>
                <a:latin typeface="Courier New" pitchFamily="34" charset="0"/>
                <a:ea typeface="Courier New" pitchFamily="34" charset="-122"/>
                <a:cs typeface="Courier New" pitchFamily="34" charset="-120"/>
              </a:rPr>
              <a:t># index i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t1, t1, 2       </a:t>
            </a:r>
            <a:pPr indent="0" marL="0">
              <a:buNone/>
            </a:pPr>
            <a:r>
              <a:rPr lang="en-US" sz="1350" dirty="0">
                <a:solidFill>
                  <a:srgbClr val="8FB3A0"/>
                </a:solidFill>
                <a:latin typeface="Courier New" pitchFamily="34" charset="0"/>
                <a:ea typeface="Courier New" pitchFamily="34" charset="-122"/>
                <a:cs typeface="Courier New" pitchFamily="34" charset="-120"/>
              </a:rPr>
              <a:t># offset = i * 4 bytes (shift left by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element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a0, 0(t0)       </a:t>
            </a:r>
            <a:pPr indent="0" marL="0">
              <a:buNone/>
            </a:pPr>
            <a:r>
              <a:rPr lang="en-US" sz="1350" dirty="0">
                <a:solidFill>
                  <a:srgbClr val="8FB3A0"/>
                </a:solidFill>
                <a:latin typeface="Courier New" pitchFamily="34" charset="0"/>
                <a:ea typeface="Courier New" pitchFamily="34" charset="-122"/>
                <a:cs typeface="Courier New" pitchFamily="34" charset="-120"/>
              </a:rPr>
              <a:t># a0 = VALUE of scores[2] = 34</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An array is a base address plus equal-sized elements</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Element i of a word array is at base + 4 x i, because a word is four bytes</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slli by 2 multiplies by four: a shift is a multiplication by a power of two</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high-level expression scores[i] is exactly these four instructions</a:t>
            </a:r>
            <a:endParaRPr lang="en-US" sz="1300" dirty="0"/>
          </a:p>
        </p:txBody>
      </p:sp>
      <p:sp>
        <p:nvSpPr>
          <p:cNvPr id="17" name="Shape 15"/>
          <p:cNvSpPr/>
          <p:nvPr/>
        </p:nvSpPr>
        <p:spPr>
          <a:xfrm>
            <a:off x="7668844" y="91440"/>
            <a:ext cx="3974211" cy="274320"/>
          </a:xfrm>
          <a:prstGeom prst="rect">
            <a:avLst/>
          </a:prstGeom>
          <a:solidFill>
            <a:srgbClr val="FEF3C7"/>
          </a:solidFill>
          <a:ln w="12700">
            <a:solidFill>
              <a:srgbClr val="B45309"/>
            </a:solidFill>
            <a:prstDash val="solid"/>
          </a:ln>
        </p:spPr>
      </p:sp>
      <p:sp>
        <p:nvSpPr>
          <p:cNvPr id="18" name="Shape 16"/>
          <p:cNvSpPr/>
          <p:nvPr/>
        </p:nvSpPr>
        <p:spPr>
          <a:xfrm>
            <a:off x="7668844" y="91440"/>
            <a:ext cx="27432" cy="274320"/>
          </a:xfrm>
          <a:prstGeom prst="rect">
            <a:avLst/>
          </a:prstGeom>
          <a:solidFill>
            <a:srgbClr val="B45309"/>
          </a:solidFill>
          <a:ln w="12700">
            <a:solidFill>
              <a:srgbClr val="B45309"/>
            </a:solidFill>
            <a:prstDash val="solid"/>
          </a:ln>
        </p:spPr>
      </p:sp>
      <p:sp>
        <p:nvSpPr>
          <p:cNvPr id="19" name="Shape 17"/>
          <p:cNvSpPr/>
          <p:nvPr/>
        </p:nvSpPr>
        <p:spPr>
          <a:xfrm>
            <a:off x="7723708"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796860" y="128016"/>
            <a:ext cx="201168" cy="201168"/>
          </a:xfrm>
          <a:prstGeom prst="rect">
            <a:avLst/>
          </a:prstGeom>
        </p:spPr>
      </p:pic>
      <p:sp>
        <p:nvSpPr>
          <p:cNvPr id="21" name="Text 18"/>
          <p:cNvSpPr txBox="1"/>
          <p:nvPr/>
        </p:nvSpPr>
        <p:spPr>
          <a:xfrm>
            <a:off x="8052892" y="91440"/>
            <a:ext cx="3553587"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shifts as multiplications</a:t>
            </a:r>
            <a:pPr indent="0" marL="0">
              <a:buNone/>
            </a:pPr>
            <a:r>
              <a:rPr lang="en-US" sz="1100" b="1" dirty="0">
                <a:solidFill>
                  <a:srgbClr val="92400E"/>
                </a:solidFill>
                <a:latin typeface="Calibri" pitchFamily="34" charset="0"/>
                <a:ea typeface="Calibri" pitchFamily="34" charset="-122"/>
                <a:cs typeface="Calibri" pitchFamily="34" charset="-120"/>
              </a:rPr>
              <a:t> → Lecture 05</a:t>
            </a:r>
            <a:endParaRPr lang="en-US" sz="1100" dirty="0"/>
          </a:p>
        </p:txBody>
      </p:sp>
      <p:sp>
        <p:nvSpPr>
          <p:cNvPr id="22" name="Shape 19"/>
          <p:cNvSpPr/>
          <p:nvPr/>
        </p:nvSpPr>
        <p:spPr>
          <a:xfrm>
            <a:off x="4532071" y="91440"/>
            <a:ext cx="3027045" cy="274320"/>
          </a:xfrm>
          <a:prstGeom prst="rect">
            <a:avLst/>
          </a:prstGeom>
          <a:solidFill>
            <a:srgbClr val="E0F2FE"/>
          </a:solidFill>
          <a:ln w="12700">
            <a:solidFill>
              <a:srgbClr val="0369A1"/>
            </a:solidFill>
            <a:prstDash val="solid"/>
          </a:ln>
        </p:spPr>
      </p:sp>
      <p:sp>
        <p:nvSpPr>
          <p:cNvPr id="23" name="Shape 20"/>
          <p:cNvSpPr/>
          <p:nvPr/>
        </p:nvSpPr>
        <p:spPr>
          <a:xfrm>
            <a:off x="4532071"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4660087" y="128016"/>
            <a:ext cx="201168" cy="201168"/>
          </a:xfrm>
          <a:prstGeom prst="rect">
            <a:avLst/>
          </a:prstGeom>
        </p:spPr>
      </p:pic>
      <p:sp>
        <p:nvSpPr>
          <p:cNvPr id="25" name="Text 21"/>
          <p:cNvSpPr txBox="1"/>
          <p:nvPr/>
        </p:nvSpPr>
        <p:spPr>
          <a:xfrm>
            <a:off x="4916119"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probabilistic algorithm: is n prime?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is_probably_prime(n):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repeat 30 times: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 = random(2, n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if a^(n-1) mod n !=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COMPOSITE          #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PROBABLY PRIME             # almost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random_walk():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while t &lt; t_final: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 = random(-1,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x = x + r * u                 # a different path every run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y = y + r * v</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 = t + 1</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first answer is always right; the second is right with overwhelming probability</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Trading a tiny chance of error for a huge gain in speed is how real cryptography tests primes</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random walk gives a different result at every run: simulations average many of them</a:t>
            </a:r>
            <a:endParaRPr lang="en-US" sz="16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04: Representing Digital Information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l04.S: an array in memory, an element in a register</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horizontal bars, one per element of the array (32, 11, 34, 22,</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four pixels per unit); element 2, the one the listing loads, is yellow.</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l04.S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l04 --name l04 --out l04.prg32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l04_draw: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index i,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scores          </a:t>
            </a:r>
            <a:pPr indent="0" marL="0">
              <a:buNone/>
            </a:pPr>
            <a:r>
              <a:rPr lang="en-US" sz="1200" dirty="0">
                <a:solidFill>
                  <a:srgbClr val="8FB3A0"/>
                </a:solidFill>
                <a:latin typeface="Courier New" pitchFamily="34" charset="0"/>
                <a:ea typeface="Courier New" pitchFamily="34" charset="-122"/>
                <a:cs typeface="Courier New" pitchFamily="34" charset="-120"/>
              </a:rPr>
              <a:t># t0 = ADDRESS of element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t1, s0              </a:t>
            </a:r>
            <a:pPr indent="0" marL="0">
              <a:buNone/>
            </a:pPr>
            <a:r>
              <a:rPr lang="en-US" sz="1200" dirty="0">
                <a:solidFill>
                  <a:srgbClr val="8FB3A0"/>
                </a:solidFill>
                <a:latin typeface="Courier New" pitchFamily="34" charset="0"/>
                <a:ea typeface="Courier New" pitchFamily="34" charset="-122"/>
                <a:cs typeface="Courier New" pitchFamily="34" charset="-120"/>
              </a:rPr>
              <a:t># index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t1, 2           </a:t>
            </a:r>
            <a:pPr indent="0" marL="0">
              <a:buNone/>
            </a:pPr>
            <a:r>
              <a:rPr lang="en-US" sz="1200" dirty="0">
                <a:solidFill>
                  <a:srgbClr val="8FB3A0"/>
                </a:solidFill>
                <a:latin typeface="Courier New" pitchFamily="34" charset="0"/>
                <a:ea typeface="Courier New" pitchFamily="34" charset="-122"/>
                <a:cs typeface="Courier New" pitchFamily="34" charset="-120"/>
              </a:rPr>
              <a:t># offset = i * 4 bytes (shift left by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element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           </a:t>
            </a:r>
            <a:pPr indent="0" marL="0">
              <a:buNone/>
            </a:pPr>
            <a:r>
              <a:rPr lang="en-US" sz="1200" dirty="0">
                <a:solidFill>
                  <a:srgbClr val="8FB3A0"/>
                </a:solidFill>
                <a:latin typeface="Courier New" pitchFamily="34" charset="0"/>
                <a:ea typeface="Courier New" pitchFamily="34" charset="-122"/>
                <a:cs typeface="Courier New" pitchFamily="34" charset="-120"/>
              </a:rPr>
              <a:t># VALUE of scores[i]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a2, a2, 2           </a:t>
            </a:r>
            <a:pPr indent="0" marL="0">
              <a:buNone/>
            </a:pPr>
            <a:r>
              <a:rPr lang="en-US" sz="1200" dirty="0">
                <a:solidFill>
                  <a:srgbClr val="8FB3A0"/>
                </a:solidFill>
                <a:latin typeface="Courier New" pitchFamily="34" charset="0"/>
                <a:ea typeface="Courier New" pitchFamily="34" charset="-122"/>
                <a:cs typeface="Courier New" pitchFamily="34" charset="-120"/>
              </a:rPr>
              <a:t># width: four pixels per unit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scores[2] = 34: the element of the slide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20              </a:t>
            </a:r>
            <a:pPr indent="0" marL="0">
              <a:buNone/>
            </a:pPr>
            <a:r>
              <a:rPr lang="en-US" sz="1200" dirty="0">
                <a:solidFill>
                  <a:srgbClr val="8FB3A0"/>
                </a:solidFill>
                <a:latin typeface="Courier New" pitchFamily="34" charset="0"/>
                <a:ea typeface="Courier New" pitchFamily="34" charset="-122"/>
                <a:cs typeface="Courier New" pitchFamily="34" charset="-120"/>
              </a:rPr>
              <a:t># 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800" dirty="0">
                <a:solidFill>
                  <a:srgbClr val="8FB3A0"/>
                </a:solidFill>
                <a:latin typeface="Courier New" pitchFamily="34" charset="0"/>
                <a:ea typeface="Courier New" pitchFamily="34" charset="-122"/>
                <a:cs typeface="Courier New" pitchFamily="34" charset="-120"/>
              </a:rPr>
              <a:t># four 32-bit words, 16 bytes</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one per element of the array (32, 11, 34, 22, four pixels per unit); element 2, the one the listing loads, is yellow.</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l04 --out l04.prg32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bar of Lecture 02 to magenta, then to a dark grey of your choice: compute the RGB565 value by hand first</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Print your name with prg32_gfx_text8. How many bytes does the string occupy?</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Declare an array of four colours with .word and draw four bars, one per colour, reading each colour with lw</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PRG32-QT open the memory view on your string and on your array: find the terminating zero and check the byte order</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Four bars in four colours; in the memory view the string ends with 00 and each .word shows its least significant byte first.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 the code</dc:title>
  <dc:subject>Lecture 04</dc:subject>
  <dc:creator>Raffaele Montella</dc:creator>
  <cp:lastModifiedBy>Raffaele Montella</cp:lastModifiedBy>
  <cp:revision>1</cp:revision>
  <dcterms:created xsi:type="dcterms:W3CDTF">2026-10-16T23:36:43Z</dcterms:created>
  <dcterms:modified xsi:type="dcterms:W3CDTF">2026-10-16T23:36:43Z</dcterms:modified>
</cp:coreProperties>
</file>