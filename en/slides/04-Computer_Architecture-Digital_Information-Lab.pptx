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453015-560c-b657-e398-3f1a47340671}">
          <p14:sldIdLst>
            <p14:sldId id="256"/>
            <p14:sldId id="257"/>
          </p14:sldIdLst>
        </p14:section>
        <p14:section name="Data structures" id="{7e2f217c-d5dd-23e0-fe19-e6577d56c3d1}">
          <p14:sldIdLst>
            <p14:sldId id="258"/>
          </p14:sldIdLst>
        </p14:section>
        <p14:section name="Data and algorithms" id="{54d2f7db-4eb3-62d3-8f18-04b4eb59e034}">
          <p14:sldIdLst>
            <p14:sldId id="259"/>
          </p14:sldIdLst>
        </p14:section>
        <p14:section name="The complete program" id="{67799fb3-ac86-6b3b-51a0-3afe5ed6f834}">
          <p14:sldIdLst>
            <p14:sldId id="260"/>
            <p14:sldId id="261"/>
            <p14:sldId id="262"/>
          </p14:sldIdLst>
        </p14:section>
        <p14:section name="Run it and test it" id="{361a0b23-5614-5ba5-77a2-18333c78396e}">
          <p14:sldIdLst>
            <p14:sldId id="263"/>
            <p14:sldId id="264"/>
            <p14:sldId id="265"/>
            <p14:sldId id="266"/>
            <p14:sldId id="267"/>
          </p14:sldIdLst>
        </p14:section>
        <p14:section name="Exercises" id="{d281edec-61ca-18ef-3ca3-19dd154d7b52}">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~/arc12/code/l04.S; tools/tests/cartridges/run.py builds it, runs it on PRG32-QT with scripted input and checks the pixels of the frame.
For the lecturer: Get the code once: git clone https://github.com/riscv-prg32/computer-architecture-with-prg32 ~/arc12. The program of this lecture is ~/arc12/code/l04.S;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base address, that of the first element. The index is multiplied by 4, the size of a word in bytes, by a left shift of two positions, since shifting a binary number one position to the left doubles it; this property is proved in Lecture 05 and is used here. add forms the address of the element, base plus scaled index, and lw reads its value, 34. The high-level expression scores[i] compiles to exactly this sequence. What is absent is equally instructive: nothing checks that the index is less than 4, so an out-of-range index silently reads whatever follows the array in memory.
UNDERSTAND NOW: arrays in memory. USE NOW: shifts as multiplications (studied in Lecture 05).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randomness deliberately. The first tests whether a number is prime by trying random bases: if any test fails, the number is certainly composite; if thirty tests pass, it is prime with overwhelming probability. Accepting a negligible probability of error in exchange for a large gain in speed is standard practice in cryptography, where real libraries use the Miller-Rabin variant of the test. The second is a random walk: the path differs at every run, and a simulation estimates its properties by averaging many runs. The listing is pseudo-code, intended to convey the algorithm rather than to be compiled.
UNDERSTAND NOW: algorithms.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An RGB565 value is computed by hand before it is tried: the three intensities are chosen, the fields written in binary, and the bits grouped by four to obtain the hexadecimal constant. The student's name is printed and its bytes counted, terminator included. An array of colours is declared with .word and read with lw, following the pattern of the array slide. Finally the string and the array are located in the memory view of PRG32-QT, where the terminating zero should be found and each word should be seen to present its least significant byte first, confirming the little-endian order.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code/l04.S, 56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17" name="Shape 15"/>
          <p:cNvSpPr/>
          <p:nvPr/>
        </p:nvSpPr>
        <p:spPr>
          <a:xfrm>
            <a:off x="7668844" y="91440"/>
            <a:ext cx="3974211" cy="274320"/>
          </a:xfrm>
          <a:prstGeom prst="rect">
            <a:avLst/>
          </a:prstGeom>
          <a:solidFill>
            <a:srgbClr val="FEF3C7"/>
          </a:solidFill>
          <a:ln w="12700">
            <a:solidFill>
              <a:srgbClr val="B45309"/>
            </a:solidFill>
            <a:prstDash val="solid"/>
          </a:ln>
        </p:spPr>
      </p:sp>
      <p:sp>
        <p:nvSpPr>
          <p:cNvPr id="18" name="Shape 16"/>
          <p:cNvSpPr/>
          <p:nvPr/>
        </p:nvSpPr>
        <p:spPr>
          <a:xfrm>
            <a:off x="7668844" y="91440"/>
            <a:ext cx="27432" cy="274320"/>
          </a:xfrm>
          <a:prstGeom prst="rect">
            <a:avLst/>
          </a:prstGeom>
          <a:solidFill>
            <a:srgbClr val="B45309"/>
          </a:solidFill>
          <a:ln w="12700">
            <a:solidFill>
              <a:srgbClr val="B45309"/>
            </a:solidFill>
            <a:prstDash val="solid"/>
          </a:ln>
        </p:spPr>
      </p:sp>
      <p:sp>
        <p:nvSpPr>
          <p:cNvPr id="19" name="Shape 17"/>
          <p:cNvSpPr/>
          <p:nvPr/>
        </p:nvSpPr>
        <p:spPr>
          <a:xfrm>
            <a:off x="7723708"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796860" y="128016"/>
            <a:ext cx="201168" cy="201168"/>
          </a:xfrm>
          <a:prstGeom prst="rect">
            <a:avLst/>
          </a:prstGeom>
        </p:spPr>
      </p:pic>
      <p:sp>
        <p:nvSpPr>
          <p:cNvPr id="21" name="Text 18"/>
          <p:cNvSpPr txBox="1"/>
          <p:nvPr/>
        </p:nvSpPr>
        <p:spPr>
          <a:xfrm>
            <a:off x="8052892" y="91440"/>
            <a:ext cx="3553587"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shifts as multiplications</a:t>
            </a:r>
            <a:pPr indent="0" marL="0">
              <a:buNone/>
            </a:pPr>
            <a:r>
              <a:rPr lang="en-US" sz="1100" b="1" dirty="0">
                <a:solidFill>
                  <a:srgbClr val="92400E"/>
                </a:solidFill>
                <a:latin typeface="Calibri" pitchFamily="34" charset="0"/>
                <a:ea typeface="Calibri" pitchFamily="34" charset="-122"/>
                <a:cs typeface="Calibri" pitchFamily="34" charset="-120"/>
              </a:rPr>
              <a:t> → Lecture 05</a:t>
            </a:r>
            <a:endParaRPr lang="en-US" sz="1100" dirty="0"/>
          </a:p>
        </p:txBody>
      </p:sp>
      <p:sp>
        <p:nvSpPr>
          <p:cNvPr id="22" name="Shape 19"/>
          <p:cNvSpPr/>
          <p:nvPr/>
        </p:nvSpPr>
        <p:spPr>
          <a:xfrm>
            <a:off x="4532071" y="91440"/>
            <a:ext cx="3027045" cy="274320"/>
          </a:xfrm>
          <a:prstGeom prst="rect">
            <a:avLst/>
          </a:prstGeom>
          <a:solidFill>
            <a:srgbClr val="E0F2FE"/>
          </a:solidFill>
          <a:ln w="12700">
            <a:solidFill>
              <a:srgbClr val="0369A1"/>
            </a:solidFill>
            <a:prstDash val="solid"/>
          </a:ln>
        </p:spPr>
      </p:sp>
      <p:sp>
        <p:nvSpPr>
          <p:cNvPr id="23" name="Shape 20"/>
          <p:cNvSpPr/>
          <p:nvPr/>
        </p:nvSpPr>
        <p:spPr>
          <a:xfrm>
            <a:off x="4532071"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660087" y="128016"/>
            <a:ext cx="201168" cy="201168"/>
          </a:xfrm>
          <a:prstGeom prst="rect">
            <a:avLst/>
          </a:prstGeom>
        </p:spPr>
      </p:pic>
      <p:sp>
        <p:nvSpPr>
          <p:cNvPr id="25" name="Text 21"/>
          <p:cNvSpPr txBox="1"/>
          <p:nvPr/>
        </p:nvSpPr>
        <p:spPr>
          <a:xfrm>
            <a:off x="4916119"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04: Representing Digital Information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l04.S: an array in memory, an element in a register</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horizontal bars, one per element of the array (32, 11, 34, 22,</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four pixels per unit); element 2, the one the listing loads, is yellow.</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l04.S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l04 --name l04 --out l04.prg32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l04_draw: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index i,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scores          </a:t>
            </a:r>
            <a:pPr indent="0" marL="0">
              <a:buNone/>
            </a:pPr>
            <a:r>
              <a:rPr lang="en-US" sz="1200" dirty="0">
                <a:solidFill>
                  <a:srgbClr val="8FB3A0"/>
                </a:solidFill>
                <a:latin typeface="Courier New" pitchFamily="34" charset="0"/>
                <a:ea typeface="Courier New" pitchFamily="34" charset="-122"/>
                <a:cs typeface="Courier New" pitchFamily="34" charset="-120"/>
              </a:rPr>
              <a:t># t0 = ADDRESS of element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t1, s0              </a:t>
            </a:r>
            <a:pPr indent="0" marL="0">
              <a:buNone/>
            </a:pPr>
            <a:r>
              <a:rPr lang="en-US" sz="1200" dirty="0">
                <a:solidFill>
                  <a:srgbClr val="8FB3A0"/>
                </a:solidFill>
                <a:latin typeface="Courier New" pitchFamily="34" charset="0"/>
                <a:ea typeface="Courier New" pitchFamily="34" charset="-122"/>
                <a:cs typeface="Courier New" pitchFamily="34" charset="-120"/>
              </a:rPr>
              <a:t># index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t1, 2           </a:t>
            </a:r>
            <a:pPr indent="0" marL="0">
              <a:buNone/>
            </a:pPr>
            <a:r>
              <a:rPr lang="en-US" sz="1200" dirty="0">
                <a:solidFill>
                  <a:srgbClr val="8FB3A0"/>
                </a:solidFill>
                <a:latin typeface="Courier New" pitchFamily="34" charset="0"/>
                <a:ea typeface="Courier New" pitchFamily="34" charset="-122"/>
                <a:cs typeface="Courier New" pitchFamily="34" charset="-120"/>
              </a:rPr>
              <a:t># offset = i * 4 bytes (shift left by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element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           </a:t>
            </a:r>
            <a:pPr indent="0" marL="0">
              <a:buNone/>
            </a:pPr>
            <a:r>
              <a:rPr lang="en-US" sz="1200" dirty="0">
                <a:solidFill>
                  <a:srgbClr val="8FB3A0"/>
                </a:solidFill>
                <a:latin typeface="Courier New" pitchFamily="34" charset="0"/>
                <a:ea typeface="Courier New" pitchFamily="34" charset="-122"/>
                <a:cs typeface="Courier New" pitchFamily="34" charset="-120"/>
              </a:rPr>
              <a:t># VALUE of scores[i]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a2, a2, 2           </a:t>
            </a:r>
            <a:pPr indent="0" marL="0">
              <a:buNone/>
            </a:pPr>
            <a:r>
              <a:rPr lang="en-US" sz="1200" dirty="0">
                <a:solidFill>
                  <a:srgbClr val="8FB3A0"/>
                </a:solidFill>
                <a:latin typeface="Courier New" pitchFamily="34" charset="0"/>
                <a:ea typeface="Courier New" pitchFamily="34" charset="-122"/>
                <a:cs typeface="Courier New" pitchFamily="34" charset="-120"/>
              </a:rPr>
              <a:t># width: four pixels per unit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scores[2] = 34: the element of the slide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20              </a:t>
            </a:r>
            <a:pPr indent="0" marL="0">
              <a:buNone/>
            </a:pPr>
            <a:r>
              <a:rPr lang="en-US" sz="1200" dirty="0">
                <a:solidFill>
                  <a:srgbClr val="8FB3A0"/>
                </a:solidFill>
                <a:latin typeface="Courier New" pitchFamily="34" charset="0"/>
                <a:ea typeface="Courier New" pitchFamily="34" charset="-122"/>
                <a:cs typeface="Courier New" pitchFamily="34" charset="-120"/>
              </a:rPr>
              <a:t># 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800" dirty="0">
                <a:solidFill>
                  <a:srgbClr val="8FB3A0"/>
                </a:solidFill>
                <a:latin typeface="Courier New" pitchFamily="34" charset="0"/>
                <a:ea typeface="Courier New" pitchFamily="34" charset="-122"/>
                <a:cs typeface="Courier New" pitchFamily="34" charset="-120"/>
              </a:rPr>
              <a:t># four 32-bit words, 16 bytes</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one per element of the array (32, 11, 34, 22, four pixels per unit); element 2, the one the listing loads, is yellow.</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l04 --out l04.prg32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 the code</dc:title>
  <dc:subject>Lecture 04</dc:subject>
  <dc:creator>Raffaele Montella</dc:creator>
  <cp:lastModifiedBy>Raffaele Montella</cp:lastModifiedBy>
  <cp:revision>1</cp:revision>
  <dcterms:created xsi:type="dcterms:W3CDTF">2026-10-16T20:22:24Z</dcterms:created>
  <dcterms:modified xsi:type="dcterms:W3CDTF">2026-10-16T20:22:24Z</dcterms:modified>
</cp:coreProperties>
</file>