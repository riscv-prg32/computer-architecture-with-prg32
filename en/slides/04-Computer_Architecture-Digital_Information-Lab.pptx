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fb61aef-051d-cc21-d38c-8824485e38ab}">
          <p14:sldIdLst>
            <p14:sldId id="256"/>
            <p14:sldId id="257"/>
          </p14:sldIdLst>
        </p14:section>
        <p14:section name="Data structures" id="{72b63273-a456-16aa-f153-1d17826c9681}">
          <p14:sldIdLst>
            <p14:sldId id="258"/>
          </p14:sldIdLst>
        </p14:section>
        <p14:section name="Data and algorithms" id="{bb8113df-5258-8d46-a76c-475888074ad4}">
          <p14:sldIdLst>
            <p14:sldId id="259"/>
          </p14:sldIdLst>
        </p14:section>
        <p14:section name="The complete program" id="{610e86b1-a140-1fac-5877-660ba940d8b1}">
          <p14:sldIdLst>
            <p14:sldId id="260"/>
            <p14:sldId id="261"/>
            <p14:sldId id="262"/>
          </p14:sldIdLst>
        </p14:section>
        <p14:section name="Run it and test it" id="{fe61e769-d898-e1eb-802e-4723ca5e76ef}">
          <p14:sldIdLst>
            <p14:sldId id="263"/>
            <p14:sldId id="264"/>
            <p14:sldId id="265"/>
            <p14:sldId id="266"/>
            <p14:sldId id="267"/>
          </p14:sldIdLst>
        </p14:section>
        <p14:section name="Exercises" id="{badb1042-1aba-6715-ecc3-24f1f0d2cd6e}">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04.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analog and digital; bit, byte, word; hexadecimal; positional notation; a colour is a number; characters and strings; little-endian byte order; data structures; arrays in memory; algorithms. USE NOW: shifts as multiplications (Lecture 05) and, used without being studied in this course, the complete program, the PRG32 tools. UNDERSTAND LATER: nothing. A slide without a badge is context: a story, an example, a question, an exercise.
Roadmap. Today's outcomes: (1) distinguish analog from digital information and count the values that n bits can represent; (2) encode numbers, colours and text as bits: positional notation, hexadecimal, RGB565, ASCII; (3) name the basic data structures and the properties of an algorithm. Builds on: only what Lecture 01 set up. Next: Lecture 05, Number Representation: Integers.
Bridge. In Lecture 02 the instruction addi t1, t1, 1 appeared in memory as the word 0x00130313. Today the same 32 bits can be read as a number, a colour, four letters or an instruction: the code decides. Lecture 19 reads the instruction field by field. Recall: Name two different things one 32-bit word can mean, and what decides which meaning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~/arc12/code/l04.S; tools/tests/cartridges/run.py builds it, runs it on PRG32-QT with scripted input and checks the pixels of the frame.
For the lecturer: Get the code once: git clone https://github.com/riscv-prg32/computer-architecture-with-prg32 ~/arc12. The program of this lecture is ~/arc12/code/l04.S;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array of four words, and the four instructions that read element 2. la loads the base address, that of the first element. The index is multiplied by 4, the size of a word in bytes, by a left shift of two positions, since shifting a binary number one position to the left doubles it; this property is proved in Lecture 05 and is used here. add forms the address of the element, base plus scaled index, and lw reads its value, 34. The high-level expression scores[i] compiles to exactly this sequence. What is absent is equally instructive: nothing checks that the index is less than 4, so an out-of-range index silently reads whatever follows the array in memory.
UNDERSTAND NOW: arrays in memory. USE NOW: shifts as multiplications (studied in Lecture 05).
For the lecturer: The shift-as-multiplication property is proved in Lecture 05 (properties of binary strings). Ask: what does lw read if i = 4? Whatever follows the array in memory: the machine does not check bounds.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examples of algorithms that use randomness deliberately. The first tests whether a number is prime by trying random bases: if any test fails, the number is certainly composite; if thirty tests pass, it is prime with overwhelming probability. Accepting a negligible probability of error in exchange for a large gain in speed is standard practice in cryptography, where real libraries use the Miller-Rabin variant of the test. The second is a random walk: the path differs at every run, and a simulation estimates its properties by averaging many runs. The listing is pseudo-code, intended to convey the algorithm rather than to be compiled.
UNDERSTAND NOW: algorithms.
For the lecturer: The Fermat test shown here is the simplest; real libraries use Miller-Rabin, which closes its loopholes. Both examples are from the source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code/l04.S,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exercises on the cartridge of Lecture 02. An RGB565 value is computed by hand before it is tried: the three intensities are chosen, the fields written in binary, and the bits grouped by four to obtain the hexadecimal constant. The student's name is printed and its bytes counted, terminator included. An array of colours is declared with .word and read with lw, following the pattern of the array slide. Finally the string and the array are located in the memory view of PRG32-QT, where the terminating zero should be found and each word should be seen to present its least significant byte first, confirming the little-endian order.
For the lecturer: Dark grey example: red 8 of 31, green 16 of 63, blue 8 of 31 = 01000 010000 01000 = 0x4208, the GREY of the textbook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04: Digital information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04</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Representing Digital Information: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04-Computer_Architecture-Digital_Information.pptx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lab1_step2_hello.png">    </p:cNvPr>
          <p:cNvPicPr>
            <a:picLocks noChangeAspect="1"/>
          </p:cNvPicPr>
          <p:nvPr/>
        </p:nvPicPr>
        <p:blipFill>
          <a:blip r:embed="rId1"/>
          <a:stretch>
            <a:fillRect/>
          </a:stretch>
        </p:blipFill>
        <p:spPr>
          <a:xfrm>
            <a:off x="8716975" y="4280535"/>
            <a:ext cx="2834640" cy="177165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2 listings of Lecture 04,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code/l04.S, 56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An array in memory, an element in a register</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.section .data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scores: .word 32, 11, 34, 22     </a:t>
            </a:r>
            <a:pPr indent="0" marL="0">
              <a:buNone/>
            </a:pPr>
            <a:r>
              <a:rPr lang="en-US" sz="1350" dirty="0">
                <a:solidFill>
                  <a:srgbClr val="8FB3A0"/>
                </a:solidFill>
                <a:latin typeface="Courier New" pitchFamily="34" charset="0"/>
                <a:ea typeface="Courier New" pitchFamily="34" charset="-122"/>
                <a:cs typeface="Courier New" pitchFamily="34" charset="-120"/>
              </a:rPr>
              <a:t># four 32-bit words, 16 bytes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.text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scores      </a:t>
            </a:r>
            <a:pPr indent="0" marL="0">
              <a:buNone/>
            </a:pPr>
            <a:r>
              <a:rPr lang="en-US" sz="1350" dirty="0">
                <a:solidFill>
                  <a:srgbClr val="8FB3A0"/>
                </a:solidFill>
                <a:latin typeface="Courier New" pitchFamily="34" charset="0"/>
                <a:ea typeface="Courier New" pitchFamily="34" charset="-122"/>
                <a:cs typeface="Courier New" pitchFamily="34" charset="-120"/>
              </a:rPr>
              <a:t># t0 = ADDRESS of element 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2           </a:t>
            </a:r>
            <a:pPr indent="0" marL="0">
              <a:buNone/>
            </a:pPr>
            <a:r>
              <a:rPr lang="en-US" sz="1350" dirty="0">
                <a:solidFill>
                  <a:srgbClr val="8FB3A0"/>
                </a:solidFill>
                <a:latin typeface="Courier New" pitchFamily="34" charset="0"/>
                <a:ea typeface="Courier New" pitchFamily="34" charset="-122"/>
                <a:cs typeface="Courier New" pitchFamily="34" charset="-120"/>
              </a:rPr>
              <a:t># index i = 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slli t1, t1, 2       </a:t>
            </a:r>
            <a:pPr indent="0" marL="0">
              <a:buNone/>
            </a:pPr>
            <a:r>
              <a:rPr lang="en-US" sz="1350" dirty="0">
                <a:solidFill>
                  <a:srgbClr val="8FB3A0"/>
                </a:solidFill>
                <a:latin typeface="Courier New" pitchFamily="34" charset="0"/>
                <a:ea typeface="Courier New" pitchFamily="34" charset="-122"/>
                <a:cs typeface="Courier New" pitchFamily="34" charset="-120"/>
              </a:rPr>
              <a:t># offset = i * 4 bytes (shift left by 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t0, t0, t1      </a:t>
            </a:r>
            <a:pPr indent="0" marL="0">
              <a:buNone/>
            </a:pPr>
            <a:r>
              <a:rPr lang="en-US" sz="1350" dirty="0">
                <a:solidFill>
                  <a:srgbClr val="8FB3A0"/>
                </a:solidFill>
                <a:latin typeface="Courier New" pitchFamily="34" charset="0"/>
                <a:ea typeface="Courier New" pitchFamily="34" charset="-122"/>
                <a:cs typeface="Courier New" pitchFamily="34" charset="-120"/>
              </a:rPr>
              <a:t># ADDRESS of element i</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a0, 0(t0)       </a:t>
            </a:r>
            <a:pPr indent="0" marL="0">
              <a:buNone/>
            </a:pPr>
            <a:r>
              <a:rPr lang="en-US" sz="1350" dirty="0">
                <a:solidFill>
                  <a:srgbClr val="8FB3A0"/>
                </a:solidFill>
                <a:latin typeface="Courier New" pitchFamily="34" charset="0"/>
                <a:ea typeface="Courier New" pitchFamily="34" charset="-122"/>
                <a:cs typeface="Courier New" pitchFamily="34" charset="-120"/>
              </a:rPr>
              <a:t># a0 = VALUE of scores[2] = 34</a:t>
            </a:r>
            <a:endParaRPr lang="en-US" sz="13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An array is a base address plus equal-sized elements</a:t>
            </a:r>
            <a:endParaRPr lang="en-US" sz="13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Element i of a word array is at base + 4 x i, because a word is four bytes</a:t>
            </a:r>
            <a:endParaRPr lang="en-US" sz="13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slli by 2 multiplies by four: a shift is a multiplication by a power of two</a:t>
            </a:r>
            <a:endParaRPr lang="en-US" sz="13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high-level expression scores[i] is exactly these four instructions</a:t>
            </a:r>
            <a:endParaRPr lang="en-US" sz="1300" dirty="0"/>
          </a:p>
        </p:txBody>
      </p:sp>
      <p:sp>
        <p:nvSpPr>
          <p:cNvPr id="17" name="Shape 15"/>
          <p:cNvSpPr/>
          <p:nvPr/>
        </p:nvSpPr>
        <p:spPr>
          <a:xfrm>
            <a:off x="7668844" y="91440"/>
            <a:ext cx="3974211" cy="274320"/>
          </a:xfrm>
          <a:prstGeom prst="rect">
            <a:avLst/>
          </a:prstGeom>
          <a:solidFill>
            <a:srgbClr val="FEF3C7"/>
          </a:solidFill>
          <a:ln w="12700">
            <a:solidFill>
              <a:srgbClr val="B45309"/>
            </a:solidFill>
            <a:prstDash val="solid"/>
          </a:ln>
        </p:spPr>
      </p:sp>
      <p:sp>
        <p:nvSpPr>
          <p:cNvPr id="18" name="Shape 16"/>
          <p:cNvSpPr/>
          <p:nvPr/>
        </p:nvSpPr>
        <p:spPr>
          <a:xfrm>
            <a:off x="7668844" y="91440"/>
            <a:ext cx="27432" cy="274320"/>
          </a:xfrm>
          <a:prstGeom prst="rect">
            <a:avLst/>
          </a:prstGeom>
          <a:solidFill>
            <a:srgbClr val="B45309"/>
          </a:solidFill>
          <a:ln w="12700">
            <a:solidFill>
              <a:srgbClr val="B45309"/>
            </a:solidFill>
            <a:prstDash val="solid"/>
          </a:ln>
        </p:spPr>
      </p:sp>
      <p:sp>
        <p:nvSpPr>
          <p:cNvPr id="19" name="Shape 17"/>
          <p:cNvSpPr/>
          <p:nvPr/>
        </p:nvSpPr>
        <p:spPr>
          <a:xfrm>
            <a:off x="7723708"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7796860" y="128016"/>
            <a:ext cx="201168" cy="201168"/>
          </a:xfrm>
          <a:prstGeom prst="rect">
            <a:avLst/>
          </a:prstGeom>
        </p:spPr>
      </p:pic>
      <p:sp>
        <p:nvSpPr>
          <p:cNvPr id="21" name="Text 18"/>
          <p:cNvSpPr txBox="1"/>
          <p:nvPr/>
        </p:nvSpPr>
        <p:spPr>
          <a:xfrm>
            <a:off x="8052892" y="91440"/>
            <a:ext cx="3553587"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shifts as multiplications</a:t>
            </a:r>
            <a:pPr indent="0" marL="0">
              <a:buNone/>
            </a:pPr>
            <a:r>
              <a:rPr lang="en-US" sz="1100" b="1" dirty="0">
                <a:solidFill>
                  <a:srgbClr val="92400E"/>
                </a:solidFill>
                <a:latin typeface="Calibri" pitchFamily="34" charset="0"/>
                <a:ea typeface="Calibri" pitchFamily="34" charset="-122"/>
                <a:cs typeface="Calibri" pitchFamily="34" charset="-120"/>
              </a:rPr>
              <a:t> → Lecture 05</a:t>
            </a:r>
            <a:endParaRPr lang="en-US" sz="1100" dirty="0"/>
          </a:p>
        </p:txBody>
      </p:sp>
      <p:sp>
        <p:nvSpPr>
          <p:cNvPr id="22" name="Shape 19"/>
          <p:cNvSpPr/>
          <p:nvPr/>
        </p:nvSpPr>
        <p:spPr>
          <a:xfrm>
            <a:off x="4532071" y="91440"/>
            <a:ext cx="3027045" cy="274320"/>
          </a:xfrm>
          <a:prstGeom prst="rect">
            <a:avLst/>
          </a:prstGeom>
          <a:solidFill>
            <a:srgbClr val="E0F2FE"/>
          </a:solidFill>
          <a:ln w="12700">
            <a:solidFill>
              <a:srgbClr val="0369A1"/>
            </a:solidFill>
            <a:prstDash val="solid"/>
          </a:ln>
        </p:spPr>
      </p:sp>
      <p:sp>
        <p:nvSpPr>
          <p:cNvPr id="23" name="Shape 20"/>
          <p:cNvSpPr/>
          <p:nvPr/>
        </p:nvSpPr>
        <p:spPr>
          <a:xfrm>
            <a:off x="4532071" y="91440"/>
            <a:ext cx="73152" cy="274320"/>
          </a:xfrm>
          <a:prstGeom prst="rect">
            <a:avLst/>
          </a:prstGeom>
          <a:solidFill>
            <a:srgbClr val="0369A1"/>
          </a:solidFill>
          <a:ln w="12700">
            <a:solidFill>
              <a:srgbClr val="0369A1"/>
            </a:solidFill>
            <a:prstDash val="solid"/>
          </a:ln>
        </p:spPr>
      </p:sp>
      <p:pic>
        <p:nvPicPr>
          <p:cNvPr id="24" name="Image 1" descr="preencoded.png">    </p:cNvPr>
          <p:cNvPicPr>
            <a:picLocks noChangeAspect="1"/>
          </p:cNvPicPr>
          <p:nvPr/>
        </p:nvPicPr>
        <p:blipFill>
          <a:blip r:embed="rId2"/>
          <a:stretch>
            <a:fillRect/>
          </a:stretch>
        </p:blipFill>
        <p:spPr>
          <a:xfrm>
            <a:off x="4660087" y="128016"/>
            <a:ext cx="201168" cy="201168"/>
          </a:xfrm>
          <a:prstGeom prst="rect">
            <a:avLst/>
          </a:prstGeom>
        </p:spPr>
      </p:pic>
      <p:sp>
        <p:nvSpPr>
          <p:cNvPr id="25" name="Text 21"/>
          <p:cNvSpPr txBox="1"/>
          <p:nvPr/>
        </p:nvSpPr>
        <p:spPr>
          <a:xfrm>
            <a:off x="4916119"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arrays in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probabilistic algorithm: is n prime?</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is_probably_prime(n):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repeat 30 times: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 = random(2, n - 2)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if a^(n-1) mod n != 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return COMPOSITE          # certain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return PROBABLY PRIME             # almost certain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random_walk():</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while t &lt; t_final:</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 = random(-1, 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x = x + r * u                 # a different path every run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y = y + r * v</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t = t + 1</a:t>
            </a:r>
            <a:endParaRPr lang="en-US" sz="1350" dirty="0"/>
          </a:p>
        </p:txBody>
      </p:sp>
      <p:sp>
        <p:nvSpPr>
          <p:cNvPr id="5" name="Shape 3"/>
          <p:cNvSpPr/>
          <p:nvPr/>
        </p:nvSpPr>
        <p:spPr>
          <a:xfrm>
            <a:off x="8229600" y="1417320"/>
            <a:ext cx="341345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first answer is always right; the second is right with overwhelming probability</a:t>
            </a:r>
            <a:endParaRPr lang="en-US" sz="1600" dirty="0"/>
          </a:p>
        </p:txBody>
      </p:sp>
      <p:sp>
        <p:nvSpPr>
          <p:cNvPr id="8" name="Shape 6"/>
          <p:cNvSpPr/>
          <p:nvPr/>
        </p:nvSpPr>
        <p:spPr>
          <a:xfrm>
            <a:off x="8229600" y="3069336"/>
            <a:ext cx="341345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839419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3206496"/>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Trading a tiny chance of error for a huge gain in speed is how real cryptography tests primes</a:t>
            </a:r>
            <a:endParaRPr lang="en-US" sz="1600" dirty="0"/>
          </a:p>
        </p:txBody>
      </p:sp>
      <p:sp>
        <p:nvSpPr>
          <p:cNvPr id="11" name="Shape 9"/>
          <p:cNvSpPr/>
          <p:nvPr/>
        </p:nvSpPr>
        <p:spPr>
          <a:xfrm>
            <a:off x="8229600" y="4721352"/>
            <a:ext cx="341345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839419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858512"/>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A random walk gives a different result at every run: simulations average many of them</a:t>
            </a:r>
            <a:endParaRPr lang="en-US" sz="1600" dirty="0"/>
          </a:p>
        </p:txBody>
      </p:sp>
      <p:sp>
        <p:nvSpPr>
          <p:cNvPr id="14" name="Shape 12"/>
          <p:cNvSpPr/>
          <p:nvPr/>
        </p:nvSpPr>
        <p:spPr>
          <a:xfrm>
            <a:off x="9009964" y="91440"/>
            <a:ext cx="2633091" cy="274320"/>
          </a:xfrm>
          <a:prstGeom prst="rect">
            <a:avLst/>
          </a:prstGeom>
          <a:solidFill>
            <a:srgbClr val="E0F2FE"/>
          </a:solidFill>
          <a:ln w="12700">
            <a:solidFill>
              <a:srgbClr val="0369A1"/>
            </a:solidFill>
            <a:prstDash val="solid"/>
          </a:ln>
        </p:spPr>
      </p:sp>
      <p:sp>
        <p:nvSpPr>
          <p:cNvPr id="15" name="Shape 13"/>
          <p:cNvSpPr/>
          <p:nvPr/>
        </p:nvSpPr>
        <p:spPr>
          <a:xfrm>
            <a:off x="9009964"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9137980" y="128016"/>
            <a:ext cx="201168" cy="201168"/>
          </a:xfrm>
          <a:prstGeom prst="rect">
            <a:avLst/>
          </a:prstGeom>
        </p:spPr>
      </p:pic>
      <p:sp>
        <p:nvSpPr>
          <p:cNvPr id="17" name="Text 14"/>
          <p:cNvSpPr txBox="1"/>
          <p:nvPr/>
        </p:nvSpPr>
        <p:spPr>
          <a:xfrm>
            <a:off x="9394012" y="91440"/>
            <a:ext cx="221246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algorithms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l04.S (1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ARC12 Computer Architecture - Lecture 04: Representing Digital Information</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l04.S: an array in memory, an element in a register</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On the screen: four horizontal bars, one per element of the array (32, 11, 34, 22,</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four pixels per unit); element 2, the one the listing loads, is yellow.</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Build: python3 -m prg32 cartridge build l04.S --portable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--entry-prefix l04 --name l04 --out l04.prg32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.option norelax</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BLACK,  0x0000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WHITE,  0xffff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YELLOW, 0xffe0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.section .text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l04_init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l04_update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l04_draw</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l04_init: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ret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l04_update: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ret</a:t>
            </a:r>
            <a:endParaRPr lang="en-US" sz="125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l04.S (2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l04_draw: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BLACK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prg32_gfx_clear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s0, 0               </a:t>
            </a:r>
            <a:pPr indent="0" marL="0">
              <a:buNone/>
            </a:pPr>
            <a:r>
              <a:rPr lang="en-US" sz="1200" dirty="0">
                <a:solidFill>
                  <a:srgbClr val="8FB3A0"/>
                </a:solidFill>
                <a:latin typeface="Courier New" pitchFamily="34" charset="0"/>
                <a:ea typeface="Courier New" pitchFamily="34" charset="-122"/>
                <a:cs typeface="Courier New" pitchFamily="34" charset="-120"/>
              </a:rPr>
              <a:t># index i, 0 to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la   t0, scores          </a:t>
            </a:r>
            <a:pPr indent="0" marL="0">
              <a:buNone/>
            </a:pPr>
            <a:r>
              <a:rPr lang="en-US" sz="1200" dirty="0">
                <a:solidFill>
                  <a:srgbClr val="8FB3A0"/>
                </a:solidFill>
                <a:latin typeface="Courier New" pitchFamily="34" charset="0"/>
                <a:ea typeface="Courier New" pitchFamily="34" charset="-122"/>
                <a:cs typeface="Courier New" pitchFamily="34" charset="-120"/>
              </a:rPr>
              <a:t># t0 = ADDRESS of element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t1, s0              </a:t>
            </a:r>
            <a:pPr indent="0" marL="0">
              <a:buNone/>
            </a:pPr>
            <a:r>
              <a:rPr lang="en-US" sz="1200" dirty="0">
                <a:solidFill>
                  <a:srgbClr val="8FB3A0"/>
                </a:solidFill>
                <a:latin typeface="Courier New" pitchFamily="34" charset="0"/>
                <a:ea typeface="Courier New" pitchFamily="34" charset="-122"/>
                <a:cs typeface="Courier New" pitchFamily="34" charset="-120"/>
              </a:rPr>
              <a:t># index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t1, t1, 2           </a:t>
            </a:r>
            <a:pPr indent="0" marL="0">
              <a:buNone/>
            </a:pPr>
            <a:r>
              <a:rPr lang="en-US" sz="1200" dirty="0">
                <a:solidFill>
                  <a:srgbClr val="8FB3A0"/>
                </a:solidFill>
                <a:latin typeface="Courier New" pitchFamily="34" charset="0"/>
                <a:ea typeface="Courier New" pitchFamily="34" charset="-122"/>
                <a:cs typeface="Courier New" pitchFamily="34" charset="-120"/>
              </a:rPr>
              <a:t># offset = i * 4 bytes (shift left by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t0, t0, t1          </a:t>
            </a:r>
            <a:pPr indent="0" marL="0">
              <a:buNone/>
            </a:pPr>
            <a:r>
              <a:rPr lang="en-US" sz="1200" dirty="0">
                <a:solidFill>
                  <a:srgbClr val="8FB3A0"/>
                </a:solidFill>
                <a:latin typeface="Courier New" pitchFamily="34" charset="0"/>
                <a:ea typeface="Courier New" pitchFamily="34" charset="-122"/>
                <a:cs typeface="Courier New" pitchFamily="34" charset="-120"/>
              </a:rPr>
              <a:t># ADDRESS of element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a2, 0(t0)           </a:t>
            </a:r>
            <a:pPr indent="0" marL="0">
              <a:buNone/>
            </a:pPr>
            <a:r>
              <a:rPr lang="en-US" sz="1200" dirty="0">
                <a:solidFill>
                  <a:srgbClr val="8FB3A0"/>
                </a:solidFill>
                <a:latin typeface="Courier New" pitchFamily="34" charset="0"/>
                <a:ea typeface="Courier New" pitchFamily="34" charset="-122"/>
                <a:cs typeface="Courier New" pitchFamily="34" charset="-120"/>
              </a:rPr>
              <a:t># VALUE of scores[i]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a2, a2, 2           </a:t>
            </a:r>
            <a:pPr indent="0" marL="0">
              <a:buNone/>
            </a:pPr>
            <a:r>
              <a:rPr lang="en-US" sz="1200" dirty="0">
                <a:solidFill>
                  <a:srgbClr val="8FB3A0"/>
                </a:solidFill>
                <a:latin typeface="Courier New" pitchFamily="34" charset="0"/>
                <a:ea typeface="Courier New" pitchFamily="34" charset="-122"/>
                <a:cs typeface="Courier New" pitchFamily="34" charset="-120"/>
              </a:rPr>
              <a:t># width: four pixels per unit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WHITE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t0,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bne  s0, t0,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YELLOW          </a:t>
            </a:r>
            <a:pPr indent="0" marL="0">
              <a:buNone/>
            </a:pPr>
            <a:r>
              <a:rPr lang="en-US" sz="1200" dirty="0">
                <a:solidFill>
                  <a:srgbClr val="8FB3A0"/>
                </a:solidFill>
                <a:latin typeface="Courier New" pitchFamily="34" charset="0"/>
                <a:ea typeface="Courier New" pitchFamily="34" charset="-122"/>
                <a:cs typeface="Courier New" pitchFamily="34" charset="-120"/>
              </a:rPr>
              <a:t># scores[2] = 34: the element of the slide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li   a0, 20              </a:t>
            </a:r>
            <a:pPr indent="0" marL="0">
              <a:buNone/>
            </a:pPr>
            <a:r>
              <a:rPr lang="en-US" sz="1200" dirty="0">
                <a:solidFill>
                  <a:srgbClr val="8FB3A0"/>
                </a:solidFill>
                <a:latin typeface="Courier New" pitchFamily="34" charset="0"/>
                <a:ea typeface="Courier New" pitchFamily="34" charset="-122"/>
                <a:cs typeface="Courier New" pitchFamily="34" charset="-120"/>
              </a:rPr>
              <a:t># x</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a1, s0, 5</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a1, a1, 30          </a:t>
            </a:r>
            <a:pPr indent="0" marL="0">
              <a:buNone/>
            </a:pPr>
            <a:r>
              <a:rPr lang="en-US" sz="1200" dirty="0">
                <a:solidFill>
                  <a:srgbClr val="8FB3A0"/>
                </a:solidFill>
                <a:latin typeface="Courier New" pitchFamily="34" charset="0"/>
                <a:ea typeface="Courier New" pitchFamily="34" charset="-122"/>
                <a:cs typeface="Courier New" pitchFamily="34" charset="-120"/>
              </a:rPr>
              <a:t># y = 30 + 32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16              </a:t>
            </a:r>
            <a:pPr indent="0" marL="0">
              <a:buNone/>
            </a:pPr>
            <a:r>
              <a:rPr lang="en-US" sz="1200" dirty="0">
                <a:solidFill>
                  <a:srgbClr val="8FB3A0"/>
                </a:solidFill>
                <a:latin typeface="Courier New" pitchFamily="34" charset="0"/>
                <a:ea typeface="Courier New" pitchFamily="34" charset="-122"/>
                <a:cs typeface="Courier New" pitchFamily="34" charset="-120"/>
              </a:rPr>
              <a:t># height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prg32_gfx_rect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s0, s0,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t0, 4</a:t>
            </a:r>
            <a:endParaRPr lang="en-US" sz="12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l04.S (3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blt  s0, t0, 1b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.data</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scores: .word 32, 11, 34, 22     </a:t>
            </a:r>
            <a:pPr indent="0" marL="0">
              <a:buNone/>
            </a:pPr>
            <a:r>
              <a:rPr lang="en-US" sz="1800" dirty="0">
                <a:solidFill>
                  <a:srgbClr val="8FB3A0"/>
                </a:solidFill>
                <a:latin typeface="Courier New" pitchFamily="34" charset="0"/>
                <a:ea typeface="Courier New" pitchFamily="34" charset="-122"/>
                <a:cs typeface="Courier New" pitchFamily="34" charset="-120"/>
              </a:rPr>
              <a:t># four 32-bit words, 16 bytes</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70992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four horizontal bars, one per element of the array (32, 11, 34, 22, four pixels per unit); element 2, the one the listing loads, is yellow.</a:t>
            </a:r>
            <a:endParaRPr lang="en-US" sz="2400" dirty="0"/>
          </a:p>
        </p:txBody>
      </p:sp>
      <p:sp>
        <p:nvSpPr>
          <p:cNvPr id="5" name="Shape 3"/>
          <p:cNvSpPr/>
          <p:nvPr/>
        </p:nvSpPr>
        <p:spPr>
          <a:xfrm>
            <a:off x="548640" y="3889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767328"/>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04.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l04 --name l04 --out l04.prg32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l04.prg32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l04 --name l04 --architecture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l04-qemu.prg32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l04-qemu.prg32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l04 --name l04 --architecture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l04-esp32c6.prg32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l04-esp32c6.prg32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l04;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on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Change the bar of Lecture 02 to magenta, then to a dark grey of your choice: compute the RGB565 value by hand first</a:t>
            </a:r>
            <a:endParaRPr lang="en-US" sz="2400" dirty="0"/>
          </a:p>
        </p:txBody>
      </p:sp>
      <p:sp>
        <p:nvSpPr>
          <p:cNvPr id="6" name="Text 4"/>
          <p:cNvSpPr txBox="1"/>
          <p:nvPr/>
        </p:nvSpPr>
        <p:spPr>
          <a:xfrm>
            <a:off x="548640" y="23459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3276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Print your name with prg32_gfx_text8. How many bytes does the string occupy?</a:t>
            </a:r>
            <a:endParaRPr lang="en-US" sz="2400" dirty="0"/>
          </a:p>
        </p:txBody>
      </p:sp>
      <p:sp>
        <p:nvSpPr>
          <p:cNvPr id="8" name="Text 6"/>
          <p:cNvSpPr txBox="1"/>
          <p:nvPr/>
        </p:nvSpPr>
        <p:spPr>
          <a:xfrm>
            <a:off x="548640" y="32562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2379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Declare an array of four colours with .word and draw four bars, one per colour, reading each colour with lw</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In PRG32-QT open the memory view on your string and on your array: find the terminating zero and check the byte order</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Four bars in four colours; in the memory view the string ends with 00 and each .word shows its least significant byte first.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Representing Digital Information: the code</dc:title>
  <dc:subject>Lecture 04</dc:subject>
  <dc:creator>Raffaele Montella</dc:creator>
  <cp:lastModifiedBy>Raffaele Montella</cp:lastModifiedBy>
  <cp:revision>1</cp:revision>
  <dcterms:created xsi:type="dcterms:W3CDTF">2026-10-17T07:16:48Z</dcterms:created>
  <dcterms:modified xsi:type="dcterms:W3CDTF">2026-10-17T07:16:48Z</dcterms:modified>
</cp:coreProperties>
</file>