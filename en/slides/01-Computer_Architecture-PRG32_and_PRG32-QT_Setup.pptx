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7ff9ed0-7460-9188-e40a-4ab697af9e03}">
          <p14:sldIdLst>
            <p14:sldId id="256"/>
            <p14:sldId id="257"/>
            <p14:sldId id="258"/>
          </p14:sldIdLst>
        </p14:section>
        <p14:section name="The platform, in detail" id="{abadef5d-034b-ae5d-3012-89f6625c4897}">
          <p14:sldIdLst>
            <p14:sldId id="259"/>
            <p14:sldId id="260"/>
            <p14:sldId id="261"/>
            <p14:sldId id="262"/>
            <p14:sldId id="263"/>
            <p14:sldId id="264"/>
          </p14:sldIdLst>
        </p14:section>
        <p14:section name="Step 2: install the toolchain" id="{e22d9990-29ab-177e-f639-83046b93e5fb}">
          <p14:sldIdLst>
            <p14:sldId id="265"/>
          </p14:sldIdLst>
        </p14:section>
        <p14:section name="When something does not work" id="{d035dc3c-dbe3-58df-2de7-0321974c9620}">
          <p14:sldIdLst>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a workshop, in both senses: you work with your hands, and you leave with a place where things can be made. Nothing here is theory. At the end your laptop runs PRG32-QT, the compiler for RISC-V is installed, and one cartridge built by you is stopped in the debugger. The quotation about the axe is the justification for spending two hours on tools: every later lecture assumes that building and running a program costs you one command and ten seconds.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pieces of PRG32. USE NOW: the PRG32 tools, the PRG32-QT debugger, the complete program (used, not studied, in this course). UNDERSTAND LATER: the init, update, draw contract (Lecture 02); registers (Lecture 02). A slide without a badge is context: a story, an example, a question, an exercise.
For the lecturer: New in 2026/27: a hands-on lecture. Students bring a laptop; at the end everyone has PRG32-QT running and a cartridge built by their own toolchain. The steps come from the README of PRG32, the documentation of PRG32-QT and chapter 3 of the textbook. The cartridge commands of step 3 were run on macOS against PRG32-QT; the Windows and Linux installations follow the official instructions and were not run for these slides. Ask the students to do the long download of step 2 at home, before the lecture: the classroom network will not survive sixty copies of ESP-IDF. Version numbers are those of October 2026: check the release pages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in the order in which you will reach them: a picture of the platform, PRG32-QT installed, the toolchain installed and checked, one cartridge built and stopped in the debugger, and a list of remedies for the usual failures. Treat it as a checklist. If you leave the lecture with the first two only, you can already follow the course; the third and the fourth must be in place before Lecture 02, when you write your first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installation has four levels, and you do not need them all. Level 1, PRG32-QT, takes five minutes and lets you play and debug any cartridge. Level 2, ESP-IDF and the PRG32 repository, is a large download and lets you build your own cartridges: everybody needs it before Lecture 02. Level 3, the QEMU emulator, and level 4, the physical kit, are optional. The caption is the important line for anyone worried about costs: the course can be followed with levels 1 and 2, with no board.
For the lecturer: Level 1 takes five minutes. Level 2 is a large download and takes from half an hour to an hour: at home, on a good connection. Levels 3 and 4 are for the curious, and for the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PRG32 covers four things. A firmware, the resident program that owns the screen, the buttons and the sound. A cartridge format, your game as one small file. A tool on your laptop, the command python3 -m prg32, which builds, uploads and packages. And a Store, where finished games are shared. Your code is real 32-bit RISC-V machine code, and it meets the firmware through a contract of three functions: init, called once, then update and draw, called at every frame. Lecture 02 starts exactly from this contract.
UNDERSTAND NOW: the pieces of PRG32.
For the lecturer: github.com/riscv-prg32/PRG32. The runtime calls init once, then update and draw at every frame: Lecture 02 starts from this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program from left to right. You write a source file in assembly or C. The compiler of the RISC-V toolchain turns it into machine code. The result is a cartridge, a file with code, data and a short header. The cartridge is uploaded over the network to a host, and there the runtime calls its three functions. The first three boxes live on your laptop and need level 2; the last two are a host, which can be PRG32-QT, QEMU or the board. The same file runs on all three because it reaches the runtime through a table of functions, the ABI.
UNDERSTAND NOW: the pieces of PRG32.
For the lecturer: The compiler is riscv32-esp-elf-gcc, installed by ESP-IDF. The cartridge is loaded at address 0x40800000 and reaches the runtime through a table of functions, the ABI: this is why the same file runs on three different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is a small console built on a breadboard. Its heart is an ESP32-C6, a chip with one RISC-V core at 160 MHz and Wi-Fi. Around it there are a 2.8 inch colour display, one or two audio amplifiers, a joystick and a few buttons, each wired directly to a pin of the chip. Note the two numbers of the screen: the panel has 320 by 240 pixels, and games draw in an area of 320 by 200. A game reaches the board over Wi-Fi. You do not need a kit to follow the course; the laboratory has some.
UNDERSTAND NOW: the pieces of PRG32.
For the lecturer: Display: ILI9341 over SPI. Audio: MAX98357A over I2S. The bill of materials and the wiring are in docs/hardware of the PRG32 repository. The laboratory has kits.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cartridge, three hosts. Read the table by rows. On the board and in QEMU your code runs natively, on a real or an emulated chip; in PRG32-QT it is interpreted, one instruction after another. The board and QEMU need the toolchain; PRG32-QT does not, to play and to debug. Stepping through instructions needs extra tools on the first two, and is built into the third. A rule of thumb: use the board when you want the truth about time, and PRG32-QT when you want the truth about a register.
UNDERSTAND NOW: the pieces of PRG32.
For the lecturer: Use the board when you want the truth about time, and PRG32-QT when you want the truth about a register. Why an ESP32-C3 in QEMU? Espressif maintains a mature emulator with graphics for that chip; it executes the same RISC-V instructions, and the cartridge does not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the console as an application: it contains an interpreter of RV32IMAC and offers the cartridge the same functions as the firmware. Three things to remember. The speed profiles in Settings: Accurate, the default, timed like the ESP32-C6; Optimal, thirty frames per second; Unlimited. The Store browser, which downloads and runs published cartridges. And the debugger, which shows assembly, registers and memory and executes one instruction at a time. Accurate is the profile to keep: it tells you when your program would be too slow on the real chip.
UNDERSTAND NOW: the pieces of PRG32.
For the lecturer: github.com/riscv-prg32/PRG32-QT. Accurate charges each instruction and each call a cost in cycles of a 160 MHz clock: not a cycle-exact model of the chip, but close enough to see when a frame is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keyboard the joystick is the arrow keys, or W A S D; button A is Z or J; button B is X or K; Start and Select are Enter or Space. In PRG32-QT, Escape leaves the game and returns to Setup. One detail of QEMU surprises everybody the first time: the keys must be typed in the terminal from which QEMU was started, not in the window that shows the picture. If a game in QEMU seems dead, click on the terminal.
UNDERSTAND NOW: the pieces of PRG32.
For the lecturer: A USB or Bluetooth game controller is recognised by PRG32-QT when it is plugged in. QEMU reads the keyboard from the terminal that launched it, not from the window with the picture: the classic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explains every installation and nearly every problem. The compiler comes with ESP-IDF, the development kit of Espressif, installed for two chips: esp32c6, the kit, and esp32c3, the emulator. But ESP-IDF is not active by itself: each new terminal must switch it on before the tools can be found. The box on the right shows the message you will certainly meet, idf.py: command not found. It does not mean that something is broken. It means that ESP-IDF is not active in the terminal in which you are typing.
USE NOW: the PRG32 tools (used, not studied, in this course).
For the lecturer: On Windows activating means opening the ESP-IDF PowerShell; on macOS and Linux, running export.sh. The symptom is always the same: idf.py, or riscv32-esp-elf-gcc,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from left to right: what you see, what it means, what to do. The first row covers most cases: idf.py: command not found means that ESP-IDF is not active in this terminal. No module named prg32 means that you are not in the PRG32 folder. A refused connection means that PRG32-QT is not running, or that a firewall blocks port 8080. When you ask for help, paste the command and the complete message as text: a photograph of the screen cannot be searched or copied.
USE NOW: the PRG32 tools (used, not studied, in this course).
For the lecturer: The first row covers most of the cases. docs/usage/troubleshooting.md of the PRG32 repository has the complete list. When asking for help, paste the command and the whole message: never a photograph of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checks, one for each thing you did: PRG32-QT runs a game from the Store; in a new terminal the doctor shows only OK; cartridge build produces pong.prg32; upload-and-run starts it; in debug mode pause and step work. If one is missing, the last column tells you which step to repeat. Anyone who is stuck should come to office hours or to the laboratory before Lecture 02, with the laptop.
For the lecturer: Five ticks and the workshop is ready. Anyone who is stuck comes to office hours, or to the laboratory, before Lecture 02: with the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"a new terminal" implies before you answer. Nothing was uninstalled, PRG32-QT is not involved in this command, and no board is needed for the doctor. Activation lasts as long as the terminal in which it was done, so a new terminal starts without it. The remedy is the one of the daily routine: export.sh, or the ESP-IDF PowerShell.
The question separates two activities: building a cartridge and running one. A compiler is needed only for the first. The board and QEMU run the real firmware, which must be compiled; PRG32-QT interprets the cartridge and has its own debugger, so it is the only host that needs nothing else.
For the lecturer: 1. Answer: B. Activation lasts as long as the terminal: run export.sh, or open the ESP-IDF PowerShell.
2. Answer: C. PRG32-QT interprets the cartridge and has a built-in debugger; a compiler is needed only to build cartridges.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cartridge is not recompiled, and it does not contain three programs. A portable cartridge does not call the firmware at fixed addresses: it goes through a table of functions, the ABI, and each host provides that table. This is the meaning of the option --portable, and the reason why the file is the same in every column of the table of the three hosts.
For the lecturer: Answer: C. A portable cartridge depends only on the ABI, the table of functions of the runtime, which every host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that you will meet in every document about PRG32, with the Italian commonly used in class. Three deserve attention. A toolchain is the chain of programs that turns source into an executable: compiler, assembler, linker. To flash means to write a program into the flash memory of a chip. A host is the machine on which a cartridge runs: the board, QEMU or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to keep. PRG32 is a runtime, a cartridge format, a tool and a Store, and a cartridge runs unchanged on three hosts. PRG32-QT is enough to play and debug; ESP-IDF and the repository are needed to build. ESP-IDF must be activated in every new terminal. And you have completed the loop of the whole course: build, send, stop in the debugger. The readings are the README files of the two repositories; Lecture 02 uses this workshop for your first assembly program.
Learning status, recap. UNDERSTAND NOW: the pieces of PRG32. USE NOW: the PRG32 tools, the PRG32-QT debugger, the complete program (used, not studied, in this course). UNDERSTAND LATER: the init, update, draw contract (Lecture 02); registers (Lecture 02). A slide without a badge is context: a story, an example, a question, an exercise.
For the lecturer: Next: Lecture 02, the first program in RISC-V assembly, typed by the students in the workshop they have just set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The platform in detail, and a step-by-step installation on Windows, macOS and Linux</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“Give me six hours to chop down a tree and I will spend the first four sharpening the axe.”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Abraham Lincoln</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01-Computer_Architecture-PRG32_and_PRG32-QT_Setup-Code.pptx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picture of the pieces of PRG32: runtime, cartridge, tools, hosts, Store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installed on your laptop: you can play any cartridge and look inside it</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RISC-V toolchain installed and checked: you can build cartridges of your own</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cartridge built by you, running in PRG32-QT, stopped in the debugger</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list of what to do when something does not work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levels: install what you need</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24535"/>
                <a:gridCol w="3361944"/>
                <a:gridCol w="4370527"/>
                <a:gridCol w="243740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install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can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Needed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play cartridges, download from the Store, use the debugger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ESP-IDF and the PRG32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build your own cartridges from assembly or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before 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QEMU 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the real firmware on your laptop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kit: an ESP32-C6 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on real hardware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course can be followed with levels 1 and 2 only. No board is required.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runtime, a file format, a set of tools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open-source platform for teaching RISC-V assembly and C, developed at Parthenope</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656539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Four things, one name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resident firmware: the program that owns the screen, the buttons and the sound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format: your game as one small file, .prg32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tool on your laptop: python3 -m prg32 builds, uploads, packages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Store: where finished games are shared</a:t>
            </a:r>
            <a:endParaRPr lang="en-US" sz="2000" dirty="0"/>
          </a:p>
        </p:txBody>
      </p:sp>
      <p:sp>
        <p:nvSpPr>
          <p:cNvPr id="7" name="Shape 5"/>
          <p:cNvSpPr/>
          <p:nvPr/>
        </p:nvSpPr>
        <p:spPr>
          <a:xfrm>
            <a:off x="548640" y="47372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633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Your code runs as real 32-bit RISC-V machine code, RV32IMAC</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contract between your game and the runtime is three functions: init, update, draw</a:t>
            </a:r>
            <a:endParaRPr lang="en-US" sz="2000" dirty="0"/>
          </a:p>
        </p:txBody>
      </p:sp>
      <p:pic>
        <p:nvPicPr>
          <p:cNvPr id="11" name="Image 0" descr="/Users/raffaelemontella/devel/riscv-prg32/computer-architecture-with-prg32/tools/assets/prg32_logo.png">    </p:cNvPr>
          <p:cNvPicPr>
            <a:picLocks noChangeAspect="1"/>
          </p:cNvPicPr>
          <p:nvPr/>
        </p:nvPicPr>
        <p:blipFill>
          <a:blip r:embed="rId1"/>
          <a:stretch>
            <a:fillRect/>
          </a:stretch>
        </p:blipFill>
        <p:spPr>
          <a:xfrm>
            <a:off x="7863840" y="2385155"/>
            <a:ext cx="3779215" cy="236201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github.com/riscv-prg32/PRG32</a:t>
            </a:r>
            <a:endParaRPr lang="en-US" sz="1200" dirty="0"/>
          </a:p>
        </p:txBody>
      </p:sp>
      <p:sp>
        <p:nvSpPr>
          <p:cNvPr id="13" name="Shape 10"/>
          <p:cNvSpPr/>
          <p:nvPr/>
        </p:nvSpPr>
        <p:spPr>
          <a:xfrm>
            <a:off x="8419033" y="91440"/>
            <a:ext cx="3224022" cy="274320"/>
          </a:xfrm>
          <a:prstGeom prst="rect">
            <a:avLst/>
          </a:prstGeom>
          <a:solidFill>
            <a:srgbClr val="E0F2FE"/>
          </a:solidFill>
          <a:ln w="12700">
            <a:solidFill>
              <a:srgbClr val="0369A1"/>
            </a:solidFill>
            <a:prstDash val="solid"/>
          </a:ln>
        </p:spPr>
      </p:sp>
      <p:sp>
        <p:nvSpPr>
          <p:cNvPr id="14" name="Shape 11"/>
          <p:cNvSpPr/>
          <p:nvPr/>
        </p:nvSpPr>
        <p:spPr>
          <a:xfrm>
            <a:off x="8419033"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6" name="Text 1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your file to the screen</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 assembly or C</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compiler</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RISC-V toolchain turns it into machine code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verm1.prg32</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cartridge: code, data, a header</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upload</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over the network, to a host</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runtime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calls init, update, draw</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first three boxes are on your laptop, and need level 2. The last two are a host: PRG32-QT, QEMU or the board.</a:t>
            </a:r>
            <a:endParaRPr lang="en-US" sz="2000" dirty="0"/>
          </a:p>
        </p:txBody>
      </p:sp>
      <p:sp>
        <p:nvSpPr>
          <p:cNvPr id="24" name="Shape 22"/>
          <p:cNvSpPr/>
          <p:nvPr/>
        </p:nvSpPr>
        <p:spPr>
          <a:xfrm>
            <a:off x="8419033" y="91440"/>
            <a:ext cx="3224022" cy="274320"/>
          </a:xfrm>
          <a:prstGeom prst="rect">
            <a:avLst/>
          </a:prstGeom>
          <a:solidFill>
            <a:srgbClr val="E0F2FE"/>
          </a:solidFill>
          <a:ln w="12700">
            <a:solidFill>
              <a:srgbClr val="0369A1"/>
            </a:solidFill>
            <a:prstDash val="solid"/>
          </a:ln>
        </p:spPr>
      </p:sp>
      <p:sp>
        <p:nvSpPr>
          <p:cNvPr id="25" name="Shape 23"/>
          <p:cNvSpPr/>
          <p:nvPr/>
        </p:nvSpPr>
        <p:spPr>
          <a:xfrm>
            <a:off x="841903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7" name="Text 2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 console on a breadboard</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Espressif ESP32-C6: one RISC-V core at 160 MHz, with Wi-Fi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2.8 inch colour display, 320 by 240 pixels: games draw in a viewport of 320 by 200</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or two small audio amplifiers, a joystick and buttons, wired straight to the pins of the chip</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reaches it over Wi-Fi: the board creates a network called PRG32, and you upload the cartridge to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do not need one to follow the course: everything runs on your laptop</a:t>
            </a:r>
            <a:endParaRPr lang="en-US" sz="21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a:t>
            </a:r>
            <a:endParaRPr lang="en-US" sz="1200" dirty="0"/>
          </a:p>
        </p:txBody>
      </p:sp>
      <p:sp>
        <p:nvSpPr>
          <p:cNvPr id="15"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6"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8"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run the same cartridge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ESP32-C6 board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Espressif QEMU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PRG32-QT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How code runs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the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an emulated ESP32-C3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interpreted RV32IMAC guest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Needs a toolchain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no, to play and debug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Cartridge arrives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Wi-Fi upload,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staging into the flash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file import, Store, HTTP upload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Instruction stepping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JTAG and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built-in debugger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Runs 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Windows, Linux, macOS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desktop, Raspberry Pi, iOS, Android, TV</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cartridge file is the same in every column.</a:t>
            </a:r>
            <a:endParaRPr lang="en-US" sz="1500" dirty="0"/>
          </a:p>
        </p:txBody>
      </p:sp>
      <p:sp>
        <p:nvSpPr>
          <p:cNvPr id="5" name="Shape 2"/>
          <p:cNvSpPr/>
          <p:nvPr/>
        </p:nvSpPr>
        <p:spPr>
          <a:xfrm>
            <a:off x="8419033" y="91440"/>
            <a:ext cx="3224022" cy="274320"/>
          </a:xfrm>
          <a:prstGeom prst="rect">
            <a:avLst/>
          </a:prstGeom>
          <a:solidFill>
            <a:srgbClr val="E0F2FE"/>
          </a:solidFill>
          <a:ln w="12700">
            <a:solidFill>
              <a:srgbClr val="0369A1"/>
            </a:solidFill>
            <a:prstDash val="solid"/>
          </a:ln>
        </p:spPr>
      </p:sp>
      <p:sp>
        <p:nvSpPr>
          <p:cNvPr id="6" name="Shape 3"/>
          <p:cNvSpPr/>
          <p:nvPr/>
        </p:nvSpPr>
        <p:spPr>
          <a:xfrm>
            <a:off x="841903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8" name="Text 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console on your laptop</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application for Windows, macOS, Linux, Raspberry Pi, phones, tablets and televisions</a:t>
            </a:r>
            <a:endParaRPr lang="en-US" sz="1900" dirty="0"/>
          </a:p>
        </p:txBody>
      </p:sp>
      <p:sp>
        <p:nvSpPr>
          <p:cNvPr id="5" name="Shape 3"/>
          <p:cNvSpPr/>
          <p:nvPr/>
        </p:nvSpPr>
        <p:spPr>
          <a:xfrm>
            <a:off x="548640" y="22550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1891"/>
            <a:ext cx="546811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contains an interpreter of RV32IMAC: it executes your cartridge instruction by instruction, and offers it the same functions as the firmware</a:t>
            </a:r>
            <a:endParaRPr lang="en-US" sz="1900" dirty="0"/>
          </a:p>
        </p:txBody>
      </p:sp>
      <p:sp>
        <p:nvSpPr>
          <p:cNvPr id="7" name="Shape 5"/>
          <p:cNvSpPr/>
          <p:nvPr/>
        </p:nvSpPr>
        <p:spPr>
          <a:xfrm>
            <a:off x="548640" y="35984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5233"/>
            <a:ext cx="546811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speeds, in Settings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Accurate: timed like the ESP32-C6, the default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Optimal: 30 frames per second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Unlimited: as fast as your laptop goes</a:t>
            </a:r>
            <a:endParaRPr lang="en-US" sz="1900" dirty="0"/>
          </a:p>
        </p:txBody>
      </p:sp>
      <p:sp>
        <p:nvSpPr>
          <p:cNvPr id="9" name="Shape 7"/>
          <p:cNvSpPr/>
          <p:nvPr/>
        </p:nvSpPr>
        <p:spPr>
          <a:xfrm>
            <a:off x="548640" y="491204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2885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Store browser, to download and run published cartridges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debugger: assembly, registers, memory, breakpoints, one instruction at a time</a:t>
            </a:r>
            <a:endParaRPr lang="en-US" sz="1900" dirty="0"/>
          </a:p>
        </p:txBody>
      </p:sp>
      <p:pic>
        <p:nvPicPr>
          <p:cNvPr id="13" name="Image 0" descr="/Users/raffaelemontella/devel/riscv-prg32/computer-architecture-with-prg32/tools/assets/prg32qt_player.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playing a cartridge</a:t>
            </a:r>
            <a:endParaRPr lang="en-US" sz="1200" dirty="0"/>
          </a:p>
        </p:txBody>
      </p:sp>
      <p:sp>
        <p:nvSpPr>
          <p:cNvPr id="15"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6"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547049" y="128016"/>
            <a:ext cx="201168" cy="201168"/>
          </a:xfrm>
          <a:prstGeom prst="rect">
            <a:avLst/>
          </a:prstGeom>
        </p:spPr>
      </p:pic>
      <p:sp>
        <p:nvSpPr>
          <p:cNvPr id="18"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controls, on a keyboard</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01616"/>
                <a:gridCol w="3925716"/>
                <a:gridCol w="426708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arrow keys, or W A S 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typed in the terminal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Start /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Leave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Escape: back to Setup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close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pieces of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idea behind every installation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compiler for the ESP32 family comes with ESP-IDF, the development kit of Espressif</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PRG32 needs ESP-IDF 5.4 or newer, installed for two chips: esp32c6, the kit, and esp32c3, the emulator</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ESP-IDF is not active by itself: every new terminal must switch it on before the tools work</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Then one command does everything: python3 -m prg32</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Almost every installation problem is ESP-IDF not being active in the terminal you are typing in</a:t>
            </a:r>
            <a:endParaRPr lang="en-US" sz="21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message you will meet</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idf.py: command not found</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ESP-IDF is not active in this terminal. Activate it and try again.</a:t>
            </a:r>
            <a:endParaRPr lang="en-US" sz="1900" dirty="0"/>
          </a:p>
        </p:txBody>
      </p:sp>
      <p:sp>
        <p:nvSpPr>
          <p:cNvPr id="16" name="Shape 14"/>
          <p:cNvSpPr/>
          <p:nvPr/>
        </p:nvSpPr>
        <p:spPr>
          <a:xfrm>
            <a:off x="9287967" y="91440"/>
            <a:ext cx="2355088" cy="274320"/>
          </a:xfrm>
          <a:prstGeom prst="rect">
            <a:avLst/>
          </a:prstGeom>
          <a:solidFill>
            <a:srgbClr val="FEF3C7"/>
          </a:solidFill>
          <a:ln w="12700">
            <a:solidFill>
              <a:srgbClr val="B45309"/>
            </a:solidFill>
            <a:prstDash val="solid"/>
          </a:ln>
        </p:spPr>
      </p:sp>
      <p:sp>
        <p:nvSpPr>
          <p:cNvPr id="17" name="Shape 15"/>
          <p:cNvSpPr/>
          <p:nvPr/>
        </p:nvSpPr>
        <p:spPr>
          <a:xfrm>
            <a:off x="9287967" y="91440"/>
            <a:ext cx="27432" cy="274320"/>
          </a:xfrm>
          <a:prstGeom prst="rect">
            <a:avLst/>
          </a:prstGeom>
          <a:solidFill>
            <a:srgbClr val="B45309"/>
          </a:solidFill>
          <a:ln w="12700">
            <a:solidFill>
              <a:srgbClr val="B45309"/>
            </a:solidFill>
            <a:prstDash val="solid"/>
          </a:ln>
        </p:spPr>
      </p:sp>
      <p:sp>
        <p:nvSpPr>
          <p:cNvPr id="18" name="Shape 16"/>
          <p:cNvSpPr/>
          <p:nvPr/>
        </p:nvSpPr>
        <p:spPr>
          <a:xfrm>
            <a:off x="9342831" y="91440"/>
            <a:ext cx="27432" cy="274320"/>
          </a:xfrm>
          <a:prstGeom prst="rect">
            <a:avLst/>
          </a:prstGeom>
          <a:solidFill>
            <a:srgbClr val="B45309"/>
          </a:solidFill>
          <a:ln w="12700">
            <a:solidFill>
              <a:srgbClr val="B45309"/>
            </a:solidFill>
            <a:prstDash val="solid"/>
          </a:ln>
        </p:spPr>
      </p:sp>
      <p:pic>
        <p:nvPicPr>
          <p:cNvPr id="19"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0" name="Text 17"/>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Troubleshooting</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riscv32-esp-elf-gcc missing</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compilers were not installed, or not activated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./install.sh esp32c3,esp32c6, then export.sh</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No module named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you are not in the PRG32 folder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cd to the folder that you cloned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PRG32-QT is not running, or a firewall blocks port 8080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it; allow it;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macOS will not open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application is from outside the App 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right-click, Open; or Privacy and Security, Open Anyway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Linux: PRG32 does not start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Qt of the system is older than 6.5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newer distribution, or build from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Ready for Lecture 02?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8192799"/>
                <a:gridCol w="2218883"/>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 starts and runs a game from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a new terminal, after activating ESP-IDF, doctor shows only 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build produces pong.prg32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upload-and-run starts it 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debug mode, pause and step 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new terminal, python3 -m prg32 doctor says: idf.py missing. What is the most likely cause?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must be installed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is not active in this terminal</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 is not running</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board is not connected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host lets you run and debug a cartridge without installing a compiler?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ESP32-C6 board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none of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the same pong.prg32 run on the board, on QEMU and on PRG32-QT?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is recompiled at each start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contains three programs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calls the runtime through the same table of functions on every host</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PRG32-QT translates it to 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375"/>
                <a:gridCol w="3328325"/>
                <a:gridCol w="2060391"/>
                <a:gridCol w="332832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toolchain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catena di strumenti di sviluppo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ambiente di esecuzione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 build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compilare (costruire)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to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scrivere nella memoria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macchina ospite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punto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is a runtime, a cartridge format, a tool and a Store; a cartridge runs unchanged on the board, on QEMU and on PRG32-QT</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is enough to play and to debug; ESP-IDF and the PRG32 repository are needed to build</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ESP-IDF must be activated in every new terminal: remember this and most problems disappear</a:t>
            </a:r>
            <a:endParaRPr lang="en-US" sz="2200" dirty="0"/>
          </a:p>
        </p:txBody>
      </p:sp>
      <p:sp>
        <p:nvSpPr>
          <p:cNvPr id="9" name="Shape 7"/>
          <p:cNvSpPr/>
          <p:nvPr/>
        </p:nvSpPr>
        <p:spPr>
          <a:xfrm>
            <a:off x="548640" y="408959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8316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built a cartridge, sent it to PRG32-QT and stopped it in the debugger: the loop of the whole course</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docs/usage of github.com/riscv-prg32/PRG32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 of github.com/riscv-prg32/PRG32-QT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the chapters on setup and on PRG32-QT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dc:title>
  <dc:subject>Lecture 01</dc:subject>
  <dc:creator>Raffaele Montella</dc:creator>
  <cp:lastModifiedBy>Raffaele Montella</cp:lastModifiedBy>
  <cp:revision>1</cp:revision>
  <dcterms:created xsi:type="dcterms:W3CDTF">2026-10-16T15:51:36Z</dcterms:created>
  <dcterms:modified xsi:type="dcterms:W3CDTF">2026-10-16T15:51:36Z</dcterms:modified>
</cp:coreProperties>
</file>