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22de768-ca38-5212-eea0-eb1b520d4f8b}">
          <p14:sldIdLst>
            <p14:sldId id="256"/>
            <p14:sldId id="257"/>
            <p14:sldId id="258"/>
          </p14:sldIdLst>
        </p14:section>
        <p14:section name="Before you start: the words of today" id="{b746ba6d-2e57-d7e7-e68a-12d769d6177d}">
          <p14:sldIdLst>
            <p14:sldId id="259"/>
            <p14:sldId id="260"/>
            <p14:sldId id="261"/>
            <p14:sldId id="262"/>
          </p14:sldIdLst>
        </p14:section>
        <p14:section name="The platform, in detail" id="{ff43d136-5764-f4a5-618d-9f7163c75c2a}">
          <p14:sldIdLst>
            <p14:sldId id="263"/>
            <p14:sldId id="264"/>
            <p14:sldId id="265"/>
            <p14:sldId id="266"/>
            <p14:sldId id="267"/>
            <p14:sldId id="268"/>
          </p14:sldIdLst>
        </p14:section>
        <p14:section name="Step 2: install the toolchain" id="{7e8e1a7c-0227-602b-3354-1b0d55420441}">
          <p14:sldIdLst>
            <p14:sldId id="269"/>
          </p14:sldIdLst>
        </p14:section>
        <p14:section name="When something does not work" id="{82e1e89f-bfd8-7601-c50d-4c5087809945}">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lecture is a workshop in both senses of the word: a session of practical work, and the place in which all subsequent work will be done. It contains no theory. Its outcome is a configured environment: PRG32-QT running on the student's laptop, the RISC-V toolchain installed and verified, and a first cartridge built by the student and halted in the debugger. The epigraph about sharpening the axe justifies devoting two hours to tools: every later lecture presupposes that building and running a program costs a single command and a few seconds, so that attention can be spent on the ideas rather than on the procedure.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program, source and machine code; the pieces of PRG32. USE NOW: the terminal, the PRG32 tools, the PRG32-QT debugger, the complete program (used, not studied, in this course). UNDERSTAND LATER: the init, update, draw contract (Lecture 02); registers (Lecture 02). A slide without a badge is context: a story, an example, a question, an exercise.
Roadmap. Today's outcomes: (1) explain the path from a source file to a running cartridge: source, translator, machine code, cartridge, host; (2) run a cartridge in PRG32-QT and build one with the terminal. Builds on: Lecture 00, and Starting from Zero for a reader who has never programmed. Next: Lecture 02, First Contact: RISC-V Assembly on PRG32.
For the lecturer: New in 2026/27: a hands-on lecture. Students bring a laptop; at the end everyone has PRG32-QT running and a cartridge built by their own toolchain. The steps come from the README of PRG32, the documentation of PRG32-QT and chapter 3 of the textbook. The cartridge commands of step 3 were run on macOS against PRG32-QT; the Windows and Linux installations follow the official instructions and were not run for these slides. Ask the students to do the long download of step 2 at home, before the lecture: the classroom network will not survive sixty copies of ESP-IDF. Version numbers are those of October 2026: check the release pages before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outcomes, listed in the order in which they are reached: a conceptual picture of the platform; PRG32-QT installed; the toolchain installed and checked; one cartridge built and stopped in the debugger; and a repertoire of remedies for the usual failures. The list doubles as a checklist. The first two outcomes are sufficient to follow the course; the third and fourth must be in place before Lecture 02, in which the first program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installation is stratified into four levels, not all of which are required. Level 1, PRG32-QT, takes about five minutes and allows any cartridge to be played and debugged. Level 2, ESP-IDF together with the PRG32 repository, is a substantial download and enables the student to build cartridges; it is required by everyone before Lecture 02. Level 3, the QEMU emulator, and level 4, the physical kit, are optional. The caption addresses an important concern of equity: the entire course can be followed with levels 1 and 2 alone, without purchasing any hardware.
For the lecturer: Level 1 takes five minutes. Level 2 is a large download and takes from half an hour to an hour: at home, on a good connection. Levels 3 and 4 are for the curious, and for the laboratory.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assumes nothing, because most of the class has never written a program. A processor is a machine that executes instructions: small, exact orders such as "add these two numbers" or "copy this value". It executes hundreds of millions of them each second, but each one does very little. A program is a list of such instructions. Inside the computer the list is stored as numbers, and this numeric form is called machine code.
People do not write machine code. They write source code: an ordinary text file, in a programming language, which a translator then turns into machine code. For assembly, the language of this course, the translator is called an assembler; for C it is called a compiler. The box shows the same instruction in both forms. The line on top is what you will type; the number below, written in hexadecimal (Lecture 02 shows how to read it), is what the processor receives. The toolchain is the whole set of translators and helper programs. Installing it is the purpose of step 2.
UNDERSTAND NOW: program, source and machine code.
For the lecturer: Assembly is the language closest to the machine: one line of assembly becomes one instruction. This is why the course uses it: what you write is what the processor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game does not run on an empty machine. On the kit, another program, the firmware, starts as soon as the board is switched on and stays in memory. It is kept in flash memory, the kind that keeps its contents when the power is off, as in a USB stick. It controls the screen, the buttons and the sound. Your game is a guest of the firmware: it is loaded into memory and called by it.
The runtime is the part of the firmware that the game talks to. It calls the game once for every frame, that is, for every new picture on the screen, and it lends the game ready-made functions for drawing and for sound. Any machine that offers this runtime is called a host. There are three: the real board; QEMU, an emulator; and PRG32-QT, an application for your laptop. An emulator, like the interpreter inside PRG32-QT, is a program that imitates a processor: it reads machine code and does, in software, what the chip would do in hardware. This is why a laptop can run a cartridge built for a different processor.
UNDERSTAND NOW: the pieces of PRG32.
For the lecturer: A frame is one picture on the screen; a game draws thirty or more each second, and the runtime calls your code once for each. Lecture 02 shows the three functions that it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installation in this lecture uses the terminal, so it is introduced before anything is installed. The terminal is a window in which you give the computer orders by typing them, instead of clicking. It shows a prompt, a short line ending in $ or &gt;, and waits. You type a command and press Enter; the computer runs it and prints its answer below.
The table lists the six commands needed this week. At any moment the terminal is "in" one folder, the current folder, and commands act on the files there. pwd shows which folder it is, ls (or dir on Windows) lists its contents, and cd moves into another folder; cd .. moves back up one level. Ctrl+C stops a program that does not end by itself. Two habits save a great deal of typing and of errors: the Tab key completes a name that you have started to type, and the up arrow recalls the previous command.
USE NOW: the terminal (used, not studied, in this course).
For the lecturer: The terminal is a window where you type commands instead of clicking. It shows a prompt, ending in $ or &gt;, and waits: type a command and press Enter. The Tab key completes a file name; the up arrow brings back the previous command. On macOS it is the application Terminal; on Windows, PowerShell; on Linux, Terminal or Konsole.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words appear in every installation guide. A path names a file by listing the folders that lead to it, separated by / (or \ on Windows). The sign ~ stands for your home folder, the personal folder that the system gives to each user. A repository is a folder of source code whose whole history is recorded by a program called git; git clone copies a repository from the Internet onto your laptop.
The second half of the slide is about errors, because a beginner meets many of them in the first week and they are not a sign of failure. A command that succeeds often prints little or nothing. A command that fails prints a message, and the message nearly always names the cause. It should be read in full, starting from the first line that says error, before anything is changed. The four messages listed cover most problems of this lecture. The box shows the first one: the terminal could not find a program called python3. When asking for help, copy the command and the complete message as text, not a photograph of the screen.
USE NOW: the terminal (used, not studied, in this course).
For the lecturer: The first line that says error usually names the cause; the lines after it are often its consequences. When you ask for help, copy the command and the whole message, as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PRG32 designates four distinct artefacts. A firmware: the resident program that owns the display, the buttons and the audio. A cartridge format: a game packaged as a single small file. A tool on the development machine, the command python3 -m prg32, which builds, uploads and packages cartridges. And a Store, where finished games are published. The student's code is genuine 32-bit RISC-V machine code, and it interacts with the firmware through a contract of three functions: init, invoked once, and update and draw, invoked at every frame. Lecture 02 takes this contract as its starting point.
UNDERSTAND NOW: the pieces of PRG32.
For the lecturer: github.com/riscv-prg32/PRG32. The runtime calls init once, then update and draw at every frame: Lecture 02 starts from this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traces a program through its life cycle, from left to right. A source file is written in assembly or C. The RISC-V toolchain translates it into machine code. The result is a cartridge: a file containing code, data and a short header. The cartridge is transmitted over the network to a host, whose runtime then calls the three entry points. The first three stages take place on the student's laptop and require level 2; the last two take place on a host, which may be PRG32-QT, QEMU or the board. One and the same file runs on all three because it reaches the runtime indirectly, through a table of functions. That table is part of the application binary interface, or ABI, of PRG32: an agreement on how a program and the runtime call each other, fixed down to the level of the machine code, so that neither needs to know where the other sits in memory.
UNDERSTAND NOW: the pieces of PRG32.
For the lecturer: The compiler is riscv32-esp-elf-gcc, installed by ESP-IDF. The cartridge is loaded at address 0x40800000 and reaches the runtime through a table of functions, the ABI: this is why the same file runs on three different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 is a small console assembled on a breadboard, a plastic board with rows of holes into which components and wires are pushed, with no soldering. Its core is an Espressif ESP32-C6, a chip with a single RISC-V core and an integrated Wi-Fi radio. A core is one processor. It works in steps paced by a clock, an electrical signal that ticks at a fixed rate; 160 MHz means 160 million ticks per second. Around it are a 2.8-inch colour display, one or two audio amplifiers, a joystick and a few buttons, each wired directly to a pin of the chip, one of the metal legs through which the chip exchanges electrical signals with the outside. Two numbers concerning the screen should be distinguished: the panel has 320 by 240 pixels, while games draw within a viewport of 320 by 200. Cartridges reach the board over Wi-Fi. A personal kit is not required to follow the course; the laboratory provides a number of them.
UNDERSTAND NOW: the pieces of PRG32.
For the lecturer: Display: ILI9341 over SPI. Audio: MAX98357A over I2S. The bill of materials and the wiring are in docs/hardware of the PRG32 repository. The laboratory has kits.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cartridge, three hosts, compared row by row. On the board and in QEMU the code runs natively: the machine code is executed by a RISC-V chip, a physical one on the board and an emulated one in QEMU, together with the real firmware. In PRG32-QT it is interpreted: a program on the laptop reads each instruction and carries it out in software, one at a time. The board and QEMU require the toolchain, whereas PRG32-QT does not, either for playing or for debugging. Single-stepping requires additional tools on the first two hosts and is built into the third. A useful heuristic follows: the board is the authority on timing, PRG32-QT the authority on the content of a register.
UNDERSTAND NOW: the pieces of PRG32.
For the lecturer: Use the board when you want the truth about time, and PRG32-QT when you want the truth about a register. Why an ESP32-C3 in QEMU? Espressif maintains a mature emulator with graphics for that chip; it executes the same RISC-V instructions, and the cartridge does not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PRG32-QT is the console realised as an application: it contains an interpreter of the RV32IMAC instruction set and offers the cartridge the same services as the firmware. Three features matter. The speed profiles in Settings: Accurate, the default, which reproduces the timing of the ESP32-C6; Optimal, at thirty frames per second; and Unlimited. The Store browser, which downloads and runs published cartridges. And the debugger, which displays the disassembly, that is, the machine code translated back into readable assembly, together with the registers and memory, and executes one instruction at a time. Accurate is the profile to retain, since it reveals when a program would be too slow on the real chip.
UNDERSTAND NOW: the pieces of PRG32.
For the lecturer: github.com/riscv-prg32/PRG32-QT. Accurate charges each instruction and each call a cost in cycles of a 160 MHz clock: not a cycle-exact model of the chip, but close enough to see when a frame is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keyboard the joystick is mapped to the arrow keys or to W, A, S, D; button A to Z or J; button B to X or K; Start and Select to Enter or Space. In PRG32-QT, Escape leaves the game and returns to Setup. One property of QEMU routinely surprises first-time users: keystrokes must be typed into the terminal from which QEMU was launched, not into the window displaying the image. A game that appears unresponsive in QEMU usually only requires the terminal to be given focus.
UNDERSTAND NOW: the pieces of PRG32.
For the lecturer: A USB or Bluetooth game controller is recognised by PRG32-QT when it is plugged in. QEMU reads the keyboard from the terminal that launched it, not from the window with the picture: the classic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idea explains every installation step and nearly every failure. The compiler is distributed with ESP-IDF, Espressif's development framework, installed for two targets: esp32c6, the kit, and esp32c3, the emulated chip. ESP-IDF, however, is not active by default: each new terminal must activate it before its tools can be located. The box on the right shows the message every student will eventually encounter, idf.py: command not found. It does not indicate a broken installation; it indicates that ESP-IDF has not been activated in the terminal in use.
USE NOW: the PRG32 tools (used, not studied, in this course).
For the lecturer: On Windows activating means opening the ESP-IDF PowerShell; on macOS and Linux, running export.sh. The symptom is always the same: idf.py, or riscv32-esp-elf-gcc, not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read from left to right: symptom, diagnosis, remedy. Its first row accounts for most cases: idf.py: command not found means that ESP-IDF is not active in the current terminal. No module named prg32 means that the command was not issued from the PRG32 folder. A refused connection means that PRG32-QT is not running, or that a firewall is blocking port 8080. When asking for help, the command and the complete message should be supplied as text: a photograph of a screen can be neither searched nor copied.
USE NOW: the PRG32 tools (used, not studied, in this course).
For the lecturer: The first row covers most of the cases. docs/usage/troubleshooting.md of the PRG32 repository has the complete list. When asking for help, paste the command and the whole message: never a photograph of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checks, one for each step completed: PRG32-QT runs a game from the Store; in a fresh terminal the doctor reports only OK; cartridge build produces pong.prg32; upload-and-run starts it; and in debug mode pausing and stepping work. For any check that fails, the last column names the step to repeat. Students who remain blocked should attend office hours or the laboratory, with their laptop, before Lecture 02.
For the lecturer: Five ticks and the workshop is ready. Anyone who is stuck comes to office hours, or to the laboratory, before Lecture 02: with the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answering the first question, consider what "a new terminal" implies. Nothing has been uninstalled, PRG32-QT plays no part in this command, and the doctor needs no board. Activation lasts only as long as the terminal in which it was performed, so a new terminal begins without it. The remedy is the routine one: export.sh, or the ESP-IDF PowerShell.
The second question separates two activities: building a cartridge and running one. A compiler is needed only for the former. The board and QEMU execute the real firmware, which must itself be compiled; PRG32-QT interprets the cartridge and provides its own debugger, and is therefore the only host that requires nothing further.
For the lecturer: 1. Answer: B. Activation lasts as long as the terminal: run export.sh, or open the ESP-IDF PowerShell.
2. Answer: C. PRG32-QT interprets the cartridge and has a built-in debugger; a compiler is needed only to build cartridges.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cartridge is neither recompiled nor a bundle of three programs. A portable cartridge does not call the firmware at fixed addresses: it calls through a table of functions, the ABI, and each host supplies its own implementation of that table. This is the meaning of the --portable option, and the reason why the file is identical in every column of the table comparing the three hosts. The principle, a stable interface separating a program from the system that runs it, will recur throughout the course.
The last question checks the vocabulary of the start of the lecture. The assembler does not run anything: it is a translator, which reads source code written by a person and produces the machine code that a processor executes. Running the result is the job of a host and of its runtime; sending it to a host is the job of the PRG32 tools; showing the registers is the job of the debugger.
For the lecturer: 1. Answer: C. A portable cartridge depends only on the ABI, the table of functions of the runtime, which every host provides.
2. Answer: B. Assembly is text for people; the processor reads numbers. The assembler translates the first into the second; the runtime of a host then runs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terms that recur in every document concerning PRG32, with the Italian usually employed in class. Three deserve particular attention. A toolchain is the sequence of programs that transforms source code into an executable: compiler, assembler and linker, the program that joins the separately translated pieces into one file. To flash is to write a program into the flash memory of a chip. A host is the machine on which a cartridge runs: the board, QEMU or PRG32-QT.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propositions summarise the lecture. PRG32 is a runtime, a cartridge format, a tool and a Store, and a cartridge runs unchanged on three hosts. PRG32-QT suffices for playing and debugging; ESP-IDF and the repository are required for building. ESP-IDF must be activated in every new terminal. And the student has now completed the cycle on which the whole course rests: build, transmit, halt in the debugger. The recommended readings are the README files of the two repositories. Lecture 02 uses this workshop to write the first program in assembly.
Learning status, recap. UNDERSTAND NOW: program, source and machine code; the pieces of PRG32. USE NOW: the terminal, the PRG32 tools, the PRG32-QT debugger, the complete program (used, not studied, in this course). UNDERSTAND LATER: the init, update, draw contract (Lecture 02); registers (Lecture 02). A slide without a badge is context: a story, an example, a question, an exercise. Closing thread: You now own the whole cycle: write a source file, translate it, send the cartridge to a host, stop it in the debugger. Next: writing the source file yourself. Exit ticket (two to four minutes, alone, on paper): 1. Put these four in order and say in one line what each does: the cartridge, the source file, the runtime of a host, the assembler. 2. In a new terminal you type python3 -m prg32 doctor and read: idf.py: command not found. What does the message tell you, and what do you do first?
For the lecturer: Next: Lecture 02, the first program in RISC-V assembly, typed by the students in the workshop they have just set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01: PRG32 setup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01</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PRG32 and PRG32-QT: Setting Up Your Workshop</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800" dirty="0">
                <a:solidFill>
                  <a:srgbClr val="CFE3EA"/>
                </a:solidFill>
                <a:latin typeface="Calibri" pitchFamily="34" charset="0"/>
                <a:ea typeface="Calibri" pitchFamily="34" charset="-122"/>
                <a:cs typeface="Calibri" pitchFamily="34" charset="-120"/>
              </a:rPr>
              <a:t>The platform in detail, and a step-by-step installation on Windows, macOS and Linux</a:t>
            </a:r>
            <a:endParaRPr lang="en-US" sz="18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“Give me six hours to chop down a tree and I will spend the first four sharpening the axe.”</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attributed to Abraham Lincoln</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01-Computer_Architecture-PRG32_and_PRG32-QT_Setup-Lab.pptx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prg32qt_debugger.png">    </p:cNvPr>
          <p:cNvPicPr>
            <a:picLocks noChangeAspect="1"/>
          </p:cNvPicPr>
          <p:nvPr/>
        </p:nvPicPr>
        <p:blipFill>
          <a:blip r:embed="rId1"/>
          <a:stretch>
            <a:fillRect/>
          </a:stretch>
        </p:blipFill>
        <p:spPr>
          <a:xfrm>
            <a:off x="8810277" y="4251960"/>
            <a:ext cx="2648036" cy="182880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have by the end</a:t>
            </a:r>
            <a:endParaRPr lang="en-US" sz="3200" dirty="0"/>
          </a:p>
        </p:txBody>
      </p:sp>
      <p:sp>
        <p:nvSpPr>
          <p:cNvPr id="3" name="Text 1"/>
          <p:cNvSpPr txBox="1"/>
          <p:nvPr/>
        </p:nvSpPr>
        <p:spPr>
          <a:xfrm>
            <a:off x="548640" y="143713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884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clear picture of the pieces of PRG32: runtime, cartridge, tools, hosts, Store</a:t>
            </a:r>
            <a:endParaRPr lang="en-US" sz="2200" dirty="0"/>
          </a:p>
        </p:txBody>
      </p:sp>
      <p:sp>
        <p:nvSpPr>
          <p:cNvPr id="5" name="Text 3"/>
          <p:cNvSpPr txBox="1"/>
          <p:nvPr/>
        </p:nvSpPr>
        <p:spPr>
          <a:xfrm>
            <a:off x="548640" y="25760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55778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PRG32-QT installed on your laptop: you can play any cartridge and look inside it</a:t>
            </a:r>
            <a:endParaRPr lang="en-US" sz="2200" dirty="0"/>
          </a:p>
        </p:txBody>
      </p:sp>
      <p:sp>
        <p:nvSpPr>
          <p:cNvPr id="7" name="Text 5"/>
          <p:cNvSpPr txBox="1"/>
          <p:nvPr/>
        </p:nvSpPr>
        <p:spPr>
          <a:xfrm>
            <a:off x="548640" y="37150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9671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RISC-V toolchain installed and checked: you can build cartridges of your own</a:t>
            </a:r>
            <a:endParaRPr lang="en-US" sz="2200" dirty="0"/>
          </a:p>
        </p:txBody>
      </p:sp>
      <p:sp>
        <p:nvSpPr>
          <p:cNvPr id="9" name="Text 7"/>
          <p:cNvSpPr txBox="1"/>
          <p:nvPr/>
        </p:nvSpPr>
        <p:spPr>
          <a:xfrm>
            <a:off x="548640" y="48539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8356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One cartridge built by you, running in PRG32-QT, stopped in the debugger</a:t>
            </a:r>
            <a:endParaRPr lang="en-US" sz="2200" dirty="0"/>
          </a:p>
        </p:txBody>
      </p:sp>
      <p:sp>
        <p:nvSpPr>
          <p:cNvPr id="11" name="Text 9"/>
          <p:cNvSpPr txBox="1"/>
          <p:nvPr/>
        </p:nvSpPr>
        <p:spPr>
          <a:xfrm>
            <a:off x="548640" y="5750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73176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list of what to do when something does not work</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Four levels: install what you need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924535"/>
                <a:gridCol w="3361944"/>
                <a:gridCol w="4370527"/>
                <a:gridCol w="243740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Level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You install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You can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Needed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PRG32-QT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play cartridges, download from the Store, use the debugger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by everybody, today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ESP-IDF and the PRG32 repository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build your own cartridges from assembly or C</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by everybody, before Lecture 02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QEMU emulator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run the real firmware on your laptop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optional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kit: an ESP32-C6 board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run on real hardware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optional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The course can be followed with levels 1 and 2 only. No board is required.</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a program is</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processor does one thing, very fast: it executes instructions, small orders such as add two numbers or copy a value</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program is a list of instructions, kept in memory as numbers: this form is called machine code</a:t>
            </a:r>
            <a:endParaRPr lang="en-US" sz="21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2073"/>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Nobody writes those numbers by hand: we write source code, a text file in a programming language such as assembly or C</a:t>
            </a:r>
            <a:endParaRPr lang="en-US" sz="2100" dirty="0"/>
          </a:p>
        </p:txBody>
      </p:sp>
      <p:sp>
        <p:nvSpPr>
          <p:cNvPr id="9" name="Shape 7"/>
          <p:cNvSpPr/>
          <p:nvPr/>
        </p:nvSpPr>
        <p:spPr>
          <a:xfrm>
            <a:off x="548640" y="483812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3945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translator turns source code into machine code: an assembler for assembly, a compiler for C</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toolchain is that set of translators and their helpers: installing it is step 2 of today</a:t>
            </a:r>
            <a:endParaRPr lang="en-US" sz="2100" dirty="0"/>
          </a:p>
        </p:txBody>
      </p:sp>
      <p:sp>
        <p:nvSpPr>
          <p:cNvPr id="13" name="Shape 11"/>
          <p:cNvSpPr/>
          <p:nvPr/>
        </p:nvSpPr>
        <p:spPr>
          <a:xfrm>
            <a:off x="7863840" y="1417320"/>
            <a:ext cx="3779215" cy="4754880"/>
          </a:xfrm>
          <a:prstGeom prst="roundRect">
            <a:avLst>
              <a:gd name="adj" fmla="val 1936"/>
            </a:avLst>
          </a:prstGeom>
          <a:solidFill>
            <a:srgbClr val="D8ECEE"/>
          </a:solidFill>
          <a:ln w="12700">
            <a:solidFill>
              <a:srgbClr val="D8ECEE"/>
            </a:solidFill>
            <a:prstDash val="solid"/>
          </a:ln>
        </p:spPr>
      </p:sp>
      <p:sp>
        <p:nvSpPr>
          <p:cNvPr id="14" name="Text 12"/>
          <p:cNvSpPr txBox="1"/>
          <p:nvPr/>
        </p:nvSpPr>
        <p:spPr>
          <a:xfrm>
            <a:off x="8138160" y="1645920"/>
            <a:ext cx="3230575" cy="548640"/>
          </a:xfrm>
          <a:prstGeom prst="rect">
            <a:avLst/>
          </a:prstGeom>
          <a:noFill/>
          <a:ln/>
        </p:spPr>
        <p:txBody>
          <a:bodyPr wrap="square" lIns="0" tIns="0" rIns="0" bIns="0" rtlCol="0" anchor="ctr"/>
          <a:lstStyle/>
          <a:p>
            <a:pPr indent="0" marL="0">
              <a:buNone/>
            </a:pPr>
            <a:r>
              <a:rPr lang="en-US" sz="1800" b="1" dirty="0">
                <a:solidFill>
                  <a:srgbClr val="2E4A62"/>
                </a:solidFill>
                <a:latin typeface="Calibri" pitchFamily="34" charset="0"/>
                <a:ea typeface="Calibri" pitchFamily="34" charset="-122"/>
                <a:cs typeface="Calibri" pitchFamily="34" charset="-120"/>
              </a:rPr>
              <a:t>One instruction, written twice</a:t>
            </a:r>
            <a:endParaRPr lang="en-US" sz="1800" dirty="0"/>
          </a:p>
        </p:txBody>
      </p:sp>
      <p:sp>
        <p:nvSpPr>
          <p:cNvPr id="15" name="Text 13"/>
          <p:cNvSpPr txBox="1"/>
          <p:nvPr/>
        </p:nvSpPr>
        <p:spPr>
          <a:xfrm>
            <a:off x="8138160" y="2286000"/>
            <a:ext cx="3230575" cy="365760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You write, as source code:</a:t>
            </a:r>
            <a:endParaRPr lang="en-US" sz="1900" dirty="0"/>
          </a:p>
          <a:p>
            <a:pPr indent="0" marL="0">
              <a:buNone/>
            </a:pPr>
            <a:r>
              <a:rPr lang="en-US" sz="1900" dirty="0">
                <a:solidFill>
                  <a:srgbClr val="1B2530"/>
                </a:solidFill>
                <a:latin typeface="Calibri" pitchFamily="34" charset="0"/>
                <a:ea typeface="Calibri" pitchFamily="34" charset="-122"/>
                <a:cs typeface="Calibri" pitchFamily="34" charset="-120"/>
              </a:rPr>
              <a:t>addi a0, a0, 1</a:t>
            </a:r>
            <a:endParaRPr lang="en-US" sz="1900" dirty="0"/>
          </a:p>
          <a:p>
            <a:pPr indent="0" marL="0">
              <a:buNone/>
            </a:pPr>
            <a:endParaRPr lang="en-US" sz="1900" dirty="0"/>
          </a:p>
          <a:p>
            <a:pPr indent="0" marL="0">
              <a:buNone/>
            </a:pPr>
            <a:r>
              <a:rPr lang="en-US" sz="1900" dirty="0">
                <a:solidFill>
                  <a:srgbClr val="1B2530"/>
                </a:solidFill>
                <a:latin typeface="Calibri" pitchFamily="34" charset="0"/>
                <a:ea typeface="Calibri" pitchFamily="34" charset="-122"/>
                <a:cs typeface="Calibri" pitchFamily="34" charset="-120"/>
              </a:rPr>
              <a:t>The processor reads, as machine code:</a:t>
            </a:r>
            <a:endParaRPr lang="en-US" sz="1900" dirty="0"/>
          </a:p>
          <a:p>
            <a:pPr indent="0" marL="0">
              <a:buNone/>
            </a:pPr>
            <a:r>
              <a:rPr lang="en-US" sz="1900" dirty="0">
                <a:solidFill>
                  <a:srgbClr val="1B2530"/>
                </a:solidFill>
                <a:latin typeface="Calibri" pitchFamily="34" charset="0"/>
                <a:ea typeface="Calibri" pitchFamily="34" charset="-122"/>
                <a:cs typeface="Calibri" pitchFamily="34" charset="-120"/>
              </a:rPr>
              <a:t>0x00150513</a:t>
            </a:r>
            <a:endParaRPr lang="en-US" sz="1900" dirty="0"/>
          </a:p>
        </p:txBody>
      </p:sp>
      <p:sp>
        <p:nvSpPr>
          <p:cNvPr id="16" name="Shape 14"/>
          <p:cNvSpPr/>
          <p:nvPr/>
        </p:nvSpPr>
        <p:spPr>
          <a:xfrm>
            <a:off x="7565466" y="91440"/>
            <a:ext cx="4077589" cy="274320"/>
          </a:xfrm>
          <a:prstGeom prst="rect">
            <a:avLst/>
          </a:prstGeom>
          <a:solidFill>
            <a:srgbClr val="E0F2FE"/>
          </a:solidFill>
          <a:ln w="12700">
            <a:solidFill>
              <a:srgbClr val="0369A1"/>
            </a:solidFill>
            <a:prstDash val="solid"/>
          </a:ln>
        </p:spPr>
      </p:sp>
      <p:sp>
        <p:nvSpPr>
          <p:cNvPr id="17" name="Shape 15"/>
          <p:cNvSpPr/>
          <p:nvPr/>
        </p:nvSpPr>
        <p:spPr>
          <a:xfrm>
            <a:off x="7565466"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7693482" y="128016"/>
            <a:ext cx="201168" cy="201168"/>
          </a:xfrm>
          <a:prstGeom prst="rect">
            <a:avLst/>
          </a:prstGeom>
        </p:spPr>
      </p:pic>
      <p:sp>
        <p:nvSpPr>
          <p:cNvPr id="19" name="Text 16"/>
          <p:cNvSpPr txBox="1"/>
          <p:nvPr/>
        </p:nvSpPr>
        <p:spPr>
          <a:xfrm>
            <a:off x="7949514" y="91440"/>
            <a:ext cx="365696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program, source and machine code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Firmware, runtime, host: who runs your program</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Your game is never alone on the machine: another program starts first, stays in memory, and runs yours</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On the kit that program is the firmware, kept in the flash memory of the chip: it owns the screen, the buttons and the sound</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runtime is the part of the firmware that your game talks to: it calls your code at every frame and lends it functions to draw and to play sounds</a:t>
            </a:r>
            <a:endParaRPr lang="en-US" sz="2200" dirty="0"/>
          </a:p>
        </p:txBody>
      </p:sp>
      <p:sp>
        <p:nvSpPr>
          <p:cNvPr id="9" name="Shape 7"/>
          <p:cNvSpPr/>
          <p:nvPr/>
        </p:nvSpPr>
        <p:spPr>
          <a:xfrm>
            <a:off x="548640" y="45786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178"/>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host is any machine that offers this runtime: the board, the QEMU emulator, or the PRG32-QT application</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An emulator, or an interpreter, is a program that imitates a processor in software: your laptop pretends to be the chip</a:t>
            </a:r>
            <a:endParaRPr lang="en-US" sz="2200" dirty="0"/>
          </a:p>
        </p:txBody>
      </p:sp>
      <p:sp>
        <p:nvSpPr>
          <p:cNvPr id="13" name="Shape 11"/>
          <p:cNvSpPr/>
          <p:nvPr/>
        </p:nvSpPr>
        <p:spPr>
          <a:xfrm>
            <a:off x="8419033" y="91440"/>
            <a:ext cx="3224022" cy="274320"/>
          </a:xfrm>
          <a:prstGeom prst="rect">
            <a:avLst/>
          </a:prstGeom>
          <a:solidFill>
            <a:srgbClr val="E0F2FE"/>
          </a:solidFill>
          <a:ln w="12700">
            <a:solidFill>
              <a:srgbClr val="0369A1"/>
            </a:solidFill>
            <a:prstDash val="solid"/>
          </a:ln>
        </p:spPr>
      </p:sp>
      <p:sp>
        <p:nvSpPr>
          <p:cNvPr id="14" name="Shape 12"/>
          <p:cNvSpPr/>
          <p:nvPr/>
        </p:nvSpPr>
        <p:spPr>
          <a:xfrm>
            <a:off x="8419033"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16" name="Text 13"/>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pieces of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terminal: talking to the computer in text</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853807"/>
                <a:gridCol w="3120304"/>
                <a:gridCol w="312030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macOS and Linux</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Windows PowerShell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see which folder you are in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pwd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pwd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list the files in that folder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ls</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dir</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enter the folder PRG32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cd PRG32</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cd PRG32</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go back up one folder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cd ..</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cd ..</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go to your home folder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cd ~</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cd ~</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stop the program that is running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Ctrl+C</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Ctrl+C</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Type the command after the prompt and press Enter. Every command of this lecture is typed this way.</a:t>
            </a:r>
            <a:endParaRPr lang="en-US" sz="1500" dirty="0"/>
          </a:p>
        </p:txBody>
      </p:sp>
      <p:sp>
        <p:nvSpPr>
          <p:cNvPr id="5" name="Shape 2"/>
          <p:cNvSpPr/>
          <p:nvPr/>
        </p:nvSpPr>
        <p:spPr>
          <a:xfrm>
            <a:off x="9484944" y="91440"/>
            <a:ext cx="2158111" cy="274320"/>
          </a:xfrm>
          <a:prstGeom prst="rect">
            <a:avLst/>
          </a:prstGeom>
          <a:solidFill>
            <a:srgbClr val="FEF3C7"/>
          </a:solidFill>
          <a:ln w="12700">
            <a:solidFill>
              <a:srgbClr val="B45309"/>
            </a:solidFill>
            <a:prstDash val="solid"/>
          </a:ln>
        </p:spPr>
      </p:sp>
      <p:sp>
        <p:nvSpPr>
          <p:cNvPr id="6" name="Shape 3"/>
          <p:cNvSpPr/>
          <p:nvPr/>
        </p:nvSpPr>
        <p:spPr>
          <a:xfrm>
            <a:off x="9484944" y="91440"/>
            <a:ext cx="27432" cy="274320"/>
          </a:xfrm>
          <a:prstGeom prst="rect">
            <a:avLst/>
          </a:prstGeom>
          <a:solidFill>
            <a:srgbClr val="B45309"/>
          </a:solidFill>
          <a:ln w="12700">
            <a:solidFill>
              <a:srgbClr val="B45309"/>
            </a:solidFill>
            <a:prstDash val="solid"/>
          </a:ln>
        </p:spPr>
      </p:sp>
      <p:sp>
        <p:nvSpPr>
          <p:cNvPr id="7" name="Shape 4"/>
          <p:cNvSpPr/>
          <p:nvPr/>
        </p:nvSpPr>
        <p:spPr>
          <a:xfrm>
            <a:off x="9539808"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612960" y="128016"/>
            <a:ext cx="201168" cy="201168"/>
          </a:xfrm>
          <a:prstGeom prst="rect">
            <a:avLst/>
          </a:prstGeom>
        </p:spPr>
      </p:pic>
      <p:sp>
        <p:nvSpPr>
          <p:cNvPr id="9" name="Text 5"/>
          <p:cNvSpPr txBox="1"/>
          <p:nvPr/>
        </p:nvSpPr>
        <p:spPr>
          <a:xfrm>
            <a:off x="9868992" y="91440"/>
            <a:ext cx="1737487"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terminal</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Reading what the computer answers</a:t>
            </a:r>
            <a:endParaRPr lang="en-US" sz="3200" dirty="0"/>
          </a:p>
        </p:txBody>
      </p:sp>
      <p:sp>
        <p:nvSpPr>
          <p:cNvPr id="3" name="Shape 1"/>
          <p:cNvSpPr/>
          <p:nvPr/>
        </p:nvSpPr>
        <p:spPr>
          <a:xfrm>
            <a:off x="548640" y="1485011"/>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A path names a file through the folders that lead to it: ~/PRG32/examples/pong.S, where ~ is your home folder</a:t>
            </a:r>
            <a:endParaRPr lang="en-US" sz="1700" dirty="0"/>
          </a:p>
        </p:txBody>
      </p:sp>
      <p:sp>
        <p:nvSpPr>
          <p:cNvPr id="5" name="Shape 3"/>
          <p:cNvSpPr/>
          <p:nvPr/>
        </p:nvSpPr>
        <p:spPr>
          <a:xfrm>
            <a:off x="548640" y="217936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11671"/>
            <a:ext cx="6565392" cy="790194"/>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A repository is a folder of source code whose history is kept by git; git clone copies one from the Internet to your laptop</a:t>
            </a:r>
            <a:endParaRPr lang="en-US" sz="1700" dirty="0"/>
          </a:p>
        </p:txBody>
      </p:sp>
      <p:sp>
        <p:nvSpPr>
          <p:cNvPr id="7" name="Shape 5"/>
          <p:cNvSpPr/>
          <p:nvPr/>
        </p:nvSpPr>
        <p:spPr>
          <a:xfrm>
            <a:off x="548640" y="313711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69421"/>
            <a:ext cx="6565392" cy="790194"/>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A command that works often prints little or nothing; one that fails prints a message: read all of it before you do anything</a:t>
            </a:r>
            <a:endParaRPr lang="en-US" sz="1700" dirty="0"/>
          </a:p>
        </p:txBody>
      </p:sp>
      <p:sp>
        <p:nvSpPr>
          <p:cNvPr id="9" name="Shape 7"/>
          <p:cNvSpPr/>
          <p:nvPr/>
        </p:nvSpPr>
        <p:spPr>
          <a:xfrm>
            <a:off x="548640" y="409486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27170"/>
            <a:ext cx="6565392" cy="2145030"/>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Four messages you will meet this week</a:t>
            </a:r>
            <a:endParaRPr lang="en-US" sz="1700" dirty="0"/>
          </a:p>
          <a:p>
            <a:pPr indent="0" marL="0">
              <a:spcAft>
                <a:spcPts val="200"/>
              </a:spcAft>
              <a:buNone/>
            </a:pPr>
            <a:r>
              <a:rPr lang="en-US" sz="1400" dirty="0">
                <a:solidFill>
                  <a:srgbClr val="5B6B78"/>
                </a:solidFill>
                <a:latin typeface="Calibri" pitchFamily="34" charset="0"/>
                <a:ea typeface="Calibri" pitchFamily="34" charset="-122"/>
                <a:cs typeface="Calibri" pitchFamily="34" charset="-120"/>
              </a:rPr>
              <a:t>– command not found: the program is not installed, or not active in this terminal</a:t>
            </a:r>
            <a:endParaRPr lang="en-US" sz="1700" dirty="0"/>
          </a:p>
          <a:p>
            <a:pPr indent="0" marL="0">
              <a:spcAft>
                <a:spcPts val="200"/>
              </a:spcAft>
              <a:buNone/>
            </a:pPr>
            <a:r>
              <a:rPr lang="en-US" sz="1400" dirty="0">
                <a:solidFill>
                  <a:srgbClr val="5B6B78"/>
                </a:solidFill>
                <a:latin typeface="Calibri" pitchFamily="34" charset="0"/>
                <a:ea typeface="Calibri" pitchFamily="34" charset="-122"/>
                <a:cs typeface="Calibri" pitchFamily="34" charset="-120"/>
              </a:rPr>
              <a:t>– No such file or directory: wrong folder or wrong name; check with pwd and ls</a:t>
            </a:r>
            <a:endParaRPr lang="en-US" sz="1700" dirty="0"/>
          </a:p>
          <a:p>
            <a:pPr indent="0" marL="0">
              <a:spcAft>
                <a:spcPts val="200"/>
              </a:spcAft>
              <a:buNone/>
            </a:pPr>
            <a:r>
              <a:rPr lang="en-US" sz="1400" dirty="0">
                <a:solidFill>
                  <a:srgbClr val="5B6B78"/>
                </a:solidFill>
                <a:latin typeface="Calibri" pitchFamily="34" charset="0"/>
                <a:ea typeface="Calibri" pitchFamily="34" charset="-122"/>
                <a:cs typeface="Calibri" pitchFamily="34" charset="-120"/>
              </a:rPr>
              <a:t>– Permission denied: you lack the rights; on Linux an installation needs sudo</a:t>
            </a:r>
            <a:endParaRPr lang="en-US" sz="1700" dirty="0"/>
          </a:p>
          <a:p>
            <a:pPr indent="0" marL="0">
              <a:spcAft>
                <a:spcPts val="200"/>
              </a:spcAft>
              <a:buNone/>
            </a:pPr>
            <a:r>
              <a:rPr lang="en-US" sz="1400" dirty="0">
                <a:solidFill>
                  <a:srgbClr val="5B6B78"/>
                </a:solidFill>
                <a:latin typeface="Calibri" pitchFamily="34" charset="0"/>
                <a:ea typeface="Calibri" pitchFamily="34" charset="-122"/>
                <a:cs typeface="Calibri" pitchFamily="34" charset="-120"/>
              </a:rPr>
              <a:t>– Connection refused: the program you are talking to, such as PRG32-QT, is not running</a:t>
            </a:r>
            <a:endParaRPr lang="en-US" sz="1700" dirty="0"/>
          </a:p>
        </p:txBody>
      </p:sp>
      <p:sp>
        <p:nvSpPr>
          <p:cNvPr id="11" name="Shape 9"/>
          <p:cNvSpPr/>
          <p:nvPr/>
        </p:nvSpPr>
        <p:spPr>
          <a:xfrm>
            <a:off x="7863840" y="1417320"/>
            <a:ext cx="3779215" cy="4754880"/>
          </a:xfrm>
          <a:prstGeom prst="roundRect">
            <a:avLst>
              <a:gd name="adj" fmla="val 1936"/>
            </a:avLst>
          </a:prstGeom>
          <a:solidFill>
            <a:srgbClr val="D8ECEE"/>
          </a:solidFill>
          <a:ln w="12700">
            <a:solidFill>
              <a:srgbClr val="D8ECEE"/>
            </a:solidFill>
            <a:prstDash val="solid"/>
          </a:ln>
        </p:spPr>
      </p:sp>
      <p:sp>
        <p:nvSpPr>
          <p:cNvPr id="12" name="Text 10"/>
          <p:cNvSpPr txBox="1"/>
          <p:nvPr/>
        </p:nvSpPr>
        <p:spPr>
          <a:xfrm>
            <a:off x="8138160" y="1645920"/>
            <a:ext cx="3230575" cy="548640"/>
          </a:xfrm>
          <a:prstGeom prst="rect">
            <a:avLst/>
          </a:prstGeom>
          <a:noFill/>
          <a:ln/>
        </p:spPr>
        <p:txBody>
          <a:bodyPr wrap="square" lIns="0" tIns="0" rIns="0" bIns="0" rtlCol="0" anchor="ctr"/>
          <a:lstStyle/>
          <a:p>
            <a:pPr indent="0" marL="0">
              <a:buNone/>
            </a:pPr>
            <a:r>
              <a:rPr lang="en-US" sz="1800" b="1" dirty="0">
                <a:solidFill>
                  <a:srgbClr val="2E4A62"/>
                </a:solidFill>
                <a:latin typeface="Calibri" pitchFamily="34" charset="0"/>
                <a:ea typeface="Calibri" pitchFamily="34" charset="-122"/>
                <a:cs typeface="Calibri" pitchFamily="34" charset="-120"/>
              </a:rPr>
              <a:t>A command, and the answer</a:t>
            </a:r>
            <a:endParaRPr lang="en-US" sz="1800" dirty="0"/>
          </a:p>
        </p:txBody>
      </p:sp>
      <p:sp>
        <p:nvSpPr>
          <p:cNvPr id="13" name="Text 11"/>
          <p:cNvSpPr txBox="1"/>
          <p:nvPr/>
        </p:nvSpPr>
        <p:spPr>
          <a:xfrm>
            <a:off x="8138160" y="2286000"/>
            <a:ext cx="3230575" cy="365760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 python3 -m prg32 doctor</a:t>
            </a:r>
            <a:endParaRPr lang="en-US" sz="1900" dirty="0"/>
          </a:p>
          <a:p>
            <a:pPr indent="0" marL="0">
              <a:buNone/>
            </a:pPr>
            <a:r>
              <a:rPr lang="en-US" sz="1900" dirty="0">
                <a:solidFill>
                  <a:srgbClr val="1B2530"/>
                </a:solidFill>
                <a:latin typeface="Calibri" pitchFamily="34" charset="0"/>
                <a:ea typeface="Calibri" pitchFamily="34" charset="-122"/>
                <a:cs typeface="Calibri" pitchFamily="34" charset="-120"/>
              </a:rPr>
              <a:t>bash: python3: command not found</a:t>
            </a:r>
            <a:endParaRPr lang="en-US" sz="1900" dirty="0"/>
          </a:p>
        </p:txBody>
      </p:sp>
      <p:sp>
        <p:nvSpPr>
          <p:cNvPr id="14" name="Shape 12"/>
          <p:cNvSpPr/>
          <p:nvPr/>
        </p:nvSpPr>
        <p:spPr>
          <a:xfrm>
            <a:off x="9484944" y="91440"/>
            <a:ext cx="2158111" cy="274320"/>
          </a:xfrm>
          <a:prstGeom prst="rect">
            <a:avLst/>
          </a:prstGeom>
          <a:solidFill>
            <a:srgbClr val="FEF3C7"/>
          </a:solidFill>
          <a:ln w="12700">
            <a:solidFill>
              <a:srgbClr val="B45309"/>
            </a:solidFill>
            <a:prstDash val="solid"/>
          </a:ln>
        </p:spPr>
      </p:sp>
      <p:sp>
        <p:nvSpPr>
          <p:cNvPr id="15" name="Shape 13"/>
          <p:cNvSpPr/>
          <p:nvPr/>
        </p:nvSpPr>
        <p:spPr>
          <a:xfrm>
            <a:off x="9484944" y="91440"/>
            <a:ext cx="27432" cy="274320"/>
          </a:xfrm>
          <a:prstGeom prst="rect">
            <a:avLst/>
          </a:prstGeom>
          <a:solidFill>
            <a:srgbClr val="B45309"/>
          </a:solidFill>
          <a:ln w="12700">
            <a:solidFill>
              <a:srgbClr val="B45309"/>
            </a:solidFill>
            <a:prstDash val="solid"/>
          </a:ln>
        </p:spPr>
      </p:sp>
      <p:sp>
        <p:nvSpPr>
          <p:cNvPr id="16" name="Shape 14"/>
          <p:cNvSpPr/>
          <p:nvPr/>
        </p:nvSpPr>
        <p:spPr>
          <a:xfrm>
            <a:off x="9539808" y="91440"/>
            <a:ext cx="27432" cy="274320"/>
          </a:xfrm>
          <a:prstGeom prst="rect">
            <a:avLst/>
          </a:prstGeom>
          <a:solidFill>
            <a:srgbClr val="B45309"/>
          </a:solidFill>
          <a:ln w="12700">
            <a:solidFill>
              <a:srgbClr val="B45309"/>
            </a:solidFill>
            <a:prstDash val="solid"/>
          </a:ln>
        </p:spPr>
      </p:sp>
      <p:pic>
        <p:nvPicPr>
          <p:cNvPr id="17" name="Image 0" descr="preencoded.png">    </p:cNvPr>
          <p:cNvPicPr>
            <a:picLocks noChangeAspect="1"/>
          </p:cNvPicPr>
          <p:nvPr/>
        </p:nvPicPr>
        <p:blipFill>
          <a:blip r:embed="rId1"/>
          <a:stretch>
            <a:fillRect/>
          </a:stretch>
        </p:blipFill>
        <p:spPr>
          <a:xfrm>
            <a:off x="9612960" y="128016"/>
            <a:ext cx="201168" cy="201168"/>
          </a:xfrm>
          <a:prstGeom prst="rect">
            <a:avLst/>
          </a:prstGeom>
        </p:spPr>
      </p:pic>
      <p:sp>
        <p:nvSpPr>
          <p:cNvPr id="18" name="Text 15"/>
          <p:cNvSpPr txBox="1"/>
          <p:nvPr/>
        </p:nvSpPr>
        <p:spPr>
          <a:xfrm>
            <a:off x="9868992" y="91440"/>
            <a:ext cx="1737487"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terminal</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 a runtime, a file format, a set of tools</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An open-source platform for teaching RISC-V assembly and C, developed at Parthenope</a:t>
            </a:r>
            <a:endParaRPr lang="en-US" sz="2000" dirty="0"/>
          </a:p>
        </p:txBody>
      </p:sp>
      <p:sp>
        <p:nvSpPr>
          <p:cNvPr id="5" name="Shape 3"/>
          <p:cNvSpPr/>
          <p:nvPr/>
        </p:nvSpPr>
        <p:spPr>
          <a:xfrm>
            <a:off x="548640" y="241435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23423"/>
            <a:ext cx="6565392" cy="203657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Four things, one name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a resident firmware: the program that owns the screen, the buttons and the sound</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a cartridge format: your game as one small file, .prg32</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a tool on your laptop: python3 -m prg32 builds, uploads, packages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a Cartridge Store: where finished games are shared</a:t>
            </a:r>
            <a:endParaRPr lang="en-US" sz="2000" dirty="0"/>
          </a:p>
        </p:txBody>
      </p:sp>
      <p:sp>
        <p:nvSpPr>
          <p:cNvPr id="7" name="Shape 5"/>
          <p:cNvSpPr/>
          <p:nvPr/>
        </p:nvSpPr>
        <p:spPr>
          <a:xfrm>
            <a:off x="548640" y="473726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646337"/>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Your code runs as real 32-bit RISC-V machine code, RV32IMAC</a:t>
            </a:r>
            <a:endParaRPr lang="en-US" sz="2000" dirty="0"/>
          </a:p>
        </p:txBody>
      </p:sp>
      <p:sp>
        <p:nvSpPr>
          <p:cNvPr id="9" name="Shape 7"/>
          <p:cNvSpPr/>
          <p:nvPr/>
        </p:nvSpPr>
        <p:spPr>
          <a:xfrm>
            <a:off x="548640" y="564337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55244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contract between your game and the runtime is three functions: init, update, draw</a:t>
            </a:r>
            <a:endParaRPr lang="en-US" sz="2000" dirty="0"/>
          </a:p>
        </p:txBody>
      </p:sp>
      <p:pic>
        <p:nvPicPr>
          <p:cNvPr id="11" name="Image 0" descr="/Users/raffaelemontella/devel/riscv-prg32/computer-architecture-with-prg32/tools/assets/prg32_logo.png">    </p:cNvPr>
          <p:cNvPicPr>
            <a:picLocks noChangeAspect="1"/>
          </p:cNvPicPr>
          <p:nvPr/>
        </p:nvPicPr>
        <p:blipFill>
          <a:blip r:embed="rId1"/>
          <a:stretch>
            <a:fillRect/>
          </a:stretch>
        </p:blipFill>
        <p:spPr>
          <a:xfrm>
            <a:off x="7863840" y="2385155"/>
            <a:ext cx="3779215" cy="2362010"/>
          </a:xfrm>
          <a:prstGeom prst="rect">
            <a:avLst/>
          </a:prstGeom>
        </p:spPr>
      </p:pic>
      <p:sp>
        <p:nvSpPr>
          <p:cNvPr id="12" name="Text 9"/>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github.com/riscv-prg32/PRG32</a:t>
            </a:r>
            <a:endParaRPr lang="en-US" sz="1200" dirty="0"/>
          </a:p>
        </p:txBody>
      </p:sp>
      <p:sp>
        <p:nvSpPr>
          <p:cNvPr id="13" name="Shape 10"/>
          <p:cNvSpPr/>
          <p:nvPr/>
        </p:nvSpPr>
        <p:spPr>
          <a:xfrm>
            <a:off x="8419033" y="91440"/>
            <a:ext cx="3224022" cy="274320"/>
          </a:xfrm>
          <a:prstGeom prst="rect">
            <a:avLst/>
          </a:prstGeom>
          <a:solidFill>
            <a:srgbClr val="E0F2FE"/>
          </a:solidFill>
          <a:ln w="12700">
            <a:solidFill>
              <a:srgbClr val="0369A1"/>
            </a:solidFill>
            <a:prstDash val="solid"/>
          </a:ln>
        </p:spPr>
      </p:sp>
      <p:sp>
        <p:nvSpPr>
          <p:cNvPr id="14" name="Shape 11"/>
          <p:cNvSpPr/>
          <p:nvPr/>
        </p:nvSpPr>
        <p:spPr>
          <a:xfrm>
            <a:off x="8419033" y="91440"/>
            <a:ext cx="73152" cy="274320"/>
          </a:xfrm>
          <a:prstGeom prst="rect">
            <a:avLst/>
          </a:prstGeom>
          <a:solidFill>
            <a:srgbClr val="0369A1"/>
          </a:solidFill>
          <a:ln w="12700">
            <a:solidFill>
              <a:srgbClr val="0369A1"/>
            </a:solidFill>
            <a:prstDash val="solid"/>
          </a:ln>
        </p:spPr>
      </p:sp>
      <p:pic>
        <p:nvPicPr>
          <p:cNvPr id="15" name="Image 1" descr="preencoded.png">    </p:cNvPr>
          <p:cNvPicPr>
            <a:picLocks noChangeAspect="1"/>
          </p:cNvPicPr>
          <p:nvPr/>
        </p:nvPicPr>
        <p:blipFill>
          <a:blip r:embed="rId2"/>
          <a:stretch>
            <a:fillRect/>
          </a:stretch>
        </p:blipFill>
        <p:spPr>
          <a:xfrm>
            <a:off x="8547049" y="128016"/>
            <a:ext cx="201168" cy="201168"/>
          </a:xfrm>
          <a:prstGeom prst="rect">
            <a:avLst/>
          </a:prstGeom>
        </p:spPr>
      </p:pic>
      <p:sp>
        <p:nvSpPr>
          <p:cNvPr id="16" name="Text 12"/>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pieces of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From your file to the screen</a:t>
            </a:r>
            <a:endParaRPr lang="en-US" sz="3200" dirty="0"/>
          </a:p>
        </p:txBody>
      </p:sp>
      <p:sp>
        <p:nvSpPr>
          <p:cNvPr id="3" name="Shape 1"/>
          <p:cNvSpPr/>
          <p:nvPr/>
        </p:nvSpPr>
        <p:spPr>
          <a:xfrm>
            <a:off x="548640" y="1874520"/>
            <a:ext cx="1926275" cy="2468880"/>
          </a:xfrm>
          <a:prstGeom prst="roundRect">
            <a:avLst>
              <a:gd name="adj" fmla="val 3798"/>
            </a:avLst>
          </a:prstGeom>
          <a:solidFill>
            <a:srgbClr val="EEF2F4"/>
          </a:solidFill>
          <a:ln w="12700">
            <a:solidFill>
              <a:srgbClr val="EEF2F4"/>
            </a:solidFill>
            <a:prstDash val="solid"/>
          </a:ln>
        </p:spPr>
      </p:sp>
      <p:sp>
        <p:nvSpPr>
          <p:cNvPr id="4" name="Text 2"/>
          <p:cNvSpPr txBox="1"/>
          <p:nvPr/>
        </p:nvSpPr>
        <p:spPr>
          <a:xfrm>
            <a:off x="685800" y="2057400"/>
            <a:ext cx="1651955"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verm1.S</a:t>
            </a:r>
            <a:endParaRPr lang="en-US" sz="1900" dirty="0"/>
          </a:p>
        </p:txBody>
      </p:sp>
      <p:sp>
        <p:nvSpPr>
          <p:cNvPr id="5" name="Text 3"/>
          <p:cNvSpPr txBox="1"/>
          <p:nvPr/>
        </p:nvSpPr>
        <p:spPr>
          <a:xfrm>
            <a:off x="68580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your source: assembly or C</a:t>
            </a:r>
            <a:endParaRPr lang="en-US" sz="1700" dirty="0"/>
          </a:p>
        </p:txBody>
      </p:sp>
      <p:sp>
        <p:nvSpPr>
          <p:cNvPr id="6" name="Shape 4"/>
          <p:cNvSpPr/>
          <p:nvPr/>
        </p:nvSpPr>
        <p:spPr>
          <a:xfrm>
            <a:off x="2520635"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2840675" y="1874520"/>
            <a:ext cx="1926275" cy="2468880"/>
          </a:xfrm>
          <a:prstGeom prst="roundRect">
            <a:avLst>
              <a:gd name="adj" fmla="val 3798"/>
            </a:avLst>
          </a:prstGeom>
          <a:solidFill>
            <a:srgbClr val="EEF2F4"/>
          </a:solidFill>
          <a:ln w="12700">
            <a:solidFill>
              <a:srgbClr val="EEF2F4"/>
            </a:solidFill>
            <a:prstDash val="solid"/>
          </a:ln>
        </p:spPr>
      </p:sp>
      <p:sp>
        <p:nvSpPr>
          <p:cNvPr id="8" name="Text 6"/>
          <p:cNvSpPr txBox="1"/>
          <p:nvPr/>
        </p:nvSpPr>
        <p:spPr>
          <a:xfrm>
            <a:off x="2977835" y="2057400"/>
            <a:ext cx="1651955"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compiler</a:t>
            </a:r>
            <a:endParaRPr lang="en-US" sz="1900" dirty="0"/>
          </a:p>
        </p:txBody>
      </p:sp>
      <p:sp>
        <p:nvSpPr>
          <p:cNvPr id="9" name="Text 7"/>
          <p:cNvSpPr txBox="1"/>
          <p:nvPr/>
        </p:nvSpPr>
        <p:spPr>
          <a:xfrm>
            <a:off x="2977835"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the RISC-V toolchain turns it into machine code</a:t>
            </a:r>
            <a:endParaRPr lang="en-US" sz="1700" dirty="0"/>
          </a:p>
        </p:txBody>
      </p:sp>
      <p:sp>
        <p:nvSpPr>
          <p:cNvPr id="10" name="Shape 8"/>
          <p:cNvSpPr/>
          <p:nvPr/>
        </p:nvSpPr>
        <p:spPr>
          <a:xfrm>
            <a:off x="4812670"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5132710" y="1874520"/>
            <a:ext cx="1926275" cy="2468880"/>
          </a:xfrm>
          <a:prstGeom prst="roundRect">
            <a:avLst>
              <a:gd name="adj" fmla="val 3798"/>
            </a:avLst>
          </a:prstGeom>
          <a:solidFill>
            <a:srgbClr val="EEF2F4"/>
          </a:solidFill>
          <a:ln w="12700">
            <a:solidFill>
              <a:srgbClr val="EEF2F4"/>
            </a:solidFill>
            <a:prstDash val="solid"/>
          </a:ln>
        </p:spPr>
      </p:sp>
      <p:sp>
        <p:nvSpPr>
          <p:cNvPr id="12" name="Text 10"/>
          <p:cNvSpPr txBox="1"/>
          <p:nvPr/>
        </p:nvSpPr>
        <p:spPr>
          <a:xfrm>
            <a:off x="5269870" y="2057400"/>
            <a:ext cx="1651955"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verm1.prg32</a:t>
            </a:r>
            <a:endParaRPr lang="en-US" sz="1900" dirty="0"/>
          </a:p>
        </p:txBody>
      </p:sp>
      <p:sp>
        <p:nvSpPr>
          <p:cNvPr id="13" name="Text 11"/>
          <p:cNvSpPr txBox="1"/>
          <p:nvPr/>
        </p:nvSpPr>
        <p:spPr>
          <a:xfrm>
            <a:off x="526987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a cartridge: code, data, a header</a:t>
            </a:r>
            <a:endParaRPr lang="en-US" sz="1700" dirty="0"/>
          </a:p>
        </p:txBody>
      </p:sp>
      <p:sp>
        <p:nvSpPr>
          <p:cNvPr id="14" name="Shape 12"/>
          <p:cNvSpPr/>
          <p:nvPr/>
        </p:nvSpPr>
        <p:spPr>
          <a:xfrm>
            <a:off x="7104705"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7424745" y="1874520"/>
            <a:ext cx="1926275" cy="2468880"/>
          </a:xfrm>
          <a:prstGeom prst="roundRect">
            <a:avLst>
              <a:gd name="adj" fmla="val 3798"/>
            </a:avLst>
          </a:prstGeom>
          <a:solidFill>
            <a:srgbClr val="EEF2F4"/>
          </a:solidFill>
          <a:ln w="12700">
            <a:solidFill>
              <a:srgbClr val="EEF2F4"/>
            </a:solidFill>
            <a:prstDash val="solid"/>
          </a:ln>
        </p:spPr>
      </p:sp>
      <p:sp>
        <p:nvSpPr>
          <p:cNvPr id="16" name="Text 14"/>
          <p:cNvSpPr txBox="1"/>
          <p:nvPr/>
        </p:nvSpPr>
        <p:spPr>
          <a:xfrm>
            <a:off x="7561905" y="2057400"/>
            <a:ext cx="1651955"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upload</a:t>
            </a:r>
            <a:endParaRPr lang="en-US" sz="1900" dirty="0"/>
          </a:p>
        </p:txBody>
      </p:sp>
      <p:sp>
        <p:nvSpPr>
          <p:cNvPr id="17" name="Text 15"/>
          <p:cNvSpPr txBox="1"/>
          <p:nvPr/>
        </p:nvSpPr>
        <p:spPr>
          <a:xfrm>
            <a:off x="7561905"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over the network, to a host</a:t>
            </a:r>
            <a:endParaRPr lang="en-US" sz="1700" dirty="0"/>
          </a:p>
        </p:txBody>
      </p:sp>
      <p:sp>
        <p:nvSpPr>
          <p:cNvPr id="18" name="Shape 16"/>
          <p:cNvSpPr/>
          <p:nvPr/>
        </p:nvSpPr>
        <p:spPr>
          <a:xfrm>
            <a:off x="9396740" y="2962656"/>
            <a:ext cx="274320" cy="292608"/>
          </a:xfrm>
          <a:prstGeom prst="rightArrow">
            <a:avLst/>
          </a:prstGeom>
          <a:solidFill>
            <a:srgbClr val="5B6B78"/>
          </a:solidFill>
          <a:ln w="12700">
            <a:solidFill>
              <a:srgbClr val="5B6B78"/>
            </a:solidFill>
            <a:prstDash val="solid"/>
          </a:ln>
        </p:spPr>
      </p:sp>
      <p:sp>
        <p:nvSpPr>
          <p:cNvPr id="19" name="Shape 17"/>
          <p:cNvSpPr/>
          <p:nvPr/>
        </p:nvSpPr>
        <p:spPr>
          <a:xfrm>
            <a:off x="9716780" y="1874520"/>
            <a:ext cx="1926275" cy="2468880"/>
          </a:xfrm>
          <a:prstGeom prst="roundRect">
            <a:avLst>
              <a:gd name="adj" fmla="val 3798"/>
            </a:avLst>
          </a:prstGeom>
          <a:solidFill>
            <a:srgbClr val="EEF2F4"/>
          </a:solidFill>
          <a:ln w="12700">
            <a:solidFill>
              <a:srgbClr val="EEF2F4"/>
            </a:solidFill>
            <a:prstDash val="solid"/>
          </a:ln>
        </p:spPr>
      </p:sp>
      <p:sp>
        <p:nvSpPr>
          <p:cNvPr id="20" name="Text 18"/>
          <p:cNvSpPr txBox="1"/>
          <p:nvPr/>
        </p:nvSpPr>
        <p:spPr>
          <a:xfrm>
            <a:off x="9853940" y="2057400"/>
            <a:ext cx="1651955" cy="685800"/>
          </a:xfrm>
          <a:prstGeom prst="roundRect">
            <a:avLst>
              <a:gd name="adj" fmla="val 10667"/>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runtime</a:t>
            </a:r>
            <a:endParaRPr lang="en-US" sz="1900" dirty="0"/>
          </a:p>
        </p:txBody>
      </p:sp>
      <p:sp>
        <p:nvSpPr>
          <p:cNvPr id="21" name="Text 19"/>
          <p:cNvSpPr txBox="1"/>
          <p:nvPr/>
        </p:nvSpPr>
        <p:spPr>
          <a:xfrm>
            <a:off x="985394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calls init, update, draw</a:t>
            </a:r>
            <a:endParaRPr lang="en-US" sz="1700" dirty="0"/>
          </a:p>
        </p:txBody>
      </p:sp>
      <p:sp>
        <p:nvSpPr>
          <p:cNvPr id="22" name="Shape 20"/>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23" name="Text 21"/>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The first three boxes are on your laptop, and need level 2. The last two are a host: PRG32-QT, QEMU or the board.</a:t>
            </a:r>
            <a:endParaRPr lang="en-US" sz="2000" dirty="0"/>
          </a:p>
        </p:txBody>
      </p:sp>
      <p:sp>
        <p:nvSpPr>
          <p:cNvPr id="24" name="Shape 22"/>
          <p:cNvSpPr/>
          <p:nvPr/>
        </p:nvSpPr>
        <p:spPr>
          <a:xfrm>
            <a:off x="8419033" y="91440"/>
            <a:ext cx="3224022" cy="274320"/>
          </a:xfrm>
          <a:prstGeom prst="rect">
            <a:avLst/>
          </a:prstGeom>
          <a:solidFill>
            <a:srgbClr val="E0F2FE"/>
          </a:solidFill>
          <a:ln w="12700">
            <a:solidFill>
              <a:srgbClr val="0369A1"/>
            </a:solidFill>
            <a:prstDash val="solid"/>
          </a:ln>
        </p:spPr>
      </p:sp>
      <p:sp>
        <p:nvSpPr>
          <p:cNvPr id="25" name="Shape 23"/>
          <p:cNvSpPr/>
          <p:nvPr/>
        </p:nvSpPr>
        <p:spPr>
          <a:xfrm>
            <a:off x="8419033" y="91440"/>
            <a:ext cx="73152" cy="274320"/>
          </a:xfrm>
          <a:prstGeom prst="rect">
            <a:avLst/>
          </a:prstGeom>
          <a:solidFill>
            <a:srgbClr val="0369A1"/>
          </a:solidFill>
          <a:ln w="12700">
            <a:solidFill>
              <a:srgbClr val="0369A1"/>
            </a:solidFill>
            <a:prstDash val="solid"/>
          </a:ln>
        </p:spPr>
      </p:sp>
      <p:pic>
        <p:nvPicPr>
          <p:cNvPr id="26"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27" name="Text 24"/>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pieces of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kit: a console on a breadboard</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An Espressif ESP32-C6: one RISC-V core at 160 MHz, with Wi-Fi</a:t>
            </a:r>
            <a:endParaRPr lang="en-US" sz="2100" dirty="0"/>
          </a:p>
        </p:txBody>
      </p:sp>
      <p:sp>
        <p:nvSpPr>
          <p:cNvPr id="5" name="Shape 3"/>
          <p:cNvSpPr/>
          <p:nvPr/>
        </p:nvSpPr>
        <p:spPr>
          <a:xfrm>
            <a:off x="548640" y="229800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99323"/>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2.8 inch colour display, 320 by 240 pixels: games draw in a viewport of 320 by 200</a:t>
            </a:r>
            <a:endParaRPr lang="en-US" sz="2100" dirty="0"/>
          </a:p>
        </p:txBody>
      </p:sp>
      <p:sp>
        <p:nvSpPr>
          <p:cNvPr id="7" name="Shape 5"/>
          <p:cNvSpPr/>
          <p:nvPr/>
        </p:nvSpPr>
        <p:spPr>
          <a:xfrm>
            <a:off x="548640" y="340537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06699"/>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One or two small audio amplifiers, a joystick and buttons, wired straight to the pins of the chip</a:t>
            </a:r>
            <a:endParaRPr lang="en-US" sz="2100" dirty="0"/>
          </a:p>
        </p:txBody>
      </p:sp>
      <p:sp>
        <p:nvSpPr>
          <p:cNvPr id="9" name="Shape 7"/>
          <p:cNvSpPr/>
          <p:nvPr/>
        </p:nvSpPr>
        <p:spPr>
          <a:xfrm>
            <a:off x="548640" y="451275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14076"/>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game reaches it over Wi-Fi: the board creates a network called PRG32, and you upload the cartridge to it</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You do not need one to follow the course: everything runs on your laptop</a:t>
            </a:r>
            <a:endParaRPr lang="en-US" sz="2100" dirty="0"/>
          </a:p>
        </p:txBody>
      </p:sp>
      <p:pic>
        <p:nvPicPr>
          <p:cNvPr id="13" name="Image 0" descr="/Users/raffaelemontella/devel/riscv-prg32/computer-architecture-with-prg32/tools/assets/kit_breadboard.png">    </p:cNvPr>
          <p:cNvPicPr>
            <a:picLocks noChangeAspect="1"/>
          </p:cNvPicPr>
          <p:nvPr/>
        </p:nvPicPr>
        <p:blipFill>
          <a:blip r:embed="rId1"/>
          <a:stretch>
            <a:fillRect/>
          </a:stretch>
        </p:blipFill>
        <p:spPr>
          <a:xfrm>
            <a:off x="6766560" y="1997906"/>
            <a:ext cx="4876495" cy="3136507"/>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PRG32 kit on a breadboard</a:t>
            </a:r>
            <a:endParaRPr lang="en-US" sz="1200" dirty="0"/>
          </a:p>
        </p:txBody>
      </p:sp>
      <p:sp>
        <p:nvSpPr>
          <p:cNvPr id="15" name="Shape 12"/>
          <p:cNvSpPr/>
          <p:nvPr/>
        </p:nvSpPr>
        <p:spPr>
          <a:xfrm>
            <a:off x="8419033" y="91440"/>
            <a:ext cx="3224022" cy="274320"/>
          </a:xfrm>
          <a:prstGeom prst="rect">
            <a:avLst/>
          </a:prstGeom>
          <a:solidFill>
            <a:srgbClr val="E0F2FE"/>
          </a:solidFill>
          <a:ln w="12700">
            <a:solidFill>
              <a:srgbClr val="0369A1"/>
            </a:solidFill>
            <a:prstDash val="solid"/>
          </a:ln>
        </p:spPr>
      </p:sp>
      <p:sp>
        <p:nvSpPr>
          <p:cNvPr id="16" name="Shape 13"/>
          <p:cNvSpPr/>
          <p:nvPr/>
        </p:nvSpPr>
        <p:spPr>
          <a:xfrm>
            <a:off x="8419033"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547049" y="128016"/>
            <a:ext cx="201168" cy="201168"/>
          </a:xfrm>
          <a:prstGeom prst="rect">
            <a:avLst/>
          </a:prstGeom>
        </p:spPr>
      </p:pic>
      <p:sp>
        <p:nvSpPr>
          <p:cNvPr id="18" name="Text 14"/>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pieces of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Three ways to run the same cartridge</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00632"/>
                <a:gridCol w="2728135"/>
                <a:gridCol w="3091886"/>
                <a:gridCol w="3273762"/>
              </a:tblGrid>
              <a:tr h="0">
                <a:tc>
                  <a:txBody>
                    <a:bodyPr/>
                    <a:lstStyle/>
                    <a:p>
                      <a:pPr algn="l" indent="0" marL="0">
                        <a:buNone/>
                      </a:pP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ESP32-C6 board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Espressif QEMU</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PRG32-QT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How code runs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natively on the chip</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natively on an emulated ESP32-C3</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interpreted RV32IMAC guest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Needs a toolchain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yes (ESP-IDF)</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yes (ESP-IDF)</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no, to play and debug</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Cartridge arrives by</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Wi-Fi upload, Store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staging into the flash image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file import, Store, HTTP upload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Instruction stepping</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with JTAG and GDB</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with GDB</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built-in debugger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Runs on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the hardware kit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Windows, Linux, macOS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desktop, Raspberry Pi, iOS, Android, TV</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The cartridge file is the same in every column.</a:t>
            </a:r>
            <a:endParaRPr lang="en-US" sz="1500" dirty="0"/>
          </a:p>
        </p:txBody>
      </p:sp>
      <p:sp>
        <p:nvSpPr>
          <p:cNvPr id="5" name="Shape 2"/>
          <p:cNvSpPr/>
          <p:nvPr/>
        </p:nvSpPr>
        <p:spPr>
          <a:xfrm>
            <a:off x="8419033" y="91440"/>
            <a:ext cx="3224022" cy="274320"/>
          </a:xfrm>
          <a:prstGeom prst="rect">
            <a:avLst/>
          </a:prstGeom>
          <a:solidFill>
            <a:srgbClr val="E0F2FE"/>
          </a:solidFill>
          <a:ln w="12700">
            <a:solidFill>
              <a:srgbClr val="0369A1"/>
            </a:solidFill>
            <a:prstDash val="solid"/>
          </a:ln>
        </p:spPr>
      </p:sp>
      <p:sp>
        <p:nvSpPr>
          <p:cNvPr id="6" name="Shape 3"/>
          <p:cNvSpPr/>
          <p:nvPr/>
        </p:nvSpPr>
        <p:spPr>
          <a:xfrm>
            <a:off x="8419033"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8" name="Text 4"/>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pieces of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PRG32-QT: the console on your laptop</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An application for Windows, macOS, Linux, Raspberry Pi, phones, tablets and televisions</a:t>
            </a:r>
            <a:endParaRPr lang="en-US" sz="1900" dirty="0"/>
          </a:p>
        </p:txBody>
      </p:sp>
      <p:sp>
        <p:nvSpPr>
          <p:cNvPr id="5" name="Shape 3"/>
          <p:cNvSpPr/>
          <p:nvPr/>
        </p:nvSpPr>
        <p:spPr>
          <a:xfrm>
            <a:off x="548640" y="225507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71891"/>
            <a:ext cx="5468112" cy="1177544"/>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It contains an interpreter of RV32IMAC: it executes your cartridge instruction by instruction, and offers it the same functions as the firmware</a:t>
            </a:r>
            <a:endParaRPr lang="en-US" sz="1900" dirty="0"/>
          </a:p>
        </p:txBody>
      </p:sp>
      <p:sp>
        <p:nvSpPr>
          <p:cNvPr id="7" name="Shape 5"/>
          <p:cNvSpPr/>
          <p:nvPr/>
        </p:nvSpPr>
        <p:spPr>
          <a:xfrm>
            <a:off x="548640" y="35984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515233"/>
            <a:ext cx="5468112" cy="114782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Three speeds, in Settings</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Accurate: timed like the ESP32-C6, the default</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Optimal: 30 frames per second</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Unlimited: as fast as your laptop goes</a:t>
            </a:r>
            <a:endParaRPr lang="en-US" sz="1900" dirty="0"/>
          </a:p>
        </p:txBody>
      </p:sp>
      <p:sp>
        <p:nvSpPr>
          <p:cNvPr id="9" name="Shape 7"/>
          <p:cNvSpPr/>
          <p:nvPr/>
        </p:nvSpPr>
        <p:spPr>
          <a:xfrm>
            <a:off x="548640" y="491204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828858"/>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Store browser, to download and run published cartridges</a:t>
            </a:r>
            <a:endParaRPr lang="en-US" sz="1900" dirty="0"/>
          </a:p>
        </p:txBody>
      </p:sp>
      <p:sp>
        <p:nvSpPr>
          <p:cNvPr id="11" name="Shape 9"/>
          <p:cNvSpPr/>
          <p:nvPr/>
        </p:nvSpPr>
        <p:spPr>
          <a:xfrm>
            <a:off x="548640" y="5666613"/>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83428"/>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debugger: assembly, registers, memory, breakpoints, one instruction at a time</a:t>
            </a:r>
            <a:endParaRPr lang="en-US" sz="1900" dirty="0"/>
          </a:p>
        </p:txBody>
      </p:sp>
      <p:pic>
        <p:nvPicPr>
          <p:cNvPr id="13" name="Image 0" descr="/Users/raffaelemontella/devel/riscv-prg32/computer-architecture-with-prg32/tools/assets/prg32qt_player.png">    </p:cNvPr>
          <p:cNvPicPr>
            <a:picLocks noChangeAspect="1"/>
          </p:cNvPicPr>
          <p:nvPr/>
        </p:nvPicPr>
        <p:blipFill>
          <a:blip r:embed="rId1"/>
          <a:stretch>
            <a:fillRect/>
          </a:stretch>
        </p:blipFill>
        <p:spPr>
          <a:xfrm>
            <a:off x="6766560" y="1881553"/>
            <a:ext cx="4876495" cy="3369215"/>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PRG32-QT playing a cartridge</a:t>
            </a:r>
            <a:endParaRPr lang="en-US" sz="1200" dirty="0"/>
          </a:p>
        </p:txBody>
      </p:sp>
      <p:sp>
        <p:nvSpPr>
          <p:cNvPr id="15" name="Shape 12"/>
          <p:cNvSpPr/>
          <p:nvPr/>
        </p:nvSpPr>
        <p:spPr>
          <a:xfrm>
            <a:off x="8419033" y="91440"/>
            <a:ext cx="3224022" cy="274320"/>
          </a:xfrm>
          <a:prstGeom prst="rect">
            <a:avLst/>
          </a:prstGeom>
          <a:solidFill>
            <a:srgbClr val="E0F2FE"/>
          </a:solidFill>
          <a:ln w="12700">
            <a:solidFill>
              <a:srgbClr val="0369A1"/>
            </a:solidFill>
            <a:prstDash val="solid"/>
          </a:ln>
        </p:spPr>
      </p:sp>
      <p:sp>
        <p:nvSpPr>
          <p:cNvPr id="16" name="Shape 13"/>
          <p:cNvSpPr/>
          <p:nvPr/>
        </p:nvSpPr>
        <p:spPr>
          <a:xfrm>
            <a:off x="8419033"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547049" y="128016"/>
            <a:ext cx="201168" cy="201168"/>
          </a:xfrm>
          <a:prstGeom prst="rect">
            <a:avLst/>
          </a:prstGeom>
        </p:spPr>
      </p:pic>
      <p:sp>
        <p:nvSpPr>
          <p:cNvPr id="18" name="Text 14"/>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pieces of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controls, on a keyboard</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01616"/>
                <a:gridCol w="3925716"/>
                <a:gridCol w="4267083"/>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On the kit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 PRG32-QT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 QEMU</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Joystick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arrow keys, or W A S 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same, typed in the terminal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Button 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Z or J</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Z or J</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Button 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X or 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X or 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Start / Select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Enter or Space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Enter or Space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Leave the game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Escape: back to Setup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close QEMU</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419033" y="91440"/>
            <a:ext cx="3224022" cy="274320"/>
          </a:xfrm>
          <a:prstGeom prst="rect">
            <a:avLst/>
          </a:prstGeom>
          <a:solidFill>
            <a:srgbClr val="E0F2FE"/>
          </a:solidFill>
          <a:ln w="12700">
            <a:solidFill>
              <a:srgbClr val="0369A1"/>
            </a:solidFill>
            <a:prstDash val="solid"/>
          </a:ln>
        </p:spPr>
      </p:sp>
      <p:sp>
        <p:nvSpPr>
          <p:cNvPr id="5" name="Shape 2"/>
          <p:cNvSpPr/>
          <p:nvPr/>
        </p:nvSpPr>
        <p:spPr>
          <a:xfrm>
            <a:off x="8419033"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7" name="Text 3"/>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pieces of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idea behind every installation</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compiler for the ESP32 family comes with ESP-IDF, the development kit of Espressif</a:t>
            </a:r>
            <a:endParaRPr lang="en-US" sz="2100" dirty="0"/>
          </a:p>
        </p:txBody>
      </p:sp>
      <p:sp>
        <p:nvSpPr>
          <p:cNvPr id="5" name="Shape 3"/>
          <p:cNvSpPr/>
          <p:nvPr/>
        </p:nvSpPr>
        <p:spPr>
          <a:xfrm>
            <a:off x="548640" y="246068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6201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PRG32 needs ESP-IDF 5.4 or newer, installed for two chips: esp32c6, the kit, and esp32c3, the emulator</a:t>
            </a:r>
            <a:endParaRPr lang="en-US" sz="21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207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ESP-IDF is not active by itself: every new terminal must switch it on before the tools work</a:t>
            </a:r>
            <a:endParaRPr lang="en-US" sz="2100" dirty="0"/>
          </a:p>
        </p:txBody>
      </p:sp>
      <p:sp>
        <p:nvSpPr>
          <p:cNvPr id="9" name="Shape 7"/>
          <p:cNvSpPr/>
          <p:nvPr/>
        </p:nvSpPr>
        <p:spPr>
          <a:xfrm>
            <a:off x="548640" y="467544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7676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Then one command does everything: python3 -m prg32</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Almost every installation problem is ESP-IDF not being active in the terminal you are typing in</a:t>
            </a:r>
            <a:endParaRPr lang="en-US" sz="2100" dirty="0"/>
          </a:p>
        </p:txBody>
      </p:sp>
      <p:sp>
        <p:nvSpPr>
          <p:cNvPr id="13" name="Shape 11"/>
          <p:cNvSpPr/>
          <p:nvPr/>
        </p:nvSpPr>
        <p:spPr>
          <a:xfrm>
            <a:off x="7863840" y="1417320"/>
            <a:ext cx="3779215" cy="4754880"/>
          </a:xfrm>
          <a:prstGeom prst="roundRect">
            <a:avLst>
              <a:gd name="adj" fmla="val 1936"/>
            </a:avLst>
          </a:prstGeom>
          <a:solidFill>
            <a:srgbClr val="D8ECEE"/>
          </a:solidFill>
          <a:ln w="12700">
            <a:solidFill>
              <a:srgbClr val="D8ECEE"/>
            </a:solidFill>
            <a:prstDash val="solid"/>
          </a:ln>
        </p:spPr>
      </p:sp>
      <p:sp>
        <p:nvSpPr>
          <p:cNvPr id="14" name="Text 12"/>
          <p:cNvSpPr txBox="1"/>
          <p:nvPr/>
        </p:nvSpPr>
        <p:spPr>
          <a:xfrm>
            <a:off x="8138160" y="1645920"/>
            <a:ext cx="3230575" cy="548640"/>
          </a:xfrm>
          <a:prstGeom prst="rect">
            <a:avLst/>
          </a:prstGeom>
          <a:noFill/>
          <a:ln/>
        </p:spPr>
        <p:txBody>
          <a:bodyPr wrap="square" lIns="0" tIns="0" rIns="0" bIns="0" rtlCol="0" anchor="ctr"/>
          <a:lstStyle/>
          <a:p>
            <a:pPr indent="0" marL="0">
              <a:buNone/>
            </a:pPr>
            <a:r>
              <a:rPr lang="en-US" sz="1800" b="1" dirty="0">
                <a:solidFill>
                  <a:srgbClr val="2E4A62"/>
                </a:solidFill>
                <a:latin typeface="Calibri" pitchFamily="34" charset="0"/>
                <a:ea typeface="Calibri" pitchFamily="34" charset="-122"/>
                <a:cs typeface="Calibri" pitchFamily="34" charset="-120"/>
              </a:rPr>
              <a:t>The message you will meet</a:t>
            </a:r>
            <a:endParaRPr lang="en-US" sz="1800" dirty="0"/>
          </a:p>
        </p:txBody>
      </p:sp>
      <p:sp>
        <p:nvSpPr>
          <p:cNvPr id="15" name="Text 13"/>
          <p:cNvSpPr txBox="1"/>
          <p:nvPr/>
        </p:nvSpPr>
        <p:spPr>
          <a:xfrm>
            <a:off x="8138160" y="2286000"/>
            <a:ext cx="3230575" cy="365760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idf.py: command not found</a:t>
            </a:r>
            <a:endParaRPr lang="en-US" sz="1900" dirty="0"/>
          </a:p>
          <a:p>
            <a:pPr indent="0" marL="0">
              <a:buNone/>
            </a:pPr>
            <a:endParaRPr lang="en-US" sz="1900" dirty="0"/>
          </a:p>
          <a:p>
            <a:pPr indent="0" marL="0">
              <a:buNone/>
            </a:pPr>
            <a:r>
              <a:rPr lang="en-US" sz="1900" dirty="0">
                <a:solidFill>
                  <a:srgbClr val="1B2530"/>
                </a:solidFill>
                <a:latin typeface="Calibri" pitchFamily="34" charset="0"/>
                <a:ea typeface="Calibri" pitchFamily="34" charset="-122"/>
                <a:cs typeface="Calibri" pitchFamily="34" charset="-120"/>
              </a:rPr>
              <a:t>ESP-IDF is not active in this terminal. Activate it and try again.</a:t>
            </a:r>
            <a:endParaRPr lang="en-US" sz="1900" dirty="0"/>
          </a:p>
        </p:txBody>
      </p:sp>
      <p:sp>
        <p:nvSpPr>
          <p:cNvPr id="16" name="Shape 14"/>
          <p:cNvSpPr/>
          <p:nvPr/>
        </p:nvSpPr>
        <p:spPr>
          <a:xfrm>
            <a:off x="9287967" y="91440"/>
            <a:ext cx="2355088" cy="274320"/>
          </a:xfrm>
          <a:prstGeom prst="rect">
            <a:avLst/>
          </a:prstGeom>
          <a:solidFill>
            <a:srgbClr val="FEF3C7"/>
          </a:solidFill>
          <a:ln w="12700">
            <a:solidFill>
              <a:srgbClr val="B45309"/>
            </a:solidFill>
            <a:prstDash val="solid"/>
          </a:ln>
        </p:spPr>
      </p:sp>
      <p:sp>
        <p:nvSpPr>
          <p:cNvPr id="17" name="Shape 15"/>
          <p:cNvSpPr/>
          <p:nvPr/>
        </p:nvSpPr>
        <p:spPr>
          <a:xfrm>
            <a:off x="9287967" y="91440"/>
            <a:ext cx="27432" cy="274320"/>
          </a:xfrm>
          <a:prstGeom prst="rect">
            <a:avLst/>
          </a:prstGeom>
          <a:solidFill>
            <a:srgbClr val="B45309"/>
          </a:solidFill>
          <a:ln w="12700">
            <a:solidFill>
              <a:srgbClr val="B45309"/>
            </a:solidFill>
            <a:prstDash val="solid"/>
          </a:ln>
        </p:spPr>
      </p:sp>
      <p:sp>
        <p:nvSpPr>
          <p:cNvPr id="18" name="Shape 16"/>
          <p:cNvSpPr/>
          <p:nvPr/>
        </p:nvSpPr>
        <p:spPr>
          <a:xfrm>
            <a:off x="9342831" y="91440"/>
            <a:ext cx="27432" cy="274320"/>
          </a:xfrm>
          <a:prstGeom prst="rect">
            <a:avLst/>
          </a:prstGeom>
          <a:solidFill>
            <a:srgbClr val="B45309"/>
          </a:solidFill>
          <a:ln w="12700">
            <a:solidFill>
              <a:srgbClr val="B45309"/>
            </a:solidFill>
            <a:prstDash val="solid"/>
          </a:ln>
        </p:spPr>
      </p:sp>
      <p:pic>
        <p:nvPicPr>
          <p:cNvPr id="19"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0" name="Text 17"/>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Troubleshooting</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riscv32-esp-elf-gcc missing</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compilers were not installed, or not activated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./install.sh esp32c3,esp32c6, then export.sh</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No module named prg32</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you are not in the PRG32 folder</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cd to the folder that you cloned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PRG32-QT is not running, or a firewall blocks port 8080</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it; allow it;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macOS will not open PRG32</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application is from outside the App Store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right-click, Open; or Privacy and Security, Open Anyway</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Linux: PRG32 does not start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Qt of the system is older than 6.5</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newer distribution, or build from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Ready for Lecture 02?</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682733"/>
                <a:gridCol w="8192799"/>
                <a:gridCol w="2218883"/>
              </a:tblGrid>
              <a:tr h="0">
                <a:tc>
                  <a:txBody>
                    <a:bodyPr/>
                    <a:lstStyle/>
                    <a:p>
                      <a:pPr algn="l" indent="0" marL="0">
                        <a:buNone/>
                      </a:pP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Check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How</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PRG32-QT starts and runs a game from the Store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step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 a new terminal, after activating ESP-IDF, doctor shows only OK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step 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cartridge build produces pong.prg32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step 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upload-and-run starts it in PRG32-QT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step 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 debug mode, pause and step work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step 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a new terminal, python3 -m prg32 doctor says: idf.py missing. What is the most likely cause?</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ESP-IDF must be installed again</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ESP-IDF is not active in this terminal</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PRG32-QT is not running</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board is not connected</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Which host lets you run and debug a cartridge without installing a compiler?</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ESP32-C6 board</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QEMU</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PRG32-QT</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none of them</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Why does the same pong.prg32 run on the board, on QEMU and on PRG32-QT?</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is recompiled at each start</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contains three programs</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calls the runtime through the same table of functions on every host</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PRG32-QT translates it to C</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What does an assembler do?</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runs the program on the processor</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translates assembly source code into machine code</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sends the cartridge to a host</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shows the registers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375"/>
                <a:gridCol w="3328325"/>
                <a:gridCol w="2060391"/>
                <a:gridCol w="3328325"/>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toolchain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catena di strumenti di sviluppo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firmware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firmware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cartridge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cartuccia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runtime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ambiente di esecuzione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emulator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emulatore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interpreter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interprete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to build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compilare (costruire)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to flash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scrivere nella memoria flash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host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macchina ospite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breakpoint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punto di interruzione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Summary and reading</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PRG32 is a runtime, a cartridge format, a tool and a Store; a cartridge runs unchanged on the board, on QEMU and on PRG32-QT</a:t>
            </a:r>
            <a:endParaRPr lang="en-US" sz="2200" dirty="0"/>
          </a:p>
        </p:txBody>
      </p:sp>
      <p:sp>
        <p:nvSpPr>
          <p:cNvPr id="5" name="Shape 3"/>
          <p:cNvSpPr/>
          <p:nvPr/>
        </p:nvSpPr>
        <p:spPr>
          <a:xfrm>
            <a:off x="548640" y="237902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7260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PRG32-QT is enough to play and to debug; ESP-IDF and the PRG32 repository are needed to build</a:t>
            </a:r>
            <a:endParaRPr lang="en-US" sz="2200" dirty="0"/>
          </a:p>
        </p:txBody>
      </p:sp>
      <p:sp>
        <p:nvSpPr>
          <p:cNvPr id="7" name="Shape 5"/>
          <p:cNvSpPr/>
          <p:nvPr/>
        </p:nvSpPr>
        <p:spPr>
          <a:xfrm>
            <a:off x="548640" y="323430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27883"/>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ESP-IDF must be activated in every new terminal: remember this and most problems disappear</a:t>
            </a:r>
            <a:endParaRPr lang="en-US" sz="2200" dirty="0"/>
          </a:p>
        </p:txBody>
      </p:sp>
      <p:sp>
        <p:nvSpPr>
          <p:cNvPr id="9" name="Shape 7"/>
          <p:cNvSpPr/>
          <p:nvPr/>
        </p:nvSpPr>
        <p:spPr>
          <a:xfrm>
            <a:off x="548640" y="408959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983165"/>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You have built a cartridge, sent it to PRG32-QT and stopped it in the debugger: the loop of the whole course</a:t>
            </a:r>
            <a:endParaRPr lang="en-US" sz="2200" dirty="0"/>
          </a:p>
        </p:txBody>
      </p:sp>
      <p:sp>
        <p:nvSpPr>
          <p:cNvPr id="11" name="Shape 9"/>
          <p:cNvSpPr/>
          <p:nvPr/>
        </p:nvSpPr>
        <p:spPr>
          <a:xfrm>
            <a:off x="548640" y="49448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838446"/>
            <a:ext cx="10710367" cy="133375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Reading</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README and docs/usage of github.com/riscv-prg32/PRG32</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README and docs of github.com/riscv-prg32/PRG32-QT</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Playing with RISC-V: the chapters on setup and on PRG32-QT</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PRG32 and PRG32-QT: Setting Up Your Workshop</dc:title>
  <dc:subject>Lecture 01</dc:subject>
  <dc:creator>Raffaele Montella</dc:creator>
  <cp:lastModifiedBy>Raffaele Montella</cp:lastModifiedBy>
  <cp:revision>1</cp:revision>
  <dcterms:created xsi:type="dcterms:W3CDTF">2026-10-17T07:16:48Z</dcterms:created>
  <dcterms:modified xsi:type="dcterms:W3CDTF">2026-10-17T07:16:48Z</dcterms:modified>
</cp:coreProperties>
</file>