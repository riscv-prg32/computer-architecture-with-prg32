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90aed68-378d-2ddc-df4d-099787c4d9ea}">
          <p14:sldIdLst>
            <p14:sldId id="256"/>
            <p14:sldId id="257"/>
            <p14:sldId id="258"/>
          </p14:sldIdLst>
        </p14:section>
        <p14:section name="The platform, in detail" id="{b5f05463-7056-3d9f-3d97-8bcc5579146a}">
          <p14:sldIdLst>
            <p14:sldId id="259"/>
            <p14:sldId id="260"/>
            <p14:sldId id="261"/>
            <p14:sldId id="262"/>
            <p14:sldId id="263"/>
            <p14:sldId id="264"/>
          </p14:sldIdLst>
        </p14:section>
        <p14:section name="Step 2: install the toolchain" id="{877d4e86-c534-5bad-dc84-dabad5d0806d}">
          <p14:sldIdLst>
            <p14:sldId id="265"/>
          </p14:sldIdLst>
        </p14:section>
        <p14:section name="When something does not work" id="{2c254833-e89c-761b-c68d-2fdd67229fb0}">
          <p14:sldIdLst>
            <p14:sldId id="266"/>
            <p14:sldId id="267"/>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lecture is a workshop in both senses of the word: a session of practical work, and the place in which all subsequent work will be done. It contains no theory. Its outcome is a configured environment: PRG32-QT running on the student's laptop, the RISC-V toolchain installed and verified, and a first cartridge built by the student and halted in the debugger. The epigraph about sharpening the axe justifies devoting two hours to tools: every later lecture presupposes that building and running a program costs a single command and a few seconds, so that attention can be spent on the ideas rather than on the procedure.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pieces of PRG32. USE NOW: the PRG32 tools, the PRG32-QT debugger, the complete program (used, not studied, in this course). UNDERSTAND LATER: the init, update, draw contract (Lecture 02); registers (Lecture 02). A slide without a badge is context: a story, an example, a question, an exercise.
For the lecturer: New in 2026/27: a hands-on lecture. Students bring a laptop; at the end everyone has PRG32-QT running and a cartridge built by their own toolchain. The steps come from the README of PRG32, the documentation of PRG32-QT and chapter 3 of the textbook. The cartridge commands of step 3 were run on macOS against PRG32-QT; the Windows and Linux installations follow the official instructions and were not run for these slides. Ask the students to do the long download of step 2 at home, before the lecture: the classroom network will not survive sixty copies of ESP-IDF. Version numbers are those of October 2026: check the release pages before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outcomes, listed in the order in which they are reached: a conceptual picture of the platform; PRG32-QT installed; the toolchain installed and checked; one cartridge built and stopped in the debugger; and a repertoire of remedies for the usual failures. The list doubles as a checklist. The first two outcomes are sufficient to follow the course; the third and fourth must be in place before Lecture 02, in which the first program is 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installation is stratified into four levels, not all of which are required. Level 1, PRG32-QT, takes about five minutes and allows any cartridge to be played and debugged. Level 2, ESP-IDF together with the PRG32 repository, is a substantial download and enables the student to build cartridges; it is required by everyone before Lecture 02. Level 3, the QEMU emulator, and level 4, the physical kit, are optional. The caption addresses an important concern of equity: the entire course can be followed with levels 1 and 2 alone, without purchasing any hardware.
For the lecturer: Level 1 takes five minutes. Level 2 is a large download and takes from half an hour to an hour: at home, on a good connection. Levels 3 and 4 are for the curious, and for the laboratory.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name PRG32 designates four distinct artefacts. A firmware: the resident program that owns the display, the buttons and the audio. A cartridge format: a game packaged as a single small file. A tool on the development machine, the command python3 -m prg32, which builds, uploads and packages cartridges. And a Store, where finished games are published. The student's code is genuine 32-bit RISC-V machine code, and it interacts with the firmware through a contract of three functions: init, invoked once, and update and draw, invoked at every frame. Lecture 02 takes this contract as its starting point.
UNDERSTAND NOW: the pieces of PRG32.
For the lecturer: github.com/riscv-prg32/PRG32. The runtime calls init once, then update and draw at every frame: Lecture 02 starts from this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traces a program through its life cycle, from left to right. A source file is written in assembly or C. The RISC-V toolchain translates it into machine code. The result is a cartridge: a file containing code, data and a short header. The cartridge is transmitted over the network to a host, whose runtime then calls the three entry points. The first three stages take place on the student's laptop and require level 2; the last two take place on a host, which may be PRG32-QT, QEMU or the board. One and the same file runs on all three because it reaches the runtime indirectly, through a table of functions: the application binary interface, or ABI, of PRG32.
UNDERSTAND NOW: the pieces of PRG32.
For the lecturer: The compiler is riscv32-esp-elf-gcc, installed by ESP-IDF. The cartridge is loaded at address 0x40800000 and reaches the runtime through a table of functions, the ABI: this is why the same file runs on three different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kit is a small console assembled on a breadboard. Its core is an Espressif ESP32-C6, a chip with a single RISC-V core clocked at 160 MHz and an integrated Wi-Fi radio. Around it are a 2.8-inch colour display, one or two audio amplifiers, a joystick and a few buttons, each wired directly to a pin of the chip. Two numbers concerning the screen should be distinguished: the panel has 320 by 240 pixels, while games draw within a viewport of 320 by 200. Cartridges reach the board over Wi-Fi. A personal kit is not required to follow the course; the laboratory provides a number of them.
UNDERSTAND NOW: the pieces of PRG32.
For the lecturer: Display: ILI9341 over SPI. Audio: MAX98357A over I2S. The bill of materials and the wiring are in docs/hardware of the PRG32 repository. The laboratory has kits.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cartridge, three hosts, compared row by row. On the board and in QEMU the code runs natively, on a physical or an emulated chip respectively; in PRG32-QT it is interpreted, one instruction at a time. The board and QEMU require the toolchain, whereas PRG32-QT does not, either for playing or for debugging. Single-stepping requires additional tools on the first two hosts and is built into the third. A useful heuristic follows: the board is the authority on timing, PRG32-QT the authority on the content of a register.
UNDERSTAND NOW: the pieces of PRG32.
For the lecturer: Use the board when you want the truth about time, and PRG32-QT when you want the truth about a register. Why an ESP32-C3 in QEMU? Espressif maintains a mature emulator with graphics for that chip; it executes the same RISC-V instructions, and the cartridge does not notice.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is the console realised as an application: it contains an interpreter of the RV32IMAC instruction set and offers the cartridge the same services as the firmware. Three features matter. The speed profiles in Settings: Accurate, the default, which reproduces the timing of the ESP32-C6; Optimal, at thirty frames per second; and Unlimited. The Store browser, which downloads and runs published cartridges. And the debugger, which displays the disassembly, the registers and memory, and executes one instruction at a time. Accurate is the profile to retain, since it reveals when a program would be too slow on the real chip.
UNDERSTAND NOW: the pieces of PRG32.
For the lecturer: github.com/riscv-prg32/PRG32-QT. Accurate charges each instruction and each call a cost in cycles of a 160 MHz clock: not a cycle-exact model of the chip, but close enough to see when a frame is 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 keyboard the joystick is mapped to the arrow keys or to W, A, S, D; button A to Z or J; button B to X or K; Start and Select to Enter or Space. In PRG32-QT, Escape leaves the game and returns to Setup. One property of QEMU routinely surprises first-time users: keystrokes must be typed into the terminal from which QEMU was launched, not into the window displaying the image. A game that appears unresponsive in QEMU usually only requires the terminal to be given focus.
UNDERSTAND NOW: the pieces of PRG32.
For the lecturer: A USB or Bluetooth game controller is recognised by PRG32-QT when it is plugged in. QEMU reads the keyboard from the terminal that launched it, not from the window with the picture: the classic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idea explains every installation step and nearly every failure. The compiler is distributed with ESP-IDF, Espressif's development framework, installed for two targets: esp32c6, the kit, and esp32c3, the emulated chip. ESP-IDF, however, is not active by default: each new terminal must activate it before its tools can be located. The box on the right shows the message every student will eventually encounter, idf.py: command not found. It does not indicate a broken installation; it indicates that ESP-IDF has not been activated in the terminal in use.
USE NOW: the PRG32 tools (used, not studied, in this course).
For the lecturer: On Windows activating means opening the ESP-IDF PowerShell; on macOS and Linux, running export.sh. The symptom is always the same: idf.py, or riscv32-esp-elf-gcc, not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is read from left to right: symptom, diagnosis, remedy. Its first row accounts for most cases: idf.py: command not found means that ESP-IDF is not active in the current terminal. No module named prg32 means that the command was not issued from the PRG32 folder. A refused connection means that PRG32-QT is not running, or that a firewall is blocking port 8080. When asking for help, the command and the complete message should be supplied as text: a photograph of a screen can be neither searched nor copied.
USE NOW: the PRG32 tools (used, not studied, in this course).
For the lecturer: The first row covers most of the cases. docs/usage/troubleshooting.md of the PRG32 repository has the complete list. When asking for help, paste the command and the whole message: never a photograph of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checks, one for each step completed: PRG32-QT runs a game from the Store; in a fresh terminal the doctor reports only OK; cartridge build produces pong.prg32; upload-and-run starts it; and in debug mode pausing and stepping work. For any check that fails, the last column names the step to repeat. Students who remain blocked should attend office hours or the laboratory, with their laptop, before Lecture 02.
For the lecturer: Five ticks and the workshop is ready. Anyone who is stuck comes to office hours, or to the laboratory, before Lecture 02: with the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answering the first question, consider what "a new terminal" implies. Nothing has been uninstalled, PRG32-QT plays no part in this command, and the doctor needs no board. Activation lasts only as long as the terminal in which it was performed, so a new terminal begins without it. The remedy is the routine one: export.sh, or the ESP-IDF PowerShell.
The second question separates two activities: building a cartridge and running one. A compiler is needed only for the former. The board and QEMU execute the real firmware, which must itself be compiled; PRG32-QT interprets the cartridge and provides its own debugger, and is therefore the only host that requires nothing further.
For the lecturer: 1. Answer: B. Activation lasts as long as the terminal: run export.sh, or open the ESP-IDF PowerShell.
2. Answer: C. PRG32-QT interprets the cartridge and has a built-in debugger; a compiler is needed only to build cartridges.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cartridge is neither recompiled nor a bundle of three programs. A portable cartridge does not call the firmware at fixed addresses: it calls through a table of functions, the ABI, and each host supplies its own implementation of that table. This is the meaning of the --portable option, and the reason why the file is identical in every column of the table comparing the three hosts. The principle, a stable interface separating a program from the system that runs it, will recur throughout the course.
For the lecturer: Answer: C. A portable cartridge depends only on the ABI, the table of functions of the runtime, which every host provides.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that recur in every document concerning PRG32, with the Italian usually employed in class. Three deserve particular attention. A toolchain is the sequence of programs that transforms source code into an executable: compiler, assembler and linker. To flash is to write a program into the flash memory of a chip. A host is the machine on which a cartridge runs: the board, QEMU or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propositions summarise the lecture. PRG32 is a runtime, a cartridge format, a tool and a Store, and a cartridge runs unchanged on three hosts. PRG32-QT suffices for playing and debugging; ESP-IDF and the repository are required for building. ESP-IDF must be activated in every new terminal. And the student has now completed the cycle on which the whole course rests: build, transmit, halt in the debugger. The recommended readings are the README files of the two repositories. Lecture 02 uses this workshop to write the first program in assembly.
Learning status, recap. UNDERSTAND NOW: the pieces of PRG32. USE NOW: the PRG32 tools, the PRG32-QT debugger, the complete program (used, not studied, in this course). UNDERSTAND LATER: the init, update, draw contract (Lecture 02); registers (Lecture 02). A slide without a badge is context: a story, an example, a question, an exercise.
For the lecturer: Next: Lecture 02, the first program in RISC-V assembly, typed by the students in the workshop they have just set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01: PRG32 setup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PRG32 and PRG32-QT: Setting Up Your Workshop</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800" dirty="0">
                <a:solidFill>
                  <a:srgbClr val="CFE3EA"/>
                </a:solidFill>
                <a:latin typeface="Calibri" pitchFamily="34" charset="0"/>
                <a:ea typeface="Calibri" pitchFamily="34" charset="-122"/>
                <a:cs typeface="Calibri" pitchFamily="34" charset="-120"/>
              </a:rPr>
              <a:t>The platform in detail, and a step-by-step installation on Windows, macOS and Linux</a:t>
            </a:r>
            <a:endParaRPr lang="en-US" sz="18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“Give me six hours to chop down a tree and I will spend the first four sharpening the axe.”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attributed to Abraham Lincoln</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01-Computer_Architecture-PRG32_and_PRG32-QT_Setup-Lab.pptx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clear picture of the pieces of PRG32: runtime, cartridge, tools, hosts, Store</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PRG32-QT installed on your laptop: you can play any cartridge and look inside it</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RISC-V toolchain installed and checked: you can build cartridges of your own</a:t>
            </a:r>
            <a:endParaRPr lang="en-US" sz="2200" dirty="0"/>
          </a:p>
        </p:txBody>
      </p:sp>
      <p:sp>
        <p:nvSpPr>
          <p:cNvPr id="9" name="Text 7"/>
          <p:cNvSpPr txBox="1"/>
          <p:nvPr/>
        </p:nvSpPr>
        <p:spPr>
          <a:xfrm>
            <a:off x="548640" y="48539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8356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One cartridge built by you, running in PRG32-QT, stopped in the debugger</a:t>
            </a:r>
            <a:endParaRPr lang="en-US" sz="2200" dirty="0"/>
          </a:p>
        </p:txBody>
      </p:sp>
      <p:sp>
        <p:nvSpPr>
          <p:cNvPr id="11" name="Text 9"/>
          <p:cNvSpPr txBox="1"/>
          <p:nvPr/>
        </p:nvSpPr>
        <p:spPr>
          <a:xfrm>
            <a:off x="548640" y="5750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176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list of what to do when something does not work</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levels: install what you need</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924535"/>
                <a:gridCol w="3361944"/>
                <a:gridCol w="4370527"/>
                <a:gridCol w="243740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Level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install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can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Needed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PRG32-QT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play cartridges, download from the Store, use the debugger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by everybody,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ESP-IDF and the PRG32 repository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build your own cartridges from assembly or 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by everybody, before Lecture 02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QEMU emulator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run the real firmware on your laptop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optional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kit: an ESP32-C6 board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run on real hardware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optional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course can be followed with levels 1 and 2 only. No board is required.</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 a runtime, a file format, a set of tools</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 open-source platform for teaching RISC-V assembly and C, developed at Parthenope</a:t>
            </a:r>
            <a:endParaRPr lang="en-US" sz="2000" dirty="0"/>
          </a:p>
        </p:txBody>
      </p:sp>
      <p:sp>
        <p:nvSpPr>
          <p:cNvPr id="5" name="Shape 3"/>
          <p:cNvSpPr/>
          <p:nvPr/>
        </p:nvSpPr>
        <p:spPr>
          <a:xfrm>
            <a:off x="548640" y="241435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23423"/>
            <a:ext cx="6565392" cy="203657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Four things, one name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resident firmware: the program that owns the screen, the buttons and the sound</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cartridge format: your game as one small file, .prg32</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tool on your laptop: python3 -m prg32 builds, uploads, packages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Cartridge Store: where finished games are shared</a:t>
            </a:r>
            <a:endParaRPr lang="en-US" sz="2000" dirty="0"/>
          </a:p>
        </p:txBody>
      </p:sp>
      <p:sp>
        <p:nvSpPr>
          <p:cNvPr id="7" name="Shape 5"/>
          <p:cNvSpPr/>
          <p:nvPr/>
        </p:nvSpPr>
        <p:spPr>
          <a:xfrm>
            <a:off x="548640" y="473726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4633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Your code runs as real 32-bit RISC-V machine code, RV32IMAC</a:t>
            </a:r>
            <a:endParaRPr lang="en-US" sz="2000" dirty="0"/>
          </a:p>
        </p:txBody>
      </p:sp>
      <p:sp>
        <p:nvSpPr>
          <p:cNvPr id="9" name="Shape 7"/>
          <p:cNvSpPr/>
          <p:nvPr/>
        </p:nvSpPr>
        <p:spPr>
          <a:xfrm>
            <a:off x="548640" y="56433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contract between your game and the runtime is three functions: init, update, draw</a:t>
            </a:r>
            <a:endParaRPr lang="en-US" sz="2000" dirty="0"/>
          </a:p>
        </p:txBody>
      </p:sp>
      <p:pic>
        <p:nvPicPr>
          <p:cNvPr id="11" name="Image 0" descr="/Users/raffaelemontella/devel/riscv-prg32/computer-architecture-with-prg32/tools/assets/prg32_logo.png">    </p:cNvPr>
          <p:cNvPicPr>
            <a:picLocks noChangeAspect="1"/>
          </p:cNvPicPr>
          <p:nvPr/>
        </p:nvPicPr>
        <p:blipFill>
          <a:blip r:embed="rId1"/>
          <a:stretch>
            <a:fillRect/>
          </a:stretch>
        </p:blipFill>
        <p:spPr>
          <a:xfrm>
            <a:off x="7863840" y="2385155"/>
            <a:ext cx="3779215" cy="2362010"/>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github.com/riscv-prg32/PRG32</a:t>
            </a:r>
            <a:endParaRPr lang="en-US" sz="1200" dirty="0"/>
          </a:p>
        </p:txBody>
      </p:sp>
      <p:sp>
        <p:nvSpPr>
          <p:cNvPr id="13" name="Shape 10"/>
          <p:cNvSpPr/>
          <p:nvPr/>
        </p:nvSpPr>
        <p:spPr>
          <a:xfrm>
            <a:off x="8419033" y="91440"/>
            <a:ext cx="3224022" cy="274320"/>
          </a:xfrm>
          <a:prstGeom prst="rect">
            <a:avLst/>
          </a:prstGeom>
          <a:solidFill>
            <a:srgbClr val="E0F2FE"/>
          </a:solidFill>
          <a:ln w="12700">
            <a:solidFill>
              <a:srgbClr val="0369A1"/>
            </a:solidFill>
            <a:prstDash val="solid"/>
          </a:ln>
        </p:spPr>
      </p:sp>
      <p:sp>
        <p:nvSpPr>
          <p:cNvPr id="14" name="Shape 11"/>
          <p:cNvSpPr/>
          <p:nvPr/>
        </p:nvSpPr>
        <p:spPr>
          <a:xfrm>
            <a:off x="8419033" y="91440"/>
            <a:ext cx="73152" cy="274320"/>
          </a:xfrm>
          <a:prstGeom prst="rect">
            <a:avLst/>
          </a:prstGeom>
          <a:solidFill>
            <a:srgbClr val="0369A1"/>
          </a:solidFill>
          <a:ln w="12700">
            <a:solidFill>
              <a:srgbClr val="0369A1"/>
            </a:solidFill>
            <a:prstDash val="solid"/>
          </a:ln>
        </p:spPr>
      </p:sp>
      <p:pic>
        <p:nvPicPr>
          <p:cNvPr id="15" name="Image 1" descr="preencoded.png">    </p:cNvPr>
          <p:cNvPicPr>
            <a:picLocks noChangeAspect="1"/>
          </p:cNvPicPr>
          <p:nvPr/>
        </p:nvPicPr>
        <p:blipFill>
          <a:blip r:embed="rId2"/>
          <a:stretch>
            <a:fillRect/>
          </a:stretch>
        </p:blipFill>
        <p:spPr>
          <a:xfrm>
            <a:off x="8547049" y="128016"/>
            <a:ext cx="201168" cy="201168"/>
          </a:xfrm>
          <a:prstGeom prst="rect">
            <a:avLst/>
          </a:prstGeom>
        </p:spPr>
      </p:pic>
      <p:sp>
        <p:nvSpPr>
          <p:cNvPr id="16" name="Text 12"/>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pieces of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your file to the screen</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verm1.S</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your source: assembly or C</a:t>
            </a:r>
            <a:endParaRPr lang="en-US" sz="17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compiler</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the RISC-V toolchain turns it into machine code</a:t>
            </a:r>
            <a:endParaRPr lang="en-US" sz="17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verm1.prg32</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 cartridge: code, data, a header</a:t>
            </a:r>
            <a:endParaRPr lang="en-US" sz="17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upload</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over the network, to a host</a:t>
            </a:r>
            <a:endParaRPr lang="en-US" sz="17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runtime</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calls init, update, draw</a:t>
            </a:r>
            <a:endParaRPr lang="en-US" sz="17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The first three boxes are on your laptop, and need level 2. The last two are a host: PRG32-QT, QEMU or the board.</a:t>
            </a:r>
            <a:endParaRPr lang="en-US" sz="2000" dirty="0"/>
          </a:p>
        </p:txBody>
      </p:sp>
      <p:sp>
        <p:nvSpPr>
          <p:cNvPr id="24" name="Shape 22"/>
          <p:cNvSpPr/>
          <p:nvPr/>
        </p:nvSpPr>
        <p:spPr>
          <a:xfrm>
            <a:off x="8419033" y="91440"/>
            <a:ext cx="3224022" cy="274320"/>
          </a:xfrm>
          <a:prstGeom prst="rect">
            <a:avLst/>
          </a:prstGeom>
          <a:solidFill>
            <a:srgbClr val="E0F2FE"/>
          </a:solidFill>
          <a:ln w="12700">
            <a:solidFill>
              <a:srgbClr val="0369A1"/>
            </a:solidFill>
            <a:prstDash val="solid"/>
          </a:ln>
        </p:spPr>
      </p:sp>
      <p:sp>
        <p:nvSpPr>
          <p:cNvPr id="25" name="Shape 23"/>
          <p:cNvSpPr/>
          <p:nvPr/>
        </p:nvSpPr>
        <p:spPr>
          <a:xfrm>
            <a:off x="8419033"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27" name="Text 2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pieces of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kit: a console on a breadboard</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Espressif ESP32-C6: one RISC-V core at 160 MHz, with Wi-Fi</a:t>
            </a:r>
            <a:endParaRPr lang="en-US" sz="2100" dirty="0"/>
          </a:p>
        </p:txBody>
      </p:sp>
      <p:sp>
        <p:nvSpPr>
          <p:cNvPr id="5" name="Shape 3"/>
          <p:cNvSpPr/>
          <p:nvPr/>
        </p:nvSpPr>
        <p:spPr>
          <a:xfrm>
            <a:off x="548640" y="229800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9323"/>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2.8 inch colour display, 320 by 240 pixels: games draw in a viewport of 320 by 200</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One or two small audio amplifiers, a joystick and buttons, wired straight to the pins of the chip</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game reaches it over Wi-Fi: the board creates a network called PRG32, and you upload the cartridge to it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You do not need one to follow the course: everything runs on your laptop</a:t>
            </a:r>
            <a:endParaRPr lang="en-US" sz="2100" dirty="0"/>
          </a:p>
        </p:txBody>
      </p:sp>
      <p:pic>
        <p:nvPicPr>
          <p:cNvPr id="13" name="Image 0" descr="/Users/raffaelemontella/devel/riscv-prg32/computer-architecture-with-prg32/tools/assets/kit_breadboard.png">    </p:cNvPr>
          <p:cNvPicPr>
            <a:picLocks noChangeAspect="1"/>
          </p:cNvPicPr>
          <p:nvPr/>
        </p:nvPicPr>
        <p:blipFill>
          <a:blip r:embed="rId1"/>
          <a:stretch>
            <a:fillRect/>
          </a:stretch>
        </p:blipFill>
        <p:spPr>
          <a:xfrm>
            <a:off x="6766560" y="1997906"/>
            <a:ext cx="4876495" cy="3136507"/>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 kit on a breadboard</a:t>
            </a:r>
            <a:endParaRPr lang="en-US" sz="1200" dirty="0"/>
          </a:p>
        </p:txBody>
      </p:sp>
      <p:sp>
        <p:nvSpPr>
          <p:cNvPr id="15" name="Shape 12"/>
          <p:cNvSpPr/>
          <p:nvPr/>
        </p:nvSpPr>
        <p:spPr>
          <a:xfrm>
            <a:off x="8419033" y="91440"/>
            <a:ext cx="3224022" cy="274320"/>
          </a:xfrm>
          <a:prstGeom prst="rect">
            <a:avLst/>
          </a:prstGeom>
          <a:solidFill>
            <a:srgbClr val="E0F2FE"/>
          </a:solidFill>
          <a:ln w="12700">
            <a:solidFill>
              <a:srgbClr val="0369A1"/>
            </a:solidFill>
            <a:prstDash val="solid"/>
          </a:ln>
        </p:spPr>
      </p:sp>
      <p:sp>
        <p:nvSpPr>
          <p:cNvPr id="16" name="Shape 13"/>
          <p:cNvSpPr/>
          <p:nvPr/>
        </p:nvSpPr>
        <p:spPr>
          <a:xfrm>
            <a:off x="8419033"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547049" y="128016"/>
            <a:ext cx="201168" cy="201168"/>
          </a:xfrm>
          <a:prstGeom prst="rect">
            <a:avLst/>
          </a:prstGeom>
        </p:spPr>
      </p:pic>
      <p:sp>
        <p:nvSpPr>
          <p:cNvPr id="18" name="Text 1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pieces of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 ways to run the same cartridge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728135"/>
                <a:gridCol w="3091886"/>
                <a:gridCol w="3273762"/>
              </a:tblGrid>
              <a:tr h="0">
                <a:tc>
                  <a:txBody>
                    <a:bodyPr/>
                    <a:lstStyle/>
                    <a:p>
                      <a:pPr algn="l" indent="0" marL="0">
                        <a:buNone/>
                      </a:pP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ESP32-C6 board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Espressif QEMU</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PRG32-QT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How code runs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natively on the chip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natively on an emulated ESP32-C3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interpreted RV32IMAC guest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Needs a toolchain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yes (ESP-IDF)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yes (ESP-IDF)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no, to play and debug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Cartridge arrives by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Wi-Fi upload, Store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staging into the flash image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file import, Store, HTTP upload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Instruction stepping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with JTAG and GDB</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with GDB</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built-in debugger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Runs 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hardware kit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Windows, Linux, macOS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desktop, Raspberry Pi, iOS, Android, TV</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cartridge file is the same in every column.</a:t>
            </a:r>
            <a:endParaRPr lang="en-US" sz="1500" dirty="0"/>
          </a:p>
        </p:txBody>
      </p:sp>
      <p:sp>
        <p:nvSpPr>
          <p:cNvPr id="5" name="Shape 2"/>
          <p:cNvSpPr/>
          <p:nvPr/>
        </p:nvSpPr>
        <p:spPr>
          <a:xfrm>
            <a:off x="8419033" y="91440"/>
            <a:ext cx="3224022" cy="274320"/>
          </a:xfrm>
          <a:prstGeom prst="rect">
            <a:avLst/>
          </a:prstGeom>
          <a:solidFill>
            <a:srgbClr val="E0F2FE"/>
          </a:solidFill>
          <a:ln w="12700">
            <a:solidFill>
              <a:srgbClr val="0369A1"/>
            </a:solidFill>
            <a:prstDash val="solid"/>
          </a:ln>
        </p:spPr>
      </p:sp>
      <p:sp>
        <p:nvSpPr>
          <p:cNvPr id="6" name="Shape 3"/>
          <p:cNvSpPr/>
          <p:nvPr/>
        </p:nvSpPr>
        <p:spPr>
          <a:xfrm>
            <a:off x="8419033"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8" name="Text 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pieces of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the console on your laptop</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application for Windows, macOS, Linux, Raspberry Pi, phones, tablets and televisions</a:t>
            </a:r>
            <a:endParaRPr lang="en-US" sz="1900" dirty="0"/>
          </a:p>
        </p:txBody>
      </p:sp>
      <p:sp>
        <p:nvSpPr>
          <p:cNvPr id="5" name="Shape 3"/>
          <p:cNvSpPr/>
          <p:nvPr/>
        </p:nvSpPr>
        <p:spPr>
          <a:xfrm>
            <a:off x="548640" y="22550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71891"/>
            <a:ext cx="5468112"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contains an interpreter of RV32IMAC: it executes your cartridge instruction by instruction, and offers it the same functions as the firmware</a:t>
            </a:r>
            <a:endParaRPr lang="en-US" sz="1900" dirty="0"/>
          </a:p>
        </p:txBody>
      </p:sp>
      <p:sp>
        <p:nvSpPr>
          <p:cNvPr id="7" name="Shape 5"/>
          <p:cNvSpPr/>
          <p:nvPr/>
        </p:nvSpPr>
        <p:spPr>
          <a:xfrm>
            <a:off x="548640" y="35984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15233"/>
            <a:ext cx="5468112"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speeds, in Settings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Accurate: timed like the ESP32-C6, the default</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Optimal: 30 frames per second</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Unlimited: as fast as your laptop goes</a:t>
            </a:r>
            <a:endParaRPr lang="en-US" sz="1900" dirty="0"/>
          </a:p>
        </p:txBody>
      </p:sp>
      <p:sp>
        <p:nvSpPr>
          <p:cNvPr id="9" name="Shape 7"/>
          <p:cNvSpPr/>
          <p:nvPr/>
        </p:nvSpPr>
        <p:spPr>
          <a:xfrm>
            <a:off x="548640" y="491204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2885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Store browser, to download and run published cartridges</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debugger: assembly, registers, memory, breakpoints, one instruction at a time</a:t>
            </a:r>
            <a:endParaRPr lang="en-US" sz="1900" dirty="0"/>
          </a:p>
        </p:txBody>
      </p:sp>
      <p:pic>
        <p:nvPicPr>
          <p:cNvPr id="13" name="Image 0" descr="/Users/raffaelemontella/devel/riscv-prg32/computer-architecture-with-prg32/tools/assets/prg32qt_player.png">    </p:cNvPr>
          <p:cNvPicPr>
            <a:picLocks noChangeAspect="1"/>
          </p:cNvPicPr>
          <p:nvPr/>
        </p:nvPicPr>
        <p:blipFill>
          <a:blip r:embed="rId1"/>
          <a:stretch>
            <a:fillRect/>
          </a:stretch>
        </p:blipFill>
        <p:spPr>
          <a:xfrm>
            <a:off x="6766560" y="1881553"/>
            <a:ext cx="4876495" cy="3369215"/>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playing a cartridge</a:t>
            </a:r>
            <a:endParaRPr lang="en-US" sz="1200" dirty="0"/>
          </a:p>
        </p:txBody>
      </p:sp>
      <p:sp>
        <p:nvSpPr>
          <p:cNvPr id="15" name="Shape 12"/>
          <p:cNvSpPr/>
          <p:nvPr/>
        </p:nvSpPr>
        <p:spPr>
          <a:xfrm>
            <a:off x="8419033" y="91440"/>
            <a:ext cx="3224022" cy="274320"/>
          </a:xfrm>
          <a:prstGeom prst="rect">
            <a:avLst/>
          </a:prstGeom>
          <a:solidFill>
            <a:srgbClr val="E0F2FE"/>
          </a:solidFill>
          <a:ln w="12700">
            <a:solidFill>
              <a:srgbClr val="0369A1"/>
            </a:solidFill>
            <a:prstDash val="solid"/>
          </a:ln>
        </p:spPr>
      </p:sp>
      <p:sp>
        <p:nvSpPr>
          <p:cNvPr id="16" name="Shape 13"/>
          <p:cNvSpPr/>
          <p:nvPr/>
        </p:nvSpPr>
        <p:spPr>
          <a:xfrm>
            <a:off x="8419033"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547049" y="128016"/>
            <a:ext cx="201168" cy="201168"/>
          </a:xfrm>
          <a:prstGeom prst="rect">
            <a:avLst/>
          </a:prstGeom>
        </p:spPr>
      </p:pic>
      <p:sp>
        <p:nvSpPr>
          <p:cNvPr id="18" name="Text 1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pieces of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controls, on a keyboard</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01616"/>
                <a:gridCol w="3925716"/>
                <a:gridCol w="426708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On the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 PRG32-QT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 QEMU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Joystick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arrow keys, or W A S 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same, typed in the terminal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Button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Z or J</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Z or J</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Button 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X or 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X or 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Start / Select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Enter or Space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Enter or Space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Leave the game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Escape: back to Setup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close QEMU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419033" y="91440"/>
            <a:ext cx="3224022" cy="274320"/>
          </a:xfrm>
          <a:prstGeom prst="rect">
            <a:avLst/>
          </a:prstGeom>
          <a:solidFill>
            <a:srgbClr val="E0F2FE"/>
          </a:solidFill>
          <a:ln w="12700">
            <a:solidFill>
              <a:srgbClr val="0369A1"/>
            </a:solidFill>
            <a:prstDash val="solid"/>
          </a:ln>
        </p:spPr>
      </p:sp>
      <p:sp>
        <p:nvSpPr>
          <p:cNvPr id="5" name="Shape 2"/>
          <p:cNvSpPr/>
          <p:nvPr/>
        </p:nvSpPr>
        <p:spPr>
          <a:xfrm>
            <a:off x="841903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7" name="Text 3"/>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pieces of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idea behind every installation</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compiler for the ESP32 family comes with ESP-IDF, the development kit of Espressif</a:t>
            </a:r>
            <a:endParaRPr lang="en-US" sz="2100" dirty="0"/>
          </a:p>
        </p:txBody>
      </p:sp>
      <p:sp>
        <p:nvSpPr>
          <p:cNvPr id="5" name="Shape 3"/>
          <p:cNvSpPr/>
          <p:nvPr/>
        </p:nvSpPr>
        <p:spPr>
          <a:xfrm>
            <a:off x="548640" y="246068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6201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PRG32 needs ESP-IDF 5.4 or newer, installed for two chips: esp32c6, the kit, and esp32c3, the emulator</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ESP-IDF is not active by itself: every new terminal must switch it on before the tools work</a:t>
            </a:r>
            <a:endParaRPr lang="en-US" sz="2100" dirty="0"/>
          </a:p>
        </p:txBody>
      </p:sp>
      <p:sp>
        <p:nvSpPr>
          <p:cNvPr id="9" name="Shape 7"/>
          <p:cNvSpPr/>
          <p:nvPr/>
        </p:nvSpPr>
        <p:spPr>
          <a:xfrm>
            <a:off x="548640" y="46754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7676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Then one command does everything: python3 -m prg32</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Almost every installation problem is ESP-IDF not being active in the terminal you are typing in</a:t>
            </a:r>
            <a:endParaRPr lang="en-US" sz="2100" dirty="0"/>
          </a:p>
        </p:txBody>
      </p:sp>
      <p:sp>
        <p:nvSpPr>
          <p:cNvPr id="13" name="Shape 11"/>
          <p:cNvSpPr/>
          <p:nvPr/>
        </p:nvSpPr>
        <p:spPr>
          <a:xfrm>
            <a:off x="7863840" y="1417320"/>
            <a:ext cx="3779215" cy="4754880"/>
          </a:xfrm>
          <a:prstGeom prst="roundRect">
            <a:avLst>
              <a:gd name="adj" fmla="val 1936"/>
            </a:avLst>
          </a:prstGeom>
          <a:solidFill>
            <a:srgbClr val="D8ECEE"/>
          </a:solidFill>
          <a:ln w="12700">
            <a:solidFill>
              <a:srgbClr val="D8ECEE"/>
            </a:solidFill>
            <a:prstDash val="solid"/>
          </a:ln>
        </p:spPr>
      </p:sp>
      <p:sp>
        <p:nvSpPr>
          <p:cNvPr id="14" name="Text 12"/>
          <p:cNvSpPr txBox="1"/>
          <p:nvPr/>
        </p:nvSpPr>
        <p:spPr>
          <a:xfrm>
            <a:off x="8138160" y="1645920"/>
            <a:ext cx="3230575" cy="548640"/>
          </a:xfrm>
          <a:prstGeom prst="rect">
            <a:avLst/>
          </a:prstGeom>
          <a:noFill/>
          <a:ln/>
        </p:spPr>
        <p:txBody>
          <a:bodyPr wrap="square" lIns="0" tIns="0" rIns="0" bIns="0" rtlCol="0" anchor="ctr"/>
          <a:lstStyle/>
          <a:p>
            <a:pPr indent="0" marL="0">
              <a:buNone/>
            </a:pPr>
            <a:r>
              <a:rPr lang="en-US" sz="1800" b="1" dirty="0">
                <a:solidFill>
                  <a:srgbClr val="2E4A62"/>
                </a:solidFill>
                <a:latin typeface="Calibri" pitchFamily="34" charset="0"/>
                <a:ea typeface="Calibri" pitchFamily="34" charset="-122"/>
                <a:cs typeface="Calibri" pitchFamily="34" charset="-120"/>
              </a:rPr>
              <a:t>The message you will meet</a:t>
            </a:r>
            <a:endParaRPr lang="en-US" sz="1800" dirty="0"/>
          </a:p>
        </p:txBody>
      </p:sp>
      <p:sp>
        <p:nvSpPr>
          <p:cNvPr id="15" name="Text 13"/>
          <p:cNvSpPr txBox="1"/>
          <p:nvPr/>
        </p:nvSpPr>
        <p:spPr>
          <a:xfrm>
            <a:off x="8138160" y="2286000"/>
            <a:ext cx="3230575" cy="365760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idf.py: command not found</a:t>
            </a:r>
            <a:endParaRPr lang="en-US" sz="1900" dirty="0"/>
          </a:p>
          <a:p>
            <a:pPr indent="0" marL="0">
              <a:buNone/>
            </a:pPr>
            <a:endParaRPr lang="en-US" sz="1900" dirty="0"/>
          </a:p>
          <a:p>
            <a:pPr indent="0" marL="0">
              <a:buNone/>
            </a:pPr>
            <a:r>
              <a:rPr lang="en-US" sz="1900" dirty="0">
                <a:solidFill>
                  <a:srgbClr val="1B2530"/>
                </a:solidFill>
                <a:latin typeface="Calibri" pitchFamily="34" charset="0"/>
                <a:ea typeface="Calibri" pitchFamily="34" charset="-122"/>
                <a:cs typeface="Calibri" pitchFamily="34" charset="-120"/>
              </a:rPr>
              <a:t>ESP-IDF is not active in this terminal. Activate it and try again.</a:t>
            </a:r>
            <a:endParaRPr lang="en-US" sz="1900" dirty="0"/>
          </a:p>
        </p:txBody>
      </p:sp>
      <p:sp>
        <p:nvSpPr>
          <p:cNvPr id="16" name="Shape 14"/>
          <p:cNvSpPr/>
          <p:nvPr/>
        </p:nvSpPr>
        <p:spPr>
          <a:xfrm>
            <a:off x="9287967" y="91440"/>
            <a:ext cx="2355088" cy="274320"/>
          </a:xfrm>
          <a:prstGeom prst="rect">
            <a:avLst/>
          </a:prstGeom>
          <a:solidFill>
            <a:srgbClr val="FEF3C7"/>
          </a:solidFill>
          <a:ln w="12700">
            <a:solidFill>
              <a:srgbClr val="B45309"/>
            </a:solidFill>
            <a:prstDash val="solid"/>
          </a:ln>
        </p:spPr>
      </p:sp>
      <p:sp>
        <p:nvSpPr>
          <p:cNvPr id="17" name="Shape 15"/>
          <p:cNvSpPr/>
          <p:nvPr/>
        </p:nvSpPr>
        <p:spPr>
          <a:xfrm>
            <a:off x="9287967" y="91440"/>
            <a:ext cx="27432" cy="274320"/>
          </a:xfrm>
          <a:prstGeom prst="rect">
            <a:avLst/>
          </a:prstGeom>
          <a:solidFill>
            <a:srgbClr val="B45309"/>
          </a:solidFill>
          <a:ln w="12700">
            <a:solidFill>
              <a:srgbClr val="B45309"/>
            </a:solidFill>
            <a:prstDash val="solid"/>
          </a:ln>
        </p:spPr>
      </p:sp>
      <p:sp>
        <p:nvSpPr>
          <p:cNvPr id="18" name="Shape 16"/>
          <p:cNvSpPr/>
          <p:nvPr/>
        </p:nvSpPr>
        <p:spPr>
          <a:xfrm>
            <a:off x="9342831" y="91440"/>
            <a:ext cx="27432" cy="274320"/>
          </a:xfrm>
          <a:prstGeom prst="rect">
            <a:avLst/>
          </a:prstGeom>
          <a:solidFill>
            <a:srgbClr val="B45309"/>
          </a:solidFill>
          <a:ln w="12700">
            <a:solidFill>
              <a:srgbClr val="B45309"/>
            </a:solidFill>
            <a:prstDash val="solid"/>
          </a:ln>
        </p:spPr>
      </p:sp>
      <p:pic>
        <p:nvPicPr>
          <p:cNvPr id="19"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0" name="Text 17"/>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Troubleshooting</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riscv32-esp-elf-gcc missing</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compilers were not installed, or not activated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./install.sh esp32c3,esp32c6, then export.sh</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No module named prg32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you are not in the PRG32 folder</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cd to the folder that you cloned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PRG32-QT is not running, or a firewall blocks port 8080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it; allow it;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macOS will not open PRG32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application is from outside the App Store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right-click, Open; or Privacy and Security, Open Anyway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Linux: PRG32 does not start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Qt of the system is older than 6.5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newer distribution, or build from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Ready for Lecture 02?</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82733"/>
                <a:gridCol w="8192799"/>
                <a:gridCol w="2218883"/>
              </a:tblGrid>
              <a:tr h="0">
                <a:tc>
                  <a:txBody>
                    <a:bodyPr/>
                    <a:lstStyle/>
                    <a:p>
                      <a:pPr algn="l" indent="0" marL="0">
                        <a:buNone/>
                      </a:pP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Check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PRG32-QT starts and runs a game from the Store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 a new terminal, after activating ESP-IDF, doctor shows only OK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 build produces pong.prg32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upload-and-run starts it in PRG32-QT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 debug mode, pause and step work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new terminal, python3 -m prg32 doctor says: idf.py missing. What is the most likely cause?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ESP-IDF must be installed again</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ESP-IDF is not active in this terminal</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PRG32-QT is not running</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board is not connected</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host lets you run and debug a cartridge without installing a compiler?</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ESP32-C6 board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QEMU</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PRG32-QT</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none of them</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Why does the same pong.prg32 run on the board, on QEMU and on PRG32-QT?</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is recompiled at each start</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contains three programs</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calls the runtime through the same table of functions on every host</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PRG32-QT translates it to C</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77375"/>
                <a:gridCol w="3328325"/>
                <a:gridCol w="2060391"/>
                <a:gridCol w="332832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toolchain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catena di strumenti di sviluppo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cartridge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cartuccia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runtime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ambiente di esecuzione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emulator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emulatore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interpreter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interprete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to build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compilare (costruire)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to flash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scrivere nella memoria flash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host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macchina ospite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breakpoint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punto di interruzione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Summary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 is a runtime, a cartridge format, a tool and a Store; a cartridge runs unchanged on the board, on QEMU and on PRG32-QT</a:t>
            </a:r>
            <a:endParaRPr lang="en-US" sz="2200" dirty="0"/>
          </a:p>
        </p:txBody>
      </p:sp>
      <p:sp>
        <p:nvSpPr>
          <p:cNvPr id="5" name="Shape 3"/>
          <p:cNvSpPr/>
          <p:nvPr/>
        </p:nvSpPr>
        <p:spPr>
          <a:xfrm>
            <a:off x="548640" y="23790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260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PRG32-QT is enough to play and to debug; ESP-IDF and the PRG32 repository are needed to build</a:t>
            </a:r>
            <a:endParaRPr lang="en-US" sz="2200" dirty="0"/>
          </a:p>
        </p:txBody>
      </p:sp>
      <p:sp>
        <p:nvSpPr>
          <p:cNvPr id="7" name="Shape 5"/>
          <p:cNvSpPr/>
          <p:nvPr/>
        </p:nvSpPr>
        <p:spPr>
          <a:xfrm>
            <a:off x="548640" y="323430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27883"/>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ESP-IDF must be activated in every new terminal: remember this and most problems disappear</a:t>
            </a:r>
            <a:endParaRPr lang="en-US" sz="2200" dirty="0"/>
          </a:p>
        </p:txBody>
      </p:sp>
      <p:sp>
        <p:nvSpPr>
          <p:cNvPr id="9" name="Shape 7"/>
          <p:cNvSpPr/>
          <p:nvPr/>
        </p:nvSpPr>
        <p:spPr>
          <a:xfrm>
            <a:off x="548640" y="408959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83165"/>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You have built a cartridge, sent it to PRG32-QT and stopped it in the debugger: the loop of the whole course</a:t>
            </a:r>
            <a:endParaRPr lang="en-US" sz="2200" dirty="0"/>
          </a:p>
        </p:txBody>
      </p:sp>
      <p:sp>
        <p:nvSpPr>
          <p:cNvPr id="11" name="Shape 9"/>
          <p:cNvSpPr/>
          <p:nvPr/>
        </p:nvSpPr>
        <p:spPr>
          <a:xfrm>
            <a:off x="548640" y="49448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3844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README and docs/usage of github.com/riscv-prg32/PRG32</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README and docs of github.com/riscv-prg32/PRG32-QT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the chapters on setup and on PRG32-QT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PRG32 and PRG32-QT: Setting Up Your Workshop</dc:title>
  <dc:subject>Lecture 01</dc:subject>
  <dc:creator>Raffaele Montella</dc:creator>
  <cp:lastModifiedBy>Raffaele Montella</cp:lastModifiedBy>
  <cp:revision>1</cp:revision>
  <dcterms:created xsi:type="dcterms:W3CDTF">2026-10-16T20:22:23Z</dcterms:created>
  <dcterms:modified xsi:type="dcterms:W3CDTF">2026-10-16T20:22:23Z</dcterms:modified>
</cp:coreProperties>
</file>