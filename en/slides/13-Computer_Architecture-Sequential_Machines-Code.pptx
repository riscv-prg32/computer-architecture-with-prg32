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4d5d965-1df6-7bc2-f34b-0715aaadda95}">
          <p14:sldIdLst>
            <p14:sldId id="256"/>
            <p14:sldId id="257"/>
          </p14:sldIdLst>
        </p14:section>
        <p14:section name="Warm-up on the machine" id="{601ed1a7-3686-e153-bea2-26034e38938f}">
          <p14:sldIdLst>
            <p14:sldId id="258"/>
          </p14:sldIdLst>
        </p14:section>
        <p14:section name="Finite-state machines" id="{388f8b70-27e7-a069-5867-ce8e5fe7da57}">
          <p14:sldIdLst>
            <p14:sldId id="259"/>
          </p14:sldIdLst>
        </p14:section>
        <p14:section name="Back to the machine" id="{8a69d8fc-a30a-142d-31d1-c399de9b3879}">
          <p14:sldIdLst>
            <p14:sldId id="260"/>
            <p14:sldId id="261"/>
          </p14:sldIdLst>
        </p14:section>
        <p14:section name="The complete program" id="{963f6302-7a74-00d1-3f0c-c26a292de256}">
          <p14:sldIdLst>
            <p14:sldId id="262"/>
            <p14:sldId id="263"/>
            <p14:sldId id="264"/>
          </p14:sldIdLst>
        </p14:section>
        <p14:section name="Run it and test it" id="{6e2becf3-e253-dba9-7b65-9d717da0b145}">
          <p14:sldIdLst>
            <p14:sldId id="265"/>
            <p14:sldId id="266"/>
            <p14:sldId id="267"/>
            <p14:sldId id="268"/>
            <p14:sldId id="269"/>
          </p14:sldIdLst>
        </p14:section>
        <p14:section name="Exercises" id="{4f01fa90-d74a-f0d5-df98-bf9356ef2c09}">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13. The lecture deck holds the concepts; this one holds everything you type and run: the listings with their explanation, the complete program, what it shows, and the way to test it on each of the three hosts.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finite-state machines; the clock; latches and flip-flops; registers as flip-flops. USE NOW: the complete program, the PRG32 tools (used, not studied, in this course). UNDERSTAND LATER: nothing. A slide without a badge is context: a story, an example, a question, an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deck contains, in the order of the slides. The program of the lecture is a file that you can build and run as it is: start from there, and come back to the listings to understand each part. The program of this lecture is ~/arc12/code/l13.S; tools/tests/cartridges/run.py builds it, runs it on PRG32-QT with scripted input and checks the pixels of the frame.
For the lecturer: Get the code once: git clone https://github.com/riscv-prg32/computer-architecture-with-prg32 ~/arc12. The program of this lecture is ~/arc12/code/l13.S;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game with a title screen, a playfield and a game-over screen. The variable state holds one of three values. game_update reads the button A and the present state: in TITLE, pressing A leads to PLAY; in OVER, pressing A leads back to TITLE; otherwise nothing changes. So the effect of A depends on the state. This is a state machine: update computes the next state from the present state and the input, the state survives in memory from frame to frame, and draw shows a screen for each state.
UNDERSTAND NOW: finite-state machines.
For the lecturer: Written for this lecture; the textbook capstone game has the same structure. Bug to discuss: holding A on the OVER screen goes to TITLE and, one frame later, to PLAY. Fixing it requires remembering the previous value of the button: one more bit of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game of the warm-up drawn as a diagram: three states, with A leading from TITLE to PLAY and from OVER to TITLE, and the end of the lives leading from PLAY to OVER. The loops on each state are the cases in which nothing changes. The table below lists, for each state, the input that changes it, the next state and the output drawn. Draw the diagram before writing the code: for a game it is the most useful design habit there is.
UNDERSTAND NOW: finite-state machines.
For the lecturer: A Moore machine with three states: two bits of state would be enough, the program uses a whole word. Drawing the diagram before writing the code is the single most useful design habit for a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program counter, PC, is the register that holds the address of the instruction being executed. Its next value is computed by a small network: an adder gives PC plus 4, the address of the following instruction, and a multiplexer chooses between that and the target of a branch. At each clock edge the next value becomes the present one. It has exactly the shape of the general architecture. With only the plus 4 path it is a counter, the simplest of all state machines.
UNDERSTAND NOW: registers as flip-flops.
For the lecturer: The comparator of Lecture 11 produces 'branch taken?' for beq and bne. Instructions are 4 bytes apart; with the compressed extension the adder adds 2 for 16-bit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processor is a sequential machine. Its state is the program counter, the thirty-two registers and the memory. Its input is the instruction found at the address in the PC, with the data it reads. The next-state network is made of decoders, multiplexers and the ALU. At the clock edge the registers named by the instruction take their new values. Running a program is a walk through the states of a very large state machine, and single-stepping in PRG32-QT shows that walk one state at a time.
UNDERSTAND NOW: finite-state machines.
For the lecturer: This is the bridge to the lectures on the processor: datapath (the combinational part and the registers) and control (itself a finite-state machine in multi-cycle and microprogrammed designs).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code/l13.S,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code/l13.S,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code/l13.S,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program shows when it runs, and what to press. Predict before you run: if the screen differs from this picture, the difference is information. The picture was written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quickest way: PRG32-QT on your own computer. Four steps, each with its command. PRG32-QT behaves like a board on port 8080, which is why the upload command says esp32c6. With debug mode enabled you can stop at any instruction and read registers and memory.
USE NOW: the PRG32 tools (used, not studied, in this course).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runs the real firmware on an emulated chip, so the cartridge must be built for the architecture qemu. Stage the cartridge while QEMU is closed. The firmware opens on the Setup menu: choose Run Cartridge and the slot. Remember that the keyboard is read by the terminal, not by the window with the picture.
USE NOW: the PRG32 tools (used, not studied, in this course).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kit. The firmware is written once, through USB; after that cartridges travel over Wi-Fi. The upload command is the one used for PRG32-QT with the address of the board. This is the only host that the automatic tests do not run: try it, and report what you see.
USE NOW: the PRG32 tools (used, not studied, in this course).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common symptoms, what each means, and what to do. Read the message before changing anything: it nearly always names the cause.
USE NOW: the PRG32 tools (used, not studied, in this course).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exercises. Design a machine that outputs 1 when the last two inputs were both 1, as a Moore and as a Mealy machine, and compare the number of states. Complete a timing diagram of an SR latch. Synthesise a counter modulo 3 with two D flip-flops, and think about the unused fourth state. Add a PAUSE state to the game of the warm-up, drawing the diagram first. And make the button A work only when it is pressed again: this is edge detection in software.
For the lecturer: Exercise 1: Moore needs three states (no 1 seen, one 1 seen, two or more), Mealy two. Exercise 3: D1 = Q0, D0 = Q1'Q0' with state 11 as a don't-care, or designed to return to 00. Exercise 5: keep prev in memory; pressed_now = buttons AND NOT prev; then store buttons in prev.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13: Sequential machines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13</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Sequential Machines: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13-Computer_Architecture-Sequential_Machines.pptx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game_pacman.png">    </p:cNvPr>
          <p:cNvPicPr>
            <a:picLocks noChangeAspect="1"/>
          </p:cNvPicPr>
          <p:nvPr/>
        </p:nvPicPr>
        <p:blipFill>
          <a:blip r:embed="rId1"/>
          <a:stretch>
            <a:fillRect/>
          </a:stretch>
        </p:blipFill>
        <p:spPr>
          <a:xfrm>
            <a:off x="8915095" y="4251960"/>
            <a:ext cx="2438400" cy="1828800"/>
          </a:xfrm>
          <a:prstGeom prst="rect">
            <a:avLst/>
          </a:prstGeom>
        </p:spPr>
      </p:pic>
      <p:sp>
        <p:nvSpPr>
          <p:cNvPr id="14" name="Shape 11"/>
          <p:cNvSpPr/>
          <p:nvPr/>
        </p:nvSpPr>
        <p:spPr>
          <a:xfrm>
            <a:off x="9690303" y="91440"/>
            <a:ext cx="1952752" cy="274320"/>
          </a:xfrm>
          <a:prstGeom prst="rect">
            <a:avLst/>
          </a:prstGeom>
          <a:solidFill>
            <a:srgbClr val="F3E8FF"/>
          </a:solidFill>
          <a:ln w="12700">
            <a:solidFill>
              <a:srgbClr val="7E22CE"/>
            </a:solidFill>
            <a:prstDash val="dash"/>
          </a:ln>
        </p:spPr>
      </p:sp>
      <p:sp>
        <p:nvSpPr>
          <p:cNvPr id="15" name="Shape 12"/>
          <p:cNvSpPr/>
          <p:nvPr/>
        </p:nvSpPr>
        <p:spPr>
          <a:xfrm>
            <a:off x="9717735" y="128016"/>
            <a:ext cx="45720" cy="45720"/>
          </a:xfrm>
          <a:prstGeom prst="rect">
            <a:avLst/>
          </a:prstGeom>
          <a:solidFill>
            <a:srgbClr val="7E22CE"/>
          </a:solidFill>
          <a:ln w="12700">
            <a:solidFill>
              <a:srgbClr val="7E22CE"/>
            </a:solidFill>
            <a:prstDash val="solid"/>
          </a:ln>
        </p:spPr>
      </p:sp>
      <p:sp>
        <p:nvSpPr>
          <p:cNvPr id="16" name="Shape 13"/>
          <p:cNvSpPr/>
          <p:nvPr/>
        </p:nvSpPr>
        <p:spPr>
          <a:xfrm>
            <a:off x="9717735" y="205740"/>
            <a:ext cx="45720" cy="45720"/>
          </a:xfrm>
          <a:prstGeom prst="rect">
            <a:avLst/>
          </a:prstGeom>
          <a:solidFill>
            <a:srgbClr val="7E22CE"/>
          </a:solidFill>
          <a:ln w="12700">
            <a:solidFill>
              <a:srgbClr val="7E22CE"/>
            </a:solidFill>
            <a:prstDash val="solid"/>
          </a:ln>
        </p:spPr>
      </p:sp>
      <p:sp>
        <p:nvSpPr>
          <p:cNvPr id="17" name="Shape 14"/>
          <p:cNvSpPr/>
          <p:nvPr/>
        </p:nvSpPr>
        <p:spPr>
          <a:xfrm>
            <a:off x="9717735" y="283464"/>
            <a:ext cx="45720" cy="45720"/>
          </a:xfrm>
          <a:prstGeom prst="rect">
            <a:avLst/>
          </a:prstGeom>
          <a:solidFill>
            <a:srgbClr val="7E22CE"/>
          </a:solidFill>
          <a:ln w="12700">
            <a:solidFill>
              <a:srgbClr val="7E22CE"/>
            </a:solidFill>
            <a:prstDash val="solid"/>
          </a:ln>
        </p:spPr>
      </p:sp>
      <p:pic>
        <p:nvPicPr>
          <p:cNvPr id="18"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19" name="Text 15"/>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0" name="Shape 16"/>
          <p:cNvSpPr/>
          <p:nvPr/>
        </p:nvSpPr>
        <p:spPr>
          <a:xfrm>
            <a:off x="8407349" y="91440"/>
            <a:ext cx="1173226" cy="274320"/>
          </a:xfrm>
          <a:prstGeom prst="rect">
            <a:avLst/>
          </a:prstGeom>
          <a:solidFill>
            <a:srgbClr val="FEF3C7"/>
          </a:solidFill>
          <a:ln w="12700">
            <a:solidFill>
              <a:srgbClr val="B45309"/>
            </a:solidFill>
            <a:prstDash val="solid"/>
          </a:ln>
        </p:spPr>
      </p:sp>
      <p:sp>
        <p:nvSpPr>
          <p:cNvPr id="21" name="Shape 17"/>
          <p:cNvSpPr/>
          <p:nvPr/>
        </p:nvSpPr>
        <p:spPr>
          <a:xfrm>
            <a:off x="8407349" y="91440"/>
            <a:ext cx="27432" cy="274320"/>
          </a:xfrm>
          <a:prstGeom prst="rect">
            <a:avLst/>
          </a:prstGeom>
          <a:solidFill>
            <a:srgbClr val="B45309"/>
          </a:solidFill>
          <a:ln w="12700">
            <a:solidFill>
              <a:srgbClr val="B45309"/>
            </a:solidFill>
            <a:prstDash val="solid"/>
          </a:ln>
        </p:spPr>
      </p:sp>
      <p:sp>
        <p:nvSpPr>
          <p:cNvPr id="22" name="Shape 18"/>
          <p:cNvSpPr/>
          <p:nvPr/>
        </p:nvSpPr>
        <p:spPr>
          <a:xfrm>
            <a:off x="8462213" y="91440"/>
            <a:ext cx="27432" cy="274320"/>
          </a:xfrm>
          <a:prstGeom prst="rect">
            <a:avLst/>
          </a:prstGeom>
          <a:solidFill>
            <a:srgbClr val="B45309"/>
          </a:solidFill>
          <a:ln w="12700">
            <a:solidFill>
              <a:srgbClr val="B45309"/>
            </a:solidFill>
            <a:prstDash val="solid"/>
          </a:ln>
        </p:spPr>
      </p:sp>
      <p:pic>
        <p:nvPicPr>
          <p:cNvPr id="23"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4" name="Text 19"/>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5" name="Shape 20"/>
          <p:cNvSpPr/>
          <p:nvPr/>
        </p:nvSpPr>
        <p:spPr>
          <a:xfrm>
            <a:off x="6518097" y="91440"/>
            <a:ext cx="1779524" cy="274320"/>
          </a:xfrm>
          <a:prstGeom prst="rect">
            <a:avLst/>
          </a:prstGeom>
          <a:solidFill>
            <a:srgbClr val="E0F2FE"/>
          </a:solidFill>
          <a:ln w="12700">
            <a:solidFill>
              <a:srgbClr val="0369A1"/>
            </a:solidFill>
            <a:prstDash val="solid"/>
          </a:ln>
        </p:spPr>
      </p:sp>
      <p:sp>
        <p:nvSpPr>
          <p:cNvPr id="26" name="Shape 21"/>
          <p:cNvSpPr/>
          <p:nvPr/>
        </p:nvSpPr>
        <p:spPr>
          <a:xfrm>
            <a:off x="6518097" y="91440"/>
            <a:ext cx="73152" cy="274320"/>
          </a:xfrm>
          <a:prstGeom prst="rect">
            <a:avLst/>
          </a:prstGeom>
          <a:solidFill>
            <a:srgbClr val="0369A1"/>
          </a:solidFill>
          <a:ln w="12700">
            <a:solidFill>
              <a:srgbClr val="0369A1"/>
            </a:solidFill>
            <a:prstDash val="solid"/>
          </a:ln>
        </p:spPr>
      </p:sp>
      <p:pic>
        <p:nvPicPr>
          <p:cNvPr id="27"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8" name="Text 22"/>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listing of Lecture 13: read the code, then the numbered remarks beside it</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code/l13.S, 65 lines, printed in full</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game is a state machine</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.equ TITLE, 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PLAY,  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OVER,  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game_update: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prg32_input_read      </a:t>
            </a:r>
            <a:pPr indent="0" marL="0">
              <a:buNone/>
            </a:pPr>
            <a:r>
              <a:rPr lang="en-US" sz="1200" dirty="0">
                <a:solidFill>
                  <a:srgbClr val="8FB3A0"/>
                </a:solidFill>
                <a:latin typeface="Courier New" pitchFamily="34" charset="0"/>
                <a:ea typeface="Courier New" pitchFamily="34" charset="-122"/>
                <a:cs typeface="Courier New" pitchFamily="34" charset="-120"/>
              </a:rPr>
              <a:t># a0 = buttons: the INPUT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state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t1, 0(t0)             </a:t>
            </a:r>
            <a:pPr indent="0" marL="0">
              <a:buNone/>
            </a:pPr>
            <a:r>
              <a:rPr lang="en-US" sz="1200" dirty="0">
                <a:solidFill>
                  <a:srgbClr val="8FB3A0"/>
                </a:solidFill>
                <a:latin typeface="Courier New" pitchFamily="34" charset="0"/>
                <a:ea typeface="Courier New" pitchFamily="34" charset="-122"/>
                <a:cs typeface="Courier New" pitchFamily="34" charset="-120"/>
              </a:rPr>
              <a:t># t1 = the present STATE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andi t2, a0, 0x10          </a:t>
            </a:r>
            <a:pPr indent="0" marL="0">
              <a:buNone/>
            </a:pPr>
            <a:r>
              <a:rPr lang="en-US" sz="1200" dirty="0">
                <a:solidFill>
                  <a:srgbClr val="8FB3A0"/>
                </a:solidFill>
                <a:latin typeface="Courier New" pitchFamily="34" charset="0"/>
                <a:ea typeface="Courier New" pitchFamily="34" charset="-122"/>
                <a:cs typeface="Courier New" pitchFamily="34" charset="-120"/>
              </a:rPr>
              <a:t># button A</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t3, TITLE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bne  t1, t3, 1f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t2, done              </a:t>
            </a:r>
            <a:pPr indent="0" marL="0">
              <a:buNone/>
            </a:pPr>
            <a:r>
              <a:rPr lang="en-US" sz="1200" dirty="0">
                <a:solidFill>
                  <a:srgbClr val="8FB3A0"/>
                </a:solidFill>
                <a:latin typeface="Courier New" pitchFamily="34" charset="0"/>
                <a:ea typeface="Courier New" pitchFamily="34" charset="-122"/>
                <a:cs typeface="Courier New" pitchFamily="34" charset="-120"/>
              </a:rPr>
              <a:t># TITLE: stay until A is pressed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t1, PLAY              </a:t>
            </a:r>
            <a:pPr indent="0" marL="0">
              <a:buNone/>
            </a:pPr>
            <a:r>
              <a:rPr lang="en-US" sz="1200" dirty="0">
                <a:solidFill>
                  <a:srgbClr val="8FB3A0"/>
                </a:solidFill>
                <a:latin typeface="Courier New" pitchFamily="34" charset="0"/>
                <a:ea typeface="Courier New" pitchFamily="34" charset="-122"/>
                <a:cs typeface="Courier New" pitchFamily="34" charset="-120"/>
              </a:rPr>
              <a:t># TITLE --A--&gt; PLAY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j    store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1:  li   t3, OVER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bne  t1, t3, done          </a:t>
            </a:r>
            <a:pPr indent="0" marL="0">
              <a:buNone/>
            </a:pPr>
            <a:r>
              <a:rPr lang="en-US" sz="1200" dirty="0">
                <a:solidFill>
                  <a:srgbClr val="8FB3A0"/>
                </a:solidFill>
                <a:latin typeface="Courier New" pitchFamily="34" charset="0"/>
                <a:ea typeface="Courier New" pitchFamily="34" charset="-122"/>
                <a:cs typeface="Courier New" pitchFamily="34" charset="-120"/>
              </a:rPr>
              <a:t># PLAY is handled elsewhere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t2, done              </a:t>
            </a:r>
            <a:pPr indent="0" marL="0">
              <a:buNone/>
            </a:pPr>
            <a:r>
              <a:rPr lang="en-US" sz="1200" dirty="0">
                <a:solidFill>
                  <a:srgbClr val="8FB3A0"/>
                </a:solidFill>
                <a:latin typeface="Courier New" pitchFamily="34" charset="0"/>
                <a:ea typeface="Courier New" pitchFamily="34" charset="-122"/>
                <a:cs typeface="Courier New" pitchFamily="34" charset="-120"/>
              </a:rPr>
              <a:t># OVER: stay until A is pressed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t1, TITLE             </a:t>
            </a:r>
            <a:pPr indent="0" marL="0">
              <a:buNone/>
            </a:pPr>
            <a:r>
              <a:rPr lang="en-US" sz="1200" dirty="0">
                <a:solidFill>
                  <a:srgbClr val="8FB3A0"/>
                </a:solidFill>
                <a:latin typeface="Courier New" pitchFamily="34" charset="0"/>
                <a:ea typeface="Courier New" pitchFamily="34" charset="-122"/>
                <a:cs typeface="Courier New" pitchFamily="34" charset="-120"/>
              </a:rPr>
              <a:t># OVER --A--&gt; TITLE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store: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t1, 0(t0)             </a:t>
            </a:r>
            <a:pPr indent="0" marL="0">
              <a:buNone/>
            </a:pPr>
            <a:r>
              <a:rPr lang="en-US" sz="1200" dirty="0">
                <a:solidFill>
                  <a:srgbClr val="8FB3A0"/>
                </a:solidFill>
                <a:latin typeface="Courier New" pitchFamily="34" charset="0"/>
                <a:ea typeface="Courier New" pitchFamily="34" charset="-122"/>
                <a:cs typeface="Courier New" pitchFamily="34" charset="-120"/>
              </a:rPr>
              <a:t># the next state becomes the present state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done: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t>
            </a:r>
            <a:endParaRPr lang="en-US" sz="120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Pressing A starts the game from the title screen and returns to it from the game-over screen: the effect depends on the state</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state is one word in memory that survives from frame to frame</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update computes the next state from the present state and the input</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draw shows a different screen for each state: the output</a:t>
            </a:r>
            <a:endParaRPr lang="en-US" sz="1200" dirty="0"/>
          </a:p>
        </p:txBody>
      </p:sp>
      <p:sp>
        <p:nvSpPr>
          <p:cNvPr id="17" name="Shape 15"/>
          <p:cNvSpPr/>
          <p:nvPr/>
        </p:nvSpPr>
        <p:spPr>
          <a:xfrm>
            <a:off x="8287715" y="91440"/>
            <a:ext cx="3355340" cy="274320"/>
          </a:xfrm>
          <a:prstGeom prst="rect">
            <a:avLst/>
          </a:prstGeom>
          <a:solidFill>
            <a:srgbClr val="E0F2FE"/>
          </a:solidFill>
          <a:ln w="12700">
            <a:solidFill>
              <a:srgbClr val="0369A1"/>
            </a:solidFill>
            <a:prstDash val="solid"/>
          </a:ln>
        </p:spPr>
      </p:sp>
      <p:sp>
        <p:nvSpPr>
          <p:cNvPr id="18" name="Shape 16"/>
          <p:cNvSpPr/>
          <p:nvPr/>
        </p:nvSpPr>
        <p:spPr>
          <a:xfrm>
            <a:off x="8287715"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20" name="Text 17"/>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finite-state machines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warm-up as a state diagram</a:t>
            </a:r>
            <a:endParaRPr lang="en-US" sz="3200" dirty="0"/>
          </a:p>
        </p:txBody>
      </p:sp>
      <p:sp>
        <p:nvSpPr>
          <p:cNvPr id="3" name="Shape 1"/>
          <p:cNvSpPr/>
          <p:nvPr/>
        </p:nvSpPr>
        <p:spPr>
          <a:xfrm>
            <a:off x="548640" y="1417320"/>
            <a:ext cx="11094415" cy="3017520"/>
          </a:xfrm>
          <a:prstGeom prst="roundRect">
            <a:avLst>
              <a:gd name="adj" fmla="val 2424"/>
            </a:avLst>
          </a:prstGeom>
          <a:solidFill>
            <a:srgbClr val="EEF2F4"/>
          </a:solidFill>
          <a:ln w="12700">
            <a:solidFill>
              <a:srgbClr val="EEF2F4"/>
            </a:solidFill>
            <a:prstDash val="solid"/>
          </a:ln>
        </p:spPr>
      </p:sp>
      <p:sp>
        <p:nvSpPr>
          <p:cNvPr id="4" name="Shape 2"/>
          <p:cNvSpPr/>
          <p:nvPr/>
        </p:nvSpPr>
        <p:spPr>
          <a:xfrm>
            <a:off x="8287715" y="91440"/>
            <a:ext cx="3355340" cy="274320"/>
          </a:xfrm>
          <a:prstGeom prst="rect">
            <a:avLst/>
          </a:prstGeom>
          <a:solidFill>
            <a:srgbClr val="E0F2FE"/>
          </a:solidFill>
          <a:ln w="12700">
            <a:solidFill>
              <a:srgbClr val="0369A1"/>
            </a:solidFill>
            <a:prstDash val="solid"/>
          </a:ln>
        </p:spPr>
      </p:sp>
      <p:sp>
        <p:nvSpPr>
          <p:cNvPr id="5" name="Shape 3"/>
          <p:cNvSpPr/>
          <p:nvPr/>
        </p:nvSpPr>
        <p:spPr>
          <a:xfrm>
            <a:off x="8287715"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7" name="Text 4"/>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finite-state machines</a:t>
            </a:r>
            <a:endParaRPr lang="en-US" sz="1100" dirty="0"/>
          </a:p>
        </p:txBody>
      </p:sp>
      <p:pic>
        <p:nvPicPr>
          <p:cNvPr id="9" name="Image 1" descr="preencoded.png">    </p:cNvPr>
          <p:cNvPicPr>
            <a:picLocks noChangeAspect="1"/>
          </p:cNvPicPr>
          <p:nvPr/>
        </p:nvPicPr>
        <p:blipFill>
          <a:blip r:embed="rId2"/>
          <a:stretch>
            <a:fillRect/>
          </a:stretch>
        </p:blipFill>
        <p:spPr>
          <a:xfrm>
            <a:off x="3171363" y="1463040"/>
            <a:ext cx="5848969" cy="2926080"/>
          </a:xfrm>
          <a:prstGeom prst="rect">
            <a:avLst/>
          </a:prstGeom>
        </p:spPr>
      </p:pic>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4617720"/>
          <a:ext cx="11094415" cy="914400"/>
        </p:xfrm>
        <a:graphic>
          <a:graphicData uri="http://schemas.openxmlformats.org/drawingml/2006/table">
            <a:tbl>
              <a:tblPr/>
              <a:tblGrid>
                <a:gridCol w="2011680"/>
                <a:gridCol w="3017520"/>
                <a:gridCol w="3017520"/>
                <a:gridCol w="3047695"/>
              </a:tblGrid>
              <a:tr h="0">
                <a:tc>
                  <a:txBody>
                    <a:bodyPr/>
                    <a:lstStyle/>
                    <a:p>
                      <a:pPr algn="l" indent="0" marL="0">
                        <a:buNone/>
                      </a:pPr>
                      <a:r>
                        <a:rPr lang="en-US" sz="1450" b="1" dirty="0">
                          <a:solidFill>
                            <a:srgbClr val="FFFFFF"/>
                          </a:solidFill>
                          <a:latin typeface="Calibri" pitchFamily="34" charset="0"/>
                          <a:ea typeface="Calibri" pitchFamily="34" charset="-122"/>
                          <a:cs typeface="Calibri" pitchFamily="34" charset="-120"/>
                        </a:rPr>
                        <a:t>Present state</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50" b="1" dirty="0">
                          <a:solidFill>
                            <a:srgbClr val="FFFFFF"/>
                          </a:solidFill>
                          <a:latin typeface="Calibri" pitchFamily="34" charset="0"/>
                          <a:ea typeface="Calibri" pitchFamily="34" charset="-122"/>
                          <a:cs typeface="Calibri" pitchFamily="34" charset="-120"/>
                        </a:rPr>
                        <a:t>Input that changes it</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50" b="1" dirty="0">
                          <a:solidFill>
                            <a:srgbClr val="FFFFFF"/>
                          </a:solidFill>
                          <a:latin typeface="Calibri" pitchFamily="34" charset="0"/>
                          <a:ea typeface="Calibri" pitchFamily="34" charset="-122"/>
                          <a:cs typeface="Calibri" pitchFamily="34" charset="-120"/>
                        </a:rPr>
                        <a:t>Next state</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50" b="1" dirty="0">
                          <a:solidFill>
                            <a:srgbClr val="FFFFFF"/>
                          </a:solidFill>
                          <a:latin typeface="Calibri" pitchFamily="34" charset="0"/>
                          <a:ea typeface="Calibri" pitchFamily="34" charset="-122"/>
                          <a:cs typeface="Calibri" pitchFamily="34" charset="-120"/>
                        </a:rPr>
                        <a:t>Output (draw)</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450" dirty="0">
                          <a:solidFill>
                            <a:srgbClr val="1B2530"/>
                          </a:solidFill>
                          <a:latin typeface="Courier New" pitchFamily="34" charset="0"/>
                          <a:ea typeface="Courier New" pitchFamily="34" charset="-122"/>
                          <a:cs typeface="Courier New" pitchFamily="34" charset="-120"/>
                        </a:rPr>
                        <a:t>TITLE</a:t>
                      </a:r>
                      <a:endParaRPr lang="en-US" sz="14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50" dirty="0">
                          <a:solidFill>
                            <a:srgbClr val="1B2530"/>
                          </a:solidFill>
                          <a:latin typeface="Calibri" pitchFamily="34" charset="0"/>
                          <a:ea typeface="Calibri" pitchFamily="34" charset="-122"/>
                          <a:cs typeface="Calibri" pitchFamily="34" charset="-120"/>
                        </a:rPr>
                        <a:t>A pressed</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50" dirty="0">
                          <a:solidFill>
                            <a:srgbClr val="1B2530"/>
                          </a:solidFill>
                          <a:latin typeface="Courier New" pitchFamily="34" charset="0"/>
                          <a:ea typeface="Courier New" pitchFamily="34" charset="-122"/>
                          <a:cs typeface="Courier New" pitchFamily="34" charset="-120"/>
                        </a:rPr>
                        <a:t>PLAY</a:t>
                      </a:r>
                      <a:endParaRPr lang="en-US" sz="14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50" dirty="0">
                          <a:solidFill>
                            <a:srgbClr val="1B2530"/>
                          </a:solidFill>
                          <a:latin typeface="Calibri" pitchFamily="34" charset="0"/>
                          <a:ea typeface="Calibri" pitchFamily="34" charset="-122"/>
                          <a:cs typeface="Calibri" pitchFamily="34" charset="-120"/>
                        </a:rPr>
                        <a:t>the title screen</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50" dirty="0">
                          <a:solidFill>
                            <a:srgbClr val="1B2530"/>
                          </a:solidFill>
                          <a:latin typeface="Courier New" pitchFamily="34" charset="0"/>
                          <a:ea typeface="Courier New" pitchFamily="34" charset="-122"/>
                          <a:cs typeface="Courier New" pitchFamily="34" charset="-120"/>
                        </a:rPr>
                        <a:t>PLAY</a:t>
                      </a:r>
                      <a:endParaRPr lang="en-US" sz="14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50" dirty="0">
                          <a:solidFill>
                            <a:srgbClr val="1B2530"/>
                          </a:solidFill>
                          <a:latin typeface="Calibri" pitchFamily="34" charset="0"/>
                          <a:ea typeface="Calibri" pitchFamily="34" charset="-122"/>
                          <a:cs typeface="Calibri" pitchFamily="34" charset="-120"/>
                        </a:rPr>
                        <a:t>lives = 0</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50" dirty="0">
                          <a:solidFill>
                            <a:srgbClr val="1B2530"/>
                          </a:solidFill>
                          <a:latin typeface="Courier New" pitchFamily="34" charset="0"/>
                          <a:ea typeface="Courier New" pitchFamily="34" charset="-122"/>
                          <a:cs typeface="Courier New" pitchFamily="34" charset="-120"/>
                        </a:rPr>
                        <a:t>OVER</a:t>
                      </a:r>
                      <a:endParaRPr lang="en-US" sz="14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50" dirty="0">
                          <a:solidFill>
                            <a:srgbClr val="1B2530"/>
                          </a:solidFill>
                          <a:latin typeface="Calibri" pitchFamily="34" charset="0"/>
                          <a:ea typeface="Calibri" pitchFamily="34" charset="-122"/>
                          <a:cs typeface="Calibri" pitchFamily="34" charset="-120"/>
                        </a:rPr>
                        <a:t>the playfield</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450" dirty="0">
                          <a:solidFill>
                            <a:srgbClr val="1B2530"/>
                          </a:solidFill>
                          <a:latin typeface="Courier New" pitchFamily="34" charset="0"/>
                          <a:ea typeface="Courier New" pitchFamily="34" charset="-122"/>
                          <a:cs typeface="Courier New" pitchFamily="34" charset="-120"/>
                        </a:rPr>
                        <a:t>OVER</a:t>
                      </a:r>
                      <a:endParaRPr lang="en-US" sz="14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50" dirty="0">
                          <a:solidFill>
                            <a:srgbClr val="1B2530"/>
                          </a:solidFill>
                          <a:latin typeface="Calibri" pitchFamily="34" charset="0"/>
                          <a:ea typeface="Calibri" pitchFamily="34" charset="-122"/>
                          <a:cs typeface="Calibri" pitchFamily="34" charset="-120"/>
                        </a:rPr>
                        <a:t>A pressed</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50" dirty="0">
                          <a:solidFill>
                            <a:srgbClr val="1B2530"/>
                          </a:solidFill>
                          <a:latin typeface="Courier New" pitchFamily="34" charset="0"/>
                          <a:ea typeface="Courier New" pitchFamily="34" charset="-122"/>
                          <a:cs typeface="Courier New" pitchFamily="34" charset="-120"/>
                        </a:rPr>
                        <a:t>TITLE</a:t>
                      </a:r>
                      <a:endParaRPr lang="en-US" sz="14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50" dirty="0">
                          <a:solidFill>
                            <a:srgbClr val="1B2530"/>
                          </a:solidFill>
                          <a:latin typeface="Calibri" pitchFamily="34" charset="0"/>
                          <a:ea typeface="Calibri" pitchFamily="34" charset="-122"/>
                          <a:cs typeface="Calibri" pitchFamily="34" charset="-120"/>
                        </a:rPr>
                        <a:t>the final score</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program counter: a register in a loop</a:t>
            </a:r>
            <a:endParaRPr lang="en-US" sz="3200" dirty="0"/>
          </a:p>
        </p:txBody>
      </p:sp>
      <p:sp>
        <p:nvSpPr>
          <p:cNvPr id="3" name="Text 1"/>
          <p:cNvSpPr txBox="1"/>
          <p:nvPr/>
        </p:nvSpPr>
        <p:spPr>
          <a:xfrm>
            <a:off x="914400" y="2697480"/>
            <a:ext cx="2011680" cy="1097280"/>
          </a:xfrm>
          <a:prstGeom prst="roundRect">
            <a:avLst>
              <a:gd name="adj" fmla="val 5000"/>
            </a:avLst>
          </a:prstGeom>
          <a:solidFill>
            <a:srgbClr val="C7791B"/>
          </a:solidFill>
          <a:ln>
            <a:solidFill>
              <a:srgbClr val="C7791B"/>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PC</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register, 32 bits</a:t>
            </a:r>
            <a:endParaRPr lang="en-US" sz="1500" dirty="0"/>
          </a:p>
        </p:txBody>
      </p:sp>
      <p:sp>
        <p:nvSpPr>
          <p:cNvPr id="4" name="Text 2"/>
          <p:cNvSpPr txBox="1"/>
          <p:nvPr/>
        </p:nvSpPr>
        <p:spPr>
          <a:xfrm>
            <a:off x="4114800" y="1783080"/>
            <a:ext cx="1463040" cy="914400"/>
          </a:xfrm>
          <a:prstGeom prst="roundRect">
            <a:avLst>
              <a:gd name="adj" fmla="val 600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adder</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+ 4</a:t>
            </a:r>
            <a:endParaRPr lang="en-US" sz="1500" dirty="0"/>
          </a:p>
        </p:txBody>
      </p:sp>
      <p:sp>
        <p:nvSpPr>
          <p:cNvPr id="5" name="Text 3"/>
          <p:cNvSpPr txBox="1"/>
          <p:nvPr/>
        </p:nvSpPr>
        <p:spPr>
          <a:xfrm>
            <a:off x="6400800" y="2423160"/>
            <a:ext cx="1005840" cy="1737360"/>
          </a:xfrm>
          <a:prstGeom prst="roundRect">
            <a:avLst>
              <a:gd name="adj" fmla="val 5455"/>
            </a:avLst>
          </a:prstGeom>
          <a:solidFill>
            <a:srgbClr val="0E7C86"/>
          </a:solidFill>
          <a:ln>
            <a:solidFill>
              <a:srgbClr val="0E7C86"/>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MUX</a:t>
            </a:r>
            <a:endParaRPr lang="en-US" sz="1600" dirty="0"/>
          </a:p>
        </p:txBody>
      </p:sp>
      <p:sp>
        <p:nvSpPr>
          <p:cNvPr id="6" name="Text 4"/>
          <p:cNvSpPr txBox="1"/>
          <p:nvPr/>
        </p:nvSpPr>
        <p:spPr>
          <a:xfrm>
            <a:off x="3931920" y="3703320"/>
            <a:ext cx="1828800" cy="822960"/>
          </a:xfrm>
          <a:prstGeom prst="roundRect">
            <a:avLst>
              <a:gd name="adj" fmla="val 6667"/>
            </a:avLst>
          </a:prstGeom>
          <a:solidFill>
            <a:srgbClr val="2E4A62"/>
          </a:solidFill>
          <a:ln>
            <a:solidFill>
              <a:srgbClr val="2E4A62"/>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branch target</a:t>
            </a:r>
            <a:endParaRPr lang="en-US" sz="1350" dirty="0"/>
          </a:p>
          <a:p>
            <a:pPr algn="ctr" indent="0" marL="0">
              <a:buNone/>
            </a:pPr>
            <a:r>
              <a:rPr lang="en-US" sz="1350" b="1" dirty="0">
                <a:solidFill>
                  <a:srgbClr val="FFFFFF"/>
                </a:solidFill>
                <a:latin typeface="Calibri" pitchFamily="34" charset="0"/>
                <a:ea typeface="Calibri" pitchFamily="34" charset="-122"/>
                <a:cs typeface="Calibri" pitchFamily="34" charset="-120"/>
              </a:rPr>
              <a:t>from the ALU</a:t>
            </a:r>
            <a:endParaRPr lang="en-US" sz="1350" dirty="0"/>
          </a:p>
        </p:txBody>
      </p:sp>
      <p:sp>
        <p:nvSpPr>
          <p:cNvPr id="7" name="Shape 5"/>
          <p:cNvSpPr/>
          <p:nvPr/>
        </p:nvSpPr>
        <p:spPr>
          <a:xfrm flipV="1">
            <a:off x="2953512" y="2240280"/>
            <a:ext cx="1133856" cy="731520"/>
          </a:xfrm>
          <a:prstGeom prst="line">
            <a:avLst/>
          </a:prstGeom>
          <a:noFill/>
          <a:ln w="25400">
            <a:solidFill>
              <a:srgbClr val="5B6B78"/>
            </a:solidFill>
            <a:prstDash val="solid"/>
            <a:tailEnd type="triangle"/>
          </a:ln>
        </p:spPr>
      </p:sp>
      <p:sp>
        <p:nvSpPr>
          <p:cNvPr id="8" name="Shape 6"/>
          <p:cNvSpPr/>
          <p:nvPr/>
        </p:nvSpPr>
        <p:spPr>
          <a:xfrm>
            <a:off x="5605272" y="2240280"/>
            <a:ext cx="768096" cy="548640"/>
          </a:xfrm>
          <a:prstGeom prst="line">
            <a:avLst/>
          </a:prstGeom>
          <a:noFill/>
          <a:ln w="25400">
            <a:solidFill>
              <a:srgbClr val="5B6B78"/>
            </a:solidFill>
            <a:prstDash val="solid"/>
            <a:tailEnd type="triangle"/>
          </a:ln>
        </p:spPr>
      </p:sp>
      <p:sp>
        <p:nvSpPr>
          <p:cNvPr id="9" name="Shape 7"/>
          <p:cNvSpPr/>
          <p:nvPr/>
        </p:nvSpPr>
        <p:spPr>
          <a:xfrm flipV="1">
            <a:off x="5788152" y="3794760"/>
            <a:ext cx="585216" cy="320040"/>
          </a:xfrm>
          <a:prstGeom prst="line">
            <a:avLst/>
          </a:prstGeom>
          <a:noFill/>
          <a:ln w="25400">
            <a:solidFill>
              <a:srgbClr val="5B6B78"/>
            </a:solidFill>
            <a:prstDash val="solid"/>
            <a:tailEnd type="triangle"/>
          </a:ln>
        </p:spPr>
      </p:sp>
      <p:sp>
        <p:nvSpPr>
          <p:cNvPr id="10" name="Shape 8"/>
          <p:cNvSpPr/>
          <p:nvPr/>
        </p:nvSpPr>
        <p:spPr>
          <a:xfrm>
            <a:off x="7434072" y="3291840"/>
            <a:ext cx="429768" cy="0"/>
          </a:xfrm>
          <a:prstGeom prst="line">
            <a:avLst/>
          </a:prstGeom>
          <a:noFill/>
          <a:ln w="28575">
            <a:solidFill>
              <a:srgbClr val="B23A48"/>
            </a:solidFill>
            <a:prstDash val="solid"/>
          </a:ln>
        </p:spPr>
      </p:sp>
      <p:sp>
        <p:nvSpPr>
          <p:cNvPr id="11" name="Shape 9"/>
          <p:cNvSpPr/>
          <p:nvPr/>
        </p:nvSpPr>
        <p:spPr>
          <a:xfrm>
            <a:off x="7863840" y="3291840"/>
            <a:ext cx="0" cy="1783080"/>
          </a:xfrm>
          <a:prstGeom prst="line">
            <a:avLst/>
          </a:prstGeom>
          <a:noFill/>
          <a:ln w="28575">
            <a:solidFill>
              <a:srgbClr val="B23A48"/>
            </a:solidFill>
            <a:prstDash val="solid"/>
          </a:ln>
        </p:spPr>
      </p:sp>
      <p:sp>
        <p:nvSpPr>
          <p:cNvPr id="12" name="Shape 10"/>
          <p:cNvSpPr/>
          <p:nvPr/>
        </p:nvSpPr>
        <p:spPr>
          <a:xfrm flipH="1">
            <a:off x="1920240" y="5074920"/>
            <a:ext cx="5943600" cy="0"/>
          </a:xfrm>
          <a:prstGeom prst="line">
            <a:avLst/>
          </a:prstGeom>
          <a:noFill/>
          <a:ln w="28575">
            <a:solidFill>
              <a:srgbClr val="B23A48"/>
            </a:solidFill>
            <a:prstDash val="solid"/>
          </a:ln>
        </p:spPr>
      </p:sp>
      <p:sp>
        <p:nvSpPr>
          <p:cNvPr id="13" name="Shape 11"/>
          <p:cNvSpPr/>
          <p:nvPr/>
        </p:nvSpPr>
        <p:spPr>
          <a:xfrm flipV="1">
            <a:off x="1920240" y="3822192"/>
            <a:ext cx="0" cy="1252728"/>
          </a:xfrm>
          <a:prstGeom prst="line">
            <a:avLst/>
          </a:prstGeom>
          <a:noFill/>
          <a:ln w="28575">
            <a:solidFill>
              <a:srgbClr val="B23A48"/>
            </a:solidFill>
            <a:prstDash val="solid"/>
            <a:tailEnd type="triangle"/>
          </a:ln>
        </p:spPr>
      </p:sp>
      <p:sp>
        <p:nvSpPr>
          <p:cNvPr id="14" name="Text 12"/>
          <p:cNvSpPr txBox="1"/>
          <p:nvPr/>
        </p:nvSpPr>
        <p:spPr>
          <a:xfrm>
            <a:off x="3657600" y="5120640"/>
            <a:ext cx="2286000" cy="274320"/>
          </a:xfrm>
          <a:prstGeom prst="rect">
            <a:avLst/>
          </a:prstGeom>
          <a:noFill/>
          <a:ln/>
        </p:spPr>
        <p:txBody>
          <a:bodyPr wrap="square" lIns="0" tIns="0" rIns="0" bIns="0" rtlCol="0" anchor="t"/>
          <a:lstStyle/>
          <a:p>
            <a:pPr algn="ctr" indent="0" marL="0">
              <a:buNone/>
            </a:pPr>
            <a:r>
              <a:rPr lang="en-US" sz="1350" b="1" dirty="0">
                <a:solidFill>
                  <a:srgbClr val="B23A48"/>
                </a:solidFill>
                <a:latin typeface="Calibri" pitchFamily="34" charset="0"/>
                <a:ea typeface="Calibri" pitchFamily="34" charset="-122"/>
                <a:cs typeface="Calibri" pitchFamily="34" charset="-120"/>
              </a:rPr>
              <a:t>next PC</a:t>
            </a:r>
            <a:endParaRPr lang="en-US" sz="1350" dirty="0"/>
          </a:p>
        </p:txBody>
      </p:sp>
      <p:sp>
        <p:nvSpPr>
          <p:cNvPr id="15" name="Shape 13"/>
          <p:cNvSpPr/>
          <p:nvPr/>
        </p:nvSpPr>
        <p:spPr>
          <a:xfrm>
            <a:off x="1920240" y="2057400"/>
            <a:ext cx="0" cy="612648"/>
          </a:xfrm>
          <a:prstGeom prst="line">
            <a:avLst/>
          </a:prstGeom>
          <a:noFill/>
          <a:ln w="25400">
            <a:solidFill>
              <a:srgbClr val="2E4A62"/>
            </a:solidFill>
            <a:prstDash val="solid"/>
            <a:tailEnd type="triangle"/>
          </a:ln>
        </p:spPr>
      </p:sp>
      <p:sp>
        <p:nvSpPr>
          <p:cNvPr id="16" name="Text 14"/>
          <p:cNvSpPr txBox="1"/>
          <p:nvPr/>
        </p:nvSpPr>
        <p:spPr>
          <a:xfrm>
            <a:off x="1371600" y="1737360"/>
            <a:ext cx="1097280" cy="274320"/>
          </a:xfrm>
          <a:prstGeom prst="rect">
            <a:avLst/>
          </a:prstGeom>
          <a:noFill/>
          <a:ln/>
        </p:spPr>
        <p:txBody>
          <a:bodyPr wrap="square" lIns="0" tIns="0" rIns="0" bIns="0" rtlCol="0" anchor="t"/>
          <a:lstStyle/>
          <a:p>
            <a:pPr algn="ctr" indent="0" marL="0">
              <a:buNone/>
            </a:pPr>
            <a:r>
              <a:rPr lang="en-US" sz="1350" b="1" dirty="0">
                <a:solidFill>
                  <a:srgbClr val="2E4A62"/>
                </a:solidFill>
                <a:latin typeface="Calibri" pitchFamily="34" charset="0"/>
                <a:ea typeface="Calibri" pitchFamily="34" charset="-122"/>
                <a:cs typeface="Calibri" pitchFamily="34" charset="-120"/>
              </a:rPr>
              <a:t>clock</a:t>
            </a:r>
            <a:endParaRPr lang="en-US" sz="1350" dirty="0"/>
          </a:p>
        </p:txBody>
      </p:sp>
      <p:sp>
        <p:nvSpPr>
          <p:cNvPr id="17" name="Shape 15"/>
          <p:cNvSpPr/>
          <p:nvPr/>
        </p:nvSpPr>
        <p:spPr>
          <a:xfrm flipV="1">
            <a:off x="6903720" y="4187952"/>
            <a:ext cx="0" cy="521208"/>
          </a:xfrm>
          <a:prstGeom prst="line">
            <a:avLst/>
          </a:prstGeom>
          <a:noFill/>
          <a:ln w="25400">
            <a:solidFill>
              <a:srgbClr val="5B6B78"/>
            </a:solidFill>
            <a:prstDash val="solid"/>
            <a:tailEnd type="triangle"/>
          </a:ln>
        </p:spPr>
      </p:sp>
      <p:sp>
        <p:nvSpPr>
          <p:cNvPr id="18" name="Text 16"/>
          <p:cNvSpPr txBox="1"/>
          <p:nvPr/>
        </p:nvSpPr>
        <p:spPr>
          <a:xfrm>
            <a:off x="6035040" y="4727448"/>
            <a:ext cx="1737360" cy="274320"/>
          </a:xfrm>
          <a:prstGeom prst="rect">
            <a:avLst/>
          </a:prstGeom>
          <a:noFill/>
          <a:ln/>
        </p:spPr>
        <p:txBody>
          <a:bodyPr wrap="square" lIns="0" tIns="0" rIns="0" bIns="0" rtlCol="0" anchor="t"/>
          <a:lstStyle/>
          <a:p>
            <a:pPr algn="ctr" indent="0" marL="0">
              <a:buNone/>
            </a:pPr>
            <a:r>
              <a:rPr lang="en-US" sz="1250" i="1" dirty="0">
                <a:solidFill>
                  <a:srgbClr val="5B6B78"/>
                </a:solidFill>
                <a:latin typeface="Calibri" pitchFamily="34" charset="0"/>
                <a:ea typeface="Calibri" pitchFamily="34" charset="-122"/>
                <a:cs typeface="Calibri" pitchFamily="34" charset="-120"/>
              </a:rPr>
              <a:t>branch taken?</a:t>
            </a:r>
            <a:endParaRPr lang="en-US" sz="1250" dirty="0"/>
          </a:p>
        </p:txBody>
      </p:sp>
      <p:sp>
        <p:nvSpPr>
          <p:cNvPr id="19" name="Shape 17"/>
          <p:cNvSpPr/>
          <p:nvPr/>
        </p:nvSpPr>
        <p:spPr>
          <a:xfrm>
            <a:off x="8229600" y="1469517"/>
            <a:ext cx="146304" cy="146304"/>
          </a:xfrm>
          <a:prstGeom prst="rect">
            <a:avLst/>
          </a:prstGeom>
          <a:solidFill>
            <a:srgbClr val="0E7C86"/>
          </a:solidFill>
          <a:ln w="12700">
            <a:solidFill>
              <a:srgbClr val="0E7C86"/>
            </a:solidFill>
            <a:prstDash val="solid"/>
          </a:ln>
        </p:spPr>
      </p:sp>
      <p:sp>
        <p:nvSpPr>
          <p:cNvPr id="20" name="Text 18"/>
          <p:cNvSpPr txBox="1"/>
          <p:nvPr/>
        </p:nvSpPr>
        <p:spPr>
          <a:xfrm>
            <a:off x="8613648" y="1417320"/>
            <a:ext cx="3029407" cy="929640"/>
          </a:xfrm>
          <a:prstGeom prst="rect">
            <a:avLst/>
          </a:prstGeom>
          <a:noFill/>
          <a:ln/>
        </p:spPr>
        <p:txBody>
          <a:bodyPr wrap="square" lIns="0" tIns="0" rIns="0" bIns="0" rtlCol="0" anchor="t"/>
          <a:lstStyle/>
          <a:p>
            <a:pPr indent="0" marL="0">
              <a:spcAft>
                <a:spcPts val="200"/>
              </a:spcAft>
              <a:buNone/>
            </a:pPr>
            <a:r>
              <a:rPr lang="en-US" sz="1500" dirty="0">
                <a:solidFill>
                  <a:srgbClr val="1B2530"/>
                </a:solidFill>
                <a:latin typeface="Calibri" pitchFamily="34" charset="0"/>
                <a:ea typeface="Calibri" pitchFamily="34" charset="-122"/>
                <a:cs typeface="Calibri" pitchFamily="34" charset="-120"/>
              </a:rPr>
              <a:t>The PC holds the address of the instruction being executed: it is the state that says where the program is</a:t>
            </a:r>
            <a:endParaRPr lang="en-US" sz="1500" dirty="0"/>
          </a:p>
        </p:txBody>
      </p:sp>
      <p:sp>
        <p:nvSpPr>
          <p:cNvPr id="21" name="Shape 19"/>
          <p:cNvSpPr/>
          <p:nvPr/>
        </p:nvSpPr>
        <p:spPr>
          <a:xfrm>
            <a:off x="8229600" y="2658237"/>
            <a:ext cx="146304" cy="146304"/>
          </a:xfrm>
          <a:prstGeom prst="rect">
            <a:avLst/>
          </a:prstGeom>
          <a:solidFill>
            <a:srgbClr val="C7791B"/>
          </a:solidFill>
          <a:ln w="12700">
            <a:solidFill>
              <a:srgbClr val="C7791B"/>
            </a:solidFill>
            <a:prstDash val="solid"/>
          </a:ln>
        </p:spPr>
      </p:sp>
      <p:sp>
        <p:nvSpPr>
          <p:cNvPr id="22" name="Text 20"/>
          <p:cNvSpPr txBox="1"/>
          <p:nvPr/>
        </p:nvSpPr>
        <p:spPr>
          <a:xfrm>
            <a:off x="8613648" y="2606040"/>
            <a:ext cx="3029407" cy="697230"/>
          </a:xfrm>
          <a:prstGeom prst="rect">
            <a:avLst/>
          </a:prstGeom>
          <a:noFill/>
          <a:ln/>
        </p:spPr>
        <p:txBody>
          <a:bodyPr wrap="square" lIns="0" tIns="0" rIns="0" bIns="0" rtlCol="0" anchor="t"/>
          <a:lstStyle/>
          <a:p>
            <a:pPr indent="0" marL="0">
              <a:spcAft>
                <a:spcPts val="200"/>
              </a:spcAft>
              <a:buNone/>
            </a:pPr>
            <a:r>
              <a:rPr lang="en-US" sz="1500" dirty="0">
                <a:solidFill>
                  <a:srgbClr val="1B2530"/>
                </a:solidFill>
                <a:latin typeface="Calibri" pitchFamily="34" charset="0"/>
                <a:ea typeface="Calibri" pitchFamily="34" charset="-122"/>
                <a:cs typeface="Calibri" pitchFamily="34" charset="-120"/>
              </a:rPr>
              <a:t>Next state: PC + 4 for a normal instruction, or the branch target when a branch is taken</a:t>
            </a:r>
            <a:endParaRPr lang="en-US" sz="1500" dirty="0"/>
          </a:p>
        </p:txBody>
      </p:sp>
      <p:sp>
        <p:nvSpPr>
          <p:cNvPr id="23" name="Shape 21"/>
          <p:cNvSpPr/>
          <p:nvPr/>
        </p:nvSpPr>
        <p:spPr>
          <a:xfrm>
            <a:off x="8229600" y="3614547"/>
            <a:ext cx="146304" cy="146304"/>
          </a:xfrm>
          <a:prstGeom prst="rect">
            <a:avLst/>
          </a:prstGeom>
          <a:solidFill>
            <a:srgbClr val="0E7C86"/>
          </a:solidFill>
          <a:ln w="12700">
            <a:solidFill>
              <a:srgbClr val="0E7C86"/>
            </a:solidFill>
            <a:prstDash val="solid"/>
          </a:ln>
        </p:spPr>
      </p:sp>
      <p:sp>
        <p:nvSpPr>
          <p:cNvPr id="24" name="Text 22"/>
          <p:cNvSpPr txBox="1"/>
          <p:nvPr/>
        </p:nvSpPr>
        <p:spPr>
          <a:xfrm>
            <a:off x="8613648" y="3562350"/>
            <a:ext cx="3029407" cy="929640"/>
          </a:xfrm>
          <a:prstGeom prst="rect">
            <a:avLst/>
          </a:prstGeom>
          <a:noFill/>
          <a:ln/>
        </p:spPr>
        <p:txBody>
          <a:bodyPr wrap="square" lIns="0" tIns="0" rIns="0" bIns="0" rtlCol="0" anchor="t"/>
          <a:lstStyle/>
          <a:p>
            <a:pPr indent="0" marL="0">
              <a:spcAft>
                <a:spcPts val="200"/>
              </a:spcAft>
              <a:buNone/>
            </a:pPr>
            <a:r>
              <a:rPr lang="en-US" sz="1500" dirty="0">
                <a:solidFill>
                  <a:srgbClr val="1B2530"/>
                </a:solidFill>
                <a:latin typeface="Calibri" pitchFamily="34" charset="0"/>
                <a:ea typeface="Calibri" pitchFamily="34" charset="-122"/>
                <a:cs typeface="Calibri" pitchFamily="34" charset="-120"/>
              </a:rPr>
              <a:t>Present state, combinational network, next state, clock: exactly the general architecture</a:t>
            </a:r>
            <a:endParaRPr lang="en-US" sz="1500" dirty="0"/>
          </a:p>
        </p:txBody>
      </p:sp>
      <p:sp>
        <p:nvSpPr>
          <p:cNvPr id="25" name="Shape 23"/>
          <p:cNvSpPr/>
          <p:nvPr/>
        </p:nvSpPr>
        <p:spPr>
          <a:xfrm>
            <a:off x="8229600" y="4803267"/>
            <a:ext cx="146304" cy="146304"/>
          </a:xfrm>
          <a:prstGeom prst="rect">
            <a:avLst/>
          </a:prstGeom>
          <a:solidFill>
            <a:srgbClr val="C7791B"/>
          </a:solidFill>
          <a:ln w="12700">
            <a:solidFill>
              <a:srgbClr val="C7791B"/>
            </a:solidFill>
            <a:prstDash val="solid"/>
          </a:ln>
        </p:spPr>
      </p:sp>
      <p:sp>
        <p:nvSpPr>
          <p:cNvPr id="26" name="Text 24"/>
          <p:cNvSpPr txBox="1"/>
          <p:nvPr/>
        </p:nvSpPr>
        <p:spPr>
          <a:xfrm>
            <a:off x="8613648" y="4751070"/>
            <a:ext cx="3029407" cy="697230"/>
          </a:xfrm>
          <a:prstGeom prst="rect">
            <a:avLst/>
          </a:prstGeom>
          <a:noFill/>
          <a:ln/>
        </p:spPr>
        <p:txBody>
          <a:bodyPr wrap="square" lIns="0" tIns="0" rIns="0" bIns="0" rtlCol="0" anchor="t"/>
          <a:lstStyle/>
          <a:p>
            <a:pPr indent="0" marL="0">
              <a:spcAft>
                <a:spcPts val="200"/>
              </a:spcAft>
              <a:buNone/>
            </a:pPr>
            <a:r>
              <a:rPr lang="en-US" sz="1500" dirty="0">
                <a:solidFill>
                  <a:srgbClr val="1B2530"/>
                </a:solidFill>
                <a:latin typeface="Calibri" pitchFamily="34" charset="0"/>
                <a:ea typeface="Calibri" pitchFamily="34" charset="-122"/>
                <a:cs typeface="Calibri" pitchFamily="34" charset="-120"/>
              </a:rPr>
              <a:t>With only the + 4 path it is a counter: the simplest finite-state machine</a:t>
            </a:r>
            <a:endParaRPr lang="en-US" sz="1500" dirty="0"/>
          </a:p>
        </p:txBody>
      </p:sp>
      <p:sp>
        <p:nvSpPr>
          <p:cNvPr id="27" name="Shape 25"/>
          <p:cNvSpPr/>
          <p:nvPr/>
        </p:nvSpPr>
        <p:spPr>
          <a:xfrm>
            <a:off x="8229600" y="5759577"/>
            <a:ext cx="146304" cy="146304"/>
          </a:xfrm>
          <a:prstGeom prst="rect">
            <a:avLst/>
          </a:prstGeom>
          <a:solidFill>
            <a:srgbClr val="0E7C86"/>
          </a:solidFill>
          <a:ln w="12700">
            <a:solidFill>
              <a:srgbClr val="0E7C86"/>
            </a:solidFill>
            <a:prstDash val="solid"/>
          </a:ln>
        </p:spPr>
      </p:sp>
      <p:sp>
        <p:nvSpPr>
          <p:cNvPr id="28" name="Text 26"/>
          <p:cNvSpPr txBox="1"/>
          <p:nvPr/>
        </p:nvSpPr>
        <p:spPr>
          <a:xfrm>
            <a:off x="8613648" y="5707380"/>
            <a:ext cx="3029407" cy="464820"/>
          </a:xfrm>
          <a:prstGeom prst="rect">
            <a:avLst/>
          </a:prstGeom>
          <a:noFill/>
          <a:ln/>
        </p:spPr>
        <p:txBody>
          <a:bodyPr wrap="square" lIns="0" tIns="0" rIns="0" bIns="0" rtlCol="0" anchor="t"/>
          <a:lstStyle/>
          <a:p>
            <a:pPr indent="0" marL="0">
              <a:spcAft>
                <a:spcPts val="200"/>
              </a:spcAft>
              <a:buNone/>
            </a:pPr>
            <a:r>
              <a:rPr lang="en-US" sz="1500" dirty="0">
                <a:solidFill>
                  <a:srgbClr val="1B2530"/>
                </a:solidFill>
                <a:latin typeface="Calibri" pitchFamily="34" charset="0"/>
                <a:ea typeface="Calibri" pitchFamily="34" charset="-122"/>
                <a:cs typeface="Calibri" pitchFamily="34" charset="-120"/>
              </a:rPr>
              <a:t>first_update of Lecture 02 was the same machine in software</a:t>
            </a:r>
            <a:endParaRPr lang="en-US" sz="1500" dirty="0"/>
          </a:p>
        </p:txBody>
      </p:sp>
      <p:sp>
        <p:nvSpPr>
          <p:cNvPr id="29" name="Shape 27"/>
          <p:cNvSpPr/>
          <p:nvPr/>
        </p:nvSpPr>
        <p:spPr>
          <a:xfrm>
            <a:off x="8156397" y="91440"/>
            <a:ext cx="3486658" cy="274320"/>
          </a:xfrm>
          <a:prstGeom prst="rect">
            <a:avLst/>
          </a:prstGeom>
          <a:solidFill>
            <a:srgbClr val="E0F2FE"/>
          </a:solidFill>
          <a:ln w="12700">
            <a:solidFill>
              <a:srgbClr val="0369A1"/>
            </a:solidFill>
            <a:prstDash val="solid"/>
          </a:ln>
        </p:spPr>
      </p:sp>
      <p:sp>
        <p:nvSpPr>
          <p:cNvPr id="30" name="Shape 28"/>
          <p:cNvSpPr/>
          <p:nvPr/>
        </p:nvSpPr>
        <p:spPr>
          <a:xfrm>
            <a:off x="8156397" y="91440"/>
            <a:ext cx="73152" cy="274320"/>
          </a:xfrm>
          <a:prstGeom prst="rect">
            <a:avLst/>
          </a:prstGeom>
          <a:solidFill>
            <a:srgbClr val="0369A1"/>
          </a:solidFill>
          <a:ln w="12700">
            <a:solidFill>
              <a:srgbClr val="0369A1"/>
            </a:solidFill>
            <a:prstDash val="solid"/>
          </a:ln>
        </p:spPr>
      </p:sp>
      <p:pic>
        <p:nvPicPr>
          <p:cNvPr id="31" name="Image 0" descr="preencoded.png">    </p:cNvPr>
          <p:cNvPicPr>
            <a:picLocks noChangeAspect="1"/>
          </p:cNvPicPr>
          <p:nvPr/>
        </p:nvPicPr>
        <p:blipFill>
          <a:blip r:embed="rId1"/>
          <a:stretch>
            <a:fillRect/>
          </a:stretch>
        </p:blipFill>
        <p:spPr>
          <a:xfrm>
            <a:off x="8284413" y="128016"/>
            <a:ext cx="201168" cy="201168"/>
          </a:xfrm>
          <a:prstGeom prst="rect">
            <a:avLst/>
          </a:prstGeom>
        </p:spPr>
      </p:pic>
      <p:sp>
        <p:nvSpPr>
          <p:cNvPr id="32" name="Text 29"/>
          <p:cNvSpPr txBox="1"/>
          <p:nvPr/>
        </p:nvSpPr>
        <p:spPr>
          <a:xfrm>
            <a:off x="8540445"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registers as flip-flops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processor is a sequential machine</a:t>
            </a:r>
            <a:endParaRPr lang="en-US" sz="3200" dirty="0"/>
          </a:p>
        </p:txBody>
      </p:sp>
      <p:sp>
        <p:nvSpPr>
          <p:cNvPr id="3" name="Shape 1"/>
          <p:cNvSpPr/>
          <p:nvPr/>
        </p:nvSpPr>
        <p:spPr>
          <a:xfrm>
            <a:off x="548640" y="1874520"/>
            <a:ext cx="2499284" cy="2468880"/>
          </a:xfrm>
          <a:prstGeom prst="roundRect">
            <a:avLst>
              <a:gd name="adj" fmla="val 2963"/>
            </a:avLst>
          </a:prstGeom>
          <a:solidFill>
            <a:srgbClr val="EEF2F4"/>
          </a:solidFill>
          <a:ln w="12700">
            <a:solidFill>
              <a:srgbClr val="EEF2F4"/>
            </a:solidFill>
            <a:prstDash val="solid"/>
          </a:ln>
        </p:spPr>
      </p:sp>
      <p:sp>
        <p:nvSpPr>
          <p:cNvPr id="4" name="Text 2"/>
          <p:cNvSpPr txBox="1"/>
          <p:nvPr/>
        </p:nvSpPr>
        <p:spPr>
          <a:xfrm>
            <a:off x="685800" y="2057400"/>
            <a:ext cx="2224964"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State</a:t>
            </a:r>
            <a:endParaRPr lang="en-US" sz="1900" dirty="0"/>
          </a:p>
        </p:txBody>
      </p:sp>
      <p:sp>
        <p:nvSpPr>
          <p:cNvPr id="5" name="Text 3"/>
          <p:cNvSpPr txBox="1"/>
          <p:nvPr/>
        </p:nvSpPr>
        <p:spPr>
          <a:xfrm>
            <a:off x="685800" y="2880360"/>
            <a:ext cx="2224964"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the program counter, the thirty-two registers, the memory</a:t>
            </a:r>
            <a:endParaRPr lang="en-US" sz="1700" dirty="0"/>
          </a:p>
        </p:txBody>
      </p:sp>
      <p:sp>
        <p:nvSpPr>
          <p:cNvPr id="6" name="Shape 4"/>
          <p:cNvSpPr/>
          <p:nvPr/>
        </p:nvSpPr>
        <p:spPr>
          <a:xfrm>
            <a:off x="3093644"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3413684" y="1874520"/>
            <a:ext cx="2499284" cy="2468880"/>
          </a:xfrm>
          <a:prstGeom prst="roundRect">
            <a:avLst>
              <a:gd name="adj" fmla="val 2963"/>
            </a:avLst>
          </a:prstGeom>
          <a:solidFill>
            <a:srgbClr val="EEF2F4"/>
          </a:solidFill>
          <a:ln w="12700">
            <a:solidFill>
              <a:srgbClr val="EEF2F4"/>
            </a:solidFill>
            <a:prstDash val="solid"/>
          </a:ln>
        </p:spPr>
      </p:sp>
      <p:sp>
        <p:nvSpPr>
          <p:cNvPr id="8" name="Text 6"/>
          <p:cNvSpPr txBox="1"/>
          <p:nvPr/>
        </p:nvSpPr>
        <p:spPr>
          <a:xfrm>
            <a:off x="3550844" y="2057400"/>
            <a:ext cx="2224964"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Input</a:t>
            </a:r>
            <a:endParaRPr lang="en-US" sz="1900" dirty="0"/>
          </a:p>
        </p:txBody>
      </p:sp>
      <p:sp>
        <p:nvSpPr>
          <p:cNvPr id="9" name="Text 7"/>
          <p:cNvSpPr txBox="1"/>
          <p:nvPr/>
        </p:nvSpPr>
        <p:spPr>
          <a:xfrm>
            <a:off x="3550844" y="2880360"/>
            <a:ext cx="2224964"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the instruction at the address in the PC, and the data it reads</a:t>
            </a:r>
            <a:endParaRPr lang="en-US" sz="1700" dirty="0"/>
          </a:p>
        </p:txBody>
      </p:sp>
      <p:sp>
        <p:nvSpPr>
          <p:cNvPr id="10" name="Shape 8"/>
          <p:cNvSpPr/>
          <p:nvPr/>
        </p:nvSpPr>
        <p:spPr>
          <a:xfrm>
            <a:off x="5958688"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6278728" y="1874520"/>
            <a:ext cx="2499284" cy="2468880"/>
          </a:xfrm>
          <a:prstGeom prst="roundRect">
            <a:avLst>
              <a:gd name="adj" fmla="val 2963"/>
            </a:avLst>
          </a:prstGeom>
          <a:solidFill>
            <a:srgbClr val="EEF2F4"/>
          </a:solidFill>
          <a:ln w="12700">
            <a:solidFill>
              <a:srgbClr val="EEF2F4"/>
            </a:solidFill>
            <a:prstDash val="solid"/>
          </a:ln>
        </p:spPr>
      </p:sp>
      <p:sp>
        <p:nvSpPr>
          <p:cNvPr id="12" name="Text 10"/>
          <p:cNvSpPr txBox="1"/>
          <p:nvPr/>
        </p:nvSpPr>
        <p:spPr>
          <a:xfrm>
            <a:off x="6415888" y="2057400"/>
            <a:ext cx="2224964"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Next-state network</a:t>
            </a:r>
            <a:endParaRPr lang="en-US" sz="1900" dirty="0"/>
          </a:p>
        </p:txBody>
      </p:sp>
      <p:sp>
        <p:nvSpPr>
          <p:cNvPr id="13" name="Text 11"/>
          <p:cNvSpPr txBox="1"/>
          <p:nvPr/>
        </p:nvSpPr>
        <p:spPr>
          <a:xfrm>
            <a:off x="6415888" y="2880360"/>
            <a:ext cx="2224964"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decoders, multiplexers and the ALU compute the new values</a:t>
            </a:r>
            <a:endParaRPr lang="en-US" sz="1700" dirty="0"/>
          </a:p>
        </p:txBody>
      </p:sp>
      <p:sp>
        <p:nvSpPr>
          <p:cNvPr id="14" name="Shape 12"/>
          <p:cNvSpPr/>
          <p:nvPr/>
        </p:nvSpPr>
        <p:spPr>
          <a:xfrm>
            <a:off x="8823731" y="2962656"/>
            <a:ext cx="274320" cy="292608"/>
          </a:xfrm>
          <a:prstGeom prst="rightArrow">
            <a:avLst/>
          </a:prstGeom>
          <a:solidFill>
            <a:srgbClr val="5B6B78"/>
          </a:solidFill>
          <a:ln w="12700">
            <a:solidFill>
              <a:srgbClr val="5B6B78"/>
            </a:solidFill>
            <a:prstDash val="solid"/>
          </a:ln>
        </p:spPr>
      </p:sp>
      <p:sp>
        <p:nvSpPr>
          <p:cNvPr id="15" name="Shape 13"/>
          <p:cNvSpPr/>
          <p:nvPr/>
        </p:nvSpPr>
        <p:spPr>
          <a:xfrm>
            <a:off x="9143771" y="1874520"/>
            <a:ext cx="2499284" cy="2468880"/>
          </a:xfrm>
          <a:prstGeom prst="roundRect">
            <a:avLst>
              <a:gd name="adj" fmla="val 2963"/>
            </a:avLst>
          </a:prstGeom>
          <a:solidFill>
            <a:srgbClr val="EEF2F4"/>
          </a:solidFill>
          <a:ln w="12700">
            <a:solidFill>
              <a:srgbClr val="EEF2F4"/>
            </a:solidFill>
            <a:prstDash val="solid"/>
          </a:ln>
        </p:spPr>
      </p:sp>
      <p:sp>
        <p:nvSpPr>
          <p:cNvPr id="16" name="Text 14"/>
          <p:cNvSpPr txBox="1"/>
          <p:nvPr/>
        </p:nvSpPr>
        <p:spPr>
          <a:xfrm>
            <a:off x="9280931" y="2057400"/>
            <a:ext cx="2224964" cy="685800"/>
          </a:xfrm>
          <a:prstGeom prst="roundRect">
            <a:avLst>
              <a:gd name="adj" fmla="val 10667"/>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Clock edge</a:t>
            </a:r>
            <a:endParaRPr lang="en-US" sz="1900" dirty="0"/>
          </a:p>
        </p:txBody>
      </p:sp>
      <p:sp>
        <p:nvSpPr>
          <p:cNvPr id="17" name="Text 15"/>
          <p:cNvSpPr txBox="1"/>
          <p:nvPr/>
        </p:nvSpPr>
        <p:spPr>
          <a:xfrm>
            <a:off x="9280931" y="2880360"/>
            <a:ext cx="2224964"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the registers named by the instruction take their new values</a:t>
            </a:r>
            <a:endParaRPr lang="en-US" sz="1700" dirty="0"/>
          </a:p>
        </p:txBody>
      </p:sp>
      <p:sp>
        <p:nvSpPr>
          <p:cNvPr id="18" name="Shape 16"/>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19" name="Text 17"/>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Executing a program is nothing but a long walk through the states of a very large finite-state machine, one clock edge at a time. Single-stepping in PRG32-QT shows that walk one state after another.</a:t>
            </a:r>
            <a:endParaRPr lang="en-US" sz="2000" dirty="0"/>
          </a:p>
        </p:txBody>
      </p:sp>
      <p:sp>
        <p:nvSpPr>
          <p:cNvPr id="20" name="Shape 18"/>
          <p:cNvSpPr/>
          <p:nvPr/>
        </p:nvSpPr>
        <p:spPr>
          <a:xfrm>
            <a:off x="8287715" y="91440"/>
            <a:ext cx="3355340" cy="274320"/>
          </a:xfrm>
          <a:prstGeom prst="rect">
            <a:avLst/>
          </a:prstGeom>
          <a:solidFill>
            <a:srgbClr val="E0F2FE"/>
          </a:solidFill>
          <a:ln w="12700">
            <a:solidFill>
              <a:srgbClr val="0369A1"/>
            </a:solidFill>
            <a:prstDash val="solid"/>
          </a:ln>
        </p:spPr>
      </p:sp>
      <p:sp>
        <p:nvSpPr>
          <p:cNvPr id="21" name="Shape 19"/>
          <p:cNvSpPr/>
          <p:nvPr/>
        </p:nvSpPr>
        <p:spPr>
          <a:xfrm>
            <a:off x="8287715" y="91440"/>
            <a:ext cx="73152" cy="274320"/>
          </a:xfrm>
          <a:prstGeom prst="rect">
            <a:avLst/>
          </a:prstGeom>
          <a:solidFill>
            <a:srgbClr val="0369A1"/>
          </a:solidFill>
          <a:ln w="12700">
            <a:solidFill>
              <a:srgbClr val="0369A1"/>
            </a:solidFill>
            <a:prstDash val="solid"/>
          </a:ln>
        </p:spPr>
      </p:sp>
      <p:pic>
        <p:nvPicPr>
          <p:cNvPr id="22"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23" name="Text 20"/>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finite-state machines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l13.S (1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350" dirty="0">
                <a:solidFill>
                  <a:srgbClr val="8FB3A0"/>
                </a:solidFill>
                <a:latin typeface="Courier New" pitchFamily="34" charset="0"/>
                <a:ea typeface="Courier New" pitchFamily="34" charset="-122"/>
                <a:cs typeface="Courier New" pitchFamily="34" charset="-120"/>
              </a:rPr>
              <a:t># ARC12 Computer Architecture - Lecture 13: Sequential Machines</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l13.S: a game is a state machine</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On the screen: one colour per state. Blue is TITLE: press A and the screen turns</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green, PLAY. (OVER, red, is reached only when a game ends: this warm-up has no game</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yet. Hold A on the red screen and you meet the bug discussed in the lecture.)</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Build: python3 -m prg32 cartridge build l13.S --portable \</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--entry-prefix l13 --name l13 --out l13.prg32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.option norelax</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TITLE, 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PLAY,  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OVER,  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.section .text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.global l13_init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.global l13_update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.global l13_draw</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l13_init: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l13.S (2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50" dirty="0">
                <a:solidFill>
                  <a:srgbClr val="E6EDF2"/>
                </a:solidFill>
                <a:latin typeface="Courier New" pitchFamily="34" charset="0"/>
                <a:ea typeface="Courier New" pitchFamily="34" charset="-122"/>
                <a:cs typeface="Courier New" pitchFamily="34" charset="-120"/>
              </a:rPr>
              <a:t>l13_update: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game_update: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addi sp, sp, -16</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sw   ra, 12(sp)</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call prg32_input_read      </a:t>
            </a:r>
            <a:pPr indent="0" marL="0">
              <a:buNone/>
            </a:pPr>
            <a:r>
              <a:rPr lang="en-US" sz="1250" dirty="0">
                <a:solidFill>
                  <a:srgbClr val="8FB3A0"/>
                </a:solidFill>
                <a:latin typeface="Courier New" pitchFamily="34" charset="0"/>
                <a:ea typeface="Courier New" pitchFamily="34" charset="-122"/>
                <a:cs typeface="Courier New" pitchFamily="34" charset="-120"/>
              </a:rPr>
              <a:t># a0 = buttons: the INPUT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la   t0, state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lw   t1, 0(t0)             </a:t>
            </a:r>
            <a:pPr indent="0" marL="0">
              <a:buNone/>
            </a:pPr>
            <a:r>
              <a:rPr lang="en-US" sz="1250" dirty="0">
                <a:solidFill>
                  <a:srgbClr val="8FB3A0"/>
                </a:solidFill>
                <a:latin typeface="Courier New" pitchFamily="34" charset="0"/>
                <a:ea typeface="Courier New" pitchFamily="34" charset="-122"/>
                <a:cs typeface="Courier New" pitchFamily="34" charset="-120"/>
              </a:rPr>
              <a:t># t1 = the present STATE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andi t2, a0, 0x10          </a:t>
            </a:r>
            <a:pPr indent="0" marL="0">
              <a:buNone/>
            </a:pPr>
            <a:r>
              <a:rPr lang="en-US" sz="1250" dirty="0">
                <a:solidFill>
                  <a:srgbClr val="8FB3A0"/>
                </a:solidFill>
                <a:latin typeface="Courier New" pitchFamily="34" charset="0"/>
                <a:ea typeface="Courier New" pitchFamily="34" charset="-122"/>
                <a:cs typeface="Courier New" pitchFamily="34" charset="-120"/>
              </a:rPr>
              <a:t># button A</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   t3, TITLE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bne  t1, t3, 1f</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beqz t2, done              </a:t>
            </a:r>
            <a:pPr indent="0" marL="0">
              <a:buNone/>
            </a:pPr>
            <a:r>
              <a:rPr lang="en-US" sz="1250" dirty="0">
                <a:solidFill>
                  <a:srgbClr val="8FB3A0"/>
                </a:solidFill>
                <a:latin typeface="Courier New" pitchFamily="34" charset="0"/>
                <a:ea typeface="Courier New" pitchFamily="34" charset="-122"/>
                <a:cs typeface="Courier New" pitchFamily="34" charset="-120"/>
              </a:rPr>
              <a:t># TITLE: stay until A is pressed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   t1, PLAY              </a:t>
            </a:r>
            <a:pPr indent="0" marL="0">
              <a:buNone/>
            </a:pPr>
            <a:r>
              <a:rPr lang="en-US" sz="1250" dirty="0">
                <a:solidFill>
                  <a:srgbClr val="8FB3A0"/>
                </a:solidFill>
                <a:latin typeface="Courier New" pitchFamily="34" charset="0"/>
                <a:ea typeface="Courier New" pitchFamily="34" charset="-122"/>
                <a:cs typeface="Courier New" pitchFamily="34" charset="-120"/>
              </a:rPr>
              <a:t># TITLE --A--&gt; PLAY</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j    store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1:  li   t3, OVER</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bne  t1, t3, done          </a:t>
            </a:r>
            <a:pPr indent="0" marL="0">
              <a:buNone/>
            </a:pPr>
            <a:r>
              <a:rPr lang="en-US" sz="1250" dirty="0">
                <a:solidFill>
                  <a:srgbClr val="8FB3A0"/>
                </a:solidFill>
                <a:latin typeface="Courier New" pitchFamily="34" charset="0"/>
                <a:ea typeface="Courier New" pitchFamily="34" charset="-122"/>
                <a:cs typeface="Courier New" pitchFamily="34" charset="-120"/>
              </a:rPr>
              <a:t># PLAY is handled elsewhere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beqz t2, done              </a:t>
            </a:r>
            <a:pPr indent="0" marL="0">
              <a:buNone/>
            </a:pPr>
            <a:r>
              <a:rPr lang="en-US" sz="1250" dirty="0">
                <a:solidFill>
                  <a:srgbClr val="8FB3A0"/>
                </a:solidFill>
                <a:latin typeface="Courier New" pitchFamily="34" charset="0"/>
                <a:ea typeface="Courier New" pitchFamily="34" charset="-122"/>
                <a:cs typeface="Courier New" pitchFamily="34" charset="-120"/>
              </a:rPr>
              <a:t># OVER: stay until A is pressed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   t1, TITLE             </a:t>
            </a:r>
            <a:pPr indent="0" marL="0">
              <a:buNone/>
            </a:pPr>
            <a:r>
              <a:rPr lang="en-US" sz="1250" dirty="0">
                <a:solidFill>
                  <a:srgbClr val="8FB3A0"/>
                </a:solidFill>
                <a:latin typeface="Courier New" pitchFamily="34" charset="0"/>
                <a:ea typeface="Courier New" pitchFamily="34" charset="-122"/>
                <a:cs typeface="Courier New" pitchFamily="34" charset="-120"/>
              </a:rPr>
              <a:t># OVER --A--&gt; TITLE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store: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sw   t1, 0(t0)             </a:t>
            </a:r>
            <a:pPr indent="0" marL="0">
              <a:buNone/>
            </a:pPr>
            <a:r>
              <a:rPr lang="en-US" sz="1250" dirty="0">
                <a:solidFill>
                  <a:srgbClr val="8FB3A0"/>
                </a:solidFill>
                <a:latin typeface="Courier New" pitchFamily="34" charset="0"/>
                <a:ea typeface="Courier New" pitchFamily="34" charset="-122"/>
                <a:cs typeface="Courier New" pitchFamily="34" charset="-120"/>
              </a:rPr>
              <a:t># the next state becomes the present state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done: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lw   ra, 12(sp)</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addi sp, sp, 16</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ret</a:t>
            </a:r>
            <a:endParaRPr lang="en-US" sz="125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l13.S (3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l13_draw:</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sp, sp, -16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ra, 12(sp)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t0, state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t1,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t0, colours         </a:t>
            </a:r>
            <a:pPr indent="0" marL="0">
              <a:buNone/>
            </a:pPr>
            <a:r>
              <a:rPr lang="en-US" sz="1500" dirty="0">
                <a:solidFill>
                  <a:srgbClr val="8FB3A0"/>
                </a:solidFill>
                <a:latin typeface="Courier New" pitchFamily="34" charset="0"/>
                <a:ea typeface="Courier New" pitchFamily="34" charset="-122"/>
                <a:cs typeface="Courier New" pitchFamily="34" charset="-120"/>
              </a:rPr>
              <a:t># the OUTPUT depends on the state only:</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slli t1, t1, 2           </a:t>
            </a:r>
            <a:pPr indent="0" marL="0">
              <a:buNone/>
            </a:pPr>
            <a:r>
              <a:rPr lang="en-US" sz="1500" dirty="0">
                <a:solidFill>
                  <a:srgbClr val="8FB3A0"/>
                </a:solidFill>
                <a:latin typeface="Courier New" pitchFamily="34" charset="0"/>
                <a:ea typeface="Courier New" pitchFamily="34" charset="-122"/>
                <a:cs typeface="Courier New" pitchFamily="34" charset="-120"/>
              </a:rPr>
              <a:t># a Moore machine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  t0, t0, t1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a0,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prg32_gfx_clear</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ra, 12(sp)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sp, sp, 16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ret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.section .rodata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colours: .word 0x001f, 0x07e0, 0xf800     </a:t>
            </a:r>
            <a:pPr indent="0" marL="0">
              <a:buNone/>
            </a:pPr>
            <a:r>
              <a:rPr lang="en-US" sz="1500" dirty="0">
                <a:solidFill>
                  <a:srgbClr val="8FB3A0"/>
                </a:solidFill>
                <a:latin typeface="Courier New" pitchFamily="34" charset="0"/>
                <a:ea typeface="Courier New" pitchFamily="34" charset="-122"/>
                <a:cs typeface="Courier New" pitchFamily="34" charset="-120"/>
              </a:rPr>
              <a:t># TITLE blue, PLAY green, OVER red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.section .data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state: .word TITLE</a:t>
            </a:r>
            <a:endParaRPr lang="en-US" sz="15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236067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one colour per state. Blue is TITLE: press A and the screen turns green, PLAY. (OVER, red, is reached only when a game ends: this warm-up has no game yet. Hold A on the red screen and you meet the bug discussed in the lecture.)</a:t>
            </a:r>
            <a:endParaRPr lang="en-US" sz="2400" dirty="0"/>
          </a:p>
        </p:txBody>
      </p:sp>
      <p:sp>
        <p:nvSpPr>
          <p:cNvPr id="5" name="Shape 3"/>
          <p:cNvSpPr/>
          <p:nvPr/>
        </p:nvSpPr>
        <p:spPr>
          <a:xfrm>
            <a:off x="548640" y="453999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4418076"/>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press A</a:t>
            </a:r>
            <a:endParaRPr lang="en-US" sz="2400" dirty="0"/>
          </a:p>
        </p:txBody>
      </p:sp>
      <p:pic>
        <p:nvPicPr>
          <p:cNvPr id="7" name="Image 0" descr="/Users/raffaelemontella/devel/riscv-prg32/computer-architecture-with-prg32/tools/assets/lab_l13.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~/arc12/code/l13.S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l13 --name l13 --out l13.prg32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l13.prg32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~/arc12/code/l13.S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l13 --name l13 --architecture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l13-qemu.prg32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l13-qemu.prg32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~/arc12/code/l13.S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l13 --name l13 --architecture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l13-esp32c6.prg32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l13-esp32c6.prg32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l13;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paper first, then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Draw the state diagram of a machine that outputs 1 when the last two inputs were both 1; write it as a Moore and as a Mealy machine</a:t>
            </a:r>
            <a:endParaRPr lang="en-US" sz="1900" dirty="0"/>
          </a:p>
        </p:txBody>
      </p:sp>
      <p:sp>
        <p:nvSpPr>
          <p:cNvPr id="6" name="Text 4"/>
          <p:cNvSpPr txBox="1"/>
          <p:nvPr/>
        </p:nvSpPr>
        <p:spPr>
          <a:xfrm>
            <a:off x="548640" y="2157095"/>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138807"/>
            <a:ext cx="1043604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Complete the timing diagram of an SR latch for a given sequence of S and R, marking where it holds</a:t>
            </a:r>
            <a:endParaRPr lang="en-US" sz="1900" dirty="0"/>
          </a:p>
        </p:txBody>
      </p:sp>
      <p:sp>
        <p:nvSpPr>
          <p:cNvPr id="8" name="Text 6"/>
          <p:cNvSpPr txBox="1"/>
          <p:nvPr/>
        </p:nvSpPr>
        <p:spPr>
          <a:xfrm>
            <a:off x="548640" y="287858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860294"/>
            <a:ext cx="1043604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Synthesise a counter modulo 3 (0, 1, 2, 0, ...) with two D flip-flops; what happens in the unused state?</a:t>
            </a:r>
            <a:endParaRPr lang="en-US" sz="1900" dirty="0"/>
          </a:p>
        </p:txBody>
      </p:sp>
      <p:sp>
        <p:nvSpPr>
          <p:cNvPr id="10" name="Text 8"/>
          <p:cNvSpPr txBox="1"/>
          <p:nvPr/>
        </p:nvSpPr>
        <p:spPr>
          <a:xfrm>
            <a:off x="548640" y="3600069"/>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581781"/>
            <a:ext cx="1043604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Add a PAUSE state to the warm-up game, entered and left with the SELECT button, and draw the new diagram first</a:t>
            </a:r>
            <a:endParaRPr lang="en-US" sz="1900" dirty="0"/>
          </a:p>
        </p:txBody>
      </p:sp>
      <p:sp>
        <p:nvSpPr>
          <p:cNvPr id="12" name="Text 10"/>
          <p:cNvSpPr txBox="1"/>
          <p:nvPr/>
        </p:nvSpPr>
        <p:spPr>
          <a:xfrm>
            <a:off x="548640" y="432155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303268"/>
            <a:ext cx="1043604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Fix the warm-up so that A must be released and pressed again: store the previous button state and react only to a 0 to 1 change</a:t>
            </a:r>
            <a:endParaRPr lang="en-US" sz="19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On PRG32: four screens, and a held button that causes exactly one transition. The last exercise is edge detection in software: the program behaves like a flip-flop instead of a latch.</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Sequential Machines: the code</dc:title>
  <dc:subject>Lecture 13</dc:subject>
  <dc:creator>Raffaele Montella</dc:creator>
  <cp:lastModifiedBy>Raffaele Montella</cp:lastModifiedBy>
  <cp:revision>1</cp:revision>
  <dcterms:created xsi:type="dcterms:W3CDTF">2026-10-16T16:46:56Z</dcterms:created>
  <dcterms:modified xsi:type="dcterms:W3CDTF">2026-10-16T16:46:56Z</dcterms:modified>
</cp:coreProperties>
</file>