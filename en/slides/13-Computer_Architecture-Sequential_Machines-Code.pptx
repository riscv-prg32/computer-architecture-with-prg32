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7c5a497-652b-75b8-6fed-fe8ca4c2c571}">
          <p14:sldIdLst>
            <p14:sldId id="256"/>
            <p14:sldId id="257"/>
          </p14:sldIdLst>
        </p14:section>
        <p14:section name="The listings" id="{d2c63a56-6891-8998-c6c8-2591ef14968c}">
          <p14:sldIdLst>
            <p14:sldId id="258"/>
            <p14:sldId id="259"/>
            <p14:sldId id="260"/>
            <p14:sldId id="261"/>
          </p14:sldIdLst>
        </p14:section>
        <p14:section name="The complete program" id="{51a2e981-356f-5518-76e9-f4c38e609044}">
          <p14:sldIdLst>
            <p14:sldId id="262"/>
            <p14:sldId id="263"/>
            <p14:sldId id="264"/>
          </p14:sldIdLst>
        </p14:section>
        <p14:section name="Run it and test it" id="{a581ae2b-8bfc-cb55-e766-03339cc2c6fe}">
          <p14:sldIdLst>
            <p14:sldId id="265"/>
            <p14:sldId id="266"/>
            <p14:sldId id="267"/>
            <p14:sldId id="268"/>
            <p14:sldId id="269"/>
          </p14:sldIdLst>
        </p14:section>
        <p14:section name="Exercises" id="{6b192f3d-abce-4bd3-b24f-4b85da74e2b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13.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~/arc12/code/l13.S; tools/tests/cartridges/run.py builds it, runs it on PRG32-QT with scripted input and checks the pixels of the frame.
For the lecturer: Get the code once: git clone https://github.com/riscv-prg32/computer-architecture-with-prg32 ~/arc12. The program of this lecture is ~/arc12/code/l13.S;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game with a title screen, a playfield and a game-over screen. The variable state holds one of three values. game_update reads the button A and the present state: in TITLE, pressing A leads to PLAY; in OVER, pressing A leads back to TITLE; otherwise nothing changes. So the effect of A depends on the state. This is a state machine: update computes the next state from the present state and the input, the state survives in memory from frame to frame, and draw shows a screen for each state.
For the lecturer: Written for this lecture; the textbook capstone game has the same structure. Bug to discuss: holding A on the OVER screen goes to TITLE and, one frame later, to PLAY. Fixing it requires remembering the previous value of the button: one more bit of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of the warm-up drawn as a diagram: three states, with A leading from TITLE to PLAY and from OVER to TITLE, and the end of the lives leading from PLAY to OVER. The loops on each state are the cases in which nothing changes. The table below lists, for each state, the input that changes it, the next state and the output drawn. Draw the diagram before writing the code: for a game it is the most useful design habit there is.
For the lecturer: A Moore machine with three states: two bits of state would be enough, the program uses a whole word. Drawing the diagram before writing the code is the single most useful design habit for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counter, PC, is the register that holds the address of the instruction being executed. Its next value is computed by a small network: an adder gives PC plus 4, the address of the following instruction, and a multiplexer chooses between that and the target of a branch. At each clock edge the next value becomes the present one. It has exactly the shape of the general architecture. With only the plus 4 path it is a counter, the simplest of all state machines.
For the lecturer: The comparator of Lecture 11 produces 'branch taken?' for beq and bne. Instructions are 4 bytes apart; with the compressed extension the adder adds 2 for 16-bit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processor is a sequential machine. Its state is the program counter, the thirty-two registers and the memory. Its input is the instruction found at the address in the PC, with the data it reads. The next-state network is made of decoders, multiplexers and the ALU. At the clock edge the registers named by the instruction take their new values. Running a program is a walk through the states of a very large state machine, and single-stepping in PRG32-QT shows that walk one state at a time.
For the lecturer: This is the bridge to the lectures on the processor: datapath (the combinational part and the registers) and control (itself a finite-state machine in multi-cycle and microprogrammed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Design a machine that outputs 1 when the last two inputs were both 1, as a Moore and as a Mealy machine, and compare the number of states. Complete a timing diagram of an SR latch. Synthesise a counter modulo 3 with two D flip-flops, and think about the unused fourth state. Add a PAUSE state to the game of the warm-up, drawing the diagram first. And make the button A work only when it is pressed again: this is edge detection in software.
For the lecturer: Exercise 1: Moore needs three states (no 1 seen, one 1 seen, two or more), Mealy two. Exercise 3: D1 = Q0, D0 = Q1'Q0' with state 11 as a don't-care, or designed to return to 00. Exercise 5: keep prev in memory; pressed_now = buttons AND NOT prev; then store buttons in prev.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13: Sequential machines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Sequential Machines: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game_pacman.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1 listing of Lecture 13,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code/l13.S, 65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game is a state machine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.equ TITLE,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PLAY,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OVER,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game_update: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200" dirty="0">
                <a:solidFill>
                  <a:srgbClr val="8FB3A0"/>
                </a:solidFill>
                <a:latin typeface="Courier New" pitchFamily="34" charset="0"/>
                <a:ea typeface="Courier New" pitchFamily="34" charset="-122"/>
                <a:cs typeface="Courier New" pitchFamily="34" charset="-120"/>
              </a:rPr>
              <a:t># a0 = buttons: the INPUT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             </a:t>
            </a:r>
            <a:pPr indent="0" marL="0">
              <a:buNone/>
            </a:pPr>
            <a:r>
              <a:rPr lang="en-US" sz="1200" dirty="0">
                <a:solidFill>
                  <a:srgbClr val="8FB3A0"/>
                </a:solidFill>
                <a:latin typeface="Courier New" pitchFamily="34" charset="0"/>
                <a:ea typeface="Courier New" pitchFamily="34" charset="-122"/>
                <a:cs typeface="Courier New" pitchFamily="34" charset="-120"/>
              </a:rPr>
              <a:t># t1 = the present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t2, a0, 0x10          </a:t>
            </a:r>
            <a:pPr indent="0" marL="0">
              <a:buNone/>
            </a:pPr>
            <a:r>
              <a:rPr lang="en-US" sz="1200" dirty="0">
                <a:solidFill>
                  <a:srgbClr val="8FB3A0"/>
                </a:solidFill>
                <a:latin typeface="Courier New" pitchFamily="34" charset="0"/>
                <a:ea typeface="Courier New" pitchFamily="34" charset="-122"/>
                <a:cs typeface="Courier New" pitchFamily="34" charset="-120"/>
              </a:rPr>
              <a:t># button A</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t3, TITLE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t1, t3,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t2, done              </a:t>
            </a:r>
            <a:pPr indent="0" marL="0">
              <a:buNone/>
            </a:pPr>
            <a:r>
              <a:rPr lang="en-US" sz="1200" dirty="0">
                <a:solidFill>
                  <a:srgbClr val="8FB3A0"/>
                </a:solidFill>
                <a:latin typeface="Courier New" pitchFamily="34" charset="0"/>
                <a:ea typeface="Courier New" pitchFamily="34" charset="-122"/>
                <a:cs typeface="Courier New" pitchFamily="34" charset="-120"/>
              </a:rPr>
              <a:t># TITLE: stay until A is pressed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PLAY              </a:t>
            </a:r>
            <a:pPr indent="0" marL="0">
              <a:buNone/>
            </a:pPr>
            <a:r>
              <a:rPr lang="en-US" sz="1200" dirty="0">
                <a:solidFill>
                  <a:srgbClr val="8FB3A0"/>
                </a:solidFill>
                <a:latin typeface="Courier New" pitchFamily="34" charset="0"/>
                <a:ea typeface="Courier New" pitchFamily="34" charset="-122"/>
                <a:cs typeface="Courier New" pitchFamily="34" charset="-120"/>
              </a:rPr>
              <a:t># TITLE --A--&gt; PLAY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j    store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t3, OVER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t1, t3, done          </a:t>
            </a:r>
            <a:pPr indent="0" marL="0">
              <a:buNone/>
            </a:pPr>
            <a:r>
              <a:rPr lang="en-US" sz="1200" dirty="0">
                <a:solidFill>
                  <a:srgbClr val="8FB3A0"/>
                </a:solidFill>
                <a:latin typeface="Courier New" pitchFamily="34" charset="0"/>
                <a:ea typeface="Courier New" pitchFamily="34" charset="-122"/>
                <a:cs typeface="Courier New" pitchFamily="34" charset="-120"/>
              </a:rPr>
              <a:t># PLAY is handled elsewhere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t2, done              </a:t>
            </a:r>
            <a:pPr indent="0" marL="0">
              <a:buNone/>
            </a:pPr>
            <a:r>
              <a:rPr lang="en-US" sz="1200" dirty="0">
                <a:solidFill>
                  <a:srgbClr val="8FB3A0"/>
                </a:solidFill>
                <a:latin typeface="Courier New" pitchFamily="34" charset="0"/>
                <a:ea typeface="Courier New" pitchFamily="34" charset="-122"/>
                <a:cs typeface="Courier New" pitchFamily="34" charset="-120"/>
              </a:rPr>
              <a:t># OVER: stay until A is pressed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TITLE             </a:t>
            </a:r>
            <a:pPr indent="0" marL="0">
              <a:buNone/>
            </a:pPr>
            <a:r>
              <a:rPr lang="en-US" sz="1200" dirty="0">
                <a:solidFill>
                  <a:srgbClr val="8FB3A0"/>
                </a:solidFill>
                <a:latin typeface="Courier New" pitchFamily="34" charset="0"/>
                <a:ea typeface="Courier New" pitchFamily="34" charset="-122"/>
                <a:cs typeface="Courier New" pitchFamily="34" charset="-120"/>
              </a:rPr>
              <a:t># OVER --A--&gt; TITLE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store: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             </a:t>
            </a:r>
            <a:pPr indent="0" marL="0">
              <a:buNone/>
            </a:pPr>
            <a:r>
              <a:rPr lang="en-US" sz="1200" dirty="0">
                <a:solidFill>
                  <a:srgbClr val="8FB3A0"/>
                </a:solidFill>
                <a:latin typeface="Courier New" pitchFamily="34" charset="0"/>
                <a:ea typeface="Courier New" pitchFamily="34" charset="-122"/>
                <a:cs typeface="Courier New" pitchFamily="34" charset="-120"/>
              </a:rPr>
              <a:t># the next state becomes the present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done: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Pressing A starts the game from the title screen and returns to it from the game-over screen: the effect depends on the state</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state is one word in memory that survives from frame to frame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update computes the next state from the present state and the input</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draw shows a different screen for each state: the output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warm-up as a state diagram</a:t>
            </a:r>
            <a:endParaRPr lang="en-US" sz="3200" dirty="0"/>
          </a:p>
        </p:txBody>
      </p:sp>
      <p:sp>
        <p:nvSpPr>
          <p:cNvPr id="3" name="Shape 1"/>
          <p:cNvSpPr/>
          <p:nvPr/>
        </p:nvSpPr>
        <p:spPr>
          <a:xfrm>
            <a:off x="548640" y="1417320"/>
            <a:ext cx="11094415" cy="3017520"/>
          </a:xfrm>
          <a:prstGeom prst="roundRect">
            <a:avLst>
              <a:gd name="adj" fmla="val 2424"/>
            </a:avLst>
          </a:prstGeom>
          <a:solidFill>
            <a:srgbClr val="EEF2F4"/>
          </a:solidFill>
          <a:ln w="12700">
            <a:solidFill>
              <a:srgbClr val="EEF2F4"/>
            </a:solidFill>
            <a:prstDash val="solid"/>
          </a:ln>
        </p:spPr>
      </p:sp>
      <p:pic>
        <p:nvPicPr>
          <p:cNvPr id="5" name="Image 0" descr="preencoded.png">    </p:cNvPr>
          <p:cNvPicPr>
            <a:picLocks noChangeAspect="1"/>
          </p:cNvPicPr>
          <p:nvPr/>
        </p:nvPicPr>
        <p:blipFill>
          <a:blip r:embed="rId1"/>
          <a:stretch>
            <a:fillRect/>
          </a:stretch>
        </p:blipFill>
        <p:spPr>
          <a:xfrm>
            <a:off x="3171363" y="1463040"/>
            <a:ext cx="5848969" cy="292608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1094415" cy="914400"/>
        </p:xfrm>
        <a:graphic>
          <a:graphicData uri="http://schemas.openxmlformats.org/drawingml/2006/table">
            <a:tbl>
              <a:tblPr/>
              <a:tblGrid>
                <a:gridCol w="2011680"/>
                <a:gridCol w="3017520"/>
                <a:gridCol w="3017520"/>
                <a:gridCol w="3047695"/>
              </a:tblGrid>
              <a:tr h="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Present state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Input that changes it</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Next state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Output (draw)</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TITLE</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A pressed</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PLAY</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the title screen</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PLAY</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lives = 0</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OVER</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the playfield</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OVER</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A pressed</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TITLE</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the final score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program counter: a register in a loop</a:t>
            </a:r>
            <a:endParaRPr lang="en-US" sz="3200" dirty="0"/>
          </a:p>
        </p:txBody>
      </p:sp>
      <p:sp>
        <p:nvSpPr>
          <p:cNvPr id="3" name="Text 1"/>
          <p:cNvSpPr txBox="1"/>
          <p:nvPr/>
        </p:nvSpPr>
        <p:spPr>
          <a:xfrm>
            <a:off x="914400" y="2697480"/>
            <a:ext cx="2011680" cy="1097280"/>
          </a:xfrm>
          <a:prstGeom prst="roundRect">
            <a:avLst>
              <a:gd name="adj" fmla="val 5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PC</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register, 32 bits</a:t>
            </a:r>
            <a:endParaRPr lang="en-US" sz="1500" dirty="0"/>
          </a:p>
        </p:txBody>
      </p:sp>
      <p:sp>
        <p:nvSpPr>
          <p:cNvPr id="4" name="Text 2"/>
          <p:cNvSpPr txBox="1"/>
          <p:nvPr/>
        </p:nvSpPr>
        <p:spPr>
          <a:xfrm>
            <a:off x="4114800" y="1783080"/>
            <a:ext cx="1463040" cy="914400"/>
          </a:xfrm>
          <a:prstGeom prst="roundRect">
            <a:avLst>
              <a:gd name="adj" fmla="val 6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adder</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+ 4</a:t>
            </a:r>
            <a:endParaRPr lang="en-US" sz="1500" dirty="0"/>
          </a:p>
        </p:txBody>
      </p:sp>
      <p:sp>
        <p:nvSpPr>
          <p:cNvPr id="5" name="Text 3"/>
          <p:cNvSpPr txBox="1"/>
          <p:nvPr/>
        </p:nvSpPr>
        <p:spPr>
          <a:xfrm>
            <a:off x="6400800" y="2423160"/>
            <a:ext cx="1005840" cy="1737360"/>
          </a:xfrm>
          <a:prstGeom prst="roundRect">
            <a:avLst>
              <a:gd name="adj" fmla="val 5455"/>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MUX</a:t>
            </a:r>
            <a:endParaRPr lang="en-US" sz="1600" dirty="0"/>
          </a:p>
        </p:txBody>
      </p:sp>
      <p:sp>
        <p:nvSpPr>
          <p:cNvPr id="6" name="Text 4"/>
          <p:cNvSpPr txBox="1"/>
          <p:nvPr/>
        </p:nvSpPr>
        <p:spPr>
          <a:xfrm>
            <a:off x="3931920" y="3703320"/>
            <a:ext cx="182880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branch target</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from the ALU</a:t>
            </a:r>
            <a:endParaRPr lang="en-US" sz="1350" dirty="0"/>
          </a:p>
        </p:txBody>
      </p:sp>
      <p:sp>
        <p:nvSpPr>
          <p:cNvPr id="7" name="Shape 5"/>
          <p:cNvSpPr/>
          <p:nvPr/>
        </p:nvSpPr>
        <p:spPr>
          <a:xfrm flipV="1">
            <a:off x="2953512" y="2240280"/>
            <a:ext cx="1133856" cy="731520"/>
          </a:xfrm>
          <a:prstGeom prst="line">
            <a:avLst/>
          </a:prstGeom>
          <a:noFill/>
          <a:ln w="25400">
            <a:solidFill>
              <a:srgbClr val="5B6B78"/>
            </a:solidFill>
            <a:prstDash val="solid"/>
            <a:tailEnd type="triangle"/>
          </a:ln>
        </p:spPr>
      </p:sp>
      <p:sp>
        <p:nvSpPr>
          <p:cNvPr id="8" name="Shape 6"/>
          <p:cNvSpPr/>
          <p:nvPr/>
        </p:nvSpPr>
        <p:spPr>
          <a:xfrm>
            <a:off x="5605272" y="2240280"/>
            <a:ext cx="768096" cy="548640"/>
          </a:xfrm>
          <a:prstGeom prst="line">
            <a:avLst/>
          </a:prstGeom>
          <a:noFill/>
          <a:ln w="25400">
            <a:solidFill>
              <a:srgbClr val="5B6B78"/>
            </a:solidFill>
            <a:prstDash val="solid"/>
            <a:tailEnd type="triangle"/>
          </a:ln>
        </p:spPr>
      </p:sp>
      <p:sp>
        <p:nvSpPr>
          <p:cNvPr id="9" name="Shape 7"/>
          <p:cNvSpPr/>
          <p:nvPr/>
        </p:nvSpPr>
        <p:spPr>
          <a:xfrm flipV="1">
            <a:off x="5788152" y="3794760"/>
            <a:ext cx="585216" cy="320040"/>
          </a:xfrm>
          <a:prstGeom prst="line">
            <a:avLst/>
          </a:prstGeom>
          <a:noFill/>
          <a:ln w="25400">
            <a:solidFill>
              <a:srgbClr val="5B6B78"/>
            </a:solidFill>
            <a:prstDash val="solid"/>
            <a:tailEnd type="triangle"/>
          </a:ln>
        </p:spPr>
      </p:sp>
      <p:sp>
        <p:nvSpPr>
          <p:cNvPr id="10" name="Shape 8"/>
          <p:cNvSpPr/>
          <p:nvPr/>
        </p:nvSpPr>
        <p:spPr>
          <a:xfrm>
            <a:off x="7434072" y="3291840"/>
            <a:ext cx="429768" cy="0"/>
          </a:xfrm>
          <a:prstGeom prst="line">
            <a:avLst/>
          </a:prstGeom>
          <a:noFill/>
          <a:ln w="28575">
            <a:solidFill>
              <a:srgbClr val="B23A48"/>
            </a:solidFill>
            <a:prstDash val="solid"/>
          </a:ln>
        </p:spPr>
      </p:sp>
      <p:sp>
        <p:nvSpPr>
          <p:cNvPr id="11" name="Shape 9"/>
          <p:cNvSpPr/>
          <p:nvPr/>
        </p:nvSpPr>
        <p:spPr>
          <a:xfrm>
            <a:off x="7863840" y="3291840"/>
            <a:ext cx="0" cy="1783080"/>
          </a:xfrm>
          <a:prstGeom prst="line">
            <a:avLst/>
          </a:prstGeom>
          <a:noFill/>
          <a:ln w="28575">
            <a:solidFill>
              <a:srgbClr val="B23A48"/>
            </a:solidFill>
            <a:prstDash val="solid"/>
          </a:ln>
        </p:spPr>
      </p:sp>
      <p:sp>
        <p:nvSpPr>
          <p:cNvPr id="12" name="Shape 10"/>
          <p:cNvSpPr/>
          <p:nvPr/>
        </p:nvSpPr>
        <p:spPr>
          <a:xfrm flipH="1">
            <a:off x="1920240" y="5074920"/>
            <a:ext cx="5943600" cy="0"/>
          </a:xfrm>
          <a:prstGeom prst="line">
            <a:avLst/>
          </a:prstGeom>
          <a:noFill/>
          <a:ln w="28575">
            <a:solidFill>
              <a:srgbClr val="B23A48"/>
            </a:solidFill>
            <a:prstDash val="solid"/>
          </a:ln>
        </p:spPr>
      </p:sp>
      <p:sp>
        <p:nvSpPr>
          <p:cNvPr id="13" name="Shape 11"/>
          <p:cNvSpPr/>
          <p:nvPr/>
        </p:nvSpPr>
        <p:spPr>
          <a:xfrm flipV="1">
            <a:off x="1920240" y="3822192"/>
            <a:ext cx="0" cy="1252728"/>
          </a:xfrm>
          <a:prstGeom prst="line">
            <a:avLst/>
          </a:prstGeom>
          <a:noFill/>
          <a:ln w="28575">
            <a:solidFill>
              <a:srgbClr val="B23A48"/>
            </a:solidFill>
            <a:prstDash val="solid"/>
            <a:tailEnd type="triangle"/>
          </a:ln>
        </p:spPr>
      </p:sp>
      <p:sp>
        <p:nvSpPr>
          <p:cNvPr id="14" name="Text 12"/>
          <p:cNvSpPr txBox="1"/>
          <p:nvPr/>
        </p:nvSpPr>
        <p:spPr>
          <a:xfrm>
            <a:off x="3657600" y="5120640"/>
            <a:ext cx="2286000" cy="274320"/>
          </a:xfrm>
          <a:prstGeom prst="rect">
            <a:avLst/>
          </a:prstGeom>
          <a:noFill/>
          <a:ln/>
        </p:spPr>
        <p:txBody>
          <a:bodyPr wrap="square" lIns="0" tIns="0" rIns="0" bIns="0" rtlCol="0" anchor="t"/>
          <a:lstStyle/>
          <a:p>
            <a:pPr algn="ctr" indent="0" marL="0">
              <a:buNone/>
            </a:pPr>
            <a:r>
              <a:rPr lang="en-US" sz="1350" b="1" dirty="0">
                <a:solidFill>
                  <a:srgbClr val="B23A48"/>
                </a:solidFill>
                <a:latin typeface="Calibri" pitchFamily="34" charset="0"/>
                <a:ea typeface="Calibri" pitchFamily="34" charset="-122"/>
                <a:cs typeface="Calibri" pitchFamily="34" charset="-120"/>
              </a:rPr>
              <a:t>next PC</a:t>
            </a:r>
            <a:endParaRPr lang="en-US" sz="1350" dirty="0"/>
          </a:p>
        </p:txBody>
      </p:sp>
      <p:sp>
        <p:nvSpPr>
          <p:cNvPr id="15" name="Shape 13"/>
          <p:cNvSpPr/>
          <p:nvPr/>
        </p:nvSpPr>
        <p:spPr>
          <a:xfrm>
            <a:off x="1920240" y="2057400"/>
            <a:ext cx="0" cy="612648"/>
          </a:xfrm>
          <a:prstGeom prst="line">
            <a:avLst/>
          </a:prstGeom>
          <a:noFill/>
          <a:ln w="25400">
            <a:solidFill>
              <a:srgbClr val="2E4A62"/>
            </a:solidFill>
            <a:prstDash val="solid"/>
            <a:tailEnd type="triangle"/>
          </a:ln>
        </p:spPr>
      </p:sp>
      <p:sp>
        <p:nvSpPr>
          <p:cNvPr id="16" name="Text 14"/>
          <p:cNvSpPr txBox="1"/>
          <p:nvPr/>
        </p:nvSpPr>
        <p:spPr>
          <a:xfrm>
            <a:off x="1371600" y="1737360"/>
            <a:ext cx="1097280" cy="274320"/>
          </a:xfrm>
          <a:prstGeom prst="rect">
            <a:avLst/>
          </a:prstGeom>
          <a:noFill/>
          <a:ln/>
        </p:spPr>
        <p:txBody>
          <a:bodyPr wrap="square" lIns="0" tIns="0" rIns="0" bIns="0" rtlCol="0" anchor="t"/>
          <a:lstStyle/>
          <a:p>
            <a:pPr algn="ctr" indent="0" marL="0">
              <a:buNone/>
            </a:pPr>
            <a:r>
              <a:rPr lang="en-US" sz="1350" b="1" dirty="0">
                <a:solidFill>
                  <a:srgbClr val="2E4A62"/>
                </a:solidFill>
                <a:latin typeface="Calibri" pitchFamily="34" charset="0"/>
                <a:ea typeface="Calibri" pitchFamily="34" charset="-122"/>
                <a:cs typeface="Calibri" pitchFamily="34" charset="-120"/>
              </a:rPr>
              <a:t>clock</a:t>
            </a:r>
            <a:endParaRPr lang="en-US" sz="1350" dirty="0"/>
          </a:p>
        </p:txBody>
      </p:sp>
      <p:sp>
        <p:nvSpPr>
          <p:cNvPr id="17" name="Shape 15"/>
          <p:cNvSpPr/>
          <p:nvPr/>
        </p:nvSpPr>
        <p:spPr>
          <a:xfrm flipV="1">
            <a:off x="6903720" y="4187952"/>
            <a:ext cx="0" cy="521208"/>
          </a:xfrm>
          <a:prstGeom prst="line">
            <a:avLst/>
          </a:prstGeom>
          <a:noFill/>
          <a:ln w="25400">
            <a:solidFill>
              <a:srgbClr val="5B6B78"/>
            </a:solidFill>
            <a:prstDash val="solid"/>
            <a:tailEnd type="triangle"/>
          </a:ln>
        </p:spPr>
      </p:sp>
      <p:sp>
        <p:nvSpPr>
          <p:cNvPr id="18" name="Text 16"/>
          <p:cNvSpPr txBox="1"/>
          <p:nvPr/>
        </p:nvSpPr>
        <p:spPr>
          <a:xfrm>
            <a:off x="6035040" y="4727448"/>
            <a:ext cx="1737360" cy="274320"/>
          </a:xfrm>
          <a:prstGeom prst="rect">
            <a:avLst/>
          </a:prstGeom>
          <a:noFill/>
          <a:ln/>
        </p:spPr>
        <p:txBody>
          <a:bodyPr wrap="square" lIns="0" tIns="0" rIns="0" bIns="0" rtlCol="0" anchor="t"/>
          <a:lstStyle/>
          <a:p>
            <a:pPr algn="ctr" indent="0" marL="0">
              <a:buNone/>
            </a:pPr>
            <a:r>
              <a:rPr lang="en-US" sz="1250" i="1" dirty="0">
                <a:solidFill>
                  <a:srgbClr val="5B6B78"/>
                </a:solidFill>
                <a:latin typeface="Calibri" pitchFamily="34" charset="0"/>
                <a:ea typeface="Calibri" pitchFamily="34" charset="-122"/>
                <a:cs typeface="Calibri" pitchFamily="34" charset="-120"/>
              </a:rPr>
              <a:t>branch taken?</a:t>
            </a:r>
            <a:endParaRPr lang="en-US" sz="1250" dirty="0"/>
          </a:p>
        </p:txBody>
      </p:sp>
      <p:sp>
        <p:nvSpPr>
          <p:cNvPr id="19" name="Shape 17"/>
          <p:cNvSpPr/>
          <p:nvPr/>
        </p:nvSpPr>
        <p:spPr>
          <a:xfrm>
            <a:off x="8229600" y="1469517"/>
            <a:ext cx="146304" cy="146304"/>
          </a:xfrm>
          <a:prstGeom prst="rect">
            <a:avLst/>
          </a:prstGeom>
          <a:solidFill>
            <a:srgbClr val="0E7C86"/>
          </a:solidFill>
          <a:ln w="12700">
            <a:solidFill>
              <a:srgbClr val="0E7C86"/>
            </a:solidFill>
            <a:prstDash val="solid"/>
          </a:ln>
        </p:spPr>
      </p:sp>
      <p:sp>
        <p:nvSpPr>
          <p:cNvPr id="20" name="Text 18"/>
          <p:cNvSpPr txBox="1"/>
          <p:nvPr/>
        </p:nvSpPr>
        <p:spPr>
          <a:xfrm>
            <a:off x="8613648" y="1417320"/>
            <a:ext cx="3029407" cy="92964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The PC holds the address of the instruction being executed: it is the state that says where the program is</a:t>
            </a:r>
            <a:endParaRPr lang="en-US" sz="1500" dirty="0"/>
          </a:p>
        </p:txBody>
      </p:sp>
      <p:sp>
        <p:nvSpPr>
          <p:cNvPr id="21" name="Shape 19"/>
          <p:cNvSpPr/>
          <p:nvPr/>
        </p:nvSpPr>
        <p:spPr>
          <a:xfrm>
            <a:off x="8229600" y="2658237"/>
            <a:ext cx="146304" cy="146304"/>
          </a:xfrm>
          <a:prstGeom prst="rect">
            <a:avLst/>
          </a:prstGeom>
          <a:solidFill>
            <a:srgbClr val="C7791B"/>
          </a:solidFill>
          <a:ln w="12700">
            <a:solidFill>
              <a:srgbClr val="C7791B"/>
            </a:solidFill>
            <a:prstDash val="solid"/>
          </a:ln>
        </p:spPr>
      </p:sp>
      <p:sp>
        <p:nvSpPr>
          <p:cNvPr id="22" name="Text 20"/>
          <p:cNvSpPr txBox="1"/>
          <p:nvPr/>
        </p:nvSpPr>
        <p:spPr>
          <a:xfrm>
            <a:off x="8613648" y="2606040"/>
            <a:ext cx="3029407" cy="69723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Next state: PC + 4 for a normal instruction, or the branch target when a branch is taken</a:t>
            </a:r>
            <a:endParaRPr lang="en-US" sz="1500" dirty="0"/>
          </a:p>
        </p:txBody>
      </p:sp>
      <p:sp>
        <p:nvSpPr>
          <p:cNvPr id="23" name="Shape 21"/>
          <p:cNvSpPr/>
          <p:nvPr/>
        </p:nvSpPr>
        <p:spPr>
          <a:xfrm>
            <a:off x="8229600" y="3614547"/>
            <a:ext cx="146304" cy="146304"/>
          </a:xfrm>
          <a:prstGeom prst="rect">
            <a:avLst/>
          </a:prstGeom>
          <a:solidFill>
            <a:srgbClr val="0E7C86"/>
          </a:solidFill>
          <a:ln w="12700">
            <a:solidFill>
              <a:srgbClr val="0E7C86"/>
            </a:solidFill>
            <a:prstDash val="solid"/>
          </a:ln>
        </p:spPr>
      </p:sp>
      <p:sp>
        <p:nvSpPr>
          <p:cNvPr id="24" name="Text 22"/>
          <p:cNvSpPr txBox="1"/>
          <p:nvPr/>
        </p:nvSpPr>
        <p:spPr>
          <a:xfrm>
            <a:off x="8613648" y="3562350"/>
            <a:ext cx="3029407" cy="92964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Present state, combinational network, next state, clock: exactly the general architecture</a:t>
            </a:r>
            <a:endParaRPr lang="en-US" sz="1500" dirty="0"/>
          </a:p>
        </p:txBody>
      </p:sp>
      <p:sp>
        <p:nvSpPr>
          <p:cNvPr id="25" name="Shape 23"/>
          <p:cNvSpPr/>
          <p:nvPr/>
        </p:nvSpPr>
        <p:spPr>
          <a:xfrm>
            <a:off x="8229600" y="4803267"/>
            <a:ext cx="146304" cy="146304"/>
          </a:xfrm>
          <a:prstGeom prst="rect">
            <a:avLst/>
          </a:prstGeom>
          <a:solidFill>
            <a:srgbClr val="C7791B"/>
          </a:solidFill>
          <a:ln w="12700">
            <a:solidFill>
              <a:srgbClr val="C7791B"/>
            </a:solidFill>
            <a:prstDash val="solid"/>
          </a:ln>
        </p:spPr>
      </p:sp>
      <p:sp>
        <p:nvSpPr>
          <p:cNvPr id="26" name="Text 24"/>
          <p:cNvSpPr txBox="1"/>
          <p:nvPr/>
        </p:nvSpPr>
        <p:spPr>
          <a:xfrm>
            <a:off x="8613648" y="4751070"/>
            <a:ext cx="3029407" cy="69723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With only the + 4 path it is a counter: the simplest finite-state machine</a:t>
            </a:r>
            <a:endParaRPr lang="en-US" sz="1500" dirty="0"/>
          </a:p>
        </p:txBody>
      </p:sp>
      <p:sp>
        <p:nvSpPr>
          <p:cNvPr id="27" name="Shape 25"/>
          <p:cNvSpPr/>
          <p:nvPr/>
        </p:nvSpPr>
        <p:spPr>
          <a:xfrm>
            <a:off x="8229600" y="5759577"/>
            <a:ext cx="146304" cy="146304"/>
          </a:xfrm>
          <a:prstGeom prst="rect">
            <a:avLst/>
          </a:prstGeom>
          <a:solidFill>
            <a:srgbClr val="0E7C86"/>
          </a:solidFill>
          <a:ln w="12700">
            <a:solidFill>
              <a:srgbClr val="0E7C86"/>
            </a:solidFill>
            <a:prstDash val="solid"/>
          </a:ln>
        </p:spPr>
      </p:sp>
      <p:sp>
        <p:nvSpPr>
          <p:cNvPr id="28" name="Text 26"/>
          <p:cNvSpPr txBox="1"/>
          <p:nvPr/>
        </p:nvSpPr>
        <p:spPr>
          <a:xfrm>
            <a:off x="8613648" y="5707380"/>
            <a:ext cx="3029407" cy="46482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first_update of Lecture 02 was the same machine in software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processor is a sequential machine</a:t>
            </a:r>
            <a:endParaRPr lang="en-US" sz="3200" dirty="0"/>
          </a:p>
        </p:txBody>
      </p:sp>
      <p:sp>
        <p:nvSpPr>
          <p:cNvPr id="3" name="Shape 1"/>
          <p:cNvSpPr/>
          <p:nvPr/>
        </p:nvSpPr>
        <p:spPr>
          <a:xfrm>
            <a:off x="548640" y="1874520"/>
            <a:ext cx="2499284" cy="2468880"/>
          </a:xfrm>
          <a:prstGeom prst="roundRect">
            <a:avLst>
              <a:gd name="adj" fmla="val 2963"/>
            </a:avLst>
          </a:prstGeom>
          <a:solidFill>
            <a:srgbClr val="EEF2F4"/>
          </a:solidFill>
          <a:ln w="12700">
            <a:solidFill>
              <a:srgbClr val="EEF2F4"/>
            </a:solidFill>
            <a:prstDash val="solid"/>
          </a:ln>
        </p:spPr>
      </p:sp>
      <p:sp>
        <p:nvSpPr>
          <p:cNvPr id="4" name="Text 2"/>
          <p:cNvSpPr txBox="1"/>
          <p:nvPr/>
        </p:nvSpPr>
        <p:spPr>
          <a:xfrm>
            <a:off x="685800" y="2057400"/>
            <a:ext cx="2224964"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State</a:t>
            </a:r>
            <a:endParaRPr lang="en-US" sz="1900" dirty="0"/>
          </a:p>
        </p:txBody>
      </p:sp>
      <p:sp>
        <p:nvSpPr>
          <p:cNvPr id="5" name="Text 3"/>
          <p:cNvSpPr txBox="1"/>
          <p:nvPr/>
        </p:nvSpPr>
        <p:spPr>
          <a:xfrm>
            <a:off x="685800"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program counter, the thirty-two registers, the memory</a:t>
            </a:r>
            <a:endParaRPr lang="en-US" sz="1700" dirty="0"/>
          </a:p>
        </p:txBody>
      </p:sp>
      <p:sp>
        <p:nvSpPr>
          <p:cNvPr id="6" name="Shape 4"/>
          <p:cNvSpPr/>
          <p:nvPr/>
        </p:nvSpPr>
        <p:spPr>
          <a:xfrm>
            <a:off x="3093644"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3413684" y="1874520"/>
            <a:ext cx="2499284" cy="2468880"/>
          </a:xfrm>
          <a:prstGeom prst="roundRect">
            <a:avLst>
              <a:gd name="adj" fmla="val 2963"/>
            </a:avLst>
          </a:prstGeom>
          <a:solidFill>
            <a:srgbClr val="EEF2F4"/>
          </a:solidFill>
          <a:ln w="12700">
            <a:solidFill>
              <a:srgbClr val="EEF2F4"/>
            </a:solidFill>
            <a:prstDash val="solid"/>
          </a:ln>
        </p:spPr>
      </p:sp>
      <p:sp>
        <p:nvSpPr>
          <p:cNvPr id="8" name="Text 6"/>
          <p:cNvSpPr txBox="1"/>
          <p:nvPr/>
        </p:nvSpPr>
        <p:spPr>
          <a:xfrm>
            <a:off x="3550844" y="2057400"/>
            <a:ext cx="2224964"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Input</a:t>
            </a:r>
            <a:endParaRPr lang="en-US" sz="1900" dirty="0"/>
          </a:p>
        </p:txBody>
      </p:sp>
      <p:sp>
        <p:nvSpPr>
          <p:cNvPr id="9" name="Text 7"/>
          <p:cNvSpPr txBox="1"/>
          <p:nvPr/>
        </p:nvSpPr>
        <p:spPr>
          <a:xfrm>
            <a:off x="3550844"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instruction at the address in the PC, and the data it reads</a:t>
            </a:r>
            <a:endParaRPr lang="en-US" sz="1700" dirty="0"/>
          </a:p>
        </p:txBody>
      </p:sp>
      <p:sp>
        <p:nvSpPr>
          <p:cNvPr id="10" name="Shape 8"/>
          <p:cNvSpPr/>
          <p:nvPr/>
        </p:nvSpPr>
        <p:spPr>
          <a:xfrm>
            <a:off x="5958688"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6278728" y="1874520"/>
            <a:ext cx="2499284" cy="2468880"/>
          </a:xfrm>
          <a:prstGeom prst="roundRect">
            <a:avLst>
              <a:gd name="adj" fmla="val 2963"/>
            </a:avLst>
          </a:prstGeom>
          <a:solidFill>
            <a:srgbClr val="EEF2F4"/>
          </a:solidFill>
          <a:ln w="12700">
            <a:solidFill>
              <a:srgbClr val="EEF2F4"/>
            </a:solidFill>
            <a:prstDash val="solid"/>
          </a:ln>
        </p:spPr>
      </p:sp>
      <p:sp>
        <p:nvSpPr>
          <p:cNvPr id="12" name="Text 10"/>
          <p:cNvSpPr txBox="1"/>
          <p:nvPr/>
        </p:nvSpPr>
        <p:spPr>
          <a:xfrm>
            <a:off x="6415888" y="2057400"/>
            <a:ext cx="2224964"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Next-state network</a:t>
            </a:r>
            <a:endParaRPr lang="en-US" sz="1900" dirty="0"/>
          </a:p>
        </p:txBody>
      </p:sp>
      <p:sp>
        <p:nvSpPr>
          <p:cNvPr id="13" name="Text 11"/>
          <p:cNvSpPr txBox="1"/>
          <p:nvPr/>
        </p:nvSpPr>
        <p:spPr>
          <a:xfrm>
            <a:off x="6415888"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decoders, multiplexers and the ALU compute the new values</a:t>
            </a:r>
            <a:endParaRPr lang="en-US" sz="1700" dirty="0"/>
          </a:p>
        </p:txBody>
      </p:sp>
      <p:sp>
        <p:nvSpPr>
          <p:cNvPr id="14" name="Shape 12"/>
          <p:cNvSpPr/>
          <p:nvPr/>
        </p:nvSpPr>
        <p:spPr>
          <a:xfrm>
            <a:off x="8823731"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9143771" y="1874520"/>
            <a:ext cx="2499284" cy="2468880"/>
          </a:xfrm>
          <a:prstGeom prst="roundRect">
            <a:avLst>
              <a:gd name="adj" fmla="val 2963"/>
            </a:avLst>
          </a:prstGeom>
          <a:solidFill>
            <a:srgbClr val="EEF2F4"/>
          </a:solidFill>
          <a:ln w="12700">
            <a:solidFill>
              <a:srgbClr val="EEF2F4"/>
            </a:solidFill>
            <a:prstDash val="solid"/>
          </a:ln>
        </p:spPr>
      </p:sp>
      <p:sp>
        <p:nvSpPr>
          <p:cNvPr id="16" name="Text 14"/>
          <p:cNvSpPr txBox="1"/>
          <p:nvPr/>
        </p:nvSpPr>
        <p:spPr>
          <a:xfrm>
            <a:off x="9280931" y="2057400"/>
            <a:ext cx="2224964"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Clock edge</a:t>
            </a:r>
            <a:endParaRPr lang="en-US" sz="1900" dirty="0"/>
          </a:p>
        </p:txBody>
      </p:sp>
      <p:sp>
        <p:nvSpPr>
          <p:cNvPr id="17" name="Text 15"/>
          <p:cNvSpPr txBox="1"/>
          <p:nvPr/>
        </p:nvSpPr>
        <p:spPr>
          <a:xfrm>
            <a:off x="9280931"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registers named by the instruction take their new values</a:t>
            </a:r>
            <a:endParaRPr lang="en-US" sz="1700" dirty="0"/>
          </a:p>
        </p:txBody>
      </p:sp>
      <p:sp>
        <p:nvSpPr>
          <p:cNvPr id="18" name="Shape 16"/>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19" name="Text 17"/>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Executing a program is nothing but a long walk through the states of a very large finite-state machine, one clock edge at a time. Single-stepping in PRG32-QT shows that walk one state after another.</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l13.S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13: Sequential Machines</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l13.S: a game is a state machine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one colour per state. Blue is TITLE: press A and the screen turns</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green, PLAY. (OVER, red, is reached only when a game ends: this warm-up has no game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yet. Hold A on the red screen and you meet the bug discussed in the lecture.)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l13.S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l13 --name l13 --out l13.prg32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TITLE,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PLAY,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OVER,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l13_init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l13_update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l13_draw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l13_init: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l13.S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l13_update: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game_update: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sp, sp, -16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ra, 12(sp)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250" dirty="0">
                <a:solidFill>
                  <a:srgbClr val="8FB3A0"/>
                </a:solidFill>
                <a:latin typeface="Courier New" pitchFamily="34" charset="0"/>
                <a:ea typeface="Courier New" pitchFamily="34" charset="-122"/>
                <a:cs typeface="Courier New" pitchFamily="34" charset="-120"/>
              </a:rPr>
              <a:t># a0 = buttons: the INPUT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state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             </a:t>
            </a:r>
            <a:pPr indent="0" marL="0">
              <a:buNone/>
            </a:pPr>
            <a:r>
              <a:rPr lang="en-US" sz="1250" dirty="0">
                <a:solidFill>
                  <a:srgbClr val="8FB3A0"/>
                </a:solidFill>
                <a:latin typeface="Courier New" pitchFamily="34" charset="0"/>
                <a:ea typeface="Courier New" pitchFamily="34" charset="-122"/>
                <a:cs typeface="Courier New" pitchFamily="34" charset="-120"/>
              </a:rPr>
              <a:t># t1 = the present STATE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andi t2, a0, 0x10          </a:t>
            </a:r>
            <a:pPr indent="0" marL="0">
              <a:buNone/>
            </a:pPr>
            <a:r>
              <a:rPr lang="en-US" sz="1250" dirty="0">
                <a:solidFill>
                  <a:srgbClr val="8FB3A0"/>
                </a:solidFill>
                <a:latin typeface="Courier New" pitchFamily="34" charset="0"/>
                <a:ea typeface="Courier New" pitchFamily="34" charset="-122"/>
                <a:cs typeface="Courier New" pitchFamily="34" charset="-120"/>
              </a:rPr>
              <a:t># button A</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t3, TITLE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bne  t1, t3, 1f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t2, done              </a:t>
            </a:r>
            <a:pPr indent="0" marL="0">
              <a:buNone/>
            </a:pPr>
            <a:r>
              <a:rPr lang="en-US" sz="1250" dirty="0">
                <a:solidFill>
                  <a:srgbClr val="8FB3A0"/>
                </a:solidFill>
                <a:latin typeface="Courier New" pitchFamily="34" charset="0"/>
                <a:ea typeface="Courier New" pitchFamily="34" charset="-122"/>
                <a:cs typeface="Courier New" pitchFamily="34" charset="-120"/>
              </a:rPr>
              <a:t># TITLE: stay until A is pressed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t1, PLAY              </a:t>
            </a:r>
            <a:pPr indent="0" marL="0">
              <a:buNone/>
            </a:pPr>
            <a:r>
              <a:rPr lang="en-US" sz="1250" dirty="0">
                <a:solidFill>
                  <a:srgbClr val="8FB3A0"/>
                </a:solidFill>
                <a:latin typeface="Courier New" pitchFamily="34" charset="0"/>
                <a:ea typeface="Courier New" pitchFamily="34" charset="-122"/>
                <a:cs typeface="Courier New" pitchFamily="34" charset="-120"/>
              </a:rPr>
              <a:t># TITLE --A--&gt; PLAY</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j    store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1:  li   t3, OVER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bne  t1, t3, done          </a:t>
            </a:r>
            <a:pPr indent="0" marL="0">
              <a:buNone/>
            </a:pPr>
            <a:r>
              <a:rPr lang="en-US" sz="1250" dirty="0">
                <a:solidFill>
                  <a:srgbClr val="8FB3A0"/>
                </a:solidFill>
                <a:latin typeface="Courier New" pitchFamily="34" charset="0"/>
                <a:ea typeface="Courier New" pitchFamily="34" charset="-122"/>
                <a:cs typeface="Courier New" pitchFamily="34" charset="-120"/>
              </a:rPr>
              <a:t># PLAY is handled elsewhere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t2, done              </a:t>
            </a:r>
            <a:pPr indent="0" marL="0">
              <a:buNone/>
            </a:pPr>
            <a:r>
              <a:rPr lang="en-US" sz="1250" dirty="0">
                <a:solidFill>
                  <a:srgbClr val="8FB3A0"/>
                </a:solidFill>
                <a:latin typeface="Courier New" pitchFamily="34" charset="0"/>
                <a:ea typeface="Courier New" pitchFamily="34" charset="-122"/>
                <a:cs typeface="Courier New" pitchFamily="34" charset="-120"/>
              </a:rPr>
              <a:t># OVER: stay until A is pressed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t1, TITLE             </a:t>
            </a:r>
            <a:pPr indent="0" marL="0">
              <a:buNone/>
            </a:pPr>
            <a:r>
              <a:rPr lang="en-US" sz="1250" dirty="0">
                <a:solidFill>
                  <a:srgbClr val="8FB3A0"/>
                </a:solidFill>
                <a:latin typeface="Courier New" pitchFamily="34" charset="0"/>
                <a:ea typeface="Courier New" pitchFamily="34" charset="-122"/>
                <a:cs typeface="Courier New" pitchFamily="34" charset="-120"/>
              </a:rPr>
              <a:t># OVER --A--&gt; TITLE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store: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             </a:t>
            </a:r>
            <a:pPr indent="0" marL="0">
              <a:buNone/>
            </a:pPr>
            <a:r>
              <a:rPr lang="en-US" sz="1250" dirty="0">
                <a:solidFill>
                  <a:srgbClr val="8FB3A0"/>
                </a:solidFill>
                <a:latin typeface="Courier New" pitchFamily="34" charset="0"/>
                <a:ea typeface="Courier New" pitchFamily="34" charset="-122"/>
                <a:cs typeface="Courier New" pitchFamily="34" charset="-120"/>
              </a:rPr>
              <a:t># the next state becomes the present state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done: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ra, 12(sp)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sp, sp, 16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l13.S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l13_draw: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colours         </a:t>
            </a:r>
            <a:pPr indent="0" marL="0">
              <a:buNone/>
            </a:pPr>
            <a:r>
              <a:rPr lang="en-US" sz="1500" dirty="0">
                <a:solidFill>
                  <a:srgbClr val="8FB3A0"/>
                </a:solidFill>
                <a:latin typeface="Courier New" pitchFamily="34" charset="0"/>
                <a:ea typeface="Courier New" pitchFamily="34" charset="-122"/>
                <a:cs typeface="Courier New" pitchFamily="34" charset="-120"/>
              </a:rPr>
              <a:t># the OUTPUT depends on the state only: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slli t1, t1, 2           </a:t>
            </a:r>
            <a:pPr indent="0" marL="0">
              <a:buNone/>
            </a:pPr>
            <a:r>
              <a:rPr lang="en-US" sz="1500" dirty="0">
                <a:solidFill>
                  <a:srgbClr val="8FB3A0"/>
                </a:solidFill>
                <a:latin typeface="Courier New" pitchFamily="34" charset="0"/>
                <a:ea typeface="Courier New" pitchFamily="34" charset="-122"/>
                <a:cs typeface="Courier New" pitchFamily="34" charset="-120"/>
              </a:rPr>
              <a:t># a Moore machine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t0, t0,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a0,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colours: .word 0x001f, 0x07e0, 0xf800     </a:t>
            </a:r>
            <a:pPr indent="0" marL="0">
              <a:buNone/>
            </a:pPr>
            <a:r>
              <a:rPr lang="en-US" sz="1500" dirty="0">
                <a:solidFill>
                  <a:srgbClr val="8FB3A0"/>
                </a:solidFill>
                <a:latin typeface="Courier New" pitchFamily="34" charset="0"/>
                <a:ea typeface="Courier New" pitchFamily="34" charset="-122"/>
                <a:cs typeface="Courier New" pitchFamily="34" charset="-120"/>
              </a:rPr>
              <a:t># TITLE blue, PLAY green, OVER red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state: .word TITLE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36067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one colour per state. Blue is TITLE: press A and the screen turns green, PLAY. (OVER, red, is reached only when a game ends: this warm-up has no game yet. Hold A on the red screen and you meet the bug discussed in the lecture.)</a:t>
            </a:r>
            <a:endParaRPr lang="en-US" sz="2400" dirty="0"/>
          </a:p>
        </p:txBody>
      </p:sp>
      <p:sp>
        <p:nvSpPr>
          <p:cNvPr id="5" name="Shape 3"/>
          <p:cNvSpPr/>
          <p:nvPr/>
        </p:nvSpPr>
        <p:spPr>
          <a:xfrm>
            <a:off x="548640" y="4539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418076"/>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press A</a:t>
            </a:r>
            <a:endParaRPr lang="en-US" sz="2400" dirty="0"/>
          </a:p>
        </p:txBody>
      </p:sp>
      <p:pic>
        <p:nvPicPr>
          <p:cNvPr id="7" name="Image 0" descr="/Users/raffaelemontella/devel/riscv-prg32/computer-architecture-with-prg32/tools/assets/lab_l13.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l13 --name l13 --out l13.prg32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l13.prg32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l13 --name l13 --architecture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l13-qemu.prg32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l13-qemu.prg32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l13 --name l13 --architecture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l13-esp32c6.prg32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l13-esp32c6.prg32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l13;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Draw the state diagram of a machine that outputs 1 when the last two inputs were both 1; write it as a Moore and as a Mealy machine</a:t>
            </a:r>
            <a:endParaRPr lang="en-US" sz="1900" dirty="0"/>
          </a:p>
        </p:txBody>
      </p:sp>
      <p:sp>
        <p:nvSpPr>
          <p:cNvPr id="6" name="Text 4"/>
          <p:cNvSpPr txBox="1"/>
          <p:nvPr/>
        </p:nvSpPr>
        <p:spPr>
          <a:xfrm>
            <a:off x="548640" y="215709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38807"/>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Complete the timing diagram of an SR latch for a given sequence of S and R, marking where it holds</a:t>
            </a:r>
            <a:endParaRPr lang="en-US" sz="1900" dirty="0"/>
          </a:p>
        </p:txBody>
      </p:sp>
      <p:sp>
        <p:nvSpPr>
          <p:cNvPr id="8" name="Text 6"/>
          <p:cNvSpPr txBox="1"/>
          <p:nvPr/>
        </p:nvSpPr>
        <p:spPr>
          <a:xfrm>
            <a:off x="548640" y="287858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60294"/>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Synthesise a counter modulo 3 (0, 1, 2, 0, ...) with two D flip-flops; what happens in the unused state?</a:t>
            </a:r>
            <a:endParaRPr lang="en-US" sz="1900" dirty="0"/>
          </a:p>
        </p:txBody>
      </p:sp>
      <p:sp>
        <p:nvSpPr>
          <p:cNvPr id="10" name="Text 8"/>
          <p:cNvSpPr txBox="1"/>
          <p:nvPr/>
        </p:nvSpPr>
        <p:spPr>
          <a:xfrm>
            <a:off x="548640" y="360006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81781"/>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Add a PAUSE state to the warm-up game, entered and left with the SELECT button, and draw the new diagram first</a:t>
            </a:r>
            <a:endParaRPr lang="en-US" sz="1900" dirty="0"/>
          </a:p>
        </p:txBody>
      </p:sp>
      <p:sp>
        <p:nvSpPr>
          <p:cNvPr id="12" name="Text 10"/>
          <p:cNvSpPr txBox="1"/>
          <p:nvPr/>
        </p:nvSpPr>
        <p:spPr>
          <a:xfrm>
            <a:off x="548640" y="43215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303268"/>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Fix the warm-up so that A must be released and pressed again: store the previous button state and react only to a 0 to 1 change</a:t>
            </a:r>
            <a:endParaRPr lang="en-US" sz="19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 PRG32: four screens, and a held button that causes exactly one transition. The last exercise is edge detection in software: the program behaves like a flip-flop instead of a latch.</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Sequential Machines: the code</dc:title>
  <dc:subject>Lecture 13</dc:subject>
  <dc:creator>Raffaele Montella</dc:creator>
  <cp:lastModifiedBy>Raffaele Montella</cp:lastModifiedBy>
  <cp:revision>1</cp:revision>
  <dcterms:created xsi:type="dcterms:W3CDTF">2026-10-13T08:56:24Z</dcterms:created>
  <dcterms:modified xsi:type="dcterms:W3CDTF">2026-10-13T08:56:24Z</dcterms:modified>
</cp:coreProperties>
</file>