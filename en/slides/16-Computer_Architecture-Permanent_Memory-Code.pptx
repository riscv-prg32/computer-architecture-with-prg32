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f47d64f-81a7-cb9e-ca79-345c537d4302}">
          <p14:sldIdLst>
            <p14:sldId id="256"/>
            <p14:sldId id="257"/>
          </p14:sldIdLst>
        </p14:section>
        <p14:section name="The listings" id="{5ae7f2f2-8b5b-a588-5d34-d8d0d15ef880}">
          <p14:sldIdLst>
            <p14:sldId id="258"/>
          </p14:sldIdLst>
        </p14:section>
        <p14:section name="The complete program" id="{159a2dcb-e606-092e-e0db-e4ce83500973}">
          <p14:sldIdLst>
            <p14:sldId id="259"/>
            <p14:sldId id="260"/>
            <p14:sldId id="261"/>
            <p14:sldId id="262"/>
          </p14:sldIdLst>
        </p14:section>
        <p14:section name="Run it and test it" id="{b7a0bb6f-daa2-abb7-cbc6-6cb22c8f6af3}">
          <p14:sldIdLst>
            <p14:sldId id="263"/>
            <p14:sldId id="264"/>
            <p14:sldId id="265"/>
            <p14:sldId id="266"/>
            <p14:sldId id="267"/>
          </p14:sldIdLst>
        </p14:section>
        <p14:section name="Exercises" id="{94edf064-0af0-d8f8-a713-843ec6f0a2fc}">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code deck of Lecture 16. The lecture deck holds the concepts; this one holds everything you type and run: the listings with their explanation, the complete program, what it shows, and the way to test it on each of the three hosts.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deck contains, in the order of the slides. The program of the lecture is a file that you can build and run as it is: start from there, and come back to the listings to understand each part. The program of this lecture is ~/arc12/code/l16.S; tools/tests/cartridges/run.py builds it, runs it on PRG32-QT with scripted input and checks the pixels of the frame.
For the lecturer: Get the code once: git clone https://github.com/riscv-prg32/computer-architecture-with-prg32 ~/arc12. The program of this lecture is ~/arc12/code/l16.S; tools/tests/cartridges/run.py builds it, runs it on PRG32-QT with scripted input and checks the pixels of the frame. Every listing on these slides is read by the build from a tested file, or checked by tools/tests: see its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title is in the section .rodata, which is part of the cartridge file: the file is stored in flash memory and survives. The best score is a variable in the section .data, which is copied into RAM when the cartridge starts: it lives in SRAM and is lost. So after a power cycle the title is there and the score is 0 again. To keep a score for ever it must be written into a permanent memory, and the lecture presents the ones that exist. Note where each section of a program lives.
For the lecturer: Written for this lecture. On PRG32 persistent scores are handled by the Cartridge Store service; the point here is where each section of a program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For the lecturer: code/l16.S,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For the lecturer: code/l16.S,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For the lecturer: code/l16.S,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For the lecturer: code/l16.S,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program shows when it runs, and what to press. Predict before you run: if the screen differs from this picture, the difference is information. The picture was written by the automatic test, not drawn by hand.
For the lecturer: The picture is the frame that the headless runner of PRG32-QT produced in the test of this program. On QEMU and on the board the game area is the same 320 by 200 pixels, between the two status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quickest way: PRG32-QT on your own computer. Four steps, each with its command. PRG32-QT behaves like a board on port 8080, which is why the upload command says esp32c6. With debug mode enabled you can stop at any instruction and read registers and memory.
For the lecturer: Run by the tests: the cartridge of this slide is built with this command and executed on the headless runner of PRG32-QT. Without the toolchain: import the .prg32 file in PRG32-QT and choose Run Cartridge. Keys: arrows or WASD for the joystick, Z or J for A, X or K for B, Enter for Start, Escape to go back to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emulator. QEMU runs the real firmware on an emulated chip, so the cartridge must be built for the architecture qemu. Stage the cartridge while QEMU is closed. The firmware opens on the Setup menu: choose Run Cartridge and the slot. Remember that the keyboard is read by the terminal, not by the window with the picture.
For the lecturer: Checked by the tests up to the staging: the cartridge is built for the architecture qemu and accepted into the flash image of the emulator. What the emulator then shows is not checked automatically: Espressif QEMU needs its window. Since October 2026 the firmware starts on Setup: choose Run Cartridge, then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kit. The firmware is written once, through USB; after that cartridges travel over Wi-Fi. The upload command is the one used for PRG32-QT with the address of the board. This is the only host that the automatic tests do not run: try it, and report what you see.
For the lecturer: Not run by the tests: there is no board on the test machine. The cartridge for the architecture esp32c6 is built by the tests; the steps are those of the PRG32 documentation. If the serial port is not found pass it explicitly. To use the Wi-Fi of the classroom: python3 -m prg32 wifi set --ssid NAME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most common symptoms, what each means, and what to do. Read the message before changing anything: it nearly always names the cause.
For the lecturer: The first three rows cover most cases. When asking for help, paste the command and the whole message as text. docs/usage/troubleshooting.md of the PRG32 repository has the complete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exercises. Compute the average latency of a disk at 7,200 revolutions per minute: half a revolution. Compute the average access time of a cache with 95% of hits. Say where five things live on the kit: the boot code, the firmware, a cartridge, a variable, a register. Find the specifications of the storage of your own laptop or phone. And measure on PRG32 two loops over a large array, one in order and one in jumps: is there a difference, and why might there not be on this chip?
For the lecturer: 60 / 7200 = 8.33 ms per revolution. Exercise 3: ROM, flash, flash (or RAM once loaded), SRAM, a flip-flop register in the processor. Exercise 5: the SRAM of the ESP32-C6 has no cache in front of it, so the access pattern matters little; on a laptop the difference is large.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16: Permanent memory (code)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16</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Permanent Memory: the code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Code deck: every listing explained, the complete program, and how to test it on PRG32-QT, on QEMU and on the board</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Shape 9"/>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2" name="Image 0" descr="/Users/raffaelemontella/devel/riscv-prg32/computer-architecture-with-prg32/tools/assets/game_platformer.png">    </p:cNvPr>
          <p:cNvPicPr>
            <a:picLocks noChangeAspect="1"/>
          </p:cNvPicPr>
          <p:nvPr/>
        </p:nvPicPr>
        <p:blipFill>
          <a:blip r:embed="rId1"/>
          <a:stretch>
            <a:fillRect/>
          </a:stretch>
        </p:blipFill>
        <p:spPr>
          <a:xfrm>
            <a:off x="8915095" y="4251960"/>
            <a:ext cx="2438400" cy="1828800"/>
          </a:xfrm>
          <a:prstGeom prst="rect">
            <a:avLst/>
          </a:prstGeom>
        </p:spPr>
      </p:pic>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this deck</a:t>
            </a:r>
            <a:endParaRPr lang="en-US" sz="3200" dirty="0"/>
          </a:p>
        </p:txBody>
      </p:sp>
      <p:sp>
        <p:nvSpPr>
          <p:cNvPr id="3" name="Text 1"/>
          <p:cNvSpPr txBox="1"/>
          <p:nvPr/>
        </p:nvSpPr>
        <p:spPr>
          <a:xfrm>
            <a:off x="548640" y="161848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60020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1 listing of Lecture 16, one per slide: read the code, then the numbered remarks beside it</a:t>
            </a:r>
            <a:endParaRPr lang="en-US" sz="2200" dirty="0"/>
          </a:p>
        </p:txBody>
      </p:sp>
      <p:sp>
        <p:nvSpPr>
          <p:cNvPr id="5" name="Text 3"/>
          <p:cNvSpPr txBox="1"/>
          <p:nvPr/>
        </p:nvSpPr>
        <p:spPr>
          <a:xfrm>
            <a:off x="548640" y="275742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73913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complete program: code/l16.S, 82 lines, printed in full</a:t>
            </a:r>
            <a:endParaRPr lang="en-US" sz="2200" dirty="0"/>
          </a:p>
        </p:txBody>
      </p:sp>
      <p:sp>
        <p:nvSpPr>
          <p:cNvPr id="7" name="Text 5"/>
          <p:cNvSpPr txBox="1"/>
          <p:nvPr/>
        </p:nvSpPr>
        <p:spPr>
          <a:xfrm>
            <a:off x="548640" y="365353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63524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What you should see when it runs, checked on the PRG32-QT headless runner</a:t>
            </a:r>
            <a:endParaRPr lang="en-US" sz="2200" dirty="0"/>
          </a:p>
        </p:txBody>
      </p:sp>
      <p:sp>
        <p:nvSpPr>
          <p:cNvPr id="9" name="Text 7"/>
          <p:cNvSpPr txBox="1"/>
          <p:nvPr/>
        </p:nvSpPr>
        <p:spPr>
          <a:xfrm>
            <a:off x="548640" y="454964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53136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How to test it, step by step: on PRG32-QT, on QEMU, on the board</a:t>
            </a:r>
            <a:endParaRPr lang="en-US" sz="2200" dirty="0"/>
          </a:p>
        </p:txBody>
      </p:sp>
      <p:sp>
        <p:nvSpPr>
          <p:cNvPr id="11" name="Text 9"/>
          <p:cNvSpPr txBox="1"/>
          <p:nvPr/>
        </p:nvSpPr>
        <p:spPr>
          <a:xfrm>
            <a:off x="548640" y="54457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42747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exercises: change the program, predict, run</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Switch the kit off and on again</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350" dirty="0">
                <a:solidFill>
                  <a:srgbClr val="E6EDF2"/>
                </a:solidFill>
                <a:latin typeface="Courier New" pitchFamily="34" charset="0"/>
                <a:ea typeface="Courier New" pitchFamily="34" charset="-122"/>
                <a:cs typeface="Courier New" pitchFamily="34" charset="-120"/>
              </a:rPr>
              <a:t>.section .rodata            </a:t>
            </a:r>
            <a:pPr indent="0" marL="0">
              <a:buNone/>
            </a:pPr>
            <a:r>
              <a:rPr lang="en-US" sz="1350" dirty="0">
                <a:solidFill>
                  <a:srgbClr val="8FB3A0"/>
                </a:solidFill>
                <a:latin typeface="Courier New" pitchFamily="34" charset="0"/>
                <a:ea typeface="Courier New" pitchFamily="34" charset="-122"/>
                <a:cs typeface="Courier New" pitchFamily="34" charset="-120"/>
              </a:rPr>
              <a:t># part of the cartridge file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title: .asciz "HIGH SCORE"  </a:t>
            </a:r>
            <a:pPr indent="0" marL="0">
              <a:buNone/>
            </a:pPr>
            <a:r>
              <a:rPr lang="en-US" sz="1350" dirty="0">
                <a:solidFill>
                  <a:srgbClr val="8FB3A0"/>
                </a:solidFill>
                <a:latin typeface="Courier New" pitchFamily="34" charset="0"/>
                <a:ea typeface="Courier New" pitchFamily="34" charset="-122"/>
                <a:cs typeface="Courier New" pitchFamily="34" charset="-120"/>
              </a:rPr>
              <a:t># stored in flash: it survives</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.section .data              </a:t>
            </a:r>
            <a:pPr indent="0" marL="0">
              <a:buNone/>
            </a:pPr>
            <a:r>
              <a:rPr lang="en-US" sz="1350" dirty="0">
                <a:solidFill>
                  <a:srgbClr val="8FB3A0"/>
                </a:solidFill>
                <a:latin typeface="Courier New" pitchFamily="34" charset="0"/>
                <a:ea typeface="Courier New" pitchFamily="34" charset="-122"/>
                <a:cs typeface="Courier New" pitchFamily="34" charset="-120"/>
              </a:rPr>
              <a:t># copied into RAM at start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best:  .word 0              </a:t>
            </a:r>
            <a:pPr indent="0" marL="0">
              <a:buNone/>
            </a:pPr>
            <a:r>
              <a:rPr lang="en-US" sz="1350" dirty="0">
                <a:solidFill>
                  <a:srgbClr val="8FB3A0"/>
                </a:solidFill>
                <a:latin typeface="Courier New" pitchFamily="34" charset="0"/>
                <a:ea typeface="Courier New" pitchFamily="34" charset="-122"/>
                <a:cs typeface="Courier New" pitchFamily="34" charset="-120"/>
              </a:rPr>
              <a:t># lives in RAM: it is lost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game_update: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best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lw   t1,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ble  a0, t1, 1f         </a:t>
            </a:r>
            <a:pPr indent="0" marL="0">
              <a:buNone/>
            </a:pPr>
            <a:r>
              <a:rPr lang="en-US" sz="1350" dirty="0">
                <a:solidFill>
                  <a:srgbClr val="8FB3A0"/>
                </a:solidFill>
                <a:latin typeface="Courier New" pitchFamily="34" charset="0"/>
                <a:ea typeface="Courier New" pitchFamily="34" charset="-122"/>
                <a:cs typeface="Courier New" pitchFamily="34" charset="-120"/>
              </a:rPr>
              <a:t># new score not better: skip</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a0, 0(t0)          </a:t>
            </a:r>
            <a:pPr indent="0" marL="0">
              <a:buNone/>
            </a:pPr>
            <a:r>
              <a:rPr lang="en-US" sz="1350" dirty="0">
                <a:solidFill>
                  <a:srgbClr val="8FB3A0"/>
                </a:solidFill>
                <a:latin typeface="Courier New" pitchFamily="34" charset="0"/>
                <a:ea typeface="Courier New" pitchFamily="34" charset="-122"/>
                <a:cs typeface="Courier New" pitchFamily="34" charset="-120"/>
              </a:rPr>
              <a:t># remember the best score ... in RAM</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1:  ...</a:t>
            </a:r>
            <a:endParaRPr lang="en-US" sz="135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After a power cycle the title is still there, but the best score is 0 again</a:t>
            </a:r>
            <a:endParaRPr lang="en-US" sz="13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The cartridge is a file in flash memory: non-volatile</a:t>
            </a:r>
            <a:endParaRPr lang="en-US" sz="13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The variable lives in SRAM: volatile</a:t>
            </a:r>
            <a:endParaRPr lang="en-US" sz="13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To keep a score for ever it must be written to a permanent memory: which ones exist?</a:t>
            </a:r>
            <a:endParaRPr lang="en-US" sz="13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l16.S (1 of 4)</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250" dirty="0">
                <a:solidFill>
                  <a:srgbClr val="8FB3A0"/>
                </a:solidFill>
                <a:latin typeface="Courier New" pitchFamily="34" charset="0"/>
                <a:ea typeface="Courier New" pitchFamily="34" charset="-122"/>
                <a:cs typeface="Courier New" pitchFamily="34" charset="-120"/>
              </a:rPr>
              <a:t># ARC12 Computer Architecture - Lecture 16: Permanent Memory</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l16.S: what stays in the file and what lives in RAM</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On the screen: the title HIGH SCORE and two bars: the score of this run, which grows</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while A is held and falls back to zero when A is released, and the best score, which</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never goes down. Restart the cartridge: the title is still there, the best score is</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zero again.</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Build: python3 -m prg32 cartridge build l16.S --portable \</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--entry-prefix l16 --name l16 --out l16.prg32</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.option norelax</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BLACK,  0x0000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WHITE,  0xffff</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GREEN,  0x07e0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YELLOW, 0xffe0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.section .text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.global l16_init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.global l16_update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.global l16_draw</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l16_init: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ret</a:t>
            </a:r>
            <a:endParaRPr lang="en-US" sz="125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l16.S (2 of 4)</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400" dirty="0">
                <a:solidFill>
                  <a:srgbClr val="E6EDF2"/>
                </a:solidFill>
                <a:latin typeface="Courier New" pitchFamily="34" charset="0"/>
                <a:ea typeface="Courier New" pitchFamily="34" charset="-122"/>
                <a:cs typeface="Courier New" pitchFamily="34" charset="-120"/>
              </a:rPr>
              <a:t>l16_update: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game_update: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addi sp, sp, -16</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sw   ra, 12(sp)</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call prg32_input_read</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andi t2, a0, 0x10        </a:t>
            </a:r>
            <a:pPr indent="0" marL="0">
              <a:buNone/>
            </a:pPr>
            <a:r>
              <a:rPr lang="en-US" sz="1400" dirty="0">
                <a:solidFill>
                  <a:srgbClr val="8FB3A0"/>
                </a:solidFill>
                <a:latin typeface="Courier New" pitchFamily="34" charset="0"/>
                <a:ea typeface="Courier New" pitchFamily="34" charset="-122"/>
                <a:cs typeface="Courier New" pitchFamily="34" charset="-120"/>
              </a:rPr>
              <a:t># button A</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la   t0, score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lw   a0, 0(t0)</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addi a0, a0, 1           </a:t>
            </a:r>
            <a:pPr indent="0" marL="0">
              <a:buNone/>
            </a:pPr>
            <a:r>
              <a:rPr lang="en-US" sz="1400" dirty="0">
                <a:solidFill>
                  <a:srgbClr val="8FB3A0"/>
                </a:solidFill>
                <a:latin typeface="Courier New" pitchFamily="34" charset="0"/>
                <a:ea typeface="Courier New" pitchFamily="34" charset="-122"/>
                <a:cs typeface="Courier New" pitchFamily="34" charset="-120"/>
              </a:rPr>
              <a:t># A held: one more point per frame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bnez t2, 2f</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li   a0, 0               </a:t>
            </a:r>
            <a:pPr indent="0" marL="0">
              <a:buNone/>
            </a:pPr>
            <a:r>
              <a:rPr lang="en-US" sz="1400" dirty="0">
                <a:solidFill>
                  <a:srgbClr val="8FB3A0"/>
                </a:solidFill>
                <a:latin typeface="Courier New" pitchFamily="34" charset="0"/>
                <a:ea typeface="Courier New" pitchFamily="34" charset="-122"/>
                <a:cs typeface="Courier New" pitchFamily="34" charset="-120"/>
              </a:rPr>
              <a:t># A released: the run is over</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2:  sw   a0, 0(t0)</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la   t0, best</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lw   t1, 0(t0)</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ble  a0, t1, 1f         </a:t>
            </a:r>
            <a:pPr indent="0" marL="0">
              <a:buNone/>
            </a:pPr>
            <a:r>
              <a:rPr lang="en-US" sz="1400" dirty="0">
                <a:solidFill>
                  <a:srgbClr val="8FB3A0"/>
                </a:solidFill>
                <a:latin typeface="Courier New" pitchFamily="34" charset="0"/>
                <a:ea typeface="Courier New" pitchFamily="34" charset="-122"/>
                <a:cs typeface="Courier New" pitchFamily="34" charset="-120"/>
              </a:rPr>
              <a:t># new score not better: skip</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sw   a0, 0(t0)          </a:t>
            </a:r>
            <a:pPr indent="0" marL="0">
              <a:buNone/>
            </a:pPr>
            <a:r>
              <a:rPr lang="en-US" sz="1400" dirty="0">
                <a:solidFill>
                  <a:srgbClr val="8FB3A0"/>
                </a:solidFill>
                <a:latin typeface="Courier New" pitchFamily="34" charset="0"/>
                <a:ea typeface="Courier New" pitchFamily="34" charset="-122"/>
                <a:cs typeface="Courier New" pitchFamily="34" charset="-120"/>
              </a:rPr>
              <a:t># remember the best score ... in RAM</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1:  lw   ra, 12(sp)</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addi sp, sp, 16</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ret</a:t>
            </a:r>
            <a:endParaRPr lang="en-US" sz="14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l16.S (3 of 4)</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200" dirty="0">
                <a:solidFill>
                  <a:srgbClr val="E6EDF2"/>
                </a:solidFill>
                <a:latin typeface="Courier New" pitchFamily="34" charset="0"/>
                <a:ea typeface="Courier New" pitchFamily="34" charset="-122"/>
                <a:cs typeface="Courier New" pitchFamily="34" charset="-120"/>
              </a:rPr>
              <a:t>l16_draw:</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sp, sp, -16</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ra, 12(sp)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a0, BLACK</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prg32_gfx_clear</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a0, 20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a1, 20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a2, title           </a:t>
            </a:r>
            <a:pPr indent="0" marL="0">
              <a:buNone/>
            </a:pPr>
            <a:r>
              <a:rPr lang="en-US" sz="1200" dirty="0">
                <a:solidFill>
                  <a:srgbClr val="8FB3A0"/>
                </a:solidFill>
                <a:latin typeface="Courier New" pitchFamily="34" charset="0"/>
                <a:ea typeface="Courier New" pitchFamily="34" charset="-122"/>
                <a:cs typeface="Courier New" pitchFamily="34" charset="-120"/>
              </a:rPr>
              <a:t># read from .rodata: it is always there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a3, WHITE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a4, BLACK</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prg32_gfx_text8</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score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a2, 0(t0)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andi a2, a2, 255         </a:t>
            </a:r>
            <a:pPr indent="0" marL="0">
              <a:buNone/>
            </a:pPr>
            <a:r>
              <a:rPr lang="en-US" sz="1200" dirty="0">
                <a:solidFill>
                  <a:srgbClr val="8FB3A0"/>
                </a:solidFill>
                <a:latin typeface="Courier New" pitchFamily="34" charset="0"/>
                <a:ea typeface="Courier New" pitchFamily="34" charset="-122"/>
                <a:cs typeface="Courier New" pitchFamily="34" charset="-120"/>
              </a:rPr>
              <a:t># width = score, at most 255 pixels</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a0, 20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a1, 60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a3, 12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a4, GREEN</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prg32_gfx_rect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best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a2, 0(t0)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andi a2, a2, 255</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a0, 20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a1, 100</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l16.S (4 of 4)</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    li   a3, 12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a4, YELLOW</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prg32_gfx_rect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.section .rodata            </a:t>
            </a:r>
            <a:pPr indent="0" marL="0">
              <a:buNone/>
            </a:pPr>
            <a:r>
              <a:rPr lang="en-US" sz="1800" dirty="0">
                <a:solidFill>
                  <a:srgbClr val="8FB3A0"/>
                </a:solidFill>
                <a:latin typeface="Courier New" pitchFamily="34" charset="0"/>
                <a:ea typeface="Courier New" pitchFamily="34" charset="-122"/>
                <a:cs typeface="Courier New" pitchFamily="34" charset="-120"/>
              </a:rPr>
              <a:t># part of the cartridge file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title: .asciz "HIGH SCORE"  </a:t>
            </a:r>
            <a:pPr indent="0" marL="0">
              <a:buNone/>
            </a:pPr>
            <a:r>
              <a:rPr lang="en-US" sz="1800" dirty="0">
                <a:solidFill>
                  <a:srgbClr val="8FB3A0"/>
                </a:solidFill>
                <a:latin typeface="Courier New" pitchFamily="34" charset="0"/>
                <a:ea typeface="Courier New" pitchFamily="34" charset="-122"/>
                <a:cs typeface="Courier New" pitchFamily="34" charset="-120"/>
              </a:rPr>
              <a:t># stored in flash: it survives</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.section .data              </a:t>
            </a:r>
            <a:pPr indent="0" marL="0">
              <a:buNone/>
            </a:pPr>
            <a:r>
              <a:rPr lang="en-US" sz="1800" dirty="0">
                <a:solidFill>
                  <a:srgbClr val="8FB3A0"/>
                </a:solidFill>
                <a:latin typeface="Courier New" pitchFamily="34" charset="0"/>
                <a:ea typeface="Courier New" pitchFamily="34" charset="-122"/>
                <a:cs typeface="Courier New" pitchFamily="34" charset="-120"/>
              </a:rPr>
              <a:t># copied into RAM at start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best:  .word 0              </a:t>
            </a:r>
            <a:pPr indent="0" marL="0">
              <a:buNone/>
            </a:pPr>
            <a:r>
              <a:rPr lang="en-US" sz="1800" dirty="0">
                <a:solidFill>
                  <a:srgbClr val="8FB3A0"/>
                </a:solidFill>
                <a:latin typeface="Courier New" pitchFamily="34" charset="0"/>
                <a:ea typeface="Courier New" pitchFamily="34" charset="-122"/>
                <a:cs typeface="Courier New" pitchFamily="34" charset="-120"/>
              </a:rPr>
              <a:t># lives in RAM: it is lost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score: .word 0</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what you should see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2686050"/>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On the screen</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the title HIGH SCORE and two bars: the score of this run, which grows while A is held and falls back to zero when A is released, and the best score, which never goes down. Restart the cartridge: the title is still there, the best score is zero again.</a:t>
            </a:r>
            <a:endParaRPr lang="en-US" sz="2400" dirty="0"/>
          </a:p>
        </p:txBody>
      </p:sp>
      <p:sp>
        <p:nvSpPr>
          <p:cNvPr id="5" name="Shape 3"/>
          <p:cNvSpPr/>
          <p:nvPr/>
        </p:nvSpPr>
        <p:spPr>
          <a:xfrm>
            <a:off x="548640" y="4865370"/>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4743450"/>
            <a:ext cx="5468112" cy="1059180"/>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What to press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hold A, release it, then restart the cartridge</a:t>
            </a:r>
            <a:endParaRPr lang="en-US" sz="2400" dirty="0"/>
          </a:p>
        </p:txBody>
      </p:sp>
      <p:pic>
        <p:nvPicPr>
          <p:cNvPr id="7" name="Image 0" descr="/Users/raffaelemontella/devel/riscv-prg32/computer-architecture-with-prg32/tools/assets/lab_l16.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frame written by the automatic test on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~/arc12/code/l16.S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l16 --name l16 --out l16.prg32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l16.prg32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must be running: it answers on port 8080, like a board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Build once, from the PRG32 folder, with ESP-IDF active in the terminal</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stores the cartridge in slot cart0 and starts 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Enable debug mode in Settings to stop the program and read registers and memory</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~/arc12/code/l16.S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l16 --name l16 --architecture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l16-qemu.prg32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l16-qemu.prg32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emulator runs the real firmware on an emulated chip: build it once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cartridge is built for the architecture qemu: the same source, another file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Stage the cartridge with QEMU closed, then start it and choose Run Cartridge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keys go to the terminal: arrows or WASD, Z or J for A, X or K for B</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the board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~/arc12/code/l16.S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l16 --name l16 --architecture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l16-esp32c6.prg32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l16-esp32c6.prg32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firmware is written once per board, through the USB cable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board creates the Wi-Fi network PRG32: join it with your computer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upload command as for PRG32-QT, with the address of the board</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black screen: check the wiring of the display against the firmware</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If it does not work</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You see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It means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Do this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missing entry point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prefix is not the one in the source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l16; check the three .global lines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is not active in this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run export.sh, or open the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host is not listening at that address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start PRG32-QT; use the address on its Setup screen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 black screen, or the menu again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 function does not return, or ra was not saved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debug mode: step through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ignores the keys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keyboard goes to the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click the terminal that launched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Exercises</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438912"/>
          </a:xfrm>
          <a:prstGeom prst="rect">
            <a:avLst/>
          </a:prstGeom>
          <a:noFill/>
          <a:ln/>
        </p:spPr>
        <p:txBody>
          <a:bodyPr wrap="square" lIns="0" tIns="0" rIns="0" bIns="0" rtlCol="0" anchor="ctr"/>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A disk turns at 7,200 revolutions per minute: what is its average latency?</a:t>
            </a:r>
            <a:endParaRPr lang="en-US" sz="2000" dirty="0"/>
          </a:p>
        </p:txBody>
      </p:sp>
      <p:sp>
        <p:nvSpPr>
          <p:cNvPr id="6" name="Text 4"/>
          <p:cNvSpPr txBox="1"/>
          <p:nvPr/>
        </p:nvSpPr>
        <p:spPr>
          <a:xfrm>
            <a:off x="548640" y="201371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1995424"/>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A cache answers in 1 ns and the memory in 50 ns: what is the average access time with 95% of hits?</a:t>
            </a:r>
            <a:endParaRPr lang="en-US" sz="2000" dirty="0"/>
          </a:p>
        </p:txBody>
      </p:sp>
      <p:sp>
        <p:nvSpPr>
          <p:cNvPr id="8" name="Text 6"/>
          <p:cNvSpPr txBox="1"/>
          <p:nvPr/>
        </p:nvSpPr>
        <p:spPr>
          <a:xfrm>
            <a:off x="548640" y="277266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754376"/>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List where each of these lives on the PRG32 kit: the boot code, the firmware, a cartridge, the variable counter, the register t0</a:t>
            </a:r>
            <a:endParaRPr lang="en-US" sz="2000" dirty="0"/>
          </a:p>
        </p:txBody>
      </p:sp>
      <p:sp>
        <p:nvSpPr>
          <p:cNvPr id="10" name="Text 8"/>
          <p:cNvSpPr txBox="1"/>
          <p:nvPr/>
        </p:nvSpPr>
        <p:spPr>
          <a:xfrm>
            <a:off x="548640" y="35316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513328"/>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Find the specifications of the storage of your laptop or phone: technology, capacity, interface</a:t>
            </a:r>
            <a:endParaRPr lang="en-US" sz="2000" dirty="0"/>
          </a:p>
        </p:txBody>
      </p:sp>
      <p:sp>
        <p:nvSpPr>
          <p:cNvPr id="12" name="Text 10"/>
          <p:cNvSpPr txBox="1"/>
          <p:nvPr/>
        </p:nvSpPr>
        <p:spPr>
          <a:xfrm>
            <a:off x="548640" y="429056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272280"/>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On PRG32, time two loops that sum a large array: one in order, one jumping by a large step. Is there a difference, and why might there not be on this chip?</a:t>
            </a:r>
            <a:endParaRPr lang="en-US" sz="20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Latency: half a revolution, about 4.2 ms. Average access time: 0.95 x 1 + 0.05 x 51 = 3.5 ns.</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Permanent Memory: the code</dc:title>
  <dc:subject>Lecture 16</dc:subject>
  <dc:creator>Raffaele Montella</dc:creator>
  <cp:lastModifiedBy>Raffaele Montella</cp:lastModifiedBy>
  <cp:revision>1</cp:revision>
  <dcterms:created xsi:type="dcterms:W3CDTF">2026-10-13T08:56:24Z</dcterms:created>
  <dcterms:modified xsi:type="dcterms:W3CDTF">2026-10-13T08:56:24Z</dcterms:modified>
</cp:coreProperties>
</file>