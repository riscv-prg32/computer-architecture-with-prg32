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0a617e2-2c7a-59db-29fe-c6f9b01ab34a}">
          <p14:sldIdLst>
            <p14:sldId id="256"/>
            <p14:sldId id="257"/>
          </p14:sldIdLst>
        </p14:section>
        <p14:section name="The complete program" id="{3cd3e995-9102-ae3b-6e20-36bded5ffb5d}">
          <p14:sldIdLst>
            <p14:sldId id="258"/>
            <p14:sldId id="259"/>
            <p14:sldId id="260"/>
            <p14:sldId id="261"/>
            <p14:sldId id="262"/>
          </p14:sldIdLst>
        </p14:section>
        <p14:section name="Run it and test it" id="{5d197043-a1f0-73a1-76e3-30cd1b3ec462}">
          <p14:sldIdLst>
            <p14:sldId id="263"/>
            <p14:sldId id="264"/>
            <p14:sldId id="265"/>
            <p14:sldId id="266"/>
            <p14:sldId id="267"/>
          </p14:sldIdLst>
        </p14:section>
        <p14:section name="Exercises" id="{a0b6ae2d-06e9-a9a6-cbef-9d5e62d4cd10}">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03.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what informatics is; the von Neumann architecture; RISC and an open ISA. USE NOW: the complete program, the PRG32 tools (used, not studied, in this course). UNDERSTAND LATER: Boolean algebra (Lecture 08).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~/arc12/code/l03.S; tools/tests/cartridges/run.py builds it, runs it on PRG32-QT with scripted input and checks the pixels of the frame.
For the lecturer: Get the code once: git clone https://github.com/riscv-prg32/computer-architecture-with-prg32 ~/arc12. The program of this lecture is ~/arc12/code/l03.S;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exercises, moving from paper to the machine. The first asks the student to draw the four units of the von Neumann architecture and to assign to each an element of the program of Lecture 02; it tests whether the architecture has become a working model rather than an abstract diagram. The second asks for six inventions to be classified as means of representing information or of prescribing operations; the stored program is the instructive case, since it unifies the two categories by representing the prescription itself. The third is experimental: the counters of the debugger are used to compare the number of instructions that two games execute per frame, a first quantitative look at the cost of a program.
For the lecturer: Representing: abacus, Pascaline (digits as wheel positions), Boole's algebra. Prescribing: the Jacquard loom, the cards of the Analytical Engine, the stored program, which unifies the two: a program is itself represented information. The third exercise has no fixed answer: the counters depend on the game and on the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03: History of computing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03</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History of Computing: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03-Computer_Architecture-History_of_Computing.pptx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spaceinvaders.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 listing in Lecture 03: this deck gives you the program to run</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code/l03.S, 94 lines, printed in full</a:t>
            </a:r>
            <a:endParaRPr lang="en-US" sz="2200" dirty="0"/>
          </a:p>
        </p:txBody>
      </p:sp>
      <p:sp>
        <p:nvSpPr>
          <p:cNvPr id="7" name="Text 5"/>
          <p:cNvSpPr txBox="1"/>
          <p:nvPr/>
        </p:nvSpPr>
        <p:spPr>
          <a:xfrm>
            <a:off x="548640" y="3410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924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3068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2885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2029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1846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l03.S (1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03: History of Computing</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l03.S: the stored program: a program that reads one of its own instructions as data</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a row of 32 lamps showing 0x00130313, the machine code of addi t1,</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t1, 1, and a green square: the word read is the one expected.</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l03.S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l03 --name l03 --out l03.prg32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GREY,   0x4208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YELLOW, 0xffe0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GREEN,  0x07e0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RED,    0xf800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l03_init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l03_update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l03_draw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l03_init: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l03.S (2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750" dirty="0">
                <a:solidFill>
                  <a:srgbClr val="E6EDF2"/>
                </a:solidFill>
                <a:latin typeface="Courier New" pitchFamily="34" charset="0"/>
                <a:ea typeface="Courier New" pitchFamily="34" charset="-122"/>
                <a:cs typeface="Courier New" pitchFamily="34" charset="-120"/>
              </a:rPr>
              <a:t>l03_update:</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ret</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8FB3A0"/>
                </a:solidFill>
                <a:latin typeface="Courier New" pitchFamily="34" charset="0"/>
                <a:ea typeface="Courier New" pitchFamily="34" charset="-122"/>
                <a:cs typeface="Courier New" pitchFamily="34" charset="-120"/>
              </a:rPr>
              <a:t># One instruction of the program.  For von Neumann's machine it is a number in</a:t>
            </a:r>
            <a:endParaRPr lang="en-US" sz="1750" dirty="0"/>
          </a:p>
          <a:p>
            <a:pPr indent="0" marL="0">
              <a:buNone/>
            </a:pPr>
            <a:r>
              <a:rPr lang="en-US" sz="1750" dirty="0">
                <a:solidFill>
                  <a:srgbClr val="8FB3A0"/>
                </a:solidFill>
                <a:latin typeface="Courier New" pitchFamily="34" charset="0"/>
                <a:ea typeface="Courier New" pitchFamily="34" charset="-122"/>
                <a:cs typeface="Courier New" pitchFamily="34" charset="-120"/>
              </a:rPr>
              <a:t># the same memory as the data: the program can load it like any other word.</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.option push</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.option norvc                </a:t>
            </a:r>
            <a:pPr indent="0" marL="0">
              <a:buNone/>
            </a:pPr>
            <a:r>
              <a:rPr lang="en-US" sz="1750" dirty="0">
                <a:solidFill>
                  <a:srgbClr val="8FB3A0"/>
                </a:solidFill>
                <a:latin typeface="Courier New" pitchFamily="34" charset="0"/>
                <a:ea typeface="Courier New" pitchFamily="34" charset="-122"/>
                <a:cs typeface="Courier New" pitchFamily="34" charset="-120"/>
              </a:rPr>
              <a:t># keep it 32 bits long: no compressed form</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specimen:</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addi t1, t1, 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.option pop</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ret</a:t>
            </a:r>
            <a:endParaRPr lang="en-US" sz="17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l03.S (3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l03_draw: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specimen        </a:t>
            </a:r>
            <a:pPr indent="0" marL="0">
              <a:buNone/>
            </a:pPr>
            <a:r>
              <a:rPr lang="en-US" sz="1200" dirty="0">
                <a:solidFill>
                  <a:srgbClr val="8FB3A0"/>
                </a:solidFill>
                <a:latin typeface="Courier New" pitchFamily="34" charset="0"/>
                <a:ea typeface="Courier New" pitchFamily="34" charset="-122"/>
                <a:cs typeface="Courier New" pitchFamily="34" charset="-120"/>
              </a:rPr>
              <a:t># the ADDRESS of an instruction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s0, 0(t0)           </a:t>
            </a:r>
            <a:pPr indent="0" marL="0">
              <a:buNone/>
            </a:pPr>
            <a:r>
              <a:rPr lang="en-US" sz="1200" dirty="0">
                <a:solidFill>
                  <a:srgbClr val="8FB3A0"/>
                </a:solidFill>
                <a:latin typeface="Courier New" pitchFamily="34" charset="0"/>
                <a:ea typeface="Courier New" pitchFamily="34" charset="-122"/>
                <a:cs typeface="Courier New" pitchFamily="34" charset="-120"/>
              </a:rPr>
              <a:t># ... and the instruction, read as DATA</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a0,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60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lamps32             </a:t>
            </a:r>
            <a:pPr indent="0" marL="0">
              <a:buNone/>
            </a:pPr>
            <a:r>
              <a:rPr lang="en-US" sz="1200" dirty="0">
                <a:solidFill>
                  <a:srgbClr val="8FB3A0"/>
                </a:solidFill>
                <a:latin typeface="Courier New" pitchFamily="34" charset="0"/>
                <a:ea typeface="Courier New" pitchFamily="34" charset="-122"/>
                <a:cs typeface="Courier New" pitchFamily="34" charset="-120"/>
              </a:rPr>
              <a:t># show its 32 bits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0x00130313      </a:t>
            </a:r>
            <a:pPr indent="0" marL="0">
              <a:buNone/>
            </a:pPr>
            <a:r>
              <a:rPr lang="en-US" sz="1200" dirty="0">
                <a:solidFill>
                  <a:srgbClr val="8FB3A0"/>
                </a:solidFill>
                <a:latin typeface="Courier New" pitchFamily="34" charset="0"/>
                <a:ea typeface="Courier New" pitchFamily="34" charset="-122"/>
                <a:cs typeface="Courier New" pitchFamily="34" charset="-120"/>
              </a:rPr>
              <a:t># what the assembler should have produced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RED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s0, t0,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GREEN           </a:t>
            </a:r>
            <a:pPr indent="0" marL="0">
              <a:buNone/>
            </a:pPr>
            <a:r>
              <a:rPr lang="en-US" sz="1200" dirty="0">
                <a:solidFill>
                  <a:srgbClr val="8FB3A0"/>
                </a:solidFill>
                <a:latin typeface="Courier New" pitchFamily="34" charset="0"/>
                <a:ea typeface="Courier New" pitchFamily="34" charset="-122"/>
                <a:cs typeface="Courier New" pitchFamily="34" charset="-120"/>
              </a:rPr>
              <a:t># equal: instructions are numbers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a0, 152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100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ret</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l03.S (4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l03.S (5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row of 32 lamps showing 0x00130313, the machine code of addi t1, t1, 1, and a green square: the word read is the one expected.</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3.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l03 --name l03 --out l03.prg32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l03.prg32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l03 --name l03 --architecture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l03-qemu.prg32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l03-qemu.prg32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l03 --name l03 --architecture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l03-esp32c6.prg32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l03-esp32c6.prg32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l03;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Draw the four units of the von Neumann architecture and write, inside each, one thing of the program of Lecture 02 that lives or happens there</a:t>
            </a:r>
            <a:endParaRPr lang="en-US" sz="2200" dirty="0"/>
          </a:p>
        </p:txBody>
      </p:sp>
      <p:sp>
        <p:nvSpPr>
          <p:cNvPr id="6" name="Text 4"/>
          <p:cNvSpPr txBox="1"/>
          <p:nvPr/>
        </p:nvSpPr>
        <p:spPr>
          <a:xfrm>
            <a:off x="548640" y="232079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02510"/>
            <a:ext cx="10436047" cy="136347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For each of these, say whether it is a new way of representing information or of prescribing operations: the abacus, the Jacquard loom, the Pascaline, Boole's algebra, the punched cards of the Analytical Engine, the stored program</a:t>
            </a:r>
            <a:endParaRPr lang="en-US" sz="2200" dirty="0"/>
          </a:p>
        </p:txBody>
      </p:sp>
      <p:sp>
        <p:nvSpPr>
          <p:cNvPr id="8" name="Text 6"/>
          <p:cNvSpPr txBox="1"/>
          <p:nvPr/>
        </p:nvSpPr>
        <p:spPr>
          <a:xfrm>
            <a:off x="548640" y="38877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869436"/>
            <a:ext cx="10436047"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Download two of the four retro games from the Store, or build them from examples/games; with the counters of the debugger find how many instructions each executes per frame, and compare</a:t>
            </a:r>
            <a:endParaRPr lang="en-US" sz="2200" dirty="0"/>
          </a:p>
        </p:txBody>
      </p:sp>
      <p:sp>
        <p:nvSpPr>
          <p:cNvPr id="10" name="Shape 8"/>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1" name="Text 9"/>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2" name="Text 10"/>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Registers and ALU: addi executed. Memory: counter and the instructions themselves. Control unit: the fetch of each instruction. Input/output: the bar on the screen.</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History of Computing: the code</dc:title>
  <dc:subject>Lecture 03</dc:subject>
  <dc:creator>Raffaele Montella</dc:creator>
  <cp:lastModifiedBy>Raffaele Montella</cp:lastModifiedBy>
  <cp:revision>1</cp:revision>
  <dcterms:created xsi:type="dcterms:W3CDTF">2026-10-16T23:36:43Z</dcterms:created>
  <dcterms:modified xsi:type="dcterms:W3CDTF">2026-10-16T23:36:43Z</dcterms:modified>
</cp:coreProperties>
</file>