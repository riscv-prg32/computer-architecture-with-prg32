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db4582f-d8b8-9bae-2988-ae906c58fb61}">
          <p14:sldIdLst>
            <p14:sldId id="256"/>
            <p14:sldId id="257"/>
          </p14:sldIdLst>
        </p14:section>
        <p14:section name="Your first cartridge" id="{4bd5735b-925a-6c08-b2b4-950601150254}">
          <p14:sldIdLst>
            <p14:sldId id="258"/>
            <p14:sldId id="259"/>
            <p14:sldId id="260"/>
            <p14:sldId id="261"/>
            <p14:sldId id="262"/>
          </p14:sldIdLst>
        </p14:section>
        <p14:section name="The complete program" id="{0681f12c-1b00-7e6a-f97f-48981f2cab88}">
          <p14:sldIdLst>
            <p14:sldId id="263"/>
            <p14:sldId id="264"/>
            <p14:sldId id="265"/>
          </p14:sldIdLst>
        </p14:section>
        <p14:section name="Run it and test it" id="{0d2db44f-3f56-5e42-13af-6781a2355993}">
          <p14:sldIdLst>
            <p14:sldId id="266"/>
            <p14:sldId id="267"/>
            <p14:sldId id="268"/>
            <p14:sldId id="269"/>
            <p14:sldId id="270"/>
          </p14:sldIdLst>
        </p14:section>
        <p14:section name="Exercises" id="{43dfddae-162d-3ff9-f251-365bd77b5a15}">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02.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registers, compute, move, jump; registers; the init, update, draw contract; arguments in a0 to a7; why ra is saved; address, value, load, store; the base instructions; pseudo-instructions; an instruction is a number; tracing by hand. USE NOW: the calling convention (Lecture 18); bit masks (Lecture 08) and, used without being studied in this course, the assembler directives, the PRG32 tools, the PRG32 runtime calls, the PRG32-QT debugger, the complete program. UNDERSTAND LATER: the stack (Lecture 18); addressing modes (Lecture 19); instruction formats (Lecture 19); hexadecimal (Lecture 04); two's complement (Lecture 05); fixed point (Lecture 06); Boolean algebra (Lecture 08); the adder (Lecture 09); from volts to bits (Lecture 10); latches and flip-flops (Lecture 13); the processor cycle (Lecture 19); the Verm1 project (Lecture 07).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~/arc12/code/l02.S; tools/tests/cartridges/run.py builds it, runs it on PRG32-QT with scripted input and checks the pixels of the frame.
For the lecturer: Get the code once: git clone https://github.com/riscv-prg32/computer-architecture-with-prg32 ~/arc12. The program of this lecture is ~/arc12/code/l02.S;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program that runs. .option norelax, with which every PRG32 example begins, keeps the layout of the cartridge predictable by preventing the linker from rewriting instruction sequences. .section .text declares that executable code follows. Each .global exports a label beyond the file, so that the firmware can locate the function by name. Then come three functions, each consisting of the single instruction ret, which returns control to the caller. The result is a black screen, and it is a success: the framework has found the three entry points, invoked them, and regained control. These directives are used as given; the course does not study the assembler itself.
USE NOW: the assembler directives (used, not studied, in this course).
For the lecturer: Source: labs/05-asm-first-contact/step1_skeleton.S. Expected result: a black screen. The achievement is that the framework found the three functions, called them, and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that will be typed hundreds of times. cartridge build turns the assembly file into a cartridge: --entry-prefix first gives the prefix of the three entry points, --out the name of the output. The cartridge is then executed: in QEMU with qemu upload followed by qemu run, or on a board or on PRG32-QT with upload-and-run and the address of the host, which for PRG32-QT on the student's own laptop is http://localhost:8080. The same cartridge file serves all three hosts.
USE NOW: the PRG32 tools (used, not studied, in this course).
For the lecturer: Source: labs/run.sh. With PRG32_HOME set, the whole sequence is: labs/run.sh 05-asm-first-contact/step1_skeleton.S first . The cartridge file is byte-for-byte the same for QEMU, the board and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step writes to the screen. first_draw is best read in three parts. The first two lines open a stack frame and save ra, because the function is about to make calls. Two calls follow: prg32_gfx_clear, with the colour in a0, and prg32_gfx_text8, with five arguments in a0 to a4: x, y, the address of the string, foreground colour and background colour. The two ways of loading a register should be distinguished: li loads a numerical constant, la the address of a label. The last three lines restore ra, release the frame and return. The string itself is data, placed in the read-only section .rodata.
UNDERSTAND NOW: arguments in a0 to a7. USE NOW: the PRG32 runtime calls (used, not studied, in this course).
For the lecturer: Source: labs/05-asm-first-contact/step2_hello.S. The .equ lines (BLACK 0x0000, WHITE 0xffff) are omitted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 preserves a value from one frame to the next. Registers do not retain their contents between successive invocations of update, so the value must reside in memory. counter is a label naming a location in the .data section that holds one word. The four instructions constitute the pattern underlying every variable: la places the address of the location in t0; lw loads the value into t1; addi modifies it; sw writes it back. Load, modify, store: the defining idiom of a load-store architecture. Nothing changes on the screen yet: the counter advances, but nothing draws it.
UNDERSTAND NOW: address, value, load, store.
For the lecturer: Source: labs/05-asm-first-contact/step3_counter.S. Nothing visible changes yet: the counter ticks but nobody draws it. Ask the class how they could prove that it is ticking (answer: the debugger of PRG32-QT, or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step renders the counter visible as a green bar. The value is loaded, and andi a2, t1, 255 retains only its eight least significant bits, so the width runs from 0 to 255 and then begins again. The remaining registers carry the arguments of prg32_gfx_rect: x, y, width, height and colour. These eight lines contain the seeds of three later lectures: 255 written as 0xFF (positional notation, Lecture 04), andi used as a mask (Boolean algebra, Lecture 08), and 0x07e0 denoting green (the encoding of colour, Lecture 04). It is worth remembering where each was first encountered.
USE NOW: bit masks (studied in Lecture 08).
For the lecturer: Source: labs/05-asm-first-contact/step4_bar.S (the lines added to first_draw). Three future lectures hide in these eight lines: 255 = 0xFF (positional notation), andi as a bit mask (Boolean algebra), 0x07e0 as a colour (information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on the student's own cartridge, each the seed of a later lecture. Change the text and its colour. Make the bar grow two or four times as fast by modifying a single instruction. Make it shrink, and observe what happens when the counter passes zero: the bar jumps to its full width, a phenomenon that Lecture 05 explains through two's complement. Single-step first_update and record the registers after each instruction. Draw a second bar whose width is the counter modulo 64. In every case the outcome should be predicted before the program is run.
For the lecturer: Hints: addi t1, t1, 2 or slli before andi for exercise 2; addi t1, t1, -1 for exercise 3; andi a2, t1, 63 for exercise 5. Each exercise is a seed for a later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02: First contact with RISC-V assembly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First Contact: RISC‑V Assembly on PRG32: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02-Computer_Architecture-First_Contact_with_RISC-V_Assembly.pptx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5 listings of Lecture 02,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code/l02.S, 60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1: the smallest program that runs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Assembly Lab 1: the smallest program that runs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.option norelax keeps the layout of the cartridge predictable: every PRG32 example starts with 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.section .text says that what follows is executable code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.global makes a label visible to the firmware, which finds your functions by name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ret returns to the caller: three functions that do nothing, correctly</a:t>
            </a:r>
            <a:endParaRPr lang="en-US" sz="1200" dirty="0"/>
          </a:p>
        </p:txBody>
      </p:sp>
      <p:sp>
        <p:nvSpPr>
          <p:cNvPr id="17" name="Shape 15"/>
          <p:cNvSpPr/>
          <p:nvPr/>
        </p:nvSpPr>
        <p:spPr>
          <a:xfrm>
            <a:off x="8697036" y="91440"/>
            <a:ext cx="2946019" cy="274320"/>
          </a:xfrm>
          <a:prstGeom prst="rect">
            <a:avLst/>
          </a:prstGeom>
          <a:solidFill>
            <a:srgbClr val="FEF3C7"/>
          </a:solidFill>
          <a:ln w="12700">
            <a:solidFill>
              <a:srgbClr val="B45309"/>
            </a:solidFill>
            <a:prstDash val="solid"/>
          </a:ln>
        </p:spPr>
      </p:sp>
      <p:sp>
        <p:nvSpPr>
          <p:cNvPr id="18" name="Shape 16"/>
          <p:cNvSpPr/>
          <p:nvPr/>
        </p:nvSpPr>
        <p:spPr>
          <a:xfrm>
            <a:off x="8697036" y="91440"/>
            <a:ext cx="27432" cy="274320"/>
          </a:xfrm>
          <a:prstGeom prst="rect">
            <a:avLst/>
          </a:prstGeom>
          <a:solidFill>
            <a:srgbClr val="B45309"/>
          </a:solidFill>
          <a:ln w="12700">
            <a:solidFill>
              <a:srgbClr val="B45309"/>
            </a:solidFill>
            <a:prstDash val="solid"/>
          </a:ln>
        </p:spPr>
      </p:sp>
      <p:sp>
        <p:nvSpPr>
          <p:cNvPr id="19" name="Shape 17"/>
          <p:cNvSpPr/>
          <p:nvPr/>
        </p:nvSpPr>
        <p:spPr>
          <a:xfrm>
            <a:off x="8751900"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825052" y="128016"/>
            <a:ext cx="201168" cy="201168"/>
          </a:xfrm>
          <a:prstGeom prst="rect">
            <a:avLst/>
          </a:prstGeom>
        </p:spPr>
      </p:pic>
      <p:sp>
        <p:nvSpPr>
          <p:cNvPr id="21" name="Text 18"/>
          <p:cNvSpPr txBox="1"/>
          <p:nvPr/>
        </p:nvSpPr>
        <p:spPr>
          <a:xfrm>
            <a:off x="9081084" y="91440"/>
            <a:ext cx="2525395"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assembler directives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it, run it</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a portable cartridge from one assembly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step1_skeleton.S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first --name step1 --out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2a. run it in QEMU on your laptop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upload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run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2b. or send it to a board, or to PRG32-QT, over the network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build/step1.prg32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http://192.168.4.1 --slot cart0</a:t>
            </a:r>
            <a:endParaRPr lang="en-US" sz="1800" dirty="0"/>
          </a:p>
        </p:txBody>
      </p:sp>
      <p:sp>
        <p:nvSpPr>
          <p:cNvPr id="5" name="Shape 3"/>
          <p:cNvSpPr/>
          <p:nvPr/>
        </p:nvSpPr>
        <p:spPr>
          <a:xfrm>
            <a:off x="9287967" y="91440"/>
            <a:ext cx="2355088" cy="274320"/>
          </a:xfrm>
          <a:prstGeom prst="rect">
            <a:avLst/>
          </a:prstGeom>
          <a:solidFill>
            <a:srgbClr val="FEF3C7"/>
          </a:solidFill>
          <a:ln w="12700">
            <a:solidFill>
              <a:srgbClr val="B45309"/>
            </a:solidFill>
            <a:prstDash val="solid"/>
          </a:ln>
        </p:spPr>
      </p:sp>
      <p:sp>
        <p:nvSpPr>
          <p:cNvPr id="6" name="Shape 4"/>
          <p:cNvSpPr/>
          <p:nvPr/>
        </p:nvSpPr>
        <p:spPr>
          <a:xfrm>
            <a:off x="9287967" y="91440"/>
            <a:ext cx="27432" cy="274320"/>
          </a:xfrm>
          <a:prstGeom prst="rect">
            <a:avLst/>
          </a:prstGeom>
          <a:solidFill>
            <a:srgbClr val="B45309"/>
          </a:solidFill>
          <a:ln w="12700">
            <a:solidFill>
              <a:srgbClr val="B45309"/>
            </a:solidFill>
            <a:prstDash val="solid"/>
          </a:ln>
        </p:spPr>
      </p:sp>
      <p:sp>
        <p:nvSpPr>
          <p:cNvPr id="7" name="Shape 5"/>
          <p:cNvSpPr/>
          <p:nvPr/>
        </p:nvSpPr>
        <p:spPr>
          <a:xfrm>
            <a:off x="9342831"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9" name="Text 6"/>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2: say hello</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first_draw: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prologue: a 16-byte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       </a:t>
            </a:r>
            <a:pPr indent="0" marL="0">
              <a:buNone/>
            </a:pPr>
            <a:r>
              <a:rPr lang="en-US" sz="1350" dirty="0">
                <a:solidFill>
                  <a:srgbClr val="8FB3A0"/>
                </a:solidFill>
                <a:latin typeface="Courier New" pitchFamily="34" charset="0"/>
                <a:ea typeface="Courier New" pitchFamily="34" charset="-122"/>
                <a:cs typeface="Courier New" pitchFamily="34" charset="-120"/>
              </a:rPr>
              <a:t># save the return address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32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40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a2, title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the string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WHITE        </a:t>
            </a:r>
            <a:pPr indent="0" marL="0">
              <a:buNone/>
            </a:pPr>
            <a:r>
              <a:rPr lang="en-US" sz="1350" dirty="0">
                <a:solidFill>
                  <a:srgbClr val="8FB3A0"/>
                </a:solidFill>
                <a:latin typeface="Courier New" pitchFamily="34" charset="0"/>
                <a:ea typeface="Courier New" pitchFamily="34" charset="-122"/>
                <a:cs typeface="Courier New" pitchFamily="34" charset="-120"/>
              </a:rPr>
              <a:t># foreground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BLACK        </a:t>
            </a:r>
            <a:pPr indent="0" marL="0">
              <a:buNone/>
            </a:pPr>
            <a:r>
              <a:rPr lang="en-US" sz="1350" dirty="0">
                <a:solidFill>
                  <a:srgbClr val="8FB3A0"/>
                </a:solidFill>
                <a:latin typeface="Courier New" pitchFamily="34" charset="0"/>
                <a:ea typeface="Courier New" pitchFamily="34" charset="-122"/>
                <a:cs typeface="Courier New" pitchFamily="34" charset="-120"/>
              </a:rPr>
              <a:t># background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prg32_gfx_text8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epilogue: restore ra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release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.rodata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.asciz "HELLO PRG32"</a:t>
            </a:r>
            <a:endParaRPr lang="en-US" sz="13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2_hello.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argument goes in a0, the second in a1, and so on. li loads a number; la loads the address of a label.</a:t>
            </a:r>
            <a:endParaRPr lang="en-US" sz="1700" dirty="0"/>
          </a:p>
        </p:txBody>
      </p:sp>
      <p:sp>
        <p:nvSpPr>
          <p:cNvPr id="10" name="Shape 7"/>
          <p:cNvSpPr/>
          <p:nvPr/>
        </p:nvSpPr>
        <p:spPr>
          <a:xfrm>
            <a:off x="8762695" y="91440"/>
            <a:ext cx="2880360" cy="274320"/>
          </a:xfrm>
          <a:prstGeom prst="rect">
            <a:avLst/>
          </a:prstGeom>
          <a:solidFill>
            <a:srgbClr val="FEF3C7"/>
          </a:solidFill>
          <a:ln w="12700">
            <a:solidFill>
              <a:srgbClr val="B45309"/>
            </a:solidFill>
            <a:prstDash val="solid"/>
          </a:ln>
        </p:spPr>
      </p:sp>
      <p:sp>
        <p:nvSpPr>
          <p:cNvPr id="11" name="Shape 8"/>
          <p:cNvSpPr/>
          <p:nvPr/>
        </p:nvSpPr>
        <p:spPr>
          <a:xfrm>
            <a:off x="8762695" y="91440"/>
            <a:ext cx="27432" cy="274320"/>
          </a:xfrm>
          <a:prstGeom prst="rect">
            <a:avLst/>
          </a:prstGeom>
          <a:solidFill>
            <a:srgbClr val="B45309"/>
          </a:solidFill>
          <a:ln w="12700">
            <a:solidFill>
              <a:srgbClr val="B45309"/>
            </a:solidFill>
            <a:prstDash val="solid"/>
          </a:ln>
        </p:spPr>
      </p:sp>
      <p:sp>
        <p:nvSpPr>
          <p:cNvPr id="12" name="Shape 9"/>
          <p:cNvSpPr/>
          <p:nvPr/>
        </p:nvSpPr>
        <p:spPr>
          <a:xfrm>
            <a:off x="8817559"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8890711" y="128016"/>
            <a:ext cx="201168" cy="201168"/>
          </a:xfrm>
          <a:prstGeom prst="rect">
            <a:avLst/>
          </a:prstGeom>
        </p:spPr>
      </p:pic>
      <p:sp>
        <p:nvSpPr>
          <p:cNvPr id="14" name="Text 10"/>
          <p:cNvSpPr txBox="1"/>
          <p:nvPr/>
        </p:nvSpPr>
        <p:spPr>
          <a:xfrm>
            <a:off x="9146743" y="91440"/>
            <a:ext cx="245973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runtime calls</a:t>
            </a:r>
            <a:endParaRPr lang="en-US" sz="1100" dirty="0"/>
          </a:p>
        </p:txBody>
      </p:sp>
      <p:sp>
        <p:nvSpPr>
          <p:cNvPr id="15" name="Shape 11"/>
          <p:cNvSpPr/>
          <p:nvPr/>
        </p:nvSpPr>
        <p:spPr>
          <a:xfrm>
            <a:off x="5297627" y="91440"/>
            <a:ext cx="3355340" cy="274320"/>
          </a:xfrm>
          <a:prstGeom prst="rect">
            <a:avLst/>
          </a:prstGeom>
          <a:solidFill>
            <a:srgbClr val="E0F2FE"/>
          </a:solidFill>
          <a:ln w="12700">
            <a:solidFill>
              <a:srgbClr val="0369A1"/>
            </a:solidFill>
            <a:prstDash val="solid"/>
          </a:ln>
        </p:spPr>
      </p:sp>
      <p:sp>
        <p:nvSpPr>
          <p:cNvPr id="16" name="Shape 12"/>
          <p:cNvSpPr/>
          <p:nvPr/>
        </p:nvSpPr>
        <p:spPr>
          <a:xfrm>
            <a:off x="5297627" y="91440"/>
            <a:ext cx="73152" cy="274320"/>
          </a:xfrm>
          <a:prstGeom prst="rect">
            <a:avLst/>
          </a:prstGeom>
          <a:solidFill>
            <a:srgbClr val="0369A1"/>
          </a:solidFill>
          <a:ln w="12700">
            <a:solidFill>
              <a:srgbClr val="0369A1"/>
            </a:solidFill>
            <a:prstDash val="solid"/>
          </a:ln>
        </p:spPr>
      </p:sp>
      <p:pic>
        <p:nvPicPr>
          <p:cNvPr id="17" name="Image 2" descr="preencoded.png">    </p:cNvPr>
          <p:cNvPicPr>
            <a:picLocks noChangeAspect="1"/>
          </p:cNvPicPr>
          <p:nvPr/>
        </p:nvPicPr>
        <p:blipFill>
          <a:blip r:embed="rId3"/>
          <a:stretch>
            <a:fillRect/>
          </a:stretch>
        </p:blipFill>
        <p:spPr>
          <a:xfrm>
            <a:off x="5425643" y="128016"/>
            <a:ext cx="201168" cy="201168"/>
          </a:xfrm>
          <a:prstGeom prst="rect">
            <a:avLst/>
          </a:prstGeom>
        </p:spPr>
      </p:pic>
      <p:sp>
        <p:nvSpPr>
          <p:cNvPr id="18" name="Text 13"/>
          <p:cNvSpPr txBox="1"/>
          <p:nvPr/>
        </p:nvSpPr>
        <p:spPr>
          <a:xfrm>
            <a:off x="5681675"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arguments in a0 to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3: a value that survives between frames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A leaf function: it calls nothing,</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so it needs no stack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counter      </a:t>
            </a:r>
            <a:pPr indent="0" marL="0">
              <a:buNone/>
            </a:pPr>
            <a:r>
              <a:rPr lang="en-US" sz="1400" dirty="0">
                <a:solidFill>
                  <a:srgbClr val="8FB3A0"/>
                </a:solidFill>
                <a:latin typeface="Courier New" pitchFamily="34" charset="0"/>
                <a:ea typeface="Courier New" pitchFamily="34" charset="-122"/>
                <a:cs typeface="Courier New" pitchFamily="34" charset="-120"/>
              </a:rPr>
              <a:t># t0 = ADDRESS of counter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t1 = VALUE stored there   (load)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        </a:t>
            </a:r>
            <a:pPr indent="0" marL="0">
              <a:buNone/>
            </a:pPr>
            <a:r>
              <a:rPr lang="en-US" sz="1400" dirty="0">
                <a:solidFill>
                  <a:srgbClr val="8FB3A0"/>
                </a:solidFill>
                <a:latin typeface="Courier New" pitchFamily="34" charset="0"/>
                <a:ea typeface="Courier New" pitchFamily="34" charset="-122"/>
                <a:cs typeface="Courier New" pitchFamily="34" charset="-120"/>
              </a:rPr>
              <a:t># one tick per frame        (modify)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write it back             (store)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counter: .word 0</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counter is a label: it names a location in memory, in the .data section, holding one 32-bit word</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puts the ADDRESS of that location in t0</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reads the VALUE at that address into t1; sw writes it back</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processor computes only in registers: load, modify, store</a:t>
            </a:r>
            <a:endParaRPr lang="en-US" sz="1200" dirty="0"/>
          </a:p>
        </p:txBody>
      </p:sp>
      <p:sp>
        <p:nvSpPr>
          <p:cNvPr id="17" name="Shape 15"/>
          <p:cNvSpPr/>
          <p:nvPr/>
        </p:nvSpPr>
        <p:spPr>
          <a:xfrm>
            <a:off x="7893761" y="91440"/>
            <a:ext cx="3749294" cy="274320"/>
          </a:xfrm>
          <a:prstGeom prst="rect">
            <a:avLst/>
          </a:prstGeom>
          <a:solidFill>
            <a:srgbClr val="E0F2FE"/>
          </a:solidFill>
          <a:ln w="12700">
            <a:solidFill>
              <a:srgbClr val="0369A1"/>
            </a:solidFill>
            <a:prstDash val="solid"/>
          </a:ln>
        </p:spPr>
      </p:sp>
      <p:sp>
        <p:nvSpPr>
          <p:cNvPr id="18" name="Shape 16"/>
          <p:cNvSpPr/>
          <p:nvPr/>
        </p:nvSpPr>
        <p:spPr>
          <a:xfrm>
            <a:off x="7893761"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20" name="Text 17"/>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address, value,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4: make the counter visible</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la   t0, counter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a2, t1, 255      </a:t>
            </a:r>
            <a:pPr indent="0" marL="0">
              <a:buNone/>
            </a:pPr>
            <a:r>
              <a:rPr lang="en-US" sz="1450" dirty="0">
                <a:solidFill>
                  <a:srgbClr val="8FB3A0"/>
                </a:solidFill>
                <a:latin typeface="Courier New" pitchFamily="34" charset="0"/>
                <a:ea typeface="Courier New" pitchFamily="34" charset="-122"/>
                <a:cs typeface="Courier New" pitchFamily="34" charset="-120"/>
              </a:rPr>
              <a:t># width = counter modulo 256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32           </a:t>
            </a:r>
            <a:pPr indent="0" marL="0">
              <a:buNone/>
            </a:pPr>
            <a:r>
              <a:rPr lang="en-US" sz="1450" dirty="0">
                <a:solidFill>
                  <a:srgbClr val="8FB3A0"/>
                </a:solidFill>
                <a:latin typeface="Courier New" pitchFamily="34" charset="0"/>
                <a:ea typeface="Courier New" pitchFamily="34" charset="-122"/>
                <a:cs typeface="Courier New" pitchFamily="34" charset="-120"/>
              </a:rPr>
              <a:t># 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60           </a:t>
            </a:r>
            <a:pPr indent="0" marL="0">
              <a:buNone/>
            </a:pPr>
            <a:r>
              <a:rPr lang="en-US" sz="1450" dirty="0">
                <a:solidFill>
                  <a:srgbClr val="8FB3A0"/>
                </a:solidFill>
                <a:latin typeface="Courier New" pitchFamily="34" charset="0"/>
                <a:ea typeface="Courier New" pitchFamily="34" charset="-122"/>
                <a:cs typeface="Courier New" pitchFamily="34" charset="-120"/>
              </a:rPr>
              <a:t># 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8            </a:t>
            </a:r>
            <a:pPr indent="0" marL="0">
              <a:buNone/>
            </a:pPr>
            <a:r>
              <a:rPr lang="en-US" sz="1450" dirty="0">
                <a:solidFill>
                  <a:srgbClr val="8FB3A0"/>
                </a:solidFill>
                <a:latin typeface="Courier New" pitchFamily="34" charset="0"/>
                <a:ea typeface="Courier New" pitchFamily="34" charset="-122"/>
                <a:cs typeface="Courier New" pitchFamily="34" charset="-120"/>
              </a:rPr>
              <a:t># height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a4, GREEN        </a:t>
            </a:r>
            <a:pPr indent="0" marL="0">
              <a:buNone/>
            </a:pPr>
            <a:r>
              <a:rPr lang="en-US" sz="1450" dirty="0">
                <a:solidFill>
                  <a:srgbClr val="8FB3A0"/>
                </a:solidFill>
                <a:latin typeface="Courier New" pitchFamily="34" charset="0"/>
                <a:ea typeface="Courier New" pitchFamily="34" charset="-122"/>
                <a:cs typeface="Courier New" pitchFamily="34" charset="-120"/>
              </a:rPr>
              <a:t># .equ GREEN, 0x07e0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4_bar.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bar grows from 0 to 255 pixels, then starts again. andi with 255 keeps only the low eight bits of the counter.</a:t>
            </a:r>
            <a:endParaRPr lang="en-US" sz="1700" dirty="0"/>
          </a:p>
        </p:txBody>
      </p:sp>
      <p:sp>
        <p:nvSpPr>
          <p:cNvPr id="10" name="Shape 7"/>
          <p:cNvSpPr/>
          <p:nvPr/>
        </p:nvSpPr>
        <p:spPr>
          <a:xfrm>
            <a:off x="8719388" y="91440"/>
            <a:ext cx="2923667" cy="274320"/>
          </a:xfrm>
          <a:prstGeom prst="rect">
            <a:avLst/>
          </a:prstGeom>
          <a:solidFill>
            <a:srgbClr val="FEF3C7"/>
          </a:solidFill>
          <a:ln w="12700">
            <a:solidFill>
              <a:srgbClr val="B45309"/>
            </a:solidFill>
            <a:prstDash val="solid"/>
          </a:ln>
        </p:spPr>
      </p:sp>
      <p:sp>
        <p:nvSpPr>
          <p:cNvPr id="11" name="Shape 8"/>
          <p:cNvSpPr/>
          <p:nvPr/>
        </p:nvSpPr>
        <p:spPr>
          <a:xfrm>
            <a:off x="8719388" y="91440"/>
            <a:ext cx="27432" cy="274320"/>
          </a:xfrm>
          <a:prstGeom prst="rect">
            <a:avLst/>
          </a:prstGeom>
          <a:solidFill>
            <a:srgbClr val="B45309"/>
          </a:solidFill>
          <a:ln w="12700">
            <a:solidFill>
              <a:srgbClr val="B45309"/>
            </a:solidFill>
            <a:prstDash val="solid"/>
          </a:ln>
        </p:spPr>
      </p:sp>
      <p:sp>
        <p:nvSpPr>
          <p:cNvPr id="12" name="Shape 9"/>
          <p:cNvSpPr/>
          <p:nvPr/>
        </p:nvSpPr>
        <p:spPr>
          <a:xfrm>
            <a:off x="8774252"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8847404" y="128016"/>
            <a:ext cx="201168" cy="201168"/>
          </a:xfrm>
          <a:prstGeom prst="rect">
            <a:avLst/>
          </a:prstGeom>
        </p:spPr>
      </p:pic>
      <p:sp>
        <p:nvSpPr>
          <p:cNvPr id="14" name="Text 10"/>
          <p:cNvSpPr txBox="1"/>
          <p:nvPr/>
        </p:nvSpPr>
        <p:spPr>
          <a:xfrm>
            <a:off x="9103436" y="91440"/>
            <a:ext cx="2503043"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bit masks</a:t>
            </a:r>
            <a:pPr indent="0" marL="0">
              <a:buNone/>
            </a:pPr>
            <a:r>
              <a:rPr lang="en-US" sz="1100" b="1" dirty="0">
                <a:solidFill>
                  <a:srgbClr val="92400E"/>
                </a:solidFill>
                <a:latin typeface="Calibri" pitchFamily="34" charset="0"/>
                <a:ea typeface="Calibri" pitchFamily="34" charset="-122"/>
                <a:cs typeface="Calibri" pitchFamily="34" charset="-120"/>
              </a:rPr>
              <a:t> → Lecture 08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02: First Contact: RISC-V Assembly on PRG32</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l02.S: the four steps of the lecture in one file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HELLO PRG32 and, under it, a green bar that grows by one pixel per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frame and starts again at 256.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l02.S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first --name first --out first.prg32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first_init:                  </a:t>
            </a:r>
            <a:pPr indent="0" marL="0">
              <a:buNone/>
            </a:pPr>
            <a:r>
              <a:rPr lang="en-US" sz="1400" dirty="0">
                <a:solidFill>
                  <a:srgbClr val="8FB3A0"/>
                </a:solidFill>
                <a:latin typeface="Courier New" pitchFamily="34" charset="0"/>
                <a:ea typeface="Courier New" pitchFamily="34" charset="-122"/>
                <a:cs typeface="Courier New" pitchFamily="34" charset="-120"/>
              </a:rPr>
              <a:t># step 1: a function that returns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first_update:                </a:t>
            </a:r>
            <a:pPr indent="0" marL="0">
              <a:buNone/>
            </a:pPr>
            <a:r>
              <a:rPr lang="en-US" sz="1500" dirty="0">
                <a:solidFill>
                  <a:srgbClr val="8FB3A0"/>
                </a:solidFill>
                <a:latin typeface="Courier New" pitchFamily="34" charset="0"/>
                <a:ea typeface="Courier New" pitchFamily="34" charset="-122"/>
                <a:cs typeface="Courier New" pitchFamily="34" charset="-120"/>
              </a:rPr>
              <a:t># step 3: a value that survives between frames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pPr indent="0" marL="0">
              <a:buNone/>
            </a:pPr>
            <a:r>
              <a:rPr lang="en-US" sz="1500" dirty="0">
                <a:solidFill>
                  <a:srgbClr val="8FB3A0"/>
                </a:solidFill>
                <a:latin typeface="Courier New" pitchFamily="34" charset="0"/>
                <a:ea typeface="Courier New" pitchFamily="34" charset="-122"/>
                <a:cs typeface="Courier New" pitchFamily="34" charset="-120"/>
              </a:rPr>
              <a:t># A leaf function: it calls nothing, so it needs no stack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ADDRESS of counter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VALUE stored there   (load)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1           </a:t>
            </a:r>
            <a:pPr indent="0" marL="0">
              <a:buNone/>
            </a:pPr>
            <a:r>
              <a:rPr lang="en-US" sz="1500" dirty="0">
                <a:solidFill>
                  <a:srgbClr val="8FB3A0"/>
                </a:solidFill>
                <a:latin typeface="Courier New" pitchFamily="34" charset="0"/>
                <a:ea typeface="Courier New" pitchFamily="34" charset="-122"/>
                <a:cs typeface="Courier New" pitchFamily="34" charset="-120"/>
              </a:rPr>
              <a:t># one tick per frame        (modify)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write it back             (store)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first_draw:                  </a:t>
            </a:r>
            <a:pPr indent="0" marL="0">
              <a:buNone/>
            </a:pPr>
            <a:r>
              <a:rPr lang="en-US" sz="1500" dirty="0">
                <a:solidFill>
                  <a:srgbClr val="8FB3A0"/>
                </a:solidFill>
                <a:latin typeface="Courier New" pitchFamily="34" charset="0"/>
                <a:ea typeface="Courier New" pitchFamily="34" charset="-122"/>
                <a:cs typeface="Courier New" pitchFamily="34" charset="-120"/>
              </a:rPr>
              <a:t># step 2: say hello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prologue: a 16-byte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          </a:t>
            </a:r>
            <a:pPr indent="0" marL="0">
              <a:buNone/>
            </a:pPr>
            <a:r>
              <a:rPr lang="en-US" sz="1500" dirty="0">
                <a:solidFill>
                  <a:srgbClr val="8FB3A0"/>
                </a:solidFill>
                <a:latin typeface="Courier New" pitchFamily="34" charset="0"/>
                <a:ea typeface="Courier New" pitchFamily="34" charset="-122"/>
                <a:cs typeface="Courier New" pitchFamily="34" charset="-120"/>
              </a:rPr>
              <a:t># save the return address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40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           </a:t>
            </a:r>
            <a:pPr indent="0" marL="0">
              <a:buNone/>
            </a:pPr>
            <a:r>
              <a:rPr lang="en-US" sz="1500" dirty="0">
                <a:solidFill>
                  <a:srgbClr val="8FB3A0"/>
                </a:solidFill>
                <a:latin typeface="Courier New" pitchFamily="34" charset="0"/>
                <a:ea typeface="Courier New" pitchFamily="34" charset="-122"/>
                <a:cs typeface="Courier New" pitchFamily="34" charset="-120"/>
              </a:rPr>
              <a:t># address of the string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WHITE           </a:t>
            </a:r>
            <a:pPr indent="0" marL="0">
              <a:buNone/>
            </a:pPr>
            <a:r>
              <a:rPr lang="en-US" sz="1500" dirty="0">
                <a:solidFill>
                  <a:srgbClr val="8FB3A0"/>
                </a:solidFill>
                <a:latin typeface="Courier New" pitchFamily="34" charset="0"/>
                <a:ea typeface="Courier New" pitchFamily="34" charset="-122"/>
                <a:cs typeface="Courier New" pitchFamily="34" charset="-120"/>
              </a:rPr>
              <a:t># foreground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BLACK           </a:t>
            </a:r>
            <a:pPr indent="0" marL="0">
              <a:buNone/>
            </a:pPr>
            <a:r>
              <a:rPr lang="en-US" sz="1500" dirty="0">
                <a:solidFill>
                  <a:srgbClr val="8FB3A0"/>
                </a:solidFill>
                <a:latin typeface="Courier New" pitchFamily="34" charset="0"/>
                <a:ea typeface="Courier New" pitchFamily="34" charset="-122"/>
                <a:cs typeface="Courier New" pitchFamily="34" charset="-120"/>
              </a:rPr>
              <a:t># background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prg32_gfx_text8</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step 4: make the counter visible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a2, t1, 255         </a:t>
            </a:r>
            <a:pPr indent="0" marL="0">
              <a:buNone/>
            </a:pPr>
            <a:r>
              <a:rPr lang="en-US" sz="1500" dirty="0">
                <a:solidFill>
                  <a:srgbClr val="8FB3A0"/>
                </a:solidFill>
                <a:latin typeface="Courier New" pitchFamily="34" charset="0"/>
                <a:ea typeface="Courier New" pitchFamily="34" charset="-122"/>
                <a:cs typeface="Courier New" pitchFamily="34" charset="-120"/>
              </a:rPr>
              <a:t># width = counter modulo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60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8               </a:t>
            </a:r>
            <a:pPr indent="0" marL="0">
              <a:buNone/>
            </a:pPr>
            <a:r>
              <a:rPr lang="en-US" sz="1500" dirty="0">
                <a:solidFill>
                  <a:srgbClr val="8FB3A0"/>
                </a:solidFill>
                <a:latin typeface="Courier New" pitchFamily="34" charset="0"/>
                <a:ea typeface="Courier New" pitchFamily="34" charset="-122"/>
                <a:cs typeface="Courier New" pitchFamily="34" charset="-120"/>
              </a:rPr>
              <a:t># height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GREEN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prg32_gfx_rect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          </a:t>
            </a:r>
            <a:pPr indent="0" marL="0">
              <a:buNone/>
            </a:pPr>
            <a:r>
              <a:rPr lang="en-US" sz="1500" dirty="0">
                <a:solidFill>
                  <a:srgbClr val="8FB3A0"/>
                </a:solidFill>
                <a:latin typeface="Courier New" pitchFamily="34" charset="0"/>
                <a:ea typeface="Courier New" pitchFamily="34" charset="-122"/>
                <a:cs typeface="Courier New" pitchFamily="34" charset="-120"/>
              </a:rPr>
              <a:t># epilogue: restore ra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release the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.asciz "HELLO 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counter: .word 0</a:t>
            </a:r>
            <a:endParaRPr lang="en-US" sz="15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HELLO PRG32 and, under it, a green bar that grows by one pixel per frame and starts again at 256.</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l02 --out l02.prg32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first;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on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Change the title string and its colour to yellow (0xffe0); run it again</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grow twice as fast, then four times as fast, changing one instruction only</a:t>
            </a:r>
            <a:endParaRPr lang="en-US" sz="2200" dirty="0"/>
          </a:p>
        </p:txBody>
      </p:sp>
      <p:sp>
        <p:nvSpPr>
          <p:cNvPr id="8" name="Text 6"/>
          <p:cNvSpPr txBox="1"/>
          <p:nvPr/>
        </p:nvSpPr>
        <p:spPr>
          <a:xfrm>
            <a:off x="548640" y="28321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138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shrink instead of grow. What happens when the counter passes zero?</a:t>
            </a:r>
            <a:endParaRPr lang="en-US" sz="2200" dirty="0"/>
          </a:p>
        </p:txBody>
      </p:sp>
      <p:sp>
        <p:nvSpPr>
          <p:cNvPr id="10" name="Text 8"/>
          <p:cNvSpPr txBox="1"/>
          <p:nvPr/>
        </p:nvSpPr>
        <p:spPr>
          <a:xfrm>
            <a:off x="548640" y="36517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334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single-step first_update and write down t0 and t1 after each instruction</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a second bar, in red, whose width is the counter modulo 64</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For exercise 3 the counter goes 0, then 0xFFFFFFFF: with andi 255 the bar jumps to 255 and shrinks. Keep the observation: Lecture 05 explains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First Contact: RISC-V Assembly on PRG32: the code</dc:title>
  <dc:subject>Lecture 02</dc:subject>
  <dc:creator>Raffaele Montella</dc:creator>
  <cp:lastModifiedBy>Raffaele Montella</cp:lastModifiedBy>
  <cp:revision>1</cp:revision>
  <dcterms:created xsi:type="dcterms:W3CDTF">2026-10-16T20:22:23Z</dcterms:created>
  <dcterms:modified xsi:type="dcterms:W3CDTF">2026-10-16T20:22:23Z</dcterms:modified>
</cp:coreProperties>
</file>