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805594f-d0e0-4bba-bd76-13a85f749537}">
          <p14:sldIdLst>
            <p14:sldId id="256"/>
            <p14:sldId id="257"/>
          </p14:sldIdLst>
        </p14:section>
        <p14:section name="Your first cartridge" id="{3a2b0f89-ab86-68f5-1a68-878df7bd39f0}">
          <p14:sldIdLst>
            <p14:sldId id="258"/>
            <p14:sldId id="259"/>
            <p14:sldId id="260"/>
            <p14:sldId id="261"/>
            <p14:sldId id="262"/>
            <p14:sldId id="263"/>
          </p14:sldIdLst>
        </p14:section>
        <p14:section name="Reading what you wrote" id="{4a631022-2b09-3b7d-09f2-5a545edf3959}">
          <p14:sldIdLst>
            <p14:sldId id="264"/>
          </p14:sldIdLst>
        </p14:section>
        <p14:section name="The complete program" id="{b41f0305-9526-0ae5-1efd-ab5ec2e95b3e}">
          <p14:sldIdLst>
            <p14:sldId id="265"/>
            <p14:sldId id="266"/>
            <p14:sldId id="267"/>
          </p14:sldIdLst>
        </p14:section>
        <p14:section name="Run it and test it" id="{92722cbc-a6bd-231e-5d5a-8a0aaa715181}">
          <p14:sldIdLst>
            <p14:sldId id="268"/>
            <p14:sldId id="269"/>
            <p14:sldId id="270"/>
            <p14:sldId id="271"/>
            <p14:sldId id="272"/>
          </p14:sldIdLst>
        </p14:section>
        <p14:section name="Exercises" id="{a9546a60-ab36-9b62-340a-78d91532e762}">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02. Where the lecture deck develops the concepts, this deck contains everything that is written and executed: each listing with its commentary, the complete program of the lecture, the output it is expected to produce, and the procedure for testing it on each of the three hosts. The two decks are meant to be read together: the concepts explain the code, and the code gives the concepts an observable consequence.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registers, compute, move, jump; registers; functions, call and return; the init, update, draw contract; reading a line of assembly; arguments in a0 to a7; why ra is saved; address, value, load, store; the base instructions; pseudo-instructions; an instruction is a number; tracing by hand. USE NOW: hexadecimal (Lecture 04); bit, byte, word (Lecture 04); the calling convention (Lecture 18); bit masks (Lecture 08) and, used without being studied in this course, the assembler directives, the PRG32 tools, the PRG32 runtime calls, the PRG32-QT debugger, the complete program. UNDERSTAND LATER: the stack (Lecture 18); addressing modes (Lecture 19); instruction formats (Lecture 19); two's complement (Lecture 05); fixed point (Lecture 06); Boolean algebra (Lecture 08); the adder (Lecture 09); from volts to bits (Lecture 10); latches and flip-flops (Lecture 13); the processor cycle (Lecture 19); the Verm1 project (Lecture 07). A slide without a badge is context: a story, an example, a question, an exercise.
Roadmap. Today's outcomes: (1) build and run a cartridge, and say when the runtime calls init, update and draw; (2) read a line of assembly: label, instruction, operands, comment; (3) tell an address from a value, and trace what la, lw, addi and sw leave in registers and memory. Builds on: only what Lecture 01 set up. Next: Lecture 03, History of Computing.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contents of the deck, in the order of the slides. The program of the lecture is a complete source file that can be built and executed as it stands. The recommended approach is to run it first, observe its behaviour, and then return to the individual listings to understand how each part contributes to that behaviour. The program of this lecture is ~/arc12/code/l02.S; tools/tests/cartridges/run.py builds it, runs it on PRG32-QT with scripted input and checks the pixels of the frame.
For the lecturer: Get the code once: git clone https://github.com/riscv-prg32/computer-architecture-with-prg32 ~/arc12. The program of this lecture is ~/arc12/code/l02.S;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smallest program that runs. .option norelax, with which every PRG32 example begins, keeps the layout of the cartridge predictable by preventing the linker from rewriting instruction sequences. .section .text declares that executable code follows. Each .global exports a label beyond the file, so that the firmware can locate the function by name. Then come three functions, each consisting of the single instruction ret, which returns control to the caller. The result is a black screen, and it is a success: the framework has found the three entry points, invoked them, and regained control. These directives are used as given; the course does not study the assembler itself.
USE NOW: the assembler directives (used, not studied, in this course).
For the lecturer: Source: labs/05-asm-first-contact/step1_skeleton.S. Expected result: a black screen. The achievement is that the framework found the three functions, called them, and survived.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commands that will be typed hundreds of times. cartridge build turns the assembly file into a cartridge: --entry-prefix first gives the prefix of the three entry points, --out the name of the output. The cartridge is then executed: in QEMU with qemu upload followed by qemu run, or on a board or on PRG32-QT with upload-and-run and the address of the host, which for PRG32-QT on the student's own laptop is http://localhost:8080. The same cartridge file serves all three hosts.
USE NOW: the PRG32 tools (used, not studied, in this course).
For the lecturer: Source: labs/run.sh. With PRG32_HOME set, the whole sequence is: labs/run.sh 05-asm-first-contact/step1_skeleton.S first . The cartridge file is byte-for-byte the same for QEMU, the board and PRG32-QT.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step writes to the screen. first_draw is best read in three parts. The first two lines open a stack frame and save ra, because the function is about to make calls. Two calls follow: prg32_gfx_clear, with the colour in a0, and prg32_gfx_text8, with five arguments in a0 to a4: x, y, the address of the string, foreground colour and background colour. The two ways of loading a register should be distinguished: li loads a numerical constant, la the address of a label. The last three lines restore ra, release the frame and return. The string itself is data, placed in the read-only section .rodata.
UNDERSTAND NOW: arguments in a0 to a7. USE NOW: the PRG32 runtime calls (used, not studied, in this course).
For the lecturer: Source: labs/05-asm-first-contact/step2_hello.S. The .equ lines (BLACK 0x0000, WHITE 0xffff) are omitted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must ra be saved? The instruction call writes into ra the address to which control must return. The callee, however, may itself make calls, each of which overwrites ra. A function that calls another must therefore first preserve its own return address in memory: it decrements sp by 16 to reserve space, the stack frame, and stores ra at 12(sp); after the call it performs the inverse operations. The diagram shows the frame, with the stack growing towards lower addresses; the 16-byte size follows from the alignment that the convention requires of sp. Omitting this pair of operations is the classic first error: the function returns to the wrong place. Why ra is saved must be understood today; the stack as a data structure is treated formally in Lecture 18.
UNDERSTAND NOW: why ra is saved. UNDERSTAND LATER: the stack (studied in Lecture 18).
For the lecturer: The convention requires sp to stay 16-byte aligned across calls, which is why the frame is 16 bytes even though only 4 are used. The stack, with push and pop, is treated formally in Lecture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step preserves a value from one frame to the next. Registers do not retain their contents between successive invocations of update, so the value must reside in memory. counter is a label naming a location in the .data section, the part of the program that holds data rather than instructions; the location holds one word. The four instructions constitute the pattern underlying every variable, a named place in memory whose value the program changes: la places the address of the location in t0; lw loads the value into t1; addi modifies it; sw writes it back. Load, modify, store: the defining idiom of a load-store architecture. Nothing changes on the screen yet: the counter advances, but nothing draws it.
UNDERSTAND NOW: address, value, load, store.
For the lecturer: Source: labs/05-asm-first-contact/step3_counter.S. Nothing visible changes yet: the counter ticks but nobody draws it. Ask the class how they could prove that it is ticking (answer: the debugger of PRG32-QT, or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step renders the counter visible as a green bar. The value is loaded, and andi a2, t1, 255 retains only its eight least significant bits, the eight on the right, which are worth the least, so the width runs from 0 to 255 and then begins again. The remaining registers carry the arguments of prg32_gfx_rect: x, y, width, height and colour. These eight lines contain the seeds of three later lectures: 255 written as 0xFF (positional notation, Lecture 04), andi used as a mask (Boolean algebra, Lecture 08), and 0x07e0 denoting green (the encoding of colour, Lecture 04). It is worth remembering where each was first encountered.
USE NOW: bit masks (studied in Lecture 08).
For the lecturer: Source: labs/05-asm-first-contact/step4_bar.S (the lines added to first_draw). Three future lectures hide in these eight lines: 255 = 0xFF (positional notation), andi as a bit mask (Boolean algebra), 0x07e0 as a colour (information encoding).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executes the same cartridge on the laptop and can halt between any two instructions, displaying every register. It should be used now on the third step: navigate to update, pause, and execute the four instructions of first_update one at a time while observing t0 and t1. Before each step, the expected change should be stated aloud; a prediction made explicit is a prediction that can be wrong, and therefore informative. The final line is a principle worth retaining: the board is the authority on time, PRG32-QT the authority on the content of a register.
USE NOW: the PRG32-QT debugger (used, not studied, in this course).
For the lecturer: Demonstrate live: load step 3, break at first_update, single-step four times. Ask the students to predict each register before pressing the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reproduced exactly as it appears in the repository. It should be read from the top. The header states what the program displays and how it is built; the three entry points, init, update and draw, follow, and the data sections close the file. Lines already met in the listings of the lecture carry the same comments here, so that each fragment can be located within the whole.
USE NOW: the complete program (used, not studied, in this course).
For the lecturer: code/l02.S,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behaviour of the program, and the input it requires. The outcome should be predicted before the program is run: any discrepancy between prediction and screen is information about one's model of the machine, and is worth explaining before it is corrected. The image was produced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direct route: PRG32-QT on one's own computer, in four steps, each with its command. PRG32-QT presents itself to the tools as a board listening on port 8080, which is why the upload command names the esp32c6. With debug mode enabled, execution can be halted at any instruction and the registers and memory inspected.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executes the actual firmware on an emulated chip, so the cartridge must be built for the qemu architecture and staged while QEMU is not running. The firmware starts on its Setup menu, from which Run Cartridge and the slot are selected. Keyboard input is read by the terminal from which QEMU was launched, not by the window that displays the image.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physical kit. The firmware is written once, over USB; thereafter cartridges are transferred over Wi-Fi with the same upload command used for PRG32-QT, addressed to the board. This is the only host not exercised by the automatic tests, so observations made on the board are particularly valuable and should be reported.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frequent symptoms, their meaning, and the corrective action. The error message should be read in full before anything is changed: in nearly every case it names the cause. When asking for help, the command and the complete message should be reported verbatim.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on the student's own cartridge, each the seed of a later lecture. Change the text and its colour. Make the bar grow two or four times as fast by modifying a single instruction. Make it shrink, and observe what happens when the counter passes zero: the bar jumps to its full width, a phenomenon that Lecture 05 explains through two's complement. Single-step first_update and record the registers after each instruction. Draw a second bar whose width is the counter modulo 64. In every case the outcome should be predicted before the program is run.
For the lecturer: Hints: addi t1, t1, 2 or slli before andi for exercise 2; addi t1, t1, -1 for exercise 3; andi a2, t1, 63 for exercise 5. Each exercise is a seed for a later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02: First contact with RISC-V assembly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02</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First Contact: RISC‑V Assembly on PRG32: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02-Computer_Architecture-First_Contact_with_RISC-V_Assembly.pptx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1_step4_bar.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5 listings of Lecture 02,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code/l02.S, 60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1: the smallest program that runs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Assembly Lab 1: the smallest program that runs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norelax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.text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.global 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first_draw: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.option norelax keeps the layout of the cartridge predictable: every PRG32 example starts with it</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.section .text says that what follows is executable code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.global makes a label visible to the firmware, which finds your functions by name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ret returns to the caller: three functions that do nothing, correctly</a:t>
            </a:r>
            <a:endParaRPr lang="en-US" sz="1200" dirty="0"/>
          </a:p>
        </p:txBody>
      </p:sp>
      <p:sp>
        <p:nvSpPr>
          <p:cNvPr id="17" name="Shape 15"/>
          <p:cNvSpPr/>
          <p:nvPr/>
        </p:nvSpPr>
        <p:spPr>
          <a:xfrm>
            <a:off x="8697036" y="91440"/>
            <a:ext cx="2946019" cy="274320"/>
          </a:xfrm>
          <a:prstGeom prst="rect">
            <a:avLst/>
          </a:prstGeom>
          <a:solidFill>
            <a:srgbClr val="FEF3C7"/>
          </a:solidFill>
          <a:ln w="12700">
            <a:solidFill>
              <a:srgbClr val="B45309"/>
            </a:solidFill>
            <a:prstDash val="solid"/>
          </a:ln>
        </p:spPr>
      </p:sp>
      <p:sp>
        <p:nvSpPr>
          <p:cNvPr id="18" name="Shape 16"/>
          <p:cNvSpPr/>
          <p:nvPr/>
        </p:nvSpPr>
        <p:spPr>
          <a:xfrm>
            <a:off x="8697036" y="91440"/>
            <a:ext cx="27432" cy="274320"/>
          </a:xfrm>
          <a:prstGeom prst="rect">
            <a:avLst/>
          </a:prstGeom>
          <a:solidFill>
            <a:srgbClr val="B45309"/>
          </a:solidFill>
          <a:ln w="12700">
            <a:solidFill>
              <a:srgbClr val="B45309"/>
            </a:solidFill>
            <a:prstDash val="solid"/>
          </a:ln>
        </p:spPr>
      </p:sp>
      <p:sp>
        <p:nvSpPr>
          <p:cNvPr id="19" name="Shape 17"/>
          <p:cNvSpPr/>
          <p:nvPr/>
        </p:nvSpPr>
        <p:spPr>
          <a:xfrm>
            <a:off x="8751900"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825052" y="128016"/>
            <a:ext cx="201168" cy="201168"/>
          </a:xfrm>
          <a:prstGeom prst="rect">
            <a:avLst/>
          </a:prstGeom>
        </p:spPr>
      </p:pic>
      <p:sp>
        <p:nvSpPr>
          <p:cNvPr id="21" name="Text 18"/>
          <p:cNvSpPr txBox="1"/>
          <p:nvPr/>
        </p:nvSpPr>
        <p:spPr>
          <a:xfrm>
            <a:off x="9081084" y="91440"/>
            <a:ext cx="2525395"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assembler directives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Build it, run it</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8FB3A0"/>
                </a:solidFill>
                <a:latin typeface="Courier New" pitchFamily="34" charset="0"/>
                <a:ea typeface="Courier New" pitchFamily="34" charset="-122"/>
                <a:cs typeface="Courier New" pitchFamily="34" charset="-120"/>
              </a:rPr>
              <a:t># 1. build a portable cartridge from one assembly file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cartridge build step1_skeleton.S --portable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--entry-prefix first --name step1 --out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2a. run it in QEMU on your laptop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upload build/step1.prg32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qemu run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2b. or send it to a board, or to PRG32-QT, over the network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python3 -m prg32 esp32c6 upload-and-run build/step1.prg32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--url http://192.168.4.1 --slot cart0</a:t>
            </a:r>
            <a:endParaRPr lang="en-US" sz="1800" dirty="0"/>
          </a:p>
        </p:txBody>
      </p:sp>
      <p:sp>
        <p:nvSpPr>
          <p:cNvPr id="5" name="Shape 3"/>
          <p:cNvSpPr/>
          <p:nvPr/>
        </p:nvSpPr>
        <p:spPr>
          <a:xfrm>
            <a:off x="9287967" y="91440"/>
            <a:ext cx="2355088" cy="274320"/>
          </a:xfrm>
          <a:prstGeom prst="rect">
            <a:avLst/>
          </a:prstGeom>
          <a:solidFill>
            <a:srgbClr val="FEF3C7"/>
          </a:solidFill>
          <a:ln w="12700">
            <a:solidFill>
              <a:srgbClr val="B45309"/>
            </a:solidFill>
            <a:prstDash val="solid"/>
          </a:ln>
        </p:spPr>
      </p:sp>
      <p:sp>
        <p:nvSpPr>
          <p:cNvPr id="6" name="Shape 4"/>
          <p:cNvSpPr/>
          <p:nvPr/>
        </p:nvSpPr>
        <p:spPr>
          <a:xfrm>
            <a:off x="9287967" y="91440"/>
            <a:ext cx="27432" cy="274320"/>
          </a:xfrm>
          <a:prstGeom prst="rect">
            <a:avLst/>
          </a:prstGeom>
          <a:solidFill>
            <a:srgbClr val="B45309"/>
          </a:solidFill>
          <a:ln w="12700">
            <a:solidFill>
              <a:srgbClr val="B45309"/>
            </a:solidFill>
            <a:prstDash val="solid"/>
          </a:ln>
        </p:spPr>
      </p:sp>
      <p:sp>
        <p:nvSpPr>
          <p:cNvPr id="7" name="Shape 5"/>
          <p:cNvSpPr/>
          <p:nvPr/>
        </p:nvSpPr>
        <p:spPr>
          <a:xfrm>
            <a:off x="9342831"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9" name="Text 6"/>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2: say hello</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first_draw: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prologue: a 16-byte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       </a:t>
            </a:r>
            <a:pPr indent="0" marL="0">
              <a:buNone/>
            </a:pPr>
            <a:r>
              <a:rPr lang="en-US" sz="1350" dirty="0">
                <a:solidFill>
                  <a:srgbClr val="8FB3A0"/>
                </a:solidFill>
                <a:latin typeface="Courier New" pitchFamily="34" charset="0"/>
                <a:ea typeface="Courier New" pitchFamily="34" charset="-122"/>
                <a:cs typeface="Courier New" pitchFamily="34" charset="-120"/>
              </a:rPr>
              <a:t># save the return address</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32           </a:t>
            </a:r>
            <a:pPr indent="0" marL="0">
              <a:buNone/>
            </a:pPr>
            <a:r>
              <a:rPr lang="en-US" sz="1350" dirty="0">
                <a:solidFill>
                  <a:srgbClr val="8FB3A0"/>
                </a:solidFill>
                <a:latin typeface="Courier New" pitchFamily="34" charset="0"/>
                <a:ea typeface="Courier New" pitchFamily="34" charset="-122"/>
                <a:cs typeface="Courier New" pitchFamily="34" charset="-120"/>
              </a:rPr>
              <a:t># 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40           </a:t>
            </a:r>
            <a:pPr indent="0" marL="0">
              <a:buNone/>
            </a:pPr>
            <a:r>
              <a:rPr lang="en-US" sz="1350" dirty="0">
                <a:solidFill>
                  <a:srgbClr val="8FB3A0"/>
                </a:solidFill>
                <a:latin typeface="Courier New" pitchFamily="34" charset="0"/>
                <a:ea typeface="Courier New" pitchFamily="34" charset="-122"/>
                <a:cs typeface="Courier New" pitchFamily="34" charset="-120"/>
              </a:rPr>
              <a:t># 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a2, title        </a:t>
            </a:r>
            <a:pPr indent="0" marL="0">
              <a:buNone/>
            </a:pPr>
            <a:r>
              <a:rPr lang="en-US" sz="1350" dirty="0">
                <a:solidFill>
                  <a:srgbClr val="8FB3A0"/>
                </a:solidFill>
                <a:latin typeface="Courier New" pitchFamily="34" charset="0"/>
                <a:ea typeface="Courier New" pitchFamily="34" charset="-122"/>
                <a:cs typeface="Courier New" pitchFamily="34" charset="-120"/>
              </a:rPr>
              <a:t># address of the string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WHITE        </a:t>
            </a:r>
            <a:pPr indent="0" marL="0">
              <a:buNone/>
            </a:pPr>
            <a:r>
              <a:rPr lang="en-US" sz="1350" dirty="0">
                <a:solidFill>
                  <a:srgbClr val="8FB3A0"/>
                </a:solidFill>
                <a:latin typeface="Courier New" pitchFamily="34" charset="0"/>
                <a:ea typeface="Courier New" pitchFamily="34" charset="-122"/>
                <a:cs typeface="Courier New" pitchFamily="34" charset="-120"/>
              </a:rPr>
              <a:t># foreground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BLACK        </a:t>
            </a:r>
            <a:pPr indent="0" marL="0">
              <a:buNone/>
            </a:pPr>
            <a:r>
              <a:rPr lang="en-US" sz="1350" dirty="0">
                <a:solidFill>
                  <a:srgbClr val="8FB3A0"/>
                </a:solidFill>
                <a:latin typeface="Courier New" pitchFamily="34" charset="0"/>
                <a:ea typeface="Courier New" pitchFamily="34" charset="-122"/>
                <a:cs typeface="Courier New" pitchFamily="34" charset="-120"/>
              </a:rPr>
              <a:t># background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prg32_gfx_text8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       </a:t>
            </a:r>
            <a:pPr indent="0" marL="0">
              <a:buNone/>
            </a:pPr>
            <a:r>
              <a:rPr lang="en-US" sz="1350" dirty="0">
                <a:solidFill>
                  <a:srgbClr val="8FB3A0"/>
                </a:solidFill>
                <a:latin typeface="Courier New" pitchFamily="34" charset="0"/>
                <a:ea typeface="Courier New" pitchFamily="34" charset="-122"/>
                <a:cs typeface="Courier New" pitchFamily="34" charset="-120"/>
              </a:rPr>
              <a:t># epilogue: restore ra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       </a:t>
            </a:r>
            <a:pPr indent="0" marL="0">
              <a:buNone/>
            </a:pPr>
            <a:r>
              <a:rPr lang="en-US" sz="1350" dirty="0">
                <a:solidFill>
                  <a:srgbClr val="8FB3A0"/>
                </a:solidFill>
                <a:latin typeface="Courier New" pitchFamily="34" charset="0"/>
                <a:ea typeface="Courier New" pitchFamily="34" charset="-122"/>
                <a:cs typeface="Courier New" pitchFamily="34" charset="-120"/>
              </a:rPr>
              <a:t># release the frame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.rodata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title: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.asciz "HELLO PRG32"</a:t>
            </a:r>
            <a:endParaRPr lang="en-US" sz="13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2_hello.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first argument goes in a0, the second in a1, and so on. li loads a number; la loads the address of a label.</a:t>
            </a:r>
            <a:endParaRPr lang="en-US" sz="1700" dirty="0"/>
          </a:p>
        </p:txBody>
      </p:sp>
      <p:sp>
        <p:nvSpPr>
          <p:cNvPr id="10" name="Shape 7"/>
          <p:cNvSpPr/>
          <p:nvPr/>
        </p:nvSpPr>
        <p:spPr>
          <a:xfrm>
            <a:off x="8762695" y="91440"/>
            <a:ext cx="2880360" cy="274320"/>
          </a:xfrm>
          <a:prstGeom prst="rect">
            <a:avLst/>
          </a:prstGeom>
          <a:solidFill>
            <a:srgbClr val="FEF3C7"/>
          </a:solidFill>
          <a:ln w="12700">
            <a:solidFill>
              <a:srgbClr val="B45309"/>
            </a:solidFill>
            <a:prstDash val="solid"/>
          </a:ln>
        </p:spPr>
      </p:sp>
      <p:sp>
        <p:nvSpPr>
          <p:cNvPr id="11" name="Shape 8"/>
          <p:cNvSpPr/>
          <p:nvPr/>
        </p:nvSpPr>
        <p:spPr>
          <a:xfrm>
            <a:off x="8762695" y="91440"/>
            <a:ext cx="27432" cy="274320"/>
          </a:xfrm>
          <a:prstGeom prst="rect">
            <a:avLst/>
          </a:prstGeom>
          <a:solidFill>
            <a:srgbClr val="B45309"/>
          </a:solidFill>
          <a:ln w="12700">
            <a:solidFill>
              <a:srgbClr val="B45309"/>
            </a:solidFill>
            <a:prstDash val="solid"/>
          </a:ln>
        </p:spPr>
      </p:sp>
      <p:sp>
        <p:nvSpPr>
          <p:cNvPr id="12" name="Shape 9"/>
          <p:cNvSpPr/>
          <p:nvPr/>
        </p:nvSpPr>
        <p:spPr>
          <a:xfrm>
            <a:off x="8817559"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8890711" y="128016"/>
            <a:ext cx="201168" cy="201168"/>
          </a:xfrm>
          <a:prstGeom prst="rect">
            <a:avLst/>
          </a:prstGeom>
        </p:spPr>
      </p:pic>
      <p:sp>
        <p:nvSpPr>
          <p:cNvPr id="14" name="Text 10"/>
          <p:cNvSpPr txBox="1"/>
          <p:nvPr/>
        </p:nvSpPr>
        <p:spPr>
          <a:xfrm>
            <a:off x="9146743" y="91440"/>
            <a:ext cx="245973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runtime calls</a:t>
            </a:r>
            <a:endParaRPr lang="en-US" sz="1100" dirty="0"/>
          </a:p>
        </p:txBody>
      </p:sp>
      <p:sp>
        <p:nvSpPr>
          <p:cNvPr id="15" name="Shape 11"/>
          <p:cNvSpPr/>
          <p:nvPr/>
        </p:nvSpPr>
        <p:spPr>
          <a:xfrm>
            <a:off x="5297627" y="91440"/>
            <a:ext cx="3355340" cy="274320"/>
          </a:xfrm>
          <a:prstGeom prst="rect">
            <a:avLst/>
          </a:prstGeom>
          <a:solidFill>
            <a:srgbClr val="E0F2FE"/>
          </a:solidFill>
          <a:ln w="12700">
            <a:solidFill>
              <a:srgbClr val="0369A1"/>
            </a:solidFill>
            <a:prstDash val="solid"/>
          </a:ln>
        </p:spPr>
      </p:sp>
      <p:sp>
        <p:nvSpPr>
          <p:cNvPr id="16" name="Shape 12"/>
          <p:cNvSpPr/>
          <p:nvPr/>
        </p:nvSpPr>
        <p:spPr>
          <a:xfrm>
            <a:off x="5297627" y="91440"/>
            <a:ext cx="73152" cy="274320"/>
          </a:xfrm>
          <a:prstGeom prst="rect">
            <a:avLst/>
          </a:prstGeom>
          <a:solidFill>
            <a:srgbClr val="0369A1"/>
          </a:solidFill>
          <a:ln w="12700">
            <a:solidFill>
              <a:srgbClr val="0369A1"/>
            </a:solidFill>
            <a:prstDash val="solid"/>
          </a:ln>
        </p:spPr>
      </p:sp>
      <p:pic>
        <p:nvPicPr>
          <p:cNvPr id="17" name="Image 2" descr="preencoded.png">    </p:cNvPr>
          <p:cNvPicPr>
            <a:picLocks noChangeAspect="1"/>
          </p:cNvPicPr>
          <p:nvPr/>
        </p:nvPicPr>
        <p:blipFill>
          <a:blip r:embed="rId3"/>
          <a:stretch>
            <a:fillRect/>
          </a:stretch>
        </p:blipFill>
        <p:spPr>
          <a:xfrm>
            <a:off x="5425643" y="128016"/>
            <a:ext cx="201168" cy="201168"/>
          </a:xfrm>
          <a:prstGeom prst="rect">
            <a:avLst/>
          </a:prstGeom>
        </p:spPr>
      </p:pic>
      <p:sp>
        <p:nvSpPr>
          <p:cNvPr id="18" name="Text 13"/>
          <p:cNvSpPr txBox="1"/>
          <p:nvPr/>
        </p:nvSpPr>
        <p:spPr>
          <a:xfrm>
            <a:off x="5681675"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arguments in a0 to a7</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save ra? The stack frame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10819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call stores the address to come back to in ra</a:t>
            </a:r>
            <a:endParaRPr lang="en-US" sz="2100" dirty="0"/>
          </a:p>
        </p:txBody>
      </p:sp>
      <p:sp>
        <p:nvSpPr>
          <p:cNvPr id="5" name="Shape 3"/>
          <p:cNvSpPr/>
          <p:nvPr/>
        </p:nvSpPr>
        <p:spPr>
          <a:xfrm>
            <a:off x="548640" y="214274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44065"/>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function you call will use ra for its own calls, overwriting yours</a:t>
            </a:r>
            <a:endParaRPr lang="en-US" sz="2100" dirty="0"/>
          </a:p>
        </p:txBody>
      </p:sp>
      <p:sp>
        <p:nvSpPr>
          <p:cNvPr id="7" name="Shape 5"/>
          <p:cNvSpPr/>
          <p:nvPr/>
        </p:nvSpPr>
        <p:spPr>
          <a:xfrm>
            <a:off x="548640" y="30948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96184"/>
            <a:ext cx="6108192" cy="128168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So a function that calls another one saves ra first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lower sp by 16 to make room</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store ra at 12(sp)</a:t>
            </a:r>
            <a:endParaRPr lang="en-US" sz="2100" dirty="0"/>
          </a:p>
        </p:txBody>
      </p:sp>
      <p:sp>
        <p:nvSpPr>
          <p:cNvPr id="9" name="Shape 7"/>
          <p:cNvSpPr/>
          <p:nvPr/>
        </p:nvSpPr>
        <p:spPr>
          <a:xfrm>
            <a:off x="548640" y="467791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79239"/>
            <a:ext cx="61081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After the call, undo it in reverse order</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load ra back, raise sp by 16, then ret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1081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Forgetting the pair is the classic first bug: the function returns to the wrong place</a:t>
            </a:r>
            <a:endParaRPr lang="en-US" sz="2100" dirty="0"/>
          </a:p>
        </p:txBody>
      </p:sp>
      <p:sp>
        <p:nvSpPr>
          <p:cNvPr id="13" name="Text 11"/>
          <p:cNvSpPr txBox="1"/>
          <p:nvPr/>
        </p:nvSpPr>
        <p:spPr>
          <a:xfrm>
            <a:off x="7589520" y="1417320"/>
            <a:ext cx="4206240" cy="36576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Stack memory after the prologue</a:t>
            </a:r>
            <a:endParaRPr lang="en-US" sz="1500" dirty="0"/>
          </a:p>
        </p:txBody>
      </p:sp>
      <p:sp>
        <p:nvSpPr>
          <p:cNvPr id="14" name="Text 12"/>
          <p:cNvSpPr txBox="1"/>
          <p:nvPr/>
        </p:nvSpPr>
        <p:spPr>
          <a:xfrm>
            <a:off x="7589520" y="2103120"/>
            <a:ext cx="2926080" cy="566928"/>
          </a:xfrm>
          <a:prstGeom prst="rect">
            <a:avLst/>
          </a:prstGeom>
          <a:solidFill>
            <a:srgbClr val="C9D2D8"/>
          </a:solidFill>
          <a:ln w="12700">
            <a:solidFill>
              <a:srgbClr val="2E4A62"/>
            </a:solidFill>
          </a:ln>
        </p:spPr>
        <p:txBody>
          <a:bodyPr wrap="square" lIns="0" tIns="0" rIns="0" bIns="0" rtlCol="0" anchor="ctr"/>
          <a:lstStyle/>
          <a:p>
            <a:pPr algn="ctr" indent="0" marL="0">
              <a:buNone/>
            </a:pPr>
            <a:r>
              <a:rPr lang="en-US" sz="1600" b="1" dirty="0">
                <a:solidFill>
                  <a:srgbClr val="1B2530"/>
                </a:solidFill>
                <a:latin typeface="Courier New" pitchFamily="34" charset="0"/>
                <a:ea typeface="Courier New" pitchFamily="34" charset="-122"/>
                <a:cs typeface="Courier New" pitchFamily="34" charset="-120"/>
              </a:rPr>
              <a:t>caller's data</a:t>
            </a:r>
            <a:endParaRPr lang="en-US" sz="1600" dirty="0"/>
          </a:p>
        </p:txBody>
      </p:sp>
      <p:sp>
        <p:nvSpPr>
          <p:cNvPr id="15" name="Text 13"/>
          <p:cNvSpPr txBox="1"/>
          <p:nvPr/>
        </p:nvSpPr>
        <p:spPr>
          <a:xfrm>
            <a:off x="10652760" y="2103120"/>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16(sp)</a:t>
            </a:r>
            <a:endParaRPr lang="en-US" sz="1400" dirty="0"/>
          </a:p>
        </p:txBody>
      </p:sp>
      <p:sp>
        <p:nvSpPr>
          <p:cNvPr id="16" name="Text 14"/>
          <p:cNvSpPr txBox="1"/>
          <p:nvPr/>
        </p:nvSpPr>
        <p:spPr>
          <a:xfrm>
            <a:off x="7589520" y="2670048"/>
            <a:ext cx="29260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ra</a:t>
            </a:r>
            <a:endParaRPr lang="en-US" sz="1600" dirty="0"/>
          </a:p>
        </p:txBody>
      </p:sp>
      <p:sp>
        <p:nvSpPr>
          <p:cNvPr id="17" name="Text 15"/>
          <p:cNvSpPr txBox="1"/>
          <p:nvPr/>
        </p:nvSpPr>
        <p:spPr>
          <a:xfrm>
            <a:off x="10652760" y="2670048"/>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12(sp)</a:t>
            </a:r>
            <a:endParaRPr lang="en-US" sz="1400" dirty="0"/>
          </a:p>
        </p:txBody>
      </p:sp>
      <p:sp>
        <p:nvSpPr>
          <p:cNvPr id="18" name="Text 16"/>
          <p:cNvSpPr txBox="1"/>
          <p:nvPr/>
        </p:nvSpPr>
        <p:spPr>
          <a:xfrm>
            <a:off x="7589520" y="3236976"/>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19" name="Text 17"/>
          <p:cNvSpPr txBox="1"/>
          <p:nvPr/>
        </p:nvSpPr>
        <p:spPr>
          <a:xfrm>
            <a:off x="10652760" y="3236976"/>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8(sp)</a:t>
            </a:r>
            <a:endParaRPr lang="en-US" sz="1400" dirty="0"/>
          </a:p>
        </p:txBody>
      </p:sp>
      <p:sp>
        <p:nvSpPr>
          <p:cNvPr id="20" name="Text 18"/>
          <p:cNvSpPr txBox="1"/>
          <p:nvPr/>
        </p:nvSpPr>
        <p:spPr>
          <a:xfrm>
            <a:off x="7589520" y="3803904"/>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1" name="Text 19"/>
          <p:cNvSpPr txBox="1"/>
          <p:nvPr/>
        </p:nvSpPr>
        <p:spPr>
          <a:xfrm>
            <a:off x="10652760" y="3803904"/>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4(sp)</a:t>
            </a:r>
            <a:endParaRPr lang="en-US" sz="1400" dirty="0"/>
          </a:p>
        </p:txBody>
      </p:sp>
      <p:sp>
        <p:nvSpPr>
          <p:cNvPr id="22" name="Text 20"/>
          <p:cNvSpPr txBox="1"/>
          <p:nvPr/>
        </p:nvSpPr>
        <p:spPr>
          <a:xfrm>
            <a:off x="7589520" y="4370832"/>
            <a:ext cx="2926080" cy="566928"/>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600" b="1" dirty="0">
                <a:solidFill>
                  <a:srgbClr val="5B6B78"/>
                </a:solidFill>
                <a:latin typeface="Courier New" pitchFamily="34" charset="0"/>
                <a:ea typeface="Courier New" pitchFamily="34" charset="-122"/>
                <a:cs typeface="Courier New" pitchFamily="34" charset="-120"/>
              </a:rPr>
              <a:t>free</a:t>
            </a:r>
            <a:endParaRPr lang="en-US" sz="1600" dirty="0"/>
          </a:p>
        </p:txBody>
      </p:sp>
      <p:sp>
        <p:nvSpPr>
          <p:cNvPr id="23" name="Text 21"/>
          <p:cNvSpPr txBox="1"/>
          <p:nvPr/>
        </p:nvSpPr>
        <p:spPr>
          <a:xfrm>
            <a:off x="10652760" y="4370832"/>
            <a:ext cx="1097280" cy="566928"/>
          </a:xfrm>
          <a:prstGeom prst="rect">
            <a:avLst/>
          </a:prstGeom>
          <a:noFill/>
          <a:ln/>
        </p:spPr>
        <p:txBody>
          <a:bodyPr wrap="square" lIns="0" tIns="0" rIns="0" bIns="0" rtlCol="0" anchor="ctr"/>
          <a:lstStyle/>
          <a:p>
            <a:pPr indent="0" marL="0">
              <a:buNone/>
            </a:pPr>
            <a:r>
              <a:rPr lang="en-US" sz="1400" dirty="0">
                <a:solidFill>
                  <a:srgbClr val="5B6B78"/>
                </a:solidFill>
                <a:latin typeface="Courier New" pitchFamily="34" charset="0"/>
                <a:ea typeface="Courier New" pitchFamily="34" charset="-122"/>
                <a:cs typeface="Courier New" pitchFamily="34" charset="-120"/>
              </a:rPr>
              <a:t> 0(sp)</a:t>
            </a:r>
            <a:endParaRPr lang="en-US" sz="1400" dirty="0"/>
          </a:p>
        </p:txBody>
      </p:sp>
      <p:sp>
        <p:nvSpPr>
          <p:cNvPr id="24" name="Shape 22"/>
          <p:cNvSpPr/>
          <p:nvPr/>
        </p:nvSpPr>
        <p:spPr>
          <a:xfrm>
            <a:off x="6766560" y="4654296"/>
            <a:ext cx="777240" cy="0"/>
          </a:xfrm>
          <a:prstGeom prst="line">
            <a:avLst/>
          </a:prstGeom>
          <a:noFill/>
          <a:ln w="28575">
            <a:solidFill>
              <a:srgbClr val="B23A48"/>
            </a:solidFill>
            <a:prstDash val="solid"/>
            <a:tailEnd type="triangle"/>
          </a:ln>
        </p:spPr>
      </p:sp>
      <p:sp>
        <p:nvSpPr>
          <p:cNvPr id="25" name="Text 23"/>
          <p:cNvSpPr txBox="1"/>
          <p:nvPr/>
        </p:nvSpPr>
        <p:spPr>
          <a:xfrm>
            <a:off x="6217920" y="4370832"/>
            <a:ext cx="502920" cy="566928"/>
          </a:xfrm>
          <a:prstGeom prst="rect">
            <a:avLst/>
          </a:prstGeom>
          <a:noFill/>
          <a:ln/>
        </p:spPr>
        <p:txBody>
          <a:bodyPr wrap="square" lIns="0" tIns="0" rIns="0" bIns="0" rtlCol="0" anchor="ctr"/>
          <a:lstStyle/>
          <a:p>
            <a:pPr algn="r" indent="0" marL="0">
              <a:buNone/>
            </a:pPr>
            <a:r>
              <a:rPr lang="en-US" sz="1800" b="1" dirty="0">
                <a:solidFill>
                  <a:srgbClr val="B23A48"/>
                </a:solidFill>
                <a:latin typeface="Courier New" pitchFamily="34" charset="0"/>
                <a:ea typeface="Courier New" pitchFamily="34" charset="-122"/>
                <a:cs typeface="Courier New" pitchFamily="34" charset="-120"/>
              </a:rPr>
              <a:t>sp</a:t>
            </a:r>
            <a:endParaRPr lang="en-US" sz="1800" dirty="0"/>
          </a:p>
        </p:txBody>
      </p:sp>
      <p:sp>
        <p:nvSpPr>
          <p:cNvPr id="26" name="Text 24"/>
          <p:cNvSpPr txBox="1"/>
          <p:nvPr/>
        </p:nvSpPr>
        <p:spPr>
          <a:xfrm>
            <a:off x="7589520" y="1810512"/>
            <a:ext cx="2926080" cy="256032"/>
          </a:xfrm>
          <a:prstGeom prst="rect">
            <a:avLst/>
          </a:prstGeom>
          <a:noFill/>
          <a:ln/>
        </p:spPr>
        <p:txBody>
          <a:bodyPr wrap="square" lIns="0" tIns="0" rIns="0" bIns="0" rtlCol="0" anchor="t"/>
          <a:lstStyle/>
          <a:p>
            <a:pPr algn="ctr" indent="0" marL="0">
              <a:buNone/>
            </a:pPr>
            <a:r>
              <a:rPr lang="en-US" sz="1150" i="1" dirty="0">
                <a:solidFill>
                  <a:srgbClr val="5B6B78"/>
                </a:solidFill>
                <a:latin typeface="Calibri" pitchFamily="34" charset="0"/>
                <a:ea typeface="Calibri" pitchFamily="34" charset="-122"/>
                <a:cs typeface="Calibri" pitchFamily="34" charset="-120"/>
              </a:rPr>
              <a:t>higher addresses</a:t>
            </a:r>
            <a:endParaRPr lang="en-US" sz="1150" dirty="0"/>
          </a:p>
        </p:txBody>
      </p:sp>
      <p:sp>
        <p:nvSpPr>
          <p:cNvPr id="27" name="Text 25"/>
          <p:cNvSpPr txBox="1"/>
          <p:nvPr/>
        </p:nvSpPr>
        <p:spPr>
          <a:xfrm>
            <a:off x="7040880" y="5120640"/>
            <a:ext cx="4754880" cy="64008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The stack grows downward: subtract from sp to allocate, add to release.</a:t>
            </a:r>
            <a:endParaRPr lang="en-US" sz="1400" dirty="0"/>
          </a:p>
        </p:txBody>
      </p:sp>
      <p:sp>
        <p:nvSpPr>
          <p:cNvPr id="28" name="Shape 26"/>
          <p:cNvSpPr/>
          <p:nvPr/>
        </p:nvSpPr>
        <p:spPr>
          <a:xfrm>
            <a:off x="7939862" y="91440"/>
            <a:ext cx="3703193" cy="274320"/>
          </a:xfrm>
          <a:prstGeom prst="rect">
            <a:avLst/>
          </a:prstGeom>
          <a:solidFill>
            <a:srgbClr val="F3E8FF"/>
          </a:solidFill>
          <a:ln w="12700">
            <a:solidFill>
              <a:srgbClr val="7E22CE"/>
            </a:solidFill>
            <a:prstDash val="dash"/>
          </a:ln>
        </p:spPr>
      </p:sp>
      <p:sp>
        <p:nvSpPr>
          <p:cNvPr id="29" name="Shape 27"/>
          <p:cNvSpPr/>
          <p:nvPr/>
        </p:nvSpPr>
        <p:spPr>
          <a:xfrm>
            <a:off x="7967294" y="128016"/>
            <a:ext cx="45720" cy="45720"/>
          </a:xfrm>
          <a:prstGeom prst="rect">
            <a:avLst/>
          </a:prstGeom>
          <a:solidFill>
            <a:srgbClr val="7E22CE"/>
          </a:solidFill>
          <a:ln w="12700">
            <a:solidFill>
              <a:srgbClr val="7E22CE"/>
            </a:solidFill>
            <a:prstDash val="solid"/>
          </a:ln>
        </p:spPr>
      </p:sp>
      <p:sp>
        <p:nvSpPr>
          <p:cNvPr id="30" name="Shape 28"/>
          <p:cNvSpPr/>
          <p:nvPr/>
        </p:nvSpPr>
        <p:spPr>
          <a:xfrm>
            <a:off x="7967294" y="205740"/>
            <a:ext cx="45720" cy="45720"/>
          </a:xfrm>
          <a:prstGeom prst="rect">
            <a:avLst/>
          </a:prstGeom>
          <a:solidFill>
            <a:srgbClr val="7E22CE"/>
          </a:solidFill>
          <a:ln w="12700">
            <a:solidFill>
              <a:srgbClr val="7E22CE"/>
            </a:solidFill>
            <a:prstDash val="solid"/>
          </a:ln>
        </p:spPr>
      </p:sp>
      <p:sp>
        <p:nvSpPr>
          <p:cNvPr id="31" name="Shape 29"/>
          <p:cNvSpPr/>
          <p:nvPr/>
        </p:nvSpPr>
        <p:spPr>
          <a:xfrm>
            <a:off x="7967294" y="283464"/>
            <a:ext cx="45720" cy="45720"/>
          </a:xfrm>
          <a:prstGeom prst="rect">
            <a:avLst/>
          </a:prstGeom>
          <a:solidFill>
            <a:srgbClr val="7E22CE"/>
          </a:solidFill>
          <a:ln w="12700">
            <a:solidFill>
              <a:srgbClr val="7E22CE"/>
            </a:solidFill>
            <a:prstDash val="solid"/>
          </a:ln>
        </p:spPr>
      </p:sp>
      <p:pic>
        <p:nvPicPr>
          <p:cNvPr id="32" name="Image 0" descr="preencoded.png">    </p:cNvPr>
          <p:cNvPicPr>
            <a:picLocks noChangeAspect="1"/>
          </p:cNvPicPr>
          <p:nvPr/>
        </p:nvPicPr>
        <p:blipFill>
          <a:blip r:embed="rId1"/>
          <a:stretch>
            <a:fillRect/>
          </a:stretch>
        </p:blipFill>
        <p:spPr>
          <a:xfrm>
            <a:off x="8067878" y="128016"/>
            <a:ext cx="201168" cy="201168"/>
          </a:xfrm>
          <a:prstGeom prst="rect">
            <a:avLst/>
          </a:prstGeom>
        </p:spPr>
      </p:pic>
      <p:sp>
        <p:nvSpPr>
          <p:cNvPr id="33" name="Text 30"/>
          <p:cNvSpPr txBox="1"/>
          <p:nvPr/>
        </p:nvSpPr>
        <p:spPr>
          <a:xfrm>
            <a:off x="8323910" y="91440"/>
            <a:ext cx="3282569"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the stack</a:t>
            </a:r>
            <a:pPr indent="0" marL="0">
              <a:buNone/>
            </a:pPr>
            <a:r>
              <a:rPr lang="en-US" sz="1100" b="1" dirty="0">
                <a:solidFill>
                  <a:srgbClr val="6B21A8"/>
                </a:solidFill>
                <a:latin typeface="Calibri" pitchFamily="34" charset="0"/>
                <a:ea typeface="Calibri" pitchFamily="34" charset="-122"/>
                <a:cs typeface="Calibri" pitchFamily="34" charset="-120"/>
              </a:rPr>
              <a:t> → Lecture 18</a:t>
            </a:r>
            <a:endParaRPr lang="en-US" sz="1100" dirty="0"/>
          </a:p>
        </p:txBody>
      </p:sp>
      <p:sp>
        <p:nvSpPr>
          <p:cNvPr id="34" name="Shape 31"/>
          <p:cNvSpPr/>
          <p:nvPr/>
        </p:nvSpPr>
        <p:spPr>
          <a:xfrm>
            <a:off x="4868748" y="91440"/>
            <a:ext cx="2961386" cy="274320"/>
          </a:xfrm>
          <a:prstGeom prst="rect">
            <a:avLst/>
          </a:prstGeom>
          <a:solidFill>
            <a:srgbClr val="E0F2FE"/>
          </a:solidFill>
          <a:ln w="12700">
            <a:solidFill>
              <a:srgbClr val="0369A1"/>
            </a:solidFill>
            <a:prstDash val="solid"/>
          </a:ln>
        </p:spPr>
      </p:sp>
      <p:sp>
        <p:nvSpPr>
          <p:cNvPr id="35" name="Shape 32"/>
          <p:cNvSpPr/>
          <p:nvPr/>
        </p:nvSpPr>
        <p:spPr>
          <a:xfrm>
            <a:off x="4868748" y="91440"/>
            <a:ext cx="73152" cy="274320"/>
          </a:xfrm>
          <a:prstGeom prst="rect">
            <a:avLst/>
          </a:prstGeom>
          <a:solidFill>
            <a:srgbClr val="0369A1"/>
          </a:solidFill>
          <a:ln w="12700">
            <a:solidFill>
              <a:srgbClr val="0369A1"/>
            </a:solidFill>
            <a:prstDash val="solid"/>
          </a:ln>
        </p:spPr>
      </p:sp>
      <p:pic>
        <p:nvPicPr>
          <p:cNvPr id="36" name="Image 1" descr="preencoded.png">    </p:cNvPr>
          <p:cNvPicPr>
            <a:picLocks noChangeAspect="1"/>
          </p:cNvPicPr>
          <p:nvPr/>
        </p:nvPicPr>
        <p:blipFill>
          <a:blip r:embed="rId2"/>
          <a:stretch>
            <a:fillRect/>
          </a:stretch>
        </p:blipFill>
        <p:spPr>
          <a:xfrm>
            <a:off x="4996764" y="128016"/>
            <a:ext cx="201168" cy="201168"/>
          </a:xfrm>
          <a:prstGeom prst="rect">
            <a:avLst/>
          </a:prstGeom>
        </p:spPr>
      </p:pic>
      <p:sp>
        <p:nvSpPr>
          <p:cNvPr id="37" name="Text 33"/>
          <p:cNvSpPr txBox="1"/>
          <p:nvPr/>
        </p:nvSpPr>
        <p:spPr>
          <a:xfrm>
            <a:off x="5252796"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why ra is saved</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3: a value that survives between frames</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00" dirty="0">
                <a:solidFill>
                  <a:srgbClr val="E6EDF2"/>
                </a:solidFill>
                <a:latin typeface="Courier New" pitchFamily="34" charset="0"/>
                <a:ea typeface="Courier New" pitchFamily="34" charset="-122"/>
                <a:cs typeface="Courier New" pitchFamily="34" charset="-120"/>
              </a:rPr>
              <a:t>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A leaf function: it calls nothing,</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pPr indent="0" marL="0">
              <a:buNone/>
            </a:pPr>
            <a:r>
              <a:rPr lang="en-US" sz="1400" dirty="0">
                <a:solidFill>
                  <a:srgbClr val="8FB3A0"/>
                </a:solidFill>
                <a:latin typeface="Courier New" pitchFamily="34" charset="0"/>
                <a:ea typeface="Courier New" pitchFamily="34" charset="-122"/>
                <a:cs typeface="Courier New" pitchFamily="34" charset="-120"/>
              </a:rPr>
              <a:t># so it needs no stack frame.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la   t0, counter      </a:t>
            </a:r>
            <a:pPr indent="0" marL="0">
              <a:buNone/>
            </a:pPr>
            <a:r>
              <a:rPr lang="en-US" sz="1400" dirty="0">
                <a:solidFill>
                  <a:srgbClr val="8FB3A0"/>
                </a:solidFill>
                <a:latin typeface="Courier New" pitchFamily="34" charset="0"/>
                <a:ea typeface="Courier New" pitchFamily="34" charset="-122"/>
                <a:cs typeface="Courier New" pitchFamily="34" charset="-120"/>
              </a:rPr>
              <a:t># t0 = ADDRESS of counter</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lw   t1, 0(t0)        </a:t>
            </a:r>
            <a:pPr indent="0" marL="0">
              <a:buNone/>
            </a:pPr>
            <a:r>
              <a:rPr lang="en-US" sz="1400" dirty="0">
                <a:solidFill>
                  <a:srgbClr val="8FB3A0"/>
                </a:solidFill>
                <a:latin typeface="Courier New" pitchFamily="34" charset="0"/>
                <a:ea typeface="Courier New" pitchFamily="34" charset="-122"/>
                <a:cs typeface="Courier New" pitchFamily="34" charset="-120"/>
              </a:rPr>
              <a:t># t1 = VALUE stored there   (load)</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addi t1, t1, 1        </a:t>
            </a:r>
            <a:pPr indent="0" marL="0">
              <a:buNone/>
            </a:pPr>
            <a:r>
              <a:rPr lang="en-US" sz="1400" dirty="0">
                <a:solidFill>
                  <a:srgbClr val="8FB3A0"/>
                </a:solidFill>
                <a:latin typeface="Courier New" pitchFamily="34" charset="0"/>
                <a:ea typeface="Courier New" pitchFamily="34" charset="-122"/>
                <a:cs typeface="Courier New" pitchFamily="34" charset="-120"/>
              </a:rPr>
              <a:t># one tick per frame        (modify)</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sw   t1, 0(t0)        </a:t>
            </a:r>
            <a:pPr indent="0" marL="0">
              <a:buNone/>
            </a:pPr>
            <a:r>
              <a:rPr lang="en-US" sz="1400" dirty="0">
                <a:solidFill>
                  <a:srgbClr val="8FB3A0"/>
                </a:solidFill>
                <a:latin typeface="Courier New" pitchFamily="34" charset="0"/>
                <a:ea typeface="Courier New" pitchFamily="34" charset="-122"/>
                <a:cs typeface="Courier New" pitchFamily="34" charset="-120"/>
              </a:rPr>
              <a:t># write it back             (store)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.data</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counter: .word 0</a:t>
            </a:r>
            <a:endParaRPr lang="en-US" sz="14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counter is a label: it names a location in memory, in the .data section, holding one 32-bit word</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la puts the ADDRESS of that location in t0</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lw reads the VALUE at that address into t1; sw writes it back</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processor computes only in registers: load, modify, store</a:t>
            </a:r>
            <a:endParaRPr lang="en-US" sz="1200" dirty="0"/>
          </a:p>
        </p:txBody>
      </p:sp>
      <p:sp>
        <p:nvSpPr>
          <p:cNvPr id="17" name="Shape 15"/>
          <p:cNvSpPr/>
          <p:nvPr/>
        </p:nvSpPr>
        <p:spPr>
          <a:xfrm>
            <a:off x="7893761" y="91440"/>
            <a:ext cx="3749294" cy="274320"/>
          </a:xfrm>
          <a:prstGeom prst="rect">
            <a:avLst/>
          </a:prstGeom>
          <a:solidFill>
            <a:srgbClr val="E0F2FE"/>
          </a:solidFill>
          <a:ln w="12700">
            <a:solidFill>
              <a:srgbClr val="0369A1"/>
            </a:solidFill>
            <a:prstDash val="solid"/>
          </a:ln>
        </p:spPr>
      </p:sp>
      <p:sp>
        <p:nvSpPr>
          <p:cNvPr id="18" name="Shape 16"/>
          <p:cNvSpPr/>
          <p:nvPr/>
        </p:nvSpPr>
        <p:spPr>
          <a:xfrm>
            <a:off x="7893761"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20" name="Text 17"/>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address, value, load, store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Step 4: make the counter visible</a:t>
            </a:r>
            <a:endParaRPr lang="en-US" sz="3200" dirty="0"/>
          </a:p>
        </p:txBody>
      </p:sp>
      <p:sp>
        <p:nvSpPr>
          <p:cNvPr id="3" name="Shape 1"/>
          <p:cNvSpPr/>
          <p:nvPr/>
        </p:nvSpPr>
        <p:spPr>
          <a:xfrm>
            <a:off x="548640" y="1417320"/>
            <a:ext cx="667512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21792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la   t0, counter</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lw   t1, 0(t0)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andi a2, t1, 255      </a:t>
            </a:r>
            <a:pPr indent="0" marL="0">
              <a:buNone/>
            </a:pPr>
            <a:r>
              <a:rPr lang="en-US" sz="1450" dirty="0">
                <a:solidFill>
                  <a:srgbClr val="8FB3A0"/>
                </a:solidFill>
                <a:latin typeface="Courier New" pitchFamily="34" charset="0"/>
                <a:ea typeface="Courier New" pitchFamily="34" charset="-122"/>
                <a:cs typeface="Courier New" pitchFamily="34" charset="-120"/>
              </a:rPr>
              <a:t># width = counter modulo 256</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a0, 32           </a:t>
            </a:r>
            <a:pPr indent="0" marL="0">
              <a:buNone/>
            </a:pPr>
            <a:r>
              <a:rPr lang="en-US" sz="1450" dirty="0">
                <a:solidFill>
                  <a:srgbClr val="8FB3A0"/>
                </a:solidFill>
                <a:latin typeface="Courier New" pitchFamily="34" charset="0"/>
                <a:ea typeface="Courier New" pitchFamily="34" charset="-122"/>
                <a:cs typeface="Courier New" pitchFamily="34" charset="-120"/>
              </a:rPr>
              <a:t># x</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a1, 60           </a:t>
            </a:r>
            <a:pPr indent="0" marL="0">
              <a:buNone/>
            </a:pPr>
            <a:r>
              <a:rPr lang="en-US" sz="1450" dirty="0">
                <a:solidFill>
                  <a:srgbClr val="8FB3A0"/>
                </a:solidFill>
                <a:latin typeface="Courier New" pitchFamily="34" charset="0"/>
                <a:ea typeface="Courier New" pitchFamily="34" charset="-122"/>
                <a:cs typeface="Courier New" pitchFamily="34" charset="-120"/>
              </a:rPr>
              <a:t># y</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a3, 8            </a:t>
            </a:r>
            <a:pPr indent="0" marL="0">
              <a:buNone/>
            </a:pPr>
            <a:r>
              <a:rPr lang="en-US" sz="1450" dirty="0">
                <a:solidFill>
                  <a:srgbClr val="8FB3A0"/>
                </a:solidFill>
                <a:latin typeface="Courier New" pitchFamily="34" charset="0"/>
                <a:ea typeface="Courier New" pitchFamily="34" charset="-122"/>
                <a:cs typeface="Courier New" pitchFamily="34" charset="-120"/>
              </a:rPr>
              <a:t># height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a4, GREEN        </a:t>
            </a:r>
            <a:pPr indent="0" marL="0">
              <a:buNone/>
            </a:pPr>
            <a:r>
              <a:rPr lang="en-US" sz="1450" dirty="0">
                <a:solidFill>
                  <a:srgbClr val="8FB3A0"/>
                </a:solidFill>
                <a:latin typeface="Courier New" pitchFamily="34" charset="0"/>
                <a:ea typeface="Courier New" pitchFamily="34" charset="-122"/>
                <a:cs typeface="Courier New" pitchFamily="34" charset="-120"/>
              </a:rPr>
              <a:t># .equ GREEN, 0x07e0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call prg32_gfx_rect</a:t>
            </a:r>
            <a:endParaRPr lang="en-US" sz="1450" dirty="0"/>
          </a:p>
        </p:txBody>
      </p:sp>
      <p:sp>
        <p:nvSpPr>
          <p:cNvPr id="5" name="Shape 3"/>
          <p:cNvSpPr/>
          <p:nvPr/>
        </p:nvSpPr>
        <p:spPr>
          <a:xfrm>
            <a:off x="7470648" y="1399032"/>
            <a:ext cx="4245559" cy="2708339"/>
          </a:xfrm>
          <a:prstGeom prst="roundRect">
            <a:avLst>
              <a:gd name="adj" fmla="val 2701"/>
            </a:avLst>
          </a:prstGeom>
          <a:solidFill>
            <a:srgbClr val="1B2530"/>
          </a:solidFill>
          <a:ln w="12700">
            <a:solidFill>
              <a:srgbClr val="1B2530"/>
            </a:solidFill>
            <a:prstDash val="solid"/>
          </a:ln>
        </p:spPr>
      </p:sp>
      <p:pic>
        <p:nvPicPr>
          <p:cNvPr id="6" name="Image 0" descr="/Users/raffaelemontella/devel/riscv-prg32/computer-architecture-with-prg32/tools/assets/lab1_step4_bar.png">    </p:cNvPr>
          <p:cNvPicPr>
            <a:picLocks noChangeAspect="1"/>
          </p:cNvPicPr>
          <p:nvPr/>
        </p:nvPicPr>
        <p:blipFill>
          <a:blip r:embed="rId1"/>
          <a:stretch>
            <a:fillRect/>
          </a:stretch>
        </p:blipFill>
        <p:spPr>
          <a:xfrm>
            <a:off x="7543800" y="1472184"/>
            <a:ext cx="4099255" cy="2562035"/>
          </a:xfrm>
          <a:prstGeom prst="rect">
            <a:avLst/>
          </a:prstGeom>
        </p:spPr>
      </p:pic>
      <p:sp>
        <p:nvSpPr>
          <p:cNvPr id="7" name="Text 4"/>
          <p:cNvSpPr txBox="1"/>
          <p:nvPr/>
        </p:nvSpPr>
        <p:spPr>
          <a:xfrm>
            <a:off x="7543800" y="4180523"/>
            <a:ext cx="4099255" cy="256032"/>
          </a:xfrm>
          <a:prstGeom prst="rect">
            <a:avLst/>
          </a:prstGeom>
          <a:noFill/>
          <a:ln/>
        </p:spPr>
        <p:txBody>
          <a:bodyPr wrap="square" lIns="0" tIns="0" rIns="0" bIns="0" rtlCol="0" anchor="t"/>
          <a:lstStyle/>
          <a:p>
            <a:pPr indent="0" marL="0">
              <a:buNone/>
            </a:pPr>
            <a:r>
              <a:rPr lang="en-US" sz="1150" i="1" dirty="0">
                <a:solidFill>
                  <a:srgbClr val="5B6B78"/>
                </a:solidFill>
                <a:latin typeface="Calibri" pitchFamily="34" charset="0"/>
                <a:ea typeface="Calibri" pitchFamily="34" charset="-122"/>
                <a:cs typeface="Calibri" pitchFamily="34" charset="-120"/>
              </a:rPr>
              <a:t>Screenshot: this step, built and run on PRG32</a:t>
            </a:r>
            <a:endParaRPr lang="en-US" sz="1150" dirty="0"/>
          </a:p>
        </p:txBody>
      </p:sp>
      <p:sp>
        <p:nvSpPr>
          <p:cNvPr id="8" name="Shape 5"/>
          <p:cNvSpPr/>
          <p:nvPr/>
        </p:nvSpPr>
        <p:spPr>
          <a:xfrm>
            <a:off x="7470648" y="4527995"/>
            <a:ext cx="4245559" cy="1644205"/>
          </a:xfrm>
          <a:prstGeom prst="roundRect">
            <a:avLst>
              <a:gd name="adj" fmla="val 4449"/>
            </a:avLst>
          </a:prstGeom>
          <a:solidFill>
            <a:srgbClr val="EEF2F4"/>
          </a:solidFill>
          <a:ln w="12700">
            <a:solidFill>
              <a:srgbClr val="EEF2F4"/>
            </a:solidFill>
            <a:prstDash val="solid"/>
          </a:ln>
        </p:spPr>
      </p:sp>
      <p:sp>
        <p:nvSpPr>
          <p:cNvPr id="9" name="Text 6"/>
          <p:cNvSpPr txBox="1"/>
          <p:nvPr/>
        </p:nvSpPr>
        <p:spPr>
          <a:xfrm>
            <a:off x="7680960" y="4637723"/>
            <a:ext cx="3824935" cy="1424749"/>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bar grows from 0 to 255 pixels, then starts again. andi with 255 keeps only the low eight bits of the counter.</a:t>
            </a:r>
            <a:endParaRPr lang="en-US" sz="1700" dirty="0"/>
          </a:p>
        </p:txBody>
      </p:sp>
      <p:sp>
        <p:nvSpPr>
          <p:cNvPr id="10" name="Shape 7"/>
          <p:cNvSpPr/>
          <p:nvPr/>
        </p:nvSpPr>
        <p:spPr>
          <a:xfrm>
            <a:off x="8719388" y="91440"/>
            <a:ext cx="2923667" cy="274320"/>
          </a:xfrm>
          <a:prstGeom prst="rect">
            <a:avLst/>
          </a:prstGeom>
          <a:solidFill>
            <a:srgbClr val="FEF3C7"/>
          </a:solidFill>
          <a:ln w="12700">
            <a:solidFill>
              <a:srgbClr val="B45309"/>
            </a:solidFill>
            <a:prstDash val="solid"/>
          </a:ln>
        </p:spPr>
      </p:sp>
      <p:sp>
        <p:nvSpPr>
          <p:cNvPr id="11" name="Shape 8"/>
          <p:cNvSpPr/>
          <p:nvPr/>
        </p:nvSpPr>
        <p:spPr>
          <a:xfrm>
            <a:off x="8719388" y="91440"/>
            <a:ext cx="27432" cy="274320"/>
          </a:xfrm>
          <a:prstGeom prst="rect">
            <a:avLst/>
          </a:prstGeom>
          <a:solidFill>
            <a:srgbClr val="B45309"/>
          </a:solidFill>
          <a:ln w="12700">
            <a:solidFill>
              <a:srgbClr val="B45309"/>
            </a:solidFill>
            <a:prstDash val="solid"/>
          </a:ln>
        </p:spPr>
      </p:sp>
      <p:sp>
        <p:nvSpPr>
          <p:cNvPr id="12" name="Shape 9"/>
          <p:cNvSpPr/>
          <p:nvPr/>
        </p:nvSpPr>
        <p:spPr>
          <a:xfrm>
            <a:off x="8774252" y="91440"/>
            <a:ext cx="27432" cy="274320"/>
          </a:xfrm>
          <a:prstGeom prst="rect">
            <a:avLst/>
          </a:prstGeom>
          <a:solidFill>
            <a:srgbClr val="B45309"/>
          </a:solidFill>
          <a:ln w="12700">
            <a:solidFill>
              <a:srgbClr val="B45309"/>
            </a:solidFill>
            <a:prstDash val="solid"/>
          </a:ln>
        </p:spPr>
      </p:sp>
      <p:pic>
        <p:nvPicPr>
          <p:cNvPr id="13" name="Image 1" descr="preencoded.png">    </p:cNvPr>
          <p:cNvPicPr>
            <a:picLocks noChangeAspect="1"/>
          </p:cNvPicPr>
          <p:nvPr/>
        </p:nvPicPr>
        <p:blipFill>
          <a:blip r:embed="rId2"/>
          <a:stretch>
            <a:fillRect/>
          </a:stretch>
        </p:blipFill>
        <p:spPr>
          <a:xfrm>
            <a:off x="8847404" y="128016"/>
            <a:ext cx="201168" cy="201168"/>
          </a:xfrm>
          <a:prstGeom prst="rect">
            <a:avLst/>
          </a:prstGeom>
        </p:spPr>
      </p:pic>
      <p:sp>
        <p:nvSpPr>
          <p:cNvPr id="14" name="Text 10"/>
          <p:cNvSpPr txBox="1"/>
          <p:nvPr/>
        </p:nvSpPr>
        <p:spPr>
          <a:xfrm>
            <a:off x="9103436" y="91440"/>
            <a:ext cx="2503043"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bit masks</a:t>
            </a:r>
            <a:pPr indent="0" marL="0">
              <a:buNone/>
            </a:pPr>
            <a:r>
              <a:rPr lang="en-US" sz="1100" b="1" dirty="0">
                <a:solidFill>
                  <a:srgbClr val="92400E"/>
                </a:solidFill>
                <a:latin typeface="Calibri" pitchFamily="34" charset="0"/>
                <a:ea typeface="Calibri" pitchFamily="34" charset="-122"/>
                <a:cs typeface="Calibri" pitchFamily="34" charset="-120"/>
              </a:rPr>
              <a:t> → Lecture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a microscope for registers</a:t>
            </a:r>
            <a:endParaRPr lang="en-US" sz="3200" dirty="0"/>
          </a:p>
        </p:txBody>
      </p:sp>
      <p:sp>
        <p:nvSpPr>
          <p:cNvPr id="3" name="Shape 1"/>
          <p:cNvSpPr/>
          <p:nvPr/>
        </p:nvSpPr>
        <p:spPr>
          <a:xfrm>
            <a:off x="548640" y="155752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35608"/>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Runs the same cartridge on your desktop, one instruction at a time</a:t>
            </a:r>
            <a:endParaRPr lang="en-US" sz="2400" dirty="0"/>
          </a:p>
        </p:txBody>
      </p:sp>
      <p:sp>
        <p:nvSpPr>
          <p:cNvPr id="5" name="Shape 3"/>
          <p:cNvSpPr/>
          <p:nvPr/>
        </p:nvSpPr>
        <p:spPr>
          <a:xfrm>
            <a:off x="548640" y="275844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36520"/>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Stops between any two instructions and shows every register</a:t>
            </a:r>
            <a:endParaRPr lang="en-US" sz="2400" dirty="0"/>
          </a:p>
        </p:txBody>
      </p:sp>
      <p:sp>
        <p:nvSpPr>
          <p:cNvPr id="7" name="Shape 5"/>
          <p:cNvSpPr/>
          <p:nvPr/>
        </p:nvSpPr>
        <p:spPr>
          <a:xfrm>
            <a:off x="548640" y="39593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837432"/>
            <a:ext cx="546811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Step through first_update and watch t0 and t1 change</a:t>
            </a:r>
            <a:endParaRPr lang="en-US" sz="2400" dirty="0"/>
          </a:p>
        </p:txBody>
      </p:sp>
      <p:sp>
        <p:nvSpPr>
          <p:cNvPr id="9" name="Shape 7"/>
          <p:cNvSpPr/>
          <p:nvPr/>
        </p:nvSpPr>
        <p:spPr>
          <a:xfrm>
            <a:off x="548640" y="51602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038344"/>
            <a:ext cx="5468112" cy="111556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Use the board when you want the truth about time, PRG32-QT when you want the truth about a register</a:t>
            </a:r>
            <a:endParaRPr lang="en-US" sz="24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PRG32-QT debugger: source, registers, memory</a:t>
            </a:r>
            <a:endParaRPr lang="en-US" sz="1200" dirty="0"/>
          </a:p>
        </p:txBody>
      </p:sp>
      <p:sp>
        <p:nvSpPr>
          <p:cNvPr id="13" name="Shape 10"/>
          <p:cNvSpPr/>
          <p:nvPr/>
        </p:nvSpPr>
        <p:spPr>
          <a:xfrm>
            <a:off x="8894013" y="91440"/>
            <a:ext cx="2749042" cy="274320"/>
          </a:xfrm>
          <a:prstGeom prst="rect">
            <a:avLst/>
          </a:prstGeom>
          <a:solidFill>
            <a:srgbClr val="FEF3C7"/>
          </a:solidFill>
          <a:ln w="12700">
            <a:solidFill>
              <a:srgbClr val="B45309"/>
            </a:solidFill>
            <a:prstDash val="solid"/>
          </a:ln>
        </p:spPr>
      </p:sp>
      <p:sp>
        <p:nvSpPr>
          <p:cNvPr id="14" name="Shape 11"/>
          <p:cNvSpPr/>
          <p:nvPr/>
        </p:nvSpPr>
        <p:spPr>
          <a:xfrm>
            <a:off x="8894013" y="91440"/>
            <a:ext cx="27432" cy="274320"/>
          </a:xfrm>
          <a:prstGeom prst="rect">
            <a:avLst/>
          </a:prstGeom>
          <a:solidFill>
            <a:srgbClr val="B45309"/>
          </a:solidFill>
          <a:ln w="12700">
            <a:solidFill>
              <a:srgbClr val="B45309"/>
            </a:solidFill>
            <a:prstDash val="solid"/>
          </a:ln>
        </p:spPr>
      </p:sp>
      <p:sp>
        <p:nvSpPr>
          <p:cNvPr id="15" name="Shape 12"/>
          <p:cNvSpPr/>
          <p:nvPr/>
        </p:nvSpPr>
        <p:spPr>
          <a:xfrm>
            <a:off x="8948877" y="91440"/>
            <a:ext cx="27432" cy="274320"/>
          </a:xfrm>
          <a:prstGeom prst="rect">
            <a:avLst/>
          </a:prstGeom>
          <a:solidFill>
            <a:srgbClr val="B45309"/>
          </a:solidFill>
          <a:ln w="12700">
            <a:solidFill>
              <a:srgbClr val="B45309"/>
            </a:solidFill>
            <a:prstDash val="solid"/>
          </a:ln>
        </p:spPr>
      </p:sp>
      <p:pic>
        <p:nvPicPr>
          <p:cNvPr id="16" name="Image 1" descr="preencoded.png">    </p:cNvPr>
          <p:cNvPicPr>
            <a:picLocks noChangeAspect="1"/>
          </p:cNvPicPr>
          <p:nvPr/>
        </p:nvPicPr>
        <p:blipFill>
          <a:blip r:embed="rId2"/>
          <a:stretch>
            <a:fillRect/>
          </a:stretch>
        </p:blipFill>
        <p:spPr>
          <a:xfrm>
            <a:off x="9022029" y="128016"/>
            <a:ext cx="201168" cy="201168"/>
          </a:xfrm>
          <a:prstGeom prst="rect">
            <a:avLst/>
          </a:prstGeom>
        </p:spPr>
      </p:pic>
      <p:sp>
        <p:nvSpPr>
          <p:cNvPr id="17" name="Text 13"/>
          <p:cNvSpPr txBox="1"/>
          <p:nvPr/>
        </p:nvSpPr>
        <p:spPr>
          <a:xfrm>
            <a:off x="9278061" y="91440"/>
            <a:ext cx="2328418"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PRG32-QT debugger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02: First Contact: RISC-V Assembly on PRG32</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l02.S: the four steps of the lecture in one file</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HELLO PRG32 and, under it, a green bar that grows by one pixel per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frame and starts again at 256.</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l02.S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first --name first --out first.prg32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WHITE, 0xffff</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GREEN, 0x07e0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first_draw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first_init:                  </a:t>
            </a:r>
            <a:pPr indent="0" marL="0">
              <a:buNone/>
            </a:pPr>
            <a:r>
              <a:rPr lang="en-US" sz="1400" dirty="0">
                <a:solidFill>
                  <a:srgbClr val="8FB3A0"/>
                </a:solidFill>
                <a:latin typeface="Courier New" pitchFamily="34" charset="0"/>
                <a:ea typeface="Courier New" pitchFamily="34" charset="-122"/>
                <a:cs typeface="Courier New" pitchFamily="34" charset="-120"/>
              </a:rPr>
              <a:t># step 1: a function that returns</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first_update:                </a:t>
            </a:r>
            <a:pPr indent="0" marL="0">
              <a:buNone/>
            </a:pPr>
            <a:r>
              <a:rPr lang="en-US" sz="1500" dirty="0">
                <a:solidFill>
                  <a:srgbClr val="8FB3A0"/>
                </a:solidFill>
                <a:latin typeface="Courier New" pitchFamily="34" charset="0"/>
                <a:ea typeface="Courier New" pitchFamily="34" charset="-122"/>
                <a:cs typeface="Courier New" pitchFamily="34" charset="-120"/>
              </a:rPr>
              <a:t># step 3: a value that survives between frames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pPr indent="0" marL="0">
              <a:buNone/>
            </a:pPr>
            <a:r>
              <a:rPr lang="en-US" sz="1500" dirty="0">
                <a:solidFill>
                  <a:srgbClr val="8FB3A0"/>
                </a:solidFill>
                <a:latin typeface="Courier New" pitchFamily="34" charset="0"/>
                <a:ea typeface="Courier New" pitchFamily="34" charset="-122"/>
                <a:cs typeface="Courier New" pitchFamily="34" charset="-120"/>
              </a:rPr>
              <a:t># A leaf function: it calls nothing, so it needs no stack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t0 = ADDRESS of counter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           </a:t>
            </a:r>
            <a:pPr indent="0" marL="0">
              <a:buNone/>
            </a:pPr>
            <a:r>
              <a:rPr lang="en-US" sz="1500" dirty="0">
                <a:solidFill>
                  <a:srgbClr val="8FB3A0"/>
                </a:solidFill>
                <a:latin typeface="Courier New" pitchFamily="34" charset="0"/>
                <a:ea typeface="Courier New" pitchFamily="34" charset="-122"/>
                <a:cs typeface="Courier New" pitchFamily="34" charset="-120"/>
              </a:rPr>
              <a:t># t1 = VALUE stored there   (load)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t1, t1, 1           </a:t>
            </a:r>
            <a:pPr indent="0" marL="0">
              <a:buNone/>
            </a:pPr>
            <a:r>
              <a:rPr lang="en-US" sz="1500" dirty="0">
                <a:solidFill>
                  <a:srgbClr val="8FB3A0"/>
                </a:solidFill>
                <a:latin typeface="Courier New" pitchFamily="34" charset="0"/>
                <a:ea typeface="Courier New" pitchFamily="34" charset="-122"/>
                <a:cs typeface="Courier New" pitchFamily="34" charset="-120"/>
              </a:rPr>
              <a:t># one tick per frame        (modify)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t1, 0(t0)           </a:t>
            </a:r>
            <a:pPr indent="0" marL="0">
              <a:buNone/>
            </a:pPr>
            <a:r>
              <a:rPr lang="en-US" sz="1500" dirty="0">
                <a:solidFill>
                  <a:srgbClr val="8FB3A0"/>
                </a:solidFill>
                <a:latin typeface="Courier New" pitchFamily="34" charset="0"/>
                <a:ea typeface="Courier New" pitchFamily="34" charset="-122"/>
                <a:cs typeface="Courier New" pitchFamily="34" charset="-120"/>
              </a:rPr>
              <a:t># write it back             (store)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first_draw:                  </a:t>
            </a:r>
            <a:pPr indent="0" marL="0">
              <a:buNone/>
            </a:pPr>
            <a:r>
              <a:rPr lang="en-US" sz="1500" dirty="0">
                <a:solidFill>
                  <a:srgbClr val="8FB3A0"/>
                </a:solidFill>
                <a:latin typeface="Courier New" pitchFamily="34" charset="0"/>
                <a:ea typeface="Courier New" pitchFamily="34" charset="-122"/>
                <a:cs typeface="Courier New" pitchFamily="34" charset="-120"/>
              </a:rPr>
              <a:t># step 2: say hello</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prologue: a 16-byte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          </a:t>
            </a:r>
            <a:pPr indent="0" marL="0">
              <a:buNone/>
            </a:pPr>
            <a:r>
              <a:rPr lang="en-US" sz="1500" dirty="0">
                <a:solidFill>
                  <a:srgbClr val="8FB3A0"/>
                </a:solidFill>
                <a:latin typeface="Courier New" pitchFamily="34" charset="0"/>
                <a:ea typeface="Courier New" pitchFamily="34" charset="-122"/>
                <a:cs typeface="Courier New" pitchFamily="34" charset="-120"/>
              </a:rPr>
              <a:t># save the return address</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BLACK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40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a2, title           </a:t>
            </a:r>
            <a:pPr indent="0" marL="0">
              <a:buNone/>
            </a:pPr>
            <a:r>
              <a:rPr lang="en-US" sz="1500" dirty="0">
                <a:solidFill>
                  <a:srgbClr val="8FB3A0"/>
                </a:solidFill>
                <a:latin typeface="Courier New" pitchFamily="34" charset="0"/>
                <a:ea typeface="Courier New" pitchFamily="34" charset="-122"/>
                <a:cs typeface="Courier New" pitchFamily="34" charset="-120"/>
              </a:rPr>
              <a:t># address of the string</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WHITE           </a:t>
            </a:r>
            <a:pPr indent="0" marL="0">
              <a:buNone/>
            </a:pPr>
            <a:r>
              <a:rPr lang="en-US" sz="1500" dirty="0">
                <a:solidFill>
                  <a:srgbClr val="8FB3A0"/>
                </a:solidFill>
                <a:latin typeface="Courier New" pitchFamily="34" charset="0"/>
                <a:ea typeface="Courier New" pitchFamily="34" charset="-122"/>
                <a:cs typeface="Courier New" pitchFamily="34" charset="-120"/>
              </a:rPr>
              <a:t># foreground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BLACK           </a:t>
            </a:r>
            <a:pPr indent="0" marL="0">
              <a:buNone/>
            </a:pPr>
            <a:r>
              <a:rPr lang="en-US" sz="1500" dirty="0">
                <a:solidFill>
                  <a:srgbClr val="8FB3A0"/>
                </a:solidFill>
                <a:latin typeface="Courier New" pitchFamily="34" charset="0"/>
                <a:ea typeface="Courier New" pitchFamily="34" charset="-122"/>
                <a:cs typeface="Courier New" pitchFamily="34" charset="-120"/>
              </a:rPr>
              <a:t># background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prg32_gfx_text8</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l02.S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    la   t0, counter         </a:t>
            </a:r>
            <a:pPr indent="0" marL="0">
              <a:buNone/>
            </a:pPr>
            <a:r>
              <a:rPr lang="en-US" sz="1500" dirty="0">
                <a:solidFill>
                  <a:srgbClr val="8FB3A0"/>
                </a:solidFill>
                <a:latin typeface="Courier New" pitchFamily="34" charset="0"/>
                <a:ea typeface="Courier New" pitchFamily="34" charset="-122"/>
                <a:cs typeface="Courier New" pitchFamily="34" charset="-120"/>
              </a:rPr>
              <a:t># step 4: make the counter visible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a2, t1, 255         </a:t>
            </a:r>
            <a:pPr indent="0" marL="0">
              <a:buNone/>
            </a:pPr>
            <a:r>
              <a:rPr lang="en-US" sz="1500" dirty="0">
                <a:solidFill>
                  <a:srgbClr val="8FB3A0"/>
                </a:solidFill>
                <a:latin typeface="Courier New" pitchFamily="34" charset="0"/>
                <a:ea typeface="Courier New" pitchFamily="34" charset="-122"/>
                <a:cs typeface="Courier New" pitchFamily="34" charset="-120"/>
              </a:rPr>
              <a:t># width = counter modulo 256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a0, 32              </a:t>
            </a:r>
            <a:pPr indent="0" marL="0">
              <a:buNone/>
            </a:pPr>
            <a:r>
              <a:rPr lang="en-US" sz="1500" dirty="0">
                <a:solidFill>
                  <a:srgbClr val="8FB3A0"/>
                </a:solidFill>
                <a:latin typeface="Courier New" pitchFamily="34" charset="0"/>
                <a:ea typeface="Courier New" pitchFamily="34" charset="-122"/>
                <a:cs typeface="Courier New" pitchFamily="34" charset="-120"/>
              </a:rPr>
              <a:t># 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a1, 60              </a:t>
            </a:r>
            <a:pPr indent="0" marL="0">
              <a:buNone/>
            </a:pPr>
            <a:r>
              <a:rPr lang="en-US" sz="1500" dirty="0">
                <a:solidFill>
                  <a:srgbClr val="8FB3A0"/>
                </a:solidFill>
                <a:latin typeface="Courier New" pitchFamily="34" charset="0"/>
                <a:ea typeface="Courier New" pitchFamily="34" charset="-122"/>
                <a:cs typeface="Courier New" pitchFamily="34" charset="-120"/>
              </a:rPr>
              <a:t># 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a3, 8               </a:t>
            </a:r>
            <a:pPr indent="0" marL="0">
              <a:buNone/>
            </a:pPr>
            <a:r>
              <a:rPr lang="en-US" sz="1500" dirty="0">
                <a:solidFill>
                  <a:srgbClr val="8FB3A0"/>
                </a:solidFill>
                <a:latin typeface="Courier New" pitchFamily="34" charset="0"/>
                <a:ea typeface="Courier New" pitchFamily="34" charset="-122"/>
                <a:cs typeface="Courier New" pitchFamily="34" charset="-120"/>
              </a:rPr>
              <a:t># height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li   a4, GREEN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prg32_gfx_rect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          </a:t>
            </a:r>
            <a:pPr indent="0" marL="0">
              <a:buNone/>
            </a:pPr>
            <a:r>
              <a:rPr lang="en-US" sz="1500" dirty="0">
                <a:solidFill>
                  <a:srgbClr val="8FB3A0"/>
                </a:solidFill>
                <a:latin typeface="Courier New" pitchFamily="34" charset="0"/>
                <a:ea typeface="Courier New" pitchFamily="34" charset="-122"/>
                <a:cs typeface="Courier New" pitchFamily="34" charset="-120"/>
              </a:rPr>
              <a:t># epilogue: restore ra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          </a:t>
            </a:r>
            <a:pPr indent="0" marL="0">
              <a:buNone/>
            </a:pPr>
            <a:r>
              <a:rPr lang="en-US" sz="1500" dirty="0">
                <a:solidFill>
                  <a:srgbClr val="8FB3A0"/>
                </a:solidFill>
                <a:latin typeface="Courier New" pitchFamily="34" charset="0"/>
                <a:ea typeface="Courier New" pitchFamily="34" charset="-122"/>
                <a:cs typeface="Courier New" pitchFamily="34" charset="-120"/>
              </a:rPr>
              <a:t># release the frame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title: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.asciz "HELLO PRG32"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counter: .word 0</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38455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HELLO PRG32 and, under it, a green bar that grows by one pixel per frame and starts again at 256.</a:t>
            </a:r>
            <a:endParaRPr lang="en-US" sz="2400" dirty="0"/>
          </a:p>
        </p:txBody>
      </p:sp>
      <p:sp>
        <p:nvSpPr>
          <p:cNvPr id="5" name="Shape 3"/>
          <p:cNvSpPr/>
          <p:nvPr/>
        </p:nvSpPr>
        <p:spPr>
          <a:xfrm>
            <a:off x="548640" y="356387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441954"/>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2.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l02 --out l02.prg32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l02-qemu.prg32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~/arc12/code/l02.S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first --name l02 --architecture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l02-esp32c6.prg32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l02-esp32c6.prg32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first;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on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Change the title string and its colour to yellow (0xffe0); run it again</a:t>
            </a:r>
            <a:endParaRPr lang="en-US" sz="2200" dirty="0"/>
          </a:p>
        </p:txBody>
      </p:sp>
      <p:sp>
        <p:nvSpPr>
          <p:cNvPr id="6" name="Text 4"/>
          <p:cNvSpPr txBox="1"/>
          <p:nvPr/>
        </p:nvSpPr>
        <p:spPr>
          <a:xfrm>
            <a:off x="548640" y="201244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199415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Make the bar grow twice as fast, then four times as fast, changing one instruction only</a:t>
            </a:r>
            <a:endParaRPr lang="en-US" sz="2200" dirty="0"/>
          </a:p>
        </p:txBody>
      </p:sp>
      <p:sp>
        <p:nvSpPr>
          <p:cNvPr id="8" name="Text 6"/>
          <p:cNvSpPr txBox="1"/>
          <p:nvPr/>
        </p:nvSpPr>
        <p:spPr>
          <a:xfrm>
            <a:off x="548640" y="28321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138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Make the bar shrink instead of grow. What happens when the counter passes zero?</a:t>
            </a:r>
            <a:endParaRPr lang="en-US" sz="2200" dirty="0"/>
          </a:p>
        </p:txBody>
      </p:sp>
      <p:sp>
        <p:nvSpPr>
          <p:cNvPr id="10" name="Text 8"/>
          <p:cNvSpPr txBox="1"/>
          <p:nvPr/>
        </p:nvSpPr>
        <p:spPr>
          <a:xfrm>
            <a:off x="548640" y="365175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3347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PRG32-QT, single-step first_update and write down t0 and t1 after each instruction</a:t>
            </a:r>
            <a:endParaRPr lang="en-US" sz="22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a second bar, in red, whose width is the counter modulo 64</a:t>
            </a:r>
            <a:endParaRPr lang="en-US" sz="22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For exercise 3 the counter goes 0, then 0xFFFFFFFF: with andi 255 the bar jumps to 255 and shrinks. Keep the observation: Lecture 05 explains it.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First Contact: RISC-V Assembly on PRG32: the code</dc:title>
  <dc:subject>Lecture 02</dc:subject>
  <dc:creator>Raffaele Montella</dc:creator>
  <cp:lastModifiedBy>Raffaele Montella</cp:lastModifiedBy>
  <cp:revision>1</cp:revision>
  <dcterms:created xsi:type="dcterms:W3CDTF">2026-10-17T07:16:48Z</dcterms:created>
  <dcterms:modified xsi:type="dcterms:W3CDTF">2026-10-17T07:16:48Z</dcterms:modified>
</cp:coreProperties>
</file>