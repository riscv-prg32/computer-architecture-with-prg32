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4ddbb7a-9b44-d143-04ad-6627a0c23f95}">
          <p14:sldIdLst>
            <p14:sldId id="256"/>
            <p14:sldId id="257"/>
          </p14:sldIdLst>
        </p14:section>
        <p14:section name="The listings" id="{11db34a5-a3d1-3df3-b613-5b738587800e}">
          <p14:sldIdLst>
            <p14:sldId id="258"/>
            <p14:sldId id="259"/>
            <p14:sldId id="260"/>
            <p14:sldId id="261"/>
            <p14:sldId id="262"/>
          </p14:sldIdLst>
        </p14:section>
        <p14:section name="The complete program" id="{519a5629-7757-5cbc-6945-f3b15c6ebad6}">
          <p14:sldIdLst>
            <p14:sldId id="263"/>
            <p14:sldId id="264"/>
            <p14:sldId id="265"/>
          </p14:sldIdLst>
        </p14:section>
        <p14:section name="Run it and test it" id="{aa6b37c3-2899-b3e5-75fe-048f07d178d5}">
          <p14:sldIdLst>
            <p14:sldId id="266"/>
            <p14:sldId id="267"/>
            <p14:sldId id="268"/>
            <p14:sldId id="269"/>
            <p14:sldId id="270"/>
          </p14:sldIdLst>
        </p14:section>
        <p14:section name="Exercises" id="{966a069d-9c5a-304c-ed47-ad10a8c8f7c9}">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code deck of Lecture 11. The lecture deck holds the concepts; this one holds everything you type and run: the listings with their explanation, the complete program, what it shows, and the way to test it on each of the three hosts.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deck contains, in the order of the slides. The program of the lecture is a file that you can build and run as it is: start from there, and come back to the listings to understand each part. The program of this lecture is ~/arc12/code/l11.S; tools/tests/cartridges/run.py builds it, runs it on PRG32-QT with scripted input and checks the pixels of the frame.
For the lecturer: Get the code once: git clone https://github.com/riscv-prg32/computer-architecture-with-prg32 ~/arc12. The program of this lecture is ~/arc12/code/l11.S; tools/tests/cartridges/run.py builds it, runs it on PRG32-QT with scripted input and checks the pixels of the frame. Every listing on these slides is read by the build from a tested file, or checked by tools/tests: see its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a0 holds a number from 0 to 3. The four instructions are the array access of Lecture 04: load the address of the table, multiply the selector by 4, add, and load the selected word. The same selector always gives the same colour, and nothing is remembered from one use to the next. This behaviour, outputs that depend only on the present inputs, defines the machines of today. In hardware this particular one is a multiplexer: four data inputs, two selection bits, one output.
For the lecturer: The array access of Lecture 04, read as a circuit. In the processor the selection is done by gates in well under a nanosecond; here it takes four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decoder at work in the processor. The instruction addi t1, t1, 1 contains a 5-bit field, rd, with the number of the destination register: 00110, that is 6, the register t1. A 5-to-32 decoder turns those five bits into thirty-two write-enable lines, of which only the sixth is active: only that register receives the result. The same instruction contains two more register numbers, which select the registers to be read.
For the lecturer: The instruction of Lecture 02. Grey fields are not involved. The write enable of x0 is simply not connected: x0 always reads zero. Reading uses multiplexers, shown in a few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multiplexer at work in the processor. add t2, t0, t1 adds two registers; addi t2, t0, 5 adds a register and a constant taken from the instruction. Both use the same adder. A multiplexer in front of the second input of the ALU chooses between the value of a register and the constant: its selection line is 0 for add and 1 for addi. It is a multiplexer on whole words: thirty-two one-bit multiplexers with a common selection line. Reading a register is a multiplexer too.
For the lecturer: In the textbook datapath of Patterson and Hennessy the selection signal is called ALUSrc. A gate applied to every bit of a word with a common control is a word gate (porta di parola).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parity network in software, for one byte. Each pair of instructions shifts the value right and combines it with itself by XOR: the first fold brings eight bits onto four, the second four onto two, the third two onto one. The last instruction keeps only the lowest bit, which is the parity. In hardware the same three levels are a tree of seven XOR gates. Trace it by hand with 0x53, which has four 1s, and with 0x13, which has three.
For the lecturer: Written for this lecture. Trace it with 0x53 = 0101 0011 (four 1s, result 0) and with 0x13 = 0001 0011 (three 1s, result 1). In hardware the three levels are a tree of seven XOR gates.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an instruction chooses the operation. The 3-bit field funct3 of the instruction is a compact code: 000 for sum or difference, 001 for shift left, 100 for XOR, 110 for OR, 111 for AND. A small decoder turns it into the selection lines of the multiplexer of the ALU. Where two instructions share a value, such as add and sub, one more bit elsewhere in the instruction distinguishes them. A code, a decoder, a multiplexer: the whole lecture in one table.
For the lecturer: funct3 is the 3-bit field of the instruction seen in Lecture 02 (bits 14 to 12). Three bits, eight code words: a compact code that a small decoder turns into the selection lines of the ALU multiplexer.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For the lecturer: code/l11.S,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For the lecturer: code/l11.S,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For the lecturer: code/l11.S,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program shows when it runs, and what to press. Predict before you run: if the screen differs from this picture, the difference is information. The picture was written by the automatic test, not drawn by hand.
For the lecturer: The picture is the frame that the headless runner of PRG32-QT produced in the test of this program. On QEMU and on the board the game area is the same 320 by 200 pixels, between the two status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quickest way: PRG32-QT on your own computer. Four steps, each with its command. PRG32-QT behaves like a board on port 8080, which is why the upload command says esp32c6. With debug mode enabled you can stop at any instruction and read registers and memory.
For the lecturer: Run by the tests: the cartridge of this slide is built with this command and executed on the headless runner of PRG32-QT. Without the toolchain: import the .prg32 file in PRG32-QT and choose Run Cartridge. Keys: arrows or WASD for the joystick, Z or J for A, X or K for B, Enter for Start, Escape to go back to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emulator. QEMU runs the real firmware on an emulated chip, so the cartridge must be built for the architecture qemu. Stage the cartridge while QEMU is closed. The firmware opens on the Setup menu: choose Run Cartridge and the slot. Remember that the keyboard is read by the terminal, not by the window with the picture.
For the lecturer: Checked by the tests up to the staging: the cartridge is built for the architecture qemu and accepted into the flash image of the emulator. What the emulator then shows is not checked automatically: Espressif QEMU needs its window. Since October 2026 the firmware starts on Setup: choose Run Cartridge, then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kit. The firmware is written once, through USB; after that cartridges travel over Wi-Fi. The upload command is the one used for PRG32-QT with the address of the board. This is the only host that the automatic tests do not run: try it, and report what you see.
For the lecturer: Not run by the tests: there is no board on the test machine. The cartridge for the architecture esp32c6 is built by the tests; the steps are those of the PRG32 documentation. If the serial port is not found pass it explicitly. To use the Wi-Fi of the classroom: python3 -m prg32 wifi set --ssid NAME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most common symptoms, what each means, and what to do. Read the message before changing anything: it nearly always names the cause.
For the lecturer: The first three rows cover most cases. When asking for help, paste the command and the whole message as text. docs/usage/troubleshooting.md of the PRG32 repository has the complete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exercises. Synthesise segment g with a map, using the don't-cares. Build a 3-to-8 decoder from two 2-to-4 decoders with enable and one inverter. Implement a function with one multiplexer by putting its truth table on the data inputs, and recognise the function. Write a comparator in assembly with only xor and sltiu. And draw a seven-segment digit on PRG32: a table of ten bytes, one per digit, and seven rectangles lit by testing its bits: a transcoder in software.
For the lecturer: Exercise 3: put 0, 1, 1, 0, 1, 0, 0, 1 on the data inputs: it is the three-input XOR, the sum bit of the full adder. Exercise 4: xor a0, a0, a1 then sltiu a0, a0, 1 (the pseudo-instruction seqz). Exercise 5 is a software transcoder followed by seven bit tests: the table is the truth table of this lecture, one row per byte.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11: Combinational machines (code)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11</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Combinational Machines: the code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Code deck: every listing explained, the complete program, and how to test it on PRG32-QT, on QEMU and on the board</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Shape 9"/>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2" name="Image 0" descr="/Users/raffaelemontella/devel/riscv-prg32/computer-architecture-with-prg32/tools/assets/game_breakout.png">    </p:cNvPr>
          <p:cNvPicPr>
            <a:picLocks noChangeAspect="1"/>
          </p:cNvPicPr>
          <p:nvPr/>
        </p:nvPicPr>
        <p:blipFill>
          <a:blip r:embed="rId1"/>
          <a:stretch>
            <a:fillRect/>
          </a:stretch>
        </p:blipFill>
        <p:spPr>
          <a:xfrm>
            <a:off x="8915095" y="4251960"/>
            <a:ext cx="2438400" cy="1828800"/>
          </a:xfrm>
          <a:prstGeom prst="rect">
            <a:avLst/>
          </a:prstGeom>
        </p:spPr>
      </p:pic>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this deck</a:t>
            </a:r>
            <a:endParaRPr lang="en-US" sz="3200" dirty="0"/>
          </a:p>
        </p:txBody>
      </p:sp>
      <p:sp>
        <p:nvSpPr>
          <p:cNvPr id="3" name="Text 1"/>
          <p:cNvSpPr txBox="1"/>
          <p:nvPr/>
        </p:nvSpPr>
        <p:spPr>
          <a:xfrm>
            <a:off x="548640" y="161848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60020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2 listings of Lecture 11, one per slide: read the code, then the numbered remarks beside it</a:t>
            </a:r>
            <a:endParaRPr lang="en-US" sz="2200" dirty="0"/>
          </a:p>
        </p:txBody>
      </p:sp>
      <p:sp>
        <p:nvSpPr>
          <p:cNvPr id="5" name="Text 3"/>
          <p:cNvSpPr txBox="1"/>
          <p:nvPr/>
        </p:nvSpPr>
        <p:spPr>
          <a:xfrm>
            <a:off x="548640" y="275742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73913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complete program: code/l11.S, 50 lines, printed in full</a:t>
            </a:r>
            <a:endParaRPr lang="en-US" sz="2200" dirty="0"/>
          </a:p>
        </p:txBody>
      </p:sp>
      <p:sp>
        <p:nvSpPr>
          <p:cNvPr id="7" name="Text 5"/>
          <p:cNvSpPr txBox="1"/>
          <p:nvPr/>
        </p:nvSpPr>
        <p:spPr>
          <a:xfrm>
            <a:off x="548640" y="365353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63524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What you should see when it runs, checked on the PRG32-QT headless runner</a:t>
            </a:r>
            <a:endParaRPr lang="en-US" sz="2200" dirty="0"/>
          </a:p>
        </p:txBody>
      </p:sp>
      <p:sp>
        <p:nvSpPr>
          <p:cNvPr id="9" name="Text 7"/>
          <p:cNvSpPr txBox="1"/>
          <p:nvPr/>
        </p:nvSpPr>
        <p:spPr>
          <a:xfrm>
            <a:off x="548640" y="454964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53136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How to test it, step by step: on PRG32-QT, on QEMU, on the board</a:t>
            </a:r>
            <a:endParaRPr lang="en-US" sz="2200" dirty="0"/>
          </a:p>
        </p:txBody>
      </p:sp>
      <p:sp>
        <p:nvSpPr>
          <p:cNvPr id="11" name="Text 9"/>
          <p:cNvSpPr txBox="1"/>
          <p:nvPr/>
        </p:nvSpPr>
        <p:spPr>
          <a:xfrm>
            <a:off x="548640" y="54457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42747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exercises: change the program, predict, run</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Choose one of four colours</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300" dirty="0">
                <a:solidFill>
                  <a:srgbClr val="8FB3A0"/>
                </a:solidFill>
                <a:latin typeface="Courier New" pitchFamily="34" charset="0"/>
                <a:ea typeface="Courier New" pitchFamily="34" charset="-122"/>
                <a:cs typeface="Courier New" pitchFamily="34" charset="-120"/>
              </a:rPr>
              <a:t># a0 = selector, 0 to 3      result: a4 = the selected colour</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t0, palette         </a:t>
            </a:r>
            <a:pPr indent="0" marL="0">
              <a:buNone/>
            </a:pPr>
            <a:r>
              <a:rPr lang="en-US" sz="1300" dirty="0">
                <a:solidFill>
                  <a:srgbClr val="8FB3A0"/>
                </a:solidFill>
                <a:latin typeface="Courier New" pitchFamily="34" charset="0"/>
                <a:ea typeface="Courier New" pitchFamily="34" charset="-122"/>
                <a:cs typeface="Courier New" pitchFamily="34" charset="-120"/>
              </a:rPr>
              <a:t># four words: the data inputs</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slli t1, a0, 2           </a:t>
            </a:r>
            <a:pPr indent="0" marL="0">
              <a:buNone/>
            </a:pPr>
            <a:r>
              <a:rPr lang="en-US" sz="1300" dirty="0">
                <a:solidFill>
                  <a:srgbClr val="8FB3A0"/>
                </a:solidFill>
                <a:latin typeface="Courier New" pitchFamily="34" charset="0"/>
                <a:ea typeface="Courier New" pitchFamily="34" charset="-122"/>
                <a:cs typeface="Courier New" pitchFamily="34" charset="-120"/>
              </a:rPr>
              <a:t># selector * 4 bytes</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  t0, t0, t1          </a:t>
            </a:r>
            <a:pPr indent="0" marL="0">
              <a:buNone/>
            </a:pPr>
            <a:r>
              <a:rPr lang="en-US" sz="1300" dirty="0">
                <a:solidFill>
                  <a:srgbClr val="8FB3A0"/>
                </a:solidFill>
                <a:latin typeface="Courier New" pitchFamily="34" charset="0"/>
                <a:ea typeface="Courier New" pitchFamily="34" charset="-122"/>
                <a:cs typeface="Courier New" pitchFamily="34" charset="-120"/>
              </a:rPr>
              <a:t># address of the selected word</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a4, 0(t0)           </a:t>
            </a:r>
            <a:pPr indent="0" marL="0">
              <a:buNone/>
            </a:pPr>
            <a:r>
              <a:rPr lang="en-US" sz="1300" dirty="0">
                <a:solidFill>
                  <a:srgbClr val="8FB3A0"/>
                </a:solidFill>
                <a:latin typeface="Courier New" pitchFamily="34" charset="0"/>
                <a:ea typeface="Courier New" pitchFamily="34" charset="-122"/>
                <a:cs typeface="Courier New" pitchFamily="34" charset="-120"/>
              </a:rPr>
              <a:t># the selected input reaches the output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.section .rodata</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red, green, blue, yellow</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palette: .word 0xf800, 0x07e0, 0x001f, 0xffe0</a:t>
            </a:r>
            <a:endParaRPr lang="en-US" sz="130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same selector always gives the same colour: the result depends only on the present inputs</a:t>
            </a:r>
            <a:endParaRPr lang="en-US" sz="12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Nothing is remembered from one use to the next</a:t>
            </a:r>
            <a:endParaRPr lang="en-US" sz="12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In hardware this is a multiplexer: four data inputs, two selection bits, one output</a:t>
            </a:r>
            <a:endParaRPr lang="en-US" sz="12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processor contains dozens of them. How are they built?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the processor: which register is written?</a:t>
            </a:r>
            <a:endParaRPr lang="en-US" sz="3200" dirty="0"/>
          </a:p>
        </p:txBody>
      </p:sp>
      <p:sp>
        <p:nvSpPr>
          <p:cNvPr id="3" name="Text 1"/>
          <p:cNvSpPr txBox="1"/>
          <p:nvPr/>
        </p:nvSpPr>
        <p:spPr>
          <a:xfrm>
            <a:off x="548640" y="1325880"/>
            <a:ext cx="11094415" cy="411480"/>
          </a:xfrm>
          <a:prstGeom prst="rect">
            <a:avLst/>
          </a:prstGeom>
          <a:noFill/>
          <a:ln/>
        </p:spPr>
        <p:txBody>
          <a:bodyPr wrap="square" lIns="0" tIns="0" rIns="0" bIns="0" rtlCol="0" anchor="t"/>
          <a:lstStyle/>
          <a:p>
            <a:pPr algn="ctr" indent="0" marL="0">
              <a:buNone/>
            </a:pPr>
            <a:r>
              <a:rPr lang="en-US" sz="2100" b="1" dirty="0">
                <a:solidFill>
                  <a:srgbClr val="2E4A62"/>
                </a:solidFill>
                <a:latin typeface="Courier New" pitchFamily="34" charset="0"/>
                <a:ea typeface="Courier New" pitchFamily="34" charset="-122"/>
                <a:cs typeface="Courier New" pitchFamily="34" charset="-120"/>
              </a:rPr>
              <a:t>addi t1, t1, 1     =     0x00130313</a:t>
            </a:r>
            <a:endParaRPr lang="en-US" sz="2100" dirty="0"/>
          </a:p>
        </p:txBody>
      </p:sp>
      <p:sp>
        <p:nvSpPr>
          <p:cNvPr id="4" name="Text 2"/>
          <p:cNvSpPr txBox="1"/>
          <p:nvPr/>
        </p:nvSpPr>
        <p:spPr>
          <a:xfrm>
            <a:off x="914400" y="2194560"/>
            <a:ext cx="3806308" cy="548640"/>
          </a:xfrm>
          <a:prstGeom prst="rect">
            <a:avLst/>
          </a:prstGeom>
          <a:solidFill>
            <a:srgbClr val="5B6B78"/>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000000000001</a:t>
            </a:r>
            <a:endParaRPr lang="en-US" sz="1600" dirty="0"/>
          </a:p>
        </p:txBody>
      </p:sp>
      <p:sp>
        <p:nvSpPr>
          <p:cNvPr id="5" name="Text 3"/>
          <p:cNvSpPr txBox="1"/>
          <p:nvPr/>
        </p:nvSpPr>
        <p:spPr>
          <a:xfrm>
            <a:off x="950976" y="1956816"/>
            <a:ext cx="1903154"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31</a:t>
            </a:r>
            <a:endParaRPr lang="en-US" sz="1050" dirty="0"/>
          </a:p>
        </p:txBody>
      </p:sp>
      <p:sp>
        <p:nvSpPr>
          <p:cNvPr id="6" name="Text 4"/>
          <p:cNvSpPr txBox="1"/>
          <p:nvPr/>
        </p:nvSpPr>
        <p:spPr>
          <a:xfrm>
            <a:off x="2817554" y="1956816"/>
            <a:ext cx="1866578"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20</a:t>
            </a:r>
            <a:endParaRPr lang="en-US" sz="1050" dirty="0"/>
          </a:p>
        </p:txBody>
      </p:sp>
      <p:sp>
        <p:nvSpPr>
          <p:cNvPr id="7" name="Text 5"/>
          <p:cNvSpPr txBox="1"/>
          <p:nvPr/>
        </p:nvSpPr>
        <p:spPr>
          <a:xfrm>
            <a:off x="4720708" y="2194560"/>
            <a:ext cx="1585962" cy="548640"/>
          </a:xfrm>
          <a:prstGeom prst="rect">
            <a:avLst/>
          </a:prstGeom>
          <a:solidFill>
            <a:srgbClr val="5B6B78"/>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00110</a:t>
            </a:r>
            <a:endParaRPr lang="en-US" sz="1600" dirty="0"/>
          </a:p>
        </p:txBody>
      </p:sp>
      <p:sp>
        <p:nvSpPr>
          <p:cNvPr id="8" name="Text 6"/>
          <p:cNvSpPr txBox="1"/>
          <p:nvPr/>
        </p:nvSpPr>
        <p:spPr>
          <a:xfrm>
            <a:off x="4757284" y="1956816"/>
            <a:ext cx="792981"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19</a:t>
            </a:r>
            <a:endParaRPr lang="en-US" sz="1050" dirty="0"/>
          </a:p>
        </p:txBody>
      </p:sp>
      <p:sp>
        <p:nvSpPr>
          <p:cNvPr id="9" name="Text 7"/>
          <p:cNvSpPr txBox="1"/>
          <p:nvPr/>
        </p:nvSpPr>
        <p:spPr>
          <a:xfrm>
            <a:off x="5513689" y="1956816"/>
            <a:ext cx="756405"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15</a:t>
            </a:r>
            <a:endParaRPr lang="en-US" sz="1050" dirty="0"/>
          </a:p>
        </p:txBody>
      </p:sp>
      <p:sp>
        <p:nvSpPr>
          <p:cNvPr id="10" name="Text 8"/>
          <p:cNvSpPr txBox="1"/>
          <p:nvPr/>
        </p:nvSpPr>
        <p:spPr>
          <a:xfrm>
            <a:off x="6306670" y="2194560"/>
            <a:ext cx="1164317" cy="548640"/>
          </a:xfrm>
          <a:prstGeom prst="rect">
            <a:avLst/>
          </a:prstGeom>
          <a:solidFill>
            <a:srgbClr val="5B6B78"/>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000</a:t>
            </a:r>
            <a:endParaRPr lang="en-US" sz="1600" dirty="0"/>
          </a:p>
        </p:txBody>
      </p:sp>
      <p:sp>
        <p:nvSpPr>
          <p:cNvPr id="11" name="Text 9"/>
          <p:cNvSpPr txBox="1"/>
          <p:nvPr/>
        </p:nvSpPr>
        <p:spPr>
          <a:xfrm>
            <a:off x="6343246" y="1956816"/>
            <a:ext cx="582158"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14</a:t>
            </a:r>
            <a:endParaRPr lang="en-US" sz="1050" dirty="0"/>
          </a:p>
        </p:txBody>
      </p:sp>
      <p:sp>
        <p:nvSpPr>
          <p:cNvPr id="12" name="Text 10"/>
          <p:cNvSpPr txBox="1"/>
          <p:nvPr/>
        </p:nvSpPr>
        <p:spPr>
          <a:xfrm>
            <a:off x="6888828" y="1956816"/>
            <a:ext cx="545582"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12</a:t>
            </a:r>
            <a:endParaRPr lang="en-US" sz="1050" dirty="0"/>
          </a:p>
        </p:txBody>
      </p:sp>
      <p:sp>
        <p:nvSpPr>
          <p:cNvPr id="13" name="Text 11"/>
          <p:cNvSpPr txBox="1"/>
          <p:nvPr/>
        </p:nvSpPr>
        <p:spPr>
          <a:xfrm>
            <a:off x="7470987" y="2194560"/>
            <a:ext cx="1585962" cy="548640"/>
          </a:xfrm>
          <a:prstGeom prst="rect">
            <a:avLst/>
          </a:prstGeom>
          <a:solidFill>
            <a:srgbClr val="2F7D4F"/>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00110</a:t>
            </a:r>
            <a:endParaRPr lang="en-US" sz="1600" dirty="0"/>
          </a:p>
        </p:txBody>
      </p:sp>
      <p:sp>
        <p:nvSpPr>
          <p:cNvPr id="14" name="Text 12"/>
          <p:cNvSpPr txBox="1"/>
          <p:nvPr/>
        </p:nvSpPr>
        <p:spPr>
          <a:xfrm>
            <a:off x="7470987" y="2798064"/>
            <a:ext cx="1585962"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rd = 6</a:t>
            </a:r>
            <a:endParaRPr lang="en-US" sz="1300" dirty="0"/>
          </a:p>
        </p:txBody>
      </p:sp>
      <p:sp>
        <p:nvSpPr>
          <p:cNvPr id="15" name="Text 13"/>
          <p:cNvSpPr txBox="1"/>
          <p:nvPr/>
        </p:nvSpPr>
        <p:spPr>
          <a:xfrm>
            <a:off x="7507563" y="1956816"/>
            <a:ext cx="792981"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11</a:t>
            </a:r>
            <a:endParaRPr lang="en-US" sz="1050" dirty="0"/>
          </a:p>
        </p:txBody>
      </p:sp>
      <p:sp>
        <p:nvSpPr>
          <p:cNvPr id="16" name="Text 14"/>
          <p:cNvSpPr txBox="1"/>
          <p:nvPr/>
        </p:nvSpPr>
        <p:spPr>
          <a:xfrm>
            <a:off x="8263968" y="1956816"/>
            <a:ext cx="756405"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7</a:t>
            </a:r>
            <a:endParaRPr lang="en-US" sz="1050" dirty="0"/>
          </a:p>
        </p:txBody>
      </p:sp>
      <p:sp>
        <p:nvSpPr>
          <p:cNvPr id="17" name="Text 15"/>
          <p:cNvSpPr txBox="1"/>
          <p:nvPr/>
        </p:nvSpPr>
        <p:spPr>
          <a:xfrm>
            <a:off x="9056949" y="2194560"/>
            <a:ext cx="2220347" cy="548640"/>
          </a:xfrm>
          <a:prstGeom prst="rect">
            <a:avLst/>
          </a:prstGeom>
          <a:solidFill>
            <a:srgbClr val="5B6B78"/>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0010011</a:t>
            </a:r>
            <a:endParaRPr lang="en-US" sz="1600" dirty="0"/>
          </a:p>
        </p:txBody>
      </p:sp>
      <p:sp>
        <p:nvSpPr>
          <p:cNvPr id="18" name="Text 16"/>
          <p:cNvSpPr txBox="1"/>
          <p:nvPr/>
        </p:nvSpPr>
        <p:spPr>
          <a:xfrm>
            <a:off x="9093525" y="1956816"/>
            <a:ext cx="1110173"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6</a:t>
            </a:r>
            <a:endParaRPr lang="en-US" sz="1050" dirty="0"/>
          </a:p>
        </p:txBody>
      </p:sp>
      <p:sp>
        <p:nvSpPr>
          <p:cNvPr id="19" name="Text 17"/>
          <p:cNvSpPr txBox="1"/>
          <p:nvPr/>
        </p:nvSpPr>
        <p:spPr>
          <a:xfrm>
            <a:off x="10167122" y="1956816"/>
            <a:ext cx="1073597"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0</a:t>
            </a:r>
            <a:endParaRPr lang="en-US" sz="1050" dirty="0"/>
          </a:p>
        </p:txBody>
      </p:sp>
      <p:sp>
        <p:nvSpPr>
          <p:cNvPr id="20" name="Text 18"/>
          <p:cNvSpPr txBox="1"/>
          <p:nvPr/>
        </p:nvSpPr>
        <p:spPr>
          <a:xfrm>
            <a:off x="6400800" y="3337560"/>
            <a:ext cx="2926080" cy="502920"/>
          </a:xfrm>
          <a:prstGeom prst="roundRect">
            <a:avLst>
              <a:gd name="adj" fmla="val 10909"/>
            </a:avLst>
          </a:prstGeom>
          <a:solidFill>
            <a:srgbClr val="2F7D4F"/>
          </a:solidFill>
          <a:ln>
            <a:solidFill>
              <a:srgbClr val="2F7D4F"/>
            </a:solidFill>
          </a:ln>
        </p:spPr>
        <p:txBody>
          <a:bodyPr wrap="square" lIns="38100" tIns="38100" rIns="38100" bIns="381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decoder 5-to-32</a:t>
            </a:r>
            <a:endParaRPr lang="en-US" sz="1600" dirty="0"/>
          </a:p>
        </p:txBody>
      </p:sp>
      <p:sp>
        <p:nvSpPr>
          <p:cNvPr id="21" name="Shape 19"/>
          <p:cNvSpPr/>
          <p:nvPr/>
        </p:nvSpPr>
        <p:spPr>
          <a:xfrm>
            <a:off x="7863840" y="3081528"/>
            <a:ext cx="0" cy="237744"/>
          </a:xfrm>
          <a:prstGeom prst="line">
            <a:avLst/>
          </a:prstGeom>
          <a:noFill/>
          <a:ln w="28575">
            <a:solidFill>
              <a:srgbClr val="2F7D4F"/>
            </a:solidFill>
            <a:prstDash val="solid"/>
            <a:tailEnd type="triangle"/>
          </a:ln>
        </p:spPr>
      </p:sp>
      <p:sp>
        <p:nvSpPr>
          <p:cNvPr id="22" name="Shape 20"/>
          <p:cNvSpPr/>
          <p:nvPr/>
        </p:nvSpPr>
        <p:spPr>
          <a:xfrm>
            <a:off x="7863840" y="3858768"/>
            <a:ext cx="0" cy="466344"/>
          </a:xfrm>
          <a:prstGeom prst="line">
            <a:avLst/>
          </a:prstGeom>
          <a:noFill/>
          <a:ln w="28575">
            <a:solidFill>
              <a:srgbClr val="2F7D4F"/>
            </a:solidFill>
            <a:prstDash val="solid"/>
            <a:tailEnd type="triangle"/>
          </a:ln>
        </p:spPr>
      </p:sp>
      <p:sp>
        <p:nvSpPr>
          <p:cNvPr id="23" name="Text 21"/>
          <p:cNvSpPr txBox="1"/>
          <p:nvPr/>
        </p:nvSpPr>
        <p:spPr>
          <a:xfrm>
            <a:off x="548640"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24" name="Text 22"/>
          <p:cNvSpPr txBox="1"/>
          <p:nvPr/>
        </p:nvSpPr>
        <p:spPr>
          <a:xfrm>
            <a:off x="548640"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x0</a:t>
            </a:r>
            <a:endParaRPr lang="en-US" sz="900" dirty="0"/>
          </a:p>
        </p:txBody>
      </p:sp>
      <p:sp>
        <p:nvSpPr>
          <p:cNvPr id="25" name="Text 23"/>
          <p:cNvSpPr txBox="1"/>
          <p:nvPr/>
        </p:nvSpPr>
        <p:spPr>
          <a:xfrm>
            <a:off x="895340"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26" name="Text 24"/>
          <p:cNvSpPr txBox="1"/>
          <p:nvPr/>
        </p:nvSpPr>
        <p:spPr>
          <a:xfrm>
            <a:off x="895340"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x1</a:t>
            </a:r>
            <a:endParaRPr lang="en-US" sz="900" dirty="0"/>
          </a:p>
        </p:txBody>
      </p:sp>
      <p:sp>
        <p:nvSpPr>
          <p:cNvPr id="27" name="Text 25"/>
          <p:cNvSpPr txBox="1"/>
          <p:nvPr/>
        </p:nvSpPr>
        <p:spPr>
          <a:xfrm>
            <a:off x="1242041"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28" name="Text 26"/>
          <p:cNvSpPr txBox="1"/>
          <p:nvPr/>
        </p:nvSpPr>
        <p:spPr>
          <a:xfrm>
            <a:off x="1242041"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x2</a:t>
            </a:r>
            <a:endParaRPr lang="en-US" sz="900" dirty="0"/>
          </a:p>
        </p:txBody>
      </p:sp>
      <p:sp>
        <p:nvSpPr>
          <p:cNvPr id="29" name="Text 27"/>
          <p:cNvSpPr txBox="1"/>
          <p:nvPr/>
        </p:nvSpPr>
        <p:spPr>
          <a:xfrm>
            <a:off x="1588741"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30" name="Text 28"/>
          <p:cNvSpPr txBox="1"/>
          <p:nvPr/>
        </p:nvSpPr>
        <p:spPr>
          <a:xfrm>
            <a:off x="1588741"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x3</a:t>
            </a:r>
            <a:endParaRPr lang="en-US" sz="900" dirty="0"/>
          </a:p>
        </p:txBody>
      </p:sp>
      <p:sp>
        <p:nvSpPr>
          <p:cNvPr id="31" name="Text 29"/>
          <p:cNvSpPr txBox="1"/>
          <p:nvPr/>
        </p:nvSpPr>
        <p:spPr>
          <a:xfrm>
            <a:off x="1935442"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32" name="Text 30"/>
          <p:cNvSpPr txBox="1"/>
          <p:nvPr/>
        </p:nvSpPr>
        <p:spPr>
          <a:xfrm>
            <a:off x="1935442"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x4</a:t>
            </a:r>
            <a:endParaRPr lang="en-US" sz="900" dirty="0"/>
          </a:p>
        </p:txBody>
      </p:sp>
      <p:sp>
        <p:nvSpPr>
          <p:cNvPr id="33" name="Text 31"/>
          <p:cNvSpPr txBox="1"/>
          <p:nvPr/>
        </p:nvSpPr>
        <p:spPr>
          <a:xfrm>
            <a:off x="2282142"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34" name="Text 32"/>
          <p:cNvSpPr txBox="1"/>
          <p:nvPr/>
        </p:nvSpPr>
        <p:spPr>
          <a:xfrm>
            <a:off x="2282142"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x5</a:t>
            </a:r>
            <a:endParaRPr lang="en-US" sz="900" dirty="0"/>
          </a:p>
        </p:txBody>
      </p:sp>
      <p:sp>
        <p:nvSpPr>
          <p:cNvPr id="35" name="Text 33"/>
          <p:cNvSpPr txBox="1"/>
          <p:nvPr/>
        </p:nvSpPr>
        <p:spPr>
          <a:xfrm>
            <a:off x="2628843" y="4343400"/>
            <a:ext cx="346700" cy="457200"/>
          </a:xfrm>
          <a:prstGeom prst="rect">
            <a:avLst/>
          </a:prstGeom>
          <a:solidFill>
            <a:srgbClr val="2F7D4F"/>
          </a:solidFill>
          <a:ln w="12700">
            <a:solidFill>
              <a:srgbClr val="2E4A62"/>
            </a:solid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1</a:t>
            </a:r>
            <a:endParaRPr lang="en-US" sz="1200" dirty="0"/>
          </a:p>
        </p:txBody>
      </p:sp>
      <p:sp>
        <p:nvSpPr>
          <p:cNvPr id="36" name="Text 34"/>
          <p:cNvSpPr txBox="1"/>
          <p:nvPr/>
        </p:nvSpPr>
        <p:spPr>
          <a:xfrm>
            <a:off x="2628843"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x6</a:t>
            </a:r>
            <a:endParaRPr lang="en-US" sz="900" dirty="0"/>
          </a:p>
        </p:txBody>
      </p:sp>
      <p:sp>
        <p:nvSpPr>
          <p:cNvPr id="37" name="Text 35"/>
          <p:cNvSpPr txBox="1"/>
          <p:nvPr/>
        </p:nvSpPr>
        <p:spPr>
          <a:xfrm>
            <a:off x="2975543"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38" name="Text 36"/>
          <p:cNvSpPr txBox="1"/>
          <p:nvPr/>
        </p:nvSpPr>
        <p:spPr>
          <a:xfrm>
            <a:off x="2975543"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x7</a:t>
            </a:r>
            <a:endParaRPr lang="en-US" sz="900" dirty="0"/>
          </a:p>
        </p:txBody>
      </p:sp>
      <p:sp>
        <p:nvSpPr>
          <p:cNvPr id="39" name="Text 37"/>
          <p:cNvSpPr txBox="1"/>
          <p:nvPr/>
        </p:nvSpPr>
        <p:spPr>
          <a:xfrm>
            <a:off x="3322244"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40" name="Text 38"/>
          <p:cNvSpPr txBox="1"/>
          <p:nvPr/>
        </p:nvSpPr>
        <p:spPr>
          <a:xfrm>
            <a:off x="3322244"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x8</a:t>
            </a:r>
            <a:endParaRPr lang="en-US" sz="900" dirty="0"/>
          </a:p>
        </p:txBody>
      </p:sp>
      <p:sp>
        <p:nvSpPr>
          <p:cNvPr id="41" name="Text 39"/>
          <p:cNvSpPr txBox="1"/>
          <p:nvPr/>
        </p:nvSpPr>
        <p:spPr>
          <a:xfrm>
            <a:off x="3668944"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42" name="Text 40"/>
          <p:cNvSpPr txBox="1"/>
          <p:nvPr/>
        </p:nvSpPr>
        <p:spPr>
          <a:xfrm>
            <a:off x="3668944"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x9</a:t>
            </a:r>
            <a:endParaRPr lang="en-US" sz="900" dirty="0"/>
          </a:p>
        </p:txBody>
      </p:sp>
      <p:sp>
        <p:nvSpPr>
          <p:cNvPr id="43" name="Text 41"/>
          <p:cNvSpPr txBox="1"/>
          <p:nvPr/>
        </p:nvSpPr>
        <p:spPr>
          <a:xfrm>
            <a:off x="4015645"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44" name="Text 42"/>
          <p:cNvSpPr txBox="1"/>
          <p:nvPr/>
        </p:nvSpPr>
        <p:spPr>
          <a:xfrm>
            <a:off x="4015645"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x10</a:t>
            </a:r>
            <a:endParaRPr lang="en-US" sz="900" dirty="0"/>
          </a:p>
        </p:txBody>
      </p:sp>
      <p:sp>
        <p:nvSpPr>
          <p:cNvPr id="45" name="Text 43"/>
          <p:cNvSpPr txBox="1"/>
          <p:nvPr/>
        </p:nvSpPr>
        <p:spPr>
          <a:xfrm>
            <a:off x="4362345"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46" name="Text 44"/>
          <p:cNvSpPr txBox="1"/>
          <p:nvPr/>
        </p:nvSpPr>
        <p:spPr>
          <a:xfrm>
            <a:off x="4362345"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x11</a:t>
            </a:r>
            <a:endParaRPr lang="en-US" sz="900" dirty="0"/>
          </a:p>
        </p:txBody>
      </p:sp>
      <p:sp>
        <p:nvSpPr>
          <p:cNvPr id="47" name="Text 45"/>
          <p:cNvSpPr txBox="1"/>
          <p:nvPr/>
        </p:nvSpPr>
        <p:spPr>
          <a:xfrm>
            <a:off x="4709046"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48" name="Text 46"/>
          <p:cNvSpPr txBox="1"/>
          <p:nvPr/>
        </p:nvSpPr>
        <p:spPr>
          <a:xfrm>
            <a:off x="4709046"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x12</a:t>
            </a:r>
            <a:endParaRPr lang="en-US" sz="900" dirty="0"/>
          </a:p>
        </p:txBody>
      </p:sp>
      <p:sp>
        <p:nvSpPr>
          <p:cNvPr id="49" name="Text 47"/>
          <p:cNvSpPr txBox="1"/>
          <p:nvPr/>
        </p:nvSpPr>
        <p:spPr>
          <a:xfrm>
            <a:off x="5055746"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50" name="Text 48"/>
          <p:cNvSpPr txBox="1"/>
          <p:nvPr/>
        </p:nvSpPr>
        <p:spPr>
          <a:xfrm>
            <a:off x="5055746"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x13</a:t>
            </a:r>
            <a:endParaRPr lang="en-US" sz="900" dirty="0"/>
          </a:p>
        </p:txBody>
      </p:sp>
      <p:sp>
        <p:nvSpPr>
          <p:cNvPr id="51" name="Text 49"/>
          <p:cNvSpPr txBox="1"/>
          <p:nvPr/>
        </p:nvSpPr>
        <p:spPr>
          <a:xfrm>
            <a:off x="5402447"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52" name="Text 50"/>
          <p:cNvSpPr txBox="1"/>
          <p:nvPr/>
        </p:nvSpPr>
        <p:spPr>
          <a:xfrm>
            <a:off x="5402447"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x14</a:t>
            </a:r>
            <a:endParaRPr lang="en-US" sz="900" dirty="0"/>
          </a:p>
        </p:txBody>
      </p:sp>
      <p:sp>
        <p:nvSpPr>
          <p:cNvPr id="53" name="Text 51"/>
          <p:cNvSpPr txBox="1"/>
          <p:nvPr/>
        </p:nvSpPr>
        <p:spPr>
          <a:xfrm>
            <a:off x="5749147"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54" name="Text 52"/>
          <p:cNvSpPr txBox="1"/>
          <p:nvPr/>
        </p:nvSpPr>
        <p:spPr>
          <a:xfrm>
            <a:off x="5749147"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x15</a:t>
            </a:r>
            <a:endParaRPr lang="en-US" sz="900" dirty="0"/>
          </a:p>
        </p:txBody>
      </p:sp>
      <p:sp>
        <p:nvSpPr>
          <p:cNvPr id="55" name="Text 53"/>
          <p:cNvSpPr txBox="1"/>
          <p:nvPr/>
        </p:nvSpPr>
        <p:spPr>
          <a:xfrm>
            <a:off x="6095848"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56" name="Text 54"/>
          <p:cNvSpPr txBox="1"/>
          <p:nvPr/>
        </p:nvSpPr>
        <p:spPr>
          <a:xfrm>
            <a:off x="6095848"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x16</a:t>
            </a:r>
            <a:endParaRPr lang="en-US" sz="900" dirty="0"/>
          </a:p>
        </p:txBody>
      </p:sp>
      <p:sp>
        <p:nvSpPr>
          <p:cNvPr id="57" name="Text 55"/>
          <p:cNvSpPr txBox="1"/>
          <p:nvPr/>
        </p:nvSpPr>
        <p:spPr>
          <a:xfrm>
            <a:off x="6442548"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58" name="Text 56"/>
          <p:cNvSpPr txBox="1"/>
          <p:nvPr/>
        </p:nvSpPr>
        <p:spPr>
          <a:xfrm>
            <a:off x="6442548"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x17</a:t>
            </a:r>
            <a:endParaRPr lang="en-US" sz="900" dirty="0"/>
          </a:p>
        </p:txBody>
      </p:sp>
      <p:sp>
        <p:nvSpPr>
          <p:cNvPr id="59" name="Text 57"/>
          <p:cNvSpPr txBox="1"/>
          <p:nvPr/>
        </p:nvSpPr>
        <p:spPr>
          <a:xfrm>
            <a:off x="6789249"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60" name="Text 58"/>
          <p:cNvSpPr txBox="1"/>
          <p:nvPr/>
        </p:nvSpPr>
        <p:spPr>
          <a:xfrm>
            <a:off x="6789249"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x18</a:t>
            </a:r>
            <a:endParaRPr lang="en-US" sz="900" dirty="0"/>
          </a:p>
        </p:txBody>
      </p:sp>
      <p:sp>
        <p:nvSpPr>
          <p:cNvPr id="61" name="Text 59"/>
          <p:cNvSpPr txBox="1"/>
          <p:nvPr/>
        </p:nvSpPr>
        <p:spPr>
          <a:xfrm>
            <a:off x="7135949"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62" name="Text 60"/>
          <p:cNvSpPr txBox="1"/>
          <p:nvPr/>
        </p:nvSpPr>
        <p:spPr>
          <a:xfrm>
            <a:off x="7135949"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x19</a:t>
            </a:r>
            <a:endParaRPr lang="en-US" sz="900" dirty="0"/>
          </a:p>
        </p:txBody>
      </p:sp>
      <p:sp>
        <p:nvSpPr>
          <p:cNvPr id="63" name="Text 61"/>
          <p:cNvSpPr txBox="1"/>
          <p:nvPr/>
        </p:nvSpPr>
        <p:spPr>
          <a:xfrm>
            <a:off x="7482650"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64" name="Text 62"/>
          <p:cNvSpPr txBox="1"/>
          <p:nvPr/>
        </p:nvSpPr>
        <p:spPr>
          <a:xfrm>
            <a:off x="7482650"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x20</a:t>
            </a:r>
            <a:endParaRPr lang="en-US" sz="900" dirty="0"/>
          </a:p>
        </p:txBody>
      </p:sp>
      <p:sp>
        <p:nvSpPr>
          <p:cNvPr id="65" name="Text 63"/>
          <p:cNvSpPr txBox="1"/>
          <p:nvPr/>
        </p:nvSpPr>
        <p:spPr>
          <a:xfrm>
            <a:off x="7829350"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66" name="Text 64"/>
          <p:cNvSpPr txBox="1"/>
          <p:nvPr/>
        </p:nvSpPr>
        <p:spPr>
          <a:xfrm>
            <a:off x="7829350"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x21</a:t>
            </a:r>
            <a:endParaRPr lang="en-US" sz="900" dirty="0"/>
          </a:p>
        </p:txBody>
      </p:sp>
      <p:sp>
        <p:nvSpPr>
          <p:cNvPr id="67" name="Text 65"/>
          <p:cNvSpPr txBox="1"/>
          <p:nvPr/>
        </p:nvSpPr>
        <p:spPr>
          <a:xfrm>
            <a:off x="8176050"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68" name="Text 66"/>
          <p:cNvSpPr txBox="1"/>
          <p:nvPr/>
        </p:nvSpPr>
        <p:spPr>
          <a:xfrm>
            <a:off x="8176050"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x22</a:t>
            </a:r>
            <a:endParaRPr lang="en-US" sz="900" dirty="0"/>
          </a:p>
        </p:txBody>
      </p:sp>
      <p:sp>
        <p:nvSpPr>
          <p:cNvPr id="69" name="Text 67"/>
          <p:cNvSpPr txBox="1"/>
          <p:nvPr/>
        </p:nvSpPr>
        <p:spPr>
          <a:xfrm>
            <a:off x="8522751"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70" name="Text 68"/>
          <p:cNvSpPr txBox="1"/>
          <p:nvPr/>
        </p:nvSpPr>
        <p:spPr>
          <a:xfrm>
            <a:off x="8522751"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x23</a:t>
            </a:r>
            <a:endParaRPr lang="en-US" sz="900" dirty="0"/>
          </a:p>
        </p:txBody>
      </p:sp>
      <p:sp>
        <p:nvSpPr>
          <p:cNvPr id="71" name="Text 69"/>
          <p:cNvSpPr txBox="1"/>
          <p:nvPr/>
        </p:nvSpPr>
        <p:spPr>
          <a:xfrm>
            <a:off x="8869451"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72" name="Text 70"/>
          <p:cNvSpPr txBox="1"/>
          <p:nvPr/>
        </p:nvSpPr>
        <p:spPr>
          <a:xfrm>
            <a:off x="8869451"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x24</a:t>
            </a:r>
            <a:endParaRPr lang="en-US" sz="900" dirty="0"/>
          </a:p>
        </p:txBody>
      </p:sp>
      <p:sp>
        <p:nvSpPr>
          <p:cNvPr id="73" name="Text 71"/>
          <p:cNvSpPr txBox="1"/>
          <p:nvPr/>
        </p:nvSpPr>
        <p:spPr>
          <a:xfrm>
            <a:off x="9216152"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74" name="Text 72"/>
          <p:cNvSpPr txBox="1"/>
          <p:nvPr/>
        </p:nvSpPr>
        <p:spPr>
          <a:xfrm>
            <a:off x="9216152"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x25</a:t>
            </a:r>
            <a:endParaRPr lang="en-US" sz="900" dirty="0"/>
          </a:p>
        </p:txBody>
      </p:sp>
      <p:sp>
        <p:nvSpPr>
          <p:cNvPr id="75" name="Text 73"/>
          <p:cNvSpPr txBox="1"/>
          <p:nvPr/>
        </p:nvSpPr>
        <p:spPr>
          <a:xfrm>
            <a:off x="9562852"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76" name="Text 74"/>
          <p:cNvSpPr txBox="1"/>
          <p:nvPr/>
        </p:nvSpPr>
        <p:spPr>
          <a:xfrm>
            <a:off x="9562852"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x26</a:t>
            </a:r>
            <a:endParaRPr lang="en-US" sz="900" dirty="0"/>
          </a:p>
        </p:txBody>
      </p:sp>
      <p:sp>
        <p:nvSpPr>
          <p:cNvPr id="77" name="Text 75"/>
          <p:cNvSpPr txBox="1"/>
          <p:nvPr/>
        </p:nvSpPr>
        <p:spPr>
          <a:xfrm>
            <a:off x="9909553"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78" name="Text 76"/>
          <p:cNvSpPr txBox="1"/>
          <p:nvPr/>
        </p:nvSpPr>
        <p:spPr>
          <a:xfrm>
            <a:off x="9909553"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x27</a:t>
            </a:r>
            <a:endParaRPr lang="en-US" sz="900" dirty="0"/>
          </a:p>
        </p:txBody>
      </p:sp>
      <p:sp>
        <p:nvSpPr>
          <p:cNvPr id="79" name="Text 77"/>
          <p:cNvSpPr txBox="1"/>
          <p:nvPr/>
        </p:nvSpPr>
        <p:spPr>
          <a:xfrm>
            <a:off x="10256253"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80" name="Text 78"/>
          <p:cNvSpPr txBox="1"/>
          <p:nvPr/>
        </p:nvSpPr>
        <p:spPr>
          <a:xfrm>
            <a:off x="10256253"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x28</a:t>
            </a:r>
            <a:endParaRPr lang="en-US" sz="900" dirty="0"/>
          </a:p>
        </p:txBody>
      </p:sp>
      <p:sp>
        <p:nvSpPr>
          <p:cNvPr id="81" name="Text 79"/>
          <p:cNvSpPr txBox="1"/>
          <p:nvPr/>
        </p:nvSpPr>
        <p:spPr>
          <a:xfrm>
            <a:off x="10602954"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82" name="Text 80"/>
          <p:cNvSpPr txBox="1"/>
          <p:nvPr/>
        </p:nvSpPr>
        <p:spPr>
          <a:xfrm>
            <a:off x="10602954"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x29</a:t>
            </a:r>
            <a:endParaRPr lang="en-US" sz="900" dirty="0"/>
          </a:p>
        </p:txBody>
      </p:sp>
      <p:sp>
        <p:nvSpPr>
          <p:cNvPr id="83" name="Text 81"/>
          <p:cNvSpPr txBox="1"/>
          <p:nvPr/>
        </p:nvSpPr>
        <p:spPr>
          <a:xfrm>
            <a:off x="10949654"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84" name="Text 82"/>
          <p:cNvSpPr txBox="1"/>
          <p:nvPr/>
        </p:nvSpPr>
        <p:spPr>
          <a:xfrm>
            <a:off x="10949654"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x30</a:t>
            </a:r>
            <a:endParaRPr lang="en-US" sz="900" dirty="0"/>
          </a:p>
        </p:txBody>
      </p:sp>
      <p:sp>
        <p:nvSpPr>
          <p:cNvPr id="85" name="Text 83"/>
          <p:cNvSpPr txBox="1"/>
          <p:nvPr/>
        </p:nvSpPr>
        <p:spPr>
          <a:xfrm>
            <a:off x="11296355"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86" name="Text 84"/>
          <p:cNvSpPr txBox="1"/>
          <p:nvPr/>
        </p:nvSpPr>
        <p:spPr>
          <a:xfrm>
            <a:off x="11296355"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x31</a:t>
            </a:r>
            <a:endParaRPr lang="en-US" sz="900" dirty="0"/>
          </a:p>
        </p:txBody>
      </p:sp>
      <p:sp>
        <p:nvSpPr>
          <p:cNvPr id="87" name="Shape 85"/>
          <p:cNvSpPr/>
          <p:nvPr/>
        </p:nvSpPr>
        <p:spPr>
          <a:xfrm>
            <a:off x="548640" y="5274818"/>
            <a:ext cx="146304" cy="146304"/>
          </a:xfrm>
          <a:prstGeom prst="rect">
            <a:avLst/>
          </a:prstGeom>
          <a:solidFill>
            <a:srgbClr val="0E7C86"/>
          </a:solidFill>
          <a:ln w="12700">
            <a:solidFill>
              <a:srgbClr val="0E7C86"/>
            </a:solidFill>
            <a:prstDash val="solid"/>
          </a:ln>
        </p:spPr>
      </p:sp>
      <p:sp>
        <p:nvSpPr>
          <p:cNvPr id="88" name="Text 86"/>
          <p:cNvSpPr txBox="1"/>
          <p:nvPr/>
        </p:nvSpPr>
        <p:spPr>
          <a:xfrm>
            <a:off x="932688" y="5230368"/>
            <a:ext cx="10710367" cy="216916"/>
          </a:xfrm>
          <a:prstGeom prst="rect">
            <a:avLst/>
          </a:prstGeom>
          <a:noFill/>
          <a:ln/>
        </p:spPr>
        <p:txBody>
          <a:bodyPr wrap="square" lIns="0" tIns="0" rIns="0" bIns="0" rtlCol="0" anchor="t"/>
          <a:lstStyle/>
          <a:p>
            <a:pPr indent="0" marL="0">
              <a:spcAft>
                <a:spcPts val="200"/>
              </a:spcAft>
              <a:buNone/>
            </a:pPr>
            <a:r>
              <a:rPr lang="en-US" sz="1400" dirty="0">
                <a:solidFill>
                  <a:srgbClr val="1B2530"/>
                </a:solidFill>
                <a:latin typeface="Calibri" pitchFamily="34" charset="0"/>
                <a:ea typeface="Calibri" pitchFamily="34" charset="-122"/>
                <a:cs typeface="Calibri" pitchFamily="34" charset="-120"/>
              </a:rPr>
              <a:t>The five bits of rd are a code word: thirty-two registers, ceil(log2 32) = 5</a:t>
            </a:r>
            <a:endParaRPr lang="en-US" sz="1400" dirty="0"/>
          </a:p>
        </p:txBody>
      </p:sp>
      <p:sp>
        <p:nvSpPr>
          <p:cNvPr id="89" name="Shape 87"/>
          <p:cNvSpPr/>
          <p:nvPr/>
        </p:nvSpPr>
        <p:spPr>
          <a:xfrm>
            <a:off x="548640" y="5637276"/>
            <a:ext cx="146304" cy="146304"/>
          </a:xfrm>
          <a:prstGeom prst="rect">
            <a:avLst/>
          </a:prstGeom>
          <a:solidFill>
            <a:srgbClr val="C7791B"/>
          </a:solidFill>
          <a:ln w="12700">
            <a:solidFill>
              <a:srgbClr val="C7791B"/>
            </a:solidFill>
            <a:prstDash val="solid"/>
          </a:ln>
        </p:spPr>
      </p:sp>
      <p:sp>
        <p:nvSpPr>
          <p:cNvPr id="90" name="Text 88"/>
          <p:cNvSpPr txBox="1"/>
          <p:nvPr/>
        </p:nvSpPr>
        <p:spPr>
          <a:xfrm>
            <a:off x="932688" y="5592826"/>
            <a:ext cx="10710367" cy="216916"/>
          </a:xfrm>
          <a:prstGeom prst="rect">
            <a:avLst/>
          </a:prstGeom>
          <a:noFill/>
          <a:ln/>
        </p:spPr>
        <p:txBody>
          <a:bodyPr wrap="square" lIns="0" tIns="0" rIns="0" bIns="0" rtlCol="0" anchor="t"/>
          <a:lstStyle/>
          <a:p>
            <a:pPr indent="0" marL="0">
              <a:spcAft>
                <a:spcPts val="200"/>
              </a:spcAft>
              <a:buNone/>
            </a:pPr>
            <a:r>
              <a:rPr lang="en-US" sz="1400" dirty="0">
                <a:solidFill>
                  <a:srgbClr val="1B2530"/>
                </a:solidFill>
                <a:latin typeface="Calibri" pitchFamily="34" charset="0"/>
                <a:ea typeface="Calibri" pitchFamily="34" charset="-122"/>
                <a:cs typeface="Calibri" pitchFamily="34" charset="-120"/>
              </a:rPr>
              <a:t>A 5-to-32 decoder turns them into thirty-two write-enable lines: only x6, that is t1, receives the result</a:t>
            </a:r>
            <a:endParaRPr lang="en-US" sz="1400" dirty="0"/>
          </a:p>
        </p:txBody>
      </p:sp>
      <p:sp>
        <p:nvSpPr>
          <p:cNvPr id="91" name="Shape 89"/>
          <p:cNvSpPr/>
          <p:nvPr/>
        </p:nvSpPr>
        <p:spPr>
          <a:xfrm>
            <a:off x="548640" y="5999734"/>
            <a:ext cx="146304" cy="146304"/>
          </a:xfrm>
          <a:prstGeom prst="rect">
            <a:avLst/>
          </a:prstGeom>
          <a:solidFill>
            <a:srgbClr val="0E7C86"/>
          </a:solidFill>
          <a:ln w="12700">
            <a:solidFill>
              <a:srgbClr val="0E7C86"/>
            </a:solidFill>
            <a:prstDash val="solid"/>
          </a:ln>
        </p:spPr>
      </p:sp>
      <p:sp>
        <p:nvSpPr>
          <p:cNvPr id="92" name="Text 90"/>
          <p:cNvSpPr txBox="1"/>
          <p:nvPr/>
        </p:nvSpPr>
        <p:spPr>
          <a:xfrm>
            <a:off x="932688" y="5955284"/>
            <a:ext cx="10710367" cy="216916"/>
          </a:xfrm>
          <a:prstGeom prst="rect">
            <a:avLst/>
          </a:prstGeom>
          <a:noFill/>
          <a:ln/>
        </p:spPr>
        <p:txBody>
          <a:bodyPr wrap="square" lIns="0" tIns="0" rIns="0" bIns="0" rtlCol="0" anchor="t"/>
          <a:lstStyle/>
          <a:p>
            <a:pPr indent="0" marL="0">
              <a:spcAft>
                <a:spcPts val="200"/>
              </a:spcAft>
              <a:buNone/>
            </a:pPr>
            <a:r>
              <a:rPr lang="en-US" sz="1400" dirty="0">
                <a:solidFill>
                  <a:srgbClr val="1B2530"/>
                </a:solidFill>
                <a:latin typeface="Calibri" pitchFamily="34" charset="0"/>
                <a:ea typeface="Calibri" pitchFamily="34" charset="-122"/>
                <a:cs typeface="Calibri" pitchFamily="34" charset="-120"/>
              </a:rPr>
              <a:t>Two more selections, on rs1 and rs2, choose which registers are read</a:t>
            </a:r>
            <a:endParaRPr lang="en-US" sz="14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the processor: register or constant?</a:t>
            </a:r>
            <a:endParaRPr lang="en-US" sz="3200" dirty="0"/>
          </a:p>
        </p:txBody>
      </p:sp>
      <p:sp>
        <p:nvSpPr>
          <p:cNvPr id="3" name="Text 1"/>
          <p:cNvSpPr txBox="1"/>
          <p:nvPr/>
        </p:nvSpPr>
        <p:spPr>
          <a:xfrm>
            <a:off x="548640" y="1600200"/>
            <a:ext cx="2377440" cy="822960"/>
          </a:xfrm>
          <a:prstGeom prst="roundRect">
            <a:avLst>
              <a:gd name="adj" fmla="val 6667"/>
            </a:avLst>
          </a:prstGeom>
          <a:solidFill>
            <a:srgbClr val="2E4A62"/>
          </a:solidFill>
          <a:ln>
            <a:solidFill>
              <a:srgbClr val="2E4A62"/>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register file</a:t>
            </a:r>
            <a:endParaRPr lang="en-US" sz="1500" dirty="0"/>
          </a:p>
          <a:p>
            <a:pPr algn="ctr" indent="0" marL="0">
              <a:buNone/>
            </a:pPr>
            <a:r>
              <a:rPr lang="en-US" sz="1500" b="1" dirty="0">
                <a:solidFill>
                  <a:srgbClr val="FFFFFF"/>
                </a:solidFill>
                <a:latin typeface="Calibri" pitchFamily="34" charset="0"/>
                <a:ea typeface="Calibri" pitchFamily="34" charset="-122"/>
                <a:cs typeface="Calibri" pitchFamily="34" charset="-120"/>
              </a:rPr>
              <a:t>value of rs1</a:t>
            </a:r>
            <a:endParaRPr lang="en-US" sz="1500" dirty="0"/>
          </a:p>
        </p:txBody>
      </p:sp>
      <p:sp>
        <p:nvSpPr>
          <p:cNvPr id="4" name="Text 2"/>
          <p:cNvSpPr txBox="1"/>
          <p:nvPr/>
        </p:nvSpPr>
        <p:spPr>
          <a:xfrm>
            <a:off x="548640" y="2971800"/>
            <a:ext cx="2377440" cy="822960"/>
          </a:xfrm>
          <a:prstGeom prst="roundRect">
            <a:avLst>
              <a:gd name="adj" fmla="val 6667"/>
            </a:avLst>
          </a:prstGeom>
          <a:solidFill>
            <a:srgbClr val="2E4A62"/>
          </a:solidFill>
          <a:ln>
            <a:solidFill>
              <a:srgbClr val="2E4A62"/>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register file</a:t>
            </a:r>
            <a:endParaRPr lang="en-US" sz="1500" dirty="0"/>
          </a:p>
          <a:p>
            <a:pPr algn="ctr" indent="0" marL="0">
              <a:buNone/>
            </a:pPr>
            <a:r>
              <a:rPr lang="en-US" sz="1500" b="1" dirty="0">
                <a:solidFill>
                  <a:srgbClr val="FFFFFF"/>
                </a:solidFill>
                <a:latin typeface="Calibri" pitchFamily="34" charset="0"/>
                <a:ea typeface="Calibri" pitchFamily="34" charset="-122"/>
                <a:cs typeface="Calibri" pitchFamily="34" charset="-120"/>
              </a:rPr>
              <a:t>value of rs2</a:t>
            </a:r>
            <a:endParaRPr lang="en-US" sz="1500" dirty="0"/>
          </a:p>
        </p:txBody>
      </p:sp>
      <p:sp>
        <p:nvSpPr>
          <p:cNvPr id="5" name="Text 3"/>
          <p:cNvSpPr txBox="1"/>
          <p:nvPr/>
        </p:nvSpPr>
        <p:spPr>
          <a:xfrm>
            <a:off x="548640" y="4114800"/>
            <a:ext cx="2377440" cy="822960"/>
          </a:xfrm>
          <a:prstGeom prst="roundRect">
            <a:avLst>
              <a:gd name="adj" fmla="val 6667"/>
            </a:avLst>
          </a:prstGeom>
          <a:solidFill>
            <a:srgbClr val="C7791B"/>
          </a:solidFill>
          <a:ln>
            <a:solidFill>
              <a:srgbClr val="C7791B"/>
            </a:solidFill>
          </a:ln>
        </p:spPr>
        <p:txBody>
          <a:bodyPr wrap="square" lIns="38100" tIns="38100" rIns="38100" bIns="3810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immediate from the</a:t>
            </a:r>
            <a:endParaRPr lang="en-US" sz="1350" dirty="0"/>
          </a:p>
          <a:p>
            <a:pPr algn="ctr" indent="0" marL="0">
              <a:buNone/>
            </a:pPr>
            <a:r>
              <a:rPr lang="en-US" sz="1350" b="1" dirty="0">
                <a:solidFill>
                  <a:srgbClr val="FFFFFF"/>
                </a:solidFill>
                <a:latin typeface="Calibri" pitchFamily="34" charset="0"/>
                <a:ea typeface="Calibri" pitchFamily="34" charset="-122"/>
                <a:cs typeface="Calibri" pitchFamily="34" charset="-120"/>
              </a:rPr>
              <a:t>instruction, sign-extended</a:t>
            </a:r>
            <a:endParaRPr lang="en-US" sz="1350" dirty="0"/>
          </a:p>
        </p:txBody>
      </p:sp>
      <p:sp>
        <p:nvSpPr>
          <p:cNvPr id="6" name="Text 4"/>
          <p:cNvSpPr txBox="1"/>
          <p:nvPr/>
        </p:nvSpPr>
        <p:spPr>
          <a:xfrm>
            <a:off x="4206240" y="3017520"/>
            <a:ext cx="1005840" cy="1874520"/>
          </a:xfrm>
          <a:prstGeom prst="roundRect">
            <a:avLst>
              <a:gd name="adj" fmla="val 5455"/>
            </a:avLst>
          </a:prstGeom>
          <a:solidFill>
            <a:srgbClr val="0E7C86"/>
          </a:solidFill>
          <a:ln>
            <a:solidFill>
              <a:srgbClr val="0E7C86"/>
            </a:solidFill>
          </a:ln>
        </p:spPr>
        <p:txBody>
          <a:bodyPr wrap="square" lIns="38100" tIns="38100" rIns="38100" bIns="3810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MUX</a:t>
            </a:r>
            <a:endParaRPr lang="en-US" sz="1700" dirty="0"/>
          </a:p>
        </p:txBody>
      </p:sp>
      <p:sp>
        <p:nvSpPr>
          <p:cNvPr id="7" name="Text 5"/>
          <p:cNvSpPr txBox="1"/>
          <p:nvPr/>
        </p:nvSpPr>
        <p:spPr>
          <a:xfrm>
            <a:off x="6400800" y="1691640"/>
            <a:ext cx="1737360" cy="2743200"/>
          </a:xfrm>
          <a:prstGeom prst="roundRect">
            <a:avLst>
              <a:gd name="adj" fmla="val 3158"/>
            </a:avLst>
          </a:prstGeom>
          <a:solidFill>
            <a:srgbClr val="6B4FA0"/>
          </a:solidFill>
          <a:ln>
            <a:solidFill>
              <a:srgbClr val="6B4FA0"/>
            </a:solidFill>
          </a:ln>
        </p:spPr>
        <p:txBody>
          <a:bodyPr wrap="square" lIns="38100" tIns="38100" rIns="38100" bIns="3810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ALU</a:t>
            </a:r>
            <a:endParaRPr lang="en-US" sz="2200" dirty="0"/>
          </a:p>
        </p:txBody>
      </p:sp>
      <p:sp>
        <p:nvSpPr>
          <p:cNvPr id="8" name="Shape 6"/>
          <p:cNvSpPr/>
          <p:nvPr/>
        </p:nvSpPr>
        <p:spPr>
          <a:xfrm>
            <a:off x="2953512" y="2011680"/>
            <a:ext cx="3419856" cy="0"/>
          </a:xfrm>
          <a:prstGeom prst="line">
            <a:avLst/>
          </a:prstGeom>
          <a:noFill/>
          <a:ln w="28575">
            <a:solidFill>
              <a:srgbClr val="5B6B78"/>
            </a:solidFill>
            <a:prstDash val="solid"/>
            <a:tailEnd type="triangle"/>
          </a:ln>
        </p:spPr>
      </p:sp>
      <p:sp>
        <p:nvSpPr>
          <p:cNvPr id="9" name="Text 7"/>
          <p:cNvSpPr txBox="1"/>
          <p:nvPr/>
        </p:nvSpPr>
        <p:spPr>
          <a:xfrm>
            <a:off x="5852160" y="1673352"/>
            <a:ext cx="457200" cy="274320"/>
          </a:xfrm>
          <a:prstGeom prst="rect">
            <a:avLst/>
          </a:prstGeom>
          <a:noFill/>
          <a:ln/>
        </p:spPr>
        <p:txBody>
          <a:bodyPr wrap="square" lIns="0" tIns="0" rIns="0" bIns="0" rtlCol="0" anchor="t"/>
          <a:lstStyle/>
          <a:p>
            <a:pPr indent="0" marL="0">
              <a:buNone/>
            </a:pPr>
            <a:r>
              <a:rPr lang="en-US" sz="1500" b="1" dirty="0">
                <a:solidFill>
                  <a:srgbClr val="1B2530"/>
                </a:solidFill>
                <a:latin typeface="Courier New" pitchFamily="34" charset="0"/>
                <a:ea typeface="Courier New" pitchFamily="34" charset="-122"/>
                <a:cs typeface="Courier New" pitchFamily="34" charset="-120"/>
              </a:rPr>
              <a:t>A</a:t>
            </a:r>
            <a:endParaRPr lang="en-US" sz="1500" dirty="0"/>
          </a:p>
        </p:txBody>
      </p:sp>
      <p:sp>
        <p:nvSpPr>
          <p:cNvPr id="10" name="Shape 8"/>
          <p:cNvSpPr/>
          <p:nvPr/>
        </p:nvSpPr>
        <p:spPr>
          <a:xfrm>
            <a:off x="2953512" y="3383280"/>
            <a:ext cx="1225296" cy="0"/>
          </a:xfrm>
          <a:prstGeom prst="line">
            <a:avLst/>
          </a:prstGeom>
          <a:noFill/>
          <a:ln w="28575">
            <a:solidFill>
              <a:srgbClr val="5B6B78"/>
            </a:solidFill>
            <a:prstDash val="solid"/>
            <a:tailEnd type="triangle"/>
          </a:ln>
        </p:spPr>
      </p:sp>
      <p:sp>
        <p:nvSpPr>
          <p:cNvPr id="11" name="Text 9"/>
          <p:cNvSpPr txBox="1"/>
          <p:nvPr/>
        </p:nvSpPr>
        <p:spPr>
          <a:xfrm>
            <a:off x="3794760" y="3044952"/>
            <a:ext cx="365760" cy="274320"/>
          </a:xfrm>
          <a:prstGeom prst="rect">
            <a:avLst/>
          </a:prstGeom>
          <a:noFill/>
          <a:ln/>
        </p:spPr>
        <p:txBody>
          <a:bodyPr wrap="square" lIns="0" tIns="0" rIns="0" bIns="0" rtlCol="0" anchor="t"/>
          <a:lstStyle/>
          <a:p>
            <a:pPr indent="0" marL="0">
              <a:buNone/>
            </a:pPr>
            <a:r>
              <a:rPr lang="en-US" sz="1400" b="1" dirty="0">
                <a:solidFill>
                  <a:srgbClr val="0E7C86"/>
                </a:solidFill>
                <a:latin typeface="Courier New" pitchFamily="34" charset="0"/>
                <a:ea typeface="Courier New" pitchFamily="34" charset="-122"/>
                <a:cs typeface="Courier New" pitchFamily="34" charset="-120"/>
              </a:rPr>
              <a:t>0</a:t>
            </a:r>
            <a:endParaRPr lang="en-US" sz="1400" dirty="0"/>
          </a:p>
        </p:txBody>
      </p:sp>
      <p:sp>
        <p:nvSpPr>
          <p:cNvPr id="12" name="Shape 10"/>
          <p:cNvSpPr/>
          <p:nvPr/>
        </p:nvSpPr>
        <p:spPr>
          <a:xfrm>
            <a:off x="2953512" y="4526280"/>
            <a:ext cx="1225296" cy="0"/>
          </a:xfrm>
          <a:prstGeom prst="line">
            <a:avLst/>
          </a:prstGeom>
          <a:noFill/>
          <a:ln w="28575">
            <a:solidFill>
              <a:srgbClr val="5B6B78"/>
            </a:solidFill>
            <a:prstDash val="solid"/>
            <a:tailEnd type="triangle"/>
          </a:ln>
        </p:spPr>
      </p:sp>
      <p:sp>
        <p:nvSpPr>
          <p:cNvPr id="13" name="Text 11"/>
          <p:cNvSpPr txBox="1"/>
          <p:nvPr/>
        </p:nvSpPr>
        <p:spPr>
          <a:xfrm>
            <a:off x="3794760" y="4187952"/>
            <a:ext cx="365760" cy="274320"/>
          </a:xfrm>
          <a:prstGeom prst="rect">
            <a:avLst/>
          </a:prstGeom>
          <a:noFill/>
          <a:ln/>
        </p:spPr>
        <p:txBody>
          <a:bodyPr wrap="square" lIns="0" tIns="0" rIns="0" bIns="0" rtlCol="0" anchor="t"/>
          <a:lstStyle/>
          <a:p>
            <a:pPr indent="0" marL="0">
              <a:buNone/>
            </a:pPr>
            <a:r>
              <a:rPr lang="en-US" sz="1400" b="1" dirty="0">
                <a:solidFill>
                  <a:srgbClr val="0E7C86"/>
                </a:solidFill>
                <a:latin typeface="Courier New" pitchFamily="34" charset="0"/>
                <a:ea typeface="Courier New" pitchFamily="34" charset="-122"/>
                <a:cs typeface="Courier New" pitchFamily="34" charset="-120"/>
              </a:rPr>
              <a:t>1</a:t>
            </a:r>
            <a:endParaRPr lang="en-US" sz="1400" dirty="0"/>
          </a:p>
        </p:txBody>
      </p:sp>
      <p:sp>
        <p:nvSpPr>
          <p:cNvPr id="14" name="Shape 12"/>
          <p:cNvSpPr/>
          <p:nvPr/>
        </p:nvSpPr>
        <p:spPr>
          <a:xfrm>
            <a:off x="5239512" y="3931920"/>
            <a:ext cx="1133856" cy="0"/>
          </a:xfrm>
          <a:prstGeom prst="line">
            <a:avLst/>
          </a:prstGeom>
          <a:noFill/>
          <a:ln w="28575">
            <a:solidFill>
              <a:srgbClr val="5B6B78"/>
            </a:solidFill>
            <a:prstDash val="solid"/>
            <a:tailEnd type="triangle"/>
          </a:ln>
        </p:spPr>
      </p:sp>
      <p:sp>
        <p:nvSpPr>
          <p:cNvPr id="15" name="Text 13"/>
          <p:cNvSpPr txBox="1"/>
          <p:nvPr/>
        </p:nvSpPr>
        <p:spPr>
          <a:xfrm>
            <a:off x="5852160" y="3593592"/>
            <a:ext cx="457200" cy="274320"/>
          </a:xfrm>
          <a:prstGeom prst="rect">
            <a:avLst/>
          </a:prstGeom>
          <a:noFill/>
          <a:ln/>
        </p:spPr>
        <p:txBody>
          <a:bodyPr wrap="square" lIns="0" tIns="0" rIns="0" bIns="0" rtlCol="0" anchor="t"/>
          <a:lstStyle/>
          <a:p>
            <a:pPr indent="0" marL="0">
              <a:buNone/>
            </a:pPr>
            <a:r>
              <a:rPr lang="en-US" sz="1500" b="1" dirty="0">
                <a:solidFill>
                  <a:srgbClr val="1B2530"/>
                </a:solidFill>
                <a:latin typeface="Courier New" pitchFamily="34" charset="0"/>
                <a:ea typeface="Courier New" pitchFamily="34" charset="-122"/>
                <a:cs typeface="Courier New" pitchFamily="34" charset="-120"/>
              </a:rPr>
              <a:t>B</a:t>
            </a:r>
            <a:endParaRPr lang="en-US" sz="1500" dirty="0"/>
          </a:p>
        </p:txBody>
      </p:sp>
      <p:sp>
        <p:nvSpPr>
          <p:cNvPr id="16" name="Shape 14"/>
          <p:cNvSpPr/>
          <p:nvPr/>
        </p:nvSpPr>
        <p:spPr>
          <a:xfrm flipV="1">
            <a:off x="4709160" y="4919472"/>
            <a:ext cx="0" cy="612648"/>
          </a:xfrm>
          <a:prstGeom prst="line">
            <a:avLst/>
          </a:prstGeom>
          <a:noFill/>
          <a:ln w="28575">
            <a:solidFill>
              <a:srgbClr val="B23A48"/>
            </a:solidFill>
            <a:prstDash val="solid"/>
            <a:tailEnd type="triangle"/>
          </a:ln>
        </p:spPr>
      </p:sp>
      <p:sp>
        <p:nvSpPr>
          <p:cNvPr id="17" name="Text 15"/>
          <p:cNvSpPr txBox="1"/>
          <p:nvPr/>
        </p:nvSpPr>
        <p:spPr>
          <a:xfrm>
            <a:off x="3017520" y="5550408"/>
            <a:ext cx="3474720" cy="274320"/>
          </a:xfrm>
          <a:prstGeom prst="rect">
            <a:avLst/>
          </a:prstGeom>
          <a:noFill/>
          <a:ln/>
        </p:spPr>
        <p:txBody>
          <a:bodyPr wrap="square" lIns="0" tIns="0" rIns="0" bIns="0" rtlCol="0" anchor="t"/>
          <a:lstStyle/>
          <a:p>
            <a:pPr algn="ctr" indent="0" marL="0">
              <a:buNone/>
            </a:pPr>
            <a:r>
              <a:rPr lang="en-US" sz="1350" b="1" dirty="0">
                <a:solidFill>
                  <a:srgbClr val="B23A48"/>
                </a:solidFill>
                <a:latin typeface="Calibri" pitchFamily="34" charset="0"/>
                <a:ea typeface="Calibri" pitchFamily="34" charset="-122"/>
                <a:cs typeface="Calibri" pitchFamily="34" charset="-120"/>
              </a:rPr>
              <a:t>selection: 0 for add, 1 for addi</a:t>
            </a:r>
            <a:endParaRPr lang="en-US" sz="1350" dirty="0"/>
          </a:p>
        </p:txBody>
      </p:sp>
      <p:sp>
        <p:nvSpPr>
          <p:cNvPr id="18" name="Shape 16"/>
          <p:cNvSpPr/>
          <p:nvPr/>
        </p:nvSpPr>
        <p:spPr>
          <a:xfrm>
            <a:off x="8165592" y="3063240"/>
            <a:ext cx="704088" cy="0"/>
          </a:xfrm>
          <a:prstGeom prst="line">
            <a:avLst/>
          </a:prstGeom>
          <a:noFill/>
          <a:ln w="28575">
            <a:solidFill>
              <a:srgbClr val="5B6B78"/>
            </a:solidFill>
            <a:prstDash val="solid"/>
            <a:tailEnd type="triangle"/>
          </a:ln>
        </p:spPr>
      </p:sp>
      <p:sp>
        <p:nvSpPr>
          <p:cNvPr id="19" name="Text 17"/>
          <p:cNvSpPr txBox="1"/>
          <p:nvPr/>
        </p:nvSpPr>
        <p:spPr>
          <a:xfrm>
            <a:off x="8229600" y="2697480"/>
            <a:ext cx="731520" cy="274320"/>
          </a:xfrm>
          <a:prstGeom prst="rect">
            <a:avLst/>
          </a:prstGeom>
          <a:noFill/>
          <a:ln/>
        </p:spPr>
        <p:txBody>
          <a:bodyPr wrap="square" lIns="0" tIns="0" rIns="0" bIns="0" rtlCol="0" anchor="t"/>
          <a:lstStyle/>
          <a:p>
            <a:pPr indent="0" marL="0">
              <a:buNone/>
            </a:pPr>
            <a:r>
              <a:rPr lang="en-US" sz="1300" i="1" dirty="0">
                <a:solidFill>
                  <a:srgbClr val="5B6B78"/>
                </a:solidFill>
                <a:latin typeface="Calibri" pitchFamily="34" charset="0"/>
                <a:ea typeface="Calibri" pitchFamily="34" charset="-122"/>
                <a:cs typeface="Calibri" pitchFamily="34" charset="-120"/>
              </a:rPr>
              <a:t>result</a:t>
            </a:r>
            <a:endParaRPr lang="en-US" sz="1300" dirty="0"/>
          </a:p>
        </p:txBody>
      </p:sp>
      <p:sp>
        <p:nvSpPr>
          <p:cNvPr id="20" name="Shape 18"/>
          <p:cNvSpPr/>
          <p:nvPr/>
        </p:nvSpPr>
        <p:spPr>
          <a:xfrm>
            <a:off x="9052560" y="1469517"/>
            <a:ext cx="146304" cy="146304"/>
          </a:xfrm>
          <a:prstGeom prst="rect">
            <a:avLst/>
          </a:prstGeom>
          <a:solidFill>
            <a:srgbClr val="0E7C86"/>
          </a:solidFill>
          <a:ln w="12700">
            <a:solidFill>
              <a:srgbClr val="0E7C86"/>
            </a:solidFill>
            <a:prstDash val="solid"/>
          </a:ln>
        </p:spPr>
      </p:sp>
      <p:sp>
        <p:nvSpPr>
          <p:cNvPr id="21" name="Text 19"/>
          <p:cNvSpPr txBox="1"/>
          <p:nvPr/>
        </p:nvSpPr>
        <p:spPr>
          <a:xfrm>
            <a:off x="9436608" y="1417320"/>
            <a:ext cx="2206447" cy="697230"/>
          </a:xfrm>
          <a:prstGeom prst="rect">
            <a:avLst/>
          </a:prstGeom>
          <a:noFill/>
          <a:ln/>
        </p:spPr>
        <p:txBody>
          <a:bodyPr wrap="square" lIns="0" tIns="0" rIns="0" bIns="0" rtlCol="0" anchor="t"/>
          <a:lstStyle/>
          <a:p>
            <a:pPr indent="0" marL="0">
              <a:spcAft>
                <a:spcPts val="200"/>
              </a:spcAft>
              <a:buNone/>
            </a:pPr>
            <a:r>
              <a:rPr lang="en-US" sz="1500" dirty="0">
                <a:solidFill>
                  <a:srgbClr val="1B2530"/>
                </a:solidFill>
                <a:latin typeface="Calibri" pitchFamily="34" charset="0"/>
                <a:ea typeface="Calibri" pitchFamily="34" charset="-122"/>
                <a:cs typeface="Calibri" pitchFamily="34" charset="-120"/>
              </a:rPr>
              <a:t>add t2, t0, t1 and addi t2, t0, 5 use the same adder</a:t>
            </a:r>
            <a:endParaRPr lang="en-US" sz="1500" dirty="0"/>
          </a:p>
        </p:txBody>
      </p:sp>
      <p:sp>
        <p:nvSpPr>
          <p:cNvPr id="22" name="Shape 20"/>
          <p:cNvSpPr/>
          <p:nvPr/>
        </p:nvSpPr>
        <p:spPr>
          <a:xfrm>
            <a:off x="9052560" y="2357247"/>
            <a:ext cx="146304" cy="146304"/>
          </a:xfrm>
          <a:prstGeom prst="rect">
            <a:avLst/>
          </a:prstGeom>
          <a:solidFill>
            <a:srgbClr val="C7791B"/>
          </a:solidFill>
          <a:ln w="12700">
            <a:solidFill>
              <a:srgbClr val="C7791B"/>
            </a:solidFill>
            <a:prstDash val="solid"/>
          </a:ln>
        </p:spPr>
      </p:sp>
      <p:sp>
        <p:nvSpPr>
          <p:cNvPr id="23" name="Text 21"/>
          <p:cNvSpPr txBox="1"/>
          <p:nvPr/>
        </p:nvSpPr>
        <p:spPr>
          <a:xfrm>
            <a:off x="9436608" y="2305050"/>
            <a:ext cx="2206447" cy="1162050"/>
          </a:xfrm>
          <a:prstGeom prst="rect">
            <a:avLst/>
          </a:prstGeom>
          <a:noFill/>
          <a:ln/>
        </p:spPr>
        <p:txBody>
          <a:bodyPr wrap="square" lIns="0" tIns="0" rIns="0" bIns="0" rtlCol="0" anchor="t"/>
          <a:lstStyle/>
          <a:p>
            <a:pPr indent="0" marL="0">
              <a:spcAft>
                <a:spcPts val="200"/>
              </a:spcAft>
              <a:buNone/>
            </a:pPr>
            <a:r>
              <a:rPr lang="en-US" sz="1500" dirty="0">
                <a:solidFill>
                  <a:srgbClr val="1B2530"/>
                </a:solidFill>
                <a:latin typeface="Calibri" pitchFamily="34" charset="0"/>
                <a:ea typeface="Calibri" pitchFamily="34" charset="-122"/>
                <a:cs typeface="Calibri" pitchFamily="34" charset="-120"/>
              </a:rPr>
              <a:t>A multiplexer in front of the ALU chooses the second operand: a register or the constant</a:t>
            </a:r>
            <a:endParaRPr lang="en-US" sz="1500" dirty="0"/>
          </a:p>
        </p:txBody>
      </p:sp>
      <p:sp>
        <p:nvSpPr>
          <p:cNvPr id="24" name="Shape 22"/>
          <p:cNvSpPr/>
          <p:nvPr/>
        </p:nvSpPr>
        <p:spPr>
          <a:xfrm>
            <a:off x="9052560" y="3709797"/>
            <a:ext cx="146304" cy="146304"/>
          </a:xfrm>
          <a:prstGeom prst="rect">
            <a:avLst/>
          </a:prstGeom>
          <a:solidFill>
            <a:srgbClr val="0E7C86"/>
          </a:solidFill>
          <a:ln w="12700">
            <a:solidFill>
              <a:srgbClr val="0E7C86"/>
            </a:solidFill>
            <a:prstDash val="solid"/>
          </a:ln>
        </p:spPr>
      </p:sp>
      <p:sp>
        <p:nvSpPr>
          <p:cNvPr id="25" name="Text 23"/>
          <p:cNvSpPr txBox="1"/>
          <p:nvPr/>
        </p:nvSpPr>
        <p:spPr>
          <a:xfrm>
            <a:off x="9436608" y="3657600"/>
            <a:ext cx="2206447" cy="1162050"/>
          </a:xfrm>
          <a:prstGeom prst="rect">
            <a:avLst/>
          </a:prstGeom>
          <a:noFill/>
          <a:ln/>
        </p:spPr>
        <p:txBody>
          <a:bodyPr wrap="square" lIns="0" tIns="0" rIns="0" bIns="0" rtlCol="0" anchor="t"/>
          <a:lstStyle/>
          <a:p>
            <a:pPr indent="0" marL="0">
              <a:spcAft>
                <a:spcPts val="200"/>
              </a:spcAft>
              <a:buNone/>
            </a:pPr>
            <a:r>
              <a:rPr lang="en-US" sz="1500" dirty="0">
                <a:solidFill>
                  <a:srgbClr val="1B2530"/>
                </a:solidFill>
                <a:latin typeface="Calibri" pitchFamily="34" charset="0"/>
                <a:ea typeface="Calibri" pitchFamily="34" charset="-122"/>
                <a:cs typeface="Calibri" pitchFamily="34" charset="-120"/>
              </a:rPr>
              <a:t>It is a multiplexer on words: thirty-two one-bit multiplexers sharing one selection line</a:t>
            </a:r>
            <a:endParaRPr lang="en-US" sz="1500" dirty="0"/>
          </a:p>
        </p:txBody>
      </p:sp>
      <p:sp>
        <p:nvSpPr>
          <p:cNvPr id="26" name="Shape 24"/>
          <p:cNvSpPr/>
          <p:nvPr/>
        </p:nvSpPr>
        <p:spPr>
          <a:xfrm>
            <a:off x="9052560" y="5062347"/>
            <a:ext cx="146304" cy="146304"/>
          </a:xfrm>
          <a:prstGeom prst="rect">
            <a:avLst/>
          </a:prstGeom>
          <a:solidFill>
            <a:srgbClr val="C7791B"/>
          </a:solidFill>
          <a:ln w="12700">
            <a:solidFill>
              <a:srgbClr val="C7791B"/>
            </a:solidFill>
            <a:prstDash val="solid"/>
          </a:ln>
        </p:spPr>
      </p:sp>
      <p:sp>
        <p:nvSpPr>
          <p:cNvPr id="27" name="Text 25"/>
          <p:cNvSpPr txBox="1"/>
          <p:nvPr/>
        </p:nvSpPr>
        <p:spPr>
          <a:xfrm>
            <a:off x="9436608" y="5010150"/>
            <a:ext cx="2206447" cy="1162050"/>
          </a:xfrm>
          <a:prstGeom prst="rect">
            <a:avLst/>
          </a:prstGeom>
          <a:noFill/>
          <a:ln/>
        </p:spPr>
        <p:txBody>
          <a:bodyPr wrap="square" lIns="0" tIns="0" rIns="0" bIns="0" rtlCol="0" anchor="t"/>
          <a:lstStyle/>
          <a:p>
            <a:pPr indent="0" marL="0">
              <a:spcAft>
                <a:spcPts val="200"/>
              </a:spcAft>
              <a:buNone/>
            </a:pPr>
            <a:r>
              <a:rPr lang="en-US" sz="1500" dirty="0">
                <a:solidFill>
                  <a:srgbClr val="1B2530"/>
                </a:solidFill>
                <a:latin typeface="Calibri" pitchFamily="34" charset="0"/>
                <a:ea typeface="Calibri" pitchFamily="34" charset="-122"/>
                <a:cs typeface="Calibri" pitchFamily="34" charset="-120"/>
              </a:rPr>
              <a:t>Reading a register is a multiplexer too: 32 words in, 5 selection bits (rs1), one word out</a:t>
            </a:r>
            <a:endParaRPr lang="en-US" sz="15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 parity network in seven instructions</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300" dirty="0">
                <a:solidFill>
                  <a:srgbClr val="8FB3A0"/>
                </a:solidFill>
                <a:latin typeface="Courier New" pitchFamily="34" charset="0"/>
                <a:ea typeface="Courier New" pitchFamily="34" charset="-122"/>
                <a:cs typeface="Courier New" pitchFamily="34" charset="-120"/>
              </a:rPr>
              <a:t># a0 = one byte        result: a0 = 1 if the number of 1 bits is odd</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srli t0, a0, 4</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xor  a0, a0, t0      </a:t>
            </a:r>
            <a:pPr indent="0" marL="0">
              <a:buNone/>
            </a:pPr>
            <a:r>
              <a:rPr lang="en-US" sz="1300" dirty="0">
                <a:solidFill>
                  <a:srgbClr val="8FB3A0"/>
                </a:solidFill>
                <a:latin typeface="Courier New" pitchFamily="34" charset="0"/>
                <a:ea typeface="Courier New" pitchFamily="34" charset="-122"/>
                <a:cs typeface="Courier New" pitchFamily="34" charset="-120"/>
              </a:rPr>
              <a:t># fold eight bits onto four</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srli t0, a0, 2</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xor  a0, a0, t0      </a:t>
            </a:r>
            <a:pPr indent="0" marL="0">
              <a:buNone/>
            </a:pPr>
            <a:r>
              <a:rPr lang="en-US" sz="1300" dirty="0">
                <a:solidFill>
                  <a:srgbClr val="8FB3A0"/>
                </a:solidFill>
                <a:latin typeface="Courier New" pitchFamily="34" charset="0"/>
                <a:ea typeface="Courier New" pitchFamily="34" charset="-122"/>
                <a:cs typeface="Courier New" pitchFamily="34" charset="-120"/>
              </a:rPr>
              <a:t># fold four bits onto two</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srli t0, a0, 1</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xor  a0, a0, t0      </a:t>
            </a:r>
            <a:pPr indent="0" marL="0">
              <a:buNone/>
            </a:pPr>
            <a:r>
              <a:rPr lang="en-US" sz="1300" dirty="0">
                <a:solidFill>
                  <a:srgbClr val="8FB3A0"/>
                </a:solidFill>
                <a:latin typeface="Courier New" pitchFamily="34" charset="0"/>
                <a:ea typeface="Courier New" pitchFamily="34" charset="-122"/>
                <a:cs typeface="Courier New" pitchFamily="34" charset="-120"/>
              </a:rPr>
              <a:t># fold two bits onto one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andi a0, a0, 1       </a:t>
            </a:r>
            <a:pPr indent="0" marL="0">
              <a:buNone/>
            </a:pPr>
            <a:r>
              <a:rPr lang="en-US" sz="1300" dirty="0">
                <a:solidFill>
                  <a:srgbClr val="8FB3A0"/>
                </a:solidFill>
                <a:latin typeface="Courier New" pitchFamily="34" charset="0"/>
                <a:ea typeface="Courier New" pitchFamily="34" charset="-122"/>
                <a:cs typeface="Courier New" pitchFamily="34" charset="-120"/>
              </a:rPr>
              <a:t># keep the parity bit</a:t>
            </a:r>
            <a:endParaRPr lang="en-US" sz="1300" dirty="0"/>
          </a:p>
        </p:txBody>
      </p:sp>
      <p:sp>
        <p:nvSpPr>
          <p:cNvPr id="5" name="Shape 3"/>
          <p:cNvSpPr/>
          <p:nvPr/>
        </p:nvSpPr>
        <p:spPr>
          <a:xfrm>
            <a:off x="8229600" y="1417320"/>
            <a:ext cx="341345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Each xor combines the upper half of the bits with the lower half</a:t>
            </a:r>
            <a:endParaRPr lang="en-US" sz="1700" dirty="0"/>
          </a:p>
        </p:txBody>
      </p:sp>
      <p:sp>
        <p:nvSpPr>
          <p:cNvPr id="8" name="Shape 6"/>
          <p:cNvSpPr/>
          <p:nvPr/>
        </p:nvSpPr>
        <p:spPr>
          <a:xfrm>
            <a:off x="8229600" y="3069336"/>
            <a:ext cx="341345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839419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3206496"/>
            <a:ext cx="254477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Three levels for eight bits: the software version of a tree of XOR gates</a:t>
            </a:r>
            <a:endParaRPr lang="en-US" sz="1700" dirty="0"/>
          </a:p>
        </p:txBody>
      </p:sp>
      <p:sp>
        <p:nvSpPr>
          <p:cNvPr id="11" name="Shape 9"/>
          <p:cNvSpPr/>
          <p:nvPr/>
        </p:nvSpPr>
        <p:spPr>
          <a:xfrm>
            <a:off x="8229600" y="4721352"/>
            <a:ext cx="341345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839419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858512"/>
            <a:ext cx="254477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same value appended to the byte makes its total parity even</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RISC-V instructions and the ALU</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818757"/>
                <a:gridCol w="1455005"/>
                <a:gridCol w="2728135"/>
                <a:gridCol w="5092518"/>
              </a:tblGrid>
              <a:tr h="0">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Instruction</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funct3</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ALU operation</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Unit that produces the result</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add, sub</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000</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sum or difference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adder / subtractor (one more bit, in funct7, chooses)</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sll</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001</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shift left</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shifter</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slt, sltu</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010, 011</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set if less than</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subtractor, then the sign rules</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xor</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100</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bitwise XOR</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XOR gates</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srl, sra</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101</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shift right</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shifter (funct7 chooses logical or arithmetic)</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or</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110</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bitwise OR</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OR gates</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and</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111</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bitwise AND</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AND gates</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500" i="1" dirty="0">
                <a:solidFill>
                  <a:srgbClr val="5B6B78"/>
                </a:solidFill>
                <a:latin typeface="Calibri" pitchFamily="34" charset="0"/>
                <a:ea typeface="Calibri" pitchFamily="34" charset="-122"/>
                <a:cs typeface="Calibri" pitchFamily="34" charset="-120"/>
              </a:rPr>
              <a:t>funct3 is a 3-bit code inside the instruction: the ALU multiplexer is driven by decoding it.</a:t>
            </a:r>
            <a:endParaRPr lang="en-US" sz="15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l11.S (1 of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500" dirty="0">
                <a:solidFill>
                  <a:srgbClr val="8FB3A0"/>
                </a:solidFill>
                <a:latin typeface="Courier New" pitchFamily="34" charset="0"/>
                <a:ea typeface="Courier New" pitchFamily="34" charset="-122"/>
                <a:cs typeface="Courier New" pitchFamily="34" charset="-120"/>
              </a:rPr>
              <a:t># ARC12 Computer Architecture - Lecture 11: Combinational Machines</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l11.S: a multiplexer in software: a selector chooses one of four colours</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On the screen: four horizontal bars, red, green, blue and yellow from the top: bar k</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is drawn in the colour that the selector k chooses in the table.</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Build: python3 -m prg32 cartridge build l11.S --portable \</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--entry-prefix l11 --name l11 --out l11.prg32</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.option norelax</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.section .text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.global l11_init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.global l11_update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.global l11_draw</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l11_init: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ret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l11_update: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ret</a:t>
            </a:r>
            <a:endParaRPr lang="en-US" sz="15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l11.S (2 of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200" dirty="0">
                <a:solidFill>
                  <a:srgbClr val="E6EDF2"/>
                </a:solidFill>
                <a:latin typeface="Courier New" pitchFamily="34" charset="0"/>
                <a:ea typeface="Courier New" pitchFamily="34" charset="-122"/>
                <a:cs typeface="Courier New" pitchFamily="34" charset="-120"/>
              </a:rPr>
              <a:t>l11_draw:</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sp, sp, -16</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ra, 12(sp)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s0, 8(sp)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a0, 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prg32_gfx_clear</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s0, 0               </a:t>
            </a:r>
            <a:pPr indent="0" marL="0">
              <a:buNone/>
            </a:pPr>
            <a:r>
              <a:rPr lang="en-US" sz="1200" dirty="0">
                <a:solidFill>
                  <a:srgbClr val="8FB3A0"/>
                </a:solidFill>
                <a:latin typeface="Courier New" pitchFamily="34" charset="0"/>
                <a:ea typeface="Courier New" pitchFamily="34" charset="-122"/>
                <a:cs typeface="Courier New" pitchFamily="34" charset="-120"/>
              </a:rPr>
              <a:t># the selector, 0 to 3</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bars:</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mv   a0, s0              </a:t>
            </a:r>
            <a:pPr indent="0" marL="0">
              <a:buNone/>
            </a:pPr>
            <a:r>
              <a:rPr lang="en-US" sz="1200" dirty="0">
                <a:solidFill>
                  <a:srgbClr val="8FB3A0"/>
                </a:solidFill>
                <a:latin typeface="Courier New" pitchFamily="34" charset="0"/>
                <a:ea typeface="Courier New" pitchFamily="34" charset="-122"/>
                <a:cs typeface="Courier New" pitchFamily="34" charset="-120"/>
              </a:rPr>
              <a:t># a0 = selector, 0 to 3</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palette         </a:t>
            </a:r>
            <a:pPr indent="0" marL="0">
              <a:buNone/>
            </a:pPr>
            <a:r>
              <a:rPr lang="en-US" sz="1200" dirty="0">
                <a:solidFill>
                  <a:srgbClr val="8FB3A0"/>
                </a:solidFill>
                <a:latin typeface="Courier New" pitchFamily="34" charset="0"/>
                <a:ea typeface="Courier New" pitchFamily="34" charset="-122"/>
                <a:cs typeface="Courier New" pitchFamily="34" charset="-120"/>
              </a:rPr>
              <a:t># four words: the data inputs</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slli t1, a0, 2           </a:t>
            </a:r>
            <a:pPr indent="0" marL="0">
              <a:buNone/>
            </a:pPr>
            <a:r>
              <a:rPr lang="en-US" sz="1200" dirty="0">
                <a:solidFill>
                  <a:srgbClr val="8FB3A0"/>
                </a:solidFill>
                <a:latin typeface="Courier New" pitchFamily="34" charset="0"/>
                <a:ea typeface="Courier New" pitchFamily="34" charset="-122"/>
                <a:cs typeface="Courier New" pitchFamily="34" charset="-120"/>
              </a:rPr>
              <a:t># selector * 4 bytes</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  t0, t0, t1          </a:t>
            </a:r>
            <a:pPr indent="0" marL="0">
              <a:buNone/>
            </a:pPr>
            <a:r>
              <a:rPr lang="en-US" sz="1200" dirty="0">
                <a:solidFill>
                  <a:srgbClr val="8FB3A0"/>
                </a:solidFill>
                <a:latin typeface="Courier New" pitchFamily="34" charset="0"/>
                <a:ea typeface="Courier New" pitchFamily="34" charset="-122"/>
                <a:cs typeface="Courier New" pitchFamily="34" charset="-120"/>
              </a:rPr>
              <a:t># address of the selected word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a4, 0(t0)           </a:t>
            </a:r>
            <a:pPr indent="0" marL="0">
              <a:buNone/>
            </a:pPr>
            <a:r>
              <a:rPr lang="en-US" sz="1200" dirty="0">
                <a:solidFill>
                  <a:srgbClr val="8FB3A0"/>
                </a:solidFill>
                <a:latin typeface="Courier New" pitchFamily="34" charset="0"/>
                <a:ea typeface="Courier New" pitchFamily="34" charset="-122"/>
                <a:cs typeface="Courier New" pitchFamily="34" charset="-120"/>
              </a:rPr>
              <a:t># the selected input reaches the output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a0, 20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slli a1, s0, 5</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a1, a1, 20          </a:t>
            </a:r>
            <a:pPr indent="0" marL="0">
              <a:buNone/>
            </a:pPr>
            <a:r>
              <a:rPr lang="en-US" sz="1200" dirty="0">
                <a:solidFill>
                  <a:srgbClr val="8FB3A0"/>
                </a:solidFill>
                <a:latin typeface="Courier New" pitchFamily="34" charset="0"/>
                <a:ea typeface="Courier New" pitchFamily="34" charset="-122"/>
                <a:cs typeface="Courier New" pitchFamily="34" charset="-120"/>
              </a:rPr>
              <a:t># y = 20 + 32 * selector</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a2, 200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a3, 16</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prg32_gfx_rect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s0, s0, 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t0, 4</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blt  s0, t0, bars</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s0, 8(sp)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ra, 12(sp)</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l11.S (3 of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.section .rodata</a:t>
            </a:r>
            <a:endParaRPr lang="en-US" sz="1800" dirty="0"/>
          </a:p>
          <a:p>
            <a:pPr indent="0" marL="0">
              <a:buNone/>
            </a:pPr>
            <a:r>
              <a:rPr lang="en-US" sz="1800" dirty="0">
                <a:solidFill>
                  <a:srgbClr val="8FB3A0"/>
                </a:solidFill>
                <a:latin typeface="Courier New" pitchFamily="34" charset="0"/>
                <a:ea typeface="Courier New" pitchFamily="34" charset="-122"/>
                <a:cs typeface="Courier New" pitchFamily="34" charset="-120"/>
              </a:rPr>
              <a:t># red, green, blue, yellow</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palette: .word 0xf800, 0x07e0, 0x001f, 0xffe0</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what you should see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1709928"/>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On the screen</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four horizontal bars, red, green, blue and yellow from the top: bar k is drawn in the colour that the selector k chooses in the table.</a:t>
            </a:r>
            <a:endParaRPr lang="en-US" sz="2400" dirty="0"/>
          </a:p>
        </p:txBody>
      </p:sp>
      <p:sp>
        <p:nvSpPr>
          <p:cNvPr id="5" name="Shape 3"/>
          <p:cNvSpPr/>
          <p:nvPr/>
        </p:nvSpPr>
        <p:spPr>
          <a:xfrm>
            <a:off x="548640" y="3889248"/>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3767328"/>
            <a:ext cx="5468112" cy="73380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What to press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nothing: the program runs by itself</a:t>
            </a:r>
            <a:endParaRPr lang="en-US" sz="2400" dirty="0"/>
          </a:p>
        </p:txBody>
      </p:sp>
      <p:pic>
        <p:nvPicPr>
          <p:cNvPr id="7" name="Image 0" descr="/Users/raffaelemontella/devel/riscv-prg32/computer-architecture-with-prg32/tools/assets/lab_l11.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frame written by the automatic test on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l11 --name l11 --out l11.prg32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l11.prg32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must be running: it answers on port 8080, like a board</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Build once, from the PRG32 folder, with ESP-IDF active in the terminal</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stores the cartridge in slot cart0 and starts it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Enable debug mode in Settings to stop the program and read registers and memory</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l11 --name l11 --architecture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l11-qemu.prg32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l11-qemu.prg32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emulator runs the real firmware on an emulated chip: build it once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cartridge is built for the architecture qemu: the same source, another file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Stage the cartridge with QEMU closed, then start it and choose Run Cartridge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keys go to the terminal: arrows or WASD, Z or J for A, X or K for B</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the board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l11 --name l11 --architecture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l11-esp32c6.prg32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l11-esp32c6.prg32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firmware is written once per board, through the USB cable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board creates the Wi-Fi network PRG32: join it with your computer</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same upload command as for PRG32-QT, with the address of the board</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black screen: check the wiring of the display against the firmware</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If it does not work</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You see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It means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Do this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missing entry point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prefix is not the one in the source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l11; check the three .global lines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is not active in this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run export.sh, or open the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host is not listening at that address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start PRG32-QT; use the address on its Setup screen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a black screen, or the menu again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 function does not return, or ra was not saved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debug mode: step through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ignores the keys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keyboard goes to the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click the terminal that launched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Exercises: paper first, then PRG32</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Synthesise segment g of the seven-segment transcoder with a Karnaugh map, using the don't-cares</a:t>
            </a:r>
            <a:endParaRPr lang="en-US" sz="2000" dirty="0"/>
          </a:p>
        </p:txBody>
      </p:sp>
      <p:sp>
        <p:nvSpPr>
          <p:cNvPr id="6" name="Text 4"/>
          <p:cNvSpPr txBox="1"/>
          <p:nvPr/>
        </p:nvSpPr>
        <p:spPr>
          <a:xfrm>
            <a:off x="548640" y="21945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176272"/>
            <a:ext cx="10436047" cy="438912"/>
          </a:xfrm>
          <a:prstGeom prst="rect">
            <a:avLst/>
          </a:prstGeom>
          <a:noFill/>
          <a:ln/>
        </p:spPr>
        <p:txBody>
          <a:bodyPr wrap="square" lIns="0" tIns="0" rIns="0" bIns="0" rtlCol="0" anchor="ctr"/>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Build a 3-to-8 decoder from two 2-to-4 decoders with enable and one inverter</a:t>
            </a:r>
            <a:endParaRPr lang="en-US" sz="2000" dirty="0"/>
          </a:p>
        </p:txBody>
      </p:sp>
      <p:sp>
        <p:nvSpPr>
          <p:cNvPr id="8" name="Text 6"/>
          <p:cNvSpPr txBox="1"/>
          <p:nvPr/>
        </p:nvSpPr>
        <p:spPr>
          <a:xfrm>
            <a:off x="548640" y="277266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754376"/>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Implement F = sum of m(1, 2, 4, 7) with one multiplexer of 8 inputs. Which function is it?</a:t>
            </a:r>
            <a:endParaRPr lang="en-US" sz="2000" dirty="0"/>
          </a:p>
        </p:txBody>
      </p:sp>
      <p:sp>
        <p:nvSpPr>
          <p:cNvPr id="10" name="Text 8"/>
          <p:cNvSpPr txBox="1"/>
          <p:nvPr/>
        </p:nvSpPr>
        <p:spPr>
          <a:xfrm>
            <a:off x="548640" y="35316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513328"/>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Write a comparator in assembly: a0 = 1 if a0 and a1 are equal, using xor and sltiu only</a:t>
            </a:r>
            <a:endParaRPr lang="en-US" sz="2000" dirty="0"/>
          </a:p>
        </p:txBody>
      </p:sp>
      <p:sp>
        <p:nvSpPr>
          <p:cNvPr id="12" name="Text 10"/>
          <p:cNvSpPr txBox="1"/>
          <p:nvPr/>
        </p:nvSpPr>
        <p:spPr>
          <a:xfrm>
            <a:off x="548640" y="429056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272280"/>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Draw a seven-segment digit on PRG32: a table of ten bytes, one per digit, and seven rectangles lit by testing its bits</a:t>
            </a:r>
            <a:endParaRPr lang="en-US" sz="20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On PRG32: a large digit that counts from 0 to 9, one step per second, drawn from seven rectangles.</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Combinational Machines: the code</dc:title>
  <dc:subject>Lecture 11</dc:subject>
  <dc:creator>Raffaele Montella</dc:creator>
  <cp:lastModifiedBy>Raffaele Montella</cp:lastModifiedBy>
  <cp:revision>1</cp:revision>
  <dcterms:created xsi:type="dcterms:W3CDTF">2026-10-13T08:56:24Z</dcterms:created>
  <dcterms:modified xsi:type="dcterms:W3CDTF">2026-10-13T08:56:24Z</dcterms:modified>
</cp:coreProperties>
</file>