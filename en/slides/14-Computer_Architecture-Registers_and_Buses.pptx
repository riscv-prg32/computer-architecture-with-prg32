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2ff295a-562f-2785-ac87-58101581765b}">
          <p14:sldIdLst>
            <p14:sldId id="256"/>
            <p14:sldId id="257"/>
          </p14:sldIdLst>
        </p14:section>
        <p14:section name="Word gates and registers" id="{330b5259-675a-0249-d83c-bf7075adbe1b}">
          <p14:sldIdLst>
            <p14:sldId id="258"/>
            <p14:sldId id="259"/>
          </p14:sldIdLst>
        </p14:section>
        <p14:section name="Buses" id="{98390e40-1fce-99a5-b205-eab15bfbdd4d}">
          <p14:sldIdLst>
            <p14:sldId id="260"/>
            <p14:sldId id="261"/>
            <p14:sldId id="262"/>
            <p14:sldId id="263"/>
          </p14:sldIdLst>
        </p14:section>
        <p14:section name="Three-state buffers" id="{0614663a-9531-9f92-573f-a8551abd2b12}">
          <p14:sldIdLst>
            <p14:sldId id="264"/>
            <p14:sldId id="265"/>
            <p14:sldId id="266"/>
          </p14:sldIdLst>
        </p14:section>
        <p14:section name="Shift registers" id="{f34f36a2-f586-8e93-37d5-43f05a7e280b}">
          <p14:sldIdLst>
            <p14:sldId id="267"/>
            <p14:sldId id="268"/>
            <p14:sldId id="269"/>
            <p14:sldId id="270"/>
            <p14:sldId id="271"/>
          </p14:sldIdLst>
        </p14:section>
        <p14:section name="Back to the machine" id="{9f0e5f60-6ca6-3e51-6e9d-98787e2bc61f}">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built a register from flip-flops. This one asks how registers communicate: how a word passes from one to another, along which wires, and what happens when many registers share the same wires. The answers are the bus, the three-state buffer and the shift register, the elementary machines of every datapath. Doc Brown's line on the cover is ironic in this context: data most certainly need roads, and a bus is exactly that. The warm-up starts from a fact about the kit: its display receives every pixel one bit at a time.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shift registers; registers as flip-flops; buses and three-state gates. USE NOW: the complete program, the PRG32 tools (used, not studied, in this course). UNDERSTAND LATER: memory-mapped I/O (Lecture 15); memories and addresses (Lecture 15). A slide without a badge is context: a story, an example, a question, an exercise.
Roadmap. Today's outcomes: (1) explain how registers share a bus through three-state buffers; (2) use a shift register for serial transfer. Builds on: registers as flip-flops (Lecture 13). Next: Lecture 15, Memory.
For the lecturer: Spiral: the display of the PRG32 kit receives every pixel one bit at a time; the warm-up sends a byte serially in assembly, and the lecture builds the machines that do it in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learning outcomes. Describing a register as a set of flip-flops with a common clock and a load signal. Explaining what a bus is and comparing dedicated buses with a common bus. Stating why a common bus requires three-state buffers and what high impedance means. Describing a shift register and its four combinations of serial and parallel input and output. And converting a datum from parallel to serial form and back, both in hardware and in assembly.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is a vector of n bits. A word gate consists of n identical gates sharing one control input: with the control at 1 the word passes unchanged, with the control at 0 every bit is forced to 0. It is the natural generalisation of a gate from a bit to a word. The bitwise instructions of RISC-V are word gates thirty-two bits wide, and the word multiplexer of Lecture 11 is built from them.
UNDERSTAND NOW: registers as flip-flops.
For the lecturer: Porte di parola. The multiplexer on words of Lecture 11 is built from word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register stores a group of bits; in its simplest form it is a group of flip-flops with a common clock. The classic single-chip example is the 74273, with eight D flip-flops, one clock and one clear input. Loading a register means storing the datum present at its inputs, which occurs when the load signal is active, normally in synchrony with the clock. Each of the RISC-V registers x1 to x31 consists of thirty-two such flip-flops.
UNDERSTAND NOW: registers as flip-flops.
For the lecturer: Datasheet: ti.com/lit/ds/symlink/sn74ls273.pdf. The 7474 holds two D flip-flops with preset and clear. See Lecture 13 for the flip-flop itself.
Pictures: Animation Technologies LifeView LR25 - Hitachi LS273-2523.jpg, Raimond Spekking,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bus is the set of lines that carries a datum between the components of a system; the word derives from the Latin omnibus, "for all". A bus of n lines carries an n-bit word in one step. The transfer from a register X to a register Y is the elementary action from which all others are composed: almost every instruction written so far is, at the level of the hardware, a short sequence of register transfers, a description known as register-transfer level.
UNDERSTAND NOW: buses and three-state gates.
For the lecturer: Almost every instruction of Lecture 02 is, at bottom, a sequence of register transfers.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interconnecting registers. With dedicated buses each possible transfer has its own lines: several transfers may occur simultaneously, but the wiring grows with the square of the number of registers. With a common bus a single path serves every transfer: on each occasion one source and one destination are selected, and a transfer takes two steps, from the source onto the bus and from the bus into the destination. It is economical and widespread, at the price of performing one transfer at a time. The choice is an archetypal trade-off between cost and parallelism.
UNDERSTAND NOW: buses and three-state gates.
For the lecturer: Intermediate solutions exist: several buses, each shared by a group of registers. Real processors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transfer may be parallel, with the n bits travelling together on n lines in one step; serial, with the bits travelling in sequence on one line over n steps; or mixed, for example one byte at a time. The last line records a significant trend: within a chip buses are parallel, whereas between chips and between machines they are today almost invariably serial, because at very high speed it is easier to keep one line clean than to keep thirty-two lines synchronised.
UNDERSTAND NOW: buses and three-state gates.
For the lecturer: USB, SATA, PCI Express, HDMI and Ethernet are all serial: at very high speeds it is easier to keep one fast line clean than to keep thirty-two lines in step.
Pictures: Hand Etched PCB.png, Tpdwkouaa,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halves of a transfer on a common bus. On the left, from the bus into a register: the datum on the bus is loaded into R when the load signal is active. On the right, from a register onto the bus: the outputs of R reach the bus through a buffer, and only while the enable signal is active. The question at the bottom introduces the next section: when the enable is inactive, what must the output of the buffer be in order not to disturb the bus?
UNDERSTAND NOW: buses and three-state gates.
For the lecturer: Trasferimento dati su bus unico: caricamento di un registro (da bus a registro) and trasferimento da registro a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three-state output has a third condition besides 0 and 1: high impedance, written z, in which the output is electrically disconnected from the wire. An enable input decides: when it is 1 the gate operates normally, when it is 0 the output is z. The table shows this for an AND with enable: four rows of an ordinary AND, and a final row in which the output floats regardless of the inputs. Electrically, both transistors of the output stage are switched off.
UNDERSTAND NOW: buses and three-state gates.
For the lecturer: AND tristate; segnale di abilitazione in logica 1-attiva. Electrically, both output transistors are switched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Applied to a whole word, a three-state gate either passes a bus through or disconnects it: when enabled, the output bus reproduces the input bus; otherwise all its lines are in high impedance. The pins of the chip of the kit operate in this way: each can be configured as an output, which drives its wire, or released and used as an input. The joystick pins are inputs; the display pins are outputs.
UNDERSTAND NOW: buses and three-state gates.
For the lecturer: Tristate di parola. On the kit, the joystick pins are configured as inputs (their output buffers in high impedance) and the display pins as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complete scheme of a common bus. Each source register reaches the bus through a three-state buffer with its own enable. The rule is strict: at most one enable may be active at any time, so that exactly one source drives the bus while all others are disconnected; two active sources would contend for the wire. On the receiving side every destination register is connected to the bus, and only the one whose load signal is active captures the datum. Selecting source and destination is the task of decoders driven by the control unit, which Lecture 18 describes.
UNDERSTAND NOW: buses and three-state gates.
For the lecturer: Collegamento di bus: OR di bus; trasferimento verso registri-destinazione. Inside modern chips long shared lines are usually replaced by multiplexers, which do the same selection without high-impedance states; between chips, three-state buses are still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shift register is a chain of one-bit cells in which, at each clock pulse, every bit moves to the adjacent cell. Each cell is a D flip-flop whose input is the output of its neighbour. The edge-triggered behaviour of the flip-flop is essential: with transparent latches a bit would race through the entire chain during a single clock pulse. The shift may be in a fixed direction or in a direction selected by a control line.
UNDERSTAND NOW: shift registers.
For the lecturer: Registri a scorrimento. Edge-triggered flip-flops are essential here: with transparent latches a bit would run through the whole chain in one clock pulse (Lecture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chain of flip-flops yields four machines, depending on where data enter and leave. Serial in, serial out: a delay line. Serial in, parallel out: it collects bits arriving one at a time and presents the complete word. Parallel in, serial out: it accepts a word and emits it bit by bit. Parallel in, parallel out, without shifting, is the ordinary register. The second and third are the two ends of every serial connection.
UNDERSTAND NOW: shift registers.
For the lecturer: SISO, SIPO, PISO and PIPO. The clock line is not 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moving a word between registers. In a serial transfer the serial output of one shift register feeds the serial input of another: n clock pulses, one wire. In a parallel transfer the outputs of one register feed the inputs of another: one clock pulse, n wires. The phrase on the right states the trade-off of the whole lecture: moving an n-bit word costs either time or copper.
UNDERSTAND NOW: shift registers.
For the lecturer: Trasferimento seriale (serial input, serial output) and trasferimento parallelo (parallel input, parallel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complete serial link in five steps: the datum is loaded in parallel into a shift register; it is shifted out, one bit per step; the bits travel on a single line; at the far end a second shift register collects them, one per step; and the reconstructed word is delivered in parallel. This is the hardware counterpart of the warm-up, and the means by which the display of the kit receives every pixel. Every serial standard, from the historic serial port to USB, rests on a pair of shift registers.
UNDERSTAND NOW: shift registers.
For the lecturer: Trasformazione serie-parallelo di un dato. UART, SPI, I2C, I2S and USB all rest on a pair of shift registers, one at each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three-bit registers and a decoder constitute a small memory. Two address lines select, through the decoder, one of the four registers; three lines carry data in and three carry data out. Three control lines complete the design: chip select, so that the memory responds only when selected; a read/write line; and output enable, which controls three-state outputs so that several memories can share one bus. Nothing here is new, only decoder, registers and three-state buffers; the next lecture scales the same structure up to main memory.
UNDERSTAND NOW: registers as flip-flops. UNDERSTAND LATER: memories and addresses (studied in Lecture 15).
For the lecturer: Memoria 4 (registri) x 3 (bit): eight inputs (I0-I2, A0-A1, CS, RD, OE) and three outputs. The next lecture scales this up to the main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imagines two outputs connected to the same wire, one at 0 and the other at 1. A three-state buffer concerns neither speed, nor storage, nor conversion: it disconnects the sources that have not been selected.
For the second: one bit per clock pulse. The alternative, a parallel transfer, would take one pulse and thirty-two wires.
For the lecturer: 1. Answer: B. Several sources share the same lines; all but one must be electrically disconnected (high impedance), otherwise two outputs would fight over the wire.
2. Answer: C. One bit per pulse: n pulses for n bits. A parallel transfer needs one pulse and n wires.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address lines select one word among 2^10, and each word has 8 bits; the two numbers are multiplied. The first option multiplies the numbers of lines instead of raising two to the power of the address lines, a frequent error.
For the lecturer: Answer: C. 2^10 = 1,024 words of 8 bits: 8,192 bits, that is 1 KiB.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Three-state, or tri-state, is a tre stati; high impedance is alta impedenza. A shift register is a registro a scorrimento. Load and strobe denote the signal that causes a register to capture its input. Chip select is the line that designates which device on a shared bus must respond.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 register is a form of memory with an elementary mode of operation. Registers are read and written through buses. A common bus requires three-state circuits: 0, 1 and disconnected. Data travel serially or in parallel, and shift registers convert between the two forms. And a decoder placed in front of a group of registers constitutes a memory, which is the subject of the next lecture.
Learning status, recap. UNDERSTAND NOW: shift registers; registers as flip-flops; buses and three-state gates. USE NOW: the complete program, the PRG32 tools (used, not studied, in this course). UNDERSTAND LATER: memory-mapped I/O (Lecture 15); memories and addresses (Lecture 15). A slide without a badge is context: a story, an example, a question, an exercise. Closing thread: A bus is a road that only one register may drive at a time, and a shift register turns a word into a stream of bits: the display of the kit receives its pixels this way. Next: memory. Exit ticket (two to four minutes, alone, on paper): 1. Three registers share a common bus. What happens if two of them drive it at the same time, and which component prevents it? 2. An 8-bit word is sent serially, one bit per clock pulse. How many pulses does it take, and what does the shift register do at each?
For the lecturer: Next lecture: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14: Registers and buses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Elementary Machines: Registers and Buses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Word gates, registers, buses, three-state buffers, serial and parallel transfers</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“Roads? Where we're going, we don't need roads.”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Dr. Emmett Brown, Back to the Future, Robert Zemeckis, 1985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14-Computer_Architecture-Registers_and_Buses-Lab.pptx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menu_main.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register as a set of flip-flops with a common clock, and explain its load signal</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bus is, and compare dedicated buses with a common bus</a:t>
            </a:r>
            <a:endParaRPr lang="en-US" sz="2200" dirty="0"/>
          </a:p>
        </p:txBody>
      </p:sp>
      <p:sp>
        <p:nvSpPr>
          <p:cNvPr id="7" name="Text 5"/>
          <p:cNvSpPr txBox="1"/>
          <p:nvPr/>
        </p:nvSpPr>
        <p:spPr>
          <a:xfrm>
            <a:off x="548640" y="33507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24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why a common bus needs three-state buffers, and what high impedance means</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a shift register and its four combinations of serial and parallel input and output</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Convert a datum from parallel to serial and back, in hardware and in RISC-V assembly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Word gates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word is a vector V of n bits: V = (v0, v1, ..., v(n-1))</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word gate acts on all the bits of a word at once</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a control signal a, the word gate computes a AND v(i) for every 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 1: the word passes unchanged; a = 0: every bit is forced to 0</a:t>
            </a:r>
            <a:endParaRPr lang="en-US" sz="2200" dirty="0"/>
          </a:p>
        </p:txBody>
      </p:sp>
      <p:sp>
        <p:nvSpPr>
          <p:cNvPr id="9" name="Shape 7"/>
          <p:cNvSpPr/>
          <p:nvPr/>
        </p:nvSpPr>
        <p:spPr>
          <a:xfrm>
            <a:off x="548640" y="47349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2851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is n identical gates sharing one control input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bitwise instructions and, or, xor of RISC-V are word gates thirty-two bits wide</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 gates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one gate per bit, one control signal for all: the building block of every datapath</a:t>
            </a:r>
            <a:endParaRPr lang="en-US" sz="1900" dirty="0"/>
          </a:p>
        </p:txBody>
      </p:sp>
      <p:sp>
        <p:nvSpPr>
          <p:cNvPr id="16" name="Shape 14"/>
          <p:cNvSpPr/>
          <p:nvPr/>
        </p:nvSpPr>
        <p:spPr>
          <a:xfrm>
            <a:off x="8156397" y="91440"/>
            <a:ext cx="3486658" cy="274320"/>
          </a:xfrm>
          <a:prstGeom prst="rect">
            <a:avLst/>
          </a:prstGeom>
          <a:solidFill>
            <a:srgbClr val="E0F2FE"/>
          </a:solidFill>
          <a:ln w="12700">
            <a:solidFill>
              <a:srgbClr val="0369A1"/>
            </a:solidFill>
            <a:prstDash val="solid"/>
          </a:ln>
        </p:spPr>
      </p:sp>
      <p:sp>
        <p:nvSpPr>
          <p:cNvPr id="17" name="Shape 15"/>
          <p:cNvSpPr/>
          <p:nvPr/>
        </p:nvSpPr>
        <p:spPr>
          <a:xfrm>
            <a:off x="8156397"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9" name="Text 16"/>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 as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register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register is a device able to store a group of bits</a:t>
            </a:r>
            <a:endParaRPr lang="en-US" sz="2100" dirty="0"/>
          </a:p>
        </p:txBody>
      </p:sp>
      <p:sp>
        <p:nvSpPr>
          <p:cNvPr id="5" name="Shape 3"/>
          <p:cNvSpPr/>
          <p:nvPr/>
        </p:nvSpPr>
        <p:spPr>
          <a:xfrm>
            <a:off x="548640" y="231209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134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its simplest form: a group of flip-flops and a common synchronisation signal, a clock or an enable</a:t>
            </a:r>
            <a:endParaRPr lang="en-US" sz="2100" dirty="0"/>
          </a:p>
        </p:txBody>
      </p:sp>
      <p:sp>
        <p:nvSpPr>
          <p:cNvPr id="7" name="Shape 5"/>
          <p:cNvSpPr/>
          <p:nvPr/>
        </p:nvSpPr>
        <p:spPr>
          <a:xfrm>
            <a:off x="548640" y="343357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34893"/>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Example: the 74273, an 8-bit register in one chip</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eight D flip-flops; one clock and one clear; inputs D0 to D7, outputs Q0 to Q7</a:t>
            </a:r>
            <a:endParaRPr lang="en-US" sz="2100" dirty="0"/>
          </a:p>
        </p:txBody>
      </p:sp>
      <p:sp>
        <p:nvSpPr>
          <p:cNvPr id="9" name="Shape 7"/>
          <p:cNvSpPr/>
          <p:nvPr/>
        </p:nvSpPr>
        <p:spPr>
          <a:xfrm>
            <a:off x="548640" y="44986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9997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Loading a register: the datum on its inputs is stored when the load signal is active, typically in step with the clock</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RISC-V each of the registers x1 to x31 is thirty-two such flip-flops</a:t>
            </a:r>
            <a:endParaRPr lang="en-US" sz="2100" dirty="0"/>
          </a:p>
        </p:txBody>
      </p:sp>
      <p:pic>
        <p:nvPicPr>
          <p:cNvPr id="13" name="Image 0" descr="/Users/raffaelemontella/devel/riscv-prg32/computer-architecture-with-prg32/tools/assets/chip_74273.jp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74LS273 on a board: eight D flip-flops with a common clock</a:t>
            </a:r>
            <a:endParaRPr lang="en-US" sz="1200" dirty="0"/>
          </a:p>
        </p:txBody>
      </p:sp>
      <p:sp>
        <p:nvSpPr>
          <p:cNvPr id="15" name="Shape 12"/>
          <p:cNvSpPr/>
          <p:nvPr/>
        </p:nvSpPr>
        <p:spPr>
          <a:xfrm>
            <a:off x="8156397" y="91440"/>
            <a:ext cx="3486658" cy="274320"/>
          </a:xfrm>
          <a:prstGeom prst="rect">
            <a:avLst/>
          </a:prstGeom>
          <a:solidFill>
            <a:srgbClr val="E0F2FE"/>
          </a:solidFill>
          <a:ln w="12700">
            <a:solidFill>
              <a:srgbClr val="0369A1"/>
            </a:solidFill>
            <a:prstDash val="solid"/>
          </a:ln>
        </p:spPr>
      </p:sp>
      <p:sp>
        <p:nvSpPr>
          <p:cNvPr id="16" name="Shape 13"/>
          <p:cNvSpPr/>
          <p:nvPr/>
        </p:nvSpPr>
        <p:spPr>
          <a:xfrm>
            <a:off x="8156397"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284413" y="128016"/>
            <a:ext cx="201168" cy="201168"/>
          </a:xfrm>
          <a:prstGeom prst="rect">
            <a:avLst/>
          </a:prstGeom>
        </p:spPr>
      </p:pic>
      <p:sp>
        <p:nvSpPr>
          <p:cNvPr id="18" name="Text 14"/>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 as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Data transfers and the bus</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Bus</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A communication channel that lets the components of an electronic system exchange data by transmitting and receiving signals: the set of lines that carries a datum.</a:t>
            </a:r>
            <a:endParaRPr lang="en-US" sz="2300" dirty="0"/>
          </a:p>
        </p:txBody>
      </p:sp>
      <p:sp>
        <p:nvSpPr>
          <p:cNvPr id="6" name="Shape 4"/>
          <p:cNvSpPr/>
          <p:nvPr/>
        </p:nvSpPr>
        <p:spPr>
          <a:xfrm>
            <a:off x="548640" y="3844290"/>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72237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transfer from a register X to a register Y is the fundamental operation of a computer's architecture</a:t>
            </a:r>
            <a:endParaRPr lang="en-US" sz="2400" dirty="0"/>
          </a:p>
        </p:txBody>
      </p:sp>
      <p:sp>
        <p:nvSpPr>
          <p:cNvPr id="8" name="Shape 6"/>
          <p:cNvSpPr/>
          <p:nvPr/>
        </p:nvSpPr>
        <p:spPr>
          <a:xfrm>
            <a:off x="548640" y="504520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92328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name is a contraction of the Latin omnibus: for all</a:t>
            </a:r>
            <a:endParaRPr lang="en-US" sz="2400" dirty="0"/>
          </a:p>
        </p:txBody>
      </p:sp>
      <p:sp>
        <p:nvSpPr>
          <p:cNvPr id="10" name="Shape 8"/>
          <p:cNvSpPr/>
          <p:nvPr/>
        </p:nvSpPr>
        <p:spPr>
          <a:xfrm>
            <a:off x="548640" y="587425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52338"/>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bus of n lines carries a word of n bits in one step</a:t>
            </a:r>
            <a:endParaRPr lang="en-US" sz="2400" dirty="0"/>
          </a:p>
        </p:txBody>
      </p:sp>
      <p:sp>
        <p:nvSpPr>
          <p:cNvPr id="12" name="Shape 10"/>
          <p:cNvSpPr/>
          <p:nvPr/>
        </p:nvSpPr>
        <p:spPr>
          <a:xfrm>
            <a:off x="7893761" y="91440"/>
            <a:ext cx="3749294" cy="274320"/>
          </a:xfrm>
          <a:prstGeom prst="rect">
            <a:avLst/>
          </a:prstGeom>
          <a:solidFill>
            <a:srgbClr val="E0F2FE"/>
          </a:solidFill>
          <a:ln w="12700">
            <a:solidFill>
              <a:srgbClr val="0369A1"/>
            </a:solidFill>
            <a:prstDash val="solid"/>
          </a:ln>
        </p:spPr>
      </p:sp>
      <p:sp>
        <p:nvSpPr>
          <p:cNvPr id="13" name="Shape 11"/>
          <p:cNvSpPr/>
          <p:nvPr/>
        </p:nvSpPr>
        <p:spPr>
          <a:xfrm>
            <a:off x="7893761"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5" name="Text 12"/>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technical solutions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Dedicated buses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One set of lines for each possible transfer</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Several transfers can happen at the same time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Efficient but expensive: the wires grow with the square of the number of registers</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Common bus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single path collects many potential transfers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Each time, one source and one destination are chosen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transfer takes two steps: source to bus, bus to destination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Cheap and widespread; less efficient, because transfers cannot be simultaneous</a:t>
            </a:r>
            <a:endParaRPr lang="en-US" sz="2100" dirty="0"/>
          </a:p>
        </p:txBody>
      </p:sp>
      <p:sp>
        <p:nvSpPr>
          <p:cNvPr id="9" name="Shape 7"/>
          <p:cNvSpPr/>
          <p:nvPr/>
        </p:nvSpPr>
        <p:spPr>
          <a:xfrm>
            <a:off x="7893761" y="91440"/>
            <a:ext cx="3749294" cy="274320"/>
          </a:xfrm>
          <a:prstGeom prst="rect">
            <a:avLst/>
          </a:prstGeom>
          <a:solidFill>
            <a:srgbClr val="E0F2FE"/>
          </a:solidFill>
          <a:ln w="12700">
            <a:solidFill>
              <a:srgbClr val="0369A1"/>
            </a:solidFill>
            <a:prstDash val="solid"/>
          </a:ln>
        </p:spPr>
      </p:sp>
      <p:sp>
        <p:nvSpPr>
          <p:cNvPr id="10" name="Shape 8"/>
          <p:cNvSpPr/>
          <p:nvPr/>
        </p:nvSpPr>
        <p:spPr>
          <a:xfrm>
            <a:off x="7893761"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2" name="Text 9"/>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Parallel, serial and mixed transfers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Parallel: the n bits of the word travel together on n lines, in one step</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Serial: the bits travel one after another on a single line, in n steps</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Mixed: for example, serial on the byte: eight lines carry one byte at a time</a:t>
            </a:r>
            <a:endParaRPr lang="en-US" sz="2200" dirty="0"/>
          </a:p>
        </p:txBody>
      </p:sp>
      <p:sp>
        <p:nvSpPr>
          <p:cNvPr id="9" name="Shape 7"/>
          <p:cNvSpPr/>
          <p:nvPr/>
        </p:nvSpPr>
        <p:spPr>
          <a:xfrm>
            <a:off x="548640" y="406730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6087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Accessing a bus means reading from it or writing to it; buses come in very different physical sizes</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Inside a chip buses are parallel; between chips and between machines they are today almost always serial</a:t>
            </a:r>
            <a:endParaRPr lang="en-US" sz="2200" dirty="0"/>
          </a:p>
        </p:txBody>
      </p:sp>
      <p:pic>
        <p:nvPicPr>
          <p:cNvPr id="13" name="Image 0" descr="/Users/raffaelemontella/devel/riscv-prg32/computer-architecture-with-prg32/tools/assets/pcb.jpg">    </p:cNvPr>
          <p:cNvPicPr>
            <a:picLocks noChangeAspect="1"/>
          </p:cNvPicPr>
          <p:nvPr/>
        </p:nvPicPr>
        <p:blipFill>
          <a:blip r:embed="rId1"/>
          <a:stretch>
            <a:fillRect/>
          </a:stretch>
        </p:blipFill>
        <p:spPr>
          <a:xfrm>
            <a:off x="7863840" y="1846322"/>
            <a:ext cx="3779215" cy="3439676"/>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Copper tracks on a printed circuit board</a:t>
            </a:r>
            <a:endParaRPr lang="en-US" sz="1200" dirty="0"/>
          </a:p>
        </p:txBody>
      </p:sp>
      <p:sp>
        <p:nvSpPr>
          <p:cNvPr id="15" name="Shape 12"/>
          <p:cNvSpPr/>
          <p:nvPr/>
        </p:nvSpPr>
        <p:spPr>
          <a:xfrm>
            <a:off x="7893761" y="91440"/>
            <a:ext cx="3749294" cy="274320"/>
          </a:xfrm>
          <a:prstGeom prst="rect">
            <a:avLst/>
          </a:prstGeom>
          <a:solidFill>
            <a:srgbClr val="E0F2FE"/>
          </a:solidFill>
          <a:ln w="12700">
            <a:solidFill>
              <a:srgbClr val="0369A1"/>
            </a:solidFill>
            <a:prstDash val="solid"/>
          </a:ln>
        </p:spPr>
      </p:sp>
      <p:sp>
        <p:nvSpPr>
          <p:cNvPr id="16" name="Shape 13"/>
          <p:cNvSpPr/>
          <p:nvPr/>
        </p:nvSpPr>
        <p:spPr>
          <a:xfrm>
            <a:off x="7893761"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021777" y="128016"/>
            <a:ext cx="201168" cy="201168"/>
          </a:xfrm>
          <a:prstGeom prst="rect">
            <a:avLst/>
          </a:prstGeom>
        </p:spPr>
      </p:pic>
      <p:sp>
        <p:nvSpPr>
          <p:cNvPr id="18" name="Text 1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bus to register, and from register to bus</a:t>
            </a:r>
            <a:endParaRPr lang="en-US" sz="3200" dirty="0"/>
          </a:p>
        </p:txBody>
      </p:sp>
      <p:sp>
        <p:nvSpPr>
          <p:cNvPr id="3" name="Shape 1"/>
          <p:cNvSpPr/>
          <p:nvPr/>
        </p:nvSpPr>
        <p:spPr>
          <a:xfrm>
            <a:off x="822960" y="1874520"/>
            <a:ext cx="4937760" cy="0"/>
          </a:xfrm>
          <a:prstGeom prst="line">
            <a:avLst/>
          </a:prstGeom>
          <a:noFill/>
          <a:ln w="76200">
            <a:solidFill>
              <a:srgbClr val="C7791B"/>
            </a:solidFill>
            <a:prstDash val="solid"/>
          </a:ln>
        </p:spPr>
      </p:sp>
      <p:sp>
        <p:nvSpPr>
          <p:cNvPr id="4" name="Text 2"/>
          <p:cNvSpPr txBox="1"/>
          <p:nvPr/>
        </p:nvSpPr>
        <p:spPr>
          <a:xfrm>
            <a:off x="822960" y="1463040"/>
            <a:ext cx="1828800" cy="274320"/>
          </a:xfrm>
          <a:prstGeom prst="rect">
            <a:avLst/>
          </a:prstGeom>
          <a:noFill/>
          <a:ln/>
        </p:spPr>
        <p:txBody>
          <a:bodyPr wrap="square" lIns="0" tIns="0" rIns="0" bIns="0" rtlCol="0" anchor="t"/>
          <a:lstStyle/>
          <a:p>
            <a:pPr indent="0" marL="0">
              <a:buNone/>
            </a:pPr>
            <a:r>
              <a:rPr lang="en-US" sz="1500" b="1" dirty="0">
                <a:solidFill>
                  <a:srgbClr val="C7791B"/>
                </a:solidFill>
                <a:latin typeface="Calibri" pitchFamily="34" charset="0"/>
                <a:ea typeface="Calibri" pitchFamily="34" charset="-122"/>
                <a:cs typeface="Calibri" pitchFamily="34" charset="-120"/>
              </a:rPr>
              <a:t>bus A</a:t>
            </a:r>
            <a:endParaRPr lang="en-US" sz="1500" dirty="0"/>
          </a:p>
        </p:txBody>
      </p:sp>
      <p:sp>
        <p:nvSpPr>
          <p:cNvPr id="5" name="Text 3"/>
          <p:cNvSpPr txBox="1"/>
          <p:nvPr/>
        </p:nvSpPr>
        <p:spPr>
          <a:xfrm>
            <a:off x="2103120" y="3063240"/>
            <a:ext cx="219456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register R</a:t>
            </a:r>
            <a:endParaRPr lang="en-US" sz="1600" dirty="0"/>
          </a:p>
        </p:txBody>
      </p:sp>
      <p:sp>
        <p:nvSpPr>
          <p:cNvPr id="6" name="Shape 4"/>
          <p:cNvSpPr/>
          <p:nvPr/>
        </p:nvSpPr>
        <p:spPr>
          <a:xfrm>
            <a:off x="3200400" y="1920240"/>
            <a:ext cx="0" cy="1115568"/>
          </a:xfrm>
          <a:prstGeom prst="line">
            <a:avLst/>
          </a:prstGeom>
          <a:noFill/>
          <a:ln w="31750">
            <a:solidFill>
              <a:srgbClr val="5B6B78"/>
            </a:solidFill>
            <a:prstDash val="solid"/>
            <a:tailEnd type="triangle"/>
          </a:ln>
        </p:spPr>
      </p:sp>
      <p:sp>
        <p:nvSpPr>
          <p:cNvPr id="7" name="Shape 5"/>
          <p:cNvSpPr/>
          <p:nvPr/>
        </p:nvSpPr>
        <p:spPr>
          <a:xfrm>
            <a:off x="1097280" y="3474720"/>
            <a:ext cx="978408" cy="0"/>
          </a:xfrm>
          <a:prstGeom prst="line">
            <a:avLst/>
          </a:prstGeom>
          <a:noFill/>
          <a:ln w="28575">
            <a:solidFill>
              <a:srgbClr val="B23A48"/>
            </a:solidFill>
            <a:prstDash val="solid"/>
            <a:tailEnd type="triangle"/>
          </a:ln>
        </p:spPr>
      </p:sp>
      <p:sp>
        <p:nvSpPr>
          <p:cNvPr id="8" name="Text 6"/>
          <p:cNvSpPr txBox="1"/>
          <p:nvPr/>
        </p:nvSpPr>
        <p:spPr>
          <a:xfrm>
            <a:off x="548640" y="3108960"/>
            <a:ext cx="118872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load c</a:t>
            </a:r>
            <a:endParaRPr lang="en-US" sz="1400" dirty="0"/>
          </a:p>
        </p:txBody>
      </p:sp>
      <p:sp>
        <p:nvSpPr>
          <p:cNvPr id="9" name="Text 7"/>
          <p:cNvSpPr txBox="1"/>
          <p:nvPr/>
        </p:nvSpPr>
        <p:spPr>
          <a:xfrm>
            <a:off x="548640" y="4251960"/>
            <a:ext cx="5303520" cy="1097280"/>
          </a:xfrm>
          <a:prstGeom prst="rect">
            <a:avLst/>
          </a:prstGeom>
          <a:noFill/>
          <a:ln/>
        </p:spPr>
        <p:txBody>
          <a:bodyPr wrap="square" lIns="0" tIns="0" rIns="0" bIns="0" rtlCol="0" anchor="t"/>
          <a:lstStyle/>
          <a:p>
            <a:pPr indent="0" marL="0">
              <a:buNone/>
            </a:pPr>
            <a:r>
              <a:rPr lang="en-US" sz="1550" dirty="0">
                <a:solidFill>
                  <a:srgbClr val="1B2530"/>
                </a:solidFill>
                <a:latin typeface="Calibri" pitchFamily="34" charset="0"/>
                <a:ea typeface="Calibri" pitchFamily="34" charset="-122"/>
                <a:cs typeface="Calibri" pitchFamily="34" charset="-120"/>
              </a:rPr>
              <a:t>From bus to register: the datum is loaded into R when the load signal c is active (a strobe, usually in step with the clock).</a:t>
            </a:r>
            <a:endParaRPr lang="en-US" sz="1550" dirty="0"/>
          </a:p>
        </p:txBody>
      </p:sp>
      <p:sp>
        <p:nvSpPr>
          <p:cNvPr id="10" name="Shape 8"/>
          <p:cNvSpPr/>
          <p:nvPr/>
        </p:nvSpPr>
        <p:spPr>
          <a:xfrm>
            <a:off x="6400800" y="1874520"/>
            <a:ext cx="5242255" cy="0"/>
          </a:xfrm>
          <a:prstGeom prst="line">
            <a:avLst/>
          </a:prstGeom>
          <a:noFill/>
          <a:ln w="76200">
            <a:solidFill>
              <a:srgbClr val="C7791B"/>
            </a:solidFill>
            <a:prstDash val="solid"/>
          </a:ln>
        </p:spPr>
      </p:sp>
      <p:sp>
        <p:nvSpPr>
          <p:cNvPr id="11" name="Text 9"/>
          <p:cNvSpPr txBox="1"/>
          <p:nvPr/>
        </p:nvSpPr>
        <p:spPr>
          <a:xfrm>
            <a:off x="6400800" y="1463040"/>
            <a:ext cx="1828800" cy="274320"/>
          </a:xfrm>
          <a:prstGeom prst="rect">
            <a:avLst/>
          </a:prstGeom>
          <a:noFill/>
          <a:ln/>
        </p:spPr>
        <p:txBody>
          <a:bodyPr wrap="square" lIns="0" tIns="0" rIns="0" bIns="0" rtlCol="0" anchor="t"/>
          <a:lstStyle/>
          <a:p>
            <a:pPr indent="0" marL="0">
              <a:buNone/>
            </a:pPr>
            <a:r>
              <a:rPr lang="en-US" sz="1500" b="1" dirty="0">
                <a:solidFill>
                  <a:srgbClr val="C7791B"/>
                </a:solidFill>
                <a:latin typeface="Calibri" pitchFamily="34" charset="0"/>
                <a:ea typeface="Calibri" pitchFamily="34" charset="-122"/>
                <a:cs typeface="Calibri" pitchFamily="34" charset="-120"/>
              </a:rPr>
              <a:t>bus A</a:t>
            </a:r>
            <a:endParaRPr lang="en-US" sz="1500" dirty="0"/>
          </a:p>
        </p:txBody>
      </p:sp>
      <p:sp>
        <p:nvSpPr>
          <p:cNvPr id="12" name="Text 10"/>
          <p:cNvSpPr txBox="1"/>
          <p:nvPr/>
        </p:nvSpPr>
        <p:spPr>
          <a:xfrm>
            <a:off x="7863840" y="3611880"/>
            <a:ext cx="219456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register R</a:t>
            </a:r>
            <a:endParaRPr lang="en-US" sz="1600" dirty="0"/>
          </a:p>
        </p:txBody>
      </p:sp>
      <p:sp>
        <p:nvSpPr>
          <p:cNvPr id="13" name="Text 11"/>
          <p:cNvSpPr txBox="1"/>
          <p:nvPr/>
        </p:nvSpPr>
        <p:spPr>
          <a:xfrm>
            <a:off x="8412480" y="2560320"/>
            <a:ext cx="1097280" cy="502920"/>
          </a:xfrm>
          <a:prstGeom prst="roundRect">
            <a:avLst>
              <a:gd name="adj" fmla="val 10909"/>
            </a:avLst>
          </a:prstGeom>
          <a:solidFill>
            <a:srgbClr val="6B4FA0"/>
          </a:solidFill>
          <a:ln>
            <a:solidFill>
              <a:srgbClr val="6B4FA0"/>
            </a:solidFill>
          </a:ln>
        </p:spPr>
        <p:txBody>
          <a:bodyPr wrap="square" lIns="38100" tIns="38100" rIns="38100" bIns="3810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buffer</a:t>
            </a:r>
            <a:endParaRPr lang="en-US" sz="1300" dirty="0"/>
          </a:p>
        </p:txBody>
      </p:sp>
      <p:sp>
        <p:nvSpPr>
          <p:cNvPr id="14" name="Shape 12"/>
          <p:cNvSpPr/>
          <p:nvPr/>
        </p:nvSpPr>
        <p:spPr>
          <a:xfrm flipV="1">
            <a:off x="8961120" y="3090672"/>
            <a:ext cx="0" cy="493776"/>
          </a:xfrm>
          <a:prstGeom prst="line">
            <a:avLst/>
          </a:prstGeom>
          <a:noFill/>
          <a:ln w="31750">
            <a:solidFill>
              <a:srgbClr val="5B6B78"/>
            </a:solidFill>
            <a:prstDash val="solid"/>
            <a:tailEnd type="triangle"/>
          </a:ln>
        </p:spPr>
      </p:sp>
      <p:sp>
        <p:nvSpPr>
          <p:cNvPr id="15" name="Shape 13"/>
          <p:cNvSpPr/>
          <p:nvPr/>
        </p:nvSpPr>
        <p:spPr>
          <a:xfrm flipV="1">
            <a:off x="8961120" y="1920240"/>
            <a:ext cx="0" cy="612648"/>
          </a:xfrm>
          <a:prstGeom prst="line">
            <a:avLst/>
          </a:prstGeom>
          <a:noFill/>
          <a:ln w="31750">
            <a:solidFill>
              <a:srgbClr val="5B6B78"/>
            </a:solidFill>
            <a:prstDash val="solid"/>
            <a:tailEnd type="triangle"/>
          </a:ln>
        </p:spPr>
      </p:sp>
      <p:sp>
        <p:nvSpPr>
          <p:cNvPr id="16" name="Shape 14"/>
          <p:cNvSpPr/>
          <p:nvPr/>
        </p:nvSpPr>
        <p:spPr>
          <a:xfrm>
            <a:off x="7040880" y="2807208"/>
            <a:ext cx="1344168" cy="0"/>
          </a:xfrm>
          <a:prstGeom prst="line">
            <a:avLst/>
          </a:prstGeom>
          <a:noFill/>
          <a:ln w="28575">
            <a:solidFill>
              <a:srgbClr val="B23A48"/>
            </a:solidFill>
            <a:prstDash val="solid"/>
            <a:tailEnd type="triangle"/>
          </a:ln>
        </p:spPr>
      </p:sp>
      <p:sp>
        <p:nvSpPr>
          <p:cNvPr id="17" name="Text 15"/>
          <p:cNvSpPr txBox="1"/>
          <p:nvPr/>
        </p:nvSpPr>
        <p:spPr>
          <a:xfrm>
            <a:off x="6309360" y="2441448"/>
            <a:ext cx="146304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enable c</a:t>
            </a:r>
            <a:endParaRPr lang="en-US" sz="1400" dirty="0"/>
          </a:p>
        </p:txBody>
      </p:sp>
      <p:sp>
        <p:nvSpPr>
          <p:cNvPr id="18" name="Text 16"/>
          <p:cNvSpPr txBox="1"/>
          <p:nvPr/>
        </p:nvSpPr>
        <p:spPr>
          <a:xfrm>
            <a:off x="6400800" y="4709160"/>
            <a:ext cx="5242255" cy="1097280"/>
          </a:xfrm>
          <a:prstGeom prst="rect">
            <a:avLst/>
          </a:prstGeom>
          <a:noFill/>
          <a:ln/>
        </p:spPr>
        <p:txBody>
          <a:bodyPr wrap="square" lIns="0" tIns="0" rIns="0" bIns="0" rtlCol="0" anchor="t"/>
          <a:lstStyle/>
          <a:p>
            <a:pPr indent="0" marL="0">
              <a:buNone/>
            </a:pPr>
            <a:r>
              <a:rPr lang="en-US" sz="1550" dirty="0">
                <a:solidFill>
                  <a:srgbClr val="1B2530"/>
                </a:solidFill>
                <a:latin typeface="Calibri" pitchFamily="34" charset="0"/>
                <a:ea typeface="Calibri" pitchFamily="34" charset="-122"/>
                <a:cs typeface="Calibri" pitchFamily="34" charset="-120"/>
              </a:rPr>
              <a:t>From register to bus: the outputs of R reach the bus only while the enable signal c is active. What happens to the bus when it is not?</a:t>
            </a:r>
            <a:endParaRPr lang="en-US" sz="1550" dirty="0"/>
          </a:p>
        </p:txBody>
      </p:sp>
      <p:sp>
        <p:nvSpPr>
          <p:cNvPr id="19" name="Shape 17"/>
          <p:cNvSpPr/>
          <p:nvPr/>
        </p:nvSpPr>
        <p:spPr>
          <a:xfrm>
            <a:off x="7893761" y="91440"/>
            <a:ext cx="3749294" cy="274320"/>
          </a:xfrm>
          <a:prstGeom prst="rect">
            <a:avLst/>
          </a:prstGeom>
          <a:solidFill>
            <a:srgbClr val="E0F2FE"/>
          </a:solidFill>
          <a:ln w="12700">
            <a:solidFill>
              <a:srgbClr val="0369A1"/>
            </a:solidFill>
            <a:prstDash val="solid"/>
          </a:ln>
        </p:spPr>
      </p:sp>
      <p:sp>
        <p:nvSpPr>
          <p:cNvPr id="20" name="Shape 18"/>
          <p:cNvSpPr/>
          <p:nvPr/>
        </p:nvSpPr>
        <p:spPr>
          <a:xfrm>
            <a:off x="7893761"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22" name="Text 19"/>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three-state gate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If two registers drove the same wire, one with 0 and one with 1, the result would be a short circuit</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three-state output has a third condition besides 0 and 1: high impedance, written z</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high impedance the output is electrically disconnected: it neither drives nor loads the wire</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enable signal a decides: a = 1 the gate works normally, a = 0 the output is z</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is the most widespread technique for connecting several source registers to a common bus</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498080" y="1417320"/>
          <a:ext cx="4114800" cy="914400"/>
        </p:xfrm>
        <a:graphic>
          <a:graphicData uri="http://schemas.openxmlformats.org/drawingml/2006/table">
            <a:tbl>
              <a:tblPr/>
              <a:tblGrid>
                <a:gridCol w="914400"/>
                <a:gridCol w="914400"/>
                <a:gridCol w="914400"/>
                <a:gridCol w="1371600"/>
              </a:tblGrid>
              <a:tr h="420624">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output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any</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any</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z</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14" name="Text 11"/>
          <p:cNvSpPr txBox="1"/>
          <p:nvPr/>
        </p:nvSpPr>
        <p:spPr>
          <a:xfrm>
            <a:off x="7498080" y="4160520"/>
            <a:ext cx="4114800" cy="109728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A three-state AND with an active-high enable: with a = 1 it is an ordinary AND; with a = 0 its output floats.</a:t>
            </a:r>
            <a:endParaRPr lang="en-US" sz="1400" dirty="0"/>
          </a:p>
        </p:txBody>
      </p:sp>
      <p:sp>
        <p:nvSpPr>
          <p:cNvPr id="15" name="Shape 12"/>
          <p:cNvSpPr/>
          <p:nvPr/>
        </p:nvSpPr>
        <p:spPr>
          <a:xfrm>
            <a:off x="7893761" y="91440"/>
            <a:ext cx="3749294" cy="274320"/>
          </a:xfrm>
          <a:prstGeom prst="rect">
            <a:avLst/>
          </a:prstGeom>
          <a:solidFill>
            <a:srgbClr val="E0F2FE"/>
          </a:solidFill>
          <a:ln w="12700">
            <a:solidFill>
              <a:srgbClr val="0369A1"/>
            </a:solidFill>
            <a:prstDash val="solid"/>
          </a:ln>
        </p:spPr>
      </p:sp>
      <p:sp>
        <p:nvSpPr>
          <p:cNvPr id="16" name="Shape 13"/>
          <p:cNvSpPr/>
          <p:nvPr/>
        </p:nvSpPr>
        <p:spPr>
          <a:xfrm>
            <a:off x="7893761"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8" name="Text 1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Enabling a bus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three-state word gate between an enable signal a and a bus X gives a bus Y</a:t>
            </a:r>
            <a:endParaRPr lang="en-US" sz="2400" dirty="0"/>
          </a:p>
        </p:txBody>
      </p:sp>
      <p:sp>
        <p:nvSpPr>
          <p:cNvPr id="5" name="Shape 3"/>
          <p:cNvSpPr/>
          <p:nvPr/>
        </p:nvSpPr>
        <p:spPr>
          <a:xfrm>
            <a:off x="548640" y="26283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0647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Y reproduces X if a is active; otherwise all its lines are at high impedance: Y takes the neutral value</a:t>
            </a:r>
            <a:endParaRPr lang="en-US" sz="2400" dirty="0"/>
          </a:p>
        </p:txBody>
      </p:sp>
      <p:sp>
        <p:nvSpPr>
          <p:cNvPr id="7" name="Shape 5"/>
          <p:cNvSpPr/>
          <p:nvPr/>
        </p:nvSpPr>
        <p:spPr>
          <a:xfrm>
            <a:off x="548640" y="408940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6748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We say that Y is sustained by a three-state buffer</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GPIO pins of the ESP32-C6 work this way: each pin can be an output, or be released and used as an input</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1, z</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three states: low, high and disconnected</a:t>
            </a:r>
            <a:endParaRPr lang="en-US" sz="1900" dirty="0"/>
          </a:p>
        </p:txBody>
      </p:sp>
      <p:sp>
        <p:nvSpPr>
          <p:cNvPr id="14" name="Shape 12"/>
          <p:cNvSpPr/>
          <p:nvPr/>
        </p:nvSpPr>
        <p:spPr>
          <a:xfrm>
            <a:off x="7893761" y="91440"/>
            <a:ext cx="3749294" cy="274320"/>
          </a:xfrm>
          <a:prstGeom prst="rect">
            <a:avLst/>
          </a:prstGeom>
          <a:solidFill>
            <a:srgbClr val="E0F2FE"/>
          </a:solidFill>
          <a:ln w="12700">
            <a:solidFill>
              <a:srgbClr val="0369A1"/>
            </a:solidFill>
            <a:prstDash val="solid"/>
          </a:ln>
        </p:spPr>
      </p:sp>
      <p:sp>
        <p:nvSpPr>
          <p:cNvPr id="15" name="Shape 13"/>
          <p:cNvSpPr/>
          <p:nvPr/>
        </p:nvSpPr>
        <p:spPr>
          <a:xfrm>
            <a:off x="7893761"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7" name="Text 1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Connecting buses: the bus OR</a:t>
            </a:r>
            <a:endParaRPr lang="en-US" sz="3200" dirty="0"/>
          </a:p>
        </p:txBody>
      </p:sp>
      <p:sp>
        <p:nvSpPr>
          <p:cNvPr id="3" name="Text 1"/>
          <p:cNvSpPr txBox="1"/>
          <p:nvPr/>
        </p:nvSpPr>
        <p:spPr>
          <a:xfrm>
            <a:off x="73152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register A</a:t>
            </a:r>
            <a:endParaRPr lang="en-US" sz="1400" dirty="0"/>
          </a:p>
        </p:txBody>
      </p:sp>
      <p:sp>
        <p:nvSpPr>
          <p:cNvPr id="4" name="Text 2"/>
          <p:cNvSpPr txBox="1"/>
          <p:nvPr/>
        </p:nvSpPr>
        <p:spPr>
          <a:xfrm>
            <a:off x="105156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3-state</a:t>
            </a:r>
            <a:endParaRPr lang="en-US" sz="1250" dirty="0"/>
          </a:p>
        </p:txBody>
      </p:sp>
      <p:sp>
        <p:nvSpPr>
          <p:cNvPr id="5" name="Shape 3"/>
          <p:cNvSpPr/>
          <p:nvPr/>
        </p:nvSpPr>
        <p:spPr>
          <a:xfrm>
            <a:off x="1554480" y="2359152"/>
            <a:ext cx="0" cy="356616"/>
          </a:xfrm>
          <a:prstGeom prst="line">
            <a:avLst/>
          </a:prstGeom>
          <a:noFill/>
          <a:ln w="25400">
            <a:solidFill>
              <a:srgbClr val="5B6B78"/>
            </a:solidFill>
            <a:prstDash val="solid"/>
            <a:tailEnd type="triangle"/>
          </a:ln>
        </p:spPr>
      </p:sp>
      <p:sp>
        <p:nvSpPr>
          <p:cNvPr id="6" name="Shape 4"/>
          <p:cNvSpPr/>
          <p:nvPr/>
        </p:nvSpPr>
        <p:spPr>
          <a:xfrm>
            <a:off x="1554480" y="3227832"/>
            <a:ext cx="0" cy="704088"/>
          </a:xfrm>
          <a:prstGeom prst="line">
            <a:avLst/>
          </a:prstGeom>
          <a:noFill/>
          <a:ln w="25400">
            <a:solidFill>
              <a:srgbClr val="5B6B78"/>
            </a:solidFill>
            <a:prstDash val="solid"/>
            <a:tailEnd type="triangle"/>
          </a:ln>
        </p:spPr>
      </p:sp>
      <p:sp>
        <p:nvSpPr>
          <p:cNvPr id="7" name="Text 5"/>
          <p:cNvSpPr txBox="1"/>
          <p:nvPr/>
        </p:nvSpPr>
        <p:spPr>
          <a:xfrm>
            <a:off x="50292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α</a:t>
            </a:r>
            <a:endParaRPr lang="en-US" sz="1200" dirty="0"/>
          </a:p>
        </p:txBody>
      </p:sp>
      <p:sp>
        <p:nvSpPr>
          <p:cNvPr id="8" name="Text 6"/>
          <p:cNvSpPr txBox="1"/>
          <p:nvPr/>
        </p:nvSpPr>
        <p:spPr>
          <a:xfrm>
            <a:off x="274320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register B</a:t>
            </a:r>
            <a:endParaRPr lang="en-US" sz="1400" dirty="0"/>
          </a:p>
        </p:txBody>
      </p:sp>
      <p:sp>
        <p:nvSpPr>
          <p:cNvPr id="9" name="Text 7"/>
          <p:cNvSpPr txBox="1"/>
          <p:nvPr/>
        </p:nvSpPr>
        <p:spPr>
          <a:xfrm>
            <a:off x="306324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3-state</a:t>
            </a:r>
            <a:endParaRPr lang="en-US" sz="1250" dirty="0"/>
          </a:p>
        </p:txBody>
      </p:sp>
      <p:sp>
        <p:nvSpPr>
          <p:cNvPr id="10" name="Shape 8"/>
          <p:cNvSpPr/>
          <p:nvPr/>
        </p:nvSpPr>
        <p:spPr>
          <a:xfrm>
            <a:off x="3566160" y="2359152"/>
            <a:ext cx="0" cy="356616"/>
          </a:xfrm>
          <a:prstGeom prst="line">
            <a:avLst/>
          </a:prstGeom>
          <a:noFill/>
          <a:ln w="25400">
            <a:solidFill>
              <a:srgbClr val="5B6B78"/>
            </a:solidFill>
            <a:prstDash val="solid"/>
            <a:tailEnd type="triangle"/>
          </a:ln>
        </p:spPr>
      </p:sp>
      <p:sp>
        <p:nvSpPr>
          <p:cNvPr id="11" name="Shape 9"/>
          <p:cNvSpPr/>
          <p:nvPr/>
        </p:nvSpPr>
        <p:spPr>
          <a:xfrm>
            <a:off x="3566160" y="3227832"/>
            <a:ext cx="0" cy="704088"/>
          </a:xfrm>
          <a:prstGeom prst="line">
            <a:avLst/>
          </a:prstGeom>
          <a:noFill/>
          <a:ln w="25400">
            <a:solidFill>
              <a:srgbClr val="5B6B78"/>
            </a:solidFill>
            <a:prstDash val="solid"/>
            <a:tailEnd type="triangle"/>
          </a:ln>
        </p:spPr>
      </p:sp>
      <p:sp>
        <p:nvSpPr>
          <p:cNvPr id="12" name="Text 10"/>
          <p:cNvSpPr txBox="1"/>
          <p:nvPr/>
        </p:nvSpPr>
        <p:spPr>
          <a:xfrm>
            <a:off x="251460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β</a:t>
            </a:r>
            <a:endParaRPr lang="en-US" sz="1200" dirty="0"/>
          </a:p>
        </p:txBody>
      </p:sp>
      <p:sp>
        <p:nvSpPr>
          <p:cNvPr id="13" name="Text 11"/>
          <p:cNvSpPr txBox="1"/>
          <p:nvPr/>
        </p:nvSpPr>
        <p:spPr>
          <a:xfrm>
            <a:off x="475488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register X</a:t>
            </a:r>
            <a:endParaRPr lang="en-US" sz="1400" dirty="0"/>
          </a:p>
        </p:txBody>
      </p:sp>
      <p:sp>
        <p:nvSpPr>
          <p:cNvPr id="14" name="Text 12"/>
          <p:cNvSpPr txBox="1"/>
          <p:nvPr/>
        </p:nvSpPr>
        <p:spPr>
          <a:xfrm>
            <a:off x="507492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3-state</a:t>
            </a:r>
            <a:endParaRPr lang="en-US" sz="1250" dirty="0"/>
          </a:p>
        </p:txBody>
      </p:sp>
      <p:sp>
        <p:nvSpPr>
          <p:cNvPr id="15" name="Shape 13"/>
          <p:cNvSpPr/>
          <p:nvPr/>
        </p:nvSpPr>
        <p:spPr>
          <a:xfrm>
            <a:off x="5577840" y="2359152"/>
            <a:ext cx="0" cy="356616"/>
          </a:xfrm>
          <a:prstGeom prst="line">
            <a:avLst/>
          </a:prstGeom>
          <a:noFill/>
          <a:ln w="25400">
            <a:solidFill>
              <a:srgbClr val="5B6B78"/>
            </a:solidFill>
            <a:prstDash val="solid"/>
            <a:tailEnd type="triangle"/>
          </a:ln>
        </p:spPr>
      </p:sp>
      <p:sp>
        <p:nvSpPr>
          <p:cNvPr id="16" name="Shape 14"/>
          <p:cNvSpPr/>
          <p:nvPr/>
        </p:nvSpPr>
        <p:spPr>
          <a:xfrm>
            <a:off x="5577840" y="3227832"/>
            <a:ext cx="0" cy="704088"/>
          </a:xfrm>
          <a:prstGeom prst="line">
            <a:avLst/>
          </a:prstGeom>
          <a:noFill/>
          <a:ln w="25400">
            <a:solidFill>
              <a:srgbClr val="5B6B78"/>
            </a:solidFill>
            <a:prstDash val="solid"/>
            <a:tailEnd type="triangle"/>
          </a:ln>
        </p:spPr>
      </p:sp>
      <p:sp>
        <p:nvSpPr>
          <p:cNvPr id="17" name="Text 15"/>
          <p:cNvSpPr txBox="1"/>
          <p:nvPr/>
        </p:nvSpPr>
        <p:spPr>
          <a:xfrm>
            <a:off x="452628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ξ</a:t>
            </a:r>
            <a:endParaRPr lang="en-US" sz="1200" dirty="0"/>
          </a:p>
        </p:txBody>
      </p:sp>
      <p:sp>
        <p:nvSpPr>
          <p:cNvPr id="18" name="Shape 16"/>
          <p:cNvSpPr/>
          <p:nvPr/>
        </p:nvSpPr>
        <p:spPr>
          <a:xfrm>
            <a:off x="548640" y="3977640"/>
            <a:ext cx="5852160" cy="0"/>
          </a:xfrm>
          <a:prstGeom prst="line">
            <a:avLst/>
          </a:prstGeom>
          <a:noFill/>
          <a:ln w="76200">
            <a:solidFill>
              <a:srgbClr val="C7791B"/>
            </a:solidFill>
            <a:prstDash val="solid"/>
          </a:ln>
        </p:spPr>
      </p:sp>
      <p:sp>
        <p:nvSpPr>
          <p:cNvPr id="19" name="Text 17"/>
          <p:cNvSpPr txBox="1"/>
          <p:nvPr/>
        </p:nvSpPr>
        <p:spPr>
          <a:xfrm>
            <a:off x="4480560" y="4069080"/>
            <a:ext cx="2011680" cy="274320"/>
          </a:xfrm>
          <a:prstGeom prst="rect">
            <a:avLst/>
          </a:prstGeom>
          <a:noFill/>
          <a:ln/>
        </p:spPr>
        <p:txBody>
          <a:bodyPr wrap="square" lIns="0" tIns="0" rIns="0" bIns="0" rtlCol="0" anchor="t"/>
          <a:lstStyle/>
          <a:p>
            <a:pPr indent="0" marL="0">
              <a:buNone/>
            </a:pPr>
            <a:r>
              <a:rPr lang="en-US" sz="1400" b="1" dirty="0">
                <a:solidFill>
                  <a:srgbClr val="C7791B"/>
                </a:solidFill>
                <a:latin typeface="Calibri" pitchFamily="34" charset="0"/>
                <a:ea typeface="Calibri" pitchFamily="34" charset="-122"/>
                <a:cs typeface="Calibri" pitchFamily="34" charset="-120"/>
              </a:rPr>
              <a:t>common bus Y</a:t>
            </a:r>
            <a:endParaRPr lang="en-US" sz="1400" dirty="0"/>
          </a:p>
        </p:txBody>
      </p:sp>
      <p:sp>
        <p:nvSpPr>
          <p:cNvPr id="20" name="Text 18"/>
          <p:cNvSpPr txBox="1"/>
          <p:nvPr/>
        </p:nvSpPr>
        <p:spPr>
          <a:xfrm>
            <a:off x="2194560" y="4800600"/>
            <a:ext cx="201168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destination</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registers</a:t>
            </a:r>
            <a:endParaRPr lang="en-US" sz="1400" dirty="0"/>
          </a:p>
        </p:txBody>
      </p:sp>
      <p:sp>
        <p:nvSpPr>
          <p:cNvPr id="21" name="Shape 19"/>
          <p:cNvSpPr/>
          <p:nvPr/>
        </p:nvSpPr>
        <p:spPr>
          <a:xfrm>
            <a:off x="3200400" y="4023360"/>
            <a:ext cx="0" cy="749808"/>
          </a:xfrm>
          <a:prstGeom prst="line">
            <a:avLst/>
          </a:prstGeom>
          <a:noFill/>
          <a:ln w="25400">
            <a:solidFill>
              <a:srgbClr val="5B6B78"/>
            </a:solidFill>
            <a:prstDash val="solid"/>
            <a:tailEnd type="triangle"/>
          </a:ln>
        </p:spPr>
      </p:sp>
      <p:sp>
        <p:nvSpPr>
          <p:cNvPr id="22" name="Shape 20"/>
          <p:cNvSpPr/>
          <p:nvPr/>
        </p:nvSpPr>
        <p:spPr>
          <a:xfrm>
            <a:off x="6858000" y="1492758"/>
            <a:ext cx="146304" cy="146304"/>
          </a:xfrm>
          <a:prstGeom prst="rect">
            <a:avLst/>
          </a:prstGeom>
          <a:solidFill>
            <a:srgbClr val="0E7C86"/>
          </a:solidFill>
          <a:ln w="12700">
            <a:solidFill>
              <a:srgbClr val="0E7C86"/>
            </a:solidFill>
            <a:prstDash val="solid"/>
          </a:ln>
        </p:spPr>
      </p:sp>
      <p:sp>
        <p:nvSpPr>
          <p:cNvPr id="23" name="Text 21"/>
          <p:cNvSpPr txBox="1"/>
          <p:nvPr/>
        </p:nvSpPr>
        <p:spPr>
          <a:xfrm>
            <a:off x="7242048" y="1417320"/>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Several source registers are connected to one bus simply by joining their outputs, each through a three-state buffer</a:t>
            </a:r>
            <a:endParaRPr lang="en-US" sz="1800" dirty="0"/>
          </a:p>
        </p:txBody>
      </p:sp>
      <p:sp>
        <p:nvSpPr>
          <p:cNvPr id="24" name="Shape 22"/>
          <p:cNvSpPr/>
          <p:nvPr/>
        </p:nvSpPr>
        <p:spPr>
          <a:xfrm>
            <a:off x="6858000" y="2798826"/>
            <a:ext cx="146304" cy="146304"/>
          </a:xfrm>
          <a:prstGeom prst="rect">
            <a:avLst/>
          </a:prstGeom>
          <a:solidFill>
            <a:srgbClr val="C7791B"/>
          </a:solidFill>
          <a:ln w="12700">
            <a:solidFill>
              <a:srgbClr val="C7791B"/>
            </a:solidFill>
            <a:prstDash val="solid"/>
          </a:ln>
        </p:spPr>
      </p:sp>
      <p:sp>
        <p:nvSpPr>
          <p:cNvPr id="25" name="Text 23"/>
          <p:cNvSpPr txBox="1"/>
          <p:nvPr/>
        </p:nvSpPr>
        <p:spPr>
          <a:xfrm>
            <a:off x="7242048" y="2723388"/>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condition: of the n sources that flow into the bus, at most one is enabled at a time. One active signal, the other n - 1 neutral</a:t>
            </a:r>
            <a:endParaRPr lang="en-US" sz="1800" dirty="0"/>
          </a:p>
        </p:txBody>
      </p:sp>
      <p:sp>
        <p:nvSpPr>
          <p:cNvPr id="26" name="Shape 24"/>
          <p:cNvSpPr/>
          <p:nvPr/>
        </p:nvSpPr>
        <p:spPr>
          <a:xfrm>
            <a:off x="6858000" y="4104894"/>
            <a:ext cx="146304" cy="146304"/>
          </a:xfrm>
          <a:prstGeom prst="rect">
            <a:avLst/>
          </a:prstGeom>
          <a:solidFill>
            <a:srgbClr val="0E7C86"/>
          </a:solidFill>
          <a:ln w="12700">
            <a:solidFill>
              <a:srgbClr val="0E7C86"/>
            </a:solidFill>
            <a:prstDash val="solid"/>
          </a:ln>
        </p:spPr>
      </p:sp>
      <p:sp>
        <p:nvSpPr>
          <p:cNvPr id="27" name="Text 25"/>
          <p:cNvSpPr txBox="1"/>
          <p:nvPr/>
        </p:nvSpPr>
        <p:spPr>
          <a:xfrm>
            <a:off x="7242048" y="4029456"/>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On the destination side, every register is connected to the bus and only the one whose load signal is active takes the datum</a:t>
            </a:r>
            <a:endParaRPr lang="en-US" sz="1800" dirty="0"/>
          </a:p>
        </p:txBody>
      </p:sp>
      <p:sp>
        <p:nvSpPr>
          <p:cNvPr id="28" name="Shape 26"/>
          <p:cNvSpPr/>
          <p:nvPr/>
        </p:nvSpPr>
        <p:spPr>
          <a:xfrm>
            <a:off x="6858000" y="5410962"/>
            <a:ext cx="146304" cy="146304"/>
          </a:xfrm>
          <a:prstGeom prst="rect">
            <a:avLst/>
          </a:prstGeom>
          <a:solidFill>
            <a:srgbClr val="C7791B"/>
          </a:solidFill>
          <a:ln w="12700">
            <a:solidFill>
              <a:srgbClr val="C7791B"/>
            </a:solidFill>
            <a:prstDash val="solid"/>
          </a:ln>
        </p:spPr>
      </p:sp>
      <p:sp>
        <p:nvSpPr>
          <p:cNvPr id="29" name="Text 27"/>
          <p:cNvSpPr txBox="1"/>
          <p:nvPr/>
        </p:nvSpPr>
        <p:spPr>
          <a:xfrm>
            <a:off x="7242048" y="5335524"/>
            <a:ext cx="44010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Choosing the source and the destination is the job of decoders, driven by the control unit</a:t>
            </a:r>
            <a:endParaRPr lang="en-US" sz="1800" dirty="0"/>
          </a:p>
        </p:txBody>
      </p:sp>
      <p:sp>
        <p:nvSpPr>
          <p:cNvPr id="30" name="Shape 28"/>
          <p:cNvSpPr/>
          <p:nvPr/>
        </p:nvSpPr>
        <p:spPr>
          <a:xfrm>
            <a:off x="7893761" y="91440"/>
            <a:ext cx="3749294" cy="274320"/>
          </a:xfrm>
          <a:prstGeom prst="rect">
            <a:avLst/>
          </a:prstGeom>
          <a:solidFill>
            <a:srgbClr val="E0F2FE"/>
          </a:solidFill>
          <a:ln w="12700">
            <a:solidFill>
              <a:srgbClr val="0369A1"/>
            </a:solidFill>
            <a:prstDash val="solid"/>
          </a:ln>
        </p:spPr>
      </p:sp>
      <p:sp>
        <p:nvSpPr>
          <p:cNvPr id="31" name="Shape 29"/>
          <p:cNvSpPr/>
          <p:nvPr/>
        </p:nvSpPr>
        <p:spPr>
          <a:xfrm>
            <a:off x="7893761" y="91440"/>
            <a:ext cx="73152" cy="274320"/>
          </a:xfrm>
          <a:prstGeom prst="rect">
            <a:avLst/>
          </a:prstGeom>
          <a:solidFill>
            <a:srgbClr val="0369A1"/>
          </a:solidFill>
          <a:ln w="12700">
            <a:solidFill>
              <a:srgbClr val="0369A1"/>
            </a:solidFill>
            <a:prstDash val="solid"/>
          </a:ln>
        </p:spPr>
      </p:sp>
      <p:pic>
        <p:nvPicPr>
          <p:cNvPr id="32"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33" name="Text 30"/>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Shift registers</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A chain of one-bit memory cells connected to each other: at every clock pulse each bit moves from one cell to the adjacent one.</a:t>
            </a:r>
            <a:endParaRPr lang="en-US" sz="2400" dirty="0"/>
          </a:p>
        </p:txBody>
      </p:sp>
      <p:sp>
        <p:nvSpPr>
          <p:cNvPr id="6" name="Shape 4"/>
          <p:cNvSpPr/>
          <p:nvPr/>
        </p:nvSpPr>
        <p:spPr>
          <a:xfrm>
            <a:off x="548640" y="3487928"/>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6600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shift can go in one fixed direction, or in a direction chosen by a control line (bidirectional registers)</a:t>
            </a:r>
            <a:endParaRPr lang="en-US" sz="2400" dirty="0"/>
          </a:p>
        </p:txBody>
      </p:sp>
      <p:sp>
        <p:nvSpPr>
          <p:cNvPr id="8" name="Shape 6"/>
          <p:cNvSpPr/>
          <p:nvPr/>
        </p:nvSpPr>
        <p:spPr>
          <a:xfrm>
            <a:off x="548640" y="4688840"/>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6692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make reading and writing data in a system easier: they turn parallel data into serial data and back</a:t>
            </a:r>
            <a:endParaRPr lang="en-US" sz="2400" dirty="0"/>
          </a:p>
        </p:txBody>
      </p:sp>
      <p:sp>
        <p:nvSpPr>
          <p:cNvPr id="10" name="Shape 8"/>
          <p:cNvSpPr/>
          <p:nvPr/>
        </p:nvSpPr>
        <p:spPr>
          <a:xfrm>
            <a:off x="548640" y="5889752"/>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6783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Each cell is a D flip-flop whose input is the output of its neighbour</a:t>
            </a:r>
            <a:endParaRPr lang="en-US" sz="2400" dirty="0"/>
          </a:p>
        </p:txBody>
      </p:sp>
      <p:sp>
        <p:nvSpPr>
          <p:cNvPr id="12" name="Shape 10"/>
          <p:cNvSpPr/>
          <p:nvPr/>
        </p:nvSpPr>
        <p:spPr>
          <a:xfrm>
            <a:off x="8681669" y="91440"/>
            <a:ext cx="2961386" cy="274320"/>
          </a:xfrm>
          <a:prstGeom prst="rect">
            <a:avLst/>
          </a:prstGeom>
          <a:solidFill>
            <a:srgbClr val="E0F2FE"/>
          </a:solidFill>
          <a:ln w="12700">
            <a:solidFill>
              <a:srgbClr val="0369A1"/>
            </a:solidFill>
            <a:prstDash val="solid"/>
          </a:ln>
        </p:spPr>
      </p:sp>
      <p:sp>
        <p:nvSpPr>
          <p:cNvPr id="13" name="Shape 11"/>
          <p:cNvSpPr/>
          <p:nvPr/>
        </p:nvSpPr>
        <p:spPr>
          <a:xfrm>
            <a:off x="8681669"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5" name="Text 12"/>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kinds of shift register</a:t>
            </a:r>
            <a:endParaRPr lang="en-US" sz="3200" dirty="0"/>
          </a:p>
        </p:txBody>
      </p:sp>
      <p:sp>
        <p:nvSpPr>
          <p:cNvPr id="3" name="Text 1"/>
          <p:cNvSpPr txBox="1"/>
          <p:nvPr/>
        </p:nvSpPr>
        <p:spPr>
          <a:xfrm>
            <a:off x="548640" y="137160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Serial in, serial out</a:t>
            </a:r>
            <a:endParaRPr lang="en-US" sz="1400" dirty="0"/>
          </a:p>
        </p:txBody>
      </p:sp>
      <p:sp>
        <p:nvSpPr>
          <p:cNvPr id="4" name="Text 2"/>
          <p:cNvSpPr txBox="1"/>
          <p:nvPr/>
        </p:nvSpPr>
        <p:spPr>
          <a:xfrm>
            <a:off x="128016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5" name="Shape 3"/>
          <p:cNvSpPr/>
          <p:nvPr/>
        </p:nvSpPr>
        <p:spPr>
          <a:xfrm>
            <a:off x="2176272" y="2125980"/>
            <a:ext cx="265176" cy="0"/>
          </a:xfrm>
          <a:prstGeom prst="line">
            <a:avLst/>
          </a:prstGeom>
          <a:noFill/>
          <a:ln w="25400">
            <a:solidFill>
              <a:srgbClr val="5B6B78"/>
            </a:solidFill>
            <a:prstDash val="solid"/>
            <a:tailEnd type="triangle"/>
          </a:ln>
        </p:spPr>
      </p:sp>
      <p:sp>
        <p:nvSpPr>
          <p:cNvPr id="6" name="Text 4"/>
          <p:cNvSpPr txBox="1"/>
          <p:nvPr/>
        </p:nvSpPr>
        <p:spPr>
          <a:xfrm>
            <a:off x="246888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7" name="Shape 5"/>
          <p:cNvSpPr/>
          <p:nvPr/>
        </p:nvSpPr>
        <p:spPr>
          <a:xfrm>
            <a:off x="3364992" y="2125980"/>
            <a:ext cx="265176" cy="0"/>
          </a:xfrm>
          <a:prstGeom prst="line">
            <a:avLst/>
          </a:prstGeom>
          <a:noFill/>
          <a:ln w="25400">
            <a:solidFill>
              <a:srgbClr val="5B6B78"/>
            </a:solidFill>
            <a:prstDash val="solid"/>
            <a:tailEnd type="triangle"/>
          </a:ln>
        </p:spPr>
      </p:sp>
      <p:sp>
        <p:nvSpPr>
          <p:cNvPr id="8" name="Text 6"/>
          <p:cNvSpPr txBox="1"/>
          <p:nvPr/>
        </p:nvSpPr>
        <p:spPr>
          <a:xfrm>
            <a:off x="365760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9" name="Shape 7"/>
          <p:cNvSpPr/>
          <p:nvPr/>
        </p:nvSpPr>
        <p:spPr>
          <a:xfrm>
            <a:off x="4553712" y="2125980"/>
            <a:ext cx="265176" cy="0"/>
          </a:xfrm>
          <a:prstGeom prst="line">
            <a:avLst/>
          </a:prstGeom>
          <a:noFill/>
          <a:ln w="25400">
            <a:solidFill>
              <a:srgbClr val="5B6B78"/>
            </a:solidFill>
            <a:prstDash val="solid"/>
            <a:tailEnd type="triangle"/>
          </a:ln>
        </p:spPr>
      </p:sp>
      <p:sp>
        <p:nvSpPr>
          <p:cNvPr id="10" name="Text 8"/>
          <p:cNvSpPr txBox="1"/>
          <p:nvPr/>
        </p:nvSpPr>
        <p:spPr>
          <a:xfrm>
            <a:off x="484632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11" name="Shape 9"/>
          <p:cNvSpPr/>
          <p:nvPr/>
        </p:nvSpPr>
        <p:spPr>
          <a:xfrm>
            <a:off x="548640" y="2121408"/>
            <a:ext cx="704088" cy="0"/>
          </a:xfrm>
          <a:prstGeom prst="line">
            <a:avLst/>
          </a:prstGeom>
          <a:noFill/>
          <a:ln w="25400">
            <a:solidFill>
              <a:srgbClr val="5B6B78"/>
            </a:solidFill>
            <a:prstDash val="solid"/>
            <a:tailEnd type="triangle"/>
          </a:ln>
        </p:spPr>
      </p:sp>
      <p:sp>
        <p:nvSpPr>
          <p:cNvPr id="12" name="Shape 10"/>
          <p:cNvSpPr/>
          <p:nvPr/>
        </p:nvSpPr>
        <p:spPr>
          <a:xfrm>
            <a:off x="5742432" y="2121408"/>
            <a:ext cx="612648" cy="0"/>
          </a:xfrm>
          <a:prstGeom prst="line">
            <a:avLst/>
          </a:prstGeom>
          <a:noFill/>
          <a:ln w="25400">
            <a:solidFill>
              <a:srgbClr val="5B6B78"/>
            </a:solidFill>
            <a:prstDash val="solid"/>
            <a:tailEnd type="triangle"/>
          </a:ln>
        </p:spPr>
      </p:sp>
      <p:sp>
        <p:nvSpPr>
          <p:cNvPr id="13" name="Text 11"/>
          <p:cNvSpPr txBox="1"/>
          <p:nvPr/>
        </p:nvSpPr>
        <p:spPr>
          <a:xfrm>
            <a:off x="6309360" y="137160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Serial in, parallel out</a:t>
            </a:r>
            <a:endParaRPr lang="en-US" sz="1400" dirty="0"/>
          </a:p>
        </p:txBody>
      </p:sp>
      <p:sp>
        <p:nvSpPr>
          <p:cNvPr id="14" name="Text 12"/>
          <p:cNvSpPr txBox="1"/>
          <p:nvPr/>
        </p:nvSpPr>
        <p:spPr>
          <a:xfrm>
            <a:off x="704088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15" name="Shape 13"/>
          <p:cNvSpPr/>
          <p:nvPr/>
        </p:nvSpPr>
        <p:spPr>
          <a:xfrm>
            <a:off x="7936992" y="2125980"/>
            <a:ext cx="265176" cy="0"/>
          </a:xfrm>
          <a:prstGeom prst="line">
            <a:avLst/>
          </a:prstGeom>
          <a:noFill/>
          <a:ln w="25400">
            <a:solidFill>
              <a:srgbClr val="5B6B78"/>
            </a:solidFill>
            <a:prstDash val="solid"/>
            <a:tailEnd type="triangle"/>
          </a:ln>
        </p:spPr>
      </p:sp>
      <p:sp>
        <p:nvSpPr>
          <p:cNvPr id="16" name="Text 14"/>
          <p:cNvSpPr txBox="1"/>
          <p:nvPr/>
        </p:nvSpPr>
        <p:spPr>
          <a:xfrm>
            <a:off x="822960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17" name="Shape 15"/>
          <p:cNvSpPr/>
          <p:nvPr/>
        </p:nvSpPr>
        <p:spPr>
          <a:xfrm>
            <a:off x="9125712" y="2125980"/>
            <a:ext cx="265176" cy="0"/>
          </a:xfrm>
          <a:prstGeom prst="line">
            <a:avLst/>
          </a:prstGeom>
          <a:noFill/>
          <a:ln w="25400">
            <a:solidFill>
              <a:srgbClr val="5B6B78"/>
            </a:solidFill>
            <a:prstDash val="solid"/>
            <a:tailEnd type="triangle"/>
          </a:ln>
        </p:spPr>
      </p:sp>
      <p:sp>
        <p:nvSpPr>
          <p:cNvPr id="18" name="Text 16"/>
          <p:cNvSpPr txBox="1"/>
          <p:nvPr/>
        </p:nvSpPr>
        <p:spPr>
          <a:xfrm>
            <a:off x="941832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9" name="Shape 17"/>
          <p:cNvSpPr/>
          <p:nvPr/>
        </p:nvSpPr>
        <p:spPr>
          <a:xfrm>
            <a:off x="10314432" y="2125980"/>
            <a:ext cx="265176" cy="0"/>
          </a:xfrm>
          <a:prstGeom prst="line">
            <a:avLst/>
          </a:prstGeom>
          <a:noFill/>
          <a:ln w="25400">
            <a:solidFill>
              <a:srgbClr val="5B6B78"/>
            </a:solidFill>
            <a:prstDash val="solid"/>
            <a:tailEnd type="triangle"/>
          </a:ln>
        </p:spPr>
      </p:sp>
      <p:sp>
        <p:nvSpPr>
          <p:cNvPr id="20" name="Text 18"/>
          <p:cNvSpPr txBox="1"/>
          <p:nvPr/>
        </p:nvSpPr>
        <p:spPr>
          <a:xfrm>
            <a:off x="1060704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21" name="Shape 19"/>
          <p:cNvSpPr/>
          <p:nvPr/>
        </p:nvSpPr>
        <p:spPr>
          <a:xfrm>
            <a:off x="6309360" y="2121408"/>
            <a:ext cx="704088" cy="0"/>
          </a:xfrm>
          <a:prstGeom prst="line">
            <a:avLst/>
          </a:prstGeom>
          <a:noFill/>
          <a:ln w="25400">
            <a:solidFill>
              <a:srgbClr val="5B6B78"/>
            </a:solidFill>
            <a:prstDash val="solid"/>
            <a:tailEnd type="triangle"/>
          </a:ln>
        </p:spPr>
      </p:sp>
      <p:sp>
        <p:nvSpPr>
          <p:cNvPr id="22" name="Shape 20"/>
          <p:cNvSpPr/>
          <p:nvPr/>
        </p:nvSpPr>
        <p:spPr>
          <a:xfrm>
            <a:off x="7470648" y="2496312"/>
            <a:ext cx="0" cy="429768"/>
          </a:xfrm>
          <a:prstGeom prst="line">
            <a:avLst/>
          </a:prstGeom>
          <a:noFill/>
          <a:ln w="25400">
            <a:solidFill>
              <a:srgbClr val="5B6B78"/>
            </a:solidFill>
            <a:prstDash val="solid"/>
            <a:tailEnd type="triangle"/>
          </a:ln>
        </p:spPr>
      </p:sp>
      <p:sp>
        <p:nvSpPr>
          <p:cNvPr id="23" name="Shape 21"/>
          <p:cNvSpPr/>
          <p:nvPr/>
        </p:nvSpPr>
        <p:spPr>
          <a:xfrm>
            <a:off x="8659368" y="2496312"/>
            <a:ext cx="0" cy="429768"/>
          </a:xfrm>
          <a:prstGeom prst="line">
            <a:avLst/>
          </a:prstGeom>
          <a:noFill/>
          <a:ln w="25400">
            <a:solidFill>
              <a:srgbClr val="5B6B78"/>
            </a:solidFill>
            <a:prstDash val="solid"/>
            <a:tailEnd type="triangle"/>
          </a:ln>
        </p:spPr>
      </p:sp>
      <p:sp>
        <p:nvSpPr>
          <p:cNvPr id="24" name="Shape 22"/>
          <p:cNvSpPr/>
          <p:nvPr/>
        </p:nvSpPr>
        <p:spPr>
          <a:xfrm>
            <a:off x="9848088" y="2496312"/>
            <a:ext cx="0" cy="429768"/>
          </a:xfrm>
          <a:prstGeom prst="line">
            <a:avLst/>
          </a:prstGeom>
          <a:noFill/>
          <a:ln w="25400">
            <a:solidFill>
              <a:srgbClr val="5B6B78"/>
            </a:solidFill>
            <a:prstDash val="solid"/>
            <a:tailEnd type="triangle"/>
          </a:ln>
        </p:spPr>
      </p:sp>
      <p:sp>
        <p:nvSpPr>
          <p:cNvPr id="25" name="Shape 23"/>
          <p:cNvSpPr/>
          <p:nvPr/>
        </p:nvSpPr>
        <p:spPr>
          <a:xfrm>
            <a:off x="11036808" y="2496312"/>
            <a:ext cx="0" cy="429768"/>
          </a:xfrm>
          <a:prstGeom prst="line">
            <a:avLst/>
          </a:prstGeom>
          <a:noFill/>
          <a:ln w="25400">
            <a:solidFill>
              <a:srgbClr val="5B6B78"/>
            </a:solidFill>
            <a:prstDash val="solid"/>
            <a:tailEnd type="triangle"/>
          </a:ln>
        </p:spPr>
      </p:sp>
      <p:sp>
        <p:nvSpPr>
          <p:cNvPr id="26" name="Text 24"/>
          <p:cNvSpPr txBox="1"/>
          <p:nvPr/>
        </p:nvSpPr>
        <p:spPr>
          <a:xfrm>
            <a:off x="548640" y="310896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Parallel in, serial out</a:t>
            </a:r>
            <a:endParaRPr lang="en-US" sz="1400" dirty="0"/>
          </a:p>
        </p:txBody>
      </p:sp>
      <p:sp>
        <p:nvSpPr>
          <p:cNvPr id="27" name="Text 25"/>
          <p:cNvSpPr txBox="1"/>
          <p:nvPr/>
        </p:nvSpPr>
        <p:spPr>
          <a:xfrm>
            <a:off x="128016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28" name="Shape 26"/>
          <p:cNvSpPr/>
          <p:nvPr/>
        </p:nvSpPr>
        <p:spPr>
          <a:xfrm>
            <a:off x="2176272" y="4274820"/>
            <a:ext cx="265176" cy="0"/>
          </a:xfrm>
          <a:prstGeom prst="line">
            <a:avLst/>
          </a:prstGeom>
          <a:noFill/>
          <a:ln w="25400">
            <a:solidFill>
              <a:srgbClr val="5B6B78"/>
            </a:solidFill>
            <a:prstDash val="solid"/>
            <a:tailEnd type="triangle"/>
          </a:ln>
        </p:spPr>
      </p:sp>
      <p:sp>
        <p:nvSpPr>
          <p:cNvPr id="29" name="Text 27"/>
          <p:cNvSpPr txBox="1"/>
          <p:nvPr/>
        </p:nvSpPr>
        <p:spPr>
          <a:xfrm>
            <a:off x="246888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30" name="Shape 28"/>
          <p:cNvSpPr/>
          <p:nvPr/>
        </p:nvSpPr>
        <p:spPr>
          <a:xfrm>
            <a:off x="3364992" y="4274820"/>
            <a:ext cx="265176" cy="0"/>
          </a:xfrm>
          <a:prstGeom prst="line">
            <a:avLst/>
          </a:prstGeom>
          <a:noFill/>
          <a:ln w="25400">
            <a:solidFill>
              <a:srgbClr val="5B6B78"/>
            </a:solidFill>
            <a:prstDash val="solid"/>
            <a:tailEnd type="triangle"/>
          </a:ln>
        </p:spPr>
      </p:sp>
      <p:sp>
        <p:nvSpPr>
          <p:cNvPr id="31" name="Text 29"/>
          <p:cNvSpPr txBox="1"/>
          <p:nvPr/>
        </p:nvSpPr>
        <p:spPr>
          <a:xfrm>
            <a:off x="365760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32" name="Shape 30"/>
          <p:cNvSpPr/>
          <p:nvPr/>
        </p:nvSpPr>
        <p:spPr>
          <a:xfrm>
            <a:off x="4553712" y="4274820"/>
            <a:ext cx="265176" cy="0"/>
          </a:xfrm>
          <a:prstGeom prst="line">
            <a:avLst/>
          </a:prstGeom>
          <a:noFill/>
          <a:ln w="25400">
            <a:solidFill>
              <a:srgbClr val="5B6B78"/>
            </a:solidFill>
            <a:prstDash val="solid"/>
            <a:tailEnd type="triangle"/>
          </a:ln>
        </p:spPr>
      </p:sp>
      <p:sp>
        <p:nvSpPr>
          <p:cNvPr id="33" name="Text 31"/>
          <p:cNvSpPr txBox="1"/>
          <p:nvPr/>
        </p:nvSpPr>
        <p:spPr>
          <a:xfrm>
            <a:off x="484632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34" name="Shape 32"/>
          <p:cNvSpPr/>
          <p:nvPr/>
        </p:nvSpPr>
        <p:spPr>
          <a:xfrm>
            <a:off x="1709928" y="3474720"/>
            <a:ext cx="0" cy="429768"/>
          </a:xfrm>
          <a:prstGeom prst="line">
            <a:avLst/>
          </a:prstGeom>
          <a:noFill/>
          <a:ln w="25400">
            <a:solidFill>
              <a:srgbClr val="5B6B78"/>
            </a:solidFill>
            <a:prstDash val="solid"/>
            <a:tailEnd type="triangle"/>
          </a:ln>
        </p:spPr>
      </p:sp>
      <p:sp>
        <p:nvSpPr>
          <p:cNvPr id="35" name="Shape 33"/>
          <p:cNvSpPr/>
          <p:nvPr/>
        </p:nvSpPr>
        <p:spPr>
          <a:xfrm>
            <a:off x="2898648" y="3474720"/>
            <a:ext cx="0" cy="429768"/>
          </a:xfrm>
          <a:prstGeom prst="line">
            <a:avLst/>
          </a:prstGeom>
          <a:noFill/>
          <a:ln w="25400">
            <a:solidFill>
              <a:srgbClr val="5B6B78"/>
            </a:solidFill>
            <a:prstDash val="solid"/>
            <a:tailEnd type="triangle"/>
          </a:ln>
        </p:spPr>
      </p:sp>
      <p:sp>
        <p:nvSpPr>
          <p:cNvPr id="36" name="Shape 34"/>
          <p:cNvSpPr/>
          <p:nvPr/>
        </p:nvSpPr>
        <p:spPr>
          <a:xfrm>
            <a:off x="4087368" y="3474720"/>
            <a:ext cx="0" cy="429768"/>
          </a:xfrm>
          <a:prstGeom prst="line">
            <a:avLst/>
          </a:prstGeom>
          <a:noFill/>
          <a:ln w="25400">
            <a:solidFill>
              <a:srgbClr val="5B6B78"/>
            </a:solidFill>
            <a:prstDash val="solid"/>
            <a:tailEnd type="triangle"/>
          </a:ln>
        </p:spPr>
      </p:sp>
      <p:sp>
        <p:nvSpPr>
          <p:cNvPr id="37" name="Shape 35"/>
          <p:cNvSpPr/>
          <p:nvPr/>
        </p:nvSpPr>
        <p:spPr>
          <a:xfrm>
            <a:off x="5276088" y="3474720"/>
            <a:ext cx="0" cy="429768"/>
          </a:xfrm>
          <a:prstGeom prst="line">
            <a:avLst/>
          </a:prstGeom>
          <a:noFill/>
          <a:ln w="25400">
            <a:solidFill>
              <a:srgbClr val="5B6B78"/>
            </a:solidFill>
            <a:prstDash val="solid"/>
            <a:tailEnd type="triangle"/>
          </a:ln>
        </p:spPr>
      </p:sp>
      <p:sp>
        <p:nvSpPr>
          <p:cNvPr id="38" name="Shape 36"/>
          <p:cNvSpPr/>
          <p:nvPr/>
        </p:nvSpPr>
        <p:spPr>
          <a:xfrm>
            <a:off x="5742432" y="4270248"/>
            <a:ext cx="612648" cy="0"/>
          </a:xfrm>
          <a:prstGeom prst="line">
            <a:avLst/>
          </a:prstGeom>
          <a:noFill/>
          <a:ln w="25400">
            <a:solidFill>
              <a:srgbClr val="5B6B78"/>
            </a:solidFill>
            <a:prstDash val="solid"/>
            <a:tailEnd type="triangle"/>
          </a:ln>
        </p:spPr>
      </p:sp>
      <p:sp>
        <p:nvSpPr>
          <p:cNvPr id="39" name="Text 37"/>
          <p:cNvSpPr txBox="1"/>
          <p:nvPr/>
        </p:nvSpPr>
        <p:spPr>
          <a:xfrm>
            <a:off x="6309360" y="310896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Parallel in, parallel out</a:t>
            </a:r>
            <a:endParaRPr lang="en-US" sz="1400" dirty="0"/>
          </a:p>
        </p:txBody>
      </p:sp>
      <p:sp>
        <p:nvSpPr>
          <p:cNvPr id="40" name="Text 38"/>
          <p:cNvSpPr txBox="1"/>
          <p:nvPr/>
        </p:nvSpPr>
        <p:spPr>
          <a:xfrm>
            <a:off x="704088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41" name="Shape 39"/>
          <p:cNvSpPr/>
          <p:nvPr/>
        </p:nvSpPr>
        <p:spPr>
          <a:xfrm>
            <a:off x="7936992" y="4274820"/>
            <a:ext cx="265176" cy="0"/>
          </a:xfrm>
          <a:prstGeom prst="line">
            <a:avLst/>
          </a:prstGeom>
          <a:noFill/>
          <a:ln w="25400">
            <a:solidFill>
              <a:srgbClr val="5B6B78"/>
            </a:solidFill>
            <a:prstDash val="solid"/>
            <a:tailEnd type="triangle"/>
          </a:ln>
        </p:spPr>
      </p:sp>
      <p:sp>
        <p:nvSpPr>
          <p:cNvPr id="42" name="Text 40"/>
          <p:cNvSpPr txBox="1"/>
          <p:nvPr/>
        </p:nvSpPr>
        <p:spPr>
          <a:xfrm>
            <a:off x="822960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43" name="Shape 41"/>
          <p:cNvSpPr/>
          <p:nvPr/>
        </p:nvSpPr>
        <p:spPr>
          <a:xfrm>
            <a:off x="9125712" y="4274820"/>
            <a:ext cx="265176" cy="0"/>
          </a:xfrm>
          <a:prstGeom prst="line">
            <a:avLst/>
          </a:prstGeom>
          <a:noFill/>
          <a:ln w="25400">
            <a:solidFill>
              <a:srgbClr val="5B6B78"/>
            </a:solidFill>
            <a:prstDash val="solid"/>
            <a:tailEnd type="triangle"/>
          </a:ln>
        </p:spPr>
      </p:sp>
      <p:sp>
        <p:nvSpPr>
          <p:cNvPr id="44" name="Text 42"/>
          <p:cNvSpPr txBox="1"/>
          <p:nvPr/>
        </p:nvSpPr>
        <p:spPr>
          <a:xfrm>
            <a:off x="941832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45" name="Shape 43"/>
          <p:cNvSpPr/>
          <p:nvPr/>
        </p:nvSpPr>
        <p:spPr>
          <a:xfrm>
            <a:off x="10314432" y="4274820"/>
            <a:ext cx="265176" cy="0"/>
          </a:xfrm>
          <a:prstGeom prst="line">
            <a:avLst/>
          </a:prstGeom>
          <a:noFill/>
          <a:ln w="25400">
            <a:solidFill>
              <a:srgbClr val="5B6B78"/>
            </a:solidFill>
            <a:prstDash val="solid"/>
            <a:tailEnd type="triangle"/>
          </a:ln>
        </p:spPr>
      </p:sp>
      <p:sp>
        <p:nvSpPr>
          <p:cNvPr id="46" name="Text 44"/>
          <p:cNvSpPr txBox="1"/>
          <p:nvPr/>
        </p:nvSpPr>
        <p:spPr>
          <a:xfrm>
            <a:off x="1060704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47" name="Shape 45"/>
          <p:cNvSpPr/>
          <p:nvPr/>
        </p:nvSpPr>
        <p:spPr>
          <a:xfrm>
            <a:off x="7470648" y="3474720"/>
            <a:ext cx="0" cy="429768"/>
          </a:xfrm>
          <a:prstGeom prst="line">
            <a:avLst/>
          </a:prstGeom>
          <a:noFill/>
          <a:ln w="25400">
            <a:solidFill>
              <a:srgbClr val="5B6B78"/>
            </a:solidFill>
            <a:prstDash val="solid"/>
            <a:tailEnd type="triangle"/>
          </a:ln>
        </p:spPr>
      </p:sp>
      <p:sp>
        <p:nvSpPr>
          <p:cNvPr id="48" name="Shape 46"/>
          <p:cNvSpPr/>
          <p:nvPr/>
        </p:nvSpPr>
        <p:spPr>
          <a:xfrm>
            <a:off x="7470648" y="4645152"/>
            <a:ext cx="0" cy="429768"/>
          </a:xfrm>
          <a:prstGeom prst="line">
            <a:avLst/>
          </a:prstGeom>
          <a:noFill/>
          <a:ln w="25400">
            <a:solidFill>
              <a:srgbClr val="5B6B78"/>
            </a:solidFill>
            <a:prstDash val="solid"/>
            <a:tailEnd type="triangle"/>
          </a:ln>
        </p:spPr>
      </p:sp>
      <p:sp>
        <p:nvSpPr>
          <p:cNvPr id="49" name="Shape 47"/>
          <p:cNvSpPr/>
          <p:nvPr/>
        </p:nvSpPr>
        <p:spPr>
          <a:xfrm>
            <a:off x="8659368" y="3474720"/>
            <a:ext cx="0" cy="429768"/>
          </a:xfrm>
          <a:prstGeom prst="line">
            <a:avLst/>
          </a:prstGeom>
          <a:noFill/>
          <a:ln w="25400">
            <a:solidFill>
              <a:srgbClr val="5B6B78"/>
            </a:solidFill>
            <a:prstDash val="solid"/>
            <a:tailEnd type="triangle"/>
          </a:ln>
        </p:spPr>
      </p:sp>
      <p:sp>
        <p:nvSpPr>
          <p:cNvPr id="50" name="Shape 48"/>
          <p:cNvSpPr/>
          <p:nvPr/>
        </p:nvSpPr>
        <p:spPr>
          <a:xfrm>
            <a:off x="8659368" y="4645152"/>
            <a:ext cx="0" cy="429768"/>
          </a:xfrm>
          <a:prstGeom prst="line">
            <a:avLst/>
          </a:prstGeom>
          <a:noFill/>
          <a:ln w="25400">
            <a:solidFill>
              <a:srgbClr val="5B6B78"/>
            </a:solidFill>
            <a:prstDash val="solid"/>
            <a:tailEnd type="triangle"/>
          </a:ln>
        </p:spPr>
      </p:sp>
      <p:sp>
        <p:nvSpPr>
          <p:cNvPr id="51" name="Shape 49"/>
          <p:cNvSpPr/>
          <p:nvPr/>
        </p:nvSpPr>
        <p:spPr>
          <a:xfrm>
            <a:off x="9848088" y="3474720"/>
            <a:ext cx="0" cy="429768"/>
          </a:xfrm>
          <a:prstGeom prst="line">
            <a:avLst/>
          </a:prstGeom>
          <a:noFill/>
          <a:ln w="25400">
            <a:solidFill>
              <a:srgbClr val="5B6B78"/>
            </a:solidFill>
            <a:prstDash val="solid"/>
            <a:tailEnd type="triangle"/>
          </a:ln>
        </p:spPr>
      </p:sp>
      <p:sp>
        <p:nvSpPr>
          <p:cNvPr id="52" name="Shape 50"/>
          <p:cNvSpPr/>
          <p:nvPr/>
        </p:nvSpPr>
        <p:spPr>
          <a:xfrm>
            <a:off x="9848088" y="4645152"/>
            <a:ext cx="0" cy="429768"/>
          </a:xfrm>
          <a:prstGeom prst="line">
            <a:avLst/>
          </a:prstGeom>
          <a:noFill/>
          <a:ln w="25400">
            <a:solidFill>
              <a:srgbClr val="5B6B78"/>
            </a:solidFill>
            <a:prstDash val="solid"/>
            <a:tailEnd type="triangle"/>
          </a:ln>
        </p:spPr>
      </p:sp>
      <p:sp>
        <p:nvSpPr>
          <p:cNvPr id="53" name="Shape 51"/>
          <p:cNvSpPr/>
          <p:nvPr/>
        </p:nvSpPr>
        <p:spPr>
          <a:xfrm>
            <a:off x="11036808" y="3474720"/>
            <a:ext cx="0" cy="429768"/>
          </a:xfrm>
          <a:prstGeom prst="line">
            <a:avLst/>
          </a:prstGeom>
          <a:noFill/>
          <a:ln w="25400">
            <a:solidFill>
              <a:srgbClr val="5B6B78"/>
            </a:solidFill>
            <a:prstDash val="solid"/>
            <a:tailEnd type="triangle"/>
          </a:ln>
        </p:spPr>
      </p:sp>
      <p:sp>
        <p:nvSpPr>
          <p:cNvPr id="54" name="Shape 52"/>
          <p:cNvSpPr/>
          <p:nvPr/>
        </p:nvSpPr>
        <p:spPr>
          <a:xfrm>
            <a:off x="11036808" y="4645152"/>
            <a:ext cx="0" cy="429768"/>
          </a:xfrm>
          <a:prstGeom prst="line">
            <a:avLst/>
          </a:prstGeom>
          <a:noFill/>
          <a:ln w="25400">
            <a:solidFill>
              <a:srgbClr val="5B6B78"/>
            </a:solidFill>
            <a:prstDash val="solid"/>
            <a:tailEnd type="triangle"/>
          </a:ln>
        </p:spPr>
      </p:sp>
      <p:sp>
        <p:nvSpPr>
          <p:cNvPr id="55" name="Text 53"/>
          <p:cNvSpPr txBox="1"/>
          <p:nvPr/>
        </p:nvSpPr>
        <p:spPr>
          <a:xfrm>
            <a:off x="548640" y="5440680"/>
            <a:ext cx="11094415" cy="731520"/>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same chain of flip-flops, with a common clock c; what changes is where the data enter and where they leave. Parallel in and parallel out with no shifting is the ordinary register.</a:t>
            </a:r>
            <a:endParaRPr lang="en-US" sz="1500" dirty="0"/>
          </a:p>
        </p:txBody>
      </p:sp>
      <p:sp>
        <p:nvSpPr>
          <p:cNvPr id="56" name="Shape 54"/>
          <p:cNvSpPr/>
          <p:nvPr/>
        </p:nvSpPr>
        <p:spPr>
          <a:xfrm>
            <a:off x="8681669" y="91440"/>
            <a:ext cx="2961386" cy="274320"/>
          </a:xfrm>
          <a:prstGeom prst="rect">
            <a:avLst/>
          </a:prstGeom>
          <a:solidFill>
            <a:srgbClr val="E0F2FE"/>
          </a:solidFill>
          <a:ln w="12700">
            <a:solidFill>
              <a:srgbClr val="0369A1"/>
            </a:solidFill>
            <a:prstDash val="solid"/>
          </a:ln>
        </p:spPr>
      </p:sp>
      <p:sp>
        <p:nvSpPr>
          <p:cNvPr id="57" name="Shape 55"/>
          <p:cNvSpPr/>
          <p:nvPr/>
        </p:nvSpPr>
        <p:spPr>
          <a:xfrm>
            <a:off x="8681669" y="91440"/>
            <a:ext cx="73152" cy="274320"/>
          </a:xfrm>
          <a:prstGeom prst="rect">
            <a:avLst/>
          </a:prstGeom>
          <a:solidFill>
            <a:srgbClr val="0369A1"/>
          </a:solidFill>
          <a:ln w="12700">
            <a:solidFill>
              <a:srgbClr val="0369A1"/>
            </a:solidFill>
            <a:prstDash val="solid"/>
          </a:ln>
        </p:spPr>
      </p:sp>
      <p:pic>
        <p:nvPicPr>
          <p:cNvPr id="58"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59" name="Text 56"/>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Transfers between registers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80289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Serial transfer: the serial output of one shift register feeds the serial input of another</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clock pulses move a word of n bits; one wire is enough</a:t>
            </a:r>
            <a:endParaRPr lang="en-US" sz="2400" dirty="0"/>
          </a:p>
        </p:txBody>
      </p:sp>
      <p:sp>
        <p:nvSpPr>
          <p:cNvPr id="5" name="Shape 3"/>
          <p:cNvSpPr/>
          <p:nvPr/>
        </p:nvSpPr>
        <p:spPr>
          <a:xfrm>
            <a:off x="548640" y="354482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22904"/>
            <a:ext cx="6565392" cy="180289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Parallel transfer: the parallel outputs of one register feed the parallel inputs of another</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one clock pulse moves the whole word; n wires are needed</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Time against wires: the same trade-off as dedicated against common buses</a:t>
            </a:r>
            <a:endParaRPr lang="en-US" sz="2400" dirty="0"/>
          </a:p>
        </p:txBody>
      </p:sp>
      <p:sp>
        <p:nvSpPr>
          <p:cNvPr id="9" name="Shape 7"/>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0" name="Text 8"/>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n pulses or n wires</a:t>
            </a:r>
            <a:endParaRPr lang="en-US" sz="4800" dirty="0"/>
          </a:p>
        </p:txBody>
      </p:sp>
      <p:sp>
        <p:nvSpPr>
          <p:cNvPr id="11" name="Text 9"/>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moving a word of n bits costs either time or copper</a:t>
            </a:r>
            <a:endParaRPr lang="en-US" sz="1900" dirty="0"/>
          </a:p>
        </p:txBody>
      </p:sp>
      <p:sp>
        <p:nvSpPr>
          <p:cNvPr id="12" name="Shape 10"/>
          <p:cNvSpPr/>
          <p:nvPr/>
        </p:nvSpPr>
        <p:spPr>
          <a:xfrm>
            <a:off x="8681669" y="91440"/>
            <a:ext cx="2961386" cy="274320"/>
          </a:xfrm>
          <a:prstGeom prst="rect">
            <a:avLst/>
          </a:prstGeom>
          <a:solidFill>
            <a:srgbClr val="E0F2FE"/>
          </a:solidFill>
          <a:ln w="12700">
            <a:solidFill>
              <a:srgbClr val="0369A1"/>
            </a:solidFill>
            <a:prstDash val="solid"/>
          </a:ln>
        </p:spPr>
      </p:sp>
      <p:sp>
        <p:nvSpPr>
          <p:cNvPr id="13" name="Shape 11"/>
          <p:cNvSpPr/>
          <p:nvPr/>
        </p:nvSpPr>
        <p:spPr>
          <a:xfrm>
            <a:off x="8681669"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5" name="Text 12"/>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Serial to parallel and back</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Load</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datum of n bits is placed in parallel in the register R</a:t>
            </a:r>
            <a:endParaRPr lang="en-US" sz="14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Shift out</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R is a shift register: the n bits leave one after another, in n successive steps</a:t>
            </a:r>
            <a:endParaRPr lang="en-US" sz="14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Travel</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a single line carries them to the equipment downstream</a:t>
            </a:r>
            <a:endParaRPr lang="en-US" sz="14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Shift in</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another register is loaded serially in n steps, rebuilding the datum bit by bit</a:t>
            </a:r>
            <a:endParaRPr lang="en-US" sz="14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Use</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the rebuilt datum is passed on in parallel</a:t>
            </a:r>
            <a:endParaRPr lang="en-US" sz="14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This is the hardware of the warm-up. The display of the kit receives each pixel this way over SPI; the keyboard of Lecture 21 sends each key code this way.</a:t>
            </a:r>
            <a:endParaRPr lang="en-US" sz="2000" dirty="0"/>
          </a:p>
        </p:txBody>
      </p:sp>
      <p:sp>
        <p:nvSpPr>
          <p:cNvPr id="24" name="Shape 22"/>
          <p:cNvSpPr/>
          <p:nvPr/>
        </p:nvSpPr>
        <p:spPr>
          <a:xfrm>
            <a:off x="8681669" y="91440"/>
            <a:ext cx="2961386" cy="274320"/>
          </a:xfrm>
          <a:prstGeom prst="rect">
            <a:avLst/>
          </a:prstGeom>
          <a:solidFill>
            <a:srgbClr val="E0F2FE"/>
          </a:solidFill>
          <a:ln w="12700">
            <a:solidFill>
              <a:srgbClr val="0369A1"/>
            </a:solidFill>
            <a:prstDash val="solid"/>
          </a:ln>
        </p:spPr>
      </p:sp>
      <p:sp>
        <p:nvSpPr>
          <p:cNvPr id="25" name="Shape 23"/>
          <p:cNvSpPr/>
          <p:nvPr/>
        </p:nvSpPr>
        <p:spPr>
          <a:xfrm>
            <a:off x="8681669"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27" name="Text 2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Registers with an address: a first memory</a:t>
            </a:r>
            <a:endParaRPr lang="en-US" sz="3200" dirty="0"/>
          </a:p>
        </p:txBody>
      </p:sp>
      <p:sp>
        <p:nvSpPr>
          <p:cNvPr id="3" name="Text 1"/>
          <p:cNvSpPr txBox="1"/>
          <p:nvPr/>
        </p:nvSpPr>
        <p:spPr>
          <a:xfrm>
            <a:off x="1554480" y="2331720"/>
            <a:ext cx="1371600" cy="2103120"/>
          </a:xfrm>
          <a:prstGeom prst="roundRect">
            <a:avLst>
              <a:gd name="adj" fmla="val 4000"/>
            </a:avLst>
          </a:prstGeom>
          <a:solidFill>
            <a:srgbClr val="C7791B"/>
          </a:solidFill>
          <a:ln>
            <a:solidFill>
              <a:srgbClr val="C7791B"/>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decoder</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2-to-4</a:t>
            </a:r>
            <a:endParaRPr lang="en-US" sz="1400" dirty="0"/>
          </a:p>
        </p:txBody>
      </p:sp>
      <p:sp>
        <p:nvSpPr>
          <p:cNvPr id="4" name="Text 2"/>
          <p:cNvSpPr txBox="1"/>
          <p:nvPr/>
        </p:nvSpPr>
        <p:spPr>
          <a:xfrm>
            <a:off x="3291840" y="2011680"/>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register 0  (3 bits)</a:t>
            </a:r>
            <a:endParaRPr lang="en-US" sz="1350" dirty="0"/>
          </a:p>
        </p:txBody>
      </p:sp>
      <p:sp>
        <p:nvSpPr>
          <p:cNvPr id="5" name="Shape 3"/>
          <p:cNvSpPr/>
          <p:nvPr/>
        </p:nvSpPr>
        <p:spPr>
          <a:xfrm>
            <a:off x="2953512" y="2286000"/>
            <a:ext cx="310896" cy="0"/>
          </a:xfrm>
          <a:prstGeom prst="line">
            <a:avLst/>
          </a:prstGeom>
          <a:noFill/>
          <a:ln w="22225">
            <a:solidFill>
              <a:srgbClr val="C7791B"/>
            </a:solidFill>
            <a:prstDash val="solid"/>
            <a:tailEnd type="triangle"/>
          </a:ln>
        </p:spPr>
      </p:sp>
      <p:sp>
        <p:nvSpPr>
          <p:cNvPr id="6" name="Text 4"/>
          <p:cNvSpPr txBox="1"/>
          <p:nvPr/>
        </p:nvSpPr>
        <p:spPr>
          <a:xfrm>
            <a:off x="3291840" y="2724912"/>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register 1  (3 bits)</a:t>
            </a:r>
            <a:endParaRPr lang="en-US" sz="1350" dirty="0"/>
          </a:p>
        </p:txBody>
      </p:sp>
      <p:sp>
        <p:nvSpPr>
          <p:cNvPr id="7" name="Shape 5"/>
          <p:cNvSpPr/>
          <p:nvPr/>
        </p:nvSpPr>
        <p:spPr>
          <a:xfrm>
            <a:off x="2953512" y="2999232"/>
            <a:ext cx="310896" cy="0"/>
          </a:xfrm>
          <a:prstGeom prst="line">
            <a:avLst/>
          </a:prstGeom>
          <a:noFill/>
          <a:ln w="22225">
            <a:solidFill>
              <a:srgbClr val="C7791B"/>
            </a:solidFill>
            <a:prstDash val="solid"/>
            <a:tailEnd type="triangle"/>
          </a:ln>
        </p:spPr>
      </p:sp>
      <p:sp>
        <p:nvSpPr>
          <p:cNvPr id="8" name="Text 6"/>
          <p:cNvSpPr txBox="1"/>
          <p:nvPr/>
        </p:nvSpPr>
        <p:spPr>
          <a:xfrm>
            <a:off x="3291840" y="3438144"/>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register 2  (3 bits)</a:t>
            </a:r>
            <a:endParaRPr lang="en-US" sz="1350" dirty="0"/>
          </a:p>
        </p:txBody>
      </p:sp>
      <p:sp>
        <p:nvSpPr>
          <p:cNvPr id="9" name="Shape 7"/>
          <p:cNvSpPr/>
          <p:nvPr/>
        </p:nvSpPr>
        <p:spPr>
          <a:xfrm>
            <a:off x="2953512" y="3712464"/>
            <a:ext cx="310896" cy="0"/>
          </a:xfrm>
          <a:prstGeom prst="line">
            <a:avLst/>
          </a:prstGeom>
          <a:noFill/>
          <a:ln w="22225">
            <a:solidFill>
              <a:srgbClr val="C7791B"/>
            </a:solidFill>
            <a:prstDash val="solid"/>
            <a:tailEnd type="triangle"/>
          </a:ln>
        </p:spPr>
      </p:sp>
      <p:sp>
        <p:nvSpPr>
          <p:cNvPr id="10" name="Text 8"/>
          <p:cNvSpPr txBox="1"/>
          <p:nvPr/>
        </p:nvSpPr>
        <p:spPr>
          <a:xfrm>
            <a:off x="3291840" y="4151376"/>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register 3  (3 bits)</a:t>
            </a:r>
            <a:endParaRPr lang="en-US" sz="1350" dirty="0"/>
          </a:p>
        </p:txBody>
      </p:sp>
      <p:sp>
        <p:nvSpPr>
          <p:cNvPr id="11" name="Shape 9"/>
          <p:cNvSpPr/>
          <p:nvPr/>
        </p:nvSpPr>
        <p:spPr>
          <a:xfrm>
            <a:off x="2953512" y="4425696"/>
            <a:ext cx="310896" cy="0"/>
          </a:xfrm>
          <a:prstGeom prst="line">
            <a:avLst/>
          </a:prstGeom>
          <a:noFill/>
          <a:ln w="22225">
            <a:solidFill>
              <a:srgbClr val="C7791B"/>
            </a:solidFill>
            <a:prstDash val="solid"/>
            <a:tailEnd type="triangle"/>
          </a:ln>
        </p:spPr>
      </p:sp>
      <p:sp>
        <p:nvSpPr>
          <p:cNvPr id="12" name="Shape 10"/>
          <p:cNvSpPr/>
          <p:nvPr/>
        </p:nvSpPr>
        <p:spPr>
          <a:xfrm>
            <a:off x="640080" y="3383280"/>
            <a:ext cx="886968" cy="0"/>
          </a:xfrm>
          <a:prstGeom prst="line">
            <a:avLst/>
          </a:prstGeom>
          <a:noFill/>
          <a:ln w="25400">
            <a:solidFill>
              <a:srgbClr val="5B6B78"/>
            </a:solidFill>
            <a:prstDash val="solid"/>
            <a:tailEnd type="triangle"/>
          </a:ln>
        </p:spPr>
      </p:sp>
      <p:sp>
        <p:nvSpPr>
          <p:cNvPr id="13" name="Text 11"/>
          <p:cNvSpPr txBox="1"/>
          <p:nvPr/>
        </p:nvSpPr>
        <p:spPr>
          <a:xfrm>
            <a:off x="548640" y="3017520"/>
            <a:ext cx="10058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A1 A0</a:t>
            </a:r>
            <a:endParaRPr lang="en-US" sz="1400" dirty="0"/>
          </a:p>
        </p:txBody>
      </p:sp>
      <p:sp>
        <p:nvSpPr>
          <p:cNvPr id="14" name="Shape 12"/>
          <p:cNvSpPr/>
          <p:nvPr/>
        </p:nvSpPr>
        <p:spPr>
          <a:xfrm>
            <a:off x="4663440" y="1463040"/>
            <a:ext cx="0" cy="521208"/>
          </a:xfrm>
          <a:prstGeom prst="line">
            <a:avLst/>
          </a:prstGeom>
          <a:noFill/>
          <a:ln w="25400">
            <a:solidFill>
              <a:srgbClr val="5B6B78"/>
            </a:solidFill>
            <a:prstDash val="solid"/>
            <a:tailEnd type="triangle"/>
          </a:ln>
        </p:spPr>
      </p:sp>
      <p:sp>
        <p:nvSpPr>
          <p:cNvPr id="15" name="Text 13"/>
          <p:cNvSpPr txBox="1"/>
          <p:nvPr/>
        </p:nvSpPr>
        <p:spPr>
          <a:xfrm>
            <a:off x="4846320" y="1463040"/>
            <a:ext cx="14630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I2 I1 I0</a:t>
            </a:r>
            <a:endParaRPr lang="en-US" sz="1400" dirty="0"/>
          </a:p>
        </p:txBody>
      </p:sp>
      <p:sp>
        <p:nvSpPr>
          <p:cNvPr id="16" name="Shape 14"/>
          <p:cNvSpPr/>
          <p:nvPr/>
        </p:nvSpPr>
        <p:spPr>
          <a:xfrm>
            <a:off x="4663440" y="4727448"/>
            <a:ext cx="0" cy="530352"/>
          </a:xfrm>
          <a:prstGeom prst="line">
            <a:avLst/>
          </a:prstGeom>
          <a:noFill/>
          <a:ln w="25400">
            <a:solidFill>
              <a:srgbClr val="5B6B78"/>
            </a:solidFill>
            <a:prstDash val="solid"/>
            <a:tailEnd type="triangle"/>
          </a:ln>
        </p:spPr>
      </p:sp>
      <p:sp>
        <p:nvSpPr>
          <p:cNvPr id="17" name="Text 15"/>
          <p:cNvSpPr txBox="1"/>
          <p:nvPr/>
        </p:nvSpPr>
        <p:spPr>
          <a:xfrm>
            <a:off x="4846320" y="4937760"/>
            <a:ext cx="14630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O2 O1 O0</a:t>
            </a:r>
            <a:endParaRPr lang="en-US" sz="1400" dirty="0"/>
          </a:p>
        </p:txBody>
      </p:sp>
      <p:sp>
        <p:nvSpPr>
          <p:cNvPr id="18" name="Text 16"/>
          <p:cNvSpPr txBox="1"/>
          <p:nvPr/>
        </p:nvSpPr>
        <p:spPr>
          <a:xfrm>
            <a:off x="548640" y="4937760"/>
            <a:ext cx="2926080" cy="274320"/>
          </a:xfrm>
          <a:prstGeom prst="rect">
            <a:avLst/>
          </a:prstGeom>
          <a:noFill/>
          <a:ln/>
        </p:spPr>
        <p:txBody>
          <a:bodyPr wrap="square" lIns="0" tIns="0" rIns="0" bIns="0" rtlCol="0" anchor="t"/>
          <a:lstStyle/>
          <a:p>
            <a:pPr indent="0" marL="0">
              <a:buNone/>
            </a:pPr>
            <a:r>
              <a:rPr lang="en-US" sz="1350" b="1" dirty="0">
                <a:solidFill>
                  <a:srgbClr val="B23A48"/>
                </a:solidFill>
                <a:latin typeface="Calibri" pitchFamily="34" charset="0"/>
                <a:ea typeface="Calibri" pitchFamily="34" charset="-122"/>
                <a:cs typeface="Calibri" pitchFamily="34" charset="-120"/>
              </a:rPr>
              <a:t>control: CS, RD, OE</a:t>
            </a:r>
            <a:endParaRPr lang="en-US" sz="1350" dirty="0"/>
          </a:p>
        </p:txBody>
      </p:sp>
      <p:sp>
        <p:nvSpPr>
          <p:cNvPr id="19" name="Shape 17"/>
          <p:cNvSpPr/>
          <p:nvPr/>
        </p:nvSpPr>
        <p:spPr>
          <a:xfrm>
            <a:off x="6675120" y="1500505"/>
            <a:ext cx="146304" cy="146304"/>
          </a:xfrm>
          <a:prstGeom prst="rect">
            <a:avLst/>
          </a:prstGeom>
          <a:solidFill>
            <a:srgbClr val="0E7C86"/>
          </a:solidFill>
          <a:ln w="12700">
            <a:solidFill>
              <a:srgbClr val="0E7C86"/>
            </a:solidFill>
            <a:prstDash val="solid"/>
          </a:ln>
        </p:spPr>
      </p:sp>
      <p:sp>
        <p:nvSpPr>
          <p:cNvPr id="20" name="Text 18"/>
          <p:cNvSpPr txBox="1"/>
          <p:nvPr/>
        </p:nvSpPr>
        <p:spPr>
          <a:xfrm>
            <a:off x="7059168" y="1417320"/>
            <a:ext cx="458388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Four registers of three bits: a memory of 4 words by 3 bits</a:t>
            </a:r>
            <a:endParaRPr lang="en-US" sz="1900" dirty="0"/>
          </a:p>
        </p:txBody>
      </p:sp>
      <p:sp>
        <p:nvSpPr>
          <p:cNvPr id="21" name="Shape 19"/>
          <p:cNvSpPr/>
          <p:nvPr/>
        </p:nvSpPr>
        <p:spPr>
          <a:xfrm>
            <a:off x="6675120" y="2278317"/>
            <a:ext cx="146304" cy="146304"/>
          </a:xfrm>
          <a:prstGeom prst="rect">
            <a:avLst/>
          </a:prstGeom>
          <a:solidFill>
            <a:srgbClr val="C7791B"/>
          </a:solidFill>
          <a:ln w="12700">
            <a:solidFill>
              <a:srgbClr val="C7791B"/>
            </a:solidFill>
            <a:prstDash val="solid"/>
          </a:ln>
        </p:spPr>
      </p:sp>
      <p:sp>
        <p:nvSpPr>
          <p:cNvPr id="22" name="Text 20"/>
          <p:cNvSpPr txBox="1"/>
          <p:nvPr/>
        </p:nvSpPr>
        <p:spPr>
          <a:xfrm>
            <a:off x="7059168" y="2195132"/>
            <a:ext cx="458388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Two address lines, A1 and A0, go to a decoder that selects one register</a:t>
            </a:r>
            <a:endParaRPr lang="en-US" sz="1900" dirty="0"/>
          </a:p>
        </p:txBody>
      </p:sp>
      <p:sp>
        <p:nvSpPr>
          <p:cNvPr id="23" name="Shape 21"/>
          <p:cNvSpPr/>
          <p:nvPr/>
        </p:nvSpPr>
        <p:spPr>
          <a:xfrm>
            <a:off x="6675120" y="3056128"/>
            <a:ext cx="146304" cy="146304"/>
          </a:xfrm>
          <a:prstGeom prst="rect">
            <a:avLst/>
          </a:prstGeom>
          <a:solidFill>
            <a:srgbClr val="0E7C86"/>
          </a:solidFill>
          <a:ln w="12700">
            <a:solidFill>
              <a:srgbClr val="0E7C86"/>
            </a:solidFill>
            <a:prstDash val="solid"/>
          </a:ln>
        </p:spPr>
      </p:sp>
      <p:sp>
        <p:nvSpPr>
          <p:cNvPr id="24" name="Text 22"/>
          <p:cNvSpPr txBox="1"/>
          <p:nvPr/>
        </p:nvSpPr>
        <p:spPr>
          <a:xfrm>
            <a:off x="7059168" y="2972943"/>
            <a:ext cx="458388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data inputs and three data outputs, shared by all the registers</a:t>
            </a:r>
            <a:endParaRPr lang="en-US" sz="1900" dirty="0"/>
          </a:p>
        </p:txBody>
      </p:sp>
      <p:sp>
        <p:nvSpPr>
          <p:cNvPr id="25" name="Shape 23"/>
          <p:cNvSpPr/>
          <p:nvPr/>
        </p:nvSpPr>
        <p:spPr>
          <a:xfrm>
            <a:off x="6675120" y="3833940"/>
            <a:ext cx="146304" cy="146304"/>
          </a:xfrm>
          <a:prstGeom prst="rect">
            <a:avLst/>
          </a:prstGeom>
          <a:solidFill>
            <a:srgbClr val="C7791B"/>
          </a:solidFill>
          <a:ln w="12700">
            <a:solidFill>
              <a:srgbClr val="C7791B"/>
            </a:solidFill>
            <a:prstDash val="solid"/>
          </a:ln>
        </p:spPr>
      </p:sp>
      <p:sp>
        <p:nvSpPr>
          <p:cNvPr id="26" name="Text 24"/>
          <p:cNvSpPr txBox="1"/>
          <p:nvPr/>
        </p:nvSpPr>
        <p:spPr>
          <a:xfrm>
            <a:off x="7059168" y="3750755"/>
            <a:ext cx="4583887" cy="164363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control lines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CS, chip select: the memory responds only when selected</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RD, read or write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OE, output enable: three-state outputs, so that several memories can share one bus</a:t>
            </a:r>
            <a:endParaRPr lang="en-US" sz="1900" dirty="0"/>
          </a:p>
        </p:txBody>
      </p:sp>
      <p:sp>
        <p:nvSpPr>
          <p:cNvPr id="27" name="Shape 25"/>
          <p:cNvSpPr/>
          <p:nvPr/>
        </p:nvSpPr>
        <p:spPr>
          <a:xfrm>
            <a:off x="6675120" y="5666613"/>
            <a:ext cx="146304" cy="146304"/>
          </a:xfrm>
          <a:prstGeom prst="rect">
            <a:avLst/>
          </a:prstGeom>
          <a:solidFill>
            <a:srgbClr val="0E7C86"/>
          </a:solidFill>
          <a:ln w="12700">
            <a:solidFill>
              <a:srgbClr val="0E7C86"/>
            </a:solidFill>
            <a:prstDash val="solid"/>
          </a:ln>
        </p:spPr>
      </p:sp>
      <p:sp>
        <p:nvSpPr>
          <p:cNvPr id="28" name="Text 26"/>
          <p:cNvSpPr txBox="1"/>
          <p:nvPr/>
        </p:nvSpPr>
        <p:spPr>
          <a:xfrm>
            <a:off x="7059168" y="5583428"/>
            <a:ext cx="458388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Everything in it comes from Lectures 11, 13 and this one</a:t>
            </a:r>
            <a:endParaRPr lang="en-US" sz="1900" dirty="0"/>
          </a:p>
        </p:txBody>
      </p:sp>
      <p:sp>
        <p:nvSpPr>
          <p:cNvPr id="29" name="Shape 27"/>
          <p:cNvSpPr/>
          <p:nvPr/>
        </p:nvSpPr>
        <p:spPr>
          <a:xfrm>
            <a:off x="7086295" y="91440"/>
            <a:ext cx="4556760" cy="274320"/>
          </a:xfrm>
          <a:prstGeom prst="rect">
            <a:avLst/>
          </a:prstGeom>
          <a:solidFill>
            <a:srgbClr val="F3E8FF"/>
          </a:solidFill>
          <a:ln w="12700">
            <a:solidFill>
              <a:srgbClr val="7E22CE"/>
            </a:solidFill>
            <a:prstDash val="dash"/>
          </a:ln>
        </p:spPr>
      </p:sp>
      <p:sp>
        <p:nvSpPr>
          <p:cNvPr id="30" name="Shape 28"/>
          <p:cNvSpPr/>
          <p:nvPr/>
        </p:nvSpPr>
        <p:spPr>
          <a:xfrm>
            <a:off x="7113727" y="128016"/>
            <a:ext cx="45720" cy="45720"/>
          </a:xfrm>
          <a:prstGeom prst="rect">
            <a:avLst/>
          </a:prstGeom>
          <a:solidFill>
            <a:srgbClr val="7E22CE"/>
          </a:solidFill>
          <a:ln w="12700">
            <a:solidFill>
              <a:srgbClr val="7E22CE"/>
            </a:solidFill>
            <a:prstDash val="solid"/>
          </a:ln>
        </p:spPr>
      </p:sp>
      <p:sp>
        <p:nvSpPr>
          <p:cNvPr id="31" name="Shape 29"/>
          <p:cNvSpPr/>
          <p:nvPr/>
        </p:nvSpPr>
        <p:spPr>
          <a:xfrm>
            <a:off x="7113727" y="205740"/>
            <a:ext cx="45720" cy="45720"/>
          </a:xfrm>
          <a:prstGeom prst="rect">
            <a:avLst/>
          </a:prstGeom>
          <a:solidFill>
            <a:srgbClr val="7E22CE"/>
          </a:solidFill>
          <a:ln w="12700">
            <a:solidFill>
              <a:srgbClr val="7E22CE"/>
            </a:solidFill>
            <a:prstDash val="solid"/>
          </a:ln>
        </p:spPr>
      </p:sp>
      <p:sp>
        <p:nvSpPr>
          <p:cNvPr id="32" name="Shape 30"/>
          <p:cNvSpPr/>
          <p:nvPr/>
        </p:nvSpPr>
        <p:spPr>
          <a:xfrm>
            <a:off x="7113727" y="283464"/>
            <a:ext cx="45720" cy="45720"/>
          </a:xfrm>
          <a:prstGeom prst="rect">
            <a:avLst/>
          </a:prstGeom>
          <a:solidFill>
            <a:srgbClr val="7E22CE"/>
          </a:solidFill>
          <a:ln w="12700">
            <a:solidFill>
              <a:srgbClr val="7E22CE"/>
            </a:solidFill>
            <a:prstDash val="solid"/>
          </a:ln>
        </p:spPr>
      </p:sp>
      <p:pic>
        <p:nvPicPr>
          <p:cNvPr id="33" name="Image 0" descr="preencoded.png">    </p:cNvPr>
          <p:cNvPicPr>
            <a:picLocks noChangeAspect="1"/>
          </p:cNvPicPr>
          <p:nvPr/>
        </p:nvPicPr>
        <p:blipFill>
          <a:blip r:embed="rId1"/>
          <a:stretch>
            <a:fillRect/>
          </a:stretch>
        </p:blipFill>
        <p:spPr>
          <a:xfrm>
            <a:off x="7214311" y="128016"/>
            <a:ext cx="201168" cy="201168"/>
          </a:xfrm>
          <a:prstGeom prst="rect">
            <a:avLst/>
          </a:prstGeom>
        </p:spPr>
      </p:pic>
      <p:sp>
        <p:nvSpPr>
          <p:cNvPr id="34" name="Text 31"/>
          <p:cNvSpPr txBox="1"/>
          <p:nvPr/>
        </p:nvSpPr>
        <p:spPr>
          <a:xfrm>
            <a:off x="7470343" y="91440"/>
            <a:ext cx="4136136"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memories and addresses</a:t>
            </a:r>
            <a:pPr indent="0" marL="0">
              <a:buNone/>
            </a:pPr>
            <a:r>
              <a:rPr lang="en-US" sz="1100" b="1" dirty="0">
                <a:solidFill>
                  <a:srgbClr val="6B21A8"/>
                </a:solidFill>
                <a:latin typeface="Calibri" pitchFamily="34" charset="0"/>
                <a:ea typeface="Calibri" pitchFamily="34" charset="-122"/>
                <a:cs typeface="Calibri" pitchFamily="34" charset="-120"/>
              </a:rPr>
              <a:t> → Lecture 15</a:t>
            </a:r>
            <a:endParaRPr lang="en-US" sz="1100" dirty="0"/>
          </a:p>
        </p:txBody>
      </p:sp>
      <p:sp>
        <p:nvSpPr>
          <p:cNvPr id="35" name="Shape 32"/>
          <p:cNvSpPr/>
          <p:nvPr/>
        </p:nvSpPr>
        <p:spPr>
          <a:xfrm>
            <a:off x="3489909" y="91440"/>
            <a:ext cx="3486658" cy="274320"/>
          </a:xfrm>
          <a:prstGeom prst="rect">
            <a:avLst/>
          </a:prstGeom>
          <a:solidFill>
            <a:srgbClr val="E0F2FE"/>
          </a:solidFill>
          <a:ln w="12700">
            <a:solidFill>
              <a:srgbClr val="0369A1"/>
            </a:solidFill>
            <a:prstDash val="solid"/>
          </a:ln>
        </p:spPr>
      </p:sp>
      <p:sp>
        <p:nvSpPr>
          <p:cNvPr id="36" name="Shape 33"/>
          <p:cNvSpPr/>
          <p:nvPr/>
        </p:nvSpPr>
        <p:spPr>
          <a:xfrm>
            <a:off x="3489909" y="91440"/>
            <a:ext cx="73152" cy="274320"/>
          </a:xfrm>
          <a:prstGeom prst="rect">
            <a:avLst/>
          </a:prstGeom>
          <a:solidFill>
            <a:srgbClr val="0369A1"/>
          </a:solidFill>
          <a:ln w="12700">
            <a:solidFill>
              <a:srgbClr val="0369A1"/>
            </a:solidFill>
            <a:prstDash val="solid"/>
          </a:ln>
        </p:spPr>
      </p:sp>
      <p:pic>
        <p:nvPicPr>
          <p:cNvPr id="37" name="Image 1" descr="preencoded.png">    </p:cNvPr>
          <p:cNvPicPr>
            <a:picLocks noChangeAspect="1"/>
          </p:cNvPicPr>
          <p:nvPr/>
        </p:nvPicPr>
        <p:blipFill>
          <a:blip r:embed="rId2"/>
          <a:stretch>
            <a:fillRect/>
          </a:stretch>
        </p:blipFill>
        <p:spPr>
          <a:xfrm>
            <a:off x="3617925" y="128016"/>
            <a:ext cx="201168" cy="201168"/>
          </a:xfrm>
          <a:prstGeom prst="rect">
            <a:avLst/>
          </a:prstGeom>
        </p:spPr>
      </p:pic>
      <p:sp>
        <p:nvSpPr>
          <p:cNvPr id="38" name="Text 34"/>
          <p:cNvSpPr txBox="1"/>
          <p:nvPr/>
        </p:nvSpPr>
        <p:spPr>
          <a:xfrm>
            <a:off x="3873957"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 as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does a common bus need three-state buffers?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make transfers faster</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 that only the enabled source drives the lines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store the datum on the bus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convert serial data to parallel</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clock pulses does a serial transfer of a 32-bit word need?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A memory has 10 address lines and 8 data lines. How many bits does it store?</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80</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1,024</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8,192</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10,240</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86929"/>
                <a:gridCol w="2686929"/>
                <a:gridCol w="2860279"/>
                <a:gridCol w="286027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word gate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porta di parola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three-state (tri-state)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tre stati (tristate)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 impedance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alta impedenza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shift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a scorrimento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dedicated / common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 dedicato / comune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serial / parallel transfer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trasferimento seriale / parallelo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load, strobe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caricamento, strobe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chip select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selezione del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Registers are an evolved form of memory with an elementary way of working</a:t>
            </a:r>
            <a:endParaRPr lang="en-US" sz="2200" dirty="0"/>
          </a:p>
        </p:txBody>
      </p:sp>
      <p:sp>
        <p:nvSpPr>
          <p:cNvPr id="5" name="Shape 3"/>
          <p:cNvSpPr/>
          <p:nvPr/>
        </p:nvSpPr>
        <p:spPr>
          <a:xfrm>
            <a:off x="548640" y="200345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89702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 and writing registers happens through buses of different kinds</a:t>
            </a:r>
            <a:endParaRPr lang="en-US" sz="2200" dirty="0"/>
          </a:p>
        </p:txBody>
      </p:sp>
      <p:sp>
        <p:nvSpPr>
          <p:cNvPr id="7" name="Shape 5"/>
          <p:cNvSpPr/>
          <p:nvPr/>
        </p:nvSpPr>
        <p:spPr>
          <a:xfrm>
            <a:off x="548640" y="24831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376729"/>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For a common bus to work, three-state circuits are needed: 0, 1, and disconnected</a:t>
            </a:r>
            <a:endParaRPr lang="en-US" sz="2200" dirty="0"/>
          </a:p>
        </p:txBody>
      </p:sp>
      <p:sp>
        <p:nvSpPr>
          <p:cNvPr id="9" name="Shape 7"/>
          <p:cNvSpPr/>
          <p:nvPr/>
        </p:nvSpPr>
        <p:spPr>
          <a:xfrm>
            <a:off x="548640" y="33037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197301"/>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Data can be transferred serially or in parallel; shift registers convert between the two</a:t>
            </a:r>
            <a:endParaRPr lang="en-US" sz="2200" dirty="0"/>
          </a:p>
        </p:txBody>
      </p:sp>
      <p:sp>
        <p:nvSpPr>
          <p:cNvPr id="11" name="Shape 9"/>
          <p:cNvSpPr/>
          <p:nvPr/>
        </p:nvSpPr>
        <p:spPr>
          <a:xfrm>
            <a:off x="548640" y="412430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1787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decoder in front of a group of registers makes a memory: the subject of the next lecture</a:t>
            </a:r>
            <a:endParaRPr lang="en-US" sz="2200" dirty="0"/>
          </a:p>
        </p:txBody>
      </p:sp>
      <p:sp>
        <p:nvSpPr>
          <p:cNvPr id="13" name="Shape 11"/>
          <p:cNvSpPr/>
          <p:nvPr/>
        </p:nvSpPr>
        <p:spPr>
          <a:xfrm>
            <a:off x="548640" y="4944872"/>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appendix A</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Bucci: Architettura dei calcolatori elettronici, chapters on registers and buses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PRG32 repository: docs/hardware/hardware.md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Elementary Machines: Registers and Buses</dc:title>
  <dc:subject>Lecture 14</dc:subject>
  <dc:creator>Raffaele Montella</dc:creator>
  <cp:lastModifiedBy>Raffaele Montella</cp:lastModifiedBy>
  <cp:revision>1</cp:revision>
  <dcterms:created xsi:type="dcterms:W3CDTF">2026-10-17T07:16:48Z</dcterms:created>
  <dcterms:modified xsi:type="dcterms:W3CDTF">2026-10-17T07:16:48Z</dcterms:modified>
</cp:coreProperties>
</file>