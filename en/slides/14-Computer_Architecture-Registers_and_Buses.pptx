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89b8e42-17ab-8f2c-aa19-5453834bb103}">
          <p14:sldIdLst>
            <p14:sldId id="256"/>
            <p14:sldId id="257"/>
          </p14:sldIdLst>
        </p14:section>
        <p14:section name="Word gates and registers" id="{2bc7d202-6507-95f1-7c5b-180c4a5e072a}">
          <p14:sldIdLst>
            <p14:sldId id="258"/>
            <p14:sldId id="259"/>
          </p14:sldIdLst>
        </p14:section>
        <p14:section name="Buses" id="{ef21ac4f-3b87-2778-28ed-d99779695038}">
          <p14:sldIdLst>
            <p14:sldId id="260"/>
            <p14:sldId id="261"/>
            <p14:sldId id="262"/>
            <p14:sldId id="263"/>
          </p14:sldIdLst>
        </p14:section>
        <p14:section name="Three-state buffers" id="{bdd052f0-3f22-4272-afa7-2724ba191529}">
          <p14:sldIdLst>
            <p14:sldId id="264"/>
            <p14:sldId id="265"/>
            <p14:sldId id="266"/>
          </p14:sldIdLst>
        </p14:section>
        <p14:section name="Shift registers" id="{f803693f-c9db-7772-10cd-b1d7cf0477a2}">
          <p14:sldIdLst>
            <p14:sldId id="267"/>
            <p14:sldId id="268"/>
            <p14:sldId id="269"/>
            <p14:sldId id="270"/>
            <p14:sldId id="271"/>
          </p14:sldIdLst>
        </p14:section>
        <p14:section name="Back to the machine" id="{835ae4ec-1033-1482-7f26-5bee4143a138}">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built a register out of flip-flops. This one asks how registers talk to each other: how a word goes from one to another, along which wires, and what happens when many registers share the same wires. The answers are the bus, the three-state buffer and the shift register. Doc Brown's line on the cover is ironic here: data do need roads, and a bus is exactly that. The warm-up starts from a fact about the kit: its display receives every pixel one bit at a time.
For the lecturer: Spiral: the display of the PRG32 kit receives every pixel one bit at a time; the warm-up sends a byte serially in assembly, and the lecture builds the machines that do it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a register as a set of flip-flops with a common clock and a load signal. Explain what a bus is and compare dedicated buses with a common bus. Say why a common bus needs three-state buffers and what high impedance means. Describe a shift register and its four combinations of serial and parallel input and output. And convert a datum from parallel to serial and back, in hardware and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 vector of n bits. A word gate is n identical gates that share one control input: with the control at 1 the word passes unchanged, with the control at 0 every bit is forced to 0. It is the natural extension of a gate from one bit to a word. The bitwise instructions of RISC-V are word gates thirty-two bits wide, and the multiplexer on words of Lecture 11 is built from them.
For the lecturer: Porte di parola. The multiplexer on words of Lecture 11 is built from word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stores a group of bits: in its simplest form it is a group of flip-flops with a common clock. The classic example in one chip is the 74273, with eight D flip-flops, one clock and one clear. Loading a register means storing the datum present on its inputs, and it happens when the load signal is active, normally in step with the clock. Each of the registers x1 to x31 of RISC-V is thirty-two such flip-flops.
For the lecturer: Datasheet: ti.com/lit/ds/symlink/sn74ls273.pdf. The 7474 holds two D flip-flops with preset and clear. See Lecture 13 for the flip-flop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the set of lines that carries a datum between the components of a system. The word comes from the Latin omnibus, "for all". A bus of n lines carries a word of n bits in one step. The transfer from a register X to a register Y is the elementary action from which everything else is built: almost every instruction you have written is, underneath, a short sequence of register transfers.
For the lecturer: Almost every instruction of Lecture 02 is, at bottom, a sequence of register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registers. With dedicated buses each possible transfer has its own lines: several transfers can happen at once, but the wires grow with the square of the number of registers. With a common bus one path serves all the transfers: each time one source and one destination are chosen, and a transfer takes two steps, from the source to the bus and from the bus to the destination. It is cheap and widespread, at the price of doing one transfer at a time.
For the lecturer: Intermediate solutions exist: several buses, each shared by a group of registers. Real processors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transfer can be parallel, with the n bits travelling together on n lines in one step, or serial, with the bits travelling one after another on a single line in n steps, or a mixture, for example one byte at a time. Remember the last line: inside a chip buses are parallel; between chips and between machines they are today almost always serial, because at very high speed it is easier to keep one line clean than thirty-two lines in step.
For the lecturer: USB, SATA, PCI Express, HDMI and Ethernet are all serial: at very high speeds it is easier to keep one fast line clean than to keep thirty-two lines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a transfer on a common bus. On the left, from the bus to a register: the datum on the bus is loaded into R when the load signal is active. On the right, from a register to the bus: the outputs of R reach the bus through a buffer, and only while the enable signal is active. The question at the bottom leads to the next section: when the enable is not active, what must the output of the buffer be, so as not to disturb the bus?
For the lecturer: Trasferimento dati su bus unico: caricamento di un registro (da bus a registro) and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three-state output has a third condition besides 0 and 1: high impedance, written z, in which the output is electrically disconnected from the wire. An enable input decides: when it is 1 the gate works normally, when it is 0 the output is z. The table shows it for an AND with enable: four rows of an ordinary AND, and a last row in which the output floats whatever the inputs. Electrically, both transistors of the output stage are switched off.
For the lecturer: AND tristate; segnale di abilitazione in logica 1-attiva. Electrically, both output transistors are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to a whole word, a three-state gate lets a bus through or disconnects it: when the enable is active the output bus reproduces the input bus; otherwise all its lines are at high impedance. The pins of the chip of the kit work in this way: each can be configured as an output, which drives the wire, or released and used as an input. The joystick pins are inputs; the display pins are outputs.
For the lecturer: Tristate di parola. On the kit, the joystick pins are configured as inputs (their output buffers in high impedance) and the display pins as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scheme of a common bus. Each source register reaches the bus through a three-state buffer with its own enable. The rule is strict: at most one enable is active at a time, so that one source drives the bus and all the others are disconnected. On the other side every destination register is connected to the bus, and only the one whose load signal is active takes the datum. Choosing the source and the destination is the job of decoders driven by the control unit.
For the lecturer: Collegamento di bus: OR di bus; trasferimento verso registri-destinazione. Inside modern chips long shared lines are usually replaced by multiplexers, which do the same selection without high-impedance states; between chips, three-state buses are still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register is a chain of one-bit cells in which, at every clock pulse, each bit moves to the adjacent cell. Each cell is a D flip-flop whose input is the output of its neighbour. The edge-triggered behaviour of the flip-flop is essential: with transparent latches a bit would run through the whole chain during a single clock pulse. The shift can be in a fixed direction or in a direction chosen by a control line.
For the lecturer: Registri a scorrimento. Edge-triggered flip-flops are essential here: with transparent latches a bit would run through the whole chain in one clock pulse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chain of flip-flops gives four machines, according to where the data enter and leave. Serial in, serial out: a delay line. Serial in, parallel out: it collects bits arriving one at a time and presents the whole word. Parallel in, serial out: it takes a word and sends it out bit by bit. Parallel in, parallel out, with no shifting, is the ordinary register. The second and the third are the two ends of every serial connection.
For the lecturer: SISO, SIPO, PISO and PIPO. The clock line is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moving a word between registers. In a serial transfer the serial output of one shift register feeds the serial input of another: n clock pulses, one wire. In a parallel transfer the outputs of one register feed the inputs of another: one clock pulse, n wires. The phrase on the right is the trade-off of the whole lecture: moving a word of n bits costs either time or copper.
For the lecturer: Trasferimento seriale (serial input, serial output) and trasferimento parallelo (parallel input, parallel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serial connection in five steps: the datum is loaded in parallel into a shift register; it is shifted out, one bit per step; the bits travel on a single line; at the other end a second shift register collects them, one per step; and the rebuilt word is passed on in parallel. This is the hardware of the warm-up, and it is how the display of the kit receives every pixel. Every serial standard, from the old serial port to USB, rests on a pair of shift registers.
For the lecturer: Trasformazione serie-parallelo di un dato. UART, SPI, I2C, I2S and USB all rest on a pair of shift registers, one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registers of three bits and a decoder make a small memory. Two address lines choose, through the decoder, one of the four registers; three lines carry the data in and three carry them out. Three control lines complete it: chip select, so that the memory responds only when selected; a line that says read or write; and output enable, which controls three-state outputs so that several memories can share one bus. Nothing here is new: decoder, registers, three-state buffers. The next lecture scales it up.
For the lecturer: Memoria 4 (registri) x 3 (bit): eight inputs (I0-I2, A0-A1, CS, RD, OE) and three outputs. The next lecture scales this up to the main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two outputs connected to the same wire, one at 0 and one at 1. A three-state buffer has nothing to do with speed, with storing or with conversion: it disconnects the sources that are not chosen.
One bit per clock pulse. The alternative, a parallel transfer, would take one pulse and thirty-two wires.
For the lecturer: 1. Answer: B. Several sources share the same lines; all but one must be electrically disconnected (high impedance), otherwise two outputs would fight over the wire.
2. Answer: C. One bit per pulse: n pulses for n bits. A parallel transfer needs one pulse and n wires.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address lines select one word among 2 to the 10; each word has 8 bits. Multiply the two numbers. The first option multiplies the lines instead of using the power.
For the lecturer: Answer: C. 2^10 = 1,024 words of 8 bits: 8,192 bits, that is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Three-state, or tri-state, is a tre stati; high impedance is alta impedenza. A shift register is a registro a scorrimento. Load and strobe indicate the signal that makes a register take its input. Chip select is the line that chooses which device on a shared bus must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register is a form of memory with an elementary way of working. Registers are read and written through buses. A common bus needs three-state circuits: 0, 1 and disconnected. Data travel serially or in parallel, and shift registers convert between the two. And a decoder in front of a group of registers makes a memory, which is the subject of the next lecture.
For the lecturer: Next lecture: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Word gates, registers, buses, three-state buffers, serial and parallel transfers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“Roads? Where we're going, we don't need roads.”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Back to the Future,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register as a set of flip-flops with a common clock, and explain its load signal</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bus is, and compare dedicated buses with a common bus</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a common bus needs three-state buffers, and what high impedance means</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shift register and its four combinations of serial and parallel input and output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a datum from parallel to serial and back, in hardware and in RISC-V assembly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 gates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is a vector V of n bits: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gate acts on all the bits of a word at once</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a control signal a, the word gate computes a AND v(i) for every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the word passes unchanged; a = 0: every bit is forced to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n identical gates sharing one control input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bitwise instructions and, or, xor of RISC-V are word gates thirty-two bits wide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gates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gate per bit, one control signal for all: the building block of every datapath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is a device able to store a group of bits</a:t>
            </a:r>
            <a:endParaRPr lang="en-US" sz="2100" dirty="0"/>
          </a:p>
        </p:txBody>
      </p:sp>
      <p:sp>
        <p:nvSpPr>
          <p:cNvPr id="5" name="Shape 3"/>
          <p:cNvSpPr/>
          <p:nvPr/>
        </p:nvSpPr>
        <p:spPr>
          <a:xfrm>
            <a:off x="548640" y="23120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34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its simplest form: a group of flip-flops and a common synchronisation signal, a clock or an enable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Example: the 74273, an 8-bit register in one chip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eight D flip-flops; one clock and one clear; inputs D0 to D7, outputs Q0 to Q7</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Loading a register: the datum on its inputs is stored when the load signal is active, typically in step with the clock</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RISC-V each of the registers x1 to x31 is thirty-two such flip-flops</a:t>
            </a:r>
            <a:endParaRPr lang="en-US" sz="21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1978890"/>
            <a:ext cx="3779215" cy="317454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SN74LS273: eight D flip-flops with a common clock</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Data transfers and the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communication channel that lets the components of an electronic system exchange data by transmitting and receiving signals: the set of lines that carries a datum.</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transfer from a register X to a register Y is the fundamental operation of a computer's architecture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name is a contraction of the Latin omnibus: for all</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bus of n lines carries a word of n bits in one step</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technical solutions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Dedicated buses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One set of lines for each possible transfer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transfers can happen at the same time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Efficient but expensive: the wires grow with the square of the number of registers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Common bus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path collects many potential transfers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time, one source and one destination are chosen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transfer takes two steps: source to bus, bus to destination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Cheap and widespread; less efficient, because transfers cannot be simultaneous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Parallel, serial and mixed transfers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 the n bits of the word travel together on n lines, in one step</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 the bits travel one after another on a single line, in n steps</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Mixed: for example, serial on the byte: eight lines carry one byte at a time</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Accessing a bus means reading from it or writing to it; buses come in very different physical sizes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Inside a chip buses are parallel; between chips and between machines they are today almost always serial</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2230837"/>
            <a:ext cx="3779215" cy="267064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Bus lines on a printed circuit board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bus to register, and from register to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bus to register: the datum is loaded into R when the load signal c is active (a strobe, usually in step with the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register to bus: the outputs of R reach the bus only while the enable signal c is active. What happens to the bus when it is not?</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three-state gate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If two registers drove the same wire, one with 0 and one with 1, the result would be a short circuit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three-state output has a third condition besides 0 and 1: high impedance, written z</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high impedance the output is electrically disconnected: it neither drives nor loads the wire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enable signal a decides: a = 1 the gate works normally, a = 0 the output is z</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the most widespread technique for connecting several source registers to a common bus</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A three-state AND with an active-high enable: with a = 1 it is an ordinary AND; with a = 0 its output floats.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Enabling a bus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three-state word gate between an enable signal a and a bus X gives a bus Y</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 reproduces X if a is active; otherwise all its lines are at high impedance: Y takes the neutral value</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We say that Y is sustained by a three-state buffer</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GPIO pins of the ESP32-C6 work this way: each pin can be an output, or be released and used as an input</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three states: low, high and disconnected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buses: the bus OR</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common bus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destination</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registers</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Several source registers are connected to one bus simply by joining their outputs, each through a three-state buffer</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condition: of the n sources that flow into the bus, at most one is enabled at a time. One active signal, the other n - 1 neutral</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 the destination side, every register is connected to the bus and only the one whose load signal is active takes the datum</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Choosing the source and the destination is the job of decoders, driven by the control unit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 registers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A chain of one-bit memory cells connected to each other: at every clock pulse each bit moves from one cell to the adjacent one.</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shift can go in one fixed direction, or in a direction chosen by a control line (bidirectional registers)</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make reading and writing data in a system easier: they turn parallel data into serial data and back</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Each cell is a D flip-flop whose input is the output of its neighbour</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kinds of shift register</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serial out</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parallel out</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serial out</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parallel out</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chain of flip-flops, with a common clock c; what changes is where the data enter and where they leave. Parallel in and parallel out with no shifting is the ordinary register.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Transfers between registers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Serial transfer: the serial output of one shift register feeds the serial input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clock pulses move a word of n bits; one wire is enough</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Parallel transfer: the parallel outputs of one register feed the parallel inputs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clock pulse moves the whole word; n wires are needed</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Time against wires: the same trade-off as dedicated against common buses</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n pulses or n wires</a:t>
            </a:r>
            <a:endParaRPr lang="en-US" sz="48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moving a word of n bits costs either time or copper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Serial to parallel and back</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Load</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datum of n bits is placed in parallel in the register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out</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is a shift register: the n bits leave one after another, in n successive steps</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Travel</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 single line carries them to the equipment downstream</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in</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another register is loaded serially in n steps, rebuilding the datum bit by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rebuilt datum is passed on in parallel</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This is the hardware of the warm-up. The display of the kit receives each pixel this way over SPI; the keyboard of Lecture 21 sends each key code this way.</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Registers with an address: a first memory</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2-to-4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0  (3 bits)</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1  (3 bits)</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2  (3 bits)</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3  (3 bits)</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 CS, RD, OE</a:t>
            </a:r>
            <a:endParaRPr lang="en-US" sz="1350" dirty="0"/>
          </a:p>
        </p:txBody>
      </p:sp>
      <p:sp>
        <p:nvSpPr>
          <p:cNvPr id="19" name="Shape 17"/>
          <p:cNvSpPr/>
          <p:nvPr/>
        </p:nvSpPr>
        <p:spPr>
          <a:xfrm>
            <a:off x="6675120" y="1500505"/>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Four registers of three bits: a memory of 4 words by 3 bits</a:t>
            </a:r>
            <a:endParaRPr lang="en-US" sz="1900" dirty="0"/>
          </a:p>
        </p:txBody>
      </p:sp>
      <p:sp>
        <p:nvSpPr>
          <p:cNvPr id="21" name="Shape 19"/>
          <p:cNvSpPr/>
          <p:nvPr/>
        </p:nvSpPr>
        <p:spPr>
          <a:xfrm>
            <a:off x="6675120" y="2278317"/>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95132"/>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address lines, A1 and A0, go to a decoder that selects one register</a:t>
            </a:r>
            <a:endParaRPr lang="en-US" sz="1900" dirty="0"/>
          </a:p>
        </p:txBody>
      </p:sp>
      <p:sp>
        <p:nvSpPr>
          <p:cNvPr id="23" name="Shape 21"/>
          <p:cNvSpPr/>
          <p:nvPr/>
        </p:nvSpPr>
        <p:spPr>
          <a:xfrm>
            <a:off x="6675120" y="3056128"/>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2972943"/>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data inputs and three data outputs, shared by all the registers</a:t>
            </a:r>
            <a:endParaRPr lang="en-US" sz="1900" dirty="0"/>
          </a:p>
        </p:txBody>
      </p:sp>
      <p:sp>
        <p:nvSpPr>
          <p:cNvPr id="25" name="Shape 23"/>
          <p:cNvSpPr/>
          <p:nvPr/>
        </p:nvSpPr>
        <p:spPr>
          <a:xfrm>
            <a:off x="6675120" y="3833940"/>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750755"/>
            <a:ext cx="4583887" cy="164363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control lines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CS, chip select: the memory responds only when selected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RD, read or write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OE, output enable: three-state outputs, so that several memories can share one bus</a:t>
            </a:r>
            <a:endParaRPr lang="en-US" sz="1900" dirty="0"/>
          </a:p>
        </p:txBody>
      </p:sp>
      <p:sp>
        <p:nvSpPr>
          <p:cNvPr id="27" name="Shape 25"/>
          <p:cNvSpPr/>
          <p:nvPr/>
        </p:nvSpPr>
        <p:spPr>
          <a:xfrm>
            <a:off x="6675120" y="5666613"/>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583428"/>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Everything in it comes from Lectures 11, 13 and this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common bus need three-state buffers?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transfers faster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only the enabled source drives the lines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store the datum on the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convert serial data to parallel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clock pulses does a serial transfer of a 32-bit word need?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memory has 10 address lines and 8 data lines. How many bits does it store?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Registers are an evolved form of memory with an elementary way of working</a:t>
            </a:r>
            <a:endParaRPr lang="en-US" sz="2200" dirty="0"/>
          </a:p>
        </p:txBody>
      </p:sp>
      <p:sp>
        <p:nvSpPr>
          <p:cNvPr id="5" name="Shape 3"/>
          <p:cNvSpPr/>
          <p:nvPr/>
        </p:nvSpPr>
        <p:spPr>
          <a:xfrm>
            <a:off x="548640" y="20034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97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 and writing registers happens through buses of different kinds</a:t>
            </a:r>
            <a:endParaRPr lang="en-US" sz="2200" dirty="0"/>
          </a:p>
        </p:txBody>
      </p:sp>
      <p:sp>
        <p:nvSpPr>
          <p:cNvPr id="7" name="Shape 5"/>
          <p:cNvSpPr/>
          <p:nvPr/>
        </p:nvSpPr>
        <p:spPr>
          <a:xfrm>
            <a:off x="548640" y="24831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7672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a common bus to work, three-state circuits are needed: 0, 1, and disconnected</a:t>
            </a:r>
            <a:endParaRPr lang="en-US" sz="2200" dirty="0"/>
          </a:p>
        </p:txBody>
      </p:sp>
      <p:sp>
        <p:nvSpPr>
          <p:cNvPr id="9" name="Shape 7"/>
          <p:cNvSpPr/>
          <p:nvPr/>
        </p:nvSpPr>
        <p:spPr>
          <a:xfrm>
            <a:off x="548640" y="33037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197301"/>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Data can be transferred serially or in parallel; shift registers convert between the two</a:t>
            </a:r>
            <a:endParaRPr lang="en-US" sz="2200" dirty="0"/>
          </a:p>
        </p:txBody>
      </p:sp>
      <p:sp>
        <p:nvSpPr>
          <p:cNvPr id="11" name="Shape 9"/>
          <p:cNvSpPr/>
          <p:nvPr/>
        </p:nvSpPr>
        <p:spPr>
          <a:xfrm>
            <a:off x="548640" y="412430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1787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decoder in front of a group of registers makes a memory: the subject of the next lecture</a:t>
            </a:r>
            <a:endParaRPr lang="en-US" sz="2200" dirty="0"/>
          </a:p>
        </p:txBody>
      </p:sp>
      <p:sp>
        <p:nvSpPr>
          <p:cNvPr id="13" name="Shape 11"/>
          <p:cNvSpPr/>
          <p:nvPr/>
        </p:nvSpPr>
        <p:spPr>
          <a:xfrm>
            <a:off x="548640" y="49448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Bucci: Architettura dei calcolatori elettronici, chapters on registers and buses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docs/hardware/hardware.md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dc:title>
  <dc:subject>Lecture 14</dc:subject>
  <dc:creator>Raffaele Montella</dc:creator>
  <cp:lastModifiedBy>Raffaele Montella</cp:lastModifiedBy>
  <cp:revision>1</cp:revision>
  <dcterms:created xsi:type="dcterms:W3CDTF">2026-10-13T08:56:24Z</dcterms:created>
  <dcterms:modified xsi:type="dcterms:W3CDTF">2026-10-13T08:56:24Z</dcterms:modified>
</cp:coreProperties>
</file>