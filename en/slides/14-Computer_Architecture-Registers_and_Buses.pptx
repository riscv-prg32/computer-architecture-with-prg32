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160f396-63e2-a941-cc77-091dc12fc2ab}">
          <p14:sldIdLst>
            <p14:sldId id="256"/>
            <p14:sldId id="257"/>
          </p14:sldIdLst>
        </p14:section>
        <p14:section name="Warm-up on the machine" id="{faa0c1cf-96da-cb6e-dd93-8aa73ac8a9e9}">
          <p14:sldIdLst>
            <p14:sldId id="258"/>
            <p14:sldId id="259"/>
          </p14:sldIdLst>
        </p14:section>
        <p14:section name="Word gates and registers" id="{fa8e7be3-74ad-47e9-7258-45bb2dc60344}">
          <p14:sldIdLst>
            <p14:sldId id="260"/>
            <p14:sldId id="261"/>
            <p14:sldId id="262"/>
          </p14:sldIdLst>
        </p14:section>
        <p14:section name="Buses" id="{6a5eb178-f18d-7c6d-b514-b5e28d3cf2d0}">
          <p14:sldIdLst>
            <p14:sldId id="263"/>
            <p14:sldId id="264"/>
            <p14:sldId id="265"/>
            <p14:sldId id="266"/>
            <p14:sldId id="267"/>
          </p14:sldIdLst>
        </p14:section>
        <p14:section name="Three-state buffers" id="{00dd5bb8-27a9-4414-6524-e2c006cda73c}">
          <p14:sldIdLst>
            <p14:sldId id="268"/>
            <p14:sldId id="269"/>
            <p14:sldId id="270"/>
            <p14:sldId id="271"/>
          </p14:sldIdLst>
        </p14:section>
        <p14:section name="Shift registers" id="{ae544e5c-53fd-1884-a10d-c39120e58138}">
          <p14:sldIdLst>
            <p14:sldId id="272"/>
            <p14:sldId id="273"/>
            <p14:sldId id="274"/>
            <p14:sldId id="275"/>
            <p14:sldId id="276"/>
            <p14:sldId id="277"/>
          </p14:sldIdLst>
        </p14:section>
        <p14:section name="Back to the machine" id="{c1bca9ab-71e0-33c9-efac-a7401cd5488c}">
          <p14:sldIdLst>
            <p14:sldId id="278"/>
            <p14:sldId id="279"/>
            <p14:sldId id="280"/>
            <p14:sldId id="281"/>
            <p14:sldId id="282"/>
            <p14:sldId id="283"/>
            <p14:sldId id="284"/>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previous lecture built a register out of flip-flops. This one asks how registers talk to each other: how a word goes from one to another, along which wires, and what happens when many registers share the same wires. The answers are the bus, the three-state buffer and the shift register. Doc Brown's line on the cover is ironic here: data do need roads, and a bus is exactly that. The warm-up starts from a fact about the kit: its display receives every pixel one bit at a time.
For the lecturer: Spiral: the display of the PRG32 kit receives every pixel one bit at a time; the warm-up sends a byte serially in assembly, and the lecture builds the machines that do it in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Describe a register as a set of flip-flops with a common clock and a load signal. Explain what a bus is and compare dedicated buses with a common bus. Say why a common bus needs three-state buffers and what high impedance means. Describe a shift register and its four combinations of serial and parallel input and output. And convert a datum from parallel to serial and back, in hardware and in assembly.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warm-up asks how to send eight bits along a single wire. Before reading the code, think of how you would dictate a number to someone over the phone, one digit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sends a byte one bit at a time, most significant bit first. At each turn the byte is shifted right by 7 and masked with 1, which isolates its top bit; that bit would be put on a data line and a clock line pulsed; then the byte is shifted left by one, so that the next bit moves into the top position. After eight turns the whole byte has gone. The loop is a shift register in software. The chip of the kit contains hardware that does the same thing, millions of times per second.
For the lecturer: Written for this lecture. On the kit the display uses SPI and the amplifier I2S: both are serial buses driven by shift registers inside the chip. The two elided lines would write to memory-mapped GPIO registers (Lecture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building blocks at the scale of a word: the word gate, which acts on all the bits together, and the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word is a vector of n bits. A word gate is n identical gates that share one control input: with the control at 1 the word passes unchanged, with the control at 0 every bit is forced to 0. It is the natural extension of a gate from one bit to a word. The bitwise instructions of RISC-V are word gates thirty-two bits wide, and the multiplexer on words of Lecture 11 is built from them.
For the lecturer: Porte di parola. The multiplexer on words of Lecture 11 is built from word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register stores a group of bits: in its simplest form it is a group of flip-flops with a common clock. The classic example in one chip is the 74273, with eight D flip-flops, one clock and one clear. Loading a register means storing the datum present on its inputs, and it happens when the load signal is active, normally in step with the clock. Each of the registers x1 to x31 of RISC-V is thirty-two such flip-flops.
For the lecturer: Datasheet: ti.com/lit/ds/symlink/sn74ls273.pdf. The 7474 holds two D flip-flops with preset and clear. See Lecture 13 for the flip-flop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register by itself is of little use: its content must come from somewhere and go somewhere. The transfer between registers is the fundamental operation of a computer, and the paths along which it happens are the buses.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bus is the set of lines that carries a datum between the components of a system. The word comes from the Latin omnibus, "for all". A bus of n lines carries a word of n bits in one step. The transfer from a register X to a register Y is the elementary action from which everything else is built: almost every instruction you have written is, underneath, a short sequence of register transfers.
For the lecturer: Almost every instruction of Lecture 02 is, at bottom, a sequence of register transfers.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of connecting registers. With dedicated buses each possible transfer has its own lines: several transfers can happen at once, but the wires grow with the square of the number of registers. With a common bus one path serves all the transfers: each time one source and one destination are chosen, and a transfer takes two steps, from the source to the bus and from the bus to the destination. It is cheap and widespread, at the price of doing one transfer at a time.
For the lecturer: Intermediate solutions exist: several buses, each shared by a group of registers. Real processors use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transfer can be parallel, with the n bits travelling together on n lines in one step, or serial, with the bits travelling one after another on a single line in n steps, or a mixture, for example one byte at a time. Remember the last line: inside a chip buses are parallel; between chips and between machines they are today almost always serial, because at very high speed it is easier to keep one line clean than thirty-two lines in step.
For the lecturer: USB, SATA, PCI Express, HDMI and Ethernet are all serial: at very high speeds it is easier to keep one fast line clean than to keep thirty-two lines in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halves of a transfer on a common bus. On the left, from the bus to a register: the datum on the bus is loaded into R when the load signal is active. On the right, from a register to the bus: the outputs of R reach the bus through a buffer, and only while the enable signal is active. The question at the bottom leads to the next section: when the enable is not active, what must the output of the buffer be, so as not to disturb the bus?
For the lecturer: Trasferimento dati su bus unico: caricamento di un registro (da bus a registro) and trasferimento da registro a 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several registers are connected to the same wire, all but one must stay out of the way. An ordinary gate cannot do it: its output is always either 0 or 1. A third possibility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three-state output has a third condition besides 0 and 1: high impedance, written z, in which the output is electrically disconnected from the wire. An enable input decides: when it is 1 the gate works normally, when it is 0 the output is z. The table shows it for an AND with enable: four rows of an ordinary AND, and a last row in which the output floats whatever the inputs. Electrically, both transistors of the output stage are switched off.
For the lecturer: AND tristate; segnale di abilitazione in logica 1-attiva. Electrically, both output transistors are switched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Applied to a whole word, a three-state gate lets a bus through or disconnects it: when the enable is active the output bus reproduces the input bus; otherwise all its lines are at high impedance. The pins of the chip of the kit work in this way: each can be configured as an output, which drives the wire, or released and used as an input. The joystick pins are inputs; the display pins are outputs.
For the lecturer: Tristate di parola. On the kit, the joystick pins are configured as inputs (their output buffers in high impedance) and the display pins as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complete scheme of a common bus. Each source register reaches the bus through a three-state buffer with its own enable. The rule is strict: at most one enable is active at a time, so that one source drives the bus and all the others are disconnected. On the other side every destination register is connected to the bus, and only the one whose load signal is active takes the datum. Choosing the source and the destination is the job of decoders driven by the control unit.
For the lecturer: Collegamento di bus: OR di bus; trasferimento verso registri-destinazione. Inside modern chips long shared lines are usually replaced by multiplexers, which do the same selection without high-impedance states; between chips, three-state buses are still the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machine of the lecture is a register whose bits move: it is what turns a parallel word into a serial stream and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shift register is a chain of one-bit cells in which, at every clock pulse, each bit moves to the adjacent cell. Each cell is a D flip-flop whose input is the output of its neighbour. The edge-triggered behaviour of the flip-flop is essential: with transparent latches a bit would run through the whole chain during a single clock pulse. The shift can be in a fixed direction or in a direction chosen by a control line.
For the lecturer: Registri a scorrimento. Edge-triggered flip-flops are essential here: with transparent latches a bit would run through the whole chain in one clock pulse (Lecture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chain of flip-flops gives four machines, according to where the data enter and leave. Serial in, serial out: a delay line. Serial in, parallel out: it collects bits arriving one at a time and presents the whole word. Parallel in, serial out: it takes a word and sends it out bit by bit. Parallel in, parallel out, with no shifting, is the ordinary register. The second and the third are the two ends of every serial connection.
For the lecturer: SISO, SIPO, PISO and PIPO. The clock line is not drawn.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of moving a word between registers. In a serial transfer the serial output of one shift register feeds the serial input of another: n clock pulses, one wire. In a parallel transfer the outputs of one register feed the inputs of another: one clock pulse, n wires. The phrase on the right is the trade-off of the whole lecture: moving a word of n bits costs either time or copper.
For the lecturer: Trasferimento seriale (serial input, serial output) and trasferimento parallelo (parallel input, parallel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complete serial connection in five steps: the datum is loaded in parallel into a shift register; it is shifted out, one bit per step; the bits travel on a single line; at the other end a second shift register collects them, one per step; and the rebuilt word is passed on in parallel. This is the hardware of the warm-up, and it is how the display of the kit receives every pixel. Every serial standard, from the old serial port to USB, rests on a pair of shift registers.
For the lecturer: Trasformazione serie-parallelo di un dato. UART, SPI, I2C, I2S and USB all rest on a pair of shift registers, one at each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registers of three bits and a decoder make a small memory. Two address lines choose, through the decoder, one of the four registers; three lines carry the data in and three carry them out. Three control lines complete it: chip select, so that the memory responds only when selected; a line that says read or write; and output enable, which controls three-state outputs so that several memories can share one bus. Nothing here is new: decoder, registers, three-state buffers. The next lecture scales it up.
For the lecturer: Memoria 4 (registri) x 3 (bit): eight inputs (I0-I2, A0-A1, CS, RD, OE) and three outputs. The next lecture scales this up to the main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are these machines on the kit and in the instructions you write? Two slides: the buses of the kit, and the shift instructions of RISC-V.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buses of the kit. Inside the chip the bus is parallel. The display is connected by SPI, a serial bus with a clock, a data line, a chip select and a line that distinguishes data from commands: every pixel of every frame travels on it bit by bit. The amplifier is connected by I2S, another serial bus, which carries 22,050 audio samples per second. The buttons use one wire each: a decoded representation. USB, serial as well, carries the firmware and the debug console.
For the lecturer: From the hardware description of the PRG32 repository (docs/hardware). Chip select is the CS of the small memory on the previous slide: several devices can share the same serial bus because only the selected one listens.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shift instructions move all the bits of a register in a single step: slli and srli fill with zeros, srai with copies of the sign bit; sll, srl and sra take the number of positions from a register. In hardware this is not a chain of flip-flops, which would need one clock pulse per position, but a barrel shifter, a combinational network of layers of multiplexers, and it is one of the units of the ALU. The code on the right shows the two conversions between parallel and serial.
For the lecturer: A true shift register needs n clock pulses for n positions; the barrel shifter of the ALU is combinational and does it within one clock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two outputs connected to the same wire, one at 0 and one at 1. A three-state buffer has nothing to do with speed, with storing or with conversion: it disconnects the sources that are not chosen.
For the lecturer: Answer: B. Several sources share the same lines; all but one must be electrically disconnected (high impedance), otherwise two outputs would fight over the wire.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bit per clock pulse. The alternative, a parallel transfer, would take one pulse and thirty-two wires.
For the lecturer: Answer: C. One bit per pulse: n pulses for n bits. A parallel transfer needs one pulse and n wires.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address lines select one word among 2 to the 10; each word has 8 bits. Multiply the two numbers. The first option multiplies the lines instead of using the power.
For the lecturer: Answer: C. 2^10 = 1,024 words of 8 bits: 8,192 bits, that is 1 KiB.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Draw a 4-bit serial-in, parallel-out shift register and follow its content over four clock pulses. Write the enable and load signals that copy one register into another on a common bus. Complete the warm-up with the receiving loop. On PRG32, show a byte as eight lamps and shift it every half second. Finally make the bit that leaves on one side come back on the other: a rotation, also called a ring counter.
For the lecturer: Exercise 3: slli a1, a1, 1 then or with the received bit, eight times. Exercise 5: srli t1, a0, 7; andi t1, t1, 1; slli a0, a0, 1; or a0, a0, t1; andi a0, a0, 255.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terms. Three-state, or tri-state, is a tre stati; high impedance is alta impedenza. A shift register is a registro a scorrimento. Load and strobe indicate the signal that makes a register take its input. Chip select is the line that chooses which device on a shared bus must respond.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conclusions. A register is a form of memory with an elementary way of working. Registers are read and written through buses. A common bus needs three-state circuits: 0, 1 and disconnected. Data travel serially or in parallel, and shift registers convert between the two. And a decoder in front of a group of registers makes a memory, which is the subject of the next lecture.
For the lecturer: Next lecture: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14: Registers and buses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14</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Elementary Machines: Registers and Buses</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900" dirty="0">
                <a:solidFill>
                  <a:srgbClr val="CFE3EA"/>
                </a:solidFill>
                <a:latin typeface="Calibri" pitchFamily="34" charset="0"/>
                <a:ea typeface="Calibri" pitchFamily="34" charset="-122"/>
                <a:cs typeface="Calibri" pitchFamily="34" charset="-120"/>
              </a:rPr>
              <a:t>Word gates, registers, buses, three-state buffers, serial and parallel transfers</a:t>
            </a:r>
            <a:endParaRPr lang="en-US" sz="19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“Roads? Where we're going, we don't need roads.”</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Dr. Emmett Brown, Back to the Future, Robert Zemeckis, 1985</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menu_main.png">    </p:cNvPr>
          <p:cNvPicPr>
            <a:picLocks noChangeAspect="1"/>
          </p:cNvPicPr>
          <p:nvPr/>
        </p:nvPicPr>
        <p:blipFill>
          <a:blip r:embed="rId1"/>
          <a:stretch>
            <a:fillRect/>
          </a:stretch>
        </p:blipFill>
        <p:spPr>
          <a:xfrm>
            <a:off x="8915095" y="4251960"/>
            <a:ext cx="2438400" cy="1828800"/>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you will be able to do by the end</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Describe a register as a set of flip-flops with a common clock, and explain its load signal</a:t>
            </a:r>
            <a:endParaRPr lang="en-US" sz="2200" dirty="0"/>
          </a:p>
        </p:txBody>
      </p:sp>
      <p:sp>
        <p:nvSpPr>
          <p:cNvPr id="5" name="Text 3"/>
          <p:cNvSpPr txBox="1"/>
          <p:nvPr/>
        </p:nvSpPr>
        <p:spPr>
          <a:xfrm>
            <a:off x="548640" y="251460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49631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Explain what a bus is, and compare dedicated buses with a common bus</a:t>
            </a:r>
            <a:endParaRPr lang="en-US" sz="2200" dirty="0"/>
          </a:p>
        </p:txBody>
      </p:sp>
      <p:sp>
        <p:nvSpPr>
          <p:cNvPr id="7" name="Text 5"/>
          <p:cNvSpPr txBox="1"/>
          <p:nvPr/>
        </p:nvSpPr>
        <p:spPr>
          <a:xfrm>
            <a:off x="548640" y="33507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33248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Say why a common bus needs three-state buffers, and what high impedance means</a:t>
            </a:r>
            <a:endParaRPr lang="en-US" sz="2200" dirty="0"/>
          </a:p>
        </p:txBody>
      </p:sp>
      <p:sp>
        <p:nvSpPr>
          <p:cNvPr id="9" name="Text 7"/>
          <p:cNvSpPr txBox="1"/>
          <p:nvPr/>
        </p:nvSpPr>
        <p:spPr>
          <a:xfrm>
            <a:off x="548640" y="4429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411472"/>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Describe a shift register and its four combinations of serial and parallel input and output</a:t>
            </a:r>
            <a:endParaRPr lang="en-US" sz="2200" dirty="0"/>
          </a:p>
        </p:txBody>
      </p:sp>
      <p:sp>
        <p:nvSpPr>
          <p:cNvPr id="11" name="Text 9"/>
          <p:cNvSpPr txBox="1"/>
          <p:nvPr/>
        </p:nvSpPr>
        <p:spPr>
          <a:xfrm>
            <a:off x="548640" y="55087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9046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Convert a datum from parallel to serial and back, in hardware and in RISC-V assembly</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01</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Warm-up on the machine</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One wire, eight bits.</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Send a byte one bit at a time</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350" dirty="0">
                <a:solidFill>
                  <a:srgbClr val="8FB3A0"/>
                </a:solidFill>
                <a:latin typeface="Courier New" pitchFamily="34" charset="0"/>
                <a:ea typeface="Courier New" pitchFamily="34" charset="-122"/>
                <a:cs typeface="Courier New" pitchFamily="34" charset="-120"/>
              </a:rPr>
              <a:t># a0 = the byte to send, most significant bit first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t0, 8               </a:t>
            </a:r>
            <a:pPr indent="0" marL="0">
              <a:buNone/>
            </a:pPr>
            <a:r>
              <a:rPr lang="en-US" sz="1350" dirty="0">
                <a:solidFill>
                  <a:srgbClr val="8FB3A0"/>
                </a:solidFill>
                <a:latin typeface="Courier New" pitchFamily="34" charset="0"/>
                <a:ea typeface="Courier New" pitchFamily="34" charset="-122"/>
                <a:cs typeface="Courier New" pitchFamily="34" charset="-120"/>
              </a:rPr>
              <a:t># eight bits to go</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1:  srli t1, a0, 7           </a:t>
            </a:r>
            <a:pPr indent="0" marL="0">
              <a:buNone/>
            </a:pPr>
            <a:r>
              <a:rPr lang="en-US" sz="1350" dirty="0">
                <a:solidFill>
                  <a:srgbClr val="8FB3A0"/>
                </a:solidFill>
                <a:latin typeface="Courier New" pitchFamily="34" charset="0"/>
                <a:ea typeface="Courier New" pitchFamily="34" charset="-122"/>
                <a:cs typeface="Courier New" pitchFamily="34" charset="-120"/>
              </a:rPr>
              <a:t># bring bit 7 down to bit 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andi t1, t1, 1           </a:t>
            </a:r>
            <a:pPr indent="0" marL="0">
              <a:buNone/>
            </a:pPr>
            <a:r>
              <a:rPr lang="en-US" sz="1350" dirty="0">
                <a:solidFill>
                  <a:srgbClr val="8FB3A0"/>
                </a:solidFill>
                <a:latin typeface="Courier New" pitchFamily="34" charset="0"/>
                <a:ea typeface="Courier New" pitchFamily="34" charset="-122"/>
                <a:cs typeface="Courier New" pitchFamily="34" charset="-120"/>
              </a:rPr>
              <a:t># t1 = the bit to put on the wire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                      </a:t>
            </a:r>
            <a:pPr indent="0" marL="0">
              <a:buNone/>
            </a:pPr>
            <a:r>
              <a:rPr lang="en-US" sz="1350" dirty="0">
                <a:solidFill>
                  <a:srgbClr val="8FB3A0"/>
                </a:solidFill>
                <a:latin typeface="Courier New" pitchFamily="34" charset="0"/>
                <a:ea typeface="Courier New" pitchFamily="34" charset="-122"/>
                <a:cs typeface="Courier New" pitchFamily="34" charset="-120"/>
              </a:rPr>
              <a:t># drive the data line with t1,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                      </a:t>
            </a:r>
            <a:pPr indent="0" marL="0">
              <a:buNone/>
            </a:pPr>
            <a:r>
              <a:rPr lang="en-US" sz="1350" dirty="0">
                <a:solidFill>
                  <a:srgbClr val="8FB3A0"/>
                </a:solidFill>
                <a:latin typeface="Courier New" pitchFamily="34" charset="0"/>
                <a:ea typeface="Courier New" pitchFamily="34" charset="-122"/>
                <a:cs typeface="Courier New" pitchFamily="34" charset="-120"/>
              </a:rPr>
              <a:t># then pulse the clock line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slli a0, a0, 1           </a:t>
            </a:r>
            <a:pPr indent="0" marL="0">
              <a:buNone/>
            </a:pPr>
            <a:r>
              <a:rPr lang="en-US" sz="1350" dirty="0">
                <a:solidFill>
                  <a:srgbClr val="8FB3A0"/>
                </a:solidFill>
                <a:latin typeface="Courier New" pitchFamily="34" charset="0"/>
                <a:ea typeface="Courier New" pitchFamily="34" charset="-122"/>
                <a:cs typeface="Courier New" pitchFamily="34" charset="-120"/>
              </a:rPr>
              <a:t># shift left: the next bit moves up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t0, t0, -1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bnez t0, 1b</a:t>
            </a:r>
            <a:endParaRPr lang="en-US" sz="13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The display and the sound chip of the kit are connected by a few wires, not by thirty-two</a:t>
            </a:r>
            <a:endParaRPr lang="en-US" sz="13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A word must therefore travel one bit after another: a serial transfer</a:t>
            </a:r>
            <a:endParaRPr lang="en-US" sz="13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The loop is a shift register in software: shift, take one bit, repeat</a:t>
            </a:r>
            <a:endParaRPr lang="en-US" sz="13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The ESP32-C6 has hardware that does exactly this, millions of times per second</a:t>
            </a:r>
            <a:endParaRPr lang="en-US" sz="13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02</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Word gates and registers</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From one bit to a whole word.</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Word gates</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word is a vector V of n bits: V = (v0, v1, ..., v(n-1))</a:t>
            </a:r>
            <a:endParaRPr lang="en-US" sz="2200" dirty="0"/>
          </a:p>
        </p:txBody>
      </p:sp>
      <p:sp>
        <p:nvSpPr>
          <p:cNvPr id="5" name="Shape 3"/>
          <p:cNvSpPr/>
          <p:nvPr/>
        </p:nvSpPr>
        <p:spPr>
          <a:xfrm>
            <a:off x="548640" y="238569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79269"/>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word gate acts on all the bits of a word at once</a:t>
            </a:r>
            <a:endParaRPr lang="en-US" sz="2200" dirty="0"/>
          </a:p>
        </p:txBody>
      </p:sp>
      <p:sp>
        <p:nvSpPr>
          <p:cNvPr id="7" name="Shape 5"/>
          <p:cNvSpPr/>
          <p:nvPr/>
        </p:nvSpPr>
        <p:spPr>
          <a:xfrm>
            <a:off x="548640" y="3247644"/>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141218"/>
            <a:ext cx="6565392" cy="130708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With a control signal a, the word gate computes a AND v(i) for every i</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a = 1: the word passes unchanged; a = 0: every bit is forced to 0</a:t>
            </a:r>
            <a:endParaRPr lang="en-US" sz="2200" dirty="0"/>
          </a:p>
        </p:txBody>
      </p:sp>
      <p:sp>
        <p:nvSpPr>
          <p:cNvPr id="9" name="Shape 7"/>
          <p:cNvSpPr/>
          <p:nvPr/>
        </p:nvSpPr>
        <p:spPr>
          <a:xfrm>
            <a:off x="548640" y="4734941"/>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628515"/>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It is n identical gates sharing one control input</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bitwise instructions and, or, xor of RISC-V are word gates thirty-two bits wide</a:t>
            </a:r>
            <a:endParaRPr lang="en-US" sz="22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n gates</a:t>
            </a:r>
            <a:endParaRPr lang="en-US" sz="60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one gate per bit, one control signal for all: the building block of every datapath</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register</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 register is a device able to store a group of bits</a:t>
            </a:r>
            <a:endParaRPr lang="en-US" sz="2100" dirty="0"/>
          </a:p>
        </p:txBody>
      </p:sp>
      <p:sp>
        <p:nvSpPr>
          <p:cNvPr id="5" name="Shape 3"/>
          <p:cNvSpPr/>
          <p:nvPr/>
        </p:nvSpPr>
        <p:spPr>
          <a:xfrm>
            <a:off x="548640" y="231209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13420"/>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In its simplest form: a group of flip-flops and a common synchronisation signal, a clock or an enable</a:t>
            </a:r>
            <a:endParaRPr lang="en-US" sz="2100" dirty="0"/>
          </a:p>
        </p:txBody>
      </p:sp>
      <p:sp>
        <p:nvSpPr>
          <p:cNvPr id="7" name="Shape 5"/>
          <p:cNvSpPr/>
          <p:nvPr/>
        </p:nvSpPr>
        <p:spPr>
          <a:xfrm>
            <a:off x="548640" y="343357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334893"/>
            <a:ext cx="6565392" cy="919734"/>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Example: the 74273, an 8-bit register in one chip</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eight D flip-flops; one clock and one clear; inputs D0 to D7, outputs Q0 to Q7</a:t>
            </a:r>
            <a:endParaRPr lang="en-US" sz="2100" dirty="0"/>
          </a:p>
        </p:txBody>
      </p:sp>
      <p:sp>
        <p:nvSpPr>
          <p:cNvPr id="9" name="Shape 7"/>
          <p:cNvSpPr/>
          <p:nvPr/>
        </p:nvSpPr>
        <p:spPr>
          <a:xfrm>
            <a:off x="548640" y="4498657"/>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399979"/>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Loading a register: the datum on its inputs is stored when the load signal is active, typically in step with the clock</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In RISC-V each of the registers x1 to x31 is thirty-two such flip-flops</a:t>
            </a:r>
            <a:endParaRPr lang="en-US" sz="2100" dirty="0"/>
          </a:p>
        </p:txBody>
      </p:sp>
      <p:pic>
        <p:nvPicPr>
          <p:cNvPr id="13" name="Image 0" descr="/Users/raffaelemontella/devel/riscv-prg32/computer-architecture-with-prg32/tools/assets/chip_74273.jpg">    </p:cNvPr>
          <p:cNvPicPr>
            <a:picLocks noChangeAspect="1"/>
          </p:cNvPicPr>
          <p:nvPr/>
        </p:nvPicPr>
        <p:blipFill>
          <a:blip r:embed="rId1"/>
          <a:stretch>
            <a:fillRect/>
          </a:stretch>
        </p:blipFill>
        <p:spPr>
          <a:xfrm>
            <a:off x="7863840" y="1978890"/>
            <a:ext cx="3779215" cy="3174541"/>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SN74LS273: eight D flip-flops with a common clock</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03</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Buses</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How data travel between registers.</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Data transfers and the bus</a:t>
            </a:r>
            <a:endParaRPr lang="en-US" sz="3200" dirty="0"/>
          </a:p>
        </p:txBody>
      </p:sp>
      <p:sp>
        <p:nvSpPr>
          <p:cNvPr id="3" name="Shape 1"/>
          <p:cNvSpPr/>
          <p:nvPr/>
        </p:nvSpPr>
        <p:spPr>
          <a:xfrm>
            <a:off x="548640" y="1417320"/>
            <a:ext cx="11094415" cy="1937004"/>
          </a:xfrm>
          <a:prstGeom prst="roundRect">
            <a:avLst>
              <a:gd name="adj" fmla="val 3777"/>
            </a:avLst>
          </a:prstGeom>
          <a:solidFill>
            <a:srgbClr val="F6E7D2"/>
          </a:solidFill>
          <a:ln w="12700">
            <a:solidFill>
              <a:srgbClr val="F6E7D2"/>
            </a:solidFill>
            <a:prstDash val="solid"/>
          </a:ln>
        </p:spPr>
      </p:sp>
      <p:sp>
        <p:nvSpPr>
          <p:cNvPr id="4" name="Text 2"/>
          <p:cNvSpPr txBox="1"/>
          <p:nvPr/>
        </p:nvSpPr>
        <p:spPr>
          <a:xfrm>
            <a:off x="914400" y="1600200"/>
            <a:ext cx="10362895" cy="411480"/>
          </a:xfrm>
          <a:prstGeom prst="rect">
            <a:avLst/>
          </a:prstGeom>
          <a:noFill/>
          <a:ln/>
        </p:spPr>
        <p:txBody>
          <a:bodyPr wrap="square" lIns="0" tIns="0" rIns="0" bIns="0" rtlCol="0" anchor="ctr"/>
          <a:lstStyle/>
          <a:p>
            <a:pPr indent="0" marL="0">
              <a:buNone/>
            </a:pPr>
            <a:r>
              <a:rPr lang="en-US" sz="1600" b="1" dirty="0">
                <a:solidFill>
                  <a:srgbClr val="C7791B"/>
                </a:solidFill>
                <a:latin typeface="Calibri" pitchFamily="34" charset="0"/>
                <a:ea typeface="Calibri" pitchFamily="34" charset="-122"/>
                <a:cs typeface="Calibri" pitchFamily="34" charset="-120"/>
              </a:rPr>
              <a:t>Bus</a:t>
            </a:r>
            <a:endParaRPr lang="en-US" sz="1600" dirty="0"/>
          </a:p>
        </p:txBody>
      </p:sp>
      <p:sp>
        <p:nvSpPr>
          <p:cNvPr id="5" name="Text 3"/>
          <p:cNvSpPr txBox="1"/>
          <p:nvPr/>
        </p:nvSpPr>
        <p:spPr>
          <a:xfrm>
            <a:off x="914400" y="2057400"/>
            <a:ext cx="10362895" cy="1114044"/>
          </a:xfrm>
          <a:prstGeom prst="rect">
            <a:avLst/>
          </a:prstGeom>
          <a:noFill/>
          <a:ln/>
        </p:spPr>
        <p:txBody>
          <a:bodyPr wrap="square" lIns="0" tIns="0" rIns="0" bIns="0" rtlCol="0" anchor="ctr"/>
          <a:lstStyle/>
          <a:p>
            <a:pPr indent="0" marL="0">
              <a:buNone/>
            </a:pPr>
            <a:r>
              <a:rPr lang="en-US" sz="2300" i="1" dirty="0">
                <a:solidFill>
                  <a:srgbClr val="1B2530"/>
                </a:solidFill>
                <a:latin typeface="Cambria" pitchFamily="34" charset="0"/>
                <a:ea typeface="Cambria" pitchFamily="34" charset="-122"/>
                <a:cs typeface="Cambria" pitchFamily="34" charset="-120"/>
              </a:rPr>
              <a:t>A communication channel that lets the components of an electronic system exchange data by transmitting and receiving signals: the set of lines that carries a datum.</a:t>
            </a:r>
            <a:endParaRPr lang="en-US" sz="2300" dirty="0"/>
          </a:p>
        </p:txBody>
      </p:sp>
      <p:sp>
        <p:nvSpPr>
          <p:cNvPr id="6" name="Shape 4"/>
          <p:cNvSpPr/>
          <p:nvPr/>
        </p:nvSpPr>
        <p:spPr>
          <a:xfrm>
            <a:off x="548640" y="3844290"/>
            <a:ext cx="146304" cy="146304"/>
          </a:xfrm>
          <a:prstGeom prst="rect">
            <a:avLst/>
          </a:prstGeom>
          <a:solidFill>
            <a:srgbClr val="0E7C86"/>
          </a:solidFill>
          <a:ln w="12700">
            <a:solidFill>
              <a:srgbClr val="0E7C86"/>
            </a:solidFill>
            <a:prstDash val="solid"/>
          </a:ln>
        </p:spPr>
      </p:sp>
      <p:sp>
        <p:nvSpPr>
          <p:cNvPr id="7" name="Text 5"/>
          <p:cNvSpPr txBox="1"/>
          <p:nvPr/>
        </p:nvSpPr>
        <p:spPr>
          <a:xfrm>
            <a:off x="932688" y="3722370"/>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The transfer from a register X to a register Y is the fundamental operation of a computer's architecture</a:t>
            </a:r>
            <a:endParaRPr lang="en-US" sz="2400" dirty="0"/>
          </a:p>
        </p:txBody>
      </p:sp>
      <p:sp>
        <p:nvSpPr>
          <p:cNvPr id="8" name="Shape 6"/>
          <p:cNvSpPr/>
          <p:nvPr/>
        </p:nvSpPr>
        <p:spPr>
          <a:xfrm>
            <a:off x="548640" y="5045202"/>
            <a:ext cx="146304" cy="146304"/>
          </a:xfrm>
          <a:prstGeom prst="rect">
            <a:avLst/>
          </a:prstGeom>
          <a:solidFill>
            <a:srgbClr val="C7791B"/>
          </a:solidFill>
          <a:ln w="12700">
            <a:solidFill>
              <a:srgbClr val="C7791B"/>
            </a:solidFill>
            <a:prstDash val="solid"/>
          </a:ln>
        </p:spPr>
      </p:sp>
      <p:sp>
        <p:nvSpPr>
          <p:cNvPr id="9" name="Text 7"/>
          <p:cNvSpPr txBox="1"/>
          <p:nvPr/>
        </p:nvSpPr>
        <p:spPr>
          <a:xfrm>
            <a:off x="932688" y="4923282"/>
            <a:ext cx="10710367" cy="37185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The name is a contraction of the Latin omnibus: for all</a:t>
            </a:r>
            <a:endParaRPr lang="en-US" sz="2400" dirty="0"/>
          </a:p>
        </p:txBody>
      </p:sp>
      <p:sp>
        <p:nvSpPr>
          <p:cNvPr id="10" name="Shape 8"/>
          <p:cNvSpPr/>
          <p:nvPr/>
        </p:nvSpPr>
        <p:spPr>
          <a:xfrm>
            <a:off x="548640" y="5874258"/>
            <a:ext cx="146304" cy="146304"/>
          </a:xfrm>
          <a:prstGeom prst="rect">
            <a:avLst/>
          </a:prstGeom>
          <a:solidFill>
            <a:srgbClr val="0E7C86"/>
          </a:solidFill>
          <a:ln w="12700">
            <a:solidFill>
              <a:srgbClr val="0E7C86"/>
            </a:solidFill>
            <a:prstDash val="solid"/>
          </a:ln>
        </p:spPr>
      </p:sp>
      <p:sp>
        <p:nvSpPr>
          <p:cNvPr id="11" name="Text 9"/>
          <p:cNvSpPr txBox="1"/>
          <p:nvPr/>
        </p:nvSpPr>
        <p:spPr>
          <a:xfrm>
            <a:off x="932688" y="5752338"/>
            <a:ext cx="10710367" cy="37185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A bus of n lines carries a word of n bits in one step</a:t>
            </a:r>
            <a:endParaRPr lang="en-US" sz="2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Two technical solutions</a:t>
            </a:r>
            <a:endParaRPr lang="en-US" sz="3200" dirty="0"/>
          </a:p>
        </p:txBody>
      </p:sp>
      <p:sp>
        <p:nvSpPr>
          <p:cNvPr id="3" name="Shape 1"/>
          <p:cNvSpPr/>
          <p:nvPr/>
        </p:nvSpPr>
        <p:spPr>
          <a:xfrm>
            <a:off x="548640" y="1417320"/>
            <a:ext cx="5364328"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822960" y="1645920"/>
            <a:ext cx="4815688"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Dedicated buses</a:t>
            </a:r>
            <a:endParaRPr lang="en-US" sz="1900" dirty="0"/>
          </a:p>
        </p:txBody>
      </p:sp>
      <p:sp>
        <p:nvSpPr>
          <p:cNvPr id="5" name="Text 3"/>
          <p:cNvSpPr txBox="1"/>
          <p:nvPr/>
        </p:nvSpPr>
        <p:spPr>
          <a:xfrm>
            <a:off x="868680"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One set of lines for each possible transfer</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Several transfers can happen at the same time</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Efficient but expensive: the wires grow with the square of the number of registers</a:t>
            </a:r>
            <a:endParaRPr lang="en-US" sz="2100" dirty="0"/>
          </a:p>
        </p:txBody>
      </p:sp>
      <p:sp>
        <p:nvSpPr>
          <p:cNvPr id="6" name="Shape 4"/>
          <p:cNvSpPr/>
          <p:nvPr/>
        </p:nvSpPr>
        <p:spPr>
          <a:xfrm>
            <a:off x="6278728" y="1417320"/>
            <a:ext cx="5364328" cy="4754880"/>
          </a:xfrm>
          <a:prstGeom prst="roundRect">
            <a:avLst>
              <a:gd name="adj" fmla="val 1538"/>
            </a:avLst>
          </a:prstGeom>
          <a:solidFill>
            <a:srgbClr val="EEF2F4"/>
          </a:solidFill>
          <a:ln w="12700">
            <a:solidFill>
              <a:srgbClr val="EEF2F4"/>
            </a:solidFill>
            <a:prstDash val="solid"/>
          </a:ln>
        </p:spPr>
      </p:sp>
      <p:sp>
        <p:nvSpPr>
          <p:cNvPr id="7" name="Text 5"/>
          <p:cNvSpPr txBox="1"/>
          <p:nvPr/>
        </p:nvSpPr>
        <p:spPr>
          <a:xfrm>
            <a:off x="6553048" y="1645920"/>
            <a:ext cx="4815688"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Common bus</a:t>
            </a:r>
            <a:endParaRPr lang="en-US" sz="1900" dirty="0"/>
          </a:p>
        </p:txBody>
      </p:sp>
      <p:sp>
        <p:nvSpPr>
          <p:cNvPr id="8" name="Text 6"/>
          <p:cNvSpPr txBox="1"/>
          <p:nvPr/>
        </p:nvSpPr>
        <p:spPr>
          <a:xfrm>
            <a:off x="6598768"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A single path collects many potential transfers</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Each time, one source and one destination are chosen</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A transfer takes two steps: source to bus, bus to destination</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Cheap and widespread; less efficient, because transfers cannot be simultaneous</a:t>
            </a:r>
            <a:endParaRPr lang="en-US" sz="2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Parallel, serial and mixed transfers</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Parallel: the n bits of the word travel together on n lines, in one step</a:t>
            </a:r>
            <a:endParaRPr lang="en-US" sz="2200" dirty="0"/>
          </a:p>
        </p:txBody>
      </p:sp>
      <p:sp>
        <p:nvSpPr>
          <p:cNvPr id="5" name="Shape 3"/>
          <p:cNvSpPr/>
          <p:nvPr/>
        </p:nvSpPr>
        <p:spPr>
          <a:xfrm>
            <a:off x="548640" y="237159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65172"/>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Serial: the bits travel one after another on a single line, in n steps</a:t>
            </a:r>
            <a:endParaRPr lang="en-US" sz="2200" dirty="0"/>
          </a:p>
        </p:txBody>
      </p:sp>
      <p:sp>
        <p:nvSpPr>
          <p:cNvPr id="7" name="Shape 5"/>
          <p:cNvSpPr/>
          <p:nvPr/>
        </p:nvSpPr>
        <p:spPr>
          <a:xfrm>
            <a:off x="548640" y="3219450"/>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11302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Mixed: for example, serial on the byte: eight lines carry one byte at a time</a:t>
            </a:r>
            <a:endParaRPr lang="en-US" sz="2200" dirty="0"/>
          </a:p>
        </p:txBody>
      </p:sp>
      <p:sp>
        <p:nvSpPr>
          <p:cNvPr id="9" name="Shape 7"/>
          <p:cNvSpPr/>
          <p:nvPr/>
        </p:nvSpPr>
        <p:spPr>
          <a:xfrm>
            <a:off x="548640" y="406730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960876"/>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Accessing a bus means reading from it or writing to it; buses come in very different physical sizes</a:t>
            </a:r>
            <a:endParaRPr lang="en-US" sz="2200" dirty="0"/>
          </a:p>
        </p:txBody>
      </p:sp>
      <p:sp>
        <p:nvSpPr>
          <p:cNvPr id="11" name="Shape 9"/>
          <p:cNvSpPr/>
          <p:nvPr/>
        </p:nvSpPr>
        <p:spPr>
          <a:xfrm>
            <a:off x="548640" y="5256022"/>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149596"/>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Inside a chip buses are parallel; between chips and between machines they are today almost always serial</a:t>
            </a:r>
            <a:endParaRPr lang="en-US" sz="2200" dirty="0"/>
          </a:p>
        </p:txBody>
      </p:sp>
      <p:pic>
        <p:nvPicPr>
          <p:cNvPr id="13" name="Image 0" descr="/Users/raffaelemontella/devel/riscv-prg32/computer-architecture-with-prg32/tools/assets/pcb.jpg">    </p:cNvPr>
          <p:cNvPicPr>
            <a:picLocks noChangeAspect="1"/>
          </p:cNvPicPr>
          <p:nvPr/>
        </p:nvPicPr>
        <p:blipFill>
          <a:blip r:embed="rId1"/>
          <a:stretch>
            <a:fillRect/>
          </a:stretch>
        </p:blipFill>
        <p:spPr>
          <a:xfrm>
            <a:off x="7863840" y="2230837"/>
            <a:ext cx="3779215" cy="2670645"/>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Bus lines on a printed circuit board</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From bus to register, and from register to bus</a:t>
            </a:r>
            <a:endParaRPr lang="en-US" sz="3200" dirty="0"/>
          </a:p>
        </p:txBody>
      </p:sp>
      <p:sp>
        <p:nvSpPr>
          <p:cNvPr id="3" name="Shape 1"/>
          <p:cNvSpPr/>
          <p:nvPr/>
        </p:nvSpPr>
        <p:spPr>
          <a:xfrm>
            <a:off x="822960" y="1874520"/>
            <a:ext cx="4937760" cy="0"/>
          </a:xfrm>
          <a:prstGeom prst="line">
            <a:avLst/>
          </a:prstGeom>
          <a:noFill/>
          <a:ln w="76200">
            <a:solidFill>
              <a:srgbClr val="C7791B"/>
            </a:solidFill>
            <a:prstDash val="solid"/>
          </a:ln>
        </p:spPr>
      </p:sp>
      <p:sp>
        <p:nvSpPr>
          <p:cNvPr id="4" name="Text 2"/>
          <p:cNvSpPr txBox="1"/>
          <p:nvPr/>
        </p:nvSpPr>
        <p:spPr>
          <a:xfrm>
            <a:off x="822960" y="1463040"/>
            <a:ext cx="1828800" cy="274320"/>
          </a:xfrm>
          <a:prstGeom prst="rect">
            <a:avLst/>
          </a:prstGeom>
          <a:noFill/>
          <a:ln/>
        </p:spPr>
        <p:txBody>
          <a:bodyPr wrap="square" lIns="0" tIns="0" rIns="0" bIns="0" rtlCol="0" anchor="t"/>
          <a:lstStyle/>
          <a:p>
            <a:pPr indent="0" marL="0">
              <a:buNone/>
            </a:pPr>
            <a:r>
              <a:rPr lang="en-US" sz="1500" b="1" dirty="0">
                <a:solidFill>
                  <a:srgbClr val="C7791B"/>
                </a:solidFill>
                <a:latin typeface="Calibri" pitchFamily="34" charset="0"/>
                <a:ea typeface="Calibri" pitchFamily="34" charset="-122"/>
                <a:cs typeface="Calibri" pitchFamily="34" charset="-120"/>
              </a:rPr>
              <a:t>bus A</a:t>
            </a:r>
            <a:endParaRPr lang="en-US" sz="1500" dirty="0"/>
          </a:p>
        </p:txBody>
      </p:sp>
      <p:sp>
        <p:nvSpPr>
          <p:cNvPr id="5" name="Text 3"/>
          <p:cNvSpPr txBox="1"/>
          <p:nvPr/>
        </p:nvSpPr>
        <p:spPr>
          <a:xfrm>
            <a:off x="2103120" y="3063240"/>
            <a:ext cx="2194560" cy="822960"/>
          </a:xfrm>
          <a:prstGeom prst="roundRect">
            <a:avLst>
              <a:gd name="adj" fmla="val 6667"/>
            </a:avLst>
          </a:prstGeom>
          <a:solidFill>
            <a:srgbClr val="0E7C86"/>
          </a:solidFill>
          <a:ln>
            <a:solidFill>
              <a:srgbClr val="0E7C86"/>
            </a:solid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register R</a:t>
            </a:r>
            <a:endParaRPr lang="en-US" sz="1600" dirty="0"/>
          </a:p>
        </p:txBody>
      </p:sp>
      <p:sp>
        <p:nvSpPr>
          <p:cNvPr id="6" name="Shape 4"/>
          <p:cNvSpPr/>
          <p:nvPr/>
        </p:nvSpPr>
        <p:spPr>
          <a:xfrm>
            <a:off x="3200400" y="1920240"/>
            <a:ext cx="0" cy="1115568"/>
          </a:xfrm>
          <a:prstGeom prst="line">
            <a:avLst/>
          </a:prstGeom>
          <a:noFill/>
          <a:ln w="31750">
            <a:solidFill>
              <a:srgbClr val="5B6B78"/>
            </a:solidFill>
            <a:prstDash val="solid"/>
            <a:tailEnd type="triangle"/>
          </a:ln>
        </p:spPr>
      </p:sp>
      <p:sp>
        <p:nvSpPr>
          <p:cNvPr id="7" name="Shape 5"/>
          <p:cNvSpPr/>
          <p:nvPr/>
        </p:nvSpPr>
        <p:spPr>
          <a:xfrm>
            <a:off x="1097280" y="3474720"/>
            <a:ext cx="978408" cy="0"/>
          </a:xfrm>
          <a:prstGeom prst="line">
            <a:avLst/>
          </a:prstGeom>
          <a:noFill/>
          <a:ln w="28575">
            <a:solidFill>
              <a:srgbClr val="B23A48"/>
            </a:solidFill>
            <a:prstDash val="solid"/>
            <a:tailEnd type="triangle"/>
          </a:ln>
        </p:spPr>
      </p:sp>
      <p:sp>
        <p:nvSpPr>
          <p:cNvPr id="8" name="Text 6"/>
          <p:cNvSpPr txBox="1"/>
          <p:nvPr/>
        </p:nvSpPr>
        <p:spPr>
          <a:xfrm>
            <a:off x="548640" y="3108960"/>
            <a:ext cx="1188720" cy="274320"/>
          </a:xfrm>
          <a:prstGeom prst="rect">
            <a:avLst/>
          </a:prstGeom>
          <a:noFill/>
          <a:ln/>
        </p:spPr>
        <p:txBody>
          <a:bodyPr wrap="square" lIns="0" tIns="0" rIns="0" bIns="0" rtlCol="0" anchor="t"/>
          <a:lstStyle/>
          <a:p>
            <a:pPr indent="0" marL="0">
              <a:buNone/>
            </a:pPr>
            <a:r>
              <a:rPr lang="en-US" sz="1400" b="1" dirty="0">
                <a:solidFill>
                  <a:srgbClr val="B23A48"/>
                </a:solidFill>
                <a:latin typeface="Calibri" pitchFamily="34" charset="0"/>
                <a:ea typeface="Calibri" pitchFamily="34" charset="-122"/>
                <a:cs typeface="Calibri" pitchFamily="34" charset="-120"/>
              </a:rPr>
              <a:t>load c</a:t>
            </a:r>
            <a:endParaRPr lang="en-US" sz="1400" dirty="0"/>
          </a:p>
        </p:txBody>
      </p:sp>
      <p:sp>
        <p:nvSpPr>
          <p:cNvPr id="9" name="Text 7"/>
          <p:cNvSpPr txBox="1"/>
          <p:nvPr/>
        </p:nvSpPr>
        <p:spPr>
          <a:xfrm>
            <a:off x="548640" y="4251960"/>
            <a:ext cx="5303520" cy="1097280"/>
          </a:xfrm>
          <a:prstGeom prst="rect">
            <a:avLst/>
          </a:prstGeom>
          <a:noFill/>
          <a:ln/>
        </p:spPr>
        <p:txBody>
          <a:bodyPr wrap="square" lIns="0" tIns="0" rIns="0" bIns="0" rtlCol="0" anchor="t"/>
          <a:lstStyle/>
          <a:p>
            <a:pPr indent="0" marL="0">
              <a:buNone/>
            </a:pPr>
            <a:r>
              <a:rPr lang="en-US" sz="1550" dirty="0">
                <a:solidFill>
                  <a:srgbClr val="1B2530"/>
                </a:solidFill>
                <a:latin typeface="Calibri" pitchFamily="34" charset="0"/>
                <a:ea typeface="Calibri" pitchFamily="34" charset="-122"/>
                <a:cs typeface="Calibri" pitchFamily="34" charset="-120"/>
              </a:rPr>
              <a:t>From bus to register: the datum is loaded into R when the load signal c is active (a strobe, usually in step with the clock).</a:t>
            </a:r>
            <a:endParaRPr lang="en-US" sz="1550" dirty="0"/>
          </a:p>
        </p:txBody>
      </p:sp>
      <p:sp>
        <p:nvSpPr>
          <p:cNvPr id="10" name="Shape 8"/>
          <p:cNvSpPr/>
          <p:nvPr/>
        </p:nvSpPr>
        <p:spPr>
          <a:xfrm>
            <a:off x="6400800" y="1874520"/>
            <a:ext cx="5242255" cy="0"/>
          </a:xfrm>
          <a:prstGeom prst="line">
            <a:avLst/>
          </a:prstGeom>
          <a:noFill/>
          <a:ln w="76200">
            <a:solidFill>
              <a:srgbClr val="C7791B"/>
            </a:solidFill>
            <a:prstDash val="solid"/>
          </a:ln>
        </p:spPr>
      </p:sp>
      <p:sp>
        <p:nvSpPr>
          <p:cNvPr id="11" name="Text 9"/>
          <p:cNvSpPr txBox="1"/>
          <p:nvPr/>
        </p:nvSpPr>
        <p:spPr>
          <a:xfrm>
            <a:off x="6400800" y="1463040"/>
            <a:ext cx="1828800" cy="274320"/>
          </a:xfrm>
          <a:prstGeom prst="rect">
            <a:avLst/>
          </a:prstGeom>
          <a:noFill/>
          <a:ln/>
        </p:spPr>
        <p:txBody>
          <a:bodyPr wrap="square" lIns="0" tIns="0" rIns="0" bIns="0" rtlCol="0" anchor="t"/>
          <a:lstStyle/>
          <a:p>
            <a:pPr indent="0" marL="0">
              <a:buNone/>
            </a:pPr>
            <a:r>
              <a:rPr lang="en-US" sz="1500" b="1" dirty="0">
                <a:solidFill>
                  <a:srgbClr val="C7791B"/>
                </a:solidFill>
                <a:latin typeface="Calibri" pitchFamily="34" charset="0"/>
                <a:ea typeface="Calibri" pitchFamily="34" charset="-122"/>
                <a:cs typeface="Calibri" pitchFamily="34" charset="-120"/>
              </a:rPr>
              <a:t>bus A</a:t>
            </a:r>
            <a:endParaRPr lang="en-US" sz="1500" dirty="0"/>
          </a:p>
        </p:txBody>
      </p:sp>
      <p:sp>
        <p:nvSpPr>
          <p:cNvPr id="12" name="Text 10"/>
          <p:cNvSpPr txBox="1"/>
          <p:nvPr/>
        </p:nvSpPr>
        <p:spPr>
          <a:xfrm>
            <a:off x="7863840" y="3611880"/>
            <a:ext cx="2194560" cy="822960"/>
          </a:xfrm>
          <a:prstGeom prst="roundRect">
            <a:avLst>
              <a:gd name="adj" fmla="val 6667"/>
            </a:avLst>
          </a:prstGeom>
          <a:solidFill>
            <a:srgbClr val="0E7C86"/>
          </a:solidFill>
          <a:ln>
            <a:solidFill>
              <a:srgbClr val="0E7C86"/>
            </a:solid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register R</a:t>
            </a:r>
            <a:endParaRPr lang="en-US" sz="1600" dirty="0"/>
          </a:p>
        </p:txBody>
      </p:sp>
      <p:sp>
        <p:nvSpPr>
          <p:cNvPr id="13" name="Text 11"/>
          <p:cNvSpPr txBox="1"/>
          <p:nvPr/>
        </p:nvSpPr>
        <p:spPr>
          <a:xfrm>
            <a:off x="8412480" y="2560320"/>
            <a:ext cx="1097280" cy="502920"/>
          </a:xfrm>
          <a:prstGeom prst="roundRect">
            <a:avLst>
              <a:gd name="adj" fmla="val 10909"/>
            </a:avLst>
          </a:prstGeom>
          <a:solidFill>
            <a:srgbClr val="6B4FA0"/>
          </a:solidFill>
          <a:ln>
            <a:solidFill>
              <a:srgbClr val="6B4FA0"/>
            </a:solid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buffer</a:t>
            </a:r>
            <a:endParaRPr lang="en-US" sz="1300" dirty="0"/>
          </a:p>
        </p:txBody>
      </p:sp>
      <p:sp>
        <p:nvSpPr>
          <p:cNvPr id="14" name="Shape 12"/>
          <p:cNvSpPr/>
          <p:nvPr/>
        </p:nvSpPr>
        <p:spPr>
          <a:xfrm flipV="1">
            <a:off x="8961120" y="3090672"/>
            <a:ext cx="0" cy="493776"/>
          </a:xfrm>
          <a:prstGeom prst="line">
            <a:avLst/>
          </a:prstGeom>
          <a:noFill/>
          <a:ln w="31750">
            <a:solidFill>
              <a:srgbClr val="5B6B78"/>
            </a:solidFill>
            <a:prstDash val="solid"/>
            <a:tailEnd type="triangle"/>
          </a:ln>
        </p:spPr>
      </p:sp>
      <p:sp>
        <p:nvSpPr>
          <p:cNvPr id="15" name="Shape 13"/>
          <p:cNvSpPr/>
          <p:nvPr/>
        </p:nvSpPr>
        <p:spPr>
          <a:xfrm flipV="1">
            <a:off x="8961120" y="1920240"/>
            <a:ext cx="0" cy="612648"/>
          </a:xfrm>
          <a:prstGeom prst="line">
            <a:avLst/>
          </a:prstGeom>
          <a:noFill/>
          <a:ln w="31750">
            <a:solidFill>
              <a:srgbClr val="5B6B78"/>
            </a:solidFill>
            <a:prstDash val="solid"/>
            <a:tailEnd type="triangle"/>
          </a:ln>
        </p:spPr>
      </p:sp>
      <p:sp>
        <p:nvSpPr>
          <p:cNvPr id="16" name="Shape 14"/>
          <p:cNvSpPr/>
          <p:nvPr/>
        </p:nvSpPr>
        <p:spPr>
          <a:xfrm>
            <a:off x="7040880" y="2807208"/>
            <a:ext cx="1344168" cy="0"/>
          </a:xfrm>
          <a:prstGeom prst="line">
            <a:avLst/>
          </a:prstGeom>
          <a:noFill/>
          <a:ln w="28575">
            <a:solidFill>
              <a:srgbClr val="B23A48"/>
            </a:solidFill>
            <a:prstDash val="solid"/>
            <a:tailEnd type="triangle"/>
          </a:ln>
        </p:spPr>
      </p:sp>
      <p:sp>
        <p:nvSpPr>
          <p:cNvPr id="17" name="Text 15"/>
          <p:cNvSpPr txBox="1"/>
          <p:nvPr/>
        </p:nvSpPr>
        <p:spPr>
          <a:xfrm>
            <a:off x="6309360" y="2441448"/>
            <a:ext cx="1463040" cy="274320"/>
          </a:xfrm>
          <a:prstGeom prst="rect">
            <a:avLst/>
          </a:prstGeom>
          <a:noFill/>
          <a:ln/>
        </p:spPr>
        <p:txBody>
          <a:bodyPr wrap="square" lIns="0" tIns="0" rIns="0" bIns="0" rtlCol="0" anchor="t"/>
          <a:lstStyle/>
          <a:p>
            <a:pPr indent="0" marL="0">
              <a:buNone/>
            </a:pPr>
            <a:r>
              <a:rPr lang="en-US" sz="1400" b="1" dirty="0">
                <a:solidFill>
                  <a:srgbClr val="B23A48"/>
                </a:solidFill>
                <a:latin typeface="Calibri" pitchFamily="34" charset="0"/>
                <a:ea typeface="Calibri" pitchFamily="34" charset="-122"/>
                <a:cs typeface="Calibri" pitchFamily="34" charset="-120"/>
              </a:rPr>
              <a:t>enable c</a:t>
            </a:r>
            <a:endParaRPr lang="en-US" sz="1400" dirty="0"/>
          </a:p>
        </p:txBody>
      </p:sp>
      <p:sp>
        <p:nvSpPr>
          <p:cNvPr id="18" name="Text 16"/>
          <p:cNvSpPr txBox="1"/>
          <p:nvPr/>
        </p:nvSpPr>
        <p:spPr>
          <a:xfrm>
            <a:off x="6400800" y="4709160"/>
            <a:ext cx="5242255" cy="1097280"/>
          </a:xfrm>
          <a:prstGeom prst="rect">
            <a:avLst/>
          </a:prstGeom>
          <a:noFill/>
          <a:ln/>
        </p:spPr>
        <p:txBody>
          <a:bodyPr wrap="square" lIns="0" tIns="0" rIns="0" bIns="0" rtlCol="0" anchor="t"/>
          <a:lstStyle/>
          <a:p>
            <a:pPr indent="0" marL="0">
              <a:buNone/>
            </a:pPr>
            <a:r>
              <a:rPr lang="en-US" sz="1550" dirty="0">
                <a:solidFill>
                  <a:srgbClr val="1B2530"/>
                </a:solidFill>
                <a:latin typeface="Calibri" pitchFamily="34" charset="0"/>
                <a:ea typeface="Calibri" pitchFamily="34" charset="-122"/>
                <a:cs typeface="Calibri" pitchFamily="34" charset="-120"/>
              </a:rPr>
              <a:t>From register to bus: the outputs of R reach the bus only while the enable signal c is active. What happens to the bus when it is not?</a:t>
            </a:r>
            <a:endParaRPr lang="en-US" sz="155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04</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Three-state buffers</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Sharing one wire without short circuits.</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three-state gate</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01675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If two registers drove the same wire, one with 0 and one with 1, the result would be a short circuit</a:t>
            </a:r>
            <a:endParaRPr lang="en-US" sz="2100" dirty="0"/>
          </a:p>
        </p:txBody>
      </p:sp>
      <p:sp>
        <p:nvSpPr>
          <p:cNvPr id="5" name="Shape 3"/>
          <p:cNvSpPr/>
          <p:nvPr/>
        </p:nvSpPr>
        <p:spPr>
          <a:xfrm>
            <a:off x="548640" y="262337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24697"/>
            <a:ext cx="601675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 three-state output has a third condition besides 0 and 1: high impedance, written z</a:t>
            </a:r>
            <a:endParaRPr lang="en-US" sz="2100" dirty="0"/>
          </a:p>
        </p:txBody>
      </p:sp>
      <p:sp>
        <p:nvSpPr>
          <p:cNvPr id="7" name="Shape 5"/>
          <p:cNvSpPr/>
          <p:nvPr/>
        </p:nvSpPr>
        <p:spPr>
          <a:xfrm>
            <a:off x="548640" y="340537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306699"/>
            <a:ext cx="601675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In high impedance the output is electrically disconnected: it neither drives nor loads the wire</a:t>
            </a:r>
            <a:endParaRPr lang="en-US" sz="2100" dirty="0"/>
          </a:p>
        </p:txBody>
      </p:sp>
      <p:sp>
        <p:nvSpPr>
          <p:cNvPr id="9" name="Shape 7"/>
          <p:cNvSpPr/>
          <p:nvPr/>
        </p:nvSpPr>
        <p:spPr>
          <a:xfrm>
            <a:off x="548640" y="4512755"/>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14076"/>
            <a:ext cx="601675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An enable signal a decides: a = 1 the gate works normally, a = 0 the output is z</a:t>
            </a:r>
            <a:endParaRPr lang="en-US" sz="2100" dirty="0"/>
          </a:p>
        </p:txBody>
      </p:sp>
      <p:sp>
        <p:nvSpPr>
          <p:cNvPr id="11" name="Shape 9"/>
          <p:cNvSpPr/>
          <p:nvPr/>
        </p:nvSpPr>
        <p:spPr>
          <a:xfrm>
            <a:off x="548640" y="5294757"/>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196078"/>
            <a:ext cx="601675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It is the most widespread technique for connecting several source registers to a common bus</a:t>
            </a:r>
            <a:endParaRPr lang="en-US" sz="2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498080" y="1417320"/>
          <a:ext cx="4114800" cy="914400"/>
        </p:xfrm>
        <a:graphic>
          <a:graphicData uri="http://schemas.openxmlformats.org/drawingml/2006/table">
            <a:tbl>
              <a:tblPr/>
              <a:tblGrid>
                <a:gridCol w="914400"/>
                <a:gridCol w="914400"/>
                <a:gridCol w="914400"/>
                <a:gridCol w="1371600"/>
              </a:tblGrid>
              <a:tr h="420624">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x</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y</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output</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420624">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420624">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420624">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420624">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420624">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any</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any</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z</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r>
            </a:tbl>
          </a:graphicData>
        </a:graphic>
      </p:graphicFrame>
      <p:sp>
        <p:nvSpPr>
          <p:cNvPr id="14" name="Text 11"/>
          <p:cNvSpPr txBox="1"/>
          <p:nvPr/>
        </p:nvSpPr>
        <p:spPr>
          <a:xfrm>
            <a:off x="7498080" y="4160520"/>
            <a:ext cx="4114800" cy="1097280"/>
          </a:xfrm>
          <a:prstGeom prst="rect">
            <a:avLst/>
          </a:prstGeom>
          <a:noFill/>
          <a:ln/>
        </p:spPr>
        <p:txBody>
          <a:bodyPr wrap="square" lIns="0" tIns="0" rIns="0" bIns="0" rtlCol="0" anchor="t"/>
          <a:lstStyle/>
          <a:p>
            <a:pPr indent="0" marL="0">
              <a:buNone/>
            </a:pPr>
            <a:r>
              <a:rPr lang="en-US" sz="1400" i="1" dirty="0">
                <a:solidFill>
                  <a:srgbClr val="5B6B78"/>
                </a:solidFill>
                <a:latin typeface="Calibri" pitchFamily="34" charset="0"/>
                <a:ea typeface="Calibri" pitchFamily="34" charset="-122"/>
                <a:cs typeface="Calibri" pitchFamily="34" charset="-120"/>
              </a:rPr>
              <a:t>A three-state AND with an active-high enable: with a = 1 it is an ordinary AND; with a = 0 its output floats.</a:t>
            </a:r>
            <a:endParaRPr lang="en-US" sz="1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Enabling a bus</a:t>
            </a:r>
            <a:endParaRPr lang="en-US" sz="3200" dirty="0"/>
          </a:p>
        </p:txBody>
      </p:sp>
      <p:sp>
        <p:nvSpPr>
          <p:cNvPr id="3" name="Shape 1"/>
          <p:cNvSpPr/>
          <p:nvPr/>
        </p:nvSpPr>
        <p:spPr>
          <a:xfrm>
            <a:off x="548640" y="153924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A three-state word gate between an enable signal a and a bus X gives a bus Y</a:t>
            </a:r>
            <a:endParaRPr lang="en-US" sz="2400" dirty="0"/>
          </a:p>
        </p:txBody>
      </p:sp>
      <p:sp>
        <p:nvSpPr>
          <p:cNvPr id="5" name="Shape 3"/>
          <p:cNvSpPr/>
          <p:nvPr/>
        </p:nvSpPr>
        <p:spPr>
          <a:xfrm>
            <a:off x="548640" y="262839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06472"/>
            <a:ext cx="6565392" cy="111556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Y reproduces X if a is active; otherwise all its lines are at high impedance: Y takes the neutral value</a:t>
            </a:r>
            <a:endParaRPr lang="en-US" sz="2400" dirty="0"/>
          </a:p>
        </p:txBody>
      </p:sp>
      <p:sp>
        <p:nvSpPr>
          <p:cNvPr id="7" name="Shape 5"/>
          <p:cNvSpPr/>
          <p:nvPr/>
        </p:nvSpPr>
        <p:spPr>
          <a:xfrm>
            <a:off x="548640" y="4089400"/>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967480"/>
            <a:ext cx="6565392"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We say that Y is sustained by a three-state buffer</a:t>
            </a:r>
            <a:endParaRPr lang="en-US" sz="2400" dirty="0"/>
          </a:p>
        </p:txBody>
      </p:sp>
      <p:sp>
        <p:nvSpPr>
          <p:cNvPr id="9" name="Shape 7"/>
          <p:cNvSpPr/>
          <p:nvPr/>
        </p:nvSpPr>
        <p:spPr>
          <a:xfrm>
            <a:off x="548640" y="517855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056632"/>
            <a:ext cx="6565392" cy="111556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The GPIO pins of the ESP32-C6 work this way: each pin can be an output, or be released and used as an input</a:t>
            </a:r>
            <a:endParaRPr lang="en-US" sz="2400" dirty="0"/>
          </a:p>
        </p:txBody>
      </p:sp>
      <p:sp>
        <p:nvSpPr>
          <p:cNvPr id="11" name="Shape 9"/>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2" name="Text 10"/>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0, 1, z</a:t>
            </a:r>
            <a:endParaRPr lang="en-US" sz="6000" dirty="0"/>
          </a:p>
        </p:txBody>
      </p:sp>
      <p:sp>
        <p:nvSpPr>
          <p:cNvPr id="13" name="Text 11"/>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three states: low, high and disconnected</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Connecting buses: the bus OR</a:t>
            </a:r>
            <a:endParaRPr lang="en-US" sz="3200" dirty="0"/>
          </a:p>
        </p:txBody>
      </p:sp>
      <p:sp>
        <p:nvSpPr>
          <p:cNvPr id="3" name="Text 1"/>
          <p:cNvSpPr txBox="1"/>
          <p:nvPr/>
        </p:nvSpPr>
        <p:spPr>
          <a:xfrm>
            <a:off x="731520" y="1600200"/>
            <a:ext cx="1645920" cy="731520"/>
          </a:xfrm>
          <a:prstGeom prst="roundRect">
            <a:avLst>
              <a:gd name="adj" fmla="val 7500"/>
            </a:avLst>
          </a:prstGeom>
          <a:solidFill>
            <a:srgbClr val="0E7C86"/>
          </a:solidFill>
          <a:ln>
            <a:solidFill>
              <a:srgbClr val="0E7C86"/>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register A</a:t>
            </a:r>
            <a:endParaRPr lang="en-US" sz="1400" dirty="0"/>
          </a:p>
        </p:txBody>
      </p:sp>
      <p:sp>
        <p:nvSpPr>
          <p:cNvPr id="4" name="Text 2"/>
          <p:cNvSpPr txBox="1"/>
          <p:nvPr/>
        </p:nvSpPr>
        <p:spPr>
          <a:xfrm>
            <a:off x="1051560" y="2743200"/>
            <a:ext cx="1005840" cy="457200"/>
          </a:xfrm>
          <a:prstGeom prst="roundRect">
            <a:avLst>
              <a:gd name="adj" fmla="val 12000"/>
            </a:avLst>
          </a:prstGeom>
          <a:solidFill>
            <a:srgbClr val="6B4FA0"/>
          </a:solidFill>
          <a:ln>
            <a:solidFill>
              <a:srgbClr val="6B4FA0"/>
            </a:solidFill>
          </a:ln>
        </p:spPr>
        <p:txBody>
          <a:bodyPr wrap="square" lIns="38100" tIns="38100" rIns="38100" bIns="381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3-state</a:t>
            </a:r>
            <a:endParaRPr lang="en-US" sz="1250" dirty="0"/>
          </a:p>
        </p:txBody>
      </p:sp>
      <p:sp>
        <p:nvSpPr>
          <p:cNvPr id="5" name="Shape 3"/>
          <p:cNvSpPr/>
          <p:nvPr/>
        </p:nvSpPr>
        <p:spPr>
          <a:xfrm>
            <a:off x="1554480" y="2359152"/>
            <a:ext cx="0" cy="356616"/>
          </a:xfrm>
          <a:prstGeom prst="line">
            <a:avLst/>
          </a:prstGeom>
          <a:noFill/>
          <a:ln w="25400">
            <a:solidFill>
              <a:srgbClr val="5B6B78"/>
            </a:solidFill>
            <a:prstDash val="solid"/>
            <a:tailEnd type="triangle"/>
          </a:ln>
        </p:spPr>
      </p:sp>
      <p:sp>
        <p:nvSpPr>
          <p:cNvPr id="6" name="Shape 4"/>
          <p:cNvSpPr/>
          <p:nvPr/>
        </p:nvSpPr>
        <p:spPr>
          <a:xfrm>
            <a:off x="1554480" y="3227832"/>
            <a:ext cx="0" cy="704088"/>
          </a:xfrm>
          <a:prstGeom prst="line">
            <a:avLst/>
          </a:prstGeom>
          <a:noFill/>
          <a:ln w="25400">
            <a:solidFill>
              <a:srgbClr val="5B6B78"/>
            </a:solidFill>
            <a:prstDash val="solid"/>
            <a:tailEnd type="triangle"/>
          </a:ln>
        </p:spPr>
      </p:sp>
      <p:sp>
        <p:nvSpPr>
          <p:cNvPr id="7" name="Text 5"/>
          <p:cNvSpPr txBox="1"/>
          <p:nvPr/>
        </p:nvSpPr>
        <p:spPr>
          <a:xfrm>
            <a:off x="502920" y="3291840"/>
            <a:ext cx="1005840" cy="274320"/>
          </a:xfrm>
          <a:prstGeom prst="rect">
            <a:avLst/>
          </a:prstGeom>
          <a:noFill/>
          <a:ln/>
        </p:spPr>
        <p:txBody>
          <a:bodyPr wrap="square" lIns="0" tIns="0" rIns="0" bIns="0" rtlCol="0" anchor="t"/>
          <a:lstStyle/>
          <a:p>
            <a:pPr indent="0" marL="0">
              <a:buNone/>
            </a:pPr>
            <a:r>
              <a:rPr lang="en-US" sz="1200" b="1" dirty="0">
                <a:solidFill>
                  <a:srgbClr val="B23A48"/>
                </a:solidFill>
                <a:latin typeface="Calibri" pitchFamily="34" charset="0"/>
                <a:ea typeface="Calibri" pitchFamily="34" charset="-122"/>
                <a:cs typeface="Calibri" pitchFamily="34" charset="-120"/>
              </a:rPr>
              <a:t>enable α</a:t>
            </a:r>
            <a:endParaRPr lang="en-US" sz="1200" dirty="0"/>
          </a:p>
        </p:txBody>
      </p:sp>
      <p:sp>
        <p:nvSpPr>
          <p:cNvPr id="8" name="Text 6"/>
          <p:cNvSpPr txBox="1"/>
          <p:nvPr/>
        </p:nvSpPr>
        <p:spPr>
          <a:xfrm>
            <a:off x="2743200" y="1600200"/>
            <a:ext cx="1645920" cy="731520"/>
          </a:xfrm>
          <a:prstGeom prst="roundRect">
            <a:avLst>
              <a:gd name="adj" fmla="val 7500"/>
            </a:avLst>
          </a:prstGeom>
          <a:solidFill>
            <a:srgbClr val="0E7C86"/>
          </a:solidFill>
          <a:ln>
            <a:solidFill>
              <a:srgbClr val="0E7C86"/>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register B</a:t>
            </a:r>
            <a:endParaRPr lang="en-US" sz="1400" dirty="0"/>
          </a:p>
        </p:txBody>
      </p:sp>
      <p:sp>
        <p:nvSpPr>
          <p:cNvPr id="9" name="Text 7"/>
          <p:cNvSpPr txBox="1"/>
          <p:nvPr/>
        </p:nvSpPr>
        <p:spPr>
          <a:xfrm>
            <a:off x="3063240" y="2743200"/>
            <a:ext cx="1005840" cy="457200"/>
          </a:xfrm>
          <a:prstGeom prst="roundRect">
            <a:avLst>
              <a:gd name="adj" fmla="val 12000"/>
            </a:avLst>
          </a:prstGeom>
          <a:solidFill>
            <a:srgbClr val="6B4FA0"/>
          </a:solidFill>
          <a:ln>
            <a:solidFill>
              <a:srgbClr val="6B4FA0"/>
            </a:solidFill>
          </a:ln>
        </p:spPr>
        <p:txBody>
          <a:bodyPr wrap="square" lIns="38100" tIns="38100" rIns="38100" bIns="381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3-state</a:t>
            </a:r>
            <a:endParaRPr lang="en-US" sz="1250" dirty="0"/>
          </a:p>
        </p:txBody>
      </p:sp>
      <p:sp>
        <p:nvSpPr>
          <p:cNvPr id="10" name="Shape 8"/>
          <p:cNvSpPr/>
          <p:nvPr/>
        </p:nvSpPr>
        <p:spPr>
          <a:xfrm>
            <a:off x="3566160" y="2359152"/>
            <a:ext cx="0" cy="356616"/>
          </a:xfrm>
          <a:prstGeom prst="line">
            <a:avLst/>
          </a:prstGeom>
          <a:noFill/>
          <a:ln w="25400">
            <a:solidFill>
              <a:srgbClr val="5B6B78"/>
            </a:solidFill>
            <a:prstDash val="solid"/>
            <a:tailEnd type="triangle"/>
          </a:ln>
        </p:spPr>
      </p:sp>
      <p:sp>
        <p:nvSpPr>
          <p:cNvPr id="11" name="Shape 9"/>
          <p:cNvSpPr/>
          <p:nvPr/>
        </p:nvSpPr>
        <p:spPr>
          <a:xfrm>
            <a:off x="3566160" y="3227832"/>
            <a:ext cx="0" cy="704088"/>
          </a:xfrm>
          <a:prstGeom prst="line">
            <a:avLst/>
          </a:prstGeom>
          <a:noFill/>
          <a:ln w="25400">
            <a:solidFill>
              <a:srgbClr val="5B6B78"/>
            </a:solidFill>
            <a:prstDash val="solid"/>
            <a:tailEnd type="triangle"/>
          </a:ln>
        </p:spPr>
      </p:sp>
      <p:sp>
        <p:nvSpPr>
          <p:cNvPr id="12" name="Text 10"/>
          <p:cNvSpPr txBox="1"/>
          <p:nvPr/>
        </p:nvSpPr>
        <p:spPr>
          <a:xfrm>
            <a:off x="2514600" y="3291840"/>
            <a:ext cx="1005840" cy="274320"/>
          </a:xfrm>
          <a:prstGeom prst="rect">
            <a:avLst/>
          </a:prstGeom>
          <a:noFill/>
          <a:ln/>
        </p:spPr>
        <p:txBody>
          <a:bodyPr wrap="square" lIns="0" tIns="0" rIns="0" bIns="0" rtlCol="0" anchor="t"/>
          <a:lstStyle/>
          <a:p>
            <a:pPr indent="0" marL="0">
              <a:buNone/>
            </a:pPr>
            <a:r>
              <a:rPr lang="en-US" sz="1200" b="1" dirty="0">
                <a:solidFill>
                  <a:srgbClr val="B23A48"/>
                </a:solidFill>
                <a:latin typeface="Calibri" pitchFamily="34" charset="0"/>
                <a:ea typeface="Calibri" pitchFamily="34" charset="-122"/>
                <a:cs typeface="Calibri" pitchFamily="34" charset="-120"/>
              </a:rPr>
              <a:t>enable β</a:t>
            </a:r>
            <a:endParaRPr lang="en-US" sz="1200" dirty="0"/>
          </a:p>
        </p:txBody>
      </p:sp>
      <p:sp>
        <p:nvSpPr>
          <p:cNvPr id="13" name="Text 11"/>
          <p:cNvSpPr txBox="1"/>
          <p:nvPr/>
        </p:nvSpPr>
        <p:spPr>
          <a:xfrm>
            <a:off x="4754880" y="1600200"/>
            <a:ext cx="1645920" cy="731520"/>
          </a:xfrm>
          <a:prstGeom prst="roundRect">
            <a:avLst>
              <a:gd name="adj" fmla="val 7500"/>
            </a:avLst>
          </a:prstGeom>
          <a:solidFill>
            <a:srgbClr val="0E7C86"/>
          </a:solidFill>
          <a:ln>
            <a:solidFill>
              <a:srgbClr val="0E7C86"/>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register X</a:t>
            </a:r>
            <a:endParaRPr lang="en-US" sz="1400" dirty="0"/>
          </a:p>
        </p:txBody>
      </p:sp>
      <p:sp>
        <p:nvSpPr>
          <p:cNvPr id="14" name="Text 12"/>
          <p:cNvSpPr txBox="1"/>
          <p:nvPr/>
        </p:nvSpPr>
        <p:spPr>
          <a:xfrm>
            <a:off x="5074920" y="2743200"/>
            <a:ext cx="1005840" cy="457200"/>
          </a:xfrm>
          <a:prstGeom prst="roundRect">
            <a:avLst>
              <a:gd name="adj" fmla="val 12000"/>
            </a:avLst>
          </a:prstGeom>
          <a:solidFill>
            <a:srgbClr val="6B4FA0"/>
          </a:solidFill>
          <a:ln>
            <a:solidFill>
              <a:srgbClr val="6B4FA0"/>
            </a:solidFill>
          </a:ln>
        </p:spPr>
        <p:txBody>
          <a:bodyPr wrap="square" lIns="38100" tIns="38100" rIns="38100" bIns="381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3-state</a:t>
            </a:r>
            <a:endParaRPr lang="en-US" sz="1250" dirty="0"/>
          </a:p>
        </p:txBody>
      </p:sp>
      <p:sp>
        <p:nvSpPr>
          <p:cNvPr id="15" name="Shape 13"/>
          <p:cNvSpPr/>
          <p:nvPr/>
        </p:nvSpPr>
        <p:spPr>
          <a:xfrm>
            <a:off x="5577840" y="2359152"/>
            <a:ext cx="0" cy="356616"/>
          </a:xfrm>
          <a:prstGeom prst="line">
            <a:avLst/>
          </a:prstGeom>
          <a:noFill/>
          <a:ln w="25400">
            <a:solidFill>
              <a:srgbClr val="5B6B78"/>
            </a:solidFill>
            <a:prstDash val="solid"/>
            <a:tailEnd type="triangle"/>
          </a:ln>
        </p:spPr>
      </p:sp>
      <p:sp>
        <p:nvSpPr>
          <p:cNvPr id="16" name="Shape 14"/>
          <p:cNvSpPr/>
          <p:nvPr/>
        </p:nvSpPr>
        <p:spPr>
          <a:xfrm>
            <a:off x="5577840" y="3227832"/>
            <a:ext cx="0" cy="704088"/>
          </a:xfrm>
          <a:prstGeom prst="line">
            <a:avLst/>
          </a:prstGeom>
          <a:noFill/>
          <a:ln w="25400">
            <a:solidFill>
              <a:srgbClr val="5B6B78"/>
            </a:solidFill>
            <a:prstDash val="solid"/>
            <a:tailEnd type="triangle"/>
          </a:ln>
        </p:spPr>
      </p:sp>
      <p:sp>
        <p:nvSpPr>
          <p:cNvPr id="17" name="Text 15"/>
          <p:cNvSpPr txBox="1"/>
          <p:nvPr/>
        </p:nvSpPr>
        <p:spPr>
          <a:xfrm>
            <a:off x="4526280" y="3291840"/>
            <a:ext cx="1005840" cy="274320"/>
          </a:xfrm>
          <a:prstGeom prst="rect">
            <a:avLst/>
          </a:prstGeom>
          <a:noFill/>
          <a:ln/>
        </p:spPr>
        <p:txBody>
          <a:bodyPr wrap="square" lIns="0" tIns="0" rIns="0" bIns="0" rtlCol="0" anchor="t"/>
          <a:lstStyle/>
          <a:p>
            <a:pPr indent="0" marL="0">
              <a:buNone/>
            </a:pPr>
            <a:r>
              <a:rPr lang="en-US" sz="1200" b="1" dirty="0">
                <a:solidFill>
                  <a:srgbClr val="B23A48"/>
                </a:solidFill>
                <a:latin typeface="Calibri" pitchFamily="34" charset="0"/>
                <a:ea typeface="Calibri" pitchFamily="34" charset="-122"/>
                <a:cs typeface="Calibri" pitchFamily="34" charset="-120"/>
              </a:rPr>
              <a:t>enable ξ</a:t>
            </a:r>
            <a:endParaRPr lang="en-US" sz="1200" dirty="0"/>
          </a:p>
        </p:txBody>
      </p:sp>
      <p:sp>
        <p:nvSpPr>
          <p:cNvPr id="18" name="Shape 16"/>
          <p:cNvSpPr/>
          <p:nvPr/>
        </p:nvSpPr>
        <p:spPr>
          <a:xfrm>
            <a:off x="548640" y="3977640"/>
            <a:ext cx="5852160" cy="0"/>
          </a:xfrm>
          <a:prstGeom prst="line">
            <a:avLst/>
          </a:prstGeom>
          <a:noFill/>
          <a:ln w="76200">
            <a:solidFill>
              <a:srgbClr val="C7791B"/>
            </a:solidFill>
            <a:prstDash val="solid"/>
          </a:ln>
        </p:spPr>
      </p:sp>
      <p:sp>
        <p:nvSpPr>
          <p:cNvPr id="19" name="Text 17"/>
          <p:cNvSpPr txBox="1"/>
          <p:nvPr/>
        </p:nvSpPr>
        <p:spPr>
          <a:xfrm>
            <a:off x="4480560" y="4069080"/>
            <a:ext cx="2011680" cy="274320"/>
          </a:xfrm>
          <a:prstGeom prst="rect">
            <a:avLst/>
          </a:prstGeom>
          <a:noFill/>
          <a:ln/>
        </p:spPr>
        <p:txBody>
          <a:bodyPr wrap="square" lIns="0" tIns="0" rIns="0" bIns="0" rtlCol="0" anchor="t"/>
          <a:lstStyle/>
          <a:p>
            <a:pPr indent="0" marL="0">
              <a:buNone/>
            </a:pPr>
            <a:r>
              <a:rPr lang="en-US" sz="1400" b="1" dirty="0">
                <a:solidFill>
                  <a:srgbClr val="C7791B"/>
                </a:solidFill>
                <a:latin typeface="Calibri" pitchFamily="34" charset="0"/>
                <a:ea typeface="Calibri" pitchFamily="34" charset="-122"/>
                <a:cs typeface="Calibri" pitchFamily="34" charset="-120"/>
              </a:rPr>
              <a:t>common bus Y</a:t>
            </a:r>
            <a:endParaRPr lang="en-US" sz="1400" dirty="0"/>
          </a:p>
        </p:txBody>
      </p:sp>
      <p:sp>
        <p:nvSpPr>
          <p:cNvPr id="20" name="Text 18"/>
          <p:cNvSpPr txBox="1"/>
          <p:nvPr/>
        </p:nvSpPr>
        <p:spPr>
          <a:xfrm>
            <a:off x="2194560" y="4800600"/>
            <a:ext cx="2011680" cy="822960"/>
          </a:xfrm>
          <a:prstGeom prst="roundRect">
            <a:avLst>
              <a:gd name="adj" fmla="val 6667"/>
            </a:avLst>
          </a:prstGeom>
          <a:solidFill>
            <a:srgbClr val="2E4A62"/>
          </a:solidFill>
          <a:ln>
            <a:solidFill>
              <a:srgbClr val="2E4A62"/>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destination</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registers</a:t>
            </a:r>
            <a:endParaRPr lang="en-US" sz="1400" dirty="0"/>
          </a:p>
        </p:txBody>
      </p:sp>
      <p:sp>
        <p:nvSpPr>
          <p:cNvPr id="21" name="Shape 19"/>
          <p:cNvSpPr/>
          <p:nvPr/>
        </p:nvSpPr>
        <p:spPr>
          <a:xfrm>
            <a:off x="3200400" y="4023360"/>
            <a:ext cx="0" cy="749808"/>
          </a:xfrm>
          <a:prstGeom prst="line">
            <a:avLst/>
          </a:prstGeom>
          <a:noFill/>
          <a:ln w="25400">
            <a:solidFill>
              <a:srgbClr val="5B6B78"/>
            </a:solidFill>
            <a:prstDash val="solid"/>
            <a:tailEnd type="triangle"/>
          </a:ln>
        </p:spPr>
      </p:sp>
      <p:sp>
        <p:nvSpPr>
          <p:cNvPr id="22" name="Shape 20"/>
          <p:cNvSpPr/>
          <p:nvPr/>
        </p:nvSpPr>
        <p:spPr>
          <a:xfrm>
            <a:off x="6858000" y="1492758"/>
            <a:ext cx="146304" cy="146304"/>
          </a:xfrm>
          <a:prstGeom prst="rect">
            <a:avLst/>
          </a:prstGeom>
          <a:solidFill>
            <a:srgbClr val="0E7C86"/>
          </a:solidFill>
          <a:ln w="12700">
            <a:solidFill>
              <a:srgbClr val="0E7C86"/>
            </a:solidFill>
            <a:prstDash val="solid"/>
          </a:ln>
        </p:spPr>
      </p:sp>
      <p:sp>
        <p:nvSpPr>
          <p:cNvPr id="23" name="Text 21"/>
          <p:cNvSpPr txBox="1"/>
          <p:nvPr/>
        </p:nvSpPr>
        <p:spPr>
          <a:xfrm>
            <a:off x="7242048" y="1417320"/>
            <a:ext cx="4401007" cy="1115568"/>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Several source registers are connected to one bus simply by joining their outputs, each through a three-state buffer</a:t>
            </a:r>
            <a:endParaRPr lang="en-US" sz="1800" dirty="0"/>
          </a:p>
        </p:txBody>
      </p:sp>
      <p:sp>
        <p:nvSpPr>
          <p:cNvPr id="24" name="Shape 22"/>
          <p:cNvSpPr/>
          <p:nvPr/>
        </p:nvSpPr>
        <p:spPr>
          <a:xfrm>
            <a:off x="6858000" y="2798826"/>
            <a:ext cx="146304" cy="146304"/>
          </a:xfrm>
          <a:prstGeom prst="rect">
            <a:avLst/>
          </a:prstGeom>
          <a:solidFill>
            <a:srgbClr val="C7791B"/>
          </a:solidFill>
          <a:ln w="12700">
            <a:solidFill>
              <a:srgbClr val="C7791B"/>
            </a:solidFill>
            <a:prstDash val="solid"/>
          </a:ln>
        </p:spPr>
      </p:sp>
      <p:sp>
        <p:nvSpPr>
          <p:cNvPr id="25" name="Text 23"/>
          <p:cNvSpPr txBox="1"/>
          <p:nvPr/>
        </p:nvSpPr>
        <p:spPr>
          <a:xfrm>
            <a:off x="7242048" y="2723388"/>
            <a:ext cx="4401007" cy="1115568"/>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The condition: of the n sources that flow into the bus, at most one is enabled at a time. One active signal, the other n - 1 neutral</a:t>
            </a:r>
            <a:endParaRPr lang="en-US" sz="1800" dirty="0"/>
          </a:p>
        </p:txBody>
      </p:sp>
      <p:sp>
        <p:nvSpPr>
          <p:cNvPr id="26" name="Shape 24"/>
          <p:cNvSpPr/>
          <p:nvPr/>
        </p:nvSpPr>
        <p:spPr>
          <a:xfrm>
            <a:off x="6858000" y="4104894"/>
            <a:ext cx="146304" cy="146304"/>
          </a:xfrm>
          <a:prstGeom prst="rect">
            <a:avLst/>
          </a:prstGeom>
          <a:solidFill>
            <a:srgbClr val="0E7C86"/>
          </a:solidFill>
          <a:ln w="12700">
            <a:solidFill>
              <a:srgbClr val="0E7C86"/>
            </a:solidFill>
            <a:prstDash val="solid"/>
          </a:ln>
        </p:spPr>
      </p:sp>
      <p:sp>
        <p:nvSpPr>
          <p:cNvPr id="27" name="Text 25"/>
          <p:cNvSpPr txBox="1"/>
          <p:nvPr/>
        </p:nvSpPr>
        <p:spPr>
          <a:xfrm>
            <a:off x="7242048" y="4029456"/>
            <a:ext cx="4401007" cy="1115568"/>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On the destination side, every register is connected to the bus and only the one whose load signal is active takes the datum</a:t>
            </a:r>
            <a:endParaRPr lang="en-US" sz="1800" dirty="0"/>
          </a:p>
        </p:txBody>
      </p:sp>
      <p:sp>
        <p:nvSpPr>
          <p:cNvPr id="28" name="Shape 26"/>
          <p:cNvSpPr/>
          <p:nvPr/>
        </p:nvSpPr>
        <p:spPr>
          <a:xfrm>
            <a:off x="6858000" y="5410962"/>
            <a:ext cx="146304" cy="146304"/>
          </a:xfrm>
          <a:prstGeom prst="rect">
            <a:avLst/>
          </a:prstGeom>
          <a:solidFill>
            <a:srgbClr val="C7791B"/>
          </a:solidFill>
          <a:ln w="12700">
            <a:solidFill>
              <a:srgbClr val="C7791B"/>
            </a:solidFill>
            <a:prstDash val="solid"/>
          </a:ln>
        </p:spPr>
      </p:sp>
      <p:sp>
        <p:nvSpPr>
          <p:cNvPr id="29" name="Text 27"/>
          <p:cNvSpPr txBox="1"/>
          <p:nvPr/>
        </p:nvSpPr>
        <p:spPr>
          <a:xfrm>
            <a:off x="7242048" y="5335524"/>
            <a:ext cx="4401007" cy="836676"/>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Choosing the source and the destination is the job of decoders, driven by the control unit</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05</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Shift registers</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Registers that move their bits.</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Shift registers</a:t>
            </a:r>
            <a:endParaRPr lang="en-US" sz="3200" dirty="0"/>
          </a:p>
        </p:txBody>
      </p:sp>
      <p:sp>
        <p:nvSpPr>
          <p:cNvPr id="3" name="Shape 1"/>
          <p:cNvSpPr/>
          <p:nvPr/>
        </p:nvSpPr>
        <p:spPr>
          <a:xfrm>
            <a:off x="548640" y="1417320"/>
            <a:ext cx="11094415" cy="1596136"/>
          </a:xfrm>
          <a:prstGeom prst="roundRect">
            <a:avLst>
              <a:gd name="adj" fmla="val 4583"/>
            </a:avLst>
          </a:prstGeom>
          <a:solidFill>
            <a:srgbClr val="F6E7D2"/>
          </a:solidFill>
          <a:ln w="12700">
            <a:solidFill>
              <a:srgbClr val="F6E7D2"/>
            </a:solidFill>
            <a:prstDash val="solid"/>
          </a:ln>
        </p:spPr>
      </p:sp>
      <p:sp>
        <p:nvSpPr>
          <p:cNvPr id="4" name="Text 2"/>
          <p:cNvSpPr txBox="1"/>
          <p:nvPr/>
        </p:nvSpPr>
        <p:spPr>
          <a:xfrm>
            <a:off x="914400" y="1600200"/>
            <a:ext cx="10362895" cy="411480"/>
          </a:xfrm>
          <a:prstGeom prst="rect">
            <a:avLst/>
          </a:prstGeom>
          <a:noFill/>
          <a:ln/>
        </p:spPr>
        <p:txBody>
          <a:bodyPr wrap="square" lIns="0" tIns="0" rIns="0" bIns="0" rtlCol="0" anchor="ctr"/>
          <a:lstStyle/>
          <a:p>
            <a:pPr indent="0" marL="0">
              <a:buNone/>
            </a:pPr>
            <a:r>
              <a:rPr lang="en-US" sz="1600" b="1" dirty="0">
                <a:solidFill>
                  <a:srgbClr val="C7791B"/>
                </a:solidFill>
                <a:latin typeface="Calibri" pitchFamily="34" charset="0"/>
                <a:ea typeface="Calibri" pitchFamily="34" charset="-122"/>
                <a:cs typeface="Calibri" pitchFamily="34" charset="-120"/>
              </a:rPr>
              <a:t>Definition</a:t>
            </a:r>
            <a:endParaRPr lang="en-US" sz="1600" dirty="0"/>
          </a:p>
        </p:txBody>
      </p:sp>
      <p:sp>
        <p:nvSpPr>
          <p:cNvPr id="5" name="Text 3"/>
          <p:cNvSpPr txBox="1"/>
          <p:nvPr/>
        </p:nvSpPr>
        <p:spPr>
          <a:xfrm>
            <a:off x="914400" y="2057400"/>
            <a:ext cx="10362895" cy="773176"/>
          </a:xfrm>
          <a:prstGeom prst="rect">
            <a:avLst/>
          </a:prstGeom>
          <a:noFill/>
          <a:ln/>
        </p:spPr>
        <p:txBody>
          <a:bodyPr wrap="square" lIns="0" tIns="0" rIns="0" bIns="0" rtlCol="0" anchor="ctr"/>
          <a:lstStyle/>
          <a:p>
            <a:pPr indent="0" marL="0">
              <a:buNone/>
            </a:pPr>
            <a:r>
              <a:rPr lang="en-US" sz="2400" i="1" dirty="0">
                <a:solidFill>
                  <a:srgbClr val="1B2530"/>
                </a:solidFill>
                <a:latin typeface="Cambria" pitchFamily="34" charset="0"/>
                <a:ea typeface="Cambria" pitchFamily="34" charset="-122"/>
                <a:cs typeface="Cambria" pitchFamily="34" charset="-120"/>
              </a:rPr>
              <a:t>A chain of one-bit memory cells connected to each other: at every clock pulse each bit moves from one cell to the adjacent one.</a:t>
            </a:r>
            <a:endParaRPr lang="en-US" sz="2400" dirty="0"/>
          </a:p>
        </p:txBody>
      </p:sp>
      <p:sp>
        <p:nvSpPr>
          <p:cNvPr id="6" name="Shape 4"/>
          <p:cNvSpPr/>
          <p:nvPr/>
        </p:nvSpPr>
        <p:spPr>
          <a:xfrm>
            <a:off x="548640" y="3487928"/>
            <a:ext cx="146304" cy="146304"/>
          </a:xfrm>
          <a:prstGeom prst="rect">
            <a:avLst/>
          </a:prstGeom>
          <a:solidFill>
            <a:srgbClr val="0E7C86"/>
          </a:solidFill>
          <a:ln w="12700">
            <a:solidFill>
              <a:srgbClr val="0E7C86"/>
            </a:solidFill>
            <a:prstDash val="solid"/>
          </a:ln>
        </p:spPr>
      </p:sp>
      <p:sp>
        <p:nvSpPr>
          <p:cNvPr id="7" name="Text 5"/>
          <p:cNvSpPr txBox="1"/>
          <p:nvPr/>
        </p:nvSpPr>
        <p:spPr>
          <a:xfrm>
            <a:off x="932688" y="3366008"/>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The shift can go in one fixed direction, or in a direction chosen by a control line (bidirectional registers)</a:t>
            </a:r>
            <a:endParaRPr lang="en-US" sz="2400" dirty="0"/>
          </a:p>
        </p:txBody>
      </p:sp>
      <p:sp>
        <p:nvSpPr>
          <p:cNvPr id="8" name="Shape 6"/>
          <p:cNvSpPr/>
          <p:nvPr/>
        </p:nvSpPr>
        <p:spPr>
          <a:xfrm>
            <a:off x="548640" y="4688840"/>
            <a:ext cx="146304" cy="146304"/>
          </a:xfrm>
          <a:prstGeom prst="rect">
            <a:avLst/>
          </a:prstGeom>
          <a:solidFill>
            <a:srgbClr val="C7791B"/>
          </a:solidFill>
          <a:ln w="12700">
            <a:solidFill>
              <a:srgbClr val="C7791B"/>
            </a:solidFill>
            <a:prstDash val="solid"/>
          </a:ln>
        </p:spPr>
      </p:sp>
      <p:sp>
        <p:nvSpPr>
          <p:cNvPr id="9" name="Text 7"/>
          <p:cNvSpPr txBox="1"/>
          <p:nvPr/>
        </p:nvSpPr>
        <p:spPr>
          <a:xfrm>
            <a:off x="932688" y="4566920"/>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They make reading and writing data in a system easier: they turn parallel data into serial data and back</a:t>
            </a:r>
            <a:endParaRPr lang="en-US" sz="2400" dirty="0"/>
          </a:p>
        </p:txBody>
      </p:sp>
      <p:sp>
        <p:nvSpPr>
          <p:cNvPr id="10" name="Shape 8"/>
          <p:cNvSpPr/>
          <p:nvPr/>
        </p:nvSpPr>
        <p:spPr>
          <a:xfrm>
            <a:off x="548640" y="5889752"/>
            <a:ext cx="146304" cy="146304"/>
          </a:xfrm>
          <a:prstGeom prst="rect">
            <a:avLst/>
          </a:prstGeom>
          <a:solidFill>
            <a:srgbClr val="0E7C86"/>
          </a:solidFill>
          <a:ln w="12700">
            <a:solidFill>
              <a:srgbClr val="0E7C86"/>
            </a:solidFill>
            <a:prstDash val="solid"/>
          </a:ln>
        </p:spPr>
      </p:sp>
      <p:sp>
        <p:nvSpPr>
          <p:cNvPr id="11" name="Text 9"/>
          <p:cNvSpPr txBox="1"/>
          <p:nvPr/>
        </p:nvSpPr>
        <p:spPr>
          <a:xfrm>
            <a:off x="932688" y="5767832"/>
            <a:ext cx="10710367" cy="37185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Each cell is a D flip-flop whose input is the output of its neighbour</a:t>
            </a:r>
            <a:endParaRPr lang="en-US" sz="2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Four kinds of shift register</a:t>
            </a:r>
            <a:endParaRPr lang="en-US" sz="3200" dirty="0"/>
          </a:p>
        </p:txBody>
      </p:sp>
      <p:sp>
        <p:nvSpPr>
          <p:cNvPr id="3" name="Text 1"/>
          <p:cNvSpPr txBox="1"/>
          <p:nvPr/>
        </p:nvSpPr>
        <p:spPr>
          <a:xfrm>
            <a:off x="548640" y="1371600"/>
            <a:ext cx="5486400" cy="274320"/>
          </a:xfrm>
          <a:prstGeom prst="rect">
            <a:avLst/>
          </a:prstGeom>
          <a:noFill/>
          <a:ln/>
        </p:spPr>
        <p:txBody>
          <a:bodyPr wrap="square" lIns="0" tIns="0" rIns="0" bIns="0" rtlCol="0" anchor="t"/>
          <a:lstStyle/>
          <a:p>
            <a:pPr indent="0" marL="0">
              <a:buNone/>
            </a:pPr>
            <a:r>
              <a:rPr lang="en-US" sz="1400" b="1" dirty="0">
                <a:solidFill>
                  <a:srgbClr val="2E4A62"/>
                </a:solidFill>
                <a:latin typeface="Calibri" pitchFamily="34" charset="0"/>
                <a:ea typeface="Calibri" pitchFamily="34" charset="-122"/>
                <a:cs typeface="Calibri" pitchFamily="34" charset="-120"/>
              </a:rPr>
              <a:t>Serial in, serial out</a:t>
            </a:r>
            <a:endParaRPr lang="en-US" sz="1400" dirty="0"/>
          </a:p>
        </p:txBody>
      </p:sp>
      <p:sp>
        <p:nvSpPr>
          <p:cNvPr id="4" name="Text 2"/>
          <p:cNvSpPr txBox="1"/>
          <p:nvPr/>
        </p:nvSpPr>
        <p:spPr>
          <a:xfrm>
            <a:off x="1280160" y="1783080"/>
            <a:ext cx="868680" cy="685800"/>
          </a:xfrm>
          <a:prstGeom prst="roundRect">
            <a:avLst>
              <a:gd name="adj" fmla="val 8000"/>
            </a:avLst>
          </a:prstGeom>
          <a:solidFill>
            <a:srgbClr val="0E7C86"/>
          </a:solidFill>
          <a:ln>
            <a:solidFill>
              <a:srgbClr val="0E7C86"/>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F1</a:t>
            </a:r>
            <a:endParaRPr lang="en-US" sz="1500" dirty="0"/>
          </a:p>
        </p:txBody>
      </p:sp>
      <p:sp>
        <p:nvSpPr>
          <p:cNvPr id="5" name="Shape 3"/>
          <p:cNvSpPr/>
          <p:nvPr/>
        </p:nvSpPr>
        <p:spPr>
          <a:xfrm>
            <a:off x="2176272" y="2125980"/>
            <a:ext cx="265176" cy="0"/>
          </a:xfrm>
          <a:prstGeom prst="line">
            <a:avLst/>
          </a:prstGeom>
          <a:noFill/>
          <a:ln w="25400">
            <a:solidFill>
              <a:srgbClr val="5B6B78"/>
            </a:solidFill>
            <a:prstDash val="solid"/>
            <a:tailEnd type="triangle"/>
          </a:ln>
        </p:spPr>
      </p:sp>
      <p:sp>
        <p:nvSpPr>
          <p:cNvPr id="6" name="Text 4"/>
          <p:cNvSpPr txBox="1"/>
          <p:nvPr/>
        </p:nvSpPr>
        <p:spPr>
          <a:xfrm>
            <a:off x="2468880" y="1783080"/>
            <a:ext cx="868680" cy="685800"/>
          </a:xfrm>
          <a:prstGeom prst="roundRect">
            <a:avLst>
              <a:gd name="adj" fmla="val 8000"/>
            </a:avLst>
          </a:prstGeom>
          <a:solidFill>
            <a:srgbClr val="0E7C86"/>
          </a:solidFill>
          <a:ln>
            <a:solidFill>
              <a:srgbClr val="0E7C86"/>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F2</a:t>
            </a:r>
            <a:endParaRPr lang="en-US" sz="1500" dirty="0"/>
          </a:p>
        </p:txBody>
      </p:sp>
      <p:sp>
        <p:nvSpPr>
          <p:cNvPr id="7" name="Shape 5"/>
          <p:cNvSpPr/>
          <p:nvPr/>
        </p:nvSpPr>
        <p:spPr>
          <a:xfrm>
            <a:off x="3364992" y="2125980"/>
            <a:ext cx="265176" cy="0"/>
          </a:xfrm>
          <a:prstGeom prst="line">
            <a:avLst/>
          </a:prstGeom>
          <a:noFill/>
          <a:ln w="25400">
            <a:solidFill>
              <a:srgbClr val="5B6B78"/>
            </a:solidFill>
            <a:prstDash val="solid"/>
            <a:tailEnd type="triangle"/>
          </a:ln>
        </p:spPr>
      </p:sp>
      <p:sp>
        <p:nvSpPr>
          <p:cNvPr id="8" name="Text 6"/>
          <p:cNvSpPr txBox="1"/>
          <p:nvPr/>
        </p:nvSpPr>
        <p:spPr>
          <a:xfrm>
            <a:off x="3657600" y="1783080"/>
            <a:ext cx="868680" cy="685800"/>
          </a:xfrm>
          <a:prstGeom prst="roundRect">
            <a:avLst>
              <a:gd name="adj" fmla="val 8000"/>
            </a:avLst>
          </a:prstGeom>
          <a:solidFill>
            <a:srgbClr val="0E7C86"/>
          </a:solidFill>
          <a:ln>
            <a:solidFill>
              <a:srgbClr val="0E7C86"/>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9" name="Shape 7"/>
          <p:cNvSpPr/>
          <p:nvPr/>
        </p:nvSpPr>
        <p:spPr>
          <a:xfrm>
            <a:off x="4553712" y="2125980"/>
            <a:ext cx="265176" cy="0"/>
          </a:xfrm>
          <a:prstGeom prst="line">
            <a:avLst/>
          </a:prstGeom>
          <a:noFill/>
          <a:ln w="25400">
            <a:solidFill>
              <a:srgbClr val="5B6B78"/>
            </a:solidFill>
            <a:prstDash val="solid"/>
            <a:tailEnd type="triangle"/>
          </a:ln>
        </p:spPr>
      </p:sp>
      <p:sp>
        <p:nvSpPr>
          <p:cNvPr id="10" name="Text 8"/>
          <p:cNvSpPr txBox="1"/>
          <p:nvPr/>
        </p:nvSpPr>
        <p:spPr>
          <a:xfrm>
            <a:off x="4846320" y="1783080"/>
            <a:ext cx="868680" cy="685800"/>
          </a:xfrm>
          <a:prstGeom prst="roundRect">
            <a:avLst>
              <a:gd name="adj" fmla="val 8000"/>
            </a:avLst>
          </a:prstGeom>
          <a:solidFill>
            <a:srgbClr val="0E7C86"/>
          </a:solidFill>
          <a:ln>
            <a:solidFill>
              <a:srgbClr val="0E7C86"/>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FN</a:t>
            </a:r>
            <a:endParaRPr lang="en-US" sz="1500" dirty="0"/>
          </a:p>
        </p:txBody>
      </p:sp>
      <p:sp>
        <p:nvSpPr>
          <p:cNvPr id="11" name="Shape 9"/>
          <p:cNvSpPr/>
          <p:nvPr/>
        </p:nvSpPr>
        <p:spPr>
          <a:xfrm>
            <a:off x="548640" y="2121408"/>
            <a:ext cx="704088" cy="0"/>
          </a:xfrm>
          <a:prstGeom prst="line">
            <a:avLst/>
          </a:prstGeom>
          <a:noFill/>
          <a:ln w="25400">
            <a:solidFill>
              <a:srgbClr val="5B6B78"/>
            </a:solidFill>
            <a:prstDash val="solid"/>
            <a:tailEnd type="triangle"/>
          </a:ln>
        </p:spPr>
      </p:sp>
      <p:sp>
        <p:nvSpPr>
          <p:cNvPr id="12" name="Shape 10"/>
          <p:cNvSpPr/>
          <p:nvPr/>
        </p:nvSpPr>
        <p:spPr>
          <a:xfrm>
            <a:off x="5742432" y="2121408"/>
            <a:ext cx="612648" cy="0"/>
          </a:xfrm>
          <a:prstGeom prst="line">
            <a:avLst/>
          </a:prstGeom>
          <a:noFill/>
          <a:ln w="25400">
            <a:solidFill>
              <a:srgbClr val="5B6B78"/>
            </a:solidFill>
            <a:prstDash val="solid"/>
            <a:tailEnd type="triangle"/>
          </a:ln>
        </p:spPr>
      </p:sp>
      <p:sp>
        <p:nvSpPr>
          <p:cNvPr id="13" name="Text 11"/>
          <p:cNvSpPr txBox="1"/>
          <p:nvPr/>
        </p:nvSpPr>
        <p:spPr>
          <a:xfrm>
            <a:off x="6309360" y="1371600"/>
            <a:ext cx="5486400" cy="274320"/>
          </a:xfrm>
          <a:prstGeom prst="rect">
            <a:avLst/>
          </a:prstGeom>
          <a:noFill/>
          <a:ln/>
        </p:spPr>
        <p:txBody>
          <a:bodyPr wrap="square" lIns="0" tIns="0" rIns="0" bIns="0" rtlCol="0" anchor="t"/>
          <a:lstStyle/>
          <a:p>
            <a:pPr indent="0" marL="0">
              <a:buNone/>
            </a:pPr>
            <a:r>
              <a:rPr lang="en-US" sz="1400" b="1" dirty="0">
                <a:solidFill>
                  <a:srgbClr val="2E4A62"/>
                </a:solidFill>
                <a:latin typeface="Calibri" pitchFamily="34" charset="0"/>
                <a:ea typeface="Calibri" pitchFamily="34" charset="-122"/>
                <a:cs typeface="Calibri" pitchFamily="34" charset="-120"/>
              </a:rPr>
              <a:t>Serial in, parallel out</a:t>
            </a:r>
            <a:endParaRPr lang="en-US" sz="1400" dirty="0"/>
          </a:p>
        </p:txBody>
      </p:sp>
      <p:sp>
        <p:nvSpPr>
          <p:cNvPr id="14" name="Text 12"/>
          <p:cNvSpPr txBox="1"/>
          <p:nvPr/>
        </p:nvSpPr>
        <p:spPr>
          <a:xfrm>
            <a:off x="7040880" y="1783080"/>
            <a:ext cx="868680" cy="685800"/>
          </a:xfrm>
          <a:prstGeom prst="roundRect">
            <a:avLst>
              <a:gd name="adj" fmla="val 8000"/>
            </a:avLst>
          </a:prstGeom>
          <a:solidFill>
            <a:srgbClr val="C7791B"/>
          </a:solidFill>
          <a:ln>
            <a:solidFill>
              <a:srgbClr val="C7791B"/>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F1</a:t>
            </a:r>
            <a:endParaRPr lang="en-US" sz="1500" dirty="0"/>
          </a:p>
        </p:txBody>
      </p:sp>
      <p:sp>
        <p:nvSpPr>
          <p:cNvPr id="15" name="Shape 13"/>
          <p:cNvSpPr/>
          <p:nvPr/>
        </p:nvSpPr>
        <p:spPr>
          <a:xfrm>
            <a:off x="7936992" y="2125980"/>
            <a:ext cx="265176" cy="0"/>
          </a:xfrm>
          <a:prstGeom prst="line">
            <a:avLst/>
          </a:prstGeom>
          <a:noFill/>
          <a:ln w="25400">
            <a:solidFill>
              <a:srgbClr val="5B6B78"/>
            </a:solidFill>
            <a:prstDash val="solid"/>
            <a:tailEnd type="triangle"/>
          </a:ln>
        </p:spPr>
      </p:sp>
      <p:sp>
        <p:nvSpPr>
          <p:cNvPr id="16" name="Text 14"/>
          <p:cNvSpPr txBox="1"/>
          <p:nvPr/>
        </p:nvSpPr>
        <p:spPr>
          <a:xfrm>
            <a:off x="8229600" y="1783080"/>
            <a:ext cx="868680" cy="685800"/>
          </a:xfrm>
          <a:prstGeom prst="roundRect">
            <a:avLst>
              <a:gd name="adj" fmla="val 8000"/>
            </a:avLst>
          </a:prstGeom>
          <a:solidFill>
            <a:srgbClr val="C7791B"/>
          </a:solidFill>
          <a:ln>
            <a:solidFill>
              <a:srgbClr val="C7791B"/>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F2</a:t>
            </a:r>
            <a:endParaRPr lang="en-US" sz="1500" dirty="0"/>
          </a:p>
        </p:txBody>
      </p:sp>
      <p:sp>
        <p:nvSpPr>
          <p:cNvPr id="17" name="Shape 15"/>
          <p:cNvSpPr/>
          <p:nvPr/>
        </p:nvSpPr>
        <p:spPr>
          <a:xfrm>
            <a:off x="9125712" y="2125980"/>
            <a:ext cx="265176" cy="0"/>
          </a:xfrm>
          <a:prstGeom prst="line">
            <a:avLst/>
          </a:prstGeom>
          <a:noFill/>
          <a:ln w="25400">
            <a:solidFill>
              <a:srgbClr val="5B6B78"/>
            </a:solidFill>
            <a:prstDash val="solid"/>
            <a:tailEnd type="triangle"/>
          </a:ln>
        </p:spPr>
      </p:sp>
      <p:sp>
        <p:nvSpPr>
          <p:cNvPr id="18" name="Text 16"/>
          <p:cNvSpPr txBox="1"/>
          <p:nvPr/>
        </p:nvSpPr>
        <p:spPr>
          <a:xfrm>
            <a:off x="9418320" y="1783080"/>
            <a:ext cx="868680" cy="685800"/>
          </a:xfrm>
          <a:prstGeom prst="roundRect">
            <a:avLst>
              <a:gd name="adj" fmla="val 8000"/>
            </a:avLst>
          </a:prstGeom>
          <a:solidFill>
            <a:srgbClr val="C7791B"/>
          </a:solidFill>
          <a:ln>
            <a:solidFill>
              <a:srgbClr val="C7791B"/>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9" name="Shape 17"/>
          <p:cNvSpPr/>
          <p:nvPr/>
        </p:nvSpPr>
        <p:spPr>
          <a:xfrm>
            <a:off x="10314432" y="2125980"/>
            <a:ext cx="265176" cy="0"/>
          </a:xfrm>
          <a:prstGeom prst="line">
            <a:avLst/>
          </a:prstGeom>
          <a:noFill/>
          <a:ln w="25400">
            <a:solidFill>
              <a:srgbClr val="5B6B78"/>
            </a:solidFill>
            <a:prstDash val="solid"/>
            <a:tailEnd type="triangle"/>
          </a:ln>
        </p:spPr>
      </p:sp>
      <p:sp>
        <p:nvSpPr>
          <p:cNvPr id="20" name="Text 18"/>
          <p:cNvSpPr txBox="1"/>
          <p:nvPr/>
        </p:nvSpPr>
        <p:spPr>
          <a:xfrm>
            <a:off x="10607040" y="1783080"/>
            <a:ext cx="868680" cy="685800"/>
          </a:xfrm>
          <a:prstGeom prst="roundRect">
            <a:avLst>
              <a:gd name="adj" fmla="val 8000"/>
            </a:avLst>
          </a:prstGeom>
          <a:solidFill>
            <a:srgbClr val="C7791B"/>
          </a:solidFill>
          <a:ln>
            <a:solidFill>
              <a:srgbClr val="C7791B"/>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FN</a:t>
            </a:r>
            <a:endParaRPr lang="en-US" sz="1500" dirty="0"/>
          </a:p>
        </p:txBody>
      </p:sp>
      <p:sp>
        <p:nvSpPr>
          <p:cNvPr id="21" name="Shape 19"/>
          <p:cNvSpPr/>
          <p:nvPr/>
        </p:nvSpPr>
        <p:spPr>
          <a:xfrm>
            <a:off x="6309360" y="2121408"/>
            <a:ext cx="704088" cy="0"/>
          </a:xfrm>
          <a:prstGeom prst="line">
            <a:avLst/>
          </a:prstGeom>
          <a:noFill/>
          <a:ln w="25400">
            <a:solidFill>
              <a:srgbClr val="5B6B78"/>
            </a:solidFill>
            <a:prstDash val="solid"/>
            <a:tailEnd type="triangle"/>
          </a:ln>
        </p:spPr>
      </p:sp>
      <p:sp>
        <p:nvSpPr>
          <p:cNvPr id="22" name="Shape 20"/>
          <p:cNvSpPr/>
          <p:nvPr/>
        </p:nvSpPr>
        <p:spPr>
          <a:xfrm>
            <a:off x="7470648" y="2496312"/>
            <a:ext cx="0" cy="429768"/>
          </a:xfrm>
          <a:prstGeom prst="line">
            <a:avLst/>
          </a:prstGeom>
          <a:noFill/>
          <a:ln w="25400">
            <a:solidFill>
              <a:srgbClr val="5B6B78"/>
            </a:solidFill>
            <a:prstDash val="solid"/>
            <a:tailEnd type="triangle"/>
          </a:ln>
        </p:spPr>
      </p:sp>
      <p:sp>
        <p:nvSpPr>
          <p:cNvPr id="23" name="Shape 21"/>
          <p:cNvSpPr/>
          <p:nvPr/>
        </p:nvSpPr>
        <p:spPr>
          <a:xfrm>
            <a:off x="8659368" y="2496312"/>
            <a:ext cx="0" cy="429768"/>
          </a:xfrm>
          <a:prstGeom prst="line">
            <a:avLst/>
          </a:prstGeom>
          <a:noFill/>
          <a:ln w="25400">
            <a:solidFill>
              <a:srgbClr val="5B6B78"/>
            </a:solidFill>
            <a:prstDash val="solid"/>
            <a:tailEnd type="triangle"/>
          </a:ln>
        </p:spPr>
      </p:sp>
      <p:sp>
        <p:nvSpPr>
          <p:cNvPr id="24" name="Shape 22"/>
          <p:cNvSpPr/>
          <p:nvPr/>
        </p:nvSpPr>
        <p:spPr>
          <a:xfrm>
            <a:off x="9848088" y="2496312"/>
            <a:ext cx="0" cy="429768"/>
          </a:xfrm>
          <a:prstGeom prst="line">
            <a:avLst/>
          </a:prstGeom>
          <a:noFill/>
          <a:ln w="25400">
            <a:solidFill>
              <a:srgbClr val="5B6B78"/>
            </a:solidFill>
            <a:prstDash val="solid"/>
            <a:tailEnd type="triangle"/>
          </a:ln>
        </p:spPr>
      </p:sp>
      <p:sp>
        <p:nvSpPr>
          <p:cNvPr id="25" name="Shape 23"/>
          <p:cNvSpPr/>
          <p:nvPr/>
        </p:nvSpPr>
        <p:spPr>
          <a:xfrm>
            <a:off x="11036808" y="2496312"/>
            <a:ext cx="0" cy="429768"/>
          </a:xfrm>
          <a:prstGeom prst="line">
            <a:avLst/>
          </a:prstGeom>
          <a:noFill/>
          <a:ln w="25400">
            <a:solidFill>
              <a:srgbClr val="5B6B78"/>
            </a:solidFill>
            <a:prstDash val="solid"/>
            <a:tailEnd type="triangle"/>
          </a:ln>
        </p:spPr>
      </p:sp>
      <p:sp>
        <p:nvSpPr>
          <p:cNvPr id="26" name="Text 24"/>
          <p:cNvSpPr txBox="1"/>
          <p:nvPr/>
        </p:nvSpPr>
        <p:spPr>
          <a:xfrm>
            <a:off x="548640" y="3108960"/>
            <a:ext cx="5486400" cy="274320"/>
          </a:xfrm>
          <a:prstGeom prst="rect">
            <a:avLst/>
          </a:prstGeom>
          <a:noFill/>
          <a:ln/>
        </p:spPr>
        <p:txBody>
          <a:bodyPr wrap="square" lIns="0" tIns="0" rIns="0" bIns="0" rtlCol="0" anchor="t"/>
          <a:lstStyle/>
          <a:p>
            <a:pPr indent="0" marL="0">
              <a:buNone/>
            </a:pPr>
            <a:r>
              <a:rPr lang="en-US" sz="1400" b="1" dirty="0">
                <a:solidFill>
                  <a:srgbClr val="2E4A62"/>
                </a:solidFill>
                <a:latin typeface="Calibri" pitchFamily="34" charset="0"/>
                <a:ea typeface="Calibri" pitchFamily="34" charset="-122"/>
                <a:cs typeface="Calibri" pitchFamily="34" charset="-120"/>
              </a:rPr>
              <a:t>Parallel in, serial out</a:t>
            </a:r>
            <a:endParaRPr lang="en-US" sz="1400" dirty="0"/>
          </a:p>
        </p:txBody>
      </p:sp>
      <p:sp>
        <p:nvSpPr>
          <p:cNvPr id="27" name="Text 25"/>
          <p:cNvSpPr txBox="1"/>
          <p:nvPr/>
        </p:nvSpPr>
        <p:spPr>
          <a:xfrm>
            <a:off x="1280160" y="3931920"/>
            <a:ext cx="868680" cy="685800"/>
          </a:xfrm>
          <a:prstGeom prst="roundRect">
            <a:avLst>
              <a:gd name="adj" fmla="val 8000"/>
            </a:avLst>
          </a:prstGeom>
          <a:solidFill>
            <a:srgbClr val="6B4FA0"/>
          </a:solidFill>
          <a:ln>
            <a:solidFill>
              <a:srgbClr val="6B4FA0"/>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F1</a:t>
            </a:r>
            <a:endParaRPr lang="en-US" sz="1500" dirty="0"/>
          </a:p>
        </p:txBody>
      </p:sp>
      <p:sp>
        <p:nvSpPr>
          <p:cNvPr id="28" name="Shape 26"/>
          <p:cNvSpPr/>
          <p:nvPr/>
        </p:nvSpPr>
        <p:spPr>
          <a:xfrm>
            <a:off x="2176272" y="4274820"/>
            <a:ext cx="265176" cy="0"/>
          </a:xfrm>
          <a:prstGeom prst="line">
            <a:avLst/>
          </a:prstGeom>
          <a:noFill/>
          <a:ln w="25400">
            <a:solidFill>
              <a:srgbClr val="5B6B78"/>
            </a:solidFill>
            <a:prstDash val="solid"/>
            <a:tailEnd type="triangle"/>
          </a:ln>
        </p:spPr>
      </p:sp>
      <p:sp>
        <p:nvSpPr>
          <p:cNvPr id="29" name="Text 27"/>
          <p:cNvSpPr txBox="1"/>
          <p:nvPr/>
        </p:nvSpPr>
        <p:spPr>
          <a:xfrm>
            <a:off x="2468880" y="3931920"/>
            <a:ext cx="868680" cy="685800"/>
          </a:xfrm>
          <a:prstGeom prst="roundRect">
            <a:avLst>
              <a:gd name="adj" fmla="val 8000"/>
            </a:avLst>
          </a:prstGeom>
          <a:solidFill>
            <a:srgbClr val="6B4FA0"/>
          </a:solidFill>
          <a:ln>
            <a:solidFill>
              <a:srgbClr val="6B4FA0"/>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F2</a:t>
            </a:r>
            <a:endParaRPr lang="en-US" sz="1500" dirty="0"/>
          </a:p>
        </p:txBody>
      </p:sp>
      <p:sp>
        <p:nvSpPr>
          <p:cNvPr id="30" name="Shape 28"/>
          <p:cNvSpPr/>
          <p:nvPr/>
        </p:nvSpPr>
        <p:spPr>
          <a:xfrm>
            <a:off x="3364992" y="4274820"/>
            <a:ext cx="265176" cy="0"/>
          </a:xfrm>
          <a:prstGeom prst="line">
            <a:avLst/>
          </a:prstGeom>
          <a:noFill/>
          <a:ln w="25400">
            <a:solidFill>
              <a:srgbClr val="5B6B78"/>
            </a:solidFill>
            <a:prstDash val="solid"/>
            <a:tailEnd type="triangle"/>
          </a:ln>
        </p:spPr>
      </p:sp>
      <p:sp>
        <p:nvSpPr>
          <p:cNvPr id="31" name="Text 29"/>
          <p:cNvSpPr txBox="1"/>
          <p:nvPr/>
        </p:nvSpPr>
        <p:spPr>
          <a:xfrm>
            <a:off x="3657600" y="3931920"/>
            <a:ext cx="868680" cy="685800"/>
          </a:xfrm>
          <a:prstGeom prst="roundRect">
            <a:avLst>
              <a:gd name="adj" fmla="val 8000"/>
            </a:avLst>
          </a:prstGeom>
          <a:solidFill>
            <a:srgbClr val="6B4FA0"/>
          </a:solidFill>
          <a:ln>
            <a:solidFill>
              <a:srgbClr val="6B4FA0"/>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32" name="Shape 30"/>
          <p:cNvSpPr/>
          <p:nvPr/>
        </p:nvSpPr>
        <p:spPr>
          <a:xfrm>
            <a:off x="4553712" y="4274820"/>
            <a:ext cx="265176" cy="0"/>
          </a:xfrm>
          <a:prstGeom prst="line">
            <a:avLst/>
          </a:prstGeom>
          <a:noFill/>
          <a:ln w="25400">
            <a:solidFill>
              <a:srgbClr val="5B6B78"/>
            </a:solidFill>
            <a:prstDash val="solid"/>
            <a:tailEnd type="triangle"/>
          </a:ln>
        </p:spPr>
      </p:sp>
      <p:sp>
        <p:nvSpPr>
          <p:cNvPr id="33" name="Text 31"/>
          <p:cNvSpPr txBox="1"/>
          <p:nvPr/>
        </p:nvSpPr>
        <p:spPr>
          <a:xfrm>
            <a:off x="4846320" y="3931920"/>
            <a:ext cx="868680" cy="685800"/>
          </a:xfrm>
          <a:prstGeom prst="roundRect">
            <a:avLst>
              <a:gd name="adj" fmla="val 8000"/>
            </a:avLst>
          </a:prstGeom>
          <a:solidFill>
            <a:srgbClr val="6B4FA0"/>
          </a:solidFill>
          <a:ln>
            <a:solidFill>
              <a:srgbClr val="6B4FA0"/>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FN</a:t>
            </a:r>
            <a:endParaRPr lang="en-US" sz="1500" dirty="0"/>
          </a:p>
        </p:txBody>
      </p:sp>
      <p:sp>
        <p:nvSpPr>
          <p:cNvPr id="34" name="Shape 32"/>
          <p:cNvSpPr/>
          <p:nvPr/>
        </p:nvSpPr>
        <p:spPr>
          <a:xfrm>
            <a:off x="1709928" y="3474720"/>
            <a:ext cx="0" cy="429768"/>
          </a:xfrm>
          <a:prstGeom prst="line">
            <a:avLst/>
          </a:prstGeom>
          <a:noFill/>
          <a:ln w="25400">
            <a:solidFill>
              <a:srgbClr val="5B6B78"/>
            </a:solidFill>
            <a:prstDash val="solid"/>
            <a:tailEnd type="triangle"/>
          </a:ln>
        </p:spPr>
      </p:sp>
      <p:sp>
        <p:nvSpPr>
          <p:cNvPr id="35" name="Shape 33"/>
          <p:cNvSpPr/>
          <p:nvPr/>
        </p:nvSpPr>
        <p:spPr>
          <a:xfrm>
            <a:off x="2898648" y="3474720"/>
            <a:ext cx="0" cy="429768"/>
          </a:xfrm>
          <a:prstGeom prst="line">
            <a:avLst/>
          </a:prstGeom>
          <a:noFill/>
          <a:ln w="25400">
            <a:solidFill>
              <a:srgbClr val="5B6B78"/>
            </a:solidFill>
            <a:prstDash val="solid"/>
            <a:tailEnd type="triangle"/>
          </a:ln>
        </p:spPr>
      </p:sp>
      <p:sp>
        <p:nvSpPr>
          <p:cNvPr id="36" name="Shape 34"/>
          <p:cNvSpPr/>
          <p:nvPr/>
        </p:nvSpPr>
        <p:spPr>
          <a:xfrm>
            <a:off x="4087368" y="3474720"/>
            <a:ext cx="0" cy="429768"/>
          </a:xfrm>
          <a:prstGeom prst="line">
            <a:avLst/>
          </a:prstGeom>
          <a:noFill/>
          <a:ln w="25400">
            <a:solidFill>
              <a:srgbClr val="5B6B78"/>
            </a:solidFill>
            <a:prstDash val="solid"/>
            <a:tailEnd type="triangle"/>
          </a:ln>
        </p:spPr>
      </p:sp>
      <p:sp>
        <p:nvSpPr>
          <p:cNvPr id="37" name="Shape 35"/>
          <p:cNvSpPr/>
          <p:nvPr/>
        </p:nvSpPr>
        <p:spPr>
          <a:xfrm>
            <a:off x="5276088" y="3474720"/>
            <a:ext cx="0" cy="429768"/>
          </a:xfrm>
          <a:prstGeom prst="line">
            <a:avLst/>
          </a:prstGeom>
          <a:noFill/>
          <a:ln w="25400">
            <a:solidFill>
              <a:srgbClr val="5B6B78"/>
            </a:solidFill>
            <a:prstDash val="solid"/>
            <a:tailEnd type="triangle"/>
          </a:ln>
        </p:spPr>
      </p:sp>
      <p:sp>
        <p:nvSpPr>
          <p:cNvPr id="38" name="Shape 36"/>
          <p:cNvSpPr/>
          <p:nvPr/>
        </p:nvSpPr>
        <p:spPr>
          <a:xfrm>
            <a:off x="5742432" y="4270248"/>
            <a:ext cx="612648" cy="0"/>
          </a:xfrm>
          <a:prstGeom prst="line">
            <a:avLst/>
          </a:prstGeom>
          <a:noFill/>
          <a:ln w="25400">
            <a:solidFill>
              <a:srgbClr val="5B6B78"/>
            </a:solidFill>
            <a:prstDash val="solid"/>
            <a:tailEnd type="triangle"/>
          </a:ln>
        </p:spPr>
      </p:sp>
      <p:sp>
        <p:nvSpPr>
          <p:cNvPr id="39" name="Text 37"/>
          <p:cNvSpPr txBox="1"/>
          <p:nvPr/>
        </p:nvSpPr>
        <p:spPr>
          <a:xfrm>
            <a:off x="6309360" y="3108960"/>
            <a:ext cx="5486400" cy="274320"/>
          </a:xfrm>
          <a:prstGeom prst="rect">
            <a:avLst/>
          </a:prstGeom>
          <a:noFill/>
          <a:ln/>
        </p:spPr>
        <p:txBody>
          <a:bodyPr wrap="square" lIns="0" tIns="0" rIns="0" bIns="0" rtlCol="0" anchor="t"/>
          <a:lstStyle/>
          <a:p>
            <a:pPr indent="0" marL="0">
              <a:buNone/>
            </a:pPr>
            <a:r>
              <a:rPr lang="en-US" sz="1400" b="1" dirty="0">
                <a:solidFill>
                  <a:srgbClr val="2E4A62"/>
                </a:solidFill>
                <a:latin typeface="Calibri" pitchFamily="34" charset="0"/>
                <a:ea typeface="Calibri" pitchFamily="34" charset="-122"/>
                <a:cs typeface="Calibri" pitchFamily="34" charset="-120"/>
              </a:rPr>
              <a:t>Parallel in, parallel out</a:t>
            </a:r>
            <a:endParaRPr lang="en-US" sz="1400" dirty="0"/>
          </a:p>
        </p:txBody>
      </p:sp>
      <p:sp>
        <p:nvSpPr>
          <p:cNvPr id="40" name="Text 38"/>
          <p:cNvSpPr txBox="1"/>
          <p:nvPr/>
        </p:nvSpPr>
        <p:spPr>
          <a:xfrm>
            <a:off x="7040880" y="3931920"/>
            <a:ext cx="868680" cy="685800"/>
          </a:xfrm>
          <a:prstGeom prst="roundRect">
            <a:avLst>
              <a:gd name="adj" fmla="val 8000"/>
            </a:avLst>
          </a:prstGeom>
          <a:solidFill>
            <a:srgbClr val="2F7D4F"/>
          </a:solidFill>
          <a:ln>
            <a:solidFill>
              <a:srgbClr val="2F7D4F"/>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F1</a:t>
            </a:r>
            <a:endParaRPr lang="en-US" sz="1500" dirty="0"/>
          </a:p>
        </p:txBody>
      </p:sp>
      <p:sp>
        <p:nvSpPr>
          <p:cNvPr id="41" name="Shape 39"/>
          <p:cNvSpPr/>
          <p:nvPr/>
        </p:nvSpPr>
        <p:spPr>
          <a:xfrm>
            <a:off x="7936992" y="4274820"/>
            <a:ext cx="265176" cy="0"/>
          </a:xfrm>
          <a:prstGeom prst="line">
            <a:avLst/>
          </a:prstGeom>
          <a:noFill/>
          <a:ln w="25400">
            <a:solidFill>
              <a:srgbClr val="5B6B78"/>
            </a:solidFill>
            <a:prstDash val="solid"/>
            <a:tailEnd type="triangle"/>
          </a:ln>
        </p:spPr>
      </p:sp>
      <p:sp>
        <p:nvSpPr>
          <p:cNvPr id="42" name="Text 40"/>
          <p:cNvSpPr txBox="1"/>
          <p:nvPr/>
        </p:nvSpPr>
        <p:spPr>
          <a:xfrm>
            <a:off x="8229600" y="3931920"/>
            <a:ext cx="868680" cy="685800"/>
          </a:xfrm>
          <a:prstGeom prst="roundRect">
            <a:avLst>
              <a:gd name="adj" fmla="val 8000"/>
            </a:avLst>
          </a:prstGeom>
          <a:solidFill>
            <a:srgbClr val="2F7D4F"/>
          </a:solidFill>
          <a:ln>
            <a:solidFill>
              <a:srgbClr val="2F7D4F"/>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F2</a:t>
            </a:r>
            <a:endParaRPr lang="en-US" sz="1500" dirty="0"/>
          </a:p>
        </p:txBody>
      </p:sp>
      <p:sp>
        <p:nvSpPr>
          <p:cNvPr id="43" name="Shape 41"/>
          <p:cNvSpPr/>
          <p:nvPr/>
        </p:nvSpPr>
        <p:spPr>
          <a:xfrm>
            <a:off x="9125712" y="4274820"/>
            <a:ext cx="265176" cy="0"/>
          </a:xfrm>
          <a:prstGeom prst="line">
            <a:avLst/>
          </a:prstGeom>
          <a:noFill/>
          <a:ln w="25400">
            <a:solidFill>
              <a:srgbClr val="5B6B78"/>
            </a:solidFill>
            <a:prstDash val="solid"/>
            <a:tailEnd type="triangle"/>
          </a:ln>
        </p:spPr>
      </p:sp>
      <p:sp>
        <p:nvSpPr>
          <p:cNvPr id="44" name="Text 42"/>
          <p:cNvSpPr txBox="1"/>
          <p:nvPr/>
        </p:nvSpPr>
        <p:spPr>
          <a:xfrm>
            <a:off x="9418320" y="3931920"/>
            <a:ext cx="868680" cy="685800"/>
          </a:xfrm>
          <a:prstGeom prst="roundRect">
            <a:avLst>
              <a:gd name="adj" fmla="val 8000"/>
            </a:avLst>
          </a:prstGeom>
          <a:solidFill>
            <a:srgbClr val="2F7D4F"/>
          </a:solidFill>
          <a:ln>
            <a:solidFill>
              <a:srgbClr val="2F7D4F"/>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45" name="Shape 43"/>
          <p:cNvSpPr/>
          <p:nvPr/>
        </p:nvSpPr>
        <p:spPr>
          <a:xfrm>
            <a:off x="10314432" y="4274820"/>
            <a:ext cx="265176" cy="0"/>
          </a:xfrm>
          <a:prstGeom prst="line">
            <a:avLst/>
          </a:prstGeom>
          <a:noFill/>
          <a:ln w="25400">
            <a:solidFill>
              <a:srgbClr val="5B6B78"/>
            </a:solidFill>
            <a:prstDash val="solid"/>
            <a:tailEnd type="triangle"/>
          </a:ln>
        </p:spPr>
      </p:sp>
      <p:sp>
        <p:nvSpPr>
          <p:cNvPr id="46" name="Text 44"/>
          <p:cNvSpPr txBox="1"/>
          <p:nvPr/>
        </p:nvSpPr>
        <p:spPr>
          <a:xfrm>
            <a:off x="10607040" y="3931920"/>
            <a:ext cx="868680" cy="685800"/>
          </a:xfrm>
          <a:prstGeom prst="roundRect">
            <a:avLst>
              <a:gd name="adj" fmla="val 8000"/>
            </a:avLst>
          </a:prstGeom>
          <a:solidFill>
            <a:srgbClr val="2F7D4F"/>
          </a:solidFill>
          <a:ln>
            <a:solidFill>
              <a:srgbClr val="2F7D4F"/>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FN</a:t>
            </a:r>
            <a:endParaRPr lang="en-US" sz="1500" dirty="0"/>
          </a:p>
        </p:txBody>
      </p:sp>
      <p:sp>
        <p:nvSpPr>
          <p:cNvPr id="47" name="Shape 45"/>
          <p:cNvSpPr/>
          <p:nvPr/>
        </p:nvSpPr>
        <p:spPr>
          <a:xfrm>
            <a:off x="7470648" y="3474720"/>
            <a:ext cx="0" cy="429768"/>
          </a:xfrm>
          <a:prstGeom prst="line">
            <a:avLst/>
          </a:prstGeom>
          <a:noFill/>
          <a:ln w="25400">
            <a:solidFill>
              <a:srgbClr val="5B6B78"/>
            </a:solidFill>
            <a:prstDash val="solid"/>
            <a:tailEnd type="triangle"/>
          </a:ln>
        </p:spPr>
      </p:sp>
      <p:sp>
        <p:nvSpPr>
          <p:cNvPr id="48" name="Shape 46"/>
          <p:cNvSpPr/>
          <p:nvPr/>
        </p:nvSpPr>
        <p:spPr>
          <a:xfrm>
            <a:off x="7470648" y="4645152"/>
            <a:ext cx="0" cy="429768"/>
          </a:xfrm>
          <a:prstGeom prst="line">
            <a:avLst/>
          </a:prstGeom>
          <a:noFill/>
          <a:ln w="25400">
            <a:solidFill>
              <a:srgbClr val="5B6B78"/>
            </a:solidFill>
            <a:prstDash val="solid"/>
            <a:tailEnd type="triangle"/>
          </a:ln>
        </p:spPr>
      </p:sp>
      <p:sp>
        <p:nvSpPr>
          <p:cNvPr id="49" name="Shape 47"/>
          <p:cNvSpPr/>
          <p:nvPr/>
        </p:nvSpPr>
        <p:spPr>
          <a:xfrm>
            <a:off x="8659368" y="3474720"/>
            <a:ext cx="0" cy="429768"/>
          </a:xfrm>
          <a:prstGeom prst="line">
            <a:avLst/>
          </a:prstGeom>
          <a:noFill/>
          <a:ln w="25400">
            <a:solidFill>
              <a:srgbClr val="5B6B78"/>
            </a:solidFill>
            <a:prstDash val="solid"/>
            <a:tailEnd type="triangle"/>
          </a:ln>
        </p:spPr>
      </p:sp>
      <p:sp>
        <p:nvSpPr>
          <p:cNvPr id="50" name="Shape 48"/>
          <p:cNvSpPr/>
          <p:nvPr/>
        </p:nvSpPr>
        <p:spPr>
          <a:xfrm>
            <a:off x="8659368" y="4645152"/>
            <a:ext cx="0" cy="429768"/>
          </a:xfrm>
          <a:prstGeom prst="line">
            <a:avLst/>
          </a:prstGeom>
          <a:noFill/>
          <a:ln w="25400">
            <a:solidFill>
              <a:srgbClr val="5B6B78"/>
            </a:solidFill>
            <a:prstDash val="solid"/>
            <a:tailEnd type="triangle"/>
          </a:ln>
        </p:spPr>
      </p:sp>
      <p:sp>
        <p:nvSpPr>
          <p:cNvPr id="51" name="Shape 49"/>
          <p:cNvSpPr/>
          <p:nvPr/>
        </p:nvSpPr>
        <p:spPr>
          <a:xfrm>
            <a:off x="9848088" y="3474720"/>
            <a:ext cx="0" cy="429768"/>
          </a:xfrm>
          <a:prstGeom prst="line">
            <a:avLst/>
          </a:prstGeom>
          <a:noFill/>
          <a:ln w="25400">
            <a:solidFill>
              <a:srgbClr val="5B6B78"/>
            </a:solidFill>
            <a:prstDash val="solid"/>
            <a:tailEnd type="triangle"/>
          </a:ln>
        </p:spPr>
      </p:sp>
      <p:sp>
        <p:nvSpPr>
          <p:cNvPr id="52" name="Shape 50"/>
          <p:cNvSpPr/>
          <p:nvPr/>
        </p:nvSpPr>
        <p:spPr>
          <a:xfrm>
            <a:off x="9848088" y="4645152"/>
            <a:ext cx="0" cy="429768"/>
          </a:xfrm>
          <a:prstGeom prst="line">
            <a:avLst/>
          </a:prstGeom>
          <a:noFill/>
          <a:ln w="25400">
            <a:solidFill>
              <a:srgbClr val="5B6B78"/>
            </a:solidFill>
            <a:prstDash val="solid"/>
            <a:tailEnd type="triangle"/>
          </a:ln>
        </p:spPr>
      </p:sp>
      <p:sp>
        <p:nvSpPr>
          <p:cNvPr id="53" name="Shape 51"/>
          <p:cNvSpPr/>
          <p:nvPr/>
        </p:nvSpPr>
        <p:spPr>
          <a:xfrm>
            <a:off x="11036808" y="3474720"/>
            <a:ext cx="0" cy="429768"/>
          </a:xfrm>
          <a:prstGeom prst="line">
            <a:avLst/>
          </a:prstGeom>
          <a:noFill/>
          <a:ln w="25400">
            <a:solidFill>
              <a:srgbClr val="5B6B78"/>
            </a:solidFill>
            <a:prstDash val="solid"/>
            <a:tailEnd type="triangle"/>
          </a:ln>
        </p:spPr>
      </p:sp>
      <p:sp>
        <p:nvSpPr>
          <p:cNvPr id="54" name="Shape 52"/>
          <p:cNvSpPr/>
          <p:nvPr/>
        </p:nvSpPr>
        <p:spPr>
          <a:xfrm>
            <a:off x="11036808" y="4645152"/>
            <a:ext cx="0" cy="429768"/>
          </a:xfrm>
          <a:prstGeom prst="line">
            <a:avLst/>
          </a:prstGeom>
          <a:noFill/>
          <a:ln w="25400">
            <a:solidFill>
              <a:srgbClr val="5B6B78"/>
            </a:solidFill>
            <a:prstDash val="solid"/>
            <a:tailEnd type="triangle"/>
          </a:ln>
        </p:spPr>
      </p:sp>
      <p:sp>
        <p:nvSpPr>
          <p:cNvPr id="55" name="Text 53"/>
          <p:cNvSpPr txBox="1"/>
          <p:nvPr/>
        </p:nvSpPr>
        <p:spPr>
          <a:xfrm>
            <a:off x="548640" y="5440680"/>
            <a:ext cx="11094415" cy="731520"/>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The same chain of flip-flops, with a common clock c; what changes is where the data enter and where they leave. Parallel in and parallel out with no shifting is the ordinary register.</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Transfers between registers</a:t>
            </a:r>
            <a:endParaRPr lang="en-US" sz="3200" dirty="0"/>
          </a:p>
        </p:txBody>
      </p:sp>
      <p:sp>
        <p:nvSpPr>
          <p:cNvPr id="3" name="Shape 1"/>
          <p:cNvSpPr/>
          <p:nvPr/>
        </p:nvSpPr>
        <p:spPr>
          <a:xfrm>
            <a:off x="548640" y="153924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180289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Serial transfer: the serial output of one shift register feeds the serial input of another</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 clock pulses move a word of n bits; one wire is enough</a:t>
            </a:r>
            <a:endParaRPr lang="en-US" sz="2400" dirty="0"/>
          </a:p>
        </p:txBody>
      </p:sp>
      <p:sp>
        <p:nvSpPr>
          <p:cNvPr id="5" name="Shape 3"/>
          <p:cNvSpPr/>
          <p:nvPr/>
        </p:nvSpPr>
        <p:spPr>
          <a:xfrm>
            <a:off x="548640" y="3544824"/>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422904"/>
            <a:ext cx="6565392" cy="180289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Parallel transfer: the parallel outputs of one register feed the parallel inputs of another</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one clock pulse moves the whole word; n wires are needed</a:t>
            </a:r>
            <a:endParaRPr lang="en-US" sz="2400" dirty="0"/>
          </a:p>
        </p:txBody>
      </p:sp>
      <p:sp>
        <p:nvSpPr>
          <p:cNvPr id="7" name="Shape 5"/>
          <p:cNvSpPr/>
          <p:nvPr/>
        </p:nvSpPr>
        <p:spPr>
          <a:xfrm>
            <a:off x="548640" y="555040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5428488"/>
            <a:ext cx="6565392"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Time against wires: the same trade-off as dedicated against common buses</a:t>
            </a:r>
            <a:endParaRPr lang="en-US" sz="2400" dirty="0"/>
          </a:p>
        </p:txBody>
      </p:sp>
      <p:sp>
        <p:nvSpPr>
          <p:cNvPr id="9" name="Shape 7"/>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0" name="Text 8"/>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n pulses or n wires</a:t>
            </a:r>
            <a:endParaRPr lang="en-US" sz="4800" dirty="0"/>
          </a:p>
        </p:txBody>
      </p:sp>
      <p:sp>
        <p:nvSpPr>
          <p:cNvPr id="11" name="Text 9"/>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moving a word of n bits costs either time or copper</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Serial to parallel and back</a:t>
            </a:r>
            <a:endParaRPr lang="en-US" sz="3200" dirty="0"/>
          </a:p>
        </p:txBody>
      </p:sp>
      <p:sp>
        <p:nvSpPr>
          <p:cNvPr id="3" name="Shape 1"/>
          <p:cNvSpPr/>
          <p:nvPr/>
        </p:nvSpPr>
        <p:spPr>
          <a:xfrm>
            <a:off x="548640" y="1874520"/>
            <a:ext cx="1926275" cy="2468880"/>
          </a:xfrm>
          <a:prstGeom prst="roundRect">
            <a:avLst>
              <a:gd name="adj" fmla="val 3798"/>
            </a:avLst>
          </a:prstGeom>
          <a:solidFill>
            <a:srgbClr val="EEF2F4"/>
          </a:solidFill>
          <a:ln w="12700">
            <a:solidFill>
              <a:srgbClr val="EEF2F4"/>
            </a:solidFill>
            <a:prstDash val="solid"/>
          </a:ln>
        </p:spPr>
      </p:sp>
      <p:sp>
        <p:nvSpPr>
          <p:cNvPr id="4" name="Text 2"/>
          <p:cNvSpPr txBox="1"/>
          <p:nvPr/>
        </p:nvSpPr>
        <p:spPr>
          <a:xfrm>
            <a:off x="685800" y="2057400"/>
            <a:ext cx="1651955" cy="685800"/>
          </a:xfrm>
          <a:prstGeom prst="roundRect">
            <a:avLst>
              <a:gd name="adj" fmla="val 10667"/>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Load</a:t>
            </a:r>
            <a:endParaRPr lang="en-US" sz="1900" dirty="0"/>
          </a:p>
        </p:txBody>
      </p:sp>
      <p:sp>
        <p:nvSpPr>
          <p:cNvPr id="5" name="Text 3"/>
          <p:cNvSpPr txBox="1"/>
          <p:nvPr/>
        </p:nvSpPr>
        <p:spPr>
          <a:xfrm>
            <a:off x="685800" y="2880360"/>
            <a:ext cx="1651955" cy="1325880"/>
          </a:xfrm>
          <a:prstGeom prst="rect">
            <a:avLst/>
          </a:prstGeom>
          <a:noFill/>
          <a:ln/>
        </p:spPr>
        <p:txBody>
          <a:bodyPr wrap="square" lIns="0" tIns="0" rIns="0" bIns="0" rtlCol="0" anchor="ctr"/>
          <a:lstStyle/>
          <a:p>
            <a:pPr algn="ctr" indent="0" marL="0">
              <a:buNone/>
            </a:pPr>
            <a:r>
              <a:rPr lang="en-US" sz="1400" dirty="0">
                <a:solidFill>
                  <a:srgbClr val="1B2530"/>
                </a:solidFill>
                <a:latin typeface="Calibri" pitchFamily="34" charset="0"/>
                <a:ea typeface="Calibri" pitchFamily="34" charset="-122"/>
                <a:cs typeface="Calibri" pitchFamily="34" charset="-120"/>
              </a:rPr>
              <a:t>the datum of n bits is placed in parallel in the register R</a:t>
            </a:r>
            <a:endParaRPr lang="en-US" sz="1400" dirty="0"/>
          </a:p>
        </p:txBody>
      </p:sp>
      <p:sp>
        <p:nvSpPr>
          <p:cNvPr id="6" name="Shape 4"/>
          <p:cNvSpPr/>
          <p:nvPr/>
        </p:nvSpPr>
        <p:spPr>
          <a:xfrm>
            <a:off x="2520635" y="2962656"/>
            <a:ext cx="274320" cy="292608"/>
          </a:xfrm>
          <a:prstGeom prst="rightArrow">
            <a:avLst/>
          </a:prstGeom>
          <a:solidFill>
            <a:srgbClr val="5B6B78"/>
          </a:solidFill>
          <a:ln w="12700">
            <a:solidFill>
              <a:srgbClr val="5B6B78"/>
            </a:solidFill>
            <a:prstDash val="solid"/>
          </a:ln>
        </p:spPr>
      </p:sp>
      <p:sp>
        <p:nvSpPr>
          <p:cNvPr id="7" name="Shape 5"/>
          <p:cNvSpPr/>
          <p:nvPr/>
        </p:nvSpPr>
        <p:spPr>
          <a:xfrm>
            <a:off x="2840675" y="1874520"/>
            <a:ext cx="1926275" cy="2468880"/>
          </a:xfrm>
          <a:prstGeom prst="roundRect">
            <a:avLst>
              <a:gd name="adj" fmla="val 3798"/>
            </a:avLst>
          </a:prstGeom>
          <a:solidFill>
            <a:srgbClr val="EEF2F4"/>
          </a:solidFill>
          <a:ln w="12700">
            <a:solidFill>
              <a:srgbClr val="EEF2F4"/>
            </a:solidFill>
            <a:prstDash val="solid"/>
          </a:ln>
        </p:spPr>
      </p:sp>
      <p:sp>
        <p:nvSpPr>
          <p:cNvPr id="8" name="Text 6"/>
          <p:cNvSpPr txBox="1"/>
          <p:nvPr/>
        </p:nvSpPr>
        <p:spPr>
          <a:xfrm>
            <a:off x="2977835" y="2057400"/>
            <a:ext cx="1651955" cy="685800"/>
          </a:xfrm>
          <a:prstGeom prst="roundRect">
            <a:avLst>
              <a:gd name="adj" fmla="val 10667"/>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Shift out</a:t>
            </a:r>
            <a:endParaRPr lang="en-US" sz="1900" dirty="0"/>
          </a:p>
        </p:txBody>
      </p:sp>
      <p:sp>
        <p:nvSpPr>
          <p:cNvPr id="9" name="Text 7"/>
          <p:cNvSpPr txBox="1"/>
          <p:nvPr/>
        </p:nvSpPr>
        <p:spPr>
          <a:xfrm>
            <a:off x="2977835" y="2880360"/>
            <a:ext cx="1651955" cy="1325880"/>
          </a:xfrm>
          <a:prstGeom prst="rect">
            <a:avLst/>
          </a:prstGeom>
          <a:noFill/>
          <a:ln/>
        </p:spPr>
        <p:txBody>
          <a:bodyPr wrap="square" lIns="0" tIns="0" rIns="0" bIns="0" rtlCol="0" anchor="ctr"/>
          <a:lstStyle/>
          <a:p>
            <a:pPr algn="ctr" indent="0" marL="0">
              <a:buNone/>
            </a:pPr>
            <a:r>
              <a:rPr lang="en-US" sz="1400" dirty="0">
                <a:solidFill>
                  <a:srgbClr val="1B2530"/>
                </a:solidFill>
                <a:latin typeface="Calibri" pitchFamily="34" charset="0"/>
                <a:ea typeface="Calibri" pitchFamily="34" charset="-122"/>
                <a:cs typeface="Calibri" pitchFamily="34" charset="-120"/>
              </a:rPr>
              <a:t>R is a shift register: the n bits leave one after another, in n successive steps</a:t>
            </a:r>
            <a:endParaRPr lang="en-US" sz="1400" dirty="0"/>
          </a:p>
        </p:txBody>
      </p:sp>
      <p:sp>
        <p:nvSpPr>
          <p:cNvPr id="10" name="Shape 8"/>
          <p:cNvSpPr/>
          <p:nvPr/>
        </p:nvSpPr>
        <p:spPr>
          <a:xfrm>
            <a:off x="4812670" y="2962656"/>
            <a:ext cx="274320" cy="292608"/>
          </a:xfrm>
          <a:prstGeom prst="rightArrow">
            <a:avLst/>
          </a:prstGeom>
          <a:solidFill>
            <a:srgbClr val="5B6B78"/>
          </a:solidFill>
          <a:ln w="12700">
            <a:solidFill>
              <a:srgbClr val="5B6B78"/>
            </a:solidFill>
            <a:prstDash val="solid"/>
          </a:ln>
        </p:spPr>
      </p:sp>
      <p:sp>
        <p:nvSpPr>
          <p:cNvPr id="11" name="Shape 9"/>
          <p:cNvSpPr/>
          <p:nvPr/>
        </p:nvSpPr>
        <p:spPr>
          <a:xfrm>
            <a:off x="5132710" y="1874520"/>
            <a:ext cx="1926275" cy="2468880"/>
          </a:xfrm>
          <a:prstGeom prst="roundRect">
            <a:avLst>
              <a:gd name="adj" fmla="val 3798"/>
            </a:avLst>
          </a:prstGeom>
          <a:solidFill>
            <a:srgbClr val="EEF2F4"/>
          </a:solidFill>
          <a:ln w="12700">
            <a:solidFill>
              <a:srgbClr val="EEF2F4"/>
            </a:solidFill>
            <a:prstDash val="solid"/>
          </a:ln>
        </p:spPr>
      </p:sp>
      <p:sp>
        <p:nvSpPr>
          <p:cNvPr id="12" name="Text 10"/>
          <p:cNvSpPr txBox="1"/>
          <p:nvPr/>
        </p:nvSpPr>
        <p:spPr>
          <a:xfrm>
            <a:off x="5269870" y="2057400"/>
            <a:ext cx="1651955" cy="685800"/>
          </a:xfrm>
          <a:prstGeom prst="roundRect">
            <a:avLst>
              <a:gd name="adj" fmla="val 10667"/>
            </a:avLst>
          </a:prstGeom>
          <a:solidFill>
            <a:srgbClr val="6B4FA0"/>
          </a:solidFill>
          <a:ln>
            <a:solidFill>
              <a:srgbClr val="6B4FA0"/>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Travel</a:t>
            </a:r>
            <a:endParaRPr lang="en-US" sz="1900" dirty="0"/>
          </a:p>
        </p:txBody>
      </p:sp>
      <p:sp>
        <p:nvSpPr>
          <p:cNvPr id="13" name="Text 11"/>
          <p:cNvSpPr txBox="1"/>
          <p:nvPr/>
        </p:nvSpPr>
        <p:spPr>
          <a:xfrm>
            <a:off x="5269870" y="2880360"/>
            <a:ext cx="1651955" cy="1325880"/>
          </a:xfrm>
          <a:prstGeom prst="rect">
            <a:avLst/>
          </a:prstGeom>
          <a:noFill/>
          <a:ln/>
        </p:spPr>
        <p:txBody>
          <a:bodyPr wrap="square" lIns="0" tIns="0" rIns="0" bIns="0" rtlCol="0" anchor="ctr"/>
          <a:lstStyle/>
          <a:p>
            <a:pPr algn="ctr" indent="0" marL="0">
              <a:buNone/>
            </a:pPr>
            <a:r>
              <a:rPr lang="en-US" sz="1400" dirty="0">
                <a:solidFill>
                  <a:srgbClr val="1B2530"/>
                </a:solidFill>
                <a:latin typeface="Calibri" pitchFamily="34" charset="0"/>
                <a:ea typeface="Calibri" pitchFamily="34" charset="-122"/>
                <a:cs typeface="Calibri" pitchFamily="34" charset="-120"/>
              </a:rPr>
              <a:t>a single line carries them to the equipment downstream</a:t>
            </a:r>
            <a:endParaRPr lang="en-US" sz="1400" dirty="0"/>
          </a:p>
        </p:txBody>
      </p:sp>
      <p:sp>
        <p:nvSpPr>
          <p:cNvPr id="14" name="Shape 12"/>
          <p:cNvSpPr/>
          <p:nvPr/>
        </p:nvSpPr>
        <p:spPr>
          <a:xfrm>
            <a:off x="7104705" y="2962656"/>
            <a:ext cx="274320" cy="292608"/>
          </a:xfrm>
          <a:prstGeom prst="rightArrow">
            <a:avLst/>
          </a:prstGeom>
          <a:solidFill>
            <a:srgbClr val="5B6B78"/>
          </a:solidFill>
          <a:ln w="12700">
            <a:solidFill>
              <a:srgbClr val="5B6B78"/>
            </a:solidFill>
            <a:prstDash val="solid"/>
          </a:ln>
        </p:spPr>
      </p:sp>
      <p:sp>
        <p:nvSpPr>
          <p:cNvPr id="15" name="Shape 13"/>
          <p:cNvSpPr/>
          <p:nvPr/>
        </p:nvSpPr>
        <p:spPr>
          <a:xfrm>
            <a:off x="7424745" y="1874520"/>
            <a:ext cx="1926275" cy="2468880"/>
          </a:xfrm>
          <a:prstGeom prst="roundRect">
            <a:avLst>
              <a:gd name="adj" fmla="val 3798"/>
            </a:avLst>
          </a:prstGeom>
          <a:solidFill>
            <a:srgbClr val="EEF2F4"/>
          </a:solidFill>
          <a:ln w="12700">
            <a:solidFill>
              <a:srgbClr val="EEF2F4"/>
            </a:solidFill>
            <a:prstDash val="solid"/>
          </a:ln>
        </p:spPr>
      </p:sp>
      <p:sp>
        <p:nvSpPr>
          <p:cNvPr id="16" name="Text 14"/>
          <p:cNvSpPr txBox="1"/>
          <p:nvPr/>
        </p:nvSpPr>
        <p:spPr>
          <a:xfrm>
            <a:off x="7561905" y="2057400"/>
            <a:ext cx="1651955" cy="685800"/>
          </a:xfrm>
          <a:prstGeom prst="roundRect">
            <a:avLst>
              <a:gd name="adj" fmla="val 10667"/>
            </a:avLst>
          </a:prstGeom>
          <a:solidFill>
            <a:srgbClr val="2F7D4F"/>
          </a:solidFill>
          <a:ln>
            <a:solidFill>
              <a:srgbClr val="2F7D4F"/>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Shift in</a:t>
            </a:r>
            <a:endParaRPr lang="en-US" sz="1900" dirty="0"/>
          </a:p>
        </p:txBody>
      </p:sp>
      <p:sp>
        <p:nvSpPr>
          <p:cNvPr id="17" name="Text 15"/>
          <p:cNvSpPr txBox="1"/>
          <p:nvPr/>
        </p:nvSpPr>
        <p:spPr>
          <a:xfrm>
            <a:off x="7561905" y="2880360"/>
            <a:ext cx="1651955" cy="1325880"/>
          </a:xfrm>
          <a:prstGeom prst="rect">
            <a:avLst/>
          </a:prstGeom>
          <a:noFill/>
          <a:ln/>
        </p:spPr>
        <p:txBody>
          <a:bodyPr wrap="square" lIns="0" tIns="0" rIns="0" bIns="0" rtlCol="0" anchor="ctr"/>
          <a:lstStyle/>
          <a:p>
            <a:pPr algn="ctr" indent="0" marL="0">
              <a:buNone/>
            </a:pPr>
            <a:r>
              <a:rPr lang="en-US" sz="1400" dirty="0">
                <a:solidFill>
                  <a:srgbClr val="1B2530"/>
                </a:solidFill>
                <a:latin typeface="Calibri" pitchFamily="34" charset="0"/>
                <a:ea typeface="Calibri" pitchFamily="34" charset="-122"/>
                <a:cs typeface="Calibri" pitchFamily="34" charset="-120"/>
              </a:rPr>
              <a:t>another register is loaded serially in n steps, rebuilding the datum bit by bit</a:t>
            </a:r>
            <a:endParaRPr lang="en-US" sz="1400" dirty="0"/>
          </a:p>
        </p:txBody>
      </p:sp>
      <p:sp>
        <p:nvSpPr>
          <p:cNvPr id="18" name="Shape 16"/>
          <p:cNvSpPr/>
          <p:nvPr/>
        </p:nvSpPr>
        <p:spPr>
          <a:xfrm>
            <a:off x="9396740" y="2962656"/>
            <a:ext cx="274320" cy="292608"/>
          </a:xfrm>
          <a:prstGeom prst="rightArrow">
            <a:avLst/>
          </a:prstGeom>
          <a:solidFill>
            <a:srgbClr val="5B6B78"/>
          </a:solidFill>
          <a:ln w="12700">
            <a:solidFill>
              <a:srgbClr val="5B6B78"/>
            </a:solidFill>
            <a:prstDash val="solid"/>
          </a:ln>
        </p:spPr>
      </p:sp>
      <p:sp>
        <p:nvSpPr>
          <p:cNvPr id="19" name="Shape 17"/>
          <p:cNvSpPr/>
          <p:nvPr/>
        </p:nvSpPr>
        <p:spPr>
          <a:xfrm>
            <a:off x="9716780" y="1874520"/>
            <a:ext cx="1926275" cy="2468880"/>
          </a:xfrm>
          <a:prstGeom prst="roundRect">
            <a:avLst>
              <a:gd name="adj" fmla="val 3798"/>
            </a:avLst>
          </a:prstGeom>
          <a:solidFill>
            <a:srgbClr val="EEF2F4"/>
          </a:solidFill>
          <a:ln w="12700">
            <a:solidFill>
              <a:srgbClr val="EEF2F4"/>
            </a:solidFill>
            <a:prstDash val="solid"/>
          </a:ln>
        </p:spPr>
      </p:sp>
      <p:sp>
        <p:nvSpPr>
          <p:cNvPr id="20" name="Text 18"/>
          <p:cNvSpPr txBox="1"/>
          <p:nvPr/>
        </p:nvSpPr>
        <p:spPr>
          <a:xfrm>
            <a:off x="9853940" y="2057400"/>
            <a:ext cx="1651955" cy="685800"/>
          </a:xfrm>
          <a:prstGeom prst="roundRect">
            <a:avLst>
              <a:gd name="adj" fmla="val 10667"/>
            </a:avLst>
          </a:prstGeom>
          <a:solidFill>
            <a:srgbClr val="B23A48"/>
          </a:solidFill>
          <a:ln>
            <a:solidFill>
              <a:srgbClr val="B23A48"/>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Use</a:t>
            </a:r>
            <a:endParaRPr lang="en-US" sz="1900" dirty="0"/>
          </a:p>
        </p:txBody>
      </p:sp>
      <p:sp>
        <p:nvSpPr>
          <p:cNvPr id="21" name="Text 19"/>
          <p:cNvSpPr txBox="1"/>
          <p:nvPr/>
        </p:nvSpPr>
        <p:spPr>
          <a:xfrm>
            <a:off x="9853940" y="2880360"/>
            <a:ext cx="1651955" cy="1325880"/>
          </a:xfrm>
          <a:prstGeom prst="rect">
            <a:avLst/>
          </a:prstGeom>
          <a:noFill/>
          <a:ln/>
        </p:spPr>
        <p:txBody>
          <a:bodyPr wrap="square" lIns="0" tIns="0" rIns="0" bIns="0" rtlCol="0" anchor="ctr"/>
          <a:lstStyle/>
          <a:p>
            <a:pPr algn="ctr" indent="0" marL="0">
              <a:buNone/>
            </a:pPr>
            <a:r>
              <a:rPr lang="en-US" sz="1400" dirty="0">
                <a:solidFill>
                  <a:srgbClr val="1B2530"/>
                </a:solidFill>
                <a:latin typeface="Calibri" pitchFamily="34" charset="0"/>
                <a:ea typeface="Calibri" pitchFamily="34" charset="-122"/>
                <a:cs typeface="Calibri" pitchFamily="34" charset="-120"/>
              </a:rPr>
              <a:t>the rebuilt datum is passed on in parallel</a:t>
            </a:r>
            <a:endParaRPr lang="en-US" sz="1400" dirty="0"/>
          </a:p>
        </p:txBody>
      </p:sp>
      <p:sp>
        <p:nvSpPr>
          <p:cNvPr id="22" name="Shape 20"/>
          <p:cNvSpPr/>
          <p:nvPr/>
        </p:nvSpPr>
        <p:spPr>
          <a:xfrm>
            <a:off x="548640" y="4709160"/>
            <a:ext cx="11094415" cy="1463040"/>
          </a:xfrm>
          <a:prstGeom prst="roundRect">
            <a:avLst>
              <a:gd name="adj" fmla="val 5000"/>
            </a:avLst>
          </a:prstGeom>
          <a:solidFill>
            <a:srgbClr val="D8ECEE"/>
          </a:solidFill>
          <a:ln w="12700">
            <a:solidFill>
              <a:srgbClr val="D8ECEE"/>
            </a:solidFill>
            <a:prstDash val="solid"/>
          </a:ln>
        </p:spPr>
      </p:sp>
      <p:sp>
        <p:nvSpPr>
          <p:cNvPr id="23" name="Text 21"/>
          <p:cNvSpPr txBox="1"/>
          <p:nvPr/>
        </p:nvSpPr>
        <p:spPr>
          <a:xfrm>
            <a:off x="822960" y="4800600"/>
            <a:ext cx="10545775" cy="1280160"/>
          </a:xfrm>
          <a:prstGeom prst="rect">
            <a:avLst/>
          </a:prstGeom>
          <a:noFill/>
          <a:ln/>
        </p:spPr>
        <p:txBody>
          <a:bodyPr wrap="square" lIns="0" tIns="0" rIns="0" bIns="0" rtlCol="0" anchor="ctr"/>
          <a:lstStyle/>
          <a:p>
            <a:pPr indent="0" marL="0">
              <a:buNone/>
            </a:pPr>
            <a:r>
              <a:rPr lang="en-US" sz="2000" dirty="0">
                <a:solidFill>
                  <a:srgbClr val="1B2530"/>
                </a:solidFill>
                <a:latin typeface="Calibri" pitchFamily="34" charset="0"/>
                <a:ea typeface="Calibri" pitchFamily="34" charset="-122"/>
                <a:cs typeface="Calibri" pitchFamily="34" charset="-120"/>
              </a:rPr>
              <a:t>This is the hardware of the warm-up. The display of the kit receives each pixel this way over SPI; the keyboard of Lecture 21 sends each key code this way.</a:t>
            </a:r>
            <a:endParaRPr lang="en-US" sz="20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Registers with an address: a first memory</a:t>
            </a:r>
            <a:endParaRPr lang="en-US" sz="3200" dirty="0"/>
          </a:p>
        </p:txBody>
      </p:sp>
      <p:sp>
        <p:nvSpPr>
          <p:cNvPr id="3" name="Text 1"/>
          <p:cNvSpPr txBox="1"/>
          <p:nvPr/>
        </p:nvSpPr>
        <p:spPr>
          <a:xfrm>
            <a:off x="1554480" y="2331720"/>
            <a:ext cx="1371600" cy="2103120"/>
          </a:xfrm>
          <a:prstGeom prst="roundRect">
            <a:avLst>
              <a:gd name="adj" fmla="val 4000"/>
            </a:avLst>
          </a:prstGeom>
          <a:solidFill>
            <a:srgbClr val="C7791B"/>
          </a:solidFill>
          <a:ln>
            <a:solidFill>
              <a:srgbClr val="C7791B"/>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decoder</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2-to-4</a:t>
            </a:r>
            <a:endParaRPr lang="en-US" sz="1400" dirty="0"/>
          </a:p>
        </p:txBody>
      </p:sp>
      <p:sp>
        <p:nvSpPr>
          <p:cNvPr id="4" name="Text 2"/>
          <p:cNvSpPr txBox="1"/>
          <p:nvPr/>
        </p:nvSpPr>
        <p:spPr>
          <a:xfrm>
            <a:off x="3291840" y="2011680"/>
            <a:ext cx="2743200" cy="548640"/>
          </a:xfrm>
          <a:prstGeom prst="roundRect">
            <a:avLst>
              <a:gd name="adj" fmla="val 10000"/>
            </a:avLst>
          </a:prstGeom>
          <a:solidFill>
            <a:srgbClr val="0E7C86"/>
          </a:solidFill>
          <a:ln>
            <a:solidFill>
              <a:srgbClr val="0E7C86"/>
            </a:solidFill>
          </a:ln>
        </p:spPr>
        <p:txBody>
          <a:bodyPr wrap="square" lIns="38100" tIns="38100" rIns="38100" bIns="3810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register 0  (3 bits)</a:t>
            </a:r>
            <a:endParaRPr lang="en-US" sz="1350" dirty="0"/>
          </a:p>
        </p:txBody>
      </p:sp>
      <p:sp>
        <p:nvSpPr>
          <p:cNvPr id="5" name="Shape 3"/>
          <p:cNvSpPr/>
          <p:nvPr/>
        </p:nvSpPr>
        <p:spPr>
          <a:xfrm>
            <a:off x="2953512" y="2286000"/>
            <a:ext cx="310896" cy="0"/>
          </a:xfrm>
          <a:prstGeom prst="line">
            <a:avLst/>
          </a:prstGeom>
          <a:noFill/>
          <a:ln w="22225">
            <a:solidFill>
              <a:srgbClr val="C7791B"/>
            </a:solidFill>
            <a:prstDash val="solid"/>
            <a:tailEnd type="triangle"/>
          </a:ln>
        </p:spPr>
      </p:sp>
      <p:sp>
        <p:nvSpPr>
          <p:cNvPr id="6" name="Text 4"/>
          <p:cNvSpPr txBox="1"/>
          <p:nvPr/>
        </p:nvSpPr>
        <p:spPr>
          <a:xfrm>
            <a:off x="3291840" y="2724912"/>
            <a:ext cx="2743200" cy="548640"/>
          </a:xfrm>
          <a:prstGeom prst="roundRect">
            <a:avLst>
              <a:gd name="adj" fmla="val 10000"/>
            </a:avLst>
          </a:prstGeom>
          <a:solidFill>
            <a:srgbClr val="0E7C86"/>
          </a:solidFill>
          <a:ln>
            <a:solidFill>
              <a:srgbClr val="0E7C86"/>
            </a:solidFill>
          </a:ln>
        </p:spPr>
        <p:txBody>
          <a:bodyPr wrap="square" lIns="38100" tIns="38100" rIns="38100" bIns="3810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register 1  (3 bits)</a:t>
            </a:r>
            <a:endParaRPr lang="en-US" sz="1350" dirty="0"/>
          </a:p>
        </p:txBody>
      </p:sp>
      <p:sp>
        <p:nvSpPr>
          <p:cNvPr id="7" name="Shape 5"/>
          <p:cNvSpPr/>
          <p:nvPr/>
        </p:nvSpPr>
        <p:spPr>
          <a:xfrm>
            <a:off x="2953512" y="2999232"/>
            <a:ext cx="310896" cy="0"/>
          </a:xfrm>
          <a:prstGeom prst="line">
            <a:avLst/>
          </a:prstGeom>
          <a:noFill/>
          <a:ln w="22225">
            <a:solidFill>
              <a:srgbClr val="C7791B"/>
            </a:solidFill>
            <a:prstDash val="solid"/>
            <a:tailEnd type="triangle"/>
          </a:ln>
        </p:spPr>
      </p:sp>
      <p:sp>
        <p:nvSpPr>
          <p:cNvPr id="8" name="Text 6"/>
          <p:cNvSpPr txBox="1"/>
          <p:nvPr/>
        </p:nvSpPr>
        <p:spPr>
          <a:xfrm>
            <a:off x="3291840" y="3438144"/>
            <a:ext cx="2743200" cy="548640"/>
          </a:xfrm>
          <a:prstGeom prst="roundRect">
            <a:avLst>
              <a:gd name="adj" fmla="val 10000"/>
            </a:avLst>
          </a:prstGeom>
          <a:solidFill>
            <a:srgbClr val="0E7C86"/>
          </a:solidFill>
          <a:ln>
            <a:solidFill>
              <a:srgbClr val="0E7C86"/>
            </a:solidFill>
          </a:ln>
        </p:spPr>
        <p:txBody>
          <a:bodyPr wrap="square" lIns="38100" tIns="38100" rIns="38100" bIns="3810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register 2  (3 bits)</a:t>
            </a:r>
            <a:endParaRPr lang="en-US" sz="1350" dirty="0"/>
          </a:p>
        </p:txBody>
      </p:sp>
      <p:sp>
        <p:nvSpPr>
          <p:cNvPr id="9" name="Shape 7"/>
          <p:cNvSpPr/>
          <p:nvPr/>
        </p:nvSpPr>
        <p:spPr>
          <a:xfrm>
            <a:off x="2953512" y="3712464"/>
            <a:ext cx="310896" cy="0"/>
          </a:xfrm>
          <a:prstGeom prst="line">
            <a:avLst/>
          </a:prstGeom>
          <a:noFill/>
          <a:ln w="22225">
            <a:solidFill>
              <a:srgbClr val="C7791B"/>
            </a:solidFill>
            <a:prstDash val="solid"/>
            <a:tailEnd type="triangle"/>
          </a:ln>
        </p:spPr>
      </p:sp>
      <p:sp>
        <p:nvSpPr>
          <p:cNvPr id="10" name="Text 8"/>
          <p:cNvSpPr txBox="1"/>
          <p:nvPr/>
        </p:nvSpPr>
        <p:spPr>
          <a:xfrm>
            <a:off x="3291840" y="4151376"/>
            <a:ext cx="2743200" cy="548640"/>
          </a:xfrm>
          <a:prstGeom prst="roundRect">
            <a:avLst>
              <a:gd name="adj" fmla="val 10000"/>
            </a:avLst>
          </a:prstGeom>
          <a:solidFill>
            <a:srgbClr val="0E7C86"/>
          </a:solidFill>
          <a:ln>
            <a:solidFill>
              <a:srgbClr val="0E7C86"/>
            </a:solidFill>
          </a:ln>
        </p:spPr>
        <p:txBody>
          <a:bodyPr wrap="square" lIns="38100" tIns="38100" rIns="38100" bIns="3810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register 3  (3 bits)</a:t>
            </a:r>
            <a:endParaRPr lang="en-US" sz="1350" dirty="0"/>
          </a:p>
        </p:txBody>
      </p:sp>
      <p:sp>
        <p:nvSpPr>
          <p:cNvPr id="11" name="Shape 9"/>
          <p:cNvSpPr/>
          <p:nvPr/>
        </p:nvSpPr>
        <p:spPr>
          <a:xfrm>
            <a:off x="2953512" y="4425696"/>
            <a:ext cx="310896" cy="0"/>
          </a:xfrm>
          <a:prstGeom prst="line">
            <a:avLst/>
          </a:prstGeom>
          <a:noFill/>
          <a:ln w="22225">
            <a:solidFill>
              <a:srgbClr val="C7791B"/>
            </a:solidFill>
            <a:prstDash val="solid"/>
            <a:tailEnd type="triangle"/>
          </a:ln>
        </p:spPr>
      </p:sp>
      <p:sp>
        <p:nvSpPr>
          <p:cNvPr id="12" name="Shape 10"/>
          <p:cNvSpPr/>
          <p:nvPr/>
        </p:nvSpPr>
        <p:spPr>
          <a:xfrm>
            <a:off x="640080" y="3383280"/>
            <a:ext cx="886968" cy="0"/>
          </a:xfrm>
          <a:prstGeom prst="line">
            <a:avLst/>
          </a:prstGeom>
          <a:noFill/>
          <a:ln w="25400">
            <a:solidFill>
              <a:srgbClr val="5B6B78"/>
            </a:solidFill>
            <a:prstDash val="solid"/>
            <a:tailEnd type="triangle"/>
          </a:ln>
        </p:spPr>
      </p:sp>
      <p:sp>
        <p:nvSpPr>
          <p:cNvPr id="13" name="Text 11"/>
          <p:cNvSpPr txBox="1"/>
          <p:nvPr/>
        </p:nvSpPr>
        <p:spPr>
          <a:xfrm>
            <a:off x="548640" y="3017520"/>
            <a:ext cx="1005840" cy="274320"/>
          </a:xfrm>
          <a:prstGeom prst="rect">
            <a:avLst/>
          </a:prstGeom>
          <a:noFill/>
          <a:ln/>
        </p:spPr>
        <p:txBody>
          <a:bodyPr wrap="square" lIns="0" tIns="0" rIns="0" bIns="0" rtlCol="0" anchor="t"/>
          <a:lstStyle/>
          <a:p>
            <a:pPr indent="0" marL="0">
              <a:buNone/>
            </a:pPr>
            <a:r>
              <a:rPr lang="en-US" sz="1400" b="1" dirty="0">
                <a:solidFill>
                  <a:srgbClr val="1B2530"/>
                </a:solidFill>
                <a:latin typeface="Courier New" pitchFamily="34" charset="0"/>
                <a:ea typeface="Courier New" pitchFamily="34" charset="-122"/>
                <a:cs typeface="Courier New" pitchFamily="34" charset="-120"/>
              </a:rPr>
              <a:t>A1 A0</a:t>
            </a:r>
            <a:endParaRPr lang="en-US" sz="1400" dirty="0"/>
          </a:p>
        </p:txBody>
      </p:sp>
      <p:sp>
        <p:nvSpPr>
          <p:cNvPr id="14" name="Shape 12"/>
          <p:cNvSpPr/>
          <p:nvPr/>
        </p:nvSpPr>
        <p:spPr>
          <a:xfrm>
            <a:off x="4663440" y="1463040"/>
            <a:ext cx="0" cy="521208"/>
          </a:xfrm>
          <a:prstGeom prst="line">
            <a:avLst/>
          </a:prstGeom>
          <a:noFill/>
          <a:ln w="25400">
            <a:solidFill>
              <a:srgbClr val="5B6B78"/>
            </a:solidFill>
            <a:prstDash val="solid"/>
            <a:tailEnd type="triangle"/>
          </a:ln>
        </p:spPr>
      </p:sp>
      <p:sp>
        <p:nvSpPr>
          <p:cNvPr id="15" name="Text 13"/>
          <p:cNvSpPr txBox="1"/>
          <p:nvPr/>
        </p:nvSpPr>
        <p:spPr>
          <a:xfrm>
            <a:off x="4846320" y="1463040"/>
            <a:ext cx="1463040" cy="274320"/>
          </a:xfrm>
          <a:prstGeom prst="rect">
            <a:avLst/>
          </a:prstGeom>
          <a:noFill/>
          <a:ln/>
        </p:spPr>
        <p:txBody>
          <a:bodyPr wrap="square" lIns="0" tIns="0" rIns="0" bIns="0" rtlCol="0" anchor="t"/>
          <a:lstStyle/>
          <a:p>
            <a:pPr indent="0" marL="0">
              <a:buNone/>
            </a:pPr>
            <a:r>
              <a:rPr lang="en-US" sz="1400" b="1" dirty="0">
                <a:solidFill>
                  <a:srgbClr val="1B2530"/>
                </a:solidFill>
                <a:latin typeface="Courier New" pitchFamily="34" charset="0"/>
                <a:ea typeface="Courier New" pitchFamily="34" charset="-122"/>
                <a:cs typeface="Courier New" pitchFamily="34" charset="-120"/>
              </a:rPr>
              <a:t>I2 I1 I0</a:t>
            </a:r>
            <a:endParaRPr lang="en-US" sz="1400" dirty="0"/>
          </a:p>
        </p:txBody>
      </p:sp>
      <p:sp>
        <p:nvSpPr>
          <p:cNvPr id="16" name="Shape 14"/>
          <p:cNvSpPr/>
          <p:nvPr/>
        </p:nvSpPr>
        <p:spPr>
          <a:xfrm>
            <a:off x="4663440" y="4727448"/>
            <a:ext cx="0" cy="530352"/>
          </a:xfrm>
          <a:prstGeom prst="line">
            <a:avLst/>
          </a:prstGeom>
          <a:noFill/>
          <a:ln w="25400">
            <a:solidFill>
              <a:srgbClr val="5B6B78"/>
            </a:solidFill>
            <a:prstDash val="solid"/>
            <a:tailEnd type="triangle"/>
          </a:ln>
        </p:spPr>
      </p:sp>
      <p:sp>
        <p:nvSpPr>
          <p:cNvPr id="17" name="Text 15"/>
          <p:cNvSpPr txBox="1"/>
          <p:nvPr/>
        </p:nvSpPr>
        <p:spPr>
          <a:xfrm>
            <a:off x="4846320" y="4937760"/>
            <a:ext cx="1463040" cy="274320"/>
          </a:xfrm>
          <a:prstGeom prst="rect">
            <a:avLst/>
          </a:prstGeom>
          <a:noFill/>
          <a:ln/>
        </p:spPr>
        <p:txBody>
          <a:bodyPr wrap="square" lIns="0" tIns="0" rIns="0" bIns="0" rtlCol="0" anchor="t"/>
          <a:lstStyle/>
          <a:p>
            <a:pPr indent="0" marL="0">
              <a:buNone/>
            </a:pPr>
            <a:r>
              <a:rPr lang="en-US" sz="1400" b="1" dirty="0">
                <a:solidFill>
                  <a:srgbClr val="1B2530"/>
                </a:solidFill>
                <a:latin typeface="Courier New" pitchFamily="34" charset="0"/>
                <a:ea typeface="Courier New" pitchFamily="34" charset="-122"/>
                <a:cs typeface="Courier New" pitchFamily="34" charset="-120"/>
              </a:rPr>
              <a:t>O2 O1 O0</a:t>
            </a:r>
            <a:endParaRPr lang="en-US" sz="1400" dirty="0"/>
          </a:p>
        </p:txBody>
      </p:sp>
      <p:sp>
        <p:nvSpPr>
          <p:cNvPr id="18" name="Text 16"/>
          <p:cNvSpPr txBox="1"/>
          <p:nvPr/>
        </p:nvSpPr>
        <p:spPr>
          <a:xfrm>
            <a:off x="548640" y="4937760"/>
            <a:ext cx="2926080" cy="274320"/>
          </a:xfrm>
          <a:prstGeom prst="rect">
            <a:avLst/>
          </a:prstGeom>
          <a:noFill/>
          <a:ln/>
        </p:spPr>
        <p:txBody>
          <a:bodyPr wrap="square" lIns="0" tIns="0" rIns="0" bIns="0" rtlCol="0" anchor="t"/>
          <a:lstStyle/>
          <a:p>
            <a:pPr indent="0" marL="0">
              <a:buNone/>
            </a:pPr>
            <a:r>
              <a:rPr lang="en-US" sz="1350" b="1" dirty="0">
                <a:solidFill>
                  <a:srgbClr val="B23A48"/>
                </a:solidFill>
                <a:latin typeface="Calibri" pitchFamily="34" charset="0"/>
                <a:ea typeface="Calibri" pitchFamily="34" charset="-122"/>
                <a:cs typeface="Calibri" pitchFamily="34" charset="-120"/>
              </a:rPr>
              <a:t>control: CS, RD, OE</a:t>
            </a:r>
            <a:endParaRPr lang="en-US" sz="1350" dirty="0"/>
          </a:p>
        </p:txBody>
      </p:sp>
      <p:sp>
        <p:nvSpPr>
          <p:cNvPr id="19" name="Shape 17"/>
          <p:cNvSpPr/>
          <p:nvPr/>
        </p:nvSpPr>
        <p:spPr>
          <a:xfrm>
            <a:off x="6675120" y="1500505"/>
            <a:ext cx="146304" cy="146304"/>
          </a:xfrm>
          <a:prstGeom prst="rect">
            <a:avLst/>
          </a:prstGeom>
          <a:solidFill>
            <a:srgbClr val="0E7C86"/>
          </a:solidFill>
          <a:ln w="12700">
            <a:solidFill>
              <a:srgbClr val="0E7C86"/>
            </a:solidFill>
            <a:prstDash val="solid"/>
          </a:ln>
        </p:spPr>
      </p:sp>
      <p:sp>
        <p:nvSpPr>
          <p:cNvPr id="20" name="Text 18"/>
          <p:cNvSpPr txBox="1"/>
          <p:nvPr/>
        </p:nvSpPr>
        <p:spPr>
          <a:xfrm>
            <a:off x="7059168" y="1417320"/>
            <a:ext cx="458388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Four registers of three bits: a memory of 4 words by 3 bits</a:t>
            </a:r>
            <a:endParaRPr lang="en-US" sz="1900" dirty="0"/>
          </a:p>
        </p:txBody>
      </p:sp>
      <p:sp>
        <p:nvSpPr>
          <p:cNvPr id="21" name="Shape 19"/>
          <p:cNvSpPr/>
          <p:nvPr/>
        </p:nvSpPr>
        <p:spPr>
          <a:xfrm>
            <a:off x="6675120" y="2278317"/>
            <a:ext cx="146304" cy="146304"/>
          </a:xfrm>
          <a:prstGeom prst="rect">
            <a:avLst/>
          </a:prstGeom>
          <a:solidFill>
            <a:srgbClr val="C7791B"/>
          </a:solidFill>
          <a:ln w="12700">
            <a:solidFill>
              <a:srgbClr val="C7791B"/>
            </a:solidFill>
            <a:prstDash val="solid"/>
          </a:ln>
        </p:spPr>
      </p:sp>
      <p:sp>
        <p:nvSpPr>
          <p:cNvPr id="22" name="Text 20"/>
          <p:cNvSpPr txBox="1"/>
          <p:nvPr/>
        </p:nvSpPr>
        <p:spPr>
          <a:xfrm>
            <a:off x="7059168" y="2195132"/>
            <a:ext cx="458388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Two address lines, A1 and A0, go to a decoder that selects one register</a:t>
            </a:r>
            <a:endParaRPr lang="en-US" sz="1900" dirty="0"/>
          </a:p>
        </p:txBody>
      </p:sp>
      <p:sp>
        <p:nvSpPr>
          <p:cNvPr id="23" name="Shape 21"/>
          <p:cNvSpPr/>
          <p:nvPr/>
        </p:nvSpPr>
        <p:spPr>
          <a:xfrm>
            <a:off x="6675120" y="3056128"/>
            <a:ext cx="146304" cy="146304"/>
          </a:xfrm>
          <a:prstGeom prst="rect">
            <a:avLst/>
          </a:prstGeom>
          <a:solidFill>
            <a:srgbClr val="0E7C86"/>
          </a:solidFill>
          <a:ln w="12700">
            <a:solidFill>
              <a:srgbClr val="0E7C86"/>
            </a:solidFill>
            <a:prstDash val="solid"/>
          </a:ln>
        </p:spPr>
      </p:sp>
      <p:sp>
        <p:nvSpPr>
          <p:cNvPr id="24" name="Text 22"/>
          <p:cNvSpPr txBox="1"/>
          <p:nvPr/>
        </p:nvSpPr>
        <p:spPr>
          <a:xfrm>
            <a:off x="7059168" y="2972943"/>
            <a:ext cx="458388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Three data inputs and three data outputs, shared by all the registers</a:t>
            </a:r>
            <a:endParaRPr lang="en-US" sz="1900" dirty="0"/>
          </a:p>
        </p:txBody>
      </p:sp>
      <p:sp>
        <p:nvSpPr>
          <p:cNvPr id="25" name="Shape 23"/>
          <p:cNvSpPr/>
          <p:nvPr/>
        </p:nvSpPr>
        <p:spPr>
          <a:xfrm>
            <a:off x="6675120" y="3833940"/>
            <a:ext cx="146304" cy="146304"/>
          </a:xfrm>
          <a:prstGeom prst="rect">
            <a:avLst/>
          </a:prstGeom>
          <a:solidFill>
            <a:srgbClr val="C7791B"/>
          </a:solidFill>
          <a:ln w="12700">
            <a:solidFill>
              <a:srgbClr val="C7791B"/>
            </a:solidFill>
            <a:prstDash val="solid"/>
          </a:ln>
        </p:spPr>
      </p:sp>
      <p:sp>
        <p:nvSpPr>
          <p:cNvPr id="26" name="Text 24"/>
          <p:cNvSpPr txBox="1"/>
          <p:nvPr/>
        </p:nvSpPr>
        <p:spPr>
          <a:xfrm>
            <a:off x="7059168" y="3750755"/>
            <a:ext cx="4583887" cy="1643634"/>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Three control lines</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CS, chip select: the memory responds only when selected</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RD, read or write</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OE, output enable: three-state outputs, so that several memories can share one bus</a:t>
            </a:r>
            <a:endParaRPr lang="en-US" sz="1900" dirty="0"/>
          </a:p>
        </p:txBody>
      </p:sp>
      <p:sp>
        <p:nvSpPr>
          <p:cNvPr id="27" name="Shape 25"/>
          <p:cNvSpPr/>
          <p:nvPr/>
        </p:nvSpPr>
        <p:spPr>
          <a:xfrm>
            <a:off x="6675120" y="5666613"/>
            <a:ext cx="146304" cy="146304"/>
          </a:xfrm>
          <a:prstGeom prst="rect">
            <a:avLst/>
          </a:prstGeom>
          <a:solidFill>
            <a:srgbClr val="0E7C86"/>
          </a:solidFill>
          <a:ln w="12700">
            <a:solidFill>
              <a:srgbClr val="0E7C86"/>
            </a:solidFill>
            <a:prstDash val="solid"/>
          </a:ln>
        </p:spPr>
      </p:sp>
      <p:sp>
        <p:nvSpPr>
          <p:cNvPr id="28" name="Text 26"/>
          <p:cNvSpPr txBox="1"/>
          <p:nvPr/>
        </p:nvSpPr>
        <p:spPr>
          <a:xfrm>
            <a:off x="7059168" y="5583428"/>
            <a:ext cx="458388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Everything in it comes from Lectures 11, 13 and this one</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06</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Back to the machine</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Registers and buses on the kit.</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Buses on the PRG32 kit</a:t>
            </a:r>
            <a:endParaRPr lang="en-US" sz="3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546259"/>
                <a:gridCol w="2091570"/>
                <a:gridCol w="3273762"/>
                <a:gridCol w="3182824"/>
              </a:tblGrid>
              <a:tr h="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Connection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Kind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Lines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What travels on it</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inside the ESP32-C6</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parallel</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32 data lines, address and control</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instructions, data and register transfers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display (ILI9341)</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serial, SPI</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clock, data out, chip select, data/command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every pixel of every frame, bit by bit</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sound amplifier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serial, I2S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bit clock, word select, data</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audio samples, 22,050 per second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joystick and buttons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one wire per button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one input pin each</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a decoded representation: one line per button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USB to the laptop</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serial, differential pair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two data wires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the firmware and the debug console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Shifts in RISC-V: a shift register in one instruction</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46811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slli and srli move all the bits of a register by a given number of positions, filling with zeros</a:t>
            </a:r>
            <a:endParaRPr lang="en-US" sz="2100" dirty="0"/>
          </a:p>
        </p:txBody>
      </p:sp>
      <p:sp>
        <p:nvSpPr>
          <p:cNvPr id="5" name="Shape 3"/>
          <p:cNvSpPr/>
          <p:nvPr/>
        </p:nvSpPr>
        <p:spPr>
          <a:xfrm>
            <a:off x="548640" y="262337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24697"/>
            <a:ext cx="546811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srai fills with copies of the sign bit (Lecture 05)</a:t>
            </a:r>
            <a:endParaRPr lang="en-US" sz="2100" dirty="0"/>
          </a:p>
        </p:txBody>
      </p:sp>
      <p:sp>
        <p:nvSpPr>
          <p:cNvPr id="7" name="Shape 5"/>
          <p:cNvSpPr/>
          <p:nvPr/>
        </p:nvSpPr>
        <p:spPr>
          <a:xfrm>
            <a:off x="548640" y="340537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306699"/>
            <a:ext cx="546811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sll, srl and sra take the amount from a second register</a:t>
            </a:r>
            <a:endParaRPr lang="en-US" sz="2100" dirty="0"/>
          </a:p>
        </p:txBody>
      </p:sp>
      <p:sp>
        <p:nvSpPr>
          <p:cNvPr id="9" name="Shape 7"/>
          <p:cNvSpPr/>
          <p:nvPr/>
        </p:nvSpPr>
        <p:spPr>
          <a:xfrm>
            <a:off x="548640" y="4187381"/>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088702"/>
            <a:ext cx="5468112" cy="1301496"/>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In hardware a shift by any amount in one step is done by a barrel shifter: layers of multiplexers, not a chain of flip-flops</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546811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shifter is one of the units of the ALU of Lecture 11</a:t>
            </a:r>
            <a:endParaRPr lang="en-US" sz="2100" dirty="0"/>
          </a:p>
        </p:txBody>
      </p:sp>
      <p:sp>
        <p:nvSpPr>
          <p:cNvPr id="13" name="Shape 11"/>
          <p:cNvSpPr/>
          <p:nvPr/>
        </p:nvSpPr>
        <p:spPr>
          <a:xfrm>
            <a:off x="6766560" y="1417320"/>
            <a:ext cx="4876495" cy="3108960"/>
          </a:xfrm>
          <a:prstGeom prst="roundRect">
            <a:avLst>
              <a:gd name="adj" fmla="val 2353"/>
            </a:avLst>
          </a:prstGeom>
          <a:solidFill>
            <a:srgbClr val="12202B"/>
          </a:solidFill>
          <a:ln w="12700">
            <a:solidFill>
              <a:srgbClr val="12202B"/>
            </a:solidFill>
            <a:prstDash val="solid"/>
          </a:ln>
        </p:spPr>
      </p:sp>
      <p:sp>
        <p:nvSpPr>
          <p:cNvPr id="14" name="Text 12"/>
          <p:cNvSpPr txBox="1"/>
          <p:nvPr/>
        </p:nvSpPr>
        <p:spPr>
          <a:xfrm>
            <a:off x="6995160" y="1600200"/>
            <a:ext cx="4419295" cy="2743200"/>
          </a:xfrm>
          <a:prstGeom prst="rect">
            <a:avLst/>
          </a:prstGeom>
          <a:noFill/>
          <a:ln/>
        </p:spPr>
        <p:txBody>
          <a:bodyPr wrap="square" lIns="0" tIns="0" rIns="0" bIns="0" rtlCol="0" anchor="t"/>
          <a:lstStyle/>
          <a:p>
            <a:pPr indent="0" marL="0">
              <a:buNone/>
            </a:pPr>
            <a:r>
              <a:rPr lang="en-US" sz="1600" dirty="0">
                <a:solidFill>
                  <a:srgbClr val="8FB3A0"/>
                </a:solidFill>
                <a:latin typeface="Courier New" pitchFamily="34" charset="0"/>
                <a:ea typeface="Courier New" pitchFamily="34" charset="-122"/>
                <a:cs typeface="Courier New" pitchFamily="34" charset="-120"/>
              </a:rPr>
              <a:t># parallel to serial, LSB first</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andi t1, a0, 1     </a:t>
            </a:r>
            <a:pPr indent="0" marL="0">
              <a:buNone/>
            </a:pPr>
            <a:r>
              <a:rPr lang="en-US" sz="1600" dirty="0">
                <a:solidFill>
                  <a:srgbClr val="8FB3A0"/>
                </a:solidFill>
                <a:latin typeface="Courier New" pitchFamily="34" charset="0"/>
                <a:ea typeface="Courier New" pitchFamily="34" charset="-122"/>
                <a:cs typeface="Courier New" pitchFamily="34" charset="-120"/>
              </a:rPr>
              <a:t># take bit 0</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srli a0, a0, 1     </a:t>
            </a:r>
            <a:pPr indent="0" marL="0">
              <a:buNone/>
            </a:pPr>
            <a:r>
              <a:rPr lang="en-US" sz="1600" dirty="0">
                <a:solidFill>
                  <a:srgbClr val="8FB3A0"/>
                </a:solidFill>
                <a:latin typeface="Courier New" pitchFamily="34" charset="0"/>
                <a:ea typeface="Courier New" pitchFamily="34" charset="-122"/>
                <a:cs typeface="Courier New" pitchFamily="34" charset="-120"/>
              </a:rPr>
              <a:t># next bit</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 serial to parallel, MSB first</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slli a1, a1, 1     </a:t>
            </a:r>
            <a:pPr indent="0" marL="0">
              <a:buNone/>
            </a:pPr>
            <a:r>
              <a:rPr lang="en-US" sz="1600" dirty="0">
                <a:solidFill>
                  <a:srgbClr val="8FB3A0"/>
                </a:solidFill>
                <a:latin typeface="Courier New" pitchFamily="34" charset="0"/>
                <a:ea typeface="Courier New" pitchFamily="34" charset="-122"/>
                <a:cs typeface="Courier New" pitchFamily="34" charset="-120"/>
              </a:rPr>
              <a:t># make room</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or   a1, a1, t1    </a:t>
            </a:r>
            <a:pPr indent="0" marL="0">
              <a:buNone/>
            </a:pPr>
            <a:r>
              <a:rPr lang="en-US" sz="1600" dirty="0">
                <a:solidFill>
                  <a:srgbClr val="8FB3A0"/>
                </a:solidFill>
                <a:latin typeface="Courier New" pitchFamily="34" charset="0"/>
                <a:ea typeface="Courier New" pitchFamily="34" charset="-122"/>
                <a:cs typeface="Courier New" pitchFamily="34" charset="-120"/>
              </a:rPr>
              <a:t># insert bit</a:t>
            </a:r>
            <a:endParaRPr lang="en-US" sz="16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417320"/>
            <a:ext cx="11094415" cy="1143000"/>
          </a:xfrm>
          <a:prstGeom prst="rect">
            <a:avLst/>
          </a:prstGeom>
          <a:noFill/>
          <a:ln/>
        </p:spPr>
        <p:txBody>
          <a:bodyPr wrap="square" lIns="0" tIns="0" rIns="0" bIns="0" rtlCol="0" anchor="ctr"/>
          <a:lstStyle/>
          <a:p>
            <a:pPr indent="0" marL="0">
              <a:buNone/>
            </a:pPr>
            <a:r>
              <a:rPr lang="en-US" sz="2600" b="1" dirty="0">
                <a:solidFill>
                  <a:srgbClr val="1B2530"/>
                </a:solidFill>
                <a:latin typeface="Cambria" pitchFamily="34" charset="0"/>
                <a:ea typeface="Cambria" pitchFamily="34" charset="-122"/>
                <a:cs typeface="Cambria" pitchFamily="34" charset="-120"/>
              </a:rPr>
              <a:t>Why does a common bus need three-state buffers?</a:t>
            </a:r>
            <a:endParaRPr lang="en-US" sz="2600" dirty="0"/>
          </a:p>
        </p:txBody>
      </p:sp>
      <p:sp>
        <p:nvSpPr>
          <p:cNvPr id="4" name="Shape 2"/>
          <p:cNvSpPr/>
          <p:nvPr/>
        </p:nvSpPr>
        <p:spPr>
          <a:xfrm>
            <a:off x="548640" y="2834640"/>
            <a:ext cx="5410048" cy="1531620"/>
          </a:xfrm>
          <a:prstGeom prst="roundRect">
            <a:avLst>
              <a:gd name="adj" fmla="val 4776"/>
            </a:avLst>
          </a:prstGeom>
          <a:solidFill>
            <a:srgbClr val="EEF2F4"/>
          </a:solidFill>
          <a:ln w="12700">
            <a:solidFill>
              <a:srgbClr val="EEF2F4"/>
            </a:solidFill>
            <a:prstDash val="solid"/>
          </a:ln>
        </p:spPr>
      </p:sp>
      <p:sp>
        <p:nvSpPr>
          <p:cNvPr id="5" name="Text 3"/>
          <p:cNvSpPr txBox="1"/>
          <p:nvPr/>
        </p:nvSpPr>
        <p:spPr>
          <a:xfrm>
            <a:off x="777240"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Text 4"/>
          <p:cNvSpPr txBox="1"/>
          <p:nvPr/>
        </p:nvSpPr>
        <p:spPr>
          <a:xfrm>
            <a:off x="1508760"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To make transfers faster</a:t>
            </a:r>
            <a:endParaRPr lang="en-US" sz="2200" dirty="0"/>
          </a:p>
        </p:txBody>
      </p:sp>
      <p:sp>
        <p:nvSpPr>
          <p:cNvPr id="7" name="Shape 5"/>
          <p:cNvSpPr/>
          <p:nvPr/>
        </p:nvSpPr>
        <p:spPr>
          <a:xfrm>
            <a:off x="6233008" y="2834640"/>
            <a:ext cx="5410048" cy="1531620"/>
          </a:xfrm>
          <a:prstGeom prst="roundRect">
            <a:avLst>
              <a:gd name="adj" fmla="val 4776"/>
            </a:avLst>
          </a:prstGeom>
          <a:solidFill>
            <a:srgbClr val="EEF2F4"/>
          </a:solidFill>
          <a:ln w="12700">
            <a:solidFill>
              <a:srgbClr val="EEF2F4"/>
            </a:solidFill>
            <a:prstDash val="solid"/>
          </a:ln>
        </p:spPr>
      </p:sp>
      <p:sp>
        <p:nvSpPr>
          <p:cNvPr id="8" name="Text 6"/>
          <p:cNvSpPr txBox="1"/>
          <p:nvPr/>
        </p:nvSpPr>
        <p:spPr>
          <a:xfrm>
            <a:off x="6461608"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9" name="Text 7"/>
          <p:cNvSpPr txBox="1"/>
          <p:nvPr/>
        </p:nvSpPr>
        <p:spPr>
          <a:xfrm>
            <a:off x="7193128"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So that only the enabled source drives the lines</a:t>
            </a:r>
            <a:endParaRPr lang="en-US" sz="2200" dirty="0"/>
          </a:p>
        </p:txBody>
      </p:sp>
      <p:sp>
        <p:nvSpPr>
          <p:cNvPr id="10" name="Shape 8"/>
          <p:cNvSpPr/>
          <p:nvPr/>
        </p:nvSpPr>
        <p:spPr>
          <a:xfrm>
            <a:off x="548640" y="4640580"/>
            <a:ext cx="5410048" cy="1531620"/>
          </a:xfrm>
          <a:prstGeom prst="roundRect">
            <a:avLst>
              <a:gd name="adj" fmla="val 4776"/>
            </a:avLst>
          </a:prstGeom>
          <a:solidFill>
            <a:srgbClr val="EEF2F4"/>
          </a:solidFill>
          <a:ln w="12700">
            <a:solidFill>
              <a:srgbClr val="EEF2F4"/>
            </a:solidFill>
            <a:prstDash val="solid"/>
          </a:ln>
        </p:spPr>
      </p:sp>
      <p:sp>
        <p:nvSpPr>
          <p:cNvPr id="11" name="Text 9"/>
          <p:cNvSpPr txBox="1"/>
          <p:nvPr/>
        </p:nvSpPr>
        <p:spPr>
          <a:xfrm>
            <a:off x="777240"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2" name="Text 10"/>
          <p:cNvSpPr txBox="1"/>
          <p:nvPr/>
        </p:nvSpPr>
        <p:spPr>
          <a:xfrm>
            <a:off x="1508760"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To store the datum on the bus</a:t>
            </a:r>
            <a:endParaRPr lang="en-US" sz="2200" dirty="0"/>
          </a:p>
        </p:txBody>
      </p:sp>
      <p:sp>
        <p:nvSpPr>
          <p:cNvPr id="13" name="Shape 11"/>
          <p:cNvSpPr/>
          <p:nvPr/>
        </p:nvSpPr>
        <p:spPr>
          <a:xfrm>
            <a:off x="6233008" y="4640580"/>
            <a:ext cx="5410048" cy="1531620"/>
          </a:xfrm>
          <a:prstGeom prst="roundRect">
            <a:avLst>
              <a:gd name="adj" fmla="val 4776"/>
            </a:avLst>
          </a:prstGeom>
          <a:solidFill>
            <a:srgbClr val="EEF2F4"/>
          </a:solidFill>
          <a:ln w="12700">
            <a:solidFill>
              <a:srgbClr val="EEF2F4"/>
            </a:solidFill>
            <a:prstDash val="solid"/>
          </a:ln>
        </p:spPr>
      </p:sp>
      <p:sp>
        <p:nvSpPr>
          <p:cNvPr id="14" name="Text 12"/>
          <p:cNvSpPr txBox="1"/>
          <p:nvPr/>
        </p:nvSpPr>
        <p:spPr>
          <a:xfrm>
            <a:off x="6461608"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5" name="Text 13"/>
          <p:cNvSpPr txBox="1"/>
          <p:nvPr/>
        </p:nvSpPr>
        <p:spPr>
          <a:xfrm>
            <a:off x="7193128"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To convert serial data to parallel</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417320"/>
            <a:ext cx="11094415" cy="1143000"/>
          </a:xfrm>
          <a:prstGeom prst="rect">
            <a:avLst/>
          </a:prstGeom>
          <a:noFill/>
          <a:ln/>
        </p:spPr>
        <p:txBody>
          <a:bodyPr wrap="square" lIns="0" tIns="0" rIns="0" bIns="0" rtlCol="0" anchor="ctr"/>
          <a:lstStyle/>
          <a:p>
            <a:pPr indent="0" marL="0">
              <a:buNone/>
            </a:pPr>
            <a:r>
              <a:rPr lang="en-US" sz="2600" b="1" dirty="0">
                <a:solidFill>
                  <a:srgbClr val="1B2530"/>
                </a:solidFill>
                <a:latin typeface="Cambria" pitchFamily="34" charset="0"/>
                <a:ea typeface="Cambria" pitchFamily="34" charset="-122"/>
                <a:cs typeface="Cambria" pitchFamily="34" charset="-120"/>
              </a:rPr>
              <a:t>How many clock pulses does a serial transfer of a 32-bit word need?</a:t>
            </a:r>
            <a:endParaRPr lang="en-US" sz="2600" dirty="0"/>
          </a:p>
        </p:txBody>
      </p:sp>
      <p:sp>
        <p:nvSpPr>
          <p:cNvPr id="4" name="Shape 2"/>
          <p:cNvSpPr/>
          <p:nvPr/>
        </p:nvSpPr>
        <p:spPr>
          <a:xfrm>
            <a:off x="548640" y="2834640"/>
            <a:ext cx="5410048" cy="1531620"/>
          </a:xfrm>
          <a:prstGeom prst="roundRect">
            <a:avLst>
              <a:gd name="adj" fmla="val 4776"/>
            </a:avLst>
          </a:prstGeom>
          <a:solidFill>
            <a:srgbClr val="EEF2F4"/>
          </a:solidFill>
          <a:ln w="12700">
            <a:solidFill>
              <a:srgbClr val="EEF2F4"/>
            </a:solidFill>
            <a:prstDash val="solid"/>
          </a:ln>
        </p:spPr>
      </p:sp>
      <p:sp>
        <p:nvSpPr>
          <p:cNvPr id="5" name="Text 3"/>
          <p:cNvSpPr txBox="1"/>
          <p:nvPr/>
        </p:nvSpPr>
        <p:spPr>
          <a:xfrm>
            <a:off x="777240"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Text 4"/>
          <p:cNvSpPr txBox="1"/>
          <p:nvPr/>
        </p:nvSpPr>
        <p:spPr>
          <a:xfrm>
            <a:off x="1508760"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1</a:t>
            </a:r>
            <a:endParaRPr lang="en-US" sz="2200" dirty="0"/>
          </a:p>
        </p:txBody>
      </p:sp>
      <p:sp>
        <p:nvSpPr>
          <p:cNvPr id="7" name="Shape 5"/>
          <p:cNvSpPr/>
          <p:nvPr/>
        </p:nvSpPr>
        <p:spPr>
          <a:xfrm>
            <a:off x="6233008" y="2834640"/>
            <a:ext cx="5410048" cy="1531620"/>
          </a:xfrm>
          <a:prstGeom prst="roundRect">
            <a:avLst>
              <a:gd name="adj" fmla="val 4776"/>
            </a:avLst>
          </a:prstGeom>
          <a:solidFill>
            <a:srgbClr val="EEF2F4"/>
          </a:solidFill>
          <a:ln w="12700">
            <a:solidFill>
              <a:srgbClr val="EEF2F4"/>
            </a:solidFill>
            <a:prstDash val="solid"/>
          </a:ln>
        </p:spPr>
      </p:sp>
      <p:sp>
        <p:nvSpPr>
          <p:cNvPr id="8" name="Text 6"/>
          <p:cNvSpPr txBox="1"/>
          <p:nvPr/>
        </p:nvSpPr>
        <p:spPr>
          <a:xfrm>
            <a:off x="6461608"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9" name="Text 7"/>
          <p:cNvSpPr txBox="1"/>
          <p:nvPr/>
        </p:nvSpPr>
        <p:spPr>
          <a:xfrm>
            <a:off x="7193128"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5</a:t>
            </a:r>
            <a:endParaRPr lang="en-US" sz="2200" dirty="0"/>
          </a:p>
        </p:txBody>
      </p:sp>
      <p:sp>
        <p:nvSpPr>
          <p:cNvPr id="10" name="Shape 8"/>
          <p:cNvSpPr/>
          <p:nvPr/>
        </p:nvSpPr>
        <p:spPr>
          <a:xfrm>
            <a:off x="548640" y="4640580"/>
            <a:ext cx="5410048" cy="1531620"/>
          </a:xfrm>
          <a:prstGeom prst="roundRect">
            <a:avLst>
              <a:gd name="adj" fmla="val 4776"/>
            </a:avLst>
          </a:prstGeom>
          <a:solidFill>
            <a:srgbClr val="EEF2F4"/>
          </a:solidFill>
          <a:ln w="12700">
            <a:solidFill>
              <a:srgbClr val="EEF2F4"/>
            </a:solidFill>
            <a:prstDash val="solid"/>
          </a:ln>
        </p:spPr>
      </p:sp>
      <p:sp>
        <p:nvSpPr>
          <p:cNvPr id="11" name="Text 9"/>
          <p:cNvSpPr txBox="1"/>
          <p:nvPr/>
        </p:nvSpPr>
        <p:spPr>
          <a:xfrm>
            <a:off x="777240"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2" name="Text 10"/>
          <p:cNvSpPr txBox="1"/>
          <p:nvPr/>
        </p:nvSpPr>
        <p:spPr>
          <a:xfrm>
            <a:off x="1508760"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32</a:t>
            </a:r>
            <a:endParaRPr lang="en-US" sz="2200" dirty="0"/>
          </a:p>
        </p:txBody>
      </p:sp>
      <p:sp>
        <p:nvSpPr>
          <p:cNvPr id="13" name="Shape 11"/>
          <p:cNvSpPr/>
          <p:nvPr/>
        </p:nvSpPr>
        <p:spPr>
          <a:xfrm>
            <a:off x="6233008" y="4640580"/>
            <a:ext cx="5410048" cy="1531620"/>
          </a:xfrm>
          <a:prstGeom prst="roundRect">
            <a:avLst>
              <a:gd name="adj" fmla="val 4776"/>
            </a:avLst>
          </a:prstGeom>
          <a:solidFill>
            <a:srgbClr val="EEF2F4"/>
          </a:solidFill>
          <a:ln w="12700">
            <a:solidFill>
              <a:srgbClr val="EEF2F4"/>
            </a:solidFill>
            <a:prstDash val="solid"/>
          </a:ln>
        </p:spPr>
      </p:sp>
      <p:sp>
        <p:nvSpPr>
          <p:cNvPr id="14" name="Text 12"/>
          <p:cNvSpPr txBox="1"/>
          <p:nvPr/>
        </p:nvSpPr>
        <p:spPr>
          <a:xfrm>
            <a:off x="6461608"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5" name="Text 13"/>
          <p:cNvSpPr txBox="1"/>
          <p:nvPr/>
        </p:nvSpPr>
        <p:spPr>
          <a:xfrm>
            <a:off x="7193128"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64</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417320"/>
            <a:ext cx="11094415" cy="1143000"/>
          </a:xfrm>
          <a:prstGeom prst="rect">
            <a:avLst/>
          </a:prstGeom>
          <a:noFill/>
          <a:ln/>
        </p:spPr>
        <p:txBody>
          <a:bodyPr wrap="square" lIns="0" tIns="0" rIns="0" bIns="0" rtlCol="0" anchor="ctr"/>
          <a:lstStyle/>
          <a:p>
            <a:pPr indent="0" marL="0">
              <a:buNone/>
            </a:pPr>
            <a:r>
              <a:rPr lang="en-US" sz="2600" b="1" dirty="0">
                <a:solidFill>
                  <a:srgbClr val="1B2530"/>
                </a:solidFill>
                <a:latin typeface="Cambria" pitchFamily="34" charset="0"/>
                <a:ea typeface="Cambria" pitchFamily="34" charset="-122"/>
                <a:cs typeface="Cambria" pitchFamily="34" charset="-120"/>
              </a:rPr>
              <a:t>A memory has 10 address lines and 8 data lines. How many bits does it store?</a:t>
            </a:r>
            <a:endParaRPr lang="en-US" sz="2600" dirty="0"/>
          </a:p>
        </p:txBody>
      </p:sp>
      <p:sp>
        <p:nvSpPr>
          <p:cNvPr id="4" name="Shape 2"/>
          <p:cNvSpPr/>
          <p:nvPr/>
        </p:nvSpPr>
        <p:spPr>
          <a:xfrm>
            <a:off x="548640" y="2834640"/>
            <a:ext cx="5410048" cy="1531620"/>
          </a:xfrm>
          <a:prstGeom prst="roundRect">
            <a:avLst>
              <a:gd name="adj" fmla="val 4776"/>
            </a:avLst>
          </a:prstGeom>
          <a:solidFill>
            <a:srgbClr val="EEF2F4"/>
          </a:solidFill>
          <a:ln w="12700">
            <a:solidFill>
              <a:srgbClr val="EEF2F4"/>
            </a:solidFill>
            <a:prstDash val="solid"/>
          </a:ln>
        </p:spPr>
      </p:sp>
      <p:sp>
        <p:nvSpPr>
          <p:cNvPr id="5" name="Text 3"/>
          <p:cNvSpPr txBox="1"/>
          <p:nvPr/>
        </p:nvSpPr>
        <p:spPr>
          <a:xfrm>
            <a:off x="777240"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Text 4"/>
          <p:cNvSpPr txBox="1"/>
          <p:nvPr/>
        </p:nvSpPr>
        <p:spPr>
          <a:xfrm>
            <a:off x="1508760"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80</a:t>
            </a:r>
            <a:endParaRPr lang="en-US" sz="2200" dirty="0"/>
          </a:p>
        </p:txBody>
      </p:sp>
      <p:sp>
        <p:nvSpPr>
          <p:cNvPr id="7" name="Shape 5"/>
          <p:cNvSpPr/>
          <p:nvPr/>
        </p:nvSpPr>
        <p:spPr>
          <a:xfrm>
            <a:off x="6233008" y="2834640"/>
            <a:ext cx="5410048" cy="1531620"/>
          </a:xfrm>
          <a:prstGeom prst="roundRect">
            <a:avLst>
              <a:gd name="adj" fmla="val 4776"/>
            </a:avLst>
          </a:prstGeom>
          <a:solidFill>
            <a:srgbClr val="EEF2F4"/>
          </a:solidFill>
          <a:ln w="12700">
            <a:solidFill>
              <a:srgbClr val="EEF2F4"/>
            </a:solidFill>
            <a:prstDash val="solid"/>
          </a:ln>
        </p:spPr>
      </p:sp>
      <p:sp>
        <p:nvSpPr>
          <p:cNvPr id="8" name="Text 6"/>
          <p:cNvSpPr txBox="1"/>
          <p:nvPr/>
        </p:nvSpPr>
        <p:spPr>
          <a:xfrm>
            <a:off x="6461608"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9" name="Text 7"/>
          <p:cNvSpPr txBox="1"/>
          <p:nvPr/>
        </p:nvSpPr>
        <p:spPr>
          <a:xfrm>
            <a:off x="7193128"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1,024</a:t>
            </a:r>
            <a:endParaRPr lang="en-US" sz="2200" dirty="0"/>
          </a:p>
        </p:txBody>
      </p:sp>
      <p:sp>
        <p:nvSpPr>
          <p:cNvPr id="10" name="Shape 8"/>
          <p:cNvSpPr/>
          <p:nvPr/>
        </p:nvSpPr>
        <p:spPr>
          <a:xfrm>
            <a:off x="548640" y="4640580"/>
            <a:ext cx="5410048" cy="1531620"/>
          </a:xfrm>
          <a:prstGeom prst="roundRect">
            <a:avLst>
              <a:gd name="adj" fmla="val 4776"/>
            </a:avLst>
          </a:prstGeom>
          <a:solidFill>
            <a:srgbClr val="EEF2F4"/>
          </a:solidFill>
          <a:ln w="12700">
            <a:solidFill>
              <a:srgbClr val="EEF2F4"/>
            </a:solidFill>
            <a:prstDash val="solid"/>
          </a:ln>
        </p:spPr>
      </p:sp>
      <p:sp>
        <p:nvSpPr>
          <p:cNvPr id="11" name="Text 9"/>
          <p:cNvSpPr txBox="1"/>
          <p:nvPr/>
        </p:nvSpPr>
        <p:spPr>
          <a:xfrm>
            <a:off x="777240"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2" name="Text 10"/>
          <p:cNvSpPr txBox="1"/>
          <p:nvPr/>
        </p:nvSpPr>
        <p:spPr>
          <a:xfrm>
            <a:off x="1508760"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8,192</a:t>
            </a:r>
            <a:endParaRPr lang="en-US" sz="2200" dirty="0"/>
          </a:p>
        </p:txBody>
      </p:sp>
      <p:sp>
        <p:nvSpPr>
          <p:cNvPr id="13" name="Shape 11"/>
          <p:cNvSpPr/>
          <p:nvPr/>
        </p:nvSpPr>
        <p:spPr>
          <a:xfrm>
            <a:off x="6233008" y="4640580"/>
            <a:ext cx="5410048" cy="1531620"/>
          </a:xfrm>
          <a:prstGeom prst="roundRect">
            <a:avLst>
              <a:gd name="adj" fmla="val 4776"/>
            </a:avLst>
          </a:prstGeom>
          <a:solidFill>
            <a:srgbClr val="EEF2F4"/>
          </a:solidFill>
          <a:ln w="12700">
            <a:solidFill>
              <a:srgbClr val="EEF2F4"/>
            </a:solidFill>
            <a:prstDash val="solid"/>
          </a:ln>
        </p:spPr>
      </p:sp>
      <p:sp>
        <p:nvSpPr>
          <p:cNvPr id="14" name="Text 12"/>
          <p:cNvSpPr txBox="1"/>
          <p:nvPr/>
        </p:nvSpPr>
        <p:spPr>
          <a:xfrm>
            <a:off x="6461608"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5" name="Text 13"/>
          <p:cNvSpPr txBox="1"/>
          <p:nvPr/>
        </p:nvSpPr>
        <p:spPr>
          <a:xfrm>
            <a:off x="7193128"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10,240</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paper first, then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Draw a 4-bit serial-in, parallel-out shift register with D flip-flops, and fill in its contents over four clock pulses for the input 1, 0, 1, 1</a:t>
            </a:r>
            <a:endParaRPr lang="en-US" sz="1900" dirty="0"/>
          </a:p>
        </p:txBody>
      </p:sp>
      <p:sp>
        <p:nvSpPr>
          <p:cNvPr id="6" name="Text 4"/>
          <p:cNvSpPr txBox="1"/>
          <p:nvPr/>
        </p:nvSpPr>
        <p:spPr>
          <a:xfrm>
            <a:off x="548640" y="2157095"/>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138807"/>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Three registers share a common bus: write the enable and load signals needed to copy register B into register A</a:t>
            </a:r>
            <a:endParaRPr lang="en-US" sz="1900" dirty="0"/>
          </a:p>
        </p:txBody>
      </p:sp>
      <p:sp>
        <p:nvSpPr>
          <p:cNvPr id="8" name="Text 6"/>
          <p:cNvSpPr txBox="1"/>
          <p:nvPr/>
        </p:nvSpPr>
        <p:spPr>
          <a:xfrm>
            <a:off x="548640" y="287858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860294"/>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Complete the warm-up: write the loop that receives eight bits from a line and rebuilds the byte</a:t>
            </a:r>
            <a:endParaRPr lang="en-US" sz="1900" dirty="0"/>
          </a:p>
        </p:txBody>
      </p:sp>
      <p:sp>
        <p:nvSpPr>
          <p:cNvPr id="10" name="Text 8"/>
          <p:cNvSpPr txBox="1"/>
          <p:nvPr/>
        </p:nvSpPr>
        <p:spPr>
          <a:xfrm>
            <a:off x="548640" y="3600069"/>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81781"/>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On PRG32, show a byte as eight lamps and shift it left by one position every half second</a:t>
            </a:r>
            <a:endParaRPr lang="en-US" sz="1900" dirty="0"/>
          </a:p>
        </p:txBody>
      </p:sp>
      <p:sp>
        <p:nvSpPr>
          <p:cNvPr id="12" name="Text 10"/>
          <p:cNvSpPr txBox="1"/>
          <p:nvPr/>
        </p:nvSpPr>
        <p:spPr>
          <a:xfrm>
            <a:off x="548640" y="432155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303268"/>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Make the bit that leaves on the left come back in on the right (a rotation): a ring counter</a:t>
            </a:r>
            <a:endParaRPr lang="en-US" sz="19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On PRG32: a pattern of lamps that walks to the left and, in the last exercise, goes round for ever.</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Glossary: English and Italian</a:t>
            </a:r>
            <a:endParaRPr lang="en-US" sz="3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686929"/>
                <a:gridCol w="2686929"/>
                <a:gridCol w="2860279"/>
                <a:gridCol w="2860279"/>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English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English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word gate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porta di parola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three-state (tri-state)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 tre stati (tristate)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register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registro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high impedance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alta impedenza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bus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bus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shift register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registro a scorrimento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dedicated / common bus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bus dedicato / comune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serial / parallel transfer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trasferimento seriale / parallelo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load, strobe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caricamento, strobe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chip select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selezione del chip</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Conclusions and reading</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Registers are an evolved form of memory with an elementary way of working</a:t>
            </a:r>
            <a:endParaRPr lang="en-US" sz="2200" dirty="0"/>
          </a:p>
        </p:txBody>
      </p:sp>
      <p:sp>
        <p:nvSpPr>
          <p:cNvPr id="5" name="Shape 3"/>
          <p:cNvSpPr/>
          <p:nvPr/>
        </p:nvSpPr>
        <p:spPr>
          <a:xfrm>
            <a:off x="548640" y="2003450"/>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1897024"/>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Reading and writing registers happens through buses of different kinds</a:t>
            </a:r>
            <a:endParaRPr lang="en-US" sz="2200" dirty="0"/>
          </a:p>
        </p:txBody>
      </p:sp>
      <p:sp>
        <p:nvSpPr>
          <p:cNvPr id="7" name="Shape 5"/>
          <p:cNvSpPr/>
          <p:nvPr/>
        </p:nvSpPr>
        <p:spPr>
          <a:xfrm>
            <a:off x="548640" y="2483155"/>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2376729"/>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For a common bus to work, three-state circuits are needed: 0, 1, and disconnected</a:t>
            </a:r>
            <a:endParaRPr lang="en-US" sz="2200" dirty="0"/>
          </a:p>
        </p:txBody>
      </p:sp>
      <p:sp>
        <p:nvSpPr>
          <p:cNvPr id="9" name="Shape 7"/>
          <p:cNvSpPr/>
          <p:nvPr/>
        </p:nvSpPr>
        <p:spPr>
          <a:xfrm>
            <a:off x="548640" y="3303727"/>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197301"/>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Data can be transferred serially or in parallel; shift registers convert between the two</a:t>
            </a:r>
            <a:endParaRPr lang="en-US" sz="2200" dirty="0"/>
          </a:p>
        </p:txBody>
      </p:sp>
      <p:sp>
        <p:nvSpPr>
          <p:cNvPr id="11" name="Shape 9"/>
          <p:cNvSpPr/>
          <p:nvPr/>
        </p:nvSpPr>
        <p:spPr>
          <a:xfrm>
            <a:off x="548640" y="412430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017874"/>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decoder in front of a group of registers makes a memory: the subject of the next lecture</a:t>
            </a:r>
            <a:endParaRPr lang="en-US" sz="2200" dirty="0"/>
          </a:p>
        </p:txBody>
      </p:sp>
      <p:sp>
        <p:nvSpPr>
          <p:cNvPr id="13" name="Shape 11"/>
          <p:cNvSpPr/>
          <p:nvPr/>
        </p:nvSpPr>
        <p:spPr>
          <a:xfrm>
            <a:off x="548640" y="4944872"/>
            <a:ext cx="146304" cy="146304"/>
          </a:xfrm>
          <a:prstGeom prst="rect">
            <a:avLst/>
          </a:prstGeom>
          <a:solidFill>
            <a:srgbClr val="C7791B"/>
          </a:solidFill>
          <a:ln w="12700">
            <a:solidFill>
              <a:srgbClr val="C7791B"/>
            </a:solidFill>
            <a:prstDash val="solid"/>
          </a:ln>
        </p:spPr>
      </p:sp>
      <p:sp>
        <p:nvSpPr>
          <p:cNvPr id="14" name="Text 12"/>
          <p:cNvSpPr txBox="1"/>
          <p:nvPr/>
        </p:nvSpPr>
        <p:spPr>
          <a:xfrm>
            <a:off x="932688" y="4838446"/>
            <a:ext cx="10710367" cy="133375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Reading</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Patterson, Hennessy: Computer Organization and Design, RISC-V Edition, appendix A</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Bucci: Architettura dei calcolatori elettronici, chapters on registers and buses</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PRG32 repository: docs/hardware/hardware.md</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Elementary Machines: Registers and Buses</dc:title>
  <dc:subject>Lecture 14</dc:subject>
  <dc:creator>Raffaele Montella</dc:creator>
  <cp:lastModifiedBy>Raffaele Montella</cp:lastModifiedBy>
  <cp:revision>1</cp:revision>
  <dcterms:created xsi:type="dcterms:W3CDTF">2026-10-12T11:28:39Z</dcterms:created>
  <dcterms:modified xsi:type="dcterms:W3CDTF">2026-10-12T11:28:39Z</dcterms:modified>
</cp:coreProperties>
</file>