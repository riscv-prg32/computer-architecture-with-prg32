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709cbc3-e499-d66a-244b-a0f2a23dc34d}">
          <p14:sldIdLst>
            <p14:sldId id="256"/>
            <p14:sldId id="257"/>
          </p14:sldIdLst>
        </p14:section>
        <p14:section name="The project" id="{0dd2908b-f6cd-6bdc-f027-5a18b7f0faeb}">
          <p14:sldIdLst>
            <p14:sldId id="258"/>
            <p14:sldId id="259"/>
            <p14:sldId id="260"/>
          </p14:sldIdLst>
        </p14:section>
        <p14:section name="Step 2: a grid and a head" id="{3923be38-552a-b585-02aa-f54e3392c9d2}">
          <p14:sldIdLst>
            <p14:sldId id="261"/>
          </p14:sldIdLst>
        </p14:section>
        <p14:section name="Step 3: movement" id="{ab466296-d8fc-fedd-7f44-589e360de609}">
          <p14:sldIdLst>
            <p14:sldId id="262"/>
            <p14:sldId id="263"/>
          </p14:sldIdLst>
        </p14:section>
        <p14:section name="Step 4: look inside with PRG32-QT" id="{8e592514-79bc-2ef0-a3d7-677a0485f2c7}">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of the course starts here. This is a tutorial, not a lecture: you type a program, step by step, and at the end it runs. It uses only what the lectures from 02 to 06 have taught: registers and memory, colours and strings as numbers, comparisons and shifts, fixed point. The picture on the cover is what you will have on your screen in two hours: a title and a green square, the head of the worm, that crosses the screen by itself. The reference implementation was contributed by Giuseppe Coviello.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
For the lecturer: First project tutorial. It uses only Lectures 02 to 06: registers, load and store, calls (02), strings and colours (04), integers, comparisons and wrap-around (05), fixed point (06), and a little history (03). The students type the program themselves; the reference file is verm1/verm1_part1.S. Everything on the code slides is read from that file, which is built and run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cartridge of your own, built from one file that you typed. A title, a grid of 40 by 24 cells and the head drawn in one of them. The head moving by itself, one cell at a time, at a speed set in fixed point. A world without edges, in which the head that leaves on the right comes back from the left. And a habit, which matters more than the program: the working loop of edit, build, run, look, with the debugger as a normal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read "vermone", is a tribute to Snake: a worm that moves on a grid, eats, grows and must not bite itself. The idea goes back to the arcade game Blockade of 1976 and became famous on the Nokia phones of 1997. It was chosen because it is small enough to be written from scratch in assembly and yet needs every topic of the course. You write every line; there is no engine underneath. The picture on the right is where you will arrive in Part 4.
UNDERSTAND NOW: the Verm1 project.
For the lecturer: Snake for the Nokia 6110 was written by Taneli Armanto. Verm1 is a tribute, not a copy: the name, the rules of detail and the look are ours. The reference implementation that the tutorials follow was contributed by Giuseppe Coviello.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of the project. Each row is a tutorial, what you add in it and the lectures it uses. Part 1, today: a grid, a head, automatic movement. Part 2, Lecture 12: steering, food, a score. Part 3, Lecture 17: a body that grows and collisions. Part 4, Lecture 22: the finished game. Lecture 23 prepares the bundle for the Store. One rule, from the notes of the lecturer, applies to every part: never start with a program that does not run; if yours is broken, start from the reference file.
UNDERSTAND NOW: the Verm1 project.
For the lecturer: Each part ends with a program that runs. Never start a part with a program that does not: if yours is broken, start from the reference file of the previous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today's program is new: each idea comes from a lecture. The registers, la, lw, sw, calls and the stack frame come from Lecture 02. Colours as RGB565 numbers and strings that end with a zero come from Lecture 04. Shifts used as multiplications, comparisons and wrapping around come from Lecture 05. Fixed point, a fraction kept as a scaled integer, comes from Lecture 06, and it becomes the speed of the worm. Keep this table open: when a line of code puzzles you, the third column tells you which lecture to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worm does not live in pixels: it lives in cells. A position is a column from 0 to 39 and a row from 0 to 23, and the head starts in column 5 of row 12, the bright cell in the drawing. To draw a cell its coordinates are turned into pixels: x is the column times 8, a shift left by 3; y is the row times 8 plus 8, because the title line comes first. Thinking in cells makes all the later rules simple: moving is adding 1, and two things collide when their cells are equal.
UNDERSTAND NOW: arrays in memory.
For the lecturer: Draw the grid on the board and ask for the pixel coordinates of a few cells: (0,0) is at (0,8); (39,23) is at (312,192).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runs about thirty times per second. At one cell per frame the head would cross the forty columns in little more than a second. We want a fraction of a cell per frame. So we keep a fraction in units of 1/256 of a cell, add the speed to it at every frame, and take a step each time a whole cell, 256, has accumulated. With SPEED_Q8 equal to 40 the head advances 40/256 of a cell per frame: one step about every six frames. The remainder is kept, so on average the speed is exact.
UNDERSTAND NOW: fixed point.
For the lecturer: This is the ball of Lecture 06, turned into a timer. The remainder is kept, so the average speed is exact: 256 frames give exactly 40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the most useful exercise of the tutorial. At each frame 40 is added to the fraction. At frames 1 to 6 the sum stays below 256 and the head does not move. At frame 7 it reaches 280: a whole cell has accumulated, 256 is subtracted, 24 remains, and the head goes from column 5 to column 6. The steps come every six or seven frames, and the remainder carries the difference, like the extra day of a leap year. Fill in frames 8 to 12 yourself.
UNDERSTAND NOW: fixed point.
For the lecturer: After 64 frames the sum is 64 x 40 = 2560 = 10 x 256: ten steps, head in column 15, exactly what the screenshot shows. Ask the students to fill in frames 8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precise procedure. Enable the debug mode in Settings and run the cartridge. Press Update: the listing shows verm1_update. Click in the gutter beside its first instruction to set a breakpoint: the program stops there at the next frame. Now step, one instruction at a time, and watch the registers. After the two instructions that implement la, t0 holds an address: type it in the Memory field and you will see the bytes of step_q8. Each Resume runs one frame, and the value grows by 40, 0x28.
USE NOW: the PRG32-QT debugger (used, not studied, in this course).
For the lecturer: From the PRG32-QT debugging guide: pause, resume, step; Init / Update / Draw / PC views; gutter breakpoints; a 128-byte memory view. Resume ignores the current breakpoint once, so each press of Resume runs one whole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view shows 128 bytes in hexadecimal starting from the address you typed. A word occupies four bytes, least significant first: when step_q8 is 240 you read F0 00 00 00. This is the little-endian order of Lecture 04, seen live. The variables are in memory in the order of the file: head_x, head_y, step_q8, so the head's column is eight bytes before the fraction. The debugger only observes: to change the program you edit, build and run.
UNDERSTAND NOW: little-endian byte order.
For the lecturer: Byte order: Lecture 04. In the file the order is head_x, head_y, step_q8, each four bytes: if step_q8 is at address A, head_x is at A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out of 256 is one quarter of a cell per frame. How many quarters make a whole cell? The two large numbers are distractors: 64 is the speed itself, and 256 is the size of a cell in the units of the timer.
Apply the two formulas of the grid: x is the column times 8; y is the row times 8, plus the 8 pixels of the title line. The option that forgets the title line is the most common mistake.
For the lecturer: 1. Answer: B. 64/256 = 1/4 of a cell per frame: a whole cell every 4 frames.
2. Answer: C. x = 10 x 8 = 80; y = 3 x 8 + 8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not a matter of length. A call writes the return address into ra, so a function that makes calls must keep its own ra safe on the stack. verm1_update is a leaf: it calls nothing, and ra still holds the right address when it reaches ret.
For the lecturer: Answer: B. A call writes the return address in ra. A function that makes calls must keep its own ra safe on the stack; a leaf function need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You have a cartridge that runs and that you understand line by line. It already has the shape of every game: a state in memory, a rule that changes it at every frame, and a function that draws it. What is missing is the player: the head goes where it wants. The next four lectures give the tools to read the joystick and to decide, bits, masks and tables, and Part 2 uses them to add steering, food and a score.
Learning status, recap.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
For the lecturer: Reference file for this part: verm1/verm1_part1.S (78 lines). If a student's program does not work at the start of Part 2, they start from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course project begins: a grid, a cell, a speed in fixed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journey of a thousand miles begins with a single step.”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Laozi, Tao Te Ching</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07-Computer_Architecture-Verm1_Part_1-Code.pptx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cartridge of your own, verm1.prg32, built from one assembly file that you typed</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title, a grid of 40 by 24 cells, and the head of the worm drawn in one of them</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head moving by itself, one cell at a time, at a speed you control in fixed point</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world with no edges: past the last column the head comes back from the first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habit of the working loop: edit, build, run, look, and stop the program in the debugger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a tribute to Snake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Verm1, read "vermone", the big worm: a worm that moves on a grid, eats, grows, and must not bite itself</a:t>
            </a:r>
            <a:endParaRPr lang="en-US" sz="2100" dirty="0"/>
          </a:p>
        </p:txBody>
      </p:sp>
      <p:sp>
        <p:nvSpPr>
          <p:cNvPr id="5" name="Shape 3"/>
          <p:cNvSpPr/>
          <p:nvPr/>
        </p:nvSpPr>
        <p:spPr>
          <a:xfrm>
            <a:off x="548640" y="26399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270"/>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with a long history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Blockade, an arcade machine by Gremlin, 1976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Snake on the Nokia 6110, 1997: one of the most played games ever</a:t>
            </a:r>
            <a:endParaRPr lang="en-US" sz="2100" dirty="0"/>
          </a:p>
        </p:txBody>
      </p:sp>
      <p:sp>
        <p:nvSpPr>
          <p:cNvPr id="7" name="Shape 5"/>
          <p:cNvSpPr/>
          <p:nvPr/>
        </p:nvSpPr>
        <p:spPr>
          <a:xfrm>
            <a:off x="548640" y="40229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2430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Small enough to write from scratch in assembly, rich enough to need every topic of the course</a:t>
            </a:r>
            <a:endParaRPr lang="en-US" sz="2100" dirty="0"/>
          </a:p>
        </p:txBody>
      </p:sp>
      <p:sp>
        <p:nvSpPr>
          <p:cNvPr id="9" name="Shape 7"/>
          <p:cNvSpPr/>
          <p:nvPr/>
        </p:nvSpPr>
        <p:spPr>
          <a:xfrm>
            <a:off x="548640" y="48215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28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write every line: no engine, no library beyond the PRG32 calls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where you are going: the picture on the right is the game of Part 4</a:t>
            </a:r>
            <a:endParaRPr lang="en-US" sz="21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 (Part 4)</a:t>
            </a:r>
            <a:endParaRPr lang="en-US" sz="1200" dirty="0"/>
          </a:p>
        </p:txBody>
      </p:sp>
      <p:sp>
        <p:nvSpPr>
          <p:cNvPr id="15" name="Shape 12"/>
          <p:cNvSpPr/>
          <p:nvPr/>
        </p:nvSpPr>
        <p:spPr>
          <a:xfrm>
            <a:off x="8550351" y="91440"/>
            <a:ext cx="3092704" cy="274320"/>
          </a:xfrm>
          <a:prstGeom prst="rect">
            <a:avLst/>
          </a:prstGeom>
          <a:solidFill>
            <a:srgbClr val="E0F2FE"/>
          </a:solidFill>
          <a:ln w="12700">
            <a:solidFill>
              <a:srgbClr val="0369A1"/>
            </a:solidFill>
            <a:prstDash val="solid"/>
          </a:ln>
        </p:spPr>
      </p:sp>
      <p:sp>
        <p:nvSpPr>
          <p:cNvPr id="16" name="Shape 13"/>
          <p:cNvSpPr/>
          <p:nvPr/>
        </p:nvSpPr>
        <p:spPr>
          <a:xfrm>
            <a:off x="855035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78367" y="128016"/>
            <a:ext cx="201168" cy="201168"/>
          </a:xfrm>
          <a:prstGeom prst="rect">
            <a:avLst/>
          </a:prstGeom>
        </p:spPr>
      </p:pic>
      <p:sp>
        <p:nvSpPr>
          <p:cNvPr id="18" name="Text 1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Verm1 project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plan: four parts and a publication</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638145"/>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add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 uses Lectures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07  Part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grid, a head, automatic movement,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03 to 06: information and numbers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  Part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steering with the joystick, food, a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08 to 11: logic and circuits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17  Part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body that grows, collisions, title and game-over screens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13 to 16: state and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22  Part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fast drawing, a score in digits, levels, sound: the finished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18 to 21: the 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23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bundle with manifest, icon and credits, ready for review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all of them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550351" y="91440"/>
            <a:ext cx="3092704" cy="274320"/>
          </a:xfrm>
          <a:prstGeom prst="rect">
            <a:avLst/>
          </a:prstGeom>
          <a:solidFill>
            <a:srgbClr val="E0F2FE"/>
          </a:solidFill>
          <a:ln w="12700">
            <a:solidFill>
              <a:srgbClr val="0369A1"/>
            </a:solidFill>
            <a:prstDash val="solid"/>
          </a:ln>
        </p:spPr>
      </p:sp>
      <p:sp>
        <p:nvSpPr>
          <p:cNvPr id="5" name="Shape 2"/>
          <p:cNvSpPr/>
          <p:nvPr/>
        </p:nvSpPr>
        <p:spPr>
          <a:xfrm>
            <a:off x="855035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7" name="Text 3"/>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Verm1 project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1 takes from the lectures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092518"/>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registers, la / lw / sw, call and the stack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everywhere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 games as specimens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choice of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colours as RGB565 numbers; strings ending with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GREEN, the title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shifts as multiplications; comparisons;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cell to pixel; the edge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fixed point: a fraction as a scaled integer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speed of the worm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of Verm1</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pic>
        <p:nvPicPr>
          <p:cNvPr id="8" name="Image 1" descr="preencoded.png">    </p:cNvPr>
          <p:cNvPicPr>
            <a:picLocks noChangeAspect="1"/>
          </p:cNvPicPr>
          <p:nvPr/>
        </p:nvPicPr>
        <p:blipFill>
          <a:blip r:embed="rId2"/>
          <a:stretch>
            <a:fillRect/>
          </a:stretch>
        </p:blipFill>
        <p:spPr>
          <a:xfrm>
            <a:off x="548640" y="1434168"/>
            <a:ext cx="6949440" cy="4721184"/>
          </a:xfrm>
          <a:prstGeom prst="rect">
            <a:avLst/>
          </a:prstGeom>
        </p:spPr>
      </p:pic>
      <p:sp>
        <p:nvSpPr>
          <p:cNvPr id="9" name="Shape 4"/>
          <p:cNvSpPr/>
          <p:nvPr/>
        </p:nvSpPr>
        <p:spPr>
          <a:xfrm>
            <a:off x="7772400" y="1492758"/>
            <a:ext cx="146304" cy="146304"/>
          </a:xfrm>
          <a:prstGeom prst="rect">
            <a:avLst/>
          </a:prstGeom>
          <a:solidFill>
            <a:srgbClr val="0E7C86"/>
          </a:solidFill>
          <a:ln w="12700">
            <a:solidFill>
              <a:srgbClr val="0E7C86"/>
            </a:solidFill>
            <a:prstDash val="solid"/>
          </a:ln>
        </p:spPr>
      </p:sp>
      <p:sp>
        <p:nvSpPr>
          <p:cNvPr id="10" name="Text 5"/>
          <p:cNvSpPr txBox="1"/>
          <p:nvPr/>
        </p:nvSpPr>
        <p:spPr>
          <a:xfrm>
            <a:off x="8156448" y="1417320"/>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worm does not live in pixels: it lives in cells</a:t>
            </a:r>
            <a:endParaRPr lang="en-US" sz="1800" dirty="0"/>
          </a:p>
        </p:txBody>
      </p:sp>
      <p:sp>
        <p:nvSpPr>
          <p:cNvPr id="11" name="Shape 6"/>
          <p:cNvSpPr/>
          <p:nvPr/>
        </p:nvSpPr>
        <p:spPr>
          <a:xfrm>
            <a:off x="7772400" y="2221611"/>
            <a:ext cx="146304" cy="146304"/>
          </a:xfrm>
          <a:prstGeom prst="rect">
            <a:avLst/>
          </a:prstGeom>
          <a:solidFill>
            <a:srgbClr val="C7791B"/>
          </a:solidFill>
          <a:ln w="12700">
            <a:solidFill>
              <a:srgbClr val="C7791B"/>
            </a:solidFill>
            <a:prstDash val="solid"/>
          </a:ln>
        </p:spPr>
      </p:sp>
      <p:sp>
        <p:nvSpPr>
          <p:cNvPr id="12" name="Text 7"/>
          <p:cNvSpPr txBox="1"/>
          <p:nvPr/>
        </p:nvSpPr>
        <p:spPr>
          <a:xfrm>
            <a:off x="8156448" y="2146173"/>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position is a column, 0 to 39, and a row, 0 to 23</a:t>
            </a:r>
            <a:endParaRPr lang="en-US" sz="1800" dirty="0"/>
          </a:p>
        </p:txBody>
      </p:sp>
      <p:sp>
        <p:nvSpPr>
          <p:cNvPr id="13" name="Shape 8"/>
          <p:cNvSpPr/>
          <p:nvPr/>
        </p:nvSpPr>
        <p:spPr>
          <a:xfrm>
            <a:off x="7772400" y="2950464"/>
            <a:ext cx="146304" cy="146304"/>
          </a:xfrm>
          <a:prstGeom prst="rect">
            <a:avLst/>
          </a:prstGeom>
          <a:solidFill>
            <a:srgbClr val="0E7C86"/>
          </a:solidFill>
          <a:ln w="12700">
            <a:solidFill>
              <a:srgbClr val="0E7C86"/>
            </a:solidFill>
            <a:prstDash val="solid"/>
          </a:ln>
        </p:spPr>
      </p:sp>
      <p:sp>
        <p:nvSpPr>
          <p:cNvPr id="14" name="Text 9"/>
          <p:cNvSpPr txBox="1"/>
          <p:nvPr/>
        </p:nvSpPr>
        <p:spPr>
          <a:xfrm>
            <a:off x="8156448" y="2875026"/>
            <a:ext cx="3486607" cy="15605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To draw a cell, turn it into pixels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x = column x 8: a shift left by 3</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y = row x 8 + 8: the title line comes first</a:t>
            </a:r>
            <a:endParaRPr lang="en-US" sz="1800" dirty="0"/>
          </a:p>
        </p:txBody>
      </p:sp>
      <p:sp>
        <p:nvSpPr>
          <p:cNvPr id="15" name="Shape 10"/>
          <p:cNvSpPr/>
          <p:nvPr/>
        </p:nvSpPr>
        <p:spPr>
          <a:xfrm>
            <a:off x="7772400" y="4682109"/>
            <a:ext cx="146304" cy="146304"/>
          </a:xfrm>
          <a:prstGeom prst="rect">
            <a:avLst/>
          </a:prstGeom>
          <a:solidFill>
            <a:srgbClr val="C7791B"/>
          </a:solidFill>
          <a:ln w="12700">
            <a:solidFill>
              <a:srgbClr val="C7791B"/>
            </a:solidFill>
            <a:prstDash val="solid"/>
          </a:ln>
        </p:spPr>
      </p:sp>
      <p:sp>
        <p:nvSpPr>
          <p:cNvPr id="16" name="Text 11"/>
          <p:cNvSpPr txBox="1"/>
          <p:nvPr/>
        </p:nvSpPr>
        <p:spPr>
          <a:xfrm>
            <a:off x="8156448" y="4606671"/>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head starts in column 5 of row 12</a:t>
            </a:r>
            <a:endParaRPr lang="en-US" sz="1800" dirty="0"/>
          </a:p>
        </p:txBody>
      </p:sp>
      <p:sp>
        <p:nvSpPr>
          <p:cNvPr id="17" name="Shape 12"/>
          <p:cNvSpPr/>
          <p:nvPr/>
        </p:nvSpPr>
        <p:spPr>
          <a:xfrm>
            <a:off x="7772400" y="5410962"/>
            <a:ext cx="146304" cy="146304"/>
          </a:xfrm>
          <a:prstGeom prst="rect">
            <a:avLst/>
          </a:prstGeom>
          <a:solidFill>
            <a:srgbClr val="0E7C86"/>
          </a:solidFill>
          <a:ln w="12700">
            <a:solidFill>
              <a:srgbClr val="0E7C86"/>
            </a:solidFill>
            <a:prstDash val="solid"/>
          </a:ln>
        </p:spPr>
      </p:sp>
      <p:sp>
        <p:nvSpPr>
          <p:cNvPr id="18" name="Text 13"/>
          <p:cNvSpPr txBox="1"/>
          <p:nvPr/>
        </p:nvSpPr>
        <p:spPr>
          <a:xfrm>
            <a:off x="8156448" y="5335524"/>
            <a:ext cx="3486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Thinking in cells makes every later rule simple: moving is adding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fast should a worm go?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runs about thirty times per second</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cell per frame would cross the screen in little more than a second: unplayable</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We want a fraction of a cell per frame, and the processor of the kit has only integers</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Fixed point, Q24.8: keep the fraction in 1/256 of a cell, and take a step each time a whole cell has accumulated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SPEED_Q8 = 40 means 40/256 = 0.156 cells per frame: about one step every 6 frames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40 / 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of a cell per frame: a step when the sum passes 256, and the remainder is not thrown away</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2091570"/>
                <a:gridCol w="1364067"/>
                <a:gridCol w="2728135"/>
                <a:gridCol w="2000632"/>
                <a:gridCol w="172781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before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Whole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after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head_x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280 - 256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264 - 256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steps come every 6 or 7 frames: the remainder carries the difference, as in a leap year.</a:t>
            </a:r>
            <a:endParaRPr lang="en-US" sz="1500" dirty="0"/>
          </a:p>
        </p:txBody>
      </p:sp>
      <p:sp>
        <p:nvSpPr>
          <p:cNvPr id="5" name="Shape 2"/>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3"/>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Stop the program and read the machine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your cartridge: the game is on the left, the debugger on the right</a:t>
            </a:r>
            <a:endParaRPr lang="en-US" sz="2200" dirty="0"/>
          </a:p>
        </p:txBody>
      </p:sp>
      <p:sp>
        <p:nvSpPr>
          <p:cNvPr id="7" name="Text 5"/>
          <p:cNvSpPr txBox="1"/>
          <p:nvPr/>
        </p:nvSpPr>
        <p:spPr>
          <a:xfrm>
            <a:off x="548640" y="287060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85231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 listing jumps to verm1_update. Click in the gutter to put a breakpoint on its first instruction</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stops there at the next frame. Press Step and watch the registers change, one instruction at a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After the two instructions of la, t0 holds an address: type it in the Memory field to see step_q8 in memory</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and watch the bytes of step_q8 grow by 40 (0x28) at every stop</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memory: little-endian, live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Memory view shows 128 bytes from the address you typed, in hexadecimal</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step_q8 is a word of .data: its four bytes come lowest byte first</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step_q8 = 240 you read F0 00 00 00</a:t>
            </a:r>
            <a:endParaRPr lang="en-US" sz="2200" dirty="0"/>
          </a:p>
        </p:txBody>
      </p:sp>
      <p:sp>
        <p:nvSpPr>
          <p:cNvPr id="9" name="Shape 7"/>
          <p:cNvSpPr/>
          <p:nvPr/>
        </p:nvSpPr>
        <p:spPr>
          <a:xfrm>
            <a:off x="548640" y="398208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659"/>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head_x and head_y are the two words just before it in the file, and just before it in memory</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nothing here: the debugger only observes. To change the program, edit, build, run</a:t>
            </a:r>
            <a:endParaRPr lang="en-US" sz="22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SPEED_Q8 = 64, how many frames pass between two steps of the head?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pixel is the top-left corner of the cell in column 10,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(10, 3)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(80, 24)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(88, 32)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verm1_draw save ra and verm1_update does not?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is longer</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calls other functions, which overwrite ra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update uses no registers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ra is saved automatically in update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a cartridge that runs, built from a file you typed and understand line by line</a:t>
            </a:r>
            <a:endParaRPr lang="en-US" sz="2200" dirty="0"/>
          </a:p>
        </p:txBody>
      </p:sp>
      <p:sp>
        <p:nvSpPr>
          <p:cNvPr id="5" name="Shape 3"/>
          <p:cNvSpPr/>
          <p:nvPr/>
        </p:nvSpPr>
        <p:spPr>
          <a:xfrm>
            <a:off x="548640" y="27622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558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State in memory, a rule that changes it at every frame, a function that draws it: the shape of every game</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player. The head goes where it wants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08 to 11 give the tools: bits and masks to read the joystick, Boolean rules, tables that select</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2: steering, food and a score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dc:title>
  <dc:subject>Lecture 07</dc:subject>
  <dc:creator>Raffaele Montella</dc:creator>
  <cp:lastModifiedBy>Raffaele Montella</cp:lastModifiedBy>
  <cp:revision>1</cp:revision>
  <dcterms:created xsi:type="dcterms:W3CDTF">2026-10-16T16:46:56Z</dcterms:created>
  <dcterms:modified xsi:type="dcterms:W3CDTF">2026-10-16T16:46:56Z</dcterms:modified>
</cp:coreProperties>
</file>