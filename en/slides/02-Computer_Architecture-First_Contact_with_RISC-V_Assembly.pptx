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Lst>
  <p:notesMasterIdLst>
    <p:notesMasterId r:id="rId3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48903b31-42aa-6d5f-fbc7-010e6a6160f5}">
          <p14:sldIdLst>
            <p14:sldId id="256"/>
            <p14:sldId id="257"/>
          </p14:sldIdLst>
        </p14:section>
        <p14:section name="The machine" id="{0f60d304-88bf-b87c-6d0c-375c8c923e09}">
          <p14:sldIdLst>
            <p14:sldId id="258"/>
            <p14:sldId id="259"/>
            <p14:sldId id="260"/>
            <p14:sldId id="261"/>
          </p14:sldIdLst>
        </p14:section>
        <p14:section name="Your first cartridge" id="{4c6951df-bf28-18c3-087b-3c660d41c31d}">
          <p14:sldIdLst>
            <p14:sldId id="262"/>
            <p14:sldId id="263"/>
            <p14:sldId id="264"/>
            <p14:sldId id="265"/>
            <p14:sldId id="266"/>
            <p14:sldId id="267"/>
            <p14:sldId id="268"/>
            <p14:sldId id="269"/>
          </p14:sldIdLst>
        </p14:section>
        <p14:section name="Reading what you wrote" id="{74e99897-348a-29ff-6e50-f77faadcd2bf}">
          <p14:sldIdLst>
            <p14:sldId id="270"/>
            <p14:sldId id="271"/>
            <p14:sldId id="272"/>
            <p14:sldId id="273"/>
            <p14:sldId id="274"/>
            <p14:sldId id="275"/>
          </p14:sldIdLst>
        </p14:section>
        <p14:section name="What comes next" id="{6d157c6d-54e7-7d82-4adc-9fb2f55bb975}">
          <p14:sldIdLst>
            <p14:sldId id="276"/>
            <p14:sldId id="277"/>
            <p14:sldId id="278"/>
            <p14:sldId id="279"/>
            <p14:sldId id="280"/>
            <p14:sldId id="281"/>
            <p14:sldId id="282"/>
            <p14:sldId id="283"/>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notesMaster" Target="notesMasters/notesMaster1.xml"/><Relationship Id="rId31" Type="http://schemas.openxmlformats.org/officeDocument/2006/relationships/presProps" Target="presProps.xml"/><Relationship Id="rId32" Type="http://schemas.openxmlformats.org/officeDocument/2006/relationships/viewProps" Target="viewProps.xml"/><Relationship Id="rId33" Type="http://schemas.openxmlformats.org/officeDocument/2006/relationships/theme" Target="theme/theme1.xml"/><Relationship Id="rId3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first lecture in which you write a program, and it comes before any theory on purpose. In two hours you build four small cartridges, each a complete program that runs. You will not understand every detail today, and you are not expected to: the aim is to see registers, memory and a function call at work, so that the lectures that follow have something concrete to explain. The quotation sets the tone: less talk, more code.
For the lecturer: New lecture for 2026/27. It is the 'play' turn of the spiral for the whole first half of the course: every later lecture points back to something typed here. The four steps are the verified steps of the textbook lab 05-asm-first-contact; run them live (labs/run.sh 05-asm-first-contact/stepN_....S first).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 things you will be able to do at the end. The first four are practical: build and run a cartridge, name the registers, call a function with its arguments, keep a value in memory between frames. The fifth is a change of point of view: an instruction is a 32-bit number. The sixth is the most important for the course: you will leave with a list of questions, and each of them is the subject of a later lecture.
For the lecturer: Tell the students explicitly that they are not expected to understand everything today. Today is for seeing; the next lectures are for explaining.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typing, a look at the machine. A RISC-V processor is described by two things only: a set of registers and a repertoire of instructions. The next three slides present both, and the contract between your program and PRG32.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whole machine in four cards. There are 32 registers, each holding one 32-bit value, and the processor can compute only on what is in them. There are three kinds of instruction. Compute: arithmetic and logic between registers, such as add or addi. Move: transfers between a register and memory, lw to load a word and sw to store one; nothing else touches memory. Jump: changes of the instruction that runs next. Everything a computer does is a long sequence of these three kinds.
For the lecturer: That is very nearly the whole machine. The richness of computing comes not from a large instruction set but from combining a small one in long sequences.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registers have names that say how they are used. a0 to a7 carry the arguments of a call, and a0 carries the result back. t0 to t6 are temporaries, free to use and not preserved by a call. s0 to s11 are preserved. ra holds the return address, sp the top of the stack, and zero always reads as 0. Read the caption carefully: these roles are not built into the hardware. They are an agreement, the calling convention, and it is what lets your assembly and the C code of the framework call each other.
For the lecturer: The roles are fixed not by the hardware but by an agreement: the calling convention, or ABI. Following it is what lets your assembly and the framework's C code call each other.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contract with PRG32 is three functions that you write. init is called once, when the cartridge starts, to set up the state. update is called once per frame, to read the input and change the state. draw is called once per frame, to turn the state into a picture. The firmware finds them by name: a prefix chosen by you, followed by _init, _update and _draw. Keep the division of labour in mind from the first day: update decides, draw shows.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the practice: four steps, each a complete program. Type them yourself; do not copy and paste. Typing forces you to read every character, and the mistakes you make while typing are the cheapest lessons of the course.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smallest program that runs. .option norelax is a line with which every PRG32 example starts: it keeps the layout of the cartridge predictable. .section .text says that code follows. Each .global makes a label visible outside the file, so that the firmware can find the function by name. Then three functions, each made of the single instruction ret, which returns to the caller. The result is a black screen, and it is a success: the framework found your three functions, called them, and got control back.
For the lecturer: Source: labs/05-asm-first-contact/step1_skeleton.S. Expected result: a black screen. The achievement is that the framework found the three functions, called them, and survived.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commands that you will type hundreds of times. cartridge build turns the assembly file into a cartridge: --entry-prefix first is the prefix of your three functions, --out the name of the result. Then you run it: in QEMU with qemu upload and qemu run, or on a board or PRG32-QT with upload-and-run and the address of the host. For PRG32-QT on your own laptop the address is http://localhost:8080. The cartridge file is the same for all three.
For the lecturer: Source: labs/run.sh. With PRG32_HOME set, the whole sequence is: labs/run.sh 05-asm-first-contact/step1_skeleton.S first . The cartridge file is byte-for-byte the same for QEMU, the board and PRG32-QT.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second step writes on the screen. Read first_draw in three parts. The first two lines make room on the stack and save ra. Then two calls: prg32_gfx_clear with the colour in a0, and prg32_gfx_text8 with five arguments in a0 to a4: x, y, the address of the string, foreground, background. Note the two ways of loading: li loads a number, la loads the address of a label. The last three lines restore ra, release the stack and return. The string itself is data, in the section .rodata.
For the lecturer: Source: labs/05-asm-first-contact/step2_hello.S. The .equ lines (BLACK 0x0000, WHITE 0xffff) are omitted on the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save ra? The instruction call writes into ra the address to return to. But the function you call may make calls of its own, and each of them overwrites ra. So a function that calls another must first save its own ra in memory: it lowers sp by 16 to make room, the stack frame, and stores ra at 12(sp). After the call it does the reverse. The drawing shows the frame: the stack grows towards lower addresses. Forgetting this pair of operations is the classic first bug: the function returns to the wrong place.
For the lecturer: The convention requires sp to stay 16-byte aligned across calls, which is why the frame is 16 bytes even though only 4 are used. The stack is treated formally in the lectures on memory and on subroutines.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third step keeps a value from one frame to the next. Registers do not survive between calls of update, so the value must live in memory. counter is a label: it names a location in the section .data that holds one word. The four instructions are the pattern of every variable: la puts the address of the location in t0; lw loads the value into t1; addi changes it; sw stores it back. Load, modify, store. Nothing changes on the screen yet: the counter ticks, but nobody draws it.
For the lecturer: Source: labs/05-asm-first-contact/step3_counter.S. Nothing visible changes yet: the counter ticks but nobody draws it. Ask the class how they could prove that it is ticking (answer: the debugger of PRG32-QT, or the next step).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separates two ideas that beginners confuse: the address and the value. After la, t0 contains where the counter lives. After lw, t1 contains what is stored there, 41 in the drawing. addi changes the copy in the register to 42, and memory still says 41 until sw writes it back. Follow the two arrows. A practical habit from the box on the right: in your comments, write for every register whether it holds an ADDRESS or a VALUE. It prevents the most common error of the first month.
For the lecturer: A label names a location. la gives the location, lw gives the contents. This is how every variable in every program ultimately works; we return to it formally with addressing modes.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fourth step makes the counter visible as a green bar. The value is loaded, and andi a2, t1, 255 keeps only its low eight bits, so the width goes from 0 to 255 and then starts again. The other registers are the arguments of prg32_gfx_rect: x, y, width, height and colour. Eight lines, and three later lectures are hidden in them: 255 written as 0xFF, andi used as a mask, and 0x07e0 that means green. Remember where you first saw them.
For the lecturer: Source: labs/05-asm-first-contact/step4_bar.S (the lines added to first_draw). Three future lectures hide in these eight lines: 255 = 0xFF (positional notation), andi as a bit mask (Boolean algebra), 0x07e0 as a colour (information encoding).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 have written a program; now read it as the processor does. The next slides classify the instructions you used, show which of them are shortcuts, open one instruction to look at its bits, and trace the program by hand.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families cover everything you have typed: arithmetic (add, sub), logic (and, or, xor), the immediate forms that take a small constant (addi, andi), memory (lw, sw) and control (call, ret). In every instruction the result goes in the first register named: add t0, t1, t2 puts t1 + t2 in t0. The base instruction set has about forty instructions, and you have already met a quarter of them.
For the lecturer: The result goes in the first register. The base RISC-V integer instruction set (RV32I) has about forty instructions; you have already met a quarter of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Some of the instructions you wrote do not exist in the processor: they are pseudo-instructions, shortcuts that the assembler expands. li t0, 42 becomes addi t0, zero, 42; mv is an addi with 0; ret is a jump to the address in ra; beqz is a comparison with the register zero. Notice how often zero appears in the middle column: a register that is always 0 lets a small instruction set do the work of a larger one.
For the lecturer: A pseudo-instruction is not a separate hardware operation. The register zero is what makes many of them possible: a small instruction set, reused with care.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 instruction is a number. addi t1, t1, 1 is the 32-bit word 0x00130313, and the coloured strip shows its fields: twelve bits for the constant 1, five for the source register (t1 is register number 6), three that say "add", five for the destination, seven for the kind of instruction. You do not need to learn the format now. Keep the idea: assembly is a readable spelling of machine code, and the processor reads these fields with circuits that you will learn to design.
For the lecturer: Check: 0000 0000 0001 | 00110 | 000 | 00110 | 0010011 = 0000 0000 0001 0011 0000 0011 0001 0011 = 0x00130313. Do not explain the formats now; the point is only that an instruction is data. Lecture 04 (digital information) and the lectures on the processor come back to this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PRG32-QT runs the same cartridge on your laptop and can stop between any two instructions, showing every register. Use it now on the third step: go to update, pause, and execute the four instructions of first_update one at a time, watching t0 and t1. Before each press, say aloud what will change. The last line is a rule to remember: the board tells the truth about time, PRG32-QT tells the truth about a register.
For the lecturer: Demonstrate live: load step 3, break at first_update, single-step four times. Ask the students to predict each register before pressing the key.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trace by hand: for each frame, write what each instruction leaves in t1 and in memory. In the first frames nothing surprising happens. Look at the highlighted row: at frame 256 the counter becomes 256, yet the width of the bar is 0, because andi with 255 keeps only the low eight bits, and 256 in binary is a one followed by eight zeros. Tracing by hand is slow and unglamorous, and it is the most useful debugging skill you will learn in this course.
For the lecturer: The by-hand trace is the most valuable debugging skill of the course. 256 = 1 0000 0000 in binary: the low eight bits are all zero, so the bar restarts.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lecture ends by looking forward. What you typed has raised questions, and the next slide lists them with the lecture that answers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row is something you saw today, the question it raises and where the answer is. Why hexadecimal? Lectures 04 and 05. How does a register hold a negative number? Lecture 05. What does AND do to thirty-two bits at once? Lectures 08 and 09. How does a circuit remember a bit? Lectures 13 and 15. How is 0x00130313 decoded and executed? Lectures 18 and 19. The last row is the project: from three functions and a rectangle, a whole game. Keep this table: it is the map of the course seen from your own program.
For the lecturer: This is the forward map of the course. Keep a copy: each later deck opens by pointing at one of these rows. The last row is the project: Verm1 starts in Lecture 07 from exactly the skeleton of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Apply the distinction between address and value. la loads the address of the label into t0; lw then uses t0 to find the location and copies its content into t1, without changing t0. So t0 still holds the address. If you chose "the value", go back to the slide with the two arrows.
For the lecturer: Answer: B. la loads the address of the label; lw then reads the value stored at that address into t1.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key is what call does: it writes the return address into ra. If your function has to return to its own caller afterwards, it needs the old ra, which the call has just overwritten. a0 is meant to be overwritten, sp is restored by the callee, and t0 is a temporary that nobody promised to keep.
For the lecturer: Answer: C. call writes the return address in ra. The callee's own calls would overwrite it, so a non-leaf function saves ra on the stack and restores it before ret.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the calculation in binary. 300 is 256 + 44, that is a one in position 8 followed by the eight bits of 44. The mask 255 is eight ones: AND keeps the low eight bits and clears the rest. What remains is 44. Subtracting 255 from 300 gives 45, a tempting wrong answer: AND is not a subtraction.
For the lecturer: Answer: D. 300 = 256 + 44 = 1 0010 1100 in binary. AND with 1111 1111 keeps the low eight bits: 0010 1100 = 44.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exercises on your own cartridge; each is the seed of a later lecture. Change the text and its colour. Make the bar grow two or four times as fast by changing one instruction. Make it shrink, and observe what happens when the counter passes zero: the bar jumps to its full width, and Lecture 05 will explain why. Single-step first_update and write down the registers. Draw a second bar whose width is the counter modulo 64. Predict first, then run.
For the lecturer: Hints: addi t1, t1, 2 or slli before andi for exercise 2; addi t1, t1, -1 for exercise 3; andi a2, t1, 63 for exercise 5. Each exercise is a seed for a later lecture.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Twelve terms of this lecture, with the Italian used in class. Load and store are always seen from the processor: load brings a value from memory into a register, store sends it back. An immediate is a constant written inside the instruction itself. A branch is a jump that is taken only if a condition holds. The calling convention is the agreement on the roles of the registers.
For the lecturer: The course is taught in Italian; slides, notes and textbook exist in English and in Italian, and the technical documentation of PRG32 is in English. This table is repeated, topic by topic, in every deck.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sentences contain the lecture. A RISC-V processor is thirty-two registers and a small set of instructions that compute, move and jump. A PRG32 game is three functions, with arguments in a0 to a7, and a function that calls another saves ra. Variables live in memory: la for the address, lw and sw for the value. An instruction is a 32-bit number, and assembly is its readable spelling. The next lecture steps back and tells the history that led to this machine.
For the lecturer: Next lecture: the history that led to this machine.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IGHT">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6419088"/>
            <a:ext cx="9601200" cy="274320"/>
          </a:xfrm>
          <a:prstGeom prst="rect">
            <a:avLst/>
          </a:prstGeom>
          <a:noFill/>
          <a:ln/>
        </p:spPr>
        <p:txBody>
          <a:bodyPr wrap="square" lIns="0" tIns="0" rIns="0" bIns="0" rtlCol="0" anchor="ctr"/>
          <a:lstStyle/>
          <a:p>
            <a:pPr indent="0" marL="0">
              <a:buNone/>
            </a:pPr>
            <a:r>
              <a:rPr lang="en-US" sz="1000" dirty="0">
                <a:solidFill>
                  <a:srgbClr val="5B6B78"/>
                </a:solidFill>
                <a:latin typeface="Calibri" pitchFamily="34" charset="0"/>
                <a:ea typeface="Calibri" pitchFamily="34" charset="-122"/>
                <a:cs typeface="Calibri" pitchFamily="34" charset="-120"/>
              </a:rPr>
              <a:t>ARC12 Computer Architecture  |  Lecture 02: First contact with RISC-V assembly  |  A.Y. 2026/27</a:t>
            </a:r>
            <a:endParaRPr lang="en-US" sz="1000" dirty="0"/>
          </a:p>
        </p:txBody>
      </p:sp>
      <p:sp>
        <p:nvSpPr>
          <p:cNvPr id="3" name="Text 1"/>
          <p:cNvSpPr/>
          <p:nvPr>
            <p:ph idx="101" type="title" hasCustomPrompt="1"/>
          </p:nvPr>
        </p:nvSpPr>
        <p:spPr>
          <a:xfrm>
            <a:off x="548640" y="365760"/>
            <a:ext cx="11094415" cy="868680"/>
          </a:xfrm>
          <a:prstGeom prst="rect">
            <a:avLst/>
          </a:prstGeom>
          <a:noFill/>
          <a:ln/>
        </p:spPr>
        <p:txBody>
          <a:bodyPr wrap="square" rtlCol="0"/>
          <a:lstStyle>
            <a:lvl1pPr algn="l" indent="0" marL="0">
              <a:buNone/>
              <a:defRPr lang="en-US" sz="3200" b="1" dirty="0">
                <a:solidFill>
                  <a:srgbClr val="2E4A62"/>
                </a:solidFill>
                <a:latin typeface="Cambria" pitchFamily="34" charset="0"/>
                <a:ea typeface="Cambria" pitchFamily="34" charset="-122"/>
                <a:cs typeface="Cambria" pitchFamily="34" charset="-120"/>
              </a:defRPr>
            </a:lvl1pPr>
          </a:lstStyle>
          <a:p>
            <a:pPr algn="l" indent="0" marL="0">
              <a:buNone/>
            </a:pPr>
            <a:endParaRPr lang="en-US" sz="32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ARK">
    <p:bg>
      <p:bgPr>
        <a:solidFill>
          <a:srgbClr val="1B2530"/>
        </a:solidFill>
      </p:bgPr>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CFE3EA"/>
                </a:solidFill>
                <a:latin typeface="Calibri"/>
                <a:ea typeface="Calibri"/>
                <a:cs typeface="Calibri"/>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3.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548640" y="640080"/>
            <a:ext cx="201900" cy="201900"/>
          </a:xfrm>
          <a:prstGeom prst="rect">
            <a:avLst/>
          </a:prstGeom>
          <a:solidFill>
            <a:srgbClr val="0E7C86"/>
          </a:solidFill>
          <a:ln w="12700">
            <a:solidFill>
              <a:srgbClr val="0E7C86"/>
            </a:solidFill>
            <a:prstDash val="solid"/>
          </a:ln>
        </p:spPr>
      </p:sp>
      <p:sp>
        <p:nvSpPr>
          <p:cNvPr id="3" name="Shape 1"/>
          <p:cNvSpPr/>
          <p:nvPr/>
        </p:nvSpPr>
        <p:spPr>
          <a:xfrm>
            <a:off x="768096" y="640080"/>
            <a:ext cx="201900" cy="201900"/>
          </a:xfrm>
          <a:prstGeom prst="rect">
            <a:avLst/>
          </a:prstGeom>
          <a:solidFill>
            <a:srgbClr val="C7791B"/>
          </a:solidFill>
          <a:ln w="12700">
            <a:solidFill>
              <a:srgbClr val="C7791B"/>
            </a:solidFill>
            <a:prstDash val="solid"/>
          </a:ln>
        </p:spPr>
      </p:sp>
      <p:sp>
        <p:nvSpPr>
          <p:cNvPr id="4" name="Shape 2"/>
          <p:cNvSpPr/>
          <p:nvPr/>
        </p:nvSpPr>
        <p:spPr>
          <a:xfrm>
            <a:off x="768096" y="859536"/>
            <a:ext cx="201900" cy="201900"/>
          </a:xfrm>
          <a:prstGeom prst="rect">
            <a:avLst/>
          </a:prstGeom>
          <a:solidFill>
            <a:srgbClr val="0E7C86"/>
          </a:solidFill>
          <a:ln w="12700">
            <a:solidFill>
              <a:srgbClr val="0E7C86"/>
            </a:solidFill>
            <a:prstDash val="solid"/>
          </a:ln>
        </p:spPr>
      </p:sp>
      <p:sp>
        <p:nvSpPr>
          <p:cNvPr id="5" name="Shape 3"/>
          <p:cNvSpPr/>
          <p:nvPr/>
        </p:nvSpPr>
        <p:spPr>
          <a:xfrm>
            <a:off x="987552" y="859536"/>
            <a:ext cx="201900" cy="201900"/>
          </a:xfrm>
          <a:prstGeom prst="rect">
            <a:avLst/>
          </a:prstGeom>
          <a:solidFill>
            <a:srgbClr val="C7791B"/>
          </a:solidFill>
          <a:ln w="12700">
            <a:solidFill>
              <a:srgbClr val="C7791B"/>
            </a:solidFill>
            <a:prstDash val="solid"/>
          </a:ln>
        </p:spPr>
      </p:sp>
      <p:sp>
        <p:nvSpPr>
          <p:cNvPr id="6" name="Shape 4"/>
          <p:cNvSpPr/>
          <p:nvPr/>
        </p:nvSpPr>
        <p:spPr>
          <a:xfrm>
            <a:off x="548640" y="1078992"/>
            <a:ext cx="201900" cy="201900"/>
          </a:xfrm>
          <a:prstGeom prst="rect">
            <a:avLst/>
          </a:prstGeom>
          <a:solidFill>
            <a:srgbClr val="0E7C86"/>
          </a:solidFill>
          <a:ln w="12700">
            <a:solidFill>
              <a:srgbClr val="0E7C86"/>
            </a:solidFill>
            <a:prstDash val="solid"/>
          </a:ln>
        </p:spPr>
      </p:sp>
      <p:sp>
        <p:nvSpPr>
          <p:cNvPr id="7" name="Text 5"/>
          <p:cNvSpPr txBox="1"/>
          <p:nvPr/>
        </p:nvSpPr>
        <p:spPr>
          <a:xfrm>
            <a:off x="548640" y="1600200"/>
            <a:ext cx="11094415" cy="365760"/>
          </a:xfrm>
          <a:prstGeom prst="rect">
            <a:avLst/>
          </a:prstGeom>
          <a:noFill/>
          <a:ln/>
        </p:spPr>
        <p:txBody>
          <a:bodyPr wrap="square" lIns="0" tIns="0" rIns="0" bIns="0" rtlCol="0" anchor="t"/>
          <a:lstStyle/>
          <a:p>
            <a:pPr indent="0" marL="0">
              <a:buNone/>
            </a:pPr>
            <a:r>
              <a:rPr lang="en-US" sz="1600" b="1" spc="300" kern="0" dirty="0">
                <a:solidFill>
                  <a:srgbClr val="C7791B"/>
                </a:solidFill>
                <a:latin typeface="Calibri" pitchFamily="34" charset="0"/>
                <a:ea typeface="Calibri" pitchFamily="34" charset="-122"/>
                <a:cs typeface="Calibri" pitchFamily="34" charset="-120"/>
              </a:rPr>
              <a:t>ARC12 COMPUTER ARCHITECTURE  ·  LECTURE 02</a:t>
            </a:r>
            <a:endParaRPr lang="en-US" sz="1600" dirty="0"/>
          </a:p>
        </p:txBody>
      </p:sp>
      <p:sp>
        <p:nvSpPr>
          <p:cNvPr id="8" name="Text 6"/>
          <p:cNvSpPr txBox="1"/>
          <p:nvPr/>
        </p:nvSpPr>
        <p:spPr>
          <a:xfrm>
            <a:off x="548640" y="2011680"/>
            <a:ext cx="9722815" cy="1554480"/>
          </a:xfrm>
          <a:prstGeom prst="rect">
            <a:avLst/>
          </a:prstGeom>
          <a:noFill/>
          <a:ln/>
        </p:spPr>
        <p:txBody>
          <a:bodyPr wrap="square" lIns="0" tIns="0" rIns="0" bIns="0" rtlCol="0" anchor="ctr"/>
          <a:lstStyle/>
          <a:p>
            <a:pPr indent="0" marL="0">
              <a:buNone/>
            </a:pPr>
            <a:r>
              <a:rPr lang="en-US" sz="4800" b="1" dirty="0">
                <a:solidFill>
                  <a:srgbClr val="FFFFFF"/>
                </a:solidFill>
                <a:latin typeface="Cambria" pitchFamily="34" charset="0"/>
                <a:ea typeface="Cambria" pitchFamily="34" charset="-122"/>
                <a:cs typeface="Cambria" pitchFamily="34" charset="-120"/>
              </a:rPr>
              <a:t>First Contact: RISC-V Assembly on PRG32</a:t>
            </a:r>
            <a:endParaRPr lang="en-US" sz="4800" dirty="0"/>
          </a:p>
        </p:txBody>
      </p:sp>
      <p:sp>
        <p:nvSpPr>
          <p:cNvPr id="9" name="Text 7"/>
          <p:cNvSpPr txBox="1"/>
          <p:nvPr/>
        </p:nvSpPr>
        <p:spPr>
          <a:xfrm>
            <a:off x="548640" y="3611880"/>
            <a:ext cx="9722815" cy="548640"/>
          </a:xfrm>
          <a:prstGeom prst="rect">
            <a:avLst/>
          </a:prstGeom>
          <a:noFill/>
          <a:ln/>
        </p:spPr>
        <p:txBody>
          <a:bodyPr wrap="square" lIns="0" tIns="0" rIns="0" bIns="0" rtlCol="0" anchor="ctr"/>
          <a:lstStyle/>
          <a:p>
            <a:pPr indent="0" marL="0">
              <a:buNone/>
            </a:pPr>
            <a:r>
              <a:rPr lang="en-US" sz="2200" dirty="0">
                <a:solidFill>
                  <a:srgbClr val="CFE3EA"/>
                </a:solidFill>
                <a:latin typeface="Calibri" pitchFamily="34" charset="0"/>
                <a:ea typeface="Calibri" pitchFamily="34" charset="-122"/>
                <a:cs typeface="Calibri" pitchFamily="34" charset="-120"/>
              </a:rPr>
              <a:t>Registers, memory and the call: a running program before any theory</a:t>
            </a:r>
            <a:endParaRPr lang="en-US" sz="2200" dirty="0"/>
          </a:p>
        </p:txBody>
      </p:sp>
      <p:sp>
        <p:nvSpPr>
          <p:cNvPr id="10" name="Text 8"/>
          <p:cNvSpPr txBox="1"/>
          <p:nvPr/>
        </p:nvSpPr>
        <p:spPr>
          <a:xfrm>
            <a:off x="548640" y="4343400"/>
            <a:ext cx="8046720" cy="1097280"/>
          </a:xfrm>
          <a:prstGeom prst="rect">
            <a:avLst/>
          </a:prstGeom>
          <a:noFill/>
          <a:ln/>
        </p:spPr>
        <p:txBody>
          <a:bodyPr wrap="square" lIns="0" tIns="0" rIns="0" bIns="0" rtlCol="0" anchor="t"/>
          <a:lstStyle/>
          <a:p>
            <a:pPr indent="0" marL="0">
              <a:buNone/>
            </a:pPr>
            <a:r>
              <a:rPr lang="en-US" sz="1900" i="1" dirty="0">
                <a:solidFill>
                  <a:srgbClr val="FFFFFF"/>
                </a:solidFill>
                <a:latin typeface="Calibri" pitchFamily="34" charset="0"/>
                <a:ea typeface="Calibri" pitchFamily="34" charset="-122"/>
                <a:cs typeface="Calibri" pitchFamily="34" charset="-120"/>
              </a:rPr>
              <a:t>“Talk is cheap. Show me the code.”</a:t>
            </a:r>
            <a:endParaRPr lang="en-US" sz="1900" dirty="0"/>
          </a:p>
          <a:p>
            <a:pPr indent="0" marL="0">
              <a:buNone/>
            </a:pPr>
            <a:r>
              <a:rPr lang="en-US" sz="1200" dirty="0">
                <a:solidFill>
                  <a:srgbClr val="CFE3EA"/>
                </a:solidFill>
                <a:latin typeface="Calibri" pitchFamily="34" charset="0"/>
                <a:ea typeface="Calibri" pitchFamily="34" charset="-122"/>
                <a:cs typeface="Calibri" pitchFamily="34" charset="-120"/>
              </a:rPr>
              <a:t>Linus Torvalds, Linux kernel mailing list, 2000</a:t>
            </a:r>
            <a:endParaRPr lang="en-US" sz="1900" dirty="0"/>
          </a:p>
        </p:txBody>
      </p:sp>
      <p:sp>
        <p:nvSpPr>
          <p:cNvPr id="11" name="Text 9"/>
          <p:cNvSpPr txBox="1"/>
          <p:nvPr/>
        </p:nvSpPr>
        <p:spPr>
          <a:xfrm>
            <a:off x="548640" y="5486400"/>
            <a:ext cx="8229600" cy="914400"/>
          </a:xfrm>
          <a:prstGeom prst="rect">
            <a:avLst/>
          </a:prstGeom>
          <a:noFill/>
          <a:ln/>
        </p:spPr>
        <p:txBody>
          <a:bodyPr wrap="square" lIns="0" tIns="0" rIns="0" bIns="0" rtlCol="0" anchor="t"/>
          <a:lstStyle/>
          <a:p>
            <a:pPr indent="0" marL="0">
              <a:buNone/>
            </a:pPr>
            <a:r>
              <a:rPr lang="en-US" sz="1700" b="1" dirty="0">
                <a:solidFill>
                  <a:srgbClr val="FFFFFF"/>
                </a:solidFill>
                <a:latin typeface="Calibri" pitchFamily="34" charset="0"/>
                <a:ea typeface="Calibri" pitchFamily="34" charset="-122"/>
                <a:cs typeface="Calibri" pitchFamily="34" charset="-120"/>
              </a:rPr>
              <a:t>Prof. Raffaele Montella, PhD</a:t>
            </a:r>
            <a:endParaRPr lang="en-US" sz="1700" dirty="0"/>
          </a:p>
          <a:p>
            <a:pPr indent="0" marL="0">
              <a:buNone/>
            </a:pPr>
            <a:r>
              <a:rPr lang="en-US" sz="1400" dirty="0">
                <a:solidFill>
                  <a:srgbClr val="CFE3EA"/>
                </a:solidFill>
                <a:latin typeface="Calibri" pitchFamily="34" charset="0"/>
                <a:ea typeface="Calibri" pitchFamily="34" charset="-122"/>
                <a:cs typeface="Calibri" pitchFamily="34" charset="-120"/>
              </a:rPr>
              <a:t>University of Naples “Parthenope”  ·  A.Y. 2026/27</a:t>
            </a:r>
            <a:endParaRPr lang="en-US" sz="1700" dirty="0"/>
          </a:p>
          <a:p>
            <a:pPr indent="0" marL="0">
              <a:buNone/>
            </a:pPr>
            <a:r>
              <a:rPr lang="en-US" sz="1300" dirty="0">
                <a:solidFill>
                  <a:srgbClr val="CFE3EA"/>
                </a:solidFill>
                <a:latin typeface="Calibri" pitchFamily="34" charset="0"/>
                <a:ea typeface="Calibri" pitchFamily="34" charset="-122"/>
                <a:cs typeface="Calibri" pitchFamily="34" charset="-120"/>
              </a:rPr>
              <a:t>raffaelemontella.it  ·  raffaele.montella@uniparthenope.it</a:t>
            </a:r>
            <a:endParaRPr lang="en-US" sz="1700" dirty="0"/>
          </a:p>
        </p:txBody>
      </p:sp>
      <p:sp>
        <p:nvSpPr>
          <p:cNvPr id="12" name="Shape 10"/>
          <p:cNvSpPr/>
          <p:nvPr/>
        </p:nvSpPr>
        <p:spPr>
          <a:xfrm>
            <a:off x="8625535" y="4160520"/>
            <a:ext cx="3017520" cy="2011680"/>
          </a:xfrm>
          <a:prstGeom prst="roundRect">
            <a:avLst>
              <a:gd name="adj" fmla="val 3636"/>
            </a:avLst>
          </a:prstGeom>
          <a:solidFill>
            <a:srgbClr val="000000"/>
          </a:solidFill>
          <a:ln w="12700">
            <a:solidFill>
              <a:srgbClr val="000000"/>
            </a:solidFill>
            <a:prstDash val="solid"/>
          </a:ln>
        </p:spPr>
      </p:sp>
      <p:pic>
        <p:nvPicPr>
          <p:cNvPr id="13" name="Image 0" descr="/Users/raffaelemontella/devel/riscv-prg32/computer-architecture-with-prg32/tools/assets/lab1_step4_bar.png">    </p:cNvPr>
          <p:cNvPicPr>
            <a:picLocks noChangeAspect="1"/>
          </p:cNvPicPr>
          <p:nvPr/>
        </p:nvPicPr>
        <p:blipFill>
          <a:blip r:embed="rId1"/>
          <a:stretch>
            <a:fillRect/>
          </a:stretch>
        </p:blipFill>
        <p:spPr>
          <a:xfrm>
            <a:off x="8716975" y="4280535"/>
            <a:ext cx="2834640" cy="1771650"/>
          </a:xfrm>
          <a:prstGeom prst="rect">
            <a:avLst/>
          </a:prstGeom>
        </p:spPr>
      </p:pic>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CFE3EA"/>
                </a:solidFill>
                <a:latin typeface="Calibri"/>
                <a:ea typeface="Calibri"/>
                <a:cs typeface="Calibri"/>
              </a:defRPr>
            </a:lvl1pPr>
          </a:lstStyle>
          <a:p>
            <a:pPr algn="r"/>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What you will be able to do by the end</a:t>
            </a:r>
            <a:endParaRPr lang="en-US" sz="3200" dirty="0"/>
          </a:p>
        </p:txBody>
      </p:sp>
      <p:sp>
        <p:nvSpPr>
          <p:cNvPr id="3" name="Text 1"/>
          <p:cNvSpPr txBox="1"/>
          <p:nvPr/>
        </p:nvSpPr>
        <p:spPr>
          <a:xfrm>
            <a:off x="548640" y="1435608"/>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4" name="Text 2"/>
          <p:cNvSpPr txBox="1"/>
          <p:nvPr/>
        </p:nvSpPr>
        <p:spPr>
          <a:xfrm>
            <a:off x="1207008" y="1417320"/>
            <a:ext cx="10436047" cy="438912"/>
          </a:xfrm>
          <a:prstGeom prst="rect">
            <a:avLst/>
          </a:prstGeom>
          <a:noFill/>
          <a:ln/>
        </p:spPr>
        <p:txBody>
          <a:bodyPr wrap="square" lIns="0" tIns="0" rIns="0" bIns="0" rtlCol="0" anchor="ctr"/>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Build a cartridge from an assembly file and run it on PRG32</a:t>
            </a:r>
            <a:endParaRPr lang="en-US" sz="2200" dirty="0"/>
          </a:p>
        </p:txBody>
      </p:sp>
      <p:sp>
        <p:nvSpPr>
          <p:cNvPr id="5" name="Text 3"/>
          <p:cNvSpPr txBox="1"/>
          <p:nvPr/>
        </p:nvSpPr>
        <p:spPr>
          <a:xfrm>
            <a:off x="548640" y="2250237"/>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6" name="Text 4"/>
          <p:cNvSpPr txBox="1"/>
          <p:nvPr/>
        </p:nvSpPr>
        <p:spPr>
          <a:xfrm>
            <a:off x="1207008" y="2231949"/>
            <a:ext cx="10436047" cy="438912"/>
          </a:xfrm>
          <a:prstGeom prst="rect">
            <a:avLst/>
          </a:prstGeom>
          <a:noFill/>
          <a:ln/>
        </p:spPr>
        <p:txBody>
          <a:bodyPr wrap="square" lIns="0" tIns="0" rIns="0" bIns="0" rtlCol="0" anchor="ctr"/>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Say what a register is, and name the ones you will use every day</a:t>
            </a:r>
            <a:endParaRPr lang="en-US" sz="2200" dirty="0"/>
          </a:p>
        </p:txBody>
      </p:sp>
      <p:sp>
        <p:nvSpPr>
          <p:cNvPr id="7" name="Text 5"/>
          <p:cNvSpPr txBox="1"/>
          <p:nvPr/>
        </p:nvSpPr>
        <p:spPr>
          <a:xfrm>
            <a:off x="548640" y="3064866"/>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8" name="Text 6"/>
          <p:cNvSpPr txBox="1"/>
          <p:nvPr/>
        </p:nvSpPr>
        <p:spPr>
          <a:xfrm>
            <a:off x="1207008" y="3046578"/>
            <a:ext cx="10436047" cy="438912"/>
          </a:xfrm>
          <a:prstGeom prst="rect">
            <a:avLst/>
          </a:prstGeom>
          <a:noFill/>
          <a:ln/>
        </p:spPr>
        <p:txBody>
          <a:bodyPr wrap="square" lIns="0" tIns="0" rIns="0" bIns="0" rtlCol="0" anchor="ctr"/>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Call a framework function, passing arguments in registers</a:t>
            </a:r>
            <a:endParaRPr lang="en-US" sz="2200" dirty="0"/>
          </a:p>
        </p:txBody>
      </p:sp>
      <p:sp>
        <p:nvSpPr>
          <p:cNvPr id="9" name="Text 7"/>
          <p:cNvSpPr txBox="1"/>
          <p:nvPr/>
        </p:nvSpPr>
        <p:spPr>
          <a:xfrm>
            <a:off x="548640" y="3879494"/>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10" name="Text 8"/>
          <p:cNvSpPr txBox="1"/>
          <p:nvPr/>
        </p:nvSpPr>
        <p:spPr>
          <a:xfrm>
            <a:off x="1207008" y="3861206"/>
            <a:ext cx="10436047" cy="438912"/>
          </a:xfrm>
          <a:prstGeom prst="rect">
            <a:avLst/>
          </a:prstGeom>
          <a:noFill/>
          <a:ln/>
        </p:spPr>
        <p:txBody>
          <a:bodyPr wrap="square" lIns="0" tIns="0" rIns="0" bIns="0" rtlCol="0" anchor="ctr"/>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Keep a value in memory from one frame to the next: load, modify, store</a:t>
            </a:r>
            <a:endParaRPr lang="en-US" sz="2200" dirty="0"/>
          </a:p>
        </p:txBody>
      </p:sp>
      <p:sp>
        <p:nvSpPr>
          <p:cNvPr id="11" name="Text 9"/>
          <p:cNvSpPr txBox="1"/>
          <p:nvPr/>
        </p:nvSpPr>
        <p:spPr>
          <a:xfrm>
            <a:off x="548640" y="4694123"/>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5</a:t>
            </a:r>
            <a:endParaRPr lang="en-US" sz="1500" dirty="0"/>
          </a:p>
        </p:txBody>
      </p:sp>
      <p:sp>
        <p:nvSpPr>
          <p:cNvPr id="12" name="Text 10"/>
          <p:cNvSpPr txBox="1"/>
          <p:nvPr/>
        </p:nvSpPr>
        <p:spPr>
          <a:xfrm>
            <a:off x="1207008" y="4675835"/>
            <a:ext cx="10436047" cy="438912"/>
          </a:xfrm>
          <a:prstGeom prst="rect">
            <a:avLst/>
          </a:prstGeom>
          <a:noFill/>
          <a:ln/>
        </p:spPr>
        <p:txBody>
          <a:bodyPr wrap="square" lIns="0" tIns="0" rIns="0" bIns="0" rtlCol="0" anchor="ctr"/>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Read one instruction as the 32-bit number it really is</a:t>
            </a:r>
            <a:endParaRPr lang="en-US" sz="2200" dirty="0"/>
          </a:p>
        </p:txBody>
      </p:sp>
      <p:sp>
        <p:nvSpPr>
          <p:cNvPr id="13" name="Text 11"/>
          <p:cNvSpPr txBox="1"/>
          <p:nvPr/>
        </p:nvSpPr>
        <p:spPr>
          <a:xfrm>
            <a:off x="548640" y="5508752"/>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6</a:t>
            </a:r>
            <a:endParaRPr lang="en-US" sz="1500" dirty="0"/>
          </a:p>
        </p:txBody>
      </p:sp>
      <p:sp>
        <p:nvSpPr>
          <p:cNvPr id="14" name="Text 12"/>
          <p:cNvSpPr txBox="1"/>
          <p:nvPr/>
        </p:nvSpPr>
        <p:spPr>
          <a:xfrm>
            <a:off x="1207008" y="5490464"/>
            <a:ext cx="10436047" cy="681736"/>
          </a:xfrm>
          <a:prstGeom prst="rect">
            <a:avLst/>
          </a:prstGeom>
          <a:noFill/>
          <a:ln/>
        </p:spPr>
        <p:txBody>
          <a:bodyPr wrap="square" lIns="0" tIns="0" rIns="0" bIns="0" rtlCol="0" anchor="t"/>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List the questions this program raises: the rest of the course answers them</a:t>
            </a:r>
            <a:endParaRPr lang="en-US" sz="22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548640" y="640080"/>
            <a:ext cx="168250" cy="168250"/>
          </a:xfrm>
          <a:prstGeom prst="rect">
            <a:avLst/>
          </a:prstGeom>
          <a:solidFill>
            <a:srgbClr val="0E7C86"/>
          </a:solidFill>
          <a:ln w="12700">
            <a:solidFill>
              <a:srgbClr val="0E7C86"/>
            </a:solidFill>
            <a:prstDash val="solid"/>
          </a:ln>
        </p:spPr>
      </p:sp>
      <p:sp>
        <p:nvSpPr>
          <p:cNvPr id="3" name="Shape 1"/>
          <p:cNvSpPr/>
          <p:nvPr/>
        </p:nvSpPr>
        <p:spPr>
          <a:xfrm>
            <a:off x="731520" y="640080"/>
            <a:ext cx="168250" cy="168250"/>
          </a:xfrm>
          <a:prstGeom prst="rect">
            <a:avLst/>
          </a:prstGeom>
          <a:solidFill>
            <a:srgbClr val="C7791B"/>
          </a:solidFill>
          <a:ln w="12700">
            <a:solidFill>
              <a:srgbClr val="C7791B"/>
            </a:solidFill>
            <a:prstDash val="solid"/>
          </a:ln>
        </p:spPr>
      </p:sp>
      <p:sp>
        <p:nvSpPr>
          <p:cNvPr id="4" name="Shape 2"/>
          <p:cNvSpPr/>
          <p:nvPr/>
        </p:nvSpPr>
        <p:spPr>
          <a:xfrm>
            <a:off x="731520" y="822960"/>
            <a:ext cx="168250" cy="168250"/>
          </a:xfrm>
          <a:prstGeom prst="rect">
            <a:avLst/>
          </a:prstGeom>
          <a:solidFill>
            <a:srgbClr val="0E7C86"/>
          </a:solidFill>
          <a:ln w="12700">
            <a:solidFill>
              <a:srgbClr val="0E7C86"/>
            </a:solidFill>
            <a:prstDash val="solid"/>
          </a:ln>
        </p:spPr>
      </p:sp>
      <p:sp>
        <p:nvSpPr>
          <p:cNvPr id="5" name="Text 3"/>
          <p:cNvSpPr txBox="1"/>
          <p:nvPr/>
        </p:nvSpPr>
        <p:spPr>
          <a:xfrm>
            <a:off x="548640" y="1828800"/>
            <a:ext cx="2743200" cy="1097280"/>
          </a:xfrm>
          <a:prstGeom prst="rect">
            <a:avLst/>
          </a:prstGeom>
          <a:noFill/>
          <a:ln/>
        </p:spPr>
        <p:txBody>
          <a:bodyPr wrap="square" lIns="0" tIns="0" rIns="0" bIns="0" rtlCol="0" anchor="ctr"/>
          <a:lstStyle/>
          <a:p>
            <a:pPr indent="0" marL="0">
              <a:buNone/>
            </a:pPr>
            <a:r>
              <a:rPr lang="en-US" sz="7200" b="1" dirty="0">
                <a:solidFill>
                  <a:srgbClr val="C7791B"/>
                </a:solidFill>
                <a:latin typeface="Cambria" pitchFamily="34" charset="0"/>
                <a:ea typeface="Cambria" pitchFamily="34" charset="-122"/>
                <a:cs typeface="Cambria" pitchFamily="34" charset="-120"/>
              </a:rPr>
              <a:t>01</a:t>
            </a:r>
            <a:endParaRPr lang="en-US" sz="7200" dirty="0"/>
          </a:p>
        </p:txBody>
      </p:sp>
      <p:sp>
        <p:nvSpPr>
          <p:cNvPr id="6" name="Text 4"/>
          <p:cNvSpPr txBox="1"/>
          <p:nvPr/>
        </p:nvSpPr>
        <p:spPr>
          <a:xfrm>
            <a:off x="548640" y="3017520"/>
            <a:ext cx="11094415" cy="1188720"/>
          </a:xfrm>
          <a:prstGeom prst="rect">
            <a:avLst/>
          </a:prstGeom>
          <a:noFill/>
          <a:ln/>
        </p:spPr>
        <p:txBody>
          <a:bodyPr wrap="square" lIns="0" tIns="0" rIns="0" bIns="0" rtlCol="0" anchor="ctr"/>
          <a:lstStyle/>
          <a:p>
            <a:pPr indent="0" marL="0">
              <a:buNone/>
            </a:pPr>
            <a:r>
              <a:rPr lang="en-US" sz="4400" b="1" dirty="0">
                <a:solidFill>
                  <a:srgbClr val="FFFFFF"/>
                </a:solidFill>
                <a:latin typeface="Cambria" pitchFamily="34" charset="0"/>
                <a:ea typeface="Cambria" pitchFamily="34" charset="-122"/>
                <a:cs typeface="Cambria" pitchFamily="34" charset="-120"/>
              </a:rPr>
              <a:t>The machine</a:t>
            </a:r>
            <a:endParaRPr lang="en-US" sz="4400" dirty="0"/>
          </a:p>
        </p:txBody>
      </p:sp>
      <p:sp>
        <p:nvSpPr>
          <p:cNvPr id="7" name="Text 5"/>
          <p:cNvSpPr txBox="1"/>
          <p:nvPr/>
        </p:nvSpPr>
        <p:spPr>
          <a:xfrm>
            <a:off x="548640" y="4343400"/>
            <a:ext cx="11094415" cy="1097280"/>
          </a:xfrm>
          <a:prstGeom prst="rect">
            <a:avLst/>
          </a:prstGeom>
          <a:noFill/>
          <a:ln/>
        </p:spPr>
        <p:txBody>
          <a:bodyPr wrap="square" lIns="0" tIns="0" rIns="0" bIns="0" rtlCol="0" anchor="t"/>
          <a:lstStyle/>
          <a:p>
            <a:pPr indent="0" marL="0">
              <a:buNone/>
            </a:pPr>
            <a:r>
              <a:rPr lang="en-US" sz="2200" dirty="0">
                <a:solidFill>
                  <a:srgbClr val="CFE3EA"/>
                </a:solidFill>
                <a:latin typeface="Calibri" pitchFamily="34" charset="0"/>
                <a:ea typeface="Calibri" pitchFamily="34" charset="-122"/>
                <a:cs typeface="Calibri" pitchFamily="34" charset="-120"/>
              </a:rPr>
              <a:t>Thirty-two registers and a small repertoire of instructions.</a:t>
            </a:r>
            <a:endParaRPr lang="en-US" sz="22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CFE3EA"/>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The machine you are programming</a:t>
            </a:r>
            <a:endParaRPr lang="en-US" sz="3200" dirty="0"/>
          </a:p>
        </p:txBody>
      </p:sp>
      <p:sp>
        <p:nvSpPr>
          <p:cNvPr id="3" name="Shape 1"/>
          <p:cNvSpPr/>
          <p:nvPr/>
        </p:nvSpPr>
        <p:spPr>
          <a:xfrm>
            <a:off x="548640" y="1417320"/>
            <a:ext cx="5410048" cy="2240280"/>
          </a:xfrm>
          <a:prstGeom prst="roundRect">
            <a:avLst>
              <a:gd name="adj" fmla="val 3265"/>
            </a:avLst>
          </a:prstGeom>
          <a:solidFill>
            <a:srgbClr val="EEF2F4"/>
          </a:solidFill>
          <a:ln w="12700">
            <a:solidFill>
              <a:srgbClr val="EEF2F4"/>
            </a:solidFill>
            <a:prstDash val="solid"/>
          </a:ln>
        </p:spPr>
      </p:sp>
      <p:sp>
        <p:nvSpPr>
          <p:cNvPr id="4" name="Text 2"/>
          <p:cNvSpPr txBox="1"/>
          <p:nvPr/>
        </p:nvSpPr>
        <p:spPr>
          <a:xfrm>
            <a:off x="777240" y="1645920"/>
            <a:ext cx="384048" cy="384048"/>
          </a:xfrm>
          <a:prstGeom prst="roundRect">
            <a:avLst>
              <a:gd name="adj" fmla="val 19048"/>
            </a:avLst>
          </a:prstGeom>
          <a:solidFill>
            <a:srgbClr val="0E7C86"/>
          </a:solidFill>
          <a:ln>
            <a:solidFill>
              <a:srgbClr val="0E7C86"/>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5" name="Text 3"/>
          <p:cNvSpPr txBox="1"/>
          <p:nvPr/>
        </p:nvSpPr>
        <p:spPr>
          <a:xfrm>
            <a:off x="1325880" y="1600200"/>
            <a:ext cx="4404208" cy="685800"/>
          </a:xfrm>
          <a:prstGeom prst="rect">
            <a:avLst/>
          </a:prstGeom>
          <a:noFill/>
          <a:ln/>
        </p:spPr>
        <p:txBody>
          <a:bodyPr wrap="square" lIns="0" tIns="0" rIns="0" bIns="0" rtlCol="0" anchor="ctr"/>
          <a:lstStyle/>
          <a:p>
            <a:pPr indent="0" marL="0">
              <a:buNone/>
            </a:pPr>
            <a:r>
              <a:rPr lang="en-US" sz="2000" b="1" dirty="0">
                <a:solidFill>
                  <a:srgbClr val="2E4A62"/>
                </a:solidFill>
                <a:latin typeface="Calibri" pitchFamily="34" charset="0"/>
                <a:ea typeface="Calibri" pitchFamily="34" charset="-122"/>
                <a:cs typeface="Calibri" pitchFamily="34" charset="-120"/>
              </a:rPr>
              <a:t>32 registers</a:t>
            </a:r>
            <a:endParaRPr lang="en-US" sz="2000" dirty="0"/>
          </a:p>
        </p:txBody>
      </p:sp>
      <p:sp>
        <p:nvSpPr>
          <p:cNvPr id="6" name="Text 4"/>
          <p:cNvSpPr txBox="1"/>
          <p:nvPr/>
        </p:nvSpPr>
        <p:spPr>
          <a:xfrm>
            <a:off x="822960" y="2331720"/>
            <a:ext cx="4861408" cy="1188720"/>
          </a:xfrm>
          <a:prstGeom prst="rect">
            <a:avLst/>
          </a:prstGeom>
          <a:noFill/>
          <a:ln/>
        </p:spPr>
        <p:txBody>
          <a:bodyPr wrap="square" lIns="0" tIns="0" rIns="0" bIns="0" rtlCol="0" anchor="t"/>
          <a:lstStyle/>
          <a:p>
            <a:pPr indent="0" marL="0">
              <a:buNone/>
            </a:pPr>
            <a:r>
              <a:rPr lang="en-US" sz="1900" dirty="0">
                <a:solidFill>
                  <a:srgbClr val="1B2530"/>
                </a:solidFill>
                <a:latin typeface="Calibri" pitchFamily="34" charset="0"/>
                <a:ea typeface="Calibri" pitchFamily="34" charset="-122"/>
                <a:cs typeface="Calibri" pitchFamily="34" charset="-120"/>
              </a:rPr>
              <a:t>Each register holds one 32-bit value. The processor can compute only on values that are in registers.</a:t>
            </a:r>
            <a:endParaRPr lang="en-US" sz="1900" dirty="0"/>
          </a:p>
        </p:txBody>
      </p:sp>
      <p:sp>
        <p:nvSpPr>
          <p:cNvPr id="7" name="Shape 5"/>
          <p:cNvSpPr/>
          <p:nvPr/>
        </p:nvSpPr>
        <p:spPr>
          <a:xfrm>
            <a:off x="6233008" y="1417320"/>
            <a:ext cx="5410048" cy="2240280"/>
          </a:xfrm>
          <a:prstGeom prst="roundRect">
            <a:avLst>
              <a:gd name="adj" fmla="val 3265"/>
            </a:avLst>
          </a:prstGeom>
          <a:solidFill>
            <a:srgbClr val="EEF2F4"/>
          </a:solidFill>
          <a:ln w="12700">
            <a:solidFill>
              <a:srgbClr val="EEF2F4"/>
            </a:solidFill>
            <a:prstDash val="solid"/>
          </a:ln>
        </p:spPr>
      </p:sp>
      <p:sp>
        <p:nvSpPr>
          <p:cNvPr id="8" name="Text 6"/>
          <p:cNvSpPr txBox="1"/>
          <p:nvPr/>
        </p:nvSpPr>
        <p:spPr>
          <a:xfrm>
            <a:off x="6461608" y="1645920"/>
            <a:ext cx="384048" cy="384048"/>
          </a:xfrm>
          <a:prstGeom prst="roundRect">
            <a:avLst>
              <a:gd name="adj" fmla="val 19048"/>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9" name="Text 7"/>
          <p:cNvSpPr txBox="1"/>
          <p:nvPr/>
        </p:nvSpPr>
        <p:spPr>
          <a:xfrm>
            <a:off x="7010248" y="1600200"/>
            <a:ext cx="4404208" cy="685800"/>
          </a:xfrm>
          <a:prstGeom prst="rect">
            <a:avLst/>
          </a:prstGeom>
          <a:noFill/>
          <a:ln/>
        </p:spPr>
        <p:txBody>
          <a:bodyPr wrap="square" lIns="0" tIns="0" rIns="0" bIns="0" rtlCol="0" anchor="ctr"/>
          <a:lstStyle/>
          <a:p>
            <a:pPr indent="0" marL="0">
              <a:buNone/>
            </a:pPr>
            <a:r>
              <a:rPr lang="en-US" sz="2000" b="1" dirty="0">
                <a:solidFill>
                  <a:srgbClr val="2E4A62"/>
                </a:solidFill>
                <a:latin typeface="Calibri" pitchFamily="34" charset="0"/>
                <a:ea typeface="Calibri" pitchFamily="34" charset="-122"/>
                <a:cs typeface="Calibri" pitchFamily="34" charset="-120"/>
              </a:rPr>
              <a:t>Compute</a:t>
            </a:r>
            <a:endParaRPr lang="en-US" sz="2000" dirty="0"/>
          </a:p>
        </p:txBody>
      </p:sp>
      <p:sp>
        <p:nvSpPr>
          <p:cNvPr id="10" name="Text 8"/>
          <p:cNvSpPr txBox="1"/>
          <p:nvPr/>
        </p:nvSpPr>
        <p:spPr>
          <a:xfrm>
            <a:off x="6507328" y="2331720"/>
            <a:ext cx="4861408" cy="1188720"/>
          </a:xfrm>
          <a:prstGeom prst="rect">
            <a:avLst/>
          </a:prstGeom>
          <a:noFill/>
          <a:ln/>
        </p:spPr>
        <p:txBody>
          <a:bodyPr wrap="square" lIns="0" tIns="0" rIns="0" bIns="0" rtlCol="0" anchor="t"/>
          <a:lstStyle/>
          <a:p>
            <a:pPr indent="0" marL="0">
              <a:buNone/>
            </a:pPr>
            <a:r>
              <a:rPr lang="en-US" sz="1900" dirty="0">
                <a:solidFill>
                  <a:srgbClr val="1B2530"/>
                </a:solidFill>
                <a:latin typeface="Calibri" pitchFamily="34" charset="0"/>
                <a:ea typeface="Calibri" pitchFamily="34" charset="-122"/>
                <a:cs typeface="Calibri" pitchFamily="34" charset="-120"/>
              </a:rPr>
              <a:t>An arithmetic or logic operation between registers: add, sub, and, or, xor, and their immediate forms such as addi.</a:t>
            </a:r>
            <a:endParaRPr lang="en-US" sz="1900" dirty="0"/>
          </a:p>
        </p:txBody>
      </p:sp>
      <p:sp>
        <p:nvSpPr>
          <p:cNvPr id="11" name="Shape 9"/>
          <p:cNvSpPr/>
          <p:nvPr/>
        </p:nvSpPr>
        <p:spPr>
          <a:xfrm>
            <a:off x="548640" y="3931920"/>
            <a:ext cx="5410048" cy="2240280"/>
          </a:xfrm>
          <a:prstGeom prst="roundRect">
            <a:avLst>
              <a:gd name="adj" fmla="val 3265"/>
            </a:avLst>
          </a:prstGeom>
          <a:solidFill>
            <a:srgbClr val="EEF2F4"/>
          </a:solidFill>
          <a:ln w="12700">
            <a:solidFill>
              <a:srgbClr val="EEF2F4"/>
            </a:solidFill>
            <a:prstDash val="solid"/>
          </a:ln>
        </p:spPr>
      </p:sp>
      <p:sp>
        <p:nvSpPr>
          <p:cNvPr id="12" name="Text 10"/>
          <p:cNvSpPr txBox="1"/>
          <p:nvPr/>
        </p:nvSpPr>
        <p:spPr>
          <a:xfrm>
            <a:off x="777240" y="4160520"/>
            <a:ext cx="384048" cy="384048"/>
          </a:xfrm>
          <a:prstGeom prst="roundRect">
            <a:avLst>
              <a:gd name="adj" fmla="val 19048"/>
            </a:avLst>
          </a:prstGeom>
          <a:solidFill>
            <a:srgbClr val="6B4FA0"/>
          </a:solidFill>
          <a:ln>
            <a:solidFill>
              <a:srgbClr val="6B4FA0"/>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3" name="Text 11"/>
          <p:cNvSpPr txBox="1"/>
          <p:nvPr/>
        </p:nvSpPr>
        <p:spPr>
          <a:xfrm>
            <a:off x="1325880" y="4114800"/>
            <a:ext cx="4404208" cy="685800"/>
          </a:xfrm>
          <a:prstGeom prst="rect">
            <a:avLst/>
          </a:prstGeom>
          <a:noFill/>
          <a:ln/>
        </p:spPr>
        <p:txBody>
          <a:bodyPr wrap="square" lIns="0" tIns="0" rIns="0" bIns="0" rtlCol="0" anchor="ctr"/>
          <a:lstStyle/>
          <a:p>
            <a:pPr indent="0" marL="0">
              <a:buNone/>
            </a:pPr>
            <a:r>
              <a:rPr lang="en-US" sz="2000" b="1" dirty="0">
                <a:solidFill>
                  <a:srgbClr val="2E4A62"/>
                </a:solidFill>
                <a:latin typeface="Calibri" pitchFamily="34" charset="0"/>
                <a:ea typeface="Calibri" pitchFamily="34" charset="-122"/>
                <a:cs typeface="Calibri" pitchFamily="34" charset="-120"/>
              </a:rPr>
              <a:t>Move</a:t>
            </a:r>
            <a:endParaRPr lang="en-US" sz="2000" dirty="0"/>
          </a:p>
        </p:txBody>
      </p:sp>
      <p:sp>
        <p:nvSpPr>
          <p:cNvPr id="14" name="Text 12"/>
          <p:cNvSpPr txBox="1"/>
          <p:nvPr/>
        </p:nvSpPr>
        <p:spPr>
          <a:xfrm>
            <a:off x="822960" y="4846320"/>
            <a:ext cx="4861408" cy="1188720"/>
          </a:xfrm>
          <a:prstGeom prst="rect">
            <a:avLst/>
          </a:prstGeom>
          <a:noFill/>
          <a:ln/>
        </p:spPr>
        <p:txBody>
          <a:bodyPr wrap="square" lIns="0" tIns="0" rIns="0" bIns="0" rtlCol="0" anchor="t"/>
          <a:lstStyle/>
          <a:p>
            <a:pPr indent="0" marL="0">
              <a:buNone/>
            </a:pPr>
            <a:r>
              <a:rPr lang="en-US" sz="1900" dirty="0">
                <a:solidFill>
                  <a:srgbClr val="1B2530"/>
                </a:solidFill>
                <a:latin typeface="Calibri" pitchFamily="34" charset="0"/>
                <a:ea typeface="Calibri" pitchFamily="34" charset="-122"/>
                <a:cs typeface="Calibri" pitchFamily="34" charset="-120"/>
              </a:rPr>
              <a:t>A transfer between a register and memory: lw loads a word, sw stores a word. Nothing else touches memory.</a:t>
            </a:r>
            <a:endParaRPr lang="en-US" sz="1900" dirty="0"/>
          </a:p>
        </p:txBody>
      </p:sp>
      <p:sp>
        <p:nvSpPr>
          <p:cNvPr id="15" name="Shape 13"/>
          <p:cNvSpPr/>
          <p:nvPr/>
        </p:nvSpPr>
        <p:spPr>
          <a:xfrm>
            <a:off x="6233008" y="3931920"/>
            <a:ext cx="5410048" cy="2240280"/>
          </a:xfrm>
          <a:prstGeom prst="roundRect">
            <a:avLst>
              <a:gd name="adj" fmla="val 3265"/>
            </a:avLst>
          </a:prstGeom>
          <a:solidFill>
            <a:srgbClr val="EEF2F4"/>
          </a:solidFill>
          <a:ln w="12700">
            <a:solidFill>
              <a:srgbClr val="EEF2F4"/>
            </a:solidFill>
            <a:prstDash val="solid"/>
          </a:ln>
        </p:spPr>
      </p:sp>
      <p:sp>
        <p:nvSpPr>
          <p:cNvPr id="16" name="Text 14"/>
          <p:cNvSpPr txBox="1"/>
          <p:nvPr/>
        </p:nvSpPr>
        <p:spPr>
          <a:xfrm>
            <a:off x="6461608" y="4160520"/>
            <a:ext cx="384048" cy="384048"/>
          </a:xfrm>
          <a:prstGeom prst="roundRect">
            <a:avLst>
              <a:gd name="adj" fmla="val 19048"/>
            </a:avLst>
          </a:prstGeom>
          <a:solidFill>
            <a:srgbClr val="2F7D4F"/>
          </a:solidFill>
          <a:ln>
            <a:solidFill>
              <a:srgbClr val="2F7D4F"/>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17" name="Text 15"/>
          <p:cNvSpPr txBox="1"/>
          <p:nvPr/>
        </p:nvSpPr>
        <p:spPr>
          <a:xfrm>
            <a:off x="7010248" y="4114800"/>
            <a:ext cx="4404208" cy="685800"/>
          </a:xfrm>
          <a:prstGeom prst="rect">
            <a:avLst/>
          </a:prstGeom>
          <a:noFill/>
          <a:ln/>
        </p:spPr>
        <p:txBody>
          <a:bodyPr wrap="square" lIns="0" tIns="0" rIns="0" bIns="0" rtlCol="0" anchor="ctr"/>
          <a:lstStyle/>
          <a:p>
            <a:pPr indent="0" marL="0">
              <a:buNone/>
            </a:pPr>
            <a:r>
              <a:rPr lang="en-US" sz="2000" b="1" dirty="0">
                <a:solidFill>
                  <a:srgbClr val="2E4A62"/>
                </a:solidFill>
                <a:latin typeface="Calibri" pitchFamily="34" charset="0"/>
                <a:ea typeface="Calibri" pitchFamily="34" charset="-122"/>
                <a:cs typeface="Calibri" pitchFamily="34" charset="-120"/>
              </a:rPr>
              <a:t>Jump</a:t>
            </a:r>
            <a:endParaRPr lang="en-US" sz="2000" dirty="0"/>
          </a:p>
        </p:txBody>
      </p:sp>
      <p:sp>
        <p:nvSpPr>
          <p:cNvPr id="18" name="Text 16"/>
          <p:cNvSpPr txBox="1"/>
          <p:nvPr/>
        </p:nvSpPr>
        <p:spPr>
          <a:xfrm>
            <a:off x="6507328" y="4846320"/>
            <a:ext cx="4861408" cy="1188720"/>
          </a:xfrm>
          <a:prstGeom prst="rect">
            <a:avLst/>
          </a:prstGeom>
          <a:noFill/>
          <a:ln/>
        </p:spPr>
        <p:txBody>
          <a:bodyPr wrap="square" lIns="0" tIns="0" rIns="0" bIns="0" rtlCol="0" anchor="t"/>
          <a:lstStyle/>
          <a:p>
            <a:pPr indent="0" marL="0">
              <a:buNone/>
            </a:pPr>
            <a:r>
              <a:rPr lang="en-US" sz="1900" dirty="0">
                <a:solidFill>
                  <a:srgbClr val="1B2530"/>
                </a:solidFill>
                <a:latin typeface="Calibri" pitchFamily="34" charset="0"/>
                <a:ea typeface="Calibri" pitchFamily="34" charset="-122"/>
                <a:cs typeface="Calibri" pitchFamily="34" charset="-120"/>
              </a:rPr>
              <a:t>A change in which instruction runs next: branches such as beqz, calls and returns.</a:t>
            </a:r>
            <a:endParaRPr lang="en-US" sz="19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The registers you will actually use</a:t>
            </a:r>
            <a:endParaRPr lang="en-US" sz="32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548640" y="1417320"/>
          <a:ext cx="11094415" cy="914400"/>
        </p:xfrm>
        <a:graphic>
          <a:graphicData uri="http://schemas.openxmlformats.org/drawingml/2006/table">
            <a:tbl>
              <a:tblPr/>
              <a:tblGrid>
                <a:gridCol w="1431537"/>
                <a:gridCol w="1968364"/>
                <a:gridCol w="5010381"/>
                <a:gridCol w="2684133"/>
              </a:tblGrid>
              <a:tr h="0">
                <a:tc>
                  <a:txBody>
                    <a:bodyPr/>
                    <a:lstStyle/>
                    <a:p>
                      <a:pPr algn="l" indent="0" marL="0">
                        <a:buNone/>
                      </a:pPr>
                      <a:r>
                        <a:rPr lang="en-US" sz="1900" b="1" dirty="0">
                          <a:solidFill>
                            <a:srgbClr val="FFFFFF"/>
                          </a:solidFill>
                          <a:latin typeface="Calibri" pitchFamily="34" charset="0"/>
                          <a:ea typeface="Calibri" pitchFamily="34" charset="-122"/>
                          <a:cs typeface="Calibri" pitchFamily="34" charset="-120"/>
                        </a:rPr>
                        <a:t>Register</a:t>
                      </a:r>
                      <a:endParaRPr lang="en-US" sz="19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c>
                  <a:txBody>
                    <a:bodyPr/>
                    <a:lstStyle/>
                    <a:p>
                      <a:pPr algn="l" indent="0" marL="0">
                        <a:buNone/>
                      </a:pPr>
                      <a:r>
                        <a:rPr lang="en-US" sz="1900" b="1" dirty="0">
                          <a:solidFill>
                            <a:srgbClr val="FFFFFF"/>
                          </a:solidFill>
                          <a:latin typeface="Calibri" pitchFamily="34" charset="0"/>
                          <a:ea typeface="Calibri" pitchFamily="34" charset="-122"/>
                          <a:cs typeface="Calibri" pitchFamily="34" charset="-120"/>
                        </a:rPr>
                        <a:t>Name</a:t>
                      </a:r>
                      <a:endParaRPr lang="en-US" sz="19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c>
                  <a:txBody>
                    <a:bodyPr/>
                    <a:lstStyle/>
                    <a:p>
                      <a:pPr algn="l" indent="0" marL="0">
                        <a:buNone/>
                      </a:pPr>
                      <a:r>
                        <a:rPr lang="en-US" sz="1900" b="1" dirty="0">
                          <a:solidFill>
                            <a:srgbClr val="FFFFFF"/>
                          </a:solidFill>
                          <a:latin typeface="Calibri" pitchFamily="34" charset="0"/>
                          <a:ea typeface="Calibri" pitchFamily="34" charset="-122"/>
                          <a:cs typeface="Calibri" pitchFamily="34" charset="-120"/>
                        </a:rPr>
                        <a:t>Role</a:t>
                      </a:r>
                      <a:endParaRPr lang="en-US" sz="19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c>
                  <a:txBody>
                    <a:bodyPr/>
                    <a:lstStyle/>
                    <a:p>
                      <a:pPr algn="l" indent="0" marL="0">
                        <a:buNone/>
                      </a:pPr>
                      <a:r>
                        <a:rPr lang="en-US" sz="1900" b="1" dirty="0">
                          <a:solidFill>
                            <a:srgbClr val="FFFFFF"/>
                          </a:solidFill>
                          <a:latin typeface="Calibri" pitchFamily="34" charset="0"/>
                          <a:ea typeface="Calibri" pitchFamily="34" charset="-122"/>
                          <a:cs typeface="Calibri" pitchFamily="34" charset="-120"/>
                        </a:rPr>
                        <a:t>Preserved across a call?</a:t>
                      </a:r>
                      <a:endParaRPr lang="en-US" sz="19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r>
              <a:tr h="0">
                <a:tc>
                  <a:txBody>
                    <a:bodyPr/>
                    <a:lstStyle/>
                    <a:p>
                      <a:pPr algn="l" indent="0" marL="0">
                        <a:buNone/>
                      </a:pPr>
                      <a:r>
                        <a:rPr lang="en-US" sz="1900" dirty="0">
                          <a:solidFill>
                            <a:srgbClr val="1B2530"/>
                          </a:solidFill>
                          <a:latin typeface="Courier New" pitchFamily="34" charset="0"/>
                          <a:ea typeface="Courier New" pitchFamily="34" charset="-122"/>
                          <a:cs typeface="Courier New" pitchFamily="34" charset="-120"/>
                        </a:rPr>
                        <a:t>a0 - a7</a:t>
                      </a:r>
                      <a:endParaRPr lang="en-US" sz="1900" dirty="0">
                        <a:latin typeface="Courier New" charset="0"/>
                        <a:ea typeface="Courier New" charset="0"/>
                        <a:cs typeface="Courier New"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900" dirty="0">
                          <a:solidFill>
                            <a:srgbClr val="1B2530"/>
                          </a:solidFill>
                          <a:latin typeface="Calibri" pitchFamily="34" charset="0"/>
                          <a:ea typeface="Calibri" pitchFamily="34" charset="-122"/>
                          <a:cs typeface="Calibri" pitchFamily="34" charset="-120"/>
                        </a:rPr>
                        <a:t>arguments</a:t>
                      </a:r>
                      <a:endParaRPr lang="en-US" sz="19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900" dirty="0">
                          <a:solidFill>
                            <a:srgbClr val="1B2530"/>
                          </a:solidFill>
                          <a:latin typeface="Calibri" pitchFamily="34" charset="0"/>
                          <a:ea typeface="Calibri" pitchFamily="34" charset="-122"/>
                          <a:cs typeface="Calibri" pitchFamily="34" charset="-120"/>
                        </a:rPr>
                        <a:t>values passed into a call; a0 also carries the return value</a:t>
                      </a:r>
                      <a:endParaRPr lang="en-US" sz="19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900" dirty="0">
                          <a:solidFill>
                            <a:srgbClr val="1B2530"/>
                          </a:solidFill>
                          <a:latin typeface="Calibri" pitchFamily="34" charset="0"/>
                          <a:ea typeface="Calibri" pitchFamily="34" charset="-122"/>
                          <a:cs typeface="Calibri" pitchFamily="34" charset="-120"/>
                        </a:rPr>
                        <a:t>no</a:t>
                      </a:r>
                      <a:endParaRPr lang="en-US" sz="19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r h="0">
                <a:tc>
                  <a:txBody>
                    <a:bodyPr/>
                    <a:lstStyle/>
                    <a:p>
                      <a:pPr algn="l" indent="0" marL="0">
                        <a:buNone/>
                      </a:pPr>
                      <a:r>
                        <a:rPr lang="en-US" sz="1900" dirty="0">
                          <a:solidFill>
                            <a:srgbClr val="1B2530"/>
                          </a:solidFill>
                          <a:latin typeface="Courier New" pitchFamily="34" charset="0"/>
                          <a:ea typeface="Courier New" pitchFamily="34" charset="-122"/>
                          <a:cs typeface="Courier New" pitchFamily="34" charset="-120"/>
                        </a:rPr>
                        <a:t>t0 - t6</a:t>
                      </a:r>
                      <a:endParaRPr lang="en-US" sz="1900" dirty="0">
                        <a:latin typeface="Courier New" charset="0"/>
                        <a:ea typeface="Courier New" charset="0"/>
                        <a:cs typeface="Courier New"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1900" dirty="0">
                          <a:solidFill>
                            <a:srgbClr val="1B2530"/>
                          </a:solidFill>
                          <a:latin typeface="Calibri" pitchFamily="34" charset="0"/>
                          <a:ea typeface="Calibri" pitchFamily="34" charset="-122"/>
                          <a:cs typeface="Calibri" pitchFamily="34" charset="-120"/>
                        </a:rPr>
                        <a:t>temporaries</a:t>
                      </a:r>
                      <a:endParaRPr lang="en-US" sz="19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1900" dirty="0">
                          <a:solidFill>
                            <a:srgbClr val="1B2530"/>
                          </a:solidFill>
                          <a:latin typeface="Calibri" pitchFamily="34" charset="0"/>
                          <a:ea typeface="Calibri" pitchFamily="34" charset="-122"/>
                          <a:cs typeface="Calibri" pitchFamily="34" charset="-120"/>
                        </a:rPr>
                        <a:t>scratch values</a:t>
                      </a:r>
                      <a:endParaRPr lang="en-US" sz="19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1900" dirty="0">
                          <a:solidFill>
                            <a:srgbClr val="1B2530"/>
                          </a:solidFill>
                          <a:latin typeface="Calibri" pitchFamily="34" charset="0"/>
                          <a:ea typeface="Calibri" pitchFamily="34" charset="-122"/>
                          <a:cs typeface="Calibri" pitchFamily="34" charset="-120"/>
                        </a:rPr>
                        <a:t>no</a:t>
                      </a:r>
                      <a:endParaRPr lang="en-US" sz="19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r>
              <a:tr h="0">
                <a:tc>
                  <a:txBody>
                    <a:bodyPr/>
                    <a:lstStyle/>
                    <a:p>
                      <a:pPr algn="l" indent="0" marL="0">
                        <a:buNone/>
                      </a:pPr>
                      <a:r>
                        <a:rPr lang="en-US" sz="1900" dirty="0">
                          <a:solidFill>
                            <a:srgbClr val="1B2530"/>
                          </a:solidFill>
                          <a:latin typeface="Courier New" pitchFamily="34" charset="0"/>
                          <a:ea typeface="Courier New" pitchFamily="34" charset="-122"/>
                          <a:cs typeface="Courier New" pitchFamily="34" charset="-120"/>
                        </a:rPr>
                        <a:t>s0 - s11</a:t>
                      </a:r>
                      <a:endParaRPr lang="en-US" sz="1900" dirty="0">
                        <a:latin typeface="Courier New" charset="0"/>
                        <a:ea typeface="Courier New" charset="0"/>
                        <a:cs typeface="Courier New"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900" dirty="0">
                          <a:solidFill>
                            <a:srgbClr val="1B2530"/>
                          </a:solidFill>
                          <a:latin typeface="Calibri" pitchFamily="34" charset="0"/>
                          <a:ea typeface="Calibri" pitchFamily="34" charset="-122"/>
                          <a:cs typeface="Calibri" pitchFamily="34" charset="-120"/>
                        </a:rPr>
                        <a:t>saved</a:t>
                      </a:r>
                      <a:endParaRPr lang="en-US" sz="19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900" dirty="0">
                          <a:solidFill>
                            <a:srgbClr val="1B2530"/>
                          </a:solidFill>
                          <a:latin typeface="Calibri" pitchFamily="34" charset="0"/>
                          <a:ea typeface="Calibri" pitchFamily="34" charset="-122"/>
                          <a:cs typeface="Calibri" pitchFamily="34" charset="-120"/>
                        </a:rPr>
                        <a:t>values a call promises to preserve</a:t>
                      </a:r>
                      <a:endParaRPr lang="en-US" sz="19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900" dirty="0">
                          <a:solidFill>
                            <a:srgbClr val="1B2530"/>
                          </a:solidFill>
                          <a:latin typeface="Calibri" pitchFamily="34" charset="0"/>
                          <a:ea typeface="Calibri" pitchFamily="34" charset="-122"/>
                          <a:cs typeface="Calibri" pitchFamily="34" charset="-120"/>
                        </a:rPr>
                        <a:t>yes</a:t>
                      </a:r>
                      <a:endParaRPr lang="en-US" sz="19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r h="0">
                <a:tc>
                  <a:txBody>
                    <a:bodyPr/>
                    <a:lstStyle/>
                    <a:p>
                      <a:pPr algn="l" indent="0" marL="0">
                        <a:buNone/>
                      </a:pPr>
                      <a:r>
                        <a:rPr lang="en-US" sz="1900" dirty="0">
                          <a:solidFill>
                            <a:srgbClr val="1B2530"/>
                          </a:solidFill>
                          <a:latin typeface="Courier New" pitchFamily="34" charset="0"/>
                          <a:ea typeface="Courier New" pitchFamily="34" charset="-122"/>
                          <a:cs typeface="Courier New" pitchFamily="34" charset="-120"/>
                        </a:rPr>
                        <a:t>ra</a:t>
                      </a:r>
                      <a:endParaRPr lang="en-US" sz="1900" dirty="0">
                        <a:latin typeface="Courier New" charset="0"/>
                        <a:ea typeface="Courier New" charset="0"/>
                        <a:cs typeface="Courier New"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1900" dirty="0">
                          <a:solidFill>
                            <a:srgbClr val="1B2530"/>
                          </a:solidFill>
                          <a:latin typeface="Calibri" pitchFamily="34" charset="0"/>
                          <a:ea typeface="Calibri" pitchFamily="34" charset="-122"/>
                          <a:cs typeface="Calibri" pitchFamily="34" charset="-120"/>
                        </a:rPr>
                        <a:t>return address</a:t>
                      </a:r>
                      <a:endParaRPr lang="en-US" sz="19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1900" dirty="0">
                          <a:solidFill>
                            <a:srgbClr val="1B2530"/>
                          </a:solidFill>
                          <a:latin typeface="Calibri" pitchFamily="34" charset="0"/>
                          <a:ea typeface="Calibri" pitchFamily="34" charset="-122"/>
                          <a:cs typeface="Calibri" pitchFamily="34" charset="-120"/>
                        </a:rPr>
                        <a:t>where ret jumps back to</a:t>
                      </a:r>
                      <a:endParaRPr lang="en-US" sz="19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1900" dirty="0">
                          <a:solidFill>
                            <a:srgbClr val="1B2530"/>
                          </a:solidFill>
                          <a:latin typeface="Calibri" pitchFamily="34" charset="0"/>
                          <a:ea typeface="Calibri" pitchFamily="34" charset="-122"/>
                          <a:cs typeface="Calibri" pitchFamily="34" charset="-120"/>
                        </a:rPr>
                        <a:t>no: save it yourself</a:t>
                      </a:r>
                      <a:endParaRPr lang="en-US" sz="19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r>
              <a:tr h="0">
                <a:tc>
                  <a:txBody>
                    <a:bodyPr/>
                    <a:lstStyle/>
                    <a:p>
                      <a:pPr algn="l" indent="0" marL="0">
                        <a:buNone/>
                      </a:pPr>
                      <a:r>
                        <a:rPr lang="en-US" sz="1900" dirty="0">
                          <a:solidFill>
                            <a:srgbClr val="1B2530"/>
                          </a:solidFill>
                          <a:latin typeface="Courier New" pitchFamily="34" charset="0"/>
                          <a:ea typeface="Courier New" pitchFamily="34" charset="-122"/>
                          <a:cs typeface="Courier New" pitchFamily="34" charset="-120"/>
                        </a:rPr>
                        <a:t>sp</a:t>
                      </a:r>
                      <a:endParaRPr lang="en-US" sz="1900" dirty="0">
                        <a:latin typeface="Courier New" charset="0"/>
                        <a:ea typeface="Courier New" charset="0"/>
                        <a:cs typeface="Courier New"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900" dirty="0">
                          <a:solidFill>
                            <a:srgbClr val="1B2530"/>
                          </a:solidFill>
                          <a:latin typeface="Calibri" pitchFamily="34" charset="0"/>
                          <a:ea typeface="Calibri" pitchFamily="34" charset="-122"/>
                          <a:cs typeface="Calibri" pitchFamily="34" charset="-120"/>
                        </a:rPr>
                        <a:t>stack pointer</a:t>
                      </a:r>
                      <a:endParaRPr lang="en-US" sz="19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900" dirty="0">
                          <a:solidFill>
                            <a:srgbClr val="1B2530"/>
                          </a:solidFill>
                          <a:latin typeface="Calibri" pitchFamily="34" charset="0"/>
                          <a:ea typeface="Calibri" pitchFamily="34" charset="-122"/>
                          <a:cs typeface="Calibri" pitchFamily="34" charset="-120"/>
                        </a:rPr>
                        <a:t>top of the stack, kept 16-byte aligned</a:t>
                      </a:r>
                      <a:endParaRPr lang="en-US" sz="19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900" dirty="0">
                          <a:solidFill>
                            <a:srgbClr val="1B2530"/>
                          </a:solidFill>
                          <a:latin typeface="Calibri" pitchFamily="34" charset="0"/>
                          <a:ea typeface="Calibri" pitchFamily="34" charset="-122"/>
                          <a:cs typeface="Calibri" pitchFamily="34" charset="-120"/>
                        </a:rPr>
                        <a:t>yes</a:t>
                      </a:r>
                      <a:endParaRPr lang="en-US" sz="19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r h="0">
                <a:tc>
                  <a:txBody>
                    <a:bodyPr/>
                    <a:lstStyle/>
                    <a:p>
                      <a:pPr algn="l" indent="0" marL="0">
                        <a:buNone/>
                      </a:pPr>
                      <a:r>
                        <a:rPr lang="en-US" sz="1900" dirty="0">
                          <a:solidFill>
                            <a:srgbClr val="1B2530"/>
                          </a:solidFill>
                          <a:latin typeface="Courier New" pitchFamily="34" charset="0"/>
                          <a:ea typeface="Courier New" pitchFamily="34" charset="-122"/>
                          <a:cs typeface="Courier New" pitchFamily="34" charset="-120"/>
                        </a:rPr>
                        <a:t>zero</a:t>
                      </a:r>
                      <a:endParaRPr lang="en-US" sz="1900" dirty="0">
                        <a:latin typeface="Courier New" charset="0"/>
                        <a:ea typeface="Courier New" charset="0"/>
                        <a:cs typeface="Courier New"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1900" dirty="0">
                          <a:solidFill>
                            <a:srgbClr val="1B2530"/>
                          </a:solidFill>
                          <a:latin typeface="Calibri" pitchFamily="34" charset="0"/>
                          <a:ea typeface="Calibri" pitchFamily="34" charset="-122"/>
                          <a:cs typeface="Calibri" pitchFamily="34" charset="-120"/>
                        </a:rPr>
                        <a:t>zero</a:t>
                      </a:r>
                      <a:endParaRPr lang="en-US" sz="19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1900" dirty="0">
                          <a:solidFill>
                            <a:srgbClr val="1B2530"/>
                          </a:solidFill>
                          <a:latin typeface="Calibri" pitchFamily="34" charset="0"/>
                          <a:ea typeface="Calibri" pitchFamily="34" charset="-122"/>
                          <a:cs typeface="Calibri" pitchFamily="34" charset="-120"/>
                        </a:rPr>
                        <a:t>always reads as 0; writes are ignored</a:t>
                      </a:r>
                      <a:endParaRPr lang="en-US" sz="19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1900" dirty="0">
                          <a:solidFill>
                            <a:srgbClr val="1B2530"/>
                          </a:solidFill>
                          <a:latin typeface="Calibri" pitchFamily="34" charset="0"/>
                          <a:ea typeface="Calibri" pitchFamily="34" charset="-122"/>
                          <a:cs typeface="Calibri" pitchFamily="34" charset="-120"/>
                        </a:rPr>
                        <a:t>-</a:t>
                      </a:r>
                      <a:endParaRPr lang="en-US" sz="19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r>
            </a:tbl>
          </a:graphicData>
        </a:graphic>
      </p:graphicFrame>
      <p:sp>
        <p:nvSpPr>
          <p:cNvPr id="4" name="Text 1"/>
          <p:cNvSpPr txBox="1"/>
          <p:nvPr/>
        </p:nvSpPr>
        <p:spPr>
          <a:xfrm>
            <a:off x="548640" y="5760720"/>
            <a:ext cx="11094415" cy="411480"/>
          </a:xfrm>
          <a:prstGeom prst="rect">
            <a:avLst/>
          </a:prstGeom>
          <a:noFill/>
          <a:ln/>
        </p:spPr>
        <p:txBody>
          <a:bodyPr wrap="square" lIns="0" tIns="0" rIns="0" bIns="0" rtlCol="0" anchor="ctr"/>
          <a:lstStyle/>
          <a:p>
            <a:pPr indent="0" marL="0">
              <a:buNone/>
            </a:pPr>
            <a:r>
              <a:rPr lang="en-US" sz="1500" i="1" dirty="0">
                <a:solidFill>
                  <a:srgbClr val="5B6B78"/>
                </a:solidFill>
                <a:latin typeface="Calibri" pitchFamily="34" charset="0"/>
                <a:ea typeface="Calibri" pitchFamily="34" charset="-122"/>
                <a:cs typeface="Calibri" pitchFamily="34" charset="-120"/>
              </a:rPr>
              <a:t>The roles come from an agreement, the calling convention (ABI), not from the hardware.</a:t>
            </a:r>
            <a:endParaRPr lang="en-US" sz="15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The contract: three functions that you write</a:t>
            </a:r>
            <a:endParaRPr lang="en-US" sz="3200" dirty="0"/>
          </a:p>
        </p:txBody>
      </p:sp>
      <p:sp>
        <p:nvSpPr>
          <p:cNvPr id="3" name="Shape 1"/>
          <p:cNvSpPr/>
          <p:nvPr/>
        </p:nvSpPr>
        <p:spPr>
          <a:xfrm>
            <a:off x="548640" y="1874520"/>
            <a:ext cx="3454298" cy="2468880"/>
          </a:xfrm>
          <a:prstGeom prst="roundRect">
            <a:avLst>
              <a:gd name="adj" fmla="val 2963"/>
            </a:avLst>
          </a:prstGeom>
          <a:solidFill>
            <a:srgbClr val="EEF2F4"/>
          </a:solidFill>
          <a:ln w="12700">
            <a:solidFill>
              <a:srgbClr val="EEF2F4"/>
            </a:solidFill>
            <a:prstDash val="solid"/>
          </a:ln>
        </p:spPr>
      </p:sp>
      <p:sp>
        <p:nvSpPr>
          <p:cNvPr id="4" name="Text 2"/>
          <p:cNvSpPr txBox="1"/>
          <p:nvPr/>
        </p:nvSpPr>
        <p:spPr>
          <a:xfrm>
            <a:off x="685800" y="2057400"/>
            <a:ext cx="3179978" cy="685800"/>
          </a:xfrm>
          <a:prstGeom prst="roundRect">
            <a:avLst>
              <a:gd name="adj" fmla="val 10667"/>
            </a:avLst>
          </a:prstGeom>
          <a:solidFill>
            <a:srgbClr val="0E7C86"/>
          </a:solidFill>
          <a:ln>
            <a:solidFill>
              <a:srgbClr val="0E7C86"/>
            </a:solidFill>
          </a:ln>
        </p:spPr>
        <p:txBody>
          <a:bodyPr wrap="square" lIns="0" tIns="0" rIns="0" bIns="0" rtlCol="0" anchor="ctr"/>
          <a:lstStyle/>
          <a:p>
            <a:pPr algn="ctr" indent="0" marL="0">
              <a:buNone/>
            </a:pPr>
            <a:r>
              <a:rPr lang="en-US" sz="1900" b="1" dirty="0">
                <a:solidFill>
                  <a:srgbClr val="FFFFFF"/>
                </a:solidFill>
                <a:latin typeface="Calibri" pitchFamily="34" charset="0"/>
                <a:ea typeface="Calibri" pitchFamily="34" charset="-122"/>
                <a:cs typeface="Calibri" pitchFamily="34" charset="-120"/>
              </a:rPr>
              <a:t>init</a:t>
            </a:r>
            <a:endParaRPr lang="en-US" sz="1900" dirty="0"/>
          </a:p>
        </p:txBody>
      </p:sp>
      <p:sp>
        <p:nvSpPr>
          <p:cNvPr id="5" name="Text 3"/>
          <p:cNvSpPr txBox="1"/>
          <p:nvPr/>
        </p:nvSpPr>
        <p:spPr>
          <a:xfrm>
            <a:off x="685800" y="2880360"/>
            <a:ext cx="3179978" cy="1325880"/>
          </a:xfrm>
          <a:prstGeom prst="rect">
            <a:avLst/>
          </a:prstGeom>
          <a:noFill/>
          <a:ln/>
        </p:spPr>
        <p:txBody>
          <a:bodyPr wrap="square" lIns="0" tIns="0" rIns="0" bIns="0" rtlCol="0" anchor="ctr"/>
          <a:lstStyle/>
          <a:p>
            <a:pPr algn="ctr" indent="0" marL="0">
              <a:buNone/>
            </a:pPr>
            <a:r>
              <a:rPr lang="en-US" sz="1700" dirty="0">
                <a:solidFill>
                  <a:srgbClr val="1B2530"/>
                </a:solidFill>
                <a:latin typeface="Calibri" pitchFamily="34" charset="0"/>
                <a:ea typeface="Calibri" pitchFamily="34" charset="-122"/>
                <a:cs typeface="Calibri" pitchFamily="34" charset="-120"/>
              </a:rPr>
              <a:t>called once, when the cartridge starts: set up your state</a:t>
            </a:r>
            <a:endParaRPr lang="en-US" sz="1700" dirty="0"/>
          </a:p>
        </p:txBody>
      </p:sp>
      <p:sp>
        <p:nvSpPr>
          <p:cNvPr id="6" name="Shape 4"/>
          <p:cNvSpPr/>
          <p:nvPr/>
        </p:nvSpPr>
        <p:spPr>
          <a:xfrm>
            <a:off x="4048658" y="2962656"/>
            <a:ext cx="274320" cy="292608"/>
          </a:xfrm>
          <a:prstGeom prst="rightArrow">
            <a:avLst/>
          </a:prstGeom>
          <a:solidFill>
            <a:srgbClr val="5B6B78"/>
          </a:solidFill>
          <a:ln w="12700">
            <a:solidFill>
              <a:srgbClr val="5B6B78"/>
            </a:solidFill>
            <a:prstDash val="solid"/>
          </a:ln>
        </p:spPr>
      </p:sp>
      <p:sp>
        <p:nvSpPr>
          <p:cNvPr id="7" name="Shape 5"/>
          <p:cNvSpPr/>
          <p:nvPr/>
        </p:nvSpPr>
        <p:spPr>
          <a:xfrm>
            <a:off x="4368698" y="1874520"/>
            <a:ext cx="3454298" cy="2468880"/>
          </a:xfrm>
          <a:prstGeom prst="roundRect">
            <a:avLst>
              <a:gd name="adj" fmla="val 2963"/>
            </a:avLst>
          </a:prstGeom>
          <a:solidFill>
            <a:srgbClr val="EEF2F4"/>
          </a:solidFill>
          <a:ln w="12700">
            <a:solidFill>
              <a:srgbClr val="EEF2F4"/>
            </a:solidFill>
            <a:prstDash val="solid"/>
          </a:ln>
        </p:spPr>
      </p:sp>
      <p:sp>
        <p:nvSpPr>
          <p:cNvPr id="8" name="Text 6"/>
          <p:cNvSpPr txBox="1"/>
          <p:nvPr/>
        </p:nvSpPr>
        <p:spPr>
          <a:xfrm>
            <a:off x="4505858" y="2057400"/>
            <a:ext cx="3179978" cy="685800"/>
          </a:xfrm>
          <a:prstGeom prst="roundRect">
            <a:avLst>
              <a:gd name="adj" fmla="val 10667"/>
            </a:avLst>
          </a:prstGeom>
          <a:solidFill>
            <a:srgbClr val="C7791B"/>
          </a:solidFill>
          <a:ln>
            <a:solidFill>
              <a:srgbClr val="C7791B"/>
            </a:solidFill>
          </a:ln>
        </p:spPr>
        <p:txBody>
          <a:bodyPr wrap="square" lIns="0" tIns="0" rIns="0" bIns="0" rtlCol="0" anchor="ctr"/>
          <a:lstStyle/>
          <a:p>
            <a:pPr algn="ctr" indent="0" marL="0">
              <a:buNone/>
            </a:pPr>
            <a:r>
              <a:rPr lang="en-US" sz="1900" b="1" dirty="0">
                <a:solidFill>
                  <a:srgbClr val="FFFFFF"/>
                </a:solidFill>
                <a:latin typeface="Calibri" pitchFamily="34" charset="0"/>
                <a:ea typeface="Calibri" pitchFamily="34" charset="-122"/>
                <a:cs typeface="Calibri" pitchFamily="34" charset="-120"/>
              </a:rPr>
              <a:t>update</a:t>
            </a:r>
            <a:endParaRPr lang="en-US" sz="1900" dirty="0"/>
          </a:p>
        </p:txBody>
      </p:sp>
      <p:sp>
        <p:nvSpPr>
          <p:cNvPr id="9" name="Text 7"/>
          <p:cNvSpPr txBox="1"/>
          <p:nvPr/>
        </p:nvSpPr>
        <p:spPr>
          <a:xfrm>
            <a:off x="4505858" y="2880360"/>
            <a:ext cx="3179978" cy="1325880"/>
          </a:xfrm>
          <a:prstGeom prst="rect">
            <a:avLst/>
          </a:prstGeom>
          <a:noFill/>
          <a:ln/>
        </p:spPr>
        <p:txBody>
          <a:bodyPr wrap="square" lIns="0" tIns="0" rIns="0" bIns="0" rtlCol="0" anchor="ctr"/>
          <a:lstStyle/>
          <a:p>
            <a:pPr algn="ctr" indent="0" marL="0">
              <a:buNone/>
            </a:pPr>
            <a:r>
              <a:rPr lang="en-US" sz="1700" dirty="0">
                <a:solidFill>
                  <a:srgbClr val="1B2530"/>
                </a:solidFill>
                <a:latin typeface="Calibri" pitchFamily="34" charset="0"/>
                <a:ea typeface="Calibri" pitchFamily="34" charset="-122"/>
                <a:cs typeface="Calibri" pitchFamily="34" charset="-120"/>
              </a:rPr>
              <a:t>called once per frame: read input, change the state</a:t>
            </a:r>
            <a:endParaRPr lang="en-US" sz="1700" dirty="0"/>
          </a:p>
        </p:txBody>
      </p:sp>
      <p:sp>
        <p:nvSpPr>
          <p:cNvPr id="10" name="Shape 8"/>
          <p:cNvSpPr/>
          <p:nvPr/>
        </p:nvSpPr>
        <p:spPr>
          <a:xfrm>
            <a:off x="7868717" y="2962656"/>
            <a:ext cx="274320" cy="292608"/>
          </a:xfrm>
          <a:prstGeom prst="rightArrow">
            <a:avLst/>
          </a:prstGeom>
          <a:solidFill>
            <a:srgbClr val="5B6B78"/>
          </a:solidFill>
          <a:ln w="12700">
            <a:solidFill>
              <a:srgbClr val="5B6B78"/>
            </a:solidFill>
            <a:prstDash val="solid"/>
          </a:ln>
        </p:spPr>
      </p:sp>
      <p:sp>
        <p:nvSpPr>
          <p:cNvPr id="11" name="Shape 9"/>
          <p:cNvSpPr/>
          <p:nvPr/>
        </p:nvSpPr>
        <p:spPr>
          <a:xfrm>
            <a:off x="8188757" y="1874520"/>
            <a:ext cx="3454298" cy="2468880"/>
          </a:xfrm>
          <a:prstGeom prst="roundRect">
            <a:avLst>
              <a:gd name="adj" fmla="val 2963"/>
            </a:avLst>
          </a:prstGeom>
          <a:solidFill>
            <a:srgbClr val="EEF2F4"/>
          </a:solidFill>
          <a:ln w="12700">
            <a:solidFill>
              <a:srgbClr val="EEF2F4"/>
            </a:solidFill>
            <a:prstDash val="solid"/>
          </a:ln>
        </p:spPr>
      </p:sp>
      <p:sp>
        <p:nvSpPr>
          <p:cNvPr id="12" name="Text 10"/>
          <p:cNvSpPr txBox="1"/>
          <p:nvPr/>
        </p:nvSpPr>
        <p:spPr>
          <a:xfrm>
            <a:off x="8325917" y="2057400"/>
            <a:ext cx="3179978" cy="685800"/>
          </a:xfrm>
          <a:prstGeom prst="roundRect">
            <a:avLst>
              <a:gd name="adj" fmla="val 10667"/>
            </a:avLst>
          </a:prstGeom>
          <a:solidFill>
            <a:srgbClr val="6B4FA0"/>
          </a:solidFill>
          <a:ln>
            <a:solidFill>
              <a:srgbClr val="6B4FA0"/>
            </a:solidFill>
          </a:ln>
        </p:spPr>
        <p:txBody>
          <a:bodyPr wrap="square" lIns="0" tIns="0" rIns="0" bIns="0" rtlCol="0" anchor="ctr"/>
          <a:lstStyle/>
          <a:p>
            <a:pPr algn="ctr" indent="0" marL="0">
              <a:buNone/>
            </a:pPr>
            <a:r>
              <a:rPr lang="en-US" sz="1900" b="1" dirty="0">
                <a:solidFill>
                  <a:srgbClr val="FFFFFF"/>
                </a:solidFill>
                <a:latin typeface="Calibri" pitchFamily="34" charset="0"/>
                <a:ea typeface="Calibri" pitchFamily="34" charset="-122"/>
                <a:cs typeface="Calibri" pitchFamily="34" charset="-120"/>
              </a:rPr>
              <a:t>draw</a:t>
            </a:r>
            <a:endParaRPr lang="en-US" sz="1900" dirty="0"/>
          </a:p>
        </p:txBody>
      </p:sp>
      <p:sp>
        <p:nvSpPr>
          <p:cNvPr id="13" name="Text 11"/>
          <p:cNvSpPr txBox="1"/>
          <p:nvPr/>
        </p:nvSpPr>
        <p:spPr>
          <a:xfrm>
            <a:off x="8325917" y="2880360"/>
            <a:ext cx="3179978" cy="1325880"/>
          </a:xfrm>
          <a:prstGeom prst="rect">
            <a:avLst/>
          </a:prstGeom>
          <a:noFill/>
          <a:ln/>
        </p:spPr>
        <p:txBody>
          <a:bodyPr wrap="square" lIns="0" tIns="0" rIns="0" bIns="0" rtlCol="0" anchor="ctr"/>
          <a:lstStyle/>
          <a:p>
            <a:pPr algn="ctr" indent="0" marL="0">
              <a:buNone/>
            </a:pPr>
            <a:r>
              <a:rPr lang="en-US" sz="1700" dirty="0">
                <a:solidFill>
                  <a:srgbClr val="1B2530"/>
                </a:solidFill>
                <a:latin typeface="Calibri" pitchFamily="34" charset="0"/>
                <a:ea typeface="Calibri" pitchFamily="34" charset="-122"/>
                <a:cs typeface="Calibri" pitchFamily="34" charset="-120"/>
              </a:rPr>
              <a:t>called once per frame: turn the state into a picture</a:t>
            </a:r>
            <a:endParaRPr lang="en-US" sz="1700" dirty="0"/>
          </a:p>
        </p:txBody>
      </p:sp>
      <p:sp>
        <p:nvSpPr>
          <p:cNvPr id="14" name="Shape 12"/>
          <p:cNvSpPr/>
          <p:nvPr/>
        </p:nvSpPr>
        <p:spPr>
          <a:xfrm>
            <a:off x="548640" y="4709160"/>
            <a:ext cx="11094415" cy="1463040"/>
          </a:xfrm>
          <a:prstGeom prst="roundRect">
            <a:avLst>
              <a:gd name="adj" fmla="val 5000"/>
            </a:avLst>
          </a:prstGeom>
          <a:solidFill>
            <a:srgbClr val="D8ECEE"/>
          </a:solidFill>
          <a:ln w="12700">
            <a:solidFill>
              <a:srgbClr val="D8ECEE"/>
            </a:solidFill>
            <a:prstDash val="solid"/>
          </a:ln>
        </p:spPr>
      </p:sp>
      <p:sp>
        <p:nvSpPr>
          <p:cNvPr id="15" name="Text 13"/>
          <p:cNvSpPr txBox="1"/>
          <p:nvPr/>
        </p:nvSpPr>
        <p:spPr>
          <a:xfrm>
            <a:off x="822960" y="4800600"/>
            <a:ext cx="10545775" cy="1280160"/>
          </a:xfrm>
          <a:prstGeom prst="rect">
            <a:avLst/>
          </a:prstGeom>
          <a:noFill/>
          <a:ln/>
        </p:spPr>
        <p:txBody>
          <a:bodyPr wrap="square" lIns="0" tIns="0" rIns="0" bIns="0" rtlCol="0" anchor="ctr"/>
          <a:lstStyle/>
          <a:p>
            <a:pPr indent="0" marL="0">
              <a:buNone/>
            </a:pPr>
            <a:r>
              <a:rPr lang="en-US" sz="2000" dirty="0">
                <a:solidFill>
                  <a:srgbClr val="1B2530"/>
                </a:solidFill>
                <a:latin typeface="Calibri" pitchFamily="34" charset="0"/>
                <a:ea typeface="Calibri" pitchFamily="34" charset="-122"/>
                <a:cs typeface="Calibri" pitchFamily="34" charset="-120"/>
              </a:rPr>
              <a:t>The firmware finds the three functions by name: a prefix that you choose, followed by _init, _update and _draw. That is the whole contract between your game and the machine.</a:t>
            </a:r>
            <a:endParaRPr lang="en-US" sz="20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548640" y="640080"/>
            <a:ext cx="168250" cy="168250"/>
          </a:xfrm>
          <a:prstGeom prst="rect">
            <a:avLst/>
          </a:prstGeom>
          <a:solidFill>
            <a:srgbClr val="0E7C86"/>
          </a:solidFill>
          <a:ln w="12700">
            <a:solidFill>
              <a:srgbClr val="0E7C86"/>
            </a:solidFill>
            <a:prstDash val="solid"/>
          </a:ln>
        </p:spPr>
      </p:sp>
      <p:sp>
        <p:nvSpPr>
          <p:cNvPr id="3" name="Shape 1"/>
          <p:cNvSpPr/>
          <p:nvPr/>
        </p:nvSpPr>
        <p:spPr>
          <a:xfrm>
            <a:off x="731520" y="640080"/>
            <a:ext cx="168250" cy="168250"/>
          </a:xfrm>
          <a:prstGeom prst="rect">
            <a:avLst/>
          </a:prstGeom>
          <a:solidFill>
            <a:srgbClr val="C7791B"/>
          </a:solidFill>
          <a:ln w="12700">
            <a:solidFill>
              <a:srgbClr val="C7791B"/>
            </a:solidFill>
            <a:prstDash val="solid"/>
          </a:ln>
        </p:spPr>
      </p:sp>
      <p:sp>
        <p:nvSpPr>
          <p:cNvPr id="4" name="Shape 2"/>
          <p:cNvSpPr/>
          <p:nvPr/>
        </p:nvSpPr>
        <p:spPr>
          <a:xfrm>
            <a:off x="731520" y="822960"/>
            <a:ext cx="168250" cy="168250"/>
          </a:xfrm>
          <a:prstGeom prst="rect">
            <a:avLst/>
          </a:prstGeom>
          <a:solidFill>
            <a:srgbClr val="0E7C86"/>
          </a:solidFill>
          <a:ln w="12700">
            <a:solidFill>
              <a:srgbClr val="0E7C86"/>
            </a:solidFill>
            <a:prstDash val="solid"/>
          </a:ln>
        </p:spPr>
      </p:sp>
      <p:sp>
        <p:nvSpPr>
          <p:cNvPr id="5" name="Text 3"/>
          <p:cNvSpPr txBox="1"/>
          <p:nvPr/>
        </p:nvSpPr>
        <p:spPr>
          <a:xfrm>
            <a:off x="548640" y="1828800"/>
            <a:ext cx="2743200" cy="1097280"/>
          </a:xfrm>
          <a:prstGeom prst="rect">
            <a:avLst/>
          </a:prstGeom>
          <a:noFill/>
          <a:ln/>
        </p:spPr>
        <p:txBody>
          <a:bodyPr wrap="square" lIns="0" tIns="0" rIns="0" bIns="0" rtlCol="0" anchor="ctr"/>
          <a:lstStyle/>
          <a:p>
            <a:pPr indent="0" marL="0">
              <a:buNone/>
            </a:pPr>
            <a:r>
              <a:rPr lang="en-US" sz="7200" b="1" dirty="0">
                <a:solidFill>
                  <a:srgbClr val="C7791B"/>
                </a:solidFill>
                <a:latin typeface="Cambria" pitchFamily="34" charset="0"/>
                <a:ea typeface="Cambria" pitchFamily="34" charset="-122"/>
                <a:cs typeface="Cambria" pitchFamily="34" charset="-120"/>
              </a:rPr>
              <a:t>02</a:t>
            </a:r>
            <a:endParaRPr lang="en-US" sz="7200" dirty="0"/>
          </a:p>
        </p:txBody>
      </p:sp>
      <p:sp>
        <p:nvSpPr>
          <p:cNvPr id="6" name="Text 4"/>
          <p:cNvSpPr txBox="1"/>
          <p:nvPr/>
        </p:nvSpPr>
        <p:spPr>
          <a:xfrm>
            <a:off x="548640" y="3017520"/>
            <a:ext cx="11094415" cy="1188720"/>
          </a:xfrm>
          <a:prstGeom prst="rect">
            <a:avLst/>
          </a:prstGeom>
          <a:noFill/>
          <a:ln/>
        </p:spPr>
        <p:txBody>
          <a:bodyPr wrap="square" lIns="0" tIns="0" rIns="0" bIns="0" rtlCol="0" anchor="ctr"/>
          <a:lstStyle/>
          <a:p>
            <a:pPr indent="0" marL="0">
              <a:buNone/>
            </a:pPr>
            <a:r>
              <a:rPr lang="en-US" sz="4400" b="1" dirty="0">
                <a:solidFill>
                  <a:srgbClr val="FFFFFF"/>
                </a:solidFill>
                <a:latin typeface="Cambria" pitchFamily="34" charset="0"/>
                <a:ea typeface="Cambria" pitchFamily="34" charset="-122"/>
                <a:cs typeface="Cambria" pitchFamily="34" charset="-120"/>
              </a:rPr>
              <a:t>Your first cartridge</a:t>
            </a:r>
            <a:endParaRPr lang="en-US" sz="4400" dirty="0"/>
          </a:p>
        </p:txBody>
      </p:sp>
      <p:sp>
        <p:nvSpPr>
          <p:cNvPr id="7" name="Text 5"/>
          <p:cNvSpPr txBox="1"/>
          <p:nvPr/>
        </p:nvSpPr>
        <p:spPr>
          <a:xfrm>
            <a:off x="548640" y="4343400"/>
            <a:ext cx="11094415" cy="1097280"/>
          </a:xfrm>
          <a:prstGeom prst="rect">
            <a:avLst/>
          </a:prstGeom>
          <a:noFill/>
          <a:ln/>
        </p:spPr>
        <p:txBody>
          <a:bodyPr wrap="square" lIns="0" tIns="0" rIns="0" bIns="0" rtlCol="0" anchor="t"/>
          <a:lstStyle/>
          <a:p>
            <a:pPr indent="0" marL="0">
              <a:buNone/>
            </a:pPr>
            <a:r>
              <a:rPr lang="en-US" sz="2200" dirty="0">
                <a:solidFill>
                  <a:srgbClr val="CFE3EA"/>
                </a:solidFill>
                <a:latin typeface="Calibri" pitchFamily="34" charset="0"/>
                <a:ea typeface="Calibri" pitchFamily="34" charset="-122"/>
                <a:cs typeface="Calibri" pitchFamily="34" charset="-120"/>
              </a:rPr>
              <a:t>Four small steps, each one a complete program that runs.</a:t>
            </a:r>
            <a:endParaRPr lang="en-US" sz="22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CFE3EA"/>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Step 1: the smallest program that runs</a:t>
            </a:r>
            <a:endParaRPr lang="en-US" sz="3200" dirty="0"/>
          </a:p>
        </p:txBody>
      </p:sp>
      <p:sp>
        <p:nvSpPr>
          <p:cNvPr id="3" name="Shape 1"/>
          <p:cNvSpPr/>
          <p:nvPr/>
        </p:nvSpPr>
        <p:spPr>
          <a:xfrm>
            <a:off x="548640" y="1417320"/>
            <a:ext cx="7406640" cy="4754880"/>
          </a:xfrm>
          <a:prstGeom prst="roundRect">
            <a:avLst>
              <a:gd name="adj" fmla="val 1538"/>
            </a:avLst>
          </a:prstGeom>
          <a:solidFill>
            <a:srgbClr val="12202B"/>
          </a:solidFill>
          <a:ln w="12700">
            <a:solidFill>
              <a:srgbClr val="12202B"/>
            </a:solidFill>
            <a:prstDash val="solid"/>
          </a:ln>
        </p:spPr>
      </p:sp>
      <p:sp>
        <p:nvSpPr>
          <p:cNvPr id="4" name="Text 2"/>
          <p:cNvSpPr txBox="1"/>
          <p:nvPr/>
        </p:nvSpPr>
        <p:spPr>
          <a:xfrm>
            <a:off x="777240" y="1600200"/>
            <a:ext cx="6949440" cy="4389120"/>
          </a:xfrm>
          <a:prstGeom prst="rect">
            <a:avLst/>
          </a:prstGeom>
          <a:noFill/>
          <a:ln/>
        </p:spPr>
        <p:txBody>
          <a:bodyPr wrap="square" lIns="0" tIns="0" rIns="0" bIns="0" rtlCol="0" anchor="t"/>
          <a:lstStyle/>
          <a:p>
            <a:pPr indent="0" marL="0">
              <a:buNone/>
            </a:pPr>
            <a:r>
              <a:rPr lang="en-US" sz="1800" dirty="0">
                <a:solidFill>
                  <a:srgbClr val="8FB3A0"/>
                </a:solidFill>
                <a:latin typeface="Courier New" pitchFamily="34" charset="0"/>
                <a:ea typeface="Courier New" pitchFamily="34" charset="-122"/>
                <a:cs typeface="Courier New" pitchFamily="34" charset="-120"/>
              </a:rPr>
              <a:t># Assembly Lab 1: the smallest program that runs</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.option norelax</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.section .text</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.global first_init</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.global first_update</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.global first_draw</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first_init:</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ret</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first_update:</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ret</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first_draw:</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ret</a:t>
            </a:r>
            <a:endParaRPr lang="en-US" sz="1800" dirty="0"/>
          </a:p>
        </p:txBody>
      </p:sp>
      <p:sp>
        <p:nvSpPr>
          <p:cNvPr id="5" name="Shape 3"/>
          <p:cNvSpPr/>
          <p:nvPr/>
        </p:nvSpPr>
        <p:spPr>
          <a:xfrm>
            <a:off x="8229600" y="1417320"/>
            <a:ext cx="3413455" cy="1037844"/>
          </a:xfrm>
          <a:prstGeom prst="roundRect">
            <a:avLst>
              <a:gd name="adj" fmla="val 7048"/>
            </a:avLst>
          </a:prstGeom>
          <a:solidFill>
            <a:srgbClr val="EEF2F4"/>
          </a:solidFill>
          <a:ln w="12700">
            <a:solidFill>
              <a:srgbClr val="EEF2F4"/>
            </a:solidFill>
            <a:prstDash val="solid"/>
          </a:ln>
        </p:spPr>
      </p:sp>
      <p:sp>
        <p:nvSpPr>
          <p:cNvPr id="6" name="Text 4"/>
          <p:cNvSpPr txBox="1"/>
          <p:nvPr/>
        </p:nvSpPr>
        <p:spPr>
          <a:xfrm>
            <a:off x="8394192" y="1581912"/>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7" name="Text 5"/>
          <p:cNvSpPr txBox="1"/>
          <p:nvPr/>
        </p:nvSpPr>
        <p:spPr>
          <a:xfrm>
            <a:off x="8915400" y="1554480"/>
            <a:ext cx="254477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.option norelax keeps the layout of the cartridge predictable: every PRG32 example starts with it</a:t>
            </a:r>
            <a:endParaRPr lang="en-US" sz="1200" dirty="0"/>
          </a:p>
        </p:txBody>
      </p:sp>
      <p:sp>
        <p:nvSpPr>
          <p:cNvPr id="8" name="Shape 6"/>
          <p:cNvSpPr/>
          <p:nvPr/>
        </p:nvSpPr>
        <p:spPr>
          <a:xfrm>
            <a:off x="8229600" y="2656332"/>
            <a:ext cx="3413455" cy="1037844"/>
          </a:xfrm>
          <a:prstGeom prst="roundRect">
            <a:avLst>
              <a:gd name="adj" fmla="val 7048"/>
            </a:avLst>
          </a:prstGeom>
          <a:solidFill>
            <a:srgbClr val="EEF2F4"/>
          </a:solidFill>
          <a:ln w="12700">
            <a:solidFill>
              <a:srgbClr val="EEF2F4"/>
            </a:solidFill>
            <a:prstDash val="solid"/>
          </a:ln>
        </p:spPr>
      </p:sp>
      <p:sp>
        <p:nvSpPr>
          <p:cNvPr id="9" name="Text 7"/>
          <p:cNvSpPr txBox="1"/>
          <p:nvPr/>
        </p:nvSpPr>
        <p:spPr>
          <a:xfrm>
            <a:off x="8394192" y="2820924"/>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0" name="Text 8"/>
          <p:cNvSpPr txBox="1"/>
          <p:nvPr/>
        </p:nvSpPr>
        <p:spPr>
          <a:xfrm>
            <a:off x="8915400" y="2793492"/>
            <a:ext cx="254477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.section .text says that what follows is executable code</a:t>
            </a:r>
            <a:endParaRPr lang="en-US" sz="1200" dirty="0"/>
          </a:p>
        </p:txBody>
      </p:sp>
      <p:sp>
        <p:nvSpPr>
          <p:cNvPr id="11" name="Shape 9"/>
          <p:cNvSpPr/>
          <p:nvPr/>
        </p:nvSpPr>
        <p:spPr>
          <a:xfrm>
            <a:off x="8229600" y="3895344"/>
            <a:ext cx="3413455" cy="1037844"/>
          </a:xfrm>
          <a:prstGeom prst="roundRect">
            <a:avLst>
              <a:gd name="adj" fmla="val 7048"/>
            </a:avLst>
          </a:prstGeom>
          <a:solidFill>
            <a:srgbClr val="EEF2F4"/>
          </a:solidFill>
          <a:ln w="12700">
            <a:solidFill>
              <a:srgbClr val="EEF2F4"/>
            </a:solidFill>
            <a:prstDash val="solid"/>
          </a:ln>
        </p:spPr>
      </p:sp>
      <p:sp>
        <p:nvSpPr>
          <p:cNvPr id="12" name="Text 10"/>
          <p:cNvSpPr txBox="1"/>
          <p:nvPr/>
        </p:nvSpPr>
        <p:spPr>
          <a:xfrm>
            <a:off x="8394192" y="4059936"/>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3" name="Text 11"/>
          <p:cNvSpPr txBox="1"/>
          <p:nvPr/>
        </p:nvSpPr>
        <p:spPr>
          <a:xfrm>
            <a:off x="8915400" y="4032504"/>
            <a:ext cx="254477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.global makes a label visible to the firmware, which finds your functions by name</a:t>
            </a:r>
            <a:endParaRPr lang="en-US" sz="1200" dirty="0"/>
          </a:p>
        </p:txBody>
      </p:sp>
      <p:sp>
        <p:nvSpPr>
          <p:cNvPr id="14" name="Shape 12"/>
          <p:cNvSpPr/>
          <p:nvPr/>
        </p:nvSpPr>
        <p:spPr>
          <a:xfrm>
            <a:off x="8229600" y="5134356"/>
            <a:ext cx="3413455" cy="1037844"/>
          </a:xfrm>
          <a:prstGeom prst="roundRect">
            <a:avLst>
              <a:gd name="adj" fmla="val 7048"/>
            </a:avLst>
          </a:prstGeom>
          <a:solidFill>
            <a:srgbClr val="EEF2F4"/>
          </a:solidFill>
          <a:ln w="12700">
            <a:solidFill>
              <a:srgbClr val="EEF2F4"/>
            </a:solidFill>
            <a:prstDash val="solid"/>
          </a:ln>
        </p:spPr>
      </p:sp>
      <p:sp>
        <p:nvSpPr>
          <p:cNvPr id="15" name="Text 13"/>
          <p:cNvSpPr txBox="1"/>
          <p:nvPr/>
        </p:nvSpPr>
        <p:spPr>
          <a:xfrm>
            <a:off x="8394192" y="5298948"/>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16" name="Text 14"/>
          <p:cNvSpPr txBox="1"/>
          <p:nvPr/>
        </p:nvSpPr>
        <p:spPr>
          <a:xfrm>
            <a:off x="8915400" y="5271516"/>
            <a:ext cx="254477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ret returns to the caller: three functions that do nothing, correctly</a:t>
            </a:r>
            <a:endParaRPr lang="en-US" sz="12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Build it, run it</a:t>
            </a:r>
            <a:endParaRPr lang="en-US" sz="3200" dirty="0"/>
          </a:p>
        </p:txBody>
      </p:sp>
      <p:sp>
        <p:nvSpPr>
          <p:cNvPr id="3" name="Shape 1"/>
          <p:cNvSpPr/>
          <p:nvPr/>
        </p:nvSpPr>
        <p:spPr>
          <a:xfrm>
            <a:off x="548640" y="1417320"/>
            <a:ext cx="11094415" cy="4754880"/>
          </a:xfrm>
          <a:prstGeom prst="roundRect">
            <a:avLst>
              <a:gd name="adj" fmla="val 1538"/>
            </a:avLst>
          </a:prstGeom>
          <a:solidFill>
            <a:srgbClr val="12202B"/>
          </a:solidFill>
          <a:ln w="12700">
            <a:solidFill>
              <a:srgbClr val="12202B"/>
            </a:solidFill>
            <a:prstDash val="solid"/>
          </a:ln>
        </p:spPr>
      </p:sp>
      <p:sp>
        <p:nvSpPr>
          <p:cNvPr id="4" name="Text 2"/>
          <p:cNvSpPr txBox="1"/>
          <p:nvPr/>
        </p:nvSpPr>
        <p:spPr>
          <a:xfrm>
            <a:off x="777240" y="1600200"/>
            <a:ext cx="10637215" cy="4389120"/>
          </a:xfrm>
          <a:prstGeom prst="rect">
            <a:avLst/>
          </a:prstGeom>
          <a:noFill/>
          <a:ln/>
        </p:spPr>
        <p:txBody>
          <a:bodyPr wrap="square" lIns="0" tIns="0" rIns="0" bIns="0" rtlCol="0" anchor="t"/>
          <a:lstStyle/>
          <a:p>
            <a:pPr indent="0" marL="0">
              <a:buNone/>
            </a:pPr>
            <a:r>
              <a:rPr lang="en-US" sz="1800" dirty="0">
                <a:solidFill>
                  <a:srgbClr val="8FB3A0"/>
                </a:solidFill>
                <a:latin typeface="Courier New" pitchFamily="34" charset="0"/>
                <a:ea typeface="Courier New" pitchFamily="34" charset="-122"/>
                <a:cs typeface="Courier New" pitchFamily="34" charset="-120"/>
              </a:rPr>
              <a:t># 1. build a portable cartridge from one assembly file</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python3 -m prg32 cartridge build step1_skeleton.S --portable \</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--entry-prefix first --name step1 --out build/step1.prg32</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a:t>
            </a:r>
            <a:endParaRPr lang="en-US" sz="1800" dirty="0"/>
          </a:p>
          <a:p>
            <a:pPr indent="0" marL="0">
              <a:buNone/>
            </a:pPr>
            <a:r>
              <a:rPr lang="en-US" sz="1800" dirty="0">
                <a:solidFill>
                  <a:srgbClr val="8FB3A0"/>
                </a:solidFill>
                <a:latin typeface="Courier New" pitchFamily="34" charset="0"/>
                <a:ea typeface="Courier New" pitchFamily="34" charset="-122"/>
                <a:cs typeface="Courier New" pitchFamily="34" charset="-120"/>
              </a:rPr>
              <a:t># 2a. run it in QEMU on your laptop</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python3 -m prg32 qemu upload build/step1.prg32</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python3 -m prg32 qemu run</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a:t>
            </a:r>
            <a:endParaRPr lang="en-US" sz="1800" dirty="0"/>
          </a:p>
          <a:p>
            <a:pPr indent="0" marL="0">
              <a:buNone/>
            </a:pPr>
            <a:r>
              <a:rPr lang="en-US" sz="1800" dirty="0">
                <a:solidFill>
                  <a:srgbClr val="8FB3A0"/>
                </a:solidFill>
                <a:latin typeface="Courier New" pitchFamily="34" charset="0"/>
                <a:ea typeface="Courier New" pitchFamily="34" charset="-122"/>
                <a:cs typeface="Courier New" pitchFamily="34" charset="-120"/>
              </a:rPr>
              <a:t># 2b. or send it to a board, or to PRG32-QT, over the network</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python3 -m prg32 esp32c6 upload-and-run build/step1.prg32 \</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--url http://192.168.4.1 --slot cart0</a:t>
            </a:r>
            <a:endParaRPr lang="en-US" sz="18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Step 2: say hello</a:t>
            </a:r>
            <a:endParaRPr lang="en-US" sz="3200" dirty="0"/>
          </a:p>
        </p:txBody>
      </p:sp>
      <p:sp>
        <p:nvSpPr>
          <p:cNvPr id="3" name="Shape 1"/>
          <p:cNvSpPr/>
          <p:nvPr/>
        </p:nvSpPr>
        <p:spPr>
          <a:xfrm>
            <a:off x="548640" y="1417320"/>
            <a:ext cx="6675120" cy="4754880"/>
          </a:xfrm>
          <a:prstGeom prst="roundRect">
            <a:avLst>
              <a:gd name="adj" fmla="val 1538"/>
            </a:avLst>
          </a:prstGeom>
          <a:solidFill>
            <a:srgbClr val="12202B"/>
          </a:solidFill>
          <a:ln w="12700">
            <a:solidFill>
              <a:srgbClr val="12202B"/>
            </a:solidFill>
            <a:prstDash val="solid"/>
          </a:ln>
        </p:spPr>
      </p:sp>
      <p:sp>
        <p:nvSpPr>
          <p:cNvPr id="4" name="Text 2"/>
          <p:cNvSpPr txBox="1"/>
          <p:nvPr/>
        </p:nvSpPr>
        <p:spPr>
          <a:xfrm>
            <a:off x="777240" y="1600200"/>
            <a:ext cx="6217920" cy="4389120"/>
          </a:xfrm>
          <a:prstGeom prst="rect">
            <a:avLst/>
          </a:prstGeom>
          <a:noFill/>
          <a:ln/>
        </p:spPr>
        <p:txBody>
          <a:bodyPr wrap="square" lIns="0" tIns="0" rIns="0" bIns="0" rtlCol="0" anchor="t"/>
          <a:lstStyle/>
          <a:p>
            <a:pPr indent="0" marL="0">
              <a:buNone/>
            </a:pPr>
            <a:r>
              <a:rPr lang="en-US" sz="1350" dirty="0">
                <a:solidFill>
                  <a:srgbClr val="E6EDF2"/>
                </a:solidFill>
                <a:latin typeface="Courier New" pitchFamily="34" charset="0"/>
                <a:ea typeface="Courier New" pitchFamily="34" charset="-122"/>
                <a:cs typeface="Courier New" pitchFamily="34" charset="-120"/>
              </a:rPr>
              <a:t>first_draw:</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    addi sp, sp, -16      </a:t>
            </a:r>
            <a:pPr indent="0" marL="0">
              <a:buNone/>
            </a:pPr>
            <a:r>
              <a:rPr lang="en-US" sz="1350" dirty="0">
                <a:solidFill>
                  <a:srgbClr val="8FB3A0"/>
                </a:solidFill>
                <a:latin typeface="Courier New" pitchFamily="34" charset="0"/>
                <a:ea typeface="Courier New" pitchFamily="34" charset="-122"/>
                <a:cs typeface="Courier New" pitchFamily="34" charset="-120"/>
              </a:rPr>
              <a:t># prologue: a 16-byte frame</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    sw   ra, 12(sp)       </a:t>
            </a:r>
            <a:pPr indent="0" marL="0">
              <a:buNone/>
            </a:pPr>
            <a:r>
              <a:rPr lang="en-US" sz="1350" dirty="0">
                <a:solidFill>
                  <a:srgbClr val="8FB3A0"/>
                </a:solidFill>
                <a:latin typeface="Courier New" pitchFamily="34" charset="0"/>
                <a:ea typeface="Courier New" pitchFamily="34" charset="-122"/>
                <a:cs typeface="Courier New" pitchFamily="34" charset="-120"/>
              </a:rPr>
              <a:t># save the return address</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 </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    li   a0, BLACK</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    call prg32_gfx_clear</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 </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    li   a0, 32           </a:t>
            </a:r>
            <a:pPr indent="0" marL="0">
              <a:buNone/>
            </a:pPr>
            <a:r>
              <a:rPr lang="en-US" sz="1350" dirty="0">
                <a:solidFill>
                  <a:srgbClr val="8FB3A0"/>
                </a:solidFill>
                <a:latin typeface="Courier New" pitchFamily="34" charset="0"/>
                <a:ea typeface="Courier New" pitchFamily="34" charset="-122"/>
                <a:cs typeface="Courier New" pitchFamily="34" charset="-120"/>
              </a:rPr>
              <a:t># x</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    li   a1, 40           </a:t>
            </a:r>
            <a:pPr indent="0" marL="0">
              <a:buNone/>
            </a:pPr>
            <a:r>
              <a:rPr lang="en-US" sz="1350" dirty="0">
                <a:solidFill>
                  <a:srgbClr val="8FB3A0"/>
                </a:solidFill>
                <a:latin typeface="Courier New" pitchFamily="34" charset="0"/>
                <a:ea typeface="Courier New" pitchFamily="34" charset="-122"/>
                <a:cs typeface="Courier New" pitchFamily="34" charset="-120"/>
              </a:rPr>
              <a:t># y</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    la   a2, title        </a:t>
            </a:r>
            <a:pPr indent="0" marL="0">
              <a:buNone/>
            </a:pPr>
            <a:r>
              <a:rPr lang="en-US" sz="1350" dirty="0">
                <a:solidFill>
                  <a:srgbClr val="8FB3A0"/>
                </a:solidFill>
                <a:latin typeface="Courier New" pitchFamily="34" charset="0"/>
                <a:ea typeface="Courier New" pitchFamily="34" charset="-122"/>
                <a:cs typeface="Courier New" pitchFamily="34" charset="-120"/>
              </a:rPr>
              <a:t># address of the string</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    li   a3, WHITE        </a:t>
            </a:r>
            <a:pPr indent="0" marL="0">
              <a:buNone/>
            </a:pPr>
            <a:r>
              <a:rPr lang="en-US" sz="1350" dirty="0">
                <a:solidFill>
                  <a:srgbClr val="8FB3A0"/>
                </a:solidFill>
                <a:latin typeface="Courier New" pitchFamily="34" charset="0"/>
                <a:ea typeface="Courier New" pitchFamily="34" charset="-122"/>
                <a:cs typeface="Courier New" pitchFamily="34" charset="-120"/>
              </a:rPr>
              <a:t># foreground</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    li   a4, BLACK        </a:t>
            </a:r>
            <a:pPr indent="0" marL="0">
              <a:buNone/>
            </a:pPr>
            <a:r>
              <a:rPr lang="en-US" sz="1350" dirty="0">
                <a:solidFill>
                  <a:srgbClr val="8FB3A0"/>
                </a:solidFill>
                <a:latin typeface="Courier New" pitchFamily="34" charset="0"/>
                <a:ea typeface="Courier New" pitchFamily="34" charset="-122"/>
                <a:cs typeface="Courier New" pitchFamily="34" charset="-120"/>
              </a:rPr>
              <a:t># background</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    call prg32_gfx_text8</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 </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    lw   ra, 12(sp)       </a:t>
            </a:r>
            <a:pPr indent="0" marL="0">
              <a:buNone/>
            </a:pPr>
            <a:r>
              <a:rPr lang="en-US" sz="1350" dirty="0">
                <a:solidFill>
                  <a:srgbClr val="8FB3A0"/>
                </a:solidFill>
                <a:latin typeface="Courier New" pitchFamily="34" charset="0"/>
                <a:ea typeface="Courier New" pitchFamily="34" charset="-122"/>
                <a:cs typeface="Courier New" pitchFamily="34" charset="-120"/>
              </a:rPr>
              <a:t># epilogue: restore ra</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    addi sp, sp, 16       </a:t>
            </a:r>
            <a:pPr indent="0" marL="0">
              <a:buNone/>
            </a:pPr>
            <a:r>
              <a:rPr lang="en-US" sz="1350" dirty="0">
                <a:solidFill>
                  <a:srgbClr val="8FB3A0"/>
                </a:solidFill>
                <a:latin typeface="Courier New" pitchFamily="34" charset="0"/>
                <a:ea typeface="Courier New" pitchFamily="34" charset="-122"/>
                <a:cs typeface="Courier New" pitchFamily="34" charset="-120"/>
              </a:rPr>
              <a:t># release the frame</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    ret</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 </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.section .rodata</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title:</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    .asciz "HELLO PRG32"</a:t>
            </a:r>
            <a:endParaRPr lang="en-US" sz="1350" dirty="0"/>
          </a:p>
        </p:txBody>
      </p:sp>
      <p:sp>
        <p:nvSpPr>
          <p:cNvPr id="5" name="Shape 3"/>
          <p:cNvSpPr/>
          <p:nvPr/>
        </p:nvSpPr>
        <p:spPr>
          <a:xfrm>
            <a:off x="7470648" y="1399032"/>
            <a:ext cx="4245559" cy="2708339"/>
          </a:xfrm>
          <a:prstGeom prst="roundRect">
            <a:avLst>
              <a:gd name="adj" fmla="val 2701"/>
            </a:avLst>
          </a:prstGeom>
          <a:solidFill>
            <a:srgbClr val="1B2530"/>
          </a:solidFill>
          <a:ln w="12700">
            <a:solidFill>
              <a:srgbClr val="1B2530"/>
            </a:solidFill>
            <a:prstDash val="solid"/>
          </a:ln>
        </p:spPr>
      </p:sp>
      <p:pic>
        <p:nvPicPr>
          <p:cNvPr id="6" name="Image 0" descr="/Users/raffaelemontella/devel/riscv-prg32/computer-architecture-with-prg32/tools/assets/lab1_step2_hello.png">    </p:cNvPr>
          <p:cNvPicPr>
            <a:picLocks noChangeAspect="1"/>
          </p:cNvPicPr>
          <p:nvPr/>
        </p:nvPicPr>
        <p:blipFill>
          <a:blip r:embed="rId1"/>
          <a:stretch>
            <a:fillRect/>
          </a:stretch>
        </p:blipFill>
        <p:spPr>
          <a:xfrm>
            <a:off x="7543800" y="1472184"/>
            <a:ext cx="4099255" cy="2562035"/>
          </a:xfrm>
          <a:prstGeom prst="rect">
            <a:avLst/>
          </a:prstGeom>
        </p:spPr>
      </p:pic>
      <p:sp>
        <p:nvSpPr>
          <p:cNvPr id="7" name="Text 4"/>
          <p:cNvSpPr txBox="1"/>
          <p:nvPr/>
        </p:nvSpPr>
        <p:spPr>
          <a:xfrm>
            <a:off x="7543800" y="4180523"/>
            <a:ext cx="4099255" cy="256032"/>
          </a:xfrm>
          <a:prstGeom prst="rect">
            <a:avLst/>
          </a:prstGeom>
          <a:noFill/>
          <a:ln/>
        </p:spPr>
        <p:txBody>
          <a:bodyPr wrap="square" lIns="0" tIns="0" rIns="0" bIns="0" rtlCol="0" anchor="t"/>
          <a:lstStyle/>
          <a:p>
            <a:pPr indent="0" marL="0">
              <a:buNone/>
            </a:pPr>
            <a:r>
              <a:rPr lang="en-US" sz="1150" i="1" dirty="0">
                <a:solidFill>
                  <a:srgbClr val="5B6B78"/>
                </a:solidFill>
                <a:latin typeface="Calibri" pitchFamily="34" charset="0"/>
                <a:ea typeface="Calibri" pitchFamily="34" charset="-122"/>
                <a:cs typeface="Calibri" pitchFamily="34" charset="-120"/>
              </a:rPr>
              <a:t>Screenshot: this step, built and run on PRG32</a:t>
            </a:r>
            <a:endParaRPr lang="en-US" sz="1150" dirty="0"/>
          </a:p>
        </p:txBody>
      </p:sp>
      <p:sp>
        <p:nvSpPr>
          <p:cNvPr id="8" name="Shape 5"/>
          <p:cNvSpPr/>
          <p:nvPr/>
        </p:nvSpPr>
        <p:spPr>
          <a:xfrm>
            <a:off x="7470648" y="4527995"/>
            <a:ext cx="4245559" cy="1644205"/>
          </a:xfrm>
          <a:prstGeom prst="roundRect">
            <a:avLst>
              <a:gd name="adj" fmla="val 4449"/>
            </a:avLst>
          </a:prstGeom>
          <a:solidFill>
            <a:srgbClr val="EEF2F4"/>
          </a:solidFill>
          <a:ln w="12700">
            <a:solidFill>
              <a:srgbClr val="EEF2F4"/>
            </a:solidFill>
            <a:prstDash val="solid"/>
          </a:ln>
        </p:spPr>
      </p:sp>
      <p:sp>
        <p:nvSpPr>
          <p:cNvPr id="9" name="Text 6"/>
          <p:cNvSpPr txBox="1"/>
          <p:nvPr/>
        </p:nvSpPr>
        <p:spPr>
          <a:xfrm>
            <a:off x="7680960" y="4637723"/>
            <a:ext cx="3824935" cy="1424749"/>
          </a:xfrm>
          <a:prstGeom prst="rect">
            <a:avLst/>
          </a:prstGeom>
          <a:noFill/>
          <a:ln/>
        </p:spPr>
        <p:txBody>
          <a:bodyPr wrap="square" lIns="0" tIns="0" rIns="0" bIns="0" rtlCol="0" anchor="ctr"/>
          <a:lstStyle/>
          <a:p>
            <a:pPr indent="0" marL="0">
              <a:buNone/>
            </a:pPr>
            <a:r>
              <a:rPr lang="en-US" sz="1700" dirty="0">
                <a:solidFill>
                  <a:srgbClr val="1B2530"/>
                </a:solidFill>
                <a:latin typeface="Calibri" pitchFamily="34" charset="0"/>
                <a:ea typeface="Calibri" pitchFamily="34" charset="-122"/>
                <a:cs typeface="Calibri" pitchFamily="34" charset="-120"/>
              </a:rPr>
              <a:t>The first argument goes in a0, the second in a1, and so on. li loads a number; la loads the address of a label.</a:t>
            </a:r>
            <a:endParaRPr lang="en-US" sz="17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Why save ra? The stack frame</a:t>
            </a:r>
            <a:endParaRPr lang="en-US" sz="3200" dirty="0"/>
          </a:p>
        </p:txBody>
      </p:sp>
      <p:sp>
        <p:nvSpPr>
          <p:cNvPr id="3" name="Shape 1"/>
          <p:cNvSpPr/>
          <p:nvPr/>
        </p:nvSpPr>
        <p:spPr>
          <a:xfrm>
            <a:off x="548640" y="1515999"/>
            <a:ext cx="146304" cy="146304"/>
          </a:xfrm>
          <a:prstGeom prst="rect">
            <a:avLst/>
          </a:prstGeom>
          <a:solidFill>
            <a:srgbClr val="0E7C86"/>
          </a:solidFill>
          <a:ln w="12700">
            <a:solidFill>
              <a:srgbClr val="0E7C86"/>
            </a:solidFill>
            <a:prstDash val="solid"/>
          </a:ln>
        </p:spPr>
      </p:sp>
      <p:sp>
        <p:nvSpPr>
          <p:cNvPr id="4" name="Text 2"/>
          <p:cNvSpPr txBox="1"/>
          <p:nvPr/>
        </p:nvSpPr>
        <p:spPr>
          <a:xfrm>
            <a:off x="932688" y="1417320"/>
            <a:ext cx="6108192" cy="325374"/>
          </a:xfrm>
          <a:prstGeom prst="rect">
            <a:avLst/>
          </a:prstGeom>
          <a:noFill/>
          <a:ln/>
        </p:spPr>
        <p:txBody>
          <a:bodyPr wrap="square" lIns="0" tIns="0" rIns="0" bIns="0" rtlCol="0" anchor="t"/>
          <a:lstStyle/>
          <a:p>
            <a:pPr indent="0" marL="0">
              <a:spcAft>
                <a:spcPts val="200"/>
              </a:spcAft>
              <a:buNone/>
            </a:pPr>
            <a:r>
              <a:rPr lang="en-US" sz="2100" dirty="0">
                <a:solidFill>
                  <a:srgbClr val="1B2530"/>
                </a:solidFill>
                <a:latin typeface="Calibri" pitchFamily="34" charset="0"/>
                <a:ea typeface="Calibri" pitchFamily="34" charset="-122"/>
                <a:cs typeface="Calibri" pitchFamily="34" charset="-120"/>
              </a:rPr>
              <a:t>call stores the address to come back to in ra</a:t>
            </a:r>
            <a:endParaRPr lang="en-US" sz="2100" dirty="0"/>
          </a:p>
        </p:txBody>
      </p:sp>
      <p:sp>
        <p:nvSpPr>
          <p:cNvPr id="5" name="Shape 3"/>
          <p:cNvSpPr/>
          <p:nvPr/>
        </p:nvSpPr>
        <p:spPr>
          <a:xfrm>
            <a:off x="548640" y="2142744"/>
            <a:ext cx="146304" cy="146304"/>
          </a:xfrm>
          <a:prstGeom prst="rect">
            <a:avLst/>
          </a:prstGeom>
          <a:solidFill>
            <a:srgbClr val="C7791B"/>
          </a:solidFill>
          <a:ln w="12700">
            <a:solidFill>
              <a:srgbClr val="C7791B"/>
            </a:solidFill>
            <a:prstDash val="solid"/>
          </a:ln>
        </p:spPr>
      </p:sp>
      <p:sp>
        <p:nvSpPr>
          <p:cNvPr id="6" name="Text 4"/>
          <p:cNvSpPr txBox="1"/>
          <p:nvPr/>
        </p:nvSpPr>
        <p:spPr>
          <a:xfrm>
            <a:off x="932688" y="2044065"/>
            <a:ext cx="6108192" cy="650748"/>
          </a:xfrm>
          <a:prstGeom prst="rect">
            <a:avLst/>
          </a:prstGeom>
          <a:noFill/>
          <a:ln/>
        </p:spPr>
        <p:txBody>
          <a:bodyPr wrap="square" lIns="0" tIns="0" rIns="0" bIns="0" rtlCol="0" anchor="t"/>
          <a:lstStyle/>
          <a:p>
            <a:pPr indent="0" marL="0">
              <a:spcAft>
                <a:spcPts val="200"/>
              </a:spcAft>
              <a:buNone/>
            </a:pPr>
            <a:r>
              <a:rPr lang="en-US" sz="2100" dirty="0">
                <a:solidFill>
                  <a:srgbClr val="1B2530"/>
                </a:solidFill>
                <a:latin typeface="Calibri" pitchFamily="34" charset="0"/>
                <a:ea typeface="Calibri" pitchFamily="34" charset="-122"/>
                <a:cs typeface="Calibri" pitchFamily="34" charset="-120"/>
              </a:rPr>
              <a:t>The function you call will use ra for its own calls, overwriting yours</a:t>
            </a:r>
            <a:endParaRPr lang="en-US" sz="2100" dirty="0"/>
          </a:p>
        </p:txBody>
      </p:sp>
      <p:sp>
        <p:nvSpPr>
          <p:cNvPr id="7" name="Shape 5"/>
          <p:cNvSpPr/>
          <p:nvPr/>
        </p:nvSpPr>
        <p:spPr>
          <a:xfrm>
            <a:off x="548640" y="3094863"/>
            <a:ext cx="146304" cy="146304"/>
          </a:xfrm>
          <a:prstGeom prst="rect">
            <a:avLst/>
          </a:prstGeom>
          <a:solidFill>
            <a:srgbClr val="0E7C86"/>
          </a:solidFill>
          <a:ln w="12700">
            <a:solidFill>
              <a:srgbClr val="0E7C86"/>
            </a:solidFill>
            <a:prstDash val="solid"/>
          </a:ln>
        </p:spPr>
      </p:sp>
      <p:sp>
        <p:nvSpPr>
          <p:cNvPr id="8" name="Text 6"/>
          <p:cNvSpPr txBox="1"/>
          <p:nvPr/>
        </p:nvSpPr>
        <p:spPr>
          <a:xfrm>
            <a:off x="932688" y="2996184"/>
            <a:ext cx="6108192" cy="1281684"/>
          </a:xfrm>
          <a:prstGeom prst="rect">
            <a:avLst/>
          </a:prstGeom>
          <a:noFill/>
          <a:ln/>
        </p:spPr>
        <p:txBody>
          <a:bodyPr wrap="square" lIns="0" tIns="0" rIns="0" bIns="0" rtlCol="0" anchor="t"/>
          <a:lstStyle/>
          <a:p>
            <a:pPr indent="0" marL="0">
              <a:spcAft>
                <a:spcPts val="200"/>
              </a:spcAft>
              <a:buNone/>
            </a:pPr>
            <a:r>
              <a:rPr lang="en-US" sz="2100" dirty="0">
                <a:solidFill>
                  <a:srgbClr val="1B2530"/>
                </a:solidFill>
                <a:latin typeface="Calibri" pitchFamily="34" charset="0"/>
                <a:ea typeface="Calibri" pitchFamily="34" charset="-122"/>
                <a:cs typeface="Calibri" pitchFamily="34" charset="-120"/>
              </a:rPr>
              <a:t>So a function that calls another one saves ra first</a:t>
            </a:r>
            <a:endParaRPr lang="en-US" sz="2100" dirty="0"/>
          </a:p>
          <a:p>
            <a:pPr indent="0" marL="0">
              <a:spcAft>
                <a:spcPts val="200"/>
              </a:spcAft>
              <a:buNone/>
            </a:pPr>
            <a:r>
              <a:rPr lang="en-US" sz="1800" dirty="0">
                <a:solidFill>
                  <a:srgbClr val="5B6B78"/>
                </a:solidFill>
                <a:latin typeface="Calibri" pitchFamily="34" charset="0"/>
                <a:ea typeface="Calibri" pitchFamily="34" charset="-122"/>
                <a:cs typeface="Calibri" pitchFamily="34" charset="-120"/>
              </a:rPr>
              <a:t>– lower sp by 16 to make room</a:t>
            </a:r>
            <a:endParaRPr lang="en-US" sz="2100" dirty="0"/>
          </a:p>
          <a:p>
            <a:pPr indent="0" marL="0">
              <a:spcAft>
                <a:spcPts val="200"/>
              </a:spcAft>
              <a:buNone/>
            </a:pPr>
            <a:r>
              <a:rPr lang="en-US" sz="1800" dirty="0">
                <a:solidFill>
                  <a:srgbClr val="5B6B78"/>
                </a:solidFill>
                <a:latin typeface="Calibri" pitchFamily="34" charset="0"/>
                <a:ea typeface="Calibri" pitchFamily="34" charset="-122"/>
                <a:cs typeface="Calibri" pitchFamily="34" charset="-120"/>
              </a:rPr>
              <a:t>– store ra at 12(sp)</a:t>
            </a:r>
            <a:endParaRPr lang="en-US" sz="2100" dirty="0"/>
          </a:p>
        </p:txBody>
      </p:sp>
      <p:sp>
        <p:nvSpPr>
          <p:cNvPr id="9" name="Shape 7"/>
          <p:cNvSpPr/>
          <p:nvPr/>
        </p:nvSpPr>
        <p:spPr>
          <a:xfrm>
            <a:off x="548640" y="4677918"/>
            <a:ext cx="146304" cy="146304"/>
          </a:xfrm>
          <a:prstGeom prst="rect">
            <a:avLst/>
          </a:prstGeom>
          <a:solidFill>
            <a:srgbClr val="C7791B"/>
          </a:solidFill>
          <a:ln w="12700">
            <a:solidFill>
              <a:srgbClr val="C7791B"/>
            </a:solidFill>
            <a:prstDash val="solid"/>
          </a:ln>
        </p:spPr>
      </p:sp>
      <p:sp>
        <p:nvSpPr>
          <p:cNvPr id="10" name="Text 8"/>
          <p:cNvSpPr txBox="1"/>
          <p:nvPr/>
        </p:nvSpPr>
        <p:spPr>
          <a:xfrm>
            <a:off x="932688" y="4579239"/>
            <a:ext cx="6108192" cy="640842"/>
          </a:xfrm>
          <a:prstGeom prst="rect">
            <a:avLst/>
          </a:prstGeom>
          <a:noFill/>
          <a:ln/>
        </p:spPr>
        <p:txBody>
          <a:bodyPr wrap="square" lIns="0" tIns="0" rIns="0" bIns="0" rtlCol="0" anchor="t"/>
          <a:lstStyle/>
          <a:p>
            <a:pPr indent="0" marL="0">
              <a:spcAft>
                <a:spcPts val="200"/>
              </a:spcAft>
              <a:buNone/>
            </a:pPr>
            <a:r>
              <a:rPr lang="en-US" sz="2100" dirty="0">
                <a:solidFill>
                  <a:srgbClr val="1B2530"/>
                </a:solidFill>
                <a:latin typeface="Calibri" pitchFamily="34" charset="0"/>
                <a:ea typeface="Calibri" pitchFamily="34" charset="-122"/>
                <a:cs typeface="Calibri" pitchFamily="34" charset="-120"/>
              </a:rPr>
              <a:t>After the call, undo it in reverse order</a:t>
            </a:r>
            <a:endParaRPr lang="en-US" sz="2100" dirty="0"/>
          </a:p>
          <a:p>
            <a:pPr indent="0" marL="0">
              <a:spcAft>
                <a:spcPts val="200"/>
              </a:spcAft>
              <a:buNone/>
            </a:pPr>
            <a:r>
              <a:rPr lang="en-US" sz="1800" dirty="0">
                <a:solidFill>
                  <a:srgbClr val="5B6B78"/>
                </a:solidFill>
                <a:latin typeface="Calibri" pitchFamily="34" charset="0"/>
                <a:ea typeface="Calibri" pitchFamily="34" charset="-122"/>
                <a:cs typeface="Calibri" pitchFamily="34" charset="-120"/>
              </a:rPr>
              <a:t>– load ra back, raise sp by 16, then ret</a:t>
            </a:r>
            <a:endParaRPr lang="en-US" sz="2100" dirty="0"/>
          </a:p>
        </p:txBody>
      </p:sp>
      <p:sp>
        <p:nvSpPr>
          <p:cNvPr id="11" name="Shape 9"/>
          <p:cNvSpPr/>
          <p:nvPr/>
        </p:nvSpPr>
        <p:spPr>
          <a:xfrm>
            <a:off x="548640" y="5620131"/>
            <a:ext cx="146304" cy="146304"/>
          </a:xfrm>
          <a:prstGeom prst="rect">
            <a:avLst/>
          </a:prstGeom>
          <a:solidFill>
            <a:srgbClr val="0E7C86"/>
          </a:solidFill>
          <a:ln w="12700">
            <a:solidFill>
              <a:srgbClr val="0E7C86"/>
            </a:solidFill>
            <a:prstDash val="solid"/>
          </a:ln>
        </p:spPr>
      </p:sp>
      <p:sp>
        <p:nvSpPr>
          <p:cNvPr id="12" name="Text 10"/>
          <p:cNvSpPr txBox="1"/>
          <p:nvPr/>
        </p:nvSpPr>
        <p:spPr>
          <a:xfrm>
            <a:off x="932688" y="5521452"/>
            <a:ext cx="6108192" cy="650748"/>
          </a:xfrm>
          <a:prstGeom prst="rect">
            <a:avLst/>
          </a:prstGeom>
          <a:noFill/>
          <a:ln/>
        </p:spPr>
        <p:txBody>
          <a:bodyPr wrap="square" lIns="0" tIns="0" rIns="0" bIns="0" rtlCol="0" anchor="t"/>
          <a:lstStyle/>
          <a:p>
            <a:pPr indent="0" marL="0">
              <a:spcAft>
                <a:spcPts val="200"/>
              </a:spcAft>
              <a:buNone/>
            </a:pPr>
            <a:r>
              <a:rPr lang="en-US" sz="2100" dirty="0">
                <a:solidFill>
                  <a:srgbClr val="1B2530"/>
                </a:solidFill>
                <a:latin typeface="Calibri" pitchFamily="34" charset="0"/>
                <a:ea typeface="Calibri" pitchFamily="34" charset="-122"/>
                <a:cs typeface="Calibri" pitchFamily="34" charset="-120"/>
              </a:rPr>
              <a:t>Forgetting the pair is the classic first bug: the function returns to the wrong place</a:t>
            </a:r>
            <a:endParaRPr lang="en-US" sz="2100" dirty="0"/>
          </a:p>
        </p:txBody>
      </p:sp>
      <p:sp>
        <p:nvSpPr>
          <p:cNvPr id="13" name="Text 11"/>
          <p:cNvSpPr txBox="1"/>
          <p:nvPr/>
        </p:nvSpPr>
        <p:spPr>
          <a:xfrm>
            <a:off x="7589520" y="1417320"/>
            <a:ext cx="4206240" cy="365760"/>
          </a:xfrm>
          <a:prstGeom prst="rect">
            <a:avLst/>
          </a:prstGeom>
          <a:noFill/>
          <a:ln/>
        </p:spPr>
        <p:txBody>
          <a:bodyPr wrap="square" lIns="0" tIns="0" rIns="0" bIns="0" rtlCol="0" anchor="t"/>
          <a:lstStyle/>
          <a:p>
            <a:pPr indent="0" marL="0">
              <a:buNone/>
            </a:pPr>
            <a:r>
              <a:rPr lang="en-US" sz="1500" b="1" dirty="0">
                <a:solidFill>
                  <a:srgbClr val="2E4A62"/>
                </a:solidFill>
                <a:latin typeface="Calibri" pitchFamily="34" charset="0"/>
                <a:ea typeface="Calibri" pitchFamily="34" charset="-122"/>
                <a:cs typeface="Calibri" pitchFamily="34" charset="-120"/>
              </a:rPr>
              <a:t>Stack memory after the prologue</a:t>
            </a:r>
            <a:endParaRPr lang="en-US" sz="1500" dirty="0"/>
          </a:p>
        </p:txBody>
      </p:sp>
      <p:sp>
        <p:nvSpPr>
          <p:cNvPr id="14" name="Text 12"/>
          <p:cNvSpPr txBox="1"/>
          <p:nvPr/>
        </p:nvSpPr>
        <p:spPr>
          <a:xfrm>
            <a:off x="7589520" y="2103120"/>
            <a:ext cx="2926080" cy="566928"/>
          </a:xfrm>
          <a:prstGeom prst="rect">
            <a:avLst/>
          </a:prstGeom>
          <a:solidFill>
            <a:srgbClr val="C9D2D8"/>
          </a:solidFill>
          <a:ln w="12700">
            <a:solidFill>
              <a:srgbClr val="2E4A62"/>
            </a:solidFill>
          </a:ln>
        </p:spPr>
        <p:txBody>
          <a:bodyPr wrap="square" lIns="0" tIns="0" rIns="0" bIns="0" rtlCol="0" anchor="ctr"/>
          <a:lstStyle/>
          <a:p>
            <a:pPr algn="ctr" indent="0" marL="0">
              <a:buNone/>
            </a:pPr>
            <a:r>
              <a:rPr lang="en-US" sz="1600" b="1" dirty="0">
                <a:solidFill>
                  <a:srgbClr val="1B2530"/>
                </a:solidFill>
                <a:latin typeface="Courier New" pitchFamily="34" charset="0"/>
                <a:ea typeface="Courier New" pitchFamily="34" charset="-122"/>
                <a:cs typeface="Courier New" pitchFamily="34" charset="-120"/>
              </a:rPr>
              <a:t>caller's data</a:t>
            </a:r>
            <a:endParaRPr lang="en-US" sz="1600" dirty="0"/>
          </a:p>
        </p:txBody>
      </p:sp>
      <p:sp>
        <p:nvSpPr>
          <p:cNvPr id="15" name="Text 13"/>
          <p:cNvSpPr txBox="1"/>
          <p:nvPr/>
        </p:nvSpPr>
        <p:spPr>
          <a:xfrm>
            <a:off x="10652760" y="2103120"/>
            <a:ext cx="1097280" cy="566928"/>
          </a:xfrm>
          <a:prstGeom prst="rect">
            <a:avLst/>
          </a:prstGeom>
          <a:noFill/>
          <a:ln/>
        </p:spPr>
        <p:txBody>
          <a:bodyPr wrap="square" lIns="0" tIns="0" rIns="0" bIns="0" rtlCol="0" anchor="ctr"/>
          <a:lstStyle/>
          <a:p>
            <a:pPr indent="0" marL="0">
              <a:buNone/>
            </a:pPr>
            <a:r>
              <a:rPr lang="en-US" sz="1400" dirty="0">
                <a:solidFill>
                  <a:srgbClr val="5B6B78"/>
                </a:solidFill>
                <a:latin typeface="Courier New" pitchFamily="34" charset="0"/>
                <a:ea typeface="Courier New" pitchFamily="34" charset="-122"/>
                <a:cs typeface="Courier New" pitchFamily="34" charset="-120"/>
              </a:rPr>
              <a:t>16(sp)</a:t>
            </a:r>
            <a:endParaRPr lang="en-US" sz="1400" dirty="0"/>
          </a:p>
        </p:txBody>
      </p:sp>
      <p:sp>
        <p:nvSpPr>
          <p:cNvPr id="16" name="Text 14"/>
          <p:cNvSpPr txBox="1"/>
          <p:nvPr/>
        </p:nvSpPr>
        <p:spPr>
          <a:xfrm>
            <a:off x="7589520" y="2670048"/>
            <a:ext cx="2926080" cy="566928"/>
          </a:xfrm>
          <a:prstGeom prst="rect">
            <a:avLst/>
          </a:prstGeom>
          <a:solidFill>
            <a:srgbClr val="C7791B"/>
          </a:solidFill>
          <a:ln w="12700">
            <a:solidFill>
              <a:srgbClr val="2E4A62"/>
            </a:solidFill>
          </a:ln>
        </p:spPr>
        <p:txBody>
          <a:bodyPr wrap="square" lIns="0" tIns="0" rIns="0" bIns="0" rtlCol="0" anchor="ctr"/>
          <a:lstStyle/>
          <a:p>
            <a:pPr algn="ctr" indent="0" marL="0">
              <a:buNone/>
            </a:pPr>
            <a:r>
              <a:rPr lang="en-US" sz="1600" b="1" dirty="0">
                <a:solidFill>
                  <a:srgbClr val="FFFFFF"/>
                </a:solidFill>
                <a:latin typeface="Courier New" pitchFamily="34" charset="0"/>
                <a:ea typeface="Courier New" pitchFamily="34" charset="-122"/>
                <a:cs typeface="Courier New" pitchFamily="34" charset="-120"/>
              </a:rPr>
              <a:t>ra</a:t>
            </a:r>
            <a:endParaRPr lang="en-US" sz="1600" dirty="0"/>
          </a:p>
        </p:txBody>
      </p:sp>
      <p:sp>
        <p:nvSpPr>
          <p:cNvPr id="17" name="Text 15"/>
          <p:cNvSpPr txBox="1"/>
          <p:nvPr/>
        </p:nvSpPr>
        <p:spPr>
          <a:xfrm>
            <a:off x="10652760" y="2670048"/>
            <a:ext cx="1097280" cy="566928"/>
          </a:xfrm>
          <a:prstGeom prst="rect">
            <a:avLst/>
          </a:prstGeom>
          <a:noFill/>
          <a:ln/>
        </p:spPr>
        <p:txBody>
          <a:bodyPr wrap="square" lIns="0" tIns="0" rIns="0" bIns="0" rtlCol="0" anchor="ctr"/>
          <a:lstStyle/>
          <a:p>
            <a:pPr indent="0" marL="0">
              <a:buNone/>
            </a:pPr>
            <a:r>
              <a:rPr lang="en-US" sz="1400" dirty="0">
                <a:solidFill>
                  <a:srgbClr val="5B6B78"/>
                </a:solidFill>
                <a:latin typeface="Courier New" pitchFamily="34" charset="0"/>
                <a:ea typeface="Courier New" pitchFamily="34" charset="-122"/>
                <a:cs typeface="Courier New" pitchFamily="34" charset="-120"/>
              </a:rPr>
              <a:t>12(sp)</a:t>
            </a:r>
            <a:endParaRPr lang="en-US" sz="1400" dirty="0"/>
          </a:p>
        </p:txBody>
      </p:sp>
      <p:sp>
        <p:nvSpPr>
          <p:cNvPr id="18" name="Text 16"/>
          <p:cNvSpPr txBox="1"/>
          <p:nvPr/>
        </p:nvSpPr>
        <p:spPr>
          <a:xfrm>
            <a:off x="7589520" y="3236976"/>
            <a:ext cx="2926080" cy="566928"/>
          </a:xfrm>
          <a:prstGeom prst="rect">
            <a:avLst/>
          </a:prstGeom>
          <a:solidFill>
            <a:srgbClr val="EEF2F4"/>
          </a:solidFill>
          <a:ln w="12700">
            <a:solidFill>
              <a:srgbClr val="2E4A62"/>
            </a:solidFill>
          </a:ln>
        </p:spPr>
        <p:txBody>
          <a:bodyPr wrap="square" lIns="0" tIns="0" rIns="0" bIns="0" rtlCol="0" anchor="ctr"/>
          <a:lstStyle/>
          <a:p>
            <a:pPr algn="ctr" indent="0" marL="0">
              <a:buNone/>
            </a:pPr>
            <a:r>
              <a:rPr lang="en-US" sz="1600" b="1" dirty="0">
                <a:solidFill>
                  <a:srgbClr val="5B6B78"/>
                </a:solidFill>
                <a:latin typeface="Courier New" pitchFamily="34" charset="0"/>
                <a:ea typeface="Courier New" pitchFamily="34" charset="-122"/>
                <a:cs typeface="Courier New" pitchFamily="34" charset="-120"/>
              </a:rPr>
              <a:t>free</a:t>
            </a:r>
            <a:endParaRPr lang="en-US" sz="1600" dirty="0"/>
          </a:p>
        </p:txBody>
      </p:sp>
      <p:sp>
        <p:nvSpPr>
          <p:cNvPr id="19" name="Text 17"/>
          <p:cNvSpPr txBox="1"/>
          <p:nvPr/>
        </p:nvSpPr>
        <p:spPr>
          <a:xfrm>
            <a:off x="10652760" y="3236976"/>
            <a:ext cx="1097280" cy="566928"/>
          </a:xfrm>
          <a:prstGeom prst="rect">
            <a:avLst/>
          </a:prstGeom>
          <a:noFill/>
          <a:ln/>
        </p:spPr>
        <p:txBody>
          <a:bodyPr wrap="square" lIns="0" tIns="0" rIns="0" bIns="0" rtlCol="0" anchor="ctr"/>
          <a:lstStyle/>
          <a:p>
            <a:pPr indent="0" marL="0">
              <a:buNone/>
            </a:pPr>
            <a:r>
              <a:rPr lang="en-US" sz="1400" dirty="0">
                <a:solidFill>
                  <a:srgbClr val="5B6B78"/>
                </a:solidFill>
                <a:latin typeface="Courier New" pitchFamily="34" charset="0"/>
                <a:ea typeface="Courier New" pitchFamily="34" charset="-122"/>
                <a:cs typeface="Courier New" pitchFamily="34" charset="-120"/>
              </a:rPr>
              <a:t> 8(sp)</a:t>
            </a:r>
            <a:endParaRPr lang="en-US" sz="1400" dirty="0"/>
          </a:p>
        </p:txBody>
      </p:sp>
      <p:sp>
        <p:nvSpPr>
          <p:cNvPr id="20" name="Text 18"/>
          <p:cNvSpPr txBox="1"/>
          <p:nvPr/>
        </p:nvSpPr>
        <p:spPr>
          <a:xfrm>
            <a:off x="7589520" y="3803904"/>
            <a:ext cx="2926080" cy="566928"/>
          </a:xfrm>
          <a:prstGeom prst="rect">
            <a:avLst/>
          </a:prstGeom>
          <a:solidFill>
            <a:srgbClr val="EEF2F4"/>
          </a:solidFill>
          <a:ln w="12700">
            <a:solidFill>
              <a:srgbClr val="2E4A62"/>
            </a:solidFill>
          </a:ln>
        </p:spPr>
        <p:txBody>
          <a:bodyPr wrap="square" lIns="0" tIns="0" rIns="0" bIns="0" rtlCol="0" anchor="ctr"/>
          <a:lstStyle/>
          <a:p>
            <a:pPr algn="ctr" indent="0" marL="0">
              <a:buNone/>
            </a:pPr>
            <a:r>
              <a:rPr lang="en-US" sz="1600" b="1" dirty="0">
                <a:solidFill>
                  <a:srgbClr val="5B6B78"/>
                </a:solidFill>
                <a:latin typeface="Courier New" pitchFamily="34" charset="0"/>
                <a:ea typeface="Courier New" pitchFamily="34" charset="-122"/>
                <a:cs typeface="Courier New" pitchFamily="34" charset="-120"/>
              </a:rPr>
              <a:t>free</a:t>
            </a:r>
            <a:endParaRPr lang="en-US" sz="1600" dirty="0"/>
          </a:p>
        </p:txBody>
      </p:sp>
      <p:sp>
        <p:nvSpPr>
          <p:cNvPr id="21" name="Text 19"/>
          <p:cNvSpPr txBox="1"/>
          <p:nvPr/>
        </p:nvSpPr>
        <p:spPr>
          <a:xfrm>
            <a:off x="10652760" y="3803904"/>
            <a:ext cx="1097280" cy="566928"/>
          </a:xfrm>
          <a:prstGeom prst="rect">
            <a:avLst/>
          </a:prstGeom>
          <a:noFill/>
          <a:ln/>
        </p:spPr>
        <p:txBody>
          <a:bodyPr wrap="square" lIns="0" tIns="0" rIns="0" bIns="0" rtlCol="0" anchor="ctr"/>
          <a:lstStyle/>
          <a:p>
            <a:pPr indent="0" marL="0">
              <a:buNone/>
            </a:pPr>
            <a:r>
              <a:rPr lang="en-US" sz="1400" dirty="0">
                <a:solidFill>
                  <a:srgbClr val="5B6B78"/>
                </a:solidFill>
                <a:latin typeface="Courier New" pitchFamily="34" charset="0"/>
                <a:ea typeface="Courier New" pitchFamily="34" charset="-122"/>
                <a:cs typeface="Courier New" pitchFamily="34" charset="-120"/>
              </a:rPr>
              <a:t> 4(sp)</a:t>
            </a:r>
            <a:endParaRPr lang="en-US" sz="1400" dirty="0"/>
          </a:p>
        </p:txBody>
      </p:sp>
      <p:sp>
        <p:nvSpPr>
          <p:cNvPr id="22" name="Text 20"/>
          <p:cNvSpPr txBox="1"/>
          <p:nvPr/>
        </p:nvSpPr>
        <p:spPr>
          <a:xfrm>
            <a:off x="7589520" y="4370832"/>
            <a:ext cx="2926080" cy="566928"/>
          </a:xfrm>
          <a:prstGeom prst="rect">
            <a:avLst/>
          </a:prstGeom>
          <a:solidFill>
            <a:srgbClr val="EEF2F4"/>
          </a:solidFill>
          <a:ln w="12700">
            <a:solidFill>
              <a:srgbClr val="2E4A62"/>
            </a:solidFill>
          </a:ln>
        </p:spPr>
        <p:txBody>
          <a:bodyPr wrap="square" lIns="0" tIns="0" rIns="0" bIns="0" rtlCol="0" anchor="ctr"/>
          <a:lstStyle/>
          <a:p>
            <a:pPr algn="ctr" indent="0" marL="0">
              <a:buNone/>
            </a:pPr>
            <a:r>
              <a:rPr lang="en-US" sz="1600" b="1" dirty="0">
                <a:solidFill>
                  <a:srgbClr val="5B6B78"/>
                </a:solidFill>
                <a:latin typeface="Courier New" pitchFamily="34" charset="0"/>
                <a:ea typeface="Courier New" pitchFamily="34" charset="-122"/>
                <a:cs typeface="Courier New" pitchFamily="34" charset="-120"/>
              </a:rPr>
              <a:t>free</a:t>
            </a:r>
            <a:endParaRPr lang="en-US" sz="1600" dirty="0"/>
          </a:p>
        </p:txBody>
      </p:sp>
      <p:sp>
        <p:nvSpPr>
          <p:cNvPr id="23" name="Text 21"/>
          <p:cNvSpPr txBox="1"/>
          <p:nvPr/>
        </p:nvSpPr>
        <p:spPr>
          <a:xfrm>
            <a:off x="10652760" y="4370832"/>
            <a:ext cx="1097280" cy="566928"/>
          </a:xfrm>
          <a:prstGeom prst="rect">
            <a:avLst/>
          </a:prstGeom>
          <a:noFill/>
          <a:ln/>
        </p:spPr>
        <p:txBody>
          <a:bodyPr wrap="square" lIns="0" tIns="0" rIns="0" bIns="0" rtlCol="0" anchor="ctr"/>
          <a:lstStyle/>
          <a:p>
            <a:pPr indent="0" marL="0">
              <a:buNone/>
            </a:pPr>
            <a:r>
              <a:rPr lang="en-US" sz="1400" dirty="0">
                <a:solidFill>
                  <a:srgbClr val="5B6B78"/>
                </a:solidFill>
                <a:latin typeface="Courier New" pitchFamily="34" charset="0"/>
                <a:ea typeface="Courier New" pitchFamily="34" charset="-122"/>
                <a:cs typeface="Courier New" pitchFamily="34" charset="-120"/>
              </a:rPr>
              <a:t> 0(sp)</a:t>
            </a:r>
            <a:endParaRPr lang="en-US" sz="1400" dirty="0"/>
          </a:p>
        </p:txBody>
      </p:sp>
      <p:sp>
        <p:nvSpPr>
          <p:cNvPr id="24" name="Shape 22"/>
          <p:cNvSpPr/>
          <p:nvPr/>
        </p:nvSpPr>
        <p:spPr>
          <a:xfrm>
            <a:off x="6766560" y="4654296"/>
            <a:ext cx="777240" cy="0"/>
          </a:xfrm>
          <a:prstGeom prst="line">
            <a:avLst/>
          </a:prstGeom>
          <a:noFill/>
          <a:ln w="28575">
            <a:solidFill>
              <a:srgbClr val="B23A48"/>
            </a:solidFill>
            <a:prstDash val="solid"/>
            <a:tailEnd type="triangle"/>
          </a:ln>
        </p:spPr>
      </p:sp>
      <p:sp>
        <p:nvSpPr>
          <p:cNvPr id="25" name="Text 23"/>
          <p:cNvSpPr txBox="1"/>
          <p:nvPr/>
        </p:nvSpPr>
        <p:spPr>
          <a:xfrm>
            <a:off x="6217920" y="4370832"/>
            <a:ext cx="502920" cy="566928"/>
          </a:xfrm>
          <a:prstGeom prst="rect">
            <a:avLst/>
          </a:prstGeom>
          <a:noFill/>
          <a:ln/>
        </p:spPr>
        <p:txBody>
          <a:bodyPr wrap="square" lIns="0" tIns="0" rIns="0" bIns="0" rtlCol="0" anchor="ctr"/>
          <a:lstStyle/>
          <a:p>
            <a:pPr algn="r" indent="0" marL="0">
              <a:buNone/>
            </a:pPr>
            <a:r>
              <a:rPr lang="en-US" sz="1800" b="1" dirty="0">
                <a:solidFill>
                  <a:srgbClr val="B23A48"/>
                </a:solidFill>
                <a:latin typeface="Courier New" pitchFamily="34" charset="0"/>
                <a:ea typeface="Courier New" pitchFamily="34" charset="-122"/>
                <a:cs typeface="Courier New" pitchFamily="34" charset="-120"/>
              </a:rPr>
              <a:t>sp</a:t>
            </a:r>
            <a:endParaRPr lang="en-US" sz="1800" dirty="0"/>
          </a:p>
        </p:txBody>
      </p:sp>
      <p:sp>
        <p:nvSpPr>
          <p:cNvPr id="26" name="Text 24"/>
          <p:cNvSpPr txBox="1"/>
          <p:nvPr/>
        </p:nvSpPr>
        <p:spPr>
          <a:xfrm>
            <a:off x="7589520" y="1810512"/>
            <a:ext cx="2926080" cy="256032"/>
          </a:xfrm>
          <a:prstGeom prst="rect">
            <a:avLst/>
          </a:prstGeom>
          <a:noFill/>
          <a:ln/>
        </p:spPr>
        <p:txBody>
          <a:bodyPr wrap="square" lIns="0" tIns="0" rIns="0" bIns="0" rtlCol="0" anchor="t"/>
          <a:lstStyle/>
          <a:p>
            <a:pPr algn="ctr" indent="0" marL="0">
              <a:buNone/>
            </a:pPr>
            <a:r>
              <a:rPr lang="en-US" sz="1150" i="1" dirty="0">
                <a:solidFill>
                  <a:srgbClr val="5B6B78"/>
                </a:solidFill>
                <a:latin typeface="Calibri" pitchFamily="34" charset="0"/>
                <a:ea typeface="Calibri" pitchFamily="34" charset="-122"/>
                <a:cs typeface="Calibri" pitchFamily="34" charset="-120"/>
              </a:rPr>
              <a:t>higher addresses</a:t>
            </a:r>
            <a:endParaRPr lang="en-US" sz="1150" dirty="0"/>
          </a:p>
        </p:txBody>
      </p:sp>
      <p:sp>
        <p:nvSpPr>
          <p:cNvPr id="27" name="Text 25"/>
          <p:cNvSpPr txBox="1"/>
          <p:nvPr/>
        </p:nvSpPr>
        <p:spPr>
          <a:xfrm>
            <a:off x="7040880" y="5120640"/>
            <a:ext cx="4754880" cy="640080"/>
          </a:xfrm>
          <a:prstGeom prst="rect">
            <a:avLst/>
          </a:prstGeom>
          <a:noFill/>
          <a:ln/>
        </p:spPr>
        <p:txBody>
          <a:bodyPr wrap="square" lIns="0" tIns="0" rIns="0" bIns="0" rtlCol="0" anchor="t"/>
          <a:lstStyle/>
          <a:p>
            <a:pPr indent="0" marL="0">
              <a:buNone/>
            </a:pPr>
            <a:r>
              <a:rPr lang="en-US" sz="1400" dirty="0">
                <a:solidFill>
                  <a:srgbClr val="1B2530"/>
                </a:solidFill>
                <a:latin typeface="Calibri" pitchFamily="34" charset="0"/>
                <a:ea typeface="Calibri" pitchFamily="34" charset="-122"/>
                <a:cs typeface="Calibri" pitchFamily="34" charset="-120"/>
              </a:rPr>
              <a:t>The stack grows downward: subtract from sp to allocate, add to release.</a:t>
            </a:r>
            <a:endParaRPr lang="en-US" sz="14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Step 3: a value that survives between frames</a:t>
            </a:r>
            <a:endParaRPr lang="en-US" sz="3200" dirty="0"/>
          </a:p>
        </p:txBody>
      </p:sp>
      <p:sp>
        <p:nvSpPr>
          <p:cNvPr id="3" name="Shape 1"/>
          <p:cNvSpPr/>
          <p:nvPr/>
        </p:nvSpPr>
        <p:spPr>
          <a:xfrm>
            <a:off x="548640" y="1417320"/>
            <a:ext cx="7406640" cy="4754880"/>
          </a:xfrm>
          <a:prstGeom prst="roundRect">
            <a:avLst>
              <a:gd name="adj" fmla="val 1538"/>
            </a:avLst>
          </a:prstGeom>
          <a:solidFill>
            <a:srgbClr val="12202B"/>
          </a:solidFill>
          <a:ln w="12700">
            <a:solidFill>
              <a:srgbClr val="12202B"/>
            </a:solidFill>
            <a:prstDash val="solid"/>
          </a:ln>
        </p:spPr>
      </p:sp>
      <p:sp>
        <p:nvSpPr>
          <p:cNvPr id="4" name="Text 2"/>
          <p:cNvSpPr txBox="1"/>
          <p:nvPr/>
        </p:nvSpPr>
        <p:spPr>
          <a:xfrm>
            <a:off x="777240" y="1600200"/>
            <a:ext cx="6949440" cy="4389120"/>
          </a:xfrm>
          <a:prstGeom prst="rect">
            <a:avLst/>
          </a:prstGeom>
          <a:noFill/>
          <a:ln/>
        </p:spPr>
        <p:txBody>
          <a:bodyPr wrap="square" lIns="0" tIns="0" rIns="0" bIns="0" rtlCol="0" anchor="t"/>
          <a:lstStyle/>
          <a:p>
            <a:pPr indent="0" marL="0">
              <a:buNone/>
            </a:pPr>
            <a:r>
              <a:rPr lang="en-US" sz="1400" dirty="0">
                <a:solidFill>
                  <a:srgbClr val="E6EDF2"/>
                </a:solidFill>
                <a:latin typeface="Courier New" pitchFamily="34" charset="0"/>
                <a:ea typeface="Courier New" pitchFamily="34" charset="-122"/>
                <a:cs typeface="Courier New" pitchFamily="34" charset="-120"/>
              </a:rPr>
              <a:t>first_update:</a:t>
            </a:r>
            <a:endParaRPr lang="en-US" sz="1400" dirty="0"/>
          </a:p>
          <a:p>
            <a:pPr indent="0" marL="0">
              <a:buNone/>
            </a:pPr>
            <a:r>
              <a:rPr lang="en-US" sz="1400" dirty="0">
                <a:solidFill>
                  <a:srgbClr val="E6EDF2"/>
                </a:solidFill>
                <a:latin typeface="Courier New" pitchFamily="34" charset="0"/>
                <a:ea typeface="Courier New" pitchFamily="34" charset="-122"/>
                <a:cs typeface="Courier New" pitchFamily="34" charset="-120"/>
              </a:rPr>
              <a:t>    </a:t>
            </a:r>
            <a:pPr indent="0" marL="0">
              <a:buNone/>
            </a:pPr>
            <a:r>
              <a:rPr lang="en-US" sz="1400" dirty="0">
                <a:solidFill>
                  <a:srgbClr val="8FB3A0"/>
                </a:solidFill>
                <a:latin typeface="Courier New" pitchFamily="34" charset="0"/>
                <a:ea typeface="Courier New" pitchFamily="34" charset="-122"/>
                <a:cs typeface="Courier New" pitchFamily="34" charset="-120"/>
              </a:rPr>
              <a:t># A leaf function: it calls nothing,</a:t>
            </a:r>
            <a:endParaRPr lang="en-US" sz="1400" dirty="0"/>
          </a:p>
          <a:p>
            <a:pPr indent="0" marL="0">
              <a:buNone/>
            </a:pPr>
            <a:r>
              <a:rPr lang="en-US" sz="1400" dirty="0">
                <a:solidFill>
                  <a:srgbClr val="E6EDF2"/>
                </a:solidFill>
                <a:latin typeface="Courier New" pitchFamily="34" charset="0"/>
                <a:ea typeface="Courier New" pitchFamily="34" charset="-122"/>
                <a:cs typeface="Courier New" pitchFamily="34" charset="-120"/>
              </a:rPr>
              <a:t>    </a:t>
            </a:r>
            <a:pPr indent="0" marL="0">
              <a:buNone/>
            </a:pPr>
            <a:r>
              <a:rPr lang="en-US" sz="1400" dirty="0">
                <a:solidFill>
                  <a:srgbClr val="8FB3A0"/>
                </a:solidFill>
                <a:latin typeface="Courier New" pitchFamily="34" charset="0"/>
                <a:ea typeface="Courier New" pitchFamily="34" charset="-122"/>
                <a:cs typeface="Courier New" pitchFamily="34" charset="-120"/>
              </a:rPr>
              <a:t># so it needs no stack frame.</a:t>
            </a:r>
            <a:endParaRPr lang="en-US" sz="1400" dirty="0"/>
          </a:p>
          <a:p>
            <a:pPr indent="0" marL="0">
              <a:buNone/>
            </a:pPr>
            <a:r>
              <a:rPr lang="en-US" sz="1400" dirty="0">
                <a:solidFill>
                  <a:srgbClr val="E6EDF2"/>
                </a:solidFill>
                <a:latin typeface="Courier New" pitchFamily="34" charset="0"/>
                <a:ea typeface="Courier New" pitchFamily="34" charset="-122"/>
                <a:cs typeface="Courier New" pitchFamily="34" charset="-120"/>
              </a:rPr>
              <a:t>    la   t0, counter      </a:t>
            </a:r>
            <a:pPr indent="0" marL="0">
              <a:buNone/>
            </a:pPr>
            <a:r>
              <a:rPr lang="en-US" sz="1400" dirty="0">
                <a:solidFill>
                  <a:srgbClr val="8FB3A0"/>
                </a:solidFill>
                <a:latin typeface="Courier New" pitchFamily="34" charset="0"/>
                <a:ea typeface="Courier New" pitchFamily="34" charset="-122"/>
                <a:cs typeface="Courier New" pitchFamily="34" charset="-120"/>
              </a:rPr>
              <a:t># t0 = ADDRESS of counter</a:t>
            </a:r>
            <a:endParaRPr lang="en-US" sz="1400" dirty="0"/>
          </a:p>
          <a:p>
            <a:pPr indent="0" marL="0">
              <a:buNone/>
            </a:pPr>
            <a:r>
              <a:rPr lang="en-US" sz="1400" dirty="0">
                <a:solidFill>
                  <a:srgbClr val="E6EDF2"/>
                </a:solidFill>
                <a:latin typeface="Courier New" pitchFamily="34" charset="0"/>
                <a:ea typeface="Courier New" pitchFamily="34" charset="-122"/>
                <a:cs typeface="Courier New" pitchFamily="34" charset="-120"/>
              </a:rPr>
              <a:t>    lw   t1, 0(t0)        </a:t>
            </a:r>
            <a:pPr indent="0" marL="0">
              <a:buNone/>
            </a:pPr>
            <a:r>
              <a:rPr lang="en-US" sz="1400" dirty="0">
                <a:solidFill>
                  <a:srgbClr val="8FB3A0"/>
                </a:solidFill>
                <a:latin typeface="Courier New" pitchFamily="34" charset="0"/>
                <a:ea typeface="Courier New" pitchFamily="34" charset="-122"/>
                <a:cs typeface="Courier New" pitchFamily="34" charset="-120"/>
              </a:rPr>
              <a:t># t1 = VALUE stored there   (load)</a:t>
            </a:r>
            <a:endParaRPr lang="en-US" sz="1400" dirty="0"/>
          </a:p>
          <a:p>
            <a:pPr indent="0" marL="0">
              <a:buNone/>
            </a:pPr>
            <a:r>
              <a:rPr lang="en-US" sz="1400" dirty="0">
                <a:solidFill>
                  <a:srgbClr val="E6EDF2"/>
                </a:solidFill>
                <a:latin typeface="Courier New" pitchFamily="34" charset="0"/>
                <a:ea typeface="Courier New" pitchFamily="34" charset="-122"/>
                <a:cs typeface="Courier New" pitchFamily="34" charset="-120"/>
              </a:rPr>
              <a:t>    addi t1, t1, 1        </a:t>
            </a:r>
            <a:pPr indent="0" marL="0">
              <a:buNone/>
            </a:pPr>
            <a:r>
              <a:rPr lang="en-US" sz="1400" dirty="0">
                <a:solidFill>
                  <a:srgbClr val="8FB3A0"/>
                </a:solidFill>
                <a:latin typeface="Courier New" pitchFamily="34" charset="0"/>
                <a:ea typeface="Courier New" pitchFamily="34" charset="-122"/>
                <a:cs typeface="Courier New" pitchFamily="34" charset="-120"/>
              </a:rPr>
              <a:t># one tick per frame        (modify)</a:t>
            </a:r>
            <a:endParaRPr lang="en-US" sz="1400" dirty="0"/>
          </a:p>
          <a:p>
            <a:pPr indent="0" marL="0">
              <a:buNone/>
            </a:pPr>
            <a:r>
              <a:rPr lang="en-US" sz="1400" dirty="0">
                <a:solidFill>
                  <a:srgbClr val="E6EDF2"/>
                </a:solidFill>
                <a:latin typeface="Courier New" pitchFamily="34" charset="0"/>
                <a:ea typeface="Courier New" pitchFamily="34" charset="-122"/>
                <a:cs typeface="Courier New" pitchFamily="34" charset="-120"/>
              </a:rPr>
              <a:t>    sw   t1, 0(t0)        </a:t>
            </a:r>
            <a:pPr indent="0" marL="0">
              <a:buNone/>
            </a:pPr>
            <a:r>
              <a:rPr lang="en-US" sz="1400" dirty="0">
                <a:solidFill>
                  <a:srgbClr val="8FB3A0"/>
                </a:solidFill>
                <a:latin typeface="Courier New" pitchFamily="34" charset="0"/>
                <a:ea typeface="Courier New" pitchFamily="34" charset="-122"/>
                <a:cs typeface="Courier New" pitchFamily="34" charset="-120"/>
              </a:rPr>
              <a:t># write it back             (store)</a:t>
            </a:r>
            <a:endParaRPr lang="en-US" sz="1400" dirty="0"/>
          </a:p>
          <a:p>
            <a:pPr indent="0" marL="0">
              <a:buNone/>
            </a:pPr>
            <a:r>
              <a:rPr lang="en-US" sz="1400" dirty="0">
                <a:solidFill>
                  <a:srgbClr val="E6EDF2"/>
                </a:solidFill>
                <a:latin typeface="Courier New" pitchFamily="34" charset="0"/>
                <a:ea typeface="Courier New" pitchFamily="34" charset="-122"/>
                <a:cs typeface="Courier New" pitchFamily="34" charset="-120"/>
              </a:rPr>
              <a:t>    ret</a:t>
            </a:r>
            <a:endParaRPr lang="en-US" sz="1400" dirty="0"/>
          </a:p>
          <a:p>
            <a:pPr indent="0" marL="0">
              <a:buNone/>
            </a:pPr>
            <a:r>
              <a:rPr lang="en-US" sz="1400" dirty="0">
                <a:solidFill>
                  <a:srgbClr val="E6EDF2"/>
                </a:solidFill>
                <a:latin typeface="Courier New" pitchFamily="34" charset="0"/>
                <a:ea typeface="Courier New" pitchFamily="34" charset="-122"/>
                <a:cs typeface="Courier New" pitchFamily="34" charset="-120"/>
              </a:rPr>
              <a:t> </a:t>
            </a:r>
            <a:endParaRPr lang="en-US" sz="1400" dirty="0"/>
          </a:p>
          <a:p>
            <a:pPr indent="0" marL="0">
              <a:buNone/>
            </a:pPr>
            <a:r>
              <a:rPr lang="en-US" sz="1400" dirty="0">
                <a:solidFill>
                  <a:srgbClr val="E6EDF2"/>
                </a:solidFill>
                <a:latin typeface="Courier New" pitchFamily="34" charset="0"/>
                <a:ea typeface="Courier New" pitchFamily="34" charset="-122"/>
                <a:cs typeface="Courier New" pitchFamily="34" charset="-120"/>
              </a:rPr>
              <a:t>.section .data</a:t>
            </a:r>
            <a:endParaRPr lang="en-US" sz="1400" dirty="0"/>
          </a:p>
          <a:p>
            <a:pPr indent="0" marL="0">
              <a:buNone/>
            </a:pPr>
            <a:r>
              <a:rPr lang="en-US" sz="1400" dirty="0">
                <a:solidFill>
                  <a:srgbClr val="E6EDF2"/>
                </a:solidFill>
                <a:latin typeface="Courier New" pitchFamily="34" charset="0"/>
                <a:ea typeface="Courier New" pitchFamily="34" charset="-122"/>
                <a:cs typeface="Courier New" pitchFamily="34" charset="-120"/>
              </a:rPr>
              <a:t>counter: .word 0</a:t>
            </a:r>
            <a:endParaRPr lang="en-US" sz="1400" dirty="0"/>
          </a:p>
        </p:txBody>
      </p:sp>
      <p:sp>
        <p:nvSpPr>
          <p:cNvPr id="5" name="Shape 3"/>
          <p:cNvSpPr/>
          <p:nvPr/>
        </p:nvSpPr>
        <p:spPr>
          <a:xfrm>
            <a:off x="8229600" y="1417320"/>
            <a:ext cx="3413455" cy="1037844"/>
          </a:xfrm>
          <a:prstGeom prst="roundRect">
            <a:avLst>
              <a:gd name="adj" fmla="val 7048"/>
            </a:avLst>
          </a:prstGeom>
          <a:solidFill>
            <a:srgbClr val="EEF2F4"/>
          </a:solidFill>
          <a:ln w="12700">
            <a:solidFill>
              <a:srgbClr val="EEF2F4"/>
            </a:solidFill>
            <a:prstDash val="solid"/>
          </a:ln>
        </p:spPr>
      </p:sp>
      <p:sp>
        <p:nvSpPr>
          <p:cNvPr id="6" name="Text 4"/>
          <p:cNvSpPr txBox="1"/>
          <p:nvPr/>
        </p:nvSpPr>
        <p:spPr>
          <a:xfrm>
            <a:off x="8394192" y="1581912"/>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7" name="Text 5"/>
          <p:cNvSpPr txBox="1"/>
          <p:nvPr/>
        </p:nvSpPr>
        <p:spPr>
          <a:xfrm>
            <a:off x="8915400" y="1554480"/>
            <a:ext cx="254477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counter is a label: it names a location in memory, in the .data section, holding one 32-bit word</a:t>
            </a:r>
            <a:endParaRPr lang="en-US" sz="1200" dirty="0"/>
          </a:p>
        </p:txBody>
      </p:sp>
      <p:sp>
        <p:nvSpPr>
          <p:cNvPr id="8" name="Shape 6"/>
          <p:cNvSpPr/>
          <p:nvPr/>
        </p:nvSpPr>
        <p:spPr>
          <a:xfrm>
            <a:off x="8229600" y="2656332"/>
            <a:ext cx="3413455" cy="1037844"/>
          </a:xfrm>
          <a:prstGeom prst="roundRect">
            <a:avLst>
              <a:gd name="adj" fmla="val 7048"/>
            </a:avLst>
          </a:prstGeom>
          <a:solidFill>
            <a:srgbClr val="EEF2F4"/>
          </a:solidFill>
          <a:ln w="12700">
            <a:solidFill>
              <a:srgbClr val="EEF2F4"/>
            </a:solidFill>
            <a:prstDash val="solid"/>
          </a:ln>
        </p:spPr>
      </p:sp>
      <p:sp>
        <p:nvSpPr>
          <p:cNvPr id="9" name="Text 7"/>
          <p:cNvSpPr txBox="1"/>
          <p:nvPr/>
        </p:nvSpPr>
        <p:spPr>
          <a:xfrm>
            <a:off x="8394192" y="2820924"/>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0" name="Text 8"/>
          <p:cNvSpPr txBox="1"/>
          <p:nvPr/>
        </p:nvSpPr>
        <p:spPr>
          <a:xfrm>
            <a:off x="8915400" y="2793492"/>
            <a:ext cx="254477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la puts the ADDRESS of that location in t0</a:t>
            </a:r>
            <a:endParaRPr lang="en-US" sz="1200" dirty="0"/>
          </a:p>
        </p:txBody>
      </p:sp>
      <p:sp>
        <p:nvSpPr>
          <p:cNvPr id="11" name="Shape 9"/>
          <p:cNvSpPr/>
          <p:nvPr/>
        </p:nvSpPr>
        <p:spPr>
          <a:xfrm>
            <a:off x="8229600" y="3895344"/>
            <a:ext cx="3413455" cy="1037844"/>
          </a:xfrm>
          <a:prstGeom prst="roundRect">
            <a:avLst>
              <a:gd name="adj" fmla="val 7048"/>
            </a:avLst>
          </a:prstGeom>
          <a:solidFill>
            <a:srgbClr val="EEF2F4"/>
          </a:solidFill>
          <a:ln w="12700">
            <a:solidFill>
              <a:srgbClr val="EEF2F4"/>
            </a:solidFill>
            <a:prstDash val="solid"/>
          </a:ln>
        </p:spPr>
      </p:sp>
      <p:sp>
        <p:nvSpPr>
          <p:cNvPr id="12" name="Text 10"/>
          <p:cNvSpPr txBox="1"/>
          <p:nvPr/>
        </p:nvSpPr>
        <p:spPr>
          <a:xfrm>
            <a:off x="8394192" y="4059936"/>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3" name="Text 11"/>
          <p:cNvSpPr txBox="1"/>
          <p:nvPr/>
        </p:nvSpPr>
        <p:spPr>
          <a:xfrm>
            <a:off x="8915400" y="4032504"/>
            <a:ext cx="254477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lw reads the VALUE at that address into t1; sw writes it back</a:t>
            </a:r>
            <a:endParaRPr lang="en-US" sz="1200" dirty="0"/>
          </a:p>
        </p:txBody>
      </p:sp>
      <p:sp>
        <p:nvSpPr>
          <p:cNvPr id="14" name="Shape 12"/>
          <p:cNvSpPr/>
          <p:nvPr/>
        </p:nvSpPr>
        <p:spPr>
          <a:xfrm>
            <a:off x="8229600" y="5134356"/>
            <a:ext cx="3413455" cy="1037844"/>
          </a:xfrm>
          <a:prstGeom prst="roundRect">
            <a:avLst>
              <a:gd name="adj" fmla="val 7048"/>
            </a:avLst>
          </a:prstGeom>
          <a:solidFill>
            <a:srgbClr val="EEF2F4"/>
          </a:solidFill>
          <a:ln w="12700">
            <a:solidFill>
              <a:srgbClr val="EEF2F4"/>
            </a:solidFill>
            <a:prstDash val="solid"/>
          </a:ln>
        </p:spPr>
      </p:sp>
      <p:sp>
        <p:nvSpPr>
          <p:cNvPr id="15" name="Text 13"/>
          <p:cNvSpPr txBox="1"/>
          <p:nvPr/>
        </p:nvSpPr>
        <p:spPr>
          <a:xfrm>
            <a:off x="8394192" y="5298948"/>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16" name="Text 14"/>
          <p:cNvSpPr txBox="1"/>
          <p:nvPr/>
        </p:nvSpPr>
        <p:spPr>
          <a:xfrm>
            <a:off x="8915400" y="5271516"/>
            <a:ext cx="254477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The processor computes only in registers: load, modify, store</a:t>
            </a:r>
            <a:endParaRPr lang="en-US" sz="12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Address or value? The crux of memory</a:t>
            </a:r>
            <a:endParaRPr lang="en-US" sz="3200" dirty="0"/>
          </a:p>
        </p:txBody>
      </p:sp>
      <p:sp>
        <p:nvSpPr>
          <p:cNvPr id="3" name="Text 1"/>
          <p:cNvSpPr txBox="1"/>
          <p:nvPr/>
        </p:nvSpPr>
        <p:spPr>
          <a:xfrm>
            <a:off x="548640" y="1417320"/>
            <a:ext cx="4572000" cy="320040"/>
          </a:xfrm>
          <a:prstGeom prst="rect">
            <a:avLst/>
          </a:prstGeom>
          <a:noFill/>
          <a:ln/>
        </p:spPr>
        <p:txBody>
          <a:bodyPr wrap="square" lIns="0" tIns="0" rIns="0" bIns="0" rtlCol="0" anchor="t"/>
          <a:lstStyle/>
          <a:p>
            <a:pPr indent="0" marL="0">
              <a:buNone/>
            </a:pPr>
            <a:r>
              <a:rPr lang="en-US" sz="1500" b="1" dirty="0">
                <a:solidFill>
                  <a:srgbClr val="2E4A62"/>
                </a:solidFill>
                <a:latin typeface="Calibri" pitchFamily="34" charset="0"/>
                <a:ea typeface="Calibri" pitchFamily="34" charset="-122"/>
                <a:cs typeface="Calibri" pitchFamily="34" charset="-120"/>
              </a:rPr>
              <a:t>Registers (inside the processor)</a:t>
            </a:r>
            <a:endParaRPr lang="en-US" sz="1500" dirty="0"/>
          </a:p>
        </p:txBody>
      </p:sp>
      <p:sp>
        <p:nvSpPr>
          <p:cNvPr id="4" name="Text 2"/>
          <p:cNvSpPr txBox="1"/>
          <p:nvPr/>
        </p:nvSpPr>
        <p:spPr>
          <a:xfrm>
            <a:off x="548640" y="1874520"/>
            <a:ext cx="640080" cy="685800"/>
          </a:xfrm>
          <a:prstGeom prst="rect">
            <a:avLst/>
          </a:prstGeom>
          <a:noFill/>
          <a:ln/>
        </p:spPr>
        <p:txBody>
          <a:bodyPr wrap="square" lIns="0" tIns="0" rIns="0" bIns="0" rtlCol="0" anchor="ctr"/>
          <a:lstStyle/>
          <a:p>
            <a:pPr indent="0" marL="0">
              <a:buNone/>
            </a:pPr>
            <a:r>
              <a:rPr lang="en-US" sz="2200" b="1" dirty="0">
                <a:solidFill>
                  <a:srgbClr val="1B2530"/>
                </a:solidFill>
                <a:latin typeface="Courier New" pitchFamily="34" charset="0"/>
                <a:ea typeface="Courier New" pitchFamily="34" charset="-122"/>
                <a:cs typeface="Courier New" pitchFamily="34" charset="-120"/>
              </a:rPr>
              <a:t>t0</a:t>
            </a:r>
            <a:endParaRPr lang="en-US" sz="2200" dirty="0"/>
          </a:p>
        </p:txBody>
      </p:sp>
      <p:sp>
        <p:nvSpPr>
          <p:cNvPr id="5" name="Text 3"/>
          <p:cNvSpPr txBox="1"/>
          <p:nvPr/>
        </p:nvSpPr>
        <p:spPr>
          <a:xfrm>
            <a:off x="1280160" y="1874520"/>
            <a:ext cx="3291840" cy="685800"/>
          </a:xfrm>
          <a:prstGeom prst="rect">
            <a:avLst/>
          </a:prstGeom>
          <a:solidFill>
            <a:srgbClr val="0E7C86"/>
          </a:solidFill>
          <a:ln>
            <a:solidFill>
              <a:srgbClr val="0E7C86"/>
            </a:solidFill>
          </a:ln>
        </p:spPr>
        <p:txBody>
          <a:bodyPr wrap="square" lIns="0" tIns="0" rIns="0" bIns="0" rtlCol="0" anchor="ctr"/>
          <a:lstStyle/>
          <a:p>
            <a:pPr algn="ctr" indent="0" marL="0">
              <a:buNone/>
            </a:pPr>
            <a:r>
              <a:rPr lang="en-US" sz="1700" b="1" dirty="0">
                <a:solidFill>
                  <a:srgbClr val="FFFFFF"/>
                </a:solidFill>
                <a:latin typeface="Courier New" pitchFamily="34" charset="0"/>
                <a:ea typeface="Courier New" pitchFamily="34" charset="-122"/>
                <a:cs typeface="Courier New" pitchFamily="34" charset="-120"/>
              </a:rPr>
              <a:t>address of counter</a:t>
            </a:r>
            <a:endParaRPr lang="en-US" sz="1700" dirty="0"/>
          </a:p>
        </p:txBody>
      </p:sp>
      <p:sp>
        <p:nvSpPr>
          <p:cNvPr id="6" name="Text 4"/>
          <p:cNvSpPr txBox="1"/>
          <p:nvPr/>
        </p:nvSpPr>
        <p:spPr>
          <a:xfrm>
            <a:off x="548640" y="3017520"/>
            <a:ext cx="640080" cy="685800"/>
          </a:xfrm>
          <a:prstGeom prst="rect">
            <a:avLst/>
          </a:prstGeom>
          <a:noFill/>
          <a:ln/>
        </p:spPr>
        <p:txBody>
          <a:bodyPr wrap="square" lIns="0" tIns="0" rIns="0" bIns="0" rtlCol="0" anchor="ctr"/>
          <a:lstStyle/>
          <a:p>
            <a:pPr indent="0" marL="0">
              <a:buNone/>
            </a:pPr>
            <a:r>
              <a:rPr lang="en-US" sz="2200" b="1" dirty="0">
                <a:solidFill>
                  <a:srgbClr val="1B2530"/>
                </a:solidFill>
                <a:latin typeface="Courier New" pitchFamily="34" charset="0"/>
                <a:ea typeface="Courier New" pitchFamily="34" charset="-122"/>
                <a:cs typeface="Courier New" pitchFamily="34" charset="-120"/>
              </a:rPr>
              <a:t>t1</a:t>
            </a:r>
            <a:endParaRPr lang="en-US" sz="2200" dirty="0"/>
          </a:p>
        </p:txBody>
      </p:sp>
      <p:sp>
        <p:nvSpPr>
          <p:cNvPr id="7" name="Text 5"/>
          <p:cNvSpPr txBox="1"/>
          <p:nvPr/>
        </p:nvSpPr>
        <p:spPr>
          <a:xfrm>
            <a:off x="1280160" y="3017520"/>
            <a:ext cx="3291840" cy="685800"/>
          </a:xfrm>
          <a:prstGeom prst="rect">
            <a:avLst/>
          </a:prstGeom>
          <a:solidFill>
            <a:srgbClr val="C7791B"/>
          </a:solidFill>
          <a:ln>
            <a:solidFill>
              <a:srgbClr val="C7791B"/>
            </a:solidFill>
          </a:ln>
        </p:spPr>
        <p:txBody>
          <a:bodyPr wrap="square" lIns="0" tIns="0" rIns="0" bIns="0" rtlCol="0" anchor="ctr"/>
          <a:lstStyle/>
          <a:p>
            <a:pPr algn="ctr" indent="0" marL="0">
              <a:buNone/>
            </a:pPr>
            <a:r>
              <a:rPr lang="en-US" sz="1700" b="1" dirty="0">
                <a:solidFill>
                  <a:srgbClr val="FFFFFF"/>
                </a:solidFill>
                <a:latin typeface="Courier New" pitchFamily="34" charset="0"/>
                <a:ea typeface="Courier New" pitchFamily="34" charset="-122"/>
                <a:cs typeface="Courier New" pitchFamily="34" charset="-120"/>
              </a:rPr>
              <a:t>41  then  42</a:t>
            </a:r>
            <a:endParaRPr lang="en-US" sz="1700" dirty="0"/>
          </a:p>
        </p:txBody>
      </p:sp>
      <p:sp>
        <p:nvSpPr>
          <p:cNvPr id="8" name="Text 6"/>
          <p:cNvSpPr txBox="1"/>
          <p:nvPr/>
        </p:nvSpPr>
        <p:spPr>
          <a:xfrm>
            <a:off x="7498080" y="1417320"/>
            <a:ext cx="4114800" cy="320040"/>
          </a:xfrm>
          <a:prstGeom prst="rect">
            <a:avLst/>
          </a:prstGeom>
          <a:noFill/>
          <a:ln/>
        </p:spPr>
        <p:txBody>
          <a:bodyPr wrap="square" lIns="0" tIns="0" rIns="0" bIns="0" rtlCol="0" anchor="t"/>
          <a:lstStyle/>
          <a:p>
            <a:pPr indent="0" marL="0">
              <a:buNone/>
            </a:pPr>
            <a:r>
              <a:rPr lang="en-US" sz="1500" b="1" dirty="0">
                <a:solidFill>
                  <a:srgbClr val="2E4A62"/>
                </a:solidFill>
                <a:latin typeface="Calibri" pitchFamily="34" charset="0"/>
                <a:ea typeface="Calibri" pitchFamily="34" charset="-122"/>
                <a:cs typeface="Calibri" pitchFamily="34" charset="-120"/>
              </a:rPr>
              <a:t>Memory (.data section)</a:t>
            </a:r>
            <a:endParaRPr lang="en-US" sz="1500" dirty="0"/>
          </a:p>
        </p:txBody>
      </p:sp>
      <p:sp>
        <p:nvSpPr>
          <p:cNvPr id="9" name="Text 7"/>
          <p:cNvSpPr txBox="1"/>
          <p:nvPr/>
        </p:nvSpPr>
        <p:spPr>
          <a:xfrm>
            <a:off x="7498080" y="1874520"/>
            <a:ext cx="3566160" cy="685800"/>
          </a:xfrm>
          <a:prstGeom prst="rect">
            <a:avLst/>
          </a:prstGeom>
          <a:solidFill>
            <a:srgbClr val="EEF2F4"/>
          </a:solidFill>
          <a:ln w="12700">
            <a:solidFill>
              <a:srgbClr val="2E4A62"/>
            </a:solidFill>
          </a:ln>
        </p:spPr>
        <p:txBody>
          <a:bodyPr wrap="square" lIns="0" tIns="0" rIns="0" bIns="0" rtlCol="0" anchor="ctr"/>
          <a:lstStyle/>
          <a:p>
            <a:pPr algn="ctr" indent="0" marL="0">
              <a:buNone/>
            </a:pPr>
            <a:r>
              <a:rPr lang="en-US" sz="1700" dirty="0">
                <a:solidFill>
                  <a:srgbClr val="1B2530"/>
                </a:solidFill>
                <a:latin typeface="Courier New" pitchFamily="34" charset="0"/>
                <a:ea typeface="Courier New" pitchFamily="34" charset="-122"/>
                <a:cs typeface="Courier New" pitchFamily="34" charset="-120"/>
              </a:rPr>
              <a:t>...</a:t>
            </a:r>
            <a:endParaRPr lang="en-US" sz="1700" dirty="0"/>
          </a:p>
        </p:txBody>
      </p:sp>
      <p:sp>
        <p:nvSpPr>
          <p:cNvPr id="10" name="Text 8"/>
          <p:cNvSpPr txBox="1"/>
          <p:nvPr/>
        </p:nvSpPr>
        <p:spPr>
          <a:xfrm>
            <a:off x="7498080" y="2560320"/>
            <a:ext cx="3566160" cy="685800"/>
          </a:xfrm>
          <a:prstGeom prst="rect">
            <a:avLst/>
          </a:prstGeom>
          <a:solidFill>
            <a:srgbClr val="F6E7D2"/>
          </a:solidFill>
          <a:ln w="12700">
            <a:solidFill>
              <a:srgbClr val="2E4A62"/>
            </a:solidFill>
          </a:ln>
        </p:spPr>
        <p:txBody>
          <a:bodyPr wrap="square" lIns="0" tIns="0" rIns="0" bIns="0" rtlCol="0" anchor="ctr"/>
          <a:lstStyle/>
          <a:p>
            <a:pPr algn="ctr" indent="0" marL="0">
              <a:buNone/>
            </a:pPr>
            <a:r>
              <a:rPr lang="en-US" sz="1700" b="1" dirty="0">
                <a:solidFill>
                  <a:srgbClr val="1B2530"/>
                </a:solidFill>
                <a:latin typeface="Courier New" pitchFamily="34" charset="0"/>
                <a:ea typeface="Courier New" pitchFamily="34" charset="-122"/>
                <a:cs typeface="Courier New" pitchFamily="34" charset="-120"/>
              </a:rPr>
              <a:t>counter:  41</a:t>
            </a:r>
            <a:endParaRPr lang="en-US" sz="1700" dirty="0"/>
          </a:p>
        </p:txBody>
      </p:sp>
      <p:sp>
        <p:nvSpPr>
          <p:cNvPr id="11" name="Text 9"/>
          <p:cNvSpPr txBox="1"/>
          <p:nvPr/>
        </p:nvSpPr>
        <p:spPr>
          <a:xfrm>
            <a:off x="7498080" y="3246120"/>
            <a:ext cx="3566160" cy="685800"/>
          </a:xfrm>
          <a:prstGeom prst="rect">
            <a:avLst/>
          </a:prstGeom>
          <a:solidFill>
            <a:srgbClr val="EEF2F4"/>
          </a:solidFill>
          <a:ln w="12700">
            <a:solidFill>
              <a:srgbClr val="2E4A62"/>
            </a:solidFill>
          </a:ln>
        </p:spPr>
        <p:txBody>
          <a:bodyPr wrap="square" lIns="0" tIns="0" rIns="0" bIns="0" rtlCol="0" anchor="ctr"/>
          <a:lstStyle/>
          <a:p>
            <a:pPr algn="ctr" indent="0" marL="0">
              <a:buNone/>
            </a:pPr>
            <a:r>
              <a:rPr lang="en-US" sz="1700" dirty="0">
                <a:solidFill>
                  <a:srgbClr val="1B2530"/>
                </a:solidFill>
                <a:latin typeface="Courier New" pitchFamily="34" charset="0"/>
                <a:ea typeface="Courier New" pitchFamily="34" charset="-122"/>
                <a:cs typeface="Courier New" pitchFamily="34" charset="-120"/>
              </a:rPr>
              <a:t>...</a:t>
            </a:r>
            <a:endParaRPr lang="en-US" sz="1700" dirty="0"/>
          </a:p>
        </p:txBody>
      </p:sp>
      <p:sp>
        <p:nvSpPr>
          <p:cNvPr id="12" name="Shape 10"/>
          <p:cNvSpPr/>
          <p:nvPr/>
        </p:nvSpPr>
        <p:spPr>
          <a:xfrm>
            <a:off x="4617720" y="2217420"/>
            <a:ext cx="2834640" cy="617220"/>
          </a:xfrm>
          <a:prstGeom prst="line">
            <a:avLst/>
          </a:prstGeom>
          <a:noFill/>
          <a:ln w="28575">
            <a:solidFill>
              <a:srgbClr val="0E7C86"/>
            </a:solidFill>
            <a:prstDash val="solid"/>
            <a:tailEnd type="triangle"/>
          </a:ln>
        </p:spPr>
      </p:sp>
      <p:sp>
        <p:nvSpPr>
          <p:cNvPr id="13" name="Text 11"/>
          <p:cNvSpPr txBox="1"/>
          <p:nvPr/>
        </p:nvSpPr>
        <p:spPr>
          <a:xfrm>
            <a:off x="4846320" y="2011680"/>
            <a:ext cx="2377440" cy="274320"/>
          </a:xfrm>
          <a:prstGeom prst="rect">
            <a:avLst/>
          </a:prstGeom>
          <a:noFill/>
          <a:ln/>
        </p:spPr>
        <p:txBody>
          <a:bodyPr wrap="square" lIns="0" tIns="0" rIns="0" bIns="0" rtlCol="0" anchor="t"/>
          <a:lstStyle/>
          <a:p>
            <a:pPr algn="ctr" indent="0" marL="0">
              <a:buNone/>
            </a:pPr>
            <a:r>
              <a:rPr lang="en-US" sz="1300" i="1" dirty="0">
                <a:solidFill>
                  <a:srgbClr val="0E7C86"/>
                </a:solidFill>
                <a:latin typeface="Calibri" pitchFamily="34" charset="0"/>
                <a:ea typeface="Calibri" pitchFamily="34" charset="-122"/>
                <a:cs typeface="Calibri" pitchFamily="34" charset="-120"/>
              </a:rPr>
              <a:t>t0 points here</a:t>
            </a:r>
            <a:endParaRPr lang="en-US" sz="1300" dirty="0"/>
          </a:p>
        </p:txBody>
      </p:sp>
      <p:sp>
        <p:nvSpPr>
          <p:cNvPr id="14" name="Shape 12"/>
          <p:cNvSpPr/>
          <p:nvPr/>
        </p:nvSpPr>
        <p:spPr>
          <a:xfrm flipH="1">
            <a:off x="4617720" y="3017520"/>
            <a:ext cx="2834640" cy="228600"/>
          </a:xfrm>
          <a:prstGeom prst="line">
            <a:avLst/>
          </a:prstGeom>
          <a:noFill/>
          <a:ln w="28575">
            <a:solidFill>
              <a:srgbClr val="C7791B"/>
            </a:solidFill>
            <a:prstDash val="solid"/>
            <a:tailEnd type="triangle"/>
          </a:ln>
        </p:spPr>
      </p:sp>
      <p:sp>
        <p:nvSpPr>
          <p:cNvPr id="15" name="Text 13"/>
          <p:cNvSpPr txBox="1"/>
          <p:nvPr/>
        </p:nvSpPr>
        <p:spPr>
          <a:xfrm>
            <a:off x="4754880" y="3291840"/>
            <a:ext cx="2651760" cy="274320"/>
          </a:xfrm>
          <a:prstGeom prst="rect">
            <a:avLst/>
          </a:prstGeom>
          <a:noFill/>
          <a:ln/>
        </p:spPr>
        <p:txBody>
          <a:bodyPr wrap="square" lIns="0" tIns="0" rIns="0" bIns="0" rtlCol="0" anchor="t"/>
          <a:lstStyle/>
          <a:p>
            <a:pPr algn="ctr" indent="0" marL="0">
              <a:buNone/>
            </a:pPr>
            <a:r>
              <a:rPr lang="en-US" sz="1300" i="1" dirty="0">
                <a:solidFill>
                  <a:srgbClr val="C7791B"/>
                </a:solidFill>
                <a:latin typeface="Calibri" pitchFamily="34" charset="0"/>
                <a:ea typeface="Calibri" pitchFamily="34" charset="-122"/>
                <a:cs typeface="Calibri" pitchFamily="34" charset="-120"/>
              </a:rPr>
              <a:t>lw copies the contents</a:t>
            </a:r>
            <a:endParaRPr lang="en-US" sz="1300" dirty="0"/>
          </a:p>
        </p:txBody>
      </p:sp>
      <p:sp>
        <p:nvSpPr>
          <p:cNvPr id="16" name="Shape 14"/>
          <p:cNvSpPr/>
          <p:nvPr/>
        </p:nvSpPr>
        <p:spPr>
          <a:xfrm>
            <a:off x="548640" y="3977640"/>
            <a:ext cx="7315200" cy="2194560"/>
          </a:xfrm>
          <a:prstGeom prst="roundRect">
            <a:avLst>
              <a:gd name="adj" fmla="val 3333"/>
            </a:avLst>
          </a:prstGeom>
          <a:solidFill>
            <a:srgbClr val="12202B"/>
          </a:solidFill>
          <a:ln w="12700">
            <a:solidFill>
              <a:srgbClr val="12202B"/>
            </a:solidFill>
            <a:prstDash val="solid"/>
          </a:ln>
        </p:spPr>
      </p:sp>
      <p:sp>
        <p:nvSpPr>
          <p:cNvPr id="17" name="Text 15"/>
          <p:cNvSpPr txBox="1"/>
          <p:nvPr/>
        </p:nvSpPr>
        <p:spPr>
          <a:xfrm>
            <a:off x="777240" y="4160520"/>
            <a:ext cx="6858000" cy="1828800"/>
          </a:xfrm>
          <a:prstGeom prst="rect">
            <a:avLst/>
          </a:prstGeom>
          <a:noFill/>
          <a:ln/>
        </p:spPr>
        <p:txBody>
          <a:bodyPr wrap="square" lIns="0" tIns="0" rIns="0" bIns="0" rtlCol="0" anchor="t"/>
          <a:lstStyle/>
          <a:p>
            <a:pPr indent="0" marL="0">
              <a:buNone/>
            </a:pPr>
            <a:r>
              <a:rPr lang="en-US" sz="1500" dirty="0">
                <a:solidFill>
                  <a:srgbClr val="E6EDF2"/>
                </a:solidFill>
                <a:latin typeface="Courier New" pitchFamily="34" charset="0"/>
                <a:ea typeface="Courier New" pitchFamily="34" charset="-122"/>
                <a:cs typeface="Courier New" pitchFamily="34" charset="-120"/>
              </a:rPr>
              <a:t>la   t0, counter    </a:t>
            </a:r>
            <a:pPr indent="0" marL="0">
              <a:buNone/>
            </a:pPr>
            <a:r>
              <a:rPr lang="en-US" sz="1500" dirty="0">
                <a:solidFill>
                  <a:srgbClr val="8FB3A0"/>
                </a:solidFill>
                <a:latin typeface="Courier New" pitchFamily="34" charset="0"/>
                <a:ea typeface="Courier New" pitchFamily="34" charset="-122"/>
                <a:cs typeface="Courier New" pitchFamily="34" charset="-120"/>
              </a:rPr>
              <a:t># t0 = WHERE the value lives</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lw   t1, 0(t0)      </a:t>
            </a:r>
            <a:pPr indent="0" marL="0">
              <a:buNone/>
            </a:pPr>
            <a:r>
              <a:rPr lang="en-US" sz="1500" dirty="0">
                <a:solidFill>
                  <a:srgbClr val="8FB3A0"/>
                </a:solidFill>
                <a:latin typeface="Courier New" pitchFamily="34" charset="0"/>
                <a:ea typeface="Courier New" pitchFamily="34" charset="-122"/>
                <a:cs typeface="Courier New" pitchFamily="34" charset="-120"/>
              </a:rPr>
              <a:t># t1 = WHAT is stored there</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addi t1, t1, 1      </a:t>
            </a:r>
            <a:pPr indent="0" marL="0">
              <a:buNone/>
            </a:pPr>
            <a:r>
              <a:rPr lang="en-US" sz="1500" dirty="0">
                <a:solidFill>
                  <a:srgbClr val="8FB3A0"/>
                </a:solidFill>
                <a:latin typeface="Courier New" pitchFamily="34" charset="0"/>
                <a:ea typeface="Courier New" pitchFamily="34" charset="-122"/>
                <a:cs typeface="Courier New" pitchFamily="34" charset="-120"/>
              </a:rPr>
              <a:t># change the copy in the register</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sw   t1, 0(t0)      </a:t>
            </a:r>
            <a:pPr indent="0" marL="0">
              <a:buNone/>
            </a:pPr>
            <a:r>
              <a:rPr lang="en-US" sz="1500" dirty="0">
                <a:solidFill>
                  <a:srgbClr val="8FB3A0"/>
                </a:solidFill>
                <a:latin typeface="Courier New" pitchFamily="34" charset="0"/>
                <a:ea typeface="Courier New" pitchFamily="34" charset="-122"/>
                <a:cs typeface="Courier New" pitchFamily="34" charset="-120"/>
              </a:rPr>
              <a:t># memory still says 41 until this line</a:t>
            </a:r>
            <a:endParaRPr lang="en-US" sz="1500" dirty="0"/>
          </a:p>
        </p:txBody>
      </p:sp>
      <p:sp>
        <p:nvSpPr>
          <p:cNvPr id="18" name="Shape 16"/>
          <p:cNvSpPr/>
          <p:nvPr/>
        </p:nvSpPr>
        <p:spPr>
          <a:xfrm>
            <a:off x="8229600" y="3977640"/>
            <a:ext cx="3413455" cy="2194560"/>
          </a:xfrm>
          <a:prstGeom prst="roundRect">
            <a:avLst>
              <a:gd name="adj" fmla="val 3333"/>
            </a:avLst>
          </a:prstGeom>
          <a:solidFill>
            <a:srgbClr val="F3DDE0"/>
          </a:solidFill>
          <a:ln w="12700">
            <a:solidFill>
              <a:srgbClr val="F3DDE0"/>
            </a:solidFill>
            <a:prstDash val="solid"/>
          </a:ln>
        </p:spPr>
      </p:sp>
      <p:sp>
        <p:nvSpPr>
          <p:cNvPr id="19" name="Text 17"/>
          <p:cNvSpPr txBox="1"/>
          <p:nvPr/>
        </p:nvSpPr>
        <p:spPr>
          <a:xfrm>
            <a:off x="8412480" y="4069080"/>
            <a:ext cx="3047695" cy="2011680"/>
          </a:xfrm>
          <a:prstGeom prst="rect">
            <a:avLst/>
          </a:prstGeom>
          <a:noFill/>
          <a:ln/>
        </p:spPr>
        <p:txBody>
          <a:bodyPr wrap="square" lIns="0" tIns="0" rIns="0" bIns="0" rtlCol="0" anchor="ctr"/>
          <a:lstStyle/>
          <a:p>
            <a:pPr indent="0" marL="0">
              <a:buNone/>
            </a:pPr>
            <a:r>
              <a:rPr lang="en-US" sz="1550" dirty="0">
                <a:solidFill>
                  <a:srgbClr val="1B2530"/>
                </a:solidFill>
                <a:latin typeface="Calibri" pitchFamily="34" charset="0"/>
                <a:ea typeface="Calibri" pitchFamily="34" charset="-122"/>
                <a:cs typeface="Calibri" pitchFamily="34" charset="-120"/>
              </a:rPr>
              <a:t>Using an address where a value belongs, or the reverse, is one of the most common beginner errors. Comment every register: ADDRESS or VALUE.</a:t>
            </a:r>
            <a:endParaRPr lang="en-US" sz="155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Step 4: make the counter visible</a:t>
            </a:r>
            <a:endParaRPr lang="en-US" sz="3200" dirty="0"/>
          </a:p>
        </p:txBody>
      </p:sp>
      <p:sp>
        <p:nvSpPr>
          <p:cNvPr id="3" name="Shape 1"/>
          <p:cNvSpPr/>
          <p:nvPr/>
        </p:nvSpPr>
        <p:spPr>
          <a:xfrm>
            <a:off x="548640" y="1417320"/>
            <a:ext cx="6675120" cy="4754880"/>
          </a:xfrm>
          <a:prstGeom prst="roundRect">
            <a:avLst>
              <a:gd name="adj" fmla="val 1538"/>
            </a:avLst>
          </a:prstGeom>
          <a:solidFill>
            <a:srgbClr val="12202B"/>
          </a:solidFill>
          <a:ln w="12700">
            <a:solidFill>
              <a:srgbClr val="12202B"/>
            </a:solidFill>
            <a:prstDash val="solid"/>
          </a:ln>
        </p:spPr>
      </p:sp>
      <p:sp>
        <p:nvSpPr>
          <p:cNvPr id="4" name="Text 2"/>
          <p:cNvSpPr txBox="1"/>
          <p:nvPr/>
        </p:nvSpPr>
        <p:spPr>
          <a:xfrm>
            <a:off x="777240" y="1600200"/>
            <a:ext cx="6217920" cy="4389120"/>
          </a:xfrm>
          <a:prstGeom prst="rect">
            <a:avLst/>
          </a:prstGeom>
          <a:noFill/>
          <a:ln/>
        </p:spPr>
        <p:txBody>
          <a:bodyPr wrap="square" lIns="0" tIns="0" rIns="0" bIns="0" rtlCol="0" anchor="t"/>
          <a:lstStyle/>
          <a:p>
            <a:pPr indent="0" marL="0">
              <a:buNone/>
            </a:pPr>
            <a:r>
              <a:rPr lang="en-US" sz="1450" dirty="0">
                <a:solidFill>
                  <a:srgbClr val="E6EDF2"/>
                </a:solidFill>
                <a:latin typeface="Courier New" pitchFamily="34" charset="0"/>
                <a:ea typeface="Courier New" pitchFamily="34" charset="-122"/>
                <a:cs typeface="Courier New" pitchFamily="34" charset="-120"/>
              </a:rPr>
              <a:t>    la   t0, counter</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lw   t1, 0(t0)</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andi a2, t1, 255      </a:t>
            </a:r>
            <a:pPr indent="0" marL="0">
              <a:buNone/>
            </a:pPr>
            <a:r>
              <a:rPr lang="en-US" sz="1450" dirty="0">
                <a:solidFill>
                  <a:srgbClr val="8FB3A0"/>
                </a:solidFill>
                <a:latin typeface="Courier New" pitchFamily="34" charset="0"/>
                <a:ea typeface="Courier New" pitchFamily="34" charset="-122"/>
                <a:cs typeface="Courier New" pitchFamily="34" charset="-120"/>
              </a:rPr>
              <a:t># width = counter modulo 256</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li   a0, 32           </a:t>
            </a:r>
            <a:pPr indent="0" marL="0">
              <a:buNone/>
            </a:pPr>
            <a:r>
              <a:rPr lang="en-US" sz="1450" dirty="0">
                <a:solidFill>
                  <a:srgbClr val="8FB3A0"/>
                </a:solidFill>
                <a:latin typeface="Courier New" pitchFamily="34" charset="0"/>
                <a:ea typeface="Courier New" pitchFamily="34" charset="-122"/>
                <a:cs typeface="Courier New" pitchFamily="34" charset="-120"/>
              </a:rPr>
              <a:t># x</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li   a1, 60           </a:t>
            </a:r>
            <a:pPr indent="0" marL="0">
              <a:buNone/>
            </a:pPr>
            <a:r>
              <a:rPr lang="en-US" sz="1450" dirty="0">
                <a:solidFill>
                  <a:srgbClr val="8FB3A0"/>
                </a:solidFill>
                <a:latin typeface="Courier New" pitchFamily="34" charset="0"/>
                <a:ea typeface="Courier New" pitchFamily="34" charset="-122"/>
                <a:cs typeface="Courier New" pitchFamily="34" charset="-120"/>
              </a:rPr>
              <a:t># y</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li   a3, 8            </a:t>
            </a:r>
            <a:pPr indent="0" marL="0">
              <a:buNone/>
            </a:pPr>
            <a:r>
              <a:rPr lang="en-US" sz="1450" dirty="0">
                <a:solidFill>
                  <a:srgbClr val="8FB3A0"/>
                </a:solidFill>
                <a:latin typeface="Courier New" pitchFamily="34" charset="0"/>
                <a:ea typeface="Courier New" pitchFamily="34" charset="-122"/>
                <a:cs typeface="Courier New" pitchFamily="34" charset="-120"/>
              </a:rPr>
              <a:t># height</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li   a4, GREEN        </a:t>
            </a:r>
            <a:pPr indent="0" marL="0">
              <a:buNone/>
            </a:pPr>
            <a:r>
              <a:rPr lang="en-US" sz="1450" dirty="0">
                <a:solidFill>
                  <a:srgbClr val="8FB3A0"/>
                </a:solidFill>
                <a:latin typeface="Courier New" pitchFamily="34" charset="0"/>
                <a:ea typeface="Courier New" pitchFamily="34" charset="-122"/>
                <a:cs typeface="Courier New" pitchFamily="34" charset="-120"/>
              </a:rPr>
              <a:t># .equ GREEN, 0x07e0</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call prg32_gfx_rect</a:t>
            </a:r>
            <a:endParaRPr lang="en-US" sz="1450" dirty="0"/>
          </a:p>
        </p:txBody>
      </p:sp>
      <p:sp>
        <p:nvSpPr>
          <p:cNvPr id="5" name="Shape 3"/>
          <p:cNvSpPr/>
          <p:nvPr/>
        </p:nvSpPr>
        <p:spPr>
          <a:xfrm>
            <a:off x="7470648" y="1399032"/>
            <a:ext cx="4245559" cy="2708339"/>
          </a:xfrm>
          <a:prstGeom prst="roundRect">
            <a:avLst>
              <a:gd name="adj" fmla="val 2701"/>
            </a:avLst>
          </a:prstGeom>
          <a:solidFill>
            <a:srgbClr val="1B2530"/>
          </a:solidFill>
          <a:ln w="12700">
            <a:solidFill>
              <a:srgbClr val="1B2530"/>
            </a:solidFill>
            <a:prstDash val="solid"/>
          </a:ln>
        </p:spPr>
      </p:sp>
      <p:pic>
        <p:nvPicPr>
          <p:cNvPr id="6" name="Image 0" descr="/Users/raffaelemontella/devel/riscv-prg32/computer-architecture-with-prg32/tools/assets/lab1_step4_bar.png">    </p:cNvPr>
          <p:cNvPicPr>
            <a:picLocks noChangeAspect="1"/>
          </p:cNvPicPr>
          <p:nvPr/>
        </p:nvPicPr>
        <p:blipFill>
          <a:blip r:embed="rId1"/>
          <a:stretch>
            <a:fillRect/>
          </a:stretch>
        </p:blipFill>
        <p:spPr>
          <a:xfrm>
            <a:off x="7543800" y="1472184"/>
            <a:ext cx="4099255" cy="2562035"/>
          </a:xfrm>
          <a:prstGeom prst="rect">
            <a:avLst/>
          </a:prstGeom>
        </p:spPr>
      </p:pic>
      <p:sp>
        <p:nvSpPr>
          <p:cNvPr id="7" name="Text 4"/>
          <p:cNvSpPr txBox="1"/>
          <p:nvPr/>
        </p:nvSpPr>
        <p:spPr>
          <a:xfrm>
            <a:off x="7543800" y="4180523"/>
            <a:ext cx="4099255" cy="256032"/>
          </a:xfrm>
          <a:prstGeom prst="rect">
            <a:avLst/>
          </a:prstGeom>
          <a:noFill/>
          <a:ln/>
        </p:spPr>
        <p:txBody>
          <a:bodyPr wrap="square" lIns="0" tIns="0" rIns="0" bIns="0" rtlCol="0" anchor="t"/>
          <a:lstStyle/>
          <a:p>
            <a:pPr indent="0" marL="0">
              <a:buNone/>
            </a:pPr>
            <a:r>
              <a:rPr lang="en-US" sz="1150" i="1" dirty="0">
                <a:solidFill>
                  <a:srgbClr val="5B6B78"/>
                </a:solidFill>
                <a:latin typeface="Calibri" pitchFamily="34" charset="0"/>
                <a:ea typeface="Calibri" pitchFamily="34" charset="-122"/>
                <a:cs typeface="Calibri" pitchFamily="34" charset="-120"/>
              </a:rPr>
              <a:t>Screenshot: this step, built and run on PRG32</a:t>
            </a:r>
            <a:endParaRPr lang="en-US" sz="1150" dirty="0"/>
          </a:p>
        </p:txBody>
      </p:sp>
      <p:sp>
        <p:nvSpPr>
          <p:cNvPr id="8" name="Shape 5"/>
          <p:cNvSpPr/>
          <p:nvPr/>
        </p:nvSpPr>
        <p:spPr>
          <a:xfrm>
            <a:off x="7470648" y="4527995"/>
            <a:ext cx="4245559" cy="1644205"/>
          </a:xfrm>
          <a:prstGeom prst="roundRect">
            <a:avLst>
              <a:gd name="adj" fmla="val 4449"/>
            </a:avLst>
          </a:prstGeom>
          <a:solidFill>
            <a:srgbClr val="EEF2F4"/>
          </a:solidFill>
          <a:ln w="12700">
            <a:solidFill>
              <a:srgbClr val="EEF2F4"/>
            </a:solidFill>
            <a:prstDash val="solid"/>
          </a:ln>
        </p:spPr>
      </p:sp>
      <p:sp>
        <p:nvSpPr>
          <p:cNvPr id="9" name="Text 6"/>
          <p:cNvSpPr txBox="1"/>
          <p:nvPr/>
        </p:nvSpPr>
        <p:spPr>
          <a:xfrm>
            <a:off x="7680960" y="4637723"/>
            <a:ext cx="3824935" cy="1424749"/>
          </a:xfrm>
          <a:prstGeom prst="rect">
            <a:avLst/>
          </a:prstGeom>
          <a:noFill/>
          <a:ln/>
        </p:spPr>
        <p:txBody>
          <a:bodyPr wrap="square" lIns="0" tIns="0" rIns="0" bIns="0" rtlCol="0" anchor="ctr"/>
          <a:lstStyle/>
          <a:p>
            <a:pPr indent="0" marL="0">
              <a:buNone/>
            </a:pPr>
            <a:r>
              <a:rPr lang="en-US" sz="1700" dirty="0">
                <a:solidFill>
                  <a:srgbClr val="1B2530"/>
                </a:solidFill>
                <a:latin typeface="Calibri" pitchFamily="34" charset="0"/>
                <a:ea typeface="Calibri" pitchFamily="34" charset="-122"/>
                <a:cs typeface="Calibri" pitchFamily="34" charset="-120"/>
              </a:rPr>
              <a:t>The bar grows from 0 to 255 pixels, then starts again. andi with 255 keeps only the low eight bits of the counter.</a:t>
            </a:r>
            <a:endParaRPr lang="en-US" sz="17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Shape 0"/>
          <p:cNvSpPr/>
          <p:nvPr/>
        </p:nvSpPr>
        <p:spPr>
          <a:xfrm>
            <a:off x="548640" y="640080"/>
            <a:ext cx="168250" cy="168250"/>
          </a:xfrm>
          <a:prstGeom prst="rect">
            <a:avLst/>
          </a:prstGeom>
          <a:solidFill>
            <a:srgbClr val="0E7C86"/>
          </a:solidFill>
          <a:ln w="12700">
            <a:solidFill>
              <a:srgbClr val="0E7C86"/>
            </a:solidFill>
            <a:prstDash val="solid"/>
          </a:ln>
        </p:spPr>
      </p:sp>
      <p:sp>
        <p:nvSpPr>
          <p:cNvPr id="3" name="Shape 1"/>
          <p:cNvSpPr/>
          <p:nvPr/>
        </p:nvSpPr>
        <p:spPr>
          <a:xfrm>
            <a:off x="731520" y="640080"/>
            <a:ext cx="168250" cy="168250"/>
          </a:xfrm>
          <a:prstGeom prst="rect">
            <a:avLst/>
          </a:prstGeom>
          <a:solidFill>
            <a:srgbClr val="C7791B"/>
          </a:solidFill>
          <a:ln w="12700">
            <a:solidFill>
              <a:srgbClr val="C7791B"/>
            </a:solidFill>
            <a:prstDash val="solid"/>
          </a:ln>
        </p:spPr>
      </p:sp>
      <p:sp>
        <p:nvSpPr>
          <p:cNvPr id="4" name="Shape 2"/>
          <p:cNvSpPr/>
          <p:nvPr/>
        </p:nvSpPr>
        <p:spPr>
          <a:xfrm>
            <a:off x="731520" y="822960"/>
            <a:ext cx="168250" cy="168250"/>
          </a:xfrm>
          <a:prstGeom prst="rect">
            <a:avLst/>
          </a:prstGeom>
          <a:solidFill>
            <a:srgbClr val="0E7C86"/>
          </a:solidFill>
          <a:ln w="12700">
            <a:solidFill>
              <a:srgbClr val="0E7C86"/>
            </a:solidFill>
            <a:prstDash val="solid"/>
          </a:ln>
        </p:spPr>
      </p:sp>
      <p:sp>
        <p:nvSpPr>
          <p:cNvPr id="5" name="Text 3"/>
          <p:cNvSpPr txBox="1"/>
          <p:nvPr/>
        </p:nvSpPr>
        <p:spPr>
          <a:xfrm>
            <a:off x="548640" y="1828800"/>
            <a:ext cx="2743200" cy="1097280"/>
          </a:xfrm>
          <a:prstGeom prst="rect">
            <a:avLst/>
          </a:prstGeom>
          <a:noFill/>
          <a:ln/>
        </p:spPr>
        <p:txBody>
          <a:bodyPr wrap="square" lIns="0" tIns="0" rIns="0" bIns="0" rtlCol="0" anchor="ctr"/>
          <a:lstStyle/>
          <a:p>
            <a:pPr indent="0" marL="0">
              <a:buNone/>
            </a:pPr>
            <a:r>
              <a:rPr lang="en-US" sz="7200" b="1" dirty="0">
                <a:solidFill>
                  <a:srgbClr val="C7791B"/>
                </a:solidFill>
                <a:latin typeface="Cambria" pitchFamily="34" charset="0"/>
                <a:ea typeface="Cambria" pitchFamily="34" charset="-122"/>
                <a:cs typeface="Cambria" pitchFamily="34" charset="-120"/>
              </a:rPr>
              <a:t>03</a:t>
            </a:r>
            <a:endParaRPr lang="en-US" sz="7200" dirty="0"/>
          </a:p>
        </p:txBody>
      </p:sp>
      <p:sp>
        <p:nvSpPr>
          <p:cNvPr id="6" name="Text 4"/>
          <p:cNvSpPr txBox="1"/>
          <p:nvPr/>
        </p:nvSpPr>
        <p:spPr>
          <a:xfrm>
            <a:off x="548640" y="3017520"/>
            <a:ext cx="11094415" cy="1188720"/>
          </a:xfrm>
          <a:prstGeom prst="rect">
            <a:avLst/>
          </a:prstGeom>
          <a:noFill/>
          <a:ln/>
        </p:spPr>
        <p:txBody>
          <a:bodyPr wrap="square" lIns="0" tIns="0" rIns="0" bIns="0" rtlCol="0" anchor="ctr"/>
          <a:lstStyle/>
          <a:p>
            <a:pPr indent="0" marL="0">
              <a:buNone/>
            </a:pPr>
            <a:r>
              <a:rPr lang="en-US" sz="4400" b="1" dirty="0">
                <a:solidFill>
                  <a:srgbClr val="FFFFFF"/>
                </a:solidFill>
                <a:latin typeface="Cambria" pitchFamily="34" charset="0"/>
                <a:ea typeface="Cambria" pitchFamily="34" charset="-122"/>
                <a:cs typeface="Cambria" pitchFamily="34" charset="-120"/>
              </a:rPr>
              <a:t>Reading what you wrote</a:t>
            </a:r>
            <a:endParaRPr lang="en-US" sz="4400" dirty="0"/>
          </a:p>
        </p:txBody>
      </p:sp>
      <p:sp>
        <p:nvSpPr>
          <p:cNvPr id="7" name="Text 5"/>
          <p:cNvSpPr txBox="1"/>
          <p:nvPr/>
        </p:nvSpPr>
        <p:spPr>
          <a:xfrm>
            <a:off x="548640" y="4343400"/>
            <a:ext cx="11094415" cy="1097280"/>
          </a:xfrm>
          <a:prstGeom prst="rect">
            <a:avLst/>
          </a:prstGeom>
          <a:noFill/>
          <a:ln/>
        </p:spPr>
        <p:txBody>
          <a:bodyPr wrap="square" lIns="0" tIns="0" rIns="0" bIns="0" rtlCol="0" anchor="t"/>
          <a:lstStyle/>
          <a:p>
            <a:pPr indent="0" marL="0">
              <a:buNone/>
            </a:pPr>
            <a:r>
              <a:rPr lang="en-US" sz="2200" dirty="0">
                <a:solidFill>
                  <a:srgbClr val="CFE3EA"/>
                </a:solidFill>
                <a:latin typeface="Calibri" pitchFamily="34" charset="0"/>
                <a:ea typeface="Calibri" pitchFamily="34" charset="-122"/>
                <a:cs typeface="Calibri" pitchFamily="34" charset="-120"/>
              </a:rPr>
              <a:t>The same program, seen as the processor sees it.</a:t>
            </a:r>
            <a:endParaRPr lang="en-US" sz="22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CFE3EA"/>
                </a:solidFill>
                <a:latin typeface="Calibri"/>
                <a:ea typeface="Calibri"/>
                <a:cs typeface="Calibri"/>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The instructions you have just used</a:t>
            </a:r>
            <a:endParaRPr lang="en-US" sz="320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548640" y="1417320"/>
          <a:ext cx="11094415" cy="914400"/>
        </p:xfrm>
        <a:graphic>
          <a:graphicData uri="http://schemas.openxmlformats.org/drawingml/2006/table">
            <a:tbl>
              <a:tblPr/>
              <a:tblGrid>
                <a:gridCol w="1672967"/>
                <a:gridCol w="2817629"/>
                <a:gridCol w="3698138"/>
                <a:gridCol w="2905680"/>
              </a:tblGrid>
              <a:tr h="0">
                <a:tc>
                  <a:txBody>
                    <a:bodyPr/>
                    <a:lstStyle/>
                    <a:p>
                      <a:pPr algn="l" indent="0" marL="0">
                        <a:buNone/>
                      </a:pPr>
                      <a:r>
                        <a:rPr lang="en-US" sz="2100" b="1" dirty="0">
                          <a:solidFill>
                            <a:srgbClr val="FFFFFF"/>
                          </a:solidFill>
                          <a:latin typeface="Calibri" pitchFamily="34" charset="0"/>
                          <a:ea typeface="Calibri" pitchFamily="34" charset="-122"/>
                          <a:cs typeface="Calibri" pitchFamily="34" charset="-120"/>
                        </a:rPr>
                        <a:t>Family</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c>
                  <a:txBody>
                    <a:bodyPr/>
                    <a:lstStyle/>
                    <a:p>
                      <a:pPr algn="l" indent="0" marL="0">
                        <a:buNone/>
                      </a:pPr>
                      <a:r>
                        <a:rPr lang="en-US" sz="2100" b="1" dirty="0">
                          <a:solidFill>
                            <a:srgbClr val="FFFFFF"/>
                          </a:solidFill>
                          <a:latin typeface="Calibri" pitchFamily="34" charset="0"/>
                          <a:ea typeface="Calibri" pitchFamily="34" charset="-122"/>
                          <a:cs typeface="Calibri" pitchFamily="34" charset="-120"/>
                        </a:rPr>
                        <a:t>Instruction</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c>
                  <a:txBody>
                    <a:bodyPr/>
                    <a:lstStyle/>
                    <a:p>
                      <a:pPr algn="l" indent="0" marL="0">
                        <a:buNone/>
                      </a:pPr>
                      <a:r>
                        <a:rPr lang="en-US" sz="2100" b="1" dirty="0">
                          <a:solidFill>
                            <a:srgbClr val="FFFFFF"/>
                          </a:solidFill>
                          <a:latin typeface="Calibri" pitchFamily="34" charset="0"/>
                          <a:ea typeface="Calibri" pitchFamily="34" charset="-122"/>
                          <a:cs typeface="Calibri" pitchFamily="34" charset="-120"/>
                        </a:rPr>
                        <a:t>What it does</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c>
                  <a:txBody>
                    <a:bodyPr/>
                    <a:lstStyle/>
                    <a:p>
                      <a:pPr algn="l" indent="0" marL="0">
                        <a:buNone/>
                      </a:pPr>
                      <a:r>
                        <a:rPr lang="en-US" sz="2100" b="1" dirty="0">
                          <a:solidFill>
                            <a:srgbClr val="FFFFFF"/>
                          </a:solidFill>
                          <a:latin typeface="Calibri" pitchFamily="34" charset="0"/>
                          <a:ea typeface="Calibri" pitchFamily="34" charset="-122"/>
                          <a:cs typeface="Calibri" pitchFamily="34" charset="-120"/>
                        </a:rPr>
                        <a:t>Example</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r>
              <a:tr h="0">
                <a:tc>
                  <a:txBody>
                    <a:bodyPr/>
                    <a:lstStyle/>
                    <a:p>
                      <a:pPr algn="l" indent="0" marL="0">
                        <a:buNone/>
                      </a:pPr>
                      <a:r>
                        <a:rPr lang="en-US" sz="2100" b="1" dirty="0">
                          <a:solidFill>
                            <a:srgbClr val="1B2530"/>
                          </a:solidFill>
                          <a:latin typeface="Calibri" pitchFamily="34" charset="0"/>
                          <a:ea typeface="Calibri" pitchFamily="34" charset="-122"/>
                          <a:cs typeface="Calibri" pitchFamily="34" charset="-120"/>
                        </a:rPr>
                        <a:t>Arithmetic</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2100" dirty="0">
                          <a:solidFill>
                            <a:srgbClr val="1B2530"/>
                          </a:solidFill>
                          <a:latin typeface="Courier New" pitchFamily="34" charset="0"/>
                          <a:ea typeface="Courier New" pitchFamily="34" charset="-122"/>
                          <a:cs typeface="Courier New" pitchFamily="34" charset="-120"/>
                        </a:rPr>
                        <a:t>add, sub</a:t>
                      </a:r>
                      <a:endParaRPr lang="en-US" sz="2100" dirty="0">
                        <a:latin typeface="Courier New" charset="0"/>
                        <a:ea typeface="Courier New" charset="0"/>
                        <a:cs typeface="Courier New"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combine two registers</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2100" dirty="0">
                          <a:solidFill>
                            <a:srgbClr val="1B2530"/>
                          </a:solidFill>
                          <a:latin typeface="Courier New" pitchFamily="34" charset="0"/>
                          <a:ea typeface="Courier New" pitchFamily="34" charset="-122"/>
                          <a:cs typeface="Courier New" pitchFamily="34" charset="-120"/>
                        </a:rPr>
                        <a:t>add t0, t1, t2</a:t>
                      </a:r>
                      <a:endParaRPr lang="en-US" sz="2100" dirty="0">
                        <a:latin typeface="Courier New" charset="0"/>
                        <a:ea typeface="Courier New" charset="0"/>
                        <a:cs typeface="Courier New"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r h="0">
                <a:tc>
                  <a:txBody>
                    <a:bodyPr/>
                    <a:lstStyle/>
                    <a:p>
                      <a:pPr algn="l" indent="0" marL="0">
                        <a:buNone/>
                      </a:pPr>
                      <a:r>
                        <a:rPr lang="en-US" sz="2100" b="1" dirty="0">
                          <a:solidFill>
                            <a:srgbClr val="1B2530"/>
                          </a:solidFill>
                          <a:latin typeface="Calibri" pitchFamily="34" charset="0"/>
                          <a:ea typeface="Calibri" pitchFamily="34" charset="-122"/>
                          <a:cs typeface="Calibri" pitchFamily="34" charset="-120"/>
                        </a:rPr>
                        <a:t>Logic</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2100" dirty="0">
                          <a:solidFill>
                            <a:srgbClr val="1B2530"/>
                          </a:solidFill>
                          <a:latin typeface="Courier New" pitchFamily="34" charset="0"/>
                          <a:ea typeface="Courier New" pitchFamily="34" charset="-122"/>
                          <a:cs typeface="Courier New" pitchFamily="34" charset="-120"/>
                        </a:rPr>
                        <a:t>and, or, xor</a:t>
                      </a:r>
                      <a:endParaRPr lang="en-US" sz="2100" dirty="0">
                        <a:latin typeface="Courier New" charset="0"/>
                        <a:ea typeface="Courier New" charset="0"/>
                        <a:cs typeface="Courier New"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bitwise operation on two registers</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2100" dirty="0">
                          <a:solidFill>
                            <a:srgbClr val="1B2530"/>
                          </a:solidFill>
                          <a:latin typeface="Courier New" pitchFamily="34" charset="0"/>
                          <a:ea typeface="Courier New" pitchFamily="34" charset="-122"/>
                          <a:cs typeface="Courier New" pitchFamily="34" charset="-120"/>
                        </a:rPr>
                        <a:t>and t0, t1, t2</a:t>
                      </a:r>
                      <a:endParaRPr lang="en-US" sz="2100" dirty="0">
                        <a:latin typeface="Courier New" charset="0"/>
                        <a:ea typeface="Courier New" charset="0"/>
                        <a:cs typeface="Courier New"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r>
              <a:tr h="0">
                <a:tc>
                  <a:txBody>
                    <a:bodyPr/>
                    <a:lstStyle/>
                    <a:p>
                      <a:pPr algn="l" indent="0" marL="0">
                        <a:buNone/>
                      </a:pPr>
                      <a:r>
                        <a:rPr lang="en-US" sz="2100" b="1" dirty="0">
                          <a:solidFill>
                            <a:srgbClr val="1B2530"/>
                          </a:solidFill>
                          <a:latin typeface="Calibri" pitchFamily="34" charset="0"/>
                          <a:ea typeface="Calibri" pitchFamily="34" charset="-122"/>
                          <a:cs typeface="Calibri" pitchFamily="34" charset="-120"/>
                        </a:rPr>
                        <a:t>Immediate</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2100" dirty="0">
                          <a:solidFill>
                            <a:srgbClr val="1B2530"/>
                          </a:solidFill>
                          <a:latin typeface="Courier New" pitchFamily="34" charset="0"/>
                          <a:ea typeface="Courier New" pitchFamily="34" charset="-122"/>
                          <a:cs typeface="Courier New" pitchFamily="34" charset="-120"/>
                        </a:rPr>
                        <a:t>addi, andi, ori, xori</a:t>
                      </a:r>
                      <a:endParaRPr lang="en-US" sz="2100" dirty="0">
                        <a:latin typeface="Courier New" charset="0"/>
                        <a:ea typeface="Courier New" charset="0"/>
                        <a:cs typeface="Courier New"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one register and one small constant</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2100" dirty="0">
                          <a:solidFill>
                            <a:srgbClr val="1B2530"/>
                          </a:solidFill>
                          <a:latin typeface="Courier New" pitchFamily="34" charset="0"/>
                          <a:ea typeface="Courier New" pitchFamily="34" charset="-122"/>
                          <a:cs typeface="Courier New" pitchFamily="34" charset="-120"/>
                        </a:rPr>
                        <a:t>addi t1, t1, 1</a:t>
                      </a:r>
                      <a:endParaRPr lang="en-US" sz="2100" dirty="0">
                        <a:latin typeface="Courier New" charset="0"/>
                        <a:ea typeface="Courier New" charset="0"/>
                        <a:cs typeface="Courier New"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r h="0">
                <a:tc>
                  <a:txBody>
                    <a:bodyPr/>
                    <a:lstStyle/>
                    <a:p>
                      <a:pPr algn="l" indent="0" marL="0">
                        <a:buNone/>
                      </a:pPr>
                      <a:r>
                        <a:rPr lang="en-US" sz="2100" b="1" dirty="0">
                          <a:solidFill>
                            <a:srgbClr val="1B2530"/>
                          </a:solidFill>
                          <a:latin typeface="Calibri" pitchFamily="34" charset="0"/>
                          <a:ea typeface="Calibri" pitchFamily="34" charset="-122"/>
                          <a:cs typeface="Calibri" pitchFamily="34" charset="-120"/>
                        </a:rPr>
                        <a:t>Memory</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2100" dirty="0">
                          <a:solidFill>
                            <a:srgbClr val="1B2530"/>
                          </a:solidFill>
                          <a:latin typeface="Courier New" pitchFamily="34" charset="0"/>
                          <a:ea typeface="Courier New" pitchFamily="34" charset="-122"/>
                          <a:cs typeface="Courier New" pitchFamily="34" charset="-120"/>
                        </a:rPr>
                        <a:t>lw, sw</a:t>
                      </a:r>
                      <a:endParaRPr lang="en-US" sz="2100" dirty="0">
                        <a:latin typeface="Courier New" charset="0"/>
                        <a:ea typeface="Courier New" charset="0"/>
                        <a:cs typeface="Courier New"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load or store a 32-bit word</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2100" dirty="0">
                          <a:solidFill>
                            <a:srgbClr val="1B2530"/>
                          </a:solidFill>
                          <a:latin typeface="Courier New" pitchFamily="34" charset="0"/>
                          <a:ea typeface="Courier New" pitchFamily="34" charset="-122"/>
                          <a:cs typeface="Courier New" pitchFamily="34" charset="-120"/>
                        </a:rPr>
                        <a:t>lw t1, 0(t0)</a:t>
                      </a:r>
                      <a:endParaRPr lang="en-US" sz="2100" dirty="0">
                        <a:latin typeface="Courier New" charset="0"/>
                        <a:ea typeface="Courier New" charset="0"/>
                        <a:cs typeface="Courier New"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r>
              <a:tr h="0">
                <a:tc>
                  <a:txBody>
                    <a:bodyPr/>
                    <a:lstStyle/>
                    <a:p>
                      <a:pPr algn="l" indent="0" marL="0">
                        <a:buNone/>
                      </a:pPr>
                      <a:r>
                        <a:rPr lang="en-US" sz="2100" b="1" dirty="0">
                          <a:solidFill>
                            <a:srgbClr val="1B2530"/>
                          </a:solidFill>
                          <a:latin typeface="Calibri" pitchFamily="34" charset="0"/>
                          <a:ea typeface="Calibri" pitchFamily="34" charset="-122"/>
                          <a:cs typeface="Calibri" pitchFamily="34" charset="-120"/>
                        </a:rPr>
                        <a:t>Control</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2100" dirty="0">
                          <a:solidFill>
                            <a:srgbClr val="1B2530"/>
                          </a:solidFill>
                          <a:latin typeface="Courier New" pitchFamily="34" charset="0"/>
                          <a:ea typeface="Courier New" pitchFamily="34" charset="-122"/>
                          <a:cs typeface="Courier New" pitchFamily="34" charset="-120"/>
                        </a:rPr>
                        <a:t>call, ret</a:t>
                      </a:r>
                      <a:endParaRPr lang="en-US" sz="2100" dirty="0">
                        <a:latin typeface="Courier New" charset="0"/>
                        <a:ea typeface="Courier New" charset="0"/>
                        <a:cs typeface="Courier New"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go to a function and come back</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2100" dirty="0">
                          <a:solidFill>
                            <a:srgbClr val="1B2530"/>
                          </a:solidFill>
                          <a:latin typeface="Courier New" pitchFamily="34" charset="0"/>
                          <a:ea typeface="Courier New" pitchFamily="34" charset="-122"/>
                          <a:cs typeface="Courier New" pitchFamily="34" charset="-120"/>
                        </a:rPr>
                        <a:t>call prg32_gfx_rect</a:t>
                      </a:r>
                      <a:endParaRPr lang="en-US" sz="2100" dirty="0">
                        <a:latin typeface="Courier New" charset="0"/>
                        <a:ea typeface="Courier New" charset="0"/>
                        <a:cs typeface="Courier New"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bl>
          </a:graphicData>
        </a:graphic>
      </p:graphicFrame>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Pseudo-instructions: shortcuts the assembler expands</a:t>
            </a:r>
            <a:endParaRPr lang="en-US" sz="320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548640" y="1417320"/>
          <a:ext cx="11094415" cy="914400"/>
        </p:xfrm>
        <a:graphic>
          <a:graphicData uri="http://schemas.openxmlformats.org/drawingml/2006/table">
            <a:tbl>
              <a:tblPr/>
              <a:tblGrid>
                <a:gridCol w="2773604"/>
                <a:gridCol w="4622673"/>
                <a:gridCol w="3698138"/>
              </a:tblGrid>
              <a:tr h="0">
                <a:tc>
                  <a:txBody>
                    <a:bodyPr/>
                    <a:lstStyle/>
                    <a:p>
                      <a:pPr algn="l" indent="0" marL="0">
                        <a:buNone/>
                      </a:pPr>
                      <a:r>
                        <a:rPr lang="en-US" sz="2100" b="1" dirty="0">
                          <a:solidFill>
                            <a:srgbClr val="FFFFFF"/>
                          </a:solidFill>
                          <a:latin typeface="Calibri" pitchFamily="34" charset="0"/>
                          <a:ea typeface="Calibri" pitchFamily="34" charset="-122"/>
                          <a:cs typeface="Calibri" pitchFamily="34" charset="-120"/>
                        </a:rPr>
                        <a:t>You write</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c>
                  <a:txBody>
                    <a:bodyPr/>
                    <a:lstStyle/>
                    <a:p>
                      <a:pPr algn="l" indent="0" marL="0">
                        <a:buNone/>
                      </a:pPr>
                      <a:r>
                        <a:rPr lang="en-US" sz="2100" b="1" dirty="0">
                          <a:solidFill>
                            <a:srgbClr val="FFFFFF"/>
                          </a:solidFill>
                          <a:latin typeface="Calibri" pitchFamily="34" charset="0"/>
                          <a:ea typeface="Calibri" pitchFamily="34" charset="-122"/>
                          <a:cs typeface="Calibri" pitchFamily="34" charset="-120"/>
                        </a:rPr>
                        <a:t>The assembler emits</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c>
                  <a:txBody>
                    <a:bodyPr/>
                    <a:lstStyle/>
                    <a:p>
                      <a:pPr algn="l" indent="0" marL="0">
                        <a:buNone/>
                      </a:pPr>
                      <a:r>
                        <a:rPr lang="en-US" sz="2100" b="1" dirty="0">
                          <a:solidFill>
                            <a:srgbClr val="FFFFFF"/>
                          </a:solidFill>
                          <a:latin typeface="Calibri" pitchFamily="34" charset="0"/>
                          <a:ea typeface="Calibri" pitchFamily="34" charset="-122"/>
                          <a:cs typeface="Calibri" pitchFamily="34" charset="-120"/>
                        </a:rPr>
                        <a:t>Meaning</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r>
              <a:tr h="0">
                <a:tc>
                  <a:txBody>
                    <a:bodyPr/>
                    <a:lstStyle/>
                    <a:p>
                      <a:pPr algn="l" indent="0" marL="0">
                        <a:buNone/>
                      </a:pPr>
                      <a:r>
                        <a:rPr lang="en-US" sz="2100" dirty="0">
                          <a:solidFill>
                            <a:srgbClr val="1B2530"/>
                          </a:solidFill>
                          <a:latin typeface="Courier New" pitchFamily="34" charset="0"/>
                          <a:ea typeface="Courier New" pitchFamily="34" charset="-122"/>
                          <a:cs typeface="Courier New" pitchFamily="34" charset="-120"/>
                        </a:rPr>
                        <a:t>li t0, 42</a:t>
                      </a:r>
                      <a:endParaRPr lang="en-US" sz="2100" dirty="0">
                        <a:latin typeface="Courier New" charset="0"/>
                        <a:ea typeface="Courier New" charset="0"/>
                        <a:cs typeface="Courier New"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2100" dirty="0">
                          <a:solidFill>
                            <a:srgbClr val="1B2530"/>
                          </a:solidFill>
                          <a:latin typeface="Courier New" pitchFamily="34" charset="0"/>
                          <a:ea typeface="Courier New" pitchFamily="34" charset="-122"/>
                          <a:cs typeface="Courier New" pitchFamily="34" charset="-120"/>
                        </a:rPr>
                        <a:t>addi t0, zero, 42</a:t>
                      </a:r>
                      <a:endParaRPr lang="en-US" sz="2100" dirty="0">
                        <a:latin typeface="Courier New" charset="0"/>
                        <a:ea typeface="Courier New" charset="0"/>
                        <a:cs typeface="Courier New"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load a constant</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r h="0">
                <a:tc>
                  <a:txBody>
                    <a:bodyPr/>
                    <a:lstStyle/>
                    <a:p>
                      <a:pPr algn="l" indent="0" marL="0">
                        <a:buNone/>
                      </a:pPr>
                      <a:r>
                        <a:rPr lang="en-US" sz="2100" dirty="0">
                          <a:solidFill>
                            <a:srgbClr val="1B2530"/>
                          </a:solidFill>
                          <a:latin typeface="Courier New" pitchFamily="34" charset="0"/>
                          <a:ea typeface="Courier New" pitchFamily="34" charset="-122"/>
                          <a:cs typeface="Courier New" pitchFamily="34" charset="-120"/>
                        </a:rPr>
                        <a:t>mv t0, t1</a:t>
                      </a:r>
                      <a:endParaRPr lang="en-US" sz="2100" dirty="0">
                        <a:latin typeface="Courier New" charset="0"/>
                        <a:ea typeface="Courier New" charset="0"/>
                        <a:cs typeface="Courier New"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2100" dirty="0">
                          <a:solidFill>
                            <a:srgbClr val="1B2530"/>
                          </a:solidFill>
                          <a:latin typeface="Courier New" pitchFamily="34" charset="0"/>
                          <a:ea typeface="Courier New" pitchFamily="34" charset="-122"/>
                          <a:cs typeface="Courier New" pitchFamily="34" charset="-120"/>
                        </a:rPr>
                        <a:t>addi t0, t1, 0</a:t>
                      </a:r>
                      <a:endParaRPr lang="en-US" sz="2100" dirty="0">
                        <a:latin typeface="Courier New" charset="0"/>
                        <a:ea typeface="Courier New" charset="0"/>
                        <a:cs typeface="Courier New"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copy a register</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r>
              <a:tr h="0">
                <a:tc>
                  <a:txBody>
                    <a:bodyPr/>
                    <a:lstStyle/>
                    <a:p>
                      <a:pPr algn="l" indent="0" marL="0">
                        <a:buNone/>
                      </a:pPr>
                      <a:r>
                        <a:rPr lang="en-US" sz="2100" dirty="0">
                          <a:solidFill>
                            <a:srgbClr val="1B2530"/>
                          </a:solidFill>
                          <a:latin typeface="Courier New" pitchFamily="34" charset="0"/>
                          <a:ea typeface="Courier New" pitchFamily="34" charset="-122"/>
                          <a:cs typeface="Courier New" pitchFamily="34" charset="-120"/>
                        </a:rPr>
                        <a:t>not t0, t1</a:t>
                      </a:r>
                      <a:endParaRPr lang="en-US" sz="2100" dirty="0">
                        <a:latin typeface="Courier New" charset="0"/>
                        <a:ea typeface="Courier New" charset="0"/>
                        <a:cs typeface="Courier New"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2100" dirty="0">
                          <a:solidFill>
                            <a:srgbClr val="1B2530"/>
                          </a:solidFill>
                          <a:latin typeface="Courier New" pitchFamily="34" charset="0"/>
                          <a:ea typeface="Courier New" pitchFamily="34" charset="-122"/>
                          <a:cs typeface="Courier New" pitchFamily="34" charset="-120"/>
                        </a:rPr>
                        <a:t>xori t0, t1, -1</a:t>
                      </a:r>
                      <a:endParaRPr lang="en-US" sz="2100" dirty="0">
                        <a:latin typeface="Courier New" charset="0"/>
                        <a:ea typeface="Courier New" charset="0"/>
                        <a:cs typeface="Courier New"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bitwise complement</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r h="0">
                <a:tc>
                  <a:txBody>
                    <a:bodyPr/>
                    <a:lstStyle/>
                    <a:p>
                      <a:pPr algn="l" indent="0" marL="0">
                        <a:buNone/>
                      </a:pPr>
                      <a:r>
                        <a:rPr lang="en-US" sz="2100" dirty="0">
                          <a:solidFill>
                            <a:srgbClr val="1B2530"/>
                          </a:solidFill>
                          <a:latin typeface="Courier New" pitchFamily="34" charset="0"/>
                          <a:ea typeface="Courier New" pitchFamily="34" charset="-122"/>
                          <a:cs typeface="Courier New" pitchFamily="34" charset="-120"/>
                        </a:rPr>
                        <a:t>la t0, counter</a:t>
                      </a:r>
                      <a:endParaRPr lang="en-US" sz="2100" dirty="0">
                        <a:latin typeface="Courier New" charset="0"/>
                        <a:ea typeface="Courier New" charset="0"/>
                        <a:cs typeface="Courier New"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2100" dirty="0">
                          <a:solidFill>
                            <a:srgbClr val="1B2530"/>
                          </a:solidFill>
                          <a:latin typeface="Courier New" pitchFamily="34" charset="0"/>
                          <a:ea typeface="Courier New" pitchFamily="34" charset="-122"/>
                          <a:cs typeface="Courier New" pitchFamily="34" charset="-120"/>
                        </a:rPr>
                        <a:t>auipc t0, ... + addi t0, t0, ...</a:t>
                      </a:r>
                      <a:endParaRPr lang="en-US" sz="2100" dirty="0">
                        <a:latin typeface="Courier New" charset="0"/>
                        <a:ea typeface="Courier New" charset="0"/>
                        <a:cs typeface="Courier New"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load the address of a label</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r>
              <a:tr h="0">
                <a:tc>
                  <a:txBody>
                    <a:bodyPr/>
                    <a:lstStyle/>
                    <a:p>
                      <a:pPr algn="l" indent="0" marL="0">
                        <a:buNone/>
                      </a:pPr>
                      <a:r>
                        <a:rPr lang="en-US" sz="2100" dirty="0">
                          <a:solidFill>
                            <a:srgbClr val="1B2530"/>
                          </a:solidFill>
                          <a:latin typeface="Courier New" pitchFamily="34" charset="0"/>
                          <a:ea typeface="Courier New" pitchFamily="34" charset="-122"/>
                          <a:cs typeface="Courier New" pitchFamily="34" charset="-120"/>
                        </a:rPr>
                        <a:t>ret</a:t>
                      </a:r>
                      <a:endParaRPr lang="en-US" sz="2100" dirty="0">
                        <a:latin typeface="Courier New" charset="0"/>
                        <a:ea typeface="Courier New" charset="0"/>
                        <a:cs typeface="Courier New"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2100" dirty="0">
                          <a:solidFill>
                            <a:srgbClr val="1B2530"/>
                          </a:solidFill>
                          <a:latin typeface="Courier New" pitchFamily="34" charset="0"/>
                          <a:ea typeface="Courier New" pitchFamily="34" charset="-122"/>
                          <a:cs typeface="Courier New" pitchFamily="34" charset="-120"/>
                        </a:rPr>
                        <a:t>jalr zero, 0(ra)</a:t>
                      </a:r>
                      <a:endParaRPr lang="en-US" sz="2100" dirty="0">
                        <a:latin typeface="Courier New" charset="0"/>
                        <a:ea typeface="Courier New" charset="0"/>
                        <a:cs typeface="Courier New"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jump to the address in ra</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r h="0">
                <a:tc>
                  <a:txBody>
                    <a:bodyPr/>
                    <a:lstStyle/>
                    <a:p>
                      <a:pPr algn="l" indent="0" marL="0">
                        <a:buNone/>
                      </a:pPr>
                      <a:r>
                        <a:rPr lang="en-US" sz="2100" dirty="0">
                          <a:solidFill>
                            <a:srgbClr val="1B2530"/>
                          </a:solidFill>
                          <a:latin typeface="Courier New" pitchFamily="34" charset="0"/>
                          <a:ea typeface="Courier New" pitchFamily="34" charset="-122"/>
                          <a:cs typeface="Courier New" pitchFamily="34" charset="-120"/>
                        </a:rPr>
                        <a:t>beqz t0, skip</a:t>
                      </a:r>
                      <a:endParaRPr lang="en-US" sz="2100" dirty="0">
                        <a:latin typeface="Courier New" charset="0"/>
                        <a:ea typeface="Courier New" charset="0"/>
                        <a:cs typeface="Courier New"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2100" dirty="0">
                          <a:solidFill>
                            <a:srgbClr val="1B2530"/>
                          </a:solidFill>
                          <a:latin typeface="Courier New" pitchFamily="34" charset="0"/>
                          <a:ea typeface="Courier New" pitchFamily="34" charset="-122"/>
                          <a:cs typeface="Courier New" pitchFamily="34" charset="-120"/>
                        </a:rPr>
                        <a:t>beq t0, zero, skip</a:t>
                      </a:r>
                      <a:endParaRPr lang="en-US" sz="2100" dirty="0">
                        <a:latin typeface="Courier New" charset="0"/>
                        <a:ea typeface="Courier New" charset="0"/>
                        <a:cs typeface="Courier New"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branch if t0 is zero</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One instruction is one 32-bit number</a:t>
            </a:r>
            <a:endParaRPr lang="en-US" sz="3200" dirty="0"/>
          </a:p>
        </p:txBody>
      </p:sp>
      <p:sp>
        <p:nvSpPr>
          <p:cNvPr id="3" name="Text 1"/>
          <p:cNvSpPr txBox="1"/>
          <p:nvPr/>
        </p:nvSpPr>
        <p:spPr>
          <a:xfrm>
            <a:off x="548640" y="1417320"/>
            <a:ext cx="11094415" cy="548640"/>
          </a:xfrm>
          <a:prstGeom prst="rect">
            <a:avLst/>
          </a:prstGeom>
          <a:noFill/>
          <a:ln/>
        </p:spPr>
        <p:txBody>
          <a:bodyPr wrap="square" lIns="0" tIns="0" rIns="0" bIns="0" rtlCol="0" anchor="t"/>
          <a:lstStyle/>
          <a:p>
            <a:pPr algn="ctr" indent="0" marL="0">
              <a:buNone/>
            </a:pPr>
            <a:r>
              <a:rPr lang="en-US" sz="2800" b="1" dirty="0">
                <a:solidFill>
                  <a:srgbClr val="2E4A62"/>
                </a:solidFill>
                <a:latin typeface="Courier New" pitchFamily="34" charset="0"/>
                <a:ea typeface="Courier New" pitchFamily="34" charset="-122"/>
                <a:cs typeface="Courier New" pitchFamily="34" charset="-120"/>
              </a:rPr>
              <a:t>addi t1, t1, 1</a:t>
            </a:r>
            <a:endParaRPr lang="en-US" sz="2800" dirty="0"/>
          </a:p>
        </p:txBody>
      </p:sp>
      <p:sp>
        <p:nvSpPr>
          <p:cNvPr id="4" name="Text 2"/>
          <p:cNvSpPr txBox="1"/>
          <p:nvPr/>
        </p:nvSpPr>
        <p:spPr>
          <a:xfrm>
            <a:off x="914400" y="2560320"/>
            <a:ext cx="3806308" cy="731520"/>
          </a:xfrm>
          <a:prstGeom prst="rect">
            <a:avLst/>
          </a:prstGeom>
          <a:solidFill>
            <a:srgbClr val="C7791B"/>
          </a:solidFill>
          <a:ln w="19050">
            <a:solidFill>
              <a:srgbClr val="FFFFFF"/>
            </a:solidFill>
          </a:ln>
        </p:spPr>
        <p:txBody>
          <a:bodyPr wrap="square" lIns="0" tIns="0" rIns="0" bIns="0" rtlCol="0" anchor="ctr"/>
          <a:lstStyle/>
          <a:p>
            <a:pPr algn="ctr" indent="0" marL="0">
              <a:buNone/>
            </a:pPr>
            <a:r>
              <a:rPr lang="en-US" sz="1700" b="1" dirty="0">
                <a:solidFill>
                  <a:srgbClr val="FFFFFF"/>
                </a:solidFill>
                <a:latin typeface="Courier New" pitchFamily="34" charset="0"/>
                <a:ea typeface="Courier New" pitchFamily="34" charset="-122"/>
                <a:cs typeface="Courier New" pitchFamily="34" charset="-120"/>
              </a:rPr>
              <a:t>000000000001</a:t>
            </a:r>
            <a:endParaRPr lang="en-US" sz="1700" dirty="0"/>
          </a:p>
        </p:txBody>
      </p:sp>
      <p:sp>
        <p:nvSpPr>
          <p:cNvPr id="5" name="Text 3"/>
          <p:cNvSpPr txBox="1"/>
          <p:nvPr/>
        </p:nvSpPr>
        <p:spPr>
          <a:xfrm>
            <a:off x="914400" y="3346704"/>
            <a:ext cx="3806308" cy="502920"/>
          </a:xfrm>
          <a:prstGeom prst="rect">
            <a:avLst/>
          </a:prstGeom>
          <a:noFill/>
          <a:ln/>
        </p:spPr>
        <p:txBody>
          <a:bodyPr wrap="square" lIns="0" tIns="0" rIns="0" bIns="0" rtlCol="0" anchor="t"/>
          <a:lstStyle/>
          <a:p>
            <a:pPr algn="ctr" indent="0" marL="0">
              <a:buNone/>
            </a:pPr>
            <a:r>
              <a:rPr lang="en-US" sz="1300" dirty="0">
                <a:solidFill>
                  <a:srgbClr val="1B2530"/>
                </a:solidFill>
                <a:latin typeface="Calibri" pitchFamily="34" charset="0"/>
                <a:ea typeface="Calibri" pitchFamily="34" charset="-122"/>
                <a:cs typeface="Calibri" pitchFamily="34" charset="-120"/>
              </a:rPr>
              <a:t>immediate</a:t>
            </a:r>
            <a:endParaRPr lang="en-US" sz="1300" dirty="0"/>
          </a:p>
          <a:p>
            <a:pPr algn="ctr" indent="0" marL="0">
              <a:buNone/>
            </a:pPr>
            <a:r>
              <a:rPr lang="en-US" sz="1300" dirty="0">
                <a:solidFill>
                  <a:srgbClr val="1B2530"/>
                </a:solidFill>
                <a:latin typeface="Calibri" pitchFamily="34" charset="0"/>
                <a:ea typeface="Calibri" pitchFamily="34" charset="-122"/>
                <a:cs typeface="Calibri" pitchFamily="34" charset="-120"/>
              </a:rPr>
              <a:t>the constant 1</a:t>
            </a:r>
            <a:endParaRPr lang="en-US" sz="1300" dirty="0"/>
          </a:p>
        </p:txBody>
      </p:sp>
      <p:sp>
        <p:nvSpPr>
          <p:cNvPr id="6" name="Text 4"/>
          <p:cNvSpPr txBox="1"/>
          <p:nvPr/>
        </p:nvSpPr>
        <p:spPr>
          <a:xfrm>
            <a:off x="950976" y="2322576"/>
            <a:ext cx="1903154" cy="219456"/>
          </a:xfrm>
          <a:prstGeom prst="rect">
            <a:avLst/>
          </a:prstGeom>
          <a:noFill/>
          <a:ln/>
        </p:spPr>
        <p:txBody>
          <a:bodyPr wrap="square" lIns="0" tIns="0" rIns="0" bIns="0" rtlCol="0" anchor="t"/>
          <a:lstStyle/>
          <a:p>
            <a:pPr indent="0" marL="0">
              <a:buNone/>
            </a:pPr>
            <a:r>
              <a:rPr lang="en-US" sz="1050" dirty="0">
                <a:solidFill>
                  <a:srgbClr val="5B6B78"/>
                </a:solidFill>
                <a:latin typeface="Courier New" pitchFamily="34" charset="0"/>
                <a:ea typeface="Courier New" pitchFamily="34" charset="-122"/>
                <a:cs typeface="Courier New" pitchFamily="34" charset="-120"/>
              </a:rPr>
              <a:t>31</a:t>
            </a:r>
            <a:endParaRPr lang="en-US" sz="1050" dirty="0"/>
          </a:p>
        </p:txBody>
      </p:sp>
      <p:sp>
        <p:nvSpPr>
          <p:cNvPr id="7" name="Text 5"/>
          <p:cNvSpPr txBox="1"/>
          <p:nvPr/>
        </p:nvSpPr>
        <p:spPr>
          <a:xfrm>
            <a:off x="2817554" y="2322576"/>
            <a:ext cx="1866578" cy="219456"/>
          </a:xfrm>
          <a:prstGeom prst="rect">
            <a:avLst/>
          </a:prstGeom>
          <a:noFill/>
          <a:ln/>
        </p:spPr>
        <p:txBody>
          <a:bodyPr wrap="square" lIns="0" tIns="0" rIns="0" bIns="0" rtlCol="0" anchor="t"/>
          <a:lstStyle/>
          <a:p>
            <a:pPr algn="r" indent="0" marL="0">
              <a:buNone/>
            </a:pPr>
            <a:r>
              <a:rPr lang="en-US" sz="1050" dirty="0">
                <a:solidFill>
                  <a:srgbClr val="5B6B78"/>
                </a:solidFill>
                <a:latin typeface="Courier New" pitchFamily="34" charset="0"/>
                <a:ea typeface="Courier New" pitchFamily="34" charset="-122"/>
                <a:cs typeface="Courier New" pitchFamily="34" charset="-120"/>
              </a:rPr>
              <a:t>20</a:t>
            </a:r>
            <a:endParaRPr lang="en-US" sz="1050" dirty="0"/>
          </a:p>
        </p:txBody>
      </p:sp>
      <p:sp>
        <p:nvSpPr>
          <p:cNvPr id="8" name="Text 6"/>
          <p:cNvSpPr txBox="1"/>
          <p:nvPr/>
        </p:nvSpPr>
        <p:spPr>
          <a:xfrm>
            <a:off x="4720708" y="2560320"/>
            <a:ext cx="1585962" cy="731520"/>
          </a:xfrm>
          <a:prstGeom prst="rect">
            <a:avLst/>
          </a:prstGeom>
          <a:solidFill>
            <a:srgbClr val="0E7C86"/>
          </a:solidFill>
          <a:ln w="19050">
            <a:solidFill>
              <a:srgbClr val="FFFFFF"/>
            </a:solidFill>
          </a:ln>
        </p:spPr>
        <p:txBody>
          <a:bodyPr wrap="square" lIns="0" tIns="0" rIns="0" bIns="0" rtlCol="0" anchor="ctr"/>
          <a:lstStyle/>
          <a:p>
            <a:pPr algn="ctr" indent="0" marL="0">
              <a:buNone/>
            </a:pPr>
            <a:r>
              <a:rPr lang="en-US" sz="1700" b="1" dirty="0">
                <a:solidFill>
                  <a:srgbClr val="FFFFFF"/>
                </a:solidFill>
                <a:latin typeface="Courier New" pitchFamily="34" charset="0"/>
                <a:ea typeface="Courier New" pitchFamily="34" charset="-122"/>
                <a:cs typeface="Courier New" pitchFamily="34" charset="-120"/>
              </a:rPr>
              <a:t>00110</a:t>
            </a:r>
            <a:endParaRPr lang="en-US" sz="1700" dirty="0"/>
          </a:p>
        </p:txBody>
      </p:sp>
      <p:sp>
        <p:nvSpPr>
          <p:cNvPr id="9" name="Text 7"/>
          <p:cNvSpPr txBox="1"/>
          <p:nvPr/>
        </p:nvSpPr>
        <p:spPr>
          <a:xfrm>
            <a:off x="4720708" y="3346704"/>
            <a:ext cx="1585962" cy="502920"/>
          </a:xfrm>
          <a:prstGeom prst="rect">
            <a:avLst/>
          </a:prstGeom>
          <a:noFill/>
          <a:ln/>
        </p:spPr>
        <p:txBody>
          <a:bodyPr wrap="square" lIns="0" tIns="0" rIns="0" bIns="0" rtlCol="0" anchor="t"/>
          <a:lstStyle/>
          <a:p>
            <a:pPr algn="ctr" indent="0" marL="0">
              <a:buNone/>
            </a:pPr>
            <a:r>
              <a:rPr lang="en-US" sz="1300" dirty="0">
                <a:solidFill>
                  <a:srgbClr val="1B2530"/>
                </a:solidFill>
                <a:latin typeface="Calibri" pitchFamily="34" charset="0"/>
                <a:ea typeface="Calibri" pitchFamily="34" charset="-122"/>
                <a:cs typeface="Calibri" pitchFamily="34" charset="-120"/>
              </a:rPr>
              <a:t>rs1</a:t>
            </a:r>
            <a:endParaRPr lang="en-US" sz="1300" dirty="0"/>
          </a:p>
          <a:p>
            <a:pPr algn="ctr" indent="0" marL="0">
              <a:buNone/>
            </a:pPr>
            <a:r>
              <a:rPr lang="en-US" sz="1300" dirty="0">
                <a:solidFill>
                  <a:srgbClr val="1B2530"/>
                </a:solidFill>
                <a:latin typeface="Calibri" pitchFamily="34" charset="0"/>
                <a:ea typeface="Calibri" pitchFamily="34" charset="-122"/>
                <a:cs typeface="Calibri" pitchFamily="34" charset="-120"/>
              </a:rPr>
              <a:t>t1 is x6</a:t>
            </a:r>
            <a:endParaRPr lang="en-US" sz="1300" dirty="0"/>
          </a:p>
        </p:txBody>
      </p:sp>
      <p:sp>
        <p:nvSpPr>
          <p:cNvPr id="10" name="Text 8"/>
          <p:cNvSpPr txBox="1"/>
          <p:nvPr/>
        </p:nvSpPr>
        <p:spPr>
          <a:xfrm>
            <a:off x="4757284" y="2322576"/>
            <a:ext cx="792981" cy="219456"/>
          </a:xfrm>
          <a:prstGeom prst="rect">
            <a:avLst/>
          </a:prstGeom>
          <a:noFill/>
          <a:ln/>
        </p:spPr>
        <p:txBody>
          <a:bodyPr wrap="square" lIns="0" tIns="0" rIns="0" bIns="0" rtlCol="0" anchor="t"/>
          <a:lstStyle/>
          <a:p>
            <a:pPr indent="0" marL="0">
              <a:buNone/>
            </a:pPr>
            <a:r>
              <a:rPr lang="en-US" sz="1050" dirty="0">
                <a:solidFill>
                  <a:srgbClr val="5B6B78"/>
                </a:solidFill>
                <a:latin typeface="Courier New" pitchFamily="34" charset="0"/>
                <a:ea typeface="Courier New" pitchFamily="34" charset="-122"/>
                <a:cs typeface="Courier New" pitchFamily="34" charset="-120"/>
              </a:rPr>
              <a:t>19</a:t>
            </a:r>
            <a:endParaRPr lang="en-US" sz="1050" dirty="0"/>
          </a:p>
        </p:txBody>
      </p:sp>
      <p:sp>
        <p:nvSpPr>
          <p:cNvPr id="11" name="Text 9"/>
          <p:cNvSpPr txBox="1"/>
          <p:nvPr/>
        </p:nvSpPr>
        <p:spPr>
          <a:xfrm>
            <a:off x="5513689" y="2322576"/>
            <a:ext cx="756405" cy="219456"/>
          </a:xfrm>
          <a:prstGeom prst="rect">
            <a:avLst/>
          </a:prstGeom>
          <a:noFill/>
          <a:ln/>
        </p:spPr>
        <p:txBody>
          <a:bodyPr wrap="square" lIns="0" tIns="0" rIns="0" bIns="0" rtlCol="0" anchor="t"/>
          <a:lstStyle/>
          <a:p>
            <a:pPr algn="r" indent="0" marL="0">
              <a:buNone/>
            </a:pPr>
            <a:r>
              <a:rPr lang="en-US" sz="1050" dirty="0">
                <a:solidFill>
                  <a:srgbClr val="5B6B78"/>
                </a:solidFill>
                <a:latin typeface="Courier New" pitchFamily="34" charset="0"/>
                <a:ea typeface="Courier New" pitchFamily="34" charset="-122"/>
                <a:cs typeface="Courier New" pitchFamily="34" charset="-120"/>
              </a:rPr>
              <a:t>15</a:t>
            </a:r>
            <a:endParaRPr lang="en-US" sz="1050" dirty="0"/>
          </a:p>
        </p:txBody>
      </p:sp>
      <p:sp>
        <p:nvSpPr>
          <p:cNvPr id="12" name="Text 10"/>
          <p:cNvSpPr txBox="1"/>
          <p:nvPr/>
        </p:nvSpPr>
        <p:spPr>
          <a:xfrm>
            <a:off x="6306670" y="2560320"/>
            <a:ext cx="1164317" cy="731520"/>
          </a:xfrm>
          <a:prstGeom prst="rect">
            <a:avLst/>
          </a:prstGeom>
          <a:solidFill>
            <a:srgbClr val="6B4FA0"/>
          </a:solidFill>
          <a:ln w="19050">
            <a:solidFill>
              <a:srgbClr val="FFFFFF"/>
            </a:solidFill>
          </a:ln>
        </p:spPr>
        <p:txBody>
          <a:bodyPr wrap="square" lIns="0" tIns="0" rIns="0" bIns="0" rtlCol="0" anchor="ctr"/>
          <a:lstStyle/>
          <a:p>
            <a:pPr algn="ctr" indent="0" marL="0">
              <a:buNone/>
            </a:pPr>
            <a:r>
              <a:rPr lang="en-US" sz="1700" b="1" dirty="0">
                <a:solidFill>
                  <a:srgbClr val="FFFFFF"/>
                </a:solidFill>
                <a:latin typeface="Courier New" pitchFamily="34" charset="0"/>
                <a:ea typeface="Courier New" pitchFamily="34" charset="-122"/>
                <a:cs typeface="Courier New" pitchFamily="34" charset="-120"/>
              </a:rPr>
              <a:t>000</a:t>
            </a:r>
            <a:endParaRPr lang="en-US" sz="1700" dirty="0"/>
          </a:p>
        </p:txBody>
      </p:sp>
      <p:sp>
        <p:nvSpPr>
          <p:cNvPr id="13" name="Text 11"/>
          <p:cNvSpPr txBox="1"/>
          <p:nvPr/>
        </p:nvSpPr>
        <p:spPr>
          <a:xfrm>
            <a:off x="6306670" y="3346704"/>
            <a:ext cx="1164317" cy="502920"/>
          </a:xfrm>
          <a:prstGeom prst="rect">
            <a:avLst/>
          </a:prstGeom>
          <a:noFill/>
          <a:ln/>
        </p:spPr>
        <p:txBody>
          <a:bodyPr wrap="square" lIns="0" tIns="0" rIns="0" bIns="0" rtlCol="0" anchor="t"/>
          <a:lstStyle/>
          <a:p>
            <a:pPr algn="ctr" indent="0" marL="0">
              <a:buNone/>
            </a:pPr>
            <a:r>
              <a:rPr lang="en-US" sz="1300" dirty="0">
                <a:solidFill>
                  <a:srgbClr val="1B2530"/>
                </a:solidFill>
                <a:latin typeface="Calibri" pitchFamily="34" charset="0"/>
                <a:ea typeface="Calibri" pitchFamily="34" charset="-122"/>
                <a:cs typeface="Calibri" pitchFamily="34" charset="-120"/>
              </a:rPr>
              <a:t>funct3</a:t>
            </a:r>
            <a:endParaRPr lang="en-US" sz="1300" dirty="0"/>
          </a:p>
          <a:p>
            <a:pPr algn="ctr" indent="0" marL="0">
              <a:buNone/>
            </a:pPr>
            <a:r>
              <a:rPr lang="en-US" sz="1300" dirty="0">
                <a:solidFill>
                  <a:srgbClr val="1B2530"/>
                </a:solidFill>
                <a:latin typeface="Calibri" pitchFamily="34" charset="0"/>
                <a:ea typeface="Calibri" pitchFamily="34" charset="-122"/>
                <a:cs typeface="Calibri" pitchFamily="34" charset="-120"/>
              </a:rPr>
              <a:t>add</a:t>
            </a:r>
            <a:endParaRPr lang="en-US" sz="1300" dirty="0"/>
          </a:p>
        </p:txBody>
      </p:sp>
      <p:sp>
        <p:nvSpPr>
          <p:cNvPr id="14" name="Text 12"/>
          <p:cNvSpPr txBox="1"/>
          <p:nvPr/>
        </p:nvSpPr>
        <p:spPr>
          <a:xfrm>
            <a:off x="6343246" y="2322576"/>
            <a:ext cx="582158" cy="219456"/>
          </a:xfrm>
          <a:prstGeom prst="rect">
            <a:avLst/>
          </a:prstGeom>
          <a:noFill/>
          <a:ln/>
        </p:spPr>
        <p:txBody>
          <a:bodyPr wrap="square" lIns="0" tIns="0" rIns="0" bIns="0" rtlCol="0" anchor="t"/>
          <a:lstStyle/>
          <a:p>
            <a:pPr indent="0" marL="0">
              <a:buNone/>
            </a:pPr>
            <a:r>
              <a:rPr lang="en-US" sz="1050" dirty="0">
                <a:solidFill>
                  <a:srgbClr val="5B6B78"/>
                </a:solidFill>
                <a:latin typeface="Courier New" pitchFamily="34" charset="0"/>
                <a:ea typeface="Courier New" pitchFamily="34" charset="-122"/>
                <a:cs typeface="Courier New" pitchFamily="34" charset="-120"/>
              </a:rPr>
              <a:t>14</a:t>
            </a:r>
            <a:endParaRPr lang="en-US" sz="1050" dirty="0"/>
          </a:p>
        </p:txBody>
      </p:sp>
      <p:sp>
        <p:nvSpPr>
          <p:cNvPr id="15" name="Text 13"/>
          <p:cNvSpPr txBox="1"/>
          <p:nvPr/>
        </p:nvSpPr>
        <p:spPr>
          <a:xfrm>
            <a:off x="6888828" y="2322576"/>
            <a:ext cx="545582" cy="219456"/>
          </a:xfrm>
          <a:prstGeom prst="rect">
            <a:avLst/>
          </a:prstGeom>
          <a:noFill/>
          <a:ln/>
        </p:spPr>
        <p:txBody>
          <a:bodyPr wrap="square" lIns="0" tIns="0" rIns="0" bIns="0" rtlCol="0" anchor="t"/>
          <a:lstStyle/>
          <a:p>
            <a:pPr algn="r" indent="0" marL="0">
              <a:buNone/>
            </a:pPr>
            <a:r>
              <a:rPr lang="en-US" sz="1050" dirty="0">
                <a:solidFill>
                  <a:srgbClr val="5B6B78"/>
                </a:solidFill>
                <a:latin typeface="Courier New" pitchFamily="34" charset="0"/>
                <a:ea typeface="Courier New" pitchFamily="34" charset="-122"/>
                <a:cs typeface="Courier New" pitchFamily="34" charset="-120"/>
              </a:rPr>
              <a:t>12</a:t>
            </a:r>
            <a:endParaRPr lang="en-US" sz="1050" dirty="0"/>
          </a:p>
        </p:txBody>
      </p:sp>
      <p:sp>
        <p:nvSpPr>
          <p:cNvPr id="16" name="Text 14"/>
          <p:cNvSpPr txBox="1"/>
          <p:nvPr/>
        </p:nvSpPr>
        <p:spPr>
          <a:xfrm>
            <a:off x="7470987" y="2560320"/>
            <a:ext cx="1585962" cy="731520"/>
          </a:xfrm>
          <a:prstGeom prst="rect">
            <a:avLst/>
          </a:prstGeom>
          <a:solidFill>
            <a:srgbClr val="2F7D4F"/>
          </a:solidFill>
          <a:ln w="19050">
            <a:solidFill>
              <a:srgbClr val="FFFFFF"/>
            </a:solidFill>
          </a:ln>
        </p:spPr>
        <p:txBody>
          <a:bodyPr wrap="square" lIns="0" tIns="0" rIns="0" bIns="0" rtlCol="0" anchor="ctr"/>
          <a:lstStyle/>
          <a:p>
            <a:pPr algn="ctr" indent="0" marL="0">
              <a:buNone/>
            </a:pPr>
            <a:r>
              <a:rPr lang="en-US" sz="1700" b="1" dirty="0">
                <a:solidFill>
                  <a:srgbClr val="FFFFFF"/>
                </a:solidFill>
                <a:latin typeface="Courier New" pitchFamily="34" charset="0"/>
                <a:ea typeface="Courier New" pitchFamily="34" charset="-122"/>
                <a:cs typeface="Courier New" pitchFamily="34" charset="-120"/>
              </a:rPr>
              <a:t>00110</a:t>
            </a:r>
            <a:endParaRPr lang="en-US" sz="1700" dirty="0"/>
          </a:p>
        </p:txBody>
      </p:sp>
      <p:sp>
        <p:nvSpPr>
          <p:cNvPr id="17" name="Text 15"/>
          <p:cNvSpPr txBox="1"/>
          <p:nvPr/>
        </p:nvSpPr>
        <p:spPr>
          <a:xfrm>
            <a:off x="7470987" y="3346704"/>
            <a:ext cx="1585962" cy="502920"/>
          </a:xfrm>
          <a:prstGeom prst="rect">
            <a:avLst/>
          </a:prstGeom>
          <a:noFill/>
          <a:ln/>
        </p:spPr>
        <p:txBody>
          <a:bodyPr wrap="square" lIns="0" tIns="0" rIns="0" bIns="0" rtlCol="0" anchor="t"/>
          <a:lstStyle/>
          <a:p>
            <a:pPr algn="ctr" indent="0" marL="0">
              <a:buNone/>
            </a:pPr>
            <a:r>
              <a:rPr lang="en-US" sz="1300" dirty="0">
                <a:solidFill>
                  <a:srgbClr val="1B2530"/>
                </a:solidFill>
                <a:latin typeface="Calibri" pitchFamily="34" charset="0"/>
                <a:ea typeface="Calibri" pitchFamily="34" charset="-122"/>
                <a:cs typeface="Calibri" pitchFamily="34" charset="-120"/>
              </a:rPr>
              <a:t>rd</a:t>
            </a:r>
            <a:endParaRPr lang="en-US" sz="1300" dirty="0"/>
          </a:p>
          <a:p>
            <a:pPr algn="ctr" indent="0" marL="0">
              <a:buNone/>
            </a:pPr>
            <a:r>
              <a:rPr lang="en-US" sz="1300" dirty="0">
                <a:solidFill>
                  <a:srgbClr val="1B2530"/>
                </a:solidFill>
                <a:latin typeface="Calibri" pitchFamily="34" charset="0"/>
                <a:ea typeface="Calibri" pitchFamily="34" charset="-122"/>
                <a:cs typeface="Calibri" pitchFamily="34" charset="-120"/>
              </a:rPr>
              <a:t>t1 is x6</a:t>
            </a:r>
            <a:endParaRPr lang="en-US" sz="1300" dirty="0"/>
          </a:p>
        </p:txBody>
      </p:sp>
      <p:sp>
        <p:nvSpPr>
          <p:cNvPr id="18" name="Text 16"/>
          <p:cNvSpPr txBox="1"/>
          <p:nvPr/>
        </p:nvSpPr>
        <p:spPr>
          <a:xfrm>
            <a:off x="7507563" y="2322576"/>
            <a:ext cx="792981" cy="219456"/>
          </a:xfrm>
          <a:prstGeom prst="rect">
            <a:avLst/>
          </a:prstGeom>
          <a:noFill/>
          <a:ln/>
        </p:spPr>
        <p:txBody>
          <a:bodyPr wrap="square" lIns="0" tIns="0" rIns="0" bIns="0" rtlCol="0" anchor="t"/>
          <a:lstStyle/>
          <a:p>
            <a:pPr indent="0" marL="0">
              <a:buNone/>
            </a:pPr>
            <a:r>
              <a:rPr lang="en-US" sz="1050" dirty="0">
                <a:solidFill>
                  <a:srgbClr val="5B6B78"/>
                </a:solidFill>
                <a:latin typeface="Courier New" pitchFamily="34" charset="0"/>
                <a:ea typeface="Courier New" pitchFamily="34" charset="-122"/>
                <a:cs typeface="Courier New" pitchFamily="34" charset="-120"/>
              </a:rPr>
              <a:t>11</a:t>
            </a:r>
            <a:endParaRPr lang="en-US" sz="1050" dirty="0"/>
          </a:p>
        </p:txBody>
      </p:sp>
      <p:sp>
        <p:nvSpPr>
          <p:cNvPr id="19" name="Text 17"/>
          <p:cNvSpPr txBox="1"/>
          <p:nvPr/>
        </p:nvSpPr>
        <p:spPr>
          <a:xfrm>
            <a:off x="8263968" y="2322576"/>
            <a:ext cx="756405" cy="219456"/>
          </a:xfrm>
          <a:prstGeom prst="rect">
            <a:avLst/>
          </a:prstGeom>
          <a:noFill/>
          <a:ln/>
        </p:spPr>
        <p:txBody>
          <a:bodyPr wrap="square" lIns="0" tIns="0" rIns="0" bIns="0" rtlCol="0" anchor="t"/>
          <a:lstStyle/>
          <a:p>
            <a:pPr algn="r" indent="0" marL="0">
              <a:buNone/>
            </a:pPr>
            <a:r>
              <a:rPr lang="en-US" sz="1050" dirty="0">
                <a:solidFill>
                  <a:srgbClr val="5B6B78"/>
                </a:solidFill>
                <a:latin typeface="Courier New" pitchFamily="34" charset="0"/>
                <a:ea typeface="Courier New" pitchFamily="34" charset="-122"/>
                <a:cs typeface="Courier New" pitchFamily="34" charset="-120"/>
              </a:rPr>
              <a:t>7</a:t>
            </a:r>
            <a:endParaRPr lang="en-US" sz="1050" dirty="0"/>
          </a:p>
        </p:txBody>
      </p:sp>
      <p:sp>
        <p:nvSpPr>
          <p:cNvPr id="20" name="Text 18"/>
          <p:cNvSpPr txBox="1"/>
          <p:nvPr/>
        </p:nvSpPr>
        <p:spPr>
          <a:xfrm>
            <a:off x="9056949" y="2560320"/>
            <a:ext cx="2220347" cy="731520"/>
          </a:xfrm>
          <a:prstGeom prst="rect">
            <a:avLst/>
          </a:prstGeom>
          <a:solidFill>
            <a:srgbClr val="2E4A62"/>
          </a:solidFill>
          <a:ln w="19050">
            <a:solidFill>
              <a:srgbClr val="FFFFFF"/>
            </a:solidFill>
          </a:ln>
        </p:spPr>
        <p:txBody>
          <a:bodyPr wrap="square" lIns="0" tIns="0" rIns="0" bIns="0" rtlCol="0" anchor="ctr"/>
          <a:lstStyle/>
          <a:p>
            <a:pPr algn="ctr" indent="0" marL="0">
              <a:buNone/>
            </a:pPr>
            <a:r>
              <a:rPr lang="en-US" sz="1700" b="1" dirty="0">
                <a:solidFill>
                  <a:srgbClr val="FFFFFF"/>
                </a:solidFill>
                <a:latin typeface="Courier New" pitchFamily="34" charset="0"/>
                <a:ea typeface="Courier New" pitchFamily="34" charset="-122"/>
                <a:cs typeface="Courier New" pitchFamily="34" charset="-120"/>
              </a:rPr>
              <a:t>0010011</a:t>
            </a:r>
            <a:endParaRPr lang="en-US" sz="1700" dirty="0"/>
          </a:p>
        </p:txBody>
      </p:sp>
      <p:sp>
        <p:nvSpPr>
          <p:cNvPr id="21" name="Text 19"/>
          <p:cNvSpPr txBox="1"/>
          <p:nvPr/>
        </p:nvSpPr>
        <p:spPr>
          <a:xfrm>
            <a:off x="9056949" y="3346704"/>
            <a:ext cx="2220347" cy="502920"/>
          </a:xfrm>
          <a:prstGeom prst="rect">
            <a:avLst/>
          </a:prstGeom>
          <a:noFill/>
          <a:ln/>
        </p:spPr>
        <p:txBody>
          <a:bodyPr wrap="square" lIns="0" tIns="0" rIns="0" bIns="0" rtlCol="0" anchor="t"/>
          <a:lstStyle/>
          <a:p>
            <a:pPr algn="ctr" indent="0" marL="0">
              <a:buNone/>
            </a:pPr>
            <a:r>
              <a:rPr lang="en-US" sz="1300" dirty="0">
                <a:solidFill>
                  <a:srgbClr val="1B2530"/>
                </a:solidFill>
                <a:latin typeface="Calibri" pitchFamily="34" charset="0"/>
                <a:ea typeface="Calibri" pitchFamily="34" charset="-122"/>
                <a:cs typeface="Calibri" pitchFamily="34" charset="-120"/>
              </a:rPr>
              <a:t>opcode</a:t>
            </a:r>
            <a:endParaRPr lang="en-US" sz="1300" dirty="0"/>
          </a:p>
          <a:p>
            <a:pPr algn="ctr" indent="0" marL="0">
              <a:buNone/>
            </a:pPr>
            <a:r>
              <a:rPr lang="en-US" sz="1300" dirty="0">
                <a:solidFill>
                  <a:srgbClr val="1B2530"/>
                </a:solidFill>
                <a:latin typeface="Calibri" pitchFamily="34" charset="0"/>
                <a:ea typeface="Calibri" pitchFamily="34" charset="-122"/>
                <a:cs typeface="Calibri" pitchFamily="34" charset="-120"/>
              </a:rPr>
              <a:t>register-immediate</a:t>
            </a:r>
            <a:endParaRPr lang="en-US" sz="1300" dirty="0"/>
          </a:p>
        </p:txBody>
      </p:sp>
      <p:sp>
        <p:nvSpPr>
          <p:cNvPr id="22" name="Text 20"/>
          <p:cNvSpPr txBox="1"/>
          <p:nvPr/>
        </p:nvSpPr>
        <p:spPr>
          <a:xfrm>
            <a:off x="9093525" y="2322576"/>
            <a:ext cx="1110173" cy="219456"/>
          </a:xfrm>
          <a:prstGeom prst="rect">
            <a:avLst/>
          </a:prstGeom>
          <a:noFill/>
          <a:ln/>
        </p:spPr>
        <p:txBody>
          <a:bodyPr wrap="square" lIns="0" tIns="0" rIns="0" bIns="0" rtlCol="0" anchor="t"/>
          <a:lstStyle/>
          <a:p>
            <a:pPr indent="0" marL="0">
              <a:buNone/>
            </a:pPr>
            <a:r>
              <a:rPr lang="en-US" sz="1050" dirty="0">
                <a:solidFill>
                  <a:srgbClr val="5B6B78"/>
                </a:solidFill>
                <a:latin typeface="Courier New" pitchFamily="34" charset="0"/>
                <a:ea typeface="Courier New" pitchFamily="34" charset="-122"/>
                <a:cs typeface="Courier New" pitchFamily="34" charset="-120"/>
              </a:rPr>
              <a:t>6</a:t>
            </a:r>
            <a:endParaRPr lang="en-US" sz="1050" dirty="0"/>
          </a:p>
        </p:txBody>
      </p:sp>
      <p:sp>
        <p:nvSpPr>
          <p:cNvPr id="23" name="Text 21"/>
          <p:cNvSpPr txBox="1"/>
          <p:nvPr/>
        </p:nvSpPr>
        <p:spPr>
          <a:xfrm>
            <a:off x="10167122" y="2322576"/>
            <a:ext cx="1073597" cy="219456"/>
          </a:xfrm>
          <a:prstGeom prst="rect">
            <a:avLst/>
          </a:prstGeom>
          <a:noFill/>
          <a:ln/>
        </p:spPr>
        <p:txBody>
          <a:bodyPr wrap="square" lIns="0" tIns="0" rIns="0" bIns="0" rtlCol="0" anchor="t"/>
          <a:lstStyle/>
          <a:p>
            <a:pPr algn="r" indent="0" marL="0">
              <a:buNone/>
            </a:pPr>
            <a:r>
              <a:rPr lang="en-US" sz="1050" dirty="0">
                <a:solidFill>
                  <a:srgbClr val="5B6B78"/>
                </a:solidFill>
                <a:latin typeface="Courier New" pitchFamily="34" charset="0"/>
                <a:ea typeface="Courier New" pitchFamily="34" charset="-122"/>
                <a:cs typeface="Courier New" pitchFamily="34" charset="-120"/>
              </a:rPr>
              <a:t>0</a:t>
            </a:r>
            <a:endParaRPr lang="en-US" sz="1050" dirty="0"/>
          </a:p>
        </p:txBody>
      </p:sp>
      <p:sp>
        <p:nvSpPr>
          <p:cNvPr id="24" name="Text 22"/>
          <p:cNvSpPr txBox="1"/>
          <p:nvPr/>
        </p:nvSpPr>
        <p:spPr>
          <a:xfrm>
            <a:off x="548640" y="4206240"/>
            <a:ext cx="11094415" cy="640080"/>
          </a:xfrm>
          <a:prstGeom prst="rect">
            <a:avLst/>
          </a:prstGeom>
          <a:noFill/>
          <a:ln/>
        </p:spPr>
        <p:txBody>
          <a:bodyPr wrap="square" lIns="0" tIns="0" rIns="0" bIns="0" rtlCol="0" anchor="ctr"/>
          <a:lstStyle/>
          <a:p>
            <a:pPr algn="ctr" indent="0" marL="0">
              <a:buNone/>
            </a:pPr>
            <a:r>
              <a:rPr lang="en-US" sz="3400" b="1" dirty="0">
                <a:solidFill>
                  <a:srgbClr val="1B2530"/>
                </a:solidFill>
                <a:latin typeface="Courier New" pitchFamily="34" charset="0"/>
                <a:ea typeface="Courier New" pitchFamily="34" charset="-122"/>
                <a:cs typeface="Courier New" pitchFamily="34" charset="-120"/>
              </a:rPr>
              <a:t>0x00130313</a:t>
            </a:r>
            <a:endParaRPr lang="en-US" sz="3400" dirty="0"/>
          </a:p>
        </p:txBody>
      </p:sp>
      <p:sp>
        <p:nvSpPr>
          <p:cNvPr id="25" name="Shape 23"/>
          <p:cNvSpPr/>
          <p:nvPr/>
        </p:nvSpPr>
        <p:spPr>
          <a:xfrm>
            <a:off x="548640" y="5074920"/>
            <a:ext cx="11094415" cy="1097280"/>
          </a:xfrm>
          <a:prstGeom prst="roundRect">
            <a:avLst>
              <a:gd name="adj" fmla="val 6667"/>
            </a:avLst>
          </a:prstGeom>
          <a:solidFill>
            <a:srgbClr val="D8ECEE"/>
          </a:solidFill>
          <a:ln w="12700">
            <a:solidFill>
              <a:srgbClr val="D8ECEE"/>
            </a:solidFill>
            <a:prstDash val="solid"/>
          </a:ln>
        </p:spPr>
      </p:sp>
      <p:sp>
        <p:nvSpPr>
          <p:cNvPr id="26" name="Text 24"/>
          <p:cNvSpPr txBox="1"/>
          <p:nvPr/>
        </p:nvSpPr>
        <p:spPr>
          <a:xfrm>
            <a:off x="822960" y="5120640"/>
            <a:ext cx="10545775" cy="1005840"/>
          </a:xfrm>
          <a:prstGeom prst="rect">
            <a:avLst/>
          </a:prstGeom>
          <a:noFill/>
          <a:ln/>
        </p:spPr>
        <p:txBody>
          <a:bodyPr wrap="square" lIns="0" tIns="0" rIns="0" bIns="0" rtlCol="0" anchor="ctr"/>
          <a:lstStyle/>
          <a:p>
            <a:pPr indent="0" marL="0">
              <a:buNone/>
            </a:pPr>
            <a:r>
              <a:rPr lang="en-US" sz="1700" dirty="0">
                <a:solidFill>
                  <a:srgbClr val="1B2530"/>
                </a:solidFill>
                <a:latin typeface="Calibri" pitchFamily="34" charset="0"/>
                <a:ea typeface="Calibri" pitchFamily="34" charset="-122"/>
                <a:cs typeface="Calibri" pitchFamily="34" charset="-120"/>
              </a:rPr>
              <a:t>Assembly is a readable spelling of machine code. The assembler translates each line into one 32-bit word; the processor reads the fields with logic circuits that we will design ourselves later in the course.</a:t>
            </a:r>
            <a:endParaRPr lang="en-US" sz="17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PRG32-QT: a microscope for registers</a:t>
            </a:r>
            <a:endParaRPr lang="en-US" sz="3200" dirty="0"/>
          </a:p>
        </p:txBody>
      </p:sp>
      <p:sp>
        <p:nvSpPr>
          <p:cNvPr id="3" name="Shape 1"/>
          <p:cNvSpPr/>
          <p:nvPr/>
        </p:nvSpPr>
        <p:spPr>
          <a:xfrm>
            <a:off x="548640" y="1557528"/>
            <a:ext cx="146304" cy="146304"/>
          </a:xfrm>
          <a:prstGeom prst="rect">
            <a:avLst/>
          </a:prstGeom>
          <a:solidFill>
            <a:srgbClr val="0E7C86"/>
          </a:solidFill>
          <a:ln w="12700">
            <a:solidFill>
              <a:srgbClr val="0E7C86"/>
            </a:solidFill>
            <a:prstDash val="solid"/>
          </a:ln>
        </p:spPr>
      </p:sp>
      <p:sp>
        <p:nvSpPr>
          <p:cNvPr id="4" name="Text 2"/>
          <p:cNvSpPr txBox="1"/>
          <p:nvPr/>
        </p:nvSpPr>
        <p:spPr>
          <a:xfrm>
            <a:off x="932688" y="1435608"/>
            <a:ext cx="5468112" cy="743712"/>
          </a:xfrm>
          <a:prstGeom prst="rect">
            <a:avLst/>
          </a:prstGeom>
          <a:noFill/>
          <a:ln/>
        </p:spPr>
        <p:txBody>
          <a:bodyPr wrap="square" lIns="0" tIns="0" rIns="0" bIns="0" rtlCol="0" anchor="t"/>
          <a:lstStyle/>
          <a:p>
            <a:pPr indent="0" marL="0">
              <a:spcAft>
                <a:spcPts val="200"/>
              </a:spcAft>
              <a:buNone/>
            </a:pPr>
            <a:r>
              <a:rPr lang="en-US" sz="2400" dirty="0">
                <a:solidFill>
                  <a:srgbClr val="1B2530"/>
                </a:solidFill>
                <a:latin typeface="Calibri" pitchFamily="34" charset="0"/>
                <a:ea typeface="Calibri" pitchFamily="34" charset="-122"/>
                <a:cs typeface="Calibri" pitchFamily="34" charset="-120"/>
              </a:rPr>
              <a:t>Runs the same cartridge on your desktop, one instruction at a time</a:t>
            </a:r>
            <a:endParaRPr lang="en-US" sz="2400" dirty="0"/>
          </a:p>
        </p:txBody>
      </p:sp>
      <p:sp>
        <p:nvSpPr>
          <p:cNvPr id="5" name="Shape 3"/>
          <p:cNvSpPr/>
          <p:nvPr/>
        </p:nvSpPr>
        <p:spPr>
          <a:xfrm>
            <a:off x="548640" y="2758440"/>
            <a:ext cx="146304" cy="146304"/>
          </a:xfrm>
          <a:prstGeom prst="rect">
            <a:avLst/>
          </a:prstGeom>
          <a:solidFill>
            <a:srgbClr val="C7791B"/>
          </a:solidFill>
          <a:ln w="12700">
            <a:solidFill>
              <a:srgbClr val="C7791B"/>
            </a:solidFill>
            <a:prstDash val="solid"/>
          </a:ln>
        </p:spPr>
      </p:sp>
      <p:sp>
        <p:nvSpPr>
          <p:cNvPr id="6" name="Text 4"/>
          <p:cNvSpPr txBox="1"/>
          <p:nvPr/>
        </p:nvSpPr>
        <p:spPr>
          <a:xfrm>
            <a:off x="932688" y="2636520"/>
            <a:ext cx="5468112" cy="743712"/>
          </a:xfrm>
          <a:prstGeom prst="rect">
            <a:avLst/>
          </a:prstGeom>
          <a:noFill/>
          <a:ln/>
        </p:spPr>
        <p:txBody>
          <a:bodyPr wrap="square" lIns="0" tIns="0" rIns="0" bIns="0" rtlCol="0" anchor="t"/>
          <a:lstStyle/>
          <a:p>
            <a:pPr indent="0" marL="0">
              <a:spcAft>
                <a:spcPts val="200"/>
              </a:spcAft>
              <a:buNone/>
            </a:pPr>
            <a:r>
              <a:rPr lang="en-US" sz="2400" dirty="0">
                <a:solidFill>
                  <a:srgbClr val="1B2530"/>
                </a:solidFill>
                <a:latin typeface="Calibri" pitchFamily="34" charset="0"/>
                <a:ea typeface="Calibri" pitchFamily="34" charset="-122"/>
                <a:cs typeface="Calibri" pitchFamily="34" charset="-120"/>
              </a:rPr>
              <a:t>Stops between any two instructions and shows every register</a:t>
            </a:r>
            <a:endParaRPr lang="en-US" sz="2400" dirty="0"/>
          </a:p>
        </p:txBody>
      </p:sp>
      <p:sp>
        <p:nvSpPr>
          <p:cNvPr id="7" name="Shape 5"/>
          <p:cNvSpPr/>
          <p:nvPr/>
        </p:nvSpPr>
        <p:spPr>
          <a:xfrm>
            <a:off x="548640" y="3959352"/>
            <a:ext cx="146304" cy="146304"/>
          </a:xfrm>
          <a:prstGeom prst="rect">
            <a:avLst/>
          </a:prstGeom>
          <a:solidFill>
            <a:srgbClr val="0E7C86"/>
          </a:solidFill>
          <a:ln w="12700">
            <a:solidFill>
              <a:srgbClr val="0E7C86"/>
            </a:solidFill>
            <a:prstDash val="solid"/>
          </a:ln>
        </p:spPr>
      </p:sp>
      <p:sp>
        <p:nvSpPr>
          <p:cNvPr id="8" name="Text 6"/>
          <p:cNvSpPr txBox="1"/>
          <p:nvPr/>
        </p:nvSpPr>
        <p:spPr>
          <a:xfrm>
            <a:off x="932688" y="3837432"/>
            <a:ext cx="5468112" cy="743712"/>
          </a:xfrm>
          <a:prstGeom prst="rect">
            <a:avLst/>
          </a:prstGeom>
          <a:noFill/>
          <a:ln/>
        </p:spPr>
        <p:txBody>
          <a:bodyPr wrap="square" lIns="0" tIns="0" rIns="0" bIns="0" rtlCol="0" anchor="t"/>
          <a:lstStyle/>
          <a:p>
            <a:pPr indent="0" marL="0">
              <a:spcAft>
                <a:spcPts val="200"/>
              </a:spcAft>
              <a:buNone/>
            </a:pPr>
            <a:r>
              <a:rPr lang="en-US" sz="2400" dirty="0">
                <a:solidFill>
                  <a:srgbClr val="1B2530"/>
                </a:solidFill>
                <a:latin typeface="Calibri" pitchFamily="34" charset="0"/>
                <a:ea typeface="Calibri" pitchFamily="34" charset="-122"/>
                <a:cs typeface="Calibri" pitchFamily="34" charset="-120"/>
              </a:rPr>
              <a:t>Step through first_update and watch t0 and t1 change</a:t>
            </a:r>
            <a:endParaRPr lang="en-US" sz="2400" dirty="0"/>
          </a:p>
        </p:txBody>
      </p:sp>
      <p:sp>
        <p:nvSpPr>
          <p:cNvPr id="9" name="Shape 7"/>
          <p:cNvSpPr/>
          <p:nvPr/>
        </p:nvSpPr>
        <p:spPr>
          <a:xfrm>
            <a:off x="548640" y="5160264"/>
            <a:ext cx="146304" cy="146304"/>
          </a:xfrm>
          <a:prstGeom prst="rect">
            <a:avLst/>
          </a:prstGeom>
          <a:solidFill>
            <a:srgbClr val="C7791B"/>
          </a:solidFill>
          <a:ln w="12700">
            <a:solidFill>
              <a:srgbClr val="C7791B"/>
            </a:solidFill>
            <a:prstDash val="solid"/>
          </a:ln>
        </p:spPr>
      </p:sp>
      <p:sp>
        <p:nvSpPr>
          <p:cNvPr id="10" name="Text 8"/>
          <p:cNvSpPr txBox="1"/>
          <p:nvPr/>
        </p:nvSpPr>
        <p:spPr>
          <a:xfrm>
            <a:off x="932688" y="5038344"/>
            <a:ext cx="5468112" cy="1115568"/>
          </a:xfrm>
          <a:prstGeom prst="rect">
            <a:avLst/>
          </a:prstGeom>
          <a:noFill/>
          <a:ln/>
        </p:spPr>
        <p:txBody>
          <a:bodyPr wrap="square" lIns="0" tIns="0" rIns="0" bIns="0" rtlCol="0" anchor="t"/>
          <a:lstStyle/>
          <a:p>
            <a:pPr indent="0" marL="0">
              <a:spcAft>
                <a:spcPts val="200"/>
              </a:spcAft>
              <a:buNone/>
            </a:pPr>
            <a:r>
              <a:rPr lang="en-US" sz="2400" dirty="0">
                <a:solidFill>
                  <a:srgbClr val="1B2530"/>
                </a:solidFill>
                <a:latin typeface="Calibri" pitchFamily="34" charset="0"/>
                <a:ea typeface="Calibri" pitchFamily="34" charset="-122"/>
                <a:cs typeface="Calibri" pitchFamily="34" charset="-120"/>
              </a:rPr>
              <a:t>Use the board when you want the truth about time, PRG32-QT when you want the truth about a register</a:t>
            </a:r>
            <a:endParaRPr lang="en-US" sz="2400" dirty="0"/>
          </a:p>
        </p:txBody>
      </p:sp>
      <p:pic>
        <p:nvPicPr>
          <p:cNvPr id="11" name="Image 0" descr="/Users/raffaelemontella/devel/riscv-prg32/computer-architecture-with-prg32/tools/assets/prg32qt_debugger.png">    </p:cNvPr>
          <p:cNvPicPr>
            <a:picLocks noChangeAspect="1"/>
          </p:cNvPicPr>
          <p:nvPr/>
        </p:nvPicPr>
        <p:blipFill>
          <a:blip r:embed="rId1"/>
          <a:stretch>
            <a:fillRect/>
          </a:stretch>
        </p:blipFill>
        <p:spPr>
          <a:xfrm>
            <a:off x="6766560" y="1882245"/>
            <a:ext cx="4876495" cy="3367829"/>
          </a:xfrm>
          <a:prstGeom prst="rect">
            <a:avLst/>
          </a:prstGeom>
        </p:spPr>
      </p:pic>
      <p:sp>
        <p:nvSpPr>
          <p:cNvPr id="12" name="Text 9"/>
          <p:cNvSpPr txBox="1"/>
          <p:nvPr/>
        </p:nvSpPr>
        <p:spPr>
          <a:xfrm>
            <a:off x="6766560" y="5788152"/>
            <a:ext cx="4876495" cy="384048"/>
          </a:xfrm>
          <a:prstGeom prst="rect">
            <a:avLst/>
          </a:prstGeom>
          <a:noFill/>
          <a:ln/>
        </p:spPr>
        <p:txBody>
          <a:bodyPr wrap="square" lIns="0" tIns="0" rIns="0" bIns="0" rtlCol="0" anchor="ctr"/>
          <a:lstStyle/>
          <a:p>
            <a:pPr algn="ctr" indent="0" marL="0">
              <a:buNone/>
            </a:pPr>
            <a:r>
              <a:rPr lang="en-US" sz="1200" i="1" dirty="0">
                <a:solidFill>
                  <a:srgbClr val="5B6B78"/>
                </a:solidFill>
                <a:latin typeface="Calibri" pitchFamily="34" charset="0"/>
                <a:ea typeface="Calibri" pitchFamily="34" charset="-122"/>
                <a:cs typeface="Calibri" pitchFamily="34" charset="-120"/>
              </a:rPr>
              <a:t>The PRG32-QT debugger: source, registers, memory</a:t>
            </a:r>
            <a:endParaRPr lang="en-US" sz="12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Trace it by hand: three frames of first_update</a:t>
            </a:r>
            <a:endParaRPr lang="en-US" sz="3200" dirty="0"/>
          </a:p>
        </p:txBody>
      </p:sp>
      <p:graphicFrame>
        <p:nvGraphicFramePr>
          <p:cNvPr id="21" name="Table 0"/>
          <p:cNvGraphicFramePr>
            <a:graphicFrameLocks noGrp="1"/>
          </p:cNvGraphicFramePr>
          <p:nvPr>
            <p:extLst>
              <p:ext uri="{D42A27DB-BD31-4B8C-83A1-F6EECF244321}">
                <p14:modId xmlns:p14="http://schemas.microsoft.com/office/powerpoint/2010/main" val="1579011935"/>
              </p:ext>
            </p:extLst>
          </p:nvPr>
        </p:nvGraphicFramePr>
        <p:xfrm>
          <a:off x="548640" y="1417320"/>
          <a:ext cx="11094415" cy="914400"/>
        </p:xfrm>
        <a:graphic>
          <a:graphicData uri="http://schemas.openxmlformats.org/drawingml/2006/table">
            <a:tbl>
              <a:tblPr/>
              <a:tblGrid>
                <a:gridCol w="1213452"/>
                <a:gridCol w="2253553"/>
                <a:gridCol w="2426903"/>
                <a:gridCol w="2600254"/>
                <a:gridCol w="2600254"/>
              </a:tblGrid>
              <a:tr h="0">
                <a:tc>
                  <a:txBody>
                    <a:bodyPr/>
                    <a:lstStyle/>
                    <a:p>
                      <a:pPr algn="l" indent="0" marL="0">
                        <a:buNone/>
                      </a:pPr>
                      <a:r>
                        <a:rPr lang="en-US" sz="2100" b="1" dirty="0">
                          <a:solidFill>
                            <a:srgbClr val="FFFFFF"/>
                          </a:solidFill>
                          <a:latin typeface="Calibri" pitchFamily="34" charset="0"/>
                          <a:ea typeface="Calibri" pitchFamily="34" charset="-122"/>
                          <a:cs typeface="Calibri" pitchFamily="34" charset="-120"/>
                        </a:rPr>
                        <a:t>Frame</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c>
                  <a:txBody>
                    <a:bodyPr/>
                    <a:lstStyle/>
                    <a:p>
                      <a:pPr algn="l" indent="0" marL="0">
                        <a:buNone/>
                      </a:pPr>
                      <a:r>
                        <a:rPr lang="en-US" sz="2100" b="1" dirty="0">
                          <a:solidFill>
                            <a:srgbClr val="FFFFFF"/>
                          </a:solidFill>
                          <a:latin typeface="Calibri" pitchFamily="34" charset="0"/>
                          <a:ea typeface="Calibri" pitchFamily="34" charset="-122"/>
                          <a:cs typeface="Calibri" pitchFamily="34" charset="-120"/>
                        </a:rPr>
                        <a:t>lw: t1 becomes</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c>
                  <a:txBody>
                    <a:bodyPr/>
                    <a:lstStyle/>
                    <a:p>
                      <a:pPr algn="l" indent="0" marL="0">
                        <a:buNone/>
                      </a:pPr>
                      <a:r>
                        <a:rPr lang="en-US" sz="2100" b="1" dirty="0">
                          <a:solidFill>
                            <a:srgbClr val="FFFFFF"/>
                          </a:solidFill>
                          <a:latin typeface="Calibri" pitchFamily="34" charset="0"/>
                          <a:ea typeface="Calibri" pitchFamily="34" charset="-122"/>
                          <a:cs typeface="Calibri" pitchFamily="34" charset="-120"/>
                        </a:rPr>
                        <a:t>addi: t1 becomes</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c>
                  <a:txBody>
                    <a:bodyPr/>
                    <a:lstStyle/>
                    <a:p>
                      <a:pPr algn="l" indent="0" marL="0">
                        <a:buNone/>
                      </a:pPr>
                      <a:r>
                        <a:rPr lang="en-US" sz="2100" b="1" dirty="0">
                          <a:solidFill>
                            <a:srgbClr val="FFFFFF"/>
                          </a:solidFill>
                          <a:latin typeface="Calibri" pitchFamily="34" charset="0"/>
                          <a:ea typeface="Calibri" pitchFamily="34" charset="-122"/>
                          <a:cs typeface="Calibri" pitchFamily="34" charset="-120"/>
                        </a:rPr>
                        <a:t>sw: counter becomes</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c>
                  <a:txBody>
                    <a:bodyPr/>
                    <a:lstStyle/>
                    <a:p>
                      <a:pPr algn="l" indent="0" marL="0">
                        <a:buNone/>
                      </a:pPr>
                      <a:r>
                        <a:rPr lang="en-US" sz="2100" b="1" dirty="0">
                          <a:solidFill>
                            <a:srgbClr val="FFFFFF"/>
                          </a:solidFill>
                          <a:latin typeface="Calibri" pitchFamily="34" charset="0"/>
                          <a:ea typeface="Calibri" pitchFamily="34" charset="-122"/>
                          <a:cs typeface="Calibri" pitchFamily="34" charset="-120"/>
                        </a:rPr>
                        <a:t>Bar width (andi 255)</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r>
              <a:tr h="0">
                <a:tc>
                  <a:txBody>
                    <a:bodyPr/>
                    <a:lstStyle/>
                    <a:p>
                      <a:pPr algn="l" indent="0" marL="0">
                        <a:buNone/>
                      </a:pPr>
                      <a:r>
                        <a:rPr lang="en-US" sz="2100" b="1" dirty="0">
                          <a:solidFill>
                            <a:srgbClr val="1B2530"/>
                          </a:solidFill>
                          <a:latin typeface="Calibri" pitchFamily="34" charset="0"/>
                          <a:ea typeface="Calibri" pitchFamily="34" charset="-122"/>
                          <a:cs typeface="Calibri" pitchFamily="34" charset="-120"/>
                        </a:rPr>
                        <a:t>1</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0</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1</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1</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1</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r h="0">
                <a:tc>
                  <a:txBody>
                    <a:bodyPr/>
                    <a:lstStyle/>
                    <a:p>
                      <a:pPr algn="l" indent="0" marL="0">
                        <a:buNone/>
                      </a:pPr>
                      <a:r>
                        <a:rPr lang="en-US" sz="2100" b="1" dirty="0">
                          <a:solidFill>
                            <a:srgbClr val="1B2530"/>
                          </a:solidFill>
                          <a:latin typeface="Calibri" pitchFamily="34" charset="0"/>
                          <a:ea typeface="Calibri" pitchFamily="34" charset="-122"/>
                          <a:cs typeface="Calibri" pitchFamily="34" charset="-120"/>
                        </a:rPr>
                        <a:t>2</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1</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2</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2</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2</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r>
              <a:tr h="0">
                <a:tc>
                  <a:txBody>
                    <a:bodyPr/>
                    <a:lstStyle/>
                    <a:p>
                      <a:pPr algn="l" indent="0" marL="0">
                        <a:buNone/>
                      </a:pPr>
                      <a:r>
                        <a:rPr lang="en-US" sz="2100" b="1" dirty="0">
                          <a:solidFill>
                            <a:srgbClr val="1B2530"/>
                          </a:solidFill>
                          <a:latin typeface="Calibri" pitchFamily="34" charset="0"/>
                          <a:ea typeface="Calibri" pitchFamily="34" charset="-122"/>
                          <a:cs typeface="Calibri" pitchFamily="34" charset="-120"/>
                        </a:rPr>
                        <a:t>256</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6E7D2"/>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255</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6E7D2"/>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256</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6E7D2"/>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256</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6E7D2"/>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0</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6E7D2"/>
                    </a:solidFill>
                  </a:tcPr>
                </a:tc>
              </a:tr>
              <a:tr h="0">
                <a:tc>
                  <a:txBody>
                    <a:bodyPr/>
                    <a:lstStyle/>
                    <a:p>
                      <a:pPr algn="l" indent="0" marL="0">
                        <a:buNone/>
                      </a:pPr>
                      <a:r>
                        <a:rPr lang="en-US" sz="2100" b="1" dirty="0">
                          <a:solidFill>
                            <a:srgbClr val="1B2530"/>
                          </a:solidFill>
                          <a:latin typeface="Calibri" pitchFamily="34" charset="0"/>
                          <a:ea typeface="Calibri" pitchFamily="34" charset="-122"/>
                          <a:cs typeface="Calibri" pitchFamily="34" charset="-120"/>
                        </a:rPr>
                        <a:t>257</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256</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257</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257</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1</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r>
            </a:tbl>
          </a:graphicData>
        </a:graphic>
      </p:graphicFrame>
      <p:sp>
        <p:nvSpPr>
          <p:cNvPr id="4" name="Text 1"/>
          <p:cNvSpPr txBox="1"/>
          <p:nvPr/>
        </p:nvSpPr>
        <p:spPr>
          <a:xfrm>
            <a:off x="548640" y="5760720"/>
            <a:ext cx="11094415" cy="411480"/>
          </a:xfrm>
          <a:prstGeom prst="rect">
            <a:avLst/>
          </a:prstGeom>
          <a:noFill/>
          <a:ln/>
        </p:spPr>
        <p:txBody>
          <a:bodyPr wrap="square" lIns="0" tIns="0" rIns="0" bIns="0" rtlCol="0" anchor="ctr"/>
          <a:lstStyle/>
          <a:p>
            <a:pPr indent="0" marL="0">
              <a:buNone/>
            </a:pPr>
            <a:r>
              <a:rPr lang="en-US" sz="1500" i="1" dirty="0">
                <a:solidFill>
                  <a:srgbClr val="5B6B78"/>
                </a:solidFill>
                <a:latin typeface="Calibri" pitchFamily="34" charset="0"/>
                <a:ea typeface="Calibri" pitchFamily="34" charset="-122"/>
                <a:cs typeface="Calibri" pitchFamily="34" charset="-120"/>
              </a:rPr>
              <a:t>At frame 256 the counter keeps growing, but its low eight bits return to zero: the bar starts again.</a:t>
            </a:r>
            <a:endParaRPr lang="en-US" sz="15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Shape 0"/>
          <p:cNvSpPr/>
          <p:nvPr/>
        </p:nvSpPr>
        <p:spPr>
          <a:xfrm>
            <a:off x="548640" y="640080"/>
            <a:ext cx="168250" cy="168250"/>
          </a:xfrm>
          <a:prstGeom prst="rect">
            <a:avLst/>
          </a:prstGeom>
          <a:solidFill>
            <a:srgbClr val="0E7C86"/>
          </a:solidFill>
          <a:ln w="12700">
            <a:solidFill>
              <a:srgbClr val="0E7C86"/>
            </a:solidFill>
            <a:prstDash val="solid"/>
          </a:ln>
        </p:spPr>
      </p:sp>
      <p:sp>
        <p:nvSpPr>
          <p:cNvPr id="3" name="Shape 1"/>
          <p:cNvSpPr/>
          <p:nvPr/>
        </p:nvSpPr>
        <p:spPr>
          <a:xfrm>
            <a:off x="731520" y="640080"/>
            <a:ext cx="168250" cy="168250"/>
          </a:xfrm>
          <a:prstGeom prst="rect">
            <a:avLst/>
          </a:prstGeom>
          <a:solidFill>
            <a:srgbClr val="C7791B"/>
          </a:solidFill>
          <a:ln w="12700">
            <a:solidFill>
              <a:srgbClr val="C7791B"/>
            </a:solidFill>
            <a:prstDash val="solid"/>
          </a:ln>
        </p:spPr>
      </p:sp>
      <p:sp>
        <p:nvSpPr>
          <p:cNvPr id="4" name="Shape 2"/>
          <p:cNvSpPr/>
          <p:nvPr/>
        </p:nvSpPr>
        <p:spPr>
          <a:xfrm>
            <a:off x="731520" y="822960"/>
            <a:ext cx="168250" cy="168250"/>
          </a:xfrm>
          <a:prstGeom prst="rect">
            <a:avLst/>
          </a:prstGeom>
          <a:solidFill>
            <a:srgbClr val="0E7C86"/>
          </a:solidFill>
          <a:ln w="12700">
            <a:solidFill>
              <a:srgbClr val="0E7C86"/>
            </a:solidFill>
            <a:prstDash val="solid"/>
          </a:ln>
        </p:spPr>
      </p:sp>
      <p:sp>
        <p:nvSpPr>
          <p:cNvPr id="5" name="Text 3"/>
          <p:cNvSpPr txBox="1"/>
          <p:nvPr/>
        </p:nvSpPr>
        <p:spPr>
          <a:xfrm>
            <a:off x="548640" y="1828800"/>
            <a:ext cx="2743200" cy="1097280"/>
          </a:xfrm>
          <a:prstGeom prst="rect">
            <a:avLst/>
          </a:prstGeom>
          <a:noFill/>
          <a:ln/>
        </p:spPr>
        <p:txBody>
          <a:bodyPr wrap="square" lIns="0" tIns="0" rIns="0" bIns="0" rtlCol="0" anchor="ctr"/>
          <a:lstStyle/>
          <a:p>
            <a:pPr indent="0" marL="0">
              <a:buNone/>
            </a:pPr>
            <a:r>
              <a:rPr lang="en-US" sz="7200" b="1" dirty="0">
                <a:solidFill>
                  <a:srgbClr val="C7791B"/>
                </a:solidFill>
                <a:latin typeface="Cambria" pitchFamily="34" charset="0"/>
                <a:ea typeface="Cambria" pitchFamily="34" charset="-122"/>
                <a:cs typeface="Cambria" pitchFamily="34" charset="-120"/>
              </a:rPr>
              <a:t>04</a:t>
            </a:r>
            <a:endParaRPr lang="en-US" sz="7200" dirty="0"/>
          </a:p>
        </p:txBody>
      </p:sp>
      <p:sp>
        <p:nvSpPr>
          <p:cNvPr id="6" name="Text 4"/>
          <p:cNvSpPr txBox="1"/>
          <p:nvPr/>
        </p:nvSpPr>
        <p:spPr>
          <a:xfrm>
            <a:off x="548640" y="3017520"/>
            <a:ext cx="11094415" cy="1188720"/>
          </a:xfrm>
          <a:prstGeom prst="rect">
            <a:avLst/>
          </a:prstGeom>
          <a:noFill/>
          <a:ln/>
        </p:spPr>
        <p:txBody>
          <a:bodyPr wrap="square" lIns="0" tIns="0" rIns="0" bIns="0" rtlCol="0" anchor="ctr"/>
          <a:lstStyle/>
          <a:p>
            <a:pPr indent="0" marL="0">
              <a:buNone/>
            </a:pPr>
            <a:r>
              <a:rPr lang="en-US" sz="4400" b="1" dirty="0">
                <a:solidFill>
                  <a:srgbClr val="FFFFFF"/>
                </a:solidFill>
                <a:latin typeface="Cambria" pitchFamily="34" charset="0"/>
                <a:ea typeface="Cambria" pitchFamily="34" charset="-122"/>
                <a:cs typeface="Cambria" pitchFamily="34" charset="-120"/>
              </a:rPr>
              <a:t>What comes next</a:t>
            </a:r>
            <a:endParaRPr lang="en-US" sz="4400" dirty="0"/>
          </a:p>
        </p:txBody>
      </p:sp>
      <p:sp>
        <p:nvSpPr>
          <p:cNvPr id="7" name="Text 5"/>
          <p:cNvSpPr txBox="1"/>
          <p:nvPr/>
        </p:nvSpPr>
        <p:spPr>
          <a:xfrm>
            <a:off x="548640" y="4343400"/>
            <a:ext cx="11094415" cy="1097280"/>
          </a:xfrm>
          <a:prstGeom prst="rect">
            <a:avLst/>
          </a:prstGeom>
          <a:noFill/>
          <a:ln/>
        </p:spPr>
        <p:txBody>
          <a:bodyPr wrap="square" lIns="0" tIns="0" rIns="0" bIns="0" rtlCol="0" anchor="t"/>
          <a:lstStyle/>
          <a:p>
            <a:pPr indent="0" marL="0">
              <a:buNone/>
            </a:pPr>
            <a:r>
              <a:rPr lang="en-US" sz="2200" dirty="0">
                <a:solidFill>
                  <a:srgbClr val="CFE3EA"/>
                </a:solidFill>
                <a:latin typeface="Calibri" pitchFamily="34" charset="0"/>
                <a:ea typeface="Calibri" pitchFamily="34" charset="-122"/>
                <a:cs typeface="Calibri" pitchFamily="34" charset="-120"/>
              </a:rPr>
              <a:t>Every question raised here has a lecture that answers it.</a:t>
            </a:r>
            <a:endParaRPr lang="en-US" sz="22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CFE3EA"/>
                </a:solidFill>
                <a:latin typeface="Calibri"/>
                <a:ea typeface="Calibri"/>
                <a:cs typeface="Calibri"/>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Questions your program has already raised</a:t>
            </a:r>
            <a:endParaRPr lang="en-US" sz="3200" dirty="0"/>
          </a:p>
        </p:txBody>
      </p:sp>
      <p:graphicFrame>
        <p:nvGraphicFramePr>
          <p:cNvPr id="23" name="Table 0"/>
          <p:cNvGraphicFramePr>
            <a:graphicFrameLocks noGrp="1"/>
          </p:cNvGraphicFramePr>
          <p:nvPr>
            <p:extLst>
              <p:ext uri="{D42A27DB-BD31-4B8C-83A1-F6EECF244321}">
                <p14:modId xmlns:p14="http://schemas.microsoft.com/office/powerpoint/2010/main" val="1579011935"/>
              </p:ext>
            </p:extLst>
          </p:nvPr>
        </p:nvGraphicFramePr>
        <p:xfrm>
          <a:off x="548640" y="1417320"/>
          <a:ext cx="11094415" cy="914400"/>
        </p:xfrm>
        <a:graphic>
          <a:graphicData uri="http://schemas.openxmlformats.org/drawingml/2006/table">
            <a:tbl>
              <a:tblPr/>
              <a:tblGrid>
                <a:gridCol w="3757786"/>
                <a:gridCol w="4652497"/>
                <a:gridCol w="2684133"/>
              </a:tblGrid>
              <a:tr h="0">
                <a:tc>
                  <a:txBody>
                    <a:bodyPr/>
                    <a:lstStyle/>
                    <a:p>
                      <a:pPr algn="l" indent="0" marL="0">
                        <a:buNone/>
                      </a:pPr>
                      <a:r>
                        <a:rPr lang="en-US" sz="1400" b="1" dirty="0">
                          <a:solidFill>
                            <a:srgbClr val="FFFFFF"/>
                          </a:solidFill>
                          <a:latin typeface="Calibri" pitchFamily="34" charset="0"/>
                          <a:ea typeface="Calibri" pitchFamily="34" charset="-122"/>
                          <a:cs typeface="Calibri" pitchFamily="34" charset="-120"/>
                        </a:rPr>
                        <a:t>You saw</a:t>
                      </a:r>
                      <a:endParaRPr lang="en-US" sz="14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c>
                  <a:txBody>
                    <a:bodyPr/>
                    <a:lstStyle/>
                    <a:p>
                      <a:pPr algn="l" indent="0" marL="0">
                        <a:buNone/>
                      </a:pPr>
                      <a:r>
                        <a:rPr lang="en-US" sz="1400" b="1" dirty="0">
                          <a:solidFill>
                            <a:srgbClr val="FFFFFF"/>
                          </a:solidFill>
                          <a:latin typeface="Calibri" pitchFamily="34" charset="0"/>
                          <a:ea typeface="Calibri" pitchFamily="34" charset="-122"/>
                          <a:cs typeface="Calibri" pitchFamily="34" charset="-120"/>
                        </a:rPr>
                        <a:t>The question</a:t>
                      </a:r>
                      <a:endParaRPr lang="en-US" sz="14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c>
                  <a:txBody>
                    <a:bodyPr/>
                    <a:lstStyle/>
                    <a:p>
                      <a:pPr algn="l" indent="0" marL="0">
                        <a:buNone/>
                      </a:pPr>
                      <a:r>
                        <a:rPr lang="en-US" sz="1400" b="1" dirty="0">
                          <a:solidFill>
                            <a:srgbClr val="FFFFFF"/>
                          </a:solidFill>
                          <a:latin typeface="Calibri" pitchFamily="34" charset="0"/>
                          <a:ea typeface="Calibri" pitchFamily="34" charset="-122"/>
                          <a:cs typeface="Calibri" pitchFamily="34" charset="-120"/>
                        </a:rPr>
                        <a:t>Answered in</a:t>
                      </a:r>
                      <a:endParaRPr lang="en-US" sz="14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r>
              <a:tr h="0">
                <a:tc>
                  <a:txBody>
                    <a:bodyPr/>
                    <a:lstStyle/>
                    <a:p>
                      <a:pPr algn="l" indent="0" marL="0">
                        <a:buNone/>
                      </a:pPr>
                      <a:r>
                        <a:rPr lang="en-US" sz="1400" dirty="0">
                          <a:solidFill>
                            <a:srgbClr val="1B2530"/>
                          </a:solidFill>
                          <a:latin typeface="Courier New" pitchFamily="34" charset="0"/>
                          <a:ea typeface="Courier New" pitchFamily="34" charset="-122"/>
                          <a:cs typeface="Courier New" pitchFamily="34" charset="-120"/>
                        </a:rPr>
                        <a:t>0x07e0, 0xffff, 255</a:t>
                      </a:r>
                      <a:endParaRPr lang="en-US" sz="1400" dirty="0">
                        <a:latin typeface="Courier New" charset="0"/>
                        <a:ea typeface="Courier New" charset="0"/>
                        <a:cs typeface="Courier New"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400" dirty="0">
                          <a:solidFill>
                            <a:srgbClr val="1B2530"/>
                          </a:solidFill>
                          <a:latin typeface="Calibri" pitchFamily="34" charset="0"/>
                          <a:ea typeface="Calibri" pitchFamily="34" charset="-122"/>
                          <a:cs typeface="Calibri" pitchFamily="34" charset="-120"/>
                        </a:rPr>
                        <a:t>Why do programmers write numbers in hexadecimal?</a:t>
                      </a:r>
                      <a:endParaRPr lang="en-US" sz="14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400" dirty="0">
                          <a:solidFill>
                            <a:srgbClr val="1B2530"/>
                          </a:solidFill>
                          <a:latin typeface="Calibri" pitchFamily="34" charset="0"/>
                          <a:ea typeface="Calibri" pitchFamily="34" charset="-122"/>
                          <a:cs typeface="Calibri" pitchFamily="34" charset="-120"/>
                        </a:rPr>
                        <a:t>Lectures 04 and 05</a:t>
                      </a:r>
                      <a:endParaRPr lang="en-US" sz="14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r h="0">
                <a:tc>
                  <a:txBody>
                    <a:bodyPr/>
                    <a:lstStyle/>
                    <a:p>
                      <a:pPr algn="l" indent="0" marL="0">
                        <a:buNone/>
                      </a:pPr>
                      <a:r>
                        <a:rPr lang="en-US" sz="1400" dirty="0">
                          <a:solidFill>
                            <a:srgbClr val="1B2530"/>
                          </a:solidFill>
                          <a:latin typeface="Courier New" pitchFamily="34" charset="0"/>
                          <a:ea typeface="Courier New" pitchFamily="34" charset="-122"/>
                          <a:cs typeface="Courier New" pitchFamily="34" charset="-120"/>
                        </a:rPr>
                        <a:t>a position below zero shown as 0xFFFFFFFF</a:t>
                      </a:r>
                      <a:endParaRPr lang="en-US" sz="1400" dirty="0">
                        <a:latin typeface="Courier New" charset="0"/>
                        <a:ea typeface="Courier New" charset="0"/>
                        <a:cs typeface="Courier New"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1400" dirty="0">
                          <a:solidFill>
                            <a:srgbClr val="1B2530"/>
                          </a:solidFill>
                          <a:latin typeface="Calibri" pitchFamily="34" charset="0"/>
                          <a:ea typeface="Calibri" pitchFamily="34" charset="-122"/>
                          <a:cs typeface="Calibri" pitchFamily="34" charset="-120"/>
                        </a:rPr>
                        <a:t>How does a register hold a negative number?</a:t>
                      </a:r>
                      <a:endParaRPr lang="en-US" sz="14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1400" dirty="0">
                          <a:solidFill>
                            <a:srgbClr val="1B2530"/>
                          </a:solidFill>
                          <a:latin typeface="Calibri" pitchFamily="34" charset="0"/>
                          <a:ea typeface="Calibri" pitchFamily="34" charset="-122"/>
                          <a:cs typeface="Calibri" pitchFamily="34" charset="-120"/>
                        </a:rPr>
                        <a:t>Lecture 05</a:t>
                      </a:r>
                      <a:endParaRPr lang="en-US" sz="14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r>
              <a:tr h="0">
                <a:tc>
                  <a:txBody>
                    <a:bodyPr/>
                    <a:lstStyle/>
                    <a:p>
                      <a:pPr algn="l" indent="0" marL="0">
                        <a:buNone/>
                      </a:pPr>
                      <a:r>
                        <a:rPr lang="en-US" sz="1400" dirty="0">
                          <a:solidFill>
                            <a:srgbClr val="1B2530"/>
                          </a:solidFill>
                          <a:latin typeface="Courier New" pitchFamily="34" charset="0"/>
                          <a:ea typeface="Courier New" pitchFamily="34" charset="-122"/>
                          <a:cs typeface="Courier New" pitchFamily="34" charset="-120"/>
                        </a:rPr>
                        <a:t>a ball that moves less than a pixel per frame</a:t>
                      </a:r>
                      <a:endParaRPr lang="en-US" sz="1400" dirty="0">
                        <a:latin typeface="Courier New" charset="0"/>
                        <a:ea typeface="Courier New" charset="0"/>
                        <a:cs typeface="Courier New"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400" dirty="0">
                          <a:solidFill>
                            <a:srgbClr val="1B2530"/>
                          </a:solidFill>
                          <a:latin typeface="Calibri" pitchFamily="34" charset="0"/>
                          <a:ea typeface="Calibri" pitchFamily="34" charset="-122"/>
                          <a:cs typeface="Calibri" pitchFamily="34" charset="-120"/>
                        </a:rPr>
                        <a:t>How do we represent fractions without an FPU?</a:t>
                      </a:r>
                      <a:endParaRPr lang="en-US" sz="14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400" dirty="0">
                          <a:solidFill>
                            <a:srgbClr val="1B2530"/>
                          </a:solidFill>
                          <a:latin typeface="Calibri" pitchFamily="34" charset="0"/>
                          <a:ea typeface="Calibri" pitchFamily="34" charset="-122"/>
                          <a:cs typeface="Calibri" pitchFamily="34" charset="-120"/>
                        </a:rPr>
                        <a:t>Lecture 06</a:t>
                      </a:r>
                      <a:endParaRPr lang="en-US" sz="14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r h="0">
                <a:tc>
                  <a:txBody>
                    <a:bodyPr/>
                    <a:lstStyle/>
                    <a:p>
                      <a:pPr algn="l" indent="0" marL="0">
                        <a:buNone/>
                      </a:pPr>
                      <a:r>
                        <a:rPr lang="en-US" sz="1400" dirty="0">
                          <a:solidFill>
                            <a:srgbClr val="1B2530"/>
                          </a:solidFill>
                          <a:latin typeface="Courier New" pitchFamily="34" charset="0"/>
                          <a:ea typeface="Courier New" pitchFamily="34" charset="-122"/>
                          <a:cs typeface="Courier New" pitchFamily="34" charset="-120"/>
                        </a:rPr>
                        <a:t>andi a2, t1, 255</a:t>
                      </a:r>
                      <a:endParaRPr lang="en-US" sz="1400" dirty="0">
                        <a:latin typeface="Courier New" charset="0"/>
                        <a:ea typeface="Courier New" charset="0"/>
                        <a:cs typeface="Courier New"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1400" dirty="0">
                          <a:solidFill>
                            <a:srgbClr val="1B2530"/>
                          </a:solidFill>
                          <a:latin typeface="Calibri" pitchFamily="34" charset="0"/>
                          <a:ea typeface="Calibri" pitchFamily="34" charset="-122"/>
                          <a:cs typeface="Calibri" pitchFamily="34" charset="-120"/>
                        </a:rPr>
                        <a:t>What does AND do to thirty-two bits at once?</a:t>
                      </a:r>
                      <a:endParaRPr lang="en-US" sz="14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1400" dirty="0">
                          <a:solidFill>
                            <a:srgbClr val="1B2530"/>
                          </a:solidFill>
                          <a:latin typeface="Calibri" pitchFamily="34" charset="0"/>
                          <a:ea typeface="Calibri" pitchFamily="34" charset="-122"/>
                          <a:cs typeface="Calibri" pitchFamily="34" charset="-120"/>
                        </a:rPr>
                        <a:t>Lectures 08 and 09</a:t>
                      </a:r>
                      <a:endParaRPr lang="en-US" sz="14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r>
              <a:tr h="0">
                <a:tc>
                  <a:txBody>
                    <a:bodyPr/>
                    <a:lstStyle/>
                    <a:p>
                      <a:pPr algn="l" indent="0" marL="0">
                        <a:buNone/>
                      </a:pPr>
                      <a:r>
                        <a:rPr lang="en-US" sz="1400" dirty="0">
                          <a:solidFill>
                            <a:srgbClr val="1B2530"/>
                          </a:solidFill>
                          <a:latin typeface="Courier New" pitchFamily="34" charset="0"/>
                          <a:ea typeface="Courier New" pitchFamily="34" charset="-122"/>
                          <a:cs typeface="Courier New" pitchFamily="34" charset="-120"/>
                        </a:rPr>
                        <a:t>addi t1, t1, 1</a:t>
                      </a:r>
                      <a:endParaRPr lang="en-US" sz="1400" dirty="0">
                        <a:latin typeface="Courier New" charset="0"/>
                        <a:ea typeface="Courier New" charset="0"/>
                        <a:cs typeface="Courier New"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400" dirty="0">
                          <a:solidFill>
                            <a:srgbClr val="1B2530"/>
                          </a:solidFill>
                          <a:latin typeface="Calibri" pitchFamily="34" charset="0"/>
                          <a:ea typeface="Calibri" pitchFamily="34" charset="-122"/>
                          <a:cs typeface="Calibri" pitchFamily="34" charset="-120"/>
                        </a:rPr>
                        <a:t>Which circuit actually adds two numbers?</a:t>
                      </a:r>
                      <a:endParaRPr lang="en-US" sz="14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400" dirty="0">
                          <a:solidFill>
                            <a:srgbClr val="1B2530"/>
                          </a:solidFill>
                          <a:latin typeface="Calibri" pitchFamily="34" charset="0"/>
                          <a:ea typeface="Calibri" pitchFamily="34" charset="-122"/>
                          <a:cs typeface="Calibri" pitchFamily="34" charset="-120"/>
                        </a:rPr>
                        <a:t>Lecture 09: the adders</a:t>
                      </a:r>
                      <a:endParaRPr lang="en-US" sz="14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r h="0">
                <a:tc>
                  <a:txBody>
                    <a:bodyPr/>
                    <a:lstStyle/>
                    <a:p>
                      <a:pPr algn="l" indent="0" marL="0">
                        <a:buNone/>
                      </a:pPr>
                      <a:r>
                        <a:rPr lang="en-US" sz="1400" dirty="0">
                          <a:solidFill>
                            <a:srgbClr val="1B2530"/>
                          </a:solidFill>
                          <a:latin typeface="Courier New" pitchFamily="34" charset="0"/>
                          <a:ea typeface="Courier New" pitchFamily="34" charset="-122"/>
                          <a:cs typeface="Courier New" pitchFamily="34" charset="-120"/>
                        </a:rPr>
                        <a:t>a pressed button is a 1</a:t>
                      </a:r>
                      <a:endParaRPr lang="en-US" sz="1400" dirty="0">
                        <a:latin typeface="Courier New" charset="0"/>
                        <a:ea typeface="Courier New" charset="0"/>
                        <a:cs typeface="Courier New"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1400" dirty="0">
                          <a:solidFill>
                            <a:srgbClr val="1B2530"/>
                          </a:solidFill>
                          <a:latin typeface="Calibri" pitchFamily="34" charset="0"/>
                          <a:ea typeface="Calibri" pitchFamily="34" charset="-122"/>
                          <a:cs typeface="Calibri" pitchFamily="34" charset="-120"/>
                        </a:rPr>
                        <a:t>What is a bit made of, physically?</a:t>
                      </a:r>
                      <a:endParaRPr lang="en-US" sz="14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1400" dirty="0">
                          <a:solidFill>
                            <a:srgbClr val="1B2530"/>
                          </a:solidFill>
                          <a:latin typeface="Calibri" pitchFamily="34" charset="0"/>
                          <a:ea typeface="Calibri" pitchFamily="34" charset="-122"/>
                          <a:cs typeface="Calibri" pitchFamily="34" charset="-120"/>
                        </a:rPr>
                        <a:t>Lecture 10</a:t>
                      </a:r>
                      <a:endParaRPr lang="en-US" sz="14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r>
              <a:tr h="0">
                <a:tc>
                  <a:txBody>
                    <a:bodyPr/>
                    <a:lstStyle/>
                    <a:p>
                      <a:pPr algn="l" indent="0" marL="0">
                        <a:buNone/>
                      </a:pPr>
                      <a:r>
                        <a:rPr lang="en-US" sz="1400" dirty="0">
                          <a:solidFill>
                            <a:srgbClr val="1B2530"/>
                          </a:solidFill>
                          <a:latin typeface="Courier New" pitchFamily="34" charset="0"/>
                          <a:ea typeface="Courier New" pitchFamily="34" charset="-122"/>
                          <a:cs typeface="Courier New" pitchFamily="34" charset="-120"/>
                        </a:rPr>
                        <a:t>counter survives between frames</a:t>
                      </a:r>
                      <a:endParaRPr lang="en-US" sz="1400" dirty="0">
                        <a:latin typeface="Courier New" charset="0"/>
                        <a:ea typeface="Courier New" charset="0"/>
                        <a:cs typeface="Courier New"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400" dirty="0">
                          <a:solidFill>
                            <a:srgbClr val="1B2530"/>
                          </a:solidFill>
                          <a:latin typeface="Calibri" pitchFamily="34" charset="0"/>
                          <a:ea typeface="Calibri" pitchFamily="34" charset="-122"/>
                          <a:cs typeface="Calibri" pitchFamily="34" charset="-120"/>
                        </a:rPr>
                        <a:t>How does a circuit remember a bit?</a:t>
                      </a:r>
                      <a:endParaRPr lang="en-US" sz="14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400" dirty="0">
                          <a:solidFill>
                            <a:srgbClr val="1B2530"/>
                          </a:solidFill>
                          <a:latin typeface="Calibri" pitchFamily="34" charset="0"/>
                          <a:ea typeface="Calibri" pitchFamily="34" charset="-122"/>
                          <a:cs typeface="Calibri" pitchFamily="34" charset="-120"/>
                        </a:rPr>
                        <a:t>Lectures 13 and 15</a:t>
                      </a:r>
                      <a:endParaRPr lang="en-US" sz="14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r h="0">
                <a:tc>
                  <a:txBody>
                    <a:bodyPr/>
                    <a:lstStyle/>
                    <a:p>
                      <a:pPr algn="l" indent="0" marL="0">
                        <a:buNone/>
                      </a:pPr>
                      <a:r>
                        <a:rPr lang="en-US" sz="1400" dirty="0">
                          <a:solidFill>
                            <a:srgbClr val="1B2530"/>
                          </a:solidFill>
                          <a:latin typeface="Courier New" pitchFamily="34" charset="0"/>
                          <a:ea typeface="Courier New" pitchFamily="34" charset="-122"/>
                          <a:cs typeface="Courier New" pitchFamily="34" charset="-120"/>
                        </a:rPr>
                        <a:t>0x00130313</a:t>
                      </a:r>
                      <a:endParaRPr lang="en-US" sz="1400" dirty="0">
                        <a:latin typeface="Courier New" charset="0"/>
                        <a:ea typeface="Courier New" charset="0"/>
                        <a:cs typeface="Courier New"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1400" dirty="0">
                          <a:solidFill>
                            <a:srgbClr val="1B2530"/>
                          </a:solidFill>
                          <a:latin typeface="Calibri" pitchFamily="34" charset="0"/>
                          <a:ea typeface="Calibri" pitchFamily="34" charset="-122"/>
                          <a:cs typeface="Calibri" pitchFamily="34" charset="-120"/>
                        </a:rPr>
                        <a:t>How does the processor decode and execute it?</a:t>
                      </a:r>
                      <a:endParaRPr lang="en-US" sz="14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1400" dirty="0">
                          <a:solidFill>
                            <a:srgbClr val="1B2530"/>
                          </a:solidFill>
                          <a:latin typeface="Calibri" pitchFamily="34" charset="0"/>
                          <a:ea typeface="Calibri" pitchFamily="34" charset="-122"/>
                          <a:cs typeface="Calibri" pitchFamily="34" charset="-120"/>
                        </a:rPr>
                        <a:t>Lectures 18 and 19</a:t>
                      </a:r>
                      <a:endParaRPr lang="en-US" sz="14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r>
              <a:tr h="0">
                <a:tc>
                  <a:txBody>
                    <a:bodyPr/>
                    <a:lstStyle/>
                    <a:p>
                      <a:pPr algn="l" indent="0" marL="0">
                        <a:buNone/>
                      </a:pPr>
                      <a:r>
                        <a:rPr lang="en-US" sz="1400" dirty="0">
                          <a:solidFill>
                            <a:srgbClr val="1B2530"/>
                          </a:solidFill>
                          <a:latin typeface="Courier New" pitchFamily="34" charset="0"/>
                          <a:ea typeface="Courier New" pitchFamily="34" charset="-122"/>
                          <a:cs typeface="Courier New" pitchFamily="34" charset="-120"/>
                        </a:rPr>
                        <a:t>three functions and a rectangle</a:t>
                      </a:r>
                      <a:endParaRPr lang="en-US" sz="1400" dirty="0">
                        <a:latin typeface="Courier New" charset="0"/>
                        <a:ea typeface="Courier New" charset="0"/>
                        <a:cs typeface="Courier New"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400" dirty="0">
                          <a:solidFill>
                            <a:srgbClr val="1B2530"/>
                          </a:solidFill>
                          <a:latin typeface="Calibri" pitchFamily="34" charset="0"/>
                          <a:ea typeface="Calibri" pitchFamily="34" charset="-122"/>
                          <a:cs typeface="Calibri" pitchFamily="34" charset="-120"/>
                        </a:rPr>
                        <a:t>Can I make a whole game out of this?</a:t>
                      </a:r>
                      <a:endParaRPr lang="en-US" sz="14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400" dirty="0">
                          <a:solidFill>
                            <a:srgbClr val="1B2530"/>
                          </a:solidFill>
                          <a:latin typeface="Calibri" pitchFamily="34" charset="0"/>
                          <a:ea typeface="Calibri" pitchFamily="34" charset="-122"/>
                          <a:cs typeface="Calibri" pitchFamily="34" charset="-120"/>
                        </a:rPr>
                        <a:t>Verm1: 07, 12, 17, 22</a:t>
                      </a:r>
                      <a:endParaRPr lang="en-US" sz="14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bl>
          </a:graphicData>
        </a:graphic>
      </p:graphicFrame>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Check your understanding</a:t>
            </a:r>
            <a:endParaRPr lang="en-US" sz="3200" dirty="0"/>
          </a:p>
        </p:txBody>
      </p:sp>
      <p:sp>
        <p:nvSpPr>
          <p:cNvPr id="3" name="Text 1"/>
          <p:cNvSpPr txBox="1"/>
          <p:nvPr/>
        </p:nvSpPr>
        <p:spPr>
          <a:xfrm>
            <a:off x="548640" y="1417320"/>
            <a:ext cx="11094415" cy="1143000"/>
          </a:xfrm>
          <a:prstGeom prst="rect">
            <a:avLst/>
          </a:prstGeom>
          <a:noFill/>
          <a:ln/>
        </p:spPr>
        <p:txBody>
          <a:bodyPr wrap="square" lIns="0" tIns="0" rIns="0" bIns="0" rtlCol="0" anchor="ctr"/>
          <a:lstStyle/>
          <a:p>
            <a:pPr indent="0" marL="0">
              <a:buNone/>
            </a:pPr>
            <a:r>
              <a:rPr lang="en-US" sz="2600" b="1" dirty="0">
                <a:solidFill>
                  <a:srgbClr val="1B2530"/>
                </a:solidFill>
                <a:latin typeface="Cambria" pitchFamily="34" charset="0"/>
                <a:ea typeface="Cambria" pitchFamily="34" charset="-122"/>
                <a:cs typeface="Cambria" pitchFamily="34" charset="-120"/>
              </a:rPr>
              <a:t>After la t0, counter and lw t1, 0(t0), what does t0 hold?</a:t>
            </a:r>
            <a:endParaRPr lang="en-US" sz="2600" dirty="0"/>
          </a:p>
        </p:txBody>
      </p:sp>
      <p:sp>
        <p:nvSpPr>
          <p:cNvPr id="4" name="Shape 2"/>
          <p:cNvSpPr/>
          <p:nvPr/>
        </p:nvSpPr>
        <p:spPr>
          <a:xfrm>
            <a:off x="548640" y="2834640"/>
            <a:ext cx="5410048" cy="1531620"/>
          </a:xfrm>
          <a:prstGeom prst="roundRect">
            <a:avLst>
              <a:gd name="adj" fmla="val 4776"/>
            </a:avLst>
          </a:prstGeom>
          <a:solidFill>
            <a:srgbClr val="EEF2F4"/>
          </a:solidFill>
          <a:ln w="12700">
            <a:solidFill>
              <a:srgbClr val="EEF2F4"/>
            </a:solidFill>
            <a:prstDash val="solid"/>
          </a:ln>
        </p:spPr>
      </p:sp>
      <p:sp>
        <p:nvSpPr>
          <p:cNvPr id="5" name="Text 3"/>
          <p:cNvSpPr txBox="1"/>
          <p:nvPr/>
        </p:nvSpPr>
        <p:spPr>
          <a:xfrm>
            <a:off x="777240" y="3353562"/>
            <a:ext cx="493776" cy="493776"/>
          </a:xfrm>
          <a:prstGeom prst="roundRect">
            <a:avLst>
              <a:gd name="adj" fmla="val 14815"/>
            </a:avLst>
          </a:prstGeom>
          <a:solidFill>
            <a:srgbClr val="2E4A62"/>
          </a:solidFill>
          <a:ln>
            <a:solidFill>
              <a:srgbClr val="2E4A62"/>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a:t>
            </a:r>
            <a:endParaRPr lang="en-US" sz="1800" dirty="0"/>
          </a:p>
        </p:txBody>
      </p:sp>
      <p:sp>
        <p:nvSpPr>
          <p:cNvPr id="6" name="Text 4"/>
          <p:cNvSpPr txBox="1"/>
          <p:nvPr/>
        </p:nvSpPr>
        <p:spPr>
          <a:xfrm>
            <a:off x="1508760" y="2971800"/>
            <a:ext cx="4221328" cy="1257300"/>
          </a:xfrm>
          <a:prstGeom prst="rect">
            <a:avLst/>
          </a:prstGeom>
          <a:noFill/>
          <a:ln/>
        </p:spPr>
        <p:txBody>
          <a:bodyPr wrap="square" lIns="0" tIns="0" rIns="0" bIns="0" rtlCol="0" anchor="ctr"/>
          <a:lstStyle/>
          <a:p>
            <a:pPr indent="0" marL="0">
              <a:buNone/>
            </a:pPr>
            <a:r>
              <a:rPr lang="en-US" sz="2200" dirty="0">
                <a:solidFill>
                  <a:srgbClr val="1B2530"/>
                </a:solidFill>
                <a:latin typeface="Calibri" pitchFamily="34" charset="0"/>
                <a:ea typeface="Calibri" pitchFamily="34" charset="-122"/>
                <a:cs typeface="Calibri" pitchFamily="34" charset="-120"/>
              </a:rPr>
              <a:t>The value of the counter</a:t>
            </a:r>
            <a:endParaRPr lang="en-US" sz="2200" dirty="0"/>
          </a:p>
        </p:txBody>
      </p:sp>
      <p:sp>
        <p:nvSpPr>
          <p:cNvPr id="7" name="Shape 5"/>
          <p:cNvSpPr/>
          <p:nvPr/>
        </p:nvSpPr>
        <p:spPr>
          <a:xfrm>
            <a:off x="6233008" y="2834640"/>
            <a:ext cx="5410048" cy="1531620"/>
          </a:xfrm>
          <a:prstGeom prst="roundRect">
            <a:avLst>
              <a:gd name="adj" fmla="val 4776"/>
            </a:avLst>
          </a:prstGeom>
          <a:solidFill>
            <a:srgbClr val="EEF2F4"/>
          </a:solidFill>
          <a:ln w="12700">
            <a:solidFill>
              <a:srgbClr val="EEF2F4"/>
            </a:solidFill>
            <a:prstDash val="solid"/>
          </a:ln>
        </p:spPr>
      </p:sp>
      <p:sp>
        <p:nvSpPr>
          <p:cNvPr id="8" name="Text 6"/>
          <p:cNvSpPr txBox="1"/>
          <p:nvPr/>
        </p:nvSpPr>
        <p:spPr>
          <a:xfrm>
            <a:off x="6461608" y="3353562"/>
            <a:ext cx="493776" cy="493776"/>
          </a:xfrm>
          <a:prstGeom prst="roundRect">
            <a:avLst>
              <a:gd name="adj" fmla="val 14815"/>
            </a:avLst>
          </a:prstGeom>
          <a:solidFill>
            <a:srgbClr val="2E4A62"/>
          </a:solidFill>
          <a:ln>
            <a:solidFill>
              <a:srgbClr val="2E4A62"/>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B</a:t>
            </a:r>
            <a:endParaRPr lang="en-US" sz="1800" dirty="0"/>
          </a:p>
        </p:txBody>
      </p:sp>
      <p:sp>
        <p:nvSpPr>
          <p:cNvPr id="9" name="Text 7"/>
          <p:cNvSpPr txBox="1"/>
          <p:nvPr/>
        </p:nvSpPr>
        <p:spPr>
          <a:xfrm>
            <a:off x="7193128" y="2971800"/>
            <a:ext cx="4221328" cy="1257300"/>
          </a:xfrm>
          <a:prstGeom prst="rect">
            <a:avLst/>
          </a:prstGeom>
          <a:noFill/>
          <a:ln/>
        </p:spPr>
        <p:txBody>
          <a:bodyPr wrap="square" lIns="0" tIns="0" rIns="0" bIns="0" rtlCol="0" anchor="ctr"/>
          <a:lstStyle/>
          <a:p>
            <a:pPr indent="0" marL="0">
              <a:buNone/>
            </a:pPr>
            <a:r>
              <a:rPr lang="en-US" sz="2200" dirty="0">
                <a:solidFill>
                  <a:srgbClr val="1B2530"/>
                </a:solidFill>
                <a:latin typeface="Calibri" pitchFamily="34" charset="0"/>
                <a:ea typeface="Calibri" pitchFamily="34" charset="-122"/>
                <a:cs typeface="Calibri" pitchFamily="34" charset="-120"/>
              </a:rPr>
              <a:t>The address of the counter</a:t>
            </a:r>
            <a:endParaRPr lang="en-US" sz="2200" dirty="0"/>
          </a:p>
        </p:txBody>
      </p:sp>
      <p:sp>
        <p:nvSpPr>
          <p:cNvPr id="10" name="Shape 8"/>
          <p:cNvSpPr/>
          <p:nvPr/>
        </p:nvSpPr>
        <p:spPr>
          <a:xfrm>
            <a:off x="548640" y="4640580"/>
            <a:ext cx="5410048" cy="1531620"/>
          </a:xfrm>
          <a:prstGeom prst="roundRect">
            <a:avLst>
              <a:gd name="adj" fmla="val 4776"/>
            </a:avLst>
          </a:prstGeom>
          <a:solidFill>
            <a:srgbClr val="EEF2F4"/>
          </a:solidFill>
          <a:ln w="12700">
            <a:solidFill>
              <a:srgbClr val="EEF2F4"/>
            </a:solidFill>
            <a:prstDash val="solid"/>
          </a:ln>
        </p:spPr>
      </p:sp>
      <p:sp>
        <p:nvSpPr>
          <p:cNvPr id="11" name="Text 9"/>
          <p:cNvSpPr txBox="1"/>
          <p:nvPr/>
        </p:nvSpPr>
        <p:spPr>
          <a:xfrm>
            <a:off x="777240" y="5159502"/>
            <a:ext cx="493776" cy="493776"/>
          </a:xfrm>
          <a:prstGeom prst="roundRect">
            <a:avLst>
              <a:gd name="adj" fmla="val 14815"/>
            </a:avLst>
          </a:prstGeom>
          <a:solidFill>
            <a:srgbClr val="2E4A62"/>
          </a:solidFill>
          <a:ln>
            <a:solidFill>
              <a:srgbClr val="2E4A62"/>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C</a:t>
            </a:r>
            <a:endParaRPr lang="en-US" sz="1800" dirty="0"/>
          </a:p>
        </p:txBody>
      </p:sp>
      <p:sp>
        <p:nvSpPr>
          <p:cNvPr id="12" name="Text 10"/>
          <p:cNvSpPr txBox="1"/>
          <p:nvPr/>
        </p:nvSpPr>
        <p:spPr>
          <a:xfrm>
            <a:off x="1508760" y="4777740"/>
            <a:ext cx="4221328" cy="1257300"/>
          </a:xfrm>
          <a:prstGeom prst="rect">
            <a:avLst/>
          </a:prstGeom>
          <a:noFill/>
          <a:ln/>
        </p:spPr>
        <p:txBody>
          <a:bodyPr wrap="square" lIns="0" tIns="0" rIns="0" bIns="0" rtlCol="0" anchor="ctr"/>
          <a:lstStyle/>
          <a:p>
            <a:pPr indent="0" marL="0">
              <a:buNone/>
            </a:pPr>
            <a:r>
              <a:rPr lang="en-US" sz="2200" dirty="0">
                <a:solidFill>
                  <a:srgbClr val="1B2530"/>
                </a:solidFill>
                <a:latin typeface="Calibri" pitchFamily="34" charset="0"/>
                <a:ea typeface="Calibri" pitchFamily="34" charset="-122"/>
                <a:cs typeface="Calibri" pitchFamily="34" charset="-120"/>
              </a:rPr>
              <a:t>Zero, because la clears the register</a:t>
            </a:r>
            <a:endParaRPr lang="en-US" sz="2200" dirty="0"/>
          </a:p>
        </p:txBody>
      </p:sp>
      <p:sp>
        <p:nvSpPr>
          <p:cNvPr id="13" name="Shape 11"/>
          <p:cNvSpPr/>
          <p:nvPr/>
        </p:nvSpPr>
        <p:spPr>
          <a:xfrm>
            <a:off x="6233008" y="4640580"/>
            <a:ext cx="5410048" cy="1531620"/>
          </a:xfrm>
          <a:prstGeom prst="roundRect">
            <a:avLst>
              <a:gd name="adj" fmla="val 4776"/>
            </a:avLst>
          </a:prstGeom>
          <a:solidFill>
            <a:srgbClr val="EEF2F4"/>
          </a:solidFill>
          <a:ln w="12700">
            <a:solidFill>
              <a:srgbClr val="EEF2F4"/>
            </a:solidFill>
            <a:prstDash val="solid"/>
          </a:ln>
        </p:spPr>
      </p:sp>
      <p:sp>
        <p:nvSpPr>
          <p:cNvPr id="14" name="Text 12"/>
          <p:cNvSpPr txBox="1"/>
          <p:nvPr/>
        </p:nvSpPr>
        <p:spPr>
          <a:xfrm>
            <a:off x="6461608" y="5159502"/>
            <a:ext cx="493776" cy="493776"/>
          </a:xfrm>
          <a:prstGeom prst="roundRect">
            <a:avLst>
              <a:gd name="adj" fmla="val 14815"/>
            </a:avLst>
          </a:prstGeom>
          <a:solidFill>
            <a:srgbClr val="2E4A62"/>
          </a:solidFill>
          <a:ln>
            <a:solidFill>
              <a:srgbClr val="2E4A62"/>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D</a:t>
            </a:r>
            <a:endParaRPr lang="en-US" sz="1800" dirty="0"/>
          </a:p>
        </p:txBody>
      </p:sp>
      <p:sp>
        <p:nvSpPr>
          <p:cNvPr id="15" name="Text 13"/>
          <p:cNvSpPr txBox="1"/>
          <p:nvPr/>
        </p:nvSpPr>
        <p:spPr>
          <a:xfrm>
            <a:off x="7193128" y="4777740"/>
            <a:ext cx="4221328" cy="1257300"/>
          </a:xfrm>
          <a:prstGeom prst="rect">
            <a:avLst/>
          </a:prstGeom>
          <a:noFill/>
          <a:ln/>
        </p:spPr>
        <p:txBody>
          <a:bodyPr wrap="square" lIns="0" tIns="0" rIns="0" bIns="0" rtlCol="0" anchor="ctr"/>
          <a:lstStyle/>
          <a:p>
            <a:pPr indent="0" marL="0">
              <a:buNone/>
            </a:pPr>
            <a:r>
              <a:rPr lang="en-US" sz="2200" dirty="0">
                <a:solidFill>
                  <a:srgbClr val="1B2530"/>
                </a:solidFill>
                <a:latin typeface="Calibri" pitchFamily="34" charset="0"/>
                <a:ea typeface="Calibri" pitchFamily="34" charset="-122"/>
                <a:cs typeface="Calibri" pitchFamily="34" charset="-120"/>
              </a:rPr>
              <a:t>The return address</a:t>
            </a:r>
            <a:endParaRPr lang="en-US" sz="22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Check your understanding</a:t>
            </a:r>
            <a:endParaRPr lang="en-US" sz="3200" dirty="0"/>
          </a:p>
        </p:txBody>
      </p:sp>
      <p:sp>
        <p:nvSpPr>
          <p:cNvPr id="3" name="Text 1"/>
          <p:cNvSpPr txBox="1"/>
          <p:nvPr/>
        </p:nvSpPr>
        <p:spPr>
          <a:xfrm>
            <a:off x="548640" y="1417320"/>
            <a:ext cx="11094415" cy="1143000"/>
          </a:xfrm>
          <a:prstGeom prst="rect">
            <a:avLst/>
          </a:prstGeom>
          <a:noFill/>
          <a:ln/>
        </p:spPr>
        <p:txBody>
          <a:bodyPr wrap="square" lIns="0" tIns="0" rIns="0" bIns="0" rtlCol="0" anchor="ctr"/>
          <a:lstStyle/>
          <a:p>
            <a:pPr indent="0" marL="0">
              <a:buNone/>
            </a:pPr>
            <a:r>
              <a:rPr lang="en-US" sz="2600" b="1" dirty="0">
                <a:solidFill>
                  <a:srgbClr val="1B2530"/>
                </a:solidFill>
                <a:latin typeface="Cambria" pitchFamily="34" charset="0"/>
                <a:ea typeface="Cambria" pitchFamily="34" charset="-122"/>
                <a:cs typeface="Cambria" pitchFamily="34" charset="-120"/>
              </a:rPr>
              <a:t>A function that calls prg32_gfx_clear must save one register before the call. Which one?</a:t>
            </a:r>
            <a:endParaRPr lang="en-US" sz="2600" dirty="0"/>
          </a:p>
        </p:txBody>
      </p:sp>
      <p:sp>
        <p:nvSpPr>
          <p:cNvPr id="4" name="Shape 2"/>
          <p:cNvSpPr/>
          <p:nvPr/>
        </p:nvSpPr>
        <p:spPr>
          <a:xfrm>
            <a:off x="548640" y="2834640"/>
            <a:ext cx="5410048" cy="1531620"/>
          </a:xfrm>
          <a:prstGeom prst="roundRect">
            <a:avLst>
              <a:gd name="adj" fmla="val 4776"/>
            </a:avLst>
          </a:prstGeom>
          <a:solidFill>
            <a:srgbClr val="EEF2F4"/>
          </a:solidFill>
          <a:ln w="12700">
            <a:solidFill>
              <a:srgbClr val="EEF2F4"/>
            </a:solidFill>
            <a:prstDash val="solid"/>
          </a:ln>
        </p:spPr>
      </p:sp>
      <p:sp>
        <p:nvSpPr>
          <p:cNvPr id="5" name="Text 3"/>
          <p:cNvSpPr txBox="1"/>
          <p:nvPr/>
        </p:nvSpPr>
        <p:spPr>
          <a:xfrm>
            <a:off x="777240" y="3353562"/>
            <a:ext cx="493776" cy="493776"/>
          </a:xfrm>
          <a:prstGeom prst="roundRect">
            <a:avLst>
              <a:gd name="adj" fmla="val 14815"/>
            </a:avLst>
          </a:prstGeom>
          <a:solidFill>
            <a:srgbClr val="2E4A62"/>
          </a:solidFill>
          <a:ln>
            <a:solidFill>
              <a:srgbClr val="2E4A62"/>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a:t>
            </a:r>
            <a:endParaRPr lang="en-US" sz="1800" dirty="0"/>
          </a:p>
        </p:txBody>
      </p:sp>
      <p:sp>
        <p:nvSpPr>
          <p:cNvPr id="6" name="Text 4"/>
          <p:cNvSpPr txBox="1"/>
          <p:nvPr/>
        </p:nvSpPr>
        <p:spPr>
          <a:xfrm>
            <a:off x="1508760" y="2971800"/>
            <a:ext cx="4221328" cy="1257300"/>
          </a:xfrm>
          <a:prstGeom prst="rect">
            <a:avLst/>
          </a:prstGeom>
          <a:noFill/>
          <a:ln/>
        </p:spPr>
        <p:txBody>
          <a:bodyPr wrap="square" lIns="0" tIns="0" rIns="0" bIns="0" rtlCol="0" anchor="ctr"/>
          <a:lstStyle/>
          <a:p>
            <a:pPr indent="0" marL="0">
              <a:buNone/>
            </a:pPr>
            <a:r>
              <a:rPr lang="en-US" sz="2200" dirty="0">
                <a:solidFill>
                  <a:srgbClr val="1B2530"/>
                </a:solidFill>
                <a:latin typeface="Calibri" pitchFamily="34" charset="0"/>
                <a:ea typeface="Calibri" pitchFamily="34" charset="-122"/>
                <a:cs typeface="Calibri" pitchFamily="34" charset="-120"/>
              </a:rPr>
              <a:t>a0, because it carries the argument</a:t>
            </a:r>
            <a:endParaRPr lang="en-US" sz="2200" dirty="0"/>
          </a:p>
        </p:txBody>
      </p:sp>
      <p:sp>
        <p:nvSpPr>
          <p:cNvPr id="7" name="Shape 5"/>
          <p:cNvSpPr/>
          <p:nvPr/>
        </p:nvSpPr>
        <p:spPr>
          <a:xfrm>
            <a:off x="6233008" y="2834640"/>
            <a:ext cx="5410048" cy="1531620"/>
          </a:xfrm>
          <a:prstGeom prst="roundRect">
            <a:avLst>
              <a:gd name="adj" fmla="val 4776"/>
            </a:avLst>
          </a:prstGeom>
          <a:solidFill>
            <a:srgbClr val="EEF2F4"/>
          </a:solidFill>
          <a:ln w="12700">
            <a:solidFill>
              <a:srgbClr val="EEF2F4"/>
            </a:solidFill>
            <a:prstDash val="solid"/>
          </a:ln>
        </p:spPr>
      </p:sp>
      <p:sp>
        <p:nvSpPr>
          <p:cNvPr id="8" name="Text 6"/>
          <p:cNvSpPr txBox="1"/>
          <p:nvPr/>
        </p:nvSpPr>
        <p:spPr>
          <a:xfrm>
            <a:off x="6461608" y="3353562"/>
            <a:ext cx="493776" cy="493776"/>
          </a:xfrm>
          <a:prstGeom prst="roundRect">
            <a:avLst>
              <a:gd name="adj" fmla="val 14815"/>
            </a:avLst>
          </a:prstGeom>
          <a:solidFill>
            <a:srgbClr val="2E4A62"/>
          </a:solidFill>
          <a:ln>
            <a:solidFill>
              <a:srgbClr val="2E4A62"/>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B</a:t>
            </a:r>
            <a:endParaRPr lang="en-US" sz="1800" dirty="0"/>
          </a:p>
        </p:txBody>
      </p:sp>
      <p:sp>
        <p:nvSpPr>
          <p:cNvPr id="9" name="Text 7"/>
          <p:cNvSpPr txBox="1"/>
          <p:nvPr/>
        </p:nvSpPr>
        <p:spPr>
          <a:xfrm>
            <a:off x="7193128" y="2971800"/>
            <a:ext cx="4221328" cy="1257300"/>
          </a:xfrm>
          <a:prstGeom prst="rect">
            <a:avLst/>
          </a:prstGeom>
          <a:noFill/>
          <a:ln/>
        </p:spPr>
        <p:txBody>
          <a:bodyPr wrap="square" lIns="0" tIns="0" rIns="0" bIns="0" rtlCol="0" anchor="ctr"/>
          <a:lstStyle/>
          <a:p>
            <a:pPr indent="0" marL="0">
              <a:buNone/>
            </a:pPr>
            <a:r>
              <a:rPr lang="en-US" sz="2200" dirty="0">
                <a:solidFill>
                  <a:srgbClr val="1B2530"/>
                </a:solidFill>
                <a:latin typeface="Calibri" pitchFamily="34" charset="0"/>
                <a:ea typeface="Calibri" pitchFamily="34" charset="-122"/>
                <a:cs typeface="Calibri" pitchFamily="34" charset="-120"/>
              </a:rPr>
              <a:t>sp, because the stack moves</a:t>
            </a:r>
            <a:endParaRPr lang="en-US" sz="2200" dirty="0"/>
          </a:p>
        </p:txBody>
      </p:sp>
      <p:sp>
        <p:nvSpPr>
          <p:cNvPr id="10" name="Shape 8"/>
          <p:cNvSpPr/>
          <p:nvPr/>
        </p:nvSpPr>
        <p:spPr>
          <a:xfrm>
            <a:off x="548640" y="4640580"/>
            <a:ext cx="5410048" cy="1531620"/>
          </a:xfrm>
          <a:prstGeom prst="roundRect">
            <a:avLst>
              <a:gd name="adj" fmla="val 4776"/>
            </a:avLst>
          </a:prstGeom>
          <a:solidFill>
            <a:srgbClr val="EEF2F4"/>
          </a:solidFill>
          <a:ln w="12700">
            <a:solidFill>
              <a:srgbClr val="EEF2F4"/>
            </a:solidFill>
            <a:prstDash val="solid"/>
          </a:ln>
        </p:spPr>
      </p:sp>
      <p:sp>
        <p:nvSpPr>
          <p:cNvPr id="11" name="Text 9"/>
          <p:cNvSpPr txBox="1"/>
          <p:nvPr/>
        </p:nvSpPr>
        <p:spPr>
          <a:xfrm>
            <a:off x="777240" y="5159502"/>
            <a:ext cx="493776" cy="493776"/>
          </a:xfrm>
          <a:prstGeom prst="roundRect">
            <a:avLst>
              <a:gd name="adj" fmla="val 14815"/>
            </a:avLst>
          </a:prstGeom>
          <a:solidFill>
            <a:srgbClr val="2E4A62"/>
          </a:solidFill>
          <a:ln>
            <a:solidFill>
              <a:srgbClr val="2E4A62"/>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C</a:t>
            </a:r>
            <a:endParaRPr lang="en-US" sz="1800" dirty="0"/>
          </a:p>
        </p:txBody>
      </p:sp>
      <p:sp>
        <p:nvSpPr>
          <p:cNvPr id="12" name="Text 10"/>
          <p:cNvSpPr txBox="1"/>
          <p:nvPr/>
        </p:nvSpPr>
        <p:spPr>
          <a:xfrm>
            <a:off x="1508760" y="4777740"/>
            <a:ext cx="4221328" cy="1257300"/>
          </a:xfrm>
          <a:prstGeom prst="rect">
            <a:avLst/>
          </a:prstGeom>
          <a:noFill/>
          <a:ln/>
        </p:spPr>
        <p:txBody>
          <a:bodyPr wrap="square" lIns="0" tIns="0" rIns="0" bIns="0" rtlCol="0" anchor="ctr"/>
          <a:lstStyle/>
          <a:p>
            <a:pPr indent="0" marL="0">
              <a:buNone/>
            </a:pPr>
            <a:r>
              <a:rPr lang="en-US" sz="2200" dirty="0">
                <a:solidFill>
                  <a:srgbClr val="1B2530"/>
                </a:solidFill>
                <a:latin typeface="Calibri" pitchFamily="34" charset="0"/>
                <a:ea typeface="Calibri" pitchFamily="34" charset="-122"/>
                <a:cs typeface="Calibri" pitchFamily="34" charset="-120"/>
              </a:rPr>
              <a:t>ra, because call overwrites it</a:t>
            </a:r>
            <a:endParaRPr lang="en-US" sz="2200" dirty="0"/>
          </a:p>
        </p:txBody>
      </p:sp>
      <p:sp>
        <p:nvSpPr>
          <p:cNvPr id="13" name="Shape 11"/>
          <p:cNvSpPr/>
          <p:nvPr/>
        </p:nvSpPr>
        <p:spPr>
          <a:xfrm>
            <a:off x="6233008" y="4640580"/>
            <a:ext cx="5410048" cy="1531620"/>
          </a:xfrm>
          <a:prstGeom prst="roundRect">
            <a:avLst>
              <a:gd name="adj" fmla="val 4776"/>
            </a:avLst>
          </a:prstGeom>
          <a:solidFill>
            <a:srgbClr val="EEF2F4"/>
          </a:solidFill>
          <a:ln w="12700">
            <a:solidFill>
              <a:srgbClr val="EEF2F4"/>
            </a:solidFill>
            <a:prstDash val="solid"/>
          </a:ln>
        </p:spPr>
      </p:sp>
      <p:sp>
        <p:nvSpPr>
          <p:cNvPr id="14" name="Text 12"/>
          <p:cNvSpPr txBox="1"/>
          <p:nvPr/>
        </p:nvSpPr>
        <p:spPr>
          <a:xfrm>
            <a:off x="6461608" y="5159502"/>
            <a:ext cx="493776" cy="493776"/>
          </a:xfrm>
          <a:prstGeom prst="roundRect">
            <a:avLst>
              <a:gd name="adj" fmla="val 14815"/>
            </a:avLst>
          </a:prstGeom>
          <a:solidFill>
            <a:srgbClr val="2E4A62"/>
          </a:solidFill>
          <a:ln>
            <a:solidFill>
              <a:srgbClr val="2E4A62"/>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D</a:t>
            </a:r>
            <a:endParaRPr lang="en-US" sz="1800" dirty="0"/>
          </a:p>
        </p:txBody>
      </p:sp>
      <p:sp>
        <p:nvSpPr>
          <p:cNvPr id="15" name="Text 13"/>
          <p:cNvSpPr txBox="1"/>
          <p:nvPr/>
        </p:nvSpPr>
        <p:spPr>
          <a:xfrm>
            <a:off x="7193128" y="4777740"/>
            <a:ext cx="4221328" cy="1257300"/>
          </a:xfrm>
          <a:prstGeom prst="rect">
            <a:avLst/>
          </a:prstGeom>
          <a:noFill/>
          <a:ln/>
        </p:spPr>
        <p:txBody>
          <a:bodyPr wrap="square" lIns="0" tIns="0" rIns="0" bIns="0" rtlCol="0" anchor="ctr"/>
          <a:lstStyle/>
          <a:p>
            <a:pPr indent="0" marL="0">
              <a:buNone/>
            </a:pPr>
            <a:r>
              <a:rPr lang="en-US" sz="2200" dirty="0">
                <a:solidFill>
                  <a:srgbClr val="1B2530"/>
                </a:solidFill>
                <a:latin typeface="Calibri" pitchFamily="34" charset="0"/>
                <a:ea typeface="Calibri" pitchFamily="34" charset="-122"/>
                <a:cs typeface="Calibri" pitchFamily="34" charset="-120"/>
              </a:rPr>
              <a:t>t0, because it is temporary</a:t>
            </a:r>
            <a:endParaRPr lang="en-US" sz="22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Check your understanding</a:t>
            </a:r>
            <a:endParaRPr lang="en-US" sz="3200" dirty="0"/>
          </a:p>
        </p:txBody>
      </p:sp>
      <p:sp>
        <p:nvSpPr>
          <p:cNvPr id="3" name="Text 1"/>
          <p:cNvSpPr txBox="1"/>
          <p:nvPr/>
        </p:nvSpPr>
        <p:spPr>
          <a:xfrm>
            <a:off x="548640" y="1417320"/>
            <a:ext cx="11094415" cy="1143000"/>
          </a:xfrm>
          <a:prstGeom prst="rect">
            <a:avLst/>
          </a:prstGeom>
          <a:noFill/>
          <a:ln/>
        </p:spPr>
        <p:txBody>
          <a:bodyPr wrap="square" lIns="0" tIns="0" rIns="0" bIns="0" rtlCol="0" anchor="ctr"/>
          <a:lstStyle/>
          <a:p>
            <a:pPr indent="0" marL="0">
              <a:buNone/>
            </a:pPr>
            <a:r>
              <a:rPr lang="en-US" sz="2600" b="1" dirty="0">
                <a:solidFill>
                  <a:srgbClr val="1B2530"/>
                </a:solidFill>
                <a:latin typeface="Cambria" pitchFamily="34" charset="0"/>
                <a:ea typeface="Cambria" pitchFamily="34" charset="-122"/>
                <a:cs typeface="Cambria" pitchFamily="34" charset="-120"/>
              </a:rPr>
              <a:t>t1 holds 300. What does andi a2, t1, 255 leave in a2?</a:t>
            </a:r>
            <a:endParaRPr lang="en-US" sz="2600" dirty="0"/>
          </a:p>
        </p:txBody>
      </p:sp>
      <p:sp>
        <p:nvSpPr>
          <p:cNvPr id="4" name="Shape 2"/>
          <p:cNvSpPr/>
          <p:nvPr/>
        </p:nvSpPr>
        <p:spPr>
          <a:xfrm>
            <a:off x="548640" y="2834640"/>
            <a:ext cx="5410048" cy="1531620"/>
          </a:xfrm>
          <a:prstGeom prst="roundRect">
            <a:avLst>
              <a:gd name="adj" fmla="val 4776"/>
            </a:avLst>
          </a:prstGeom>
          <a:solidFill>
            <a:srgbClr val="EEF2F4"/>
          </a:solidFill>
          <a:ln w="12700">
            <a:solidFill>
              <a:srgbClr val="EEF2F4"/>
            </a:solidFill>
            <a:prstDash val="solid"/>
          </a:ln>
        </p:spPr>
      </p:sp>
      <p:sp>
        <p:nvSpPr>
          <p:cNvPr id="5" name="Text 3"/>
          <p:cNvSpPr txBox="1"/>
          <p:nvPr/>
        </p:nvSpPr>
        <p:spPr>
          <a:xfrm>
            <a:off x="777240" y="3353562"/>
            <a:ext cx="493776" cy="493776"/>
          </a:xfrm>
          <a:prstGeom prst="roundRect">
            <a:avLst>
              <a:gd name="adj" fmla="val 14815"/>
            </a:avLst>
          </a:prstGeom>
          <a:solidFill>
            <a:srgbClr val="2E4A62"/>
          </a:solidFill>
          <a:ln>
            <a:solidFill>
              <a:srgbClr val="2E4A62"/>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a:t>
            </a:r>
            <a:endParaRPr lang="en-US" sz="1800" dirty="0"/>
          </a:p>
        </p:txBody>
      </p:sp>
      <p:sp>
        <p:nvSpPr>
          <p:cNvPr id="6" name="Text 4"/>
          <p:cNvSpPr txBox="1"/>
          <p:nvPr/>
        </p:nvSpPr>
        <p:spPr>
          <a:xfrm>
            <a:off x="1508760" y="2971800"/>
            <a:ext cx="4221328" cy="1257300"/>
          </a:xfrm>
          <a:prstGeom prst="rect">
            <a:avLst/>
          </a:prstGeom>
          <a:noFill/>
          <a:ln/>
        </p:spPr>
        <p:txBody>
          <a:bodyPr wrap="square" lIns="0" tIns="0" rIns="0" bIns="0" rtlCol="0" anchor="ctr"/>
          <a:lstStyle/>
          <a:p>
            <a:pPr indent="0" marL="0">
              <a:buNone/>
            </a:pPr>
            <a:r>
              <a:rPr lang="en-US" sz="2200" dirty="0">
                <a:solidFill>
                  <a:srgbClr val="1B2530"/>
                </a:solidFill>
                <a:latin typeface="Calibri" pitchFamily="34" charset="0"/>
                <a:ea typeface="Calibri" pitchFamily="34" charset="-122"/>
                <a:cs typeface="Calibri" pitchFamily="34" charset="-120"/>
              </a:rPr>
              <a:t>300</a:t>
            </a:r>
            <a:endParaRPr lang="en-US" sz="2200" dirty="0"/>
          </a:p>
        </p:txBody>
      </p:sp>
      <p:sp>
        <p:nvSpPr>
          <p:cNvPr id="7" name="Shape 5"/>
          <p:cNvSpPr/>
          <p:nvPr/>
        </p:nvSpPr>
        <p:spPr>
          <a:xfrm>
            <a:off x="6233008" y="2834640"/>
            <a:ext cx="5410048" cy="1531620"/>
          </a:xfrm>
          <a:prstGeom prst="roundRect">
            <a:avLst>
              <a:gd name="adj" fmla="val 4776"/>
            </a:avLst>
          </a:prstGeom>
          <a:solidFill>
            <a:srgbClr val="EEF2F4"/>
          </a:solidFill>
          <a:ln w="12700">
            <a:solidFill>
              <a:srgbClr val="EEF2F4"/>
            </a:solidFill>
            <a:prstDash val="solid"/>
          </a:ln>
        </p:spPr>
      </p:sp>
      <p:sp>
        <p:nvSpPr>
          <p:cNvPr id="8" name="Text 6"/>
          <p:cNvSpPr txBox="1"/>
          <p:nvPr/>
        </p:nvSpPr>
        <p:spPr>
          <a:xfrm>
            <a:off x="6461608" y="3353562"/>
            <a:ext cx="493776" cy="493776"/>
          </a:xfrm>
          <a:prstGeom prst="roundRect">
            <a:avLst>
              <a:gd name="adj" fmla="val 14815"/>
            </a:avLst>
          </a:prstGeom>
          <a:solidFill>
            <a:srgbClr val="2E4A62"/>
          </a:solidFill>
          <a:ln>
            <a:solidFill>
              <a:srgbClr val="2E4A62"/>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B</a:t>
            </a:r>
            <a:endParaRPr lang="en-US" sz="1800" dirty="0"/>
          </a:p>
        </p:txBody>
      </p:sp>
      <p:sp>
        <p:nvSpPr>
          <p:cNvPr id="9" name="Text 7"/>
          <p:cNvSpPr txBox="1"/>
          <p:nvPr/>
        </p:nvSpPr>
        <p:spPr>
          <a:xfrm>
            <a:off x="7193128" y="2971800"/>
            <a:ext cx="4221328" cy="1257300"/>
          </a:xfrm>
          <a:prstGeom prst="rect">
            <a:avLst/>
          </a:prstGeom>
          <a:noFill/>
          <a:ln/>
        </p:spPr>
        <p:txBody>
          <a:bodyPr wrap="square" lIns="0" tIns="0" rIns="0" bIns="0" rtlCol="0" anchor="ctr"/>
          <a:lstStyle/>
          <a:p>
            <a:pPr indent="0" marL="0">
              <a:buNone/>
            </a:pPr>
            <a:r>
              <a:rPr lang="en-US" sz="2200" dirty="0">
                <a:solidFill>
                  <a:srgbClr val="1B2530"/>
                </a:solidFill>
                <a:latin typeface="Calibri" pitchFamily="34" charset="0"/>
                <a:ea typeface="Calibri" pitchFamily="34" charset="-122"/>
                <a:cs typeface="Calibri" pitchFamily="34" charset="-120"/>
              </a:rPr>
              <a:t>255</a:t>
            </a:r>
            <a:endParaRPr lang="en-US" sz="2200" dirty="0"/>
          </a:p>
        </p:txBody>
      </p:sp>
      <p:sp>
        <p:nvSpPr>
          <p:cNvPr id="10" name="Shape 8"/>
          <p:cNvSpPr/>
          <p:nvPr/>
        </p:nvSpPr>
        <p:spPr>
          <a:xfrm>
            <a:off x="548640" y="4640580"/>
            <a:ext cx="5410048" cy="1531620"/>
          </a:xfrm>
          <a:prstGeom prst="roundRect">
            <a:avLst>
              <a:gd name="adj" fmla="val 4776"/>
            </a:avLst>
          </a:prstGeom>
          <a:solidFill>
            <a:srgbClr val="EEF2F4"/>
          </a:solidFill>
          <a:ln w="12700">
            <a:solidFill>
              <a:srgbClr val="EEF2F4"/>
            </a:solidFill>
            <a:prstDash val="solid"/>
          </a:ln>
        </p:spPr>
      </p:sp>
      <p:sp>
        <p:nvSpPr>
          <p:cNvPr id="11" name="Text 9"/>
          <p:cNvSpPr txBox="1"/>
          <p:nvPr/>
        </p:nvSpPr>
        <p:spPr>
          <a:xfrm>
            <a:off x="777240" y="5159502"/>
            <a:ext cx="493776" cy="493776"/>
          </a:xfrm>
          <a:prstGeom prst="roundRect">
            <a:avLst>
              <a:gd name="adj" fmla="val 14815"/>
            </a:avLst>
          </a:prstGeom>
          <a:solidFill>
            <a:srgbClr val="2E4A62"/>
          </a:solidFill>
          <a:ln>
            <a:solidFill>
              <a:srgbClr val="2E4A62"/>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C</a:t>
            </a:r>
            <a:endParaRPr lang="en-US" sz="1800" dirty="0"/>
          </a:p>
        </p:txBody>
      </p:sp>
      <p:sp>
        <p:nvSpPr>
          <p:cNvPr id="12" name="Text 10"/>
          <p:cNvSpPr txBox="1"/>
          <p:nvPr/>
        </p:nvSpPr>
        <p:spPr>
          <a:xfrm>
            <a:off x="1508760" y="4777740"/>
            <a:ext cx="4221328" cy="1257300"/>
          </a:xfrm>
          <a:prstGeom prst="rect">
            <a:avLst/>
          </a:prstGeom>
          <a:noFill/>
          <a:ln/>
        </p:spPr>
        <p:txBody>
          <a:bodyPr wrap="square" lIns="0" tIns="0" rIns="0" bIns="0" rtlCol="0" anchor="ctr"/>
          <a:lstStyle/>
          <a:p>
            <a:pPr indent="0" marL="0">
              <a:buNone/>
            </a:pPr>
            <a:r>
              <a:rPr lang="en-US" sz="2200" dirty="0">
                <a:solidFill>
                  <a:srgbClr val="1B2530"/>
                </a:solidFill>
                <a:latin typeface="Calibri" pitchFamily="34" charset="0"/>
                <a:ea typeface="Calibri" pitchFamily="34" charset="-122"/>
                <a:cs typeface="Calibri" pitchFamily="34" charset="-120"/>
              </a:rPr>
              <a:t>45</a:t>
            </a:r>
            <a:endParaRPr lang="en-US" sz="2200" dirty="0"/>
          </a:p>
        </p:txBody>
      </p:sp>
      <p:sp>
        <p:nvSpPr>
          <p:cNvPr id="13" name="Shape 11"/>
          <p:cNvSpPr/>
          <p:nvPr/>
        </p:nvSpPr>
        <p:spPr>
          <a:xfrm>
            <a:off x="6233008" y="4640580"/>
            <a:ext cx="5410048" cy="1531620"/>
          </a:xfrm>
          <a:prstGeom prst="roundRect">
            <a:avLst>
              <a:gd name="adj" fmla="val 4776"/>
            </a:avLst>
          </a:prstGeom>
          <a:solidFill>
            <a:srgbClr val="EEF2F4"/>
          </a:solidFill>
          <a:ln w="12700">
            <a:solidFill>
              <a:srgbClr val="EEF2F4"/>
            </a:solidFill>
            <a:prstDash val="solid"/>
          </a:ln>
        </p:spPr>
      </p:sp>
      <p:sp>
        <p:nvSpPr>
          <p:cNvPr id="14" name="Text 12"/>
          <p:cNvSpPr txBox="1"/>
          <p:nvPr/>
        </p:nvSpPr>
        <p:spPr>
          <a:xfrm>
            <a:off x="6461608" y="5159502"/>
            <a:ext cx="493776" cy="493776"/>
          </a:xfrm>
          <a:prstGeom prst="roundRect">
            <a:avLst>
              <a:gd name="adj" fmla="val 14815"/>
            </a:avLst>
          </a:prstGeom>
          <a:solidFill>
            <a:srgbClr val="2E4A62"/>
          </a:solidFill>
          <a:ln>
            <a:solidFill>
              <a:srgbClr val="2E4A62"/>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D</a:t>
            </a:r>
            <a:endParaRPr lang="en-US" sz="1800" dirty="0"/>
          </a:p>
        </p:txBody>
      </p:sp>
      <p:sp>
        <p:nvSpPr>
          <p:cNvPr id="15" name="Text 13"/>
          <p:cNvSpPr txBox="1"/>
          <p:nvPr/>
        </p:nvSpPr>
        <p:spPr>
          <a:xfrm>
            <a:off x="7193128" y="4777740"/>
            <a:ext cx="4221328" cy="1257300"/>
          </a:xfrm>
          <a:prstGeom prst="rect">
            <a:avLst/>
          </a:prstGeom>
          <a:noFill/>
          <a:ln/>
        </p:spPr>
        <p:txBody>
          <a:bodyPr wrap="square" lIns="0" tIns="0" rIns="0" bIns="0" rtlCol="0" anchor="ctr"/>
          <a:lstStyle/>
          <a:p>
            <a:pPr indent="0" marL="0">
              <a:buNone/>
            </a:pPr>
            <a:r>
              <a:rPr lang="en-US" sz="2200" dirty="0">
                <a:solidFill>
                  <a:srgbClr val="1B2530"/>
                </a:solidFill>
                <a:latin typeface="Calibri" pitchFamily="34" charset="0"/>
                <a:ea typeface="Calibri" pitchFamily="34" charset="-122"/>
                <a:cs typeface="Calibri" pitchFamily="34" charset="-120"/>
              </a:rPr>
              <a:t>44</a:t>
            </a:r>
            <a:endParaRPr lang="en-US" sz="22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Exercises on PRG32</a:t>
            </a:r>
            <a:endParaRPr lang="en-US" sz="3200" dirty="0"/>
          </a:p>
        </p:txBody>
      </p:sp>
      <p:sp>
        <p:nvSpPr>
          <p:cNvPr id="3" name="Text 1"/>
          <p:cNvSpPr txBox="1"/>
          <p:nvPr/>
        </p:nvSpPr>
        <p:spPr>
          <a:xfrm>
            <a:off x="10088575" y="566928"/>
            <a:ext cx="1554480" cy="457200"/>
          </a:xfrm>
          <a:prstGeom prst="roundRect">
            <a:avLst>
              <a:gd name="adj" fmla="val 16000"/>
            </a:avLst>
          </a:prstGeom>
          <a:solidFill>
            <a:srgbClr val="2F7D4F"/>
          </a:solidFill>
          <a:ln>
            <a:solidFill>
              <a:srgbClr val="2F7D4F"/>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TRY IT</a:t>
            </a:r>
            <a:endParaRPr lang="en-US" sz="1500" dirty="0"/>
          </a:p>
        </p:txBody>
      </p:sp>
      <p:sp>
        <p:nvSpPr>
          <p:cNvPr id="4" name="Text 2"/>
          <p:cNvSpPr txBox="1"/>
          <p:nvPr/>
        </p:nvSpPr>
        <p:spPr>
          <a:xfrm>
            <a:off x="548640" y="1435608"/>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5" name="Text 3"/>
          <p:cNvSpPr txBox="1"/>
          <p:nvPr/>
        </p:nvSpPr>
        <p:spPr>
          <a:xfrm>
            <a:off x="1207008" y="1417320"/>
            <a:ext cx="10436047" cy="438912"/>
          </a:xfrm>
          <a:prstGeom prst="rect">
            <a:avLst/>
          </a:prstGeom>
          <a:noFill/>
          <a:ln/>
        </p:spPr>
        <p:txBody>
          <a:bodyPr wrap="square" lIns="0" tIns="0" rIns="0" bIns="0" rtlCol="0" anchor="ctr"/>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Change the title string and its colour to yellow (0xffe0); run it again</a:t>
            </a:r>
            <a:endParaRPr lang="en-US" sz="2200" dirty="0"/>
          </a:p>
        </p:txBody>
      </p:sp>
      <p:sp>
        <p:nvSpPr>
          <p:cNvPr id="6" name="Text 4"/>
          <p:cNvSpPr txBox="1"/>
          <p:nvPr/>
        </p:nvSpPr>
        <p:spPr>
          <a:xfrm>
            <a:off x="548640" y="2012442"/>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7" name="Text 5"/>
          <p:cNvSpPr txBox="1"/>
          <p:nvPr/>
        </p:nvSpPr>
        <p:spPr>
          <a:xfrm>
            <a:off x="1207008" y="1994154"/>
            <a:ext cx="10436047" cy="681736"/>
          </a:xfrm>
          <a:prstGeom prst="rect">
            <a:avLst/>
          </a:prstGeom>
          <a:noFill/>
          <a:ln/>
        </p:spPr>
        <p:txBody>
          <a:bodyPr wrap="square" lIns="0" tIns="0" rIns="0" bIns="0" rtlCol="0" anchor="t"/>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Make the bar grow twice as fast, then four times as fast, changing one instruction only</a:t>
            </a:r>
            <a:endParaRPr lang="en-US" sz="2200" dirty="0"/>
          </a:p>
        </p:txBody>
      </p:sp>
      <p:sp>
        <p:nvSpPr>
          <p:cNvPr id="8" name="Text 6"/>
          <p:cNvSpPr txBox="1"/>
          <p:nvPr/>
        </p:nvSpPr>
        <p:spPr>
          <a:xfrm>
            <a:off x="548640" y="2832100"/>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9" name="Text 7"/>
          <p:cNvSpPr txBox="1"/>
          <p:nvPr/>
        </p:nvSpPr>
        <p:spPr>
          <a:xfrm>
            <a:off x="1207008" y="2813812"/>
            <a:ext cx="10436047" cy="681736"/>
          </a:xfrm>
          <a:prstGeom prst="rect">
            <a:avLst/>
          </a:prstGeom>
          <a:noFill/>
          <a:ln/>
        </p:spPr>
        <p:txBody>
          <a:bodyPr wrap="square" lIns="0" tIns="0" rIns="0" bIns="0" rtlCol="0" anchor="t"/>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Make the bar shrink instead of grow. What happens when the counter passes zero?</a:t>
            </a:r>
            <a:endParaRPr lang="en-US" sz="2200" dirty="0"/>
          </a:p>
        </p:txBody>
      </p:sp>
      <p:sp>
        <p:nvSpPr>
          <p:cNvPr id="10" name="Text 8"/>
          <p:cNvSpPr txBox="1"/>
          <p:nvPr/>
        </p:nvSpPr>
        <p:spPr>
          <a:xfrm>
            <a:off x="548640" y="3651758"/>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11" name="Text 9"/>
          <p:cNvSpPr txBox="1"/>
          <p:nvPr/>
        </p:nvSpPr>
        <p:spPr>
          <a:xfrm>
            <a:off x="1207008" y="3633470"/>
            <a:ext cx="10436047" cy="681736"/>
          </a:xfrm>
          <a:prstGeom prst="rect">
            <a:avLst/>
          </a:prstGeom>
          <a:noFill/>
          <a:ln/>
        </p:spPr>
        <p:txBody>
          <a:bodyPr wrap="square" lIns="0" tIns="0" rIns="0" bIns="0" rtlCol="0" anchor="t"/>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In PRG32-QT, single-step first_update and write down t0 and t1 after each instruction</a:t>
            </a:r>
            <a:endParaRPr lang="en-US" sz="2200" dirty="0"/>
          </a:p>
        </p:txBody>
      </p:sp>
      <p:sp>
        <p:nvSpPr>
          <p:cNvPr id="12" name="Text 10"/>
          <p:cNvSpPr txBox="1"/>
          <p:nvPr/>
        </p:nvSpPr>
        <p:spPr>
          <a:xfrm>
            <a:off x="548640" y="4471416"/>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5</a:t>
            </a:r>
            <a:endParaRPr lang="en-US" sz="1500" dirty="0"/>
          </a:p>
        </p:txBody>
      </p:sp>
      <p:sp>
        <p:nvSpPr>
          <p:cNvPr id="13" name="Text 11"/>
          <p:cNvSpPr txBox="1"/>
          <p:nvPr/>
        </p:nvSpPr>
        <p:spPr>
          <a:xfrm>
            <a:off x="1207008" y="4453128"/>
            <a:ext cx="10436047" cy="438912"/>
          </a:xfrm>
          <a:prstGeom prst="rect">
            <a:avLst/>
          </a:prstGeom>
          <a:noFill/>
          <a:ln/>
        </p:spPr>
        <p:txBody>
          <a:bodyPr wrap="square" lIns="0" tIns="0" rIns="0" bIns="0" rtlCol="0" anchor="ctr"/>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Draw a second bar, in red, whose width is the counter modulo 64</a:t>
            </a:r>
            <a:endParaRPr lang="en-US" sz="2200" dirty="0"/>
          </a:p>
        </p:txBody>
      </p:sp>
      <p:sp>
        <p:nvSpPr>
          <p:cNvPr id="14" name="Shape 12"/>
          <p:cNvSpPr/>
          <p:nvPr/>
        </p:nvSpPr>
        <p:spPr>
          <a:xfrm>
            <a:off x="548640" y="5120640"/>
            <a:ext cx="11094415" cy="1051560"/>
          </a:xfrm>
          <a:prstGeom prst="roundRect">
            <a:avLst>
              <a:gd name="adj" fmla="val 6957"/>
            </a:avLst>
          </a:prstGeom>
          <a:solidFill>
            <a:srgbClr val="DCEEE3"/>
          </a:solidFill>
          <a:ln w="12700">
            <a:solidFill>
              <a:srgbClr val="DCEEE3"/>
            </a:solidFill>
            <a:prstDash val="solid"/>
          </a:ln>
        </p:spPr>
      </p:sp>
      <p:sp>
        <p:nvSpPr>
          <p:cNvPr id="15" name="Text 13"/>
          <p:cNvSpPr txBox="1"/>
          <p:nvPr/>
        </p:nvSpPr>
        <p:spPr>
          <a:xfrm>
            <a:off x="822960" y="5212080"/>
            <a:ext cx="2743200" cy="274320"/>
          </a:xfrm>
          <a:prstGeom prst="rect">
            <a:avLst/>
          </a:prstGeom>
          <a:noFill/>
          <a:ln/>
        </p:spPr>
        <p:txBody>
          <a:bodyPr wrap="square" lIns="0" tIns="0" rIns="0" bIns="0" rtlCol="0" anchor="t"/>
          <a:lstStyle/>
          <a:p>
            <a:pPr indent="0" marL="0">
              <a:buNone/>
            </a:pPr>
            <a:r>
              <a:rPr lang="en-US" sz="1300" b="1" dirty="0">
                <a:solidFill>
                  <a:srgbClr val="2F7D4F"/>
                </a:solidFill>
                <a:latin typeface="Calibri" pitchFamily="34" charset="0"/>
                <a:ea typeface="Calibri" pitchFamily="34" charset="-122"/>
                <a:cs typeface="Calibri" pitchFamily="34" charset="-120"/>
              </a:rPr>
              <a:t>Expected result</a:t>
            </a:r>
            <a:endParaRPr lang="en-US" sz="1300" dirty="0"/>
          </a:p>
        </p:txBody>
      </p:sp>
      <p:sp>
        <p:nvSpPr>
          <p:cNvPr id="16" name="Text 14"/>
          <p:cNvSpPr txBox="1"/>
          <p:nvPr/>
        </p:nvSpPr>
        <p:spPr>
          <a:xfrm>
            <a:off x="822960" y="5504688"/>
            <a:ext cx="10545775" cy="594360"/>
          </a:xfrm>
          <a:prstGeom prst="rect">
            <a:avLst/>
          </a:prstGeom>
          <a:noFill/>
          <a:ln/>
        </p:spPr>
        <p:txBody>
          <a:bodyPr wrap="square" lIns="0" tIns="0" rIns="0" bIns="0" rtlCol="0" anchor="ctr"/>
          <a:lstStyle/>
          <a:p>
            <a:pPr indent="0" marL="0">
              <a:buNone/>
            </a:pPr>
            <a:r>
              <a:rPr lang="en-US" sz="1800" dirty="0">
                <a:solidFill>
                  <a:srgbClr val="1B2530"/>
                </a:solidFill>
                <a:latin typeface="Calibri" pitchFamily="34" charset="0"/>
                <a:ea typeface="Calibri" pitchFamily="34" charset="-122"/>
                <a:cs typeface="Calibri" pitchFamily="34" charset="-120"/>
              </a:rPr>
              <a:t>For exercise 3 the counter goes 0, then 0xFFFFFFFF: with andi 255 the bar jumps to 255 and shrinks. Keep the observation: Lecture 05 explains it.</a:t>
            </a:r>
            <a:endParaRPr lang="en-US" sz="18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Glossary: English and Italian</a:t>
            </a:r>
            <a:endParaRPr lang="en-US" sz="3200" dirty="0"/>
          </a:p>
        </p:txBody>
      </p:sp>
      <p:graphicFrame>
        <p:nvGraphicFramePr>
          <p:cNvPr id="28" name="Table 0"/>
          <p:cNvGraphicFramePr>
            <a:graphicFrameLocks noGrp="1"/>
          </p:cNvGraphicFramePr>
          <p:nvPr>
            <p:extLst>
              <p:ext uri="{D42A27DB-BD31-4B8C-83A1-F6EECF244321}">
                <p14:modId xmlns:p14="http://schemas.microsoft.com/office/powerpoint/2010/main" val="1579011935"/>
              </p:ext>
            </p:extLst>
          </p:nvPr>
        </p:nvGraphicFramePr>
        <p:xfrm>
          <a:off x="548640" y="1417320"/>
          <a:ext cx="11094415" cy="914400"/>
        </p:xfrm>
        <a:graphic>
          <a:graphicData uri="http://schemas.openxmlformats.org/drawingml/2006/table">
            <a:tbl>
              <a:tblPr/>
              <a:tblGrid>
                <a:gridCol w="2684133"/>
                <a:gridCol w="2863075"/>
                <a:gridCol w="2684133"/>
                <a:gridCol w="2863075"/>
              </a:tblGrid>
              <a:tr h="0">
                <a:tc>
                  <a:txBody>
                    <a:bodyPr/>
                    <a:lstStyle/>
                    <a:p>
                      <a:pPr algn="l" indent="0" marL="0">
                        <a:buNone/>
                      </a:pPr>
                      <a:r>
                        <a:rPr lang="en-US" sz="2100" b="1" dirty="0">
                          <a:solidFill>
                            <a:srgbClr val="FFFFFF"/>
                          </a:solidFill>
                          <a:latin typeface="Calibri" pitchFamily="34" charset="0"/>
                          <a:ea typeface="Calibri" pitchFamily="34" charset="-122"/>
                          <a:cs typeface="Calibri" pitchFamily="34" charset="-120"/>
                        </a:rPr>
                        <a:t>English</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c>
                  <a:txBody>
                    <a:bodyPr/>
                    <a:lstStyle/>
                    <a:p>
                      <a:pPr algn="l" indent="0" marL="0">
                        <a:buNone/>
                      </a:pPr>
                      <a:r>
                        <a:rPr lang="en-US" sz="2100" b="1" dirty="0">
                          <a:solidFill>
                            <a:srgbClr val="FFFFFF"/>
                          </a:solidFill>
                          <a:latin typeface="Calibri" pitchFamily="34" charset="0"/>
                          <a:ea typeface="Calibri" pitchFamily="34" charset="-122"/>
                          <a:cs typeface="Calibri" pitchFamily="34" charset="-120"/>
                        </a:rPr>
                        <a:t>Italiano</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c>
                  <a:txBody>
                    <a:bodyPr/>
                    <a:lstStyle/>
                    <a:p>
                      <a:pPr algn="l" indent="0" marL="0">
                        <a:buNone/>
                      </a:pPr>
                      <a:r>
                        <a:rPr lang="en-US" sz="2100" b="1" dirty="0">
                          <a:solidFill>
                            <a:srgbClr val="FFFFFF"/>
                          </a:solidFill>
                          <a:latin typeface="Calibri" pitchFamily="34" charset="0"/>
                          <a:ea typeface="Calibri" pitchFamily="34" charset="-122"/>
                          <a:cs typeface="Calibri" pitchFamily="34" charset="-120"/>
                        </a:rPr>
                        <a:t>English</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c>
                  <a:txBody>
                    <a:bodyPr/>
                    <a:lstStyle/>
                    <a:p>
                      <a:pPr algn="l" indent="0" marL="0">
                        <a:buNone/>
                      </a:pPr>
                      <a:r>
                        <a:rPr lang="en-US" sz="2100" b="1" dirty="0">
                          <a:solidFill>
                            <a:srgbClr val="FFFFFF"/>
                          </a:solidFill>
                          <a:latin typeface="Calibri" pitchFamily="34" charset="0"/>
                          <a:ea typeface="Calibri" pitchFamily="34" charset="-122"/>
                          <a:cs typeface="Calibri" pitchFamily="34" charset="-120"/>
                        </a:rPr>
                        <a:t>Italiano</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r>
              <a:tr h="0">
                <a:tc>
                  <a:txBody>
                    <a:bodyPr/>
                    <a:lstStyle/>
                    <a:p>
                      <a:pPr algn="l" indent="0" marL="0">
                        <a:buNone/>
                      </a:pPr>
                      <a:r>
                        <a:rPr lang="en-US" sz="2100" b="1" dirty="0">
                          <a:solidFill>
                            <a:srgbClr val="1B2530"/>
                          </a:solidFill>
                          <a:latin typeface="Calibri" pitchFamily="34" charset="0"/>
                          <a:ea typeface="Calibri" pitchFamily="34" charset="-122"/>
                          <a:cs typeface="Calibri" pitchFamily="34" charset="-120"/>
                        </a:rPr>
                        <a:t>register</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registro</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stack</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pila (stack)</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r h="0">
                <a:tc>
                  <a:txBody>
                    <a:bodyPr/>
                    <a:lstStyle/>
                    <a:p>
                      <a:pPr algn="l" indent="0" marL="0">
                        <a:buNone/>
                      </a:pPr>
                      <a:r>
                        <a:rPr lang="en-US" sz="2100" b="1" dirty="0">
                          <a:solidFill>
                            <a:srgbClr val="1B2530"/>
                          </a:solidFill>
                          <a:latin typeface="Calibri" pitchFamily="34" charset="0"/>
                          <a:ea typeface="Calibri" pitchFamily="34" charset="-122"/>
                          <a:cs typeface="Calibri" pitchFamily="34" charset="-120"/>
                        </a:rPr>
                        <a:t>load / store</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caricare / memorizzare</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stack pointer</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puntatore alla pila</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r>
              <a:tr h="0">
                <a:tc>
                  <a:txBody>
                    <a:bodyPr/>
                    <a:lstStyle/>
                    <a:p>
                      <a:pPr algn="l" indent="0" marL="0">
                        <a:buNone/>
                      </a:pPr>
                      <a:r>
                        <a:rPr lang="en-US" sz="2100" b="1" dirty="0">
                          <a:solidFill>
                            <a:srgbClr val="1B2530"/>
                          </a:solidFill>
                          <a:latin typeface="Calibri" pitchFamily="34" charset="0"/>
                          <a:ea typeface="Calibri" pitchFamily="34" charset="-122"/>
                          <a:cs typeface="Calibri" pitchFamily="34" charset="-120"/>
                        </a:rPr>
                        <a:t>address</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indirizzo</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return address</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indirizzo di ritorno</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r h="0">
                <a:tc>
                  <a:txBody>
                    <a:bodyPr/>
                    <a:lstStyle/>
                    <a:p>
                      <a:pPr algn="l" indent="0" marL="0">
                        <a:buNone/>
                      </a:pPr>
                      <a:r>
                        <a:rPr lang="en-US" sz="2100" b="1" dirty="0">
                          <a:solidFill>
                            <a:srgbClr val="1B2530"/>
                          </a:solidFill>
                          <a:latin typeface="Calibri" pitchFamily="34" charset="0"/>
                          <a:ea typeface="Calibri" pitchFamily="34" charset="-122"/>
                          <a:cs typeface="Calibri" pitchFamily="34" charset="-120"/>
                        </a:rPr>
                        <a:t>immediate</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immediato (costante)</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calling convention</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convenzione di chiamata</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r>
              <a:tr h="0">
                <a:tc>
                  <a:txBody>
                    <a:bodyPr/>
                    <a:lstStyle/>
                    <a:p>
                      <a:pPr algn="l" indent="0" marL="0">
                        <a:buNone/>
                      </a:pPr>
                      <a:r>
                        <a:rPr lang="en-US" sz="2100" b="1" dirty="0">
                          <a:solidFill>
                            <a:srgbClr val="1B2530"/>
                          </a:solidFill>
                          <a:latin typeface="Calibri" pitchFamily="34" charset="0"/>
                          <a:ea typeface="Calibri" pitchFamily="34" charset="-122"/>
                          <a:cs typeface="Calibri" pitchFamily="34" charset="-120"/>
                        </a:rPr>
                        <a:t>branch</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salto condizionato</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machine code</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codice macchina</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r h="0">
                <a:tc>
                  <a:txBody>
                    <a:bodyPr/>
                    <a:lstStyle/>
                    <a:p>
                      <a:pPr algn="l" indent="0" marL="0">
                        <a:buNone/>
                      </a:pPr>
                      <a:r>
                        <a:rPr lang="en-US" sz="2100" b="1" dirty="0">
                          <a:solidFill>
                            <a:srgbClr val="1B2530"/>
                          </a:solidFill>
                          <a:latin typeface="Calibri" pitchFamily="34" charset="0"/>
                          <a:ea typeface="Calibri" pitchFamily="34" charset="-122"/>
                          <a:cs typeface="Calibri" pitchFamily="34" charset="-120"/>
                        </a:rPr>
                        <a:t>label</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etichetta</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cartridge</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cartuccia</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Summary and reading</a:t>
            </a:r>
            <a:endParaRPr lang="en-US" sz="3200" dirty="0"/>
          </a:p>
        </p:txBody>
      </p:sp>
      <p:sp>
        <p:nvSpPr>
          <p:cNvPr id="3" name="Shape 1"/>
          <p:cNvSpPr/>
          <p:nvPr/>
        </p:nvSpPr>
        <p:spPr>
          <a:xfrm>
            <a:off x="548640" y="1523746"/>
            <a:ext cx="146304" cy="146304"/>
          </a:xfrm>
          <a:prstGeom prst="rect">
            <a:avLst/>
          </a:prstGeom>
          <a:solidFill>
            <a:srgbClr val="0E7C86"/>
          </a:solidFill>
          <a:ln w="12700">
            <a:solidFill>
              <a:srgbClr val="0E7C86"/>
            </a:solidFill>
            <a:prstDash val="solid"/>
          </a:ln>
        </p:spPr>
      </p:sp>
      <p:sp>
        <p:nvSpPr>
          <p:cNvPr id="4" name="Text 2"/>
          <p:cNvSpPr txBox="1"/>
          <p:nvPr/>
        </p:nvSpPr>
        <p:spPr>
          <a:xfrm>
            <a:off x="932688" y="1417320"/>
            <a:ext cx="10710367" cy="681736"/>
          </a:xfrm>
          <a:prstGeom prst="rect">
            <a:avLst/>
          </a:prstGeom>
          <a:noFill/>
          <a:ln/>
        </p:spPr>
        <p:txBody>
          <a:bodyPr wrap="square" lIns="0" tIns="0" rIns="0" bIns="0" rtlCol="0" anchor="t"/>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A RISC-V processor is thirty-two registers and a small set of instructions that compute, move and jump</a:t>
            </a:r>
            <a:endParaRPr lang="en-US" sz="2200" dirty="0"/>
          </a:p>
        </p:txBody>
      </p:sp>
      <p:sp>
        <p:nvSpPr>
          <p:cNvPr id="5" name="Shape 3"/>
          <p:cNvSpPr/>
          <p:nvPr/>
        </p:nvSpPr>
        <p:spPr>
          <a:xfrm>
            <a:off x="548640" y="2549462"/>
            <a:ext cx="146304" cy="146304"/>
          </a:xfrm>
          <a:prstGeom prst="rect">
            <a:avLst/>
          </a:prstGeom>
          <a:solidFill>
            <a:srgbClr val="C7791B"/>
          </a:solidFill>
          <a:ln w="12700">
            <a:solidFill>
              <a:srgbClr val="C7791B"/>
            </a:solidFill>
            <a:prstDash val="solid"/>
          </a:ln>
        </p:spPr>
      </p:sp>
      <p:sp>
        <p:nvSpPr>
          <p:cNvPr id="6" name="Text 4"/>
          <p:cNvSpPr txBox="1"/>
          <p:nvPr/>
        </p:nvSpPr>
        <p:spPr>
          <a:xfrm>
            <a:off x="932688" y="2443036"/>
            <a:ext cx="10710367" cy="681736"/>
          </a:xfrm>
          <a:prstGeom prst="rect">
            <a:avLst/>
          </a:prstGeom>
          <a:noFill/>
          <a:ln/>
        </p:spPr>
        <p:txBody>
          <a:bodyPr wrap="square" lIns="0" tIns="0" rIns="0" bIns="0" rtlCol="0" anchor="t"/>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A PRG32 game is three functions; arguments travel in a0 to a7; a function that calls another saves ra</a:t>
            </a:r>
            <a:endParaRPr lang="en-US" sz="2200" dirty="0"/>
          </a:p>
        </p:txBody>
      </p:sp>
      <p:sp>
        <p:nvSpPr>
          <p:cNvPr id="7" name="Shape 5"/>
          <p:cNvSpPr/>
          <p:nvPr/>
        </p:nvSpPr>
        <p:spPr>
          <a:xfrm>
            <a:off x="548640" y="3575177"/>
            <a:ext cx="146304" cy="146304"/>
          </a:xfrm>
          <a:prstGeom prst="rect">
            <a:avLst/>
          </a:prstGeom>
          <a:solidFill>
            <a:srgbClr val="0E7C86"/>
          </a:solidFill>
          <a:ln w="12700">
            <a:solidFill>
              <a:srgbClr val="0E7C86"/>
            </a:solidFill>
            <a:prstDash val="solid"/>
          </a:ln>
        </p:spPr>
      </p:sp>
      <p:sp>
        <p:nvSpPr>
          <p:cNvPr id="8" name="Text 6"/>
          <p:cNvSpPr txBox="1"/>
          <p:nvPr/>
        </p:nvSpPr>
        <p:spPr>
          <a:xfrm>
            <a:off x="932688" y="3468751"/>
            <a:ext cx="10710367" cy="340868"/>
          </a:xfrm>
          <a:prstGeom prst="rect">
            <a:avLst/>
          </a:prstGeom>
          <a:noFill/>
          <a:ln/>
        </p:spPr>
        <p:txBody>
          <a:bodyPr wrap="square" lIns="0" tIns="0" rIns="0" bIns="0" rtlCol="0" anchor="t"/>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Variables live in memory: la for the address, lw and sw for the value</a:t>
            </a:r>
            <a:endParaRPr lang="en-US" sz="2200" dirty="0"/>
          </a:p>
        </p:txBody>
      </p:sp>
      <p:sp>
        <p:nvSpPr>
          <p:cNvPr id="9" name="Shape 7"/>
          <p:cNvSpPr/>
          <p:nvPr/>
        </p:nvSpPr>
        <p:spPr>
          <a:xfrm>
            <a:off x="548640" y="4260025"/>
            <a:ext cx="146304" cy="146304"/>
          </a:xfrm>
          <a:prstGeom prst="rect">
            <a:avLst/>
          </a:prstGeom>
          <a:solidFill>
            <a:srgbClr val="C7791B"/>
          </a:solidFill>
          <a:ln w="12700">
            <a:solidFill>
              <a:srgbClr val="C7791B"/>
            </a:solidFill>
            <a:prstDash val="solid"/>
          </a:ln>
        </p:spPr>
      </p:sp>
      <p:sp>
        <p:nvSpPr>
          <p:cNvPr id="10" name="Text 8"/>
          <p:cNvSpPr txBox="1"/>
          <p:nvPr/>
        </p:nvSpPr>
        <p:spPr>
          <a:xfrm>
            <a:off x="932688" y="4153599"/>
            <a:ext cx="10710367" cy="340868"/>
          </a:xfrm>
          <a:prstGeom prst="rect">
            <a:avLst/>
          </a:prstGeom>
          <a:noFill/>
          <a:ln/>
        </p:spPr>
        <p:txBody>
          <a:bodyPr wrap="square" lIns="0" tIns="0" rIns="0" bIns="0" rtlCol="0" anchor="t"/>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An instruction is a 32-bit number; assembly is its readable spelling</a:t>
            </a:r>
            <a:endParaRPr lang="en-US" sz="2200" dirty="0"/>
          </a:p>
        </p:txBody>
      </p:sp>
      <p:sp>
        <p:nvSpPr>
          <p:cNvPr id="11" name="Shape 9"/>
          <p:cNvSpPr/>
          <p:nvPr/>
        </p:nvSpPr>
        <p:spPr>
          <a:xfrm>
            <a:off x="548640" y="4944872"/>
            <a:ext cx="146304" cy="146304"/>
          </a:xfrm>
          <a:prstGeom prst="rect">
            <a:avLst/>
          </a:prstGeom>
          <a:solidFill>
            <a:srgbClr val="0E7C86"/>
          </a:solidFill>
          <a:ln w="12700">
            <a:solidFill>
              <a:srgbClr val="0E7C86"/>
            </a:solidFill>
            <a:prstDash val="solid"/>
          </a:ln>
        </p:spPr>
      </p:sp>
      <p:sp>
        <p:nvSpPr>
          <p:cNvPr id="12" name="Text 10"/>
          <p:cNvSpPr txBox="1"/>
          <p:nvPr/>
        </p:nvSpPr>
        <p:spPr>
          <a:xfrm>
            <a:off x="932688" y="4838446"/>
            <a:ext cx="10710367" cy="1333754"/>
          </a:xfrm>
          <a:prstGeom prst="rect">
            <a:avLst/>
          </a:prstGeom>
          <a:noFill/>
          <a:ln/>
        </p:spPr>
        <p:txBody>
          <a:bodyPr wrap="square" lIns="0" tIns="0" rIns="0" bIns="0" rtlCol="0" anchor="t"/>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Reading</a:t>
            </a:r>
            <a:endParaRPr lang="en-US" sz="2200" dirty="0"/>
          </a:p>
          <a:p>
            <a:pPr indent="0" marL="0">
              <a:spcAft>
                <a:spcPts val="200"/>
              </a:spcAft>
              <a:buNone/>
            </a:pPr>
            <a:r>
              <a:rPr lang="en-US" sz="1900" dirty="0">
                <a:solidFill>
                  <a:srgbClr val="5B6B78"/>
                </a:solidFill>
                <a:latin typeface="Calibri" pitchFamily="34" charset="0"/>
                <a:ea typeface="Calibri" pitchFamily="34" charset="-122"/>
                <a:cs typeface="Calibri" pitchFamily="34" charset="-120"/>
              </a:rPr>
              <a:t>– Playing with RISC-V, chapter 5: First Contact</a:t>
            </a:r>
            <a:endParaRPr lang="en-US" sz="2200" dirty="0"/>
          </a:p>
          <a:p>
            <a:pPr indent="0" marL="0">
              <a:spcAft>
                <a:spcPts val="200"/>
              </a:spcAft>
              <a:buNone/>
            </a:pPr>
            <a:r>
              <a:rPr lang="en-US" sz="1900" dirty="0">
                <a:solidFill>
                  <a:srgbClr val="5B6B78"/>
                </a:solidFill>
                <a:latin typeface="Calibri" pitchFamily="34" charset="0"/>
                <a:ea typeface="Calibri" pitchFamily="34" charset="-122"/>
                <a:cs typeface="Calibri" pitchFamily="34" charset="-120"/>
              </a:rPr>
              <a:t>– Patterson, Hennessy: Computer Organization and Design, RISC-V Edition, chapter 2</a:t>
            </a:r>
            <a:endParaRPr lang="en-US" sz="2200" dirty="0"/>
          </a:p>
          <a:p>
            <a:pPr indent="0" marL="0">
              <a:spcAft>
                <a:spcPts val="200"/>
              </a:spcAft>
              <a:buNone/>
            </a:pPr>
            <a:r>
              <a:rPr lang="en-US" sz="1900" dirty="0">
                <a:solidFill>
                  <a:srgbClr val="5B6B78"/>
                </a:solidFill>
                <a:latin typeface="Calibri" pitchFamily="34" charset="0"/>
                <a:ea typeface="Calibri" pitchFamily="34" charset="-122"/>
                <a:cs typeface="Calibri" pitchFamily="34" charset="-120"/>
              </a:rPr>
              <a:t>– PRG32 repository: docs/learn/tutorial_ascii_game.md</a:t>
            </a:r>
            <a:endParaRPr lang="en-US" sz="22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28</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28</Slides>
  <Notes>28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28</vt:i4>
      </vt:variant>
    </vt:vector>
  </HeadingPairs>
  <TitlesOfParts>
    <vt:vector size="3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vector>
  </TitlesOfParts>
  <Company>University of Naples Parthenope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ARC12 Computer Architecture - First Contact: RISC-V Assembly on PRG32</dc:title>
  <dc:subject>Lecture 02</dc:subject>
  <dc:creator>Raffaele Montella</dc:creator>
  <cp:lastModifiedBy>Raffaele Montella</cp:lastModifiedBy>
  <cp:revision>1</cp:revision>
  <dcterms:created xsi:type="dcterms:W3CDTF">2026-10-12T11:28:38Z</dcterms:created>
  <dcterms:modified xsi:type="dcterms:W3CDTF">2026-10-12T11:28:38Z</dcterms:modified>
</cp:coreProperties>
</file>