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bf89b4-8ebb-93c7-4ccf-88ca9d9ea802}">
          <p14:sldIdLst>
            <p14:sldId id="256"/>
            <p14:sldId id="257"/>
          </p14:sldIdLst>
        </p14:section>
        <p14:section name="The machine" id="{c811ebdb-2699-9485-0176-2b3ff4d45754}">
          <p14:sldIdLst>
            <p14:sldId id="258"/>
            <p14:sldId id="259"/>
            <p14:sldId id="260"/>
            <p14:sldId id="261"/>
            <p14:sldId id="262"/>
          </p14:sldIdLst>
        </p14:section>
        <p14:section name="Your first cartridge" id="{a452e722-52cb-f4bc-be98-45be8b981172}">
          <p14:sldIdLst>
            <p14:sldId id="263"/>
            <p14:sldId id="264"/>
            <p14:sldId id="265"/>
          </p14:sldIdLst>
        </p14:section>
        <p14:section name="Reading what you wrote" id="{da60ad07-127d-b209-4d96-78f048155888}">
          <p14:sldIdLst>
            <p14:sldId id="266"/>
            <p14:sldId id="267"/>
            <p14:sldId id="268"/>
            <p14:sldId id="269"/>
            <p14:sldId id="270"/>
          </p14:sldIdLst>
        </p14:section>
        <p14:section name="What comes next" id="{fb2d2c20-cd7f-796e-54f6-998f4a6d6640}">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a program is written, and it deliberately precedes any theory. Over two hours the student builds four small cartridges, each a complete program that runs. Full understanding of every detail is neither expected nor required today. The aim is to observe registers, memory and a procedure call at work, so that the lectures that follow have concrete phenomena to explain. The epigraph sets the register of the session: fewer words, more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The first four are operational: building and running a cartridge, naming the registers, calling a function with its arguments, and preserving a value in memory between frames. The fifth is a change of perspective with lasting consequences: an instruction is a 32-bit number. The sixth is the most important for the course as a whole: the student leaves with a list of questions, each of which is the subject of a later lecture. Today's lecture is therefore as much an inventory of problems as a body of answers.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first program, a word on how its numbers are written, because assembly code is full of them. A computer stores everything as bits, digits that can only be 0 or 1. A number written with bits is in binary, or base 2: each position is worth twice the one on its right, so 1010 is 8 + 2 = 10. Binary is exact but long, and long rows of zeros and ones are easy to misread.
Programmers therefore group the bits four at a time and write each group as a single hexadecimal digit, base 16. The digits are 0 to 9 and then A, B, C, D, E and F for the values ten to fifteen. The prefix 0x marks a number as hexadecimal, so 0x10 is sixteen and not ten. Because one hexadecimal digit is exactly four bits, translating between the two is a matter of reading four bits at a time, as the caption shows for the colour green, 0x07E0. Today it is enough to recognise these notations. Lecture 04 explains them properly, with conversions in both directions.
USE NOW: hexadecimal (studied in Lecture 04); bit, byte, word (studied in Lecture 04).
For the lecturer: A computer stores everything as bits, digits that are 0 or 1: a number written with bits is in binary, base 2. Long rows of bits are hard to read, so programmers group them four at a time and write each group as one hexadecimal digit, base 16: 0 to 9, then A to F for ten to fifteen. The prefix 0x says that a number is hexadecimal. Today you only need to recognise these numbers; Lecture 04 explains how to convert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is described by four cards. There are 32 registers, each holding a 32-bit value, and the processor can operate only on values held in registers. Instructions fall into three classes. Compute: arithmetic and logical operations between registers, such as add or addi. Move: transfers between a register and memory, lw to load a word, a group of 32 bits, that is, four bytes, and sw to store one; no other instruction accesses memory. Jump: instructions that alter which instruction executes next. This is the load-store discipline of RISC-V, and every computation a computer performs is a long sequence of these three kinds.
UNDERSTAND NOW: registers, compute, move, jump.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carry names that reflect their use. a0 to a7 pass the arguments of a call, and a0 also returns the result. t0 to t6 are temporaries, freely usable and not preserved across calls. s0 to s11 are preserved across calls. ra holds the return address, sp the top of the stack, an area of memory where functions keep values for a while (slide 9 shows how), and zero always reads as 0. The caption contains the essential point: these roles are not imposed by the hardware, which treats x1 to x31 identically. They are an agreement, the calling convention, and it is this agreement that allows assembly written by the student and C code of the framework to call one another. It is used today and studied formally in Lecture 18.
UNDERSTAND NOW: registers. USE NOW: the calling convention (studied in Lecture 18).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function will appear on almost every slide from now on, so it is defined here. A function is a sequence of instructions that does one job, such as clearing the screen or drawing a letter. It begins at a label, a name that marks a place in the program, and the label is the function's name. To call a function is to jump to its first instruction, having first noted where to come back; the RISC-V instruction call does both at once. When the job is done, the function returns: the instruction ret jumps back to the instruction that follows the call.
A function usually needs some values to do its job, such as the position and the colour of a letter. These are its arguments, and in RISC-V they are placed in the registers a0 to a7 before the call. The code that calls is the caller, and the function called is the callee. The place to return to is kept in the register ra, the return address. Remember this detail: it explains why the program of step 2 saves ra before its own calls.
UNDERSTAND NOW: functions, call and return.
For the lecturer: The caller is the code that calls; the callee is the function called. The place to come back to is kept in the register ra, the return address: this is why step 2 saves ra before its own calls,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between a game and PRG32 is a contract of three functions supplied by the programmer. init is called once, when the cartridge starts, to establish the initial state. update is called once per frame, to read the input and modify the state. draw is called once per frame, to render the state as an image. The firmware locates them by name: a prefix chosen by the programmer followed by _init, _update and _draw. The separation of responsibilities should be adopted from the first day: update decides, draw displays, and neither does the other's work.
UNDERSTAND NOW: the init, update, draw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first listing, a guide to reading it. A line of assembly has at most four parts, and the table names them. A label is a name followed by a colon; it marks a place in the program, often the start of a function. The instruction is the operation to perform. The operands are what the instruction works on, and in RISC-V the destination always comes first. A comment starts with # and runs to the end of the line; it is written for people, and the assembler ignores it.
A line that begins with a dot is a directive. It is an instruction for the assembler, not for the processor: .section .text, for example, says that the code which follows is to be placed among the executable instructions. The caption shows a complete line. It is read as "put t1 plus 1 into t1", which a mathematician would write t1 = t1 + 1. Blank lines and indentation do not change the program; they only make it easier to read, and that matters too.
UNDERSTAND NOW: reading a line of assembly.
For the lecturer: Read the line addi t1, t1, 1 aloud as: put t1 plus 1 into t1. The destination comes first, as in the assignment t1 = t1 + 1. A line can hold a label, an instruction, a comment, or several of these; blank lines and indentation matter to the reader, not to the assembler.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must ra be saved? The instruction call writes into ra the address to which control must return. The callee, however, may itself make calls, each of which overwrites ra. A function that calls another must therefore first preserve its own return address in memory: it decrements sp by 16 to reserve space, the stack frame, and stores ra at 12(sp); after the call it performs the inverse operations. The diagram shows the frame, with the stack growing towards lower addresses; the 16-byte size follows from the alignment that the convention requires of sp. Omitting this pair of operations is the classic first error: the function returns to the wrong place. Why ra is saved must be understood today; the stack as a data structure is treated formally in Lecture 18.
UNDERSTAND NOW: why ra is saved. UNDERSTAND LATER: the stack (studied in Lecture 18).
For the lecturer: The convention requires sp to stay 16-byte aligned across calls, which is why the frame is 16 bytes even though only 4 are used. The stack, with push and pop, is treated formally in Lecture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notions that beginners routinely conflate: an address and a value. The counter is a variable, a named place in memory whose value the program changes. After la, t0 contains where the counter is stored; after lw, t1 contains what is stored there, 41 in the diagram. addi modifies the copy in the register to 42, while memory continues to hold 41 until sw writes the new value back. The two arrows should be followed carefully. The box on the right recommends a habit worth adopting at once: annotate every register in the comments as holding either an ADDRESS or a VALUE. This simple discipline prevents the most frequent error of the first month. The ways in which an instruction can designate its operands, the addressing modes, are studied in Lecture 19.
UNDERSTAND NOW: address, value, load, store. UNDERSTAND LATER: addressing modes (studied in Lecture 19).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account for every instruction written today: arithmetic (add, sub), logical (and, or, xor), immediate forms taking a small constant (addi, andi), memory (lw, sw) and control (call, ret). In every instruction the result is written to the first register named: add t0, t1, t2 places t1 + t2 in t0. The base integer instruction set, RV32I, comprises about forty instructions; a quarter of them have already been used.
UNDERSTAND NOW: the base instructions.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instructions written today do not exist in the hardware: they are pseudo-instructions, notational conveniences that the assembler expands into real instructions. li t0, 42 becomes addi t0, zero, 42; mv is an addi with constant 0; ret is an indirect jump to the address in ra; beqz is a comparison with the register zero. The frequency with which zero appears in the middle column is instructive: a register hard-wired to 0 allows a small instruction set to do the work of a much larger one, a characteristic economy of RISC design.
UNDERSTAND NOW: pseudo-instructions.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select the addition, five for the destination register and seven for the opcode, which identifies the class of instruction. The format need not be memorised now; it is the subject of Lecture 19. What matters today is the principle: assembly is a readable notation for machine code, and an instruction stored in memory is data like any other. This is the stored-program idea that the next lecture places in its historical context.
UNDERSTAND NOW: an instruction is a number. UNDERSTAND LATER: instruction formats (studied in Lecture 19).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executes the same cartridge on the laptop and can halt between any two instructions, displaying every register. It should be used now on the third step: navigate to update, pause, and execute the four instructions of first_update one at a time while observing t0 and t1. Before each step, the expected change should be stated aloud; a prediction made explicit is a prediction that can be wrong, and therefore informative. The final line is a principle worth retaining: the board is the authority on time, PRG32-QT the authority on the content of a register.
USE NOW: the PRG32-QT debugger (used, not studied, in this course).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records, frame by frame, what each instruction leaves in t1 and in memory. The early frames hold no surprise. The highlighted row does: at frame 256 the counter reaches 256 and yet the width of the bar is 0, because andi with 255 retains only the eight least significant bits, and 256 in binary is a one followed by eight zeros. The mask operation thus computes the remainder modulo 256, a fact used today and explained in Lecture 08. Tracing by hand is slow and unglamorous, and it is the most valuable debugging skill this course teaches.
UNDERSTAND NOW: tracing by hand.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of the table records something observed today, the question it raises, and the lecture that answers it.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to a complete game. The table is the map of the course drawn from the student's own program, and it is worth keeping at hand.
UNDERSTAND LATER: hexadecimal (studied in Lecture 04); two's complement (studied in Lecture 05); fixed point (studied in Lecture 06); Boolean algebra (studied in Lecture 08); the adder (studied in Lecture 09); from volts to bits (studied in Lecture 10); latches and flip-flops (studied in Lecture 13); the processor cycle (studied in Lecture 19); the Verm1 project (studied in Lecture 07).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tests the distinction between address and value. la loads the address of the label into t0; lw then uses t0 to locate the word and copies its content into t1, leaving t0 unchanged. t0 therefore still holds the address. Anyone who chose "the value" should return to the slide with the two arrows.
The second question turns on the effect of call, which writes the return address into ra. A function that must later return to its own caller needs its original ra, which the call has just overwritten. a0 is intended to be overwritten, sp is restored by the callee, and t0 is a temporary that no one has undertaken to preserve.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calculation is best done in binary. 300 equals 256 + 44: a one in bit position 8 followed by the eight bits of 44. The mask 255 consists of eight ones. AND compares the two numbers bit by bit and gives 1 only where both bits are 1, so it retains the eight least significant bits and clears all others. The result is 44. Subtracting 255 from 300 yields 45, a plausible but wrong answer: a bitwise AND is not a subtraction, and the distinction between arithmetic and logical operations on the same bits recurs throughout the course.
The second question checks the reading of hexadecimal. 0x says that what follows is in base 16. The digit 1 is in the sixteens position and F is fifteen units, so the value is 16 + 15 = 31. In binary each hexadecimal digit becomes four bits: 0001 1111, that is, 1 1111. Registers are named t0 to t6, so there is no register t1F, and comments start with #.
For the lecturer: 1. Answer: D. 300 = 256 + 44 = 1 0010 1100 in binary. AND with 1111 1111 keeps the low eight bits: 0010 1100 = 44.
2. Answer: B. 0x marks a hexadecimal number. 1 means one sixteen and F means fifteen units: 16 + 15 = 31, which is 1 1111 in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the lecture, with the Italian used in class. Load and store are always named from the processor's point of view: a load brings a value from memory into a register, a store sends it back. An immediate is a constant encoded within the instruction itself. A branch is a jump taken only if a condition holds. The calling convention is the agreement governing the roles of the registers across procedure calls.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propositions summarise the lecture. A RISC-V processor consists of thirty-two registers and a small set of instructions that compute, move data and alter control flow. A PRG32 game consists of three functions; arguments travel in a0 to a7, and a function that calls another must save ra. Variables reside in memory: la yields the address, lw and sw the value. An instruction is a 32-bit number, and assembly is its readable notation. The next lecture steps back to trace the history that produced this machine.
Learning status, recap.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Binary and hexadecimal: how to read the numbers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120304"/>
                <a:gridCol w="3987055"/>
                <a:gridCol w="39870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0x9</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One hexadecimal digit is exactly four bits: 0x07E0 is 0000 0111 1110 0000.</a:t>
            </a:r>
            <a:endParaRPr lang="en-US" sz="1500" dirty="0"/>
          </a:p>
        </p:txBody>
      </p:sp>
      <p:sp>
        <p:nvSpPr>
          <p:cNvPr id="5" name="Shape 2"/>
          <p:cNvSpPr/>
          <p:nvPr/>
        </p:nvSpPr>
        <p:spPr>
          <a:xfrm>
            <a:off x="8588070" y="91440"/>
            <a:ext cx="3054985" cy="274320"/>
          </a:xfrm>
          <a:prstGeom prst="rect">
            <a:avLst/>
          </a:prstGeom>
          <a:solidFill>
            <a:srgbClr val="FEF3C7"/>
          </a:solidFill>
          <a:ln w="12700">
            <a:solidFill>
              <a:srgbClr val="B45309"/>
            </a:solidFill>
            <a:prstDash val="solid"/>
          </a:ln>
        </p:spPr>
      </p:sp>
      <p:sp>
        <p:nvSpPr>
          <p:cNvPr id="6" name="Shape 3"/>
          <p:cNvSpPr/>
          <p:nvPr/>
        </p:nvSpPr>
        <p:spPr>
          <a:xfrm>
            <a:off x="8588070" y="91440"/>
            <a:ext cx="27432" cy="274320"/>
          </a:xfrm>
          <a:prstGeom prst="rect">
            <a:avLst/>
          </a:prstGeom>
          <a:solidFill>
            <a:srgbClr val="B45309"/>
          </a:solidFill>
          <a:ln w="12700">
            <a:solidFill>
              <a:srgbClr val="B45309"/>
            </a:solidFill>
            <a:prstDash val="solid"/>
          </a:ln>
        </p:spPr>
      </p:sp>
      <p:sp>
        <p:nvSpPr>
          <p:cNvPr id="7" name="Shape 4"/>
          <p:cNvSpPr/>
          <p:nvPr/>
        </p:nvSpPr>
        <p:spPr>
          <a:xfrm>
            <a:off x="864293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716086" y="128016"/>
            <a:ext cx="201168" cy="201168"/>
          </a:xfrm>
          <a:prstGeom prst="rect">
            <a:avLst/>
          </a:prstGeom>
        </p:spPr>
      </p:pic>
      <p:sp>
        <p:nvSpPr>
          <p:cNvPr id="9" name="Text 5"/>
          <p:cNvSpPr txBox="1"/>
          <p:nvPr/>
        </p:nvSpPr>
        <p:spPr>
          <a:xfrm>
            <a:off x="8972118" y="91440"/>
            <a:ext cx="263436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hexadecimal</a:t>
            </a:r>
            <a:pPr indent="0" marL="0">
              <a:buNone/>
            </a:pPr>
            <a:r>
              <a:rPr lang="en-US" sz="1100" b="1" dirty="0">
                <a:solidFill>
                  <a:srgbClr val="92400E"/>
                </a:solidFill>
                <a:latin typeface="Calibri" pitchFamily="34" charset="0"/>
                <a:ea typeface="Calibri" pitchFamily="34" charset="-122"/>
                <a:cs typeface="Calibri" pitchFamily="34" charset="-120"/>
              </a:rPr>
              <a:t> → Lecture 04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19" name="Shape 17"/>
          <p:cNvSpPr/>
          <p:nvPr/>
        </p:nvSpPr>
        <p:spPr>
          <a:xfrm>
            <a:off x="7696784" y="91440"/>
            <a:ext cx="3946271" cy="274320"/>
          </a:xfrm>
          <a:prstGeom prst="rect">
            <a:avLst/>
          </a:prstGeom>
          <a:solidFill>
            <a:srgbClr val="E0F2FE"/>
          </a:solidFill>
          <a:ln w="12700">
            <a:solidFill>
              <a:srgbClr val="0369A1"/>
            </a:solidFill>
            <a:prstDash val="solid"/>
          </a:ln>
        </p:spPr>
      </p:sp>
      <p:sp>
        <p:nvSpPr>
          <p:cNvPr id="20" name="Shape 18"/>
          <p:cNvSpPr/>
          <p:nvPr/>
        </p:nvSpPr>
        <p:spPr>
          <a:xfrm>
            <a:off x="7696784"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24800" y="128016"/>
            <a:ext cx="201168" cy="201168"/>
          </a:xfrm>
          <a:prstGeom prst="rect">
            <a:avLst/>
          </a:prstGeom>
        </p:spPr>
      </p:pic>
      <p:sp>
        <p:nvSpPr>
          <p:cNvPr id="22" name="Text 19"/>
          <p:cNvSpPr txBox="1"/>
          <p:nvPr/>
        </p:nvSpPr>
        <p:spPr>
          <a:xfrm>
            <a:off x="8080832" y="91440"/>
            <a:ext cx="352564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compute, move, jump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5" name="Shape 2"/>
          <p:cNvSpPr/>
          <p:nvPr/>
        </p:nvSpPr>
        <p:spPr>
          <a:xfrm>
            <a:off x="7865821" y="91440"/>
            <a:ext cx="3777234" cy="274320"/>
          </a:xfrm>
          <a:prstGeom prst="rect">
            <a:avLst/>
          </a:prstGeom>
          <a:solidFill>
            <a:srgbClr val="FEF3C7"/>
          </a:solidFill>
          <a:ln w="12700">
            <a:solidFill>
              <a:srgbClr val="B45309"/>
            </a:solidFill>
            <a:prstDash val="solid"/>
          </a:ln>
        </p:spPr>
      </p:sp>
      <p:sp>
        <p:nvSpPr>
          <p:cNvPr id="6" name="Shape 3"/>
          <p:cNvSpPr/>
          <p:nvPr/>
        </p:nvSpPr>
        <p:spPr>
          <a:xfrm>
            <a:off x="7865821" y="91440"/>
            <a:ext cx="27432" cy="274320"/>
          </a:xfrm>
          <a:prstGeom prst="rect">
            <a:avLst/>
          </a:prstGeom>
          <a:solidFill>
            <a:srgbClr val="B45309"/>
          </a:solidFill>
          <a:ln w="12700">
            <a:solidFill>
              <a:srgbClr val="B45309"/>
            </a:solidFill>
            <a:prstDash val="solid"/>
          </a:ln>
        </p:spPr>
      </p:sp>
      <p:sp>
        <p:nvSpPr>
          <p:cNvPr id="7" name="Shape 4"/>
          <p:cNvSpPr/>
          <p:nvPr/>
        </p:nvSpPr>
        <p:spPr>
          <a:xfrm>
            <a:off x="792068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9" name="Text 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10" name="Shape 6"/>
          <p:cNvSpPr/>
          <p:nvPr/>
        </p:nvSpPr>
        <p:spPr>
          <a:xfrm>
            <a:off x="5188661" y="91440"/>
            <a:ext cx="2567432" cy="274320"/>
          </a:xfrm>
          <a:prstGeom prst="rect">
            <a:avLst/>
          </a:prstGeom>
          <a:solidFill>
            <a:srgbClr val="E0F2FE"/>
          </a:solidFill>
          <a:ln w="12700">
            <a:solidFill>
              <a:srgbClr val="0369A1"/>
            </a:solidFill>
            <a:prstDash val="solid"/>
          </a:ln>
        </p:spPr>
      </p:sp>
      <p:sp>
        <p:nvSpPr>
          <p:cNvPr id="11" name="Shape 7"/>
          <p:cNvSpPr/>
          <p:nvPr/>
        </p:nvSpPr>
        <p:spPr>
          <a:xfrm>
            <a:off x="5188661"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5316677" y="128016"/>
            <a:ext cx="201168" cy="201168"/>
          </a:xfrm>
          <a:prstGeom prst="rect">
            <a:avLst/>
          </a:prstGeom>
        </p:spPr>
      </p:pic>
      <p:sp>
        <p:nvSpPr>
          <p:cNvPr id="13" name="Text 8"/>
          <p:cNvSpPr txBox="1"/>
          <p:nvPr/>
        </p:nvSpPr>
        <p:spPr>
          <a:xfrm>
            <a:off x="5572709"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Functions: a piece of program with a name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function is a sequence of instructions that does one job, such as clearing the screen, and starts at a label: its name</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call a function is to jump to its first instruction after noting where to come back: the instruction call does both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When its job is done the function returns: ret jumps back to the instruction that follows the call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Arguments are the values a function needs for its job: in RISC-V they travel in the registers a0 to a7</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offers ready-made functions such as prg32_gfx_clear; you write three of your own, which the runtime calls</a:t>
            </a:r>
            <a:endParaRPr lang="en-US" sz="2200" dirty="0"/>
          </a:p>
        </p:txBody>
      </p:sp>
      <p:sp>
        <p:nvSpPr>
          <p:cNvPr id="13" name="Shape 11"/>
          <p:cNvSpPr/>
          <p:nvPr/>
        </p:nvSpPr>
        <p:spPr>
          <a:xfrm>
            <a:off x="7959420" y="91440"/>
            <a:ext cx="3683635" cy="274320"/>
          </a:xfrm>
          <a:prstGeom prst="rect">
            <a:avLst/>
          </a:prstGeom>
          <a:solidFill>
            <a:srgbClr val="E0F2FE"/>
          </a:solidFill>
          <a:ln w="12700">
            <a:solidFill>
              <a:srgbClr val="0369A1"/>
            </a:solidFill>
            <a:prstDash val="solid"/>
          </a:ln>
        </p:spPr>
      </p:sp>
      <p:sp>
        <p:nvSpPr>
          <p:cNvPr id="14" name="Shape 12"/>
          <p:cNvSpPr/>
          <p:nvPr/>
        </p:nvSpPr>
        <p:spPr>
          <a:xfrm>
            <a:off x="795942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6" name="Text 1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functions, call and return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16" name="Shape 14"/>
          <p:cNvSpPr/>
          <p:nvPr/>
        </p:nvSpPr>
        <p:spPr>
          <a:xfrm>
            <a:off x="7631125" y="91440"/>
            <a:ext cx="4011930" cy="274320"/>
          </a:xfrm>
          <a:prstGeom prst="rect">
            <a:avLst/>
          </a:prstGeom>
          <a:solidFill>
            <a:srgbClr val="E0F2FE"/>
          </a:solidFill>
          <a:ln w="12700">
            <a:solidFill>
              <a:srgbClr val="0369A1"/>
            </a:solidFill>
            <a:prstDash val="solid"/>
          </a:ln>
        </p:spPr>
      </p:sp>
      <p:sp>
        <p:nvSpPr>
          <p:cNvPr id="17" name="Shape 15"/>
          <p:cNvSpPr/>
          <p:nvPr/>
        </p:nvSpPr>
        <p:spPr>
          <a:xfrm>
            <a:off x="763112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9" name="Text 16"/>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to read one line of assembly</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293655"/>
                <a:gridCol w="5720558"/>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Part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label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first_update: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name for this place in the program; it ends with a colon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addi</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operation to perform: here, add a constant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t1, t1, 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what it works on: the destination first, then the sources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comment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 one more tick</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note for people: from # to the end of the line, ignored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directive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.section .text</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 order to the assembler, not to the processor; it begins with a dot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first_update:   addi t1, t1, 1   # one more tick</a:t>
            </a:r>
            <a:endParaRPr lang="en-US" sz="1500" dirty="0"/>
          </a:p>
        </p:txBody>
      </p:sp>
      <p:sp>
        <p:nvSpPr>
          <p:cNvPr id="5" name="Shape 2"/>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3"/>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4"/>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reading a line of assembly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8" name="Shape 26"/>
          <p:cNvSpPr/>
          <p:nvPr/>
        </p:nvSpPr>
        <p:spPr>
          <a:xfrm>
            <a:off x="7939862" y="91440"/>
            <a:ext cx="3703193" cy="274320"/>
          </a:xfrm>
          <a:prstGeom prst="rect">
            <a:avLst/>
          </a:prstGeom>
          <a:solidFill>
            <a:srgbClr val="F3E8FF"/>
          </a:solidFill>
          <a:ln w="12700">
            <a:solidFill>
              <a:srgbClr val="7E22CE"/>
            </a:solidFill>
            <a:prstDash val="dash"/>
          </a:ln>
        </p:spPr>
      </p:sp>
      <p:sp>
        <p:nvSpPr>
          <p:cNvPr id="29" name="Shape 27"/>
          <p:cNvSpPr/>
          <p:nvPr/>
        </p:nvSpPr>
        <p:spPr>
          <a:xfrm>
            <a:off x="7967294" y="128016"/>
            <a:ext cx="45720" cy="45720"/>
          </a:xfrm>
          <a:prstGeom prst="rect">
            <a:avLst/>
          </a:prstGeom>
          <a:solidFill>
            <a:srgbClr val="7E22CE"/>
          </a:solidFill>
          <a:ln w="12700">
            <a:solidFill>
              <a:srgbClr val="7E22CE"/>
            </a:solidFill>
            <a:prstDash val="solid"/>
          </a:ln>
        </p:spPr>
      </p:sp>
      <p:sp>
        <p:nvSpPr>
          <p:cNvPr id="30" name="Shape 28"/>
          <p:cNvSpPr/>
          <p:nvPr/>
        </p:nvSpPr>
        <p:spPr>
          <a:xfrm>
            <a:off x="7967294" y="205740"/>
            <a:ext cx="45720" cy="45720"/>
          </a:xfrm>
          <a:prstGeom prst="rect">
            <a:avLst/>
          </a:prstGeom>
          <a:solidFill>
            <a:srgbClr val="7E22CE"/>
          </a:solidFill>
          <a:ln w="12700">
            <a:solidFill>
              <a:srgbClr val="7E22CE"/>
            </a:solidFill>
            <a:prstDash val="solid"/>
          </a:ln>
        </p:spPr>
      </p:sp>
      <p:sp>
        <p:nvSpPr>
          <p:cNvPr id="31" name="Shape 29"/>
          <p:cNvSpPr/>
          <p:nvPr/>
        </p:nvSpPr>
        <p:spPr>
          <a:xfrm>
            <a:off x="7967294"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33" name="Text 30"/>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stack</a:t>
            </a:r>
            <a:pPr indent="0" marL="0">
              <a:buNone/>
            </a:pPr>
            <a:r>
              <a:rPr lang="en-US" sz="1100" b="1" dirty="0">
                <a:solidFill>
                  <a:srgbClr val="6B21A8"/>
                </a:solidFill>
                <a:latin typeface="Calibri" pitchFamily="34" charset="0"/>
                <a:ea typeface="Calibri" pitchFamily="34" charset="-122"/>
                <a:cs typeface="Calibri" pitchFamily="34" charset="-120"/>
              </a:rPr>
              <a:t> → Lecture 18</a:t>
            </a:r>
            <a:endParaRPr lang="en-US" sz="1100" dirty="0"/>
          </a:p>
        </p:txBody>
      </p:sp>
      <p:sp>
        <p:nvSpPr>
          <p:cNvPr id="34" name="Shape 31"/>
          <p:cNvSpPr/>
          <p:nvPr/>
        </p:nvSpPr>
        <p:spPr>
          <a:xfrm>
            <a:off x="4868748" y="91440"/>
            <a:ext cx="2961386" cy="274320"/>
          </a:xfrm>
          <a:prstGeom prst="rect">
            <a:avLst/>
          </a:prstGeom>
          <a:solidFill>
            <a:srgbClr val="E0F2FE"/>
          </a:solidFill>
          <a:ln w="12700">
            <a:solidFill>
              <a:srgbClr val="0369A1"/>
            </a:solidFill>
            <a:prstDash val="solid"/>
          </a:ln>
        </p:spPr>
      </p:sp>
      <p:sp>
        <p:nvSpPr>
          <p:cNvPr id="35" name="Shape 32"/>
          <p:cNvSpPr/>
          <p:nvPr/>
        </p:nvSpPr>
        <p:spPr>
          <a:xfrm>
            <a:off x="4868748"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4996764" y="128016"/>
            <a:ext cx="201168" cy="201168"/>
          </a:xfrm>
          <a:prstGeom prst="rect">
            <a:avLst/>
          </a:prstGeom>
        </p:spPr>
      </p:pic>
      <p:sp>
        <p:nvSpPr>
          <p:cNvPr id="37" name="Text 33"/>
          <p:cNvSpPr txBox="1"/>
          <p:nvPr/>
        </p:nvSpPr>
        <p:spPr>
          <a:xfrm>
            <a:off x="5252796"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0" name="Shape 18"/>
          <p:cNvSpPr/>
          <p:nvPr/>
        </p:nvSpPr>
        <p:spPr>
          <a:xfrm>
            <a:off x="7480249" y="91440"/>
            <a:ext cx="4162806" cy="274320"/>
          </a:xfrm>
          <a:prstGeom prst="rect">
            <a:avLst/>
          </a:prstGeom>
          <a:solidFill>
            <a:srgbClr val="F3E8FF"/>
          </a:solidFill>
          <a:ln w="12700">
            <a:solidFill>
              <a:srgbClr val="7E22CE"/>
            </a:solidFill>
            <a:prstDash val="dash"/>
          </a:ln>
        </p:spPr>
      </p:sp>
      <p:sp>
        <p:nvSpPr>
          <p:cNvPr id="21" name="Shape 19"/>
          <p:cNvSpPr/>
          <p:nvPr/>
        </p:nvSpPr>
        <p:spPr>
          <a:xfrm>
            <a:off x="7507681" y="128016"/>
            <a:ext cx="45720" cy="45720"/>
          </a:xfrm>
          <a:prstGeom prst="rect">
            <a:avLst/>
          </a:prstGeom>
          <a:solidFill>
            <a:srgbClr val="7E22CE"/>
          </a:solidFill>
          <a:ln w="12700">
            <a:solidFill>
              <a:srgbClr val="7E22CE"/>
            </a:solidFill>
            <a:prstDash val="solid"/>
          </a:ln>
        </p:spPr>
      </p:sp>
      <p:sp>
        <p:nvSpPr>
          <p:cNvPr id="22" name="Shape 20"/>
          <p:cNvSpPr/>
          <p:nvPr/>
        </p:nvSpPr>
        <p:spPr>
          <a:xfrm>
            <a:off x="7507681" y="205740"/>
            <a:ext cx="45720" cy="45720"/>
          </a:xfrm>
          <a:prstGeom prst="rect">
            <a:avLst/>
          </a:prstGeom>
          <a:solidFill>
            <a:srgbClr val="7E22CE"/>
          </a:solidFill>
          <a:ln w="12700">
            <a:solidFill>
              <a:srgbClr val="7E22CE"/>
            </a:solidFill>
            <a:prstDash val="solid"/>
          </a:ln>
        </p:spPr>
      </p:sp>
      <p:sp>
        <p:nvSpPr>
          <p:cNvPr id="23" name="Shape 21"/>
          <p:cNvSpPr/>
          <p:nvPr/>
        </p:nvSpPr>
        <p:spPr>
          <a:xfrm>
            <a:off x="7507681"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7608265" y="128016"/>
            <a:ext cx="201168" cy="201168"/>
          </a:xfrm>
          <a:prstGeom prst="rect">
            <a:avLst/>
          </a:prstGeom>
        </p:spPr>
      </p:pic>
      <p:sp>
        <p:nvSpPr>
          <p:cNvPr id="25" name="Text 22"/>
          <p:cNvSpPr txBox="1"/>
          <p:nvPr/>
        </p:nvSpPr>
        <p:spPr>
          <a:xfrm>
            <a:off x="7864297" y="91440"/>
            <a:ext cx="3742182"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addressing modes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6" name="Shape 23"/>
          <p:cNvSpPr/>
          <p:nvPr/>
        </p:nvSpPr>
        <p:spPr>
          <a:xfrm>
            <a:off x="3621227" y="91440"/>
            <a:ext cx="3749294" cy="274320"/>
          </a:xfrm>
          <a:prstGeom prst="rect">
            <a:avLst/>
          </a:prstGeom>
          <a:solidFill>
            <a:srgbClr val="E0F2FE"/>
          </a:solidFill>
          <a:ln w="12700">
            <a:solidFill>
              <a:srgbClr val="0369A1"/>
            </a:solidFill>
            <a:prstDash val="solid"/>
          </a:ln>
        </p:spPr>
      </p:sp>
      <p:sp>
        <p:nvSpPr>
          <p:cNvPr id="27" name="Shape 24"/>
          <p:cNvSpPr/>
          <p:nvPr/>
        </p:nvSpPr>
        <p:spPr>
          <a:xfrm>
            <a:off x="3621227"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29" name="Text 25"/>
          <p:cNvSpPr txBox="1"/>
          <p:nvPr/>
        </p:nvSpPr>
        <p:spPr>
          <a:xfrm>
            <a:off x="4005275"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base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7" name="Shape 25"/>
          <p:cNvSpPr/>
          <p:nvPr/>
        </p:nvSpPr>
        <p:spPr>
          <a:xfrm>
            <a:off x="7283272" y="91440"/>
            <a:ext cx="4359783" cy="274320"/>
          </a:xfrm>
          <a:prstGeom prst="rect">
            <a:avLst/>
          </a:prstGeom>
          <a:solidFill>
            <a:srgbClr val="F3E8FF"/>
          </a:solidFill>
          <a:ln w="12700">
            <a:solidFill>
              <a:srgbClr val="7E22CE"/>
            </a:solidFill>
            <a:prstDash val="dash"/>
          </a:ln>
        </p:spPr>
      </p:sp>
      <p:sp>
        <p:nvSpPr>
          <p:cNvPr id="28" name="Shape 26"/>
          <p:cNvSpPr/>
          <p:nvPr/>
        </p:nvSpPr>
        <p:spPr>
          <a:xfrm>
            <a:off x="7310704" y="128016"/>
            <a:ext cx="45720" cy="45720"/>
          </a:xfrm>
          <a:prstGeom prst="rect">
            <a:avLst/>
          </a:prstGeom>
          <a:solidFill>
            <a:srgbClr val="7E22CE"/>
          </a:solidFill>
          <a:ln w="12700">
            <a:solidFill>
              <a:srgbClr val="7E22CE"/>
            </a:solidFill>
            <a:prstDash val="solid"/>
          </a:ln>
        </p:spPr>
      </p:sp>
      <p:sp>
        <p:nvSpPr>
          <p:cNvPr id="29" name="Shape 27"/>
          <p:cNvSpPr/>
          <p:nvPr/>
        </p:nvSpPr>
        <p:spPr>
          <a:xfrm>
            <a:off x="7310704" y="205740"/>
            <a:ext cx="45720" cy="45720"/>
          </a:xfrm>
          <a:prstGeom prst="rect">
            <a:avLst/>
          </a:prstGeom>
          <a:solidFill>
            <a:srgbClr val="7E22CE"/>
          </a:solidFill>
          <a:ln w="12700">
            <a:solidFill>
              <a:srgbClr val="7E22CE"/>
            </a:solidFill>
            <a:prstDash val="solid"/>
          </a:ln>
        </p:spPr>
      </p:sp>
      <p:sp>
        <p:nvSpPr>
          <p:cNvPr id="30" name="Shape 28"/>
          <p:cNvSpPr/>
          <p:nvPr/>
        </p:nvSpPr>
        <p:spPr>
          <a:xfrm>
            <a:off x="7310704"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32" name="Text 2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33" name="Shape 30"/>
          <p:cNvSpPr/>
          <p:nvPr/>
        </p:nvSpPr>
        <p:spPr>
          <a:xfrm>
            <a:off x="3489909" y="91440"/>
            <a:ext cx="3683635" cy="274320"/>
          </a:xfrm>
          <a:prstGeom prst="rect">
            <a:avLst/>
          </a:prstGeom>
          <a:solidFill>
            <a:srgbClr val="E0F2FE"/>
          </a:solidFill>
          <a:ln w="12700">
            <a:solidFill>
              <a:srgbClr val="0369A1"/>
            </a:solidFill>
            <a:prstDash val="solid"/>
          </a:ln>
        </p:spPr>
      </p:sp>
      <p:sp>
        <p:nvSpPr>
          <p:cNvPr id="34" name="Shape 31"/>
          <p:cNvSpPr/>
          <p:nvPr/>
        </p:nvSpPr>
        <p:spPr>
          <a:xfrm>
            <a:off x="3489909"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6" name="Text 32"/>
          <p:cNvSpPr txBox="1"/>
          <p:nvPr/>
        </p:nvSpPr>
        <p:spPr>
          <a:xfrm>
            <a:off x="3873957"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 instruction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tracing by hand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31606" y="91440"/>
            <a:ext cx="3211449" cy="274320"/>
          </a:xfrm>
          <a:prstGeom prst="rect">
            <a:avLst/>
          </a:prstGeom>
          <a:solidFill>
            <a:srgbClr val="F3E8FF"/>
          </a:solidFill>
          <a:ln w="12700">
            <a:solidFill>
              <a:srgbClr val="7E22CE"/>
            </a:solidFill>
            <a:prstDash val="dash"/>
          </a:ln>
        </p:spPr>
      </p:sp>
      <p:sp>
        <p:nvSpPr>
          <p:cNvPr id="5" name="Shape 2"/>
          <p:cNvSpPr/>
          <p:nvPr/>
        </p:nvSpPr>
        <p:spPr>
          <a:xfrm>
            <a:off x="8459038" y="128016"/>
            <a:ext cx="45720" cy="45720"/>
          </a:xfrm>
          <a:prstGeom prst="rect">
            <a:avLst/>
          </a:prstGeom>
          <a:solidFill>
            <a:srgbClr val="7E22CE"/>
          </a:solidFill>
          <a:ln w="12700">
            <a:solidFill>
              <a:srgbClr val="7E22CE"/>
            </a:solidFill>
            <a:prstDash val="solid"/>
          </a:ln>
        </p:spPr>
      </p:sp>
      <p:sp>
        <p:nvSpPr>
          <p:cNvPr id="6" name="Shape 3"/>
          <p:cNvSpPr/>
          <p:nvPr/>
        </p:nvSpPr>
        <p:spPr>
          <a:xfrm>
            <a:off x="8459038" y="205740"/>
            <a:ext cx="45720" cy="45720"/>
          </a:xfrm>
          <a:prstGeom prst="rect">
            <a:avLst/>
          </a:prstGeom>
          <a:solidFill>
            <a:srgbClr val="7E22CE"/>
          </a:solidFill>
          <a:ln w="12700">
            <a:solidFill>
              <a:srgbClr val="7E22CE"/>
            </a:solidFill>
            <a:prstDash val="solid"/>
          </a:ln>
        </p:spPr>
      </p:sp>
      <p:sp>
        <p:nvSpPr>
          <p:cNvPr id="7" name="Shape 4"/>
          <p:cNvSpPr/>
          <p:nvPr/>
        </p:nvSpPr>
        <p:spPr>
          <a:xfrm>
            <a:off x="845903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8559622" y="128016"/>
            <a:ext cx="201168" cy="201168"/>
          </a:xfrm>
          <a:prstGeom prst="rect">
            <a:avLst/>
          </a:prstGeom>
        </p:spPr>
      </p:pic>
      <p:sp>
        <p:nvSpPr>
          <p:cNvPr id="9" name="Text 5"/>
          <p:cNvSpPr txBox="1"/>
          <p:nvPr/>
        </p:nvSpPr>
        <p:spPr>
          <a:xfrm>
            <a:off x="8815654" y="91440"/>
            <a:ext cx="279082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b="1" dirty="0">
                <a:solidFill>
                  <a:srgbClr val="6B21A8"/>
                </a:solidFill>
                <a:latin typeface="Calibri" pitchFamily="34" charset="0"/>
                <a:ea typeface="Calibri" pitchFamily="34" charset="-122"/>
                <a:cs typeface="Calibri" pitchFamily="34" charset="-120"/>
              </a:rPr>
              <a:t> → Lectures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t1 holds 300. What does andi a2, t1, 255 leave in a2?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number is 0x1F?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decimal number 1F</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31: one sixteen plus fifteen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register t1F</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comment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2026-10-16T23:36:42Z</dcterms:created>
  <dcterms:modified xsi:type="dcterms:W3CDTF">2026-10-16T23:36:42Z</dcterms:modified>
</cp:coreProperties>
</file>