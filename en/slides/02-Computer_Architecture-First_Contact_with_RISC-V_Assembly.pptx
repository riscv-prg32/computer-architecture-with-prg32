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0deced6-d4d7-cebd-d9f9-3743d5b485a8}">
          <p14:sldIdLst>
            <p14:sldId id="256"/>
            <p14:sldId id="257"/>
          </p14:sldIdLst>
        </p14:section>
        <p14:section name="The machine" id="{93e9677b-f8f0-2299-eff8-1c8e79c2dce7}">
          <p14:sldIdLst>
            <p14:sldId id="258"/>
            <p14:sldId id="259"/>
            <p14:sldId id="260"/>
            <p14:sldId id="261"/>
            <p14:sldId id="262"/>
            <p14:sldId id="263"/>
          </p14:sldIdLst>
        </p14:section>
        <p14:section name="Your first cartridge" id="{e0c9c6be-c294-7d28-f3f0-c42b38df86ae}">
          <p14:sldIdLst>
            <p14:sldId id="264"/>
            <p14:sldId id="265"/>
          </p14:sldIdLst>
        </p14:section>
        <p14:section name="Reading what you wrote" id="{ab938c26-270f-dea8-9a88-fdff0b020291}">
          <p14:sldIdLst>
            <p14:sldId id="266"/>
            <p14:sldId id="267"/>
            <p14:sldId id="268"/>
            <p14:sldId id="269"/>
          </p14:sldIdLst>
        </p14:section>
        <p14:section name="What comes next" id="{7fab3fe2-8324-f812-3691-5f122e347839}">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lecture in which a program is written, and it deliberately precedes any theory. Over two hours the student builds four small cartridges, each a complete program that runs. Full understanding of every detail is neither expected nor required today. The aim is to observe registers, memory and a procedure call at work, so that the lectures that follow have concrete phenomena to explain. The epigraph sets the register of the session: fewer words, more code.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registers, compute, move, jump; registers; functions, call and return; the init, update, draw contract; reading a line of assembly; arguments in a0 to a7; why ra is saved; address, value, load, store; the base instructions; pseudo-instructions; an instruction is a number; tracing by hand. USE NOW: hexadecimal (Lecture 04); bit, byte, word (Lecture 04);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Roadmap. Today's outcomes: (1) build and run a cartridge, and say when the runtime calls init, update and draw; (2) read a line of assembly: label, instruction, operands, comment; (3) tell an address from a value, and trace what la, lw, addi and sw leave in registers and memory. Builds on: only what Lecture 01 set up. Next: Lecture 03, History of Computing.
For the lecturer: New lecture for 2026/27. It is the 'play' turn of the spiral for the whole first half of the course: every later lecture points back to something typed here. The four steps are the verified steps of the textbook lab 05-asm-first-contact; run them live (labs/run.sh 05-asm-first-contact/stepN_....S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contract of the lecture, and it is deliberately short. Three outcomes, each with a check that the student can see (a label, in the second, is a name that marks a place in the program; slide 9 shows one): checkpoint 1 tests the first, the exit ticket the second, and checkpoint 2, the trace, the third. The only prerequisites are those of Lecture 01: knowing what a program is, using the terminal, and having PRG32-QT running. Today's program also contains things that are used without being understood: the stack frame that saves ra, the calling convention, the encoding of an instruction as a number. They are needed to make the program run, and the last slides of the lecture say which lecture explains each of them. A student who can do the three things on this slide by the end has met the goal of the day, even if much else remains unclear.
For the lecturer: Read the contract aloud and come back to it at the end. Three outcomes, three checks: checkpoint 1 (slide of the contract), checkpoint 2 (the trace) and the exit ticket. Anything else on the slides today is to be seen and used, not mastered.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first program, a word on how its numbers are written, because assembly code is full of them. A computer stores everything as bits, digits that can only be 0 or 1. A number written with bits is in binary, or base 2: each position is worth twice the one on its right, so 1010 is 8 + 2 = 10. Binary is exact but long, and long rows of zeros and ones are easy to misread.
Programmers therefore group the bits four at a time and write each group as a single hexadecimal digit, base 16. The digits are 0 to 9 and then A, B, C, D, E and F for the values ten to fifteen. The prefix 0x marks a number as hexadecimal, so 0x10 is sixteen and not ten. Because one hexadecimal digit is exactly four bits, translating between the two is a matter of reading four bits at a time, as the caption shows for the colour green, 0x07E0. Today it is enough to recognise these notations. Lecture 04 explains them properly, with conversions in both directions.
USE NOW: hexadecimal (studied in Lecture 04); bit, byte, word (studied in Lecture 04).
For the lecturer: A computer stores everything as bits, digits that are 0 or 1: a number written with bits is in binary, base 2. Long rows of bits are hard to read, so programmers group them four at a time and write each group as one hexadecimal digit, base 16: 0 to 9, then A to F for ten to fifteen. The prefix 0x says that a number is hexadecimal. Today you only need to recognise these numbers; Lecture 04 explains how to convert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machine is described by four cards. There are 32 registers, each holding a 32-bit value, and the processor can operate only on values held in registers. Instructions fall into three classes. Compute: arithmetic and logical operations between registers, such as add or addi. Move: transfers between a register and memory, lw to load a word, a group of 32 bits, that is, four bytes, and sw to store one; no other instruction accesses memory. Jump: instructions that alter which instruction executes next. This is the load-store discipline of RISC-V, and every computation a computer performs is a long sequence of these three kinds.
UNDERSTAND NOW: registers, compute, move, jump.
For the lecturer: That is very nearly the whole machine. The richness of computing comes not from a large instruction set but from combining a small one in long 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registers carry names that reflect their use. a0 to a7 pass the arguments of a call, and a0 also returns the result. t0 to t6 are temporaries, freely usable and not preserved across calls. s0 to s11 are preserved across calls. ra holds the return address, sp the top of the stack, an area of memory where functions keep values for a while (step 2, in the code deck, shows how), and zero always reads as 0. The caption contains the essential point: these roles are not imposed by the hardware, which treats x1 to x31 identically. They are an agreement, the calling convention, and it is this agreement that allows assembly written by the student and C code of the framework to call one another. It is used today and studied formally in Lecture 18.
UNDERSTAND NOW: registers. USE NOW: the calling convention (studied in Lecture 18).
For the lecturer: The roles are fixed not by the hardware but by an agreement: the calling convention, or ABI. Following it is what lets your assembly and the framework's C code call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function will appear on almost every slide from now on, so it is defined here. A function is a sequence of instructions that does one job, such as clearing the screen or drawing a letter. It begins at a label, a name that marks a place in the program, and the label is the function's name. To call a function is to jump to its first instruction, having first noted where to come back; the RISC-V instruction call does both at once. When the job is done, the function returns: the instruction ret jumps back to the instruction that follows the call.
A function usually needs some values to do its job, such as the position and the colour of a letter. These are its arguments, and in RISC-V they are placed in the registers a0 to a7 before the call. The code that calls is the caller, and the function called is the callee. The place to return to is kept in the register ra, the return address. Remember this detail: it explains why the program of step 2 saves ra before its own calls.
UNDERSTAND NOW: functions, call and return.
For the lecturer: The caller is the code that calls; the callee is the function called. The place to come back to is kept in the register ra, the return address: this is why step 2 saves ra before its own calls, and restores it before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between a game and PRG32 is a contract of three functions supplied by the programmer. init is called once, when the cartridge starts, to establish the initial state. update is called once per frame, to read the input and modify the state. draw is called once per frame, to render the state as an image. The firmware locates them by name: a prefix chosen by the programmer followed by _init, _update and _draw. The separation of responsibilities should be adopted from the first day: update decides, draw displays, and neither does the other's work.
UNDERSTAND NOW: the init, update, draw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checkpoint, after the contract of three functions. Students answer alone for one minute, then agree with a neighbour, then the class checks together. The answers: init is called once, when the cartridge starts; update and draw are called once per frame, so 2 seconds at 30 frames per second give 60 calls each. Only the move instructions, lw and sw, read or write memory; compute instructions work only on registers, and jumps change which instruction runs next. The most common wrong answer is that init runs at every frame: it is worth asking who chose 60 for init, and why. A student who cannot answer the second question should look again at the card Move on slide 4.
For the lecturer: Pause here for two or three minutes. Collect a show of hands for init: the most common wrong answer is 60. The answers are in the slide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first listing, a guide to reading it. A line of assembly has at most four parts, and the table names them. A label is a name followed by a colon; it marks a place in the program, often the start of a function. The instruction is the operation to perform. The operands are what the instruction works on, and in RISC-V the destination always comes first. A comment starts with # and runs to the end of the line; it is written for people, and the assembler ignores it.
A line that begins with a dot is a directive. It is an instruction for the assembler, not for the processor: .section .text, for example, says that the code which follows is to be placed among the executable instructions. The caption shows a complete line. It is read as "put t1 plus 1 into t1", which a mathematician would write t1 = t1 + 1. Blank lines and indentation do not change the program; they only make it easier to read, and that matters too.
UNDERSTAND NOW: reading a line of assembly.
For the lecturer: Read the line addi t1, t1, 1 aloud as: put t1 plus 1 into t1. The destination comes first, as in the assignment t1 = t1 + 1. A line can hold a label, an instruction, a comment, or several of these; blank lines and indentation matter to the reader, not to the assembler.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separates two notions that beginners routinely conflate: an address and a value. The counter is a variable, a named place in memory whose value the program changes. After la, t0 contains where the counter is stored; after lw, t1 contains what is stored there, 41 in the diagram. addi modifies the copy in the register to 42, while memory continues to hold 41 until sw writes the new value back. The two arrows should be followed carefully. The box on the right recommends a habit worth adopting at once: annotate every register in the comments as holding either an ADDRESS or a VALUE. This simple discipline prevents the most frequent error of the first month. The ways in which an instruction can designate its operands, the addressing modes, are studied in Lecture 19.
UNDERSTAND NOW: address, value, load, store. UNDERSTAND LATER: addressing modes (studied in Lecture 19).
For the lecturer: A label names a location. la gives the location, lw gives the contents. This is how every variable in every program ultimately works; we return to it formally with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families account for every instruction written today: arithmetic (add, sub), logical (and, or, xor), immediate forms taking a small constant (addi, andi), memory (lw, sw) and control (call, ret). In every instruction the result is written to the first register named: add t0, t1, t2 places t1 + t2 in t0. The base integer instruction set, RV32I, comprises about forty instructions; a quarter of them have already been used.
UNDERSTAND NOW: the base instructions.
For the lecturer: The result goes in the first register. The base RISC-V integer instruction set (RV32I) has about forty instructions; you have already met a quarter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instructions written today do not exist in the hardware: they are pseudo-instructions, notational conveniences that the assembler expands into real instructions. li t0, 42 becomes addi t0, zero, 42; mv is an addi with constant 0; ret is an indirect jump to the address in ra; beqz is a comparison with the register zero. The frequency with which zero appears in the middle column is instructive: a register hard-wired to 0 allows a small instruction set to do the work of a much larger one, a characteristic economy of RISC design.
UNDERSTAND NOW: pseudo-instructions.
For the lecturer: A pseudo-instruction is not a separate hardware operation. The register zero is what makes many of them possible: a small instruction set, reused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instruction is a number. addi t1, t1, 1 is the 32-bit word 0x00130313, and the coloured strip shows its fields: twelve bits for the constant 1, five for the source register (t1 is register number 6), three that select the addition, five for the destination register and seven for the opcode, which identifies the class of instruction. The format need not be memorised now; it is the subject of Lecture 19. What matters today is the principle: assembly is a readable notation for machine code, and an instruction stored in memory is data like any other. This is the stored-program idea that the next lecture places in its historical context.
UNDERSTAND NOW: an instruction is a number. UNDERSTAND LATER: instruction formats (studied in Lecture 19).
For the lecturer: Check: 0000 0000 0001 | 00110 | 000 | 00110 | 0010011 = 0000 0000 0001 0011 0000 0011 0001 0011 = 0x00130313. Do not explain the formats now; the point is only that an instruction is data. Lecture 04 (digital information) and the lectures on the processor come back to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checkpoint is a trace by hand: a record, frame by frame, of what each instruction leaves in t1 and in memory. The first two rows are worked out; students fill in the rows marked ? for three minutes, and the answers are then revealed by stepping in PRG32-QT. Frame 256: lw gives 255, addi 256, sw stores 256, and the width is 0. Frame 257: 256, 257, 257 and a width of 1. The surprise is the width: andi with 255 keeps only the eight least significant bits, and 256 in binary is a one followed by eight zeros, so the mask computes the remainder modulo 256, a fact used today and explained in Lecture 08. Students who wrote 256 for the width have traced the counter correctly and forgotten the mask: the most instructive mistake of the day. Tracing by hand is slow and unglamorous, and it is the most valuable debugging skill this course teaches.
UNDERSTAND NOW: tracing by hand.
For the lecturer: The by-hand trace is the most valuable debugging skill of the course. Give three minutes to fill in the two rows, then reveal them in PRG32-QT: 255, 256, 256, 0 and 256, 257, 257, 1. 256 = 1 0000 0000 in binary: the low eight bits are all zero, so the bar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states what the student is not expected to understand yet. Each row records something observed or used today, the question it raises, and the lecture that answers it. Why hexadecimal? Lectures 04 and 05. How does a register hold a negative number? Lecture 05. What does AND do to thirty-two bits at once? Lectures 08 and 09. How does a circuit remember a bit? Lectures 13 and 15. How is 0x00130313 decoded and executed? Lectures 18 and 19, which also explain the stack frame used in step 2. The last row is the project: from three functions and a rectangle to a complete game. Using these things today without understanding them is not a failure; it is the method of the course, and the table is the map that says when each question will be answered.
UNDERSTAND LATER: hexadecimal (studied in Lecture 04); two's complement (studied in Lecture 05); fixed point (studied in Lecture 06); Boolean algebra (studied in Lecture 08); the adder (studied in Lecture 09); from volts to bits (studied in Lecture 10); latches and flip-flops (studied in Lecture 13); the processor cycle (studied in Lecture 19); the Verm1 project (studied in Lecture 07).
For the lecturer: This is the forward map of the course. Keep a copy: each later deck opens by pointing at one of these rows. The last row is the project: Verm1 starts in Lecture 07 from exactly the skeleton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map reconstructs the thread of the lecture in five boxes. A cartridge is three functions that the runtime calls: init once, update and draw at every frame. While the program computes, values are in registers. Between frames they live in memory, at addresses, as variables. The pattern la, lw, addi, sw moves a value from memory to a register, changes it and stores it back. And a trace lets one predict the screen before running the program. The caption says where each idea goes next. A good closing question for the class: which box would you need to explain to a friend why the green bar starts again at frame 256?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tests the distinction between address and value. la loads the address of the label into t0; lw then uses t0 to locate the word and copies its content into t1, leaving t0 unchanged. t0 therefore still holds the address. Anyone who chose "the value" should return to slide 10, with the two arrows.
The second question turns on the effect of call, which writes the return address into ra. A function that must later return to its own caller needs its original ra, which the call has just overwritten. a0 is intended to be overwritten, sp is restored by the callee, and t0 is a temporary that no one has undertaken to preserve.
For the lecturer: 1. Answer: B. la loads the address of the label; lw then reads the value stored at that address into t1.
2. Answer: C. call writes the return address in ra. The callee's own calls would overwrite it, so a non-leaf function saves ra on the stack and restores it before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calculation is best done in binary. 300 equals 256 + 44: a one in bit position 8 followed by the eight bits of 44. The mask 255 consists of eight ones. AND compares the two numbers bit by bit and gives 1 only where both bits are 1, so it retains the eight least significant bits and clears all others. The result is 44. Subtracting 255 from 300 yields 45, a plausible but wrong answer: a bitwise AND is not a subtraction, and the distinction between arithmetic and logical operations on the same bits recurs throughout the course.
The second question checks the reading of hexadecimal. 0x says that what follows is in base 16. The digit 1 is in the sixteens position and F is fifteen units, so the value is 16 + 15 = 31. In binary each hexadecimal digit becomes four bits: 0001 1111, that is, 1 1111. Registers are named t0 to t6, so there is no register t1F, and comments start with #.
For the lecturer: 1. Answer: D. 300 = 256 + 44 = 1 0010 1100 in binary. AND with 1111 1111 keeps the low eight bits: 0010 1100 = 44.
2. Answer: B. 0x marks a hexadecimal number. 1 means one sixteen and F means fifteen units: 16 + 15 = 31, which is 1 1111 in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of the lecture, with the Italian used in class. Load and store are always named from the processor's point of view: a load brings a value from memory into a register, a store sends it back. An immediate is a constant encoded within the instruction itself. A branch is a jump taken only if a condition holds. The calling convention is the agreement governing the roles of the registers across procedure calls.
For the lecturer: The course is taught in Italian; slides, notes and textbook exist in English and in Italian, and the technical documentation of PRG32 is in English. This table is repeated, topic by topic, in every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propositions summarise the lecture. A RISC-V processor consists of thirty-two registers and a small set of instructions that compute, move data and alter control flow. A PRG32 game consists of three functions; arguments travel in a0 to a7, and a function that calls another must save ra. Variables reside in memory: la yields the address, lw and sw the value. An instruction is a 32-bit number, and assembly is its readable notation. The next lecture steps back to trace the history that produced this machine.
Learning status, recap. UNDERSTAND NOW: registers, compute, move, jump; registers; functions, call and return; the init, update, draw contract; reading a line of assembly; arguments in a0 to a7; why ra is saved; address, value, load, store; the base instructions; pseudo-instructions; an instruction is a number; tracing by hand. USE NOW: hexadecimal (Lecture 04); bit, byte, word (Lecture 04);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Closing thread: A program is a few functions that the runtime calls; each line is one instruction; values live in registers while they are computed and in memory between frames. Everything else you used today has a lecture of its own. Next: where these ideas came from. Exit ticket (two to four minutes, alone, on paper): 1. Read the line  loop:  li a0, 32   # x  aloud. Name its label, instruction, operands and comment. Is li an instruction of the processor? What does the assembler do with it? 2. The debugger shows the instruction addi t1, t1, 1 stored in memory as the word 0x00130313. What is that word, and what does it tell you about where a program lives?
For the lecturer: Next lecture: the history that led to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Registers, memory and the call: a running program before any theory</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“Talk is cheap. Show me the code.”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Linus Torvalds, Linux kernel mailing list, 2000</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Your learning contract for today</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338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By the end you will be able to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build and run a cartridge, and say when the runtime calls init, update and draw</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read a line of assembly: label, instruction, operands, comment</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tell an address from a value, and trace what la, lw, addi and sw leave behind</a:t>
            </a:r>
            <a:endParaRPr lang="en-US" sz="2400" dirty="0"/>
          </a:p>
        </p:txBody>
      </p:sp>
      <p:sp>
        <p:nvSpPr>
          <p:cNvPr id="5" name="Shape 3"/>
          <p:cNvSpPr/>
          <p:nvPr/>
        </p:nvSpPr>
        <p:spPr>
          <a:xfrm>
            <a:off x="548640" y="420395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82034"/>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You need only Lecture 01: what a program is, the terminal, PRG32-QT running</a:t>
            </a:r>
            <a:endParaRPr lang="en-US" sz="2400" dirty="0"/>
          </a:p>
        </p:txBody>
      </p:sp>
      <p:sp>
        <p:nvSpPr>
          <p:cNvPr id="7" name="Shape 5"/>
          <p:cNvSpPr/>
          <p:nvPr/>
        </p:nvSpPr>
        <p:spPr>
          <a:xfrm>
            <a:off x="548640" y="51785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You will also use things you are not expected to understand yet: the last slides say which, and when they are explained</a:t>
            </a:r>
            <a:endParaRPr lang="en-US" sz="2400" dirty="0"/>
          </a:p>
        </p:txBody>
      </p:sp>
      <p:sp>
        <p:nvSpPr>
          <p:cNvPr id="9" name="Shape 7"/>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0" name="Text 8"/>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How you will know</a:t>
            </a:r>
            <a:endParaRPr lang="en-US" sz="1800" dirty="0"/>
          </a:p>
        </p:txBody>
      </p:sp>
      <p:sp>
        <p:nvSpPr>
          <p:cNvPr id="11" name="Text 9"/>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Outcome 1: checkpoint 1</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Outcome 2: the exit ticket</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Outcome 3: checkpoint 2, the trace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Binary and hexadecimal: how to read the numbers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120304"/>
                <a:gridCol w="3987055"/>
                <a:gridCol w="39870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0x9</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0xF</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1111 1111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0xFF</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One hexadecimal digit is exactly four bits: 0x07E0 is 0000 0111 1110 0000.</a:t>
            </a:r>
            <a:endParaRPr lang="en-US" sz="1500" dirty="0"/>
          </a:p>
        </p:txBody>
      </p:sp>
      <p:sp>
        <p:nvSpPr>
          <p:cNvPr id="5" name="Shape 2"/>
          <p:cNvSpPr/>
          <p:nvPr/>
        </p:nvSpPr>
        <p:spPr>
          <a:xfrm>
            <a:off x="8588070" y="91440"/>
            <a:ext cx="3054985" cy="274320"/>
          </a:xfrm>
          <a:prstGeom prst="rect">
            <a:avLst/>
          </a:prstGeom>
          <a:solidFill>
            <a:srgbClr val="FEF3C7"/>
          </a:solidFill>
          <a:ln w="12700">
            <a:solidFill>
              <a:srgbClr val="B45309"/>
            </a:solidFill>
            <a:prstDash val="solid"/>
          </a:ln>
        </p:spPr>
      </p:sp>
      <p:sp>
        <p:nvSpPr>
          <p:cNvPr id="6" name="Shape 3"/>
          <p:cNvSpPr/>
          <p:nvPr/>
        </p:nvSpPr>
        <p:spPr>
          <a:xfrm>
            <a:off x="8588070" y="91440"/>
            <a:ext cx="27432" cy="274320"/>
          </a:xfrm>
          <a:prstGeom prst="rect">
            <a:avLst/>
          </a:prstGeom>
          <a:solidFill>
            <a:srgbClr val="B45309"/>
          </a:solidFill>
          <a:ln w="12700">
            <a:solidFill>
              <a:srgbClr val="B45309"/>
            </a:solidFill>
            <a:prstDash val="solid"/>
          </a:ln>
        </p:spPr>
      </p:sp>
      <p:sp>
        <p:nvSpPr>
          <p:cNvPr id="7" name="Shape 4"/>
          <p:cNvSpPr/>
          <p:nvPr/>
        </p:nvSpPr>
        <p:spPr>
          <a:xfrm>
            <a:off x="864293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716086" y="128016"/>
            <a:ext cx="201168" cy="201168"/>
          </a:xfrm>
          <a:prstGeom prst="rect">
            <a:avLst/>
          </a:prstGeom>
        </p:spPr>
      </p:pic>
      <p:sp>
        <p:nvSpPr>
          <p:cNvPr id="9" name="Text 5"/>
          <p:cNvSpPr txBox="1"/>
          <p:nvPr/>
        </p:nvSpPr>
        <p:spPr>
          <a:xfrm>
            <a:off x="8972118" y="91440"/>
            <a:ext cx="263436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hexadecimal</a:t>
            </a:r>
            <a:pPr indent="0" marL="0">
              <a:buNone/>
            </a:pPr>
            <a:r>
              <a:rPr lang="en-US" sz="1100" b="1" dirty="0">
                <a:solidFill>
                  <a:srgbClr val="92400E"/>
                </a:solidFill>
                <a:latin typeface="Calibri" pitchFamily="34" charset="0"/>
                <a:ea typeface="Calibri" pitchFamily="34" charset="-122"/>
                <a:cs typeface="Calibri" pitchFamily="34" charset="-120"/>
              </a:rPr>
              <a:t> → Lecture 04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you are programming</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32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register holds one 32-bit value. The processor can compute only on values that are in registers.</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Compute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arithmetic or logic operation between registers: add, sub, and, or, xor, and their immediate forms such as addi.</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Move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transfer between a register and memory: lw loads a word, sw stores a word. Nothing else touches memory.</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Jump</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change in which instruction runs next: branches such as beqz, calls and returns.</a:t>
            </a:r>
            <a:endParaRPr lang="en-US" sz="1900" dirty="0"/>
          </a:p>
        </p:txBody>
      </p:sp>
      <p:sp>
        <p:nvSpPr>
          <p:cNvPr id="19" name="Shape 17"/>
          <p:cNvSpPr/>
          <p:nvPr/>
        </p:nvSpPr>
        <p:spPr>
          <a:xfrm>
            <a:off x="7696784" y="91440"/>
            <a:ext cx="3946271" cy="274320"/>
          </a:xfrm>
          <a:prstGeom prst="rect">
            <a:avLst/>
          </a:prstGeom>
          <a:solidFill>
            <a:srgbClr val="E0F2FE"/>
          </a:solidFill>
          <a:ln w="12700">
            <a:solidFill>
              <a:srgbClr val="0369A1"/>
            </a:solidFill>
            <a:prstDash val="solid"/>
          </a:ln>
        </p:spPr>
      </p:sp>
      <p:sp>
        <p:nvSpPr>
          <p:cNvPr id="20" name="Shape 18"/>
          <p:cNvSpPr/>
          <p:nvPr/>
        </p:nvSpPr>
        <p:spPr>
          <a:xfrm>
            <a:off x="7696784"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24800" y="128016"/>
            <a:ext cx="201168" cy="201168"/>
          </a:xfrm>
          <a:prstGeom prst="rect">
            <a:avLst/>
          </a:prstGeom>
        </p:spPr>
      </p:pic>
      <p:sp>
        <p:nvSpPr>
          <p:cNvPr id="22" name="Text 19"/>
          <p:cNvSpPr txBox="1"/>
          <p:nvPr/>
        </p:nvSpPr>
        <p:spPr>
          <a:xfrm>
            <a:off x="8080832" y="91440"/>
            <a:ext cx="352564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compute, move, jump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you will actually use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31537"/>
                <a:gridCol w="1968364"/>
                <a:gridCol w="5010381"/>
                <a:gridCol w="268413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Name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Preserved across a call?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a0 - a7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arguments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passed into a call; a0 also carries the return value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t0 - 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temporaries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scratch values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s0 - s11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saved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a call promises to preserve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return address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where ret jumps back 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 save it yourself</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sp</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stack pointer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top of the stack, kept 16-byte aligned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zero</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zero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always reads as 0; writes are ignored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roles come from an agreement, the calling convention (ABI), not from the hardware.</a:t>
            </a:r>
            <a:endParaRPr lang="en-US" sz="1500" dirty="0"/>
          </a:p>
        </p:txBody>
      </p:sp>
      <p:sp>
        <p:nvSpPr>
          <p:cNvPr id="5" name="Shape 2"/>
          <p:cNvSpPr/>
          <p:nvPr/>
        </p:nvSpPr>
        <p:spPr>
          <a:xfrm>
            <a:off x="7865821" y="91440"/>
            <a:ext cx="3777234" cy="274320"/>
          </a:xfrm>
          <a:prstGeom prst="rect">
            <a:avLst/>
          </a:prstGeom>
          <a:solidFill>
            <a:srgbClr val="FEF3C7"/>
          </a:solidFill>
          <a:ln w="12700">
            <a:solidFill>
              <a:srgbClr val="B45309"/>
            </a:solidFill>
            <a:prstDash val="solid"/>
          </a:ln>
        </p:spPr>
      </p:sp>
      <p:sp>
        <p:nvSpPr>
          <p:cNvPr id="6" name="Shape 3"/>
          <p:cNvSpPr/>
          <p:nvPr/>
        </p:nvSpPr>
        <p:spPr>
          <a:xfrm>
            <a:off x="7865821" y="91440"/>
            <a:ext cx="27432" cy="274320"/>
          </a:xfrm>
          <a:prstGeom prst="rect">
            <a:avLst/>
          </a:prstGeom>
          <a:solidFill>
            <a:srgbClr val="B45309"/>
          </a:solidFill>
          <a:ln w="12700">
            <a:solidFill>
              <a:srgbClr val="B45309"/>
            </a:solidFill>
            <a:prstDash val="solid"/>
          </a:ln>
        </p:spPr>
      </p:sp>
      <p:sp>
        <p:nvSpPr>
          <p:cNvPr id="7" name="Shape 4"/>
          <p:cNvSpPr/>
          <p:nvPr/>
        </p:nvSpPr>
        <p:spPr>
          <a:xfrm>
            <a:off x="7920685"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9" name="Text 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10" name="Shape 6"/>
          <p:cNvSpPr/>
          <p:nvPr/>
        </p:nvSpPr>
        <p:spPr>
          <a:xfrm>
            <a:off x="5188661" y="91440"/>
            <a:ext cx="2567432" cy="274320"/>
          </a:xfrm>
          <a:prstGeom prst="rect">
            <a:avLst/>
          </a:prstGeom>
          <a:solidFill>
            <a:srgbClr val="E0F2FE"/>
          </a:solidFill>
          <a:ln w="12700">
            <a:solidFill>
              <a:srgbClr val="0369A1"/>
            </a:solidFill>
            <a:prstDash val="solid"/>
          </a:ln>
        </p:spPr>
      </p:sp>
      <p:sp>
        <p:nvSpPr>
          <p:cNvPr id="11" name="Shape 7"/>
          <p:cNvSpPr/>
          <p:nvPr/>
        </p:nvSpPr>
        <p:spPr>
          <a:xfrm>
            <a:off x="5188661"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5316677" y="128016"/>
            <a:ext cx="201168" cy="201168"/>
          </a:xfrm>
          <a:prstGeom prst="rect">
            <a:avLst/>
          </a:prstGeom>
        </p:spPr>
      </p:pic>
      <p:sp>
        <p:nvSpPr>
          <p:cNvPr id="13" name="Text 8"/>
          <p:cNvSpPr txBox="1"/>
          <p:nvPr/>
        </p:nvSpPr>
        <p:spPr>
          <a:xfrm>
            <a:off x="5572709"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Functions: a piece of program with a name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function is a sequence of instructions that does one job, such as clearing the screen, and starts at a label: its name</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call a function is to jump to its first instruction after noting where to come back: the instruction call does both</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When its job is done the function returns: ret jumps back to the instruction that follows the call</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Arguments are the values a function needs for its job: in RISC-V they travel in the registers a0 to a7</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offers ready-made functions such as prg32_gfx_clear; you write three of your own, which the runtime calls</a:t>
            </a:r>
            <a:endParaRPr lang="en-US" sz="2200" dirty="0"/>
          </a:p>
        </p:txBody>
      </p:sp>
      <p:sp>
        <p:nvSpPr>
          <p:cNvPr id="13" name="Shape 11"/>
          <p:cNvSpPr/>
          <p:nvPr/>
        </p:nvSpPr>
        <p:spPr>
          <a:xfrm>
            <a:off x="7959420" y="91440"/>
            <a:ext cx="3683635" cy="274320"/>
          </a:xfrm>
          <a:prstGeom prst="rect">
            <a:avLst/>
          </a:prstGeom>
          <a:solidFill>
            <a:srgbClr val="E0F2FE"/>
          </a:solidFill>
          <a:ln w="12700">
            <a:solidFill>
              <a:srgbClr val="0369A1"/>
            </a:solidFill>
            <a:prstDash val="solid"/>
          </a:ln>
        </p:spPr>
      </p:sp>
      <p:sp>
        <p:nvSpPr>
          <p:cNvPr id="14" name="Shape 12"/>
          <p:cNvSpPr/>
          <p:nvPr/>
        </p:nvSpPr>
        <p:spPr>
          <a:xfrm>
            <a:off x="795942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16" name="Text 13"/>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functions, call and return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contract: three functions that you write</a:t>
            </a:r>
            <a:endParaRPr lang="en-US" sz="3200" dirty="0"/>
          </a:p>
        </p:txBody>
      </p:sp>
      <p:sp>
        <p:nvSpPr>
          <p:cNvPr id="3" name="Shape 1"/>
          <p:cNvSpPr/>
          <p:nvPr/>
        </p:nvSpPr>
        <p:spPr>
          <a:xfrm>
            <a:off x="548640" y="1874520"/>
            <a:ext cx="3454298"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3179978"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init</a:t>
            </a:r>
            <a:endParaRPr lang="en-US" sz="1900" dirty="0"/>
          </a:p>
        </p:txBody>
      </p:sp>
      <p:sp>
        <p:nvSpPr>
          <p:cNvPr id="5" name="Text 3"/>
          <p:cNvSpPr txBox="1"/>
          <p:nvPr/>
        </p:nvSpPr>
        <p:spPr>
          <a:xfrm>
            <a:off x="685800"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when the cartridge starts: set up your state</a:t>
            </a:r>
            <a:endParaRPr lang="en-US" sz="1700" dirty="0"/>
          </a:p>
        </p:txBody>
      </p:sp>
      <p:sp>
        <p:nvSpPr>
          <p:cNvPr id="6" name="Shape 4"/>
          <p:cNvSpPr/>
          <p:nvPr/>
        </p:nvSpPr>
        <p:spPr>
          <a:xfrm>
            <a:off x="4048658"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4368698" y="1874520"/>
            <a:ext cx="3454298"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4505858" y="2057400"/>
            <a:ext cx="3179978"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update</a:t>
            </a:r>
            <a:endParaRPr lang="en-US" sz="1900" dirty="0"/>
          </a:p>
        </p:txBody>
      </p:sp>
      <p:sp>
        <p:nvSpPr>
          <p:cNvPr id="9" name="Text 7"/>
          <p:cNvSpPr txBox="1"/>
          <p:nvPr/>
        </p:nvSpPr>
        <p:spPr>
          <a:xfrm>
            <a:off x="4505858"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read input, change the state</a:t>
            </a:r>
            <a:endParaRPr lang="en-US" sz="1700" dirty="0"/>
          </a:p>
        </p:txBody>
      </p:sp>
      <p:sp>
        <p:nvSpPr>
          <p:cNvPr id="10" name="Shape 8"/>
          <p:cNvSpPr/>
          <p:nvPr/>
        </p:nvSpPr>
        <p:spPr>
          <a:xfrm>
            <a:off x="7868717"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8188757" y="1874520"/>
            <a:ext cx="3454298"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8325917" y="2057400"/>
            <a:ext cx="3179978"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draw</a:t>
            </a:r>
            <a:endParaRPr lang="en-US" sz="1900" dirty="0"/>
          </a:p>
        </p:txBody>
      </p:sp>
      <p:sp>
        <p:nvSpPr>
          <p:cNvPr id="13" name="Text 11"/>
          <p:cNvSpPr txBox="1"/>
          <p:nvPr/>
        </p:nvSpPr>
        <p:spPr>
          <a:xfrm>
            <a:off x="8325917"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turn the state into a picture</a:t>
            </a:r>
            <a:endParaRPr lang="en-US" sz="1700" dirty="0"/>
          </a:p>
        </p:txBody>
      </p:sp>
      <p:sp>
        <p:nvSpPr>
          <p:cNvPr id="14" name="Shape 12"/>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5" name="Text 13"/>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firmware finds the three functions by name: a prefix that you choose, followed by _init, _update and _draw. That is the whole contract between your game and the machine.</a:t>
            </a:r>
            <a:endParaRPr lang="en-US" sz="2000" dirty="0"/>
          </a:p>
        </p:txBody>
      </p:sp>
      <p:sp>
        <p:nvSpPr>
          <p:cNvPr id="16" name="Shape 14"/>
          <p:cNvSpPr/>
          <p:nvPr/>
        </p:nvSpPr>
        <p:spPr>
          <a:xfrm>
            <a:off x="7631125" y="91440"/>
            <a:ext cx="4011930" cy="274320"/>
          </a:xfrm>
          <a:prstGeom prst="rect">
            <a:avLst/>
          </a:prstGeom>
          <a:solidFill>
            <a:srgbClr val="E0F2FE"/>
          </a:solidFill>
          <a:ln w="12700">
            <a:solidFill>
              <a:srgbClr val="0369A1"/>
            </a:solidFill>
            <a:prstDash val="solid"/>
          </a:ln>
        </p:spPr>
      </p:sp>
      <p:sp>
        <p:nvSpPr>
          <p:cNvPr id="17" name="Shape 15"/>
          <p:cNvSpPr/>
          <p:nvPr/>
        </p:nvSpPr>
        <p:spPr>
          <a:xfrm>
            <a:off x="763112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19" name="Text 16"/>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init, update, draw contract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Checkpoint 1: predict before you run</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game runs at 30 frames per second for 2 seconds</a:t>
            </a:r>
            <a:endParaRPr lang="en-US" sz="2400" dirty="0"/>
          </a:p>
        </p:txBody>
      </p:sp>
      <p:sp>
        <p:nvSpPr>
          <p:cNvPr id="5" name="Shape 3"/>
          <p:cNvSpPr/>
          <p:nvPr/>
        </p:nvSpPr>
        <p:spPr>
          <a:xfrm>
            <a:off x="548640" y="2923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01112"/>
            <a:ext cx="6565392" cy="14577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How many times has the runtime called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init?</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update?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draw?</a:t>
            </a:r>
            <a:endParaRPr lang="en-US" sz="2400" dirty="0"/>
          </a:p>
        </p:txBody>
      </p:sp>
      <p:sp>
        <p:nvSpPr>
          <p:cNvPr id="7" name="Shape 5"/>
          <p:cNvSpPr/>
          <p:nvPr/>
        </p:nvSpPr>
        <p:spPr>
          <a:xfrm>
            <a:off x="548640" y="48379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71601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Which kind of instruction, compute, move or jump, can read a value from memory?</a:t>
            </a:r>
            <a:endParaRPr lang="en-US" sz="2400" dirty="0"/>
          </a:p>
        </p:txBody>
      </p:sp>
      <p:sp>
        <p:nvSpPr>
          <p:cNvPr id="9" name="Shape 7"/>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0" name="Text 8"/>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How</a:t>
            </a:r>
            <a:endParaRPr lang="en-US" sz="1800" dirty="0"/>
          </a:p>
        </p:txBody>
      </p:sp>
      <p:sp>
        <p:nvSpPr>
          <p:cNvPr id="11" name="Text 9"/>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One minute alone: write your answers</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One minute with your neighbour: agree on them</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Then we check together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to read one line of assembly</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80203"/>
                <a:gridCol w="3293655"/>
                <a:gridCol w="5720558"/>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Part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Example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label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first_update: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name for this place in the program; it ends with a colon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instruction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addi</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operation to perform: here, add a constant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t1, t1, 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what it works on: the destination first, then the sources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comment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 one more tick</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note for people: from # to the end of the line, ignored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directive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.section .text</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 order to the assembler, not to the processor; it begins with a dot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first_update:   addi t1, t1, 1   # one more tick</a:t>
            </a:r>
            <a:endParaRPr lang="en-US" sz="1500" dirty="0"/>
          </a:p>
        </p:txBody>
      </p:sp>
      <p:sp>
        <p:nvSpPr>
          <p:cNvPr id="5" name="Shape 2"/>
          <p:cNvSpPr/>
          <p:nvPr/>
        </p:nvSpPr>
        <p:spPr>
          <a:xfrm>
            <a:off x="7959420" y="91440"/>
            <a:ext cx="3683635" cy="274320"/>
          </a:xfrm>
          <a:prstGeom prst="rect">
            <a:avLst/>
          </a:prstGeom>
          <a:solidFill>
            <a:srgbClr val="E0F2FE"/>
          </a:solidFill>
          <a:ln w="12700">
            <a:solidFill>
              <a:srgbClr val="0369A1"/>
            </a:solidFill>
            <a:prstDash val="solid"/>
          </a:ln>
        </p:spPr>
      </p:sp>
      <p:sp>
        <p:nvSpPr>
          <p:cNvPr id="6" name="Shape 3"/>
          <p:cNvSpPr/>
          <p:nvPr/>
        </p:nvSpPr>
        <p:spPr>
          <a:xfrm>
            <a:off x="795942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8" name="Text 4"/>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reading a line of assembly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 or value? The crux of memory</a:t>
            </a:r>
            <a:endParaRPr lang="en-US" sz="3200" dirty="0"/>
          </a:p>
        </p:txBody>
      </p:sp>
      <p:sp>
        <p:nvSpPr>
          <p:cNvPr id="3" name="Text 1"/>
          <p:cNvSpPr txBox="1"/>
          <p:nvPr/>
        </p:nvSpPr>
        <p:spPr>
          <a:xfrm>
            <a:off x="548640" y="1417320"/>
            <a:ext cx="45720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Registers (inside the processor)</a:t>
            </a:r>
            <a:endParaRPr lang="en-US" sz="1500" dirty="0"/>
          </a:p>
        </p:txBody>
      </p:sp>
      <p:sp>
        <p:nvSpPr>
          <p:cNvPr id="4" name="Text 2"/>
          <p:cNvSpPr txBox="1"/>
          <p:nvPr/>
        </p:nvSpPr>
        <p:spPr>
          <a:xfrm>
            <a:off x="548640" y="1874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t0</a:t>
            </a:r>
            <a:endParaRPr lang="en-US" sz="2200" dirty="0"/>
          </a:p>
        </p:txBody>
      </p:sp>
      <p:sp>
        <p:nvSpPr>
          <p:cNvPr id="5" name="Text 3"/>
          <p:cNvSpPr txBox="1"/>
          <p:nvPr/>
        </p:nvSpPr>
        <p:spPr>
          <a:xfrm>
            <a:off x="1280160" y="1874520"/>
            <a:ext cx="3291840" cy="685800"/>
          </a:xfrm>
          <a:prstGeom prst="rect">
            <a:avLst/>
          </a:prstGeom>
          <a:solidFill>
            <a:srgbClr val="0E7C86"/>
          </a:solidFill>
          <a:ln>
            <a:solidFill>
              <a:srgbClr val="0E7C86"/>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address of counter</a:t>
            </a:r>
            <a:endParaRPr lang="en-US" sz="1700" dirty="0"/>
          </a:p>
        </p:txBody>
      </p:sp>
      <p:sp>
        <p:nvSpPr>
          <p:cNvPr id="6" name="Text 4"/>
          <p:cNvSpPr txBox="1"/>
          <p:nvPr/>
        </p:nvSpPr>
        <p:spPr>
          <a:xfrm>
            <a:off x="548640" y="3017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t1</a:t>
            </a:r>
            <a:endParaRPr lang="en-US" sz="2200" dirty="0"/>
          </a:p>
        </p:txBody>
      </p:sp>
      <p:sp>
        <p:nvSpPr>
          <p:cNvPr id="7" name="Text 5"/>
          <p:cNvSpPr txBox="1"/>
          <p:nvPr/>
        </p:nvSpPr>
        <p:spPr>
          <a:xfrm>
            <a:off x="1280160" y="3017520"/>
            <a:ext cx="3291840" cy="68580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41  then  42</a:t>
            </a:r>
            <a:endParaRPr lang="en-US" sz="1700" dirty="0"/>
          </a:p>
        </p:txBody>
      </p:sp>
      <p:sp>
        <p:nvSpPr>
          <p:cNvPr id="8" name="Text 6"/>
          <p:cNvSpPr txBox="1"/>
          <p:nvPr/>
        </p:nvSpPr>
        <p:spPr>
          <a:xfrm>
            <a:off x="7498080" y="1417320"/>
            <a:ext cx="41148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Memory (.data section)</a:t>
            </a:r>
            <a:endParaRPr lang="en-US" sz="1500" dirty="0"/>
          </a:p>
        </p:txBody>
      </p:sp>
      <p:sp>
        <p:nvSpPr>
          <p:cNvPr id="9" name="Text 7"/>
          <p:cNvSpPr txBox="1"/>
          <p:nvPr/>
        </p:nvSpPr>
        <p:spPr>
          <a:xfrm>
            <a:off x="7498080" y="18745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0" name="Text 8"/>
          <p:cNvSpPr txBox="1"/>
          <p:nvPr/>
        </p:nvSpPr>
        <p:spPr>
          <a:xfrm>
            <a:off x="7498080" y="2560320"/>
            <a:ext cx="3566160" cy="685800"/>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counter:  41</a:t>
            </a:r>
            <a:endParaRPr lang="en-US" sz="1700" dirty="0"/>
          </a:p>
        </p:txBody>
      </p:sp>
      <p:sp>
        <p:nvSpPr>
          <p:cNvPr id="11" name="Text 9"/>
          <p:cNvSpPr txBox="1"/>
          <p:nvPr/>
        </p:nvSpPr>
        <p:spPr>
          <a:xfrm>
            <a:off x="7498080" y="32461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2" name="Shape 10"/>
          <p:cNvSpPr/>
          <p:nvPr/>
        </p:nvSpPr>
        <p:spPr>
          <a:xfrm>
            <a:off x="4617720" y="2217420"/>
            <a:ext cx="2834640" cy="617220"/>
          </a:xfrm>
          <a:prstGeom prst="line">
            <a:avLst/>
          </a:prstGeom>
          <a:noFill/>
          <a:ln w="28575">
            <a:solidFill>
              <a:srgbClr val="0E7C86"/>
            </a:solidFill>
            <a:prstDash val="solid"/>
            <a:tailEnd type="triangle"/>
          </a:ln>
        </p:spPr>
      </p:sp>
      <p:sp>
        <p:nvSpPr>
          <p:cNvPr id="13" name="Text 11"/>
          <p:cNvSpPr txBox="1"/>
          <p:nvPr/>
        </p:nvSpPr>
        <p:spPr>
          <a:xfrm>
            <a:off x="4846320" y="2011680"/>
            <a:ext cx="2377440" cy="274320"/>
          </a:xfrm>
          <a:prstGeom prst="rect">
            <a:avLst/>
          </a:prstGeom>
          <a:noFill/>
          <a:ln/>
        </p:spPr>
        <p:txBody>
          <a:bodyPr wrap="square" lIns="0" tIns="0" rIns="0" bIns="0" rtlCol="0" anchor="t"/>
          <a:lstStyle/>
          <a:p>
            <a:pPr algn="ctr" indent="0" marL="0">
              <a:buNone/>
            </a:pPr>
            <a:r>
              <a:rPr lang="en-US" sz="1300" i="1" dirty="0">
                <a:solidFill>
                  <a:srgbClr val="0E7C86"/>
                </a:solidFill>
                <a:latin typeface="Calibri" pitchFamily="34" charset="0"/>
                <a:ea typeface="Calibri" pitchFamily="34" charset="-122"/>
                <a:cs typeface="Calibri" pitchFamily="34" charset="-120"/>
              </a:rPr>
              <a:t>t0 points here</a:t>
            </a:r>
            <a:endParaRPr lang="en-US" sz="1300" dirty="0"/>
          </a:p>
        </p:txBody>
      </p:sp>
      <p:sp>
        <p:nvSpPr>
          <p:cNvPr id="14" name="Shape 12"/>
          <p:cNvSpPr/>
          <p:nvPr/>
        </p:nvSpPr>
        <p:spPr>
          <a:xfrm flipH="1">
            <a:off x="4617720" y="3017520"/>
            <a:ext cx="2834640" cy="228600"/>
          </a:xfrm>
          <a:prstGeom prst="line">
            <a:avLst/>
          </a:prstGeom>
          <a:noFill/>
          <a:ln w="28575">
            <a:solidFill>
              <a:srgbClr val="C7791B"/>
            </a:solidFill>
            <a:prstDash val="solid"/>
            <a:tailEnd type="triangle"/>
          </a:ln>
        </p:spPr>
      </p:sp>
      <p:sp>
        <p:nvSpPr>
          <p:cNvPr id="15" name="Text 13"/>
          <p:cNvSpPr txBox="1"/>
          <p:nvPr/>
        </p:nvSpPr>
        <p:spPr>
          <a:xfrm>
            <a:off x="4754880" y="3291840"/>
            <a:ext cx="2651760" cy="274320"/>
          </a:xfrm>
          <a:prstGeom prst="rect">
            <a:avLst/>
          </a:prstGeom>
          <a:noFill/>
          <a:ln/>
        </p:spPr>
        <p:txBody>
          <a:bodyPr wrap="square" lIns="0" tIns="0" rIns="0" bIns="0" rtlCol="0" anchor="t"/>
          <a:lstStyle/>
          <a:p>
            <a:pPr algn="ctr" indent="0" marL="0">
              <a:buNone/>
            </a:pPr>
            <a:r>
              <a:rPr lang="en-US" sz="1300" i="1" dirty="0">
                <a:solidFill>
                  <a:srgbClr val="C7791B"/>
                </a:solidFill>
                <a:latin typeface="Calibri" pitchFamily="34" charset="0"/>
                <a:ea typeface="Calibri" pitchFamily="34" charset="-122"/>
                <a:cs typeface="Calibri" pitchFamily="34" charset="-120"/>
              </a:rPr>
              <a:t>lw copies the contents</a:t>
            </a:r>
            <a:endParaRPr lang="en-US" sz="1300" dirty="0"/>
          </a:p>
        </p:txBody>
      </p:sp>
      <p:sp>
        <p:nvSpPr>
          <p:cNvPr id="16" name="Shape 14"/>
          <p:cNvSpPr/>
          <p:nvPr/>
        </p:nvSpPr>
        <p:spPr>
          <a:xfrm>
            <a:off x="548640" y="3977640"/>
            <a:ext cx="7315200" cy="2194560"/>
          </a:xfrm>
          <a:prstGeom prst="roundRect">
            <a:avLst>
              <a:gd name="adj" fmla="val 3333"/>
            </a:avLst>
          </a:prstGeom>
          <a:solidFill>
            <a:srgbClr val="12202B"/>
          </a:solidFill>
          <a:ln w="12700">
            <a:solidFill>
              <a:srgbClr val="12202B"/>
            </a:solidFill>
            <a:prstDash val="solid"/>
          </a:ln>
        </p:spPr>
      </p:sp>
      <p:sp>
        <p:nvSpPr>
          <p:cNvPr id="17" name="Text 15"/>
          <p:cNvSpPr txBox="1"/>
          <p:nvPr/>
        </p:nvSpPr>
        <p:spPr>
          <a:xfrm>
            <a:off x="777240" y="4160520"/>
            <a:ext cx="6858000" cy="182880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WHERE the value lives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WHAT is stored there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t1, t1, 1      </a:t>
            </a:r>
            <a:pPr indent="0" marL="0">
              <a:buNone/>
            </a:pPr>
            <a:r>
              <a:rPr lang="en-US" sz="1500" dirty="0">
                <a:solidFill>
                  <a:srgbClr val="8FB3A0"/>
                </a:solidFill>
                <a:latin typeface="Courier New" pitchFamily="34" charset="0"/>
                <a:ea typeface="Courier New" pitchFamily="34" charset="-122"/>
                <a:cs typeface="Courier New" pitchFamily="34" charset="-120"/>
              </a:rPr>
              <a:t># change the copy in the register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sw   t1, 0(t0)      </a:t>
            </a:r>
            <a:pPr indent="0" marL="0">
              <a:buNone/>
            </a:pPr>
            <a:r>
              <a:rPr lang="en-US" sz="1500" dirty="0">
                <a:solidFill>
                  <a:srgbClr val="8FB3A0"/>
                </a:solidFill>
                <a:latin typeface="Courier New" pitchFamily="34" charset="0"/>
                <a:ea typeface="Courier New" pitchFamily="34" charset="-122"/>
                <a:cs typeface="Courier New" pitchFamily="34" charset="-120"/>
              </a:rPr>
              <a:t># memory still says 41 until this line</a:t>
            </a:r>
            <a:endParaRPr lang="en-US" sz="1500" dirty="0"/>
          </a:p>
        </p:txBody>
      </p:sp>
      <p:sp>
        <p:nvSpPr>
          <p:cNvPr id="18" name="Shape 16"/>
          <p:cNvSpPr/>
          <p:nvPr/>
        </p:nvSpPr>
        <p:spPr>
          <a:xfrm>
            <a:off x="8229600" y="3977640"/>
            <a:ext cx="3413455" cy="2194560"/>
          </a:xfrm>
          <a:prstGeom prst="roundRect">
            <a:avLst>
              <a:gd name="adj" fmla="val 3333"/>
            </a:avLst>
          </a:prstGeom>
          <a:solidFill>
            <a:srgbClr val="F3DDE0"/>
          </a:solidFill>
          <a:ln w="12700">
            <a:solidFill>
              <a:srgbClr val="F3DDE0"/>
            </a:solidFill>
            <a:prstDash val="solid"/>
          </a:ln>
        </p:spPr>
      </p:sp>
      <p:sp>
        <p:nvSpPr>
          <p:cNvPr id="19" name="Text 17"/>
          <p:cNvSpPr txBox="1"/>
          <p:nvPr/>
        </p:nvSpPr>
        <p:spPr>
          <a:xfrm>
            <a:off x="8412480" y="4069080"/>
            <a:ext cx="3047695" cy="201168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Using an address where a value belongs, or the reverse, is one of the most common beginner errors. Comment every register: ADDRESS or VALUE.</a:t>
            </a:r>
            <a:endParaRPr lang="en-US" sz="1550" dirty="0"/>
          </a:p>
        </p:txBody>
      </p:sp>
      <p:sp>
        <p:nvSpPr>
          <p:cNvPr id="20" name="Shape 18"/>
          <p:cNvSpPr/>
          <p:nvPr/>
        </p:nvSpPr>
        <p:spPr>
          <a:xfrm>
            <a:off x="7480249" y="91440"/>
            <a:ext cx="4162806" cy="274320"/>
          </a:xfrm>
          <a:prstGeom prst="rect">
            <a:avLst/>
          </a:prstGeom>
          <a:solidFill>
            <a:srgbClr val="F3E8FF"/>
          </a:solidFill>
          <a:ln w="12700">
            <a:solidFill>
              <a:srgbClr val="7E22CE"/>
            </a:solidFill>
            <a:prstDash val="dash"/>
          </a:ln>
        </p:spPr>
      </p:sp>
      <p:sp>
        <p:nvSpPr>
          <p:cNvPr id="21" name="Shape 19"/>
          <p:cNvSpPr/>
          <p:nvPr/>
        </p:nvSpPr>
        <p:spPr>
          <a:xfrm>
            <a:off x="7507681" y="128016"/>
            <a:ext cx="45720" cy="45720"/>
          </a:xfrm>
          <a:prstGeom prst="rect">
            <a:avLst/>
          </a:prstGeom>
          <a:solidFill>
            <a:srgbClr val="7E22CE"/>
          </a:solidFill>
          <a:ln w="12700">
            <a:solidFill>
              <a:srgbClr val="7E22CE"/>
            </a:solidFill>
            <a:prstDash val="solid"/>
          </a:ln>
        </p:spPr>
      </p:sp>
      <p:sp>
        <p:nvSpPr>
          <p:cNvPr id="22" name="Shape 20"/>
          <p:cNvSpPr/>
          <p:nvPr/>
        </p:nvSpPr>
        <p:spPr>
          <a:xfrm>
            <a:off x="7507681" y="205740"/>
            <a:ext cx="45720" cy="45720"/>
          </a:xfrm>
          <a:prstGeom prst="rect">
            <a:avLst/>
          </a:prstGeom>
          <a:solidFill>
            <a:srgbClr val="7E22CE"/>
          </a:solidFill>
          <a:ln w="12700">
            <a:solidFill>
              <a:srgbClr val="7E22CE"/>
            </a:solidFill>
            <a:prstDash val="solid"/>
          </a:ln>
        </p:spPr>
      </p:sp>
      <p:sp>
        <p:nvSpPr>
          <p:cNvPr id="23" name="Shape 21"/>
          <p:cNvSpPr/>
          <p:nvPr/>
        </p:nvSpPr>
        <p:spPr>
          <a:xfrm>
            <a:off x="7507681" y="283464"/>
            <a:ext cx="45720" cy="45720"/>
          </a:xfrm>
          <a:prstGeom prst="rect">
            <a:avLst/>
          </a:prstGeom>
          <a:solidFill>
            <a:srgbClr val="7E22CE"/>
          </a:solidFill>
          <a:ln w="12700">
            <a:solidFill>
              <a:srgbClr val="7E22CE"/>
            </a:solidFill>
            <a:prstDash val="solid"/>
          </a:ln>
        </p:spPr>
      </p:sp>
      <p:pic>
        <p:nvPicPr>
          <p:cNvPr id="24" name="Image 0" descr="preencoded.png">    </p:cNvPr>
          <p:cNvPicPr>
            <a:picLocks noChangeAspect="1"/>
          </p:cNvPicPr>
          <p:nvPr/>
        </p:nvPicPr>
        <p:blipFill>
          <a:blip r:embed="rId1"/>
          <a:stretch>
            <a:fillRect/>
          </a:stretch>
        </p:blipFill>
        <p:spPr>
          <a:xfrm>
            <a:off x="7608265" y="128016"/>
            <a:ext cx="201168" cy="201168"/>
          </a:xfrm>
          <a:prstGeom prst="rect">
            <a:avLst/>
          </a:prstGeom>
        </p:spPr>
      </p:pic>
      <p:sp>
        <p:nvSpPr>
          <p:cNvPr id="25" name="Text 22"/>
          <p:cNvSpPr txBox="1"/>
          <p:nvPr/>
        </p:nvSpPr>
        <p:spPr>
          <a:xfrm>
            <a:off x="7864297" y="91440"/>
            <a:ext cx="3742182"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addressing modes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26" name="Shape 23"/>
          <p:cNvSpPr/>
          <p:nvPr/>
        </p:nvSpPr>
        <p:spPr>
          <a:xfrm>
            <a:off x="3621227" y="91440"/>
            <a:ext cx="3749294" cy="274320"/>
          </a:xfrm>
          <a:prstGeom prst="rect">
            <a:avLst/>
          </a:prstGeom>
          <a:solidFill>
            <a:srgbClr val="E0F2FE"/>
          </a:solidFill>
          <a:ln w="12700">
            <a:solidFill>
              <a:srgbClr val="0369A1"/>
            </a:solidFill>
            <a:prstDash val="solid"/>
          </a:ln>
        </p:spPr>
      </p:sp>
      <p:sp>
        <p:nvSpPr>
          <p:cNvPr id="27" name="Shape 24"/>
          <p:cNvSpPr/>
          <p:nvPr/>
        </p:nvSpPr>
        <p:spPr>
          <a:xfrm>
            <a:off x="3621227" y="91440"/>
            <a:ext cx="73152" cy="274320"/>
          </a:xfrm>
          <a:prstGeom prst="rect">
            <a:avLst/>
          </a:prstGeom>
          <a:solidFill>
            <a:srgbClr val="0369A1"/>
          </a:solidFill>
          <a:ln w="12700">
            <a:solidFill>
              <a:srgbClr val="0369A1"/>
            </a:solidFill>
            <a:prstDash val="solid"/>
          </a:ln>
        </p:spPr>
      </p:sp>
      <p:pic>
        <p:nvPicPr>
          <p:cNvPr id="28"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29" name="Text 25"/>
          <p:cNvSpPr txBox="1"/>
          <p:nvPr/>
        </p:nvSpPr>
        <p:spPr>
          <a:xfrm>
            <a:off x="4005275"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instructions you have just used</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72967"/>
                <a:gridCol w="2817629"/>
                <a:gridCol w="3698138"/>
                <a:gridCol w="290568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Family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Arithmetic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sub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combine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Logic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or, xor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operation on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andi, ori, xori</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register and one small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sw</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 32-bit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0(t0)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to a function and come back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prg32_gfx_rect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base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Pseudo-instructions: shortcuts the assembler expands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4622673"/>
                <a:gridCol w="369813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write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assembler emits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Meaning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li t0,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zero,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a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mv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t1,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copy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la t0, counter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auipc t0, ... + addi t0, t0,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the address of a 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jalr zero, 0(ra)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jump to the address in 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beqz t0,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zero,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branch if t0 is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pseudo-instructions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instruction is one 32-bit number</a:t>
            </a:r>
            <a:endParaRPr lang="en-US" sz="3200" dirty="0"/>
          </a:p>
        </p:txBody>
      </p:sp>
      <p:sp>
        <p:nvSpPr>
          <p:cNvPr id="3" name="Text 1"/>
          <p:cNvSpPr txBox="1"/>
          <p:nvPr/>
        </p:nvSpPr>
        <p:spPr>
          <a:xfrm>
            <a:off x="548640" y="1417320"/>
            <a:ext cx="11094415" cy="548640"/>
          </a:xfrm>
          <a:prstGeom prst="rect">
            <a:avLst/>
          </a:prstGeom>
          <a:noFill/>
          <a:ln/>
        </p:spPr>
        <p:txBody>
          <a:bodyPr wrap="square" lIns="0" tIns="0" rIns="0" bIns="0" rtlCol="0" anchor="t"/>
          <a:lstStyle/>
          <a:p>
            <a:pPr algn="ctr" indent="0" marL="0">
              <a:buNone/>
            </a:pPr>
            <a:r>
              <a:rPr lang="en-US" sz="2800" b="1" dirty="0">
                <a:solidFill>
                  <a:srgbClr val="2E4A62"/>
                </a:solidFill>
                <a:latin typeface="Courier New" pitchFamily="34" charset="0"/>
                <a:ea typeface="Courier New" pitchFamily="34" charset="-122"/>
                <a:cs typeface="Courier New" pitchFamily="34" charset="-120"/>
              </a:rPr>
              <a:t>addi t1, t1, 1</a:t>
            </a:r>
            <a:endParaRPr lang="en-US" sz="2800" dirty="0"/>
          </a:p>
        </p:txBody>
      </p:sp>
      <p:sp>
        <p:nvSpPr>
          <p:cNvPr id="4" name="Text 2"/>
          <p:cNvSpPr txBox="1"/>
          <p:nvPr/>
        </p:nvSpPr>
        <p:spPr>
          <a:xfrm>
            <a:off x="914400" y="2560320"/>
            <a:ext cx="3806308"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000000000001</a:t>
            </a:r>
            <a:endParaRPr lang="en-US" sz="1700" dirty="0"/>
          </a:p>
        </p:txBody>
      </p:sp>
      <p:sp>
        <p:nvSpPr>
          <p:cNvPr id="5" name="Text 3"/>
          <p:cNvSpPr txBox="1"/>
          <p:nvPr/>
        </p:nvSpPr>
        <p:spPr>
          <a:xfrm>
            <a:off x="914400" y="3346704"/>
            <a:ext cx="380630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the constant 1</a:t>
            </a:r>
            <a:endParaRPr lang="en-US" sz="1300" dirty="0"/>
          </a:p>
        </p:txBody>
      </p:sp>
      <p:sp>
        <p:nvSpPr>
          <p:cNvPr id="6" name="Text 4"/>
          <p:cNvSpPr txBox="1"/>
          <p:nvPr/>
        </p:nvSpPr>
        <p:spPr>
          <a:xfrm>
            <a:off x="950976" y="232257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2817554" y="232257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8" name="Text 6"/>
          <p:cNvSpPr txBox="1"/>
          <p:nvPr/>
        </p:nvSpPr>
        <p:spPr>
          <a:xfrm>
            <a:off x="4720708" y="2560320"/>
            <a:ext cx="1585962"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9" name="Text 7"/>
          <p:cNvSpPr txBox="1"/>
          <p:nvPr/>
        </p:nvSpPr>
        <p:spPr>
          <a:xfrm>
            <a:off x="4720708"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0" name="Text 8"/>
          <p:cNvSpPr txBox="1"/>
          <p:nvPr/>
        </p:nvSpPr>
        <p:spPr>
          <a:xfrm>
            <a:off x="4757284"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1" name="Text 9"/>
          <p:cNvSpPr txBox="1"/>
          <p:nvPr/>
        </p:nvSpPr>
        <p:spPr>
          <a:xfrm>
            <a:off x="5513689"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2" name="Text 10"/>
          <p:cNvSpPr txBox="1"/>
          <p:nvPr/>
        </p:nvSpPr>
        <p:spPr>
          <a:xfrm>
            <a:off x="6306670" y="2560320"/>
            <a:ext cx="1164317" cy="73152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a:t>
            </a:r>
            <a:endParaRPr lang="en-US" sz="1700" dirty="0"/>
          </a:p>
        </p:txBody>
      </p:sp>
      <p:sp>
        <p:nvSpPr>
          <p:cNvPr id="13" name="Text 11"/>
          <p:cNvSpPr txBox="1"/>
          <p:nvPr/>
        </p:nvSpPr>
        <p:spPr>
          <a:xfrm>
            <a:off x="6306670" y="3346704"/>
            <a:ext cx="116431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4" name="Text 12"/>
          <p:cNvSpPr txBox="1"/>
          <p:nvPr/>
        </p:nvSpPr>
        <p:spPr>
          <a:xfrm>
            <a:off x="6343246" y="232257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888828" y="232257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470987" y="2560320"/>
            <a:ext cx="1585962" cy="73152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17" name="Text 15"/>
          <p:cNvSpPr txBox="1"/>
          <p:nvPr/>
        </p:nvSpPr>
        <p:spPr>
          <a:xfrm>
            <a:off x="7470987"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8" name="Text 16"/>
          <p:cNvSpPr txBox="1"/>
          <p:nvPr/>
        </p:nvSpPr>
        <p:spPr>
          <a:xfrm>
            <a:off x="7507563"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9" name="Text 17"/>
          <p:cNvSpPr txBox="1"/>
          <p:nvPr/>
        </p:nvSpPr>
        <p:spPr>
          <a:xfrm>
            <a:off x="8263968"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0" name="Text 18"/>
          <p:cNvSpPr txBox="1"/>
          <p:nvPr/>
        </p:nvSpPr>
        <p:spPr>
          <a:xfrm>
            <a:off x="9056949" y="2560320"/>
            <a:ext cx="2220347" cy="73152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0010011</a:t>
            </a:r>
            <a:endParaRPr lang="en-US" sz="1700" dirty="0"/>
          </a:p>
        </p:txBody>
      </p:sp>
      <p:sp>
        <p:nvSpPr>
          <p:cNvPr id="21" name="Text 19"/>
          <p:cNvSpPr txBox="1"/>
          <p:nvPr/>
        </p:nvSpPr>
        <p:spPr>
          <a:xfrm>
            <a:off x="9056949" y="3346704"/>
            <a:ext cx="222034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register-immediate</a:t>
            </a:r>
            <a:endParaRPr lang="en-US" sz="1300" dirty="0"/>
          </a:p>
        </p:txBody>
      </p:sp>
      <p:sp>
        <p:nvSpPr>
          <p:cNvPr id="22" name="Text 20"/>
          <p:cNvSpPr txBox="1"/>
          <p:nvPr/>
        </p:nvSpPr>
        <p:spPr>
          <a:xfrm>
            <a:off x="9093525" y="232257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3" name="Text 21"/>
          <p:cNvSpPr txBox="1"/>
          <p:nvPr/>
        </p:nvSpPr>
        <p:spPr>
          <a:xfrm>
            <a:off x="10167122" y="232257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4" name="Text 22"/>
          <p:cNvSpPr txBox="1"/>
          <p:nvPr/>
        </p:nvSpPr>
        <p:spPr>
          <a:xfrm>
            <a:off x="548640" y="4206240"/>
            <a:ext cx="11094415" cy="640080"/>
          </a:xfrm>
          <a:prstGeom prst="rect">
            <a:avLst/>
          </a:prstGeom>
          <a:no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0x00130313</a:t>
            </a:r>
            <a:endParaRPr lang="en-US" sz="3400" dirty="0"/>
          </a:p>
        </p:txBody>
      </p:sp>
      <p:sp>
        <p:nvSpPr>
          <p:cNvPr id="25" name="Shape 23"/>
          <p:cNvSpPr/>
          <p:nvPr/>
        </p:nvSpPr>
        <p:spPr>
          <a:xfrm>
            <a:off x="548640" y="5074920"/>
            <a:ext cx="11094415" cy="1097280"/>
          </a:xfrm>
          <a:prstGeom prst="roundRect">
            <a:avLst>
              <a:gd name="adj" fmla="val 6667"/>
            </a:avLst>
          </a:prstGeom>
          <a:solidFill>
            <a:srgbClr val="D8ECEE"/>
          </a:solidFill>
          <a:ln w="12700">
            <a:solidFill>
              <a:srgbClr val="D8ECEE"/>
            </a:solidFill>
            <a:prstDash val="solid"/>
          </a:ln>
        </p:spPr>
      </p:sp>
      <p:sp>
        <p:nvSpPr>
          <p:cNvPr id="26" name="Text 24"/>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Assembly is a readable spelling of machine code. The assembler translates each line into one 32-bit word; the processor reads the fields with logic circuits that we will design ourselves later in the course.</a:t>
            </a:r>
            <a:endParaRPr lang="en-US" sz="1700" dirty="0"/>
          </a:p>
        </p:txBody>
      </p:sp>
      <p:sp>
        <p:nvSpPr>
          <p:cNvPr id="27" name="Shape 25"/>
          <p:cNvSpPr/>
          <p:nvPr/>
        </p:nvSpPr>
        <p:spPr>
          <a:xfrm>
            <a:off x="7283272" y="91440"/>
            <a:ext cx="4359783" cy="274320"/>
          </a:xfrm>
          <a:prstGeom prst="rect">
            <a:avLst/>
          </a:prstGeom>
          <a:solidFill>
            <a:srgbClr val="F3E8FF"/>
          </a:solidFill>
          <a:ln w="12700">
            <a:solidFill>
              <a:srgbClr val="7E22CE"/>
            </a:solidFill>
            <a:prstDash val="dash"/>
          </a:ln>
        </p:spPr>
      </p:sp>
      <p:sp>
        <p:nvSpPr>
          <p:cNvPr id="28" name="Shape 26"/>
          <p:cNvSpPr/>
          <p:nvPr/>
        </p:nvSpPr>
        <p:spPr>
          <a:xfrm>
            <a:off x="7310704" y="128016"/>
            <a:ext cx="45720" cy="45720"/>
          </a:xfrm>
          <a:prstGeom prst="rect">
            <a:avLst/>
          </a:prstGeom>
          <a:solidFill>
            <a:srgbClr val="7E22CE"/>
          </a:solidFill>
          <a:ln w="12700">
            <a:solidFill>
              <a:srgbClr val="7E22CE"/>
            </a:solidFill>
            <a:prstDash val="solid"/>
          </a:ln>
        </p:spPr>
      </p:sp>
      <p:sp>
        <p:nvSpPr>
          <p:cNvPr id="29" name="Shape 27"/>
          <p:cNvSpPr/>
          <p:nvPr/>
        </p:nvSpPr>
        <p:spPr>
          <a:xfrm>
            <a:off x="7310704" y="205740"/>
            <a:ext cx="45720" cy="45720"/>
          </a:xfrm>
          <a:prstGeom prst="rect">
            <a:avLst/>
          </a:prstGeom>
          <a:solidFill>
            <a:srgbClr val="7E22CE"/>
          </a:solidFill>
          <a:ln w="12700">
            <a:solidFill>
              <a:srgbClr val="7E22CE"/>
            </a:solidFill>
            <a:prstDash val="solid"/>
          </a:ln>
        </p:spPr>
      </p:sp>
      <p:sp>
        <p:nvSpPr>
          <p:cNvPr id="30" name="Shape 28"/>
          <p:cNvSpPr/>
          <p:nvPr/>
        </p:nvSpPr>
        <p:spPr>
          <a:xfrm>
            <a:off x="7310704" y="283464"/>
            <a:ext cx="45720" cy="45720"/>
          </a:xfrm>
          <a:prstGeom prst="rect">
            <a:avLst/>
          </a:prstGeom>
          <a:solidFill>
            <a:srgbClr val="7E22CE"/>
          </a:solidFill>
          <a:ln w="12700">
            <a:solidFill>
              <a:srgbClr val="7E22CE"/>
            </a:solidFill>
            <a:prstDash val="solid"/>
          </a:ln>
        </p:spPr>
      </p:sp>
      <p:pic>
        <p:nvPicPr>
          <p:cNvPr id="31" name="Image 0" descr="preencoded.png">    </p:cNvPr>
          <p:cNvPicPr>
            <a:picLocks noChangeAspect="1"/>
          </p:cNvPicPr>
          <p:nvPr/>
        </p:nvPicPr>
        <p:blipFill>
          <a:blip r:embed="rId1"/>
          <a:stretch>
            <a:fillRect/>
          </a:stretch>
        </p:blipFill>
        <p:spPr>
          <a:xfrm>
            <a:off x="7411288" y="128016"/>
            <a:ext cx="201168" cy="201168"/>
          </a:xfrm>
          <a:prstGeom prst="rect">
            <a:avLst/>
          </a:prstGeom>
        </p:spPr>
      </p:pic>
      <p:sp>
        <p:nvSpPr>
          <p:cNvPr id="32" name="Text 29"/>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instruction formats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33" name="Shape 30"/>
          <p:cNvSpPr/>
          <p:nvPr/>
        </p:nvSpPr>
        <p:spPr>
          <a:xfrm>
            <a:off x="3489909" y="91440"/>
            <a:ext cx="3683635" cy="274320"/>
          </a:xfrm>
          <a:prstGeom prst="rect">
            <a:avLst/>
          </a:prstGeom>
          <a:solidFill>
            <a:srgbClr val="E0F2FE"/>
          </a:solidFill>
          <a:ln w="12700">
            <a:solidFill>
              <a:srgbClr val="0369A1"/>
            </a:solidFill>
            <a:prstDash val="solid"/>
          </a:ln>
        </p:spPr>
      </p:sp>
      <p:sp>
        <p:nvSpPr>
          <p:cNvPr id="34" name="Shape 31"/>
          <p:cNvSpPr/>
          <p:nvPr/>
        </p:nvSpPr>
        <p:spPr>
          <a:xfrm>
            <a:off x="3489909" y="91440"/>
            <a:ext cx="73152" cy="274320"/>
          </a:xfrm>
          <a:prstGeom prst="rect">
            <a:avLst/>
          </a:prstGeom>
          <a:solidFill>
            <a:srgbClr val="0369A1"/>
          </a:solidFill>
          <a:ln w="12700">
            <a:solidFill>
              <a:srgbClr val="0369A1"/>
            </a:solidFill>
            <a:prstDash val="solid"/>
          </a:ln>
        </p:spPr>
      </p:sp>
      <p:pic>
        <p:nvPicPr>
          <p:cNvPr id="35" name="Image 1" descr="preencoded.png">    </p:cNvPr>
          <p:cNvPicPr>
            <a:picLocks noChangeAspect="1"/>
          </p:cNvPicPr>
          <p:nvPr/>
        </p:nvPicPr>
        <p:blipFill>
          <a:blip r:embed="rId2"/>
          <a:stretch>
            <a:fillRect/>
          </a:stretch>
        </p:blipFill>
        <p:spPr>
          <a:xfrm>
            <a:off x="3617925" y="128016"/>
            <a:ext cx="201168" cy="201168"/>
          </a:xfrm>
          <a:prstGeom prst="rect">
            <a:avLst/>
          </a:prstGeom>
        </p:spPr>
      </p:pic>
      <p:sp>
        <p:nvSpPr>
          <p:cNvPr id="36" name="Text 32"/>
          <p:cNvSpPr txBox="1"/>
          <p:nvPr/>
        </p:nvSpPr>
        <p:spPr>
          <a:xfrm>
            <a:off x="3873957"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 instruction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Checkpoint 2: trace first_update by hand</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3452"/>
                <a:gridCol w="2253553"/>
                <a:gridCol w="2426903"/>
                <a:gridCol w="2600254"/>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lw: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addi: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sw: counter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Bar width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Fill in the rows marked ?, then check them in PRG32-QT. What happens to the bar at frame 256, and why?</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tracing by hand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Not expected yet: what later lectures explain</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57786"/>
                <a:gridCol w="4652497"/>
                <a:gridCol w="2684133"/>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The question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Answered 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0x07e0, 0xffff, 255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Why do programmers write numbers in hexadecimal?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Lectures 04 and 05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position below zero shown as 0xFFFFFFFF</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How does a register hold a negative number?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Lecture 05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ball that moves less than a pixel per frame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How do we represent fractions without an FPU?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Lecture 06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andi a2, t1, 255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What does AND do to thirty-two bits at once?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Lectures 08 and 09</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addi t1, t1, 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Which circuit actually adds two numbers?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Lecture 09: the adders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pressed button is a 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What is a bit made of, physically?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Lecture 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counter survives between frames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How does a circuit remember a bit?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Lectures 13 and 15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0x00130313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How does the processor decode and execute it?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Lectures 18 and 19</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three functions and a rectangle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Can I make a whole game out of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Verm1: 07, 12, 17, 22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31606" y="91440"/>
            <a:ext cx="3211449" cy="274320"/>
          </a:xfrm>
          <a:prstGeom prst="rect">
            <a:avLst/>
          </a:prstGeom>
          <a:solidFill>
            <a:srgbClr val="F3E8FF"/>
          </a:solidFill>
          <a:ln w="12700">
            <a:solidFill>
              <a:srgbClr val="7E22CE"/>
            </a:solidFill>
            <a:prstDash val="dash"/>
          </a:ln>
        </p:spPr>
      </p:sp>
      <p:sp>
        <p:nvSpPr>
          <p:cNvPr id="5" name="Shape 2"/>
          <p:cNvSpPr/>
          <p:nvPr/>
        </p:nvSpPr>
        <p:spPr>
          <a:xfrm>
            <a:off x="8459038" y="128016"/>
            <a:ext cx="45720" cy="45720"/>
          </a:xfrm>
          <a:prstGeom prst="rect">
            <a:avLst/>
          </a:prstGeom>
          <a:solidFill>
            <a:srgbClr val="7E22CE"/>
          </a:solidFill>
          <a:ln w="12700">
            <a:solidFill>
              <a:srgbClr val="7E22CE"/>
            </a:solidFill>
            <a:prstDash val="solid"/>
          </a:ln>
        </p:spPr>
      </p:sp>
      <p:sp>
        <p:nvSpPr>
          <p:cNvPr id="6" name="Shape 3"/>
          <p:cNvSpPr/>
          <p:nvPr/>
        </p:nvSpPr>
        <p:spPr>
          <a:xfrm>
            <a:off x="8459038" y="205740"/>
            <a:ext cx="45720" cy="45720"/>
          </a:xfrm>
          <a:prstGeom prst="rect">
            <a:avLst/>
          </a:prstGeom>
          <a:solidFill>
            <a:srgbClr val="7E22CE"/>
          </a:solidFill>
          <a:ln w="12700">
            <a:solidFill>
              <a:srgbClr val="7E22CE"/>
            </a:solidFill>
            <a:prstDash val="solid"/>
          </a:ln>
        </p:spPr>
      </p:sp>
      <p:sp>
        <p:nvSpPr>
          <p:cNvPr id="7" name="Shape 4"/>
          <p:cNvSpPr/>
          <p:nvPr/>
        </p:nvSpPr>
        <p:spPr>
          <a:xfrm>
            <a:off x="8459038"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8559622" y="128016"/>
            <a:ext cx="201168" cy="201168"/>
          </a:xfrm>
          <a:prstGeom prst="rect">
            <a:avLst/>
          </a:prstGeom>
        </p:spPr>
      </p:pic>
      <p:sp>
        <p:nvSpPr>
          <p:cNvPr id="9" name="Text 5"/>
          <p:cNvSpPr txBox="1"/>
          <p:nvPr/>
        </p:nvSpPr>
        <p:spPr>
          <a:xfrm>
            <a:off x="8815654" y="91440"/>
            <a:ext cx="279082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b="1" dirty="0">
                <a:solidFill>
                  <a:srgbClr val="6B21A8"/>
                </a:solidFill>
                <a:latin typeface="Calibri" pitchFamily="34" charset="0"/>
                <a:ea typeface="Calibri" pitchFamily="34" charset="-122"/>
                <a:cs typeface="Calibri" pitchFamily="34" charset="-120"/>
              </a:rPr>
              <a:t> → Lectures 04–19</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Today's thread, and where it leads</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cartridge</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init once; update and draw at every frame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registers</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values while they are computed</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variables at addresses, kept between frames</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la, lw, addi, sw</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load, modify, store</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trace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predict the screen before you run</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Next: Lecture 03, where these ideas come from. The numbers: Lectures 04 to 06. The stack and the calling convention: Lecture 18. The encoding of an instruction: Lecture 19.</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la t0, counter and lw t1, 0(t0), what does t0 hold?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value of the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address of the counter</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 because la clears the register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return address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function that calls prg32_gfx_clear must save one register before the call. Which one?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a0, because it carries the argument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because the stack moves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 because call overwrites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because it is temporary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t1 holds 300. What does andi a2, t1, 255 leave in a2?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number is 0x1F?</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decimal number 1F</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31: one sixteen plus fifteen</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register t1F</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comment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4133"/>
                <a:gridCol w="2863075"/>
                <a:gridCol w="2684133"/>
                <a:gridCol w="286307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caricare / memorizzare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alla 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return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 di ritorno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immediato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calling convention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convenzione di chiamata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branch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salto condizionato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RISC-V processor is thirty-two registers and a small set of instructions that compute, move and jump</a:t>
            </a:r>
            <a:endParaRPr lang="en-US" sz="22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4303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PRG32 game is three functions; arguments travel in a0 to a7; a function that calls another saves ra</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Variables live in memory: la for the address, lw and sw for the value</a:t>
            </a:r>
            <a:endParaRPr lang="en-US" sz="2200" dirty="0"/>
          </a:p>
        </p:txBody>
      </p:sp>
      <p:sp>
        <p:nvSpPr>
          <p:cNvPr id="9" name="Shape 7"/>
          <p:cNvSpPr/>
          <p:nvPr/>
        </p:nvSpPr>
        <p:spPr>
          <a:xfrm>
            <a:off x="548640" y="4260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5359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instruction is a 32-bit number; assembly is its readable spelling</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5: First Contact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docs/learn/tutorial_ascii_game.md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dc:title>
  <dc:subject>Lecture 02</dc:subject>
  <dc:creator>Raffaele Montella</dc:creator>
  <cp:lastModifiedBy>Raffaele Montella</cp:lastModifiedBy>
  <cp:revision>1</cp:revision>
  <dcterms:created xsi:type="dcterms:W3CDTF">2026-10-17T07:16:48Z</dcterms:created>
  <dcterms:modified xsi:type="dcterms:W3CDTF">2026-10-17T07:16:48Z</dcterms:modified>
</cp:coreProperties>
</file>