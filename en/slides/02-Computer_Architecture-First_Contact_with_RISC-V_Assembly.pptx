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24e5298-06f0-f541-0919-6c86e1c033d3}">
          <p14:sldIdLst>
            <p14:sldId id="256"/>
            <p14:sldId id="257"/>
          </p14:sldIdLst>
        </p14:section>
        <p14:section name="The machine" id="{53d5ccb3-342b-0936-bcab-48aa5a2848e9}">
          <p14:sldIdLst>
            <p14:sldId id="258"/>
            <p14:sldId id="259"/>
            <p14:sldId id="260"/>
          </p14:sldIdLst>
        </p14:section>
        <p14:section name="Your first cartridge" id="{dcbee4dd-011b-1323-3725-2402edcecd95}">
          <p14:sldIdLst>
            <p14:sldId id="261"/>
            <p14:sldId id="262"/>
          </p14:sldIdLst>
        </p14:section>
        <p14:section name="Reading what you wrote" id="{7e85c99b-b8cc-1daf-7a9c-3d91dbd69610}">
          <p14:sldIdLst>
            <p14:sldId id="263"/>
            <p14:sldId id="264"/>
            <p14:sldId id="265"/>
            <p14:sldId id="266"/>
            <p14:sldId id="267"/>
          </p14:sldIdLst>
        </p14:section>
        <p14:section name="What comes next" id="{38229497-29bf-018e-4290-7ff5ab891ac3}">
          <p14:sldIdLst>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lecture in which a program is written, and it deliberately precedes any theory. Over two hours the student builds four small cartridges, each a complete program that runs. Full understanding of every detail is neither expected nor required today. The aim is to observe registers, memory and a procedure call at work, so that the lectures that follow have concrete phenomena to explain. The epigraph sets the register of the session: fewer words, more code.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registers, compute, move, jump; registers; the init, update, draw contract; arguments in a0 to a7; why ra is saved; address, value, load, store; the base instructions; pseudo-instructions; an instruction is a number; tracing by hand. USE NOW: the calling convention (Lecture 18); bit masks (Lecture 08) and, used without being studied in this course, the assembler directives, the PRG32 tools, the PRG32 runtime calls, the PRG32-QT debugger, the complete program. UNDERSTAND LATER: the stack (Lecture 18); addressing modes (Lecture 19); instruction formats (Lecture 19); hexadecimal (Lecture 04); two's complement (Lecture 05); fixed point (Lecture 06); Boolean algebra (Lecture 08); the adder (Lecture 09); from volts to bits (Lecture 10); latches and flip-flops (Lecture 13); the processor cycle (Lecture 19); the Verm1 project (Lecture 07). A slide without a badge is context: a story, an example, a question, an exercise.
For the lecturer: New lecture for 2026/27. It is the 'play' turn of the spiral for the whole first half of the course: every later lecture points back to something typed here. The four steps are the verified steps of the textbook lab 05-asm-first-contact; run them live (labs/run.sh 05-asm-first-contact/stepN_....S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The first four are operational: building and running a cartridge, naming the registers, calling a function with its arguments, and preserving a value in memory between frames. The fifth is a change of perspective with lasting consequences: an instruction is a 32-bit number. The sixth is the most important for the course as a whole: the student leaves with a list of questions, each of which is the subject of a later lecture. Today's lecture is therefore as much an inventory of problems as a body of answers.
For the lecturer: Tell the students explicitly that they are not expected to understand everything today. Today is for seeing; the next lectures are for explaining.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machine is described by four cards. There are 32 registers, each holding a 32-bit value, and the processor can operate only on values held in registers. Instructions fall into three classes. Compute: arithmetic and logical operations between registers, such as add or addi. Move: transfers between a register and memory, lw to load a word and sw to store one; no other instruction accesses memory. Jump: instructions that alter which instruction executes next. This is the load-store discipline of RISC-V, and every computation a computer performs is a long sequence of these three kinds.
UNDERSTAND NOW: registers, compute, move, jump.
For the lecturer: That is very nearly the whole machine. The richness of computing comes not from a large instruction set but from combining a small one in long 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registers carry names that reflect their use. a0 to a7 pass the arguments of a call, and a0 also returns the result. t0 to t6 are temporaries, freely usable and not preserved across calls. s0 to s11 are preserved across calls. ra holds the return address, sp the top of the stack, and zero always reads as 0. The caption contains the essential point: these roles are not imposed by the hardware, which treats x1 to x31 identically. They are an agreement, the calling convention, and it is this agreement that allows assembly written by the student and C code of the framework to call one another. It is used today and studied formally in Lecture 18.
UNDERSTAND NOW: registers. USE NOW: the calling convention (studied in Lecture 18).
For the lecturer: The roles are fixed not by the hardware but by an agreement: the calling convention, or ABI. Following it is what lets your assembly and the framework's C code call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interface between a game and PRG32 is a contract of three functions supplied by the programmer. init is called once, when the cartridge starts, to establish the initial state. update is called once per frame, to read the input and modify the state. draw is called once per frame, to render the state as an image. The firmware locates them by name: a prefix chosen by the programmer followed by _init, _update and _draw. The separation of responsibilities should be adopted from the first day: update decides, draw displays, and neither does the other's work.
UNDERSTAND NOW: the init, update, draw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must ra be saved? The instruction call writes into ra the address to which control must return. The callee, however, may itself make calls, each of which overwrites ra. A function that calls another must therefore first preserve its own return address in memory: it decrements sp by 16 to reserve space, the stack frame, and stores ra at 12(sp); after the call it performs the inverse operations. The diagram shows the frame, with the stack growing towards lower addresses; the 16-byte size follows from the alignment that the convention requires of sp. Omitting this pair of operations is the classic first error: the function returns to the wrong place. Why ra is saved must be understood today; the stack as a data structure is treated formally in Lecture 18.
UNDERSTAND NOW: why ra is saved. UNDERSTAND LATER: the stack (studied in Lecture 18).
For the lecturer: The convention requires sp to stay 16-byte aligned across calls, which is why the frame is 16 bytes even though only 4 are used. The stack, with push and pop, is treated formally in Lecture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separates two notions that beginners routinely conflate: an address and a value. After la, t0 contains where the counter is stored; after lw, t1 contains what is stored there, 41 in the diagram. addi modifies the copy in the register to 42, while memory continues to hold 41 until sw writes the new value back. The two arrows should be followed carefully. The box on the right recommends a habit worth adopting at once: annotate every register in the comments as holding either an ADDRESS or a VALUE. This simple discipline prevents the most frequent error of the first month. The ways in which an instruction can designate its operands, the addressing modes, are studied in Lecture 19.
UNDERSTAND NOW: address, value, load, store. UNDERSTAND LATER: addressing modes (studied in Lecture 19).
For the lecturer: A label names a location. la gives the location, lw gives the contents. This is how every variable in every program ultimately works; we return to it formally with addressing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families account for every instruction written today: arithmetic (add, sub), logical (and, or, xor), immediate forms taking a small constant (addi, andi), memory (lw, sw) and control (call, ret). In every instruction the result is written to the first register named: add t0, t1, t2 places t1 + t2 in t0. The base integer instruction set, RV32I, comprises about forty instructions; a quarter of them have already been used.
UNDERSTAND NOW: the base instructions.
For the lecturer: The result goes in the first register. The base RISC-V integer instruction set (RV32I) has about forty instructions; you have already met a quarter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of the instructions written today do not exist in the hardware: they are pseudo-instructions, notational conveniences that the assembler expands into real instructions. li t0, 42 becomes addi t0, zero, 42; mv is an addi with constant 0; ret is an indirect jump to the address in ra; beqz is a comparison with the register zero. The frequency with which zero appears in the middle column is instructive: a register hard-wired to 0 allows a small instruction set to do the work of a much larger one, a characteristic economy of RISC design.
UNDERSTAND NOW: pseudo-instructions.
For the lecturer: A pseudo-instruction is not a separate hardware operation. The register zero is what makes many of them possible: a small instruction set, reused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instruction is a number. addi t1, t1, 1 is the 32-bit word 0x00130313, and the coloured strip shows its fields: twelve bits for the constant 1, five for the source register (t1 is register number 6), three that select the addition, five for the destination register and seven for the opcode, which identifies the class of instruction. The format need not be memorised now; it is the subject of Lecture 19. What matters today is the principle: assembly is a readable notation for machine code, and an instruction stored in memory is data like any other. This is the stored-program idea that the next lecture places in its historical context.
UNDERSTAND NOW: an instruction is a number. UNDERSTAND LATER: instruction formats (studied in Lecture 19).
For the lecturer: Check: 0000 0000 0001 | 00110 | 000 | 00110 | 0010011 = 0000 0000 0001 0011 0000 0011 0001 0011 = 0x00130313. Do not explain the formats now; the point is only that an instruction is data. Lecture 04 (digital information) and the lectures on the processor come back to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executes the same cartridge on the laptop and can halt between any two instructions, displaying every register. It should be used now on the third step: navigate to update, pause, and execute the four instructions of first_update one at a time while observing t0 and t1. Before each step, the expected change should be stated aloud; a prediction made explicit is a prediction that can be wrong, and therefore informative. The final line is a principle worth retaining: the board is the authority on time, PRG32-QT the authority on the content of a register.
USE NOW: the PRG32-QT debugger (used, not studied, in this course).
For the lecturer: Demonstrate live: load step 3, break at first_update, single-step four times. Ask the students to predict each register before pressing the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trace by hand records, frame by frame, what each instruction leaves in t1 and in memory. The early frames hold no surprise. The highlighted row does: at frame 256 the counter reaches 256 and yet the width of the bar is 0, because andi with 255 retains only the eight least significant bits, and 256 in binary is a one followed by eight zeros. The mask operation thus computes the remainder modulo 256, a fact used today and explained in Lecture 08. Tracing by hand is slow and unglamorous, and it is the most valuable debugging skill this course teaches.
UNDERSTAND NOW: tracing by hand.
For the lecturer: The by-hand trace is the most valuable debugging skill of the course. 256 = 1 0000 0000 in binary: the low eight bits are all zero, so the bar restarts.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of the table records something observed today, the question it raises, and the lecture that answers it. Why hexadecimal? Lectures 04 and 05. How does a register hold a negative number? Lecture 05. What does AND do to thirty-two bits at once? Lectures 08 and 09. How does a circuit remember a bit? Lectures 13 and 15. How is 0x00130313 decoded and executed? Lectures 18 and 19. The last row is the project: from three functions and a rectangle to a complete game. The table is the map of the course drawn from the student's own program, and it is worth keeping at hand.
UNDERSTAND LATER: hexadecimal (studied in Lecture 04); two's complement (studied in Lecture 05); fixed point (studied in Lecture 06); Boolean algebra (studied in Lecture 08); the adder (studied in Lecture 09); from volts to bits (studied in Lecture 10); latches and flip-flops (studied in Lecture 13); the processor cycle (studied in Lecture 19); the Verm1 project (studied in Lecture 07).
For the lecturer: This is the forward map of the course. Keep a copy: each later deck opens by pointing at one of these rows. The last row is the project: Verm1 starts in Lecture 07 from exactly the skeleton of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question tests the distinction between address and value. la loads the address of the label into t0; lw then uses t0 to locate the word and copies its content into t1, leaving t0 unchanged. t0 therefore still holds the address. Anyone who chose "the value" should return to the slide with the two arrows.
The second question turns on the effect of call, which writes the return address into ra. A function that must later return to its own caller needs its original ra, which the call has just overwritten. a0 is intended to be overwritten, sp is restored by the callee, and t0 is a temporary that no one has undertaken to preserve.
For the lecturer: 1. Answer: B. la loads the address of the label; lw then reads the value stored at that address into t1.
2. Answer: C. call writes the return address in ra. The callee's own calls would overwrite it, so a non-leaf function saves ra on the stack and restores it before 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calculation is best done in binary. 300 equals 256 + 44: a one in bit position 8 followed by the eight bits of 44. The mask 255 consists of eight ones, so the AND retains the eight least significant bits and clears all others. The result is 44. Subtracting 255 from 300 yields 45, a plausible but wrong answer: a bitwise AND is not a subtraction, and the distinction between arithmetic and logical operations on the same bits recurs throughout the course.
For the lecturer: Answer: D. 300 = 256 + 44 = 1 0010 1100 in binary. AND with 1111 1111 keeps the low eight bits: 0010 1100 =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of the lecture, with the Italian used in class. Load and store are always named from the processor's point of view: a load brings a value from memory into a register, a store sends it back. An immediate is a constant encoded within the instruction itself. A branch is a jump taken only if a condition holds. The calling convention is the agreement governing the roles of the registers across procedure calls.
For the lecturer: The course is taught in Italian; slides, notes and textbook exist in English and in Italian, and the technical documentation of PRG32 is in English. This table is repeated, topic by topic, in every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propositions summarise the lecture. A RISC-V processor consists of thirty-two registers and a small set of instructions that compute, move data and alter control flow. A PRG32 game consists of three functions; arguments travel in a0 to a7, and a function that calls another must save ra. Variables reside in memory: la yields the address, lw and sw the value. An instruction is a 32-bit number, and assembly is its readable notation. The next lecture steps back to trace the history that produced this machine.
Learning status, recap. UNDERSTAND NOW: registers, compute, move, jump; registers; the init, update, draw contract; arguments in a0 to a7; why ra is saved; address, value, load, store; the base instructions; pseudo-instructions; an instruction is a number; tracing by hand. USE NOW: the calling convention (Lecture 18); bit masks (Lecture 08) and, used without being studied in this course, the assembler directives, the PRG32 tools, the PRG32 runtime calls, the PRG32-QT debugger, the complete program. UNDERSTAND LATER: the stack (Lecture 18); addressing modes (Lecture 19); instruction formats (Lecture 19); hexadecimal (Lecture 04); two's complement (Lecture 05); fixed point (Lecture 06); Boolean algebra (Lecture 08); the adder (Lecture 09); from volts to bits (Lecture 10); latches and flip-flops (Lecture 13); the processor cycle (Lecture 19); the Verm1 project (Lecture 07). A slide without a badge is context: a story, an example, a question, an exercise.
For the lecturer: Next lecture: the history that led to this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02: First contact with RISC-V assembly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First Contact: RISC‑V Assembly on PRG32</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Registers, memory and the call: a running program before any theory</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“Talk is cheap. Show me the code.”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Linus Torvalds, Linux kernel mailing list, 2000</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02-Computer_Architecture-First_Contact_with_RISC-V_Assembly-Lab.pptx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1_step4_bar.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Build a cartridge from an assembly file and run it on PRG32</a:t>
            </a:r>
            <a:endParaRPr lang="en-US" sz="2200" dirty="0"/>
          </a:p>
        </p:txBody>
      </p:sp>
      <p:sp>
        <p:nvSpPr>
          <p:cNvPr id="5" name="Text 3"/>
          <p:cNvSpPr txBox="1"/>
          <p:nvPr/>
        </p:nvSpPr>
        <p:spPr>
          <a:xfrm>
            <a:off x="548640" y="225023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3194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what a register is, and name the ones you will use every day</a:t>
            </a:r>
            <a:endParaRPr lang="en-US" sz="2200" dirty="0"/>
          </a:p>
        </p:txBody>
      </p:sp>
      <p:sp>
        <p:nvSpPr>
          <p:cNvPr id="7" name="Text 5"/>
          <p:cNvSpPr txBox="1"/>
          <p:nvPr/>
        </p:nvSpPr>
        <p:spPr>
          <a:xfrm>
            <a:off x="548640" y="30648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465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Call a framework function, passing arguments in registers</a:t>
            </a:r>
            <a:endParaRPr lang="en-US" sz="2200" dirty="0"/>
          </a:p>
        </p:txBody>
      </p:sp>
      <p:sp>
        <p:nvSpPr>
          <p:cNvPr id="9" name="Text 7"/>
          <p:cNvSpPr txBox="1"/>
          <p:nvPr/>
        </p:nvSpPr>
        <p:spPr>
          <a:xfrm>
            <a:off x="548640" y="38794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6120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Keep a value in memory from one frame to the next: load, modify, store</a:t>
            </a:r>
            <a:endParaRPr lang="en-US" sz="2200" dirty="0"/>
          </a:p>
        </p:txBody>
      </p:sp>
      <p:sp>
        <p:nvSpPr>
          <p:cNvPr id="11" name="Text 9"/>
          <p:cNvSpPr txBox="1"/>
          <p:nvPr/>
        </p:nvSpPr>
        <p:spPr>
          <a:xfrm>
            <a:off x="548640" y="469412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7583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one instruction as the 32-bit number it really is</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List the questions this program raises: the rest of the course answers them</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machine you are programming</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32 registers</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Each register holds one 32-bit value. The processor can compute only on values that are in registers.</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Compute</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An arithmetic or logic operation between registers: add, sub, and, or, xor, and their immediate forms such as addi.</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Move</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transfer between a register and memory: lw loads a word, sw stores a word. Nothing else touches memory.</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Jump</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change in which instruction runs next: branches such as beqz, calls and returns.</a:t>
            </a:r>
            <a:endParaRPr lang="en-US" sz="1900" dirty="0"/>
          </a:p>
        </p:txBody>
      </p:sp>
      <p:sp>
        <p:nvSpPr>
          <p:cNvPr id="19" name="Shape 17"/>
          <p:cNvSpPr/>
          <p:nvPr/>
        </p:nvSpPr>
        <p:spPr>
          <a:xfrm>
            <a:off x="7696784" y="91440"/>
            <a:ext cx="3946271" cy="274320"/>
          </a:xfrm>
          <a:prstGeom prst="rect">
            <a:avLst/>
          </a:prstGeom>
          <a:solidFill>
            <a:srgbClr val="E0F2FE"/>
          </a:solidFill>
          <a:ln w="12700">
            <a:solidFill>
              <a:srgbClr val="0369A1"/>
            </a:solidFill>
            <a:prstDash val="solid"/>
          </a:ln>
        </p:spPr>
      </p:sp>
      <p:sp>
        <p:nvSpPr>
          <p:cNvPr id="20" name="Shape 18"/>
          <p:cNvSpPr/>
          <p:nvPr/>
        </p:nvSpPr>
        <p:spPr>
          <a:xfrm>
            <a:off x="7696784"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7824800" y="128016"/>
            <a:ext cx="201168" cy="201168"/>
          </a:xfrm>
          <a:prstGeom prst="rect">
            <a:avLst/>
          </a:prstGeom>
        </p:spPr>
      </p:pic>
      <p:sp>
        <p:nvSpPr>
          <p:cNvPr id="22" name="Text 19"/>
          <p:cNvSpPr txBox="1"/>
          <p:nvPr/>
        </p:nvSpPr>
        <p:spPr>
          <a:xfrm>
            <a:off x="8080832" y="91440"/>
            <a:ext cx="352564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compute, move, jump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registers you will actually use</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31537"/>
                <a:gridCol w="1968364"/>
                <a:gridCol w="5010381"/>
                <a:gridCol w="268413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Register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Name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Role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Preserved across a call?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a0 - a7</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arguments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values passed into a call; a0 also carries the return value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t0 - t6</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temporaries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scratch values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s0 - s11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saved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values a call promises to preserve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ra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return address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where ret jumps back 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 save it yourself</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sp</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stack pointer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top of the stack, kept 16-byte aligned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zero</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zero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always reads as 0; writes are ignored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roles come from an agreement, the calling convention (ABI), not from the hardware.</a:t>
            </a:r>
            <a:endParaRPr lang="en-US" sz="1500" dirty="0"/>
          </a:p>
        </p:txBody>
      </p:sp>
      <p:sp>
        <p:nvSpPr>
          <p:cNvPr id="5" name="Shape 2"/>
          <p:cNvSpPr/>
          <p:nvPr/>
        </p:nvSpPr>
        <p:spPr>
          <a:xfrm>
            <a:off x="7865821" y="91440"/>
            <a:ext cx="3777234" cy="274320"/>
          </a:xfrm>
          <a:prstGeom prst="rect">
            <a:avLst/>
          </a:prstGeom>
          <a:solidFill>
            <a:srgbClr val="FEF3C7"/>
          </a:solidFill>
          <a:ln w="12700">
            <a:solidFill>
              <a:srgbClr val="B45309"/>
            </a:solidFill>
            <a:prstDash val="solid"/>
          </a:ln>
        </p:spPr>
      </p:sp>
      <p:sp>
        <p:nvSpPr>
          <p:cNvPr id="6" name="Shape 3"/>
          <p:cNvSpPr/>
          <p:nvPr/>
        </p:nvSpPr>
        <p:spPr>
          <a:xfrm>
            <a:off x="7865821" y="91440"/>
            <a:ext cx="27432" cy="274320"/>
          </a:xfrm>
          <a:prstGeom prst="rect">
            <a:avLst/>
          </a:prstGeom>
          <a:solidFill>
            <a:srgbClr val="B45309"/>
          </a:solidFill>
          <a:ln w="12700">
            <a:solidFill>
              <a:srgbClr val="B45309"/>
            </a:solidFill>
            <a:prstDash val="solid"/>
          </a:ln>
        </p:spPr>
      </p:sp>
      <p:sp>
        <p:nvSpPr>
          <p:cNvPr id="7" name="Shape 4"/>
          <p:cNvSpPr/>
          <p:nvPr/>
        </p:nvSpPr>
        <p:spPr>
          <a:xfrm>
            <a:off x="7920685"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7993837" y="128016"/>
            <a:ext cx="201168" cy="201168"/>
          </a:xfrm>
          <a:prstGeom prst="rect">
            <a:avLst/>
          </a:prstGeom>
        </p:spPr>
      </p:pic>
      <p:sp>
        <p:nvSpPr>
          <p:cNvPr id="9" name="Text 5"/>
          <p:cNvSpPr txBox="1"/>
          <p:nvPr/>
        </p:nvSpPr>
        <p:spPr>
          <a:xfrm>
            <a:off x="8249869" y="91440"/>
            <a:ext cx="335661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calling convention</a:t>
            </a:r>
            <a:pPr indent="0" marL="0">
              <a:buNone/>
            </a:pPr>
            <a:r>
              <a:rPr lang="en-US" sz="1100" b="1" dirty="0">
                <a:solidFill>
                  <a:srgbClr val="92400E"/>
                </a:solidFill>
                <a:latin typeface="Calibri" pitchFamily="34" charset="0"/>
                <a:ea typeface="Calibri" pitchFamily="34" charset="-122"/>
                <a:cs typeface="Calibri" pitchFamily="34" charset="-120"/>
              </a:rPr>
              <a:t> → Lecture 18</a:t>
            </a:r>
            <a:endParaRPr lang="en-US" sz="1100" dirty="0"/>
          </a:p>
        </p:txBody>
      </p:sp>
      <p:sp>
        <p:nvSpPr>
          <p:cNvPr id="10" name="Shape 6"/>
          <p:cNvSpPr/>
          <p:nvPr/>
        </p:nvSpPr>
        <p:spPr>
          <a:xfrm>
            <a:off x="5188661" y="91440"/>
            <a:ext cx="2567432" cy="274320"/>
          </a:xfrm>
          <a:prstGeom prst="rect">
            <a:avLst/>
          </a:prstGeom>
          <a:solidFill>
            <a:srgbClr val="E0F2FE"/>
          </a:solidFill>
          <a:ln w="12700">
            <a:solidFill>
              <a:srgbClr val="0369A1"/>
            </a:solidFill>
            <a:prstDash val="solid"/>
          </a:ln>
        </p:spPr>
      </p:sp>
      <p:sp>
        <p:nvSpPr>
          <p:cNvPr id="11" name="Shape 7"/>
          <p:cNvSpPr/>
          <p:nvPr/>
        </p:nvSpPr>
        <p:spPr>
          <a:xfrm>
            <a:off x="5188661" y="91440"/>
            <a:ext cx="73152" cy="274320"/>
          </a:xfrm>
          <a:prstGeom prst="rect">
            <a:avLst/>
          </a:prstGeom>
          <a:solidFill>
            <a:srgbClr val="0369A1"/>
          </a:solidFill>
          <a:ln w="12700">
            <a:solidFill>
              <a:srgbClr val="0369A1"/>
            </a:solidFill>
            <a:prstDash val="solid"/>
          </a:ln>
        </p:spPr>
      </p:sp>
      <p:pic>
        <p:nvPicPr>
          <p:cNvPr id="12" name="Image 1" descr="preencoded.png">    </p:cNvPr>
          <p:cNvPicPr>
            <a:picLocks noChangeAspect="1"/>
          </p:cNvPicPr>
          <p:nvPr/>
        </p:nvPicPr>
        <p:blipFill>
          <a:blip r:embed="rId2"/>
          <a:stretch>
            <a:fillRect/>
          </a:stretch>
        </p:blipFill>
        <p:spPr>
          <a:xfrm>
            <a:off x="5316677" y="128016"/>
            <a:ext cx="201168" cy="201168"/>
          </a:xfrm>
          <a:prstGeom prst="rect">
            <a:avLst/>
          </a:prstGeom>
        </p:spPr>
      </p:pic>
      <p:sp>
        <p:nvSpPr>
          <p:cNvPr id="13" name="Text 8"/>
          <p:cNvSpPr txBox="1"/>
          <p:nvPr/>
        </p:nvSpPr>
        <p:spPr>
          <a:xfrm>
            <a:off x="5572709"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contract: three functions that you write</a:t>
            </a:r>
            <a:endParaRPr lang="en-US" sz="3200" dirty="0"/>
          </a:p>
        </p:txBody>
      </p:sp>
      <p:sp>
        <p:nvSpPr>
          <p:cNvPr id="3" name="Shape 1"/>
          <p:cNvSpPr/>
          <p:nvPr/>
        </p:nvSpPr>
        <p:spPr>
          <a:xfrm>
            <a:off x="548640" y="1874520"/>
            <a:ext cx="3454298"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3179978"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init</a:t>
            </a:r>
            <a:endParaRPr lang="en-US" sz="1900" dirty="0"/>
          </a:p>
        </p:txBody>
      </p:sp>
      <p:sp>
        <p:nvSpPr>
          <p:cNvPr id="5" name="Text 3"/>
          <p:cNvSpPr txBox="1"/>
          <p:nvPr/>
        </p:nvSpPr>
        <p:spPr>
          <a:xfrm>
            <a:off x="685800"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called once, when the cartridge starts: set up your state</a:t>
            </a:r>
            <a:endParaRPr lang="en-US" sz="1700" dirty="0"/>
          </a:p>
        </p:txBody>
      </p:sp>
      <p:sp>
        <p:nvSpPr>
          <p:cNvPr id="6" name="Shape 4"/>
          <p:cNvSpPr/>
          <p:nvPr/>
        </p:nvSpPr>
        <p:spPr>
          <a:xfrm>
            <a:off x="4048658"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4368698" y="1874520"/>
            <a:ext cx="3454298"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4505858" y="2057400"/>
            <a:ext cx="3179978"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update</a:t>
            </a:r>
            <a:endParaRPr lang="en-US" sz="1900" dirty="0"/>
          </a:p>
        </p:txBody>
      </p:sp>
      <p:sp>
        <p:nvSpPr>
          <p:cNvPr id="9" name="Text 7"/>
          <p:cNvSpPr txBox="1"/>
          <p:nvPr/>
        </p:nvSpPr>
        <p:spPr>
          <a:xfrm>
            <a:off x="4505858"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called once per frame: read input, change the state</a:t>
            </a:r>
            <a:endParaRPr lang="en-US" sz="1700" dirty="0"/>
          </a:p>
        </p:txBody>
      </p:sp>
      <p:sp>
        <p:nvSpPr>
          <p:cNvPr id="10" name="Shape 8"/>
          <p:cNvSpPr/>
          <p:nvPr/>
        </p:nvSpPr>
        <p:spPr>
          <a:xfrm>
            <a:off x="7868717"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8188757" y="1874520"/>
            <a:ext cx="3454298"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8325917" y="2057400"/>
            <a:ext cx="3179978"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draw</a:t>
            </a:r>
            <a:endParaRPr lang="en-US" sz="1900" dirty="0"/>
          </a:p>
        </p:txBody>
      </p:sp>
      <p:sp>
        <p:nvSpPr>
          <p:cNvPr id="13" name="Text 11"/>
          <p:cNvSpPr txBox="1"/>
          <p:nvPr/>
        </p:nvSpPr>
        <p:spPr>
          <a:xfrm>
            <a:off x="8325917"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called once per frame: turn the state into a picture</a:t>
            </a:r>
            <a:endParaRPr lang="en-US" sz="1700" dirty="0"/>
          </a:p>
        </p:txBody>
      </p:sp>
      <p:sp>
        <p:nvSpPr>
          <p:cNvPr id="14" name="Shape 12"/>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5" name="Text 13"/>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The firmware finds the three functions by name: a prefix that you choose, followed by _init, _update and _draw. That is the whole contract between your game and the machine.</a:t>
            </a:r>
            <a:endParaRPr lang="en-US" sz="2000" dirty="0"/>
          </a:p>
        </p:txBody>
      </p:sp>
      <p:sp>
        <p:nvSpPr>
          <p:cNvPr id="16" name="Shape 14"/>
          <p:cNvSpPr/>
          <p:nvPr/>
        </p:nvSpPr>
        <p:spPr>
          <a:xfrm>
            <a:off x="7631125" y="91440"/>
            <a:ext cx="4011930" cy="274320"/>
          </a:xfrm>
          <a:prstGeom prst="rect">
            <a:avLst/>
          </a:prstGeom>
          <a:solidFill>
            <a:srgbClr val="E0F2FE"/>
          </a:solidFill>
          <a:ln w="12700">
            <a:solidFill>
              <a:srgbClr val="0369A1"/>
            </a:solidFill>
            <a:prstDash val="solid"/>
          </a:ln>
        </p:spPr>
      </p:sp>
      <p:sp>
        <p:nvSpPr>
          <p:cNvPr id="17" name="Shape 15"/>
          <p:cNvSpPr/>
          <p:nvPr/>
        </p:nvSpPr>
        <p:spPr>
          <a:xfrm>
            <a:off x="763112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759141" y="128016"/>
            <a:ext cx="201168" cy="201168"/>
          </a:xfrm>
          <a:prstGeom prst="rect">
            <a:avLst/>
          </a:prstGeom>
        </p:spPr>
      </p:pic>
      <p:sp>
        <p:nvSpPr>
          <p:cNvPr id="19" name="Text 16"/>
          <p:cNvSpPr txBox="1"/>
          <p:nvPr/>
        </p:nvSpPr>
        <p:spPr>
          <a:xfrm>
            <a:off x="8015173" y="91440"/>
            <a:ext cx="359130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init, update, draw contract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save ra? The stack frame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10819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call stores the address to come back to in ra</a:t>
            </a:r>
            <a:endParaRPr lang="en-US" sz="2100" dirty="0"/>
          </a:p>
        </p:txBody>
      </p:sp>
      <p:sp>
        <p:nvSpPr>
          <p:cNvPr id="5" name="Shape 3"/>
          <p:cNvSpPr/>
          <p:nvPr/>
        </p:nvSpPr>
        <p:spPr>
          <a:xfrm>
            <a:off x="548640" y="21427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044065"/>
            <a:ext cx="61081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function you call will use ra for its own calls, overwriting yours</a:t>
            </a:r>
            <a:endParaRPr lang="en-US" sz="2100" dirty="0"/>
          </a:p>
        </p:txBody>
      </p:sp>
      <p:sp>
        <p:nvSpPr>
          <p:cNvPr id="7" name="Shape 5"/>
          <p:cNvSpPr/>
          <p:nvPr/>
        </p:nvSpPr>
        <p:spPr>
          <a:xfrm>
            <a:off x="548640" y="30948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96184"/>
            <a:ext cx="6108192" cy="128168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So a function that calls another one saves ra first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lower sp by 16 to make room</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store ra at 12(sp)</a:t>
            </a:r>
            <a:endParaRPr lang="en-US" sz="2100" dirty="0"/>
          </a:p>
        </p:txBody>
      </p:sp>
      <p:sp>
        <p:nvSpPr>
          <p:cNvPr id="9" name="Shape 7"/>
          <p:cNvSpPr/>
          <p:nvPr/>
        </p:nvSpPr>
        <p:spPr>
          <a:xfrm>
            <a:off x="548640" y="467791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9239"/>
            <a:ext cx="61081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After the call, undo it in reverse order</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load ra back, raise sp by 16, then ret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1081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Forgetting the pair is the classic first bug: the function returns to the wrong place</a:t>
            </a:r>
            <a:endParaRPr lang="en-US" sz="2100" dirty="0"/>
          </a:p>
        </p:txBody>
      </p:sp>
      <p:sp>
        <p:nvSpPr>
          <p:cNvPr id="13" name="Text 11"/>
          <p:cNvSpPr txBox="1"/>
          <p:nvPr/>
        </p:nvSpPr>
        <p:spPr>
          <a:xfrm>
            <a:off x="7589520" y="1417320"/>
            <a:ext cx="4206240" cy="36576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Stack memory after the prologue</a:t>
            </a:r>
            <a:endParaRPr lang="en-US" sz="1500" dirty="0"/>
          </a:p>
        </p:txBody>
      </p:sp>
      <p:sp>
        <p:nvSpPr>
          <p:cNvPr id="14" name="Text 12"/>
          <p:cNvSpPr txBox="1"/>
          <p:nvPr/>
        </p:nvSpPr>
        <p:spPr>
          <a:xfrm>
            <a:off x="7589520" y="2103120"/>
            <a:ext cx="2926080" cy="566928"/>
          </a:xfrm>
          <a:prstGeom prst="rect">
            <a:avLst/>
          </a:prstGeom>
          <a:solidFill>
            <a:srgbClr val="C9D2D8"/>
          </a:solidFill>
          <a:ln w="12700">
            <a:solidFill>
              <a:srgbClr val="2E4A62"/>
            </a:solidFill>
          </a:ln>
        </p:spPr>
        <p:txBody>
          <a:bodyPr wrap="square" lIns="0" tIns="0" rIns="0" bIns="0" rtlCol="0" anchor="ctr"/>
          <a:lstStyle/>
          <a:p>
            <a:pPr algn="ctr" indent="0" marL="0">
              <a:buNone/>
            </a:pPr>
            <a:r>
              <a:rPr lang="en-US" sz="1600" b="1" dirty="0">
                <a:solidFill>
                  <a:srgbClr val="1B2530"/>
                </a:solidFill>
                <a:latin typeface="Courier New" pitchFamily="34" charset="0"/>
                <a:ea typeface="Courier New" pitchFamily="34" charset="-122"/>
                <a:cs typeface="Courier New" pitchFamily="34" charset="-120"/>
              </a:rPr>
              <a:t>caller's data</a:t>
            </a:r>
            <a:endParaRPr lang="en-US" sz="1600" dirty="0"/>
          </a:p>
        </p:txBody>
      </p:sp>
      <p:sp>
        <p:nvSpPr>
          <p:cNvPr id="15" name="Text 13"/>
          <p:cNvSpPr txBox="1"/>
          <p:nvPr/>
        </p:nvSpPr>
        <p:spPr>
          <a:xfrm>
            <a:off x="10652760" y="2103120"/>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16(sp)</a:t>
            </a:r>
            <a:endParaRPr lang="en-US" sz="1400" dirty="0"/>
          </a:p>
        </p:txBody>
      </p:sp>
      <p:sp>
        <p:nvSpPr>
          <p:cNvPr id="16" name="Text 14"/>
          <p:cNvSpPr txBox="1"/>
          <p:nvPr/>
        </p:nvSpPr>
        <p:spPr>
          <a:xfrm>
            <a:off x="7589520" y="2670048"/>
            <a:ext cx="29260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ra</a:t>
            </a:r>
            <a:endParaRPr lang="en-US" sz="1600" dirty="0"/>
          </a:p>
        </p:txBody>
      </p:sp>
      <p:sp>
        <p:nvSpPr>
          <p:cNvPr id="17" name="Text 15"/>
          <p:cNvSpPr txBox="1"/>
          <p:nvPr/>
        </p:nvSpPr>
        <p:spPr>
          <a:xfrm>
            <a:off x="10652760" y="2670048"/>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12(sp)</a:t>
            </a:r>
            <a:endParaRPr lang="en-US" sz="1400" dirty="0"/>
          </a:p>
        </p:txBody>
      </p:sp>
      <p:sp>
        <p:nvSpPr>
          <p:cNvPr id="18" name="Text 16"/>
          <p:cNvSpPr txBox="1"/>
          <p:nvPr/>
        </p:nvSpPr>
        <p:spPr>
          <a:xfrm>
            <a:off x="7589520" y="3236976"/>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free</a:t>
            </a:r>
            <a:endParaRPr lang="en-US" sz="1600" dirty="0"/>
          </a:p>
        </p:txBody>
      </p:sp>
      <p:sp>
        <p:nvSpPr>
          <p:cNvPr id="19" name="Text 17"/>
          <p:cNvSpPr txBox="1"/>
          <p:nvPr/>
        </p:nvSpPr>
        <p:spPr>
          <a:xfrm>
            <a:off x="10652760" y="3236976"/>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8(sp)</a:t>
            </a:r>
            <a:endParaRPr lang="en-US" sz="1400" dirty="0"/>
          </a:p>
        </p:txBody>
      </p:sp>
      <p:sp>
        <p:nvSpPr>
          <p:cNvPr id="20" name="Text 18"/>
          <p:cNvSpPr txBox="1"/>
          <p:nvPr/>
        </p:nvSpPr>
        <p:spPr>
          <a:xfrm>
            <a:off x="7589520" y="3803904"/>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free</a:t>
            </a:r>
            <a:endParaRPr lang="en-US" sz="1600" dirty="0"/>
          </a:p>
        </p:txBody>
      </p:sp>
      <p:sp>
        <p:nvSpPr>
          <p:cNvPr id="21" name="Text 19"/>
          <p:cNvSpPr txBox="1"/>
          <p:nvPr/>
        </p:nvSpPr>
        <p:spPr>
          <a:xfrm>
            <a:off x="10652760" y="3803904"/>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4(sp)</a:t>
            </a:r>
            <a:endParaRPr lang="en-US" sz="1400" dirty="0"/>
          </a:p>
        </p:txBody>
      </p:sp>
      <p:sp>
        <p:nvSpPr>
          <p:cNvPr id="22" name="Text 20"/>
          <p:cNvSpPr txBox="1"/>
          <p:nvPr/>
        </p:nvSpPr>
        <p:spPr>
          <a:xfrm>
            <a:off x="7589520" y="4370832"/>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free</a:t>
            </a:r>
            <a:endParaRPr lang="en-US" sz="1600" dirty="0"/>
          </a:p>
        </p:txBody>
      </p:sp>
      <p:sp>
        <p:nvSpPr>
          <p:cNvPr id="23" name="Text 21"/>
          <p:cNvSpPr txBox="1"/>
          <p:nvPr/>
        </p:nvSpPr>
        <p:spPr>
          <a:xfrm>
            <a:off x="10652760" y="4370832"/>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0(sp)</a:t>
            </a:r>
            <a:endParaRPr lang="en-US" sz="1400" dirty="0"/>
          </a:p>
        </p:txBody>
      </p:sp>
      <p:sp>
        <p:nvSpPr>
          <p:cNvPr id="24" name="Shape 22"/>
          <p:cNvSpPr/>
          <p:nvPr/>
        </p:nvSpPr>
        <p:spPr>
          <a:xfrm>
            <a:off x="6766560" y="4654296"/>
            <a:ext cx="777240" cy="0"/>
          </a:xfrm>
          <a:prstGeom prst="line">
            <a:avLst/>
          </a:prstGeom>
          <a:noFill/>
          <a:ln w="28575">
            <a:solidFill>
              <a:srgbClr val="B23A48"/>
            </a:solidFill>
            <a:prstDash val="solid"/>
            <a:tailEnd type="triangle"/>
          </a:ln>
        </p:spPr>
      </p:sp>
      <p:sp>
        <p:nvSpPr>
          <p:cNvPr id="25" name="Text 23"/>
          <p:cNvSpPr txBox="1"/>
          <p:nvPr/>
        </p:nvSpPr>
        <p:spPr>
          <a:xfrm>
            <a:off x="6217920" y="4370832"/>
            <a:ext cx="502920" cy="566928"/>
          </a:xfrm>
          <a:prstGeom prst="rect">
            <a:avLst/>
          </a:prstGeom>
          <a:noFill/>
          <a:ln/>
        </p:spPr>
        <p:txBody>
          <a:bodyPr wrap="square" lIns="0" tIns="0" rIns="0" bIns="0" rtlCol="0" anchor="ctr"/>
          <a:lstStyle/>
          <a:p>
            <a:pPr algn="r" indent="0" marL="0">
              <a:buNone/>
            </a:pPr>
            <a:r>
              <a:rPr lang="en-US" sz="1800" b="1" dirty="0">
                <a:solidFill>
                  <a:srgbClr val="B23A48"/>
                </a:solidFill>
                <a:latin typeface="Courier New" pitchFamily="34" charset="0"/>
                <a:ea typeface="Courier New" pitchFamily="34" charset="-122"/>
                <a:cs typeface="Courier New" pitchFamily="34" charset="-120"/>
              </a:rPr>
              <a:t>sp</a:t>
            </a:r>
            <a:endParaRPr lang="en-US" sz="1800" dirty="0"/>
          </a:p>
        </p:txBody>
      </p:sp>
      <p:sp>
        <p:nvSpPr>
          <p:cNvPr id="26" name="Text 24"/>
          <p:cNvSpPr txBox="1"/>
          <p:nvPr/>
        </p:nvSpPr>
        <p:spPr>
          <a:xfrm>
            <a:off x="7589520" y="1810512"/>
            <a:ext cx="2926080" cy="256032"/>
          </a:xfrm>
          <a:prstGeom prst="rect">
            <a:avLst/>
          </a:prstGeom>
          <a:noFill/>
          <a:ln/>
        </p:spPr>
        <p:txBody>
          <a:bodyPr wrap="square" lIns="0" tIns="0" rIns="0" bIns="0" rtlCol="0" anchor="t"/>
          <a:lstStyle/>
          <a:p>
            <a:pPr algn="ctr" indent="0" marL="0">
              <a:buNone/>
            </a:pPr>
            <a:r>
              <a:rPr lang="en-US" sz="1150" i="1" dirty="0">
                <a:solidFill>
                  <a:srgbClr val="5B6B78"/>
                </a:solidFill>
                <a:latin typeface="Calibri" pitchFamily="34" charset="0"/>
                <a:ea typeface="Calibri" pitchFamily="34" charset="-122"/>
                <a:cs typeface="Calibri" pitchFamily="34" charset="-120"/>
              </a:rPr>
              <a:t>higher addresses</a:t>
            </a:r>
            <a:endParaRPr lang="en-US" sz="1150" dirty="0"/>
          </a:p>
        </p:txBody>
      </p:sp>
      <p:sp>
        <p:nvSpPr>
          <p:cNvPr id="27" name="Text 25"/>
          <p:cNvSpPr txBox="1"/>
          <p:nvPr/>
        </p:nvSpPr>
        <p:spPr>
          <a:xfrm>
            <a:off x="7040880" y="5120640"/>
            <a:ext cx="4754880" cy="64008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The stack grows downward: subtract from sp to allocate, add to release.</a:t>
            </a:r>
            <a:endParaRPr lang="en-US" sz="1400" dirty="0"/>
          </a:p>
        </p:txBody>
      </p:sp>
      <p:sp>
        <p:nvSpPr>
          <p:cNvPr id="28" name="Shape 26"/>
          <p:cNvSpPr/>
          <p:nvPr/>
        </p:nvSpPr>
        <p:spPr>
          <a:xfrm>
            <a:off x="7939862" y="91440"/>
            <a:ext cx="3703193" cy="274320"/>
          </a:xfrm>
          <a:prstGeom prst="rect">
            <a:avLst/>
          </a:prstGeom>
          <a:solidFill>
            <a:srgbClr val="F3E8FF"/>
          </a:solidFill>
          <a:ln w="12700">
            <a:solidFill>
              <a:srgbClr val="7E22CE"/>
            </a:solidFill>
            <a:prstDash val="dash"/>
          </a:ln>
        </p:spPr>
      </p:sp>
      <p:sp>
        <p:nvSpPr>
          <p:cNvPr id="29" name="Shape 27"/>
          <p:cNvSpPr/>
          <p:nvPr/>
        </p:nvSpPr>
        <p:spPr>
          <a:xfrm>
            <a:off x="7967294" y="128016"/>
            <a:ext cx="45720" cy="45720"/>
          </a:xfrm>
          <a:prstGeom prst="rect">
            <a:avLst/>
          </a:prstGeom>
          <a:solidFill>
            <a:srgbClr val="7E22CE"/>
          </a:solidFill>
          <a:ln w="12700">
            <a:solidFill>
              <a:srgbClr val="7E22CE"/>
            </a:solidFill>
            <a:prstDash val="solid"/>
          </a:ln>
        </p:spPr>
      </p:sp>
      <p:sp>
        <p:nvSpPr>
          <p:cNvPr id="30" name="Shape 28"/>
          <p:cNvSpPr/>
          <p:nvPr/>
        </p:nvSpPr>
        <p:spPr>
          <a:xfrm>
            <a:off x="7967294" y="205740"/>
            <a:ext cx="45720" cy="45720"/>
          </a:xfrm>
          <a:prstGeom prst="rect">
            <a:avLst/>
          </a:prstGeom>
          <a:solidFill>
            <a:srgbClr val="7E22CE"/>
          </a:solidFill>
          <a:ln w="12700">
            <a:solidFill>
              <a:srgbClr val="7E22CE"/>
            </a:solidFill>
            <a:prstDash val="solid"/>
          </a:ln>
        </p:spPr>
      </p:sp>
      <p:sp>
        <p:nvSpPr>
          <p:cNvPr id="31" name="Shape 29"/>
          <p:cNvSpPr/>
          <p:nvPr/>
        </p:nvSpPr>
        <p:spPr>
          <a:xfrm>
            <a:off x="7967294" y="283464"/>
            <a:ext cx="45720" cy="45720"/>
          </a:xfrm>
          <a:prstGeom prst="rect">
            <a:avLst/>
          </a:prstGeom>
          <a:solidFill>
            <a:srgbClr val="7E22CE"/>
          </a:solidFill>
          <a:ln w="12700">
            <a:solidFill>
              <a:srgbClr val="7E22CE"/>
            </a:solidFill>
            <a:prstDash val="solid"/>
          </a:ln>
        </p:spPr>
      </p:sp>
      <p:pic>
        <p:nvPicPr>
          <p:cNvPr id="32" name="Image 0" descr="preencoded.png">    </p:cNvPr>
          <p:cNvPicPr>
            <a:picLocks noChangeAspect="1"/>
          </p:cNvPicPr>
          <p:nvPr/>
        </p:nvPicPr>
        <p:blipFill>
          <a:blip r:embed="rId1"/>
          <a:stretch>
            <a:fillRect/>
          </a:stretch>
        </p:blipFill>
        <p:spPr>
          <a:xfrm>
            <a:off x="8067878" y="128016"/>
            <a:ext cx="201168" cy="201168"/>
          </a:xfrm>
          <a:prstGeom prst="rect">
            <a:avLst/>
          </a:prstGeom>
        </p:spPr>
      </p:pic>
      <p:sp>
        <p:nvSpPr>
          <p:cNvPr id="33" name="Text 30"/>
          <p:cNvSpPr txBox="1"/>
          <p:nvPr/>
        </p:nvSpPr>
        <p:spPr>
          <a:xfrm>
            <a:off x="8323910" y="91440"/>
            <a:ext cx="328256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stack</a:t>
            </a:r>
            <a:pPr indent="0" marL="0">
              <a:buNone/>
            </a:pPr>
            <a:r>
              <a:rPr lang="en-US" sz="1100" b="1" dirty="0">
                <a:solidFill>
                  <a:srgbClr val="6B21A8"/>
                </a:solidFill>
                <a:latin typeface="Calibri" pitchFamily="34" charset="0"/>
                <a:ea typeface="Calibri" pitchFamily="34" charset="-122"/>
                <a:cs typeface="Calibri" pitchFamily="34" charset="-120"/>
              </a:rPr>
              <a:t> → Lecture 18</a:t>
            </a:r>
            <a:endParaRPr lang="en-US" sz="1100" dirty="0"/>
          </a:p>
        </p:txBody>
      </p:sp>
      <p:sp>
        <p:nvSpPr>
          <p:cNvPr id="34" name="Shape 31"/>
          <p:cNvSpPr/>
          <p:nvPr/>
        </p:nvSpPr>
        <p:spPr>
          <a:xfrm>
            <a:off x="4868748" y="91440"/>
            <a:ext cx="2961386" cy="274320"/>
          </a:xfrm>
          <a:prstGeom prst="rect">
            <a:avLst/>
          </a:prstGeom>
          <a:solidFill>
            <a:srgbClr val="E0F2FE"/>
          </a:solidFill>
          <a:ln w="12700">
            <a:solidFill>
              <a:srgbClr val="0369A1"/>
            </a:solidFill>
            <a:prstDash val="solid"/>
          </a:ln>
        </p:spPr>
      </p:sp>
      <p:sp>
        <p:nvSpPr>
          <p:cNvPr id="35" name="Shape 32"/>
          <p:cNvSpPr/>
          <p:nvPr/>
        </p:nvSpPr>
        <p:spPr>
          <a:xfrm>
            <a:off x="4868748" y="91440"/>
            <a:ext cx="73152" cy="274320"/>
          </a:xfrm>
          <a:prstGeom prst="rect">
            <a:avLst/>
          </a:prstGeom>
          <a:solidFill>
            <a:srgbClr val="0369A1"/>
          </a:solidFill>
          <a:ln w="12700">
            <a:solidFill>
              <a:srgbClr val="0369A1"/>
            </a:solidFill>
            <a:prstDash val="solid"/>
          </a:ln>
        </p:spPr>
      </p:sp>
      <p:pic>
        <p:nvPicPr>
          <p:cNvPr id="36" name="Image 1" descr="preencoded.png">    </p:cNvPr>
          <p:cNvPicPr>
            <a:picLocks noChangeAspect="1"/>
          </p:cNvPicPr>
          <p:nvPr/>
        </p:nvPicPr>
        <p:blipFill>
          <a:blip r:embed="rId2"/>
          <a:stretch>
            <a:fillRect/>
          </a:stretch>
        </p:blipFill>
        <p:spPr>
          <a:xfrm>
            <a:off x="4996764" y="128016"/>
            <a:ext cx="201168" cy="201168"/>
          </a:xfrm>
          <a:prstGeom prst="rect">
            <a:avLst/>
          </a:prstGeom>
        </p:spPr>
      </p:pic>
      <p:sp>
        <p:nvSpPr>
          <p:cNvPr id="37" name="Text 33"/>
          <p:cNvSpPr txBox="1"/>
          <p:nvPr/>
        </p:nvSpPr>
        <p:spPr>
          <a:xfrm>
            <a:off x="5252796"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why ra is saved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Address or value? The crux of memory</a:t>
            </a:r>
            <a:endParaRPr lang="en-US" sz="3200" dirty="0"/>
          </a:p>
        </p:txBody>
      </p:sp>
      <p:sp>
        <p:nvSpPr>
          <p:cNvPr id="3" name="Text 1"/>
          <p:cNvSpPr txBox="1"/>
          <p:nvPr/>
        </p:nvSpPr>
        <p:spPr>
          <a:xfrm>
            <a:off x="548640" y="1417320"/>
            <a:ext cx="4572000"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Registers (inside the processor)</a:t>
            </a:r>
            <a:endParaRPr lang="en-US" sz="1500" dirty="0"/>
          </a:p>
        </p:txBody>
      </p:sp>
      <p:sp>
        <p:nvSpPr>
          <p:cNvPr id="4" name="Text 2"/>
          <p:cNvSpPr txBox="1"/>
          <p:nvPr/>
        </p:nvSpPr>
        <p:spPr>
          <a:xfrm>
            <a:off x="548640" y="1874520"/>
            <a:ext cx="640080" cy="685800"/>
          </a:xfrm>
          <a:prstGeom prst="rect">
            <a:avLst/>
          </a:prstGeom>
          <a:noFill/>
          <a:ln/>
        </p:spPr>
        <p:txBody>
          <a:bodyPr wrap="square" lIns="0" tIns="0" rIns="0" bIns="0" rtlCol="0" anchor="ctr"/>
          <a:lstStyle/>
          <a:p>
            <a:pPr indent="0" marL="0">
              <a:buNone/>
            </a:pPr>
            <a:r>
              <a:rPr lang="en-US" sz="2200" b="1" dirty="0">
                <a:solidFill>
                  <a:srgbClr val="1B2530"/>
                </a:solidFill>
                <a:latin typeface="Courier New" pitchFamily="34" charset="0"/>
                <a:ea typeface="Courier New" pitchFamily="34" charset="-122"/>
                <a:cs typeface="Courier New" pitchFamily="34" charset="-120"/>
              </a:rPr>
              <a:t>t0</a:t>
            </a:r>
            <a:endParaRPr lang="en-US" sz="2200" dirty="0"/>
          </a:p>
        </p:txBody>
      </p:sp>
      <p:sp>
        <p:nvSpPr>
          <p:cNvPr id="5" name="Text 3"/>
          <p:cNvSpPr txBox="1"/>
          <p:nvPr/>
        </p:nvSpPr>
        <p:spPr>
          <a:xfrm>
            <a:off x="1280160" y="1874520"/>
            <a:ext cx="3291840" cy="685800"/>
          </a:xfrm>
          <a:prstGeom prst="rect">
            <a:avLst/>
          </a:prstGeom>
          <a:solidFill>
            <a:srgbClr val="0E7C86"/>
          </a:solidFill>
          <a:ln>
            <a:solidFill>
              <a:srgbClr val="0E7C86"/>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address of counter</a:t>
            </a:r>
            <a:endParaRPr lang="en-US" sz="1700" dirty="0"/>
          </a:p>
        </p:txBody>
      </p:sp>
      <p:sp>
        <p:nvSpPr>
          <p:cNvPr id="6" name="Text 4"/>
          <p:cNvSpPr txBox="1"/>
          <p:nvPr/>
        </p:nvSpPr>
        <p:spPr>
          <a:xfrm>
            <a:off x="548640" y="3017520"/>
            <a:ext cx="640080" cy="685800"/>
          </a:xfrm>
          <a:prstGeom prst="rect">
            <a:avLst/>
          </a:prstGeom>
          <a:noFill/>
          <a:ln/>
        </p:spPr>
        <p:txBody>
          <a:bodyPr wrap="square" lIns="0" tIns="0" rIns="0" bIns="0" rtlCol="0" anchor="ctr"/>
          <a:lstStyle/>
          <a:p>
            <a:pPr indent="0" marL="0">
              <a:buNone/>
            </a:pPr>
            <a:r>
              <a:rPr lang="en-US" sz="2200" b="1" dirty="0">
                <a:solidFill>
                  <a:srgbClr val="1B2530"/>
                </a:solidFill>
                <a:latin typeface="Courier New" pitchFamily="34" charset="0"/>
                <a:ea typeface="Courier New" pitchFamily="34" charset="-122"/>
                <a:cs typeface="Courier New" pitchFamily="34" charset="-120"/>
              </a:rPr>
              <a:t>t1</a:t>
            </a:r>
            <a:endParaRPr lang="en-US" sz="2200" dirty="0"/>
          </a:p>
        </p:txBody>
      </p:sp>
      <p:sp>
        <p:nvSpPr>
          <p:cNvPr id="7" name="Text 5"/>
          <p:cNvSpPr txBox="1"/>
          <p:nvPr/>
        </p:nvSpPr>
        <p:spPr>
          <a:xfrm>
            <a:off x="1280160" y="3017520"/>
            <a:ext cx="3291840" cy="685800"/>
          </a:xfrm>
          <a:prstGeom prst="rect">
            <a:avLst/>
          </a:prstGeom>
          <a:solidFill>
            <a:srgbClr val="C7791B"/>
          </a:solidFill>
          <a:ln>
            <a:solidFill>
              <a:srgbClr val="C7791B"/>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41  then  42</a:t>
            </a:r>
            <a:endParaRPr lang="en-US" sz="1700" dirty="0"/>
          </a:p>
        </p:txBody>
      </p:sp>
      <p:sp>
        <p:nvSpPr>
          <p:cNvPr id="8" name="Text 6"/>
          <p:cNvSpPr txBox="1"/>
          <p:nvPr/>
        </p:nvSpPr>
        <p:spPr>
          <a:xfrm>
            <a:off x="7498080" y="1417320"/>
            <a:ext cx="4114800"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Memory (.data section)</a:t>
            </a:r>
            <a:endParaRPr lang="en-US" sz="1500" dirty="0"/>
          </a:p>
        </p:txBody>
      </p:sp>
      <p:sp>
        <p:nvSpPr>
          <p:cNvPr id="9" name="Text 7"/>
          <p:cNvSpPr txBox="1"/>
          <p:nvPr/>
        </p:nvSpPr>
        <p:spPr>
          <a:xfrm>
            <a:off x="7498080" y="1874520"/>
            <a:ext cx="3566160" cy="6858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10" name="Text 8"/>
          <p:cNvSpPr txBox="1"/>
          <p:nvPr/>
        </p:nvSpPr>
        <p:spPr>
          <a:xfrm>
            <a:off x="7498080" y="2560320"/>
            <a:ext cx="3566160" cy="685800"/>
          </a:xfrm>
          <a:prstGeom prst="rect">
            <a:avLst/>
          </a:prstGeom>
          <a:solidFill>
            <a:srgbClr val="F6E7D2"/>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counter:  41</a:t>
            </a:r>
            <a:endParaRPr lang="en-US" sz="1700" dirty="0"/>
          </a:p>
        </p:txBody>
      </p:sp>
      <p:sp>
        <p:nvSpPr>
          <p:cNvPr id="11" name="Text 9"/>
          <p:cNvSpPr txBox="1"/>
          <p:nvPr/>
        </p:nvSpPr>
        <p:spPr>
          <a:xfrm>
            <a:off x="7498080" y="3246120"/>
            <a:ext cx="3566160" cy="6858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12" name="Shape 10"/>
          <p:cNvSpPr/>
          <p:nvPr/>
        </p:nvSpPr>
        <p:spPr>
          <a:xfrm>
            <a:off x="4617720" y="2217420"/>
            <a:ext cx="2834640" cy="617220"/>
          </a:xfrm>
          <a:prstGeom prst="line">
            <a:avLst/>
          </a:prstGeom>
          <a:noFill/>
          <a:ln w="28575">
            <a:solidFill>
              <a:srgbClr val="0E7C86"/>
            </a:solidFill>
            <a:prstDash val="solid"/>
            <a:tailEnd type="triangle"/>
          </a:ln>
        </p:spPr>
      </p:sp>
      <p:sp>
        <p:nvSpPr>
          <p:cNvPr id="13" name="Text 11"/>
          <p:cNvSpPr txBox="1"/>
          <p:nvPr/>
        </p:nvSpPr>
        <p:spPr>
          <a:xfrm>
            <a:off x="4846320" y="2011680"/>
            <a:ext cx="2377440" cy="274320"/>
          </a:xfrm>
          <a:prstGeom prst="rect">
            <a:avLst/>
          </a:prstGeom>
          <a:noFill/>
          <a:ln/>
        </p:spPr>
        <p:txBody>
          <a:bodyPr wrap="square" lIns="0" tIns="0" rIns="0" bIns="0" rtlCol="0" anchor="t"/>
          <a:lstStyle/>
          <a:p>
            <a:pPr algn="ctr" indent="0" marL="0">
              <a:buNone/>
            </a:pPr>
            <a:r>
              <a:rPr lang="en-US" sz="1300" i="1" dirty="0">
                <a:solidFill>
                  <a:srgbClr val="0E7C86"/>
                </a:solidFill>
                <a:latin typeface="Calibri" pitchFamily="34" charset="0"/>
                <a:ea typeface="Calibri" pitchFamily="34" charset="-122"/>
                <a:cs typeface="Calibri" pitchFamily="34" charset="-120"/>
              </a:rPr>
              <a:t>t0 points here</a:t>
            </a:r>
            <a:endParaRPr lang="en-US" sz="1300" dirty="0"/>
          </a:p>
        </p:txBody>
      </p:sp>
      <p:sp>
        <p:nvSpPr>
          <p:cNvPr id="14" name="Shape 12"/>
          <p:cNvSpPr/>
          <p:nvPr/>
        </p:nvSpPr>
        <p:spPr>
          <a:xfrm flipH="1">
            <a:off x="4617720" y="3017520"/>
            <a:ext cx="2834640" cy="228600"/>
          </a:xfrm>
          <a:prstGeom prst="line">
            <a:avLst/>
          </a:prstGeom>
          <a:noFill/>
          <a:ln w="28575">
            <a:solidFill>
              <a:srgbClr val="C7791B"/>
            </a:solidFill>
            <a:prstDash val="solid"/>
            <a:tailEnd type="triangle"/>
          </a:ln>
        </p:spPr>
      </p:sp>
      <p:sp>
        <p:nvSpPr>
          <p:cNvPr id="15" name="Text 13"/>
          <p:cNvSpPr txBox="1"/>
          <p:nvPr/>
        </p:nvSpPr>
        <p:spPr>
          <a:xfrm>
            <a:off x="4754880" y="3291840"/>
            <a:ext cx="2651760" cy="274320"/>
          </a:xfrm>
          <a:prstGeom prst="rect">
            <a:avLst/>
          </a:prstGeom>
          <a:noFill/>
          <a:ln/>
        </p:spPr>
        <p:txBody>
          <a:bodyPr wrap="square" lIns="0" tIns="0" rIns="0" bIns="0" rtlCol="0" anchor="t"/>
          <a:lstStyle/>
          <a:p>
            <a:pPr algn="ctr" indent="0" marL="0">
              <a:buNone/>
            </a:pPr>
            <a:r>
              <a:rPr lang="en-US" sz="1300" i="1" dirty="0">
                <a:solidFill>
                  <a:srgbClr val="C7791B"/>
                </a:solidFill>
                <a:latin typeface="Calibri" pitchFamily="34" charset="0"/>
                <a:ea typeface="Calibri" pitchFamily="34" charset="-122"/>
                <a:cs typeface="Calibri" pitchFamily="34" charset="-120"/>
              </a:rPr>
              <a:t>lw copies the contents</a:t>
            </a:r>
            <a:endParaRPr lang="en-US" sz="1300" dirty="0"/>
          </a:p>
        </p:txBody>
      </p:sp>
      <p:sp>
        <p:nvSpPr>
          <p:cNvPr id="16" name="Shape 14"/>
          <p:cNvSpPr/>
          <p:nvPr/>
        </p:nvSpPr>
        <p:spPr>
          <a:xfrm>
            <a:off x="548640" y="3977640"/>
            <a:ext cx="7315200" cy="2194560"/>
          </a:xfrm>
          <a:prstGeom prst="roundRect">
            <a:avLst>
              <a:gd name="adj" fmla="val 3333"/>
            </a:avLst>
          </a:prstGeom>
          <a:solidFill>
            <a:srgbClr val="12202B"/>
          </a:solidFill>
          <a:ln w="12700">
            <a:solidFill>
              <a:srgbClr val="12202B"/>
            </a:solidFill>
            <a:prstDash val="solid"/>
          </a:ln>
        </p:spPr>
      </p:sp>
      <p:sp>
        <p:nvSpPr>
          <p:cNvPr id="17" name="Text 15"/>
          <p:cNvSpPr txBox="1"/>
          <p:nvPr/>
        </p:nvSpPr>
        <p:spPr>
          <a:xfrm>
            <a:off x="777240" y="4160520"/>
            <a:ext cx="6858000" cy="182880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t0 = WHERE the value lives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WHAT is stored there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addi t1, t1, 1      </a:t>
            </a:r>
            <a:pPr indent="0" marL="0">
              <a:buNone/>
            </a:pPr>
            <a:r>
              <a:rPr lang="en-US" sz="1500" dirty="0">
                <a:solidFill>
                  <a:srgbClr val="8FB3A0"/>
                </a:solidFill>
                <a:latin typeface="Courier New" pitchFamily="34" charset="0"/>
                <a:ea typeface="Courier New" pitchFamily="34" charset="-122"/>
                <a:cs typeface="Courier New" pitchFamily="34" charset="-120"/>
              </a:rPr>
              <a:t># change the copy in the register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sw   t1, 0(t0)      </a:t>
            </a:r>
            <a:pPr indent="0" marL="0">
              <a:buNone/>
            </a:pPr>
            <a:r>
              <a:rPr lang="en-US" sz="1500" dirty="0">
                <a:solidFill>
                  <a:srgbClr val="8FB3A0"/>
                </a:solidFill>
                <a:latin typeface="Courier New" pitchFamily="34" charset="0"/>
                <a:ea typeface="Courier New" pitchFamily="34" charset="-122"/>
                <a:cs typeface="Courier New" pitchFamily="34" charset="-120"/>
              </a:rPr>
              <a:t># memory still says 41 until this line</a:t>
            </a:r>
            <a:endParaRPr lang="en-US" sz="1500" dirty="0"/>
          </a:p>
        </p:txBody>
      </p:sp>
      <p:sp>
        <p:nvSpPr>
          <p:cNvPr id="18" name="Shape 16"/>
          <p:cNvSpPr/>
          <p:nvPr/>
        </p:nvSpPr>
        <p:spPr>
          <a:xfrm>
            <a:off x="8229600" y="3977640"/>
            <a:ext cx="3413455" cy="2194560"/>
          </a:xfrm>
          <a:prstGeom prst="roundRect">
            <a:avLst>
              <a:gd name="adj" fmla="val 3333"/>
            </a:avLst>
          </a:prstGeom>
          <a:solidFill>
            <a:srgbClr val="F3DDE0"/>
          </a:solidFill>
          <a:ln w="12700">
            <a:solidFill>
              <a:srgbClr val="F3DDE0"/>
            </a:solidFill>
            <a:prstDash val="solid"/>
          </a:ln>
        </p:spPr>
      </p:sp>
      <p:sp>
        <p:nvSpPr>
          <p:cNvPr id="19" name="Text 17"/>
          <p:cNvSpPr txBox="1"/>
          <p:nvPr/>
        </p:nvSpPr>
        <p:spPr>
          <a:xfrm>
            <a:off x="8412480" y="4069080"/>
            <a:ext cx="3047695" cy="2011680"/>
          </a:xfrm>
          <a:prstGeom prst="rect">
            <a:avLst/>
          </a:prstGeom>
          <a:noFill/>
          <a:ln/>
        </p:spPr>
        <p:txBody>
          <a:bodyPr wrap="square" lIns="0" tIns="0" rIns="0" bIns="0" rtlCol="0" anchor="ctr"/>
          <a:lstStyle/>
          <a:p>
            <a:pPr indent="0" marL="0">
              <a:buNone/>
            </a:pPr>
            <a:r>
              <a:rPr lang="en-US" sz="1550" dirty="0">
                <a:solidFill>
                  <a:srgbClr val="1B2530"/>
                </a:solidFill>
                <a:latin typeface="Calibri" pitchFamily="34" charset="0"/>
                <a:ea typeface="Calibri" pitchFamily="34" charset="-122"/>
                <a:cs typeface="Calibri" pitchFamily="34" charset="-120"/>
              </a:rPr>
              <a:t>Using an address where a value belongs, or the reverse, is one of the most common beginner errors. Comment every register: ADDRESS or VALUE.</a:t>
            </a:r>
            <a:endParaRPr lang="en-US" sz="1550" dirty="0"/>
          </a:p>
        </p:txBody>
      </p:sp>
      <p:sp>
        <p:nvSpPr>
          <p:cNvPr id="20" name="Shape 18"/>
          <p:cNvSpPr/>
          <p:nvPr/>
        </p:nvSpPr>
        <p:spPr>
          <a:xfrm>
            <a:off x="7480249" y="91440"/>
            <a:ext cx="4162806" cy="274320"/>
          </a:xfrm>
          <a:prstGeom prst="rect">
            <a:avLst/>
          </a:prstGeom>
          <a:solidFill>
            <a:srgbClr val="F3E8FF"/>
          </a:solidFill>
          <a:ln w="12700">
            <a:solidFill>
              <a:srgbClr val="7E22CE"/>
            </a:solidFill>
            <a:prstDash val="dash"/>
          </a:ln>
        </p:spPr>
      </p:sp>
      <p:sp>
        <p:nvSpPr>
          <p:cNvPr id="21" name="Shape 19"/>
          <p:cNvSpPr/>
          <p:nvPr/>
        </p:nvSpPr>
        <p:spPr>
          <a:xfrm>
            <a:off x="7507681" y="128016"/>
            <a:ext cx="45720" cy="45720"/>
          </a:xfrm>
          <a:prstGeom prst="rect">
            <a:avLst/>
          </a:prstGeom>
          <a:solidFill>
            <a:srgbClr val="7E22CE"/>
          </a:solidFill>
          <a:ln w="12700">
            <a:solidFill>
              <a:srgbClr val="7E22CE"/>
            </a:solidFill>
            <a:prstDash val="solid"/>
          </a:ln>
        </p:spPr>
      </p:sp>
      <p:sp>
        <p:nvSpPr>
          <p:cNvPr id="22" name="Shape 20"/>
          <p:cNvSpPr/>
          <p:nvPr/>
        </p:nvSpPr>
        <p:spPr>
          <a:xfrm>
            <a:off x="7507681" y="205740"/>
            <a:ext cx="45720" cy="45720"/>
          </a:xfrm>
          <a:prstGeom prst="rect">
            <a:avLst/>
          </a:prstGeom>
          <a:solidFill>
            <a:srgbClr val="7E22CE"/>
          </a:solidFill>
          <a:ln w="12700">
            <a:solidFill>
              <a:srgbClr val="7E22CE"/>
            </a:solidFill>
            <a:prstDash val="solid"/>
          </a:ln>
        </p:spPr>
      </p:sp>
      <p:sp>
        <p:nvSpPr>
          <p:cNvPr id="23" name="Shape 21"/>
          <p:cNvSpPr/>
          <p:nvPr/>
        </p:nvSpPr>
        <p:spPr>
          <a:xfrm>
            <a:off x="7507681" y="283464"/>
            <a:ext cx="45720" cy="45720"/>
          </a:xfrm>
          <a:prstGeom prst="rect">
            <a:avLst/>
          </a:prstGeom>
          <a:solidFill>
            <a:srgbClr val="7E22CE"/>
          </a:solidFill>
          <a:ln w="12700">
            <a:solidFill>
              <a:srgbClr val="7E22CE"/>
            </a:solidFill>
            <a:prstDash val="solid"/>
          </a:ln>
        </p:spPr>
      </p:sp>
      <p:pic>
        <p:nvPicPr>
          <p:cNvPr id="24" name="Image 0" descr="preencoded.png">    </p:cNvPr>
          <p:cNvPicPr>
            <a:picLocks noChangeAspect="1"/>
          </p:cNvPicPr>
          <p:nvPr/>
        </p:nvPicPr>
        <p:blipFill>
          <a:blip r:embed="rId1"/>
          <a:stretch>
            <a:fillRect/>
          </a:stretch>
        </p:blipFill>
        <p:spPr>
          <a:xfrm>
            <a:off x="7608265" y="128016"/>
            <a:ext cx="201168" cy="201168"/>
          </a:xfrm>
          <a:prstGeom prst="rect">
            <a:avLst/>
          </a:prstGeom>
        </p:spPr>
      </p:pic>
      <p:sp>
        <p:nvSpPr>
          <p:cNvPr id="25" name="Text 22"/>
          <p:cNvSpPr txBox="1"/>
          <p:nvPr/>
        </p:nvSpPr>
        <p:spPr>
          <a:xfrm>
            <a:off x="7864297" y="91440"/>
            <a:ext cx="3742182"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addressing modes</a:t>
            </a:r>
            <a:pPr indent="0" marL="0">
              <a:buNone/>
            </a:pPr>
            <a:r>
              <a:rPr lang="en-US" sz="1100" b="1" dirty="0">
                <a:solidFill>
                  <a:srgbClr val="6B21A8"/>
                </a:solidFill>
                <a:latin typeface="Calibri" pitchFamily="34" charset="0"/>
                <a:ea typeface="Calibri" pitchFamily="34" charset="-122"/>
                <a:cs typeface="Calibri" pitchFamily="34" charset="-120"/>
              </a:rPr>
              <a:t> → Lecture 19</a:t>
            </a:r>
            <a:endParaRPr lang="en-US" sz="1100" dirty="0"/>
          </a:p>
        </p:txBody>
      </p:sp>
      <p:sp>
        <p:nvSpPr>
          <p:cNvPr id="26" name="Shape 23"/>
          <p:cNvSpPr/>
          <p:nvPr/>
        </p:nvSpPr>
        <p:spPr>
          <a:xfrm>
            <a:off x="3621227" y="91440"/>
            <a:ext cx="3749294" cy="274320"/>
          </a:xfrm>
          <a:prstGeom prst="rect">
            <a:avLst/>
          </a:prstGeom>
          <a:solidFill>
            <a:srgbClr val="E0F2FE"/>
          </a:solidFill>
          <a:ln w="12700">
            <a:solidFill>
              <a:srgbClr val="0369A1"/>
            </a:solidFill>
            <a:prstDash val="solid"/>
          </a:ln>
        </p:spPr>
      </p:sp>
      <p:sp>
        <p:nvSpPr>
          <p:cNvPr id="27" name="Shape 24"/>
          <p:cNvSpPr/>
          <p:nvPr/>
        </p:nvSpPr>
        <p:spPr>
          <a:xfrm>
            <a:off x="3621227" y="91440"/>
            <a:ext cx="73152" cy="274320"/>
          </a:xfrm>
          <a:prstGeom prst="rect">
            <a:avLst/>
          </a:prstGeom>
          <a:solidFill>
            <a:srgbClr val="0369A1"/>
          </a:solidFill>
          <a:ln w="12700">
            <a:solidFill>
              <a:srgbClr val="0369A1"/>
            </a:solidFill>
            <a:prstDash val="solid"/>
          </a:ln>
        </p:spPr>
      </p:sp>
      <p:pic>
        <p:nvPicPr>
          <p:cNvPr id="28" name="Image 1" descr="preencoded.png">    </p:cNvPr>
          <p:cNvPicPr>
            <a:picLocks noChangeAspect="1"/>
          </p:cNvPicPr>
          <p:nvPr/>
        </p:nvPicPr>
        <p:blipFill>
          <a:blip r:embed="rId2"/>
          <a:stretch>
            <a:fillRect/>
          </a:stretch>
        </p:blipFill>
        <p:spPr>
          <a:xfrm>
            <a:off x="3749243" y="128016"/>
            <a:ext cx="201168" cy="201168"/>
          </a:xfrm>
          <a:prstGeom prst="rect">
            <a:avLst/>
          </a:prstGeom>
        </p:spPr>
      </p:pic>
      <p:sp>
        <p:nvSpPr>
          <p:cNvPr id="29" name="Text 25"/>
          <p:cNvSpPr txBox="1"/>
          <p:nvPr/>
        </p:nvSpPr>
        <p:spPr>
          <a:xfrm>
            <a:off x="4005275"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address, value, load, store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instructions you have just used</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72967"/>
                <a:gridCol w="2817629"/>
                <a:gridCol w="3698138"/>
                <a:gridCol w="290568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Family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 it does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Example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Arithmetic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sub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combine two registers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t0, t1, t2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Logic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 or, xor</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bitwise operation on two registers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 t0, t1, t2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andi, ori, xori</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register and one small constant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t1,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sw</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or store a 32-bit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t1, 0(t0)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call, ret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go to a function and come back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call prg32_gfx_rect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287715" y="91440"/>
            <a:ext cx="3355340" cy="274320"/>
          </a:xfrm>
          <a:prstGeom prst="rect">
            <a:avLst/>
          </a:prstGeom>
          <a:solidFill>
            <a:srgbClr val="E0F2FE"/>
          </a:solidFill>
          <a:ln w="12700">
            <a:solidFill>
              <a:srgbClr val="0369A1"/>
            </a:solidFill>
            <a:prstDash val="solid"/>
          </a:ln>
        </p:spPr>
      </p:sp>
      <p:sp>
        <p:nvSpPr>
          <p:cNvPr id="5" name="Shape 2"/>
          <p:cNvSpPr/>
          <p:nvPr/>
        </p:nvSpPr>
        <p:spPr>
          <a:xfrm>
            <a:off x="828771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7" name="Text 3"/>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base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Pseudo-instructions: shortcuts the assembler expands</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4622673"/>
                <a:gridCol w="369813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write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The assembler emits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Meaning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li t0, 42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t0, zero, 42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a constant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mv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t0, t1, 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copy a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not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xori t0,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bitwise complement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la t0, counter</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auipc t0, ... + addi t0, t0, ...</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the address of a label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ret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jalr zero, 0(ra)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jump to the address in 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beqz t0, skip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 t0, zero, skip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branch if t0 is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419033" y="91440"/>
            <a:ext cx="3224022" cy="274320"/>
          </a:xfrm>
          <a:prstGeom prst="rect">
            <a:avLst/>
          </a:prstGeom>
          <a:solidFill>
            <a:srgbClr val="E0F2FE"/>
          </a:solidFill>
          <a:ln w="12700">
            <a:solidFill>
              <a:srgbClr val="0369A1"/>
            </a:solidFill>
            <a:prstDash val="solid"/>
          </a:ln>
        </p:spPr>
      </p:sp>
      <p:sp>
        <p:nvSpPr>
          <p:cNvPr id="5" name="Shape 2"/>
          <p:cNvSpPr/>
          <p:nvPr/>
        </p:nvSpPr>
        <p:spPr>
          <a:xfrm>
            <a:off x="841903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7" name="Text 3"/>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pseudo-instructions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instruction is one 32-bit number</a:t>
            </a:r>
            <a:endParaRPr lang="en-US" sz="3200" dirty="0"/>
          </a:p>
        </p:txBody>
      </p:sp>
      <p:sp>
        <p:nvSpPr>
          <p:cNvPr id="3" name="Text 1"/>
          <p:cNvSpPr txBox="1"/>
          <p:nvPr/>
        </p:nvSpPr>
        <p:spPr>
          <a:xfrm>
            <a:off x="548640" y="1417320"/>
            <a:ext cx="11094415" cy="548640"/>
          </a:xfrm>
          <a:prstGeom prst="rect">
            <a:avLst/>
          </a:prstGeom>
          <a:noFill/>
          <a:ln/>
        </p:spPr>
        <p:txBody>
          <a:bodyPr wrap="square" lIns="0" tIns="0" rIns="0" bIns="0" rtlCol="0" anchor="t"/>
          <a:lstStyle/>
          <a:p>
            <a:pPr algn="ctr" indent="0" marL="0">
              <a:buNone/>
            </a:pPr>
            <a:r>
              <a:rPr lang="en-US" sz="2800" b="1" dirty="0">
                <a:solidFill>
                  <a:srgbClr val="2E4A62"/>
                </a:solidFill>
                <a:latin typeface="Courier New" pitchFamily="34" charset="0"/>
                <a:ea typeface="Courier New" pitchFamily="34" charset="-122"/>
                <a:cs typeface="Courier New" pitchFamily="34" charset="-120"/>
              </a:rPr>
              <a:t>addi t1, t1, 1</a:t>
            </a:r>
            <a:endParaRPr lang="en-US" sz="2800" dirty="0"/>
          </a:p>
        </p:txBody>
      </p:sp>
      <p:sp>
        <p:nvSpPr>
          <p:cNvPr id="4" name="Text 2"/>
          <p:cNvSpPr txBox="1"/>
          <p:nvPr/>
        </p:nvSpPr>
        <p:spPr>
          <a:xfrm>
            <a:off x="914400" y="2560320"/>
            <a:ext cx="3806308" cy="73152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000000000001</a:t>
            </a:r>
            <a:endParaRPr lang="en-US" sz="1700" dirty="0"/>
          </a:p>
        </p:txBody>
      </p:sp>
      <p:sp>
        <p:nvSpPr>
          <p:cNvPr id="5" name="Text 3"/>
          <p:cNvSpPr txBox="1"/>
          <p:nvPr/>
        </p:nvSpPr>
        <p:spPr>
          <a:xfrm>
            <a:off x="914400" y="3346704"/>
            <a:ext cx="380630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immediate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the constant 1</a:t>
            </a:r>
            <a:endParaRPr lang="en-US" sz="1300" dirty="0"/>
          </a:p>
        </p:txBody>
      </p:sp>
      <p:sp>
        <p:nvSpPr>
          <p:cNvPr id="6" name="Text 4"/>
          <p:cNvSpPr txBox="1"/>
          <p:nvPr/>
        </p:nvSpPr>
        <p:spPr>
          <a:xfrm>
            <a:off x="950976" y="2322576"/>
            <a:ext cx="190315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7" name="Text 5"/>
          <p:cNvSpPr txBox="1"/>
          <p:nvPr/>
        </p:nvSpPr>
        <p:spPr>
          <a:xfrm>
            <a:off x="2817554" y="2322576"/>
            <a:ext cx="186657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8" name="Text 6"/>
          <p:cNvSpPr txBox="1"/>
          <p:nvPr/>
        </p:nvSpPr>
        <p:spPr>
          <a:xfrm>
            <a:off x="4720708" y="2560320"/>
            <a:ext cx="1585962" cy="73152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00110</a:t>
            </a:r>
            <a:endParaRPr lang="en-US" sz="1700" dirty="0"/>
          </a:p>
        </p:txBody>
      </p:sp>
      <p:sp>
        <p:nvSpPr>
          <p:cNvPr id="9" name="Text 7"/>
          <p:cNvSpPr txBox="1"/>
          <p:nvPr/>
        </p:nvSpPr>
        <p:spPr>
          <a:xfrm>
            <a:off x="4720708" y="3346704"/>
            <a:ext cx="1585962"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t1 is x6</a:t>
            </a:r>
            <a:endParaRPr lang="en-US" sz="1300" dirty="0"/>
          </a:p>
        </p:txBody>
      </p:sp>
      <p:sp>
        <p:nvSpPr>
          <p:cNvPr id="10" name="Text 8"/>
          <p:cNvSpPr txBox="1"/>
          <p:nvPr/>
        </p:nvSpPr>
        <p:spPr>
          <a:xfrm>
            <a:off x="4757284" y="232257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1" name="Text 9"/>
          <p:cNvSpPr txBox="1"/>
          <p:nvPr/>
        </p:nvSpPr>
        <p:spPr>
          <a:xfrm>
            <a:off x="5513689" y="232257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2" name="Text 10"/>
          <p:cNvSpPr txBox="1"/>
          <p:nvPr/>
        </p:nvSpPr>
        <p:spPr>
          <a:xfrm>
            <a:off x="6306670" y="2560320"/>
            <a:ext cx="1164317" cy="73152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a:t>
            </a:r>
            <a:endParaRPr lang="en-US" sz="1700" dirty="0"/>
          </a:p>
        </p:txBody>
      </p:sp>
      <p:sp>
        <p:nvSpPr>
          <p:cNvPr id="13" name="Text 11"/>
          <p:cNvSpPr txBox="1"/>
          <p:nvPr/>
        </p:nvSpPr>
        <p:spPr>
          <a:xfrm>
            <a:off x="6306670" y="3346704"/>
            <a:ext cx="116431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a:t>
            </a:r>
            <a:endParaRPr lang="en-US" sz="1300" dirty="0"/>
          </a:p>
        </p:txBody>
      </p:sp>
      <p:sp>
        <p:nvSpPr>
          <p:cNvPr id="14" name="Text 12"/>
          <p:cNvSpPr txBox="1"/>
          <p:nvPr/>
        </p:nvSpPr>
        <p:spPr>
          <a:xfrm>
            <a:off x="6343246" y="2322576"/>
            <a:ext cx="58215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15" name="Text 13"/>
          <p:cNvSpPr txBox="1"/>
          <p:nvPr/>
        </p:nvSpPr>
        <p:spPr>
          <a:xfrm>
            <a:off x="6888828" y="2322576"/>
            <a:ext cx="54558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16" name="Text 14"/>
          <p:cNvSpPr txBox="1"/>
          <p:nvPr/>
        </p:nvSpPr>
        <p:spPr>
          <a:xfrm>
            <a:off x="7470987" y="2560320"/>
            <a:ext cx="1585962" cy="73152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00110</a:t>
            </a:r>
            <a:endParaRPr lang="en-US" sz="1700" dirty="0"/>
          </a:p>
        </p:txBody>
      </p:sp>
      <p:sp>
        <p:nvSpPr>
          <p:cNvPr id="17" name="Text 15"/>
          <p:cNvSpPr txBox="1"/>
          <p:nvPr/>
        </p:nvSpPr>
        <p:spPr>
          <a:xfrm>
            <a:off x="7470987" y="3346704"/>
            <a:ext cx="1585962"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t1 is x6</a:t>
            </a:r>
            <a:endParaRPr lang="en-US" sz="1300" dirty="0"/>
          </a:p>
        </p:txBody>
      </p:sp>
      <p:sp>
        <p:nvSpPr>
          <p:cNvPr id="18" name="Text 16"/>
          <p:cNvSpPr txBox="1"/>
          <p:nvPr/>
        </p:nvSpPr>
        <p:spPr>
          <a:xfrm>
            <a:off x="7507563" y="232257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19" name="Text 17"/>
          <p:cNvSpPr txBox="1"/>
          <p:nvPr/>
        </p:nvSpPr>
        <p:spPr>
          <a:xfrm>
            <a:off x="8263968" y="232257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20" name="Text 18"/>
          <p:cNvSpPr txBox="1"/>
          <p:nvPr/>
        </p:nvSpPr>
        <p:spPr>
          <a:xfrm>
            <a:off x="9056949" y="2560320"/>
            <a:ext cx="2220347" cy="73152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0010011</a:t>
            </a:r>
            <a:endParaRPr lang="en-US" sz="1700" dirty="0"/>
          </a:p>
        </p:txBody>
      </p:sp>
      <p:sp>
        <p:nvSpPr>
          <p:cNvPr id="21" name="Text 19"/>
          <p:cNvSpPr txBox="1"/>
          <p:nvPr/>
        </p:nvSpPr>
        <p:spPr>
          <a:xfrm>
            <a:off x="9056949" y="3346704"/>
            <a:ext cx="222034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register-immediate</a:t>
            </a:r>
            <a:endParaRPr lang="en-US" sz="1300" dirty="0"/>
          </a:p>
        </p:txBody>
      </p:sp>
      <p:sp>
        <p:nvSpPr>
          <p:cNvPr id="22" name="Text 20"/>
          <p:cNvSpPr txBox="1"/>
          <p:nvPr/>
        </p:nvSpPr>
        <p:spPr>
          <a:xfrm>
            <a:off x="9093525" y="2322576"/>
            <a:ext cx="111017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3" name="Text 21"/>
          <p:cNvSpPr txBox="1"/>
          <p:nvPr/>
        </p:nvSpPr>
        <p:spPr>
          <a:xfrm>
            <a:off x="10167122" y="2322576"/>
            <a:ext cx="107359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4" name="Text 22"/>
          <p:cNvSpPr txBox="1"/>
          <p:nvPr/>
        </p:nvSpPr>
        <p:spPr>
          <a:xfrm>
            <a:off x="548640" y="4206240"/>
            <a:ext cx="11094415" cy="640080"/>
          </a:xfrm>
          <a:prstGeom prst="rect">
            <a:avLst/>
          </a:prstGeom>
          <a:noFill/>
          <a:ln/>
        </p:spPr>
        <p:txBody>
          <a:bodyPr wrap="square" lIns="0" tIns="0" rIns="0" bIns="0" rtlCol="0" anchor="ctr"/>
          <a:lstStyle/>
          <a:p>
            <a:pPr algn="ctr" indent="0" marL="0">
              <a:buNone/>
            </a:pPr>
            <a:r>
              <a:rPr lang="en-US" sz="3400" b="1" dirty="0">
                <a:solidFill>
                  <a:srgbClr val="1B2530"/>
                </a:solidFill>
                <a:latin typeface="Courier New" pitchFamily="34" charset="0"/>
                <a:ea typeface="Courier New" pitchFamily="34" charset="-122"/>
                <a:cs typeface="Courier New" pitchFamily="34" charset="-120"/>
              </a:rPr>
              <a:t>0x00130313</a:t>
            </a:r>
            <a:endParaRPr lang="en-US" sz="3400" dirty="0"/>
          </a:p>
        </p:txBody>
      </p:sp>
      <p:sp>
        <p:nvSpPr>
          <p:cNvPr id="25" name="Shape 23"/>
          <p:cNvSpPr/>
          <p:nvPr/>
        </p:nvSpPr>
        <p:spPr>
          <a:xfrm>
            <a:off x="548640" y="5074920"/>
            <a:ext cx="11094415" cy="1097280"/>
          </a:xfrm>
          <a:prstGeom prst="roundRect">
            <a:avLst>
              <a:gd name="adj" fmla="val 6667"/>
            </a:avLst>
          </a:prstGeom>
          <a:solidFill>
            <a:srgbClr val="D8ECEE"/>
          </a:solidFill>
          <a:ln w="12700">
            <a:solidFill>
              <a:srgbClr val="D8ECEE"/>
            </a:solidFill>
            <a:prstDash val="solid"/>
          </a:ln>
        </p:spPr>
      </p:sp>
      <p:sp>
        <p:nvSpPr>
          <p:cNvPr id="26" name="Text 24"/>
          <p:cNvSpPr txBox="1"/>
          <p:nvPr/>
        </p:nvSpPr>
        <p:spPr>
          <a:xfrm>
            <a:off x="822960" y="5120640"/>
            <a:ext cx="10545775" cy="100584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Assembly is a readable spelling of machine code. The assembler translates each line into one 32-bit word; the processor reads the fields with logic circuits that we will design ourselves later in the course.</a:t>
            </a:r>
            <a:endParaRPr lang="en-US" sz="1700" dirty="0"/>
          </a:p>
        </p:txBody>
      </p:sp>
      <p:sp>
        <p:nvSpPr>
          <p:cNvPr id="27" name="Shape 25"/>
          <p:cNvSpPr/>
          <p:nvPr/>
        </p:nvSpPr>
        <p:spPr>
          <a:xfrm>
            <a:off x="7283272" y="91440"/>
            <a:ext cx="4359783" cy="274320"/>
          </a:xfrm>
          <a:prstGeom prst="rect">
            <a:avLst/>
          </a:prstGeom>
          <a:solidFill>
            <a:srgbClr val="F3E8FF"/>
          </a:solidFill>
          <a:ln w="12700">
            <a:solidFill>
              <a:srgbClr val="7E22CE"/>
            </a:solidFill>
            <a:prstDash val="dash"/>
          </a:ln>
        </p:spPr>
      </p:sp>
      <p:sp>
        <p:nvSpPr>
          <p:cNvPr id="28" name="Shape 26"/>
          <p:cNvSpPr/>
          <p:nvPr/>
        </p:nvSpPr>
        <p:spPr>
          <a:xfrm>
            <a:off x="7310704" y="128016"/>
            <a:ext cx="45720" cy="45720"/>
          </a:xfrm>
          <a:prstGeom prst="rect">
            <a:avLst/>
          </a:prstGeom>
          <a:solidFill>
            <a:srgbClr val="7E22CE"/>
          </a:solidFill>
          <a:ln w="12700">
            <a:solidFill>
              <a:srgbClr val="7E22CE"/>
            </a:solidFill>
            <a:prstDash val="solid"/>
          </a:ln>
        </p:spPr>
      </p:sp>
      <p:sp>
        <p:nvSpPr>
          <p:cNvPr id="29" name="Shape 27"/>
          <p:cNvSpPr/>
          <p:nvPr/>
        </p:nvSpPr>
        <p:spPr>
          <a:xfrm>
            <a:off x="7310704" y="205740"/>
            <a:ext cx="45720" cy="45720"/>
          </a:xfrm>
          <a:prstGeom prst="rect">
            <a:avLst/>
          </a:prstGeom>
          <a:solidFill>
            <a:srgbClr val="7E22CE"/>
          </a:solidFill>
          <a:ln w="12700">
            <a:solidFill>
              <a:srgbClr val="7E22CE"/>
            </a:solidFill>
            <a:prstDash val="solid"/>
          </a:ln>
        </p:spPr>
      </p:sp>
      <p:sp>
        <p:nvSpPr>
          <p:cNvPr id="30" name="Shape 28"/>
          <p:cNvSpPr/>
          <p:nvPr/>
        </p:nvSpPr>
        <p:spPr>
          <a:xfrm>
            <a:off x="7310704" y="283464"/>
            <a:ext cx="45720" cy="45720"/>
          </a:xfrm>
          <a:prstGeom prst="rect">
            <a:avLst/>
          </a:prstGeom>
          <a:solidFill>
            <a:srgbClr val="7E22CE"/>
          </a:solidFill>
          <a:ln w="12700">
            <a:solidFill>
              <a:srgbClr val="7E22CE"/>
            </a:solidFill>
            <a:prstDash val="solid"/>
          </a:ln>
        </p:spPr>
      </p:sp>
      <p:pic>
        <p:nvPicPr>
          <p:cNvPr id="31" name="Image 0" descr="preencoded.png">    </p:cNvPr>
          <p:cNvPicPr>
            <a:picLocks noChangeAspect="1"/>
          </p:cNvPicPr>
          <p:nvPr/>
        </p:nvPicPr>
        <p:blipFill>
          <a:blip r:embed="rId1"/>
          <a:stretch>
            <a:fillRect/>
          </a:stretch>
        </p:blipFill>
        <p:spPr>
          <a:xfrm>
            <a:off x="7411288" y="128016"/>
            <a:ext cx="201168" cy="201168"/>
          </a:xfrm>
          <a:prstGeom prst="rect">
            <a:avLst/>
          </a:prstGeom>
        </p:spPr>
      </p:pic>
      <p:sp>
        <p:nvSpPr>
          <p:cNvPr id="32" name="Text 29"/>
          <p:cNvSpPr txBox="1"/>
          <p:nvPr/>
        </p:nvSpPr>
        <p:spPr>
          <a:xfrm>
            <a:off x="7667320" y="91440"/>
            <a:ext cx="393915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instruction formats</a:t>
            </a:r>
            <a:pPr indent="0" marL="0">
              <a:buNone/>
            </a:pPr>
            <a:r>
              <a:rPr lang="en-US" sz="1100" b="1" dirty="0">
                <a:solidFill>
                  <a:srgbClr val="6B21A8"/>
                </a:solidFill>
                <a:latin typeface="Calibri" pitchFamily="34" charset="0"/>
                <a:ea typeface="Calibri" pitchFamily="34" charset="-122"/>
                <a:cs typeface="Calibri" pitchFamily="34" charset="-120"/>
              </a:rPr>
              <a:t> → Lecture 19</a:t>
            </a:r>
            <a:endParaRPr lang="en-US" sz="1100" dirty="0"/>
          </a:p>
        </p:txBody>
      </p:sp>
      <p:sp>
        <p:nvSpPr>
          <p:cNvPr id="33" name="Shape 30"/>
          <p:cNvSpPr/>
          <p:nvPr/>
        </p:nvSpPr>
        <p:spPr>
          <a:xfrm>
            <a:off x="3489909" y="91440"/>
            <a:ext cx="3683635" cy="274320"/>
          </a:xfrm>
          <a:prstGeom prst="rect">
            <a:avLst/>
          </a:prstGeom>
          <a:solidFill>
            <a:srgbClr val="E0F2FE"/>
          </a:solidFill>
          <a:ln w="12700">
            <a:solidFill>
              <a:srgbClr val="0369A1"/>
            </a:solidFill>
            <a:prstDash val="solid"/>
          </a:ln>
        </p:spPr>
      </p:sp>
      <p:sp>
        <p:nvSpPr>
          <p:cNvPr id="34" name="Shape 31"/>
          <p:cNvSpPr/>
          <p:nvPr/>
        </p:nvSpPr>
        <p:spPr>
          <a:xfrm>
            <a:off x="3489909" y="91440"/>
            <a:ext cx="73152" cy="274320"/>
          </a:xfrm>
          <a:prstGeom prst="rect">
            <a:avLst/>
          </a:prstGeom>
          <a:solidFill>
            <a:srgbClr val="0369A1"/>
          </a:solidFill>
          <a:ln w="12700">
            <a:solidFill>
              <a:srgbClr val="0369A1"/>
            </a:solidFill>
            <a:prstDash val="solid"/>
          </a:ln>
        </p:spPr>
      </p:sp>
      <p:pic>
        <p:nvPicPr>
          <p:cNvPr id="35" name="Image 1" descr="preencoded.png">    </p:cNvPr>
          <p:cNvPicPr>
            <a:picLocks noChangeAspect="1"/>
          </p:cNvPicPr>
          <p:nvPr/>
        </p:nvPicPr>
        <p:blipFill>
          <a:blip r:embed="rId2"/>
          <a:stretch>
            <a:fillRect/>
          </a:stretch>
        </p:blipFill>
        <p:spPr>
          <a:xfrm>
            <a:off x="3617925" y="128016"/>
            <a:ext cx="201168" cy="201168"/>
          </a:xfrm>
          <a:prstGeom prst="rect">
            <a:avLst/>
          </a:prstGeom>
        </p:spPr>
      </p:pic>
      <p:sp>
        <p:nvSpPr>
          <p:cNvPr id="36" name="Text 32"/>
          <p:cNvSpPr txBox="1"/>
          <p:nvPr/>
        </p:nvSpPr>
        <p:spPr>
          <a:xfrm>
            <a:off x="3873957" y="91440"/>
            <a:ext cx="326301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an instruction is a number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a microscope for registers</a:t>
            </a:r>
            <a:endParaRPr lang="en-US" sz="3200" dirty="0"/>
          </a:p>
        </p:txBody>
      </p:sp>
      <p:sp>
        <p:nvSpPr>
          <p:cNvPr id="3" name="Shape 1"/>
          <p:cNvSpPr/>
          <p:nvPr/>
        </p:nvSpPr>
        <p:spPr>
          <a:xfrm>
            <a:off x="548640" y="155752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35608"/>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Runs the same cartridge on your desktop, one instruction at a time</a:t>
            </a:r>
            <a:endParaRPr lang="en-US" sz="2400" dirty="0"/>
          </a:p>
        </p:txBody>
      </p:sp>
      <p:sp>
        <p:nvSpPr>
          <p:cNvPr id="5" name="Shape 3"/>
          <p:cNvSpPr/>
          <p:nvPr/>
        </p:nvSpPr>
        <p:spPr>
          <a:xfrm>
            <a:off x="548640" y="27584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36520"/>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Stops between any two instructions and shows every register</a:t>
            </a:r>
            <a:endParaRPr lang="en-US" sz="2400" dirty="0"/>
          </a:p>
        </p:txBody>
      </p:sp>
      <p:sp>
        <p:nvSpPr>
          <p:cNvPr id="7" name="Shape 5"/>
          <p:cNvSpPr/>
          <p:nvPr/>
        </p:nvSpPr>
        <p:spPr>
          <a:xfrm>
            <a:off x="548640" y="39593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37432"/>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Step through first_update and watch t0 and t1 change</a:t>
            </a:r>
            <a:endParaRPr lang="en-US" sz="2400" dirty="0"/>
          </a:p>
        </p:txBody>
      </p:sp>
      <p:sp>
        <p:nvSpPr>
          <p:cNvPr id="9" name="Shape 7"/>
          <p:cNvSpPr/>
          <p:nvPr/>
        </p:nvSpPr>
        <p:spPr>
          <a:xfrm>
            <a:off x="548640" y="516026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38344"/>
            <a:ext cx="546811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Use the board when you want the truth about time, PRG32-QT when you want the truth about a register</a:t>
            </a:r>
            <a:endParaRPr lang="en-US" sz="2400" dirty="0"/>
          </a:p>
        </p:txBody>
      </p:sp>
      <p:pic>
        <p:nvPicPr>
          <p:cNvPr id="11" name="Image 0" descr="/Users/raffaelemontella/devel/riscv-prg32/computer-architecture-with-prg32/tools/assets/prg32qt_debugger.png">    </p:cNvPr>
          <p:cNvPicPr>
            <a:picLocks noChangeAspect="1"/>
          </p:cNvPicPr>
          <p:nvPr/>
        </p:nvPicPr>
        <p:blipFill>
          <a:blip r:embed="rId1"/>
          <a:stretch>
            <a:fillRect/>
          </a:stretch>
        </p:blipFill>
        <p:spPr>
          <a:xfrm>
            <a:off x="6766560" y="1882245"/>
            <a:ext cx="4876495" cy="3367829"/>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PRG32-QT debugger: source, registers, memory</a:t>
            </a:r>
            <a:endParaRPr lang="en-US" sz="1200" dirty="0"/>
          </a:p>
        </p:txBody>
      </p:sp>
      <p:sp>
        <p:nvSpPr>
          <p:cNvPr id="13" name="Shape 10"/>
          <p:cNvSpPr/>
          <p:nvPr/>
        </p:nvSpPr>
        <p:spPr>
          <a:xfrm>
            <a:off x="8894013" y="91440"/>
            <a:ext cx="2749042" cy="274320"/>
          </a:xfrm>
          <a:prstGeom prst="rect">
            <a:avLst/>
          </a:prstGeom>
          <a:solidFill>
            <a:srgbClr val="FEF3C7"/>
          </a:solidFill>
          <a:ln w="12700">
            <a:solidFill>
              <a:srgbClr val="B45309"/>
            </a:solidFill>
            <a:prstDash val="solid"/>
          </a:ln>
        </p:spPr>
      </p:sp>
      <p:sp>
        <p:nvSpPr>
          <p:cNvPr id="14" name="Shape 11"/>
          <p:cNvSpPr/>
          <p:nvPr/>
        </p:nvSpPr>
        <p:spPr>
          <a:xfrm>
            <a:off x="8894013" y="91440"/>
            <a:ext cx="27432" cy="274320"/>
          </a:xfrm>
          <a:prstGeom prst="rect">
            <a:avLst/>
          </a:prstGeom>
          <a:solidFill>
            <a:srgbClr val="B45309"/>
          </a:solidFill>
          <a:ln w="12700">
            <a:solidFill>
              <a:srgbClr val="B45309"/>
            </a:solidFill>
            <a:prstDash val="solid"/>
          </a:ln>
        </p:spPr>
      </p:sp>
      <p:sp>
        <p:nvSpPr>
          <p:cNvPr id="15" name="Shape 12"/>
          <p:cNvSpPr/>
          <p:nvPr/>
        </p:nvSpPr>
        <p:spPr>
          <a:xfrm>
            <a:off x="8948877" y="91440"/>
            <a:ext cx="27432" cy="274320"/>
          </a:xfrm>
          <a:prstGeom prst="rect">
            <a:avLst/>
          </a:prstGeom>
          <a:solidFill>
            <a:srgbClr val="B45309"/>
          </a:solidFill>
          <a:ln w="12700">
            <a:solidFill>
              <a:srgbClr val="B45309"/>
            </a:solidFill>
            <a:prstDash val="solid"/>
          </a:ln>
        </p:spPr>
      </p:sp>
      <p:pic>
        <p:nvPicPr>
          <p:cNvPr id="16" name="Image 1" descr="preencoded.png">    </p:cNvPr>
          <p:cNvPicPr>
            <a:picLocks noChangeAspect="1"/>
          </p:cNvPicPr>
          <p:nvPr/>
        </p:nvPicPr>
        <p:blipFill>
          <a:blip r:embed="rId2"/>
          <a:stretch>
            <a:fillRect/>
          </a:stretch>
        </p:blipFill>
        <p:spPr>
          <a:xfrm>
            <a:off x="9022029" y="128016"/>
            <a:ext cx="201168" cy="201168"/>
          </a:xfrm>
          <a:prstGeom prst="rect">
            <a:avLst/>
          </a:prstGeom>
        </p:spPr>
      </p:pic>
      <p:sp>
        <p:nvSpPr>
          <p:cNvPr id="17" name="Text 13"/>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Trace it by hand: three frames of first_update</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13452"/>
                <a:gridCol w="2253553"/>
                <a:gridCol w="2426903"/>
                <a:gridCol w="2600254"/>
                <a:gridCol w="26002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lw: t1 becomes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addi: t1 becomes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sw: counter becomes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Bar width (andi 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At frame 256 the counter keeps growing, but its low eight bits return to zero: the bar starts again.</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tracing by hand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Questions your program has already raised</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757786"/>
                <a:gridCol w="4652497"/>
                <a:gridCol w="2684133"/>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You saw</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The question</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Answered in</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0x07e0, 0xffff, 255</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Why do programmers write numbers in hexadecimal?</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Lectures 04 and 05</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 position below zero shown as 0xFFFFFFFF</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How does a register hold a negative number?</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 05</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 ball that moves less than a pixel per frame</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How do we represent fractions without an FPU?</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 06</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andi a2, t1, 255</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What does AND do to thirty-two bits at once?</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Lectures 08 and 09</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addi t1, t1, 1</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Which circuit actually adds two numbers?</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 09: the adders</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 pressed button is a 1</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What is a bit made of, physically?</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 10</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counter survives between frames</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How does a circuit remember a bit?</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Lectures 13 and 15</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0x00130313</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How does the processor decode and execute it?</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Lectures 18 and 19</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three functions and a rectangle</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Can I make a whole game out of this?</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Verm1: 07, 12, 17, 22</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431606" y="91440"/>
            <a:ext cx="3211449" cy="274320"/>
          </a:xfrm>
          <a:prstGeom prst="rect">
            <a:avLst/>
          </a:prstGeom>
          <a:solidFill>
            <a:srgbClr val="F3E8FF"/>
          </a:solidFill>
          <a:ln w="12700">
            <a:solidFill>
              <a:srgbClr val="7E22CE"/>
            </a:solidFill>
            <a:prstDash val="dash"/>
          </a:ln>
        </p:spPr>
      </p:sp>
      <p:sp>
        <p:nvSpPr>
          <p:cNvPr id="5" name="Shape 2"/>
          <p:cNvSpPr/>
          <p:nvPr/>
        </p:nvSpPr>
        <p:spPr>
          <a:xfrm>
            <a:off x="8459038" y="128016"/>
            <a:ext cx="45720" cy="45720"/>
          </a:xfrm>
          <a:prstGeom prst="rect">
            <a:avLst/>
          </a:prstGeom>
          <a:solidFill>
            <a:srgbClr val="7E22CE"/>
          </a:solidFill>
          <a:ln w="12700">
            <a:solidFill>
              <a:srgbClr val="7E22CE"/>
            </a:solidFill>
            <a:prstDash val="solid"/>
          </a:ln>
        </p:spPr>
      </p:sp>
      <p:sp>
        <p:nvSpPr>
          <p:cNvPr id="6" name="Shape 3"/>
          <p:cNvSpPr/>
          <p:nvPr/>
        </p:nvSpPr>
        <p:spPr>
          <a:xfrm>
            <a:off x="8459038" y="205740"/>
            <a:ext cx="45720" cy="45720"/>
          </a:xfrm>
          <a:prstGeom prst="rect">
            <a:avLst/>
          </a:prstGeom>
          <a:solidFill>
            <a:srgbClr val="7E22CE"/>
          </a:solidFill>
          <a:ln w="12700">
            <a:solidFill>
              <a:srgbClr val="7E22CE"/>
            </a:solidFill>
            <a:prstDash val="solid"/>
          </a:ln>
        </p:spPr>
      </p:sp>
      <p:sp>
        <p:nvSpPr>
          <p:cNvPr id="7" name="Shape 4"/>
          <p:cNvSpPr/>
          <p:nvPr/>
        </p:nvSpPr>
        <p:spPr>
          <a:xfrm>
            <a:off x="8459038" y="283464"/>
            <a:ext cx="45720" cy="45720"/>
          </a:xfrm>
          <a:prstGeom prst="rect">
            <a:avLst/>
          </a:prstGeom>
          <a:solidFill>
            <a:srgbClr val="7E22CE"/>
          </a:solidFill>
          <a:ln w="12700">
            <a:solidFill>
              <a:srgbClr val="7E22CE"/>
            </a:solidFill>
            <a:prstDash val="solid"/>
          </a:ln>
        </p:spPr>
      </p:sp>
      <p:pic>
        <p:nvPicPr>
          <p:cNvPr id="8" name="Image 0" descr="preencoded.png">    </p:cNvPr>
          <p:cNvPicPr>
            <a:picLocks noChangeAspect="1"/>
          </p:cNvPicPr>
          <p:nvPr/>
        </p:nvPicPr>
        <p:blipFill>
          <a:blip r:embed="rId1"/>
          <a:stretch>
            <a:fillRect/>
          </a:stretch>
        </p:blipFill>
        <p:spPr>
          <a:xfrm>
            <a:off x="8559622" y="128016"/>
            <a:ext cx="201168" cy="201168"/>
          </a:xfrm>
          <a:prstGeom prst="rect">
            <a:avLst/>
          </a:prstGeom>
        </p:spPr>
      </p:pic>
      <p:sp>
        <p:nvSpPr>
          <p:cNvPr id="9" name="Text 5"/>
          <p:cNvSpPr txBox="1"/>
          <p:nvPr/>
        </p:nvSpPr>
        <p:spPr>
          <a:xfrm>
            <a:off x="8815654" y="91440"/>
            <a:ext cx="2790825"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b="1" dirty="0">
                <a:solidFill>
                  <a:srgbClr val="6B21A8"/>
                </a:solidFill>
                <a:latin typeface="Calibri" pitchFamily="34" charset="0"/>
                <a:ea typeface="Calibri" pitchFamily="34" charset="-122"/>
                <a:cs typeface="Calibri" pitchFamily="34" charset="-120"/>
              </a:rPr>
              <a:t> → Lectures 04–19</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After la t0, counter and lw t1, 0(t0), what does t0 hold?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value of the counter</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address of the counter</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Zero, because la clears the register</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return address</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function that calls prg32_gfx_clear must save one register before the call. Which one?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a0, because it carries the argument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 because the stack moves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ra, because call overwrites it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because it is temporary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t1 holds 300. What does andi a2, t1, 255 leave in a2?</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300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255</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45</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44</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84133"/>
                <a:gridCol w="2863075"/>
                <a:gridCol w="2684133"/>
                <a:gridCol w="286307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pila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load / store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caricare / memorizzare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 pointer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puntatore alla pila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address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indirizzo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return address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indirizzo di ritorno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immediato (costante)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calling convention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convenzione di chiamata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branch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salto condizionato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codice 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label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etichetta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cartuccia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Summary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RISC-V processor is thirty-two registers and a small set of instructions that compute, move and jump</a:t>
            </a:r>
            <a:endParaRPr lang="en-US" sz="2200" dirty="0"/>
          </a:p>
        </p:txBody>
      </p:sp>
      <p:sp>
        <p:nvSpPr>
          <p:cNvPr id="5" name="Shape 3"/>
          <p:cNvSpPr/>
          <p:nvPr/>
        </p:nvSpPr>
        <p:spPr>
          <a:xfrm>
            <a:off x="548640" y="254946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4303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PRG32 game is three functions; arguments travel in a0 to a7; a function that calls another saves ra</a:t>
            </a:r>
            <a:endParaRPr lang="en-US" sz="2200" dirty="0"/>
          </a:p>
        </p:txBody>
      </p:sp>
      <p:sp>
        <p:nvSpPr>
          <p:cNvPr id="7" name="Shape 5"/>
          <p:cNvSpPr/>
          <p:nvPr/>
        </p:nvSpPr>
        <p:spPr>
          <a:xfrm>
            <a:off x="548640" y="357517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8751"/>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Variables live in memory: la for the address, lw and sw for the value</a:t>
            </a:r>
            <a:endParaRPr lang="en-US" sz="2200" dirty="0"/>
          </a:p>
        </p:txBody>
      </p:sp>
      <p:sp>
        <p:nvSpPr>
          <p:cNvPr id="9" name="Shape 7"/>
          <p:cNvSpPr/>
          <p:nvPr/>
        </p:nvSpPr>
        <p:spPr>
          <a:xfrm>
            <a:off x="548640" y="42600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5359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instruction is a 32-bit number; assembly is its readable spelling</a:t>
            </a:r>
            <a:endParaRPr lang="en-US" sz="2200" dirty="0"/>
          </a:p>
        </p:txBody>
      </p:sp>
      <p:sp>
        <p:nvSpPr>
          <p:cNvPr id="11" name="Shape 9"/>
          <p:cNvSpPr/>
          <p:nvPr/>
        </p:nvSpPr>
        <p:spPr>
          <a:xfrm>
            <a:off x="548640" y="49448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5: First Contact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chapter 2</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PRG32 repository: docs/learn/tutorial_ascii_game.md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First Contact: RISC-V Assembly on PRG32</dc:title>
  <dc:subject>Lecture 02</dc:subject>
  <dc:creator>Raffaele Montella</dc:creator>
  <cp:lastModifiedBy>Raffaele Montella</cp:lastModifiedBy>
  <cp:revision>1</cp:revision>
  <dcterms:created xsi:type="dcterms:W3CDTF">2026-10-16T20:22:23Z</dcterms:created>
  <dcterms:modified xsi:type="dcterms:W3CDTF">2026-10-16T20:22:23Z</dcterms:modified>
</cp:coreProperties>
</file>