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cb1362-45a9-521f-0d2e-1172029be547}">
          <p14:sldIdLst>
            <p14:sldId id="256"/>
            <p14:sldId id="257"/>
          </p14:sldIdLst>
        </p14:section>
        <p14:section name="The machine" id="{0bac181c-d8b2-0321-faa9-5d820d66d66a}">
          <p14:sldIdLst>
            <p14:sldId id="258"/>
            <p14:sldId id="259"/>
            <p14:sldId id="260"/>
          </p14:sldIdLst>
        </p14:section>
        <p14:section name="Your first cartridge" id="{c711a821-b124-36da-5e54-a9065e97c3e3}">
          <p14:sldIdLst>
            <p14:sldId id="261"/>
            <p14:sldId id="262"/>
          </p14:sldIdLst>
        </p14:section>
        <p14:section name="Reading what you wrote" id="{12f4790a-1dea-3401-5c93-032b0179a8b3}">
          <p14:sldIdLst>
            <p14:sldId id="263"/>
            <p14:sldId id="264"/>
            <p14:sldId id="265"/>
            <p14:sldId id="266"/>
            <p14:sldId id="267"/>
          </p14:sldIdLst>
        </p14:section>
        <p14:section name="What comes next" id="{17c8ff9f-aa3e-31c7-2a3f-93e8cc61db0f}">
          <p14:sldIdLst>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lecture in which you write a program, and it comes before any theory on purpose. In two hours you build four small cartridges, each a complete program that runs. You will not understand every detail today, and you are not expected to: the aim is to see registers, memory and a function call at work, so that the lectures that follow have something concrete to explain. The quotation sets the tone: less talk, more code.
For the lecturer: New lecture for 2026/27. It is the 'play' turn of the spiral for the whole first half of the course: every later lecture points back to something typed here. The four steps are the verified steps of the textbook lab 05-asm-first-contact; run them live (labs/run.sh 05-asm-first-contact/stepN_....S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you will be able to do at the end. The first four are practical: build and run a cartridge, name the registers, call a function with its arguments, keep a value in memory between frames. The fifth is a change of point of view: an instruction is a 32-bit number. The sixth is the most important for the course: you will leave with a list of questions, and each of them is the subject of a later lecture.
For the lecturer: Tell the students explicitly that they are not expected to understand everything today. Today is for seeing; the next lectures are for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machine in four cards. There are 32 registers, each holding one 32-bit value, and the processor can compute only on what is in them. There are three kinds of instruction. Compute: arithmetic and logic between registers, such as add or addi. Move: transfers between a register and memory, lw to load a word and sw to store one; nothing else touches memory. Jump: changes of the instruction that runs next. Everything a computer does is a long sequence of these three kinds.
For the lecturer: That is very nearly the whole machine. The richness of computing comes not from a large instruction set but from combining a small one in long 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registers have names that say how they are used. a0 to a7 carry the arguments of a call, and a0 carries the result back. t0 to t6 are temporaries, free to use and not preserved by a call. s0 to s11 are preserved. ra holds the return address, sp the top of the stack, and zero always reads as 0. Read the caption carefully: these roles are not built into the hardware. They are an agreement, the calling convention, and it is what lets your assembly and the C code of the framework call each other.
For the lecturer: The roles are fixed not by the hardware but by an agreement: the calling convention, or ABI. Following it is what lets your assembly and the framework's C code call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with PRG32 is three functions that you write. init is called once, when the cartridge starts, to set up the state. update is called once per frame, to read the input and change the state. draw is called once per frame, to turn the state into a picture. The firmware finds them by name: a prefix chosen by you, followed by _init, _update and _draw. Keep the division of labour in mind from the first day: update decides, draw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save ra? The instruction call writes into ra the address to return to. But the function you call may make calls of its own, and each of them overwrites ra. So a function that calls another must first save its own ra in memory: it lowers sp by 16 to make room, the stack frame, and stores ra at 12(sp). After the call it does the reverse. The drawing shows the frame: the stack grows towards lower addresses. Forgetting this pair of operations is the classic first bug: the function returns to the wrong place.
For the lecturer: The convention requires sp to stay 16-byte aligned across calls, which is why the frame is 16 bytes even though only 4 are used. The stack is treated formally in the lectures on memory and on subroutines.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two ideas that beginners confuse: the address and the value. After la, t0 contains where the counter lives. After lw, t1 contains what is stored there, 41 in the drawing. addi changes the copy in the register to 42, and memory still says 41 until sw writes it back. Follow the two arrows. A practical habit from the box on the right: in your comments, write for every register whether it holds an ADDRESS or a VALUE. It prevents the most common error of the first month.
For the lecturer: A label names a location. la gives the location, lw gives the contents. This is how every variable in every program ultimately works; we return to it formally with addressing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families cover everything you have typed: arithmetic (add, sub), logic (and, or, xor), the immediate forms that take a small constant (addi, andi), memory (lw, sw) and control (call, ret). In every instruction the result goes in the first register named: add t0, t1, t2 puts t1 + t2 in t0. The base instruction set has about forty instructions, and you have already met a quarter of them.
For the lecturer: The result goes in the first register. The base RISC-V integer instruction set (RV32I) has about forty instructions; you have already met a quarter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of the instructions you wrote do not exist in the processor: they are pseudo-instructions, shortcuts that the assembler expands. li t0, 42 becomes addi t0, zero, 42; mv is an addi with 0; ret is a jump to the address in ra; beqz is a comparison with the register zero. Notice how often zero appears in the middle column: a register that is always 0 lets a small instruction set do the work of a larger one.
For the lecturer: A pseudo-instruction is not a separate hardware operation. The register zero is what makes many of them possible: a small instruction set, reused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instruction is a number. addi t1, t1, 1 is the 32-bit word 0x00130313, and the coloured strip shows its fields: twelve bits for the constant 1, five for the source register (t1 is register number 6), three that say "add", five for the destination, seven for the kind of instruction. You do not need to learn the format now. Keep the idea: assembly is a readable spelling of machine code, and the processor reads these fields with circuits that you will learn to design.
For the lecturer: Check: 0000 0000 0001 | 00110 | 000 | 00110 | 0010011 = 0000 0000 0001 0011 0000 0011 0001 0011 = 0x00130313. Do not explain the formats now; the point is only that an instruction is data. Lecture 04 (digital information) and the lectures on the processor come back to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runs the same cartridge on your laptop and can stop between any two instructions, showing every register. Use it now on the third step: go to update, pause, and execute the four instructions of first_update one at a time, watching t0 and t1. Before each press, say aloud what will change. The last line is a rule to remember: the board tells the truth about time, PRG32-QT tells the truth about a register.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trace by hand: for each frame, write what each instruction leaves in t1 and in memory. In the first frames nothing surprising happens. Look at the highlighted row: at frame 256 the counter becomes 256, yet the width of the bar is 0, because andi with 255 keeps only the low eight bits, and 256 in binary is a one followed by eight zeros. Tracing by hand is slow and unglamorous, and it is the most useful debugging skill you will learn in this course.
For the lecturer: The by-hand trace is the most valuable debugging skill of the course. 256 = 1 0000 0000 in binary: the low eight bits are all zero, so the bar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is something you saw today, the question it raises and where the answer is. Why hexadecimal? Lectures 04 and 05. How does a register hold a negative number? Lecture 05. What does AND do to thirty-two bits at once? Lectures 08 and 09. How does a circuit remember a bit? Lectures 13 and 15. How is 0x00130313 decoded and executed? Lectures 18 and 19. The last row is the project: from three functions and a rectangle, a whole game. Keep this table: it is the map of the course seen from your own program.
For the lecturer: This is the forward map of the course. Keep a copy: each later deck opens by pointing at one of these rows. The last row is the project: Verm1 starts in Lecture 07 from exactly the skeleton of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distinction between address and value. la loads the address of the label into t0; lw then uses t0 to find the location and copies its content into t1, without changing t0. So t0 still holds the address. If you chose "the value", go back to the slide with the two arrows.
The key is what call does: it writes the return address into ra. If your function has to return to its own caller afterwards, it needs the old ra, which the call has just overwritten. a0 is meant to be overwritten, sp is restored by the callee, and t0 is a temporary that nobody promised to keep.
For the lecturer: 1. Answer: B. la loads the address of the label; lw then reads the value stored at that address into t1.
2. Answer: C. call writes the return address in ra. The callee's own calls would overwrite it, so a non-leaf function saves ra on the stack and restores it before 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calculation in binary. 300 is 256 + 44, that is a one in position 8 followed by the eight bits of 44. The mask 255 is eight ones: AND keeps the low eight bits and clears the rest. What remains is 44. Subtracting 255 from 300 gives 45, a tempting wrong answer: AND is not a subtraction.
For the lecturer: Answer: D. 300 = 256 + 44 = 1 0010 1100 in binary. AND with 1111 1111 keeps the low eight bits: 0010 1100 =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of this lecture, with the Italian used in class. Load and store are always seen from the processor: load brings a value from memory into a register, store sends it back. An immediate is a constant written inside the instruction itself. A branch is a jump that is taken only if a condition holds. The calling convention is the agreement on the roles of the registers.
For the lecturer: The course is taught in Italian; slides, notes and textbook exist in English and in Italian, and the technical documentation of PRG32 is in English. This table is repeated, topic by topic, in every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contain the lecture. A RISC-V processor is thirty-two registers and a small set of instructions that compute, move and jump. A PRG32 game is three functions, with arguments in a0 to a7, and a function that calls another saves ra. Variables live in memory: la for the address, lw and sw for the value. An instruction is a 32-bit number, and assembly is its readable spelling. The next lecture steps back and tells the history that led to this machine.
For the lecturer: Next lecture: the history that led to this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Registers, memory and the call: a running program before any theory</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“Talk is cheap. Show me the code.”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Linus Torvalds, Linux kernel mailing list, 2000</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cartridge from an assembly file and run it on PRG32</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what a register is, and name the ones you will use every day</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Call a framework function, passing arguments in registers</a:t>
            </a:r>
            <a:endParaRPr lang="en-US" sz="2200" dirty="0"/>
          </a:p>
        </p:txBody>
      </p:sp>
      <p:sp>
        <p:nvSpPr>
          <p:cNvPr id="9" name="Text 7"/>
          <p:cNvSpPr txBox="1"/>
          <p:nvPr/>
        </p:nvSpPr>
        <p:spPr>
          <a:xfrm>
            <a:off x="548640" y="38794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6120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a value in memory from one frame to the next: load, modify, store</a:t>
            </a:r>
            <a:endParaRPr lang="en-US" sz="2200" dirty="0"/>
          </a:p>
        </p:txBody>
      </p:sp>
      <p:sp>
        <p:nvSpPr>
          <p:cNvPr id="11" name="Text 9"/>
          <p:cNvSpPr txBox="1"/>
          <p:nvPr/>
        </p:nvSpPr>
        <p:spPr>
          <a:xfrm>
            <a:off x="548640" y="469412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7583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one instruction as the 32-bit number it really is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List the questions this program raises: the rest of the course answers them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you are programming</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32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register holds one 32-bit value. The processor can compute only on values that are in registers.</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An arithmetic or logic operation between registers: add, sub, and, or, xor, and their immediate forms such as addi.</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Move</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transfer between a register and memory: lw loads a word, sw stores a word. Nothing else touches memory.</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Jump</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change in which instruction runs next: branches such as beqz, calls and returns.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registers you will actually use</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31537"/>
                <a:gridCol w="1968364"/>
                <a:gridCol w="5010381"/>
                <a:gridCol w="268413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Name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Preserved across a call?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a0 - a7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arguments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passed into a call; a0 also carries the return value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t0 - 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temporaries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scratch values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s0 - s11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saved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values a call promises to preserve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return address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where ret jumps back 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 save it yourself</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stack pointer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top of the stack, kept 16-byte aligned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zero</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zero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always reads as 0; writes are ignored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roles come from an agreement, the calling convention (ABI), not from the hardware.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contract: three functions that you write</a:t>
            </a:r>
            <a:endParaRPr lang="en-US" sz="3200" dirty="0"/>
          </a:p>
        </p:txBody>
      </p:sp>
      <p:sp>
        <p:nvSpPr>
          <p:cNvPr id="3" name="Shape 1"/>
          <p:cNvSpPr/>
          <p:nvPr/>
        </p:nvSpPr>
        <p:spPr>
          <a:xfrm>
            <a:off x="548640" y="1874520"/>
            <a:ext cx="3454298"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3179978"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init</a:t>
            </a:r>
            <a:endParaRPr lang="en-US" sz="1900" dirty="0"/>
          </a:p>
        </p:txBody>
      </p:sp>
      <p:sp>
        <p:nvSpPr>
          <p:cNvPr id="5" name="Text 3"/>
          <p:cNvSpPr txBox="1"/>
          <p:nvPr/>
        </p:nvSpPr>
        <p:spPr>
          <a:xfrm>
            <a:off x="685800"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when the cartridge starts: set up your state</a:t>
            </a:r>
            <a:endParaRPr lang="en-US" sz="1700" dirty="0"/>
          </a:p>
        </p:txBody>
      </p:sp>
      <p:sp>
        <p:nvSpPr>
          <p:cNvPr id="6" name="Shape 4"/>
          <p:cNvSpPr/>
          <p:nvPr/>
        </p:nvSpPr>
        <p:spPr>
          <a:xfrm>
            <a:off x="4048658"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4368698" y="1874520"/>
            <a:ext cx="3454298"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4505858" y="2057400"/>
            <a:ext cx="3179978"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update</a:t>
            </a:r>
            <a:endParaRPr lang="en-US" sz="1900" dirty="0"/>
          </a:p>
        </p:txBody>
      </p:sp>
      <p:sp>
        <p:nvSpPr>
          <p:cNvPr id="9" name="Text 7"/>
          <p:cNvSpPr txBox="1"/>
          <p:nvPr/>
        </p:nvSpPr>
        <p:spPr>
          <a:xfrm>
            <a:off x="4505858"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read input, change the state</a:t>
            </a:r>
            <a:endParaRPr lang="en-US" sz="1700" dirty="0"/>
          </a:p>
        </p:txBody>
      </p:sp>
      <p:sp>
        <p:nvSpPr>
          <p:cNvPr id="10" name="Shape 8"/>
          <p:cNvSpPr/>
          <p:nvPr/>
        </p:nvSpPr>
        <p:spPr>
          <a:xfrm>
            <a:off x="7868717"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8188757" y="1874520"/>
            <a:ext cx="3454298"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8325917" y="2057400"/>
            <a:ext cx="3179978"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draw</a:t>
            </a:r>
            <a:endParaRPr lang="en-US" sz="1900" dirty="0"/>
          </a:p>
        </p:txBody>
      </p:sp>
      <p:sp>
        <p:nvSpPr>
          <p:cNvPr id="13" name="Text 11"/>
          <p:cNvSpPr txBox="1"/>
          <p:nvPr/>
        </p:nvSpPr>
        <p:spPr>
          <a:xfrm>
            <a:off x="8325917" y="2880360"/>
            <a:ext cx="3179978"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called once per frame: turn the state into a picture</a:t>
            </a:r>
            <a:endParaRPr lang="en-US" sz="1700" dirty="0"/>
          </a:p>
        </p:txBody>
      </p:sp>
      <p:sp>
        <p:nvSpPr>
          <p:cNvPr id="14" name="Shape 12"/>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5" name="Text 13"/>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firmware finds the three functions by name: a prefix that you choose, followed by _init, _update and _draw. That is the whole contract between your game and the machine.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Address or value? The crux of memory</a:t>
            </a:r>
            <a:endParaRPr lang="en-US" sz="3200" dirty="0"/>
          </a:p>
        </p:txBody>
      </p:sp>
      <p:sp>
        <p:nvSpPr>
          <p:cNvPr id="3" name="Text 1"/>
          <p:cNvSpPr txBox="1"/>
          <p:nvPr/>
        </p:nvSpPr>
        <p:spPr>
          <a:xfrm>
            <a:off x="548640" y="1417320"/>
            <a:ext cx="45720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Registers (inside the processor)</a:t>
            </a:r>
            <a:endParaRPr lang="en-US" sz="1500" dirty="0"/>
          </a:p>
        </p:txBody>
      </p:sp>
      <p:sp>
        <p:nvSpPr>
          <p:cNvPr id="4" name="Text 2"/>
          <p:cNvSpPr txBox="1"/>
          <p:nvPr/>
        </p:nvSpPr>
        <p:spPr>
          <a:xfrm>
            <a:off x="548640" y="1874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t0</a:t>
            </a:r>
            <a:endParaRPr lang="en-US" sz="2200" dirty="0"/>
          </a:p>
        </p:txBody>
      </p:sp>
      <p:sp>
        <p:nvSpPr>
          <p:cNvPr id="5" name="Text 3"/>
          <p:cNvSpPr txBox="1"/>
          <p:nvPr/>
        </p:nvSpPr>
        <p:spPr>
          <a:xfrm>
            <a:off x="1280160" y="1874520"/>
            <a:ext cx="3291840" cy="685800"/>
          </a:xfrm>
          <a:prstGeom prst="rect">
            <a:avLst/>
          </a:prstGeom>
          <a:solidFill>
            <a:srgbClr val="0E7C86"/>
          </a:solidFill>
          <a:ln>
            <a:solidFill>
              <a:srgbClr val="0E7C86"/>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address of counter</a:t>
            </a:r>
            <a:endParaRPr lang="en-US" sz="1700" dirty="0"/>
          </a:p>
        </p:txBody>
      </p:sp>
      <p:sp>
        <p:nvSpPr>
          <p:cNvPr id="6" name="Text 4"/>
          <p:cNvSpPr txBox="1"/>
          <p:nvPr/>
        </p:nvSpPr>
        <p:spPr>
          <a:xfrm>
            <a:off x="548640" y="3017520"/>
            <a:ext cx="640080" cy="685800"/>
          </a:xfrm>
          <a:prstGeom prst="rect">
            <a:avLst/>
          </a:prstGeom>
          <a:noFill/>
          <a:ln/>
        </p:spPr>
        <p:txBody>
          <a:bodyPr wrap="square" lIns="0" tIns="0" rIns="0" bIns="0" rtlCol="0" anchor="ctr"/>
          <a:lstStyle/>
          <a:p>
            <a:pPr indent="0" marL="0">
              <a:buNone/>
            </a:pPr>
            <a:r>
              <a:rPr lang="en-US" sz="2200" b="1" dirty="0">
                <a:solidFill>
                  <a:srgbClr val="1B2530"/>
                </a:solidFill>
                <a:latin typeface="Courier New" pitchFamily="34" charset="0"/>
                <a:ea typeface="Courier New" pitchFamily="34" charset="-122"/>
                <a:cs typeface="Courier New" pitchFamily="34" charset="-120"/>
              </a:rPr>
              <a:t>t1</a:t>
            </a:r>
            <a:endParaRPr lang="en-US" sz="2200" dirty="0"/>
          </a:p>
        </p:txBody>
      </p:sp>
      <p:sp>
        <p:nvSpPr>
          <p:cNvPr id="7" name="Text 5"/>
          <p:cNvSpPr txBox="1"/>
          <p:nvPr/>
        </p:nvSpPr>
        <p:spPr>
          <a:xfrm>
            <a:off x="1280160" y="3017520"/>
            <a:ext cx="3291840" cy="68580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41  then  42</a:t>
            </a:r>
            <a:endParaRPr lang="en-US" sz="1700" dirty="0"/>
          </a:p>
        </p:txBody>
      </p:sp>
      <p:sp>
        <p:nvSpPr>
          <p:cNvPr id="8" name="Text 6"/>
          <p:cNvSpPr txBox="1"/>
          <p:nvPr/>
        </p:nvSpPr>
        <p:spPr>
          <a:xfrm>
            <a:off x="7498080" y="1417320"/>
            <a:ext cx="4114800"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Memory (.data section)</a:t>
            </a:r>
            <a:endParaRPr lang="en-US" sz="1500" dirty="0"/>
          </a:p>
        </p:txBody>
      </p:sp>
      <p:sp>
        <p:nvSpPr>
          <p:cNvPr id="9" name="Text 7"/>
          <p:cNvSpPr txBox="1"/>
          <p:nvPr/>
        </p:nvSpPr>
        <p:spPr>
          <a:xfrm>
            <a:off x="7498080" y="18745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0" name="Text 8"/>
          <p:cNvSpPr txBox="1"/>
          <p:nvPr/>
        </p:nvSpPr>
        <p:spPr>
          <a:xfrm>
            <a:off x="7498080" y="2560320"/>
            <a:ext cx="3566160" cy="685800"/>
          </a:xfrm>
          <a:prstGeom prst="rect">
            <a:avLst/>
          </a:prstGeom>
          <a:solidFill>
            <a:srgbClr val="F6E7D2"/>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counter:  41</a:t>
            </a:r>
            <a:endParaRPr lang="en-US" sz="1700" dirty="0"/>
          </a:p>
        </p:txBody>
      </p:sp>
      <p:sp>
        <p:nvSpPr>
          <p:cNvPr id="11" name="Text 9"/>
          <p:cNvSpPr txBox="1"/>
          <p:nvPr/>
        </p:nvSpPr>
        <p:spPr>
          <a:xfrm>
            <a:off x="7498080" y="3246120"/>
            <a:ext cx="3566160" cy="68580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12" name="Shape 10"/>
          <p:cNvSpPr/>
          <p:nvPr/>
        </p:nvSpPr>
        <p:spPr>
          <a:xfrm>
            <a:off x="4617720" y="2217420"/>
            <a:ext cx="2834640" cy="617220"/>
          </a:xfrm>
          <a:prstGeom prst="line">
            <a:avLst/>
          </a:prstGeom>
          <a:noFill/>
          <a:ln w="28575">
            <a:solidFill>
              <a:srgbClr val="0E7C86"/>
            </a:solidFill>
            <a:prstDash val="solid"/>
            <a:tailEnd type="triangle"/>
          </a:ln>
        </p:spPr>
      </p:sp>
      <p:sp>
        <p:nvSpPr>
          <p:cNvPr id="13" name="Text 11"/>
          <p:cNvSpPr txBox="1"/>
          <p:nvPr/>
        </p:nvSpPr>
        <p:spPr>
          <a:xfrm>
            <a:off x="4846320" y="2011680"/>
            <a:ext cx="2377440" cy="274320"/>
          </a:xfrm>
          <a:prstGeom prst="rect">
            <a:avLst/>
          </a:prstGeom>
          <a:noFill/>
          <a:ln/>
        </p:spPr>
        <p:txBody>
          <a:bodyPr wrap="square" lIns="0" tIns="0" rIns="0" bIns="0" rtlCol="0" anchor="t"/>
          <a:lstStyle/>
          <a:p>
            <a:pPr algn="ctr" indent="0" marL="0">
              <a:buNone/>
            </a:pPr>
            <a:r>
              <a:rPr lang="en-US" sz="1300" i="1" dirty="0">
                <a:solidFill>
                  <a:srgbClr val="0E7C86"/>
                </a:solidFill>
                <a:latin typeface="Calibri" pitchFamily="34" charset="0"/>
                <a:ea typeface="Calibri" pitchFamily="34" charset="-122"/>
                <a:cs typeface="Calibri" pitchFamily="34" charset="-120"/>
              </a:rPr>
              <a:t>t0 points here</a:t>
            </a:r>
            <a:endParaRPr lang="en-US" sz="1300" dirty="0"/>
          </a:p>
        </p:txBody>
      </p:sp>
      <p:sp>
        <p:nvSpPr>
          <p:cNvPr id="14" name="Shape 12"/>
          <p:cNvSpPr/>
          <p:nvPr/>
        </p:nvSpPr>
        <p:spPr>
          <a:xfrm flipH="1">
            <a:off x="4617720" y="3017520"/>
            <a:ext cx="2834640" cy="228600"/>
          </a:xfrm>
          <a:prstGeom prst="line">
            <a:avLst/>
          </a:prstGeom>
          <a:noFill/>
          <a:ln w="28575">
            <a:solidFill>
              <a:srgbClr val="C7791B"/>
            </a:solidFill>
            <a:prstDash val="solid"/>
            <a:tailEnd type="triangle"/>
          </a:ln>
        </p:spPr>
      </p:sp>
      <p:sp>
        <p:nvSpPr>
          <p:cNvPr id="15" name="Text 13"/>
          <p:cNvSpPr txBox="1"/>
          <p:nvPr/>
        </p:nvSpPr>
        <p:spPr>
          <a:xfrm>
            <a:off x="4754880" y="3291840"/>
            <a:ext cx="2651760" cy="274320"/>
          </a:xfrm>
          <a:prstGeom prst="rect">
            <a:avLst/>
          </a:prstGeom>
          <a:noFill/>
          <a:ln/>
        </p:spPr>
        <p:txBody>
          <a:bodyPr wrap="square" lIns="0" tIns="0" rIns="0" bIns="0" rtlCol="0" anchor="t"/>
          <a:lstStyle/>
          <a:p>
            <a:pPr algn="ctr" indent="0" marL="0">
              <a:buNone/>
            </a:pPr>
            <a:r>
              <a:rPr lang="en-US" sz="1300" i="1" dirty="0">
                <a:solidFill>
                  <a:srgbClr val="C7791B"/>
                </a:solidFill>
                <a:latin typeface="Calibri" pitchFamily="34" charset="0"/>
                <a:ea typeface="Calibri" pitchFamily="34" charset="-122"/>
                <a:cs typeface="Calibri" pitchFamily="34" charset="-120"/>
              </a:rPr>
              <a:t>lw copies the contents</a:t>
            </a:r>
            <a:endParaRPr lang="en-US" sz="1300" dirty="0"/>
          </a:p>
        </p:txBody>
      </p:sp>
      <p:sp>
        <p:nvSpPr>
          <p:cNvPr id="16" name="Shape 14"/>
          <p:cNvSpPr/>
          <p:nvPr/>
        </p:nvSpPr>
        <p:spPr>
          <a:xfrm>
            <a:off x="548640" y="3977640"/>
            <a:ext cx="7315200" cy="2194560"/>
          </a:xfrm>
          <a:prstGeom prst="roundRect">
            <a:avLst>
              <a:gd name="adj" fmla="val 3333"/>
            </a:avLst>
          </a:prstGeom>
          <a:solidFill>
            <a:srgbClr val="12202B"/>
          </a:solidFill>
          <a:ln w="12700">
            <a:solidFill>
              <a:srgbClr val="12202B"/>
            </a:solidFill>
            <a:prstDash val="solid"/>
          </a:ln>
        </p:spPr>
      </p:sp>
      <p:sp>
        <p:nvSpPr>
          <p:cNvPr id="17" name="Text 15"/>
          <p:cNvSpPr txBox="1"/>
          <p:nvPr/>
        </p:nvSpPr>
        <p:spPr>
          <a:xfrm>
            <a:off x="777240" y="4160520"/>
            <a:ext cx="6858000" cy="182880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WHERE the value lives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WHAT is stored there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t1, t1, 1      </a:t>
            </a:r>
            <a:pPr indent="0" marL="0">
              <a:buNone/>
            </a:pPr>
            <a:r>
              <a:rPr lang="en-US" sz="1500" dirty="0">
                <a:solidFill>
                  <a:srgbClr val="8FB3A0"/>
                </a:solidFill>
                <a:latin typeface="Courier New" pitchFamily="34" charset="0"/>
                <a:ea typeface="Courier New" pitchFamily="34" charset="-122"/>
                <a:cs typeface="Courier New" pitchFamily="34" charset="-120"/>
              </a:rPr>
              <a:t># change the copy in the register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sw   t1, 0(t0)      </a:t>
            </a:r>
            <a:pPr indent="0" marL="0">
              <a:buNone/>
            </a:pPr>
            <a:r>
              <a:rPr lang="en-US" sz="1500" dirty="0">
                <a:solidFill>
                  <a:srgbClr val="8FB3A0"/>
                </a:solidFill>
                <a:latin typeface="Courier New" pitchFamily="34" charset="0"/>
                <a:ea typeface="Courier New" pitchFamily="34" charset="-122"/>
                <a:cs typeface="Courier New" pitchFamily="34" charset="-120"/>
              </a:rPr>
              <a:t># memory still says 41 until this line</a:t>
            </a:r>
            <a:endParaRPr lang="en-US" sz="1500" dirty="0"/>
          </a:p>
        </p:txBody>
      </p:sp>
      <p:sp>
        <p:nvSpPr>
          <p:cNvPr id="18" name="Shape 16"/>
          <p:cNvSpPr/>
          <p:nvPr/>
        </p:nvSpPr>
        <p:spPr>
          <a:xfrm>
            <a:off x="8229600" y="3977640"/>
            <a:ext cx="3413455" cy="2194560"/>
          </a:xfrm>
          <a:prstGeom prst="roundRect">
            <a:avLst>
              <a:gd name="adj" fmla="val 3333"/>
            </a:avLst>
          </a:prstGeom>
          <a:solidFill>
            <a:srgbClr val="F3DDE0"/>
          </a:solidFill>
          <a:ln w="12700">
            <a:solidFill>
              <a:srgbClr val="F3DDE0"/>
            </a:solidFill>
            <a:prstDash val="solid"/>
          </a:ln>
        </p:spPr>
      </p:sp>
      <p:sp>
        <p:nvSpPr>
          <p:cNvPr id="19" name="Text 17"/>
          <p:cNvSpPr txBox="1"/>
          <p:nvPr/>
        </p:nvSpPr>
        <p:spPr>
          <a:xfrm>
            <a:off x="8412480" y="4069080"/>
            <a:ext cx="3047695" cy="2011680"/>
          </a:xfrm>
          <a:prstGeom prst="rect">
            <a:avLst/>
          </a:prstGeom>
          <a:noFill/>
          <a:ln/>
        </p:spPr>
        <p:txBody>
          <a:bodyPr wrap="square" lIns="0" tIns="0" rIns="0" bIns="0" rtlCol="0" anchor="ctr"/>
          <a:lstStyle/>
          <a:p>
            <a:pPr indent="0" marL="0">
              <a:buNone/>
            </a:pPr>
            <a:r>
              <a:rPr lang="en-US" sz="1550" dirty="0">
                <a:solidFill>
                  <a:srgbClr val="1B2530"/>
                </a:solidFill>
                <a:latin typeface="Calibri" pitchFamily="34" charset="0"/>
                <a:ea typeface="Calibri" pitchFamily="34" charset="-122"/>
                <a:cs typeface="Calibri" pitchFamily="34" charset="-120"/>
              </a:rPr>
              <a:t>Using an address where a value belongs, or the reverse, is one of the most common beginner errors. Comment every register: ADDRESS or VALUE.</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instructions you have just used</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72967"/>
                <a:gridCol w="2817629"/>
                <a:gridCol w="3698138"/>
                <a:gridCol w="290568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Family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Example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Arithmetic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sub</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combine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Logic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or, xor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operation on two registers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and t0, t1, t2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andi, ori, xori</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register and one small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sw</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or store a 32-bit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0(t0)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to a function and come back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call prg32_gfx_rect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Pseudo-instructions: shortcuts the assembler expands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4622673"/>
                <a:gridCol w="369813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write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The assembler emits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Meaning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li t0,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zero, 42</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a constant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mv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t0, t1, 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copy a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not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xori t0,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bitwise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la t0, counter</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auipc t0, ... + addi t0, t0, ...</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load the address of a 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ret</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jalr zero, 0(ra)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jump to the address in ra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beqz t0,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zero, skip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branch if t0 is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instruction is one 32-bit number</a:t>
            </a:r>
            <a:endParaRPr lang="en-US" sz="3200" dirty="0"/>
          </a:p>
        </p:txBody>
      </p:sp>
      <p:sp>
        <p:nvSpPr>
          <p:cNvPr id="3" name="Text 1"/>
          <p:cNvSpPr txBox="1"/>
          <p:nvPr/>
        </p:nvSpPr>
        <p:spPr>
          <a:xfrm>
            <a:off x="548640" y="1417320"/>
            <a:ext cx="11094415" cy="548640"/>
          </a:xfrm>
          <a:prstGeom prst="rect">
            <a:avLst/>
          </a:prstGeom>
          <a:noFill/>
          <a:ln/>
        </p:spPr>
        <p:txBody>
          <a:bodyPr wrap="square" lIns="0" tIns="0" rIns="0" bIns="0" rtlCol="0" anchor="t"/>
          <a:lstStyle/>
          <a:p>
            <a:pPr algn="ctr" indent="0" marL="0">
              <a:buNone/>
            </a:pPr>
            <a:r>
              <a:rPr lang="en-US" sz="2800" b="1" dirty="0">
                <a:solidFill>
                  <a:srgbClr val="2E4A62"/>
                </a:solidFill>
                <a:latin typeface="Courier New" pitchFamily="34" charset="0"/>
                <a:ea typeface="Courier New" pitchFamily="34" charset="-122"/>
                <a:cs typeface="Courier New" pitchFamily="34" charset="-120"/>
              </a:rPr>
              <a:t>addi t1, t1, 1</a:t>
            </a:r>
            <a:endParaRPr lang="en-US" sz="2800" dirty="0"/>
          </a:p>
        </p:txBody>
      </p:sp>
      <p:sp>
        <p:nvSpPr>
          <p:cNvPr id="4" name="Text 2"/>
          <p:cNvSpPr txBox="1"/>
          <p:nvPr/>
        </p:nvSpPr>
        <p:spPr>
          <a:xfrm>
            <a:off x="914400" y="2560320"/>
            <a:ext cx="3806308" cy="73152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000000000001</a:t>
            </a:r>
            <a:endParaRPr lang="en-US" sz="1700" dirty="0"/>
          </a:p>
        </p:txBody>
      </p:sp>
      <p:sp>
        <p:nvSpPr>
          <p:cNvPr id="5" name="Text 3"/>
          <p:cNvSpPr txBox="1"/>
          <p:nvPr/>
        </p:nvSpPr>
        <p:spPr>
          <a:xfrm>
            <a:off x="914400" y="3346704"/>
            <a:ext cx="380630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the constant 1</a:t>
            </a:r>
            <a:endParaRPr lang="en-US" sz="1300" dirty="0"/>
          </a:p>
        </p:txBody>
      </p:sp>
      <p:sp>
        <p:nvSpPr>
          <p:cNvPr id="6" name="Text 4"/>
          <p:cNvSpPr txBox="1"/>
          <p:nvPr/>
        </p:nvSpPr>
        <p:spPr>
          <a:xfrm>
            <a:off x="950976" y="2322576"/>
            <a:ext cx="190315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7" name="Text 5"/>
          <p:cNvSpPr txBox="1"/>
          <p:nvPr/>
        </p:nvSpPr>
        <p:spPr>
          <a:xfrm>
            <a:off x="2817554" y="2322576"/>
            <a:ext cx="186657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8" name="Text 6"/>
          <p:cNvSpPr txBox="1"/>
          <p:nvPr/>
        </p:nvSpPr>
        <p:spPr>
          <a:xfrm>
            <a:off x="4720708" y="2560320"/>
            <a:ext cx="1585962" cy="73152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9" name="Text 7"/>
          <p:cNvSpPr txBox="1"/>
          <p:nvPr/>
        </p:nvSpPr>
        <p:spPr>
          <a:xfrm>
            <a:off x="4720708"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0" name="Text 8"/>
          <p:cNvSpPr txBox="1"/>
          <p:nvPr/>
        </p:nvSpPr>
        <p:spPr>
          <a:xfrm>
            <a:off x="4757284"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1" name="Text 9"/>
          <p:cNvSpPr txBox="1"/>
          <p:nvPr/>
        </p:nvSpPr>
        <p:spPr>
          <a:xfrm>
            <a:off x="5513689"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2" name="Text 10"/>
          <p:cNvSpPr txBox="1"/>
          <p:nvPr/>
        </p:nvSpPr>
        <p:spPr>
          <a:xfrm>
            <a:off x="6306670" y="2560320"/>
            <a:ext cx="1164317" cy="73152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a:t>
            </a:r>
            <a:endParaRPr lang="en-US" sz="1700" dirty="0"/>
          </a:p>
        </p:txBody>
      </p:sp>
      <p:sp>
        <p:nvSpPr>
          <p:cNvPr id="13" name="Text 11"/>
          <p:cNvSpPr txBox="1"/>
          <p:nvPr/>
        </p:nvSpPr>
        <p:spPr>
          <a:xfrm>
            <a:off x="6306670" y="3346704"/>
            <a:ext cx="116431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4" name="Text 12"/>
          <p:cNvSpPr txBox="1"/>
          <p:nvPr/>
        </p:nvSpPr>
        <p:spPr>
          <a:xfrm>
            <a:off x="6343246" y="2322576"/>
            <a:ext cx="58215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888828" y="2322576"/>
            <a:ext cx="54558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470987" y="2560320"/>
            <a:ext cx="1585962" cy="73152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00110</a:t>
            </a:r>
            <a:endParaRPr lang="en-US" sz="1700" dirty="0"/>
          </a:p>
        </p:txBody>
      </p:sp>
      <p:sp>
        <p:nvSpPr>
          <p:cNvPr id="17" name="Text 15"/>
          <p:cNvSpPr txBox="1"/>
          <p:nvPr/>
        </p:nvSpPr>
        <p:spPr>
          <a:xfrm>
            <a:off x="7470987" y="3346704"/>
            <a:ext cx="1585962"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t1 is x6</a:t>
            </a:r>
            <a:endParaRPr lang="en-US" sz="1300" dirty="0"/>
          </a:p>
        </p:txBody>
      </p:sp>
      <p:sp>
        <p:nvSpPr>
          <p:cNvPr id="18" name="Text 16"/>
          <p:cNvSpPr txBox="1"/>
          <p:nvPr/>
        </p:nvSpPr>
        <p:spPr>
          <a:xfrm>
            <a:off x="7507563" y="2322576"/>
            <a:ext cx="79298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9" name="Text 17"/>
          <p:cNvSpPr txBox="1"/>
          <p:nvPr/>
        </p:nvSpPr>
        <p:spPr>
          <a:xfrm>
            <a:off x="8263968" y="2322576"/>
            <a:ext cx="75640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0" name="Text 18"/>
          <p:cNvSpPr txBox="1"/>
          <p:nvPr/>
        </p:nvSpPr>
        <p:spPr>
          <a:xfrm>
            <a:off x="9056949" y="2560320"/>
            <a:ext cx="2220347" cy="73152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0010011</a:t>
            </a:r>
            <a:endParaRPr lang="en-US" sz="1700" dirty="0"/>
          </a:p>
        </p:txBody>
      </p:sp>
      <p:sp>
        <p:nvSpPr>
          <p:cNvPr id="21" name="Text 19"/>
          <p:cNvSpPr txBox="1"/>
          <p:nvPr/>
        </p:nvSpPr>
        <p:spPr>
          <a:xfrm>
            <a:off x="9056949" y="3346704"/>
            <a:ext cx="222034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register-immediate</a:t>
            </a:r>
            <a:endParaRPr lang="en-US" sz="1300" dirty="0"/>
          </a:p>
        </p:txBody>
      </p:sp>
      <p:sp>
        <p:nvSpPr>
          <p:cNvPr id="22" name="Text 20"/>
          <p:cNvSpPr txBox="1"/>
          <p:nvPr/>
        </p:nvSpPr>
        <p:spPr>
          <a:xfrm>
            <a:off x="9093525" y="2322576"/>
            <a:ext cx="111017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3" name="Text 21"/>
          <p:cNvSpPr txBox="1"/>
          <p:nvPr/>
        </p:nvSpPr>
        <p:spPr>
          <a:xfrm>
            <a:off x="10167122" y="2322576"/>
            <a:ext cx="107359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4" name="Text 22"/>
          <p:cNvSpPr txBox="1"/>
          <p:nvPr/>
        </p:nvSpPr>
        <p:spPr>
          <a:xfrm>
            <a:off x="548640" y="4206240"/>
            <a:ext cx="11094415" cy="640080"/>
          </a:xfrm>
          <a:prstGeom prst="rect">
            <a:avLst/>
          </a:prstGeom>
          <a:noFill/>
          <a:ln/>
        </p:spPr>
        <p:txBody>
          <a:bodyPr wrap="square" lIns="0" tIns="0" rIns="0" bIns="0" rtlCol="0" anchor="ctr"/>
          <a:lstStyle/>
          <a:p>
            <a:pPr algn="ctr" indent="0" marL="0">
              <a:buNone/>
            </a:pPr>
            <a:r>
              <a:rPr lang="en-US" sz="3400" b="1" dirty="0">
                <a:solidFill>
                  <a:srgbClr val="1B2530"/>
                </a:solidFill>
                <a:latin typeface="Courier New" pitchFamily="34" charset="0"/>
                <a:ea typeface="Courier New" pitchFamily="34" charset="-122"/>
                <a:cs typeface="Courier New" pitchFamily="34" charset="-120"/>
              </a:rPr>
              <a:t>0x00130313</a:t>
            </a:r>
            <a:endParaRPr lang="en-US" sz="3400" dirty="0"/>
          </a:p>
        </p:txBody>
      </p:sp>
      <p:sp>
        <p:nvSpPr>
          <p:cNvPr id="25" name="Shape 23"/>
          <p:cNvSpPr/>
          <p:nvPr/>
        </p:nvSpPr>
        <p:spPr>
          <a:xfrm>
            <a:off x="548640" y="5074920"/>
            <a:ext cx="11094415" cy="1097280"/>
          </a:xfrm>
          <a:prstGeom prst="roundRect">
            <a:avLst>
              <a:gd name="adj" fmla="val 6667"/>
            </a:avLst>
          </a:prstGeom>
          <a:solidFill>
            <a:srgbClr val="D8ECEE"/>
          </a:solidFill>
          <a:ln w="12700">
            <a:solidFill>
              <a:srgbClr val="D8ECEE"/>
            </a:solidFill>
            <a:prstDash val="solid"/>
          </a:ln>
        </p:spPr>
      </p:sp>
      <p:sp>
        <p:nvSpPr>
          <p:cNvPr id="26" name="Text 24"/>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Assembly is a readable spelling of machine code. The assembler translates each line into one 32-bit word; the processor reads the fields with logic circuits that we will design ourselves later in the course.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Trace it by hand: three frames of first_update</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13452"/>
                <a:gridCol w="2253553"/>
                <a:gridCol w="2426903"/>
                <a:gridCol w="2600254"/>
                <a:gridCol w="26002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lw: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addi: t1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sw: counter becomes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Bar width (andi 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 frame 256 the counter keeps growing, but its low eight bits return to zero: the bar starts again.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Questions your program has already raised</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57786"/>
                <a:gridCol w="4652497"/>
                <a:gridCol w="2684133"/>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You saw</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The question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Answered in</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0x07e0, 0xffff,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Why do programmers write numbers in hexadecimal?</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04 and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position below zero shown as 0xFFFFFFFF</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register hold a negative number?</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ball that moves less than a pixel per frame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 we represent fractions without an FPU?</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06</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andi a2, t1, 255</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does AND do to thirty-two bits at once?</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08 and 09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addi t1, t1,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Which circuit actually adds two numbers?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09: the adders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a pressed button is a 1</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What is a bit made of, physically?</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 10</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counter survives between frames</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a circuit remember a bit?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13 and 15</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0x00130313</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How does the processor decode and execute it?</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Lectures 18 and 19</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dirty="0">
                          <a:solidFill>
                            <a:srgbClr val="1B2530"/>
                          </a:solidFill>
                          <a:latin typeface="Courier New" pitchFamily="34" charset="0"/>
                          <a:ea typeface="Courier New" pitchFamily="34" charset="-122"/>
                          <a:cs typeface="Courier New" pitchFamily="34" charset="-120"/>
                        </a:rPr>
                        <a:t>three functions and a rectangle</a:t>
                      </a:r>
                      <a:endParaRPr lang="en-US" sz="14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Can I make a whole game out of this?</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Verm1: 07, 12, 17, 22</a:t>
                      </a:r>
                      <a:endParaRPr lang="en-US" sz="14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la t0, counter and lw t1, 0(t0), what does t0 hold?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value of the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address of the counter</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 because la clears the register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return address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function that calls prg32_gfx_clear must save one register before the call. Which one?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a0, because it carries the argument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because the stack moves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 because call overwrites it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because it is temporary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t1 holds 300. What does andi a2, t1, 255 leave in a2?</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300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255</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45</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44</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4133"/>
                <a:gridCol w="2863075"/>
                <a:gridCol w="2684133"/>
                <a:gridCol w="286307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caricare / memorizzare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alla 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return address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indirizzo di ritorno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immediato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calling convention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convenzione di chiamata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branch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salto condizionato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label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etichetta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RISC-V processor is thirty-two registers and a small set of instructions that compute, move and jump</a:t>
            </a:r>
            <a:endParaRPr lang="en-US" sz="2200" dirty="0"/>
          </a:p>
        </p:txBody>
      </p:sp>
      <p:sp>
        <p:nvSpPr>
          <p:cNvPr id="5" name="Shape 3"/>
          <p:cNvSpPr/>
          <p:nvPr/>
        </p:nvSpPr>
        <p:spPr>
          <a:xfrm>
            <a:off x="548640" y="254946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4303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PRG32 game is three functions; arguments travel in a0 to a7; a function that calls another saves ra</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Variables live in memory: la for the address, lw and sw for the value</a:t>
            </a:r>
            <a:endParaRPr lang="en-US" sz="2200" dirty="0"/>
          </a:p>
        </p:txBody>
      </p:sp>
      <p:sp>
        <p:nvSpPr>
          <p:cNvPr id="9" name="Shape 7"/>
          <p:cNvSpPr/>
          <p:nvPr/>
        </p:nvSpPr>
        <p:spPr>
          <a:xfrm>
            <a:off x="548640" y="4260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5359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 instruction is a 32-bit number; assembly is its readable spelling</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5: First Contact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docs/learn/tutorial_ascii_game.md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dc:title>
  <dc:subject>Lecture 02</dc:subject>
  <dc:creator>Raffaele Montella</dc:creator>
  <cp:lastModifiedBy>Raffaele Montella</cp:lastModifiedBy>
  <cp:revision>1</cp:revision>
  <dcterms:created xsi:type="dcterms:W3CDTF">2026-10-13T08:56:23Z</dcterms:created>
  <dcterms:modified xsi:type="dcterms:W3CDTF">2026-10-13T08:56:23Z</dcterms:modified>
</cp:coreProperties>
</file>