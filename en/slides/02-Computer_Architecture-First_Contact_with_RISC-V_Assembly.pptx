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c64692-c87c-1833-d59d-803abe57e6e3}">
          <p14:sldIdLst>
            <p14:sldId id="256"/>
            <p14:sldId id="257"/>
          </p14:sldIdLst>
        </p14:section>
        <p14:section name="The machine" id="{bafde92e-0d36-8dcb-8f9b-b926ba0b10fe}">
          <p14:sldIdLst>
            <p14:sldId id="258"/>
            <p14:sldId id="259"/>
            <p14:sldId id="260"/>
          </p14:sldIdLst>
        </p14:section>
        <p14:section name="Your first cartridge" id="{1a6ac1b0-995c-0abf-b0da-c83603472caa}">
          <p14:sldIdLst>
            <p14:sldId id="261"/>
            <p14:sldId id="262"/>
          </p14:sldIdLst>
        </p14:section>
        <p14:section name="Reading what you wrote" id="{7fd30a14-c174-a2ba-f514-2f1edd8efc07}">
          <p14:sldIdLst>
            <p14:sldId id="263"/>
            <p14:sldId id="264"/>
            <p14:sldId id="265"/>
            <p14:sldId id="266"/>
            <p14:sldId id="267"/>
          </p14:sldIdLst>
        </p14:section>
        <p14:section name="What comes next" id="{5c5f8063-a51e-8709-34d1-ba6bb37395b4}">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you write a program, and it comes before any theory on purpose. In two hours you build four small cartridges, each a complete program that runs. You will not understand every detail today, and you are not expected to: the aim is to see registers, memory and a function call at work, so that the lectures that follow have something concrete to explain. The quotation sets the tone: less talk, more code.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you will be able to do at the end. The first four are practical: build and run a cartridge, name the registers, call a function with its arguments, keep a value in memory between frames. The fifth is a change of point of view: an instruction is a 32-bit number. The sixth is the most important for the course: you will leave with a list of questions, and each of them is the subject of a later lecture.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in four cards. There are 32 registers, each holding one 32-bit value, and the processor can compute only on what is in them. There are three kinds of instruction. Compute: arithmetic and logic between registers, such as add or addi. Move: transfers between a register and memory, lw to load a word and sw to store one; nothing else touches memory. Jump: changes of the instruction that runs next. Everything a computer does is a long sequence of these three kinds.
UNDERSTAND NOW: registers, compute, move, jump.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have names that say how they are used. a0 to a7 carry the arguments of a call, and a0 carries the result back. t0 to t6 are temporaries, free to use and not preserved by a call. s0 to s11 are preserved. ra holds the return address, sp the top of the stack, and zero always reads as 0. Read the caption carefully: these roles are not built into the hardware. They are an agreement, the calling convention, and it is what lets your assembly and the C code of the framework call each other.
UNDERSTAND NOW: registers. USE NOW: the calling convention (studied in Lecture 18).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with PRG32 is three functions that you write. init is called once, when the cartridge starts, to set up the state. update is called once per frame, to read the input and change the state. draw is called once per frame, to turn the state into a picture. The firmware finds them by name: a prefix chosen by you, followed by _init, _update and _draw. Keep the division of labour in mind from the first day: update decides, draw shows.
UNDERSTAND NOW: the init, update, draw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save ra? The instruction call writes into ra the address to return to. But the function you call may make calls of its own, and each of them overwrites ra. So a function that calls another must first save its own ra in memory: it lowers sp by 16 to make room, the stack frame, and stores ra at 12(sp). After the call it does the reverse. The drawing shows the frame: the stack grows towards lower addresses. Forgetting this pair of operations is the classic first bug: the function returns to the wrong place.
UNDERSTAND NOW: why ra is saved. UNDERSTAND LATER: the stack (studied in Lecture 18).
For the lecturer: The convention requires sp to stay 16-byte aligned across calls, which is why the frame is 16 bytes even though only 4 are used. The stack, with push and pop, is treated formally in Lecture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ideas that beginners confuse: the address and the value. After la, t0 contains where the counter lives. After lw, t1 contains what is stored there, 41 in the drawing. addi changes the copy in the register to 42, and memory still says 41 until sw writes it back. Follow the two arrows. A practical habit from the box on the right: in your comments, write for every register whether it holds an ADDRESS or a VALUE. It prevents the most common error of the first month.
UNDERSTAND NOW: address, value, load, store. UNDERSTAND LATER: addressing modes (studied in Lecture 19).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cover everything you have typed: arithmetic (add, sub), logic (and, or, xor), the immediate forms that take a small constant (addi, andi), memory (lw, sw) and control (call, ret). In every instruction the result goes in the first register named: add t0, t1, t2 puts t1 + t2 in t0. The base instruction set has about forty instructions, and you have already met a quarter of them.
UNDERSTAND NOW: the base instructions.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instructions you wrote do not exist in the processor: they are pseudo-instructions, shortcuts that the assembler expands. li t0, 42 becomes addi t0, zero, 42; mv is an addi with 0; ret is a jump to the address in ra; beqz is a comparison with the register zero. Notice how often zero appears in the middle column: a register that is always 0 lets a small instruction set do the work of a larger one.
UNDERSTAND NOW: pseudo-instructions.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say "add", five for the destination, seven for the kind of instruction. You do not need to learn the format now. Keep the idea: assembly is a readable spelling of machine code, and the processor reads these fields with circuits that you will learn to design.
UNDERSTAND NOW: an instruction is a number. UNDERSTAND LATER: instruction formats (studied in Lecture 19).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runs the same cartridge on your laptop and can stop between any two instructions, showing every register. Use it now on the third step: go to update, pause, and execute the four instructions of first_update one at a time, watching t0 and t1. Before each press, say aloud what will change. The last line is a rule to remember: the board tells the truth about time, PRG32-QT tells the truth about a register.
USE NOW: the PRG32-QT debugger (used, not studied, in this course).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for each frame, write what each instruction leaves in t1 and in memory. In the first frames nothing surprising happens. Look at the highlighted row: at frame 256 the counter becomes 256, yet the width of the bar is 0, because andi with 255 keeps only the low eight bits, and 256 in binary is a one followed by eight zeros. Tracing by hand is slow and unglamorous, and it is the most useful debugging skill you will learn in this course.
UNDERSTAND NOW: tracing by hand.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something you saw today, the question it raises and where the answer is.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a whole game. Keep this table: it is the map of the course seen from your own program.
UNDERSTAND LATER: hexadecimal (studied in Lecture 04); two's complement (studied in Lecture 05); fixed point (studied in Lecture 06); Boolean algebra (studied in Lecture 08); the adder (studied in Lecture 09); from volts to bits (studied in Lecture 10); latches and flip-flops (studied in Lecture 13); the processor cycle (studied in Lecture 19); the Verm1 project (studied in Lecture 07).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distinction between address and value. la loads the address of the label into t0; lw then uses t0 to find the location and copies its content into t1, without changing t0. So t0 still holds the address. If you chose "the value", go back to the slide with the two arrows.
The key is what call does: it writes the return address into ra. If your function has to return to its own caller afterwards, it needs the old ra, which the call has just overwritten. a0 is meant to be overwritten, sp is restored by the callee, and t0 is a temporary that nobody promised to keep.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calculation in binary. 300 is 256 + 44, that is a one in position 8 followed by the eight bits of 44. The mask 255 is eight ones: AND keeps the low eight bits and clears the rest. What remains is 44. Subtracting 255 from 300 gives 45, a tempting wrong answer: AND is not a subtraction.
For the lecturer: Answer: D. 300 = 256 + 44 = 1 0010 1100 in binary. AND with 1111 1111 keeps the low eight bits: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this lecture, with the Italian used in class. Load and store are always seen from the processor: load brings a value from memory into a register, store sends it back. An immediate is a constant written inside the instruction itself. A branch is a jump that is taken only if a condition holds. The calling convention is the agreement on the roles of the registers.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contain the lecture. A RISC-V processor is thirty-two registers and a small set of instructions that compute, move and jump. A PRG32 game is three functions, with arguments in a0 to a7, and a function that calls another saves ra. Variables live in memory: la for the address, lw and sw for the value. An instruction is a 32-bit number, and assembly is its readable spelling. The next lecture steps back and tells the history that led to this machine.
Learning status, recap. UNDERSTAND NOW: registers, compute, move, jump; registers; the init, update, draw contract; arguments in a0 to a7; why ra is saved; address, value, load, store; the base instructions; pseudo-instructions; an instruction is a number; tracing by hand. USE NOW: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hexadecimal (Lecture 04);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19" name="Shape 17"/>
          <p:cNvSpPr/>
          <p:nvPr/>
        </p:nvSpPr>
        <p:spPr>
          <a:xfrm>
            <a:off x="7696784" y="91440"/>
            <a:ext cx="3946271" cy="274320"/>
          </a:xfrm>
          <a:prstGeom prst="rect">
            <a:avLst/>
          </a:prstGeom>
          <a:solidFill>
            <a:srgbClr val="E0F2FE"/>
          </a:solidFill>
          <a:ln w="12700">
            <a:solidFill>
              <a:srgbClr val="0369A1"/>
            </a:solidFill>
            <a:prstDash val="solid"/>
          </a:ln>
        </p:spPr>
      </p:sp>
      <p:sp>
        <p:nvSpPr>
          <p:cNvPr id="20" name="Shape 18"/>
          <p:cNvSpPr/>
          <p:nvPr/>
        </p:nvSpPr>
        <p:spPr>
          <a:xfrm>
            <a:off x="7696784"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24800" y="128016"/>
            <a:ext cx="201168" cy="201168"/>
          </a:xfrm>
          <a:prstGeom prst="rect">
            <a:avLst/>
          </a:prstGeom>
        </p:spPr>
      </p:pic>
      <p:sp>
        <p:nvSpPr>
          <p:cNvPr id="22" name="Text 19"/>
          <p:cNvSpPr txBox="1"/>
          <p:nvPr/>
        </p:nvSpPr>
        <p:spPr>
          <a:xfrm>
            <a:off x="8080832" y="91440"/>
            <a:ext cx="352564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compute, move, jump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5" name="Shape 2"/>
          <p:cNvSpPr/>
          <p:nvPr/>
        </p:nvSpPr>
        <p:spPr>
          <a:xfrm>
            <a:off x="7865821" y="91440"/>
            <a:ext cx="3777234" cy="274320"/>
          </a:xfrm>
          <a:prstGeom prst="rect">
            <a:avLst/>
          </a:prstGeom>
          <a:solidFill>
            <a:srgbClr val="FEF3C7"/>
          </a:solidFill>
          <a:ln w="12700">
            <a:solidFill>
              <a:srgbClr val="B45309"/>
            </a:solidFill>
            <a:prstDash val="solid"/>
          </a:ln>
        </p:spPr>
      </p:sp>
      <p:sp>
        <p:nvSpPr>
          <p:cNvPr id="6" name="Shape 3"/>
          <p:cNvSpPr/>
          <p:nvPr/>
        </p:nvSpPr>
        <p:spPr>
          <a:xfrm>
            <a:off x="7865821" y="91440"/>
            <a:ext cx="27432" cy="274320"/>
          </a:xfrm>
          <a:prstGeom prst="rect">
            <a:avLst/>
          </a:prstGeom>
          <a:solidFill>
            <a:srgbClr val="B45309"/>
          </a:solidFill>
          <a:ln w="12700">
            <a:solidFill>
              <a:srgbClr val="B45309"/>
            </a:solidFill>
            <a:prstDash val="solid"/>
          </a:ln>
        </p:spPr>
      </p:sp>
      <p:sp>
        <p:nvSpPr>
          <p:cNvPr id="7" name="Shape 4"/>
          <p:cNvSpPr/>
          <p:nvPr/>
        </p:nvSpPr>
        <p:spPr>
          <a:xfrm>
            <a:off x="7920685"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7993837" y="128016"/>
            <a:ext cx="201168" cy="201168"/>
          </a:xfrm>
          <a:prstGeom prst="rect">
            <a:avLst/>
          </a:prstGeom>
        </p:spPr>
      </p:pic>
      <p:sp>
        <p:nvSpPr>
          <p:cNvPr id="9" name="Text 5"/>
          <p:cNvSpPr txBox="1"/>
          <p:nvPr/>
        </p:nvSpPr>
        <p:spPr>
          <a:xfrm>
            <a:off x="8249869" y="91440"/>
            <a:ext cx="335661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calling convention</a:t>
            </a:r>
            <a:pPr indent="0" marL="0">
              <a:buNone/>
            </a:pPr>
            <a:r>
              <a:rPr lang="en-US" sz="1100" b="1" dirty="0">
                <a:solidFill>
                  <a:srgbClr val="92400E"/>
                </a:solidFill>
                <a:latin typeface="Calibri" pitchFamily="34" charset="0"/>
                <a:ea typeface="Calibri" pitchFamily="34" charset="-122"/>
                <a:cs typeface="Calibri" pitchFamily="34" charset="-120"/>
              </a:rPr>
              <a:t> → Lecture 18</a:t>
            </a:r>
            <a:endParaRPr lang="en-US" sz="1100" dirty="0"/>
          </a:p>
        </p:txBody>
      </p:sp>
      <p:sp>
        <p:nvSpPr>
          <p:cNvPr id="10" name="Shape 6"/>
          <p:cNvSpPr/>
          <p:nvPr/>
        </p:nvSpPr>
        <p:spPr>
          <a:xfrm>
            <a:off x="5188661" y="91440"/>
            <a:ext cx="2567432" cy="274320"/>
          </a:xfrm>
          <a:prstGeom prst="rect">
            <a:avLst/>
          </a:prstGeom>
          <a:solidFill>
            <a:srgbClr val="E0F2FE"/>
          </a:solidFill>
          <a:ln w="12700">
            <a:solidFill>
              <a:srgbClr val="0369A1"/>
            </a:solidFill>
            <a:prstDash val="solid"/>
          </a:ln>
        </p:spPr>
      </p:sp>
      <p:sp>
        <p:nvSpPr>
          <p:cNvPr id="11" name="Shape 7"/>
          <p:cNvSpPr/>
          <p:nvPr/>
        </p:nvSpPr>
        <p:spPr>
          <a:xfrm>
            <a:off x="5188661"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5316677" y="128016"/>
            <a:ext cx="201168" cy="201168"/>
          </a:xfrm>
          <a:prstGeom prst="rect">
            <a:avLst/>
          </a:prstGeom>
        </p:spPr>
      </p:pic>
      <p:sp>
        <p:nvSpPr>
          <p:cNvPr id="13" name="Text 8"/>
          <p:cNvSpPr txBox="1"/>
          <p:nvPr/>
        </p:nvSpPr>
        <p:spPr>
          <a:xfrm>
            <a:off x="5572709"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16" name="Shape 14"/>
          <p:cNvSpPr/>
          <p:nvPr/>
        </p:nvSpPr>
        <p:spPr>
          <a:xfrm>
            <a:off x="7631125" y="91440"/>
            <a:ext cx="4011930" cy="274320"/>
          </a:xfrm>
          <a:prstGeom prst="rect">
            <a:avLst/>
          </a:prstGeom>
          <a:solidFill>
            <a:srgbClr val="E0F2FE"/>
          </a:solidFill>
          <a:ln w="12700">
            <a:solidFill>
              <a:srgbClr val="0369A1"/>
            </a:solidFill>
            <a:prstDash val="solid"/>
          </a:ln>
        </p:spPr>
      </p:sp>
      <p:sp>
        <p:nvSpPr>
          <p:cNvPr id="17" name="Shape 15"/>
          <p:cNvSpPr/>
          <p:nvPr/>
        </p:nvSpPr>
        <p:spPr>
          <a:xfrm>
            <a:off x="763112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9" name="Text 16"/>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init, update, draw contract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8" name="Shape 26"/>
          <p:cNvSpPr/>
          <p:nvPr/>
        </p:nvSpPr>
        <p:spPr>
          <a:xfrm>
            <a:off x="7939862" y="91440"/>
            <a:ext cx="3703193" cy="274320"/>
          </a:xfrm>
          <a:prstGeom prst="rect">
            <a:avLst/>
          </a:prstGeom>
          <a:solidFill>
            <a:srgbClr val="F3E8FF"/>
          </a:solidFill>
          <a:ln w="12700">
            <a:solidFill>
              <a:srgbClr val="7E22CE"/>
            </a:solidFill>
            <a:prstDash val="dash"/>
          </a:ln>
        </p:spPr>
      </p:sp>
      <p:sp>
        <p:nvSpPr>
          <p:cNvPr id="29" name="Shape 27"/>
          <p:cNvSpPr/>
          <p:nvPr/>
        </p:nvSpPr>
        <p:spPr>
          <a:xfrm>
            <a:off x="7967294" y="128016"/>
            <a:ext cx="45720" cy="45720"/>
          </a:xfrm>
          <a:prstGeom prst="rect">
            <a:avLst/>
          </a:prstGeom>
          <a:solidFill>
            <a:srgbClr val="7E22CE"/>
          </a:solidFill>
          <a:ln w="12700">
            <a:solidFill>
              <a:srgbClr val="7E22CE"/>
            </a:solidFill>
            <a:prstDash val="solid"/>
          </a:ln>
        </p:spPr>
      </p:sp>
      <p:sp>
        <p:nvSpPr>
          <p:cNvPr id="30" name="Shape 28"/>
          <p:cNvSpPr/>
          <p:nvPr/>
        </p:nvSpPr>
        <p:spPr>
          <a:xfrm>
            <a:off x="7967294" y="205740"/>
            <a:ext cx="45720" cy="45720"/>
          </a:xfrm>
          <a:prstGeom prst="rect">
            <a:avLst/>
          </a:prstGeom>
          <a:solidFill>
            <a:srgbClr val="7E22CE"/>
          </a:solidFill>
          <a:ln w="12700">
            <a:solidFill>
              <a:srgbClr val="7E22CE"/>
            </a:solidFill>
            <a:prstDash val="solid"/>
          </a:ln>
        </p:spPr>
      </p:sp>
      <p:sp>
        <p:nvSpPr>
          <p:cNvPr id="31" name="Shape 29"/>
          <p:cNvSpPr/>
          <p:nvPr/>
        </p:nvSpPr>
        <p:spPr>
          <a:xfrm>
            <a:off x="7967294"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33" name="Text 30"/>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stack</a:t>
            </a:r>
            <a:pPr indent="0" marL="0">
              <a:buNone/>
            </a:pPr>
            <a:r>
              <a:rPr lang="en-US" sz="1100" b="1" dirty="0">
                <a:solidFill>
                  <a:srgbClr val="6B21A8"/>
                </a:solidFill>
                <a:latin typeface="Calibri" pitchFamily="34" charset="0"/>
                <a:ea typeface="Calibri" pitchFamily="34" charset="-122"/>
                <a:cs typeface="Calibri" pitchFamily="34" charset="-120"/>
              </a:rPr>
              <a:t> → Lecture 18</a:t>
            </a:r>
            <a:endParaRPr lang="en-US" sz="1100" dirty="0"/>
          </a:p>
        </p:txBody>
      </p:sp>
      <p:sp>
        <p:nvSpPr>
          <p:cNvPr id="34" name="Shape 31"/>
          <p:cNvSpPr/>
          <p:nvPr/>
        </p:nvSpPr>
        <p:spPr>
          <a:xfrm>
            <a:off x="4868748" y="91440"/>
            <a:ext cx="2961386" cy="274320"/>
          </a:xfrm>
          <a:prstGeom prst="rect">
            <a:avLst/>
          </a:prstGeom>
          <a:solidFill>
            <a:srgbClr val="E0F2FE"/>
          </a:solidFill>
          <a:ln w="12700">
            <a:solidFill>
              <a:srgbClr val="0369A1"/>
            </a:solidFill>
            <a:prstDash val="solid"/>
          </a:ln>
        </p:spPr>
      </p:sp>
      <p:sp>
        <p:nvSpPr>
          <p:cNvPr id="35" name="Shape 32"/>
          <p:cNvSpPr/>
          <p:nvPr/>
        </p:nvSpPr>
        <p:spPr>
          <a:xfrm>
            <a:off x="4868748"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4996764" y="128016"/>
            <a:ext cx="201168" cy="201168"/>
          </a:xfrm>
          <a:prstGeom prst="rect">
            <a:avLst/>
          </a:prstGeom>
        </p:spPr>
      </p:pic>
      <p:sp>
        <p:nvSpPr>
          <p:cNvPr id="37" name="Text 33"/>
          <p:cNvSpPr txBox="1"/>
          <p:nvPr/>
        </p:nvSpPr>
        <p:spPr>
          <a:xfrm>
            <a:off x="5252796"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0" name="Shape 18"/>
          <p:cNvSpPr/>
          <p:nvPr/>
        </p:nvSpPr>
        <p:spPr>
          <a:xfrm>
            <a:off x="7480249" y="91440"/>
            <a:ext cx="4162806" cy="274320"/>
          </a:xfrm>
          <a:prstGeom prst="rect">
            <a:avLst/>
          </a:prstGeom>
          <a:solidFill>
            <a:srgbClr val="F3E8FF"/>
          </a:solidFill>
          <a:ln w="12700">
            <a:solidFill>
              <a:srgbClr val="7E22CE"/>
            </a:solidFill>
            <a:prstDash val="dash"/>
          </a:ln>
        </p:spPr>
      </p:sp>
      <p:sp>
        <p:nvSpPr>
          <p:cNvPr id="21" name="Shape 19"/>
          <p:cNvSpPr/>
          <p:nvPr/>
        </p:nvSpPr>
        <p:spPr>
          <a:xfrm>
            <a:off x="7507681" y="128016"/>
            <a:ext cx="45720" cy="45720"/>
          </a:xfrm>
          <a:prstGeom prst="rect">
            <a:avLst/>
          </a:prstGeom>
          <a:solidFill>
            <a:srgbClr val="7E22CE"/>
          </a:solidFill>
          <a:ln w="12700">
            <a:solidFill>
              <a:srgbClr val="7E22CE"/>
            </a:solidFill>
            <a:prstDash val="solid"/>
          </a:ln>
        </p:spPr>
      </p:sp>
      <p:sp>
        <p:nvSpPr>
          <p:cNvPr id="22" name="Shape 20"/>
          <p:cNvSpPr/>
          <p:nvPr/>
        </p:nvSpPr>
        <p:spPr>
          <a:xfrm>
            <a:off x="7507681" y="205740"/>
            <a:ext cx="45720" cy="45720"/>
          </a:xfrm>
          <a:prstGeom prst="rect">
            <a:avLst/>
          </a:prstGeom>
          <a:solidFill>
            <a:srgbClr val="7E22CE"/>
          </a:solidFill>
          <a:ln w="12700">
            <a:solidFill>
              <a:srgbClr val="7E22CE"/>
            </a:solidFill>
            <a:prstDash val="solid"/>
          </a:ln>
        </p:spPr>
      </p:sp>
      <p:sp>
        <p:nvSpPr>
          <p:cNvPr id="23" name="Shape 21"/>
          <p:cNvSpPr/>
          <p:nvPr/>
        </p:nvSpPr>
        <p:spPr>
          <a:xfrm>
            <a:off x="7507681" y="283464"/>
            <a:ext cx="45720" cy="45720"/>
          </a:xfrm>
          <a:prstGeom prst="rect">
            <a:avLst/>
          </a:prstGeom>
          <a:solidFill>
            <a:srgbClr val="7E22CE"/>
          </a:solidFill>
          <a:ln w="12700">
            <a:solidFill>
              <a:srgbClr val="7E22CE"/>
            </a:solidFill>
            <a:prstDash val="solid"/>
          </a:ln>
        </p:spPr>
      </p:sp>
      <p:pic>
        <p:nvPicPr>
          <p:cNvPr id="24" name="Image 0" descr="preencoded.png">    </p:cNvPr>
          <p:cNvPicPr>
            <a:picLocks noChangeAspect="1"/>
          </p:cNvPicPr>
          <p:nvPr/>
        </p:nvPicPr>
        <p:blipFill>
          <a:blip r:embed="rId1"/>
          <a:stretch>
            <a:fillRect/>
          </a:stretch>
        </p:blipFill>
        <p:spPr>
          <a:xfrm>
            <a:off x="7608265" y="128016"/>
            <a:ext cx="201168" cy="201168"/>
          </a:xfrm>
          <a:prstGeom prst="rect">
            <a:avLst/>
          </a:prstGeom>
        </p:spPr>
      </p:pic>
      <p:sp>
        <p:nvSpPr>
          <p:cNvPr id="25" name="Text 22"/>
          <p:cNvSpPr txBox="1"/>
          <p:nvPr/>
        </p:nvSpPr>
        <p:spPr>
          <a:xfrm>
            <a:off x="7864297" y="91440"/>
            <a:ext cx="3742182"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addressing modes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26" name="Shape 23"/>
          <p:cNvSpPr/>
          <p:nvPr/>
        </p:nvSpPr>
        <p:spPr>
          <a:xfrm>
            <a:off x="3621227" y="91440"/>
            <a:ext cx="3749294" cy="274320"/>
          </a:xfrm>
          <a:prstGeom prst="rect">
            <a:avLst/>
          </a:prstGeom>
          <a:solidFill>
            <a:srgbClr val="E0F2FE"/>
          </a:solidFill>
          <a:ln w="12700">
            <a:solidFill>
              <a:srgbClr val="0369A1"/>
            </a:solidFill>
            <a:prstDash val="solid"/>
          </a:ln>
        </p:spPr>
      </p:sp>
      <p:sp>
        <p:nvSpPr>
          <p:cNvPr id="27" name="Shape 24"/>
          <p:cNvSpPr/>
          <p:nvPr/>
        </p:nvSpPr>
        <p:spPr>
          <a:xfrm>
            <a:off x="3621227" y="91440"/>
            <a:ext cx="73152" cy="274320"/>
          </a:xfrm>
          <a:prstGeom prst="rect">
            <a:avLst/>
          </a:prstGeom>
          <a:solidFill>
            <a:srgbClr val="0369A1"/>
          </a:solidFill>
          <a:ln w="12700">
            <a:solidFill>
              <a:srgbClr val="0369A1"/>
            </a:solidFill>
            <a:prstDash val="solid"/>
          </a:ln>
        </p:spPr>
      </p:sp>
      <p:pic>
        <p:nvPicPr>
          <p:cNvPr id="28"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29" name="Text 25"/>
          <p:cNvSpPr txBox="1"/>
          <p:nvPr/>
        </p:nvSpPr>
        <p:spPr>
          <a:xfrm>
            <a:off x="4005275"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base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pseudo-instructions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7" name="Shape 25"/>
          <p:cNvSpPr/>
          <p:nvPr/>
        </p:nvSpPr>
        <p:spPr>
          <a:xfrm>
            <a:off x="7283272" y="91440"/>
            <a:ext cx="4359783" cy="274320"/>
          </a:xfrm>
          <a:prstGeom prst="rect">
            <a:avLst/>
          </a:prstGeom>
          <a:solidFill>
            <a:srgbClr val="F3E8FF"/>
          </a:solidFill>
          <a:ln w="12700">
            <a:solidFill>
              <a:srgbClr val="7E22CE"/>
            </a:solidFill>
            <a:prstDash val="dash"/>
          </a:ln>
        </p:spPr>
      </p:sp>
      <p:sp>
        <p:nvSpPr>
          <p:cNvPr id="28" name="Shape 26"/>
          <p:cNvSpPr/>
          <p:nvPr/>
        </p:nvSpPr>
        <p:spPr>
          <a:xfrm>
            <a:off x="7310704" y="128016"/>
            <a:ext cx="45720" cy="45720"/>
          </a:xfrm>
          <a:prstGeom prst="rect">
            <a:avLst/>
          </a:prstGeom>
          <a:solidFill>
            <a:srgbClr val="7E22CE"/>
          </a:solidFill>
          <a:ln w="12700">
            <a:solidFill>
              <a:srgbClr val="7E22CE"/>
            </a:solidFill>
            <a:prstDash val="solid"/>
          </a:ln>
        </p:spPr>
      </p:sp>
      <p:sp>
        <p:nvSpPr>
          <p:cNvPr id="29" name="Shape 27"/>
          <p:cNvSpPr/>
          <p:nvPr/>
        </p:nvSpPr>
        <p:spPr>
          <a:xfrm>
            <a:off x="7310704" y="205740"/>
            <a:ext cx="45720" cy="45720"/>
          </a:xfrm>
          <a:prstGeom prst="rect">
            <a:avLst/>
          </a:prstGeom>
          <a:solidFill>
            <a:srgbClr val="7E22CE"/>
          </a:solidFill>
          <a:ln w="12700">
            <a:solidFill>
              <a:srgbClr val="7E22CE"/>
            </a:solidFill>
            <a:prstDash val="solid"/>
          </a:ln>
        </p:spPr>
      </p:sp>
      <p:sp>
        <p:nvSpPr>
          <p:cNvPr id="30" name="Shape 28"/>
          <p:cNvSpPr/>
          <p:nvPr/>
        </p:nvSpPr>
        <p:spPr>
          <a:xfrm>
            <a:off x="7310704" y="283464"/>
            <a:ext cx="45720" cy="45720"/>
          </a:xfrm>
          <a:prstGeom prst="rect">
            <a:avLst/>
          </a:prstGeom>
          <a:solidFill>
            <a:srgbClr val="7E22CE"/>
          </a:solidFill>
          <a:ln w="12700">
            <a:solidFill>
              <a:srgbClr val="7E22CE"/>
            </a:solidFill>
            <a:prstDash val="solid"/>
          </a:ln>
        </p:spPr>
      </p:sp>
      <p:pic>
        <p:nvPicPr>
          <p:cNvPr id="31" name="Image 0" descr="preencoded.png">    </p:cNvPr>
          <p:cNvPicPr>
            <a:picLocks noChangeAspect="1"/>
          </p:cNvPicPr>
          <p:nvPr/>
        </p:nvPicPr>
        <p:blipFill>
          <a:blip r:embed="rId1"/>
          <a:stretch>
            <a:fillRect/>
          </a:stretch>
        </p:blipFill>
        <p:spPr>
          <a:xfrm>
            <a:off x="7411288" y="128016"/>
            <a:ext cx="201168" cy="201168"/>
          </a:xfrm>
          <a:prstGeom prst="rect">
            <a:avLst/>
          </a:prstGeom>
        </p:spPr>
      </p:pic>
      <p:sp>
        <p:nvSpPr>
          <p:cNvPr id="32" name="Text 29"/>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instruction formats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33" name="Shape 30"/>
          <p:cNvSpPr/>
          <p:nvPr/>
        </p:nvSpPr>
        <p:spPr>
          <a:xfrm>
            <a:off x="3489909" y="91440"/>
            <a:ext cx="3683635" cy="274320"/>
          </a:xfrm>
          <a:prstGeom prst="rect">
            <a:avLst/>
          </a:prstGeom>
          <a:solidFill>
            <a:srgbClr val="E0F2FE"/>
          </a:solidFill>
          <a:ln w="12700">
            <a:solidFill>
              <a:srgbClr val="0369A1"/>
            </a:solidFill>
            <a:prstDash val="solid"/>
          </a:ln>
        </p:spPr>
      </p:sp>
      <p:sp>
        <p:nvSpPr>
          <p:cNvPr id="34" name="Shape 31"/>
          <p:cNvSpPr/>
          <p:nvPr/>
        </p:nvSpPr>
        <p:spPr>
          <a:xfrm>
            <a:off x="3489909" y="91440"/>
            <a:ext cx="73152" cy="274320"/>
          </a:xfrm>
          <a:prstGeom prst="rect">
            <a:avLst/>
          </a:prstGeom>
          <a:solidFill>
            <a:srgbClr val="0369A1"/>
          </a:solidFill>
          <a:ln w="12700">
            <a:solidFill>
              <a:srgbClr val="0369A1"/>
            </a:solidFill>
            <a:prstDash val="solid"/>
          </a:ln>
        </p:spPr>
      </p:sp>
      <p:pic>
        <p:nvPicPr>
          <p:cNvPr id="35"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6" name="Text 32"/>
          <p:cNvSpPr txBox="1"/>
          <p:nvPr/>
        </p:nvSpPr>
        <p:spPr>
          <a:xfrm>
            <a:off x="3873957"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 instruction is a number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tracing by hand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31606" y="91440"/>
            <a:ext cx="3211449" cy="274320"/>
          </a:xfrm>
          <a:prstGeom prst="rect">
            <a:avLst/>
          </a:prstGeom>
          <a:solidFill>
            <a:srgbClr val="F3E8FF"/>
          </a:solidFill>
          <a:ln w="12700">
            <a:solidFill>
              <a:srgbClr val="7E22CE"/>
            </a:solidFill>
            <a:prstDash val="dash"/>
          </a:ln>
        </p:spPr>
      </p:sp>
      <p:sp>
        <p:nvSpPr>
          <p:cNvPr id="5" name="Shape 2"/>
          <p:cNvSpPr/>
          <p:nvPr/>
        </p:nvSpPr>
        <p:spPr>
          <a:xfrm>
            <a:off x="8459038" y="128016"/>
            <a:ext cx="45720" cy="45720"/>
          </a:xfrm>
          <a:prstGeom prst="rect">
            <a:avLst/>
          </a:prstGeom>
          <a:solidFill>
            <a:srgbClr val="7E22CE"/>
          </a:solidFill>
          <a:ln w="12700">
            <a:solidFill>
              <a:srgbClr val="7E22CE"/>
            </a:solidFill>
            <a:prstDash val="solid"/>
          </a:ln>
        </p:spPr>
      </p:sp>
      <p:sp>
        <p:nvSpPr>
          <p:cNvPr id="6" name="Shape 3"/>
          <p:cNvSpPr/>
          <p:nvPr/>
        </p:nvSpPr>
        <p:spPr>
          <a:xfrm>
            <a:off x="8459038" y="205740"/>
            <a:ext cx="45720" cy="45720"/>
          </a:xfrm>
          <a:prstGeom prst="rect">
            <a:avLst/>
          </a:prstGeom>
          <a:solidFill>
            <a:srgbClr val="7E22CE"/>
          </a:solidFill>
          <a:ln w="12700">
            <a:solidFill>
              <a:srgbClr val="7E22CE"/>
            </a:solidFill>
            <a:prstDash val="solid"/>
          </a:ln>
        </p:spPr>
      </p:sp>
      <p:sp>
        <p:nvSpPr>
          <p:cNvPr id="7" name="Shape 4"/>
          <p:cNvSpPr/>
          <p:nvPr/>
        </p:nvSpPr>
        <p:spPr>
          <a:xfrm>
            <a:off x="8459038"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8559622" y="128016"/>
            <a:ext cx="201168" cy="201168"/>
          </a:xfrm>
          <a:prstGeom prst="rect">
            <a:avLst/>
          </a:prstGeom>
        </p:spPr>
      </p:pic>
      <p:sp>
        <p:nvSpPr>
          <p:cNvPr id="9" name="Text 5"/>
          <p:cNvSpPr txBox="1"/>
          <p:nvPr/>
        </p:nvSpPr>
        <p:spPr>
          <a:xfrm>
            <a:off x="8815654" y="91440"/>
            <a:ext cx="2790825"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b="1" dirty="0">
                <a:solidFill>
                  <a:srgbClr val="6B21A8"/>
                </a:solidFill>
                <a:latin typeface="Calibri" pitchFamily="34" charset="0"/>
                <a:ea typeface="Calibri" pitchFamily="34" charset="-122"/>
                <a:cs typeface="Calibri" pitchFamily="34" charset="-120"/>
              </a:rPr>
              <a:t> → Lectures 04–19</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holds 300. What does andi a2, t1, 255 leave in a2?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2026-10-16T16:46:55Z</dcterms:created>
  <dcterms:modified xsi:type="dcterms:W3CDTF">2026-10-16T16:46:55Z</dcterms:modified>
</cp:coreProperties>
</file>