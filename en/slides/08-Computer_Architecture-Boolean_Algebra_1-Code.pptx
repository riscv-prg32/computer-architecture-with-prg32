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24c31db-1809-4b3f-f93c-58082e272bf7}">
          <p14:sldIdLst>
            <p14:sldId id="256"/>
            <p14:sldId id="257"/>
          </p14:sldIdLst>
        </p14:section>
        <p14:section name="The listings" id="{bbebf60e-aab7-5014-ba49-5ebf7e9409ff}">
          <p14:sldIdLst>
            <p14:sldId id="258"/>
            <p14:sldId id="259"/>
            <p14:sldId id="260"/>
            <p14:sldId id="261"/>
            <p14:sldId id="262"/>
            <p14:sldId id="263"/>
          </p14:sldIdLst>
        </p14:section>
        <p14:section name="The complete program" id="{c67b0e2a-7d8c-67cd-892d-007b88b45845}">
          <p14:sldIdLst>
            <p14:sldId id="264"/>
            <p14:sldId id="265"/>
            <p14:sldId id="266"/>
            <p14:sldId id="267"/>
            <p14:sldId id="268"/>
            <p14:sldId id="269"/>
          </p14:sldIdLst>
        </p14:section>
        <p14:section name="Run it and test it" id="{13e88fe4-4f3c-3466-abfb-8ecab24b541e}">
          <p14:sldIdLst>
            <p14:sldId id="270"/>
            <p14:sldId id="271"/>
            <p14:sldId id="272"/>
            <p14:sldId id="273"/>
            <p14:sldId id="274"/>
          </p14:sldIdLst>
        </p14:section>
        <p14:section name="Exercises" id="{057f8e6a-7c91-f210-5fb7-8a9292d11cd5}">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08.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~/arc12/code/l08.S; tools/tests/cartridges/run.py builds it, runs it on PRG32-QT with scripted input and checks the pixels of the frame.
For the lecturer: Get the code once: git clone https://github.com/riscv-prg32/computer-architecture-with-prg32 ~/arc12. The program of this lecture is ~/arc12/code/l08.S;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prg32_input_read returns all the buttons at once in a0, one bit per button. andi t3, t0, 0x01 keeps bit 0 and forces every other bit to zero; the result is different from zero exactly when LEFT is pressed, and beqz skips the movement otherwise. The same pattern, with 0x02, tests RIGHT. The constant used with andi is called a mask. The last callout asks the question of the lecture: andi is thirty-two AND gates working side by side, so what is an AND?
For the lecturer: From textbook chapter 6 (State and Input) and lab 06-asm-state-and-input. The constant used with andi is called a mask.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returned by the buttons is a word in which each bit has a meaning: bit 0 is LEFT, bit 1 RIGHT, bit 2 UP, bit 3 DOWN, bits 4 and 5 are A and B, bit 6 is START. If you hold RIGHT and A together you get 0x12, that is 0001 0010. In the picture each lamp is one bit of this word. Every question you can ask about the joystick, such as "is LEFT pressed but not RIGHT?", is a Boolean expression over these seven variables.
For the lecturer: Button constants from prg32.h (PRG32_BTN_*). Player two uses the same layout in higher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or, xor and not apply one gate to every pair of corresponding bits of two registers, all positions at once. The third column works out an example on eight bits: with a equal to 1100 1010 and b equal to 0000 1111, AND gives 0000 1010, OR gives 1100 1111, XOR gives 1100 0101. The last column shows the same operators in C. not is a pseudo-instruction: it is xori with minus 1, because minus 1 in two's complement is all ones.
For the lecturer: Each instruction applies the same gate to all thirty-two pairs of bits at once (eight shown). The immediate forms andi, ori and xori take a 12-bit constant; not is the pseudo-instruction xori t0, a, -1, because -1 is all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standard uses of a mask, each resting on a law of the algebra. To test a bit, AND with a mask that has 1 in that position: x AND 1 is x, x AND 0 is 0. To set it to 1, OR with the same mask. To clear it, AND with the complemented mask. To toggle it, XOR with the mask. In the last three cases the other bits are unchanged, and this is the whole point: a mask acts on the bits you choose and leaves the rest alone.
For the lecturer: The identity and null-element laws are exactly what makes a mask work: a 1 in the mask lets the bit through (AND) or forces it (OR); a 0 does the opposite. ~0x10 is 0xFFFFFFEF, which the assembler encodes as the immediate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Morgan in a program. The player is idle when neither LEFT nor RIGHT is pressed. The short version uses a mask with two bits, 0x03: the result is zero only if both bits are zero, that is NOT (LEFT OR RIGHT). The long version tests each button separately: (NOT LEFT) AND (NOT RIGHT). The second law of De Morgan says that the two are the same condition. Two instructions instead of five: simplifying an expression is useful in software as well as in hardware.
For the lecturer: (x + y)' = x' . y'. Two instructions instead of five: minimisation is not only for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read bit number n of a word when n is in a register: shift the word right by n positions, so that the bit you want arrives in position 0, then mask with 1. Here s0 holds the number of the lamp, srl shifts the button word, andi isolates the bit, and the colour is chosen accordingly: grey for off, yellow for on. Shift and mask is one of the most common idioms in low-level programming.
For the lecturer: Source: textbook lab 06-asm-state-and-input, step1_lamps.S (inside lamp_loop). srl is a logical shift right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Prove the second law of De Morgan with a truth table. Simplify an expression, naming the law at each step. Write the mask and the test for "A and B pressed together": note that testing for a non-zero result would mean A or B. Change the lamps so that they show the complement of the buttons. And convert a letter between upper and lower case with one instruction, remembering from Lecture 04 that the two differ in one bit.
For the lecturer: Exercise 2: x y + x y' z + x' y = y (x + x') + x y' z = y + x y' z = y + x z. Exercise 3: andi t1, t0, 0x30 then compare with 0x30 (li t2, 0x30; beq t1, t2, both): testing for non-zero would mean A OR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08: Boolean algebra (1)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Shape 9"/>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2"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3 listings of Lecture 08,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code/l08.S, 107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Is LEFT pressed?</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50" dirty="0">
                <a:solidFill>
                  <a:srgbClr val="8FB3A0"/>
                </a:solidFill>
                <a:latin typeface="Courier New" pitchFamily="34" charset="0"/>
                <a:ea typeface="Courier New" pitchFamily="34" charset="-122"/>
                <a:cs typeface="Courier New" pitchFamily="34" charset="-120"/>
              </a:rPr>
              <a:t># a0 = all the buttons, one bit each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mv   t0, a0              </a:t>
            </a:r>
            <a:pPr indent="0" marL="0">
              <a:buNone/>
            </a:pPr>
            <a:r>
              <a:rPr lang="en-US" sz="1350" dirty="0">
                <a:solidFill>
                  <a:srgbClr val="8FB3A0"/>
                </a:solidFill>
                <a:latin typeface="Courier New" pitchFamily="34" charset="0"/>
                <a:ea typeface="Courier New" pitchFamily="34" charset="-122"/>
                <a:cs typeface="Courier New" pitchFamily="34" charset="-120"/>
              </a:rPr>
              <a:t># keep our own copy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0x01        </a:t>
            </a:r>
            <a:pPr indent="0" marL="0">
              <a:buNone/>
            </a:pPr>
            <a:r>
              <a:rPr lang="en-US" sz="1350" dirty="0">
                <a:solidFill>
                  <a:srgbClr val="8FB3A0"/>
                </a:solidFill>
                <a:latin typeface="Courier New" pitchFamily="34" charset="0"/>
                <a:ea typeface="Courier New" pitchFamily="34" charset="-122"/>
                <a:cs typeface="Courier New" pitchFamily="34" charset="-120"/>
              </a:rPr>
              <a:t># keep only bit 0: LEFT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t3, 1f              </a:t>
            </a:r>
            <a:pPr indent="0" marL="0">
              <a:buNone/>
            </a:pPr>
            <a:r>
              <a:rPr lang="en-US" sz="1350" dirty="0">
                <a:solidFill>
                  <a:srgbClr val="8FB3A0"/>
                </a:solidFill>
                <a:latin typeface="Courier New" pitchFamily="34" charset="0"/>
                <a:ea typeface="Courier New" pitchFamily="34" charset="-122"/>
                <a:cs typeface="Courier New" pitchFamily="34" charset="-120"/>
              </a:rPr>
              <a:t># zero: LEFT is not pressed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t2, t2, -2          </a:t>
            </a:r>
            <a:pPr indent="0" marL="0">
              <a:buNone/>
            </a:pPr>
            <a:r>
              <a:rPr lang="en-US" sz="1350" dirty="0">
                <a:solidFill>
                  <a:srgbClr val="8FB3A0"/>
                </a:solidFill>
                <a:latin typeface="Courier New" pitchFamily="34" charset="0"/>
                <a:ea typeface="Courier New" pitchFamily="34" charset="-122"/>
                <a:cs typeface="Courier New" pitchFamily="34" charset="-120"/>
              </a:rPr>
              <a:t># move left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0x02        </a:t>
            </a:r>
            <a:pPr indent="0" marL="0">
              <a:buNone/>
            </a:pPr>
            <a:r>
              <a:rPr lang="en-US" sz="1350" dirty="0">
                <a:solidFill>
                  <a:srgbClr val="8FB3A0"/>
                </a:solidFill>
                <a:latin typeface="Courier New" pitchFamily="34" charset="0"/>
                <a:ea typeface="Courier New" pitchFamily="34" charset="-122"/>
                <a:cs typeface="Courier New" pitchFamily="34" charset="-120"/>
              </a:rPr>
              <a:t># keep only bit 1: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t3,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t2, t2, 2           </a:t>
            </a:r>
            <a:pPr indent="0" marL="0">
              <a:buNone/>
            </a:pPr>
            <a:r>
              <a:rPr lang="en-US" sz="1350" dirty="0">
                <a:solidFill>
                  <a:srgbClr val="8FB3A0"/>
                </a:solidFill>
                <a:latin typeface="Courier New" pitchFamily="34" charset="0"/>
                <a:ea typeface="Courier New" pitchFamily="34" charset="-122"/>
                <a:cs typeface="Courier New" pitchFamily="34" charset="-120"/>
              </a:rPr>
              <a:t># move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prg32_input_read returns all the buttons at once: one bit per button</a:t>
            </a:r>
            <a:endParaRPr lang="en-US" sz="14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andi with 0x01 keeps bit 0 and forces every other bit to zero</a:t>
            </a:r>
            <a:endParaRPr lang="en-US" sz="14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 result is non-zero exactly when LEFT is pressed</a:t>
            </a:r>
            <a:endParaRPr lang="en-US" sz="14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andi is thirty-two AND gates working side by side: what is an AND, exactly?</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bit per button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LEFT 0x01, RIGHT 0x02, UP 0x04, DOWN 0x08: bits 0 to 3</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0x10, B 0x20, START / SELECT 0x40: bits 4 to 6</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Holding RIGHT and A together gives 0x12 = 0001 0010</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lamp of the lab is one bit of the mask: lit when the bit is 1</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question about the joystick is a Boolean expression over these variables</a:t>
            </a:r>
            <a:endParaRPr lang="en-US" sz="2200" dirty="0"/>
          </a:p>
        </p:txBody>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Lab 06, step 1: seven lamps, one per button bit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Bitwise instructions: the algebra on a whole register</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28135"/>
                <a:gridCol w="2728135"/>
                <a:gridCol w="3819389"/>
                <a:gridCol w="181875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Operation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 = 1100 1010, b = 0000 1111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t0, a,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by bit AND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&amp;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or   t0, a,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by bit 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1100 1111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  t0, a,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by bit XOR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1100 0101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t0, 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 every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0011 0101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Each instruction applies one gate to every bit position at once. not is a pseudo-instruction: xori with -1, that is, with all ones.</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things to do with a mask</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80203"/>
                <a:gridCol w="3120304"/>
                <a:gridCol w="3293655"/>
                <a:gridCol w="26002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Goal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Law used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 (bit 4 = button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Effect on the other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Test a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1 = x,  x . 0 = 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andi t1,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forced to 0 in the result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Set a bit to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+ 1 = 1,  x + 0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ori  t0,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Clear a bit to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0 = 0,  x . 1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andi t0,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Toggle a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xor 1 = x',  x xor 0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xori t0,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 Morgan at the joystick</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"idle" when NEITHER LEFT NOR RIGHT is pressed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0x03        </a:t>
            </a:r>
            <a:pPr indent="0" marL="0">
              <a:buNone/>
            </a:pPr>
            <a:r>
              <a:rPr lang="en-US" sz="1350" dirty="0">
                <a:solidFill>
                  <a:srgbClr val="8FB3A0"/>
                </a:solidFill>
                <a:latin typeface="Courier New" pitchFamily="34" charset="0"/>
                <a:ea typeface="Courier New" pitchFamily="34" charset="-122"/>
                <a:cs typeface="Courier New" pitchFamily="34" charset="-120"/>
              </a:rPr>
              <a:t># 0x03 = LEFT | RIGHT: keep both bits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t3, idle            </a:t>
            </a:r>
            <a:pPr indent="0" marL="0">
              <a:buNone/>
            </a:pPr>
            <a:r>
              <a:rPr lang="en-US" sz="1350" dirty="0">
                <a:solidFill>
                  <a:srgbClr val="8FB3A0"/>
                </a:solidFill>
                <a:latin typeface="Courier New" pitchFamily="34" charset="0"/>
                <a:ea typeface="Courier New" pitchFamily="34" charset="-122"/>
                <a:cs typeface="Courier New" pitchFamily="34" charset="-120"/>
              </a:rPr>
              <a:t># all zero: (LEFT + RIGHT)' is true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the long way: test each button, the result is the same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t3, moving          </a:t>
            </a:r>
            <a:pPr indent="0" marL="0">
              <a:buNone/>
            </a:pPr>
            <a:r>
              <a:rPr lang="en-US" sz="1350" dirty="0">
                <a:solidFill>
                  <a:srgbClr val="8FB3A0"/>
                </a:solidFill>
                <a:latin typeface="Courier New" pitchFamily="34" charset="0"/>
                <a:ea typeface="Courier New" pitchFamily="34" charset="-122"/>
                <a:cs typeface="Courier New" pitchFamily="34" charset="-120"/>
              </a:rPr>
              <a:t># LEFT pressed: not idle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t3, moving          </a:t>
            </a:r>
            <a:pPr indent="0" marL="0">
              <a:buNone/>
            </a:pPr>
            <a:r>
              <a:rPr lang="en-US" sz="1350" dirty="0">
                <a:solidFill>
                  <a:srgbClr val="8FB3A0"/>
                </a:solidFill>
                <a:latin typeface="Courier New" pitchFamily="34" charset="0"/>
                <a:ea typeface="Courier New" pitchFamily="34" charset="-122"/>
                <a:cs typeface="Courier New" pitchFamily="34" charset="-120"/>
              </a:rPr>
              <a:t># RIGHT pressed: not idle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j    idle                </a:t>
            </a:r>
            <a:pPr indent="0" marL="0">
              <a:buNone/>
            </a:pPr>
            <a:r>
              <a:rPr lang="en-US" sz="1350" dirty="0">
                <a:solidFill>
                  <a:srgbClr val="8FB3A0"/>
                </a:solidFill>
                <a:latin typeface="Courier New" pitchFamily="34" charset="0"/>
                <a:ea typeface="Courier New" pitchFamily="34" charset="-122"/>
                <a:cs typeface="Courier New" pitchFamily="34" charset="-120"/>
              </a:rPr>
              <a:t># LEFT' . RIGHT'</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mask with two bits tests two buttons in one instruction</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result is zero only if both bits are zero: NOT (LEFT OR RIGHT)</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By De Morgan this equals (NOT LEFT) AND (NOT RIGHT): the long way below</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algebra tells you that the two programs are equivalent, and which is cheaper</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lamp per bit: shifting and masking</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a:t>
            </a:r>
            <a:pPr indent="0" marL="0">
              <a:buNone/>
            </a:pPr>
            <a:r>
              <a:rPr lang="en-US" sz="1250" dirty="0">
                <a:solidFill>
                  <a:srgbClr val="8FB3A0"/>
                </a:solidFill>
                <a:latin typeface="Courier New" pitchFamily="34" charset="0"/>
                <a:ea typeface="Courier New" pitchFamily="34" charset="-122"/>
                <a:cs typeface="Courier New" pitchFamily="34" charset="-120"/>
              </a:rPr>
              <a:t># s0 = bit number, 0 to 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buttons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           </a:t>
            </a:r>
            <a:pPr indent="0" marL="0">
              <a:buNone/>
            </a:pPr>
            <a:r>
              <a:rPr lang="en-US" sz="1250" dirty="0">
                <a:solidFill>
                  <a:srgbClr val="8FB3A0"/>
                </a:solidFill>
                <a:latin typeface="Courier New" pitchFamily="34" charset="0"/>
                <a:ea typeface="Courier New" pitchFamily="34" charset="-122"/>
                <a:cs typeface="Courier New" pitchFamily="34" charset="-120"/>
              </a:rPr>
              <a:t># t1 = the button mask</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srl  t1, t1, s0          </a:t>
            </a:r>
            <a:pPr indent="0" marL="0">
              <a:buNone/>
            </a:pPr>
            <a:r>
              <a:rPr lang="en-US" sz="1250" dirty="0">
                <a:solidFill>
                  <a:srgbClr val="8FB3A0"/>
                </a:solidFill>
                <a:latin typeface="Courier New" pitchFamily="34" charset="0"/>
                <a:ea typeface="Courier New" pitchFamily="34" charset="-122"/>
                <a:cs typeface="Courier New" pitchFamily="34" charset="-120"/>
              </a:rPr>
              <a:t># bring bit number s0 down to bit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andi t1, t1, 1           </a:t>
            </a:r>
            <a:pPr indent="0" marL="0">
              <a:buNone/>
            </a:pPr>
            <a:r>
              <a:rPr lang="en-US" sz="1250" dirty="0">
                <a:solidFill>
                  <a:srgbClr val="8FB3A0"/>
                </a:solidFill>
                <a:latin typeface="Courier New" pitchFamily="34" charset="0"/>
                <a:ea typeface="Courier New" pitchFamily="34" charset="-122"/>
                <a:cs typeface="Courier New" pitchFamily="34" charset="-120"/>
              </a:rPr>
              <a:t># keep it, clear all the others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GREY            </a:t>
            </a:r>
            <a:pPr indent="0" marL="0">
              <a:buNone/>
            </a:pPr>
            <a:r>
              <a:rPr lang="en-US" sz="1250" dirty="0">
                <a:solidFill>
                  <a:srgbClr val="8FB3A0"/>
                </a:solidFill>
                <a:latin typeface="Courier New" pitchFamily="34" charset="0"/>
                <a:ea typeface="Courier New" pitchFamily="34" charset="-122"/>
                <a:cs typeface="Courier New" pitchFamily="34" charset="-120"/>
              </a:rPr>
              <a:t># lamp off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1f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YELLOW          </a:t>
            </a:r>
            <a:pPr indent="0" marL="0">
              <a:buNone/>
            </a:pPr>
            <a:r>
              <a:rPr lang="en-US" sz="1250" dirty="0">
                <a:solidFill>
                  <a:srgbClr val="8FB3A0"/>
                </a:solidFill>
                <a:latin typeface="Courier New" pitchFamily="34" charset="0"/>
                <a:ea typeface="Courier New" pitchFamily="34" charset="-122"/>
                <a:cs typeface="Courier New" pitchFamily="34" charset="-120"/>
              </a:rPr>
              <a:t># lamp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1:  call prg32_gfx_rect</a:t>
            </a:r>
            <a:endParaRPr lang="en-US" sz="12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2_step1_lamps.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Screenshot: this step, built and run on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Shift, then mask with 1: the standard way to read bit number n of a word.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08: Elements of Boolean Algebra</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l08.S: one lamp per button, a marker that moves, and De Morgan at the joystick</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seven lamps, one per button (LEFT on the left), lit while the button</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is held; a white marker that LEFT and RIGHT move; a square that is green when</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neither LEFT nor RIGHT is pressed and red otherwise.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l08.S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l08 --name l08 --out l08.prg32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BLACK,  0x0000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WHITE,  0xffff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GREY,   0x4208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YELLOW, 0xffe0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GREEN,  0x07e0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RED,    0xf800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l08_init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l08_update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l08_draw</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l08_init: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l08_update: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00" dirty="0">
                <a:solidFill>
                  <a:srgbClr val="8FB3A0"/>
                </a:solidFill>
                <a:latin typeface="Courier New" pitchFamily="34" charset="0"/>
                <a:ea typeface="Courier New" pitchFamily="34" charset="-122"/>
                <a:cs typeface="Courier New" pitchFamily="34" charset="-120"/>
              </a:rPr>
              <a:t># a0 = all the buttons, one bit each</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t0, a0              </a:t>
            </a:r>
            <a:pPr indent="0" marL="0">
              <a:buNone/>
            </a:pPr>
            <a:r>
              <a:rPr lang="en-US" sz="1300" dirty="0">
                <a:solidFill>
                  <a:srgbClr val="8FB3A0"/>
                </a:solidFill>
                <a:latin typeface="Courier New" pitchFamily="34" charset="0"/>
                <a:ea typeface="Courier New" pitchFamily="34" charset="-122"/>
                <a:cs typeface="Courier New" pitchFamily="34" charset="-120"/>
              </a:rPr>
              <a:t># keep our own copy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t1, buttons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t0, 0(t1)           </a:t>
            </a:r>
            <a:pPr indent="0" marL="0">
              <a:buNone/>
            </a:pPr>
            <a:r>
              <a:rPr lang="en-US" sz="1300" dirty="0">
                <a:solidFill>
                  <a:srgbClr val="8FB3A0"/>
                </a:solidFill>
                <a:latin typeface="Courier New" pitchFamily="34" charset="0"/>
                <a:ea typeface="Courier New" pitchFamily="34" charset="-122"/>
                <a:cs typeface="Courier New" pitchFamily="34" charset="-120"/>
              </a:rPr>
              <a:t># remember them for 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t1, marker_x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t3, t0, 0x01        </a:t>
            </a:r>
            <a:pPr indent="0" marL="0">
              <a:buNone/>
            </a:pPr>
            <a:r>
              <a:rPr lang="en-US" sz="1300" dirty="0">
                <a:solidFill>
                  <a:srgbClr val="8FB3A0"/>
                </a:solidFill>
                <a:latin typeface="Courier New" pitchFamily="34" charset="0"/>
                <a:ea typeface="Courier New" pitchFamily="34" charset="-122"/>
                <a:cs typeface="Courier New" pitchFamily="34" charset="-120"/>
              </a:rPr>
              <a:t># keep only bit 0: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t3, 1f              </a:t>
            </a:r>
            <a:pPr indent="0" marL="0">
              <a:buNone/>
            </a:pPr>
            <a:r>
              <a:rPr lang="en-US" sz="1300" dirty="0">
                <a:solidFill>
                  <a:srgbClr val="8FB3A0"/>
                </a:solidFill>
                <a:latin typeface="Courier New" pitchFamily="34" charset="0"/>
                <a:ea typeface="Courier New" pitchFamily="34" charset="-122"/>
                <a:cs typeface="Courier New" pitchFamily="34" charset="-120"/>
              </a:rPr>
              <a:t># zero: LEFT is not pressed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t2, t2, -2          </a:t>
            </a:r>
            <a:pPr indent="0" marL="0">
              <a:buNone/>
            </a:pPr>
            <a:r>
              <a:rPr lang="en-US" sz="1300" dirty="0">
                <a:solidFill>
                  <a:srgbClr val="8FB3A0"/>
                </a:solidFill>
                <a:latin typeface="Courier New" pitchFamily="34" charset="0"/>
                <a:ea typeface="Courier New" pitchFamily="34" charset="-122"/>
                <a:cs typeface="Courier New" pitchFamily="34" charset="-120"/>
              </a:rPr>
              <a:t># move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t3, t0, 0x02        </a:t>
            </a:r>
            <a:pPr indent="0" marL="0">
              <a:buNone/>
            </a:pPr>
            <a:r>
              <a:rPr lang="en-US" sz="1300" dirty="0">
                <a:solidFill>
                  <a:srgbClr val="8FB3A0"/>
                </a:solidFill>
                <a:latin typeface="Courier New" pitchFamily="34" charset="0"/>
                <a:ea typeface="Courier New" pitchFamily="34" charset="-122"/>
                <a:cs typeface="Courier New" pitchFamily="34" charset="-120"/>
              </a:rPr>
              <a:t># keep only bit 1: RIGHT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t3, 2f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t2, t2, 2           </a:t>
            </a:r>
            <a:pPr indent="0" marL="0">
              <a:buNone/>
            </a:pPr>
            <a:r>
              <a:rPr lang="en-US" sz="1300" dirty="0">
                <a:solidFill>
                  <a:srgbClr val="8FB3A0"/>
                </a:solidFill>
                <a:latin typeface="Courier New" pitchFamily="34" charset="0"/>
                <a:ea typeface="Courier New" pitchFamily="34" charset="-122"/>
                <a:cs typeface="Courier New" pitchFamily="34" charset="-120"/>
              </a:rPr>
              <a:t># move right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t2, 0(t1)</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"idle" when NEITHER LEFT NOR RIGHT is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t4, 1               </a:t>
            </a:r>
            <a:pPr indent="0" marL="0">
              <a:buNone/>
            </a:pPr>
            <a:r>
              <a:rPr lang="en-US" sz="1800" dirty="0">
                <a:solidFill>
                  <a:srgbClr val="8FB3A0"/>
                </a:solidFill>
                <a:latin typeface="Courier New" pitchFamily="34" charset="0"/>
                <a:ea typeface="Courier New" pitchFamily="34" charset="-122"/>
                <a:cs typeface="Courier New" pitchFamily="34" charset="-120"/>
              </a:rPr>
              <a:t># idle =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t3, t0, 0x03        </a:t>
            </a:r>
            <a:pPr indent="0" marL="0">
              <a:buNone/>
            </a:pPr>
            <a:r>
              <a:rPr lang="en-US" sz="1800" dirty="0">
                <a:solidFill>
                  <a:srgbClr val="8FB3A0"/>
                </a:solidFill>
                <a:latin typeface="Courier New" pitchFamily="34" charset="0"/>
                <a:ea typeface="Courier New" pitchFamily="34" charset="-122"/>
                <a:cs typeface="Courier New" pitchFamily="34" charset="-120"/>
              </a:rPr>
              <a:t># 0x03 = LEFT | RIGHT: keep both bits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t3, 3f              </a:t>
            </a:r>
            <a:pPr indent="0" marL="0">
              <a:buNone/>
            </a:pPr>
            <a:r>
              <a:rPr lang="en-US" sz="1800" dirty="0">
                <a:solidFill>
                  <a:srgbClr val="8FB3A0"/>
                </a:solidFill>
                <a:latin typeface="Courier New" pitchFamily="34" charset="0"/>
                <a:ea typeface="Courier New" pitchFamily="34" charset="-122"/>
                <a:cs typeface="Courier New" pitchFamily="34" charset="-120"/>
              </a:rPr>
              <a:t># all zero: (LEFT + RIGHT)' is true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t4, 0               </a:t>
            </a:r>
            <a:pPr indent="0" marL="0">
              <a:buNone/>
            </a:pPr>
            <a:r>
              <a:rPr lang="en-US" sz="1800" dirty="0">
                <a:solidFill>
                  <a:srgbClr val="8FB3A0"/>
                </a:solidFill>
                <a:latin typeface="Courier New" pitchFamily="34" charset="0"/>
                <a:ea typeface="Courier New" pitchFamily="34" charset="-122"/>
                <a:cs typeface="Courier New" pitchFamily="34" charset="-120"/>
              </a:rPr>
              <a:t># idle =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3:  la   t1, idle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t4, 0(t1)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l08_draw: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sp, sp, -16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ra, 12(sp)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s0, 8(sp)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a0, BLACK</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prg32_gfx_clear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s0, 0               </a:t>
            </a:r>
            <a:pPr indent="0" marL="0">
              <a:buNone/>
            </a:pPr>
            <a:r>
              <a:rPr lang="en-US" sz="1250" dirty="0">
                <a:solidFill>
                  <a:srgbClr val="8FB3A0"/>
                </a:solidFill>
                <a:latin typeface="Courier New" pitchFamily="34" charset="0"/>
                <a:ea typeface="Courier New" pitchFamily="34" charset="-122"/>
                <a:cs typeface="Courier New" pitchFamily="34" charset="-120"/>
              </a:rPr>
              <a:t># s0 = bit number, 0 to 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1:  la   t0, buttons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           </a:t>
            </a:r>
            <a:pPr indent="0" marL="0">
              <a:buNone/>
            </a:pPr>
            <a:r>
              <a:rPr lang="en-US" sz="1250" dirty="0">
                <a:solidFill>
                  <a:srgbClr val="8FB3A0"/>
                </a:solidFill>
                <a:latin typeface="Courier New" pitchFamily="34" charset="0"/>
                <a:ea typeface="Courier New" pitchFamily="34" charset="-122"/>
                <a:cs typeface="Courier New" pitchFamily="34" charset="-120"/>
              </a:rPr>
              <a:t># t1 = the button mask</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srl  t1, t1, s0          </a:t>
            </a:r>
            <a:pPr indent="0" marL="0">
              <a:buNone/>
            </a:pPr>
            <a:r>
              <a:rPr lang="en-US" sz="1250" dirty="0">
                <a:solidFill>
                  <a:srgbClr val="8FB3A0"/>
                </a:solidFill>
                <a:latin typeface="Courier New" pitchFamily="34" charset="0"/>
                <a:ea typeface="Courier New" pitchFamily="34" charset="-122"/>
                <a:cs typeface="Courier New" pitchFamily="34" charset="-120"/>
              </a:rPr>
              <a:t># bring bit number s0 down to bit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andi t1, t1, 1           </a:t>
            </a:r>
            <a:pPr indent="0" marL="0">
              <a:buNone/>
            </a:pPr>
            <a:r>
              <a:rPr lang="en-US" sz="1250" dirty="0">
                <a:solidFill>
                  <a:srgbClr val="8FB3A0"/>
                </a:solidFill>
                <a:latin typeface="Courier New" pitchFamily="34" charset="0"/>
                <a:ea typeface="Courier New" pitchFamily="34" charset="-122"/>
                <a:cs typeface="Courier New" pitchFamily="34" charset="-120"/>
              </a:rPr>
              <a:t># keep it, clear all the others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GREY            </a:t>
            </a:r>
            <a:pPr indent="0" marL="0">
              <a:buNone/>
            </a:pPr>
            <a:r>
              <a:rPr lang="en-US" sz="1250" dirty="0">
                <a:solidFill>
                  <a:srgbClr val="8FB3A0"/>
                </a:solidFill>
                <a:latin typeface="Courier New" pitchFamily="34" charset="0"/>
                <a:ea typeface="Courier New" pitchFamily="34" charset="-122"/>
                <a:cs typeface="Courier New" pitchFamily="34" charset="-120"/>
              </a:rPr>
              <a:t># lamp off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2f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YELLOW          </a:t>
            </a:r>
            <a:pPr indent="0" marL="0">
              <a:buNone/>
            </a:pPr>
            <a:r>
              <a:rPr lang="en-US" sz="1250" dirty="0">
                <a:solidFill>
                  <a:srgbClr val="8FB3A0"/>
                </a:solidFill>
                <a:latin typeface="Courier New" pitchFamily="34" charset="0"/>
                <a:ea typeface="Courier New" pitchFamily="34" charset="-122"/>
                <a:cs typeface="Courier New" pitchFamily="34" charset="-120"/>
              </a:rPr>
              <a:t># lamp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2:  slli a0, s0, 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a0, a0, 48          </a:t>
            </a:r>
            <a:pPr indent="0" marL="0">
              <a:buNone/>
            </a:pPr>
            <a:r>
              <a:rPr lang="en-US" sz="1250" dirty="0">
                <a:solidFill>
                  <a:srgbClr val="8FB3A0"/>
                </a:solidFill>
                <a:latin typeface="Courier New" pitchFamily="34" charset="0"/>
                <a:ea typeface="Courier New" pitchFamily="34" charset="-122"/>
                <a:cs typeface="Courier New" pitchFamily="34" charset="-120"/>
              </a:rPr>
              <a:t># x = 48 + 32 * bit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a1,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a2,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a3,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prg32_gfx_rect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s0, s0,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t0, 7</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blt  s0, t0, 1b</a:t>
            </a:r>
            <a:endParaRPr lang="en-US" sz="12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300" dirty="0">
                <a:solidFill>
                  <a:srgbClr val="8FB3A0"/>
                </a:solidFill>
                <a:latin typeface="Courier New" pitchFamily="34" charset="0"/>
                <a:ea typeface="Courier New" pitchFamily="34" charset="-122"/>
                <a:cs typeface="Courier New" pitchFamily="34" charset="-120"/>
              </a:rPr>
              <a:t># the marker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100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idle            </a:t>
            </a:r>
            <a:pPr indent="0" marL="0">
              <a:buNone/>
            </a:pPr>
            <a:r>
              <a:rPr lang="en-US" sz="1300" dirty="0">
                <a:solidFill>
                  <a:srgbClr val="8FB3A0"/>
                </a:solidFill>
                <a:latin typeface="Courier New" pitchFamily="34" charset="0"/>
                <a:ea typeface="Courier New" pitchFamily="34" charset="-122"/>
                <a:cs typeface="Courier New" pitchFamily="34" charset="-120"/>
              </a:rPr>
              <a:t># the result of De Morgan's test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RED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t1, 3f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GREEN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3:  li   a0, 152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150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s0, 8(sp)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buttons:  .word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marker_x: .word 152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idle:     .word 1</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seven lamps, one per button (LEFT on the left), lit while the button is held; a white marker that LEFT and RIGHT move; a square that is green when neither LEFT nor RIGHT is pressed and red otherwise.</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LEFT and RIGHT move the marker; try A and B too</a:t>
            </a:r>
            <a:endParaRPr lang="en-US" sz="2400" dirty="0"/>
          </a:p>
        </p:txBody>
      </p:sp>
      <p:pic>
        <p:nvPicPr>
          <p:cNvPr id="7" name="Image 0" descr="/Users/raffaelemontella/devel/riscv-prg32/computer-architecture-with-prg32/tools/assets/lab_l08.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l08 --name l08 --out l08.prg32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l08.prg32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l08 --name l08 --architecture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l08 --name l08 --architecture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l08-esp32c6.prg32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l08-esp32c6.prg32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l08;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Prove the second De Morgan law, (x + y)' = x' . y', with a truth table</a:t>
            </a:r>
            <a:endParaRPr lang="en-US" sz="2000" dirty="0"/>
          </a:p>
        </p:txBody>
      </p:sp>
      <p:sp>
        <p:nvSpPr>
          <p:cNvPr id="6" name="Text 4"/>
          <p:cNvSpPr txBox="1"/>
          <p:nvPr/>
        </p:nvSpPr>
        <p:spPr>
          <a:xfrm>
            <a:off x="548640" y="20589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4063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Simplify with the algebra: x . y + x . y' . z + x' . y, naming the law used at each step</a:t>
            </a:r>
            <a:endParaRPr lang="en-US" sz="2000" dirty="0"/>
          </a:p>
        </p:txBody>
      </p:sp>
      <p:sp>
        <p:nvSpPr>
          <p:cNvPr id="8" name="Text 6"/>
          <p:cNvSpPr txBox="1"/>
          <p:nvPr/>
        </p:nvSpPr>
        <p:spPr>
          <a:xfrm>
            <a:off x="548640" y="28630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4480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the mask and the instruction that test whether A and B are pressed together</a:t>
            </a:r>
            <a:endParaRPr lang="en-US" sz="2000" dirty="0"/>
          </a:p>
        </p:txBody>
      </p:sp>
      <p:sp>
        <p:nvSpPr>
          <p:cNvPr id="10" name="Text 8"/>
          <p:cNvSpPr txBox="1"/>
          <p:nvPr/>
        </p:nvSpPr>
        <p:spPr>
          <a:xfrm>
            <a:off x="548640" y="34864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46811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Change the lamp program so that the lamps show the complement of the buttons (lit when released)</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Convert a letter from upper to lower case and back using one bitwise instruction (hint: ASCII, Lecture 04)</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 all seven lamps lit at rest, each one going dark while its button is held. For the letter: xori with 0x20 toggles bit 5.</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 the code</dc:title>
  <dc:subject>Lecture 08</dc:subject>
  <dc:creator>Raffaele Montella</dc:creator>
  <cp:lastModifiedBy>Raffaele Montella</cp:lastModifiedBy>
  <cp:revision>1</cp:revision>
  <dcterms:created xsi:type="dcterms:W3CDTF">2026-10-13T08:56:24Z</dcterms:created>
  <dcterms:modified xsi:type="dcterms:W3CDTF">2026-10-13T08:56:24Z</dcterms:modified>
</cp:coreProperties>
</file>