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3e8fac85-6e9b-de89-5051-6a2a4b703ad1}">
          <p14:sldIdLst>
            <p14:sldId id="256"/>
            <p14:sldId id="257"/>
          </p14:sldIdLst>
        </p14:section>
        <p14:section name="Warm-up on the machine" id="{e74bb2cd-6fc3-2dc3-b710-285c2b5f624f}">
          <p14:sldIdLst>
            <p14:sldId id="258"/>
            <p14:sldId id="259"/>
          </p14:sldIdLst>
        </p14:section>
        <p14:section name="Back to the machine" id="{ac613d94-8f17-b20d-f776-d224511c454a}">
          <p14:sldIdLst>
            <p14:sldId id="260"/>
            <p14:sldId id="261"/>
            <p14:sldId id="262"/>
            <p14:sldId id="263"/>
          </p14:sldIdLst>
        </p14:section>
        <p14:section name="The complete program" id="{64483381-3586-9b31-66e1-870ae791caff}">
          <p14:sldIdLst>
            <p14:sldId id="264"/>
            <p14:sldId id="265"/>
            <p14:sldId id="266"/>
            <p14:sldId id="267"/>
            <p14:sldId id="268"/>
            <p14:sldId id="269"/>
          </p14:sldIdLst>
        </p14:section>
        <p14:section name="Run it and test it" id="{450d4479-1cd5-091a-41d8-02b93a0862b6}">
          <p14:sldIdLst>
            <p14:sldId id="270"/>
            <p14:sldId id="271"/>
            <p14:sldId id="272"/>
            <p14:sldId id="273"/>
            <p14:sldId id="274"/>
          </p14:sldIdLst>
        </p14:section>
        <p14:section name="Exercises" id="{0abd20c5-9adc-f886-d749-ff4625e5d3dc}">
          <p14:sldIdLst>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code deck of Lecture 08. The lecture deck holds the concepts; this one holds everything you type and run: the listings with their explanation, the complete program, what it shows, and the way to test it on each of the three hosts.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the deck contains, in the order of the slides. The program of the lecture is a file that you can build and run as it is: start from there, and come back to the listings to understand each part. The program of this lecture is ~/arc12/code/l08.S; tools/tests/cartridges/run.py builds it, runs it on PRG32-QT with scripted input and checks the pixels of the frame.
For the lecturer: Get the code once: git clone https://github.com/riscv-prg32/computer-architecture-with-prg32 ~/arc12. The program of this lecture is ~/arc12/code/l08.S; tools/tests/cartridges/run.py builds it, runs it on PRG32-QT with scripted input and checks the pixels of the frame. Every listing on these slides is read by the build from a tested file, or checked by tools/tests: see its README.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prg32_input_read returns all the buttons at once in a0, one bit per button. andi t3, t0, 0x01 keeps bit 0 and forces every other bit to zero; the result is different from zero exactly when LEFT is pressed, and beqz skips the movement otherwise. The same pattern, with 0x02, tests RIGHT. The constant used with andi is called a mask. The last callout asks the question of the lecture: andi is thirty-two AND gates working side by side, so what is an AND?
For the lecturer: From textbook chapter 6 (State and Input) and lab 06-asm-state-and-input. The constant used with andi is called a mask.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value returned by the buttons is a word in which each bit has a meaning: bit 0 is LEFT, bit 1 RIGHT, bit 2 UP, bit 3 DOWN, bits 4 and 5 are A and B, bit 6 is START. If you hold RIGHT and A together you get 0x12, that is 0001 0010. In the picture each lamp is one bit of this word. Every question you can ask about the joystick, such as "is LEFT pressed but not RIGHT?", is a Boolean expression over these seven variables.
For the lecturer: Button constants from prg32.h (PRG32_BTN_*). Player two uses the same layout in higher bits.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or, xor and not apply one gate to every pair of corresponding bits of two registers, all positions at once. The third column works out an example on eight bits: with a equal to 1100 1010 and b equal to 0000 1111, AND gives 0000 1010, OR gives 1100 1111, XOR gives 1100 0101. The last column shows the same operators in C. not is a pseudo-instruction: it is xori with minus 1, because minus 1 in two's complement is all ones.
For the lecturer: Each instruction applies the same gate to all thirty-two pairs of bits at once (eight shown). The immediate forms andi, ori and xori take a 12-bit constant; not is the pseudo-instruction xori t0, a, -1, because -1 is all 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four standard uses of a mask, each resting on a law of the algebra. To test a bit, AND with a mask that has 1 in that position: x AND 1 is x, x AND 0 is 0. To set it to 1, OR with the same mask. To clear it, AND with the complemented mask. To toggle it, XOR with the mask. In the last three cases the other bits are unchanged, and this is the whole point: a mask acts on the bits you choose and leaves the rest alone.
For the lecturer: The identity and null-element laws are exactly what makes a mask work: a 1 in the mask lets the bit through (AND) or forces it (OR); a 0 does the opposite. ~0x10 is 0xFFFFFFEF, which the assembler encodes as the immediate -17.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 Morgan in a program. The player is idle when neither LEFT nor RIGHT is pressed. The short version uses a mask with two bits, 0x03: the result is zero only if both bits are zero, that is NOT (LEFT OR RIGHT). The long version tests each button separately: (NOT LEFT) AND (NOT RIGHT). The second law of De Morgan says that the two are the same condition. Two instructions instead of five: simplifying an expression is useful in software as well as in hardware.
For the lecturer: (x + y)' = x' . y'. Two instructions instead of five: minimisation is not only for hardware.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read bit number n of a word when n is in a register: shift the word right by n positions, so that the bit you want arrives in position 0, then mask with 1. Here s0 holds the number of the lamp, srl shifts the button word, andi isolates the bit, and the colour is chosen accordingly: grey for off, yellow for on. Shift and mask is one of the most common idioms in low-level programming.
For the lecturer: Source: textbook lab 06-asm-state-and-input, step1_lamps.S (inside lamp_loop). srl is a logical shift right (Lecture 05).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 of the complete program, exactly as it is in the repository. Read it from the top: the header says what the program shows and how to build it; the three functions init, update and draw follow, then the data. Lines that you met in the listings of the lecture have the same comments here.
For the lecturer: code/l08.S, as built and run by the tests. The comments are part of the program: read them with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 of the complete program, exactly as it is in the repository. Read it from the top: the header says what the program shows and how to build it; the three functions init, update and draw follow, then the data. Lines that you met in the listings of the lecture have the same comments here.
For the lecturer: code/l08.S, as built and run by the tests. The comments are part of the program: read them with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 of the complete program, exactly as it is in the repository. Read it from the top: the header says what the program shows and how to build it; the three functions init, update and draw follow, then the data. Lines that you met in the listings of the lecture have the same comments here.
For the lecturer: code/l08.S, as built and run by the tests. The comments are part of the program: read them with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 of the complete program, exactly as it is in the repository. Read it from the top: the header says what the program shows and how to build it; the three functions init, update and draw follow, then the data. Lines that you met in the listings of the lecture have the same comments here.
For the lecturer: code/l08.S, as built and run by the tests. The comments are part of the program: read them with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 of the complete program, exactly as it is in the repository. Read it from the top: the header says what the program shows and how to build it; the three functions init, update and draw follow, then the data. Lines that you met in the listings of the lecture have the same comments here.
For the lecturer: code/l08.S, as built and run by the tests. The comments are part of the program: read them with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 of the complete program, exactly as it is in the repository. Read it from the top: the header says what the program shows and how to build it; the three functions init, update and draw follow, then the data. Lines that you met in the listings of the lecture have the same comments here.
For the lecturer: code/l08.S, as built and run by the tests. The comments are part of the program: read them with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the program shows when it runs, and what to press. Predict before you run: if the screen differs from this picture, the difference is information. The picture was written by the automatic test, not drawn by hand.
For the lecturer: The picture is the frame that the headless runner of PRG32-QT produced in the test of this program. On QEMU and on the board the game area is the same 320 by 200 pixels, between the two status bands.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quickest way: PRG32-QT on your own computer. Four steps, each with its command. PRG32-QT behaves like a board on port 8080, which is why the upload command says esp32c6. With debug mode enabled you can stop at any instruction and read registers and memory.
For the lecturer: Run by the tests: the cartridge of this slide is built with this command and executed on the headless runner of PRG32-QT. Without the toolchain: import the .prg32 file in PRG32-QT and choose Run Cartridge. Keys: arrows or WASD for the joystick, Z or J for A, X or K for B, Enter for Start, Escape to go back to Setup.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program on the emulator. QEMU runs the real firmware on an emulated chip, so the cartridge must be built for the architecture qemu. Stage the cartridge while QEMU is closed. The firmware opens on the Setup menu: choose Run Cartridge and the slot. Remember that the keyboard is read by the terminal, not by the window with the picture.
For the lecturer: Checked by the tests up to the staging: the cartridge is built for the architecture qemu and accepted into the flash image of the emulator. What the emulator then shows is not checked automatically: Espressif QEMU needs its window. Since October 2026 the firmware starts on Setup: choose Run Cartridge, then cart0.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program on the kit. The firmware is written once, through USB; after that cartridges travel over Wi-Fi. The upload command is the one used for PRG32-QT with the address of the board. This is the only host that the automatic tests do not run: try it, and report what you see.
For the lecturer: Not run by the tests: there is no board on the test machine. The cartridge for the architecture esp32c6 is built by the tests; the steps are those of the PRG32 documentation. If the serial port is not found pass it explicitly. To use the Wi-Fi of the classroom: python3 -m prg32 wifi set --ssid NAME --password PASSWORD --mode 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five most common symptoms, what each means, and what to do. Read the message before changing anything: it nearly always names the cause.
For the lecturer: The first three rows cover most cases. When asking for help, paste the command and the whole message as text. docs/usage/troubleshooting.md of the PRG32 repository has the complete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exercises. Prove the second law of De Morgan with a truth table. Simplify an expression, naming the law at each step. Write the mask and the test for "A and B pressed together": note that testing for a non-zero result would mean A or B. Change the lamps so that they show the complement of the buttons. And convert a letter between upper and lower case with one instruction, remembering from Lecture 04 that the two differ in one bit.
For the lecturer: Exercise 2: x y + x y' z + x' y = y (x + x') + x y' z = y + x y' z = y + x z. Exercise 3: andi t1, t0, 0x30 then compare with 0x30 (li t2, 0x30; beq t1, t2, both): testing for non-zero would mean A OR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19088"/>
            <a:ext cx="9601200" cy="274320"/>
          </a:xfrm>
          <a:prstGeom prst="rect">
            <a:avLst/>
          </a:prstGeom>
          <a:noFill/>
          <a:ln/>
        </p:spPr>
        <p:txBody>
          <a:bodyPr wrap="square" lIns="0" tIns="0" rIns="0" bIns="0" rtlCol="0" anchor="ctr"/>
          <a:lstStyle/>
          <a:p>
            <a:pPr indent="0" marL="0">
              <a:buNone/>
            </a:pPr>
            <a:r>
              <a:rPr lang="en-US" sz="1000" dirty="0">
                <a:solidFill>
                  <a:srgbClr val="5B6B78"/>
                </a:solidFill>
                <a:latin typeface="Calibri" pitchFamily="34" charset="0"/>
                <a:ea typeface="Calibri" pitchFamily="34" charset="-122"/>
                <a:cs typeface="Calibri" pitchFamily="34" charset="-120"/>
              </a:rPr>
              <a:t>ARC12 Computer Architecture  |  Lecture 08: Boolean algebra (1) (code)  |  A.Y. 2026/27</a:t>
            </a:r>
            <a:endParaRPr lang="en-US" sz="1000" dirty="0"/>
          </a:p>
        </p:txBody>
      </p:sp>
      <p:sp>
        <p:nvSpPr>
          <p:cNvPr id="3" name="Text 1"/>
          <p:cNvSpPr/>
          <p:nvPr>
            <p:ph idx="101" type="title" hasCustomPrompt="1"/>
          </p:nvPr>
        </p:nvSpPr>
        <p:spPr>
          <a:xfrm>
            <a:off x="548640" y="365760"/>
            <a:ext cx="11094415" cy="868680"/>
          </a:xfrm>
          <a:prstGeom prst="rect">
            <a:avLst/>
          </a:prstGeom>
          <a:noFill/>
          <a:ln/>
        </p:spPr>
        <p:txBody>
          <a:bodyPr wrap="square" rtlCol="0"/>
          <a:lstStyle>
            <a:lvl1pPr algn="l" indent="0" marL="0">
              <a:buNone/>
              <a:defRPr lang="en-US" sz="3200" b="1" dirty="0">
                <a:solidFill>
                  <a:srgbClr val="2E4A62"/>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B2530"/>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548640" y="640080"/>
            <a:ext cx="201900" cy="201900"/>
          </a:xfrm>
          <a:prstGeom prst="rect">
            <a:avLst/>
          </a:prstGeom>
          <a:solidFill>
            <a:srgbClr val="0E7C86"/>
          </a:solidFill>
          <a:ln w="12700">
            <a:solidFill>
              <a:srgbClr val="0E7C86"/>
            </a:solidFill>
            <a:prstDash val="solid"/>
          </a:ln>
        </p:spPr>
      </p:sp>
      <p:sp>
        <p:nvSpPr>
          <p:cNvPr id="3" name="Shape 1"/>
          <p:cNvSpPr/>
          <p:nvPr/>
        </p:nvSpPr>
        <p:spPr>
          <a:xfrm>
            <a:off x="768096" y="640080"/>
            <a:ext cx="201900" cy="201900"/>
          </a:xfrm>
          <a:prstGeom prst="rect">
            <a:avLst/>
          </a:prstGeom>
          <a:solidFill>
            <a:srgbClr val="C7791B"/>
          </a:solidFill>
          <a:ln w="12700">
            <a:solidFill>
              <a:srgbClr val="C7791B"/>
            </a:solidFill>
            <a:prstDash val="solid"/>
          </a:ln>
        </p:spPr>
      </p:sp>
      <p:sp>
        <p:nvSpPr>
          <p:cNvPr id="4" name="Shape 2"/>
          <p:cNvSpPr/>
          <p:nvPr/>
        </p:nvSpPr>
        <p:spPr>
          <a:xfrm>
            <a:off x="768096" y="859536"/>
            <a:ext cx="201900" cy="201900"/>
          </a:xfrm>
          <a:prstGeom prst="rect">
            <a:avLst/>
          </a:prstGeom>
          <a:solidFill>
            <a:srgbClr val="0E7C86"/>
          </a:solidFill>
          <a:ln w="12700">
            <a:solidFill>
              <a:srgbClr val="0E7C86"/>
            </a:solidFill>
            <a:prstDash val="solid"/>
          </a:ln>
        </p:spPr>
      </p:sp>
      <p:sp>
        <p:nvSpPr>
          <p:cNvPr id="5" name="Shape 3"/>
          <p:cNvSpPr/>
          <p:nvPr/>
        </p:nvSpPr>
        <p:spPr>
          <a:xfrm>
            <a:off x="987552" y="859536"/>
            <a:ext cx="201900" cy="201900"/>
          </a:xfrm>
          <a:prstGeom prst="rect">
            <a:avLst/>
          </a:prstGeom>
          <a:solidFill>
            <a:srgbClr val="C7791B"/>
          </a:solidFill>
          <a:ln w="12700">
            <a:solidFill>
              <a:srgbClr val="C7791B"/>
            </a:solidFill>
            <a:prstDash val="solid"/>
          </a:ln>
        </p:spPr>
      </p:sp>
      <p:sp>
        <p:nvSpPr>
          <p:cNvPr id="6" name="Shape 4"/>
          <p:cNvSpPr/>
          <p:nvPr/>
        </p:nvSpPr>
        <p:spPr>
          <a:xfrm>
            <a:off x="548640" y="1078992"/>
            <a:ext cx="201900" cy="201900"/>
          </a:xfrm>
          <a:prstGeom prst="rect">
            <a:avLst/>
          </a:prstGeom>
          <a:solidFill>
            <a:srgbClr val="0E7C86"/>
          </a:solidFill>
          <a:ln w="12700">
            <a:solidFill>
              <a:srgbClr val="0E7C86"/>
            </a:solidFill>
            <a:prstDash val="solid"/>
          </a:ln>
        </p:spPr>
      </p:sp>
      <p:sp>
        <p:nvSpPr>
          <p:cNvPr id="7" name="Text 5"/>
          <p:cNvSpPr txBox="1"/>
          <p:nvPr/>
        </p:nvSpPr>
        <p:spPr>
          <a:xfrm>
            <a:off x="548640" y="1600200"/>
            <a:ext cx="11094415" cy="365760"/>
          </a:xfrm>
          <a:prstGeom prst="rect">
            <a:avLst/>
          </a:prstGeom>
          <a:noFill/>
          <a:ln/>
        </p:spPr>
        <p:txBody>
          <a:bodyPr wrap="square" lIns="0" tIns="0" rIns="0" bIns="0" rtlCol="0" anchor="t"/>
          <a:lstStyle/>
          <a:p>
            <a:pPr indent="0" marL="0">
              <a:buNone/>
            </a:pPr>
            <a:r>
              <a:rPr lang="en-US" sz="1600" b="1" spc="300" kern="0" dirty="0">
                <a:solidFill>
                  <a:srgbClr val="C7791B"/>
                </a:solidFill>
                <a:latin typeface="Calibri" pitchFamily="34" charset="0"/>
                <a:ea typeface="Calibri" pitchFamily="34" charset="-122"/>
                <a:cs typeface="Calibri" pitchFamily="34" charset="-120"/>
              </a:rPr>
              <a:t>ARC12 COMPUTER ARCHITECTURE  ·  LECTURE 08</a:t>
            </a:r>
            <a:endParaRPr lang="en-US" sz="1600" dirty="0"/>
          </a:p>
        </p:txBody>
      </p:sp>
      <p:sp>
        <p:nvSpPr>
          <p:cNvPr id="8" name="Text 6"/>
          <p:cNvSpPr txBox="1"/>
          <p:nvPr/>
        </p:nvSpPr>
        <p:spPr>
          <a:xfrm>
            <a:off x="548640" y="2011680"/>
            <a:ext cx="9722815" cy="155448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Elements of Boolean Algebra: the code</a:t>
            </a:r>
            <a:endParaRPr lang="en-US" sz="4800" dirty="0"/>
          </a:p>
        </p:txBody>
      </p:sp>
      <p:sp>
        <p:nvSpPr>
          <p:cNvPr id="9" name="Text 7"/>
          <p:cNvSpPr txBox="1"/>
          <p:nvPr/>
        </p:nvSpPr>
        <p:spPr>
          <a:xfrm>
            <a:off x="548640" y="3611880"/>
            <a:ext cx="9722815" cy="548640"/>
          </a:xfrm>
          <a:prstGeom prst="rect">
            <a:avLst/>
          </a:prstGeom>
          <a:noFill/>
          <a:ln/>
        </p:spPr>
        <p:txBody>
          <a:bodyPr wrap="square" lIns="0" tIns="0" rIns="0" bIns="0" rtlCol="0" anchor="ctr"/>
          <a:lstStyle/>
          <a:p>
            <a:pPr indent="0" marL="0">
              <a:buNone/>
            </a:pPr>
            <a:r>
              <a:rPr lang="en-US" sz="1700" dirty="0">
                <a:solidFill>
                  <a:srgbClr val="CFE3EA"/>
                </a:solidFill>
                <a:latin typeface="Calibri" pitchFamily="34" charset="0"/>
                <a:ea typeface="Calibri" pitchFamily="34" charset="-122"/>
                <a:cs typeface="Calibri" pitchFamily="34" charset="-120"/>
              </a:rPr>
              <a:t>Code deck: every listing explained, the complete program, and how to test it on PRG32-QT, on QEMU and on the board</a:t>
            </a:r>
            <a:endParaRPr lang="en-US" sz="1700" dirty="0"/>
          </a:p>
        </p:txBody>
      </p:sp>
      <p:sp>
        <p:nvSpPr>
          <p:cNvPr id="10" name="Text 8"/>
          <p:cNvSpPr txBox="1"/>
          <p:nvPr/>
        </p:nvSpPr>
        <p:spPr>
          <a:xfrm>
            <a:off x="548640" y="5486400"/>
            <a:ext cx="8229600" cy="91440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Prof. Raffaele Montella, PhD</a:t>
            </a:r>
            <a:endParaRPr lang="en-US" sz="1700" dirty="0"/>
          </a:p>
          <a:p>
            <a:pPr indent="0" marL="0">
              <a:buNone/>
            </a:pPr>
            <a:r>
              <a:rPr lang="en-US" sz="1400" dirty="0">
                <a:solidFill>
                  <a:srgbClr val="CFE3EA"/>
                </a:solidFill>
                <a:latin typeface="Calibri" pitchFamily="34" charset="0"/>
                <a:ea typeface="Calibri" pitchFamily="34" charset="-122"/>
                <a:cs typeface="Calibri" pitchFamily="34" charset="-120"/>
              </a:rPr>
              <a:t>University of Naples “Parthenope”  ·  A.Y. 2026/27</a:t>
            </a:r>
            <a:endParaRPr lang="en-US" sz="1700" dirty="0"/>
          </a:p>
          <a:p>
            <a:pPr indent="0" marL="0">
              <a:buNone/>
            </a:pPr>
            <a:r>
              <a:rPr lang="en-US" sz="1300" dirty="0">
                <a:solidFill>
                  <a:srgbClr val="CFE3EA"/>
                </a:solidFill>
                <a:latin typeface="Calibri" pitchFamily="34" charset="0"/>
                <a:ea typeface="Calibri" pitchFamily="34" charset="-122"/>
                <a:cs typeface="Calibri" pitchFamily="34" charset="-120"/>
              </a:rPr>
              <a:t>raffaelemontella.it  ·  raffaele.montella@uniparthenope.it</a:t>
            </a:r>
            <a:endParaRPr lang="en-US" sz="1700" dirty="0"/>
          </a:p>
        </p:txBody>
      </p:sp>
      <p:sp>
        <p:nvSpPr>
          <p:cNvPr id="11" name="Text 9"/>
          <p:cNvSpPr txBox="1"/>
          <p:nvPr/>
        </p:nvSpPr>
        <p:spPr>
          <a:xfrm>
            <a:off x="4693615" y="566928"/>
            <a:ext cx="6949440" cy="640080"/>
          </a:xfrm>
          <a:prstGeom prst="rect">
            <a:avLst/>
          </a:prstGeom>
          <a:noFill/>
          <a:ln/>
        </p:spPr>
        <p:txBody>
          <a:bodyPr wrap="square" lIns="0" tIns="0" rIns="0" bIns="0" rtlCol="0" anchor="t"/>
          <a:lstStyle/>
          <a:p>
            <a:pPr algn="r" indent="0" marL="0">
              <a:buNone/>
            </a:pPr>
            <a:r>
              <a:rPr lang="en-US" sz="1300" dirty="0">
                <a:solidFill>
                  <a:srgbClr val="CFE3EA"/>
                </a:solidFill>
                <a:latin typeface="Calibri" pitchFamily="34" charset="0"/>
                <a:ea typeface="Calibri" pitchFamily="34" charset="-122"/>
                <a:cs typeface="Calibri" pitchFamily="34" charset="-120"/>
              </a:rPr>
              <a:t>Code deck. The concepts, the figures and the questions are in the lecture deck:</a:t>
            </a:r>
            <a:endParaRPr lang="en-US" sz="1300" dirty="0"/>
          </a:p>
          <a:p>
            <a:pPr algn="r" indent="0" marL="0">
              <a:buNone/>
            </a:pPr>
            <a:r>
              <a:rPr lang="en-US" sz="1300" dirty="0">
                <a:solidFill>
                  <a:srgbClr val="CFE3EA"/>
                </a:solidFill>
                <a:latin typeface="Calibri" pitchFamily="34" charset="0"/>
                <a:ea typeface="Calibri" pitchFamily="34" charset="-122"/>
                <a:cs typeface="Calibri" pitchFamily="34" charset="-120"/>
              </a:rPr>
              <a:t>08-Computer_Architecture-Boolean_Algebra_1.pptx</a:t>
            </a:r>
            <a:endParaRPr lang="en-US" sz="1300" dirty="0"/>
          </a:p>
        </p:txBody>
      </p:sp>
      <p:sp>
        <p:nvSpPr>
          <p:cNvPr id="12" name="Shape 10"/>
          <p:cNvSpPr/>
          <p:nvPr/>
        </p:nvSpPr>
        <p:spPr>
          <a:xfrm>
            <a:off x="8625535" y="4160520"/>
            <a:ext cx="3017520" cy="2011680"/>
          </a:xfrm>
          <a:prstGeom prst="roundRect">
            <a:avLst>
              <a:gd name="adj" fmla="val 3636"/>
            </a:avLst>
          </a:prstGeom>
          <a:solidFill>
            <a:srgbClr val="000000"/>
          </a:solidFill>
          <a:ln w="12700">
            <a:solidFill>
              <a:srgbClr val="000000"/>
            </a:solidFill>
            <a:prstDash val="solid"/>
          </a:ln>
        </p:spPr>
      </p:sp>
      <p:pic>
        <p:nvPicPr>
          <p:cNvPr id="13" name="Image 0" descr="/Users/raffaelemontella/devel/riscv-prg32/computer-architecture-with-prg32/tools/assets/lab2_step1_lamps.png">    </p:cNvPr>
          <p:cNvPicPr>
            <a:picLocks noChangeAspect="1"/>
          </p:cNvPicPr>
          <p:nvPr/>
        </p:nvPicPr>
        <p:blipFill>
          <a:blip r:embed="rId1"/>
          <a:stretch>
            <a:fillRect/>
          </a:stretch>
        </p:blipFill>
        <p:spPr>
          <a:xfrm>
            <a:off x="8716975" y="4280535"/>
            <a:ext cx="2834640" cy="1771650"/>
          </a:xfrm>
          <a:prstGeom prst="rect">
            <a:avLst/>
          </a:prstGeom>
        </p:spPr>
      </p:pic>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In this deck</a:t>
            </a:r>
            <a:endParaRPr lang="en-US" sz="3200" dirty="0"/>
          </a:p>
        </p:txBody>
      </p:sp>
      <p:sp>
        <p:nvSpPr>
          <p:cNvPr id="3" name="Text 1"/>
          <p:cNvSpPr txBox="1"/>
          <p:nvPr/>
        </p:nvSpPr>
        <p:spPr>
          <a:xfrm>
            <a:off x="548640" y="161848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4" name="Text 2"/>
          <p:cNvSpPr txBox="1"/>
          <p:nvPr/>
        </p:nvSpPr>
        <p:spPr>
          <a:xfrm>
            <a:off x="1207008" y="1600200"/>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3 listings of Lecture 08, one per slide: read the code, then the numbered remarks beside it</a:t>
            </a:r>
            <a:endParaRPr lang="en-US" sz="2200" dirty="0"/>
          </a:p>
        </p:txBody>
      </p:sp>
      <p:sp>
        <p:nvSpPr>
          <p:cNvPr id="5" name="Text 3"/>
          <p:cNvSpPr txBox="1"/>
          <p:nvPr/>
        </p:nvSpPr>
        <p:spPr>
          <a:xfrm>
            <a:off x="548640" y="2757424"/>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6" name="Text 4"/>
          <p:cNvSpPr txBox="1"/>
          <p:nvPr/>
        </p:nvSpPr>
        <p:spPr>
          <a:xfrm>
            <a:off x="1207008" y="2739136"/>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complete program: code/l08.S, 107 lines, printed in full</a:t>
            </a:r>
            <a:endParaRPr lang="en-US" sz="2200" dirty="0"/>
          </a:p>
        </p:txBody>
      </p:sp>
      <p:sp>
        <p:nvSpPr>
          <p:cNvPr id="7" name="Text 5"/>
          <p:cNvSpPr txBox="1"/>
          <p:nvPr/>
        </p:nvSpPr>
        <p:spPr>
          <a:xfrm>
            <a:off x="548640" y="3653536"/>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8" name="Text 6"/>
          <p:cNvSpPr txBox="1"/>
          <p:nvPr/>
        </p:nvSpPr>
        <p:spPr>
          <a:xfrm>
            <a:off x="1207008" y="3635248"/>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What you should see when it runs, checked on the PRG32-QT headless runner</a:t>
            </a:r>
            <a:endParaRPr lang="en-US" sz="2200" dirty="0"/>
          </a:p>
        </p:txBody>
      </p:sp>
      <p:sp>
        <p:nvSpPr>
          <p:cNvPr id="9" name="Text 7"/>
          <p:cNvSpPr txBox="1"/>
          <p:nvPr/>
        </p:nvSpPr>
        <p:spPr>
          <a:xfrm>
            <a:off x="548640" y="454964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0" name="Text 8"/>
          <p:cNvSpPr txBox="1"/>
          <p:nvPr/>
        </p:nvSpPr>
        <p:spPr>
          <a:xfrm>
            <a:off x="1207008" y="4531360"/>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How to test it, step by step: on PRG32-QT, on QEMU, on the board</a:t>
            </a:r>
            <a:endParaRPr lang="en-US" sz="2200" dirty="0"/>
          </a:p>
        </p:txBody>
      </p:sp>
      <p:sp>
        <p:nvSpPr>
          <p:cNvPr id="11" name="Text 9"/>
          <p:cNvSpPr txBox="1"/>
          <p:nvPr/>
        </p:nvSpPr>
        <p:spPr>
          <a:xfrm>
            <a:off x="548640" y="5445760"/>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2" name="Text 10"/>
          <p:cNvSpPr txBox="1"/>
          <p:nvPr/>
        </p:nvSpPr>
        <p:spPr>
          <a:xfrm>
            <a:off x="1207008" y="5427472"/>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exercises: change the program, predict, run</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Is LEFT pressed?</a:t>
            </a:r>
            <a:endParaRPr lang="en-US" sz="3200" dirty="0"/>
          </a:p>
        </p:txBody>
      </p:sp>
      <p:sp>
        <p:nvSpPr>
          <p:cNvPr id="3" name="Shape 1"/>
          <p:cNvSpPr/>
          <p:nvPr/>
        </p:nvSpPr>
        <p:spPr>
          <a:xfrm>
            <a:off x="548640" y="1417320"/>
            <a:ext cx="740664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6949440" cy="4389120"/>
          </a:xfrm>
          <a:prstGeom prst="rect">
            <a:avLst/>
          </a:prstGeom>
          <a:noFill/>
          <a:ln/>
        </p:spPr>
        <p:txBody>
          <a:bodyPr wrap="square" lIns="0" tIns="0" rIns="0" bIns="0" rtlCol="0" anchor="t"/>
          <a:lstStyle/>
          <a:p>
            <a:pPr indent="0" marL="0">
              <a:buNone/>
            </a:pPr>
            <a:r>
              <a:rPr lang="en-US" sz="1350" dirty="0">
                <a:solidFill>
                  <a:srgbClr val="E6EDF2"/>
                </a:solidFill>
                <a:latin typeface="Courier New" pitchFamily="34" charset="0"/>
                <a:ea typeface="Courier New" pitchFamily="34" charset="-122"/>
                <a:cs typeface="Courier New" pitchFamily="34" charset="-120"/>
              </a:rPr>
              <a:t>    call prg32_input_read    </a:t>
            </a:r>
            <a:pPr indent="0" marL="0">
              <a:buNone/>
            </a:pPr>
            <a:r>
              <a:rPr lang="en-US" sz="1350" dirty="0">
                <a:solidFill>
                  <a:srgbClr val="8FB3A0"/>
                </a:solidFill>
                <a:latin typeface="Courier New" pitchFamily="34" charset="0"/>
                <a:ea typeface="Courier New" pitchFamily="34" charset="-122"/>
                <a:cs typeface="Courier New" pitchFamily="34" charset="-120"/>
              </a:rPr>
              <a:t># a0 = all the buttons, one bit each</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mv   t0, a0              </a:t>
            </a:r>
            <a:pPr indent="0" marL="0">
              <a:buNone/>
            </a:pPr>
            <a:r>
              <a:rPr lang="en-US" sz="1350" dirty="0">
                <a:solidFill>
                  <a:srgbClr val="8FB3A0"/>
                </a:solidFill>
                <a:latin typeface="Courier New" pitchFamily="34" charset="0"/>
                <a:ea typeface="Courier New" pitchFamily="34" charset="-122"/>
                <a:cs typeface="Courier New" pitchFamily="34" charset="-120"/>
              </a:rPr>
              <a:t># keep our own copy</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andi t3, t0, 0x01        </a:t>
            </a:r>
            <a:pPr indent="0" marL="0">
              <a:buNone/>
            </a:pPr>
            <a:r>
              <a:rPr lang="en-US" sz="1350" dirty="0">
                <a:solidFill>
                  <a:srgbClr val="8FB3A0"/>
                </a:solidFill>
                <a:latin typeface="Courier New" pitchFamily="34" charset="0"/>
                <a:ea typeface="Courier New" pitchFamily="34" charset="-122"/>
                <a:cs typeface="Courier New" pitchFamily="34" charset="-120"/>
              </a:rPr>
              <a:t># keep only bit 0: LEFT</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beqz t3, 1f              </a:t>
            </a:r>
            <a:pPr indent="0" marL="0">
              <a:buNone/>
            </a:pPr>
            <a:r>
              <a:rPr lang="en-US" sz="1350" dirty="0">
                <a:solidFill>
                  <a:srgbClr val="8FB3A0"/>
                </a:solidFill>
                <a:latin typeface="Courier New" pitchFamily="34" charset="0"/>
                <a:ea typeface="Courier New" pitchFamily="34" charset="-122"/>
                <a:cs typeface="Courier New" pitchFamily="34" charset="-120"/>
              </a:rPr>
              <a:t># zero: LEFT is not pressed</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addi t2, t2, -2          </a:t>
            </a:r>
            <a:pPr indent="0" marL="0">
              <a:buNone/>
            </a:pPr>
            <a:r>
              <a:rPr lang="en-US" sz="1350" dirty="0">
                <a:solidFill>
                  <a:srgbClr val="8FB3A0"/>
                </a:solidFill>
                <a:latin typeface="Courier New" pitchFamily="34" charset="0"/>
                <a:ea typeface="Courier New" pitchFamily="34" charset="-122"/>
                <a:cs typeface="Courier New" pitchFamily="34" charset="-120"/>
              </a:rPr>
              <a:t># move left</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1:</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andi t3, t0, 0x02        </a:t>
            </a:r>
            <a:pPr indent="0" marL="0">
              <a:buNone/>
            </a:pPr>
            <a:r>
              <a:rPr lang="en-US" sz="1350" dirty="0">
                <a:solidFill>
                  <a:srgbClr val="8FB3A0"/>
                </a:solidFill>
                <a:latin typeface="Courier New" pitchFamily="34" charset="0"/>
                <a:ea typeface="Courier New" pitchFamily="34" charset="-122"/>
                <a:cs typeface="Courier New" pitchFamily="34" charset="-120"/>
              </a:rPr>
              <a:t># keep only bit 1: RIGHT</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beqz t3, 2f</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addi t2, t2, 2           </a:t>
            </a:r>
            <a:pPr indent="0" marL="0">
              <a:buNone/>
            </a:pPr>
            <a:r>
              <a:rPr lang="en-US" sz="1350" dirty="0">
                <a:solidFill>
                  <a:srgbClr val="8FB3A0"/>
                </a:solidFill>
                <a:latin typeface="Courier New" pitchFamily="34" charset="0"/>
                <a:ea typeface="Courier New" pitchFamily="34" charset="-122"/>
                <a:cs typeface="Courier New" pitchFamily="34" charset="-120"/>
              </a:rPr>
              <a:t># move right</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2:</a:t>
            </a:r>
            <a:endParaRPr lang="en-US" sz="1350" dirty="0"/>
          </a:p>
        </p:txBody>
      </p:sp>
      <p:sp>
        <p:nvSpPr>
          <p:cNvPr id="5" name="Shape 3"/>
          <p:cNvSpPr/>
          <p:nvPr/>
        </p:nvSpPr>
        <p:spPr>
          <a:xfrm>
            <a:off x="8229600" y="1417320"/>
            <a:ext cx="341345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839419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8915400" y="1554480"/>
            <a:ext cx="2544775" cy="763524"/>
          </a:xfrm>
          <a:prstGeom prst="rect">
            <a:avLst/>
          </a:prstGeom>
          <a:noFill/>
          <a:ln/>
        </p:spPr>
        <p:txBody>
          <a:bodyPr wrap="square" lIns="0" tIns="0" rIns="0" bIns="0" rtlCol="0" anchor="ctr"/>
          <a:lstStyle/>
          <a:p>
            <a:pPr indent="0" marL="0">
              <a:buNone/>
            </a:pPr>
            <a:r>
              <a:rPr lang="en-US" sz="1400" dirty="0">
                <a:solidFill>
                  <a:srgbClr val="1B2530"/>
                </a:solidFill>
                <a:latin typeface="Calibri" pitchFamily="34" charset="0"/>
                <a:ea typeface="Calibri" pitchFamily="34" charset="-122"/>
                <a:cs typeface="Calibri" pitchFamily="34" charset="-120"/>
              </a:rPr>
              <a:t>prg32_input_read returns all the buttons at once: one bit per button</a:t>
            </a:r>
            <a:endParaRPr lang="en-US" sz="1400" dirty="0"/>
          </a:p>
        </p:txBody>
      </p:sp>
      <p:sp>
        <p:nvSpPr>
          <p:cNvPr id="8" name="Shape 6"/>
          <p:cNvSpPr/>
          <p:nvPr/>
        </p:nvSpPr>
        <p:spPr>
          <a:xfrm>
            <a:off x="8229600" y="2656332"/>
            <a:ext cx="341345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839419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8915400" y="2793492"/>
            <a:ext cx="2544775" cy="763524"/>
          </a:xfrm>
          <a:prstGeom prst="rect">
            <a:avLst/>
          </a:prstGeom>
          <a:noFill/>
          <a:ln/>
        </p:spPr>
        <p:txBody>
          <a:bodyPr wrap="square" lIns="0" tIns="0" rIns="0" bIns="0" rtlCol="0" anchor="ctr"/>
          <a:lstStyle/>
          <a:p>
            <a:pPr indent="0" marL="0">
              <a:buNone/>
            </a:pPr>
            <a:r>
              <a:rPr lang="en-US" sz="1400" dirty="0">
                <a:solidFill>
                  <a:srgbClr val="1B2530"/>
                </a:solidFill>
                <a:latin typeface="Calibri" pitchFamily="34" charset="0"/>
                <a:ea typeface="Calibri" pitchFamily="34" charset="-122"/>
                <a:cs typeface="Calibri" pitchFamily="34" charset="-120"/>
              </a:rPr>
              <a:t>andi with 0x01 keeps bit 0 and forces every other bit to zero</a:t>
            </a:r>
            <a:endParaRPr lang="en-US" sz="1400" dirty="0"/>
          </a:p>
        </p:txBody>
      </p:sp>
      <p:sp>
        <p:nvSpPr>
          <p:cNvPr id="11" name="Shape 9"/>
          <p:cNvSpPr/>
          <p:nvPr/>
        </p:nvSpPr>
        <p:spPr>
          <a:xfrm>
            <a:off x="8229600" y="3895344"/>
            <a:ext cx="341345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839419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8915400" y="4032504"/>
            <a:ext cx="2544775" cy="763524"/>
          </a:xfrm>
          <a:prstGeom prst="rect">
            <a:avLst/>
          </a:prstGeom>
          <a:noFill/>
          <a:ln/>
        </p:spPr>
        <p:txBody>
          <a:bodyPr wrap="square" lIns="0" tIns="0" rIns="0" bIns="0" rtlCol="0" anchor="ctr"/>
          <a:lstStyle/>
          <a:p>
            <a:pPr indent="0" marL="0">
              <a:buNone/>
            </a:pPr>
            <a:r>
              <a:rPr lang="en-US" sz="1400" dirty="0">
                <a:solidFill>
                  <a:srgbClr val="1B2530"/>
                </a:solidFill>
                <a:latin typeface="Calibri" pitchFamily="34" charset="0"/>
                <a:ea typeface="Calibri" pitchFamily="34" charset="-122"/>
                <a:cs typeface="Calibri" pitchFamily="34" charset="-120"/>
              </a:rPr>
              <a:t>The result is non-zero exactly when LEFT is pressed</a:t>
            </a:r>
            <a:endParaRPr lang="en-US" sz="1400" dirty="0"/>
          </a:p>
        </p:txBody>
      </p:sp>
      <p:sp>
        <p:nvSpPr>
          <p:cNvPr id="14" name="Shape 12"/>
          <p:cNvSpPr/>
          <p:nvPr/>
        </p:nvSpPr>
        <p:spPr>
          <a:xfrm>
            <a:off x="8229600" y="5134356"/>
            <a:ext cx="341345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839419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8915400" y="5271516"/>
            <a:ext cx="2544775" cy="763524"/>
          </a:xfrm>
          <a:prstGeom prst="rect">
            <a:avLst/>
          </a:prstGeom>
          <a:noFill/>
          <a:ln/>
        </p:spPr>
        <p:txBody>
          <a:bodyPr wrap="square" lIns="0" tIns="0" rIns="0" bIns="0" rtlCol="0" anchor="ctr"/>
          <a:lstStyle/>
          <a:p>
            <a:pPr indent="0" marL="0">
              <a:buNone/>
            </a:pPr>
            <a:r>
              <a:rPr lang="en-US" sz="1400" dirty="0">
                <a:solidFill>
                  <a:srgbClr val="1B2530"/>
                </a:solidFill>
                <a:latin typeface="Calibri" pitchFamily="34" charset="0"/>
                <a:ea typeface="Calibri" pitchFamily="34" charset="-122"/>
                <a:cs typeface="Calibri" pitchFamily="34" charset="-120"/>
              </a:rPr>
              <a:t>andi is thirty-two AND gates working side by side: what is an AND, exactly?</a:t>
            </a:r>
            <a:endParaRPr lang="en-US" sz="14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One bit per button</a:t>
            </a:r>
            <a:endParaRPr lang="en-US" sz="3200" dirty="0"/>
          </a:p>
        </p:txBody>
      </p:sp>
      <p:sp>
        <p:nvSpPr>
          <p:cNvPr id="3" name="Shape 1"/>
          <p:cNvSpPr/>
          <p:nvPr/>
        </p:nvSpPr>
        <p:spPr>
          <a:xfrm>
            <a:off x="548640" y="1523746"/>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6565392"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LEFT 0x01, RIGHT 0x02, UP 0x04, DOWN 0x08: bits 0 to 3</a:t>
            </a:r>
            <a:endParaRPr lang="en-US" sz="2200" dirty="0"/>
          </a:p>
        </p:txBody>
      </p:sp>
      <p:sp>
        <p:nvSpPr>
          <p:cNvPr id="5" name="Shape 3"/>
          <p:cNvSpPr/>
          <p:nvPr/>
        </p:nvSpPr>
        <p:spPr>
          <a:xfrm>
            <a:off x="548640" y="2542032"/>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435606"/>
            <a:ext cx="6565392"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A 0x10, B 0x20, START / SELECT 0x40: bits 4 to 6</a:t>
            </a:r>
            <a:endParaRPr lang="en-US" sz="2200" dirty="0"/>
          </a:p>
        </p:txBody>
      </p:sp>
      <p:sp>
        <p:nvSpPr>
          <p:cNvPr id="7" name="Shape 5"/>
          <p:cNvSpPr/>
          <p:nvPr/>
        </p:nvSpPr>
        <p:spPr>
          <a:xfrm>
            <a:off x="548640" y="3560318"/>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453892"/>
            <a:ext cx="6565392"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Holding RIGHT and A together gives 0x12 = 0001 0010</a:t>
            </a:r>
            <a:endParaRPr lang="en-US" sz="2200" dirty="0"/>
          </a:p>
        </p:txBody>
      </p:sp>
      <p:sp>
        <p:nvSpPr>
          <p:cNvPr id="9" name="Shape 7"/>
          <p:cNvSpPr/>
          <p:nvPr/>
        </p:nvSpPr>
        <p:spPr>
          <a:xfrm>
            <a:off x="548640" y="4578604"/>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4472178"/>
            <a:ext cx="6565392"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Each lamp of the lab is one bit of the mask: lit when the bit is 1</a:t>
            </a:r>
            <a:endParaRPr lang="en-US" sz="2200" dirty="0"/>
          </a:p>
        </p:txBody>
      </p:sp>
      <p:sp>
        <p:nvSpPr>
          <p:cNvPr id="11" name="Shape 9"/>
          <p:cNvSpPr/>
          <p:nvPr/>
        </p:nvSpPr>
        <p:spPr>
          <a:xfrm>
            <a:off x="548640" y="5596890"/>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5490464"/>
            <a:ext cx="6565392"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Every question about the joystick is a Boolean expression over these variables</a:t>
            </a:r>
            <a:endParaRPr lang="en-US" sz="2200" dirty="0"/>
          </a:p>
        </p:txBody>
      </p:sp>
      <p:pic>
        <p:nvPicPr>
          <p:cNvPr id="13" name="Image 0" descr="/Users/raffaelemontella/devel/riscv-prg32/computer-architecture-with-prg32/tools/assets/lab2_step1_lamps.png">    </p:cNvPr>
          <p:cNvPicPr>
            <a:picLocks noChangeAspect="1"/>
          </p:cNvPicPr>
          <p:nvPr/>
        </p:nvPicPr>
        <p:blipFill>
          <a:blip r:embed="rId1"/>
          <a:stretch>
            <a:fillRect/>
          </a:stretch>
        </p:blipFill>
        <p:spPr>
          <a:xfrm>
            <a:off x="7863840" y="2385155"/>
            <a:ext cx="3779215" cy="2362010"/>
          </a:xfrm>
          <a:prstGeom prst="rect">
            <a:avLst/>
          </a:prstGeom>
        </p:spPr>
      </p:pic>
      <p:sp>
        <p:nvSpPr>
          <p:cNvPr id="14" name="Text 11"/>
          <p:cNvSpPr txBox="1"/>
          <p:nvPr/>
        </p:nvSpPr>
        <p:spPr>
          <a:xfrm>
            <a:off x="7863840" y="5788152"/>
            <a:ext cx="3779215" cy="384048"/>
          </a:xfrm>
          <a:prstGeom prst="rect">
            <a:avLst/>
          </a:prstGeom>
          <a:noFill/>
          <a:ln/>
        </p:spPr>
        <p:txBody>
          <a:bodyPr wrap="square" lIns="0" tIns="0" rIns="0" bIns="0" rtlCol="0" anchor="ctr"/>
          <a:lstStyle/>
          <a:p>
            <a:pPr algn="ctr" indent="0" marL="0">
              <a:buNone/>
            </a:pPr>
            <a:r>
              <a:rPr lang="en-US" sz="1200" i="1" dirty="0">
                <a:solidFill>
                  <a:srgbClr val="5B6B78"/>
                </a:solidFill>
                <a:latin typeface="Calibri" pitchFamily="34" charset="0"/>
                <a:ea typeface="Calibri" pitchFamily="34" charset="-122"/>
                <a:cs typeface="Calibri" pitchFamily="34" charset="-120"/>
              </a:rPr>
              <a:t>Lab 06, step 1: seven lamps, one per button bit</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Bitwise instructions: the algebra on a whole register</a:t>
            </a:r>
            <a:endParaRPr lang="en-US" sz="3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728135"/>
                <a:gridCol w="2728135"/>
                <a:gridCol w="3819389"/>
                <a:gridCol w="1818757"/>
              </a:tblGrid>
              <a:tr h="0">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Instruction</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Operation</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a = 1100 1010, b = 0000 1111</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In C</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and  t0, a, b</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bit by bit AND</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0000 1010</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a &amp; b</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or   t0, a, b</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bit by bit OR</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1100 1111</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a | b</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xor  t0, a, b</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bit by bit XOR</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1100 0101</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a ^ b</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not  t0, a</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complement every bit</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0011 0101</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~a</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5760720"/>
            <a:ext cx="11094415" cy="411480"/>
          </a:xfrm>
          <a:prstGeom prst="rect">
            <a:avLst/>
          </a:prstGeom>
          <a:noFill/>
          <a:ln/>
        </p:spPr>
        <p:txBody>
          <a:bodyPr wrap="square" lIns="0" tIns="0" rIns="0" bIns="0" rtlCol="0" anchor="ctr"/>
          <a:lstStyle/>
          <a:p>
            <a:pPr indent="0" marL="0">
              <a:buNone/>
            </a:pPr>
            <a:r>
              <a:rPr lang="en-US" sz="1300" i="1" dirty="0">
                <a:solidFill>
                  <a:srgbClr val="5B6B78"/>
                </a:solidFill>
                <a:latin typeface="Calibri" pitchFamily="34" charset="0"/>
                <a:ea typeface="Calibri" pitchFamily="34" charset="-122"/>
                <a:cs typeface="Calibri" pitchFamily="34" charset="-120"/>
              </a:rPr>
              <a:t>Each instruction applies one gate to every bit position at once. not is a pseudo-instruction: xori with -1, that is, with all ones.</a:t>
            </a:r>
            <a:endParaRPr lang="en-US" sz="13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Four things to do with a mask</a:t>
            </a:r>
            <a:endParaRPr lang="en-US" sz="3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080203"/>
                <a:gridCol w="3120304"/>
                <a:gridCol w="3293655"/>
                <a:gridCol w="2600254"/>
              </a:tblGrid>
              <a:tr h="0">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Goal</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Law used</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Instruction (bit 4 = button A)</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Effect on the other bits</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Test a bit</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x . 1 = x,  x . 0 = 0</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andi t1, t0, 0x10</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forced to 0 in the result</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Set a bit to 1</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x + 1 = 1,  x + 0 = x</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ori  t0, t0, 0x10</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unchanged</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Clear a bit to 0</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x . 0 = 0,  x . 1 = x</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andi t0, t0, ~0x10</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unchanged</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Toggle a bit</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x xor 1 = x',  x xor 0 = x</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xori t0, t0, 0x10</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unchanged</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De Morgan at the joystick</a:t>
            </a:r>
            <a:endParaRPr lang="en-US" sz="3200" dirty="0"/>
          </a:p>
        </p:txBody>
      </p:sp>
      <p:sp>
        <p:nvSpPr>
          <p:cNvPr id="3" name="Shape 1"/>
          <p:cNvSpPr/>
          <p:nvPr/>
        </p:nvSpPr>
        <p:spPr>
          <a:xfrm>
            <a:off x="548640" y="1417320"/>
            <a:ext cx="740664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6949440" cy="4389120"/>
          </a:xfrm>
          <a:prstGeom prst="rect">
            <a:avLst/>
          </a:prstGeom>
          <a:noFill/>
          <a:ln/>
        </p:spPr>
        <p:txBody>
          <a:bodyPr wrap="square" lIns="0" tIns="0" rIns="0" bIns="0" rtlCol="0" anchor="t"/>
          <a:lstStyle/>
          <a:p>
            <a:pPr indent="0" marL="0">
              <a:buNone/>
            </a:pPr>
            <a:r>
              <a:rPr lang="en-US" sz="1350" dirty="0">
                <a:solidFill>
                  <a:srgbClr val="8FB3A0"/>
                </a:solidFill>
                <a:latin typeface="Courier New" pitchFamily="34" charset="0"/>
                <a:ea typeface="Courier New" pitchFamily="34" charset="-122"/>
                <a:cs typeface="Courier New" pitchFamily="34" charset="-120"/>
              </a:rPr>
              <a:t># "idle" when NEITHER LEFT NOR RIGHT is pressed</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andi t3, t0, 0x03        </a:t>
            </a:r>
            <a:pPr indent="0" marL="0">
              <a:buNone/>
            </a:pPr>
            <a:r>
              <a:rPr lang="en-US" sz="1350" dirty="0">
                <a:solidFill>
                  <a:srgbClr val="8FB3A0"/>
                </a:solidFill>
                <a:latin typeface="Courier New" pitchFamily="34" charset="0"/>
                <a:ea typeface="Courier New" pitchFamily="34" charset="-122"/>
                <a:cs typeface="Courier New" pitchFamily="34" charset="-120"/>
              </a:rPr>
              <a:t># 0x03 = LEFT | RIGHT: keep both bits</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beqz t3, idle            </a:t>
            </a:r>
            <a:pPr indent="0" marL="0">
              <a:buNone/>
            </a:pPr>
            <a:r>
              <a:rPr lang="en-US" sz="1350" dirty="0">
                <a:solidFill>
                  <a:srgbClr val="8FB3A0"/>
                </a:solidFill>
                <a:latin typeface="Courier New" pitchFamily="34" charset="0"/>
                <a:ea typeface="Courier New" pitchFamily="34" charset="-122"/>
                <a:cs typeface="Courier New" pitchFamily="34" charset="-120"/>
              </a:rPr>
              <a:t># all zero: (LEFT + RIGHT)' is true</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t>
            </a:r>
            <a:endParaRPr lang="en-US" sz="1350" dirty="0"/>
          </a:p>
          <a:p>
            <a:pPr indent="0" marL="0">
              <a:buNone/>
            </a:pPr>
            <a:r>
              <a:rPr lang="en-US" sz="1350" dirty="0">
                <a:solidFill>
                  <a:srgbClr val="8FB3A0"/>
                </a:solidFill>
                <a:latin typeface="Courier New" pitchFamily="34" charset="0"/>
                <a:ea typeface="Courier New" pitchFamily="34" charset="-122"/>
                <a:cs typeface="Courier New" pitchFamily="34" charset="-120"/>
              </a:rPr>
              <a:t># the long way: test each button, the result is the same</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andi t3, t0, 0x01</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bnez t3, moving          </a:t>
            </a:r>
            <a:pPr indent="0" marL="0">
              <a:buNone/>
            </a:pPr>
            <a:r>
              <a:rPr lang="en-US" sz="1350" dirty="0">
                <a:solidFill>
                  <a:srgbClr val="8FB3A0"/>
                </a:solidFill>
                <a:latin typeface="Courier New" pitchFamily="34" charset="0"/>
                <a:ea typeface="Courier New" pitchFamily="34" charset="-122"/>
                <a:cs typeface="Courier New" pitchFamily="34" charset="-120"/>
              </a:rPr>
              <a:t># LEFT pressed: not idle</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andi t3, t0, 0x02</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bnez t3, moving          </a:t>
            </a:r>
            <a:pPr indent="0" marL="0">
              <a:buNone/>
            </a:pPr>
            <a:r>
              <a:rPr lang="en-US" sz="1350" dirty="0">
                <a:solidFill>
                  <a:srgbClr val="8FB3A0"/>
                </a:solidFill>
                <a:latin typeface="Courier New" pitchFamily="34" charset="0"/>
                <a:ea typeface="Courier New" pitchFamily="34" charset="-122"/>
                <a:cs typeface="Courier New" pitchFamily="34" charset="-120"/>
              </a:rPr>
              <a:t># RIGHT pressed: not idle</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j    idle                </a:t>
            </a:r>
            <a:pPr indent="0" marL="0">
              <a:buNone/>
            </a:pPr>
            <a:r>
              <a:rPr lang="en-US" sz="1350" dirty="0">
                <a:solidFill>
                  <a:srgbClr val="8FB3A0"/>
                </a:solidFill>
                <a:latin typeface="Courier New" pitchFamily="34" charset="0"/>
                <a:ea typeface="Courier New" pitchFamily="34" charset="-122"/>
                <a:cs typeface="Courier New" pitchFamily="34" charset="-120"/>
              </a:rPr>
              <a:t># LEFT' . RIGHT'</a:t>
            </a:r>
            <a:endParaRPr lang="en-US" sz="1350" dirty="0"/>
          </a:p>
        </p:txBody>
      </p:sp>
      <p:sp>
        <p:nvSpPr>
          <p:cNvPr id="5" name="Shape 3"/>
          <p:cNvSpPr/>
          <p:nvPr/>
        </p:nvSpPr>
        <p:spPr>
          <a:xfrm>
            <a:off x="8229600" y="1417320"/>
            <a:ext cx="341345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839419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8915400" y="1554480"/>
            <a:ext cx="2544775" cy="763524"/>
          </a:xfrm>
          <a:prstGeom prst="rect">
            <a:avLst/>
          </a:prstGeom>
          <a:noFill/>
          <a:ln/>
        </p:spPr>
        <p:txBody>
          <a:bodyPr wrap="square" lIns="0" tIns="0" rIns="0" bIns="0" rtlCol="0" anchor="ctr"/>
          <a:lstStyle/>
          <a:p>
            <a:pPr indent="0" marL="0">
              <a:buNone/>
            </a:pPr>
            <a:r>
              <a:rPr lang="en-US" sz="1300" dirty="0">
                <a:solidFill>
                  <a:srgbClr val="1B2530"/>
                </a:solidFill>
                <a:latin typeface="Calibri" pitchFamily="34" charset="0"/>
                <a:ea typeface="Calibri" pitchFamily="34" charset="-122"/>
                <a:cs typeface="Calibri" pitchFamily="34" charset="-120"/>
              </a:rPr>
              <a:t>A mask with two bits tests two buttons in one instruction</a:t>
            </a:r>
            <a:endParaRPr lang="en-US" sz="1300" dirty="0"/>
          </a:p>
        </p:txBody>
      </p:sp>
      <p:sp>
        <p:nvSpPr>
          <p:cNvPr id="8" name="Shape 6"/>
          <p:cNvSpPr/>
          <p:nvPr/>
        </p:nvSpPr>
        <p:spPr>
          <a:xfrm>
            <a:off x="8229600" y="2656332"/>
            <a:ext cx="341345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839419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8915400" y="2793492"/>
            <a:ext cx="2544775" cy="763524"/>
          </a:xfrm>
          <a:prstGeom prst="rect">
            <a:avLst/>
          </a:prstGeom>
          <a:noFill/>
          <a:ln/>
        </p:spPr>
        <p:txBody>
          <a:bodyPr wrap="square" lIns="0" tIns="0" rIns="0" bIns="0" rtlCol="0" anchor="ctr"/>
          <a:lstStyle/>
          <a:p>
            <a:pPr indent="0" marL="0">
              <a:buNone/>
            </a:pPr>
            <a:r>
              <a:rPr lang="en-US" sz="1300" dirty="0">
                <a:solidFill>
                  <a:srgbClr val="1B2530"/>
                </a:solidFill>
                <a:latin typeface="Calibri" pitchFamily="34" charset="0"/>
                <a:ea typeface="Calibri" pitchFamily="34" charset="-122"/>
                <a:cs typeface="Calibri" pitchFamily="34" charset="-120"/>
              </a:rPr>
              <a:t>The result is zero only if both bits are zero: NOT (LEFT OR RIGHT)</a:t>
            </a:r>
            <a:endParaRPr lang="en-US" sz="1300" dirty="0"/>
          </a:p>
        </p:txBody>
      </p:sp>
      <p:sp>
        <p:nvSpPr>
          <p:cNvPr id="11" name="Shape 9"/>
          <p:cNvSpPr/>
          <p:nvPr/>
        </p:nvSpPr>
        <p:spPr>
          <a:xfrm>
            <a:off x="8229600" y="3895344"/>
            <a:ext cx="341345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839419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8915400" y="4032504"/>
            <a:ext cx="2544775" cy="763524"/>
          </a:xfrm>
          <a:prstGeom prst="rect">
            <a:avLst/>
          </a:prstGeom>
          <a:noFill/>
          <a:ln/>
        </p:spPr>
        <p:txBody>
          <a:bodyPr wrap="square" lIns="0" tIns="0" rIns="0" bIns="0" rtlCol="0" anchor="ctr"/>
          <a:lstStyle/>
          <a:p>
            <a:pPr indent="0" marL="0">
              <a:buNone/>
            </a:pPr>
            <a:r>
              <a:rPr lang="en-US" sz="1300" dirty="0">
                <a:solidFill>
                  <a:srgbClr val="1B2530"/>
                </a:solidFill>
                <a:latin typeface="Calibri" pitchFamily="34" charset="0"/>
                <a:ea typeface="Calibri" pitchFamily="34" charset="-122"/>
                <a:cs typeface="Calibri" pitchFamily="34" charset="-120"/>
              </a:rPr>
              <a:t>By De Morgan this equals (NOT LEFT) AND (NOT RIGHT): the long way below</a:t>
            </a:r>
            <a:endParaRPr lang="en-US" sz="1300" dirty="0"/>
          </a:p>
        </p:txBody>
      </p:sp>
      <p:sp>
        <p:nvSpPr>
          <p:cNvPr id="14" name="Shape 12"/>
          <p:cNvSpPr/>
          <p:nvPr/>
        </p:nvSpPr>
        <p:spPr>
          <a:xfrm>
            <a:off x="8229600" y="5134356"/>
            <a:ext cx="341345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839419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8915400" y="5271516"/>
            <a:ext cx="2544775" cy="763524"/>
          </a:xfrm>
          <a:prstGeom prst="rect">
            <a:avLst/>
          </a:prstGeom>
          <a:noFill/>
          <a:ln/>
        </p:spPr>
        <p:txBody>
          <a:bodyPr wrap="square" lIns="0" tIns="0" rIns="0" bIns="0" rtlCol="0" anchor="ctr"/>
          <a:lstStyle/>
          <a:p>
            <a:pPr indent="0" marL="0">
              <a:buNone/>
            </a:pPr>
            <a:r>
              <a:rPr lang="en-US" sz="1300" dirty="0">
                <a:solidFill>
                  <a:srgbClr val="1B2530"/>
                </a:solidFill>
                <a:latin typeface="Calibri" pitchFamily="34" charset="0"/>
                <a:ea typeface="Calibri" pitchFamily="34" charset="-122"/>
                <a:cs typeface="Calibri" pitchFamily="34" charset="-120"/>
              </a:rPr>
              <a:t>The algebra tells you that the two programs are equivalent, and which is cheaper</a:t>
            </a:r>
            <a:endParaRPr lang="en-US" sz="13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One lamp per bit: shifting and masking</a:t>
            </a:r>
            <a:endParaRPr lang="en-US" sz="3200" dirty="0"/>
          </a:p>
        </p:txBody>
      </p:sp>
      <p:sp>
        <p:nvSpPr>
          <p:cNvPr id="3" name="Shape 1"/>
          <p:cNvSpPr/>
          <p:nvPr/>
        </p:nvSpPr>
        <p:spPr>
          <a:xfrm>
            <a:off x="548640" y="1417320"/>
            <a:ext cx="667512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6217920" cy="4389120"/>
          </a:xfrm>
          <a:prstGeom prst="rect">
            <a:avLst/>
          </a:prstGeom>
          <a:noFill/>
          <a:ln/>
        </p:spPr>
        <p:txBody>
          <a:bodyPr wrap="square" lIns="0" tIns="0" rIns="0" bIns="0" rtlCol="0" anchor="t"/>
          <a:lstStyle/>
          <a:p>
            <a:pPr indent="0" marL="0">
              <a:buNone/>
            </a:pPr>
            <a:r>
              <a:rPr lang="en-US" sz="1250" dirty="0">
                <a:solidFill>
                  <a:srgbClr val="E6EDF2"/>
                </a:solidFill>
                <a:latin typeface="Courier New" pitchFamily="34" charset="0"/>
                <a:ea typeface="Courier New" pitchFamily="34" charset="-122"/>
                <a:cs typeface="Courier New" pitchFamily="34" charset="-120"/>
              </a:rPr>
              <a:t>    </a:t>
            </a:r>
            <a:pPr indent="0" marL="0">
              <a:buNone/>
            </a:pPr>
            <a:r>
              <a:rPr lang="en-US" sz="1250" dirty="0">
                <a:solidFill>
                  <a:srgbClr val="8FB3A0"/>
                </a:solidFill>
                <a:latin typeface="Courier New" pitchFamily="34" charset="0"/>
                <a:ea typeface="Courier New" pitchFamily="34" charset="-122"/>
                <a:cs typeface="Courier New" pitchFamily="34" charset="-120"/>
              </a:rPr>
              <a:t># s0 = bit number, 0 to 6</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la   t0, buttons</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lw   t1, 0(t0)           </a:t>
            </a:r>
            <a:pPr indent="0" marL="0">
              <a:buNone/>
            </a:pPr>
            <a:r>
              <a:rPr lang="en-US" sz="1250" dirty="0">
                <a:solidFill>
                  <a:srgbClr val="8FB3A0"/>
                </a:solidFill>
                <a:latin typeface="Courier New" pitchFamily="34" charset="0"/>
                <a:ea typeface="Courier New" pitchFamily="34" charset="-122"/>
                <a:cs typeface="Courier New" pitchFamily="34" charset="-120"/>
              </a:rPr>
              <a:t># t1 = the button mask</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srl  t1, t1, s0          </a:t>
            </a:r>
            <a:pPr indent="0" marL="0">
              <a:buNone/>
            </a:pPr>
            <a:r>
              <a:rPr lang="en-US" sz="1250" dirty="0">
                <a:solidFill>
                  <a:srgbClr val="8FB3A0"/>
                </a:solidFill>
                <a:latin typeface="Courier New" pitchFamily="34" charset="0"/>
                <a:ea typeface="Courier New" pitchFamily="34" charset="-122"/>
                <a:cs typeface="Courier New" pitchFamily="34" charset="-120"/>
              </a:rPr>
              <a:t># bring bit number s0 down to bit 0</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andi t1, t1, 1           </a:t>
            </a:r>
            <a:pPr indent="0" marL="0">
              <a:buNone/>
            </a:pPr>
            <a:r>
              <a:rPr lang="en-US" sz="1250" dirty="0">
                <a:solidFill>
                  <a:srgbClr val="8FB3A0"/>
                </a:solidFill>
                <a:latin typeface="Courier New" pitchFamily="34" charset="0"/>
                <a:ea typeface="Courier New" pitchFamily="34" charset="-122"/>
                <a:cs typeface="Courier New" pitchFamily="34" charset="-120"/>
              </a:rPr>
              <a:t># keep it, clear all the others</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li   a4, GREY            </a:t>
            </a:r>
            <a:pPr indent="0" marL="0">
              <a:buNone/>
            </a:pPr>
            <a:r>
              <a:rPr lang="en-US" sz="1250" dirty="0">
                <a:solidFill>
                  <a:srgbClr val="8FB3A0"/>
                </a:solidFill>
                <a:latin typeface="Courier New" pitchFamily="34" charset="0"/>
                <a:ea typeface="Courier New" pitchFamily="34" charset="-122"/>
                <a:cs typeface="Courier New" pitchFamily="34" charset="-120"/>
              </a:rPr>
              <a:t># lamp off</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beqz t1, 1f</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li   a4, YELLOW          </a:t>
            </a:r>
            <a:pPr indent="0" marL="0">
              <a:buNone/>
            </a:pPr>
            <a:r>
              <a:rPr lang="en-US" sz="1250" dirty="0">
                <a:solidFill>
                  <a:srgbClr val="8FB3A0"/>
                </a:solidFill>
                <a:latin typeface="Courier New" pitchFamily="34" charset="0"/>
                <a:ea typeface="Courier New" pitchFamily="34" charset="-122"/>
                <a:cs typeface="Courier New" pitchFamily="34" charset="-120"/>
              </a:rPr>
              <a:t># lamp on</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1:  call prg32_gfx_rect</a:t>
            </a:r>
            <a:endParaRPr lang="en-US" sz="1250" dirty="0"/>
          </a:p>
        </p:txBody>
      </p:sp>
      <p:sp>
        <p:nvSpPr>
          <p:cNvPr id="5" name="Shape 3"/>
          <p:cNvSpPr/>
          <p:nvPr/>
        </p:nvSpPr>
        <p:spPr>
          <a:xfrm>
            <a:off x="7470648" y="1399032"/>
            <a:ext cx="4245559" cy="2708339"/>
          </a:xfrm>
          <a:prstGeom prst="roundRect">
            <a:avLst>
              <a:gd name="adj" fmla="val 2701"/>
            </a:avLst>
          </a:prstGeom>
          <a:solidFill>
            <a:srgbClr val="1B2530"/>
          </a:solidFill>
          <a:ln w="12700">
            <a:solidFill>
              <a:srgbClr val="1B2530"/>
            </a:solidFill>
            <a:prstDash val="solid"/>
          </a:ln>
        </p:spPr>
      </p:sp>
      <p:pic>
        <p:nvPicPr>
          <p:cNvPr id="6" name="Image 0" descr="/Users/raffaelemontella/devel/riscv-prg32/computer-architecture-with-prg32/tools/assets/lab2_step1_lamps.png">    </p:cNvPr>
          <p:cNvPicPr>
            <a:picLocks noChangeAspect="1"/>
          </p:cNvPicPr>
          <p:nvPr/>
        </p:nvPicPr>
        <p:blipFill>
          <a:blip r:embed="rId1"/>
          <a:stretch>
            <a:fillRect/>
          </a:stretch>
        </p:blipFill>
        <p:spPr>
          <a:xfrm>
            <a:off x="7543800" y="1472184"/>
            <a:ext cx="4099255" cy="2562035"/>
          </a:xfrm>
          <a:prstGeom prst="rect">
            <a:avLst/>
          </a:prstGeom>
        </p:spPr>
      </p:pic>
      <p:sp>
        <p:nvSpPr>
          <p:cNvPr id="7" name="Text 4"/>
          <p:cNvSpPr txBox="1"/>
          <p:nvPr/>
        </p:nvSpPr>
        <p:spPr>
          <a:xfrm>
            <a:off x="7543800" y="4180523"/>
            <a:ext cx="4099255" cy="256032"/>
          </a:xfrm>
          <a:prstGeom prst="rect">
            <a:avLst/>
          </a:prstGeom>
          <a:noFill/>
          <a:ln/>
        </p:spPr>
        <p:txBody>
          <a:bodyPr wrap="square" lIns="0" tIns="0" rIns="0" bIns="0" rtlCol="0" anchor="t"/>
          <a:lstStyle/>
          <a:p>
            <a:pPr indent="0" marL="0">
              <a:buNone/>
            </a:pPr>
            <a:r>
              <a:rPr lang="en-US" sz="1150" i="1" dirty="0">
                <a:solidFill>
                  <a:srgbClr val="5B6B78"/>
                </a:solidFill>
                <a:latin typeface="Calibri" pitchFamily="34" charset="0"/>
                <a:ea typeface="Calibri" pitchFamily="34" charset="-122"/>
                <a:cs typeface="Calibri" pitchFamily="34" charset="-120"/>
              </a:rPr>
              <a:t>Screenshot: this step, built and run on PRG32</a:t>
            </a:r>
            <a:endParaRPr lang="en-US" sz="1150" dirty="0"/>
          </a:p>
        </p:txBody>
      </p:sp>
      <p:sp>
        <p:nvSpPr>
          <p:cNvPr id="8" name="Shape 5"/>
          <p:cNvSpPr/>
          <p:nvPr/>
        </p:nvSpPr>
        <p:spPr>
          <a:xfrm>
            <a:off x="7470648" y="4527995"/>
            <a:ext cx="4245559" cy="1644205"/>
          </a:xfrm>
          <a:prstGeom prst="roundRect">
            <a:avLst>
              <a:gd name="adj" fmla="val 4449"/>
            </a:avLst>
          </a:prstGeom>
          <a:solidFill>
            <a:srgbClr val="EEF2F4"/>
          </a:solidFill>
          <a:ln w="12700">
            <a:solidFill>
              <a:srgbClr val="EEF2F4"/>
            </a:solidFill>
            <a:prstDash val="solid"/>
          </a:ln>
        </p:spPr>
      </p:sp>
      <p:sp>
        <p:nvSpPr>
          <p:cNvPr id="9" name="Text 6"/>
          <p:cNvSpPr txBox="1"/>
          <p:nvPr/>
        </p:nvSpPr>
        <p:spPr>
          <a:xfrm>
            <a:off x="7680960" y="4637723"/>
            <a:ext cx="3824935" cy="1424749"/>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Shift, then mask with 1: the standard way to read bit number n of a word.</a:t>
            </a:r>
            <a:endParaRPr lang="en-US" sz="17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complete program: l08.S (1 of 6)</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350" dirty="0">
                <a:solidFill>
                  <a:srgbClr val="8FB3A0"/>
                </a:solidFill>
                <a:latin typeface="Courier New" pitchFamily="34" charset="0"/>
                <a:ea typeface="Courier New" pitchFamily="34" charset="-122"/>
                <a:cs typeface="Courier New" pitchFamily="34" charset="-120"/>
              </a:rPr>
              <a:t># ARC12 Computer Architecture - Lecture 08: Elements of Boolean Algebra</a:t>
            </a:r>
            <a:endParaRPr lang="en-US" sz="1350" dirty="0"/>
          </a:p>
          <a:p>
            <a:pPr indent="0" marL="0">
              <a:buNone/>
            </a:pPr>
            <a:r>
              <a:rPr lang="en-US" sz="1350" dirty="0">
                <a:solidFill>
                  <a:srgbClr val="8FB3A0"/>
                </a:solidFill>
                <a:latin typeface="Courier New" pitchFamily="34" charset="0"/>
                <a:ea typeface="Courier New" pitchFamily="34" charset="-122"/>
                <a:cs typeface="Courier New" pitchFamily="34" charset="-120"/>
              </a:rPr>
              <a:t># l08.S: one lamp per button, a marker that moves, and De Morgan at the joystick</a:t>
            </a:r>
            <a:endParaRPr lang="en-US" sz="1350" dirty="0"/>
          </a:p>
          <a:p>
            <a:pPr indent="0" marL="0">
              <a:buNone/>
            </a:pPr>
            <a:r>
              <a:rPr lang="en-US" sz="1350" dirty="0">
                <a:solidFill>
                  <a:srgbClr val="8FB3A0"/>
                </a:solidFill>
                <a:latin typeface="Courier New" pitchFamily="34" charset="0"/>
                <a:ea typeface="Courier New" pitchFamily="34" charset="-122"/>
                <a:cs typeface="Courier New" pitchFamily="34" charset="-120"/>
              </a:rPr>
              <a:t>#</a:t>
            </a:r>
            <a:endParaRPr lang="en-US" sz="1350" dirty="0"/>
          </a:p>
          <a:p>
            <a:pPr indent="0" marL="0">
              <a:buNone/>
            </a:pPr>
            <a:r>
              <a:rPr lang="en-US" sz="1350" dirty="0">
                <a:solidFill>
                  <a:srgbClr val="8FB3A0"/>
                </a:solidFill>
                <a:latin typeface="Courier New" pitchFamily="34" charset="0"/>
                <a:ea typeface="Courier New" pitchFamily="34" charset="-122"/>
                <a:cs typeface="Courier New" pitchFamily="34" charset="-120"/>
              </a:rPr>
              <a:t># On the screen: seven lamps, one per button (LEFT on the left), lit while the button</a:t>
            </a:r>
            <a:endParaRPr lang="en-US" sz="1350" dirty="0"/>
          </a:p>
          <a:p>
            <a:pPr indent="0" marL="0">
              <a:buNone/>
            </a:pPr>
            <a:r>
              <a:rPr lang="en-US" sz="1350" dirty="0">
                <a:solidFill>
                  <a:srgbClr val="8FB3A0"/>
                </a:solidFill>
                <a:latin typeface="Courier New" pitchFamily="34" charset="0"/>
                <a:ea typeface="Courier New" pitchFamily="34" charset="-122"/>
                <a:cs typeface="Courier New" pitchFamily="34" charset="-120"/>
              </a:rPr>
              <a:t># is held; a white marker that LEFT and RIGHT move; a square that is green when</a:t>
            </a:r>
            <a:endParaRPr lang="en-US" sz="1350" dirty="0"/>
          </a:p>
          <a:p>
            <a:pPr indent="0" marL="0">
              <a:buNone/>
            </a:pPr>
            <a:r>
              <a:rPr lang="en-US" sz="1350" dirty="0">
                <a:solidFill>
                  <a:srgbClr val="8FB3A0"/>
                </a:solidFill>
                <a:latin typeface="Courier New" pitchFamily="34" charset="0"/>
                <a:ea typeface="Courier New" pitchFamily="34" charset="-122"/>
                <a:cs typeface="Courier New" pitchFamily="34" charset="-120"/>
              </a:rPr>
              <a:t># neither LEFT nor RIGHT is pressed and red otherwise.</a:t>
            </a:r>
            <a:endParaRPr lang="en-US" sz="1350" dirty="0"/>
          </a:p>
          <a:p>
            <a:pPr indent="0" marL="0">
              <a:buNone/>
            </a:pPr>
            <a:r>
              <a:rPr lang="en-US" sz="1350" dirty="0">
                <a:solidFill>
                  <a:srgbClr val="8FB3A0"/>
                </a:solidFill>
                <a:latin typeface="Courier New" pitchFamily="34" charset="0"/>
                <a:ea typeface="Courier New" pitchFamily="34" charset="-122"/>
                <a:cs typeface="Courier New" pitchFamily="34" charset="-120"/>
              </a:rPr>
              <a:t># Build: python3 -m prg32 cartridge build l08.S --portable \</a:t>
            </a:r>
            <a:endParaRPr lang="en-US" sz="1350" dirty="0"/>
          </a:p>
          <a:p>
            <a:pPr indent="0" marL="0">
              <a:buNone/>
            </a:pPr>
            <a:r>
              <a:rPr lang="en-US" sz="1350" dirty="0">
                <a:solidFill>
                  <a:srgbClr val="8FB3A0"/>
                </a:solidFill>
                <a:latin typeface="Courier New" pitchFamily="34" charset="0"/>
                <a:ea typeface="Courier New" pitchFamily="34" charset="-122"/>
                <a:cs typeface="Courier New" pitchFamily="34" charset="-120"/>
              </a:rPr>
              <a:t>#            --entry-prefix l08 --name l08 --out l08.prg32</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.option norelax</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.equ BLACK,  0x0000</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.equ WHITE,  0xffff</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.equ GREY,   0x4208</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.equ YELLOW, 0xffe0</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.equ GREEN,  0x07e0</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.equ RED,    0xf800</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.section .text</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.global l08_init</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.global l08_update</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.global l08_draw</a:t>
            </a:r>
            <a:endParaRPr lang="en-US" sz="135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complete program: l08.S (2 of 6)</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300" dirty="0">
                <a:solidFill>
                  <a:srgbClr val="E6EDF2"/>
                </a:solidFill>
                <a:latin typeface="Courier New" pitchFamily="34" charset="0"/>
                <a:ea typeface="Courier New" pitchFamily="34" charset="-122"/>
                <a:cs typeface="Courier New" pitchFamily="34" charset="-120"/>
              </a:rPr>
              <a:t>l08_init:</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ret</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l08_update:</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addi sp, sp, -16</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sw   ra, 12(sp)</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call prg32_input_read    </a:t>
            </a:r>
            <a:pPr indent="0" marL="0">
              <a:buNone/>
            </a:pPr>
            <a:r>
              <a:rPr lang="en-US" sz="1300" dirty="0">
                <a:solidFill>
                  <a:srgbClr val="8FB3A0"/>
                </a:solidFill>
                <a:latin typeface="Courier New" pitchFamily="34" charset="0"/>
                <a:ea typeface="Courier New" pitchFamily="34" charset="-122"/>
                <a:cs typeface="Courier New" pitchFamily="34" charset="-120"/>
              </a:rPr>
              <a:t># a0 = all the buttons, one bit each</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mv   t0, a0              </a:t>
            </a:r>
            <a:pPr indent="0" marL="0">
              <a:buNone/>
            </a:pPr>
            <a:r>
              <a:rPr lang="en-US" sz="1300" dirty="0">
                <a:solidFill>
                  <a:srgbClr val="8FB3A0"/>
                </a:solidFill>
                <a:latin typeface="Courier New" pitchFamily="34" charset="0"/>
                <a:ea typeface="Courier New" pitchFamily="34" charset="-122"/>
                <a:cs typeface="Courier New" pitchFamily="34" charset="-120"/>
              </a:rPr>
              <a:t># keep our own copy</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la   t1, buttons</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sw   t0, 0(t1)           </a:t>
            </a:r>
            <a:pPr indent="0" marL="0">
              <a:buNone/>
            </a:pPr>
            <a:r>
              <a:rPr lang="en-US" sz="1300" dirty="0">
                <a:solidFill>
                  <a:srgbClr val="8FB3A0"/>
                </a:solidFill>
                <a:latin typeface="Courier New" pitchFamily="34" charset="0"/>
                <a:ea typeface="Courier New" pitchFamily="34" charset="-122"/>
                <a:cs typeface="Courier New" pitchFamily="34" charset="-120"/>
              </a:rPr>
              <a:t># remember them for draw</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la   t1, marker_x</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lw   t2, 0(t1)</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andi t3, t0, 0x01        </a:t>
            </a:r>
            <a:pPr indent="0" marL="0">
              <a:buNone/>
            </a:pPr>
            <a:r>
              <a:rPr lang="en-US" sz="1300" dirty="0">
                <a:solidFill>
                  <a:srgbClr val="8FB3A0"/>
                </a:solidFill>
                <a:latin typeface="Courier New" pitchFamily="34" charset="0"/>
                <a:ea typeface="Courier New" pitchFamily="34" charset="-122"/>
                <a:cs typeface="Courier New" pitchFamily="34" charset="-120"/>
              </a:rPr>
              <a:t># keep only bit 0: LEFT</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beqz t3, 1f              </a:t>
            </a:r>
            <a:pPr indent="0" marL="0">
              <a:buNone/>
            </a:pPr>
            <a:r>
              <a:rPr lang="en-US" sz="1300" dirty="0">
                <a:solidFill>
                  <a:srgbClr val="8FB3A0"/>
                </a:solidFill>
                <a:latin typeface="Courier New" pitchFamily="34" charset="0"/>
                <a:ea typeface="Courier New" pitchFamily="34" charset="-122"/>
                <a:cs typeface="Courier New" pitchFamily="34" charset="-120"/>
              </a:rPr>
              <a:t># zero: LEFT is not pressed</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addi t2, t2, -2          </a:t>
            </a:r>
            <a:pPr indent="0" marL="0">
              <a:buNone/>
            </a:pPr>
            <a:r>
              <a:rPr lang="en-US" sz="1300" dirty="0">
                <a:solidFill>
                  <a:srgbClr val="8FB3A0"/>
                </a:solidFill>
                <a:latin typeface="Courier New" pitchFamily="34" charset="0"/>
                <a:ea typeface="Courier New" pitchFamily="34" charset="-122"/>
                <a:cs typeface="Courier New" pitchFamily="34" charset="-120"/>
              </a:rPr>
              <a:t># move left</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1:</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andi t3, t0, 0x02        </a:t>
            </a:r>
            <a:pPr indent="0" marL="0">
              <a:buNone/>
            </a:pPr>
            <a:r>
              <a:rPr lang="en-US" sz="1300" dirty="0">
                <a:solidFill>
                  <a:srgbClr val="8FB3A0"/>
                </a:solidFill>
                <a:latin typeface="Courier New" pitchFamily="34" charset="0"/>
                <a:ea typeface="Courier New" pitchFamily="34" charset="-122"/>
                <a:cs typeface="Courier New" pitchFamily="34" charset="-120"/>
              </a:rPr>
              <a:t># keep only bit 1: RIGHT</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beqz t3, 2f</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addi t2, t2, 2           </a:t>
            </a:r>
            <a:pPr indent="0" marL="0">
              <a:buNone/>
            </a:pPr>
            <a:r>
              <a:rPr lang="en-US" sz="1300" dirty="0">
                <a:solidFill>
                  <a:srgbClr val="8FB3A0"/>
                </a:solidFill>
                <a:latin typeface="Courier New" pitchFamily="34" charset="0"/>
                <a:ea typeface="Courier New" pitchFamily="34" charset="-122"/>
                <a:cs typeface="Courier New" pitchFamily="34" charset="-120"/>
              </a:rPr>
              <a:t># move right</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2:</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sw   t2, 0(t1)</a:t>
            </a:r>
            <a:endParaRPr lang="en-US" sz="13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complete program: l08.S (3 of 6)</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800" dirty="0">
                <a:solidFill>
                  <a:srgbClr val="8FB3A0"/>
                </a:solidFill>
                <a:latin typeface="Courier New" pitchFamily="34" charset="0"/>
                <a:ea typeface="Courier New" pitchFamily="34" charset="-122"/>
                <a:cs typeface="Courier New" pitchFamily="34" charset="-120"/>
              </a:rPr>
              <a:t># "idle" when NEITHER LEFT NOR RIGHT is pressed</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li   t4, 1               </a:t>
            </a:r>
            <a:pPr indent="0" marL="0">
              <a:buNone/>
            </a:pPr>
            <a:r>
              <a:rPr lang="en-US" sz="1800" dirty="0">
                <a:solidFill>
                  <a:srgbClr val="8FB3A0"/>
                </a:solidFill>
                <a:latin typeface="Courier New" pitchFamily="34" charset="0"/>
                <a:ea typeface="Courier New" pitchFamily="34" charset="-122"/>
                <a:cs typeface="Courier New" pitchFamily="34" charset="-120"/>
              </a:rPr>
              <a:t># idle = 1</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andi t3, t0, 0x03        </a:t>
            </a:r>
            <a:pPr indent="0" marL="0">
              <a:buNone/>
            </a:pPr>
            <a:r>
              <a:rPr lang="en-US" sz="1800" dirty="0">
                <a:solidFill>
                  <a:srgbClr val="8FB3A0"/>
                </a:solidFill>
                <a:latin typeface="Courier New" pitchFamily="34" charset="0"/>
                <a:ea typeface="Courier New" pitchFamily="34" charset="-122"/>
                <a:cs typeface="Courier New" pitchFamily="34" charset="-120"/>
              </a:rPr>
              <a:t># 0x03 = LEFT | RIGHT: keep both bits</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beqz t3, 3f              </a:t>
            </a:r>
            <a:pPr indent="0" marL="0">
              <a:buNone/>
            </a:pPr>
            <a:r>
              <a:rPr lang="en-US" sz="1800" dirty="0">
                <a:solidFill>
                  <a:srgbClr val="8FB3A0"/>
                </a:solidFill>
                <a:latin typeface="Courier New" pitchFamily="34" charset="0"/>
                <a:ea typeface="Courier New" pitchFamily="34" charset="-122"/>
                <a:cs typeface="Courier New" pitchFamily="34" charset="-120"/>
              </a:rPr>
              <a:t># all zero: (LEFT + RIGHT)' is true</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li   t4, 0               </a:t>
            </a:r>
            <a:pPr indent="0" marL="0">
              <a:buNone/>
            </a:pPr>
            <a:r>
              <a:rPr lang="en-US" sz="1800" dirty="0">
                <a:solidFill>
                  <a:srgbClr val="8FB3A0"/>
                </a:solidFill>
                <a:latin typeface="Courier New" pitchFamily="34" charset="0"/>
                <a:ea typeface="Courier New" pitchFamily="34" charset="-122"/>
                <a:cs typeface="Courier New" pitchFamily="34" charset="-120"/>
              </a:rPr>
              <a:t># idle = 0</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3:  la   t1, idle</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sw   t4, 0(t1)</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lw   ra, 12(sp)</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addi sp, sp, 16</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ret</a:t>
            </a:r>
            <a:endParaRPr lang="en-US" sz="18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complete program: l08.S (4 of 6)</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250" dirty="0">
                <a:solidFill>
                  <a:srgbClr val="E6EDF2"/>
                </a:solidFill>
                <a:latin typeface="Courier New" pitchFamily="34" charset="0"/>
                <a:ea typeface="Courier New" pitchFamily="34" charset="-122"/>
                <a:cs typeface="Courier New" pitchFamily="34" charset="-120"/>
              </a:rPr>
              <a:t>l08_draw:</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addi sp, sp, -16</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sw   ra, 12(sp)</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sw   s0, 8(sp)</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li   a0, BLACK</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call prg32_gfx_clear</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li   s0, 0               </a:t>
            </a:r>
            <a:pPr indent="0" marL="0">
              <a:buNone/>
            </a:pPr>
            <a:r>
              <a:rPr lang="en-US" sz="1250" dirty="0">
                <a:solidFill>
                  <a:srgbClr val="8FB3A0"/>
                </a:solidFill>
                <a:latin typeface="Courier New" pitchFamily="34" charset="0"/>
                <a:ea typeface="Courier New" pitchFamily="34" charset="-122"/>
                <a:cs typeface="Courier New" pitchFamily="34" charset="-120"/>
              </a:rPr>
              <a:t># s0 = bit number, 0 to 6</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1:  la   t0, buttons</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lw   t1, 0(t0)           </a:t>
            </a:r>
            <a:pPr indent="0" marL="0">
              <a:buNone/>
            </a:pPr>
            <a:r>
              <a:rPr lang="en-US" sz="1250" dirty="0">
                <a:solidFill>
                  <a:srgbClr val="8FB3A0"/>
                </a:solidFill>
                <a:latin typeface="Courier New" pitchFamily="34" charset="0"/>
                <a:ea typeface="Courier New" pitchFamily="34" charset="-122"/>
                <a:cs typeface="Courier New" pitchFamily="34" charset="-120"/>
              </a:rPr>
              <a:t># t1 = the button mask</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srl  t1, t1, s0          </a:t>
            </a:r>
            <a:pPr indent="0" marL="0">
              <a:buNone/>
            </a:pPr>
            <a:r>
              <a:rPr lang="en-US" sz="1250" dirty="0">
                <a:solidFill>
                  <a:srgbClr val="8FB3A0"/>
                </a:solidFill>
                <a:latin typeface="Courier New" pitchFamily="34" charset="0"/>
                <a:ea typeface="Courier New" pitchFamily="34" charset="-122"/>
                <a:cs typeface="Courier New" pitchFamily="34" charset="-120"/>
              </a:rPr>
              <a:t># bring bit number s0 down to bit 0</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andi t1, t1, 1           </a:t>
            </a:r>
            <a:pPr indent="0" marL="0">
              <a:buNone/>
            </a:pPr>
            <a:r>
              <a:rPr lang="en-US" sz="1250" dirty="0">
                <a:solidFill>
                  <a:srgbClr val="8FB3A0"/>
                </a:solidFill>
                <a:latin typeface="Courier New" pitchFamily="34" charset="0"/>
                <a:ea typeface="Courier New" pitchFamily="34" charset="-122"/>
                <a:cs typeface="Courier New" pitchFamily="34" charset="-120"/>
              </a:rPr>
              <a:t># keep it, clear all the others</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li   a4, GREY            </a:t>
            </a:r>
            <a:pPr indent="0" marL="0">
              <a:buNone/>
            </a:pPr>
            <a:r>
              <a:rPr lang="en-US" sz="1250" dirty="0">
                <a:solidFill>
                  <a:srgbClr val="8FB3A0"/>
                </a:solidFill>
                <a:latin typeface="Courier New" pitchFamily="34" charset="0"/>
                <a:ea typeface="Courier New" pitchFamily="34" charset="-122"/>
                <a:cs typeface="Courier New" pitchFamily="34" charset="-120"/>
              </a:rPr>
              <a:t># lamp off</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beqz t1, 2f</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li   a4, YELLOW          </a:t>
            </a:r>
            <a:pPr indent="0" marL="0">
              <a:buNone/>
            </a:pPr>
            <a:r>
              <a:rPr lang="en-US" sz="1250" dirty="0">
                <a:solidFill>
                  <a:srgbClr val="8FB3A0"/>
                </a:solidFill>
                <a:latin typeface="Courier New" pitchFamily="34" charset="0"/>
                <a:ea typeface="Courier New" pitchFamily="34" charset="-122"/>
                <a:cs typeface="Courier New" pitchFamily="34" charset="-120"/>
              </a:rPr>
              <a:t># lamp on</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2:  slli a0, s0, 5</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addi a0, a0, 48          </a:t>
            </a:r>
            <a:pPr indent="0" marL="0">
              <a:buNone/>
            </a:pPr>
            <a:r>
              <a:rPr lang="en-US" sz="1250" dirty="0">
                <a:solidFill>
                  <a:srgbClr val="8FB3A0"/>
                </a:solidFill>
                <a:latin typeface="Courier New" pitchFamily="34" charset="0"/>
                <a:ea typeface="Courier New" pitchFamily="34" charset="-122"/>
                <a:cs typeface="Courier New" pitchFamily="34" charset="-120"/>
              </a:rPr>
              <a:t># x = 48 + 32 * bit</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li   a1, 40</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li   a2, 24</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li   a3, 24</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call prg32_gfx_rect</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addi s0, s0, 1</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li   t0, 7</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blt  s0, t0, 1b</a:t>
            </a:r>
            <a:endParaRPr lang="en-US" sz="125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complete program: l08.S (5 of 6)</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300" dirty="0">
                <a:solidFill>
                  <a:srgbClr val="E6EDF2"/>
                </a:solidFill>
                <a:latin typeface="Courier New" pitchFamily="34" charset="0"/>
                <a:ea typeface="Courier New" pitchFamily="34" charset="-122"/>
                <a:cs typeface="Courier New" pitchFamily="34" charset="-120"/>
              </a:rPr>
              <a:t>    la   t0, marker_x        </a:t>
            </a:r>
            <a:pPr indent="0" marL="0">
              <a:buNone/>
            </a:pPr>
            <a:r>
              <a:rPr lang="en-US" sz="1300" dirty="0">
                <a:solidFill>
                  <a:srgbClr val="8FB3A0"/>
                </a:solidFill>
                <a:latin typeface="Courier New" pitchFamily="34" charset="0"/>
                <a:ea typeface="Courier New" pitchFamily="34" charset="-122"/>
                <a:cs typeface="Courier New" pitchFamily="34" charset="-120"/>
              </a:rPr>
              <a:t># the marker</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lw   a0, 0(t0)</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li   a1, 100</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li   a2, 16</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li   a3, 16</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li   a4, WHITE</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call prg32_gfx_rect</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la   t0, idle            </a:t>
            </a:r>
            <a:pPr indent="0" marL="0">
              <a:buNone/>
            </a:pPr>
            <a:r>
              <a:rPr lang="en-US" sz="1300" dirty="0">
                <a:solidFill>
                  <a:srgbClr val="8FB3A0"/>
                </a:solidFill>
                <a:latin typeface="Courier New" pitchFamily="34" charset="0"/>
                <a:ea typeface="Courier New" pitchFamily="34" charset="-122"/>
                <a:cs typeface="Courier New" pitchFamily="34" charset="-120"/>
              </a:rPr>
              <a:t># the result of De Morgan's test</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lw   t1, 0(t0)</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li   a4, RED</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beqz t1, 3f</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li   a4, GREEN</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3:  li   a0, 152</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li   a1, 150</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li   a2, 16</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li   a3, 16</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call prg32_gfx_rect</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lw   s0, 8(sp)</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lw   ra, 12(sp)</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addi sp, sp, 16</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ret</a:t>
            </a:r>
            <a:endParaRPr lang="en-US" sz="13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complete program: l08.S (6 of 6)</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800" dirty="0">
                <a:solidFill>
                  <a:srgbClr val="E6EDF2"/>
                </a:solidFill>
                <a:latin typeface="Courier New" pitchFamily="34" charset="0"/>
                <a:ea typeface="Courier New" pitchFamily="34" charset="-122"/>
                <a:cs typeface="Courier New" pitchFamily="34" charset="-120"/>
              </a:rPr>
              <a:t>.section .data</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buttons:  .word 0</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marker_x: .word 152</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idle:     .word 1</a:t>
            </a:r>
            <a:endParaRPr lang="en-US" sz="18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Run it: what you should see</a:t>
            </a:r>
            <a:endParaRPr lang="en-US" sz="3200" dirty="0"/>
          </a:p>
        </p:txBody>
      </p:sp>
      <p:sp>
        <p:nvSpPr>
          <p:cNvPr id="3" name="Shape 1"/>
          <p:cNvSpPr/>
          <p:nvPr/>
        </p:nvSpPr>
        <p:spPr>
          <a:xfrm>
            <a:off x="548640" y="1722120"/>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600200"/>
            <a:ext cx="5468112" cy="2360676"/>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On the screen</a:t>
            </a:r>
            <a:endParaRPr lang="en-US" sz="2400" dirty="0"/>
          </a:p>
          <a:p>
            <a:pPr indent="0" marL="0">
              <a:spcAft>
                <a:spcPts val="200"/>
              </a:spcAft>
              <a:buNone/>
            </a:pPr>
            <a:r>
              <a:rPr lang="en-US" sz="2100" dirty="0">
                <a:solidFill>
                  <a:srgbClr val="5B6B78"/>
                </a:solidFill>
                <a:latin typeface="Calibri" pitchFamily="34" charset="0"/>
                <a:ea typeface="Calibri" pitchFamily="34" charset="-122"/>
                <a:cs typeface="Calibri" pitchFamily="34" charset="-120"/>
              </a:rPr>
              <a:t>– seven lamps, one per button (LEFT on the left), lit while the button is held; a white marker that LEFT and RIGHT move; a square that is green when neither LEFT nor RIGHT is pressed and red otherwise.</a:t>
            </a:r>
            <a:endParaRPr lang="en-US" sz="2400" dirty="0"/>
          </a:p>
        </p:txBody>
      </p:sp>
      <p:sp>
        <p:nvSpPr>
          <p:cNvPr id="5" name="Shape 3"/>
          <p:cNvSpPr/>
          <p:nvPr/>
        </p:nvSpPr>
        <p:spPr>
          <a:xfrm>
            <a:off x="548640" y="4539996"/>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4418076"/>
            <a:ext cx="5468112" cy="1059180"/>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What to press</a:t>
            </a:r>
            <a:endParaRPr lang="en-US" sz="2400" dirty="0"/>
          </a:p>
          <a:p>
            <a:pPr indent="0" marL="0">
              <a:spcAft>
                <a:spcPts val="200"/>
              </a:spcAft>
              <a:buNone/>
            </a:pPr>
            <a:r>
              <a:rPr lang="en-US" sz="2100" dirty="0">
                <a:solidFill>
                  <a:srgbClr val="5B6B78"/>
                </a:solidFill>
                <a:latin typeface="Calibri" pitchFamily="34" charset="0"/>
                <a:ea typeface="Calibri" pitchFamily="34" charset="-122"/>
                <a:cs typeface="Calibri" pitchFamily="34" charset="-120"/>
              </a:rPr>
              <a:t>– LEFT and RIGHT move the marker; try A and B too</a:t>
            </a:r>
            <a:endParaRPr lang="en-US" sz="2400" dirty="0"/>
          </a:p>
        </p:txBody>
      </p:sp>
      <p:pic>
        <p:nvPicPr>
          <p:cNvPr id="7" name="Image 0" descr="/Users/raffaelemontella/devel/riscv-prg32/computer-architecture-with-prg32/tools/assets/lab_l08.png">    </p:cNvPr>
          <p:cNvPicPr>
            <a:picLocks noChangeAspect="1"/>
          </p:cNvPicPr>
          <p:nvPr/>
        </p:nvPicPr>
        <p:blipFill>
          <a:blip r:embed="rId1"/>
          <a:stretch>
            <a:fillRect/>
          </a:stretch>
        </p:blipFill>
        <p:spPr>
          <a:xfrm>
            <a:off x="6766560" y="2042255"/>
            <a:ext cx="4876495" cy="3047810"/>
          </a:xfrm>
          <a:prstGeom prst="rect">
            <a:avLst/>
          </a:prstGeom>
        </p:spPr>
      </p:pic>
      <p:sp>
        <p:nvSpPr>
          <p:cNvPr id="8" name="Text 5"/>
          <p:cNvSpPr txBox="1"/>
          <p:nvPr/>
        </p:nvSpPr>
        <p:spPr>
          <a:xfrm>
            <a:off x="6766560" y="5788152"/>
            <a:ext cx="4876495" cy="384048"/>
          </a:xfrm>
          <a:prstGeom prst="rect">
            <a:avLst/>
          </a:prstGeom>
          <a:noFill/>
          <a:ln/>
        </p:spPr>
        <p:txBody>
          <a:bodyPr wrap="square" lIns="0" tIns="0" rIns="0" bIns="0" rtlCol="0" anchor="ctr"/>
          <a:lstStyle/>
          <a:p>
            <a:pPr algn="ctr" indent="0" marL="0">
              <a:buNone/>
            </a:pPr>
            <a:r>
              <a:rPr lang="en-US" sz="1200" i="1" dirty="0">
                <a:solidFill>
                  <a:srgbClr val="5B6B78"/>
                </a:solidFill>
                <a:latin typeface="Calibri" pitchFamily="34" charset="0"/>
                <a:ea typeface="Calibri" pitchFamily="34" charset="-122"/>
                <a:cs typeface="Calibri" pitchFamily="34" charset="-120"/>
              </a:rPr>
              <a:t>The frame written by the automatic test on PRG32-QT</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Test it on PRG32-QT</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8FB3A0"/>
                </a:solidFill>
                <a:latin typeface="Courier New" pitchFamily="34" charset="0"/>
                <a:ea typeface="Courier New" pitchFamily="34" charset="-122"/>
                <a:cs typeface="Courier New" pitchFamily="34" charset="-120"/>
              </a:rPr>
              <a:t># 1. start PRG32-QT on this computer (it listens on port 8080)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2. in the PRG32 folder, with ESP-IDF active: build the cartridge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cartridge build ~/arc12/code/l08.S --portable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--entry-prefix l08 --name l08 --out l08.prg32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3. send it to PRG32-QT and start it</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esp32c6 upload-and-run l08.prg32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--url http://localhost:8080 --slot cart0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4. look, press, compare with the previous slide</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PRG32-QT must be running: it answers on port 8080, like a board</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Build once, from the PRG32 folder, with ESP-IDF active in the terminal</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upload-and-run stores the cartridge in slot cart0 and starts it</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Enable debug mode in Settings to stop the program and read registers and memory</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Test it on QEMU</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8FB3A0"/>
                </a:solidFill>
                <a:latin typeface="Courier New" pitchFamily="34" charset="0"/>
                <a:ea typeface="Courier New" pitchFamily="34" charset="-122"/>
                <a:cs typeface="Courier New" pitchFamily="34" charset="-120"/>
              </a:rPr>
              <a:t># 1. once: build the firmware for QEMU (several minutes)</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qemu build</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2. build the cartridge for the emulated chip</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cartridge build ~/arc12/code/l08.S --portable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--entry-prefix l08 --name l08 --architecture qemu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--out l08-qemu.prg32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3. with QEMU closed, stage the cartridge into its flash image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qemu upload l08-qemu.prg32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4. start the emulator; on Setup choose Run Cartridge, then cart0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qemu run</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emulator runs the real firmware on an emulated chip: build it once</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cartridge is built for the architecture qemu: the same source, another file</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Stage the cartridge with QEMU closed, then start it and choose Run Cartridge</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keys go to the terminal: arrows or WASD, Z or J for A, X or K for B</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Test it on the board</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8FB3A0"/>
                </a:solidFill>
                <a:latin typeface="Courier New" pitchFamily="34" charset="0"/>
                <a:ea typeface="Courier New" pitchFamily="34" charset="-122"/>
                <a:cs typeface="Courier New" pitchFamily="34" charset="-120"/>
              </a:rPr>
              <a:t># 1. once per board: write the firmware through the USB cable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esp32c6 build-and-flash</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2. join the Wi-Fi network of the board: PRG32, password prg32game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3. build the cartridge for the board</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cartridge build ~/arc12/code/l08.S --portable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--entry-prefix l08 --name l08 --architecture esp32c6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--out l08-esp32c6.prg32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4. send it over Wi-Fi and start it</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esp32c6 upload-and-run l08-esp32c6.prg32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--url http://192.168.4.1 --slot cart0</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firmware is written once per board, through the USB cable</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board creates the Wi-Fi network PRG32: join it with your computer</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same upload command as for PRG32-QT, with the address of the board</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A black screen: check the wiring of the display against the firmware</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If it does not work</a:t>
            </a:r>
            <a:endParaRPr lang="en-US" sz="32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3025750"/>
                <a:gridCol w="3866236"/>
                <a:gridCol w="4202430"/>
              </a:tblGrid>
              <a:tr h="0">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You see</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It means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Do this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missing entry point</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the prefix is not the one in the source</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--entry-prefix l08; check the three .global lines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idf.py: command not found</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ESP-IDF is not active in this terminal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run export.sh, or open the ESP-IDF PowerShell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upload: connection refused</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the host is not listening at that address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start PRG32-QT; use the address on its Setup screen</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a black screen, or the menu again</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a function does not return, or ra was not saved</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debug mode: step through init, update, draw</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QEMU ignores the keys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the keyboard goes to the terminal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click the terminal that launched QEMU</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bl>
          </a:graphicData>
        </a:graphic>
      </p:graphicFrame>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Exercises: paper first, then PRG32</a:t>
            </a:r>
            <a:endParaRPr lang="en-US" sz="3200" dirty="0"/>
          </a:p>
        </p:txBody>
      </p:sp>
      <p:sp>
        <p:nvSpPr>
          <p:cNvPr id="3" name="Text 1"/>
          <p:cNvSpPr txBox="1"/>
          <p:nvPr/>
        </p:nvSpPr>
        <p:spPr>
          <a:xfrm>
            <a:off x="10088575" y="566928"/>
            <a:ext cx="1554480" cy="457200"/>
          </a:xfrm>
          <a:prstGeom prst="roundRect">
            <a:avLst>
              <a:gd name="adj" fmla="val 16000"/>
            </a:avLst>
          </a:prstGeom>
          <a:solidFill>
            <a:srgbClr val="2F7D4F"/>
          </a:solidFill>
          <a:ln>
            <a:solidFill>
              <a:srgbClr val="2F7D4F"/>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TRY IT</a:t>
            </a:r>
            <a:endParaRPr lang="en-US" sz="1500" dirty="0"/>
          </a:p>
        </p:txBody>
      </p:sp>
      <p:sp>
        <p:nvSpPr>
          <p:cNvPr id="4" name="Text 2"/>
          <p:cNvSpPr txBox="1"/>
          <p:nvPr/>
        </p:nvSpPr>
        <p:spPr>
          <a:xfrm>
            <a:off x="548640" y="143560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5" name="Text 3"/>
          <p:cNvSpPr txBox="1"/>
          <p:nvPr/>
        </p:nvSpPr>
        <p:spPr>
          <a:xfrm>
            <a:off x="1207008" y="1417320"/>
            <a:ext cx="10436047" cy="438912"/>
          </a:xfrm>
          <a:prstGeom prst="rect">
            <a:avLst/>
          </a:prstGeom>
          <a:noFill/>
          <a:ln/>
        </p:spPr>
        <p:txBody>
          <a:bodyPr wrap="square" lIns="0" tIns="0" rIns="0" bIns="0" rtlCol="0" anchor="ctr"/>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Prove the second De Morgan law, (x + y)' = x' . y', with a truth table</a:t>
            </a:r>
            <a:endParaRPr lang="en-US" sz="2000" dirty="0"/>
          </a:p>
        </p:txBody>
      </p:sp>
      <p:sp>
        <p:nvSpPr>
          <p:cNvPr id="6" name="Text 4"/>
          <p:cNvSpPr txBox="1"/>
          <p:nvPr/>
        </p:nvSpPr>
        <p:spPr>
          <a:xfrm>
            <a:off x="548640" y="2058924"/>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7" name="Text 5"/>
          <p:cNvSpPr txBox="1"/>
          <p:nvPr/>
        </p:nvSpPr>
        <p:spPr>
          <a:xfrm>
            <a:off x="1207008" y="2040636"/>
            <a:ext cx="10436047"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Simplify with the algebra: x . y + x . y' . z + x' . y, naming the law used at each step</a:t>
            </a:r>
            <a:endParaRPr lang="en-US" sz="2000" dirty="0"/>
          </a:p>
        </p:txBody>
      </p:sp>
      <p:sp>
        <p:nvSpPr>
          <p:cNvPr id="8" name="Text 6"/>
          <p:cNvSpPr txBox="1"/>
          <p:nvPr/>
        </p:nvSpPr>
        <p:spPr>
          <a:xfrm>
            <a:off x="548640" y="286308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9" name="Text 7"/>
          <p:cNvSpPr txBox="1"/>
          <p:nvPr/>
        </p:nvSpPr>
        <p:spPr>
          <a:xfrm>
            <a:off x="1207008" y="2844800"/>
            <a:ext cx="10436047" cy="438912"/>
          </a:xfrm>
          <a:prstGeom prst="rect">
            <a:avLst/>
          </a:prstGeom>
          <a:noFill/>
          <a:ln/>
        </p:spPr>
        <p:txBody>
          <a:bodyPr wrap="square" lIns="0" tIns="0" rIns="0" bIns="0" rtlCol="0" anchor="ctr"/>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Write the mask and the instruction that test whether A and B are pressed together</a:t>
            </a:r>
            <a:endParaRPr lang="en-US" sz="2000" dirty="0"/>
          </a:p>
        </p:txBody>
      </p:sp>
      <p:sp>
        <p:nvSpPr>
          <p:cNvPr id="10" name="Text 8"/>
          <p:cNvSpPr txBox="1"/>
          <p:nvPr/>
        </p:nvSpPr>
        <p:spPr>
          <a:xfrm>
            <a:off x="548640" y="3486404"/>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1" name="Text 9"/>
          <p:cNvSpPr txBox="1"/>
          <p:nvPr/>
        </p:nvSpPr>
        <p:spPr>
          <a:xfrm>
            <a:off x="1207008" y="3468116"/>
            <a:ext cx="10436047"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Change the lamp program so that the lamps show the complement of the buttons (lit when released)</a:t>
            </a:r>
            <a:endParaRPr lang="en-US" sz="2000" dirty="0"/>
          </a:p>
        </p:txBody>
      </p:sp>
      <p:sp>
        <p:nvSpPr>
          <p:cNvPr id="12" name="Text 10"/>
          <p:cNvSpPr txBox="1"/>
          <p:nvPr/>
        </p:nvSpPr>
        <p:spPr>
          <a:xfrm>
            <a:off x="548640" y="429056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3" name="Text 11"/>
          <p:cNvSpPr txBox="1"/>
          <p:nvPr/>
        </p:nvSpPr>
        <p:spPr>
          <a:xfrm>
            <a:off x="1207008" y="4272280"/>
            <a:ext cx="10436047"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Convert a letter from upper to lower case and back using one bitwise instruction (hint: ASCII, Lecture 04)</a:t>
            </a:r>
            <a:endParaRPr lang="en-US" sz="2000" dirty="0"/>
          </a:p>
        </p:txBody>
      </p:sp>
      <p:sp>
        <p:nvSpPr>
          <p:cNvPr id="14" name="Shape 12"/>
          <p:cNvSpPr/>
          <p:nvPr/>
        </p:nvSpPr>
        <p:spPr>
          <a:xfrm>
            <a:off x="548640" y="5120640"/>
            <a:ext cx="11094415" cy="1051560"/>
          </a:xfrm>
          <a:prstGeom prst="roundRect">
            <a:avLst>
              <a:gd name="adj" fmla="val 6957"/>
            </a:avLst>
          </a:prstGeom>
          <a:solidFill>
            <a:srgbClr val="DCEEE3"/>
          </a:solidFill>
          <a:ln w="12700">
            <a:solidFill>
              <a:srgbClr val="DCEEE3"/>
            </a:solidFill>
            <a:prstDash val="solid"/>
          </a:ln>
        </p:spPr>
      </p:sp>
      <p:sp>
        <p:nvSpPr>
          <p:cNvPr id="15" name="Text 13"/>
          <p:cNvSpPr txBox="1"/>
          <p:nvPr/>
        </p:nvSpPr>
        <p:spPr>
          <a:xfrm>
            <a:off x="822960" y="5212080"/>
            <a:ext cx="2743200" cy="274320"/>
          </a:xfrm>
          <a:prstGeom prst="rect">
            <a:avLst/>
          </a:prstGeom>
          <a:noFill/>
          <a:ln/>
        </p:spPr>
        <p:txBody>
          <a:bodyPr wrap="square" lIns="0" tIns="0" rIns="0" bIns="0" rtlCol="0" anchor="t"/>
          <a:lstStyle/>
          <a:p>
            <a:pPr indent="0" marL="0">
              <a:buNone/>
            </a:pPr>
            <a:r>
              <a:rPr lang="en-US" sz="1300" b="1" dirty="0">
                <a:solidFill>
                  <a:srgbClr val="2F7D4F"/>
                </a:solidFill>
                <a:latin typeface="Calibri" pitchFamily="34" charset="0"/>
                <a:ea typeface="Calibri" pitchFamily="34" charset="-122"/>
                <a:cs typeface="Calibri" pitchFamily="34" charset="-120"/>
              </a:rPr>
              <a:t>Expected result</a:t>
            </a:r>
            <a:endParaRPr lang="en-US" sz="1300" dirty="0"/>
          </a:p>
        </p:txBody>
      </p:sp>
      <p:sp>
        <p:nvSpPr>
          <p:cNvPr id="16" name="Text 14"/>
          <p:cNvSpPr txBox="1"/>
          <p:nvPr/>
        </p:nvSpPr>
        <p:spPr>
          <a:xfrm>
            <a:off x="822960" y="5504688"/>
            <a:ext cx="10545775" cy="594360"/>
          </a:xfrm>
          <a:prstGeom prst="rect">
            <a:avLst/>
          </a:prstGeom>
          <a:noFill/>
          <a:ln/>
        </p:spPr>
        <p:txBody>
          <a:bodyPr wrap="square" lIns="0" tIns="0" rIns="0" bIns="0" rtlCol="0" anchor="ctr"/>
          <a:lstStyle/>
          <a:p>
            <a:pPr indent="0" marL="0">
              <a:buNone/>
            </a:pPr>
            <a:r>
              <a:rPr lang="en-US" sz="1800" dirty="0">
                <a:solidFill>
                  <a:srgbClr val="1B2530"/>
                </a:solidFill>
                <a:latin typeface="Calibri" pitchFamily="34" charset="0"/>
                <a:ea typeface="Calibri" pitchFamily="34" charset="-122"/>
                <a:cs typeface="Calibri" pitchFamily="34" charset="-120"/>
              </a:rPr>
              <a:t>On PRG32: all seven lamps lit at rest, each one going dark while its button is held. For the letter: xori with 0x20 toggles bit 5.</a:t>
            </a:r>
            <a:endParaRPr lang="en-US" sz="18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University of Naples Parthenope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ARC12 Computer Architecture - Elements of Boolean Algebra: the code</dc:title>
  <dc:subject>Lecture 08</dc:subject>
  <dc:creator>Raffaele Montella</dc:creator>
  <cp:lastModifiedBy>Raffaele Montella</cp:lastModifiedBy>
  <cp:revision>1</cp:revision>
  <dcterms:created xsi:type="dcterms:W3CDTF">2026-10-13T10:41:31Z</dcterms:created>
  <dcterms:modified xsi:type="dcterms:W3CDTF">2026-10-13T10:41:31Z</dcterms:modified>
</cp:coreProperties>
</file>