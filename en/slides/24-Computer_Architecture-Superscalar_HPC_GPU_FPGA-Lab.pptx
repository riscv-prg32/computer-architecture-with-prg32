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9f6e21-80aa-c0fe-171c-9ad20f7412d0}">
          <p14:sldIdLst>
            <p14:sldId id="256"/>
            <p14:sldId id="257"/>
          </p14:sldIdLst>
        </p14:section>
        <p14:section name="Warm-up on the machine" id="{dab8b9c0-6f58-c8e0-7297-9c8a5805add5}">
          <p14:sldIdLst>
            <p14:sldId id="258"/>
          </p14:sldIdLst>
        </p14:section>
        <p14:section name="Superscalar processors" id="{040a5299-61af-450a-b26e-598457987f75}">
          <p14:sldIdLst>
            <p14:sldId id="259"/>
            <p14:sldId id="260"/>
          </p14:sldIdLst>
        </p14:section>
        <p14:section name="Vectors: one instruction, many data" id="{c6d0be1f-d7cc-3545-13c4-4198df6b55d3}">
          <p14:sldIdLst>
            <p14:sldId id="261"/>
            <p14:sldId id="262"/>
          </p14:sldIdLst>
        </p14:section>
        <p14:section name="GPU accelerators" id="{6489a00f-d513-8b9c-3412-71a383d10695}">
          <p14:sldIdLst>
            <p14:sldId id="263"/>
          </p14:sldIdLst>
        </p14:section>
        <p14:section name="FPGA accelerators" id="{ec691a15-e52f-456c-722f-601fdc9005e0}">
          <p14:sldIdLst>
            <p14:sldId id="264"/>
          </p14:sldIdLst>
        </p14:section>
        <p14:section name="Back to the machine" id="{051045a8-82b7-ef50-9a26-fb3c89a2baa1}">
          <p14:sldIdLst>
            <p14:sldId id="265"/>
          </p14:sldIdLst>
        </p14:section>
        <p14:section name="The complete program" id="{74e84115-b7db-e65c-03ce-a816b2376c15}">
          <p14:sldIdLst>
            <p14:sldId id="266"/>
            <p14:sldId id="267"/>
            <p14:sldId id="268"/>
            <p14:sldId id="269"/>
          </p14:sldIdLst>
        </p14:section>
        <p14:section name="Run it and test it" id="{f38e50b4-bbe5-34a4-b080-3521976799ec}">
          <p14:sldIdLst>
            <p14:sldId id="270"/>
            <p14:sldId id="271"/>
            <p14:sldId id="272"/>
            <p14:sldId id="273"/>
            <p14:sldId id="274"/>
            <p14:sldId id="275"/>
          </p14:sldIdLst>
        </p14:section>
        <p14:section name="Exercises" id="{a91a380a-1041-f99f-7b68-2601f315977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24.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performance equation; superscalar processors; vector instructions; HPC and Amdahl's law; GPU and FPGA accelerators.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~/arc12/code/l24.S; tools/tests/cartridges/run.py builds it, runs it on PRG32-QT with scripted input and checks the pixels of the frame.
For the lecturer: Get the code once: git clone https://github.com/riscv-prg32/computer-architecture-with-prg32 ~/arc12. The program of this lecture is ~/arc12/code/l24.S;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the loop in new_game that clears the map, setting 960 bytes to zero. Each iteration executes four instructions: a byte store, the increment of the address, the decrement of the counter, and the branch back, for 3,840 instructions in all, one byte and one instruction at a time. On the kit it takes about 24 microseconds, and nothing requires it to be faster. It was chosen because it is small enough to be followed onto every class of contemporary machine. The lecture's question is: in how many distinct ways can it be made faster?
UNDERSTAND NOW: the performance equation.
For the lecturer: The processor cycle of Lecture 19. At best one instruction per clock cycle, and 160 million cycles per second on the kit: about 24 microseconds. Nobody needs this loop to be faster; it is small enough to follow onto every machine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impedes parallel execution. The second instruction uses t0, which the first is still computing, so it cannot execute alongside it: a data dependence. The third depends on nothing, yet in an in-order processor it waits behind the second. The fourth is a branch: until it is resolved the processor cannot know whether the fifth must be executed, a control dependence. Real programs are full of such chains, so issue width alone does not deliver speed; the remedy is to let independent instructions overtake.
UNDERSTAND NOW: superscalar processors.
For the lecturer: Data dependences, control dependences. An in-order superscalar stalls at i2 and everything behind it waits. The remedy is to let i3 overtake.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renaming illustrated. On the left, the code as written: two halves, each loading a word, incrementing it and storing it back, and both using t0. The second half reuses the name, not the value, which constitutes a false dependence. On the right, after renaming, each new value has its own physical register, so the two halves share nothing and can execute simultaneously. The thirty-two registers of the instruction set are names; the chip contains a few hundred physical registers. The register numbers on the slide are illustrative.
UNDERSTAND NOW: superscalar processors.
For the lecturer: A false dependence: the same name for two unrelated values. p41 to p44 are invented numbers of physical registers. A big core has a few hundred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loop written with the vector extension. v0 is a vector register, many bytes wide, filled with zeros. In each iteration vsetvli asks how many of the remaining bytes fit in a register, and the answer is placed in t2. vse8.v stores that many bytes in a single instruction, and the address and the counter advance by t2. With 128-bit registers one iteration handles 16 bytes: 60 iterations instead of 960. The code never states the width of the registers, so the same binary is correct for any width, a property called vector-length agnosticism, which the test verifies at four widths.
UNDERSTAND NOW: vector instructions.
For the lecturer: The V extension, ratified in 2021. Not on the kit: the ESP32-C6 is RV32IMAC. The code never says how wide the registers are: it is vector-length agnostic, and the same binary uses 128, 256 or 1024 bits. Tested on QEMU at 128, 256, 512 and 1024 bits by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 computed lane by lane. A vector register holds several words, each in its own lane. vle32.v loads several words at once; vadd.vv adds two registers lane by lane, so that v1 accumulates as many partial sums as there are lanes. At the end vredsum reduces the lanes to a single number. With the sixteen numbers from 1 to 16 the result is 136. This is the parallel sum shown pictorially in Lecture 04, now expressed in instructions.
UNDERSTAND NOW: vector instructions.
For the lecturer: The parallel sum of Lectures 04 and 20, in RISC-V. tu, tail undisturbed, keeps the partial sums of the lanes that the last turn does not use. Tested on QEMU together with the previous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Verm1 cleared on a GPU, in CUDA C. The function marked as a kernel executes once in every thread. Each thread first determines its identity, its index i, from its block number and its position within the block; then, if the index lies within the map, it clears its own cell. There is no loop: there are 960 threads. The last line, executed on the host, launches four blocks of 256 threads. For 960 bytes the two memory copies cost far more than the work, so the example illustrates the programming model, not a gain; a GPU pays off only when data are large and the work per element is substantial.
UNDERSTAND NOW: GPU and FPGA accelerators.
For the lecturer: CUDA C, in its usual textbook form; not compiled for these slides. The point of the last callout is serious: a GPU pays off when the data are large and the work per element is real. Ask: for which size of map would it be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of Verm1 forbidding the U-turn, written as hardware in Verilog, a language that describes circuits rather than sequences of steps. The module has two two-bit inputs, the current direction and the requested one, and one output. The assign statement denotes a wire that holds continuously: the output is 1 when the XOR of the two directions equals binary 10. There is no before and after, only a combinational relation. On the kit the same rule took three instructions and three cycles; as hardware it answers in a fraction of a nanosecond, continuously.
UNDERSTAND NOW: GPU and FPGA accelerators.
For the lecturer: A hardware description language: Verilog, or VHDL. Not synthesised for these slides. The xor, li, beq of Part 2 become gates that answer in a fraction of a nanosecond, continuously. Ask the students to draw the circuit: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Clearing the 960 cells of the map on five machines. On the kit: one byte per iteration, 3,840 cycles. On an out-of-order RISC-V core: the same binary, in a fraction of those cycles. With 128-bit vectors: 60 iterations. On a GPU: one launch of 960 threads, plus two copies. On an FPGA: 960 flip-flops with a common reset, cleared in one clock cycle. The work is identical; what differs is how much of it occurs simultaneously, and at what cost. The engineer's question is not which machine is fastest, but which is sufficient.
UNDERSTAND NOW: GPU and FPGA accelerators.
For the lecturer: The work is the same; what changes is how much of it happens at the same time. And the costs: the first row needs a two-euro chip and four lines of assembly; the last needs a hardware design. The engineer's question is never which is fastest, but which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listings of this lecture cannot run on the kit, whose processor does not implement the V extension. They are therefore tested on a bare emulated RV32 processor: the commands build a single binary and execute it with four different vector lengths. The exit code is the result, zero meaning that every check passed, which also demonstrates that the code is independent of the vector length.
USE NOW: the PRG32 tools (used, not studied, in this course).
For the lecturer: Run by the tests (tools/tests/run_all.sh, step vectors). On macOS there is no timeout command: if a listing loops for ever, stop QEMU with Ctrl-A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Complete the Amdahl table for p = 0.95. Draw the pipeline diagram of a three-wide processor executing nine independent instructions. Rename the registers of a fragment of Verm1 and identify which instructions could execute in the same cycle. Write the truth table of a four-input look-up table implementing the U-turn rule. And build the vector test and run it on QEMU with two different vector widths, explaining why the same binary works in both cases.
For the lecturer: QEMU: qemu-system-riscv32 -machine virt -cpu rv32,v=true,vlen=128; the build command is in tools/tests/README.md. The four ones of the table: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24: Beyond one core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3900" b="1" dirty="0">
                <a:solidFill>
                  <a:srgbClr val="FFFFFF"/>
                </a:solidFill>
                <a:latin typeface="Cambria" pitchFamily="34" charset="0"/>
                <a:ea typeface="Cambria" pitchFamily="34" charset="-122"/>
                <a:cs typeface="Cambria" pitchFamily="34" charset="-120"/>
              </a:rPr>
              <a:t>Beyond One Core: Superscalar RISC‑V, HPC, GPUs and FPGAs: the code</a:t>
            </a:r>
            <a:endParaRPr lang="en-US" sz="39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24-Computer_Architecture-Superscalar_HPC_GPU_FPGA.pptx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rcf_cluster.jpg">    </p:cNvPr>
          <p:cNvPicPr>
            <a:picLocks noChangeAspect="1"/>
          </p:cNvPicPr>
          <p:nvPr/>
        </p:nvPicPr>
        <p:blipFill>
          <a:blip r:embed="rId1"/>
          <a:stretch>
            <a:fillRect/>
          </a:stretch>
        </p:blipFill>
        <p:spPr>
          <a:xfrm>
            <a:off x="8716975" y="4686243"/>
            <a:ext cx="2834640" cy="960234"/>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7 listings of Lecture 24,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code/l24.S, 72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loop that empties the map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From new_game of Verm1: 960 bytes set to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Four instructions per byte: 3 840 instructions in all</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byte at a time, one instruction at a time</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How many ways are there to make this faster?</a:t>
            </a:r>
            <a:endParaRPr lang="en-US" sz="15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performance equation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gets in the way: dependences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i2 cannot run beside i1: it uses its result</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i3 depends on nobody: why should it wait?</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After a branch the processor does not know what comes next</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Real code is full of such chains: width alone is not enough</a:t>
            </a:r>
            <a:endParaRPr lang="en-US" sz="14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superscalar processors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Register renaming: thirty-two names, many registers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second half reuses the name t0, not its value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Renamed, the two halves share nothing</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They can run at the same time, on different registers</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32 registers you know are names; the chip has many more</a:t>
            </a:r>
            <a:endParaRPr lang="en-US" sz="14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superscalar processors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same loop, with vectors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is a vector register: many bytes wide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asks: how many of the bytes left fit? The answer is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stores t2 bytes with one instruction</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With 128-bit registers: 16 bytes per turn, 60 turns instead of 960</a:t>
            </a:r>
            <a:endParaRPr lang="en-US" sz="1200" dirty="0"/>
          </a:p>
        </p:txBody>
      </p:sp>
      <p:sp>
        <p:nvSpPr>
          <p:cNvPr id="17" name="Shape 15"/>
          <p:cNvSpPr/>
          <p:nvPr/>
        </p:nvSpPr>
        <p:spPr>
          <a:xfrm>
            <a:off x="8419033" y="91440"/>
            <a:ext cx="3224022" cy="274320"/>
          </a:xfrm>
          <a:prstGeom prst="rect">
            <a:avLst/>
          </a:prstGeom>
          <a:solidFill>
            <a:srgbClr val="E0F2FE"/>
          </a:solidFill>
          <a:ln w="12700">
            <a:solidFill>
              <a:srgbClr val="0369A1"/>
            </a:solidFill>
            <a:prstDash val="solid"/>
          </a:ln>
        </p:spPr>
      </p:sp>
      <p:sp>
        <p:nvSpPr>
          <p:cNvPr id="18" name="Shape 16"/>
          <p:cNvSpPr/>
          <p:nvPr/>
        </p:nvSpPr>
        <p:spPr>
          <a:xfrm>
            <a:off x="841903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20" name="Text 17"/>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vector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sum, lane by lane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vle32.v loads several words at once</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vadd.vv adds register to register, lane by lane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At the end vredsum adds the lanes together</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Sixteen numbers, 1 to 16: the result is 136</a:t>
            </a:r>
            <a:endParaRPr lang="en-US" sz="1300" dirty="0"/>
          </a:p>
        </p:txBody>
      </p:sp>
      <p:sp>
        <p:nvSpPr>
          <p:cNvPr id="17" name="Shape 15"/>
          <p:cNvSpPr/>
          <p:nvPr/>
        </p:nvSpPr>
        <p:spPr>
          <a:xfrm>
            <a:off x="8419033" y="91440"/>
            <a:ext cx="3224022" cy="274320"/>
          </a:xfrm>
          <a:prstGeom prst="rect">
            <a:avLst/>
          </a:prstGeom>
          <a:solidFill>
            <a:srgbClr val="E0F2FE"/>
          </a:solidFill>
          <a:ln w="12700">
            <a:solidFill>
              <a:srgbClr val="0369A1"/>
            </a:solidFill>
            <a:prstDash val="solid"/>
          </a:ln>
        </p:spPr>
      </p:sp>
      <p:sp>
        <p:nvSpPr>
          <p:cNvPr id="18" name="Shape 16"/>
          <p:cNvSpPr/>
          <p:nvPr/>
        </p:nvSpPr>
        <p:spPr>
          <a:xfrm>
            <a:off x="841903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20" name="Text 17"/>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vector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map of Verm1, one thread per 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There is no loop: there are 960 threads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Each thread computes its own index and does one store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Threads come in blocks; the last ones find nothing to do</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For 960 bytes the copies cost far more than the work</a:t>
            </a:r>
            <a:endParaRPr lang="en-US" sz="1300" dirty="0"/>
          </a:p>
        </p:txBody>
      </p:sp>
      <p:sp>
        <p:nvSpPr>
          <p:cNvPr id="17" name="Shape 15"/>
          <p:cNvSpPr/>
          <p:nvPr/>
        </p:nvSpPr>
        <p:spPr>
          <a:xfrm>
            <a:off x="8025079" y="91440"/>
            <a:ext cx="3617976" cy="274320"/>
          </a:xfrm>
          <a:prstGeom prst="rect">
            <a:avLst/>
          </a:prstGeom>
          <a:solidFill>
            <a:srgbClr val="E0F2FE"/>
          </a:solidFill>
          <a:ln w="12700">
            <a:solidFill>
              <a:srgbClr val="0369A1"/>
            </a:solidFill>
            <a:prstDash val="solid"/>
          </a:ln>
        </p:spPr>
      </p:sp>
      <p:sp>
        <p:nvSpPr>
          <p:cNvPr id="18" name="Shape 16"/>
          <p:cNvSpPr/>
          <p:nvPr/>
        </p:nvSpPr>
        <p:spPr>
          <a:xfrm>
            <a:off x="802507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53095" y="128016"/>
            <a:ext cx="201168" cy="201168"/>
          </a:xfrm>
          <a:prstGeom prst="rect">
            <a:avLst/>
          </a:prstGeom>
        </p:spPr>
      </p:pic>
      <p:sp>
        <p:nvSpPr>
          <p:cNvPr id="20" name="Text 17"/>
          <p:cNvSpPr txBox="1"/>
          <p:nvPr/>
        </p:nvSpPr>
        <p:spPr>
          <a:xfrm>
            <a:off x="8409127" y="91440"/>
            <a:ext cx="319735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GPU and FPGA accelerators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U-turn rule of Verm1, as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a language that describes circuits, not steps</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is a wire, always true: there is no before and after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Two XOR gates and an AND with one inverted input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On the kit this rule took three instructions and three cycles</a:t>
            </a:r>
            <a:endParaRPr lang="en-US" sz="1200" dirty="0"/>
          </a:p>
        </p:txBody>
      </p:sp>
      <p:sp>
        <p:nvSpPr>
          <p:cNvPr id="17" name="Shape 15"/>
          <p:cNvSpPr/>
          <p:nvPr/>
        </p:nvSpPr>
        <p:spPr>
          <a:xfrm>
            <a:off x="8025079" y="91440"/>
            <a:ext cx="3617976" cy="274320"/>
          </a:xfrm>
          <a:prstGeom prst="rect">
            <a:avLst/>
          </a:prstGeom>
          <a:solidFill>
            <a:srgbClr val="E0F2FE"/>
          </a:solidFill>
          <a:ln w="12700">
            <a:solidFill>
              <a:srgbClr val="0369A1"/>
            </a:solidFill>
            <a:prstDash val="solid"/>
          </a:ln>
        </p:spPr>
      </p:sp>
      <p:sp>
        <p:nvSpPr>
          <p:cNvPr id="18" name="Shape 16"/>
          <p:cNvSpPr/>
          <p:nvPr/>
        </p:nvSpPr>
        <p:spPr>
          <a:xfrm>
            <a:off x="802507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53095" y="128016"/>
            <a:ext cx="201168" cy="201168"/>
          </a:xfrm>
          <a:prstGeom prst="rect">
            <a:avLst/>
          </a:prstGeom>
        </p:spPr>
      </p:pic>
      <p:sp>
        <p:nvSpPr>
          <p:cNvPr id="20" name="Text 17"/>
          <p:cNvSpPr txBox="1"/>
          <p:nvPr/>
        </p:nvSpPr>
        <p:spPr>
          <a:xfrm>
            <a:off x="8409127" y="91440"/>
            <a:ext cx="319735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GPU and FPGA accelerators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Emptying the map of Verm1: 960 cells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Machine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How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Steps in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The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byte per turn, one instruction per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Out-of-order RISC-V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same binary; several instructions per cycle, the branch predicted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fraction of those cycles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with vectors, 128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bytes per 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turns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threads, one per cell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launch, plus two copies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flip-flops with a common reset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clock cycle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first three rows are the same instruction set. The first and the third were run for these slides.</a:t>
            </a:r>
            <a:endParaRPr lang="en-US" sz="1500" dirty="0"/>
          </a:p>
        </p:txBody>
      </p:sp>
      <p:sp>
        <p:nvSpPr>
          <p:cNvPr id="5" name="Shape 2"/>
          <p:cNvSpPr/>
          <p:nvPr/>
        </p:nvSpPr>
        <p:spPr>
          <a:xfrm>
            <a:off x="8025079" y="91440"/>
            <a:ext cx="3617976" cy="274320"/>
          </a:xfrm>
          <a:prstGeom prst="rect">
            <a:avLst/>
          </a:prstGeom>
          <a:solidFill>
            <a:srgbClr val="E0F2FE"/>
          </a:solidFill>
          <a:ln w="12700">
            <a:solidFill>
              <a:srgbClr val="0369A1"/>
            </a:solidFill>
            <a:prstDash val="solid"/>
          </a:ln>
        </p:spPr>
      </p:sp>
      <p:sp>
        <p:nvSpPr>
          <p:cNvPr id="6" name="Shape 3"/>
          <p:cNvSpPr/>
          <p:nvPr/>
        </p:nvSpPr>
        <p:spPr>
          <a:xfrm>
            <a:off x="802507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153095" y="128016"/>
            <a:ext cx="201168" cy="201168"/>
          </a:xfrm>
          <a:prstGeom prst="rect">
            <a:avLst/>
          </a:prstGeom>
        </p:spPr>
      </p:pic>
      <p:sp>
        <p:nvSpPr>
          <p:cNvPr id="8" name="Text 4"/>
          <p:cNvSpPr txBox="1"/>
          <p:nvPr/>
        </p:nvSpPr>
        <p:spPr>
          <a:xfrm>
            <a:off x="8409127" y="91440"/>
            <a:ext cx="319735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GPU and FPGA accelerators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24: Beyond One Core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l24.S: the loop that empties the map of Verm1, one byte at a time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green square: the 960 bytes of the map, filled with ones by init,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were all set to zero by the four-instruction loop of the lecture. A red square would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mean that some byte survived.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l24.S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l24 --name l24 --out l24.prg32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RED,   0xf800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CELLS, 960              </a:t>
            </a:r>
            <a:pPr indent="0" marL="0">
              <a:buNone/>
            </a:pPr>
            <a:r>
              <a:rPr lang="en-US" sz="1500" dirty="0">
                <a:solidFill>
                  <a:srgbClr val="8FB3A0"/>
                </a:solidFill>
                <a:latin typeface="Courier New" pitchFamily="34" charset="0"/>
                <a:ea typeface="Courier New" pitchFamily="34" charset="-122"/>
                <a:cs typeface="Courier New" pitchFamily="34" charset="-120"/>
              </a:rPr>
              <a:t># 40 columns by 24 rows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l24_draw</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l24_init:                    </a:t>
            </a:r>
            <a:pPr indent="0" marL="0">
              <a:buNone/>
            </a:pPr>
            <a:r>
              <a:rPr lang="en-US" sz="1650" dirty="0">
                <a:solidFill>
                  <a:srgbClr val="8FB3A0"/>
                </a:solidFill>
                <a:latin typeface="Courier New" pitchFamily="34" charset="0"/>
                <a:ea typeface="Courier New" pitchFamily="34" charset="-122"/>
                <a:cs typeface="Courier New" pitchFamily="34" charset="-120"/>
              </a:rPr>
              <a:t># fill the map with ones, so that there is work to do</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t2,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l24_update: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            </a:t>
            </a:r>
            <a:pPr indent="0" marL="0">
              <a:buNone/>
            </a:pPr>
            <a:r>
              <a:rPr lang="en-US" sz="1650" dirty="0">
                <a:solidFill>
                  <a:srgbClr val="8FB3A0"/>
                </a:solidFill>
                <a:latin typeface="Courier New" pitchFamily="34" charset="0"/>
                <a:ea typeface="Courier New" pitchFamily="34" charset="-122"/>
                <a:cs typeface="Courier New" pitchFamily="34" charset="-120"/>
              </a:rPr>
              <a:t># the loop of the lecture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zero, 0(t0)         </a:t>
            </a:r>
            <a:pPr indent="0" marL="0">
              <a:buNone/>
            </a:pPr>
            <a:r>
              <a:rPr lang="en-US" sz="1650" dirty="0">
                <a:solidFill>
                  <a:srgbClr val="8FB3A0"/>
                </a:solidFill>
                <a:latin typeface="Courier New" pitchFamily="34" charset="0"/>
                <a:ea typeface="Courier New" pitchFamily="34" charset="-122"/>
                <a:cs typeface="Courier New" pitchFamily="34" charset="-120"/>
              </a:rPr>
              <a:t># one byte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           </a:t>
            </a:r>
            <a:pPr indent="0" marL="0">
              <a:buNone/>
            </a:pPr>
            <a:r>
              <a:rPr lang="en-US" sz="1650" dirty="0">
                <a:solidFill>
                  <a:srgbClr val="8FB3A0"/>
                </a:solidFill>
                <a:latin typeface="Courier New" pitchFamily="34" charset="0"/>
                <a:ea typeface="Courier New" pitchFamily="34" charset="-122"/>
                <a:cs typeface="Courier New" pitchFamily="34" charset="-120"/>
              </a:rPr>
              <a:t># ... the next address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          </a:t>
            </a:r>
            <a:pPr indent="0" marL="0">
              <a:buNone/>
            </a:pPr>
            <a:r>
              <a:rPr lang="en-US" sz="1650" dirty="0">
                <a:solidFill>
                  <a:srgbClr val="8FB3A0"/>
                </a:solidFill>
                <a:latin typeface="Courier New" pitchFamily="34" charset="0"/>
                <a:ea typeface="Courier New" pitchFamily="34" charset="-122"/>
                <a:cs typeface="Courier New" pitchFamily="34" charset="-120"/>
              </a:rPr>
              <a:t># ... one fewer to go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              </a:t>
            </a:r>
            <a:pPr indent="0" marL="0">
              <a:buNone/>
            </a:pPr>
            <a:r>
              <a:rPr lang="en-US" sz="1650" dirty="0">
                <a:solidFill>
                  <a:srgbClr val="8FB3A0"/>
                </a:solidFill>
                <a:latin typeface="Courier New" pitchFamily="34" charset="0"/>
                <a:ea typeface="Courier New" pitchFamily="34" charset="-122"/>
                <a:cs typeface="Courier New" pitchFamily="34" charset="-120"/>
              </a:rPr>
              <a:t># ... 960 times: 3840 instructions</a:t>
            </a:r>
            <a:endParaRPr lang="en-US" sz="16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grid            </a:t>
            </a:r>
            <a:pPr indent="0" marL="0">
              <a:buNone/>
            </a:pPr>
            <a:r>
              <a:rPr lang="en-US" sz="1800" dirty="0">
                <a:solidFill>
                  <a:srgbClr val="8FB3A0"/>
                </a:solidFill>
                <a:latin typeface="Courier New" pitchFamily="34" charset="0"/>
                <a:ea typeface="Courier New" pitchFamily="34" charset="-122"/>
                <a:cs typeface="Courier New" pitchFamily="34" charset="-120"/>
              </a:rPr>
              <a:t># count the bytes that are not zero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t1, CELLS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t3,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lbu  t2,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t3, t3, t2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t0, t0,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bnez t1, 2b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l24.S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l24_draw: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prg32_gfx_clear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1f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  li   a0, 136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76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.data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left: .word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grid: .space CELLS</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green square: the 960 bytes of the map, filled with ones by init, were all set to zero by the four-instruction loop of the lecture. A red square would mean that some byte survived.</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2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l24 --out l24.prg32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vector listings: test them on upstream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from ~/arc12/tools/tests, with the RISC-V compiler on the PATH</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riscv32-esp-elf-gcc -march=rv32imv_zicsr -mabi=ilp32 -nostdlib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-nostartfiles -T link.ld -o v.elf vector_qemu.S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binary, with vector registers of four different widths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for n in 128 256 512 1024; do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qemu-system-riscv32 -machine virt -cpu rv32,v=true,vlen=$n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-bios none -kernel v.elf -nographic -display none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echo "vlen=$n: exit code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done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kit has no vector extension: these listings run on a bare emulated RV32 with V</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Exit code 0: every check passed; any other value is the number of the failing check</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binary passes with registers of 128, 256, 512 and 1024 bits</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Use upstream QEMU here, not the Espressif fork</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the machine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Fill in the Amdahl table for p = 0.95 and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the pipeline diagram of a three-wide processor for nine independent instructions with five stages</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Rename the registers of the step-wrap code of Verm1, Part 2: which instructions could run in the same cycle?</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truth table stored in a four-input look-up table for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Build tools/tests/vector_qemu.S and run it on QEMU with vlen=128 and vlen=512: why does the same binary work?</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Nine instructions, three-wide: seven cycles. The look-up table has four ones out of sixteen entries.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Beyond One Core: Superscalar RISC-V, HPC, GPUs and FPGAs: the code</dc:title>
  <dc:subject>Lecture 24</dc:subject>
  <dc:creator>Raffaele Montella</dc:creator>
  <cp:lastModifiedBy>Raffaele Montella</cp:lastModifiedBy>
  <cp:revision>1</cp:revision>
  <dcterms:created xsi:type="dcterms:W3CDTF">2026-10-16T23:36:44Z</dcterms:created>
  <dcterms:modified xsi:type="dcterms:W3CDTF">2026-10-16T23:36:44Z</dcterms:modified>
</cp:coreProperties>
</file>