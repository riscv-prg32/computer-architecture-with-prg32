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8017a53-b244-7d84-9b76-de85b85d323b}">
          <p14:sldIdLst>
            <p14:sldId id="256"/>
            <p14:sldId id="257"/>
          </p14:sldIdLst>
        </p14:section>
        <p14:section name="Warm-up on the machine" id="{b64fdf44-705c-523c-d7f1-66017fdc403c}">
          <p14:sldIdLst>
            <p14:sldId id="258"/>
          </p14:sldIdLst>
        </p14:section>
        <p14:section name="The complete program" id="{efaebcc4-8366-c526-e6ae-65be6cbbea82}">
          <p14:sldIdLst>
            <p14:sldId id="259"/>
            <p14:sldId id="260"/>
            <p14:sldId id="261"/>
          </p14:sldIdLst>
        </p14:section>
        <p14:section name="Run it and test it" id="{bba3f7e8-e0bd-ae5d-c25a-6209422f76bb}">
          <p14:sldIdLst>
            <p14:sldId id="262"/>
            <p14:sldId id="263"/>
            <p14:sldId id="264"/>
            <p14:sldId id="265"/>
            <p14:sldId id="266"/>
          </p14:sldIdLst>
        </p14:section>
        <p14:section name="Exercises" id="{44127746-e235-5fcb-27cf-326f89d090f9}">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21.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polling, interrupts, DMA; CRT and LCD displays; keyboard and mouse; printers. USE NOW: the complete program, the PRG32 tools (used, not studied, in this course). UNDERSTAND LATER: nothing. A slide without a badge is context: a story, an example, a question,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~/arc12/code/l21.S; tools/tests/cartridges/run.py builds it, runs it on PRG32-QT with scripted input and checks the pixels of the frame.
For the lecturer: Get the code once: git clone https://github.com/riscv-prg32/computer-architecture-with-prg32 ~/arc12. The program of this lecture is ~/arc12/code/l21.S;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a function that reads the input once per frame. prg32_input_read returns in a0 a word with one bit per button; the code copies it into s0, a callee-saved register, because the word must survive the call that plays a note, and in a temporary it would be lost. Each button is then tested with andi and a mask: 0x10 for A, 0x01 for LEFT. Behind each bit lies a switch on an input pin of the chip, and the runtime gathers the pins into one word, a decoded representation in the sense of Lecture 11. The program asks, once per frame, and this mode of operation has a name, polling. The other devices are less simple, and the lecture examines them.
UNDERSTAND NOW: polling, interrupts, DMA.
For the lecturer: From textbook chapter 6, lab 06 and the sound example of the capstone chapter (examples/asm_capstone/audio_note_event.S). Built as a cartridge and run on the PRG32-QT headless runner (tools/tests): the marker moves with LEFT also while A plays the note, because the mask is kept in s0, a saved register; in t0 it would be lost at the call. The pins are memory-mapped GPIO registers (Lecture 15), configured as inputs, that is, with their output buffers in high impedance (Lecture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code/l21.S,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code/l21.S,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code/l21.S,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Determine how many bits the code of a 104-key keyboard requires, and propose a suitable matrix of rows and columns. Compute the memory a printer needs for the bitmap of a page at 600 dots per inch. Move a pointer on the screen with the joystick, keeping it within the screen by clamping as in Lecture 05. Make button A act only once per press, by edge detection as in Lecture 13. And draw a score with seven-segment digits, using the table of Lecture 11.
For the lecturer: 8 x 600 = 4,800 by 11 x 600 = 6,600 dots: 31,680,000 bits = 3.96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21: Input and output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21</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Input and Output: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21-Computer_Architecture-Input_Output.pptx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lab2_step1_lamps.png">    </p:cNvPr>
          <p:cNvPicPr>
            <a:picLocks noChangeAspect="1"/>
          </p:cNvPicPr>
          <p:nvPr/>
        </p:nvPicPr>
        <p:blipFill>
          <a:blip r:embed="rId1"/>
          <a:stretch>
            <a:fillRect/>
          </a:stretch>
        </p:blipFill>
        <p:spPr>
          <a:xfrm>
            <a:off x="8716975" y="4280535"/>
            <a:ext cx="2834640" cy="177165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listing of Lecture 21: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code/l21.S, 63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 the world, once per frame</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steer_update: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s0, 8(sp)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350" dirty="0">
                <a:solidFill>
                  <a:srgbClr val="8FB3A0"/>
                </a:solidFill>
                <a:latin typeface="Courier New" pitchFamily="34" charset="0"/>
                <a:ea typeface="Courier New" pitchFamily="34" charset="-122"/>
                <a:cs typeface="Courier New" pitchFamily="34" charset="-120"/>
              </a:rPr>
              <a:t># a0 = one bit per button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mv   s0, a0                </a:t>
            </a:r>
            <a:pPr indent="0" marL="0">
              <a:buNone/>
            </a:pPr>
            <a:r>
              <a:rPr lang="en-US" sz="1350" dirty="0">
                <a:solidFill>
                  <a:srgbClr val="8FB3A0"/>
                </a:solidFill>
                <a:latin typeface="Courier New" pitchFamily="34" charset="0"/>
                <a:ea typeface="Courier New" pitchFamily="34" charset="-122"/>
                <a:cs typeface="Courier New" pitchFamily="34" charset="-120"/>
              </a:rPr>
              <a:t># keep it in a saved register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t0, s0, 0x10          </a:t>
            </a:r>
            <a:pPr indent="0" marL="0">
              <a:buNone/>
            </a:pPr>
            <a:r>
              <a:rPr lang="en-US" sz="1350" dirty="0">
                <a:solidFill>
                  <a:srgbClr val="8FB3A0"/>
                </a:solidFill>
                <a:latin typeface="Courier New" pitchFamily="34" charset="0"/>
                <a:ea typeface="Courier New" pitchFamily="34" charset="-122"/>
                <a:cs typeface="Courier New" pitchFamily="34" charset="-120"/>
              </a:rPr>
              <a:t># button 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t0,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0                 </a:t>
            </a:r>
            <a:pPr indent="0" marL="0">
              <a:buNone/>
            </a:pPr>
            <a:r>
              <a:rPr lang="en-US" sz="1350" dirty="0">
                <a:solidFill>
                  <a:srgbClr val="8FB3A0"/>
                </a:solidFill>
                <a:latin typeface="Courier New" pitchFamily="34" charset="0"/>
                <a:ea typeface="Courier New" pitchFamily="34" charset="-122"/>
                <a:cs typeface="Courier New" pitchFamily="34" charset="-120"/>
              </a:rPr>
              <a:t># channel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0                 </a:t>
            </a:r>
            <a:pPr indent="0" marL="0">
              <a:buNone/>
            </a:pPr>
            <a:r>
              <a:rPr lang="en-US" sz="1350" dirty="0">
                <a:solidFill>
                  <a:srgbClr val="8FB3A0"/>
                </a:solidFill>
                <a:latin typeface="Courier New" pitchFamily="34" charset="0"/>
                <a:ea typeface="Courier New" pitchFamily="34" charset="-122"/>
                <a:cs typeface="Courier New" pitchFamily="34" charset="-120"/>
              </a:rPr>
              <a:t># instrument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a2, 69                </a:t>
            </a:r>
            <a:pPr indent="0" marL="0">
              <a:buNone/>
            </a:pPr>
            <a:r>
              <a:rPr lang="en-US" sz="1350" dirty="0">
                <a:solidFill>
                  <a:srgbClr val="8FB3A0"/>
                </a:solidFill>
                <a:latin typeface="Courier New" pitchFamily="34" charset="0"/>
                <a:ea typeface="Courier New" pitchFamily="34" charset="-122"/>
                <a:cs typeface="Courier New" pitchFamily="34" charset="-120"/>
              </a:rPr>
              <a:t># note: A4, 440 Hz</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255               </a:t>
            </a:r>
            <a:pPr indent="0" marL="0">
              <a:buNone/>
            </a:pPr>
            <a:r>
              <a:rPr lang="en-US" sz="1350" dirty="0">
                <a:solidFill>
                  <a:srgbClr val="8FB3A0"/>
                </a:solidFill>
                <a:latin typeface="Courier New" pitchFamily="34" charset="0"/>
                <a:ea typeface="Courier New" pitchFamily="34" charset="-122"/>
                <a:cs typeface="Courier New" pitchFamily="34" charset="-120"/>
              </a:rPr>
              <a:t># volume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120               </a:t>
            </a:r>
            <a:pPr indent="0" marL="0">
              <a:buNone/>
            </a:pPr>
            <a:r>
              <a:rPr lang="en-US" sz="1350" dirty="0">
                <a:solidFill>
                  <a:srgbClr val="8FB3A0"/>
                </a:solidFill>
                <a:latin typeface="Courier New" pitchFamily="34" charset="0"/>
                <a:ea typeface="Courier New" pitchFamily="34" charset="-122"/>
                <a:cs typeface="Courier New" pitchFamily="34" charset="-120"/>
              </a:rPr>
              <a:t># milliseconds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prg32_audio_note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andi t0, s0, 0x01          </a:t>
            </a:r>
            <a:pPr indent="0" marL="0">
              <a:buNone/>
            </a:pPr>
            <a:r>
              <a:rPr lang="en-US" sz="1350" dirty="0">
                <a:solidFill>
                  <a:srgbClr val="8FB3A0"/>
                </a:solidFill>
                <a:latin typeface="Courier New" pitchFamily="34" charset="0"/>
                <a:ea typeface="Courier New" pitchFamily="34" charset="-122"/>
                <a:cs typeface="Courier New" pitchFamily="34" charset="-120"/>
              </a:rPr>
              <a:t># LEFT: s0 survived the call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t0, 2f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                        </a:t>
            </a:r>
            <a:pPr indent="0" marL="0">
              <a:buNone/>
            </a:pPr>
            <a:r>
              <a:rPr lang="en-US" sz="1350" dirty="0">
                <a:solidFill>
                  <a:srgbClr val="8FB3A0"/>
                </a:solidFill>
                <a:latin typeface="Courier New" pitchFamily="34" charset="0"/>
                <a:ea typeface="Courier New" pitchFamily="34" charset="-122"/>
                <a:cs typeface="Courier New" pitchFamily="34" charset="-120"/>
              </a:rPr>
              <a:t># move left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a:t>
            </a:r>
            <a:endParaRPr lang="en-US" sz="13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Each button is a switch on one input pin of the chip: pressed or released, one bit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runtime reads the pins and packs them into one word: a decoded representation (Lecture 11)</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Your game asks once per frame: this is polling</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keyboard has a hundred keys, a mouse moves in two dimensions, a display has thousands of pixels: how do they talk to a processor?</a:t>
            </a:r>
            <a:endParaRPr lang="en-US" sz="1200" dirty="0"/>
          </a:p>
        </p:txBody>
      </p:sp>
      <p:sp>
        <p:nvSpPr>
          <p:cNvPr id="17" name="Shape 15"/>
          <p:cNvSpPr/>
          <p:nvPr/>
        </p:nvSpPr>
        <p:spPr>
          <a:xfrm>
            <a:off x="8090738" y="91440"/>
            <a:ext cx="3552317" cy="274320"/>
          </a:xfrm>
          <a:prstGeom prst="rect">
            <a:avLst/>
          </a:prstGeom>
          <a:solidFill>
            <a:srgbClr val="E0F2FE"/>
          </a:solidFill>
          <a:ln w="12700">
            <a:solidFill>
              <a:srgbClr val="0369A1"/>
            </a:solidFill>
            <a:prstDash val="solid"/>
          </a:ln>
        </p:spPr>
      </p:sp>
      <p:sp>
        <p:nvSpPr>
          <p:cNvPr id="18" name="Shape 16"/>
          <p:cNvSpPr/>
          <p:nvPr/>
        </p:nvSpPr>
        <p:spPr>
          <a:xfrm>
            <a:off x="8090738"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0" name="Text 17"/>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polling, interrupts, DMA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l21.S (1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21: Input and Output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l21.S: read the world, once per frame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a yellow square in the middle of the screen. LEFT moves it to the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left; A plays a note, and the square keeps moving while the note sounds.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l21.S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l21 --name l21 --out l21.prg32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l21_init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l21_update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l21_draw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l21_init: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l21_update: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steer_update: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addi sp, sp, -16</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ra, 12(sp)</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sw   s0, 8(sp)</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l21.S (2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50" dirty="0">
                <a:solidFill>
                  <a:srgbClr val="E6EDF2"/>
                </a:solidFill>
                <a:latin typeface="Courier New" pitchFamily="34" charset="0"/>
                <a:ea typeface="Courier New" pitchFamily="34" charset="-122"/>
                <a:cs typeface="Courier New" pitchFamily="34" charset="-120"/>
              </a:rPr>
              <a:t>    call prg32_input_read      </a:t>
            </a:r>
            <a:pPr indent="0" marL="0">
              <a:buNone/>
            </a:pPr>
            <a:r>
              <a:rPr lang="en-US" sz="1350" dirty="0">
                <a:solidFill>
                  <a:srgbClr val="8FB3A0"/>
                </a:solidFill>
                <a:latin typeface="Courier New" pitchFamily="34" charset="0"/>
                <a:ea typeface="Courier New" pitchFamily="34" charset="-122"/>
                <a:cs typeface="Courier New" pitchFamily="34" charset="-120"/>
              </a:rPr>
              <a:t># a0 = one bit per button</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mv   s0, a0                </a:t>
            </a:r>
            <a:pPr indent="0" marL="0">
              <a:buNone/>
            </a:pPr>
            <a:r>
              <a:rPr lang="en-US" sz="1350" dirty="0">
                <a:solidFill>
                  <a:srgbClr val="8FB3A0"/>
                </a:solidFill>
                <a:latin typeface="Courier New" pitchFamily="34" charset="0"/>
                <a:ea typeface="Courier New" pitchFamily="34" charset="-122"/>
                <a:cs typeface="Courier New" pitchFamily="34" charset="-120"/>
              </a:rPr>
              <a:t># keep it in a saved register</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andi t0, s0, 0x10          </a:t>
            </a:r>
            <a:pPr indent="0" marL="0">
              <a:buNone/>
            </a:pPr>
            <a:r>
              <a:rPr lang="en-US" sz="1350" dirty="0">
                <a:solidFill>
                  <a:srgbClr val="8FB3A0"/>
                </a:solidFill>
                <a:latin typeface="Courier New" pitchFamily="34" charset="0"/>
                <a:ea typeface="Courier New" pitchFamily="34" charset="-122"/>
                <a:cs typeface="Courier New" pitchFamily="34" charset="-120"/>
              </a:rPr>
              <a:t># button A</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t0, 1f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a0, 0                 </a:t>
            </a:r>
            <a:pPr indent="0" marL="0">
              <a:buNone/>
            </a:pPr>
            <a:r>
              <a:rPr lang="en-US" sz="1350" dirty="0">
                <a:solidFill>
                  <a:srgbClr val="8FB3A0"/>
                </a:solidFill>
                <a:latin typeface="Courier New" pitchFamily="34" charset="0"/>
                <a:ea typeface="Courier New" pitchFamily="34" charset="-122"/>
                <a:cs typeface="Courier New" pitchFamily="34" charset="-120"/>
              </a:rPr>
              <a:t># channel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a1, 0                 </a:t>
            </a:r>
            <a:pPr indent="0" marL="0">
              <a:buNone/>
            </a:pPr>
            <a:r>
              <a:rPr lang="en-US" sz="1350" dirty="0">
                <a:solidFill>
                  <a:srgbClr val="8FB3A0"/>
                </a:solidFill>
                <a:latin typeface="Courier New" pitchFamily="34" charset="0"/>
                <a:ea typeface="Courier New" pitchFamily="34" charset="-122"/>
                <a:cs typeface="Courier New" pitchFamily="34" charset="-120"/>
              </a:rPr>
              <a:t># instrument</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a2, 69                </a:t>
            </a:r>
            <a:pPr indent="0" marL="0">
              <a:buNone/>
            </a:pPr>
            <a:r>
              <a:rPr lang="en-US" sz="1350" dirty="0">
                <a:solidFill>
                  <a:srgbClr val="8FB3A0"/>
                </a:solidFill>
                <a:latin typeface="Courier New" pitchFamily="34" charset="0"/>
                <a:ea typeface="Courier New" pitchFamily="34" charset="-122"/>
                <a:cs typeface="Courier New" pitchFamily="34" charset="-120"/>
              </a:rPr>
              <a:t># note: A4, 440 Hz</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a3, 255               </a:t>
            </a:r>
            <a:pPr indent="0" marL="0">
              <a:buNone/>
            </a:pPr>
            <a:r>
              <a:rPr lang="en-US" sz="1350" dirty="0">
                <a:solidFill>
                  <a:srgbClr val="8FB3A0"/>
                </a:solidFill>
                <a:latin typeface="Courier New" pitchFamily="34" charset="0"/>
                <a:ea typeface="Courier New" pitchFamily="34" charset="-122"/>
                <a:cs typeface="Courier New" pitchFamily="34" charset="-120"/>
              </a:rPr>
              <a:t># volume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li   a4, 120               </a:t>
            </a:r>
            <a:pPr indent="0" marL="0">
              <a:buNone/>
            </a:pPr>
            <a:r>
              <a:rPr lang="en-US" sz="1350" dirty="0">
                <a:solidFill>
                  <a:srgbClr val="8FB3A0"/>
                </a:solidFill>
                <a:latin typeface="Courier New" pitchFamily="34" charset="0"/>
                <a:ea typeface="Courier New" pitchFamily="34" charset="-122"/>
                <a:cs typeface="Courier New" pitchFamily="34" charset="-120"/>
              </a:rPr>
              <a:t># milliseconds</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call prg32_audio_note</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1:  andi t0, s0, 0x01          </a:t>
            </a:r>
            <a:pPr indent="0" marL="0">
              <a:buNone/>
            </a:pPr>
            <a:r>
              <a:rPr lang="en-US" sz="1350" dirty="0">
                <a:solidFill>
                  <a:srgbClr val="8FB3A0"/>
                </a:solidFill>
                <a:latin typeface="Courier New" pitchFamily="34" charset="0"/>
                <a:ea typeface="Courier New" pitchFamily="34" charset="-122"/>
                <a:cs typeface="Courier New" pitchFamily="34" charset="-120"/>
              </a:rPr>
              <a:t># LEFT: s0 survived the call</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beqz t0, 2f</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la   t1, marker_x</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t2, 0(t1)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t2, t2, -2</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sw   t2, 0(t1)</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2:  lw   s0, 8(sp)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lw   ra, 12(sp)</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addi sp, sp, 16</a:t>
            </a:r>
            <a:endParaRPr lang="en-US" sz="1350" dirty="0"/>
          </a:p>
          <a:p>
            <a:pPr indent="0" marL="0">
              <a:buNone/>
            </a:pPr>
            <a:r>
              <a:rPr lang="en-US" sz="1350" dirty="0">
                <a:solidFill>
                  <a:srgbClr val="E6EDF2"/>
                </a:solidFill>
                <a:latin typeface="Courier New" pitchFamily="34" charset="0"/>
                <a:ea typeface="Courier New" pitchFamily="34" charset="-122"/>
                <a:cs typeface="Courier New" pitchFamily="34" charset="-120"/>
              </a:rPr>
              <a:t>    ret</a:t>
            </a:r>
            <a:endParaRPr lang="en-US" sz="13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l21.S (3 of 3)</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00" dirty="0">
                <a:solidFill>
                  <a:srgbClr val="E6EDF2"/>
                </a:solidFill>
                <a:latin typeface="Courier New" pitchFamily="34" charset="0"/>
                <a:ea typeface="Courier New" pitchFamily="34" charset="-122"/>
                <a:cs typeface="Courier New" pitchFamily="34" charset="-120"/>
              </a:rPr>
              <a:t>l21_draw:</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addi sp, sp, -16</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sw   ra, 12(sp)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a0, 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call prg32_gfx_clear</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la   t0, marker_x</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lw   a0, 0(t0)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a1, 100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a2, 16</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a3, 16</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li   a4, 0xffe0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call prg32_gfx_rect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lw   ra, 12(sp)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addi sp, sp, 16</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ret</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.section .data</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marker_x: .word 152</a:t>
            </a:r>
            <a:endParaRPr lang="en-US" sz="16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1709928"/>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 yellow square in the middle of the screen. LEFT moves it to the left; A plays a note, and the square keeps moving while the note sounds.</a:t>
            </a:r>
            <a:endParaRPr lang="en-US" sz="2400" dirty="0"/>
          </a:p>
        </p:txBody>
      </p:sp>
      <p:sp>
        <p:nvSpPr>
          <p:cNvPr id="5" name="Shape 3"/>
          <p:cNvSpPr/>
          <p:nvPr/>
        </p:nvSpPr>
        <p:spPr>
          <a:xfrm>
            <a:off x="548640" y="388924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767328"/>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LEFT moves the square; A plays a note</a:t>
            </a:r>
            <a:endParaRPr lang="en-US" sz="2400" dirty="0"/>
          </a:p>
        </p:txBody>
      </p:sp>
      <p:pic>
        <p:nvPicPr>
          <p:cNvPr id="7" name="Image 0" descr="/Users/raffaelemontella/devel/riscv-prg32/computer-architecture-with-prg32/tools/assets/lab_l21.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l21 --name l21 --out l21.prg32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l21.prg32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l21 --name l21 --architecture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l21-qemu.prg32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~/arc12/code/l21.S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l21 --name l21 --architecture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l21-esp32c6.prg32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l21-esp32c6.prg32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l21;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keyboard has 104 keys: how many bits does the key code need? How many rows and columns could the matrix have?</a:t>
            </a:r>
            <a:endParaRPr lang="en-US" sz="2000" dirty="0"/>
          </a:p>
        </p:txBody>
      </p:sp>
      <p:sp>
        <p:nvSpPr>
          <p:cNvPr id="6" name="Text 4"/>
          <p:cNvSpPr txBox="1"/>
          <p:nvPr/>
        </p:nvSpPr>
        <p:spPr>
          <a:xfrm>
            <a:off x="548640" y="21945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76272"/>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A page of 8 by 11 inches at 600 dots per inch, one bit per dot: how much memory does the printer need for the bitmap?</a:t>
            </a:r>
            <a:endParaRPr lang="en-US" sz="20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Move a pointer on the PRG32 screen with the joystick, as a mouse would: keep x and y, clamp them to the screen</a:t>
            </a:r>
            <a:endParaRPr lang="en-US" sz="2000" dirty="0"/>
          </a:p>
        </p:txBody>
      </p:sp>
      <p:sp>
        <p:nvSpPr>
          <p:cNvPr id="10" name="Text 8"/>
          <p:cNvSpPr txBox="1"/>
          <p:nvPr/>
        </p:nvSpPr>
        <p:spPr>
          <a:xfrm>
            <a:off x="548640" y="371246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694176"/>
            <a:ext cx="10436047" cy="438912"/>
          </a:xfrm>
          <a:prstGeom prst="rect">
            <a:avLst/>
          </a:prstGeom>
          <a:noFill/>
          <a:ln/>
        </p:spPr>
        <p:txBody>
          <a:bodyPr wrap="square" lIns="0" tIns="0" rIns="0" bIns="0" rtlCol="0" anchor="ctr"/>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Make button A act only once per press (edge detection, Lecture 13)</a:t>
            </a:r>
            <a:endParaRPr lang="en-US" sz="2000" dirty="0"/>
          </a:p>
        </p:txBody>
      </p:sp>
      <p:sp>
        <p:nvSpPr>
          <p:cNvPr id="12" name="Text 10"/>
          <p:cNvSpPr txBox="1"/>
          <p:nvPr/>
        </p:nvSpPr>
        <p:spPr>
          <a:xfrm>
            <a:off x="548640" y="429056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72280"/>
            <a:ext cx="1043604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Draw a seven-segment score with rectangles, using the transcoder table of Lecture 11</a:t>
            </a:r>
            <a:endParaRPr lang="en-US" sz="20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7 bits, for example 8 by 13; about 4 MB. On PRG32: a pointer that stays on screen and a button that fires once per press.</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Input and Output: the code</dc:title>
  <dc:subject>Lecture 21</dc:subject>
  <dc:creator>Raffaele Montella</dc:creator>
  <cp:lastModifiedBy>Raffaele Montella</cp:lastModifiedBy>
  <cp:revision>1</cp:revision>
  <dcterms:created xsi:type="dcterms:W3CDTF">2026-10-16T20:22:25Z</dcterms:created>
  <dcterms:modified xsi:type="dcterms:W3CDTF">2026-10-16T20:22:25Z</dcterms:modified>
</cp:coreProperties>
</file>