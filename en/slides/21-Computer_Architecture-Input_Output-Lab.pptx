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1e68398-2492-7254-fba2-09be10c208dd}">
          <p14:sldIdLst>
            <p14:sldId id="256"/>
            <p14:sldId id="257"/>
          </p14:sldIdLst>
        </p14:section>
        <p14:section name="Warm-up on the machine" id="{ed053c28-1d90-da3f-32e7-e34a9eeb1ad4}">
          <p14:sldIdLst>
            <p14:sldId id="258"/>
          </p14:sldIdLst>
        </p14:section>
        <p14:section name="The complete program" id="{c77ae490-fb82-1a2b-3d76-2433ad15cbb5}">
          <p14:sldIdLst>
            <p14:sldId id="259"/>
            <p14:sldId id="260"/>
            <p14:sldId id="261"/>
          </p14:sldIdLst>
        </p14:section>
        <p14:section name="Run it and test it" id="{883f7411-4d37-306b-8123-03b25b2502e1}">
          <p14:sldIdLst>
            <p14:sldId id="262"/>
            <p14:sldId id="263"/>
            <p14:sldId id="264"/>
            <p14:sldId id="265"/>
            <p14:sldId id="266"/>
          </p14:sldIdLst>
        </p14:section>
        <p14:section name="Exercises" id="{640e537f-f8fa-bc32-8b18-53b32909db56}">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21.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polling, interrupts, DMA; CRT and LCD displays; keyboard and mouse; printers. USE NOW: the complete program, the PRG32 tools (used, not studied, in this course). UNDERSTAND LATER: nothing. A slide without a badge is context: a story, an example, a question, an exercise.
Roadmap. Today's outcomes: (1) describe how displays, keyboards and printers work; (2) compare polling with interrupts for reading a device. Builds on: only what Lecture 01 set up. Next: Lecture 22, Verm1, Part 4: The Finished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~/arc12/code/l21.S; tools/tests/cartridges/run.py builds it, runs it on PRG32-QT with scripted input and checks the pixels of the frame.
For the lecturer: Get the code once: git clone https://github.com/riscv-prg32/computer-architecture-with-prg32 ~/arc12. The program of this lecture is ~/arc12/code/l21.S;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a function that reads the input once per frame. prg32_input_read returns in a0 a word with one bit per button; the code copies it into s0, a callee-saved register, because the word must survive the call that plays a note, and in a temporary it would be lost. Each button is then tested with andi and a mask: 0x10 for A, 0x01 for LEFT. Behind each bit lies a switch on an input pin of the chip, and the runtime gathers the pins into one word, a decoded representation in the sense of Lecture 11. The program asks, once per frame, and this mode of operation has a name, polling. The other devices are less simple, and the lecture examines them.
UNDERSTAND NOW: polling, interrupts, DMA.
For the lecturer: From textbook chapter 6, lab 06 and the sound example of the capstone chapter (examples/asm_capstone/audio_note_event.S). Built as a cartridge and run on the PRG32-QT headless runner (tools/tests): the marker moves with LEFT also while A plays the note, because the mask is kept in s0, a saved register; in t0 it would be lost at the call. The pins are memory-mapped GPIO registers (Lecture 15), configured as inputs, that is, with their output buffers in high impedance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Determine how many bits the code of a 104-key keyboard requires, and propose a suitable matrix of rows and columns. Compute the memory a printer needs for the bitmap of a page at 600 dots per inch. Move a pointer on the screen with the joystick, keeping it within the screen by clamping as in Lecture 05. Make button A act only once per press, by edge detection as in Lecture 13. And draw a score with seven-segment digits, using the table of Lecture 11.
For the lecturer: 8 x 600 = 4,800 by 11 x 600 = 6,600 dots: 31,680,000 bits = 3.96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21-Computer_Architecture-Input_Output.pptx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21: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code/l21.S, 63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world, once per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steer_update: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one bit per button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s0, a0                </a:t>
            </a:r>
            <a:pPr indent="0" marL="0">
              <a:buNone/>
            </a:pPr>
            <a:r>
              <a:rPr lang="en-US" sz="1350" dirty="0">
                <a:solidFill>
                  <a:srgbClr val="8FB3A0"/>
                </a:solidFill>
                <a:latin typeface="Courier New" pitchFamily="34" charset="0"/>
                <a:ea typeface="Courier New" pitchFamily="34" charset="-122"/>
                <a:cs typeface="Courier New" pitchFamily="34" charset="-120"/>
              </a:rPr>
              <a:t># keep it in a saved register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t0, s0, 0x10          </a:t>
            </a:r>
            <a:pPr indent="0" marL="0">
              <a:buNone/>
            </a:pPr>
            <a:r>
              <a:rPr lang="en-US" sz="1350" dirty="0">
                <a:solidFill>
                  <a:srgbClr val="8FB3A0"/>
                </a:solidFill>
                <a:latin typeface="Courier New" pitchFamily="34" charset="0"/>
                <a:ea typeface="Courier New" pitchFamily="34" charset="-122"/>
                <a:cs typeface="Courier New" pitchFamily="34" charset="-120"/>
              </a:rPr>
              <a:t># button 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0                 </a:t>
            </a:r>
            <a:pPr indent="0" marL="0">
              <a:buNone/>
            </a:pPr>
            <a:r>
              <a:rPr lang="en-US" sz="1350" dirty="0">
                <a:solidFill>
                  <a:srgbClr val="8FB3A0"/>
                </a:solidFill>
                <a:latin typeface="Courier New" pitchFamily="34" charset="0"/>
                <a:ea typeface="Courier New" pitchFamily="34" charset="-122"/>
                <a:cs typeface="Courier New" pitchFamily="34" charset="-120"/>
              </a:rPr>
              <a:t># channel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0                 </a:t>
            </a:r>
            <a:pPr indent="0" marL="0">
              <a:buNone/>
            </a:pPr>
            <a:r>
              <a:rPr lang="en-US" sz="1350" dirty="0">
                <a:solidFill>
                  <a:srgbClr val="8FB3A0"/>
                </a:solidFill>
                <a:latin typeface="Courier New" pitchFamily="34" charset="0"/>
                <a:ea typeface="Courier New" pitchFamily="34" charset="-122"/>
                <a:cs typeface="Courier New" pitchFamily="34" charset="-120"/>
              </a:rPr>
              <a:t># instrument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69                </a:t>
            </a:r>
            <a:pPr indent="0" marL="0">
              <a:buNone/>
            </a:pPr>
            <a:r>
              <a:rPr lang="en-US" sz="1350" dirty="0">
                <a:solidFill>
                  <a:srgbClr val="8FB3A0"/>
                </a:solidFill>
                <a:latin typeface="Courier New" pitchFamily="34" charset="0"/>
                <a:ea typeface="Courier New" pitchFamily="34" charset="-122"/>
                <a:cs typeface="Courier New" pitchFamily="34" charset="-120"/>
              </a:rPr>
              <a:t># note: A4, 440 Hz</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255               </a:t>
            </a:r>
            <a:pPr indent="0" marL="0">
              <a:buNone/>
            </a:pPr>
            <a:r>
              <a:rPr lang="en-US" sz="1350" dirty="0">
                <a:solidFill>
                  <a:srgbClr val="8FB3A0"/>
                </a:solidFill>
                <a:latin typeface="Courier New" pitchFamily="34" charset="0"/>
                <a:ea typeface="Courier New" pitchFamily="34" charset="-122"/>
                <a:cs typeface="Courier New" pitchFamily="34" charset="-120"/>
              </a:rPr>
              <a:t># volume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120               </a:t>
            </a:r>
            <a:pPr indent="0" marL="0">
              <a:buNone/>
            </a:pPr>
            <a:r>
              <a:rPr lang="en-US" sz="1350" dirty="0">
                <a:solidFill>
                  <a:srgbClr val="8FB3A0"/>
                </a:solidFill>
                <a:latin typeface="Courier New" pitchFamily="34" charset="0"/>
                <a:ea typeface="Courier New" pitchFamily="34" charset="-122"/>
                <a:cs typeface="Courier New" pitchFamily="34" charset="-120"/>
              </a:rPr>
              <a:t># milliseconds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prg32_audio_note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andi t0, s0, 0x01          </a:t>
            </a:r>
            <a:pPr indent="0" marL="0">
              <a:buNone/>
            </a:pPr>
            <a:r>
              <a:rPr lang="en-US" sz="1350" dirty="0">
                <a:solidFill>
                  <a:srgbClr val="8FB3A0"/>
                </a:solidFill>
                <a:latin typeface="Courier New" pitchFamily="34" charset="0"/>
                <a:ea typeface="Courier New" pitchFamily="34" charset="-122"/>
                <a:cs typeface="Courier New" pitchFamily="34" charset="-120"/>
              </a:rPr>
              <a:t># LEFT: s0 survived the call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Each button is a switch on one input pin of the chip: pressed or released, one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runtime reads the pins and packs them into one word: a decoded representation (Lecture 11)</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Your game asks once per frame: this is polling</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keyboard has a hundred keys, a mouse moves in two dimensions, a display has thousands of pixels: how do they talk to a processor?</a:t>
            </a:r>
            <a:endParaRPr lang="en-US" sz="12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21: Input and Output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l21.S: read the world, once per frame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a yellow square in the middle of the screen. LEFT moves it to the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left; A plays a note, and the square keeps moving while the note sounds.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l21.S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l21 --name l21 --out l21.prg32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l21_init: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l21_update: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steer_update: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one bit per button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s0, a0                </a:t>
            </a:r>
            <a:pPr indent="0" marL="0">
              <a:buNone/>
            </a:pPr>
            <a:r>
              <a:rPr lang="en-US" sz="1350" dirty="0">
                <a:solidFill>
                  <a:srgbClr val="8FB3A0"/>
                </a:solidFill>
                <a:latin typeface="Courier New" pitchFamily="34" charset="0"/>
                <a:ea typeface="Courier New" pitchFamily="34" charset="-122"/>
                <a:cs typeface="Courier New" pitchFamily="34" charset="-120"/>
              </a:rPr>
              <a:t># keep it in a saved register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t0, s0, 0x10          </a:t>
            </a:r>
            <a:pPr indent="0" marL="0">
              <a:buNone/>
            </a:pPr>
            <a:r>
              <a:rPr lang="en-US" sz="1350" dirty="0">
                <a:solidFill>
                  <a:srgbClr val="8FB3A0"/>
                </a:solidFill>
                <a:latin typeface="Courier New" pitchFamily="34" charset="0"/>
                <a:ea typeface="Courier New" pitchFamily="34" charset="-122"/>
                <a:cs typeface="Courier New" pitchFamily="34" charset="-120"/>
              </a:rPr>
              <a:t># button 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0                 </a:t>
            </a:r>
            <a:pPr indent="0" marL="0">
              <a:buNone/>
            </a:pPr>
            <a:r>
              <a:rPr lang="en-US" sz="1350" dirty="0">
                <a:solidFill>
                  <a:srgbClr val="8FB3A0"/>
                </a:solidFill>
                <a:latin typeface="Courier New" pitchFamily="34" charset="0"/>
                <a:ea typeface="Courier New" pitchFamily="34" charset="-122"/>
                <a:cs typeface="Courier New" pitchFamily="34" charset="-120"/>
              </a:rPr>
              <a:t># channel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0                 </a:t>
            </a:r>
            <a:pPr indent="0" marL="0">
              <a:buNone/>
            </a:pPr>
            <a:r>
              <a:rPr lang="en-US" sz="1350" dirty="0">
                <a:solidFill>
                  <a:srgbClr val="8FB3A0"/>
                </a:solidFill>
                <a:latin typeface="Courier New" pitchFamily="34" charset="0"/>
                <a:ea typeface="Courier New" pitchFamily="34" charset="-122"/>
                <a:cs typeface="Courier New" pitchFamily="34" charset="-120"/>
              </a:rPr>
              <a:t># instrument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69                </a:t>
            </a:r>
            <a:pPr indent="0" marL="0">
              <a:buNone/>
            </a:pPr>
            <a:r>
              <a:rPr lang="en-US" sz="1350" dirty="0">
                <a:solidFill>
                  <a:srgbClr val="8FB3A0"/>
                </a:solidFill>
                <a:latin typeface="Courier New" pitchFamily="34" charset="0"/>
                <a:ea typeface="Courier New" pitchFamily="34" charset="-122"/>
                <a:cs typeface="Courier New" pitchFamily="34" charset="-120"/>
              </a:rPr>
              <a:t># note: A4, 440 Hz</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255               </a:t>
            </a:r>
            <a:pPr indent="0" marL="0">
              <a:buNone/>
            </a:pPr>
            <a:r>
              <a:rPr lang="en-US" sz="1350" dirty="0">
                <a:solidFill>
                  <a:srgbClr val="8FB3A0"/>
                </a:solidFill>
                <a:latin typeface="Courier New" pitchFamily="34" charset="0"/>
                <a:ea typeface="Courier New" pitchFamily="34" charset="-122"/>
                <a:cs typeface="Courier New" pitchFamily="34" charset="-120"/>
              </a:rPr>
              <a:t># volume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120               </a:t>
            </a:r>
            <a:pPr indent="0" marL="0">
              <a:buNone/>
            </a:pPr>
            <a:r>
              <a:rPr lang="en-US" sz="1350" dirty="0">
                <a:solidFill>
                  <a:srgbClr val="8FB3A0"/>
                </a:solidFill>
                <a:latin typeface="Courier New" pitchFamily="34" charset="0"/>
                <a:ea typeface="Courier New" pitchFamily="34" charset="-122"/>
                <a:cs typeface="Courier New" pitchFamily="34" charset="-120"/>
              </a:rPr>
              <a:t># milliseconds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prg32_audio_note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andi t0, s0, 0x01          </a:t>
            </a:r>
            <a:pPr indent="0" marL="0">
              <a:buNone/>
            </a:pPr>
            <a:r>
              <a:rPr lang="en-US" sz="1350" dirty="0">
                <a:solidFill>
                  <a:srgbClr val="8FB3A0"/>
                </a:solidFill>
                <a:latin typeface="Courier New" pitchFamily="34" charset="0"/>
                <a:ea typeface="Courier New" pitchFamily="34" charset="-122"/>
                <a:cs typeface="Courier New" pitchFamily="34" charset="-120"/>
              </a:rPr>
              <a:t># LEFT: s0 survived the call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t1, marker_x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t2, 0(t1)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l21_draw:</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addi sp, sp,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sw   ra, 12(sp)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a0,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call prg32_gfx_clear</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marker_x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a0,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a1, 100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a2,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a3,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a4, 0xffe0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call prg32_gfx_rect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ra, 12(sp)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addi sp, sp,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ret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.section .data</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marker_x: .word 152</a:t>
            </a:r>
            <a:endParaRPr lang="en-US" sz="16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yellow square in the middle of the screen. LEFT moves it to the left; A plays a note, and the square keeps moving while the note sounds.</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LEFT moves the square; A plays a note</a:t>
            </a:r>
            <a:endParaRPr lang="en-US" sz="2400" dirty="0"/>
          </a:p>
        </p:txBody>
      </p:sp>
      <p:pic>
        <p:nvPicPr>
          <p:cNvPr id="7" name="Image 0" descr="/Users/raffaelemontella/devel/riscv-prg32/computer-architecture-with-prg32/tools/assets/lab_l2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l21 --out l21.prg32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keyboard has 104 keys: how many bits does the key code need? How many rows and columns could the matrix have?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page of 8 by 11 inches at 600 dots per inch, one bit per dot: how much memory does the printer need for the bitmap?</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Move a pointer on the PRG32 screen with the joystick, as a mouse would: keep x and y, clamp them to the screen</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Make button A act only once per press (edge detection, Lecture 13)</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score with rectangles, using the transcoder table of Lecture 11</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7 bits, for example 8 by 13; about 4 MB. On PRG32: a pointer that stays on screen and a button that fires once per press.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 the code</dc:title>
  <dc:subject>Lecture 21</dc:subject>
  <dc:creator>Raffaele Montella</dc:creator>
  <cp:lastModifiedBy>Raffaele Montella</cp:lastModifiedBy>
  <cp:revision>1</cp:revision>
  <dcterms:created xsi:type="dcterms:W3CDTF">2026-10-17T07:16:49Z</dcterms:created>
  <dcterms:modified xsi:type="dcterms:W3CDTF">2026-10-17T07:16:49Z</dcterms:modified>
</cp:coreProperties>
</file>