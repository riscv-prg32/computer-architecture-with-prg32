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2ec31e5-ab8e-eccd-edb0-b3d2b2c628b0}">
          <p14:sldIdLst>
            <p14:sldId id="256"/>
            <p14:sldId id="257"/>
          </p14:sldIdLst>
        </p14:section>
        <p14:section name="The listings" id="{e196ea9e-97bd-5c37-8e36-7bb9d2166d77}">
          <p14:sldIdLst>
            <p14:sldId id="258"/>
            <p14:sldId id="259"/>
            <p14:sldId id="260"/>
            <p14:sldId id="261"/>
            <p14:sldId id="262"/>
          </p14:sldIdLst>
        </p14:section>
        <p14:section name="The complete program" id="{d2bee988-9200-c39e-f952-73f59aa6ead3}">
          <p14:sldIdLst>
            <p14:sldId id="263"/>
            <p14:sldId id="264"/>
            <p14:sldId id="265"/>
          </p14:sldIdLst>
        </p14:section>
        <p14:section name="Run it and test it" id="{22d65739-a2cb-5f73-0ce6-cfa3f357c000}">
          <p14:sldIdLst>
            <p14:sldId id="266"/>
            <p14:sldId id="267"/>
            <p14:sldId id="268"/>
            <p14:sldId id="269"/>
            <p14:sldId id="270"/>
          </p14:sldIdLst>
        </p14:section>
        <p14:section name="Exercises" id="{2cd49a21-800f-29dd-a757-f0e258b4897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02.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~/arc12/code/l02.S; tools/tests/cartridges/run.py builds it, runs it on PRG32-QT with scripted input and checks the pixels of the frame.
For the lecturer: Get the code once: git clone https://github.com/riscv-prg32/computer-architecture-with-prg32 ~/arc12. The program of this lecture is ~/arc12/code/l02.S;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program that runs. .option norelax is a line with which every PRG32 example starts: it keeps the layout of the cartridge predictable. .section .text says that code follows. Each .global makes a label visible outside the file, so that the firmware can find the function by name. Then three functions, each made of the single instruction ret, which returns to the caller. The result is a black screen, and it is a success: the framework found your three functions, called them, and got control back.
For the lecturer: Source: labs/05-asm-first-contact/step1_skeleton.S. Expected result: a black screen. The achievement is that the framework found the three functions, called them, and survived.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that you will type hundreds of times. cartridge build turns the assembly file into a cartridge: --entry-prefix first is the prefix of your three functions, --out the name of the result. Then you run it: in QEMU with qemu upload and qemu run, or on a board or PRG32-QT with upload-and-run and the address of the host. For PRG32-QT on your own laptop the address is http://localhost:8080. The cartridge file is the same for all three.
For the lecturer: Source: labs/run.sh. With PRG32_HOME set, the whole sequence is: labs/run.sh 05-asm-first-contact/step1_skeleton.S first . The cartridge file is byte-for-byte the same for QEMU, the board and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step writes on the screen. Read first_draw in three parts. The first two lines make room on the stack and save ra. Then two calls: prg32_gfx_clear with the colour in a0, and prg32_gfx_text8 with five arguments in a0 to a4: x, y, the address of the string, foreground, background. Note the two ways of loading: li loads a number, la loads the address of a label. The last three lines restore ra, release the stack and return. The string itself is data, in the section .rodata.
For the lecturer: Source: labs/05-asm-first-contact/step2_hello.S. The .equ lines (BLACK 0x0000, WHITE 0xffff) are omitted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 keeps a value from one frame to the next. Registers do not survive between calls of update, so the value must live in memory. counter is a label: it names a location in the section .data that holds one word. The four instructions are the pattern of every variable: la puts the address of the location in t0; lw loads the value into t1; addi changes it; sw stores it back. Load, modify, store. Nothing changes on the screen yet: the counter ticks, but nobody draws it.
For the lecturer: Source: labs/05-asm-first-contact/step3_counter.S. Nothing visible changes yet: the counter ticks but nobody draws it. Ask the class how they could prove that it is ticking (answer: the debugger of PRG32-QT, or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step makes the counter visible as a green bar. The value is loaded, and andi a2, t1, 255 keeps only its low eight bits, so the width goes from 0 to 255 and then starts again. The other registers are the arguments of prg32_gfx_rect: x, y, width, height and colour. Eight lines, and three later lectures are hidden in them: 255 written as 0xFF, andi used as a mask, and 0x07e0 that means green. Remember where you first saw them.
For the lecturer: Source: labs/05-asm-first-contact/step4_bar.S (the lines added to first_draw). Three future lectures hide in these eight lines: 255 = 0xFF (positional notation), andi as a bit mask (Boolean algebra), 0x07e0 as a colour (information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code/l02.S,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code/l02.S,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code/l02.S,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on your own cartridge; each is the seed of a later lecture. Change the text and its colour. Make the bar grow two or four times as fast by changing one instruction. Make it shrink, and observe what happens when the counter passes zero: the bar jumps to its full width, and Lecture 05 will explain why. Single-step first_update and write down the registers. Draw a second bar whose width is the counter modulo 64. Predict first, then run.
For the lecturer: Hints: addi t1, t1, 2 or slli before andi for exercise 2; addi t1, t1, -1 for exercise 3; andi a2, t1, 63 for exercise 5. Each exercise is a seed for a later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02: First contact with RISC-V assembly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First Contact: RISC-V Assembly on PRG32: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lab1_step4_bar.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5 listings of Lecture 02,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code/l02.S, 60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1: the smallest program that runs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Assembly Lab 1: the smallest program that runs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.option norelax keeps the layout of the cartridge predictable: every PRG32 example starts with 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.section .text says that what follows is executable code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.global makes a label visible to the firmware, which finds your functions by name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ret returns to the caller: three functions that do nothing, correctly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it, run it</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a portable cartridge from one assembly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step1_skeleton.S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first --name step1 --out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2a. run it in QEMU on your laptop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upload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run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2b. or send it to a board, or to PRG32-QT, over the network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build/step1.prg32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http://192.168.4.1 --slot cart0</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2: say hello</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first_draw: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prologue: a 16-byte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       </a:t>
            </a:r>
            <a:pPr indent="0" marL="0">
              <a:buNone/>
            </a:pPr>
            <a:r>
              <a:rPr lang="en-US" sz="1350" dirty="0">
                <a:solidFill>
                  <a:srgbClr val="8FB3A0"/>
                </a:solidFill>
                <a:latin typeface="Courier New" pitchFamily="34" charset="0"/>
                <a:ea typeface="Courier New" pitchFamily="34" charset="-122"/>
                <a:cs typeface="Courier New" pitchFamily="34" charset="-120"/>
              </a:rPr>
              <a:t># save the return address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32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40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a2, title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the string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WHITE        </a:t>
            </a:r>
            <a:pPr indent="0" marL="0">
              <a:buNone/>
            </a:pPr>
            <a:r>
              <a:rPr lang="en-US" sz="1350" dirty="0">
                <a:solidFill>
                  <a:srgbClr val="8FB3A0"/>
                </a:solidFill>
                <a:latin typeface="Courier New" pitchFamily="34" charset="0"/>
                <a:ea typeface="Courier New" pitchFamily="34" charset="-122"/>
                <a:cs typeface="Courier New" pitchFamily="34" charset="-120"/>
              </a:rPr>
              <a:t># foreground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BLACK        </a:t>
            </a:r>
            <a:pPr indent="0" marL="0">
              <a:buNone/>
            </a:pPr>
            <a:r>
              <a:rPr lang="en-US" sz="1350" dirty="0">
                <a:solidFill>
                  <a:srgbClr val="8FB3A0"/>
                </a:solidFill>
                <a:latin typeface="Courier New" pitchFamily="34" charset="0"/>
                <a:ea typeface="Courier New" pitchFamily="34" charset="-122"/>
                <a:cs typeface="Courier New" pitchFamily="34" charset="-120"/>
              </a:rPr>
              <a:t># background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prg32_gfx_text8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epilogue: restore ra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release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.rodata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.asciz "HELLO PRG32"</a:t>
            </a:r>
            <a:endParaRPr lang="en-US" sz="13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2_hello.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argument goes in a0, the second in a1, and so on. li loads a number; la loads the address of a label.</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3: a value that survives between frames</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A leaf function: it calls nothing,</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so it needs no stack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counter      </a:t>
            </a:r>
            <a:pPr indent="0" marL="0">
              <a:buNone/>
            </a:pPr>
            <a:r>
              <a:rPr lang="en-US" sz="1400" dirty="0">
                <a:solidFill>
                  <a:srgbClr val="8FB3A0"/>
                </a:solidFill>
                <a:latin typeface="Courier New" pitchFamily="34" charset="0"/>
                <a:ea typeface="Courier New" pitchFamily="34" charset="-122"/>
                <a:cs typeface="Courier New" pitchFamily="34" charset="-120"/>
              </a:rPr>
              <a:t># t0 = ADDRESS of counter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t1 = VALUE stored there   (load)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        </a:t>
            </a:r>
            <a:pPr indent="0" marL="0">
              <a:buNone/>
            </a:pPr>
            <a:r>
              <a:rPr lang="en-US" sz="1400" dirty="0">
                <a:solidFill>
                  <a:srgbClr val="8FB3A0"/>
                </a:solidFill>
                <a:latin typeface="Courier New" pitchFamily="34" charset="0"/>
                <a:ea typeface="Courier New" pitchFamily="34" charset="-122"/>
                <a:cs typeface="Courier New" pitchFamily="34" charset="-120"/>
              </a:rPr>
              <a:t># one tick per frame        (modify)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write it back             (store)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counter: .word 0</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counter is a label: it names a location in memory, in the .data section, holding one 32-bit word</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puts the ADDRESS of that location in t0</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reads the VALUE at that address into t1; sw writes it back</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processor computes only in registers: load, modify, store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Step 4: make the counter visible</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la   t0, counter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a2, t1, 255      </a:t>
            </a:r>
            <a:pPr indent="0" marL="0">
              <a:buNone/>
            </a:pPr>
            <a:r>
              <a:rPr lang="en-US" sz="1450" dirty="0">
                <a:solidFill>
                  <a:srgbClr val="8FB3A0"/>
                </a:solidFill>
                <a:latin typeface="Courier New" pitchFamily="34" charset="0"/>
                <a:ea typeface="Courier New" pitchFamily="34" charset="-122"/>
                <a:cs typeface="Courier New" pitchFamily="34" charset="-120"/>
              </a:rPr>
              <a:t># width = counter modulo 256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32           </a:t>
            </a:r>
            <a:pPr indent="0" marL="0">
              <a:buNone/>
            </a:pPr>
            <a:r>
              <a:rPr lang="en-US" sz="1450" dirty="0">
                <a:solidFill>
                  <a:srgbClr val="8FB3A0"/>
                </a:solidFill>
                <a:latin typeface="Courier New" pitchFamily="34" charset="0"/>
                <a:ea typeface="Courier New" pitchFamily="34" charset="-122"/>
                <a:cs typeface="Courier New" pitchFamily="34" charset="-120"/>
              </a:rPr>
              <a:t># 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60           </a:t>
            </a:r>
            <a:pPr indent="0" marL="0">
              <a:buNone/>
            </a:pPr>
            <a:r>
              <a:rPr lang="en-US" sz="1450" dirty="0">
                <a:solidFill>
                  <a:srgbClr val="8FB3A0"/>
                </a:solidFill>
                <a:latin typeface="Courier New" pitchFamily="34" charset="0"/>
                <a:ea typeface="Courier New" pitchFamily="34" charset="-122"/>
                <a:cs typeface="Courier New" pitchFamily="34" charset="-120"/>
              </a:rPr>
              <a:t># 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8            </a:t>
            </a:r>
            <a:pPr indent="0" marL="0">
              <a:buNone/>
            </a:pPr>
            <a:r>
              <a:rPr lang="en-US" sz="1450" dirty="0">
                <a:solidFill>
                  <a:srgbClr val="8FB3A0"/>
                </a:solidFill>
                <a:latin typeface="Courier New" pitchFamily="34" charset="0"/>
                <a:ea typeface="Courier New" pitchFamily="34" charset="-122"/>
                <a:cs typeface="Courier New" pitchFamily="34" charset="-120"/>
              </a:rPr>
              <a:t># height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a4, GREEN        </a:t>
            </a:r>
            <a:pPr indent="0" marL="0">
              <a:buNone/>
            </a:pPr>
            <a:r>
              <a:rPr lang="en-US" sz="1450" dirty="0">
                <a:solidFill>
                  <a:srgbClr val="8FB3A0"/>
                </a:solidFill>
                <a:latin typeface="Courier New" pitchFamily="34" charset="0"/>
                <a:ea typeface="Courier New" pitchFamily="34" charset="-122"/>
                <a:cs typeface="Courier New" pitchFamily="34" charset="-120"/>
              </a:rPr>
              <a:t># .equ GREEN, 0x07e0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4_bar.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Screenshot: this step, built and run on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bar grows from 0 to 255 pixels, then starts again. andi with 255 keeps only the low eight bits of the counter.</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l02.S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02: First Contact: RISC-V Assembly on PRG32</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l02.S: the four steps of the lecture in one file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HELLO PRG32 and, under it, a green bar that grows by one pixel per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frame and starts again at 256.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l02.S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first --name first --out first.prg32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WHITE,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GREEN, 0x07e0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first_init:                  </a:t>
            </a:r>
            <a:pPr indent="0" marL="0">
              <a:buNone/>
            </a:pPr>
            <a:r>
              <a:rPr lang="en-US" sz="1400" dirty="0">
                <a:solidFill>
                  <a:srgbClr val="8FB3A0"/>
                </a:solidFill>
                <a:latin typeface="Courier New" pitchFamily="34" charset="0"/>
                <a:ea typeface="Courier New" pitchFamily="34" charset="-122"/>
                <a:cs typeface="Courier New" pitchFamily="34" charset="-120"/>
              </a:rPr>
              <a:t># step 1: a function that returns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l02.S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first_update:                </a:t>
            </a:r>
            <a:pPr indent="0" marL="0">
              <a:buNone/>
            </a:pPr>
            <a:r>
              <a:rPr lang="en-US" sz="1500" dirty="0">
                <a:solidFill>
                  <a:srgbClr val="8FB3A0"/>
                </a:solidFill>
                <a:latin typeface="Courier New" pitchFamily="34" charset="0"/>
                <a:ea typeface="Courier New" pitchFamily="34" charset="-122"/>
                <a:cs typeface="Courier New" pitchFamily="34" charset="-120"/>
              </a:rPr>
              <a:t># step 3: a value that survives between frames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pPr indent="0" marL="0">
              <a:buNone/>
            </a:pPr>
            <a:r>
              <a:rPr lang="en-US" sz="1500" dirty="0">
                <a:solidFill>
                  <a:srgbClr val="8FB3A0"/>
                </a:solidFill>
                <a:latin typeface="Courier New" pitchFamily="34" charset="0"/>
                <a:ea typeface="Courier New" pitchFamily="34" charset="-122"/>
                <a:cs typeface="Courier New" pitchFamily="34" charset="-120"/>
              </a:rPr>
              <a:t># A leaf function: it calls nothing, so it needs no stack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t0 = ADDRESS of counter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VALUE stored there   (load)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1           </a:t>
            </a:r>
            <a:pPr indent="0" marL="0">
              <a:buNone/>
            </a:pPr>
            <a:r>
              <a:rPr lang="en-US" sz="1500" dirty="0">
                <a:solidFill>
                  <a:srgbClr val="8FB3A0"/>
                </a:solidFill>
                <a:latin typeface="Courier New" pitchFamily="34" charset="0"/>
                <a:ea typeface="Courier New" pitchFamily="34" charset="-122"/>
                <a:cs typeface="Courier New" pitchFamily="34" charset="-120"/>
              </a:rPr>
              <a:t># one tick per frame        (modify)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write it back             (store)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first_draw:                  </a:t>
            </a:r>
            <a:pPr indent="0" marL="0">
              <a:buNone/>
            </a:pPr>
            <a:r>
              <a:rPr lang="en-US" sz="1500" dirty="0">
                <a:solidFill>
                  <a:srgbClr val="8FB3A0"/>
                </a:solidFill>
                <a:latin typeface="Courier New" pitchFamily="34" charset="0"/>
                <a:ea typeface="Courier New" pitchFamily="34" charset="-122"/>
                <a:cs typeface="Courier New" pitchFamily="34" charset="-120"/>
              </a:rPr>
              <a:t># step 2: say hello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prologue: a 16-byte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          </a:t>
            </a:r>
            <a:pPr indent="0" marL="0">
              <a:buNone/>
            </a:pPr>
            <a:r>
              <a:rPr lang="en-US" sz="1500" dirty="0">
                <a:solidFill>
                  <a:srgbClr val="8FB3A0"/>
                </a:solidFill>
                <a:latin typeface="Courier New" pitchFamily="34" charset="0"/>
                <a:ea typeface="Courier New" pitchFamily="34" charset="-122"/>
                <a:cs typeface="Courier New" pitchFamily="34" charset="-120"/>
              </a:rPr>
              <a:t># save the return address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40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           </a:t>
            </a:r>
            <a:pPr indent="0" marL="0">
              <a:buNone/>
            </a:pPr>
            <a:r>
              <a:rPr lang="en-US" sz="1500" dirty="0">
                <a:solidFill>
                  <a:srgbClr val="8FB3A0"/>
                </a:solidFill>
                <a:latin typeface="Courier New" pitchFamily="34" charset="0"/>
                <a:ea typeface="Courier New" pitchFamily="34" charset="-122"/>
                <a:cs typeface="Courier New" pitchFamily="34" charset="-120"/>
              </a:rPr>
              <a:t># address of the string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WHITE           </a:t>
            </a:r>
            <a:pPr indent="0" marL="0">
              <a:buNone/>
            </a:pPr>
            <a:r>
              <a:rPr lang="en-US" sz="1500" dirty="0">
                <a:solidFill>
                  <a:srgbClr val="8FB3A0"/>
                </a:solidFill>
                <a:latin typeface="Courier New" pitchFamily="34" charset="0"/>
                <a:ea typeface="Courier New" pitchFamily="34" charset="-122"/>
                <a:cs typeface="Courier New" pitchFamily="34" charset="-120"/>
              </a:rPr>
              <a:t># foreground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BLACK           </a:t>
            </a:r>
            <a:pPr indent="0" marL="0">
              <a:buNone/>
            </a:pPr>
            <a:r>
              <a:rPr lang="en-US" sz="1500" dirty="0">
                <a:solidFill>
                  <a:srgbClr val="8FB3A0"/>
                </a:solidFill>
                <a:latin typeface="Courier New" pitchFamily="34" charset="0"/>
                <a:ea typeface="Courier New" pitchFamily="34" charset="-122"/>
                <a:cs typeface="Courier New" pitchFamily="34" charset="-120"/>
              </a:rPr>
              <a:t># background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prg32_gfx_text8</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l02.S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step 4: make the counter visible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a2, t1, 255         </a:t>
            </a:r>
            <a:pPr indent="0" marL="0">
              <a:buNone/>
            </a:pPr>
            <a:r>
              <a:rPr lang="en-US" sz="1500" dirty="0">
                <a:solidFill>
                  <a:srgbClr val="8FB3A0"/>
                </a:solidFill>
                <a:latin typeface="Courier New" pitchFamily="34" charset="0"/>
                <a:ea typeface="Courier New" pitchFamily="34" charset="-122"/>
                <a:cs typeface="Courier New" pitchFamily="34" charset="-120"/>
              </a:rPr>
              <a:t># width = counter modulo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60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8               </a:t>
            </a:r>
            <a:pPr indent="0" marL="0">
              <a:buNone/>
            </a:pPr>
            <a:r>
              <a:rPr lang="en-US" sz="1500" dirty="0">
                <a:solidFill>
                  <a:srgbClr val="8FB3A0"/>
                </a:solidFill>
                <a:latin typeface="Courier New" pitchFamily="34" charset="0"/>
                <a:ea typeface="Courier New" pitchFamily="34" charset="-122"/>
                <a:cs typeface="Courier New" pitchFamily="34" charset="-120"/>
              </a:rPr>
              <a:t># height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GREEN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prg32_gfx_rect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ra, 12(sp)          </a:t>
            </a:r>
            <a:pPr indent="0" marL="0">
              <a:buNone/>
            </a:pPr>
            <a:r>
              <a:rPr lang="en-US" sz="1500" dirty="0">
                <a:solidFill>
                  <a:srgbClr val="8FB3A0"/>
                </a:solidFill>
                <a:latin typeface="Courier New" pitchFamily="34" charset="0"/>
                <a:ea typeface="Courier New" pitchFamily="34" charset="-122"/>
                <a:cs typeface="Courier New" pitchFamily="34" charset="-120"/>
              </a:rPr>
              <a:t># epilogue: restore ra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release the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.asciz "HELLO 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counter: .word 0</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HELLO PRG32 and, under it, a green bar that grows by one pixel per frame and starts again at 256.</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l02 --out l02.prg32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first;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on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Change the title string and its colour to yellow (0xffe0); run it again</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Make the bar grow twice as fast, then four times as fast, changing one instruction only</a:t>
            </a:r>
            <a:endParaRPr lang="en-US" sz="2200" dirty="0"/>
          </a:p>
        </p:txBody>
      </p:sp>
      <p:sp>
        <p:nvSpPr>
          <p:cNvPr id="8" name="Text 6"/>
          <p:cNvSpPr txBox="1"/>
          <p:nvPr/>
        </p:nvSpPr>
        <p:spPr>
          <a:xfrm>
            <a:off x="548640" y="28321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1381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Make the bar shrink instead of grow. What happens when the counter passes zero?</a:t>
            </a:r>
            <a:endParaRPr lang="en-US" sz="2200" dirty="0"/>
          </a:p>
        </p:txBody>
      </p:sp>
      <p:sp>
        <p:nvSpPr>
          <p:cNvPr id="10" name="Text 8"/>
          <p:cNvSpPr txBox="1"/>
          <p:nvPr/>
        </p:nvSpPr>
        <p:spPr>
          <a:xfrm>
            <a:off x="548640" y="365175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3347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single-step first_update and write down t0 and t1 after each instruction</a:t>
            </a:r>
            <a:endParaRPr lang="en-US" sz="22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Draw a second bar, in red, whose width is the counter modulo 64</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For exercise 3 the counter goes 0, then 0xFFFFFFFF: with andi 255 the bar jumps to 255 and shrinks. Keep the observation: Lecture 05 explains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First Contact: RISC-V Assembly on PRG32: the code</dc:title>
  <dc:subject>Lecture 02</dc:subject>
  <dc:creator>Raffaele Montella</dc:creator>
  <cp:lastModifiedBy>Raffaele Montella</cp:lastModifiedBy>
  <cp:revision>1</cp:revision>
  <dcterms:created xsi:type="dcterms:W3CDTF">2026-10-13T08:56:23Z</dcterms:created>
  <dcterms:modified xsi:type="dcterms:W3CDTF">2026-10-13T08:56:23Z</dcterms:modified>
</cp:coreProperties>
</file>