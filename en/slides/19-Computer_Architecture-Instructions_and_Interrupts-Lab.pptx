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54da010-a622-3ce0-38f0-6c6b0ce05e6a}">
          <p14:sldIdLst>
            <p14:sldId id="256"/>
            <p14:sldId id="257"/>
          </p14:sldIdLst>
        </p14:section>
        <p14:section name="Warm-up on the machine" id="{a0791e8d-1995-fb4d-b6ce-b95a444a1cb6}">
          <p14:sldIdLst>
            <p14:sldId id="258"/>
          </p14:sldIdLst>
        </p14:section>
        <p14:section name="Instructions" id="{72a57132-8abe-be84-8fd6-5c7c0fd22586}">
          <p14:sldIdLst>
            <p14:sldId id="259"/>
          </p14:sldIdLst>
        </p14:section>
        <p14:section name="The processor cycle" id="{09f97f40-26b9-a1e2-9c40-be8a2fbf44ef}">
          <p14:sldIdLst>
            <p14:sldId id="260"/>
            <p14:sldId id="261"/>
          </p14:sldIdLst>
        </p14:section>
        <p14:section name="The RISC-V solution" id="{9ac0631f-faf8-47a0-1498-8bdf625b9dc3}">
          <p14:sldIdLst>
            <p14:sldId id="262"/>
          </p14:sldIdLst>
        </p14:section>
        <p14:section name="The complete program" id="{2d08216d-b47f-973b-ec38-7b4054e7ac6d}">
          <p14:sldIdLst>
            <p14:sldId id="263"/>
            <p14:sldId id="264"/>
            <p14:sldId id="265"/>
            <p14:sldId id="266"/>
            <p14:sldId id="267"/>
            <p14:sldId id="268"/>
          </p14:sldIdLst>
        </p14:section>
        <p14:section name="Run it and test it" id="{4bbbb1ac-b1c5-f313-5cdb-f31209012f63}">
          <p14:sldIdLst>
            <p14:sldId id="269"/>
            <p14:sldId id="270"/>
            <p14:sldId id="271"/>
            <p14:sldId id="272"/>
            <p14:sldId id="273"/>
          </p14:sldIdLst>
        </p14:section>
        <p14:section name="Exercises" id="{2dbba7e8-21f9-6883-2dc0-443bf29a7809}">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19.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instruction formats; addressing modes; the processor cycle; interrupts and traps. USE NOW: the complete program, the PRG32 tools (used, not studied, in this course). UNDERSTAND LATER: nothing. A slide without a badge is context: a story, an example, a question, an exercise.
Roadmap. Today's outcomes: (1) decode a RISC-V instruction into its fields; (2) name the addressing mode of each operand; (3) describe the instruction cycle and what an interrupt changes. Builds on: only what Lecture 01 set up. Next: Lecture 20, Buses and the Video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~/arc12/code/l19.S; tools/tests/cartridges/run.py builds it, runs it on PRG32-QT with scripted input and checks the pixels of the frame.
For the lecturer: Get the code once: git clone https://github.com/riscv-prg32/computer-architecture-with-prg32 ~/arc12. The program of this lecture is ~/arc12/code/l19.S;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warm-up: four words of memory, four addresses apart, which together constitute first_update, the function of Lecture 02 that increments a counter. On the left are the addresses, in the centre the machine code, on the right the source as written. The processor possesses only the central column. Three questions organise the lecture. How does it know that the first word is a load and the second an addition? Which steps does it take to execute each? And while executing them, how does it notice that a button has been pressed or a timer has expired?
UNDERSTAND NOW: instruction formats.
For the lecturer: The la that precedes these instructions is omitted, and the encodings are the uncompressed 32-bit ones: with the C extension the assembler may choose 16-bit forms for some of them. Addresses are relative to the start of the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instructions decoded by hand. The eight hexadecimal digits are written in binary; the last seven bits, the opcode, are separated first, since they determine the format; the remaining fields are then separated accordingly. For 0x006283B3 the opcode indicates a register-to-register operation, the fields give x7, x5 and x6, and funct3 with funct7 select addition: add t2, t0, t1. For 0x0002A303 the opcode indicates a load, the immediate is 0, the base x5 and the destination x6: lw t1, 0(t0). The exercise should be done once with pencil and paper; it is the inverse of the assembler's work.
UNDERSTAND NOW: instruction formats.
For the lecturer: Method: write the eight hexadecimal digits in binary, cut off the last seven bits (the opcode), look up the format, then cut the fields. The decoders of Lecture 11 do the same thing in a fraction of a nanosecond.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fetch phase expressed as four register transfers, using the registers of the reference model of Lecture 18. The content of the PC goes to MA, the memory address register. Memory is read, and the word arrives in MB, the buffer register. The word is copied into D, the decoding register. The PC is incremented by 4, because an instruction occupies four bytes, so that it points to the next instruction. Each row is a transfer on the internal bus, commanded by the control unit.
UNDERSTAND NOW: the processor cycle.
For the lecturer: Fase fetch. PC, D, MA and MB are the registers of the reference model of Lecture 18; the transfers travel on the internal bus. In the original deck the machine had 16-bit words and the PC advanced by 2; in RV32 a word is four bytes, so the PC advances by 4 (by 2 after a compressed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remaining four phases, side by side for two instructions. For add, decoding reads the two registers into the ALU operand registers, execution adds them, the memory phase is skipped, and the sum is written into t2. For lw, the second operand is the immediate, the sum is an address, the memory phase reads the word at that address, and the word read is written into t1. The same adder serves both instructions; only the commands issued by the control unit differ. The economy of the datapath rests on this sharing.
UNDERSTAND NOW: the processor cycle.
For the lecturer: O1, O2 and U are the registers of the ALU. The same adder computes a sum for add and an address for lw: only the control signals differ. A store ends at the memory phase; a branch ends at execute, by choosing the next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trap handler in outline. It reserves space on the stack and saves the registers it will use, the software part of the context. It reads mcause with csrr and tests its sign: the top bit is the sign bit, so bgez separates exceptions from interrupts in one instruction. After serving the event it restores the registers, releases the stack and executes mret. The interrupted program must observe nothing: a single register left modified here produces an error that appears at random, anywhere, which makes the discipline of saving the context non-negotiable. A production handler saves every caller-saved register, usually on a separate stack reached through mscratch.
UNDERSTAND NOW: interrupts and traps.
For the lecturer: An outline, not the PRG32 source: a real handler saves all the caller-saved registers, usually on a separate stack reached through mscratch. csrr t0, mcause is the pseudo-instruction for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code/l19.S,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Decode two words by hand, giving format, fields and assembly. Encode sub t0, t1, t2 and sw a0, 8(sp), following the inverse path. Write the register transfers of the complete cycle for a store and for a branch. Draw the pipeline diagram of six instructions on four stages and determine in which cycle the sixth completes. And in PRG32-QT, halt in first_update, single-step, and compare the machine code displayed with one's own decoding of the warm-up.
For the lecturer: 0x00A28293: imm 10, rs1 x5, funct3 000, rd x5, opcode 0010011. 0x40628333: funct7 0100000, rs2 x6, rs1 x5, funct3 000, rd x6, opcode 0110011. sub t0, t1, t2 = 0x407302B3. sw a0, 8(sp) = 0x00A12423. Six instructions on four stages complete at cycle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19: Instructions and interrupts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Instructions and Interrupts: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19-Computer_Architecture-Instructions_and_Interrupts.pptx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19,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code/l19.S, 112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words in memory</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address     machine code     what you wrote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0x000       0x0002A303       lw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0x004       0x00130313       addi t1, t1,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0x008       0x0062A023       sw   t1,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0x00C       0x00008067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This is first_update of Lecture 02 as it sits in memory: four numbers, four addresses apart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How does the processor know that the first is a load and the second an addition?</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Which steps does it take for each of them?</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And while it runs them, how does it notice that a button was pressed or a timer expired?</a:t>
            </a:r>
            <a:endParaRPr lang="en-US" sz="1200" dirty="0"/>
          </a:p>
        </p:txBody>
      </p:sp>
      <p:sp>
        <p:nvSpPr>
          <p:cNvPr id="17" name="Shape 15"/>
          <p:cNvSpPr/>
          <p:nvPr/>
        </p:nvSpPr>
        <p:spPr>
          <a:xfrm>
            <a:off x="8419033" y="91440"/>
            <a:ext cx="3224022" cy="274320"/>
          </a:xfrm>
          <a:prstGeom prst="rect">
            <a:avLst/>
          </a:prstGeom>
          <a:solidFill>
            <a:srgbClr val="E0F2FE"/>
          </a:solidFill>
          <a:ln w="12700">
            <a:solidFill>
              <a:srgbClr val="0369A1"/>
            </a:solidFill>
            <a:prstDash val="solid"/>
          </a:ln>
        </p:spPr>
      </p:sp>
      <p:sp>
        <p:nvSpPr>
          <p:cNvPr id="18" name="Shape 16"/>
          <p:cNvSpPr/>
          <p:nvPr/>
        </p:nvSpPr>
        <p:spPr>
          <a:xfrm>
            <a:off x="841903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20" name="Text 17"/>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Decoding by hand</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not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register-register</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offset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 word</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8419033" y="91440"/>
            <a:ext cx="3224022" cy="274320"/>
          </a:xfrm>
          <a:prstGeom prst="rect">
            <a:avLst/>
          </a:prstGeom>
          <a:solidFill>
            <a:srgbClr val="E0F2FE"/>
          </a:solidFill>
          <a:ln w="12700">
            <a:solidFill>
              <a:srgbClr val="0369A1"/>
            </a:solidFill>
            <a:prstDash val="solid"/>
          </a:ln>
        </p:spPr>
      </p:sp>
      <p:sp>
        <p:nvSpPr>
          <p:cNvPr id="52" name="Shape 50"/>
          <p:cNvSpPr/>
          <p:nvPr/>
        </p:nvSpPr>
        <p:spPr>
          <a:xfrm>
            <a:off x="8419033"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54" name="Text 51"/>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instruction formats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fetch phase, transfer by transfer</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Step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Register transfer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Meaning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address of the instruction goes to the memory address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read enable;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memory puts the instruction on the data bus; it is latched in the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instruction is copied into the decoding register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PC now points to the next instruction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419033" y="91440"/>
            <a:ext cx="3224022" cy="274320"/>
          </a:xfrm>
          <a:prstGeom prst="rect">
            <a:avLst/>
          </a:prstGeom>
          <a:solidFill>
            <a:srgbClr val="E0F2FE"/>
          </a:solidFill>
          <a:ln w="12700">
            <a:solidFill>
              <a:srgbClr val="0369A1"/>
            </a:solidFill>
            <a:prstDash val="solid"/>
          </a:ln>
        </p:spPr>
      </p:sp>
      <p:sp>
        <p:nvSpPr>
          <p:cNvPr id="5" name="Shape 2"/>
          <p:cNvSpPr/>
          <p:nvPr/>
        </p:nvSpPr>
        <p:spPr>
          <a:xfrm>
            <a:off x="841903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7" name="Text 3"/>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rest of the cycle for two instructions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Phase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(the immediate)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execute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(an address)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read enable;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write back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The same ALU adds two registers for add and forms an address for lw. The control unit, by decoding the opcode, decides which transfers happen.</a:t>
            </a:r>
            <a:endParaRPr lang="en-US" sz="1300" dirty="0"/>
          </a:p>
        </p:txBody>
      </p:sp>
      <p:sp>
        <p:nvSpPr>
          <p:cNvPr id="5" name="Shape 2"/>
          <p:cNvSpPr/>
          <p:nvPr/>
        </p:nvSpPr>
        <p:spPr>
          <a:xfrm>
            <a:off x="8419033" y="91440"/>
            <a:ext cx="3224022" cy="274320"/>
          </a:xfrm>
          <a:prstGeom prst="rect">
            <a:avLst/>
          </a:prstGeom>
          <a:solidFill>
            <a:srgbClr val="E0F2FE"/>
          </a:solidFill>
          <a:ln w="12700">
            <a:solidFill>
              <a:srgbClr val="0369A1"/>
            </a:solidFill>
            <a:prstDash val="solid"/>
          </a:ln>
        </p:spPr>
      </p:sp>
      <p:sp>
        <p:nvSpPr>
          <p:cNvPr id="6" name="Shape 3"/>
          <p:cNvSpPr/>
          <p:nvPr/>
        </p:nvSpPr>
        <p:spPr>
          <a:xfrm>
            <a:off x="8419033"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547049" y="128016"/>
            <a:ext cx="201168" cy="201168"/>
          </a:xfrm>
          <a:prstGeom prst="rect">
            <a:avLst/>
          </a:prstGeom>
        </p:spPr>
      </p:pic>
      <p:sp>
        <p:nvSpPr>
          <p:cNvPr id="8" name="Text 4"/>
          <p:cNvSpPr txBox="1"/>
          <p:nvPr/>
        </p:nvSpPr>
        <p:spPr>
          <a:xfrm>
            <a:off x="8803081" y="91440"/>
            <a:ext cx="280339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processor cycle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trap handler, in outline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interrupted program must not notice: every register the handler touches is saved and restored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read as a signed number is negative for interrupts: bgez separates the two families</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is the only way back: it re-enables interrupts and reloads the PC in one step</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of the kit contains exactly such a routine; your cartridge is interrupted many times per frame</a:t>
            </a:r>
            <a:endParaRPr lang="en-US" sz="1200" dirty="0"/>
          </a:p>
        </p:txBody>
      </p:sp>
      <p:sp>
        <p:nvSpPr>
          <p:cNvPr id="17" name="Shape 15"/>
          <p:cNvSpPr/>
          <p:nvPr/>
        </p:nvSpPr>
        <p:spPr>
          <a:xfrm>
            <a:off x="8353374" y="91440"/>
            <a:ext cx="3289681" cy="274320"/>
          </a:xfrm>
          <a:prstGeom prst="rect">
            <a:avLst/>
          </a:prstGeom>
          <a:solidFill>
            <a:srgbClr val="E0F2FE"/>
          </a:solidFill>
          <a:ln w="12700">
            <a:solidFill>
              <a:srgbClr val="0369A1"/>
            </a:solidFill>
            <a:prstDash val="solid"/>
          </a:ln>
        </p:spPr>
      </p:sp>
      <p:sp>
        <p:nvSpPr>
          <p:cNvPr id="18" name="Shape 16"/>
          <p:cNvSpPr/>
          <p:nvPr/>
        </p:nvSpPr>
        <p:spPr>
          <a:xfrm>
            <a:off x="8353374"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20" name="Text 17"/>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interrupts and traps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l19.S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four rows of 32 lamps, the machine code of lw t1, 0(t0) / addi t1, t1, 1 / sw t1, 0(t0) / ret, and beside each a green square: the word in memory is the one decoded by hand in the lecture.</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Decode 0x00A28293 and 0x40628333 by hand: format, fields, assembly</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sub t0, t1, t2 and sw a0, 8(sp)</a:t>
            </a:r>
            <a:endParaRPr lang="en-US" sz="2200" dirty="0"/>
          </a:p>
        </p:txBody>
      </p:sp>
      <p:sp>
        <p:nvSpPr>
          <p:cNvPr id="8" name="Text 6"/>
          <p:cNvSpPr txBox="1"/>
          <p:nvPr/>
        </p:nvSpPr>
        <p:spPr>
          <a:xfrm>
            <a:off x="548640" y="25892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5709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Write the register transfers of the whole cycle for sw t1, 0(t0) and for beq t0, t1, target</a:t>
            </a:r>
            <a:endParaRPr lang="en-US" sz="2200" dirty="0"/>
          </a:p>
        </p:txBody>
      </p:sp>
      <p:sp>
        <p:nvSpPr>
          <p:cNvPr id="10" name="Text 8"/>
          <p:cNvSpPr txBox="1"/>
          <p:nvPr/>
        </p:nvSpPr>
        <p:spPr>
          <a:xfrm>
            <a:off x="548640" y="340893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39064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pipeline diagram for six instructions on a four-stage pipeline: when does the sixth complete?</a:t>
            </a:r>
            <a:endParaRPr lang="en-US" sz="2200" dirty="0"/>
          </a:p>
        </p:txBody>
      </p:sp>
      <p:sp>
        <p:nvSpPr>
          <p:cNvPr id="12" name="Text 10"/>
          <p:cNvSpPr txBox="1"/>
          <p:nvPr/>
        </p:nvSpPr>
        <p:spPr>
          <a:xfrm>
            <a:off x="548640" y="4228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10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set a breakpoint in first_update, step, and compare the machine code shown with your decoding of the warm-up</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addi t0, t0, 10 and sub t1, t0, t1. On PRG32-QT: the four words of the warm-up, or their compressed equivalents.</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Instructions and Interrupts: the code</dc:title>
  <dc:subject>Lecture 19</dc:subject>
  <dc:creator>Raffaele Montella</dc:creator>
  <cp:lastModifiedBy>Raffaele Montella</cp:lastModifiedBy>
  <cp:revision>1</cp:revision>
  <dcterms:created xsi:type="dcterms:W3CDTF">2026-10-17T07:16:49Z</dcterms:created>
  <dcterms:modified xsi:type="dcterms:W3CDTF">2026-10-17T07:16:49Z</dcterms:modified>
</cp:coreProperties>
</file>