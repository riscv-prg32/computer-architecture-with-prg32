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c171d9e3-51bc-5a7f-b337-cd1867bdaae9}">
          <p14:sldIdLst>
            <p14:sldId id="256"/>
            <p14:sldId id="257"/>
            <p14:sldId id="258"/>
          </p14:sldIdLst>
        </p14:section>
        <p14:section name="A new approach" id="{ecc87036-c6c8-1bea-2bbb-897af1c2ab65}">
          <p14:sldIdLst>
            <p14:sldId id="259"/>
            <p14:sldId id="260"/>
            <p14:sldId id="261"/>
          </p14:sldIdLst>
        </p14:section>
        <p14:section name="PRG32 and RISC-V" id="{caabb1ee-adcb-ce16-ec3a-8d596d8d3c95}">
          <p14:sldIdLst>
            <p14:sldId id="262"/>
            <p14:sldId id="263"/>
            <p14:sldId id="264"/>
            <p14:sldId id="265"/>
          </p14:sldIdLst>
        </p14:section>
        <p14:section name="The course project: Verm1" id="{d66ee13d-e8ac-e382-99fb-af2bc8aae5f4}">
          <p14:sldIdLst>
            <p14:sldId id="266"/>
            <p14:sldId id="267"/>
            <p14:sldId id="268"/>
          </p14:sldIdLst>
        </p14:section>
        <p14:section name="Organisation and assessment" id="{95250fc2-9ba7-87b6-a901-c54c43931548}">
          <p14:sldIdLst>
            <p14:sldId id="269"/>
            <p14:sldId id="270"/>
            <p14:sldId id="271"/>
            <p14:sldId id="272"/>
            <p14:sldId id="273"/>
          </p14:sldIdLst>
        </p14:section>
        <p14:section name="Material and first contact" id="{634f3276-3c8c-e307-1bbb-809c633d6269}">
          <p14:sldIdLst>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first lecture teaches no technical topic. It sets out how the course works: its method, the machine on which every idea is tried, the project that runs through the semester, and the rules of the examination. The course assumes no previous experience: most students in the room have never written a program, a list of instructions, small and exact orders, that a computer carries out one after the other. The material is written for them. Every technical word is explained the first time it appears, in these notes or on the slide. The epigraph from The Matrix states the idea behind the course: a computer is a system, and a system whose parts one can open, name and reason about stops being a mystery. The subtitle, program first, formalise later, is the method of the whole course; the slides that follow are its consequences.
Learning status: UNDERSTAND NOW, by the end of this lecture you explain it, trace it and apply it on your own; USE NOW, you follow and use the recipe today; how it works inside is explained later, or is not part of the course; UNDERSTAND LATER, recognise the name and what it is for; a later lecture explains it. A slide without a badge is context: a story, an example, a question, an exercise.
Learning status of this lecture. UNDERSTAND NOW: the program-first method; the rules of the course. USE NOW: the complete program, the PRG32 tools (used, not studied, in this course). UNDERSTAND LATER: the pieces of PRG32 (Lecture 01); RISC and an open ISA (Lecture 03); the Verm1 project (Lecture 07). A slide without a badge is context: a story, an example, a question, an exercise.
Roadmap. Today's outcomes: (1) describe the four steps of the learning spiral and say why a prediction comes before running; (2) state the assessment rules: one midterm, two exam parts that must both be passed, no devices and no AI. Builds on: nothing: it is the first lecture. Next: Lecture 01, PRG32 and PRG32-QT: Setting Up Your Workshop.
For the lecturer: Opening lecture. The administrative facts (timetable, assessment) are carried over from the Italian 2026/27 deck; from this year there is one midterm test, with ten questions and two exercises. Dates still marked TBD must be filled in before class.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lecture has five parts: the people and the hours, the approach, the machine, the project, and the rules. The order is deliberate. The rules make sense only once one knows what the course asks, and what it asks follows from its method, so the method comes first. One word on the slide may be new. A debugger is a tool that lets one watch a program while it runs, stop it, and look inside the machine; the course uses one every week. Students who want to know about the examination will find it in the last part.
For the lecturer: Five parts, about ten minutes each. The last part is the one students ask about: say at once that it comes at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carries 12 ECTS credits, that is, 96 hours, divided equally between lectures (Prof. Montella) and laboratory (Prof. Staffa): two instructors, one course, one final mark. There are no prerequisites, and this is meant literally. No previous programming and no knowledge of how a computer is built are assumed; everything needed is taught here, starting from the words themselves. What is required is curiosity about how a computer really works, and regular work: a little every week is far more effective than a lot at the end. Office hours and the Teams code should be noted at once; a question asked in the first weeks is the cheapest to answer.
For the lecturer: Teams link from the original deck: https://teams.microsoft.com/l/channel/19%3Af4f24e8de71f424395ba903febdc4766%40thread.tacv2/General?groupId=09ae05f6-46f6-4441-ab7b-7522f88007d5 . The team code c7rf33g comes from the official syllabus and may change: announce any change in class. Accenture SuperSkills: https://richiediaccesso.uniparthenope.it/reservations?type=J</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method in one sentence. A processor is the part of a computer that does the work: it executes instructions, small and exact orders such as "add these two numbers". Assembly is a way of writing those instructions as short words, one instruction per line, instead of as numbers. Program first means that from the first week students write RISC-V assembly, and a real processor executes it. Formalise later means that the theory, definitions, rules and methods, comes afterwards, as the answer to something the student has already seen happen. The reason is simple: an explanation sticks much better when it answers a question one has already asked. Nothing of the theory is left out, and all of it is examined. It just comes second.
UNDERSTAND NOW: the program-first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topic goes round the same four steps. Play: write a few instructions and run them. Observe: the machine does something one did not quite expect. For instance, a counter that goes below zero shows 0xFFFFFFFF instead of -1. (A number starting with 0x is written in hexadecimal, base sixteen; Lecture 02 shows how to read it.) Or a bit, a single binary digit that is either 0 or 1, lights a lamp on the screen. Formalise: the lecture gives the rule that explains it; here, two's complement, the way computers store negative numbers, taught in Lecture 05. Return: go back to the machine and predict the result before running it. The fourth step is the test of understanding. A correct prediction shows the rule is understood; a wrong one is caught at once by the machine, and costs nothing. A cartridge, mentioned on the slide, is a finished program packed in one file, like the cartridges of old game consoles.
UNDERSTAND NOW: the program-first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aims written in the official syllabus, and they follow one from the other. First, the basic ideas of how computers are organised. Then the low-level languages: machine language, the numbers that the processor actually reads, and assembly, the same instructions written as words. Then the mathematics a processor is built from: Boolean algebra, the algebra of true and false, and binary arithmetic, counting with only the digits 0 and 1. With these one designs logic networks, circuits that compute an answer from their inputs (combinational) or that also remember (sequential). Then the structure of the processor, of the memory, where programs and data are kept, and of input and output. Finally assembly code, where all these layers can be seen at once. The picture is Pong on PRG32: a few hundred instructions, every one of which students will be able to read by the end.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PRG32 is a small game console that one programs in assembly or in C, another programming language. Some words on the slide need a gloss. Open source means that its source code, the text of the program as people write it, is public: anyone may read, use and improve it. The firmware is the program that the console runs from the moment it is switched on; the runtime is the part of it that stays on the machine and runs the student's game. Machine code is the program in the numeric form that the processor reads; RV32IMAC names the instruction set, the list of instructions that this particular processor understands. Interpreted by a simulator would mean that another program, an interpreter, imitates the processor; on the PRG32 board, instead, the code runs directly on the chip. (PRG32-QT, on the next slide, does interpret it: that is how a laptop can run it, and Lecture 01 compares the two.) The game is written as three functions, named pieces of program: init runs once, while update and draw run once per frame, that is, for every picture shown on the screen. A finished game is a cartridge, a small file ending in .prg32. The screen measures 320 by 200 pixels, the coloured dots that make up a picture: few enough to reason about every one of them.
UNDERSTAND LATER: the pieces of PRG32 (studied in Lecture 01).
For the lecturer: PRG32: https://github.com/riscv-prg32/PRG32 . Textbook: https://github.com/riscv-prg32/Playing-with-RISC-V_PRG32_textbook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PRG32-QT is PRG32 as an application on one's own laptop. It runs the same cartridges, without the board and without a compiler, the program that translates source code into machine code (for assembly the translator is called an assembler). It is an emulator, more precisely an interpreter: a program that imitates the processor of the console in software, instruction by instruction. Its debug mode opens the machine. The program can be paused and resumed, or advanced one instruction at a time. A breakpoint is a mark on an instruction that stops the program when it gets there. A register is one of 32 small storage cells inside the processor, each holding a 32-bit number; the processor computes only on registers. Memory is a much larger row of cells, each holding one byte, eight bits, and each with a number, its address. PRG32-QT shows the registers and 128 bytes of memory at any address, and can slow a game down to a hundredth of its speed. The last line of the slide is the practical test of understanding used throughout the course: being able to say what each register will hold before pressing Step.
UNDERSTAND LATER: the pieces of PRG32 (studied in Lecture 01).
For the lecturer: Settings, Run cartridges in RISC-V debug mode. Lecture 01 installs it; the same cartridge also runs on the kit and on the QEMU emulator, and Lecture 01 compares the three. The debugger is used from Lecture 02 and systematically in the Verm1 tutorials: each one has a debugging section with a precise procedure.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reasons explain the choice of RISC-V. It is open: the instruction set is a public standard, and anyone may build a RISC-V processor without paying a licence. It is small: about forty basic instructions and thirty-two registers, few enough to learn completely in one semester. It is real: the instructions on the slide, addi, lw, sw, beqz, are executed by billions of commercial devices, so nothing learned here is a toy. And it is strategic: European projects build their own processors on it. For a beginner the second reason matters most: by the end of the course students will know the whole basic instruction set, not a selection of it.
UNDERSTAND LATER: RISC and an open ISA (studied in Lecture 03).
For the lecturer: DARE: Digital Autonomy with RISC-V in Europe, a EuroHPC Joint Undertaking project. See chapter 1 of the PRG32 textbook for the full argument and sources.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table is the whole course on one page. The left column lists the theory; the right column says where each topic is first met on the machine, as something one sees happen. Many words in the left column are new, and that is expected: each is the title of a lecture, and the table only shows where it will come. Two examples. Two's complement, how negative numbers are stored, first appears as a position that moves left past zero. Sequential networks, circuits that remember, first appear as a counter that keeps its value from one frame to the next. The stack, further down, is an area of memory where a function keeps its temporary values (Lecture 18). The table is worth looking at again at the start of each block, and it makes a good checklist for revision.
For the lecturer: This table is the course in one slide. Come back to it at the start of each block.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project is Verm1, pronounced "vermone", the big worm: a tribute to Snake, in which a worm moves on a grid, eats, grows, and must not bite itself. The rules fit in one sentence, yet writing it uses nearly every topic of the course: numbers for the positions, logic for the controls, memory for the body, functions and division for the score. Students write every line themselves. There is no game engine, only a handful of PRG32 calls, ready-made functions that draw a rectangle, read the buttons or play a note. The finished game carries its author's name.
UNDERSTAND LATER: the Verm1 project (studied in Lecture 07).
For the lecturer: The project is the thread of the course: each part uses exactly what the four lectures before it have taught. The reference implementation of Verm1 was contributed by Giuseppe Coviello; its sources are in the verm1 folder of the course material and are built and played automatically by the tests.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project grows in four parts and a publication; each part comes right after the lectures it uses. Part 1 (Lecture 07) uses numbers: a grid and a head that moves. Part 2 (Lecture 12) uses logic: steering, food and a score. Part 3 (Lecture 17) uses state and memory: a body that grows, collisions, and three screens. Part 4 (Lecture 22) uses the organisation of the machine: digits on the screen, levels and fast drawing. Lecture 23 publishes the game on the Cartridge Store. The right column names the techniques; words such as array, a row of values of the same kind kept one after the other in memory, are explained in the lecture that uses them. The caption states the rule that matters most: every part ends with a game that runs.
UNDERSTAND LATER: the Verm1 project (studied in Lecture 07).
For the lecturer: Every fifth deck is a tutorial. The numbers are those of the lectures: 07, 12, 17 and 22 for the four parts, 23 for the publication.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calendar of the course, in blocks. After the three opening lectures come four blocks of four lectures each. Information: what a bit means, and how numbers are written with bits. Logic: how bits are combined. State and memory: how bits are kept. The machine: the processor and its devices. Each block ends with a part of Verm1; Lecture 23 publishes the game and Lecture 24 looks at faster machines. Most lecture titles on the slide, from bus to interrupt to FPGA, are names of things not yet met: each is explained in its own lecture, and nothing here needs to be understood today. The lecture numbers on this slide are used everywhere in the material, so a reference such as "Lecture 13" can always be found here.
For the lecturer: The order was chosen for learning: first what a bit means, then how bits are combined, then how they are remembered, then the machine that does all three; the processor comes before the devices it drives. After each block the project uses it. The last lecture is an outlook, before the visit to the Department's computing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course meets four times a week from September to December, always in Aula 1: Monday afternoon and Wednesday morning with Prof. Montella, Tuesday and Friday morning with Prof. Staffa. Lectures and laboratory do not alternate in a fixed pattern. An internal calendar, shared with the class, gives the real plan week by week; that calendar, not this table alone, says what to prepare for a given day.
UNDERSTAND NOW: the rules of the course.
For the lecturer: We will share an internal calendar with the actual distribution of lectures and laboratory sessions.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There is one midterm test: ten multiple-choice questions and two exercises, on paper, in about 45 minutes. Bring an identity document and a pen, and know your institutional e-mail address and your student number. The test has two purposes: it measures each student's progress, and it tells the instructors how the course is going. Preparation is built into the lectures, each of which ends with questions of exactly this kind. Answering them week by week takes a few minutes; leaving them all to the night before does not work.
UNDERSTAND NOW: the rules of the course.
For the lecturer: One midterm from 2026/27 (there were two). The date is TBD: fill it in. The weight of the test is decided after evaluating the correct behaviour of the students in the room. Booking rules are not on the slide: say them in class if they apply.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rule for the midterm and the final examination is short: no devices and no help of any kind, human or artificial. That includes ChatGPT, other large language models, and every other form of generative AI. Copying cancels the test at once. The rule is not hostility towards technology, which the course uses every day; it follows from what a test is for. A test measures what the candidate knows. An answer produced by someone or something else measures nothing and helps nobody, least of all the candidate.
UNDERSTAND NOW: the rules of the course.
For the lecturer: If more than two tests have to be cancelled for inadequate behaviour, the whole midterm is cancelled for everyone.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examination has two parts, and both must be passed. The theory part is an oral examination on the whole syllabus, where some answers need a diagram or a calculation at the board. The practical part is the laboratory examination with Prof. Staffa. Each counts for half, and the final mark is their average. The oral can also lower the mark of the midterm: the midterm is a real result, not a guarantee. How the midterm enters the theory mark is explained in class.
UNDERSTAND NOW: the rules of the course.
For the lecturer: Midterm and exam results are kept within the current academic year. The official syllabus describes the written part as exercises on the analysis and synthesis of logic networks and on RISC-V assembly development on PRG32. How the midterm enters the theory mark is said in class: the slide does not give a formula.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final mark is recorded only when both parts have been passed, and only during a theory session; the laboratory examination usually comes about a week before it. Both must be booked on Esse3, the university's online system. The two most frequent questions have the same answer: the theory part may be taken before the practical one, and its result is kept for the academic year, but nothing is recorded until both are passed. It is best to plan the two examinations together.
UNDERSTAND NOW: the rules of the course.
For the lecturer: Dates of the sessions were empty in the source deck: add them when published.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material comes from four places. The slides are in a shared Google Drive folder and are published from time to time on the e-learning portal. PRG32 and its textbook, Playing with RISC-V, are free and open source on GitHub, a website that hosts the source code of many projects. The reference textbooks are Patterson and Hennessy, Computer Organization and Design, RISC-V edition, and Tanenbaum and Austin, Structured Computer Organization; both exist in Italian. The official documentation of RISC-V is at riscv.org. Nothing has to be bought on the first day: the slides and the PRG32 material are enough until the theory begins, and at that point one textbook should be chosen.
For the lecturer: Drive folder: https://drive.google.com/drive/folders/15Kdu8XYbQQVP0ieuZA5OIEmoKqDjQ-eR?usp=sharing . E-learning: https://elearning.uniparthenope.it/course/view.php?id=107 . Italian editions: Tanenbaum, Austin, Architettura dei calcolatori. Un approccio strutturale (Pearson); Patterson, Hennessy, Struttura e progetto dei calcolatori: progettare con RISC-V (Zanichelli).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groups of questions open the conversation: hardware, software, culture, concepts, RISC-V, and the students themselves. There are no right answers and nothing is assessed. The purpose is to find out where the class starts. Students who have never built a computer or read a line of assembly are the majority, and they are exactly where the course expects them to be: it starts from zero. Those who have will find chances to help their neighbours, which is itself one of the best ways to learn. Hardware means the physical parts of a computer; software means the programs that run on it.
Learning status, recap. UNDERSTAND NOW: the program-first method; the rules of the course. USE NOW: the complete program, the PRG32 tools (used, not studied, in this course). UNDERSTAND LATER: the pieces of PRG32 (Lecture 01); RISC and an open ISA (Lecture 03); the Verm1 project (Lecture 07). A slide without a badge is context: a story, an example, a question, an exercise. Closing thread: The course runs on one method: play, observe, formalise, return. Every topic will start as something seen on PRG32 and end as a rule that lets you predict it. Next: installing the workshop. Exit ticket (two to four minutes, alone, on paper): 1. Before running a program you are asked to write down what you expect to see. Which step of the learning spiral is this, and what do you learn when your prediction turns out to be wrong? 2. True or false? Correct the false ones. (a) Passing the midterm is enough to record the final mark. (b) A calculator app on the phone is allowed in the midterm. (c) The theory part may be taken before the laboratory part.
For the lecturer: Ice-breaker. Keep it quick; note the answers: they tell you how fast Lecture 02 can go.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00: Course introduction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3.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2.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2.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slideLayout" Target="../slideLayouts/slideLayout2.xml"/><Relationship Id="rId4"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3.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00</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Course Introduction</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2000" dirty="0">
                <a:solidFill>
                  <a:srgbClr val="CFE3EA"/>
                </a:solidFill>
                <a:latin typeface="Calibri" pitchFamily="34" charset="0"/>
                <a:ea typeface="Calibri" pitchFamily="34" charset="-122"/>
                <a:cs typeface="Calibri" pitchFamily="34" charset="-120"/>
              </a:rPr>
              <a:t>Computer Architecture and Laboratory (ARC12): program first, formalise later</a:t>
            </a:r>
            <a:endParaRPr lang="en-US" sz="20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“The Matrix is a system, Neo. That system is our enemy.”</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The Matrix, Lana and Lilly Wachowski, 1999</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Text 10"/>
          <p:cNvSpPr txBox="1"/>
          <p:nvPr/>
        </p:nvSpPr>
        <p:spPr>
          <a:xfrm>
            <a:off x="4693615" y="566928"/>
            <a:ext cx="6949440" cy="640080"/>
          </a:xfrm>
          <a:prstGeom prst="rect">
            <a:avLst/>
          </a:prstGeom>
          <a:noFill/>
          <a:ln/>
        </p:spPr>
        <p:txBody>
          <a:bodyPr wrap="square" lIns="0" tIns="0" rIns="0" bIns="0" rtlCol="0" anchor="t"/>
          <a:lstStyle/>
          <a:p>
            <a:pPr algn="r" indent="0" marL="0">
              <a:buNone/>
            </a:pPr>
            <a:r>
              <a:rPr lang="en-US" sz="1300" dirty="0">
                <a:solidFill>
                  <a:srgbClr val="CFE3EA"/>
                </a:solidFill>
                <a:latin typeface="Calibri" pitchFamily="34" charset="0"/>
                <a:ea typeface="Calibri" pitchFamily="34" charset="-122"/>
                <a:cs typeface="Calibri" pitchFamily="34" charset="-120"/>
              </a:rPr>
              <a:t>Lecture deck. The listings, the complete program and how to test it are in the code deck:</a:t>
            </a:r>
            <a:endParaRPr lang="en-US" sz="1300" dirty="0"/>
          </a:p>
          <a:p>
            <a:pPr algn="r" indent="0" marL="0">
              <a:buNone/>
            </a:pPr>
            <a:r>
              <a:rPr lang="en-US" sz="1300" dirty="0">
                <a:solidFill>
                  <a:srgbClr val="CFE3EA"/>
                </a:solidFill>
                <a:latin typeface="Calibri" pitchFamily="34" charset="0"/>
                <a:ea typeface="Calibri" pitchFamily="34" charset="-122"/>
                <a:cs typeface="Calibri" pitchFamily="34" charset="-120"/>
              </a:rPr>
              <a:t>00-Computer_Architecture-Course_Introduction-Lab.pptx</a:t>
            </a:r>
            <a:endParaRPr lang="en-US" sz="1300" dirty="0"/>
          </a:p>
        </p:txBody>
      </p:sp>
      <p:sp>
        <p:nvSpPr>
          <p:cNvPr id="13" name="Shape 11"/>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4" name="Image 0" descr="/Users/raffaelemontella/devel/riscv-prg32/computer-architecture-with-prg32/tools/assets/prg32_logo.png">    </p:cNvPr>
          <p:cNvPicPr>
            <a:picLocks noChangeAspect="1"/>
          </p:cNvPicPr>
          <p:nvPr/>
        </p:nvPicPr>
        <p:blipFill>
          <a:blip r:embed="rId1"/>
          <a:stretch>
            <a:fillRect/>
          </a:stretch>
        </p:blipFill>
        <p:spPr>
          <a:xfrm>
            <a:off x="8716975" y="4280535"/>
            <a:ext cx="2834640" cy="1771650"/>
          </a:xfrm>
          <a:prstGeom prst="rect">
            <a:avLst/>
          </a:prstGeom>
        </p:spPr>
      </p:pic>
      <p:sp>
        <p:nvSpPr>
          <p:cNvPr id="15" name="Shape 12"/>
          <p:cNvSpPr/>
          <p:nvPr/>
        </p:nvSpPr>
        <p:spPr>
          <a:xfrm>
            <a:off x="9690303" y="91440"/>
            <a:ext cx="1952752" cy="274320"/>
          </a:xfrm>
          <a:prstGeom prst="rect">
            <a:avLst/>
          </a:prstGeom>
          <a:solidFill>
            <a:srgbClr val="F3E8FF"/>
          </a:solidFill>
          <a:ln w="12700">
            <a:solidFill>
              <a:srgbClr val="7E22CE"/>
            </a:solidFill>
            <a:prstDash val="dash"/>
          </a:ln>
        </p:spPr>
      </p:sp>
      <p:sp>
        <p:nvSpPr>
          <p:cNvPr id="16" name="Shape 13"/>
          <p:cNvSpPr/>
          <p:nvPr/>
        </p:nvSpPr>
        <p:spPr>
          <a:xfrm>
            <a:off x="9717735" y="128016"/>
            <a:ext cx="45720" cy="45720"/>
          </a:xfrm>
          <a:prstGeom prst="rect">
            <a:avLst/>
          </a:prstGeom>
          <a:solidFill>
            <a:srgbClr val="7E22CE"/>
          </a:solidFill>
          <a:ln w="12700">
            <a:solidFill>
              <a:srgbClr val="7E22CE"/>
            </a:solidFill>
            <a:prstDash val="solid"/>
          </a:ln>
        </p:spPr>
      </p:sp>
      <p:sp>
        <p:nvSpPr>
          <p:cNvPr id="17" name="Shape 14"/>
          <p:cNvSpPr/>
          <p:nvPr/>
        </p:nvSpPr>
        <p:spPr>
          <a:xfrm>
            <a:off x="9717735" y="205740"/>
            <a:ext cx="45720" cy="45720"/>
          </a:xfrm>
          <a:prstGeom prst="rect">
            <a:avLst/>
          </a:prstGeom>
          <a:solidFill>
            <a:srgbClr val="7E22CE"/>
          </a:solidFill>
          <a:ln w="12700">
            <a:solidFill>
              <a:srgbClr val="7E22CE"/>
            </a:solidFill>
            <a:prstDash val="solid"/>
          </a:ln>
        </p:spPr>
      </p:sp>
      <p:sp>
        <p:nvSpPr>
          <p:cNvPr id="18" name="Shape 15"/>
          <p:cNvSpPr/>
          <p:nvPr/>
        </p:nvSpPr>
        <p:spPr>
          <a:xfrm>
            <a:off x="9717735"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9818319" y="128016"/>
            <a:ext cx="201168" cy="201168"/>
          </a:xfrm>
          <a:prstGeom prst="rect">
            <a:avLst/>
          </a:prstGeom>
        </p:spPr>
      </p:pic>
      <p:sp>
        <p:nvSpPr>
          <p:cNvPr id="20" name="Text 16"/>
          <p:cNvSpPr txBox="1"/>
          <p:nvPr/>
        </p:nvSpPr>
        <p:spPr>
          <a:xfrm>
            <a:off x="10074351" y="91440"/>
            <a:ext cx="153212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endParaRPr lang="en-US" sz="1100" dirty="0"/>
          </a:p>
        </p:txBody>
      </p:sp>
      <p:sp>
        <p:nvSpPr>
          <p:cNvPr id="21" name="Shape 17"/>
          <p:cNvSpPr/>
          <p:nvPr/>
        </p:nvSpPr>
        <p:spPr>
          <a:xfrm>
            <a:off x="8407349" y="91440"/>
            <a:ext cx="1173226" cy="274320"/>
          </a:xfrm>
          <a:prstGeom prst="rect">
            <a:avLst/>
          </a:prstGeom>
          <a:solidFill>
            <a:srgbClr val="FEF3C7"/>
          </a:solidFill>
          <a:ln w="12700">
            <a:solidFill>
              <a:srgbClr val="B45309"/>
            </a:solidFill>
            <a:prstDash val="solid"/>
          </a:ln>
        </p:spPr>
      </p:sp>
      <p:sp>
        <p:nvSpPr>
          <p:cNvPr id="22" name="Shape 18"/>
          <p:cNvSpPr/>
          <p:nvPr/>
        </p:nvSpPr>
        <p:spPr>
          <a:xfrm>
            <a:off x="8407349" y="91440"/>
            <a:ext cx="27432" cy="274320"/>
          </a:xfrm>
          <a:prstGeom prst="rect">
            <a:avLst/>
          </a:prstGeom>
          <a:solidFill>
            <a:srgbClr val="B45309"/>
          </a:solidFill>
          <a:ln w="12700">
            <a:solidFill>
              <a:srgbClr val="B45309"/>
            </a:solidFill>
            <a:prstDash val="solid"/>
          </a:ln>
        </p:spPr>
      </p:sp>
      <p:sp>
        <p:nvSpPr>
          <p:cNvPr id="23" name="Shape 19"/>
          <p:cNvSpPr/>
          <p:nvPr/>
        </p:nvSpPr>
        <p:spPr>
          <a:xfrm>
            <a:off x="8462213" y="91440"/>
            <a:ext cx="27432" cy="274320"/>
          </a:xfrm>
          <a:prstGeom prst="rect">
            <a:avLst/>
          </a:prstGeom>
          <a:solidFill>
            <a:srgbClr val="B45309"/>
          </a:solidFill>
          <a:ln w="12700">
            <a:solidFill>
              <a:srgbClr val="B45309"/>
            </a:solidFill>
            <a:prstDash val="solid"/>
          </a:ln>
        </p:spPr>
      </p:sp>
      <p:pic>
        <p:nvPicPr>
          <p:cNvPr id="24" name="Image 2" descr="preencoded.png">    </p:cNvPr>
          <p:cNvPicPr>
            <a:picLocks noChangeAspect="1"/>
          </p:cNvPicPr>
          <p:nvPr/>
        </p:nvPicPr>
        <p:blipFill>
          <a:blip r:embed="rId3"/>
          <a:stretch>
            <a:fillRect/>
          </a:stretch>
        </p:blipFill>
        <p:spPr>
          <a:xfrm>
            <a:off x="8535365" y="128016"/>
            <a:ext cx="201168" cy="201168"/>
          </a:xfrm>
          <a:prstGeom prst="rect">
            <a:avLst/>
          </a:prstGeom>
        </p:spPr>
      </p:pic>
      <p:sp>
        <p:nvSpPr>
          <p:cNvPr id="25" name="Text 20"/>
          <p:cNvSpPr txBox="1"/>
          <p:nvPr/>
        </p:nvSpPr>
        <p:spPr>
          <a:xfrm>
            <a:off x="8791397" y="91440"/>
            <a:ext cx="752602" cy="274320"/>
          </a:xfrm>
          <a:prstGeom prst="rect">
            <a:avLst/>
          </a:prstGeom>
          <a:noFill/>
          <a:ln/>
        </p:spPr>
        <p:txBody>
          <a:bodyPr wrap="square" lIns="0" tIns="0" rIns="0" bIns="0" rtlCol="0" anchor="ctr"/>
          <a:lstStyle/>
          <a:p>
            <a:pPr indent="0" marL="0">
              <a:buNone/>
            </a:pPr>
            <a:r>
              <a:rPr lang="en-US" sz="1100" b="1" dirty="0">
                <a:solidFill>
                  <a:srgbClr val="92400E"/>
                </a:solidFill>
                <a:latin typeface="Calibri" pitchFamily="34" charset="0"/>
                <a:ea typeface="Calibri" pitchFamily="34" charset="-122"/>
                <a:cs typeface="Calibri" pitchFamily="34" charset="-120"/>
              </a:rPr>
              <a:t>USE NOW</a:t>
            </a:r>
            <a:endParaRPr lang="en-US" sz="1100" dirty="0"/>
          </a:p>
        </p:txBody>
      </p:sp>
      <p:sp>
        <p:nvSpPr>
          <p:cNvPr id="26" name="Shape 21"/>
          <p:cNvSpPr/>
          <p:nvPr/>
        </p:nvSpPr>
        <p:spPr>
          <a:xfrm>
            <a:off x="6518097" y="91440"/>
            <a:ext cx="1779524" cy="274320"/>
          </a:xfrm>
          <a:prstGeom prst="rect">
            <a:avLst/>
          </a:prstGeom>
          <a:solidFill>
            <a:srgbClr val="E0F2FE"/>
          </a:solidFill>
          <a:ln w="12700">
            <a:solidFill>
              <a:srgbClr val="0369A1"/>
            </a:solidFill>
            <a:prstDash val="solid"/>
          </a:ln>
        </p:spPr>
      </p:sp>
      <p:sp>
        <p:nvSpPr>
          <p:cNvPr id="27" name="Shape 22"/>
          <p:cNvSpPr/>
          <p:nvPr/>
        </p:nvSpPr>
        <p:spPr>
          <a:xfrm>
            <a:off x="6518097" y="91440"/>
            <a:ext cx="73152" cy="274320"/>
          </a:xfrm>
          <a:prstGeom prst="rect">
            <a:avLst/>
          </a:prstGeom>
          <a:solidFill>
            <a:srgbClr val="0369A1"/>
          </a:solidFill>
          <a:ln w="12700">
            <a:solidFill>
              <a:srgbClr val="0369A1"/>
            </a:solidFill>
            <a:prstDash val="solid"/>
          </a:ln>
        </p:spPr>
      </p:sp>
      <p:pic>
        <p:nvPicPr>
          <p:cNvPr id="28" name="Image 3" descr="preencoded.png">    </p:cNvPr>
          <p:cNvPicPr>
            <a:picLocks noChangeAspect="1"/>
          </p:cNvPicPr>
          <p:nvPr/>
        </p:nvPicPr>
        <p:blipFill>
          <a:blip r:embed="rId4"/>
          <a:stretch>
            <a:fillRect/>
          </a:stretch>
        </p:blipFill>
        <p:spPr>
          <a:xfrm>
            <a:off x="6646113" y="128016"/>
            <a:ext cx="201168" cy="201168"/>
          </a:xfrm>
          <a:prstGeom prst="rect">
            <a:avLst/>
          </a:prstGeom>
        </p:spPr>
      </p:pic>
      <p:sp>
        <p:nvSpPr>
          <p:cNvPr id="29" name="Text 23"/>
          <p:cNvSpPr txBox="1"/>
          <p:nvPr/>
        </p:nvSpPr>
        <p:spPr>
          <a:xfrm>
            <a:off x="6902145" y="91440"/>
            <a:ext cx="1358900"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Today</a:t>
            </a:r>
            <a:endParaRPr lang="en-US" sz="3200" dirty="0"/>
          </a:p>
        </p:txBody>
      </p:sp>
      <p:sp>
        <p:nvSpPr>
          <p:cNvPr id="3" name="Text 1"/>
          <p:cNvSpPr txBox="1"/>
          <p:nvPr/>
        </p:nvSpPr>
        <p:spPr>
          <a:xfrm>
            <a:off x="548640" y="161848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60020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Who we are, and how the 96 hours of the course are organised</a:t>
            </a:r>
            <a:endParaRPr lang="en-US" sz="2200" dirty="0"/>
          </a:p>
        </p:txBody>
      </p:sp>
      <p:sp>
        <p:nvSpPr>
          <p:cNvPr id="5" name="Text 3"/>
          <p:cNvSpPr txBox="1"/>
          <p:nvPr/>
        </p:nvSpPr>
        <p:spPr>
          <a:xfrm>
            <a:off x="548640" y="251460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49631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approach: you program first, and we formalise afterwards</a:t>
            </a:r>
            <a:endParaRPr lang="en-US" sz="2200" dirty="0"/>
          </a:p>
        </p:txBody>
      </p:sp>
      <p:sp>
        <p:nvSpPr>
          <p:cNvPr id="7" name="Text 5"/>
          <p:cNvSpPr txBox="1"/>
          <p:nvPr/>
        </p:nvSpPr>
        <p:spPr>
          <a:xfrm>
            <a:off x="548640" y="341071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392424"/>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machine: PRG32, RISC-V, and the debugger you will use every week; next time we install them together</a:t>
            </a:r>
            <a:endParaRPr lang="en-US" sz="2200" dirty="0"/>
          </a:p>
        </p:txBody>
      </p:sp>
      <p:sp>
        <p:nvSpPr>
          <p:cNvPr id="9" name="Text 7"/>
          <p:cNvSpPr txBox="1"/>
          <p:nvPr/>
        </p:nvSpPr>
        <p:spPr>
          <a:xfrm>
            <a:off x="548640" y="454964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4531360"/>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project: Verm1, a game you write from an empty file and publish</a:t>
            </a:r>
            <a:endParaRPr lang="en-US" sz="2200" dirty="0"/>
          </a:p>
        </p:txBody>
      </p:sp>
      <p:sp>
        <p:nvSpPr>
          <p:cNvPr id="11" name="Text 9"/>
          <p:cNvSpPr txBox="1"/>
          <p:nvPr/>
        </p:nvSpPr>
        <p:spPr>
          <a:xfrm>
            <a:off x="548640" y="5445760"/>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5427472"/>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rules: timetable, the midterm test, the exam, the material</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course at a glance</a:t>
            </a:r>
            <a:endParaRPr lang="en-US" sz="3200" dirty="0"/>
          </a:p>
        </p:txBody>
      </p:sp>
      <p:sp>
        <p:nvSpPr>
          <p:cNvPr id="3" name="Shape 1"/>
          <p:cNvSpPr/>
          <p:nvPr/>
        </p:nvSpPr>
        <p:spPr>
          <a:xfrm>
            <a:off x="548640" y="1417320"/>
            <a:ext cx="3515258" cy="2240280"/>
          </a:xfrm>
          <a:prstGeom prst="roundRect">
            <a:avLst>
              <a:gd name="adj" fmla="val 3265"/>
            </a:avLst>
          </a:prstGeom>
          <a:solidFill>
            <a:srgbClr val="EEF2F4"/>
          </a:solidFill>
          <a:ln w="12700">
            <a:solidFill>
              <a:srgbClr val="EEF2F4"/>
            </a:solidFill>
            <a:prstDash val="solid"/>
          </a:ln>
        </p:spPr>
      </p:sp>
      <p:sp>
        <p:nvSpPr>
          <p:cNvPr id="4" name="Text 2"/>
          <p:cNvSpPr txBox="1"/>
          <p:nvPr/>
        </p:nvSpPr>
        <p:spPr>
          <a:xfrm>
            <a:off x="777240" y="1645920"/>
            <a:ext cx="384048" cy="384048"/>
          </a:xfrm>
          <a:prstGeom prst="roundRect">
            <a:avLst>
              <a:gd name="adj" fmla="val 19048"/>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325880"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Name</a:t>
            </a:r>
            <a:endParaRPr lang="en-US" sz="2000" dirty="0"/>
          </a:p>
        </p:txBody>
      </p:sp>
      <p:sp>
        <p:nvSpPr>
          <p:cNvPr id="6" name="Text 4"/>
          <p:cNvSpPr txBox="1"/>
          <p:nvPr/>
        </p:nvSpPr>
        <p:spPr>
          <a:xfrm>
            <a:off x="822960" y="2331720"/>
            <a:ext cx="2966618" cy="1188720"/>
          </a:xfrm>
          <a:prstGeom prst="rect">
            <a:avLst/>
          </a:prstGeom>
          <a:noFill/>
          <a:ln/>
        </p:spPr>
        <p:txBody>
          <a:bodyPr wrap="square" lIns="0" tIns="0" rIns="0" bIns="0" rtlCol="0" anchor="t"/>
          <a:lstStyle/>
          <a:p>
            <a:pPr indent="0" marL="0">
              <a:buNone/>
            </a:pPr>
            <a:r>
              <a:rPr lang="en-US" sz="1500" dirty="0">
                <a:solidFill>
                  <a:srgbClr val="1B2530"/>
                </a:solidFill>
                <a:latin typeface="Calibri" pitchFamily="34" charset="0"/>
                <a:ea typeface="Calibri" pitchFamily="34" charset="-122"/>
                <a:cs typeface="Calibri" pitchFamily="34" charset="-120"/>
              </a:rPr>
              <a:t>Computer Architecture and Computer Architecture Laboratory (ARC12). First year, first semester, Bachelor's Degree in Computer Science.</a:t>
            </a:r>
            <a:endParaRPr lang="en-US" sz="1500" dirty="0"/>
          </a:p>
        </p:txBody>
      </p:sp>
      <p:sp>
        <p:nvSpPr>
          <p:cNvPr id="7" name="Shape 5"/>
          <p:cNvSpPr/>
          <p:nvPr/>
        </p:nvSpPr>
        <p:spPr>
          <a:xfrm>
            <a:off x="4338218" y="1417320"/>
            <a:ext cx="3515258" cy="2240280"/>
          </a:xfrm>
          <a:prstGeom prst="roundRect">
            <a:avLst>
              <a:gd name="adj" fmla="val 3265"/>
            </a:avLst>
          </a:prstGeom>
          <a:solidFill>
            <a:srgbClr val="EEF2F4"/>
          </a:solidFill>
          <a:ln w="12700">
            <a:solidFill>
              <a:srgbClr val="EEF2F4"/>
            </a:solidFill>
            <a:prstDash val="solid"/>
          </a:ln>
        </p:spPr>
      </p:sp>
      <p:sp>
        <p:nvSpPr>
          <p:cNvPr id="8" name="Text 6"/>
          <p:cNvSpPr txBox="1"/>
          <p:nvPr/>
        </p:nvSpPr>
        <p:spPr>
          <a:xfrm>
            <a:off x="4566818" y="1645920"/>
            <a:ext cx="384048" cy="384048"/>
          </a:xfrm>
          <a:prstGeom prst="roundRect">
            <a:avLst>
              <a:gd name="adj" fmla="val 19048"/>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5115458"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Lecturers</a:t>
            </a:r>
            <a:endParaRPr lang="en-US" sz="2000" dirty="0"/>
          </a:p>
        </p:txBody>
      </p:sp>
      <p:sp>
        <p:nvSpPr>
          <p:cNvPr id="10" name="Text 8"/>
          <p:cNvSpPr txBox="1"/>
          <p:nvPr/>
        </p:nvSpPr>
        <p:spPr>
          <a:xfrm>
            <a:off x="4612538" y="2331720"/>
            <a:ext cx="2966618" cy="1188720"/>
          </a:xfrm>
          <a:prstGeom prst="rect">
            <a:avLst/>
          </a:prstGeom>
          <a:noFill/>
          <a:ln/>
        </p:spPr>
        <p:txBody>
          <a:bodyPr wrap="square" lIns="0" tIns="0" rIns="0" bIns="0" rtlCol="0" anchor="t"/>
          <a:lstStyle/>
          <a:p>
            <a:pPr indent="0" marL="0">
              <a:buNone/>
            </a:pPr>
            <a:r>
              <a:rPr lang="en-US" sz="1500" dirty="0">
                <a:solidFill>
                  <a:srgbClr val="1B2530"/>
                </a:solidFill>
                <a:latin typeface="Calibri" pitchFamily="34" charset="0"/>
                <a:ea typeface="Calibri" pitchFamily="34" charset="-122"/>
                <a:cs typeface="Calibri" pitchFamily="34" charset="-120"/>
              </a:rPr>
              <a:t>Raffaele Montella: lectures, 6 ECTS.</a:t>
            </a:r>
            <a:endParaRPr lang="en-US" sz="1500" dirty="0"/>
          </a:p>
          <a:p>
            <a:pPr indent="0" marL="0">
              <a:buNone/>
            </a:pPr>
            <a:r>
              <a:rPr lang="en-US" sz="1500" dirty="0">
                <a:solidFill>
                  <a:srgbClr val="1B2530"/>
                </a:solidFill>
                <a:latin typeface="Calibri" pitchFamily="34" charset="0"/>
                <a:ea typeface="Calibri" pitchFamily="34" charset="-122"/>
                <a:cs typeface="Calibri" pitchFamily="34" charset="-120"/>
              </a:rPr>
              <a:t>Mariacarla Staffa: laboratory, 6 ECTS.</a:t>
            </a:r>
            <a:endParaRPr lang="en-US" sz="1500" dirty="0"/>
          </a:p>
        </p:txBody>
      </p:sp>
      <p:sp>
        <p:nvSpPr>
          <p:cNvPr id="11" name="Shape 9"/>
          <p:cNvSpPr/>
          <p:nvPr/>
        </p:nvSpPr>
        <p:spPr>
          <a:xfrm>
            <a:off x="8127797" y="1417320"/>
            <a:ext cx="3515258" cy="2240280"/>
          </a:xfrm>
          <a:prstGeom prst="roundRect">
            <a:avLst>
              <a:gd name="adj" fmla="val 3265"/>
            </a:avLst>
          </a:prstGeom>
          <a:solidFill>
            <a:srgbClr val="EEF2F4"/>
          </a:solidFill>
          <a:ln w="12700">
            <a:solidFill>
              <a:srgbClr val="EEF2F4"/>
            </a:solidFill>
            <a:prstDash val="solid"/>
          </a:ln>
        </p:spPr>
      </p:sp>
      <p:sp>
        <p:nvSpPr>
          <p:cNvPr id="12" name="Text 10"/>
          <p:cNvSpPr txBox="1"/>
          <p:nvPr/>
        </p:nvSpPr>
        <p:spPr>
          <a:xfrm>
            <a:off x="8356397" y="1645920"/>
            <a:ext cx="384048" cy="384048"/>
          </a:xfrm>
          <a:prstGeom prst="roundRect">
            <a:avLst>
              <a:gd name="adj" fmla="val 19048"/>
            </a:avLst>
          </a:prstGeom>
          <a:solidFill>
            <a:srgbClr val="6B4FA0"/>
          </a:solidFill>
          <a:ln>
            <a:solidFill>
              <a:srgbClr val="6B4FA0"/>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05037"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Credits</a:t>
            </a:r>
            <a:endParaRPr lang="en-US" sz="2000" dirty="0"/>
          </a:p>
        </p:txBody>
      </p:sp>
      <p:sp>
        <p:nvSpPr>
          <p:cNvPr id="14" name="Text 12"/>
          <p:cNvSpPr txBox="1"/>
          <p:nvPr/>
        </p:nvSpPr>
        <p:spPr>
          <a:xfrm>
            <a:off x="8402117" y="2331720"/>
            <a:ext cx="2966618" cy="1188720"/>
          </a:xfrm>
          <a:prstGeom prst="rect">
            <a:avLst/>
          </a:prstGeom>
          <a:noFill/>
          <a:ln/>
        </p:spPr>
        <p:txBody>
          <a:bodyPr wrap="square" lIns="0" tIns="0" rIns="0" bIns="0" rtlCol="0" anchor="t"/>
          <a:lstStyle/>
          <a:p>
            <a:pPr indent="0" marL="0">
              <a:buNone/>
            </a:pPr>
            <a:r>
              <a:rPr lang="en-US" sz="1500" dirty="0">
                <a:solidFill>
                  <a:srgbClr val="1B2530"/>
                </a:solidFill>
                <a:latin typeface="Calibri" pitchFamily="34" charset="0"/>
                <a:ea typeface="Calibri" pitchFamily="34" charset="-122"/>
                <a:cs typeface="Calibri" pitchFamily="34" charset="-120"/>
              </a:rPr>
              <a:t>12 ECTS, 96 hours.</a:t>
            </a:r>
            <a:endParaRPr lang="en-US" sz="1500" dirty="0"/>
          </a:p>
          <a:p>
            <a:pPr indent="0" marL="0">
              <a:buNone/>
            </a:pPr>
            <a:r>
              <a:rPr lang="en-US" sz="1500" dirty="0">
                <a:solidFill>
                  <a:srgbClr val="1B2530"/>
                </a:solidFill>
                <a:latin typeface="Calibri" pitchFamily="34" charset="0"/>
                <a:ea typeface="Calibri" pitchFamily="34" charset="-122"/>
                <a:cs typeface="Calibri" pitchFamily="34" charset="-120"/>
              </a:rPr>
              <a:t>Scientific area: INFO-01/A (Informatics).</a:t>
            </a:r>
            <a:endParaRPr lang="en-US" sz="1500" dirty="0"/>
          </a:p>
        </p:txBody>
      </p:sp>
      <p:sp>
        <p:nvSpPr>
          <p:cNvPr id="15" name="Shape 13"/>
          <p:cNvSpPr/>
          <p:nvPr/>
        </p:nvSpPr>
        <p:spPr>
          <a:xfrm>
            <a:off x="548640" y="3931920"/>
            <a:ext cx="3515258" cy="2240280"/>
          </a:xfrm>
          <a:prstGeom prst="roundRect">
            <a:avLst>
              <a:gd name="adj" fmla="val 3265"/>
            </a:avLst>
          </a:prstGeom>
          <a:solidFill>
            <a:srgbClr val="EEF2F4"/>
          </a:solidFill>
          <a:ln w="12700">
            <a:solidFill>
              <a:srgbClr val="EEF2F4"/>
            </a:solidFill>
            <a:prstDash val="solid"/>
          </a:ln>
        </p:spPr>
      </p:sp>
      <p:sp>
        <p:nvSpPr>
          <p:cNvPr id="16" name="Text 14"/>
          <p:cNvSpPr txBox="1"/>
          <p:nvPr/>
        </p:nvSpPr>
        <p:spPr>
          <a:xfrm>
            <a:off x="777240" y="4160520"/>
            <a:ext cx="384048" cy="384048"/>
          </a:xfrm>
          <a:prstGeom prst="roundRect">
            <a:avLst>
              <a:gd name="adj" fmla="val 19048"/>
            </a:avLst>
          </a:prstGeom>
          <a:solidFill>
            <a:srgbClr val="2F7D4F"/>
          </a:solidFill>
          <a:ln>
            <a:solidFill>
              <a:srgbClr val="2F7D4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325880" y="41148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Office hours</a:t>
            </a:r>
            <a:endParaRPr lang="en-US" sz="2000" dirty="0"/>
          </a:p>
        </p:txBody>
      </p:sp>
      <p:sp>
        <p:nvSpPr>
          <p:cNvPr id="18" name="Text 16"/>
          <p:cNvSpPr txBox="1"/>
          <p:nvPr/>
        </p:nvSpPr>
        <p:spPr>
          <a:xfrm>
            <a:off x="822960" y="4846320"/>
            <a:ext cx="2966618" cy="1188720"/>
          </a:xfrm>
          <a:prstGeom prst="rect">
            <a:avLst/>
          </a:prstGeom>
          <a:noFill/>
          <a:ln/>
        </p:spPr>
        <p:txBody>
          <a:bodyPr wrap="square" lIns="0" tIns="0" rIns="0" bIns="0" rtlCol="0" anchor="t"/>
          <a:lstStyle/>
          <a:p>
            <a:pPr indent="0" marL="0">
              <a:buNone/>
            </a:pPr>
            <a:r>
              <a:rPr lang="en-US" sz="1500" dirty="0">
                <a:solidFill>
                  <a:srgbClr val="1B2530"/>
                </a:solidFill>
                <a:latin typeface="Calibri" pitchFamily="34" charset="0"/>
                <a:ea typeface="Calibri" pitchFamily="34" charset="-122"/>
                <a:cs typeface="Calibri" pitchFamily="34" charset="-120"/>
              </a:rPr>
              <a:t>Room 420, Tuesday 14:00-16:00, by appointment. Also on Microsoft Teams (team code: c7rf33g).</a:t>
            </a:r>
            <a:endParaRPr lang="en-US" sz="1500" dirty="0"/>
          </a:p>
        </p:txBody>
      </p:sp>
      <p:sp>
        <p:nvSpPr>
          <p:cNvPr id="19" name="Shape 17"/>
          <p:cNvSpPr/>
          <p:nvPr/>
        </p:nvSpPr>
        <p:spPr>
          <a:xfrm>
            <a:off x="4338218" y="3931920"/>
            <a:ext cx="3515258" cy="2240280"/>
          </a:xfrm>
          <a:prstGeom prst="roundRect">
            <a:avLst>
              <a:gd name="adj" fmla="val 3265"/>
            </a:avLst>
          </a:prstGeom>
          <a:solidFill>
            <a:srgbClr val="EEF2F4"/>
          </a:solidFill>
          <a:ln w="12700">
            <a:solidFill>
              <a:srgbClr val="EEF2F4"/>
            </a:solidFill>
            <a:prstDash val="solid"/>
          </a:ln>
        </p:spPr>
      </p:sp>
      <p:sp>
        <p:nvSpPr>
          <p:cNvPr id="20" name="Text 18"/>
          <p:cNvSpPr txBox="1"/>
          <p:nvPr/>
        </p:nvSpPr>
        <p:spPr>
          <a:xfrm>
            <a:off x="4566818" y="4160520"/>
            <a:ext cx="384048" cy="384048"/>
          </a:xfrm>
          <a:prstGeom prst="roundRect">
            <a:avLst>
              <a:gd name="adj" fmla="val 19048"/>
            </a:avLst>
          </a:prstGeom>
          <a:solidFill>
            <a:srgbClr val="B23A48"/>
          </a:solidFill>
          <a:ln>
            <a:solidFill>
              <a:srgbClr val="B23A4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1" name="Text 19"/>
          <p:cNvSpPr txBox="1"/>
          <p:nvPr/>
        </p:nvSpPr>
        <p:spPr>
          <a:xfrm>
            <a:off x="5115458" y="41148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Extra credits</a:t>
            </a:r>
            <a:endParaRPr lang="en-US" sz="2000" dirty="0"/>
          </a:p>
        </p:txBody>
      </p:sp>
      <p:sp>
        <p:nvSpPr>
          <p:cNvPr id="22" name="Text 20"/>
          <p:cNvSpPr txBox="1"/>
          <p:nvPr/>
        </p:nvSpPr>
        <p:spPr>
          <a:xfrm>
            <a:off x="4612538" y="4846320"/>
            <a:ext cx="2966618" cy="1188720"/>
          </a:xfrm>
          <a:prstGeom prst="rect">
            <a:avLst/>
          </a:prstGeom>
          <a:noFill/>
          <a:ln/>
        </p:spPr>
        <p:txBody>
          <a:bodyPr wrap="square" lIns="0" tIns="0" rIns="0" bIns="0" rtlCol="0" anchor="t"/>
          <a:lstStyle/>
          <a:p>
            <a:pPr indent="0" marL="0">
              <a:buNone/>
            </a:pPr>
            <a:r>
              <a:rPr lang="en-US" sz="1500" dirty="0">
                <a:solidFill>
                  <a:srgbClr val="1B2530"/>
                </a:solidFill>
                <a:latin typeface="Calibri" pitchFamily="34" charset="0"/>
                <a:ea typeface="Calibri" pitchFamily="34" charset="-122"/>
                <a:cs typeface="Calibri" pitchFamily="34" charset="-120"/>
              </a:rPr>
              <a:t>Accenture SuperSkills! gives 2 ECTS as further knowledge: richiediaccesso.uniparthenope.it</a:t>
            </a:r>
            <a:endParaRPr lang="en-US" sz="1500" dirty="0"/>
          </a:p>
        </p:txBody>
      </p:sp>
      <p:sp>
        <p:nvSpPr>
          <p:cNvPr id="23" name="Shape 21"/>
          <p:cNvSpPr/>
          <p:nvPr/>
        </p:nvSpPr>
        <p:spPr>
          <a:xfrm>
            <a:off x="8127797" y="3931920"/>
            <a:ext cx="3515258" cy="2240280"/>
          </a:xfrm>
          <a:prstGeom prst="roundRect">
            <a:avLst>
              <a:gd name="adj" fmla="val 3265"/>
            </a:avLst>
          </a:prstGeom>
          <a:solidFill>
            <a:srgbClr val="EEF2F4"/>
          </a:solidFill>
          <a:ln w="12700">
            <a:solidFill>
              <a:srgbClr val="EEF2F4"/>
            </a:solidFill>
            <a:prstDash val="solid"/>
          </a:ln>
        </p:spPr>
      </p:sp>
      <p:sp>
        <p:nvSpPr>
          <p:cNvPr id="24" name="Text 22"/>
          <p:cNvSpPr txBox="1"/>
          <p:nvPr/>
        </p:nvSpPr>
        <p:spPr>
          <a:xfrm>
            <a:off x="8356397" y="4160520"/>
            <a:ext cx="384048" cy="384048"/>
          </a:xfrm>
          <a:prstGeom prst="roundRect">
            <a:avLst>
              <a:gd name="adj" fmla="val 19048"/>
            </a:avLst>
          </a:prstGeom>
          <a:solidFill>
            <a:srgbClr val="2E4A62"/>
          </a:solidFill>
          <a:ln>
            <a:solidFill>
              <a:srgbClr val="2E4A62"/>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5" name="Text 23"/>
          <p:cNvSpPr txBox="1"/>
          <p:nvPr/>
        </p:nvSpPr>
        <p:spPr>
          <a:xfrm>
            <a:off x="8905037" y="41148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Prerequisites</a:t>
            </a:r>
            <a:endParaRPr lang="en-US" sz="2000" dirty="0"/>
          </a:p>
        </p:txBody>
      </p:sp>
      <p:sp>
        <p:nvSpPr>
          <p:cNvPr id="26" name="Text 24"/>
          <p:cNvSpPr txBox="1"/>
          <p:nvPr/>
        </p:nvSpPr>
        <p:spPr>
          <a:xfrm>
            <a:off x="8402117" y="4846320"/>
            <a:ext cx="2966618" cy="1188720"/>
          </a:xfrm>
          <a:prstGeom prst="rect">
            <a:avLst/>
          </a:prstGeom>
          <a:noFill/>
          <a:ln/>
        </p:spPr>
        <p:txBody>
          <a:bodyPr wrap="square" lIns="0" tIns="0" rIns="0" bIns="0" rtlCol="0" anchor="t"/>
          <a:lstStyle/>
          <a:p>
            <a:pPr indent="0" marL="0">
              <a:buNone/>
            </a:pPr>
            <a:r>
              <a:rPr lang="en-US" sz="1500" dirty="0">
                <a:solidFill>
                  <a:srgbClr val="1B2530"/>
                </a:solidFill>
                <a:latin typeface="Calibri" pitchFamily="34" charset="0"/>
                <a:ea typeface="Calibri" pitchFamily="34" charset="-122"/>
                <a:cs typeface="Calibri" pitchFamily="34" charset="-120"/>
              </a:rPr>
              <a:t>None. The only real prerequisite is a passion for computing and the technologies that enable it.</a:t>
            </a:r>
            <a:endParaRPr lang="en-US" sz="15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554480"/>
            <a:ext cx="11094415" cy="27432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Program first. Formalise later.</a:t>
            </a:r>
            <a:endParaRPr lang="en-US" sz="4400" dirty="0"/>
          </a:p>
        </p:txBody>
      </p:sp>
      <p:sp>
        <p:nvSpPr>
          <p:cNvPr id="6" name="Text 4"/>
          <p:cNvSpPr txBox="1"/>
          <p:nvPr/>
        </p:nvSpPr>
        <p:spPr>
          <a:xfrm>
            <a:off x="548640" y="4480560"/>
            <a:ext cx="11094415" cy="137160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From day one you write RISC-V assembly that runs on a real processor. Each formal topic then answers a question that your own program has already raised.</a:t>
            </a:r>
            <a:endParaRPr lang="en-US" sz="2200" dirty="0"/>
          </a:p>
        </p:txBody>
      </p:sp>
      <p:sp>
        <p:nvSpPr>
          <p:cNvPr id="7" name="Shape 5"/>
          <p:cNvSpPr/>
          <p:nvPr/>
        </p:nvSpPr>
        <p:spPr>
          <a:xfrm>
            <a:off x="8090738" y="91440"/>
            <a:ext cx="3552317" cy="274320"/>
          </a:xfrm>
          <a:prstGeom prst="rect">
            <a:avLst/>
          </a:prstGeom>
          <a:solidFill>
            <a:srgbClr val="E0F2FE"/>
          </a:solidFill>
          <a:ln w="12700">
            <a:solidFill>
              <a:srgbClr val="0369A1"/>
            </a:solidFill>
            <a:prstDash val="solid"/>
          </a:ln>
        </p:spPr>
      </p:sp>
      <p:sp>
        <p:nvSpPr>
          <p:cNvPr id="8" name="Shape 6"/>
          <p:cNvSpPr/>
          <p:nvPr/>
        </p:nvSpPr>
        <p:spPr>
          <a:xfrm>
            <a:off x="8090738" y="91440"/>
            <a:ext cx="73152" cy="274320"/>
          </a:xfrm>
          <a:prstGeom prst="rect">
            <a:avLst/>
          </a:prstGeom>
          <a:solidFill>
            <a:srgbClr val="0369A1"/>
          </a:solidFill>
          <a:ln w="12700">
            <a:solidFill>
              <a:srgbClr val="0369A1"/>
            </a:solidFill>
            <a:prstDash val="solid"/>
          </a:ln>
        </p:spPr>
      </p:sp>
      <p:pic>
        <p:nvPicPr>
          <p:cNvPr id="9" name="Image 0" descr="preencoded.png">    </p:cNvPr>
          <p:cNvPicPr>
            <a:picLocks noChangeAspect="1"/>
          </p:cNvPicPr>
          <p:nvPr/>
        </p:nvPicPr>
        <p:blipFill>
          <a:blip r:embed="rId1"/>
          <a:stretch>
            <a:fillRect/>
          </a:stretch>
        </p:blipFill>
        <p:spPr>
          <a:xfrm>
            <a:off x="8218754" y="128016"/>
            <a:ext cx="201168" cy="201168"/>
          </a:xfrm>
          <a:prstGeom prst="rect">
            <a:avLst/>
          </a:prstGeom>
        </p:spPr>
      </p:pic>
      <p:sp>
        <p:nvSpPr>
          <p:cNvPr id="10" name="Text 7"/>
          <p:cNvSpPr txBox="1"/>
          <p:nvPr/>
        </p:nvSpPr>
        <p:spPr>
          <a:xfrm>
            <a:off x="8474786" y="91440"/>
            <a:ext cx="313169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program-first method</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learning spiral, repeated for every topic</a:t>
            </a:r>
            <a:endParaRPr lang="en-US" sz="3200" dirty="0"/>
          </a:p>
        </p:txBody>
      </p:sp>
      <p:sp>
        <p:nvSpPr>
          <p:cNvPr id="3" name="Shape 1"/>
          <p:cNvSpPr/>
          <p:nvPr/>
        </p:nvSpPr>
        <p:spPr>
          <a:xfrm>
            <a:off x="548640" y="1874520"/>
            <a:ext cx="2499284" cy="2468880"/>
          </a:xfrm>
          <a:prstGeom prst="roundRect">
            <a:avLst>
              <a:gd name="adj" fmla="val 2963"/>
            </a:avLst>
          </a:prstGeom>
          <a:solidFill>
            <a:srgbClr val="EEF2F4"/>
          </a:solidFill>
          <a:ln w="12700">
            <a:solidFill>
              <a:srgbClr val="EEF2F4"/>
            </a:solidFill>
            <a:prstDash val="solid"/>
          </a:ln>
        </p:spPr>
      </p:sp>
      <p:sp>
        <p:nvSpPr>
          <p:cNvPr id="4" name="Text 2"/>
          <p:cNvSpPr txBox="1"/>
          <p:nvPr/>
        </p:nvSpPr>
        <p:spPr>
          <a:xfrm>
            <a:off x="685800" y="2057400"/>
            <a:ext cx="2224964" cy="685800"/>
          </a:xfrm>
          <a:prstGeom prst="roundRect">
            <a:avLst>
              <a:gd name="adj" fmla="val 10667"/>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Play</a:t>
            </a:r>
            <a:endParaRPr lang="en-US" sz="1900" dirty="0"/>
          </a:p>
        </p:txBody>
      </p:sp>
      <p:sp>
        <p:nvSpPr>
          <p:cNvPr id="5" name="Text 3"/>
          <p:cNvSpPr txBox="1"/>
          <p:nvPr/>
        </p:nvSpPr>
        <p:spPr>
          <a:xfrm>
            <a:off x="685800" y="2880360"/>
            <a:ext cx="2224964"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Type a few instructions, build a cartridge, run it on PRG32</a:t>
            </a:r>
            <a:endParaRPr lang="en-US" sz="1700" dirty="0"/>
          </a:p>
        </p:txBody>
      </p:sp>
      <p:sp>
        <p:nvSpPr>
          <p:cNvPr id="6" name="Shape 4"/>
          <p:cNvSpPr/>
          <p:nvPr/>
        </p:nvSpPr>
        <p:spPr>
          <a:xfrm>
            <a:off x="3093644" y="2962656"/>
            <a:ext cx="274320" cy="292608"/>
          </a:xfrm>
          <a:prstGeom prst="rightArrow">
            <a:avLst/>
          </a:prstGeom>
          <a:solidFill>
            <a:srgbClr val="5B6B78"/>
          </a:solidFill>
          <a:ln w="12700">
            <a:solidFill>
              <a:srgbClr val="5B6B78"/>
            </a:solidFill>
            <a:prstDash val="solid"/>
          </a:ln>
        </p:spPr>
      </p:sp>
      <p:sp>
        <p:nvSpPr>
          <p:cNvPr id="7" name="Shape 5"/>
          <p:cNvSpPr/>
          <p:nvPr/>
        </p:nvSpPr>
        <p:spPr>
          <a:xfrm>
            <a:off x="3413684" y="1874520"/>
            <a:ext cx="2499284" cy="2468880"/>
          </a:xfrm>
          <a:prstGeom prst="roundRect">
            <a:avLst>
              <a:gd name="adj" fmla="val 2963"/>
            </a:avLst>
          </a:prstGeom>
          <a:solidFill>
            <a:srgbClr val="EEF2F4"/>
          </a:solidFill>
          <a:ln w="12700">
            <a:solidFill>
              <a:srgbClr val="EEF2F4"/>
            </a:solidFill>
            <a:prstDash val="solid"/>
          </a:ln>
        </p:spPr>
      </p:sp>
      <p:sp>
        <p:nvSpPr>
          <p:cNvPr id="8" name="Text 6"/>
          <p:cNvSpPr txBox="1"/>
          <p:nvPr/>
        </p:nvSpPr>
        <p:spPr>
          <a:xfrm>
            <a:off x="3550844" y="2057400"/>
            <a:ext cx="2224964" cy="685800"/>
          </a:xfrm>
          <a:prstGeom prst="roundRect">
            <a:avLst>
              <a:gd name="adj" fmla="val 10667"/>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Observe</a:t>
            </a:r>
            <a:endParaRPr lang="en-US" sz="1900" dirty="0"/>
          </a:p>
        </p:txBody>
      </p:sp>
      <p:sp>
        <p:nvSpPr>
          <p:cNvPr id="9" name="Text 7"/>
          <p:cNvSpPr txBox="1"/>
          <p:nvPr/>
        </p:nvSpPr>
        <p:spPr>
          <a:xfrm>
            <a:off x="3550844" y="2880360"/>
            <a:ext cx="2224964"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Something happens: a number wraps, a bit lights a lamp, a rectangle moves</a:t>
            </a:r>
            <a:endParaRPr lang="en-US" sz="1700" dirty="0"/>
          </a:p>
        </p:txBody>
      </p:sp>
      <p:sp>
        <p:nvSpPr>
          <p:cNvPr id="10" name="Shape 8"/>
          <p:cNvSpPr/>
          <p:nvPr/>
        </p:nvSpPr>
        <p:spPr>
          <a:xfrm>
            <a:off x="5958688" y="2962656"/>
            <a:ext cx="274320" cy="292608"/>
          </a:xfrm>
          <a:prstGeom prst="rightArrow">
            <a:avLst/>
          </a:prstGeom>
          <a:solidFill>
            <a:srgbClr val="5B6B78"/>
          </a:solidFill>
          <a:ln w="12700">
            <a:solidFill>
              <a:srgbClr val="5B6B78"/>
            </a:solidFill>
            <a:prstDash val="solid"/>
          </a:ln>
        </p:spPr>
      </p:sp>
      <p:sp>
        <p:nvSpPr>
          <p:cNvPr id="11" name="Shape 9"/>
          <p:cNvSpPr/>
          <p:nvPr/>
        </p:nvSpPr>
        <p:spPr>
          <a:xfrm>
            <a:off x="6278728" y="1874520"/>
            <a:ext cx="2499284" cy="2468880"/>
          </a:xfrm>
          <a:prstGeom prst="roundRect">
            <a:avLst>
              <a:gd name="adj" fmla="val 2963"/>
            </a:avLst>
          </a:prstGeom>
          <a:solidFill>
            <a:srgbClr val="EEF2F4"/>
          </a:solidFill>
          <a:ln w="12700">
            <a:solidFill>
              <a:srgbClr val="EEF2F4"/>
            </a:solidFill>
            <a:prstDash val="solid"/>
          </a:ln>
        </p:spPr>
      </p:sp>
      <p:sp>
        <p:nvSpPr>
          <p:cNvPr id="12" name="Text 10"/>
          <p:cNvSpPr txBox="1"/>
          <p:nvPr/>
        </p:nvSpPr>
        <p:spPr>
          <a:xfrm>
            <a:off x="6415888" y="2057400"/>
            <a:ext cx="2224964" cy="685800"/>
          </a:xfrm>
          <a:prstGeom prst="roundRect">
            <a:avLst>
              <a:gd name="adj" fmla="val 10667"/>
            </a:avLst>
          </a:prstGeom>
          <a:solidFill>
            <a:srgbClr val="6B4FA0"/>
          </a:solidFill>
          <a:ln>
            <a:solidFill>
              <a:srgbClr val="6B4FA0"/>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Formalise</a:t>
            </a:r>
            <a:endParaRPr lang="en-US" sz="1900" dirty="0"/>
          </a:p>
        </p:txBody>
      </p:sp>
      <p:sp>
        <p:nvSpPr>
          <p:cNvPr id="13" name="Text 11"/>
          <p:cNvSpPr txBox="1"/>
          <p:nvPr/>
        </p:nvSpPr>
        <p:spPr>
          <a:xfrm>
            <a:off x="6415888" y="2880360"/>
            <a:ext cx="2224964"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Definitions, theorems and methods explain exactly why</a:t>
            </a:r>
            <a:endParaRPr lang="en-US" sz="1700" dirty="0"/>
          </a:p>
        </p:txBody>
      </p:sp>
      <p:sp>
        <p:nvSpPr>
          <p:cNvPr id="14" name="Shape 12"/>
          <p:cNvSpPr/>
          <p:nvPr/>
        </p:nvSpPr>
        <p:spPr>
          <a:xfrm>
            <a:off x="8823731" y="2962656"/>
            <a:ext cx="274320" cy="292608"/>
          </a:xfrm>
          <a:prstGeom prst="rightArrow">
            <a:avLst/>
          </a:prstGeom>
          <a:solidFill>
            <a:srgbClr val="5B6B78"/>
          </a:solidFill>
          <a:ln w="12700">
            <a:solidFill>
              <a:srgbClr val="5B6B78"/>
            </a:solidFill>
            <a:prstDash val="solid"/>
          </a:ln>
        </p:spPr>
      </p:sp>
      <p:sp>
        <p:nvSpPr>
          <p:cNvPr id="15" name="Shape 13"/>
          <p:cNvSpPr/>
          <p:nvPr/>
        </p:nvSpPr>
        <p:spPr>
          <a:xfrm>
            <a:off x="9143771" y="1874520"/>
            <a:ext cx="2499284" cy="2468880"/>
          </a:xfrm>
          <a:prstGeom prst="roundRect">
            <a:avLst>
              <a:gd name="adj" fmla="val 2963"/>
            </a:avLst>
          </a:prstGeom>
          <a:solidFill>
            <a:srgbClr val="EEF2F4"/>
          </a:solidFill>
          <a:ln w="12700">
            <a:solidFill>
              <a:srgbClr val="EEF2F4"/>
            </a:solidFill>
            <a:prstDash val="solid"/>
          </a:ln>
        </p:spPr>
      </p:sp>
      <p:sp>
        <p:nvSpPr>
          <p:cNvPr id="16" name="Text 14"/>
          <p:cNvSpPr txBox="1"/>
          <p:nvPr/>
        </p:nvSpPr>
        <p:spPr>
          <a:xfrm>
            <a:off x="9280931" y="2057400"/>
            <a:ext cx="2224964" cy="685800"/>
          </a:xfrm>
          <a:prstGeom prst="roundRect">
            <a:avLst>
              <a:gd name="adj" fmla="val 10667"/>
            </a:avLst>
          </a:prstGeom>
          <a:solidFill>
            <a:srgbClr val="2F7D4F"/>
          </a:solidFill>
          <a:ln>
            <a:solidFill>
              <a:srgbClr val="2F7D4F"/>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Return</a:t>
            </a:r>
            <a:endParaRPr lang="en-US" sz="1900" dirty="0"/>
          </a:p>
        </p:txBody>
      </p:sp>
      <p:sp>
        <p:nvSpPr>
          <p:cNvPr id="17" name="Text 15"/>
          <p:cNvSpPr txBox="1"/>
          <p:nvPr/>
        </p:nvSpPr>
        <p:spPr>
          <a:xfrm>
            <a:off x="9280931" y="2880360"/>
            <a:ext cx="2224964" cy="1325880"/>
          </a:xfrm>
          <a:prstGeom prst="rect">
            <a:avLst/>
          </a:prstGeom>
          <a:noFill/>
          <a:ln/>
        </p:spPr>
        <p:txBody>
          <a:bodyPr wrap="square" lIns="0" tIns="0" rIns="0" bIns="0" rtlCol="0" anchor="ctr"/>
          <a:lstStyle/>
          <a:p>
            <a:pPr algn="ctr" indent="0" marL="0">
              <a:buNone/>
            </a:pPr>
            <a:r>
              <a:rPr lang="en-US" sz="1700" dirty="0">
                <a:solidFill>
                  <a:srgbClr val="1B2530"/>
                </a:solidFill>
                <a:latin typeface="Calibri" pitchFamily="34" charset="0"/>
                <a:ea typeface="Calibri" pitchFamily="34" charset="-122"/>
                <a:cs typeface="Calibri" pitchFamily="34" charset="-120"/>
              </a:rPr>
              <a:t>Back to the machine: predict the result before you run it</a:t>
            </a:r>
            <a:endParaRPr lang="en-US" sz="1700" dirty="0"/>
          </a:p>
        </p:txBody>
      </p:sp>
      <p:sp>
        <p:nvSpPr>
          <p:cNvPr id="18" name="Shape 16"/>
          <p:cNvSpPr/>
          <p:nvPr/>
        </p:nvSpPr>
        <p:spPr>
          <a:xfrm>
            <a:off x="548640" y="4709160"/>
            <a:ext cx="11094415" cy="1463040"/>
          </a:xfrm>
          <a:prstGeom prst="roundRect">
            <a:avLst>
              <a:gd name="adj" fmla="val 5000"/>
            </a:avLst>
          </a:prstGeom>
          <a:solidFill>
            <a:srgbClr val="D8ECEE"/>
          </a:solidFill>
          <a:ln w="12700">
            <a:solidFill>
              <a:srgbClr val="D8ECEE"/>
            </a:solidFill>
            <a:prstDash val="solid"/>
          </a:ln>
        </p:spPr>
      </p:sp>
      <p:sp>
        <p:nvSpPr>
          <p:cNvPr id="19" name="Text 17"/>
          <p:cNvSpPr txBox="1"/>
          <p:nvPr/>
        </p:nvSpPr>
        <p:spPr>
          <a:xfrm>
            <a:off x="822960" y="4800600"/>
            <a:ext cx="10545775" cy="1280160"/>
          </a:xfrm>
          <a:prstGeom prst="rect">
            <a:avLst/>
          </a:prstGeom>
          <a:noFill/>
          <a:ln/>
        </p:spPr>
        <p:txBody>
          <a:bodyPr wrap="square" lIns="0" tIns="0" rIns="0" bIns="0" rtlCol="0" anchor="ctr"/>
          <a:lstStyle/>
          <a:p>
            <a:pPr indent="0" marL="0">
              <a:buNone/>
            </a:pPr>
            <a:r>
              <a:rPr lang="en-US" sz="2000" dirty="0">
                <a:solidFill>
                  <a:srgbClr val="1B2530"/>
                </a:solidFill>
                <a:latin typeface="Calibri" pitchFamily="34" charset="0"/>
                <a:ea typeface="Calibri" pitchFamily="34" charset="-122"/>
                <a:cs typeface="Calibri" pitchFamily="34" charset="-120"/>
              </a:rPr>
              <a:t>A mark is an opinion; a paddle that leaves the screen is a fact. We will use facts, then explain them.</a:t>
            </a:r>
            <a:endParaRPr lang="en-US" sz="2000" dirty="0"/>
          </a:p>
        </p:txBody>
      </p:sp>
      <p:sp>
        <p:nvSpPr>
          <p:cNvPr id="20" name="Shape 18"/>
          <p:cNvSpPr/>
          <p:nvPr/>
        </p:nvSpPr>
        <p:spPr>
          <a:xfrm>
            <a:off x="8090738" y="91440"/>
            <a:ext cx="3552317" cy="274320"/>
          </a:xfrm>
          <a:prstGeom prst="rect">
            <a:avLst/>
          </a:prstGeom>
          <a:solidFill>
            <a:srgbClr val="E0F2FE"/>
          </a:solidFill>
          <a:ln w="12700">
            <a:solidFill>
              <a:srgbClr val="0369A1"/>
            </a:solidFill>
            <a:prstDash val="solid"/>
          </a:ln>
        </p:spPr>
      </p:sp>
      <p:sp>
        <p:nvSpPr>
          <p:cNvPr id="21" name="Shape 19"/>
          <p:cNvSpPr/>
          <p:nvPr/>
        </p:nvSpPr>
        <p:spPr>
          <a:xfrm>
            <a:off x="8090738" y="91440"/>
            <a:ext cx="73152" cy="274320"/>
          </a:xfrm>
          <a:prstGeom prst="rect">
            <a:avLst/>
          </a:prstGeom>
          <a:solidFill>
            <a:srgbClr val="0369A1"/>
          </a:solidFill>
          <a:ln w="12700">
            <a:solidFill>
              <a:srgbClr val="0369A1"/>
            </a:solidFill>
            <a:prstDash val="solid"/>
          </a:ln>
        </p:spPr>
      </p:sp>
      <p:pic>
        <p:nvPicPr>
          <p:cNvPr id="22" name="Image 0" descr="preencoded.png">    </p:cNvPr>
          <p:cNvPicPr>
            <a:picLocks noChangeAspect="1"/>
          </p:cNvPicPr>
          <p:nvPr/>
        </p:nvPicPr>
        <p:blipFill>
          <a:blip r:embed="rId1"/>
          <a:stretch>
            <a:fillRect/>
          </a:stretch>
        </p:blipFill>
        <p:spPr>
          <a:xfrm>
            <a:off x="8218754" y="128016"/>
            <a:ext cx="201168" cy="201168"/>
          </a:xfrm>
          <a:prstGeom prst="rect">
            <a:avLst/>
          </a:prstGeom>
        </p:spPr>
      </p:pic>
      <p:sp>
        <p:nvSpPr>
          <p:cNvPr id="23" name="Text 20"/>
          <p:cNvSpPr txBox="1"/>
          <p:nvPr/>
        </p:nvSpPr>
        <p:spPr>
          <a:xfrm>
            <a:off x="8474786" y="91440"/>
            <a:ext cx="3131693"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program-first method</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the course aims at</a:t>
            </a:r>
            <a:endParaRPr lang="en-US" sz="3200" dirty="0"/>
          </a:p>
        </p:txBody>
      </p:sp>
      <p:sp>
        <p:nvSpPr>
          <p:cNvPr id="3" name="Shape 1"/>
          <p:cNvSpPr/>
          <p:nvPr/>
        </p:nvSpPr>
        <p:spPr>
          <a:xfrm>
            <a:off x="548640" y="1492758"/>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Present the fundamental aspects of the architecture of modern computers</a:t>
            </a:r>
            <a:endParaRPr lang="en-US" sz="1800" dirty="0"/>
          </a:p>
        </p:txBody>
      </p:sp>
      <p:sp>
        <p:nvSpPr>
          <p:cNvPr id="5" name="Shape 3"/>
          <p:cNvSpPr/>
          <p:nvPr/>
        </p:nvSpPr>
        <p:spPr>
          <a:xfrm>
            <a:off x="548640" y="2279714"/>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04276"/>
            <a:ext cx="6565392" cy="836676"/>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Use, in the laboratory, the basic concepts for programming them efficiently in low-level languages: machine language and assembly</a:t>
            </a:r>
            <a:endParaRPr lang="en-US" sz="1800" dirty="0"/>
          </a:p>
        </p:txBody>
      </p:sp>
      <p:sp>
        <p:nvSpPr>
          <p:cNvPr id="7" name="Shape 5"/>
          <p:cNvSpPr/>
          <p:nvPr/>
        </p:nvSpPr>
        <p:spPr>
          <a:xfrm>
            <a:off x="548640" y="3345561"/>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270123"/>
            <a:ext cx="6565392" cy="104927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Treat rigorously the tools the processor is built from</a:t>
            </a:r>
            <a:endParaRPr lang="en-US" sz="1800" dirty="0"/>
          </a:p>
          <a:p>
            <a:pPr indent="0" marL="0">
              <a:spcAft>
                <a:spcPts val="200"/>
              </a:spcAft>
              <a:buNone/>
            </a:pPr>
            <a:r>
              <a:rPr lang="en-US" sz="1500" dirty="0">
                <a:solidFill>
                  <a:srgbClr val="5B6B78"/>
                </a:solidFill>
                <a:latin typeface="Calibri" pitchFamily="34" charset="0"/>
                <a:ea typeface="Calibri" pitchFamily="34" charset="-122"/>
                <a:cs typeface="Calibri" pitchFamily="34" charset="-120"/>
              </a:rPr>
              <a:t>– Boolean algebra and the synthesis of combinational and sequential logic networks</a:t>
            </a:r>
            <a:endParaRPr lang="en-US" sz="1800" dirty="0"/>
          </a:p>
          <a:p>
            <a:pPr indent="0" marL="0">
              <a:spcAft>
                <a:spcPts val="200"/>
              </a:spcAft>
              <a:buNone/>
            </a:pPr>
            <a:r>
              <a:rPr lang="en-US" sz="1500" dirty="0">
                <a:solidFill>
                  <a:srgbClr val="5B6B78"/>
                </a:solidFill>
                <a:latin typeface="Calibri" pitchFamily="34" charset="0"/>
                <a:ea typeface="Calibri" pitchFamily="34" charset="-122"/>
                <a:cs typeface="Calibri" pitchFamily="34" charset="-120"/>
              </a:rPr>
              <a:t>– binary representation and binary arithmetic</a:t>
            </a:r>
            <a:endParaRPr lang="en-US" sz="1800" dirty="0"/>
          </a:p>
        </p:txBody>
      </p:sp>
      <p:sp>
        <p:nvSpPr>
          <p:cNvPr id="9" name="Shape 7"/>
          <p:cNvSpPr/>
          <p:nvPr/>
        </p:nvSpPr>
        <p:spPr>
          <a:xfrm>
            <a:off x="548640" y="4624007"/>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548569"/>
            <a:ext cx="6565392" cy="557784"/>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Describe in detail the functional and physical structure of the CPU, the memory and the input/output subsystem</a:t>
            </a:r>
            <a:endParaRPr lang="en-US" sz="1800" dirty="0"/>
          </a:p>
        </p:txBody>
      </p:sp>
      <p:sp>
        <p:nvSpPr>
          <p:cNvPr id="11" name="Shape 9"/>
          <p:cNvSpPr/>
          <p:nvPr/>
        </p:nvSpPr>
        <p:spPr>
          <a:xfrm>
            <a:off x="548640" y="541096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335524"/>
            <a:ext cx="6565392" cy="836676"/>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Develop assembly code that makes visible how a processor really works and how the basic units of a computer interact</a:t>
            </a:r>
            <a:endParaRPr lang="en-US" sz="1800" dirty="0"/>
          </a:p>
        </p:txBody>
      </p:sp>
      <p:pic>
        <p:nvPicPr>
          <p:cNvPr id="13" name="Image 0" descr="/Users/raffaelemontella/devel/riscv-prg32/computer-architecture-with-prg32/tools/assets/game_pong.png">    </p:cNvPr>
          <p:cNvPicPr>
            <a:picLocks noChangeAspect="1"/>
          </p:cNvPicPr>
          <p:nvPr/>
        </p:nvPicPr>
        <p:blipFill>
          <a:blip r:embed="rId1"/>
          <a:stretch>
            <a:fillRect/>
          </a:stretch>
        </p:blipFill>
        <p:spPr>
          <a:xfrm>
            <a:off x="7863840" y="2148954"/>
            <a:ext cx="3779215" cy="2834411"/>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Pong running on PRG32: native RISC-V machine code</a:t>
            </a:r>
            <a:endParaRPr lang="en-US" sz="1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PRG32: a retro console you program in assembly</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An open-source educational runtime for teaching RISC-V assembly and C, developed at Parthenope</a:t>
            </a:r>
            <a:endParaRPr lang="en-US" sz="2100" dirty="0"/>
          </a:p>
        </p:txBody>
      </p:sp>
      <p:sp>
        <p:nvSpPr>
          <p:cNvPr id="5" name="Shape 3"/>
          <p:cNvSpPr/>
          <p:nvPr/>
        </p:nvSpPr>
        <p:spPr>
          <a:xfrm>
            <a:off x="548640" y="2300478"/>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201799"/>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Your code runs natively as 32-bit RISC-V machine code (RV32IMAC): it is not interpreted by a simulator</a:t>
            </a:r>
            <a:endParaRPr lang="en-US" sz="2100" dirty="0"/>
          </a:p>
        </p:txBody>
      </p:sp>
      <p:sp>
        <p:nvSpPr>
          <p:cNvPr id="7" name="Shape 5"/>
          <p:cNvSpPr/>
          <p:nvPr/>
        </p:nvSpPr>
        <p:spPr>
          <a:xfrm>
            <a:off x="548640" y="3410331"/>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311652"/>
            <a:ext cx="6565392" cy="966216"/>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deliberately thin contract: three functions that you write</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init runs once; update and draw run once per frame</a:t>
            </a:r>
            <a:endParaRPr lang="en-US" sz="2100" dirty="0"/>
          </a:p>
        </p:txBody>
      </p:sp>
      <p:sp>
        <p:nvSpPr>
          <p:cNvPr id="9" name="Shape 7"/>
          <p:cNvSpPr/>
          <p:nvPr/>
        </p:nvSpPr>
        <p:spPr>
          <a:xfrm>
            <a:off x="548640" y="4510278"/>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11599"/>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Games travel as small cartridges: files with the extension .prg32</a:t>
            </a:r>
            <a:endParaRPr lang="en-US" sz="2100" dirty="0"/>
          </a:p>
        </p:txBody>
      </p:sp>
      <p:sp>
        <p:nvSpPr>
          <p:cNvPr id="11" name="Shape 9"/>
          <p:cNvSpPr/>
          <p:nvPr/>
        </p:nvSpPr>
        <p:spPr>
          <a:xfrm>
            <a:off x="548640" y="5294757"/>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196078"/>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 320 by 200 viewport, a joystick, sound: small enough to hold in your head, rich enough to exercise the whole course</a:t>
            </a:r>
            <a:endParaRPr lang="en-US" sz="2100" dirty="0"/>
          </a:p>
        </p:txBody>
      </p:sp>
      <p:pic>
        <p:nvPicPr>
          <p:cNvPr id="13" name="Image 0" descr="/Users/raffaelemontella/devel/riscv-prg32/computer-architecture-with-prg32/tools/assets/menu_main.png">    </p:cNvPr>
          <p:cNvPicPr>
            <a:picLocks noChangeAspect="1"/>
          </p:cNvPicPr>
          <p:nvPr/>
        </p:nvPicPr>
        <p:blipFill>
          <a:blip r:embed="rId1"/>
          <a:stretch>
            <a:fillRect/>
          </a:stretch>
        </p:blipFill>
        <p:spPr>
          <a:xfrm>
            <a:off x="7863840" y="2148954"/>
            <a:ext cx="3779215" cy="2834411"/>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The PRG32 resident firmware menu</a:t>
            </a:r>
            <a:endParaRPr lang="en-US" sz="1200" dirty="0"/>
          </a:p>
        </p:txBody>
      </p:sp>
      <p:sp>
        <p:nvSpPr>
          <p:cNvPr id="15" name="Shape 12"/>
          <p:cNvSpPr/>
          <p:nvPr/>
        </p:nvSpPr>
        <p:spPr>
          <a:xfrm>
            <a:off x="7283272" y="91440"/>
            <a:ext cx="4359783" cy="274320"/>
          </a:xfrm>
          <a:prstGeom prst="rect">
            <a:avLst/>
          </a:prstGeom>
          <a:solidFill>
            <a:srgbClr val="F3E8FF"/>
          </a:solidFill>
          <a:ln w="12700">
            <a:solidFill>
              <a:srgbClr val="7E22CE"/>
            </a:solidFill>
            <a:prstDash val="dash"/>
          </a:ln>
        </p:spPr>
      </p:sp>
      <p:sp>
        <p:nvSpPr>
          <p:cNvPr id="16" name="Shape 13"/>
          <p:cNvSpPr/>
          <p:nvPr/>
        </p:nvSpPr>
        <p:spPr>
          <a:xfrm>
            <a:off x="7310704" y="128016"/>
            <a:ext cx="45720" cy="45720"/>
          </a:xfrm>
          <a:prstGeom prst="rect">
            <a:avLst/>
          </a:prstGeom>
          <a:solidFill>
            <a:srgbClr val="7E22CE"/>
          </a:solidFill>
          <a:ln w="12700">
            <a:solidFill>
              <a:srgbClr val="7E22CE"/>
            </a:solidFill>
            <a:prstDash val="solid"/>
          </a:ln>
        </p:spPr>
      </p:sp>
      <p:sp>
        <p:nvSpPr>
          <p:cNvPr id="17" name="Shape 14"/>
          <p:cNvSpPr/>
          <p:nvPr/>
        </p:nvSpPr>
        <p:spPr>
          <a:xfrm>
            <a:off x="7310704" y="205740"/>
            <a:ext cx="45720" cy="45720"/>
          </a:xfrm>
          <a:prstGeom prst="rect">
            <a:avLst/>
          </a:prstGeom>
          <a:solidFill>
            <a:srgbClr val="7E22CE"/>
          </a:solidFill>
          <a:ln w="12700">
            <a:solidFill>
              <a:srgbClr val="7E22CE"/>
            </a:solidFill>
            <a:prstDash val="solid"/>
          </a:ln>
        </p:spPr>
      </p:sp>
      <p:sp>
        <p:nvSpPr>
          <p:cNvPr id="18" name="Shape 15"/>
          <p:cNvSpPr/>
          <p:nvPr/>
        </p:nvSpPr>
        <p:spPr>
          <a:xfrm>
            <a:off x="7310704"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7411288" y="128016"/>
            <a:ext cx="201168" cy="201168"/>
          </a:xfrm>
          <a:prstGeom prst="rect">
            <a:avLst/>
          </a:prstGeom>
        </p:spPr>
      </p:pic>
      <p:sp>
        <p:nvSpPr>
          <p:cNvPr id="20" name="Text 16"/>
          <p:cNvSpPr txBox="1"/>
          <p:nvPr/>
        </p:nvSpPr>
        <p:spPr>
          <a:xfrm>
            <a:off x="7667320" y="91440"/>
            <a:ext cx="3939159"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pPr indent="0" marL="0">
              <a:buNone/>
            </a:pPr>
            <a:r>
              <a:rPr lang="en-US" sz="1100" dirty="0">
                <a:solidFill>
                  <a:srgbClr val="6B21A8"/>
                </a:solidFill>
                <a:latin typeface="Calibri" pitchFamily="34" charset="0"/>
                <a:ea typeface="Calibri" pitchFamily="34" charset="-122"/>
                <a:cs typeface="Calibri" pitchFamily="34" charset="-120"/>
              </a:rPr>
              <a:t> · the pieces of PRG32</a:t>
            </a:r>
            <a:pPr indent="0" marL="0">
              <a:buNone/>
            </a:pPr>
            <a:r>
              <a:rPr lang="en-US" sz="1100" b="1" dirty="0">
                <a:solidFill>
                  <a:srgbClr val="6B21A8"/>
                </a:solidFill>
                <a:latin typeface="Calibri" pitchFamily="34" charset="0"/>
                <a:ea typeface="Calibri" pitchFamily="34" charset="-122"/>
                <a:cs typeface="Calibri" pitchFamily="34" charset="-120"/>
              </a:rPr>
              <a:t> → Lecture 01</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PRG32-QT: the debugger of the course</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5468112" cy="88315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PRG32-QT is PRG32 on your laptop: it runs the same cartridges, with no board and no compiler</a:t>
            </a:r>
            <a:endParaRPr lang="en-US" sz="1900" dirty="0"/>
          </a:p>
        </p:txBody>
      </p:sp>
      <p:sp>
        <p:nvSpPr>
          <p:cNvPr id="5" name="Shape 3"/>
          <p:cNvSpPr/>
          <p:nvPr/>
        </p:nvSpPr>
        <p:spPr>
          <a:xfrm>
            <a:off x="548640" y="2556383"/>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473198"/>
            <a:ext cx="5468112" cy="2176018"/>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In debug mode it opens the machine</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pause, resume, one instruction at a time</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breakpoints on any instruction of init, update or draw</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the 32 registers and 128 bytes of memory at any address</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speed from 0.01x to 4x, and counters: frames, instructions, late frames</a:t>
            </a:r>
            <a:endParaRPr lang="en-US" sz="1900" dirty="0"/>
          </a:p>
        </p:txBody>
      </p:sp>
      <p:sp>
        <p:nvSpPr>
          <p:cNvPr id="7" name="Shape 5"/>
          <p:cNvSpPr/>
          <p:nvPr/>
        </p:nvSpPr>
        <p:spPr>
          <a:xfrm>
            <a:off x="548640" y="4905121"/>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4821936"/>
            <a:ext cx="546811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You will use it in every lecture: to check a prediction, to find a mistake, to measure</a:t>
            </a:r>
            <a:endParaRPr lang="en-US" sz="1900" dirty="0"/>
          </a:p>
        </p:txBody>
      </p:sp>
      <p:sp>
        <p:nvSpPr>
          <p:cNvPr id="9" name="Shape 7"/>
          <p:cNvSpPr/>
          <p:nvPr/>
        </p:nvSpPr>
        <p:spPr>
          <a:xfrm>
            <a:off x="548640" y="5666613"/>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583428"/>
            <a:ext cx="546811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 program is understood when you can say what each register will hold before you press Step</a:t>
            </a:r>
            <a:endParaRPr lang="en-US" sz="1900" dirty="0"/>
          </a:p>
        </p:txBody>
      </p:sp>
      <p:pic>
        <p:nvPicPr>
          <p:cNvPr id="11" name="Image 0" descr="/Users/raffaelemontella/devel/riscv-prg32/computer-architecture-with-prg32/tools/assets/prg32qt_debugger.png">    </p:cNvPr>
          <p:cNvPicPr>
            <a:picLocks noChangeAspect="1"/>
          </p:cNvPicPr>
          <p:nvPr/>
        </p:nvPicPr>
        <p:blipFill>
          <a:blip r:embed="rId1"/>
          <a:stretch>
            <a:fillRect/>
          </a:stretch>
        </p:blipFill>
        <p:spPr>
          <a:xfrm>
            <a:off x="6766560" y="1882245"/>
            <a:ext cx="4876495" cy="3367829"/>
          </a:xfrm>
          <a:prstGeom prst="rect">
            <a:avLst/>
          </a:prstGeom>
        </p:spPr>
      </p:pic>
      <p:sp>
        <p:nvSpPr>
          <p:cNvPr id="12" name="Text 9"/>
          <p:cNvSpPr txBox="1"/>
          <p:nvPr/>
        </p:nvSpPr>
        <p:spPr>
          <a:xfrm>
            <a:off x="6766560" y="5788152"/>
            <a:ext cx="487649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PRG32-QT in debug mode: the game on the left, the machine on the right</a:t>
            </a:r>
            <a:endParaRPr lang="en-US" sz="1200" dirty="0"/>
          </a:p>
        </p:txBody>
      </p:sp>
      <p:sp>
        <p:nvSpPr>
          <p:cNvPr id="13" name="Shape 10"/>
          <p:cNvSpPr/>
          <p:nvPr/>
        </p:nvSpPr>
        <p:spPr>
          <a:xfrm>
            <a:off x="7283272" y="91440"/>
            <a:ext cx="4359783" cy="274320"/>
          </a:xfrm>
          <a:prstGeom prst="rect">
            <a:avLst/>
          </a:prstGeom>
          <a:solidFill>
            <a:srgbClr val="F3E8FF"/>
          </a:solidFill>
          <a:ln w="12700">
            <a:solidFill>
              <a:srgbClr val="7E22CE"/>
            </a:solidFill>
            <a:prstDash val="dash"/>
          </a:ln>
        </p:spPr>
      </p:sp>
      <p:sp>
        <p:nvSpPr>
          <p:cNvPr id="14" name="Shape 11"/>
          <p:cNvSpPr/>
          <p:nvPr/>
        </p:nvSpPr>
        <p:spPr>
          <a:xfrm>
            <a:off x="7310704" y="128016"/>
            <a:ext cx="45720" cy="45720"/>
          </a:xfrm>
          <a:prstGeom prst="rect">
            <a:avLst/>
          </a:prstGeom>
          <a:solidFill>
            <a:srgbClr val="7E22CE"/>
          </a:solidFill>
          <a:ln w="12700">
            <a:solidFill>
              <a:srgbClr val="7E22CE"/>
            </a:solidFill>
            <a:prstDash val="solid"/>
          </a:ln>
        </p:spPr>
      </p:sp>
      <p:sp>
        <p:nvSpPr>
          <p:cNvPr id="15" name="Shape 12"/>
          <p:cNvSpPr/>
          <p:nvPr/>
        </p:nvSpPr>
        <p:spPr>
          <a:xfrm>
            <a:off x="7310704" y="205740"/>
            <a:ext cx="45720" cy="45720"/>
          </a:xfrm>
          <a:prstGeom prst="rect">
            <a:avLst/>
          </a:prstGeom>
          <a:solidFill>
            <a:srgbClr val="7E22CE"/>
          </a:solidFill>
          <a:ln w="12700">
            <a:solidFill>
              <a:srgbClr val="7E22CE"/>
            </a:solidFill>
            <a:prstDash val="solid"/>
          </a:ln>
        </p:spPr>
      </p:sp>
      <p:sp>
        <p:nvSpPr>
          <p:cNvPr id="16" name="Shape 13"/>
          <p:cNvSpPr/>
          <p:nvPr/>
        </p:nvSpPr>
        <p:spPr>
          <a:xfrm>
            <a:off x="7310704" y="283464"/>
            <a:ext cx="45720" cy="45720"/>
          </a:xfrm>
          <a:prstGeom prst="rect">
            <a:avLst/>
          </a:prstGeom>
          <a:solidFill>
            <a:srgbClr val="7E22CE"/>
          </a:solidFill>
          <a:ln w="12700">
            <a:solidFill>
              <a:srgbClr val="7E22CE"/>
            </a:solidFill>
            <a:prstDash val="solid"/>
          </a:ln>
        </p:spPr>
      </p:sp>
      <p:pic>
        <p:nvPicPr>
          <p:cNvPr id="17" name="Image 1" descr="preencoded.png">    </p:cNvPr>
          <p:cNvPicPr>
            <a:picLocks noChangeAspect="1"/>
          </p:cNvPicPr>
          <p:nvPr/>
        </p:nvPicPr>
        <p:blipFill>
          <a:blip r:embed="rId2"/>
          <a:stretch>
            <a:fillRect/>
          </a:stretch>
        </p:blipFill>
        <p:spPr>
          <a:xfrm>
            <a:off x="7411288" y="128016"/>
            <a:ext cx="201168" cy="201168"/>
          </a:xfrm>
          <a:prstGeom prst="rect">
            <a:avLst/>
          </a:prstGeom>
        </p:spPr>
      </p:pic>
      <p:sp>
        <p:nvSpPr>
          <p:cNvPr id="18" name="Text 14"/>
          <p:cNvSpPr txBox="1"/>
          <p:nvPr/>
        </p:nvSpPr>
        <p:spPr>
          <a:xfrm>
            <a:off x="7667320" y="91440"/>
            <a:ext cx="3939159"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pPr indent="0" marL="0">
              <a:buNone/>
            </a:pPr>
            <a:r>
              <a:rPr lang="en-US" sz="1100" dirty="0">
                <a:solidFill>
                  <a:srgbClr val="6B21A8"/>
                </a:solidFill>
                <a:latin typeface="Calibri" pitchFamily="34" charset="0"/>
                <a:ea typeface="Calibri" pitchFamily="34" charset="-122"/>
                <a:cs typeface="Calibri" pitchFamily="34" charset="-120"/>
              </a:rPr>
              <a:t> · the pieces of PRG32</a:t>
            </a:r>
            <a:pPr indent="0" marL="0">
              <a:buNone/>
            </a:pPr>
            <a:r>
              <a:rPr lang="en-US" sz="1100" b="1" dirty="0">
                <a:solidFill>
                  <a:srgbClr val="6B21A8"/>
                </a:solidFill>
                <a:latin typeface="Calibri" pitchFamily="34" charset="0"/>
                <a:ea typeface="Calibri" pitchFamily="34" charset="-122"/>
                <a:cs typeface="Calibri" pitchFamily="34" charset="-120"/>
              </a:rPr>
              <a:t> → Lecture 01</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Why RISC-V?</a:t>
            </a:r>
            <a:endParaRPr lang="en-US" sz="3200" dirty="0"/>
          </a:p>
        </p:txBody>
      </p:sp>
      <p:sp>
        <p:nvSpPr>
          <p:cNvPr id="3" name="Shape 1"/>
          <p:cNvSpPr/>
          <p:nvPr/>
        </p:nvSpPr>
        <p:spPr>
          <a:xfrm>
            <a:off x="548640" y="1417320"/>
            <a:ext cx="5410048" cy="2240280"/>
          </a:xfrm>
          <a:prstGeom prst="roundRect">
            <a:avLst>
              <a:gd name="adj" fmla="val 3265"/>
            </a:avLst>
          </a:prstGeom>
          <a:solidFill>
            <a:srgbClr val="EEF2F4"/>
          </a:solidFill>
          <a:ln w="12700">
            <a:solidFill>
              <a:srgbClr val="EEF2F4"/>
            </a:solidFill>
            <a:prstDash val="solid"/>
          </a:ln>
        </p:spPr>
      </p:sp>
      <p:sp>
        <p:nvSpPr>
          <p:cNvPr id="4" name="Text 2"/>
          <p:cNvSpPr txBox="1"/>
          <p:nvPr/>
        </p:nvSpPr>
        <p:spPr>
          <a:xfrm>
            <a:off x="777240" y="1645920"/>
            <a:ext cx="384048" cy="384048"/>
          </a:xfrm>
          <a:prstGeom prst="roundRect">
            <a:avLst>
              <a:gd name="adj" fmla="val 19048"/>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325880" y="1600200"/>
            <a:ext cx="440420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Open</a:t>
            </a:r>
            <a:endParaRPr lang="en-US" sz="2000" dirty="0"/>
          </a:p>
        </p:txBody>
      </p:sp>
      <p:sp>
        <p:nvSpPr>
          <p:cNvPr id="6" name="Text 4"/>
          <p:cNvSpPr txBox="1"/>
          <p:nvPr/>
        </p:nvSpPr>
        <p:spPr>
          <a:xfrm>
            <a:off x="822960" y="2331720"/>
            <a:ext cx="4861408" cy="118872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RISC-V is an open standard instruction set: anyone may design, build and sell a RISC-V processor without paying a licence for the architecture.</a:t>
            </a:r>
            <a:endParaRPr lang="en-US" sz="1900" dirty="0"/>
          </a:p>
        </p:txBody>
      </p:sp>
      <p:sp>
        <p:nvSpPr>
          <p:cNvPr id="7" name="Shape 5"/>
          <p:cNvSpPr/>
          <p:nvPr/>
        </p:nvSpPr>
        <p:spPr>
          <a:xfrm>
            <a:off x="6233008" y="1417320"/>
            <a:ext cx="5410048" cy="2240280"/>
          </a:xfrm>
          <a:prstGeom prst="roundRect">
            <a:avLst>
              <a:gd name="adj" fmla="val 3265"/>
            </a:avLst>
          </a:prstGeom>
          <a:solidFill>
            <a:srgbClr val="EEF2F4"/>
          </a:solidFill>
          <a:ln w="12700">
            <a:solidFill>
              <a:srgbClr val="EEF2F4"/>
            </a:solidFill>
            <a:prstDash val="solid"/>
          </a:ln>
        </p:spPr>
      </p:sp>
      <p:sp>
        <p:nvSpPr>
          <p:cNvPr id="8" name="Text 6"/>
          <p:cNvSpPr txBox="1"/>
          <p:nvPr/>
        </p:nvSpPr>
        <p:spPr>
          <a:xfrm>
            <a:off x="6461608" y="1645920"/>
            <a:ext cx="384048" cy="384048"/>
          </a:xfrm>
          <a:prstGeom prst="roundRect">
            <a:avLst>
              <a:gd name="adj" fmla="val 19048"/>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7010248" y="1600200"/>
            <a:ext cx="440420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Small</a:t>
            </a:r>
            <a:endParaRPr lang="en-US" sz="2000" dirty="0"/>
          </a:p>
        </p:txBody>
      </p:sp>
      <p:sp>
        <p:nvSpPr>
          <p:cNvPr id="10" name="Text 8"/>
          <p:cNvSpPr txBox="1"/>
          <p:nvPr/>
        </p:nvSpPr>
        <p:spPr>
          <a:xfrm>
            <a:off x="6507328" y="2331720"/>
            <a:ext cx="4861408" cy="118872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The base integer instruction set has about forty instructions and thirty-two registers. You can learn all of it in one semester.</a:t>
            </a:r>
            <a:endParaRPr lang="en-US" sz="1900" dirty="0"/>
          </a:p>
        </p:txBody>
      </p:sp>
      <p:sp>
        <p:nvSpPr>
          <p:cNvPr id="11" name="Shape 9"/>
          <p:cNvSpPr/>
          <p:nvPr/>
        </p:nvSpPr>
        <p:spPr>
          <a:xfrm>
            <a:off x="548640" y="3931920"/>
            <a:ext cx="5410048" cy="2240280"/>
          </a:xfrm>
          <a:prstGeom prst="roundRect">
            <a:avLst>
              <a:gd name="adj" fmla="val 3265"/>
            </a:avLst>
          </a:prstGeom>
          <a:solidFill>
            <a:srgbClr val="EEF2F4"/>
          </a:solidFill>
          <a:ln w="12700">
            <a:solidFill>
              <a:srgbClr val="EEF2F4"/>
            </a:solidFill>
            <a:prstDash val="solid"/>
          </a:ln>
        </p:spPr>
      </p:sp>
      <p:sp>
        <p:nvSpPr>
          <p:cNvPr id="12" name="Text 10"/>
          <p:cNvSpPr txBox="1"/>
          <p:nvPr/>
        </p:nvSpPr>
        <p:spPr>
          <a:xfrm>
            <a:off x="777240" y="4160520"/>
            <a:ext cx="384048" cy="384048"/>
          </a:xfrm>
          <a:prstGeom prst="roundRect">
            <a:avLst>
              <a:gd name="adj" fmla="val 19048"/>
            </a:avLst>
          </a:prstGeom>
          <a:solidFill>
            <a:srgbClr val="6B4FA0"/>
          </a:solidFill>
          <a:ln>
            <a:solidFill>
              <a:srgbClr val="6B4FA0"/>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325880" y="4114800"/>
            <a:ext cx="440420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Real</a:t>
            </a:r>
            <a:endParaRPr lang="en-US" sz="2000" dirty="0"/>
          </a:p>
        </p:txBody>
      </p:sp>
      <p:sp>
        <p:nvSpPr>
          <p:cNvPr id="14" name="Text 12"/>
          <p:cNvSpPr txBox="1"/>
          <p:nvPr/>
        </p:nvSpPr>
        <p:spPr>
          <a:xfrm>
            <a:off x="822960" y="4846320"/>
            <a:ext cx="4861408" cy="118872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addi, lw, sw and beqz are not a teaching dialect. Industry ships billions of RISC-V cores that execute exactly these instructions.</a:t>
            </a:r>
            <a:endParaRPr lang="en-US" sz="1900" dirty="0"/>
          </a:p>
        </p:txBody>
      </p:sp>
      <p:sp>
        <p:nvSpPr>
          <p:cNvPr id="15" name="Shape 13"/>
          <p:cNvSpPr/>
          <p:nvPr/>
        </p:nvSpPr>
        <p:spPr>
          <a:xfrm>
            <a:off x="6233008" y="3931920"/>
            <a:ext cx="5410048" cy="2240280"/>
          </a:xfrm>
          <a:prstGeom prst="roundRect">
            <a:avLst>
              <a:gd name="adj" fmla="val 3265"/>
            </a:avLst>
          </a:prstGeom>
          <a:solidFill>
            <a:srgbClr val="EEF2F4"/>
          </a:solidFill>
          <a:ln w="12700">
            <a:solidFill>
              <a:srgbClr val="EEF2F4"/>
            </a:solidFill>
            <a:prstDash val="solid"/>
          </a:ln>
        </p:spPr>
      </p:sp>
      <p:sp>
        <p:nvSpPr>
          <p:cNvPr id="16" name="Text 14"/>
          <p:cNvSpPr txBox="1"/>
          <p:nvPr/>
        </p:nvSpPr>
        <p:spPr>
          <a:xfrm>
            <a:off x="6461608" y="4160520"/>
            <a:ext cx="384048" cy="384048"/>
          </a:xfrm>
          <a:prstGeom prst="roundRect">
            <a:avLst>
              <a:gd name="adj" fmla="val 19048"/>
            </a:avLst>
          </a:prstGeom>
          <a:solidFill>
            <a:srgbClr val="2F7D4F"/>
          </a:solidFill>
          <a:ln>
            <a:solidFill>
              <a:srgbClr val="2F7D4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7010248" y="4114800"/>
            <a:ext cx="440420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European</a:t>
            </a:r>
            <a:endParaRPr lang="en-US" sz="2000" dirty="0"/>
          </a:p>
        </p:txBody>
      </p:sp>
      <p:sp>
        <p:nvSpPr>
          <p:cNvPr id="18" name="Text 16"/>
          <p:cNvSpPr txBox="1"/>
          <p:nvPr/>
        </p:nvSpPr>
        <p:spPr>
          <a:xfrm>
            <a:off x="6507328" y="4846320"/>
            <a:ext cx="4861408" cy="118872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Europe treats RISC-V as a lever for technological sovereignty: the Chips Act and projects such as DARE build processors on it.</a:t>
            </a:r>
            <a:endParaRPr lang="en-US" sz="1900" dirty="0"/>
          </a:p>
        </p:txBody>
      </p:sp>
      <p:sp>
        <p:nvSpPr>
          <p:cNvPr id="19" name="Shape 17"/>
          <p:cNvSpPr/>
          <p:nvPr/>
        </p:nvSpPr>
        <p:spPr>
          <a:xfrm>
            <a:off x="7217613" y="91440"/>
            <a:ext cx="4425442" cy="274320"/>
          </a:xfrm>
          <a:prstGeom prst="rect">
            <a:avLst/>
          </a:prstGeom>
          <a:solidFill>
            <a:srgbClr val="F3E8FF"/>
          </a:solidFill>
          <a:ln w="12700">
            <a:solidFill>
              <a:srgbClr val="7E22CE"/>
            </a:solidFill>
            <a:prstDash val="dash"/>
          </a:ln>
        </p:spPr>
      </p:sp>
      <p:sp>
        <p:nvSpPr>
          <p:cNvPr id="20" name="Shape 18"/>
          <p:cNvSpPr/>
          <p:nvPr/>
        </p:nvSpPr>
        <p:spPr>
          <a:xfrm>
            <a:off x="7245045" y="128016"/>
            <a:ext cx="45720" cy="45720"/>
          </a:xfrm>
          <a:prstGeom prst="rect">
            <a:avLst/>
          </a:prstGeom>
          <a:solidFill>
            <a:srgbClr val="7E22CE"/>
          </a:solidFill>
          <a:ln w="12700">
            <a:solidFill>
              <a:srgbClr val="7E22CE"/>
            </a:solidFill>
            <a:prstDash val="solid"/>
          </a:ln>
        </p:spPr>
      </p:sp>
      <p:sp>
        <p:nvSpPr>
          <p:cNvPr id="21" name="Shape 19"/>
          <p:cNvSpPr/>
          <p:nvPr/>
        </p:nvSpPr>
        <p:spPr>
          <a:xfrm>
            <a:off x="7245045" y="205740"/>
            <a:ext cx="45720" cy="45720"/>
          </a:xfrm>
          <a:prstGeom prst="rect">
            <a:avLst/>
          </a:prstGeom>
          <a:solidFill>
            <a:srgbClr val="7E22CE"/>
          </a:solidFill>
          <a:ln w="12700">
            <a:solidFill>
              <a:srgbClr val="7E22CE"/>
            </a:solidFill>
            <a:prstDash val="solid"/>
          </a:ln>
        </p:spPr>
      </p:sp>
      <p:sp>
        <p:nvSpPr>
          <p:cNvPr id="22" name="Shape 20"/>
          <p:cNvSpPr/>
          <p:nvPr/>
        </p:nvSpPr>
        <p:spPr>
          <a:xfrm>
            <a:off x="7245045" y="283464"/>
            <a:ext cx="45720" cy="45720"/>
          </a:xfrm>
          <a:prstGeom prst="rect">
            <a:avLst/>
          </a:prstGeom>
          <a:solidFill>
            <a:srgbClr val="7E22CE"/>
          </a:solidFill>
          <a:ln w="12700">
            <a:solidFill>
              <a:srgbClr val="7E22CE"/>
            </a:solidFill>
            <a:prstDash val="solid"/>
          </a:ln>
        </p:spPr>
      </p:sp>
      <p:pic>
        <p:nvPicPr>
          <p:cNvPr id="23" name="Image 0" descr="preencoded.png">    </p:cNvPr>
          <p:cNvPicPr>
            <a:picLocks noChangeAspect="1"/>
          </p:cNvPicPr>
          <p:nvPr/>
        </p:nvPicPr>
        <p:blipFill>
          <a:blip r:embed="rId1"/>
          <a:stretch>
            <a:fillRect/>
          </a:stretch>
        </p:blipFill>
        <p:spPr>
          <a:xfrm>
            <a:off x="7345629" y="128016"/>
            <a:ext cx="201168" cy="201168"/>
          </a:xfrm>
          <a:prstGeom prst="rect">
            <a:avLst/>
          </a:prstGeom>
        </p:spPr>
      </p:pic>
      <p:sp>
        <p:nvSpPr>
          <p:cNvPr id="24" name="Text 21"/>
          <p:cNvSpPr txBox="1"/>
          <p:nvPr/>
        </p:nvSpPr>
        <p:spPr>
          <a:xfrm>
            <a:off x="7601661" y="91440"/>
            <a:ext cx="4004818"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pPr indent="0" marL="0">
              <a:buNone/>
            </a:pPr>
            <a:r>
              <a:rPr lang="en-US" sz="1100" dirty="0">
                <a:solidFill>
                  <a:srgbClr val="6B21A8"/>
                </a:solidFill>
                <a:latin typeface="Calibri" pitchFamily="34" charset="0"/>
                <a:ea typeface="Calibri" pitchFamily="34" charset="-122"/>
                <a:cs typeface="Calibri" pitchFamily="34" charset="-120"/>
              </a:rPr>
              <a:t> · RISC and an open ISA</a:t>
            </a:r>
            <a:pPr indent="0" marL="0">
              <a:buNone/>
            </a:pPr>
            <a:r>
              <a:rPr lang="en-US" sz="1100" b="1" dirty="0">
                <a:solidFill>
                  <a:srgbClr val="6B21A8"/>
                </a:solidFill>
                <a:latin typeface="Calibri" pitchFamily="34" charset="0"/>
                <a:ea typeface="Calibri" pitchFamily="34" charset="-122"/>
                <a:cs typeface="Calibri" pitchFamily="34" charset="-120"/>
              </a:rPr>
              <a:t> → Lecture 03</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map: you meet every topic twice</a:t>
            </a:r>
            <a:endParaRPr lang="en-US" sz="32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4183140"/>
                <a:gridCol w="6911275"/>
              </a:tblGrid>
              <a:tr h="0">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Formal topic</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800" b="1" dirty="0">
                          <a:solidFill>
                            <a:srgbClr val="FFFFFF"/>
                          </a:solidFill>
                          <a:latin typeface="Calibri" pitchFamily="34" charset="0"/>
                          <a:ea typeface="Calibri" pitchFamily="34" charset="-122"/>
                          <a:cs typeface="Calibri" pitchFamily="34" charset="-120"/>
                        </a:rPr>
                        <a:t>You meet it first on PRG32 as...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Positional notation, hexadecimal</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the colour 0x07E0 and the value shown by the debugger</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Two's complement, overflow</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a position that moves left past zero and shows 0xFFFFFFFF</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Fixed and floating point</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a ball that moves 0.375 pixels per frame on a chip with no FPU</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Boolean algebra, bit masks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andi t3, t0, 1 to test whether LEFT is pressed</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Electronics, logic gates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the button that joins a pin of the chip to ground</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Combinational networks, adders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what add actually does to thirty-two bits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Sequential networks, registers</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the counter that survives from one frame to the next</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CPU, datapath, instruction cycle</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single-stepping one instruction in PRG32-QT</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800" b="1" dirty="0">
                          <a:solidFill>
                            <a:srgbClr val="1B2530"/>
                          </a:solidFill>
                          <a:latin typeface="Calibri" pitchFamily="34" charset="0"/>
                          <a:ea typeface="Calibri" pitchFamily="34" charset="-122"/>
                          <a:cs typeface="Calibri" pitchFamily="34" charset="-120"/>
                        </a:rPr>
                        <a:t>Memory and input/output</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800" dirty="0">
                          <a:solidFill>
                            <a:srgbClr val="1B2530"/>
                          </a:solidFill>
                          <a:latin typeface="Calibri" pitchFamily="34" charset="0"/>
                          <a:ea typeface="Calibri" pitchFamily="34" charset="-122"/>
                          <a:cs typeface="Calibri" pitchFamily="34" charset="-120"/>
                        </a:rPr>
                        <a:t>lw and sw, the stack, the joystick and the display</a:t>
                      </a:r>
                      <a:endParaRPr lang="en-US" sz="18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Verm1: your game, from an empty file</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1022604"/>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Verm1, read "vermone", the big worm: a tribute to Snake, the game of Blockade (1976) and of the Nokia phones (1997)</a:t>
            </a:r>
            <a:endParaRPr lang="en-US" sz="2200" dirty="0"/>
          </a:p>
        </p:txBody>
      </p:sp>
      <p:sp>
        <p:nvSpPr>
          <p:cNvPr id="5" name="Shape 3"/>
          <p:cNvSpPr/>
          <p:nvPr/>
        </p:nvSpPr>
        <p:spPr>
          <a:xfrm>
            <a:off x="548640" y="2797683"/>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691257"/>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worm moves on a grid, eats, grows, and must not bite itself</a:t>
            </a:r>
            <a:endParaRPr lang="en-US" sz="2200" dirty="0"/>
          </a:p>
        </p:txBody>
      </p:sp>
      <p:sp>
        <p:nvSpPr>
          <p:cNvPr id="7" name="Shape 5"/>
          <p:cNvSpPr/>
          <p:nvPr/>
        </p:nvSpPr>
        <p:spPr>
          <a:xfrm>
            <a:off x="548640" y="3730752"/>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624326"/>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You write every line, in RISC-V assembly: no engine, no library beyond the calls of PRG32</a:t>
            </a:r>
            <a:endParaRPr lang="en-US" sz="2200" dirty="0"/>
          </a:p>
        </p:txBody>
      </p:sp>
      <p:sp>
        <p:nvSpPr>
          <p:cNvPr id="9" name="Shape 7"/>
          <p:cNvSpPr/>
          <p:nvPr/>
        </p:nvSpPr>
        <p:spPr>
          <a:xfrm>
            <a:off x="548640" y="4663821"/>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557395"/>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Small enough for a first-year student, rich enough to need every topic of the course</a:t>
            </a:r>
            <a:endParaRPr lang="en-US" sz="2200" dirty="0"/>
          </a:p>
        </p:txBody>
      </p:sp>
      <p:sp>
        <p:nvSpPr>
          <p:cNvPr id="11" name="Shape 9"/>
          <p:cNvSpPr/>
          <p:nvPr/>
        </p:nvSpPr>
        <p:spPr>
          <a:xfrm>
            <a:off x="548640" y="559689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490464"/>
            <a:ext cx="6565392"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At the end it is ready for the Cartridge Store, with your name on it</a:t>
            </a:r>
            <a:endParaRPr lang="en-US" sz="2200" dirty="0"/>
          </a:p>
        </p:txBody>
      </p:sp>
      <p:pic>
        <p:nvPicPr>
          <p:cNvPr id="13" name="Image 0" descr="/Users/raffaelemontella/devel/riscv-prg32/computer-architecture-with-prg32/tools/assets/verm1_p4_play.png">    </p:cNvPr>
          <p:cNvPicPr>
            <a:picLocks noChangeAspect="1"/>
          </p:cNvPicPr>
          <p:nvPr/>
        </p:nvPicPr>
        <p:blipFill>
          <a:blip r:embed="rId1"/>
          <a:stretch>
            <a:fillRect/>
          </a:stretch>
        </p:blipFill>
        <p:spPr>
          <a:xfrm>
            <a:off x="7863840" y="2385155"/>
            <a:ext cx="3779215" cy="2362010"/>
          </a:xfrm>
          <a:prstGeom prst="rect">
            <a:avLst/>
          </a:prstGeom>
        </p:spPr>
      </p:pic>
      <p:sp>
        <p:nvSpPr>
          <p:cNvPr id="14" name="Text 11"/>
          <p:cNvSpPr txBox="1"/>
          <p:nvPr/>
        </p:nvSpPr>
        <p:spPr>
          <a:xfrm>
            <a:off x="7863840" y="5788152"/>
            <a:ext cx="3779215" cy="384048"/>
          </a:xfrm>
          <a:prstGeom prst="rect">
            <a:avLst/>
          </a:prstGeom>
          <a:noFill/>
          <a:ln/>
        </p:spPr>
        <p:txBody>
          <a:bodyPr wrap="square" lIns="0" tIns="0" rIns="0" bIns="0" rtlCol="0" anchor="ctr"/>
          <a:lstStyle/>
          <a:p>
            <a:pPr algn="ctr" indent="0" marL="0">
              <a:buNone/>
            </a:pPr>
            <a:r>
              <a:rPr lang="en-US" sz="1200" i="1" dirty="0">
                <a:solidFill>
                  <a:srgbClr val="5B6B78"/>
                </a:solidFill>
                <a:latin typeface="Calibri" pitchFamily="34" charset="0"/>
                <a:ea typeface="Calibri" pitchFamily="34" charset="-122"/>
                <a:cs typeface="Calibri" pitchFamily="34" charset="-120"/>
              </a:rPr>
              <a:t>Verm1 at the end of the course</a:t>
            </a:r>
            <a:endParaRPr lang="en-US" sz="1200" dirty="0"/>
          </a:p>
        </p:txBody>
      </p:sp>
      <p:sp>
        <p:nvSpPr>
          <p:cNvPr id="15" name="Shape 12"/>
          <p:cNvSpPr/>
          <p:nvPr/>
        </p:nvSpPr>
        <p:spPr>
          <a:xfrm>
            <a:off x="7414590" y="91440"/>
            <a:ext cx="4228465" cy="274320"/>
          </a:xfrm>
          <a:prstGeom prst="rect">
            <a:avLst/>
          </a:prstGeom>
          <a:solidFill>
            <a:srgbClr val="F3E8FF"/>
          </a:solidFill>
          <a:ln w="12700">
            <a:solidFill>
              <a:srgbClr val="7E22CE"/>
            </a:solidFill>
            <a:prstDash val="dash"/>
          </a:ln>
        </p:spPr>
      </p:sp>
      <p:sp>
        <p:nvSpPr>
          <p:cNvPr id="16" name="Shape 13"/>
          <p:cNvSpPr/>
          <p:nvPr/>
        </p:nvSpPr>
        <p:spPr>
          <a:xfrm>
            <a:off x="7442022" y="128016"/>
            <a:ext cx="45720" cy="45720"/>
          </a:xfrm>
          <a:prstGeom prst="rect">
            <a:avLst/>
          </a:prstGeom>
          <a:solidFill>
            <a:srgbClr val="7E22CE"/>
          </a:solidFill>
          <a:ln w="12700">
            <a:solidFill>
              <a:srgbClr val="7E22CE"/>
            </a:solidFill>
            <a:prstDash val="solid"/>
          </a:ln>
        </p:spPr>
      </p:sp>
      <p:sp>
        <p:nvSpPr>
          <p:cNvPr id="17" name="Shape 14"/>
          <p:cNvSpPr/>
          <p:nvPr/>
        </p:nvSpPr>
        <p:spPr>
          <a:xfrm>
            <a:off x="7442022" y="205740"/>
            <a:ext cx="45720" cy="45720"/>
          </a:xfrm>
          <a:prstGeom prst="rect">
            <a:avLst/>
          </a:prstGeom>
          <a:solidFill>
            <a:srgbClr val="7E22CE"/>
          </a:solidFill>
          <a:ln w="12700">
            <a:solidFill>
              <a:srgbClr val="7E22CE"/>
            </a:solidFill>
            <a:prstDash val="solid"/>
          </a:ln>
        </p:spPr>
      </p:sp>
      <p:sp>
        <p:nvSpPr>
          <p:cNvPr id="18" name="Shape 15"/>
          <p:cNvSpPr/>
          <p:nvPr/>
        </p:nvSpPr>
        <p:spPr>
          <a:xfrm>
            <a:off x="7442022" y="283464"/>
            <a:ext cx="45720" cy="45720"/>
          </a:xfrm>
          <a:prstGeom prst="rect">
            <a:avLst/>
          </a:prstGeom>
          <a:solidFill>
            <a:srgbClr val="7E22CE"/>
          </a:solidFill>
          <a:ln w="12700">
            <a:solidFill>
              <a:srgbClr val="7E22CE"/>
            </a:solidFill>
            <a:prstDash val="solid"/>
          </a:ln>
        </p:spPr>
      </p:sp>
      <p:pic>
        <p:nvPicPr>
          <p:cNvPr id="19" name="Image 1" descr="preencoded.png">    </p:cNvPr>
          <p:cNvPicPr>
            <a:picLocks noChangeAspect="1"/>
          </p:cNvPicPr>
          <p:nvPr/>
        </p:nvPicPr>
        <p:blipFill>
          <a:blip r:embed="rId2"/>
          <a:stretch>
            <a:fillRect/>
          </a:stretch>
        </p:blipFill>
        <p:spPr>
          <a:xfrm>
            <a:off x="7542606" y="128016"/>
            <a:ext cx="201168" cy="201168"/>
          </a:xfrm>
          <a:prstGeom prst="rect">
            <a:avLst/>
          </a:prstGeom>
        </p:spPr>
      </p:pic>
      <p:sp>
        <p:nvSpPr>
          <p:cNvPr id="20" name="Text 16"/>
          <p:cNvSpPr txBox="1"/>
          <p:nvPr/>
        </p:nvSpPr>
        <p:spPr>
          <a:xfrm>
            <a:off x="7798638" y="91440"/>
            <a:ext cx="3807841"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pPr indent="0" marL="0">
              <a:buNone/>
            </a:pPr>
            <a:r>
              <a:rPr lang="en-US" sz="1100" dirty="0">
                <a:solidFill>
                  <a:srgbClr val="6B21A8"/>
                </a:solidFill>
                <a:latin typeface="Calibri" pitchFamily="34" charset="0"/>
                <a:ea typeface="Calibri" pitchFamily="34" charset="-122"/>
                <a:cs typeface="Calibri" pitchFamily="34" charset="-120"/>
              </a:rPr>
              <a:t> · the Verm1 project</a:t>
            </a:r>
            <a:pPr indent="0" marL="0">
              <a:buNone/>
            </a:pPr>
            <a:r>
              <a:rPr lang="en-US" sz="1100" b="1" dirty="0">
                <a:solidFill>
                  <a:srgbClr val="6B21A8"/>
                </a:solidFill>
                <a:latin typeface="Calibri" pitchFamily="34" charset="0"/>
                <a:ea typeface="Calibri" pitchFamily="34" charset="-122"/>
                <a:cs typeface="Calibri" pitchFamily="34" charset="-120"/>
              </a:rPr>
              <a:t> → Lecture 07</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Four parts and a publication</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596923"/>
                <a:gridCol w="2437409"/>
                <a:gridCol w="4202430"/>
                <a:gridCol w="2857652"/>
              </a:tblGrid>
              <a:tr h="0">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Lecture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After the block on</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Verm1 gains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900" b="1" dirty="0">
                          <a:solidFill>
                            <a:srgbClr val="FFFFFF"/>
                          </a:solidFill>
                          <a:latin typeface="Calibri" pitchFamily="34" charset="0"/>
                          <a:ea typeface="Calibri" pitchFamily="34" charset="-122"/>
                          <a:cs typeface="Calibri" pitchFamily="34" charset="-120"/>
                        </a:rPr>
                        <a:t>With</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07  Part 1</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information and numbers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a grid, a head that moves, a world without edges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colours, shifts, fixed point</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12  Part 2</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logic and circuits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steering, food, a score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masks, XOR, tables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17  Part 3</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state and memory</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a body that grows, collisions, three screens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a state machine, arrays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22  Part 4</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machine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digits, levels, sound, fast drawing</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calls, division, the frame buffer</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900" b="1" dirty="0">
                          <a:solidFill>
                            <a:srgbClr val="1B2530"/>
                          </a:solidFill>
                          <a:latin typeface="Calibri" pitchFamily="34" charset="0"/>
                          <a:ea typeface="Calibri" pitchFamily="34" charset="-122"/>
                          <a:cs typeface="Calibri" pitchFamily="34" charset="-120"/>
                        </a:rPr>
                        <a:t>23  The Store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whole course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a name, an icon, credits, a bundle</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900" dirty="0">
                          <a:solidFill>
                            <a:srgbClr val="1B2530"/>
                          </a:solidFill>
                          <a:latin typeface="Calibri" pitchFamily="34" charset="0"/>
                          <a:ea typeface="Calibri" pitchFamily="34" charset="-122"/>
                          <a:cs typeface="Calibri" pitchFamily="34" charset="-120"/>
                        </a:rPr>
                        <a:t>the PRG32 tools</a:t>
                      </a:r>
                      <a:endParaRPr lang="en-US" sz="19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Each part ends with a game that runs. You never go home with a broken program.</a:t>
            </a:r>
            <a:endParaRPr lang="en-US" sz="1500" dirty="0"/>
          </a:p>
        </p:txBody>
      </p:sp>
      <p:sp>
        <p:nvSpPr>
          <p:cNvPr id="5" name="Shape 2"/>
          <p:cNvSpPr/>
          <p:nvPr/>
        </p:nvSpPr>
        <p:spPr>
          <a:xfrm>
            <a:off x="7414590" y="91440"/>
            <a:ext cx="4228465" cy="274320"/>
          </a:xfrm>
          <a:prstGeom prst="rect">
            <a:avLst/>
          </a:prstGeom>
          <a:solidFill>
            <a:srgbClr val="F3E8FF"/>
          </a:solidFill>
          <a:ln w="12700">
            <a:solidFill>
              <a:srgbClr val="7E22CE"/>
            </a:solidFill>
            <a:prstDash val="dash"/>
          </a:ln>
        </p:spPr>
      </p:sp>
      <p:sp>
        <p:nvSpPr>
          <p:cNvPr id="6" name="Shape 3"/>
          <p:cNvSpPr/>
          <p:nvPr/>
        </p:nvSpPr>
        <p:spPr>
          <a:xfrm>
            <a:off x="7442022" y="128016"/>
            <a:ext cx="45720" cy="45720"/>
          </a:xfrm>
          <a:prstGeom prst="rect">
            <a:avLst/>
          </a:prstGeom>
          <a:solidFill>
            <a:srgbClr val="7E22CE"/>
          </a:solidFill>
          <a:ln w="12700">
            <a:solidFill>
              <a:srgbClr val="7E22CE"/>
            </a:solidFill>
            <a:prstDash val="solid"/>
          </a:ln>
        </p:spPr>
      </p:sp>
      <p:sp>
        <p:nvSpPr>
          <p:cNvPr id="7" name="Shape 4"/>
          <p:cNvSpPr/>
          <p:nvPr/>
        </p:nvSpPr>
        <p:spPr>
          <a:xfrm>
            <a:off x="7442022" y="205740"/>
            <a:ext cx="45720" cy="45720"/>
          </a:xfrm>
          <a:prstGeom prst="rect">
            <a:avLst/>
          </a:prstGeom>
          <a:solidFill>
            <a:srgbClr val="7E22CE"/>
          </a:solidFill>
          <a:ln w="12700">
            <a:solidFill>
              <a:srgbClr val="7E22CE"/>
            </a:solidFill>
            <a:prstDash val="solid"/>
          </a:ln>
        </p:spPr>
      </p:sp>
      <p:sp>
        <p:nvSpPr>
          <p:cNvPr id="8" name="Shape 5"/>
          <p:cNvSpPr/>
          <p:nvPr/>
        </p:nvSpPr>
        <p:spPr>
          <a:xfrm>
            <a:off x="7442022" y="283464"/>
            <a:ext cx="45720" cy="45720"/>
          </a:xfrm>
          <a:prstGeom prst="rect">
            <a:avLst/>
          </a:prstGeom>
          <a:solidFill>
            <a:srgbClr val="7E22CE"/>
          </a:solidFill>
          <a:ln w="12700">
            <a:solidFill>
              <a:srgbClr val="7E22CE"/>
            </a:solidFill>
            <a:prstDash val="solid"/>
          </a:ln>
        </p:spPr>
      </p:sp>
      <p:pic>
        <p:nvPicPr>
          <p:cNvPr id="9" name="Image 0" descr="preencoded.png">    </p:cNvPr>
          <p:cNvPicPr>
            <a:picLocks noChangeAspect="1"/>
          </p:cNvPicPr>
          <p:nvPr/>
        </p:nvPicPr>
        <p:blipFill>
          <a:blip r:embed="rId1"/>
          <a:stretch>
            <a:fillRect/>
          </a:stretch>
        </p:blipFill>
        <p:spPr>
          <a:xfrm>
            <a:off x="7542606" y="128016"/>
            <a:ext cx="201168" cy="201168"/>
          </a:xfrm>
          <a:prstGeom prst="rect">
            <a:avLst/>
          </a:prstGeom>
        </p:spPr>
      </p:pic>
      <p:sp>
        <p:nvSpPr>
          <p:cNvPr id="10" name="Text 6"/>
          <p:cNvSpPr txBox="1"/>
          <p:nvPr/>
        </p:nvSpPr>
        <p:spPr>
          <a:xfrm>
            <a:off x="7798638" y="91440"/>
            <a:ext cx="3807841" cy="274320"/>
          </a:xfrm>
          <a:prstGeom prst="rect">
            <a:avLst/>
          </a:prstGeom>
          <a:noFill/>
          <a:ln/>
        </p:spPr>
        <p:txBody>
          <a:bodyPr wrap="square" lIns="0" tIns="0" rIns="0" bIns="0" rtlCol="0" anchor="ctr"/>
          <a:lstStyle/>
          <a:p>
            <a:pPr indent="0" marL="0">
              <a:buNone/>
            </a:pPr>
            <a:r>
              <a:rPr lang="en-US" sz="1100" b="1" dirty="0">
                <a:solidFill>
                  <a:srgbClr val="6B21A8"/>
                </a:solidFill>
                <a:latin typeface="Calibri" pitchFamily="34" charset="0"/>
                <a:ea typeface="Calibri" pitchFamily="34" charset="-122"/>
                <a:cs typeface="Calibri" pitchFamily="34" charset="-120"/>
              </a:rPr>
              <a:t>UNDERSTAND LATER</a:t>
            </a:r>
            <a:pPr indent="0" marL="0">
              <a:buNone/>
            </a:pPr>
            <a:r>
              <a:rPr lang="en-US" sz="1100" dirty="0">
                <a:solidFill>
                  <a:srgbClr val="6B21A8"/>
                </a:solidFill>
                <a:latin typeface="Calibri" pitchFamily="34" charset="0"/>
                <a:ea typeface="Calibri" pitchFamily="34" charset="-122"/>
                <a:cs typeface="Calibri" pitchFamily="34" charset="-120"/>
              </a:rPr>
              <a:t> · the Verm1 project</a:t>
            </a:r>
            <a:pPr indent="0" marL="0">
              <a:buNone/>
            </a:pPr>
            <a:r>
              <a:rPr lang="en-US" sz="1100" b="1" dirty="0">
                <a:solidFill>
                  <a:srgbClr val="6B21A8"/>
                </a:solidFill>
                <a:latin typeface="Calibri" pitchFamily="34" charset="0"/>
                <a:ea typeface="Calibri" pitchFamily="34" charset="-122"/>
                <a:cs typeface="Calibri" pitchFamily="34" charset="-120"/>
              </a:rPr>
              <a:t> → Lecture 07</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course in blocks</a:t>
            </a:r>
            <a:endParaRPr lang="en-US" sz="3200" dirty="0"/>
          </a:p>
        </p:txBody>
      </p:sp>
      <p:graphicFrame>
        <p:nvGraphicFramePr>
          <p:cNvPr id="14"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017166"/>
                <a:gridCol w="6639839"/>
                <a:gridCol w="2437409"/>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Block</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Lectures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Then</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Start</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00 Introduction, 01 PRG32 and PRG32-QT: setting up, 02 First contact with RISC-V</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Information</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03 History, 04 Digital information, 05 Integers, 06 Reals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07 Verm1, part 1</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Logic</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08 and 09 Boolean algebra, 10 Electronics, 11 Combinational machines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12 Verm1, part 2</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State and memory</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13 Sequential machines, 14 Registers and buses, 15 Memory, 16 Permanent memory</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17 Verm1, part 3</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The machine</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18 Processor, 19 Instructions and interrupts, 20 Video card, 21 Input and output</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22 Verm1, part 4</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Publication</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23 Verm1 on the Cartridge Store</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Outlook</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24 Beyond one core: superscalar RISC-V, HPC, GPUs and FPGAs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the visit to the computing systems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Timetable: September to December 2026</a:t>
            </a:r>
            <a:endParaRPr lang="en-US" sz="32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773604"/>
                <a:gridCol w="2773604"/>
                <a:gridCol w="2773604"/>
                <a:gridCol w="2773604"/>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Day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Time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Room</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Lecturer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Monday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14:00 - 16:00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Aula 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Montella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Tuesday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09:00 - 11:00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Aula 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Staffa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Wednesday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09:00 - 11:00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Aula 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Montella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Friday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09:00 - 11:00</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Aula 1</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Staffa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500" i="1" dirty="0">
                <a:solidFill>
                  <a:srgbClr val="5B6B78"/>
                </a:solidFill>
                <a:latin typeface="Calibri" pitchFamily="34" charset="0"/>
                <a:ea typeface="Calibri" pitchFamily="34" charset="-122"/>
                <a:cs typeface="Calibri" pitchFamily="34" charset="-120"/>
              </a:rPr>
              <a:t>An internal calendar with the actual distribution of lectures and labs will be shared.</a:t>
            </a:r>
            <a:endParaRPr lang="en-US" sz="1500" dirty="0"/>
          </a:p>
        </p:txBody>
      </p:sp>
      <p:sp>
        <p:nvSpPr>
          <p:cNvPr id="5" name="Shape 2"/>
          <p:cNvSpPr/>
          <p:nvPr/>
        </p:nvSpPr>
        <p:spPr>
          <a:xfrm>
            <a:off x="8156397" y="91440"/>
            <a:ext cx="3486658" cy="274320"/>
          </a:xfrm>
          <a:prstGeom prst="rect">
            <a:avLst/>
          </a:prstGeom>
          <a:solidFill>
            <a:srgbClr val="E0F2FE"/>
          </a:solidFill>
          <a:ln w="12700">
            <a:solidFill>
              <a:srgbClr val="0369A1"/>
            </a:solidFill>
            <a:prstDash val="solid"/>
          </a:ln>
        </p:spPr>
      </p:sp>
      <p:sp>
        <p:nvSpPr>
          <p:cNvPr id="6" name="Shape 3"/>
          <p:cNvSpPr/>
          <p:nvPr/>
        </p:nvSpPr>
        <p:spPr>
          <a:xfrm>
            <a:off x="8156397" y="91440"/>
            <a:ext cx="73152" cy="274320"/>
          </a:xfrm>
          <a:prstGeom prst="rect">
            <a:avLst/>
          </a:prstGeom>
          <a:solidFill>
            <a:srgbClr val="0369A1"/>
          </a:solidFill>
          <a:ln w="12700">
            <a:solidFill>
              <a:srgbClr val="0369A1"/>
            </a:solidFill>
            <a:prstDash val="solid"/>
          </a:ln>
        </p:spPr>
      </p:sp>
      <p:pic>
        <p:nvPicPr>
          <p:cNvPr id="7" name="Image 0" descr="preencoded.png">    </p:cNvPr>
          <p:cNvPicPr>
            <a:picLocks noChangeAspect="1"/>
          </p:cNvPicPr>
          <p:nvPr/>
        </p:nvPicPr>
        <p:blipFill>
          <a:blip r:embed="rId1"/>
          <a:stretch>
            <a:fillRect/>
          </a:stretch>
        </p:blipFill>
        <p:spPr>
          <a:xfrm>
            <a:off x="8284413" y="128016"/>
            <a:ext cx="201168" cy="201168"/>
          </a:xfrm>
          <a:prstGeom prst="rect">
            <a:avLst/>
          </a:prstGeom>
        </p:spPr>
      </p:pic>
      <p:sp>
        <p:nvSpPr>
          <p:cNvPr id="8" name="Text 4"/>
          <p:cNvSpPr txBox="1"/>
          <p:nvPr/>
        </p:nvSpPr>
        <p:spPr>
          <a:xfrm>
            <a:off x="8540445" y="91440"/>
            <a:ext cx="306603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rules of the course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One midterm test</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Multiple choice, ten questions, plus two exercises: about 45 minutes, in person and on paper</a:t>
            </a:r>
            <a:endParaRPr lang="en-US" sz="2000" dirty="0"/>
          </a:p>
        </p:txBody>
      </p:sp>
      <p:sp>
        <p:nvSpPr>
          <p:cNvPr id="5" name="Shape 3"/>
          <p:cNvSpPr/>
          <p:nvPr/>
        </p:nvSpPr>
        <p:spPr>
          <a:xfrm>
            <a:off x="548640" y="2401189"/>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10257"/>
            <a:ext cx="6565392" cy="873252"/>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Monday, date TBD, 14:00-16:00, Aula 1</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Students may be split into groups and the test run in shifts</a:t>
            </a:r>
            <a:endParaRPr lang="en-US" sz="2000" dirty="0"/>
          </a:p>
        </p:txBody>
      </p:sp>
      <p:sp>
        <p:nvSpPr>
          <p:cNvPr id="7" name="Shape 5"/>
          <p:cNvSpPr/>
          <p:nvPr/>
        </p:nvSpPr>
        <p:spPr>
          <a:xfrm>
            <a:off x="548640" y="354761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456686"/>
            <a:ext cx="6565392" cy="92964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Bring an identity document and a pen; know your institutional e-mail and your student number (transfer students without a number are excused)</a:t>
            </a:r>
            <a:endParaRPr lang="en-US" sz="2000" dirty="0"/>
          </a:p>
        </p:txBody>
      </p:sp>
      <p:sp>
        <p:nvSpPr>
          <p:cNvPr id="9" name="Shape 7"/>
          <p:cNvSpPr/>
          <p:nvPr/>
        </p:nvSpPr>
        <p:spPr>
          <a:xfrm>
            <a:off x="548640" y="475043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659503"/>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The test assesses both sides, you and us: we need it to know where we are going</a:t>
            </a:r>
            <a:endParaRPr lang="en-US" sz="2000" dirty="0"/>
          </a:p>
        </p:txBody>
      </p:sp>
      <p:sp>
        <p:nvSpPr>
          <p:cNvPr id="11" name="Shape 9"/>
          <p:cNvSpPr/>
          <p:nvPr/>
        </p:nvSpPr>
        <p:spPr>
          <a:xfrm>
            <a:off x="548640" y="5643372"/>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52440"/>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Every lecture ends with questions of the same kind: the best preparation is to answer them week by week</a:t>
            </a:r>
            <a:endParaRPr lang="en-US" sz="20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10 + 2</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multiple-choice questions plus two exercises, on paper, in about 45 minutes</a:t>
            </a:r>
            <a:endParaRPr lang="en-US" sz="1900" dirty="0"/>
          </a:p>
        </p:txBody>
      </p:sp>
      <p:sp>
        <p:nvSpPr>
          <p:cNvPr id="16" name="Shape 14"/>
          <p:cNvSpPr/>
          <p:nvPr/>
        </p:nvSpPr>
        <p:spPr>
          <a:xfrm>
            <a:off x="8156397" y="91440"/>
            <a:ext cx="3486658" cy="274320"/>
          </a:xfrm>
          <a:prstGeom prst="rect">
            <a:avLst/>
          </a:prstGeom>
          <a:solidFill>
            <a:srgbClr val="E0F2FE"/>
          </a:solidFill>
          <a:ln w="12700">
            <a:solidFill>
              <a:srgbClr val="0369A1"/>
            </a:solidFill>
            <a:prstDash val="solid"/>
          </a:ln>
        </p:spPr>
      </p:sp>
      <p:sp>
        <p:nvSpPr>
          <p:cNvPr id="17" name="Shape 15"/>
          <p:cNvSpPr/>
          <p:nvPr/>
        </p:nvSpPr>
        <p:spPr>
          <a:xfrm>
            <a:off x="8156397" y="91440"/>
            <a:ext cx="73152" cy="274320"/>
          </a:xfrm>
          <a:prstGeom prst="rect">
            <a:avLst/>
          </a:prstGeom>
          <a:solidFill>
            <a:srgbClr val="0369A1"/>
          </a:solidFill>
          <a:ln w="12700">
            <a:solidFill>
              <a:srgbClr val="0369A1"/>
            </a:solidFill>
            <a:prstDash val="solid"/>
          </a:ln>
        </p:spPr>
      </p:sp>
      <p:pic>
        <p:nvPicPr>
          <p:cNvPr id="18" name="Image 0" descr="preencoded.png">    </p:cNvPr>
          <p:cNvPicPr>
            <a:picLocks noChangeAspect="1"/>
          </p:cNvPicPr>
          <p:nvPr/>
        </p:nvPicPr>
        <p:blipFill>
          <a:blip r:embed="rId1"/>
          <a:stretch>
            <a:fillRect/>
          </a:stretch>
        </p:blipFill>
        <p:spPr>
          <a:xfrm>
            <a:off x="8284413" y="128016"/>
            <a:ext cx="201168" cy="201168"/>
          </a:xfrm>
          <a:prstGeom prst="rect">
            <a:avLst/>
          </a:prstGeom>
        </p:spPr>
      </p:pic>
      <p:sp>
        <p:nvSpPr>
          <p:cNvPr id="19" name="Text 16"/>
          <p:cNvSpPr txBox="1"/>
          <p:nvPr/>
        </p:nvSpPr>
        <p:spPr>
          <a:xfrm>
            <a:off x="8540445" y="91440"/>
            <a:ext cx="306603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rules of the course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554480"/>
            <a:ext cx="11094415" cy="27432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No tech. No GPT.</a:t>
            </a:r>
            <a:endParaRPr lang="en-US" sz="4400" dirty="0"/>
          </a:p>
        </p:txBody>
      </p:sp>
      <p:sp>
        <p:nvSpPr>
          <p:cNvPr id="6" name="Text 4"/>
          <p:cNvSpPr txBox="1"/>
          <p:nvPr/>
        </p:nvSpPr>
        <p:spPr>
          <a:xfrm>
            <a:off x="548640" y="4480560"/>
            <a:ext cx="11094415" cy="137160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The midterm test and the exam are #nogpt. No technological or human help of any kind: no devices, no ChatGPT or other LLMs, no generative AI. Cheating cancels your test at once; more serious behaviour has more serious consequences.</a:t>
            </a:r>
            <a:endParaRPr lang="en-US" sz="2200" dirty="0"/>
          </a:p>
        </p:txBody>
      </p:sp>
      <p:sp>
        <p:nvSpPr>
          <p:cNvPr id="7" name="Shape 5"/>
          <p:cNvSpPr/>
          <p:nvPr/>
        </p:nvSpPr>
        <p:spPr>
          <a:xfrm>
            <a:off x="8156397" y="91440"/>
            <a:ext cx="3486658" cy="274320"/>
          </a:xfrm>
          <a:prstGeom prst="rect">
            <a:avLst/>
          </a:prstGeom>
          <a:solidFill>
            <a:srgbClr val="E0F2FE"/>
          </a:solidFill>
          <a:ln w="12700">
            <a:solidFill>
              <a:srgbClr val="0369A1"/>
            </a:solidFill>
            <a:prstDash val="solid"/>
          </a:ln>
        </p:spPr>
      </p:sp>
      <p:sp>
        <p:nvSpPr>
          <p:cNvPr id="8" name="Shape 6"/>
          <p:cNvSpPr/>
          <p:nvPr/>
        </p:nvSpPr>
        <p:spPr>
          <a:xfrm>
            <a:off x="8156397" y="91440"/>
            <a:ext cx="73152" cy="274320"/>
          </a:xfrm>
          <a:prstGeom prst="rect">
            <a:avLst/>
          </a:prstGeom>
          <a:solidFill>
            <a:srgbClr val="0369A1"/>
          </a:solidFill>
          <a:ln w="12700">
            <a:solidFill>
              <a:srgbClr val="0369A1"/>
            </a:solidFill>
            <a:prstDash val="solid"/>
          </a:ln>
        </p:spPr>
      </p:sp>
      <p:pic>
        <p:nvPicPr>
          <p:cNvPr id="9" name="Image 0" descr="preencoded.png">    </p:cNvPr>
          <p:cNvPicPr>
            <a:picLocks noChangeAspect="1"/>
          </p:cNvPicPr>
          <p:nvPr/>
        </p:nvPicPr>
        <p:blipFill>
          <a:blip r:embed="rId1"/>
          <a:stretch>
            <a:fillRect/>
          </a:stretch>
        </p:blipFill>
        <p:spPr>
          <a:xfrm>
            <a:off x="8284413" y="128016"/>
            <a:ext cx="201168" cy="201168"/>
          </a:xfrm>
          <a:prstGeom prst="rect">
            <a:avLst/>
          </a:prstGeom>
        </p:spPr>
      </p:pic>
      <p:sp>
        <p:nvSpPr>
          <p:cNvPr id="10" name="Text 7"/>
          <p:cNvSpPr txBox="1"/>
          <p:nvPr/>
        </p:nvSpPr>
        <p:spPr>
          <a:xfrm>
            <a:off x="8540445" y="91440"/>
            <a:ext cx="306603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rules of the course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Assessment</a:t>
            </a:r>
            <a:endParaRPr lang="en-US" sz="3200" dirty="0"/>
          </a:p>
        </p:txBody>
      </p:sp>
      <p:sp>
        <p:nvSpPr>
          <p:cNvPr id="3" name="Shape 1"/>
          <p:cNvSpPr/>
          <p:nvPr/>
        </p:nvSpPr>
        <p:spPr>
          <a:xfrm>
            <a:off x="548640" y="153924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2443734"/>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 exam has two parts and you must pass both</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Theory (50%): oral, with impromptu questions on the whole syllabus; some answers need a diagram or a calculation on the board</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Practical (50%): the laboratory exam with Prof. Staffa</a:t>
            </a:r>
            <a:endParaRPr lang="en-US" sz="2400" dirty="0"/>
          </a:p>
        </p:txBody>
      </p:sp>
      <p:sp>
        <p:nvSpPr>
          <p:cNvPr id="5" name="Shape 3"/>
          <p:cNvSpPr/>
          <p:nvPr/>
        </p:nvSpPr>
        <p:spPr>
          <a:xfrm>
            <a:off x="548640" y="439483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4272915"/>
            <a:ext cx="6565392"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The oral can also lower the mark obtained in the midterm test</a:t>
            </a:r>
            <a:endParaRPr lang="en-US" sz="2400" dirty="0"/>
          </a:p>
        </p:txBody>
      </p:sp>
      <p:sp>
        <p:nvSpPr>
          <p:cNvPr id="7" name="Shape 5"/>
          <p:cNvSpPr/>
          <p:nvPr/>
        </p:nvSpPr>
        <p:spPr>
          <a:xfrm>
            <a:off x="548640" y="555040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5428488"/>
            <a:ext cx="6565392"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Final mark = mean of the theory mark and the practical mark</a:t>
            </a:r>
            <a:endParaRPr lang="en-US" sz="2400" dirty="0"/>
          </a:p>
        </p:txBody>
      </p:sp>
      <p:sp>
        <p:nvSpPr>
          <p:cNvPr id="9" name="Shape 7"/>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0" name="Text 8"/>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50 + 50</a:t>
            </a:r>
            <a:endParaRPr lang="en-US" sz="6000" dirty="0"/>
          </a:p>
        </p:txBody>
      </p:sp>
      <p:sp>
        <p:nvSpPr>
          <p:cNvPr id="11" name="Text 9"/>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theory and practice: two parts, and you must pass both</a:t>
            </a:r>
            <a:endParaRPr lang="en-US" sz="1900" dirty="0"/>
          </a:p>
        </p:txBody>
      </p:sp>
      <p:sp>
        <p:nvSpPr>
          <p:cNvPr id="12" name="Shape 10"/>
          <p:cNvSpPr/>
          <p:nvPr/>
        </p:nvSpPr>
        <p:spPr>
          <a:xfrm>
            <a:off x="8156397" y="91440"/>
            <a:ext cx="3486658" cy="274320"/>
          </a:xfrm>
          <a:prstGeom prst="rect">
            <a:avLst/>
          </a:prstGeom>
          <a:solidFill>
            <a:srgbClr val="E0F2FE"/>
          </a:solidFill>
          <a:ln w="12700">
            <a:solidFill>
              <a:srgbClr val="0369A1"/>
            </a:solidFill>
            <a:prstDash val="solid"/>
          </a:ln>
        </p:spPr>
      </p:sp>
      <p:sp>
        <p:nvSpPr>
          <p:cNvPr id="13" name="Shape 11"/>
          <p:cNvSpPr/>
          <p:nvPr/>
        </p:nvSpPr>
        <p:spPr>
          <a:xfrm>
            <a:off x="8156397" y="91440"/>
            <a:ext cx="73152" cy="274320"/>
          </a:xfrm>
          <a:prstGeom prst="rect">
            <a:avLst/>
          </a:prstGeom>
          <a:solidFill>
            <a:srgbClr val="0369A1"/>
          </a:solidFill>
          <a:ln w="12700">
            <a:solidFill>
              <a:srgbClr val="0369A1"/>
            </a:solidFill>
            <a:prstDash val="solid"/>
          </a:ln>
        </p:spPr>
      </p:sp>
      <p:pic>
        <p:nvPicPr>
          <p:cNvPr id="14" name="Image 0" descr="preencoded.png">    </p:cNvPr>
          <p:cNvPicPr>
            <a:picLocks noChangeAspect="1"/>
          </p:cNvPicPr>
          <p:nvPr/>
        </p:nvPicPr>
        <p:blipFill>
          <a:blip r:embed="rId1"/>
          <a:stretch>
            <a:fillRect/>
          </a:stretch>
        </p:blipFill>
        <p:spPr>
          <a:xfrm>
            <a:off x="8284413" y="128016"/>
            <a:ext cx="201168" cy="201168"/>
          </a:xfrm>
          <a:prstGeom prst="rect">
            <a:avLst/>
          </a:prstGeom>
        </p:spPr>
      </p:pic>
      <p:sp>
        <p:nvSpPr>
          <p:cNvPr id="15" name="Text 12"/>
          <p:cNvSpPr txBox="1"/>
          <p:nvPr/>
        </p:nvSpPr>
        <p:spPr>
          <a:xfrm>
            <a:off x="8540445" y="91440"/>
            <a:ext cx="306603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rules of the course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Exam sessions and finalisation</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To finalise you need a positive mark in both theory and practice</a:t>
            </a:r>
            <a:endParaRPr lang="en-US" sz="2200" dirty="0"/>
          </a:p>
        </p:txBody>
      </p:sp>
      <p:sp>
        <p:nvSpPr>
          <p:cNvPr id="5" name="Shape 3"/>
          <p:cNvSpPr/>
          <p:nvPr/>
        </p:nvSpPr>
        <p:spPr>
          <a:xfrm>
            <a:off x="548640" y="2302954"/>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196529"/>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Finalisation happens only during a theory exam session</a:t>
            </a:r>
            <a:endParaRPr lang="en-US" sz="2200" dirty="0"/>
          </a:p>
        </p:txBody>
      </p:sp>
      <p:sp>
        <p:nvSpPr>
          <p:cNvPr id="7" name="Shape 5"/>
          <p:cNvSpPr/>
          <p:nvPr/>
        </p:nvSpPr>
        <p:spPr>
          <a:xfrm>
            <a:off x="548640" y="3082163"/>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975737"/>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laboratory exam with Prof. Staffa is usually one week before the theory session</a:t>
            </a:r>
            <a:endParaRPr lang="en-US" sz="2200" dirty="0"/>
          </a:p>
        </p:txBody>
      </p:sp>
      <p:sp>
        <p:nvSpPr>
          <p:cNvPr id="9" name="Shape 7"/>
          <p:cNvSpPr/>
          <p:nvPr/>
        </p:nvSpPr>
        <p:spPr>
          <a:xfrm>
            <a:off x="548640" y="4202240"/>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095814"/>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Book both sessions on uniparthenope.esse3.cineca.it</a:t>
            </a:r>
            <a:endParaRPr lang="en-US" sz="2200" dirty="0"/>
          </a:p>
        </p:txBody>
      </p:sp>
      <p:sp>
        <p:nvSpPr>
          <p:cNvPr id="11" name="Shape 9"/>
          <p:cNvSpPr/>
          <p:nvPr/>
        </p:nvSpPr>
        <p:spPr>
          <a:xfrm>
            <a:off x="548640" y="4981448"/>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875022"/>
            <a:ext cx="10710367" cy="129717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Frequently asked</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Can I take the theory exam before passing the practical one? Yes: the midterm result is kept for one academic year, but you finalise only after passing the practical part</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Can I book the theory session without the practical test? Yes, the case is the same</a:t>
            </a:r>
            <a:endParaRPr lang="en-US" sz="2200" dirty="0"/>
          </a:p>
        </p:txBody>
      </p:sp>
      <p:sp>
        <p:nvSpPr>
          <p:cNvPr id="13" name="Shape 11"/>
          <p:cNvSpPr/>
          <p:nvPr/>
        </p:nvSpPr>
        <p:spPr>
          <a:xfrm>
            <a:off x="8156397" y="91440"/>
            <a:ext cx="3486658" cy="274320"/>
          </a:xfrm>
          <a:prstGeom prst="rect">
            <a:avLst/>
          </a:prstGeom>
          <a:solidFill>
            <a:srgbClr val="E0F2FE"/>
          </a:solidFill>
          <a:ln w="12700">
            <a:solidFill>
              <a:srgbClr val="0369A1"/>
            </a:solidFill>
            <a:prstDash val="solid"/>
          </a:ln>
        </p:spPr>
      </p:sp>
      <p:sp>
        <p:nvSpPr>
          <p:cNvPr id="14" name="Shape 12"/>
          <p:cNvSpPr/>
          <p:nvPr/>
        </p:nvSpPr>
        <p:spPr>
          <a:xfrm>
            <a:off x="8156397" y="91440"/>
            <a:ext cx="73152" cy="274320"/>
          </a:xfrm>
          <a:prstGeom prst="rect">
            <a:avLst/>
          </a:prstGeom>
          <a:solidFill>
            <a:srgbClr val="0369A1"/>
          </a:solidFill>
          <a:ln w="12700">
            <a:solidFill>
              <a:srgbClr val="0369A1"/>
            </a:solidFill>
            <a:prstDash val="solid"/>
          </a:ln>
        </p:spPr>
      </p:sp>
      <p:pic>
        <p:nvPicPr>
          <p:cNvPr id="15" name="Image 0" descr="preencoded.png">    </p:cNvPr>
          <p:cNvPicPr>
            <a:picLocks noChangeAspect="1"/>
          </p:cNvPicPr>
          <p:nvPr/>
        </p:nvPicPr>
        <p:blipFill>
          <a:blip r:embed="rId1"/>
          <a:stretch>
            <a:fillRect/>
          </a:stretch>
        </p:blipFill>
        <p:spPr>
          <a:xfrm>
            <a:off x="8284413" y="128016"/>
            <a:ext cx="201168" cy="201168"/>
          </a:xfrm>
          <a:prstGeom prst="rect">
            <a:avLst/>
          </a:prstGeom>
        </p:spPr>
      </p:pic>
      <p:sp>
        <p:nvSpPr>
          <p:cNvPr id="16" name="Text 13"/>
          <p:cNvSpPr txBox="1"/>
          <p:nvPr/>
        </p:nvSpPr>
        <p:spPr>
          <a:xfrm>
            <a:off x="8540445" y="91440"/>
            <a:ext cx="3066034" cy="274320"/>
          </a:xfrm>
          <a:prstGeom prst="rect">
            <a:avLst/>
          </a:prstGeom>
          <a:noFill/>
          <a:ln/>
        </p:spPr>
        <p:txBody>
          <a:bodyPr wrap="square" lIns="0" tIns="0" rIns="0" bIns="0" rtlCol="0" anchor="ctr"/>
          <a:lstStyle/>
          <a:p>
            <a:pPr indent="0" marL="0">
              <a:buNone/>
            </a:pPr>
            <a:r>
              <a:rPr lang="en-US" sz="1100" b="1" dirty="0">
                <a:solidFill>
                  <a:srgbClr val="075985"/>
                </a:solidFill>
                <a:latin typeface="Calibri" pitchFamily="34" charset="0"/>
                <a:ea typeface="Calibri" pitchFamily="34" charset="-122"/>
                <a:cs typeface="Calibri" pitchFamily="34" charset="-120"/>
              </a:rPr>
              <a:t>UNDERSTAND NOW</a:t>
            </a:r>
            <a:pPr indent="0" marL="0">
              <a:buNone/>
            </a:pPr>
            <a:r>
              <a:rPr lang="en-US" sz="1100" dirty="0">
                <a:solidFill>
                  <a:srgbClr val="075985"/>
                </a:solidFill>
                <a:latin typeface="Calibri" pitchFamily="34" charset="0"/>
                <a:ea typeface="Calibri" pitchFamily="34" charset="-122"/>
                <a:cs typeface="Calibri" pitchFamily="34" charset="-120"/>
              </a:rPr>
              <a:t> · the rules of the course</a:t>
            </a:r>
            <a:endParaRPr lang="en-US" sz="1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Teaching material</a:t>
            </a:r>
            <a:endParaRPr lang="en-US" sz="3200" dirty="0"/>
          </a:p>
        </p:txBody>
      </p:sp>
      <p:sp>
        <p:nvSpPr>
          <p:cNvPr id="3" name="Shape 1"/>
          <p:cNvSpPr/>
          <p:nvPr/>
        </p:nvSpPr>
        <p:spPr>
          <a:xfrm>
            <a:off x="548640" y="153924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105918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Slides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always shared on Google Drive; periodically published on elearning.uniparthenope.it</a:t>
            </a:r>
            <a:endParaRPr lang="en-US" sz="2400" dirty="0"/>
          </a:p>
        </p:txBody>
      </p:sp>
      <p:sp>
        <p:nvSpPr>
          <p:cNvPr id="5" name="Shape 3"/>
          <p:cNvSpPr/>
          <p:nvPr/>
        </p:nvSpPr>
        <p:spPr>
          <a:xfrm>
            <a:off x="548640" y="2746756"/>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624836"/>
            <a:ext cx="10710367" cy="10957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PRG32 platform and textbook (free, open source)</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github.com/riscv-prg32/PRG32</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Playing with RISC-V: Assembly, C, and Retro Games on the PRG32 Platform</a:t>
            </a:r>
            <a:endParaRPr lang="en-US" sz="2400" dirty="0"/>
          </a:p>
        </p:txBody>
      </p:sp>
      <p:sp>
        <p:nvSpPr>
          <p:cNvPr id="7" name="Shape 5"/>
          <p:cNvSpPr/>
          <p:nvPr/>
        </p:nvSpPr>
        <p:spPr>
          <a:xfrm>
            <a:off x="548640" y="399084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868928"/>
            <a:ext cx="10710367" cy="1783080"/>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Textbooks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Patterson, Hennessy: Computer Organization and Design, RISC-V Edition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Tanenbaum, Austin: Structured Computer Organization</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Also in the syllabus: Stallings, Computer Organization and Architecture; Bucci, Architettura dei calcolatori elettronici</a:t>
            </a:r>
            <a:endParaRPr lang="en-US" sz="2400" dirty="0"/>
          </a:p>
        </p:txBody>
      </p:sp>
      <p:sp>
        <p:nvSpPr>
          <p:cNvPr id="9" name="Shape 7"/>
          <p:cNvSpPr/>
          <p:nvPr/>
        </p:nvSpPr>
        <p:spPr>
          <a:xfrm>
            <a:off x="548640" y="5922264"/>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800344"/>
            <a:ext cx="10710367" cy="371856"/>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Official RISC-V documentation: riscv.org</a:t>
            </a:r>
            <a:endParaRPr lang="en-US" sz="2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First contact: who are you?</a:t>
            </a:r>
            <a:endParaRPr lang="en-US" sz="3200" dirty="0"/>
          </a:p>
        </p:txBody>
      </p:sp>
      <p:sp>
        <p:nvSpPr>
          <p:cNvPr id="3" name="Shape 1"/>
          <p:cNvSpPr/>
          <p:nvPr/>
        </p:nvSpPr>
        <p:spPr>
          <a:xfrm>
            <a:off x="548640" y="1417320"/>
            <a:ext cx="3515258" cy="2240280"/>
          </a:xfrm>
          <a:prstGeom prst="roundRect">
            <a:avLst>
              <a:gd name="adj" fmla="val 3265"/>
            </a:avLst>
          </a:prstGeom>
          <a:solidFill>
            <a:srgbClr val="EEF2F4"/>
          </a:solidFill>
          <a:ln w="12700">
            <a:solidFill>
              <a:srgbClr val="EEF2F4"/>
            </a:solidFill>
            <a:prstDash val="solid"/>
          </a:ln>
        </p:spPr>
      </p:sp>
      <p:sp>
        <p:nvSpPr>
          <p:cNvPr id="4" name="Text 2"/>
          <p:cNvSpPr txBox="1"/>
          <p:nvPr/>
        </p:nvSpPr>
        <p:spPr>
          <a:xfrm>
            <a:off x="777240" y="1645920"/>
            <a:ext cx="384048" cy="384048"/>
          </a:xfrm>
          <a:prstGeom prst="roundRect">
            <a:avLst>
              <a:gd name="adj" fmla="val 19048"/>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325880"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Hardware</a:t>
            </a:r>
            <a:endParaRPr lang="en-US" sz="2000" dirty="0"/>
          </a:p>
        </p:txBody>
      </p:sp>
      <p:sp>
        <p:nvSpPr>
          <p:cNvPr id="6" name="Text 4"/>
          <p:cNvSpPr txBox="1"/>
          <p:nvPr/>
        </p:nvSpPr>
        <p:spPr>
          <a:xfrm>
            <a:off x="822960" y="2331720"/>
            <a:ext cx="2966618" cy="1188720"/>
          </a:xfrm>
          <a:prstGeom prst="rect">
            <a:avLst/>
          </a:prstGeom>
          <a:noFill/>
          <a:ln/>
        </p:spPr>
        <p:txBody>
          <a:bodyPr wrap="square" lIns="0" tIns="0" rIns="0" bIns="0" rtlCol="0" anchor="t"/>
          <a:lstStyle/>
          <a:p>
            <a:pPr indent="0" marL="0">
              <a:buNone/>
            </a:pPr>
            <a:r>
              <a:rPr lang="en-US" sz="1600" dirty="0">
                <a:solidFill>
                  <a:srgbClr val="1B2530"/>
                </a:solidFill>
                <a:latin typeface="Calibri" pitchFamily="34" charset="0"/>
                <a:ea typeface="Calibri" pitchFamily="34" charset="-122"/>
                <a:cs typeface="Calibri" pitchFamily="34" charset="-120"/>
              </a:rPr>
              <a:t>Who has assembled their own computer? Who has already played with an Arduino or an ESP32?</a:t>
            </a:r>
            <a:endParaRPr lang="en-US" sz="1600" dirty="0"/>
          </a:p>
        </p:txBody>
      </p:sp>
      <p:sp>
        <p:nvSpPr>
          <p:cNvPr id="7" name="Shape 5"/>
          <p:cNvSpPr/>
          <p:nvPr/>
        </p:nvSpPr>
        <p:spPr>
          <a:xfrm>
            <a:off x="4338218" y="1417320"/>
            <a:ext cx="3515258" cy="2240280"/>
          </a:xfrm>
          <a:prstGeom prst="roundRect">
            <a:avLst>
              <a:gd name="adj" fmla="val 3265"/>
            </a:avLst>
          </a:prstGeom>
          <a:solidFill>
            <a:srgbClr val="EEF2F4"/>
          </a:solidFill>
          <a:ln w="12700">
            <a:solidFill>
              <a:srgbClr val="EEF2F4"/>
            </a:solidFill>
            <a:prstDash val="solid"/>
          </a:ln>
        </p:spPr>
      </p:sp>
      <p:sp>
        <p:nvSpPr>
          <p:cNvPr id="8" name="Text 6"/>
          <p:cNvSpPr txBox="1"/>
          <p:nvPr/>
        </p:nvSpPr>
        <p:spPr>
          <a:xfrm>
            <a:off x="4566818" y="1645920"/>
            <a:ext cx="384048" cy="384048"/>
          </a:xfrm>
          <a:prstGeom prst="roundRect">
            <a:avLst>
              <a:gd name="adj" fmla="val 19048"/>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5115458"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Software</a:t>
            </a:r>
            <a:endParaRPr lang="en-US" sz="2000" dirty="0"/>
          </a:p>
        </p:txBody>
      </p:sp>
      <p:sp>
        <p:nvSpPr>
          <p:cNvPr id="10" name="Text 8"/>
          <p:cNvSpPr txBox="1"/>
          <p:nvPr/>
        </p:nvSpPr>
        <p:spPr>
          <a:xfrm>
            <a:off x="4612538" y="2331720"/>
            <a:ext cx="2966618" cy="1188720"/>
          </a:xfrm>
          <a:prstGeom prst="rect">
            <a:avLst/>
          </a:prstGeom>
          <a:noFill/>
          <a:ln/>
        </p:spPr>
        <p:txBody>
          <a:bodyPr wrap="square" lIns="0" tIns="0" rIns="0" bIns="0" rtlCol="0" anchor="t"/>
          <a:lstStyle/>
          <a:p>
            <a:pPr indent="0" marL="0">
              <a:buNone/>
            </a:pPr>
            <a:r>
              <a:rPr lang="en-US" sz="1600" dirty="0">
                <a:solidFill>
                  <a:srgbClr val="1B2530"/>
                </a:solidFill>
                <a:latin typeface="Calibri" pitchFamily="34" charset="0"/>
                <a:ea typeface="Calibri" pitchFamily="34" charset="-122"/>
                <a:cs typeface="Calibri" pitchFamily="34" charset="-120"/>
              </a:rPr>
              <a:t>How many programming languages do you know? Has anyone ever read a line of assembly?</a:t>
            </a:r>
            <a:endParaRPr lang="en-US" sz="1600" dirty="0"/>
          </a:p>
        </p:txBody>
      </p:sp>
      <p:sp>
        <p:nvSpPr>
          <p:cNvPr id="11" name="Shape 9"/>
          <p:cNvSpPr/>
          <p:nvPr/>
        </p:nvSpPr>
        <p:spPr>
          <a:xfrm>
            <a:off x="8127797" y="1417320"/>
            <a:ext cx="3515258" cy="2240280"/>
          </a:xfrm>
          <a:prstGeom prst="roundRect">
            <a:avLst>
              <a:gd name="adj" fmla="val 3265"/>
            </a:avLst>
          </a:prstGeom>
          <a:solidFill>
            <a:srgbClr val="EEF2F4"/>
          </a:solidFill>
          <a:ln w="12700">
            <a:solidFill>
              <a:srgbClr val="EEF2F4"/>
            </a:solidFill>
            <a:prstDash val="solid"/>
          </a:ln>
        </p:spPr>
      </p:sp>
      <p:sp>
        <p:nvSpPr>
          <p:cNvPr id="12" name="Text 10"/>
          <p:cNvSpPr txBox="1"/>
          <p:nvPr/>
        </p:nvSpPr>
        <p:spPr>
          <a:xfrm>
            <a:off x="8356397" y="1645920"/>
            <a:ext cx="384048" cy="384048"/>
          </a:xfrm>
          <a:prstGeom prst="roundRect">
            <a:avLst>
              <a:gd name="adj" fmla="val 19048"/>
            </a:avLst>
          </a:prstGeom>
          <a:solidFill>
            <a:srgbClr val="6B4FA0"/>
          </a:solidFill>
          <a:ln>
            <a:solidFill>
              <a:srgbClr val="6B4FA0"/>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05037" y="16002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Culture</a:t>
            </a:r>
            <a:endParaRPr lang="en-US" sz="2000" dirty="0"/>
          </a:p>
        </p:txBody>
      </p:sp>
      <p:sp>
        <p:nvSpPr>
          <p:cNvPr id="14" name="Text 12"/>
          <p:cNvSpPr txBox="1"/>
          <p:nvPr/>
        </p:nvSpPr>
        <p:spPr>
          <a:xfrm>
            <a:off x="8402117" y="2331720"/>
            <a:ext cx="2966618" cy="1188720"/>
          </a:xfrm>
          <a:prstGeom prst="rect">
            <a:avLst/>
          </a:prstGeom>
          <a:noFill/>
          <a:ln/>
        </p:spPr>
        <p:txBody>
          <a:bodyPr wrap="square" lIns="0" tIns="0" rIns="0" bIns="0" rtlCol="0" anchor="t"/>
          <a:lstStyle/>
          <a:p>
            <a:pPr indent="0" marL="0">
              <a:buNone/>
            </a:pPr>
            <a:r>
              <a:rPr lang="en-US" sz="1600" dirty="0">
                <a:solidFill>
                  <a:srgbClr val="1B2530"/>
                </a:solidFill>
                <a:latin typeface="Calibri" pitchFamily="34" charset="0"/>
                <a:ea typeface="Calibri" pitchFamily="34" charset="-122"/>
                <a:cs typeface="Calibri" pitchFamily="34" charset="-120"/>
              </a:rPr>
              <a:t>What are retrocomputing and retrogaming? Have you ever visited a computer museum?</a:t>
            </a:r>
            <a:endParaRPr lang="en-US" sz="1600" dirty="0"/>
          </a:p>
        </p:txBody>
      </p:sp>
      <p:sp>
        <p:nvSpPr>
          <p:cNvPr id="15" name="Shape 13"/>
          <p:cNvSpPr/>
          <p:nvPr/>
        </p:nvSpPr>
        <p:spPr>
          <a:xfrm>
            <a:off x="548640" y="3931920"/>
            <a:ext cx="3515258" cy="2240280"/>
          </a:xfrm>
          <a:prstGeom prst="roundRect">
            <a:avLst>
              <a:gd name="adj" fmla="val 3265"/>
            </a:avLst>
          </a:prstGeom>
          <a:solidFill>
            <a:srgbClr val="EEF2F4"/>
          </a:solidFill>
          <a:ln w="12700">
            <a:solidFill>
              <a:srgbClr val="EEF2F4"/>
            </a:solidFill>
            <a:prstDash val="solid"/>
          </a:ln>
        </p:spPr>
      </p:sp>
      <p:sp>
        <p:nvSpPr>
          <p:cNvPr id="16" name="Text 14"/>
          <p:cNvSpPr txBox="1"/>
          <p:nvPr/>
        </p:nvSpPr>
        <p:spPr>
          <a:xfrm>
            <a:off x="777240" y="4160520"/>
            <a:ext cx="384048" cy="384048"/>
          </a:xfrm>
          <a:prstGeom prst="roundRect">
            <a:avLst>
              <a:gd name="adj" fmla="val 19048"/>
            </a:avLst>
          </a:prstGeom>
          <a:solidFill>
            <a:srgbClr val="2F7D4F"/>
          </a:solidFill>
          <a:ln>
            <a:solidFill>
              <a:srgbClr val="2F7D4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1325880" y="41148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Concepts</a:t>
            </a:r>
            <a:endParaRPr lang="en-US" sz="2000" dirty="0"/>
          </a:p>
        </p:txBody>
      </p:sp>
      <p:sp>
        <p:nvSpPr>
          <p:cNvPr id="18" name="Text 16"/>
          <p:cNvSpPr txBox="1"/>
          <p:nvPr/>
        </p:nvSpPr>
        <p:spPr>
          <a:xfrm>
            <a:off x="822960" y="4846320"/>
            <a:ext cx="2966618" cy="1188720"/>
          </a:xfrm>
          <a:prstGeom prst="rect">
            <a:avLst/>
          </a:prstGeom>
          <a:noFill/>
          <a:ln/>
        </p:spPr>
        <p:txBody>
          <a:bodyPr wrap="square" lIns="0" tIns="0" rIns="0" bIns="0" rtlCol="0" anchor="t"/>
          <a:lstStyle/>
          <a:p>
            <a:pPr indent="0" marL="0">
              <a:buNone/>
            </a:pPr>
            <a:r>
              <a:rPr lang="en-US" sz="1600" dirty="0">
                <a:solidFill>
                  <a:srgbClr val="1B2530"/>
                </a:solidFill>
                <a:latin typeface="Calibri" pitchFamily="34" charset="0"/>
                <a:ea typeface="Calibri" pitchFamily="34" charset="-122"/>
                <a:cs typeface="Calibri" pitchFamily="34" charset="-120"/>
              </a:rPr>
              <a:t>Who can tell the difference between ROM, RAM and storage? What is cloud computing? And the Internet of Things?</a:t>
            </a:r>
            <a:endParaRPr lang="en-US" sz="1600" dirty="0"/>
          </a:p>
        </p:txBody>
      </p:sp>
      <p:sp>
        <p:nvSpPr>
          <p:cNvPr id="19" name="Shape 17"/>
          <p:cNvSpPr/>
          <p:nvPr/>
        </p:nvSpPr>
        <p:spPr>
          <a:xfrm>
            <a:off x="4338218" y="3931920"/>
            <a:ext cx="3515258" cy="2240280"/>
          </a:xfrm>
          <a:prstGeom prst="roundRect">
            <a:avLst>
              <a:gd name="adj" fmla="val 3265"/>
            </a:avLst>
          </a:prstGeom>
          <a:solidFill>
            <a:srgbClr val="EEF2F4"/>
          </a:solidFill>
          <a:ln w="12700">
            <a:solidFill>
              <a:srgbClr val="EEF2F4"/>
            </a:solidFill>
            <a:prstDash val="solid"/>
          </a:ln>
        </p:spPr>
      </p:sp>
      <p:sp>
        <p:nvSpPr>
          <p:cNvPr id="20" name="Text 18"/>
          <p:cNvSpPr txBox="1"/>
          <p:nvPr/>
        </p:nvSpPr>
        <p:spPr>
          <a:xfrm>
            <a:off x="4566818" y="4160520"/>
            <a:ext cx="384048" cy="384048"/>
          </a:xfrm>
          <a:prstGeom prst="roundRect">
            <a:avLst>
              <a:gd name="adj" fmla="val 19048"/>
            </a:avLst>
          </a:prstGeom>
          <a:solidFill>
            <a:srgbClr val="B23A48"/>
          </a:solidFill>
          <a:ln>
            <a:solidFill>
              <a:srgbClr val="B23A48"/>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1" name="Text 19"/>
          <p:cNvSpPr txBox="1"/>
          <p:nvPr/>
        </p:nvSpPr>
        <p:spPr>
          <a:xfrm>
            <a:off x="5115458" y="41148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RISC-V</a:t>
            </a:r>
            <a:endParaRPr lang="en-US" sz="2000" dirty="0"/>
          </a:p>
        </p:txBody>
      </p:sp>
      <p:sp>
        <p:nvSpPr>
          <p:cNvPr id="22" name="Text 20"/>
          <p:cNvSpPr txBox="1"/>
          <p:nvPr/>
        </p:nvSpPr>
        <p:spPr>
          <a:xfrm>
            <a:off x="4612538" y="4846320"/>
            <a:ext cx="2966618" cy="1188720"/>
          </a:xfrm>
          <a:prstGeom prst="rect">
            <a:avLst/>
          </a:prstGeom>
          <a:noFill/>
          <a:ln/>
        </p:spPr>
        <p:txBody>
          <a:bodyPr wrap="square" lIns="0" tIns="0" rIns="0" bIns="0" rtlCol="0" anchor="t"/>
          <a:lstStyle/>
          <a:p>
            <a:pPr indent="0" marL="0">
              <a:buNone/>
            </a:pPr>
            <a:r>
              <a:rPr lang="en-US" sz="1600" dirty="0">
                <a:solidFill>
                  <a:srgbClr val="1B2530"/>
                </a:solidFill>
                <a:latin typeface="Calibri" pitchFamily="34" charset="0"/>
                <a:ea typeface="Calibri" pitchFamily="34" charset="-122"/>
                <a:cs typeface="Calibri" pitchFamily="34" charset="-120"/>
              </a:rPr>
              <a:t>Who has heard of RISC-V? Which processor is inside your phone, your laptop, your router?</a:t>
            </a:r>
            <a:endParaRPr lang="en-US" sz="1600" dirty="0"/>
          </a:p>
        </p:txBody>
      </p:sp>
      <p:sp>
        <p:nvSpPr>
          <p:cNvPr id="23" name="Shape 21"/>
          <p:cNvSpPr/>
          <p:nvPr/>
        </p:nvSpPr>
        <p:spPr>
          <a:xfrm>
            <a:off x="8127797" y="3931920"/>
            <a:ext cx="3515258" cy="2240280"/>
          </a:xfrm>
          <a:prstGeom prst="roundRect">
            <a:avLst>
              <a:gd name="adj" fmla="val 3265"/>
            </a:avLst>
          </a:prstGeom>
          <a:solidFill>
            <a:srgbClr val="EEF2F4"/>
          </a:solidFill>
          <a:ln w="12700">
            <a:solidFill>
              <a:srgbClr val="EEF2F4"/>
            </a:solidFill>
            <a:prstDash val="solid"/>
          </a:ln>
        </p:spPr>
      </p:sp>
      <p:sp>
        <p:nvSpPr>
          <p:cNvPr id="24" name="Text 22"/>
          <p:cNvSpPr txBox="1"/>
          <p:nvPr/>
        </p:nvSpPr>
        <p:spPr>
          <a:xfrm>
            <a:off x="8356397" y="4160520"/>
            <a:ext cx="384048" cy="384048"/>
          </a:xfrm>
          <a:prstGeom prst="roundRect">
            <a:avLst>
              <a:gd name="adj" fmla="val 19048"/>
            </a:avLst>
          </a:prstGeom>
          <a:solidFill>
            <a:srgbClr val="2E4A62"/>
          </a:solidFill>
          <a:ln>
            <a:solidFill>
              <a:srgbClr val="2E4A62"/>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6</a:t>
            </a:r>
            <a:endParaRPr lang="en-US" sz="1400" dirty="0"/>
          </a:p>
        </p:txBody>
      </p:sp>
      <p:sp>
        <p:nvSpPr>
          <p:cNvPr id="25" name="Text 23"/>
          <p:cNvSpPr txBox="1"/>
          <p:nvPr/>
        </p:nvSpPr>
        <p:spPr>
          <a:xfrm>
            <a:off x="8905037" y="4114800"/>
            <a:ext cx="250941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You</a:t>
            </a:r>
            <a:endParaRPr lang="en-US" sz="2000" dirty="0"/>
          </a:p>
        </p:txBody>
      </p:sp>
      <p:sp>
        <p:nvSpPr>
          <p:cNvPr id="26" name="Text 24"/>
          <p:cNvSpPr txBox="1"/>
          <p:nvPr/>
        </p:nvSpPr>
        <p:spPr>
          <a:xfrm>
            <a:off x="8402117" y="4846320"/>
            <a:ext cx="2966618" cy="1188720"/>
          </a:xfrm>
          <a:prstGeom prst="rect">
            <a:avLst/>
          </a:prstGeom>
          <a:noFill/>
          <a:ln/>
        </p:spPr>
        <p:txBody>
          <a:bodyPr wrap="square" lIns="0" tIns="0" rIns="0" bIns="0" rtlCol="0" anchor="t"/>
          <a:lstStyle/>
          <a:p>
            <a:pPr indent="0" marL="0">
              <a:buNone/>
            </a:pPr>
            <a:r>
              <a:rPr lang="en-US" sz="1600" dirty="0">
                <a:solidFill>
                  <a:srgbClr val="1B2530"/>
                </a:solidFill>
                <a:latin typeface="Calibri" pitchFamily="34" charset="0"/>
                <a:ea typeface="Calibri" pitchFamily="34" charset="-122"/>
                <a:cs typeface="Calibri" pitchFamily="34" charset="-120"/>
              </a:rPr>
              <a:t>Hobbies? Passions? Pastimes, besides studying?</a:t>
            </a:r>
            <a:endParaRPr lang="en-US" sz="16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Course Introduction</dc:title>
  <dc:subject>Lecture 00</dc:subject>
  <dc:creator>Raffaele Montella</dc:creator>
  <cp:lastModifiedBy>Raffaele Montella</cp:lastModifiedBy>
  <cp:revision>1</cp:revision>
  <dcterms:created xsi:type="dcterms:W3CDTF">2026-10-17T07:16:47Z</dcterms:created>
  <dcterms:modified xsi:type="dcterms:W3CDTF">2026-10-17T07:16:47Z</dcterms:modified>
</cp:coreProperties>
</file>