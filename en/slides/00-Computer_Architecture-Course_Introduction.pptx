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c0534d-cacd-95f0-9c56-219319b4c8eb}">
          <p14:sldIdLst>
            <p14:sldId id="256"/>
            <p14:sldId id="257"/>
            <p14:sldId id="258"/>
          </p14:sldIdLst>
        </p14:section>
        <p14:section name="A new approach" id="{37791fa2-8a0d-8fbd-2c38-72b5faec0aad}">
          <p14:sldIdLst>
            <p14:sldId id="259"/>
            <p14:sldId id="260"/>
            <p14:sldId id="261"/>
          </p14:sldIdLst>
        </p14:section>
        <p14:section name="PRG32 and RISC-V" id="{f17a52c4-2239-d7f1-d397-6179b114fccf}">
          <p14:sldIdLst>
            <p14:sldId id="262"/>
            <p14:sldId id="263"/>
            <p14:sldId id="264"/>
            <p14:sldId id="265"/>
          </p14:sldIdLst>
        </p14:section>
        <p14:section name="The course project: Verm1" id="{3b9365b7-8dec-86a5-e5f0-a47850c9d1b5}">
          <p14:sldIdLst>
            <p14:sldId id="266"/>
            <p14:sldId id="267"/>
            <p14:sldId id="268"/>
          </p14:sldIdLst>
        </p14:section>
        <p14:section name="Organisation and assessment" id="{8962c083-8133-5218-86ce-b04142ed9ab9}">
          <p14:sldIdLst>
            <p14:sldId id="269"/>
            <p14:sldId id="270"/>
            <p14:sldId id="271"/>
            <p14:sldId id="272"/>
            <p14:sldId id="273"/>
          </p14:sldIdLst>
        </p14:section>
        <p14:section name="Material and first contact" id="{84ed8a85-d035-d79d-5ff9-e4e61e207c7b}">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opening lecture introduces no technical topic. Its purpose is to set out the terms of the course: the method by which it proceeds, the machine on which its ideas are tested, the project that runs through it, and the rules by which learning is assessed. The epigraph from The Matrix states the underlying conviction: a computer is a system, and a system whose parts can be opened, named and reasoned about ceases to be opaque. The subtitle, program first, formalise later, is the methodological thesis of the whole course, and the remaining slides should be read as its consequences.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
For the lecturer: Opening lecture. The administrative facts (timetable, assessment) are carried over from the Italian 2026/27 deck; from this year there is one midterm test, with ten questions and two exercises. Dates still marked TBD must be filled in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is organised in five parts: the people and the hours, the approach, the machine, the project, and the rules. The order is deliberate. A set of rules can be judged only once one knows what the course demands, and what it demands follows from its method; hence the method precedes the regulations. Students who wish to go straight to the examination will find it treated completely in the last part. The list may be used as a map during the lecture and, later, as an index when consulting the slides.
For the lecturer: Five parts, about ten minutes each. The last part is the one students ask about: say at once that it comes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carries 12 ECTS credits, corresponding to 96 hours, divided equally between lectures (Prof. Montella) and laboratory (Prof. Staffa): two instructors, one course, one final mark. There are no formal prerequisites, and the statement is meant literally: no prior programming experience is assumed. What is required is a sustained curiosity about how a computer actually works. Office hours and the Teams code should be noted at once; questions raised in the first weeks are the least costly to resolve.
For the lecturer: Teams link from the original deck: https://teams.microsoft.com/l/channel/19%3Af4f24e8de71f424395ba903febdc4766%40thread.tacv2/General?groupId=09ae05f6-46f6-4441-ab7b-7522f88007d5 . The team code c7rf33g comes from the official syllabus and may change: announce any change in class. Accenture SuperSkills: https://richiediaccesso.uniparthenope.it/reservations?type=J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in one sentence. Program first means that, from the first week, students write RISC-V instructions that a physical processor executes. Formalise later means that definitions and theorems enter as answers: each explains a phenomenon that the student's own program has already exhibited. The ordering rests on a well-established observation in learning: a question one has encountered personally gives the subsequent answer a place to attach to. Nothing is removed from the theory; it is presented in full and it is examined. It simply arrives second.
UNDERSTAND NOW: the program-first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topic traverses the same four phases. Play: a few instructions are written and executed. Observe: the machine produces an effect that was not fully anticipated, for instance a counter that, decremented past zero, displays 0xFFFFFFFF. Formalise: the lecture supplies the rule that accounts for the effect, here two's complement representation. Return: one goes back to the machine and predicts the outcome before running the program. The fourth phase is the criterion of understanding. A correct prediction shows that the rule has been grasped; an incorrect one is refuted immediately by the machine, at no cost.
UNDERSTAND NOW: the program-first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aims stated in the official syllabus, and they form a chain. First, the fundamental aspects of computer architecture; then the low-level languages, machine language and assembly, through which a machine is programmed; then the formal tools from which a processor is constructed, namely Boolean algebra and binary arithmetic; then the organisation of processor, memory and input/output; and finally assembly code, in which all these layers become visible at once. The illustration is Pong running on PRG32: a program of a few hundred instructions, every one of which the student will be able to read by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is a small game console programmed in assembly or in C. Three properties are essential. First, the student's code is genuine machine code for a 32-bit RISC-V processor implementing the RV32IMAC instruction set: it is executed, not interpreted or imitated. Second, the interface between a program and the machine is a contract of three functions written by the student: init, executed once, and update and draw, executed once per frame. Third, a finished program is a cartridge, a single small file with the extension .prg32. The display measures 320 by 200 pixels, small enough for every pixel to be the object of reasoning.
UNDERSTAND LATER: the pieces of PRG32 (studied in Lecture 01).
For the lecturer: PRG32: https://github.com/riscv-prg32/PRG32 . Textbook: https://github.com/riscv-prg32/Playing-with-RISC-V_PRG32_textbook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PRG32 as a desktop application: it executes the same cartridges without any hardware. In debug mode it exposes the state of the machine while the game runs: execution can be paused, advanced one instruction at a time, stopped at a breakpoint; the 32 registers and any window of 128 bytes of memory can be inspected; and the program can be slowed to one hundredth of its speed. The final line of the slide deserves to be taken as an operational definition: a program is understood when one can state the content of each register before pressing Step.
UNDERSTAND LATER: the pieces of PRG32 (studied in Lecture 01).
For the lecturer: Settings, Run cartridges in RISC-V debug mode. Lecture 01 installs it; the same cartridge also runs on the kit and on the QEMU emulator, and Lecture 01 compares the three. The debugger is used from Lecture 02 and systematically in the Verm1 tutorials: each one has a debugging section with a precise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arguments motivate the choice of RISC-V. It is open: the instruction set architecture is a public standard that anyone may implement without licence fees. It is small: roughly forty base instructions and thirty-two general-purpose registers, a body of knowledge that a single semester can cover exhaustively. It is real: these instructions are executed by billions of commercial devices, so nothing learned here is a pedagogical artefact. And it is strategic: European initiatives build their own processors upon it. The second argument has the most direct consequence for the student, who will master the complete base instruction set rather than a selection of it.
UNDERSTAND LATER: RISC and an open ISA (studied in Lecture 03).
For the lecturer: DARE: Digital Autonomy with RISC-V in Europe, a EuroHPC Joint Undertaking project. See chapter 1 of the PRG32 textbook for the full argument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course on a single page. The left column lists the formal topics; the right column identifies where each is first encountered experimentally, on the machine. Two's complement appears as a position that moves left past zero; Boolean algebra as the test of a button; sequential networks as a counter that persists from one frame to the next. Every topic is thus met twice, first as a phenomenon and then as a theory. The table is worth revisiting at the start of each block, because it states which experience the forthcoming theory will explain, and it serves as a checklist for revision.
For the lecturer: This table is the course in one slide. Come back to it at the start of each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project is Verm1, pronounced "vermone", the big worm: a tribute to Snake, in which a worm moves on a grid, eats, grows, and must not collide with itself. The rules fit in one sentence, yet the implementation draws on nearly every topic of the course: numerical representation for positions, Boolean logic for the controls, memory organisation for the body, procedure calls and division for the score. Every line is written by the student; there is no game engine, only the handful of PRG32 calls that draw a rectangle, read the buttons or play a note. The finished game bears its author's name.
UNDERSTAND LATER: the Verm1 project (studied in Lecture 07).
For the lecturer: The project is the thread of the course: each part uses exactly what the four lectures before it have taught. The reference implementation of Verm1 was contributed by Giuseppe Coviello; its sources are in the verm1 folder of the course material and are built and played automatically by the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unfolds in four parts and a publication, each part following the block of lectures whose content it applies. Part 1 (Lecture 07) applies numerical representation: a grid and a head that moves. Part 2 (Lecture 12) applies logic: steering, food and a score. Part 3 (Lecture 17) applies state and memory: a body, collisions and three screens. Part 4 (Lecture 22) applies the organisation of the machine: decimal digits, levels and efficient drawing. Lecture 23 packages the game for the Cartridge Store. The caption states the invariant that matters most: every part ends with a game that runs.
UNDERSTAND LATER: the Verm1 project (studied in Lecture 07).
For the lecturer: Every fifth deck is a tutorial. The numbers are those of the lectures: 07, 12, 17 and 22 for the four parts, 23 for the 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of the course, organised in blocks. After the three opening lectures come four blocks of four lectures: Information (what a bit means), Logic (how bits are combined), State and memory (how bits are retained) and The machine (the processor and its devices). Each block is followed by a part of Verm1; Lecture 23 publishes the game and Lecture 24 looks beyond the single core. The lecture numbers on this slide are those used throughout the material, so that a reference such as "Lecture 13" can always be located here.
For the lecturer: The order was chosen for learning: first what a bit means, then how bits are combined, then how they are remembered, then the machine that does all three; the processor comes before the devices it drives. After each block the project uses it. The last lecture is an outlook, before the visit to the Department's computing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meets four times a week from September to December, always in Aula 1: Monday afternoon and Wednesday morning with Prof. Montella, Tuesday and Friday morning with Prof. Staffa. Lectures and laboratory sessions do not alternate rigidly; an internal calendar, shared with the class, gives the actual distribution week by week. That calendar, rather than this table alone, should be consulted when deciding what to prepare for a given day.
UNDERSTAND NOW: the rules of the course.
For the lecturer: We will share an internal calendar with the actual distribution of lectures and laboratory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single midterm test, consisting of ten multiple-choice questions and two exercises, taken on paper in about 45 minutes. Students must bring an identity document and a pen, and know their institutional e-mail address and student number. The test serves two purposes at once: it measures each student's progress and it measures the progress of the course. Preparation is built into the lectures, each of which closes with questions of exactly this type. Answering them week by week costs a few minutes; deferring them all to the night before is ineffective.
UNDERSTAND NOW: the rules of the course.
For the lecturer: One midterm from 2026/27 (there were two). The date is TBD: fill it in. The weight of the test is decided after evaluating the correct behaviour of the students in the room. Booking rules are not on the slide: say them in class if they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the midterm and the final examination is brief: no devices and no assistance of any kind, human or artificial, including ChatGPT, other large language models and all forms of generative AI. Copying annuls the test immediately. The rule does not express hostility towards technology, which the course uses daily; it follows from the purpose of an assessment. An examination measures what the candidate knows; an answer produced by another agent measures nothing and benefits nobody, least of all the candidate.
UNDERSTAND NOW: the rules of the course.
For the lecturer: If more than two tests have to be cancelled for inadequate behaviour, the whole midterm is cancelled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examination has two components, both of which must be passed: a theory component, an oral examination on the whole syllabus in which some answers require a diagram or a calculation at the board; and a practical component, the laboratory examination with Prof. Staffa. Each contributes one half, and the final mark is their mean. The oral examination may also lower the mark obtained in the midterm: the midterm is a genuine result, not a guarantee. The way in which the midterm enters the theory mark is explained in class.
UNDERSTAND NOW: the rules of the course.
For the lecturer: Midterm and exam results are kept within the current academic year. The official syllabus describes the written part as exercises on the analysis and synthesis of logic networks and on RISC-V assembly development on PRG32. How the midterm enters the theory mark is said in class: the slide does not give a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mark is recorded only when both components have been passed, and recording takes place exclusively during a theory session; the laboratory examination normally precedes it by about a week. Both must be booked on Esse3. The two most frequent questions share an answer: the theory component may be taken before the practical one, and its result is retained for the academic year, but nothing is recorded until both are passed. It is therefore advisable to plan the two examinations together.
UNDERSTAND NOW: the rules of the course.
For the lecturer: Dates of the sessions were empty in the source deck: add them when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material comes from four sources. The slides are kept in a shared Google Drive folder and periodically published on the e-learning portal. PRG32 and its textbook, Playing with RISC-V, are free and open source on GitHub. The reference textbooks are Patterson and Hennessy, Computer Organization and Design, RISC-V edition, and Tanenbaum and Austin, Structured Computer Organization; both are available in Italian. The authoritative documentation of the architecture is published at riscv.org. Nothing need be purchased on the first day: the slides and the PRG32 material suffice until the formal topics begin, at which point one textbook should be chosen.
For the lecturer: Drive folder: https://drive.google.com/drive/folders/15Kdu8XYbQQVP0ieuZA5OIEmoKqDjQ-eR?usp=sharing . E-learning: https://elearning.uniparthenope.it/course/view.php?id=107 . Italian editions: Tanenbaum, Austin, Architettura dei calcolatori. Un approccio strutturale (Pearson); Patterson, Hennessy, Struttura e progetto dei calcolatori: progettare con RISC-V (Zanichelli).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groups of questions open the conversation: hardware, software, culture, concepts, RISC-V and the students themselves. There are no right answers and nothing is assessed. The purpose is diagnostic: the answers indicate how much may be taken for granted in the first weeks. Students who have never assembled a computer or read a line of assembly are in the majority and exactly where the course expects them to be; those who have will find occasions to help their neighbours, which is itself one of the most effective ways of learning.
Learning status, recap.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
For the lecturer: Ice-breaker. Keep it quick; note the answers: they tell you how fast Lecture 02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Computer Architecture and Laboratory (ARC12): program first, formalise later</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Matrix is a system, Neo. That system is our enemy.”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The Matrix, Lana and Lilly Wachowski,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00-Computer_Architecture-Course_Introduction-Lab.pptx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Today</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Who we are, and how the 96 hours of the course are organised</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approach: you program first, and we formalise afterwards</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machine: PRG32, RISC-V, and the debugger you will use every week; next time we install them together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project: Verm1, a game you write from an empty file and publish</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rules: timetable, the midterm test, the exam, the material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at a glance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Name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Computer Architecture and Computer Architecture Laboratory (ARC12). First year, first semester, Bachelor's Degree in Computer Science.</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Lecturers</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Raffaele Montella: lectures, 6 ECTS.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Mariacarla Staffa: laboratory, 6 ECTS.</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Credits</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12 ECTS, 96 hours.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Scientific area: INFO-01/A (Informatics).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Office hours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Room 420, Tuesday 14:00-16:00, by appointment. Also on Microsoft Teams (team code: c7rf33g).</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Extra credits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Accenture SuperSkills! gives 2 ECTS as further knowledge: richiediaccesso.uniparthenope.it</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Prerequisites</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None. The only real prerequisite is a passion for computing and the technologies that enable it.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 first. Formalise later.</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day one you write RISC-V assembly that runs on a real processor. Each formal topic then answers a question that your own program has already raised.</a:t>
            </a:r>
            <a:endParaRPr lang="en-US" sz="2200" dirty="0"/>
          </a:p>
        </p:txBody>
      </p:sp>
      <p:sp>
        <p:nvSpPr>
          <p:cNvPr id="7" name="Shape 5"/>
          <p:cNvSpPr/>
          <p:nvPr/>
        </p:nvSpPr>
        <p:spPr>
          <a:xfrm>
            <a:off x="8090738" y="91440"/>
            <a:ext cx="3552317" cy="274320"/>
          </a:xfrm>
          <a:prstGeom prst="rect">
            <a:avLst/>
          </a:prstGeom>
          <a:solidFill>
            <a:srgbClr val="E0F2FE"/>
          </a:solidFill>
          <a:ln w="12700">
            <a:solidFill>
              <a:srgbClr val="0369A1"/>
            </a:solidFill>
            <a:prstDash val="solid"/>
          </a:ln>
        </p:spPr>
      </p:sp>
      <p:sp>
        <p:nvSpPr>
          <p:cNvPr id="8" name="Shape 6"/>
          <p:cNvSpPr/>
          <p:nvPr/>
        </p:nvSpPr>
        <p:spPr>
          <a:xfrm>
            <a:off x="8090738"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10" name="Text 7"/>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program-first method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learning spiral, repeated for every topic</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Play</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Type a few instructions, build a cartridge, run it on PRG32</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Observe</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Something happens: a number wraps, a bit lights a lamp, a rectangle moves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Formalise</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Definitions, theorems and methods explain exactly why</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Return</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Back to the machine: predict the result before you run it</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mark is an opinion; a paddle that leaves the screen is a fact. We will use facts, then explain them.</a:t>
            </a:r>
            <a:endParaRPr lang="en-US" sz="2000" dirty="0"/>
          </a:p>
        </p:txBody>
      </p:sp>
      <p:sp>
        <p:nvSpPr>
          <p:cNvPr id="20" name="Shape 18"/>
          <p:cNvSpPr/>
          <p:nvPr/>
        </p:nvSpPr>
        <p:spPr>
          <a:xfrm>
            <a:off x="8090738" y="91440"/>
            <a:ext cx="3552317" cy="274320"/>
          </a:xfrm>
          <a:prstGeom prst="rect">
            <a:avLst/>
          </a:prstGeom>
          <a:solidFill>
            <a:srgbClr val="E0F2FE"/>
          </a:solidFill>
          <a:ln w="12700">
            <a:solidFill>
              <a:srgbClr val="0369A1"/>
            </a:solidFill>
            <a:prstDash val="solid"/>
          </a:ln>
        </p:spPr>
      </p:sp>
      <p:sp>
        <p:nvSpPr>
          <p:cNvPr id="21" name="Shape 19"/>
          <p:cNvSpPr/>
          <p:nvPr/>
        </p:nvSpPr>
        <p:spPr>
          <a:xfrm>
            <a:off x="8090738"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218754" y="128016"/>
            <a:ext cx="201168" cy="201168"/>
          </a:xfrm>
          <a:prstGeom prst="rect">
            <a:avLst/>
          </a:prstGeom>
        </p:spPr>
      </p:pic>
      <p:sp>
        <p:nvSpPr>
          <p:cNvPr id="23" name="Text 20"/>
          <p:cNvSpPr txBox="1"/>
          <p:nvPr/>
        </p:nvSpPr>
        <p:spPr>
          <a:xfrm>
            <a:off x="8474786" y="91440"/>
            <a:ext cx="313169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program-first method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course aims at</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Present the fundamental aspects of the architecture of modern computers</a:t>
            </a:r>
            <a:endParaRPr lang="en-US" sz="1800" dirty="0"/>
          </a:p>
        </p:txBody>
      </p:sp>
      <p:sp>
        <p:nvSpPr>
          <p:cNvPr id="5" name="Shape 3"/>
          <p:cNvSpPr/>
          <p:nvPr/>
        </p:nvSpPr>
        <p:spPr>
          <a:xfrm>
            <a:off x="548640" y="227971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276"/>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Use, in the laboratory, the basic concepts for programming them efficiently in low-level languages: machine language and assembly</a:t>
            </a:r>
            <a:endParaRPr lang="en-US" sz="1800" dirty="0"/>
          </a:p>
        </p:txBody>
      </p:sp>
      <p:sp>
        <p:nvSpPr>
          <p:cNvPr id="7" name="Shape 5"/>
          <p:cNvSpPr/>
          <p:nvPr/>
        </p:nvSpPr>
        <p:spPr>
          <a:xfrm>
            <a:off x="548640" y="33455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0123"/>
            <a:ext cx="6565392" cy="104927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Treat rigorously the tools the processor is built from</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Boolean algebra and the synthesis of combinational and sequential logic networks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binary representation and binary arithmetic</a:t>
            </a:r>
            <a:endParaRPr lang="en-US" sz="1800" dirty="0"/>
          </a:p>
        </p:txBody>
      </p:sp>
      <p:sp>
        <p:nvSpPr>
          <p:cNvPr id="9" name="Shape 7"/>
          <p:cNvSpPr/>
          <p:nvPr/>
        </p:nvSpPr>
        <p:spPr>
          <a:xfrm>
            <a:off x="548640" y="462400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8569"/>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Describe in detail the functional and physical structure of the CPU, the memory and the input/output subsystem</a:t>
            </a:r>
            <a:endParaRPr lang="en-US" sz="1800" dirty="0"/>
          </a:p>
        </p:txBody>
      </p:sp>
      <p:sp>
        <p:nvSpPr>
          <p:cNvPr id="11" name="Shape 9"/>
          <p:cNvSpPr/>
          <p:nvPr/>
        </p:nvSpPr>
        <p:spPr>
          <a:xfrm>
            <a:off x="548640" y="54109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35524"/>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Develop assembly code that makes visible how a processor really works and how the basic units of a computer interact</a:t>
            </a:r>
            <a:endParaRPr lang="en-US" sz="1800" dirty="0"/>
          </a:p>
        </p:txBody>
      </p:sp>
      <p:pic>
        <p:nvPicPr>
          <p:cNvPr id="13" name="Image 0" descr="/Users/raffaelemontella/devel/riscv-prg32/computer-architecture-with-prg32/tools/assets/game_pong.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Pong running on PRG32: native RISC-V machine code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retro console you program in assembly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open-source educational runtime for teaching RISC-V assembly and C, developed at Parthenope</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 code runs natively as 32-bit RISC-V machine code (RV32IMAC): it is not interpreted by a simulator</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deliberately thin contract: three functions that you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init runs once; update and draw run once per frame</a:t>
            </a:r>
            <a:endParaRPr lang="en-US" sz="2100" dirty="0"/>
          </a:p>
        </p:txBody>
      </p:sp>
      <p:sp>
        <p:nvSpPr>
          <p:cNvPr id="9" name="Shape 7"/>
          <p:cNvSpPr/>
          <p:nvPr/>
        </p:nvSpPr>
        <p:spPr>
          <a:xfrm>
            <a:off x="548640" y="45102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159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Games travel as small cartridges: files with the extension .prg32</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320 by 200 viewport, a joystick, sound: small enough to hold in your head, rich enough to exercise the whole course</a:t>
            </a:r>
            <a:endParaRPr lang="en-US" sz="21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resident firmware menu</a:t>
            </a:r>
            <a:endParaRPr lang="en-US" sz="1200" dirty="0"/>
          </a:p>
        </p:txBody>
      </p:sp>
      <p:sp>
        <p:nvSpPr>
          <p:cNvPr id="15" name="Shape 12"/>
          <p:cNvSpPr/>
          <p:nvPr/>
        </p:nvSpPr>
        <p:spPr>
          <a:xfrm>
            <a:off x="7283272" y="91440"/>
            <a:ext cx="4359783" cy="274320"/>
          </a:xfrm>
          <a:prstGeom prst="rect">
            <a:avLst/>
          </a:prstGeom>
          <a:solidFill>
            <a:srgbClr val="F3E8FF"/>
          </a:solidFill>
          <a:ln w="12700">
            <a:solidFill>
              <a:srgbClr val="7E22CE"/>
            </a:solidFill>
            <a:prstDash val="dash"/>
          </a:ln>
        </p:spPr>
      </p:sp>
      <p:sp>
        <p:nvSpPr>
          <p:cNvPr id="16" name="Shape 13"/>
          <p:cNvSpPr/>
          <p:nvPr/>
        </p:nvSpPr>
        <p:spPr>
          <a:xfrm>
            <a:off x="7310704" y="128016"/>
            <a:ext cx="45720" cy="45720"/>
          </a:xfrm>
          <a:prstGeom prst="rect">
            <a:avLst/>
          </a:prstGeom>
          <a:solidFill>
            <a:srgbClr val="7E22CE"/>
          </a:solidFill>
          <a:ln w="12700">
            <a:solidFill>
              <a:srgbClr val="7E22CE"/>
            </a:solidFill>
            <a:prstDash val="solid"/>
          </a:ln>
        </p:spPr>
      </p:sp>
      <p:sp>
        <p:nvSpPr>
          <p:cNvPr id="17" name="Shape 14"/>
          <p:cNvSpPr/>
          <p:nvPr/>
        </p:nvSpPr>
        <p:spPr>
          <a:xfrm>
            <a:off x="7310704" y="205740"/>
            <a:ext cx="45720" cy="45720"/>
          </a:xfrm>
          <a:prstGeom prst="rect">
            <a:avLst/>
          </a:prstGeom>
          <a:solidFill>
            <a:srgbClr val="7E22CE"/>
          </a:solidFill>
          <a:ln w="12700">
            <a:solidFill>
              <a:srgbClr val="7E22CE"/>
            </a:solidFill>
            <a:prstDash val="solid"/>
          </a:ln>
        </p:spPr>
      </p:sp>
      <p:sp>
        <p:nvSpPr>
          <p:cNvPr id="18" name="Shape 15"/>
          <p:cNvSpPr/>
          <p:nvPr/>
        </p:nvSpPr>
        <p:spPr>
          <a:xfrm>
            <a:off x="7310704"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7411288" y="128016"/>
            <a:ext cx="201168" cy="201168"/>
          </a:xfrm>
          <a:prstGeom prst="rect">
            <a:avLst/>
          </a:prstGeom>
        </p:spPr>
      </p:pic>
      <p:sp>
        <p:nvSpPr>
          <p:cNvPr id="20" name="Text 16"/>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pieces of PRG32</a:t>
            </a:r>
            <a:pPr indent="0" marL="0">
              <a:buNone/>
            </a:pPr>
            <a:r>
              <a:rPr lang="en-US" sz="1100" b="1" dirty="0">
                <a:solidFill>
                  <a:srgbClr val="6B21A8"/>
                </a:solidFill>
                <a:latin typeface="Calibri" pitchFamily="34" charset="0"/>
                <a:ea typeface="Calibri" pitchFamily="34" charset="-122"/>
                <a:cs typeface="Calibri" pitchFamily="34" charset="-120"/>
              </a:rPr>
              <a:t> → Lecture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debugger of the course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PRG32-QT is PRG32 on your laptop: it runs the same cartridges, with no board and no compiler</a:t>
            </a:r>
            <a:endParaRPr lang="en-US" sz="1900" dirty="0"/>
          </a:p>
        </p:txBody>
      </p:sp>
      <p:sp>
        <p:nvSpPr>
          <p:cNvPr id="5" name="Shape 3"/>
          <p:cNvSpPr/>
          <p:nvPr/>
        </p:nvSpPr>
        <p:spPr>
          <a:xfrm>
            <a:off x="548640" y="25563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3198"/>
            <a:ext cx="5468112" cy="217601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debug mode it opens the machine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pause, resume, one instruction at a time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breakpoints on any instruction of init, update or draw</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32 registers and 128 bytes of memory at any address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speed from 0.01x to 4x, and counters: frames, instructions, late frames</a:t>
            </a:r>
            <a:endParaRPr lang="en-US" sz="1900" dirty="0"/>
          </a:p>
        </p:txBody>
      </p:sp>
      <p:sp>
        <p:nvSpPr>
          <p:cNvPr id="7" name="Shape 5"/>
          <p:cNvSpPr/>
          <p:nvPr/>
        </p:nvSpPr>
        <p:spPr>
          <a:xfrm>
            <a:off x="548640" y="49051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821936"/>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 will use it in every lecture: to check a prediction, to find a mistake, to measure</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program is understood when you can say what each register will hold before you press Step</a:t>
            </a:r>
            <a:endParaRPr lang="en-US" sz="19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in debug mode: the game on the left, the machine on the right</a:t>
            </a:r>
            <a:endParaRPr lang="en-US" sz="1200" dirty="0"/>
          </a:p>
        </p:txBody>
      </p:sp>
      <p:sp>
        <p:nvSpPr>
          <p:cNvPr id="13" name="Shape 10"/>
          <p:cNvSpPr/>
          <p:nvPr/>
        </p:nvSpPr>
        <p:spPr>
          <a:xfrm>
            <a:off x="7283272" y="91440"/>
            <a:ext cx="4359783" cy="274320"/>
          </a:xfrm>
          <a:prstGeom prst="rect">
            <a:avLst/>
          </a:prstGeom>
          <a:solidFill>
            <a:srgbClr val="F3E8FF"/>
          </a:solidFill>
          <a:ln w="12700">
            <a:solidFill>
              <a:srgbClr val="7E22CE"/>
            </a:solidFill>
            <a:prstDash val="dash"/>
          </a:ln>
        </p:spPr>
      </p:sp>
      <p:sp>
        <p:nvSpPr>
          <p:cNvPr id="14" name="Shape 11"/>
          <p:cNvSpPr/>
          <p:nvPr/>
        </p:nvSpPr>
        <p:spPr>
          <a:xfrm>
            <a:off x="7310704" y="128016"/>
            <a:ext cx="45720" cy="45720"/>
          </a:xfrm>
          <a:prstGeom prst="rect">
            <a:avLst/>
          </a:prstGeom>
          <a:solidFill>
            <a:srgbClr val="7E22CE"/>
          </a:solidFill>
          <a:ln w="12700">
            <a:solidFill>
              <a:srgbClr val="7E22CE"/>
            </a:solidFill>
            <a:prstDash val="solid"/>
          </a:ln>
        </p:spPr>
      </p:sp>
      <p:sp>
        <p:nvSpPr>
          <p:cNvPr id="15" name="Shape 12"/>
          <p:cNvSpPr/>
          <p:nvPr/>
        </p:nvSpPr>
        <p:spPr>
          <a:xfrm>
            <a:off x="7310704" y="205740"/>
            <a:ext cx="45720" cy="45720"/>
          </a:xfrm>
          <a:prstGeom prst="rect">
            <a:avLst/>
          </a:prstGeom>
          <a:solidFill>
            <a:srgbClr val="7E22CE"/>
          </a:solidFill>
          <a:ln w="12700">
            <a:solidFill>
              <a:srgbClr val="7E22CE"/>
            </a:solidFill>
            <a:prstDash val="solid"/>
          </a:ln>
        </p:spPr>
      </p:sp>
      <p:sp>
        <p:nvSpPr>
          <p:cNvPr id="16" name="Shape 13"/>
          <p:cNvSpPr/>
          <p:nvPr/>
        </p:nvSpPr>
        <p:spPr>
          <a:xfrm>
            <a:off x="7310704" y="283464"/>
            <a:ext cx="45720" cy="45720"/>
          </a:xfrm>
          <a:prstGeom prst="rect">
            <a:avLst/>
          </a:prstGeom>
          <a:solidFill>
            <a:srgbClr val="7E22CE"/>
          </a:solidFill>
          <a:ln w="12700">
            <a:solidFill>
              <a:srgbClr val="7E22CE"/>
            </a:solidFill>
            <a:prstDash val="solid"/>
          </a:ln>
        </p:spPr>
      </p:sp>
      <p:pic>
        <p:nvPicPr>
          <p:cNvPr id="17" name="Image 1" descr="preencoded.png">    </p:cNvPr>
          <p:cNvPicPr>
            <a:picLocks noChangeAspect="1"/>
          </p:cNvPicPr>
          <p:nvPr/>
        </p:nvPicPr>
        <p:blipFill>
          <a:blip r:embed="rId2"/>
          <a:stretch>
            <a:fillRect/>
          </a:stretch>
        </p:blipFill>
        <p:spPr>
          <a:xfrm>
            <a:off x="7411288" y="128016"/>
            <a:ext cx="201168" cy="201168"/>
          </a:xfrm>
          <a:prstGeom prst="rect">
            <a:avLst/>
          </a:prstGeom>
        </p:spPr>
      </p:pic>
      <p:sp>
        <p:nvSpPr>
          <p:cNvPr id="18" name="Text 14"/>
          <p:cNvSpPr txBox="1"/>
          <p:nvPr/>
        </p:nvSpPr>
        <p:spPr>
          <a:xfrm>
            <a:off x="7667320" y="91440"/>
            <a:ext cx="393915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pieces of PRG32</a:t>
            </a:r>
            <a:pPr indent="0" marL="0">
              <a:buNone/>
            </a:pPr>
            <a:r>
              <a:rPr lang="en-US" sz="1100" b="1" dirty="0">
                <a:solidFill>
                  <a:srgbClr val="6B21A8"/>
                </a:solidFill>
                <a:latin typeface="Calibri" pitchFamily="34" charset="0"/>
                <a:ea typeface="Calibri" pitchFamily="34" charset="-122"/>
                <a:cs typeface="Calibri" pitchFamily="34" charset="-120"/>
              </a:rPr>
              <a:t> → Lecture 01</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RISC-V?</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Open</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RISC-V is an open standard instruction set: anyone may design, build and sell a RISC-V processor without paying a licence for the architecture.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Small</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base integer instruction set has about forty instructions and thirty-two registers. You can learn all of it in one semester.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Real</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addi, lw, sw and beqz are not a teaching dialect. Industry ships billions of RISC-V cores that execute exactly these instructions.</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European</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Europe treats RISC-V as a lever for technological sovereignty: the Chips Act and projects such as DARE build processors on it.</a:t>
            </a:r>
            <a:endParaRPr lang="en-US" sz="1900" dirty="0"/>
          </a:p>
        </p:txBody>
      </p:sp>
      <p:sp>
        <p:nvSpPr>
          <p:cNvPr id="19" name="Shape 17"/>
          <p:cNvSpPr/>
          <p:nvPr/>
        </p:nvSpPr>
        <p:spPr>
          <a:xfrm>
            <a:off x="7217613" y="91440"/>
            <a:ext cx="4425442" cy="274320"/>
          </a:xfrm>
          <a:prstGeom prst="rect">
            <a:avLst/>
          </a:prstGeom>
          <a:solidFill>
            <a:srgbClr val="F3E8FF"/>
          </a:solidFill>
          <a:ln w="12700">
            <a:solidFill>
              <a:srgbClr val="7E22CE"/>
            </a:solidFill>
            <a:prstDash val="dash"/>
          </a:ln>
        </p:spPr>
      </p:sp>
      <p:sp>
        <p:nvSpPr>
          <p:cNvPr id="20" name="Shape 18"/>
          <p:cNvSpPr/>
          <p:nvPr/>
        </p:nvSpPr>
        <p:spPr>
          <a:xfrm>
            <a:off x="7245045" y="128016"/>
            <a:ext cx="45720" cy="45720"/>
          </a:xfrm>
          <a:prstGeom prst="rect">
            <a:avLst/>
          </a:prstGeom>
          <a:solidFill>
            <a:srgbClr val="7E22CE"/>
          </a:solidFill>
          <a:ln w="12700">
            <a:solidFill>
              <a:srgbClr val="7E22CE"/>
            </a:solidFill>
            <a:prstDash val="solid"/>
          </a:ln>
        </p:spPr>
      </p:sp>
      <p:sp>
        <p:nvSpPr>
          <p:cNvPr id="21" name="Shape 19"/>
          <p:cNvSpPr/>
          <p:nvPr/>
        </p:nvSpPr>
        <p:spPr>
          <a:xfrm>
            <a:off x="7245045" y="205740"/>
            <a:ext cx="45720" cy="45720"/>
          </a:xfrm>
          <a:prstGeom prst="rect">
            <a:avLst/>
          </a:prstGeom>
          <a:solidFill>
            <a:srgbClr val="7E22CE"/>
          </a:solidFill>
          <a:ln w="12700">
            <a:solidFill>
              <a:srgbClr val="7E22CE"/>
            </a:solidFill>
            <a:prstDash val="solid"/>
          </a:ln>
        </p:spPr>
      </p:sp>
      <p:sp>
        <p:nvSpPr>
          <p:cNvPr id="22" name="Shape 20"/>
          <p:cNvSpPr/>
          <p:nvPr/>
        </p:nvSpPr>
        <p:spPr>
          <a:xfrm>
            <a:off x="7245045" y="283464"/>
            <a:ext cx="45720" cy="45720"/>
          </a:xfrm>
          <a:prstGeom prst="rect">
            <a:avLst/>
          </a:prstGeom>
          <a:solidFill>
            <a:srgbClr val="7E22CE"/>
          </a:solidFill>
          <a:ln w="12700">
            <a:solidFill>
              <a:srgbClr val="7E22CE"/>
            </a:solidFill>
            <a:prstDash val="solid"/>
          </a:ln>
        </p:spPr>
      </p:sp>
      <p:pic>
        <p:nvPicPr>
          <p:cNvPr id="23"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24" name="Text 21"/>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RISC and an open ISA</a:t>
            </a:r>
            <a:pPr indent="0" marL="0">
              <a:buNone/>
            </a:pPr>
            <a:r>
              <a:rPr lang="en-US" sz="1100" b="1" dirty="0">
                <a:solidFill>
                  <a:srgbClr val="6B21A8"/>
                </a:solidFill>
                <a:latin typeface="Calibri" pitchFamily="34" charset="0"/>
                <a:ea typeface="Calibri" pitchFamily="34" charset="-122"/>
                <a:cs typeface="Calibri" pitchFamily="34" charset="-120"/>
              </a:rPr>
              <a:t> → Lecture 03</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you meet every topic twice</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183140"/>
                <a:gridCol w="691127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Formal topic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You meet it first on PRG32 as...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Positional notation, hexadecimal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colour 0x07E0 and the value shown by the debugger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Two's complement, overflow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position that moves left past zero and shows 0xFFFFFFFF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Fixed and floating point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ball that moves 0.375 pixels per frame on a chip with no FPU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Boolean algebra, bit masks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andi t3, t0, 1 to test whether LEFT is pressed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Electronics, logic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button that joins a pin of the chip to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Combinational networks, adders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what add actually does to thirty-two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networks, 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counter that survives from one frame to the next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CPU, datapath, instruction cycle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single-stepping one instruction in 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and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lw and sw, the stack, the joystick and the display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your game, from an empty file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read "vermone", the big worm: a tribute to Snake, the game of Blockade (1976) and of the Nokia phones (1997)</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moves on a grid, eats, grows, and must not bite itself</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write every line, in RISC-V assembly: no engine, no library beyond the calls of PRG32</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enough for a first-year student, rich enough to need every topic of the course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the end it is ready for the Cartridge Store, with your name on it</a:t>
            </a:r>
            <a:endParaRPr lang="en-US" sz="22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a:t>
            </a:r>
            <a:endParaRPr lang="en-US" sz="1200" dirty="0"/>
          </a:p>
        </p:txBody>
      </p:sp>
      <p:sp>
        <p:nvSpPr>
          <p:cNvPr id="15" name="Shape 12"/>
          <p:cNvSpPr/>
          <p:nvPr/>
        </p:nvSpPr>
        <p:spPr>
          <a:xfrm>
            <a:off x="7414590" y="91440"/>
            <a:ext cx="4228465" cy="274320"/>
          </a:xfrm>
          <a:prstGeom prst="rect">
            <a:avLst/>
          </a:prstGeom>
          <a:solidFill>
            <a:srgbClr val="F3E8FF"/>
          </a:solidFill>
          <a:ln w="12700">
            <a:solidFill>
              <a:srgbClr val="7E22CE"/>
            </a:solidFill>
            <a:prstDash val="dash"/>
          </a:ln>
        </p:spPr>
      </p:sp>
      <p:sp>
        <p:nvSpPr>
          <p:cNvPr id="16" name="Shape 13"/>
          <p:cNvSpPr/>
          <p:nvPr/>
        </p:nvSpPr>
        <p:spPr>
          <a:xfrm>
            <a:off x="7442022" y="128016"/>
            <a:ext cx="45720" cy="45720"/>
          </a:xfrm>
          <a:prstGeom prst="rect">
            <a:avLst/>
          </a:prstGeom>
          <a:solidFill>
            <a:srgbClr val="7E22CE"/>
          </a:solidFill>
          <a:ln w="12700">
            <a:solidFill>
              <a:srgbClr val="7E22CE"/>
            </a:solidFill>
            <a:prstDash val="solid"/>
          </a:ln>
        </p:spPr>
      </p:sp>
      <p:sp>
        <p:nvSpPr>
          <p:cNvPr id="17" name="Shape 14"/>
          <p:cNvSpPr/>
          <p:nvPr/>
        </p:nvSpPr>
        <p:spPr>
          <a:xfrm>
            <a:off x="7442022" y="205740"/>
            <a:ext cx="45720" cy="45720"/>
          </a:xfrm>
          <a:prstGeom prst="rect">
            <a:avLst/>
          </a:prstGeom>
          <a:solidFill>
            <a:srgbClr val="7E22CE"/>
          </a:solidFill>
          <a:ln w="12700">
            <a:solidFill>
              <a:srgbClr val="7E22CE"/>
            </a:solidFill>
            <a:prstDash val="solid"/>
          </a:ln>
        </p:spPr>
      </p:sp>
      <p:sp>
        <p:nvSpPr>
          <p:cNvPr id="18" name="Shape 15"/>
          <p:cNvSpPr/>
          <p:nvPr/>
        </p:nvSpPr>
        <p:spPr>
          <a:xfrm>
            <a:off x="7442022"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7542606" y="128016"/>
            <a:ext cx="201168" cy="201168"/>
          </a:xfrm>
          <a:prstGeom prst="rect">
            <a:avLst/>
          </a:prstGeom>
        </p:spPr>
      </p:pic>
      <p:sp>
        <p:nvSpPr>
          <p:cNvPr id="20" name="Text 16"/>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Verm1 project</a:t>
            </a:r>
            <a:pPr indent="0" marL="0">
              <a:buNone/>
            </a:pPr>
            <a:r>
              <a:rPr lang="en-US" sz="1100" b="1" dirty="0">
                <a:solidFill>
                  <a:srgbClr val="6B21A8"/>
                </a:solidFill>
                <a:latin typeface="Calibri" pitchFamily="34" charset="0"/>
                <a:ea typeface="Calibri" pitchFamily="34" charset="-122"/>
                <a:cs typeface="Calibri" pitchFamily="34" charset="-120"/>
              </a:rPr>
              <a:t> → Lecture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parts and a publication</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96923"/>
                <a:gridCol w="2437409"/>
                <a:gridCol w="4202430"/>
                <a:gridCol w="285765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Lecture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After the block 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Verm1 gains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With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07  Part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information and numbers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grid, a head that moves, a world without edges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colours, shifts, fixed point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12  Part 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and circuits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steering, food, a score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masks, XOR, tables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17  Part 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state and 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body that grows, collisions, three screens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state machine, arrays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22  Part 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machine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digits, levels, sound, fast drawing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calls, division, the frame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23  The Store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course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name, an icon, credits, a bundle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PRG32 tools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Each part ends with a game that runs. You never go home with a broken program.</a:t>
            </a:r>
            <a:endParaRPr lang="en-US" sz="1500" dirty="0"/>
          </a:p>
        </p:txBody>
      </p:sp>
      <p:sp>
        <p:nvSpPr>
          <p:cNvPr id="5" name="Shape 2"/>
          <p:cNvSpPr/>
          <p:nvPr/>
        </p:nvSpPr>
        <p:spPr>
          <a:xfrm>
            <a:off x="7414590" y="91440"/>
            <a:ext cx="4228465" cy="274320"/>
          </a:xfrm>
          <a:prstGeom prst="rect">
            <a:avLst/>
          </a:prstGeom>
          <a:solidFill>
            <a:srgbClr val="F3E8FF"/>
          </a:solidFill>
          <a:ln w="12700">
            <a:solidFill>
              <a:srgbClr val="7E22CE"/>
            </a:solidFill>
            <a:prstDash val="dash"/>
          </a:ln>
        </p:spPr>
      </p:sp>
      <p:sp>
        <p:nvSpPr>
          <p:cNvPr id="6" name="Shape 3"/>
          <p:cNvSpPr/>
          <p:nvPr/>
        </p:nvSpPr>
        <p:spPr>
          <a:xfrm>
            <a:off x="7442022" y="128016"/>
            <a:ext cx="45720" cy="45720"/>
          </a:xfrm>
          <a:prstGeom prst="rect">
            <a:avLst/>
          </a:prstGeom>
          <a:solidFill>
            <a:srgbClr val="7E22CE"/>
          </a:solidFill>
          <a:ln w="12700">
            <a:solidFill>
              <a:srgbClr val="7E22CE"/>
            </a:solidFill>
            <a:prstDash val="solid"/>
          </a:ln>
        </p:spPr>
      </p:sp>
      <p:sp>
        <p:nvSpPr>
          <p:cNvPr id="7" name="Shape 4"/>
          <p:cNvSpPr/>
          <p:nvPr/>
        </p:nvSpPr>
        <p:spPr>
          <a:xfrm>
            <a:off x="7442022" y="205740"/>
            <a:ext cx="45720" cy="45720"/>
          </a:xfrm>
          <a:prstGeom prst="rect">
            <a:avLst/>
          </a:prstGeom>
          <a:solidFill>
            <a:srgbClr val="7E22CE"/>
          </a:solidFill>
          <a:ln w="12700">
            <a:solidFill>
              <a:srgbClr val="7E22CE"/>
            </a:solidFill>
            <a:prstDash val="solid"/>
          </a:ln>
        </p:spPr>
      </p:sp>
      <p:sp>
        <p:nvSpPr>
          <p:cNvPr id="8" name="Shape 5"/>
          <p:cNvSpPr/>
          <p:nvPr/>
        </p:nvSpPr>
        <p:spPr>
          <a:xfrm>
            <a:off x="7442022"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7542606" y="128016"/>
            <a:ext cx="201168" cy="201168"/>
          </a:xfrm>
          <a:prstGeom prst="rect">
            <a:avLst/>
          </a:prstGeom>
        </p:spPr>
      </p:pic>
      <p:sp>
        <p:nvSpPr>
          <p:cNvPr id="10" name="Text 6"/>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Verm1 project</a:t>
            </a:r>
            <a:pPr indent="0" marL="0">
              <a:buNone/>
            </a:pPr>
            <a:r>
              <a:rPr lang="en-US" sz="1100" b="1" dirty="0">
                <a:solidFill>
                  <a:srgbClr val="6B21A8"/>
                </a:solidFill>
                <a:latin typeface="Calibri" pitchFamily="34" charset="0"/>
                <a:ea typeface="Calibri" pitchFamily="34" charset="-122"/>
                <a:cs typeface="Calibri" pitchFamily="34" charset="-120"/>
              </a:rPr>
              <a:t> → Lecture 07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in blocks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6639839"/>
                <a:gridCol w="2437409"/>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Lectures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Then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00 Introduction, 01 PRG32 and PRG32-QT: setting up, 02 First contact with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03 History, 04 Digital information, 05 Integers, 06 Reals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07 Verm1, part 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Logic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08 and 09 Boolean algebra, 10 Electronics, 11 Combinational machines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12 Verm1, part 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State and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13 Sequential machines, 14 Registers and buses, 15 Memory, 16 Permanent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17 Verm1, part 3</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The machine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18 Processor, 19 Instructions and interrupts, 20 Video card, 21 Input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22 Verm1, part 4</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Publication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23 Verm1 on the Cartridge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Outlook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24 Beyond one core: superscalar RISC-V, HPC, GPUs and FPGAs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visit to the computing systems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Timetable: September to December 2026</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77360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Lecturer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Monday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14:00 - 16:00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Tuesday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Wednesday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Friday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An internal calendar with the actual distribution of lectures and labs will be shared.</a:t>
            </a:r>
            <a:endParaRPr lang="en-US" sz="1500" dirty="0"/>
          </a:p>
        </p:txBody>
      </p:sp>
      <p:sp>
        <p:nvSpPr>
          <p:cNvPr id="5" name="Shape 2"/>
          <p:cNvSpPr/>
          <p:nvPr/>
        </p:nvSpPr>
        <p:spPr>
          <a:xfrm>
            <a:off x="8156397" y="91440"/>
            <a:ext cx="3486658" cy="274320"/>
          </a:xfrm>
          <a:prstGeom prst="rect">
            <a:avLst/>
          </a:prstGeom>
          <a:solidFill>
            <a:srgbClr val="E0F2FE"/>
          </a:solidFill>
          <a:ln w="12700">
            <a:solidFill>
              <a:srgbClr val="0369A1"/>
            </a:solidFill>
            <a:prstDash val="solid"/>
          </a:ln>
        </p:spPr>
      </p:sp>
      <p:sp>
        <p:nvSpPr>
          <p:cNvPr id="6" name="Shape 3"/>
          <p:cNvSpPr/>
          <p:nvPr/>
        </p:nvSpPr>
        <p:spPr>
          <a:xfrm>
            <a:off x="815639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8" name="Text 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midterm test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Multiple choice, ten questions, plus two exercises: about 45 minutes, in person and on paper</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Monday, date TBD, 14:00-16:00, Aula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Students may be split into groups and the test run in shifts</a:t>
            </a:r>
            <a:endParaRPr lang="en-US" sz="2000" dirty="0"/>
          </a:p>
        </p:txBody>
      </p:sp>
      <p:sp>
        <p:nvSpPr>
          <p:cNvPr id="7" name="Shape 5"/>
          <p:cNvSpPr/>
          <p:nvPr/>
        </p:nvSpPr>
        <p:spPr>
          <a:xfrm>
            <a:off x="548640" y="35476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6686"/>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an identity document and a pen; know your institutional e-mail and your student number (transfer students without a number are excused)</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test assesses both sides, you and us: we need it to know where we are going</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Every lecture ends with questions of the same kind: the best preparation is to answer them week by week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 + 2</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multiple-choice questions plus two exercises, on paper, in about 45 minutes</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No tech. No GPT.</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midterm test and the exam are #nogpt. No technological or human help of any kind: no devices, no ChatGPT or other LLMs, no generative AI. Cheating cancels your test at once; more serious behaviour has more serious consequences.</a:t>
            </a:r>
            <a:endParaRPr lang="en-US" sz="2200" dirty="0"/>
          </a:p>
        </p:txBody>
      </p:sp>
      <p:sp>
        <p:nvSpPr>
          <p:cNvPr id="7" name="Shape 5"/>
          <p:cNvSpPr/>
          <p:nvPr/>
        </p:nvSpPr>
        <p:spPr>
          <a:xfrm>
            <a:off x="8156397" y="91440"/>
            <a:ext cx="3486658" cy="274320"/>
          </a:xfrm>
          <a:prstGeom prst="rect">
            <a:avLst/>
          </a:prstGeom>
          <a:solidFill>
            <a:srgbClr val="E0F2FE"/>
          </a:solidFill>
          <a:ln w="12700">
            <a:solidFill>
              <a:srgbClr val="0369A1"/>
            </a:solidFill>
            <a:prstDash val="solid"/>
          </a:ln>
        </p:spPr>
      </p:sp>
      <p:sp>
        <p:nvSpPr>
          <p:cNvPr id="8" name="Shape 6"/>
          <p:cNvSpPr/>
          <p:nvPr/>
        </p:nvSpPr>
        <p:spPr>
          <a:xfrm>
            <a:off x="8156397"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0" name="Text 7"/>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Assessment</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4373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exam has two parts and you must pass both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Theory (50%): oral, with impromptu questions on the whole syllabus; some answers need a diagram or a calculation on the board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Practical (50%): the laboratory exam with Prof. Staffa</a:t>
            </a:r>
            <a:endParaRPr lang="en-US" sz="2400" dirty="0"/>
          </a:p>
        </p:txBody>
      </p:sp>
      <p:sp>
        <p:nvSpPr>
          <p:cNvPr id="5" name="Shape 3"/>
          <p:cNvSpPr/>
          <p:nvPr/>
        </p:nvSpPr>
        <p:spPr>
          <a:xfrm>
            <a:off x="548640" y="4394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272915"/>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oral can also lower the mark obtained in the midterm test</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Final mark = mean of the theory mark and the practical mark</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50 + 50</a:t>
            </a:r>
            <a:endParaRPr lang="en-US" sz="60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theory and practice: two parts, and you must pass both</a:t>
            </a:r>
            <a:endParaRPr lang="en-US" sz="1900" dirty="0"/>
          </a:p>
        </p:txBody>
      </p:sp>
      <p:sp>
        <p:nvSpPr>
          <p:cNvPr id="12" name="Shape 10"/>
          <p:cNvSpPr/>
          <p:nvPr/>
        </p:nvSpPr>
        <p:spPr>
          <a:xfrm>
            <a:off x="8156397" y="91440"/>
            <a:ext cx="3486658" cy="274320"/>
          </a:xfrm>
          <a:prstGeom prst="rect">
            <a:avLst/>
          </a:prstGeom>
          <a:solidFill>
            <a:srgbClr val="E0F2FE"/>
          </a:solidFill>
          <a:ln w="12700">
            <a:solidFill>
              <a:srgbClr val="0369A1"/>
            </a:solidFill>
            <a:prstDash val="solid"/>
          </a:ln>
        </p:spPr>
      </p:sp>
      <p:sp>
        <p:nvSpPr>
          <p:cNvPr id="13" name="Shape 11"/>
          <p:cNvSpPr/>
          <p:nvPr/>
        </p:nvSpPr>
        <p:spPr>
          <a:xfrm>
            <a:off x="815639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5" name="Text 12"/>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Exam sessions and finalisation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finalise you need a positive mark in both theory and practice</a:t>
            </a:r>
            <a:endParaRPr lang="en-US" sz="2200" dirty="0"/>
          </a:p>
        </p:txBody>
      </p:sp>
      <p:sp>
        <p:nvSpPr>
          <p:cNvPr id="5" name="Shape 3"/>
          <p:cNvSpPr/>
          <p:nvPr/>
        </p:nvSpPr>
        <p:spPr>
          <a:xfrm>
            <a:off x="548640" y="230295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65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Finalisation happens only during a theory exam session</a:t>
            </a:r>
            <a:endParaRPr lang="en-US" sz="2200" dirty="0"/>
          </a:p>
        </p:txBody>
      </p:sp>
      <p:sp>
        <p:nvSpPr>
          <p:cNvPr id="7" name="Shape 5"/>
          <p:cNvSpPr/>
          <p:nvPr/>
        </p:nvSpPr>
        <p:spPr>
          <a:xfrm>
            <a:off x="548640" y="30821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75737"/>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laboratory exam with Prof. Staffa is usually one week before the theory session</a:t>
            </a:r>
            <a:endParaRPr lang="en-US" sz="2200" dirty="0"/>
          </a:p>
        </p:txBody>
      </p:sp>
      <p:sp>
        <p:nvSpPr>
          <p:cNvPr id="9" name="Shape 7"/>
          <p:cNvSpPr/>
          <p:nvPr/>
        </p:nvSpPr>
        <p:spPr>
          <a:xfrm>
            <a:off x="548640" y="42022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9581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Book both sessions on uniparthenope.esse3.cineca.it</a:t>
            </a:r>
            <a:endParaRPr lang="en-US" sz="2200" dirty="0"/>
          </a:p>
        </p:txBody>
      </p:sp>
      <p:sp>
        <p:nvSpPr>
          <p:cNvPr id="11" name="Shape 9"/>
          <p:cNvSpPr/>
          <p:nvPr/>
        </p:nvSpPr>
        <p:spPr>
          <a:xfrm>
            <a:off x="548640" y="49814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75022"/>
            <a:ext cx="10710367" cy="129717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Frequently asked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take the theory exam before passing the practical one? Yes: the midterm result is kept for one academic year, but you finalise only after passing the practical part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book the theory session without the practical test? Yes, the case is the same</a:t>
            </a:r>
            <a:endParaRPr lang="en-US" sz="2200" dirty="0"/>
          </a:p>
        </p:txBody>
      </p:sp>
      <p:sp>
        <p:nvSpPr>
          <p:cNvPr id="13" name="Shape 11"/>
          <p:cNvSpPr/>
          <p:nvPr/>
        </p:nvSpPr>
        <p:spPr>
          <a:xfrm>
            <a:off x="8156397" y="91440"/>
            <a:ext cx="3486658" cy="274320"/>
          </a:xfrm>
          <a:prstGeom prst="rect">
            <a:avLst/>
          </a:prstGeom>
          <a:solidFill>
            <a:srgbClr val="E0F2FE"/>
          </a:solidFill>
          <a:ln w="12700">
            <a:solidFill>
              <a:srgbClr val="0369A1"/>
            </a:solidFill>
            <a:prstDash val="solid"/>
          </a:ln>
        </p:spPr>
      </p:sp>
      <p:sp>
        <p:nvSpPr>
          <p:cNvPr id="14" name="Shape 12"/>
          <p:cNvSpPr/>
          <p:nvPr/>
        </p:nvSpPr>
        <p:spPr>
          <a:xfrm>
            <a:off x="815639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6" name="Text 1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rules of the course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Teaching material</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Slides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always shared on Google Drive; periodically published on elearning.uniparthenope.it</a:t>
            </a:r>
            <a:endParaRPr lang="en-US" sz="2400" dirty="0"/>
          </a:p>
        </p:txBody>
      </p:sp>
      <p:sp>
        <p:nvSpPr>
          <p:cNvPr id="5" name="Shape 3"/>
          <p:cNvSpPr/>
          <p:nvPr/>
        </p:nvSpPr>
        <p:spPr>
          <a:xfrm>
            <a:off x="548640" y="274675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24836"/>
            <a:ext cx="10710367" cy="10957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PRG32 platform and textbook (free, open source)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github.com/riscv-prg32/PRG32</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Playing with RISC-V: Assembly, C, and Retro Games on the PRG32 Platform</a:t>
            </a:r>
            <a:endParaRPr lang="en-US" sz="2400" dirty="0"/>
          </a:p>
        </p:txBody>
      </p:sp>
      <p:sp>
        <p:nvSpPr>
          <p:cNvPr id="7" name="Shape 5"/>
          <p:cNvSpPr/>
          <p:nvPr/>
        </p:nvSpPr>
        <p:spPr>
          <a:xfrm>
            <a:off x="548640" y="39908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68928"/>
            <a:ext cx="10710367" cy="17830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Textbooks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Patterson, Hennessy: Computer Organization and Design, RISC-V Edition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Tanenbaum, Austin: Structured Computer Organization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Also in the syllabus: Stallings, Computer Organization and Architecture; Bucci, Architettura dei calcolatori elettronici</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Official RISC-V documentation: riscv.org</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First contact: who are you?</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Hardware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assembled their own computer? Who has already played with an Arduino or an ESP32?</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How many programming languages do you know? Has anyone ever read a line of assembly?</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Culture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What are retrocomputing and retrogaming? Have you ever visited a computer museum?</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Concepts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can tell the difference between ROM, RAM and storage? What is cloud computing? And the Internet of Things?</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heard of RISC-V? Which processor is inside your phone, your laptop, your router?</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You</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Hobbies? Passions? Pastimes, besides studying?</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dc:title>
  <dc:subject>Lecture 00</dc:subject>
  <dc:creator>Raffaele Montella</dc:creator>
  <cp:lastModifiedBy>Raffaele Montella</cp:lastModifiedBy>
  <cp:revision>1</cp:revision>
  <dcterms:created xsi:type="dcterms:W3CDTF">2026-10-16T20:22:23Z</dcterms:created>
  <dcterms:modified xsi:type="dcterms:W3CDTF">2026-10-16T20:22:23Z</dcterms:modified>
</cp:coreProperties>
</file>