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d144fbb-f502-8aa9-8292-3813d848de5e}">
          <p14:sldIdLst>
            <p14:sldId id="256"/>
            <p14:sldId id="257"/>
            <p14:sldId id="258"/>
          </p14:sldIdLst>
        </p14:section>
        <p14:section name="A new approach" id="{f3bb643b-3afd-cdb7-a7c8-aac8ba136d50}">
          <p14:sldIdLst>
            <p14:sldId id="259"/>
            <p14:sldId id="260"/>
            <p14:sldId id="261"/>
          </p14:sldIdLst>
        </p14:section>
        <p14:section name="PRG32 and RISC-V" id="{f0e3a7e5-81bc-2c28-adfc-47a5ef164198}">
          <p14:sldIdLst>
            <p14:sldId id="262"/>
            <p14:sldId id="263"/>
            <p14:sldId id="264"/>
            <p14:sldId id="265"/>
          </p14:sldIdLst>
        </p14:section>
        <p14:section name="The course project: Verm1" id="{8cc8fd0c-a7fc-a4ca-ded5-ac6d7c5afe16}">
          <p14:sldIdLst>
            <p14:sldId id="266"/>
            <p14:sldId id="267"/>
            <p14:sldId id="268"/>
          </p14:sldIdLst>
        </p14:section>
        <p14:section name="Syllabus and learning outcomes" id="{3224c9ad-0ab4-75b3-12cf-f9d5643eeace}">
          <p14:sldIdLst>
            <p14:sldId id="269"/>
            <p14:sldId id="270"/>
          </p14:sldIdLst>
        </p14:section>
        <p14:section name="Organisation and assessment" id="{5821f085-47ee-8301-3112-19ac5dd7f48b}">
          <p14:sldIdLst>
            <p14:sldId id="271"/>
            <p14:sldId id="272"/>
            <p14:sldId id="273"/>
          </p14:sldIdLst>
        </p14:section>
        <p14:section name="Material and first contact" id="{cf7ff925-1308-0e98-aa64-5a6060fc2a4d}">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opening lecture of the course. It does not teach a topic: it explains how the course works, which machine you will program, which game you will build and how you will be assessed. The quotation from The Matrix is a promise: a computer is a system, and a system that you can open and read stops being a mystery. Keep the title in mind, program first, formalise later: it is the method of every lecture that follows, and the reason why you will type assembly before you meet the theory that explains it.
For the lecturer: Opening lecture. The administrative facts (timetable, assessment) are carried over from the Italian 2026/27 deck; from this year there is one midterm test, with ten questions and two exercises. Dates still marked TBD must be filled in before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lecture has five parts: the people and the hours, the approach, the machine, the project and the rules. They follow the questions a new student asks, in the order in which the answers make sense: you cannot judge the rules before you know what the course asks of you. If you are impatient to hear about the exam, it is the last part, and it is complete. Use this list as a map while you listen, and again when you come back to the slides to look something up.
For the lecturer: Five parts, about ten minutes each. The last part is the one students ask about: say at once that it comes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facts about the course. It is worth 12 credits and 96 hours, split evenly between lectures (Prof. Montella) and laboratory (Prof. Staffa): two lecturers, one course, one mark. There are no formal prerequisites, and this is meant literally: nobody assumes that you have programmed before. What you do need is curiosity about how a computer really works. Note the office hours and the Teams code now: questions asked early, in the first weeks, are the cheapest ones to answer.
For the lecturer: Teams link from the original deck: https://teams.microsoft.com/l/channel/19%3Af4f24e8de71f424395ba903febdc4766%40thread.tacv2/General?groupId=09ae05f6-46f6-4441-ab7b-7522f88007d5 . The team code c7rf33g comes from the official syllabus and may change: announce any change in class. Accenture SuperSkills: https://richiediaccesso.uniparthenope.it/reservations?type=J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to remember. Program first means that from day one you write RISC-V instructions that a real processor executes. Formalise later means that definitions and theorems come as answers: each one explains something your own program has already shown you. The order matters because a question you have met yourself is easier to remember than an answer to a question you were never asked. Nothing is taken away from the theory: it is all there, and it is examined; it simply arrives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four steps are repeated for every topic. Play: type a few instructions and run them. Observe: something happens that you did not fully expect, for example a number that passes zero and becomes 0xFFFFFFFF. Formalise: the lecture gives the rule that explains it, in this case two's complement. Return: go back to the machine and predict the result before you run the program. The last step is the test of understanding: if your prediction is right, you know the rule; if it is wrong, the machine tells you at once, and without a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aims of the course, in the words of the official syllabus. Read them as a chain: first the aspects of architecture, then the low-level languages to program a machine, then the formal tools from which a processor is built (Boolean algebra, binary arithmetic), then the structure of CPU, memory and input/output, and finally assembly code that makes all this visible. The picture is Pong on PRG32: a game of a few hundred instructions, each of which you will be able to read by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 is a small game console that you program in assembly or C. Three ideas matter here. First, your code is real machine code for a 32-bit RISC-V processor, called RV32IMAC: it is executed, not imitated. Second, the contract with the machine is three functions that you write: init runs once, update and draw run once per frame, many times per second. Third, a finished program is a cartridge, one small file ending in .prg32. The screen has 320 by 200 pixels: small enough that you can reason about every one of them.
For the lecturer: PRG32: https://github.com/riscv-prg32/PRG32 . Textbook: https://github.com/riscv-prg32/Playing-with-RISC-V_PRG32_textbook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is PRG32 as an application for your laptop: it runs the same cartridges without a board. In debug mode it shows the machine while the game runs: you can pause, execute one instruction at a time, stop at a breakpoint, read the 32 registers and any 128 bytes of memory, and slow the program down to one hundredth of its speed. In the picture the game is on the left and the machine on the right. Take the last line as a definition: you understand a program when you can say what each register will hold before you press Step.
For the lecturer: Settings, Run cartridges in RISC-V debug mode. Lecture 01 installs it; the same cartridge also runs on the kit and on the QEMU emulator, and Lecture 01 compares the three. The debugger is used from Lecture 02 and systematically in the Verm1 tutorials: each one has a debugging section with a precise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reasons for RISC-V. It is open: the instruction set is a public standard, and anyone may build a processor that implements it. It is small: about forty base instructions and thirty-two registers, an amount that one semester can cover completely. It is real: these are the instructions of billions of chips on the market, not a teaching toy. And it is strategic for Europe, which builds its own processors on it. The second reason is the one you will feel most: you will know the whole base instruction set, not a selection.
For the lecturer: DARE: Digital Autonomy with RISC-V in Europe, a EuroHPC Joint Undertaking project. See chapter 1 of the PRG32 textbook for the full argument and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course on one page. The left column lists the formal topics; the right column says where you meet each one first, on the machine. Two's complement appears as a position that walks left past zero; Boolean algebra as the test of a button; sequential networks as a counter that survives from one frame to the next. Come back to this slide at the start of each block: it tells you which experience the coming theory is going to explain, and it is a good checklist when you revise.
For the lecturer: This table is the course in one slide. Come back to it at the start of each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game is Verm1, read "vermone", the big worm: a tribute to Snake. A worm moves on a grid, eats, grows and must not bite itself. The rules fit in one sentence, yet the program needs almost everything the course teaches: numbers for positions, logic for the buttons, memory for the body, calls and division for the score. You write every line yourself; there is no game engine behind it, only the few calls of PRG32 that draw a rectangle, read the buttons or play a note. At the end the game carries your name.
For the lecturer: The project is the thread of the course: each part uses exactly what the four lectures before it have taught. The reference implementation of Verm1 was contributed by Giuseppe Coviello; its sources are in the verm1 folder of the course material and are built and played automatically by the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has four parts and a publication, and each part comes after the block of lectures that it uses. Part 1 (Lecture 07) uses numbers: a grid and a head that moves. Part 2 (Lecture 12) uses logic: steering, food and a score. Part 3 (Lecture 17) uses state and memory: a body, collisions and three screens. Part 4 (Lecture 22) uses the machine: digits, levels and fast drawing. Lecture 23 packages the game for the Store. The caption states the rule that matters most to you: every part ends with a game that runs.
For the lecturer: Every fifth deck is a tutorial. The numbers are those of the lectures: 07, 12, 17 and 22 for the four parts, 23 for the publication.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calendar of the course, in blocks. After three opening lectures there are four blocks of four lectures: Information (what a bit means), Logic (how bits are combined), State and memory (how bits are remembered) and The machine (the processor and its devices). After each block comes a part of Verm1. Lecture 23 publishes the game and Lecture 24 looks at larger machines. The lecture numbers on this slide are the ones used everywhere in the material: when a slide says "Lecture 13", this is the table that tells you where it sits.
For the lecturer: The order was chosen for learning: first what a bit means, then how bits are combined, then how they are remembered, then the machine that does all three; the processor comes before the devices it drives. After each block the project uses it. The last lecture is an outlook, before the visit to the Department's computing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syllabus in six cards: the organisation of a computer; Boolean algebra and logic networks; the representation of data; the structure of CPU, memory and input/output; RISC-V assembly; and the project. Compare it with the map of the blocks: the content is the same, arranged by subject here and by learning order there. When you prepare for the exam, this slide is the list to tick off; the detailed version is in the Syllabus file on Esse3 and on the e-learning portal.
For the lecturer: The detailed syllabus is in the Syllabus file available on U-GOV / Esse3 and on https://elearning.uniparthenope.it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learning outcomes say what you will be able to do, in five steps of growing autonomy: know the binary system, digital logic and how a computer operates; apply this to exercises and assembly programs; judge which representation and which control structure suit a problem; communicate inside a team with the correct technical terms; and keep learning on your own from reliable sources. Read the first card again: no previous computing background is assumed, so every one of these outcomes is reached starting from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meetings a week from September to December, all in Aula 1: Monday afternoon and Wednesday morning with Prof. Montella, Tuesday and Friday morning with Prof. Staffa. Lectures and laboratory do not always alternate strictly: an internal calendar, shared with the class, gives the actual distribution week by week. Check that calendar, not only this table, before deciding which material to prepare for a given day.
For the lecturer: We will share an internal calendar with the actual distribution of lectures and laboratory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one midterm test: ten multiple-choice questions and two exercises, on paper, in about 45 minutes. Bring an identity document and a pen, and know your institutional e-mail address and student number. The test measures two things at once: how you are doing, and how the course is doing. The best preparation is already built into the lectures: each one ends with questions of exactly this kind. Answering them week by week costs a few minutes; leaving them all for the night before does not work.
For the lecturer: One midterm from 2026/27 (there were two). The date is TBD: fill it in. The weight of the test is decided after evaluating the correct behaviour of the students in the room. Booking rules are not on the slide: say them in class if they 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 has two parts and you must pass both: theory, an oral with questions on the whole syllabus, some of which need a diagram or a calculation at the board; and practice, the laboratory exam with Prof. Staffa. Each counts for half, and the final mark is the mean of the two. Note that the oral can also lower the mark obtained in the midterm: the midterm is a real result, not a guarantee. How the midterm enters the theory mark is explained in class.
For the lecturer: Midterm and exam results are kept within the current academic year. The official syllabus describes the written part as exercises on the analysis and synthesis of logic networks and on RISC-V assembly development on PRG32. How the midterm enters the theory mark is said in class: the slide does not give a formula.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material has four sources. The slides are in a shared Google Drive folder and are published on the e-learning portal. PRG32 and its textbook, Playing with RISC-V, are free and open source on GitHub. The reference textbooks are Patterson and Hennessy, in the RISC-V edition, and Tanenbaum and Austin; both exist in Italian. The official RISC-V documentation is at riscv.org. You do not need to buy everything on the first day: start with the slides and the PRG32 material, and choose one textbook when the formal topics begin.
For the lecturer: Drive folder: https://drive.google.com/drive/folders/15Kdu8XYbQQVP0ieuZA5OIEmoKqDjQ-eR?usp=sharing . E-learning: https://elearning.uniparthenope.it/course/view.php?id=107 . Italian editions: Tanenbaum, Austin, Architettura dei calcolatori. Un approccio strutturale (Pearson); Patterson, Hennessy, Struttura e progetto dei calcolatori: progettare con RISC-V (Zanichelli).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groups of questions to break the ice: hardware, software, culture, concepts, RISC-V and yourselves. There are no right answers, and nobody is assessed. The purpose is practical: the answers tell the lecturer how much can be taken for granted in the first weeks. If you have never built a computer or read a line of assembly, you are in the majority and in the right place; if you have, you will be able to help the person sitting next to you.
For the lecturer: Ice-breaker. Keep it quick; note the answers: they tell you how fast Lecture 02 can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00: Course introduction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Course Introduction</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000" dirty="0">
                <a:solidFill>
                  <a:srgbClr val="CFE3EA"/>
                </a:solidFill>
                <a:latin typeface="Calibri" pitchFamily="34" charset="0"/>
                <a:ea typeface="Calibri" pitchFamily="34" charset="-122"/>
                <a:cs typeface="Calibri" pitchFamily="34" charset="-120"/>
              </a:rPr>
              <a:t>Computer Architecture and Laboratory (ARC12): program first, formalise later</a:t>
            </a:r>
            <a:endParaRPr lang="en-US" sz="20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“The Matrix is a system, Neo. That system is our enemy.”</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The Matrix, Lana and Lilly Wachowski, 1999</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prg32_logo.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Today</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Who we are, and how the 96 hours of the course are organised</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approach: you program first, and we formalise afterwards</a:t>
            </a:r>
            <a:endParaRPr lang="en-US" sz="2200" dirty="0"/>
          </a:p>
        </p:txBody>
      </p:sp>
      <p:sp>
        <p:nvSpPr>
          <p:cNvPr id="7" name="Text 5"/>
          <p:cNvSpPr txBox="1"/>
          <p:nvPr/>
        </p:nvSpPr>
        <p:spPr>
          <a:xfrm>
            <a:off x="548640" y="3410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9242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machine: PRG32, RISC-V, and the debugger you will use every week; next time we install them together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project: Verm1, a game you write from an empty file and publish</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rules: timetable, the midterm test, the exam, the material</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course at a glance</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Name</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Computer Architecture and Computer Architecture Laboratory (ARC12). First year, first semester, Bachelor's Degree in Computer Science.</a:t>
            </a:r>
            <a:endParaRPr lang="en-US" sz="15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Lecturers</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Raffaele Montella: lectures, 6 ECTS.</a:t>
            </a:r>
            <a:endParaRPr lang="en-US" sz="1500" dirty="0"/>
          </a:p>
          <a:p>
            <a:pPr indent="0" marL="0">
              <a:buNone/>
            </a:pPr>
            <a:r>
              <a:rPr lang="en-US" sz="1500" dirty="0">
                <a:solidFill>
                  <a:srgbClr val="1B2530"/>
                </a:solidFill>
                <a:latin typeface="Calibri" pitchFamily="34" charset="0"/>
                <a:ea typeface="Calibri" pitchFamily="34" charset="-122"/>
                <a:cs typeface="Calibri" pitchFamily="34" charset="-120"/>
              </a:rPr>
              <a:t>Mariacarla Staffa: laboratory, 6 ECTS.</a:t>
            </a:r>
            <a:endParaRPr lang="en-US" sz="15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Credits</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12 ECTS, 96 hours.</a:t>
            </a:r>
            <a:endParaRPr lang="en-US" sz="1500" dirty="0"/>
          </a:p>
          <a:p>
            <a:pPr indent="0" marL="0">
              <a:buNone/>
            </a:pPr>
            <a:r>
              <a:rPr lang="en-US" sz="1500" dirty="0">
                <a:solidFill>
                  <a:srgbClr val="1B2530"/>
                </a:solidFill>
                <a:latin typeface="Calibri" pitchFamily="34" charset="0"/>
                <a:ea typeface="Calibri" pitchFamily="34" charset="-122"/>
                <a:cs typeface="Calibri" pitchFamily="34" charset="-120"/>
              </a:rPr>
              <a:t>Scientific area: INFO-01/A (Informatics).</a:t>
            </a:r>
            <a:endParaRPr lang="en-US" sz="15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Office hours</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Room 420, Tuesday 14:00-16:00, by appointment. Also on Microsoft Teams (team code: c7rf33g).</a:t>
            </a:r>
            <a:endParaRPr lang="en-US" sz="15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Extra credits</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Accenture SuperSkills! gives 2 ECTS as further knowledge: richiediaccesso.uniparthenope.it</a:t>
            </a:r>
            <a:endParaRPr lang="en-US" sz="15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Prerequisites</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None. The only real prerequisite is a passion for computing and the technologies that enable it.</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554480"/>
            <a:ext cx="11094415" cy="27432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Program first. Formalise later.</a:t>
            </a:r>
            <a:endParaRPr lang="en-US" sz="4400" dirty="0"/>
          </a:p>
        </p:txBody>
      </p:sp>
      <p:sp>
        <p:nvSpPr>
          <p:cNvPr id="6" name="Text 4"/>
          <p:cNvSpPr txBox="1"/>
          <p:nvPr/>
        </p:nvSpPr>
        <p:spPr>
          <a:xfrm>
            <a:off x="548640" y="4480560"/>
            <a:ext cx="11094415" cy="137160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From day one you write RISC-V assembly that runs on a real processor. Each formal topic then answers a question that your own program has already raised.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learning spiral, repeated for every topic</a:t>
            </a:r>
            <a:endParaRPr lang="en-US" sz="3200" dirty="0"/>
          </a:p>
        </p:txBody>
      </p:sp>
      <p:sp>
        <p:nvSpPr>
          <p:cNvPr id="3" name="Shape 1"/>
          <p:cNvSpPr/>
          <p:nvPr/>
        </p:nvSpPr>
        <p:spPr>
          <a:xfrm>
            <a:off x="548640" y="1874520"/>
            <a:ext cx="2499284" cy="2468880"/>
          </a:xfrm>
          <a:prstGeom prst="roundRect">
            <a:avLst>
              <a:gd name="adj" fmla="val 2963"/>
            </a:avLst>
          </a:prstGeom>
          <a:solidFill>
            <a:srgbClr val="EEF2F4"/>
          </a:solidFill>
          <a:ln w="12700">
            <a:solidFill>
              <a:srgbClr val="EEF2F4"/>
            </a:solidFill>
            <a:prstDash val="solid"/>
          </a:ln>
        </p:spPr>
      </p:sp>
      <p:sp>
        <p:nvSpPr>
          <p:cNvPr id="4" name="Text 2"/>
          <p:cNvSpPr txBox="1"/>
          <p:nvPr/>
        </p:nvSpPr>
        <p:spPr>
          <a:xfrm>
            <a:off x="685800" y="2057400"/>
            <a:ext cx="2224964"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Play</a:t>
            </a:r>
            <a:endParaRPr lang="en-US" sz="1900" dirty="0"/>
          </a:p>
        </p:txBody>
      </p:sp>
      <p:sp>
        <p:nvSpPr>
          <p:cNvPr id="5" name="Text 3"/>
          <p:cNvSpPr txBox="1"/>
          <p:nvPr/>
        </p:nvSpPr>
        <p:spPr>
          <a:xfrm>
            <a:off x="685800"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Type a few instructions, build a cartridge, run it on PRG32</a:t>
            </a:r>
            <a:endParaRPr lang="en-US" sz="1700" dirty="0"/>
          </a:p>
        </p:txBody>
      </p:sp>
      <p:sp>
        <p:nvSpPr>
          <p:cNvPr id="6" name="Shape 4"/>
          <p:cNvSpPr/>
          <p:nvPr/>
        </p:nvSpPr>
        <p:spPr>
          <a:xfrm>
            <a:off x="3093644"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3413684" y="1874520"/>
            <a:ext cx="2499284" cy="2468880"/>
          </a:xfrm>
          <a:prstGeom prst="roundRect">
            <a:avLst>
              <a:gd name="adj" fmla="val 2963"/>
            </a:avLst>
          </a:prstGeom>
          <a:solidFill>
            <a:srgbClr val="EEF2F4"/>
          </a:solidFill>
          <a:ln w="12700">
            <a:solidFill>
              <a:srgbClr val="EEF2F4"/>
            </a:solidFill>
            <a:prstDash val="solid"/>
          </a:ln>
        </p:spPr>
      </p:sp>
      <p:sp>
        <p:nvSpPr>
          <p:cNvPr id="8" name="Text 6"/>
          <p:cNvSpPr txBox="1"/>
          <p:nvPr/>
        </p:nvSpPr>
        <p:spPr>
          <a:xfrm>
            <a:off x="3550844" y="2057400"/>
            <a:ext cx="2224964"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Observe</a:t>
            </a:r>
            <a:endParaRPr lang="en-US" sz="1900" dirty="0"/>
          </a:p>
        </p:txBody>
      </p:sp>
      <p:sp>
        <p:nvSpPr>
          <p:cNvPr id="9" name="Text 7"/>
          <p:cNvSpPr txBox="1"/>
          <p:nvPr/>
        </p:nvSpPr>
        <p:spPr>
          <a:xfrm>
            <a:off x="3550844"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Something happens: a number wraps, a bit lights a lamp, a rectangle moves</a:t>
            </a:r>
            <a:endParaRPr lang="en-US" sz="1700" dirty="0"/>
          </a:p>
        </p:txBody>
      </p:sp>
      <p:sp>
        <p:nvSpPr>
          <p:cNvPr id="10" name="Shape 8"/>
          <p:cNvSpPr/>
          <p:nvPr/>
        </p:nvSpPr>
        <p:spPr>
          <a:xfrm>
            <a:off x="5958688"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6278728" y="1874520"/>
            <a:ext cx="2499284" cy="2468880"/>
          </a:xfrm>
          <a:prstGeom prst="roundRect">
            <a:avLst>
              <a:gd name="adj" fmla="val 2963"/>
            </a:avLst>
          </a:prstGeom>
          <a:solidFill>
            <a:srgbClr val="EEF2F4"/>
          </a:solidFill>
          <a:ln w="12700">
            <a:solidFill>
              <a:srgbClr val="EEF2F4"/>
            </a:solidFill>
            <a:prstDash val="solid"/>
          </a:ln>
        </p:spPr>
      </p:sp>
      <p:sp>
        <p:nvSpPr>
          <p:cNvPr id="12" name="Text 10"/>
          <p:cNvSpPr txBox="1"/>
          <p:nvPr/>
        </p:nvSpPr>
        <p:spPr>
          <a:xfrm>
            <a:off x="6415888" y="2057400"/>
            <a:ext cx="2224964"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Formalise</a:t>
            </a:r>
            <a:endParaRPr lang="en-US" sz="1900" dirty="0"/>
          </a:p>
        </p:txBody>
      </p:sp>
      <p:sp>
        <p:nvSpPr>
          <p:cNvPr id="13" name="Text 11"/>
          <p:cNvSpPr txBox="1"/>
          <p:nvPr/>
        </p:nvSpPr>
        <p:spPr>
          <a:xfrm>
            <a:off x="6415888"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Definitions, theorems and methods explain exactly why</a:t>
            </a:r>
            <a:endParaRPr lang="en-US" sz="1700" dirty="0"/>
          </a:p>
        </p:txBody>
      </p:sp>
      <p:sp>
        <p:nvSpPr>
          <p:cNvPr id="14" name="Shape 12"/>
          <p:cNvSpPr/>
          <p:nvPr/>
        </p:nvSpPr>
        <p:spPr>
          <a:xfrm>
            <a:off x="8823731"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9143771" y="1874520"/>
            <a:ext cx="2499284" cy="2468880"/>
          </a:xfrm>
          <a:prstGeom prst="roundRect">
            <a:avLst>
              <a:gd name="adj" fmla="val 2963"/>
            </a:avLst>
          </a:prstGeom>
          <a:solidFill>
            <a:srgbClr val="EEF2F4"/>
          </a:solidFill>
          <a:ln w="12700">
            <a:solidFill>
              <a:srgbClr val="EEF2F4"/>
            </a:solidFill>
            <a:prstDash val="solid"/>
          </a:ln>
        </p:spPr>
      </p:sp>
      <p:sp>
        <p:nvSpPr>
          <p:cNvPr id="16" name="Text 14"/>
          <p:cNvSpPr txBox="1"/>
          <p:nvPr/>
        </p:nvSpPr>
        <p:spPr>
          <a:xfrm>
            <a:off x="9280931" y="2057400"/>
            <a:ext cx="2224964"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Return</a:t>
            </a:r>
            <a:endParaRPr lang="en-US" sz="1900" dirty="0"/>
          </a:p>
        </p:txBody>
      </p:sp>
      <p:sp>
        <p:nvSpPr>
          <p:cNvPr id="17" name="Text 15"/>
          <p:cNvSpPr txBox="1"/>
          <p:nvPr/>
        </p:nvSpPr>
        <p:spPr>
          <a:xfrm>
            <a:off x="9280931"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Back to the machine: predict the result before you run it</a:t>
            </a:r>
            <a:endParaRPr lang="en-US" sz="1700" dirty="0"/>
          </a:p>
        </p:txBody>
      </p:sp>
      <p:sp>
        <p:nvSpPr>
          <p:cNvPr id="18" name="Shape 16"/>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19" name="Text 17"/>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A mark is an opinion; a paddle that leaves the screen is a fact. We will use facts, then explain them.</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the course aims at</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Present the fundamental aspects of the architecture of modern computers</a:t>
            </a:r>
            <a:endParaRPr lang="en-US" sz="1800" dirty="0"/>
          </a:p>
        </p:txBody>
      </p:sp>
      <p:sp>
        <p:nvSpPr>
          <p:cNvPr id="5" name="Shape 3"/>
          <p:cNvSpPr/>
          <p:nvPr/>
        </p:nvSpPr>
        <p:spPr>
          <a:xfrm>
            <a:off x="548640" y="227971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4276"/>
            <a:ext cx="656539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Use, in the laboratory, the basic concepts for programming them efficiently in low-level languages: machine language and assembly</a:t>
            </a:r>
            <a:endParaRPr lang="en-US" sz="1800" dirty="0"/>
          </a:p>
        </p:txBody>
      </p:sp>
      <p:sp>
        <p:nvSpPr>
          <p:cNvPr id="7" name="Shape 5"/>
          <p:cNvSpPr/>
          <p:nvPr/>
        </p:nvSpPr>
        <p:spPr>
          <a:xfrm>
            <a:off x="548640" y="334556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70123"/>
            <a:ext cx="6565392" cy="104927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Treat rigorously the tools the processor is built from</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Boolean algebra and the synthesis of combinational and sequential logic networks</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binary representation and binary arithmetic</a:t>
            </a:r>
            <a:endParaRPr lang="en-US" sz="1800" dirty="0"/>
          </a:p>
        </p:txBody>
      </p:sp>
      <p:sp>
        <p:nvSpPr>
          <p:cNvPr id="9" name="Shape 7"/>
          <p:cNvSpPr/>
          <p:nvPr/>
        </p:nvSpPr>
        <p:spPr>
          <a:xfrm>
            <a:off x="548640" y="462400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48569"/>
            <a:ext cx="65653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Describe in detail the functional and physical structure of the CPU, the memory and the input/output subsystem</a:t>
            </a:r>
            <a:endParaRPr lang="en-US" sz="1800" dirty="0"/>
          </a:p>
        </p:txBody>
      </p:sp>
      <p:sp>
        <p:nvSpPr>
          <p:cNvPr id="11" name="Shape 9"/>
          <p:cNvSpPr/>
          <p:nvPr/>
        </p:nvSpPr>
        <p:spPr>
          <a:xfrm>
            <a:off x="548640" y="541096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335524"/>
            <a:ext cx="656539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Develop assembly code that makes visible how a processor really works and how the basic units of a computer interact</a:t>
            </a:r>
            <a:endParaRPr lang="en-US" sz="1800" dirty="0"/>
          </a:p>
        </p:txBody>
      </p:sp>
      <p:pic>
        <p:nvPicPr>
          <p:cNvPr id="13" name="Image 0" descr="/Users/raffaelemontella/devel/riscv-prg32/computer-architecture-with-prg32/tools/assets/game_pong.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Pong running on PRG32: native RISC-V machine code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 a retro console you program in assembly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open-source educational runtime for teaching RISC-V assembly and C, developed at Parthenope</a:t>
            </a:r>
            <a:endParaRPr lang="en-US" sz="2100" dirty="0"/>
          </a:p>
        </p:txBody>
      </p:sp>
      <p:sp>
        <p:nvSpPr>
          <p:cNvPr id="5" name="Shape 3"/>
          <p:cNvSpPr/>
          <p:nvPr/>
        </p:nvSpPr>
        <p:spPr>
          <a:xfrm>
            <a:off x="548640" y="230047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17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Your code runs natively as 32-bit RISC-V machine code (RV32IMAC): it is not interpreted by a simulator</a:t>
            </a:r>
            <a:endParaRPr lang="en-US" sz="2100" dirty="0"/>
          </a:p>
        </p:txBody>
      </p:sp>
      <p:sp>
        <p:nvSpPr>
          <p:cNvPr id="7" name="Shape 5"/>
          <p:cNvSpPr/>
          <p:nvPr/>
        </p:nvSpPr>
        <p:spPr>
          <a:xfrm>
            <a:off x="548640" y="341033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11652"/>
            <a:ext cx="6565392" cy="96621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deliberately thin contract: three functions that you write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init runs once; update and draw run once per frame</a:t>
            </a:r>
            <a:endParaRPr lang="en-US" sz="2100" dirty="0"/>
          </a:p>
        </p:txBody>
      </p:sp>
      <p:sp>
        <p:nvSpPr>
          <p:cNvPr id="9" name="Shape 7"/>
          <p:cNvSpPr/>
          <p:nvPr/>
        </p:nvSpPr>
        <p:spPr>
          <a:xfrm>
            <a:off x="548640" y="451027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1599"/>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Games travel as small cartridges: files with the extension .prg32</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320 by 200 viewport, a joystick, sound: small enough to hold in your head, rich enough to exercise the whole course</a:t>
            </a:r>
            <a:endParaRPr lang="en-US" sz="2100" dirty="0"/>
          </a:p>
        </p:txBody>
      </p:sp>
      <p:pic>
        <p:nvPicPr>
          <p:cNvPr id="13" name="Image 0" descr="/Users/raffaelemontella/devel/riscv-prg32/computer-architecture-with-prg32/tools/assets/menu_main.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PRG32 resident firmware menu</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the debugger of the course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PRG32-QT is PRG32 on your laptop: it runs the same cartridges, with no board and no compiler</a:t>
            </a:r>
            <a:endParaRPr lang="en-US" sz="1900" dirty="0"/>
          </a:p>
        </p:txBody>
      </p:sp>
      <p:sp>
        <p:nvSpPr>
          <p:cNvPr id="5" name="Shape 3"/>
          <p:cNvSpPr/>
          <p:nvPr/>
        </p:nvSpPr>
        <p:spPr>
          <a:xfrm>
            <a:off x="548640" y="255638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73198"/>
            <a:ext cx="5468112" cy="217601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debug mode it opens the machine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pause, resume, one instruction at a time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breakpoints on any instruction of init, update or draw</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the 32 registers and 128 bytes of memory at any address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speed from 0.01x to 4x, and counters: frames, instructions, late frames</a:t>
            </a:r>
            <a:endParaRPr lang="en-US" sz="1900" dirty="0"/>
          </a:p>
        </p:txBody>
      </p:sp>
      <p:sp>
        <p:nvSpPr>
          <p:cNvPr id="7" name="Shape 5"/>
          <p:cNvSpPr/>
          <p:nvPr/>
        </p:nvSpPr>
        <p:spPr>
          <a:xfrm>
            <a:off x="548640" y="490512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821936"/>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You will use it in every lecture: to check a prediction, to find a mistake, to measure</a:t>
            </a:r>
            <a:endParaRPr lang="en-US" sz="1900" dirty="0"/>
          </a:p>
        </p:txBody>
      </p:sp>
      <p:sp>
        <p:nvSpPr>
          <p:cNvPr id="9" name="Shape 7"/>
          <p:cNvSpPr/>
          <p:nvPr/>
        </p:nvSpPr>
        <p:spPr>
          <a:xfrm>
            <a:off x="548640" y="566661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83428"/>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program is understood when you can say what each register will hold before you press Step</a:t>
            </a:r>
            <a:endParaRPr lang="en-US" sz="1900" dirty="0"/>
          </a:p>
        </p:txBody>
      </p:sp>
      <p:pic>
        <p:nvPicPr>
          <p:cNvPr id="11" name="Image 0" descr="/Users/raffaelemontella/devel/riscv-prg32/computer-architecture-with-prg32/tools/assets/prg32qt_debugger.png">    </p:cNvPr>
          <p:cNvPicPr>
            <a:picLocks noChangeAspect="1"/>
          </p:cNvPicPr>
          <p:nvPr/>
        </p:nvPicPr>
        <p:blipFill>
          <a:blip r:embed="rId1"/>
          <a:stretch>
            <a:fillRect/>
          </a:stretch>
        </p:blipFill>
        <p:spPr>
          <a:xfrm>
            <a:off x="6766560" y="1882245"/>
            <a:ext cx="4876495" cy="3367829"/>
          </a:xfrm>
          <a:prstGeom prst="rect">
            <a:avLst/>
          </a:prstGeom>
        </p:spPr>
      </p:pic>
      <p:sp>
        <p:nvSpPr>
          <p:cNvPr id="12" name="Text 9"/>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in debug mode: the game on the left, the machine on the right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RISC-V?</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Open</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RISC-V is an open standard instruction set: anyone may design, build and sell a RISC-V processor without paying a licence for the architecture.</a:t>
            </a:r>
            <a:endParaRPr lang="en-US" sz="19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Small</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The base integer instruction set has about forty instructions and thirty-two registers. You can learn all of it in one semester.</a:t>
            </a:r>
            <a:endParaRPr lang="en-US" sz="19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Real</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addi, lw, sw and beqz are not a teaching dialect. Industry ships billions of RISC-V cores that execute exactly these instructions.</a:t>
            </a:r>
            <a:endParaRPr lang="en-US" sz="19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European</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Europe treats RISC-V as a lever for technological sovereignty: the Chips Act and projects such as DARE build processors on it.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map: you meet every topic twice</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183140"/>
                <a:gridCol w="6911275"/>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Formal topic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You meet it first on PRG32 as...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Positional notation, hexadecimal</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colour 0x07E0 and the value shown by the debugger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Two's complement, overflow</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 position that moves left past zero and shows 0xFFFFFFFF</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Fixed and floating point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 ball that moves 0.375 pixels per frame on a chip with no FPU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Boolean algebra, bit masks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andi t3, t0, 1 to test whether LEFT is pressed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Electronics, logic gates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button that joins a pin of the chip to ground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Combinational networks, adders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what add actually does to thirty-two bits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Sequential networks, registers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counter that survives from one frame to the next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CPU, datapath, instruction cycle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single-stepping one instruction in PRG32-QT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Memory and input/output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lw and sw, the stack, the joystick and the display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Verm1: your game, from an empty file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Verm1, read "vermone", the big worm: a tribute to Snake, the game of Blockade (1976) and of the Nokia phones (1997)</a:t>
            </a:r>
            <a:endParaRPr lang="en-US" sz="2200" dirty="0"/>
          </a:p>
        </p:txBody>
      </p:sp>
      <p:sp>
        <p:nvSpPr>
          <p:cNvPr id="5" name="Shape 3"/>
          <p:cNvSpPr/>
          <p:nvPr/>
        </p:nvSpPr>
        <p:spPr>
          <a:xfrm>
            <a:off x="548640" y="279768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91257"/>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worm moves on a grid, eats, grows, and must not bite itself</a:t>
            </a:r>
            <a:endParaRPr lang="en-US" sz="22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432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You write every line, in RISC-V assembly: no engine, no library beyond the calls of PRG32</a:t>
            </a:r>
            <a:endParaRPr lang="en-US" sz="2200" dirty="0"/>
          </a:p>
        </p:txBody>
      </p:sp>
      <p:sp>
        <p:nvSpPr>
          <p:cNvPr id="9" name="Shape 7"/>
          <p:cNvSpPr/>
          <p:nvPr/>
        </p:nvSpPr>
        <p:spPr>
          <a:xfrm>
            <a:off x="548640" y="466382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5739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Small enough for a first-year student, rich enough to need every topic of the course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At the end it is ready for the Cartridge Store, with your name on it</a:t>
            </a:r>
            <a:endParaRPr lang="en-US" sz="2200" dirty="0"/>
          </a:p>
        </p:txBody>
      </p:sp>
      <p:pic>
        <p:nvPicPr>
          <p:cNvPr id="13" name="Image 0" descr="/Users/raffaelemontella/devel/riscv-prg32/computer-architecture-with-prg32/tools/assets/verm1_p4_play.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Verm1 at the end of the course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parts and a publication</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96923"/>
                <a:gridCol w="2437409"/>
                <a:gridCol w="4202430"/>
                <a:gridCol w="2857652"/>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Lecture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After the block 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Verm1 gains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With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07  Part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information and numbers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 grid, a head that moves, a world without edges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colours, shifts, fixed point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12  Part 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logic and circuits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steering, food, a score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masks, XOR, tables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17  Part 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state and memory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 body that grows, collisions, three screens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 state machine, arrays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22  Part 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machine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digits, levels, sound, fast drawing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calls, division, the frame buffer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23  The Store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whole course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 name, an icon, credits, a bundle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PRG32 tools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Each part ends with a game that runs. You never go home with a broken program.</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course in blocks</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17166"/>
                <a:gridCol w="6639839"/>
                <a:gridCol w="2437409"/>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Block</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Lectures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Then</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Start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00 Introduction, 01 PRG32 and PRG32-QT: setting up, 02 First contact with RISC-V</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Information</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03 History, 04 Digital information, 05 Integers, 06 Reals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07 Verm1, part 1</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Logic</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08 and 09 Boolean algebra, 10 Electronics, 11 Combinational machines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12 Verm1, part 2</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State and memory</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13 Sequential machines, 14 Registers and buses, 15 Memory, 16 Permanent memory</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17 Verm1, part 3</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The machine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18 Processor, 19 Instructions and interrupts, 20 Video card, 21 Input and output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22 Verm1, part 4</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Publication</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23 Verm1 on the Cartridge Store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Outlook</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24 Beyond one core: superscalar RISC-V, HPC, GPUs and FPGAs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visit to the computing systems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Syllabus</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Computer organisation</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Hardware and software; application and system software; the von Neumann model; operating principles of a computer.</a:t>
            </a:r>
            <a:endParaRPr lang="en-US" sz="14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Boolean algebra and logic</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Boolean functions, truth tables; combinational networks and minimisation; adders; finite-state machines; sequential networks; flip-flops, registers.</a:t>
            </a:r>
            <a:endParaRPr lang="en-US" sz="14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Data representation</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Encoding; redundant codes, error detection and correction; decoders, multiplexers; positional systems; naturals, integers, reals; arithmetic.</a:t>
            </a:r>
            <a:endParaRPr lang="en-US" sz="14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Structure of a computer</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CPU: control unit, ALU, registers; instruction cycle; datapath; main memory; I/O subsystem; microprogrammed architectures.</a:t>
            </a:r>
            <a:endParaRPr lang="en-US" sz="14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RISC-V assembly</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Instruction set; registers, addressing; arithmetic and logic; branches; subroutines, calling convention, stack; memory and I/O.</a:t>
            </a:r>
            <a:endParaRPr lang="en-US" sz="14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Project</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Verm1: a game in RISC-V assembly on PRG32, built in four guided parts, then varied, documented and packaged by the student or a small team.</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Learning outcomes</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Knowledge and understanding</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A sound knowledge of the binary system, digital logic and the operating principles of computers. No previous computing background is assumed.</a:t>
            </a:r>
            <a:endParaRPr lang="en-US" sz="14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Applying knowledge</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Apply theory to exercises and to RISC-V assembly programs; recognise both the capabilities and the limits of computers on real problems.</a:t>
            </a:r>
            <a:endParaRPr lang="en-US" sz="14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Making judgements</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Write assembly programs that represent and process real problems in binary, choosing suitable data representations and control structures.</a:t>
            </a:r>
            <a:endParaRPr lang="en-US" sz="14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Communication skills</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Take an active part in teams that design, implement and document assembly applications, using correct technical terminology.</a:t>
            </a:r>
            <a:endParaRPr lang="en-US" sz="14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Learning skills</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Connect representation, logic networks and processors into one picture, and keep up to date independently from reliable technical sources.</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Timetable: September to December 2026</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2773604"/>
                <a:gridCol w="2773604"/>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Room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Lecturer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Monday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14:00 - 16:00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Montella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Tuesday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09:00 - 11:00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Staffa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Wednesday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09:00 - 11:00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Montella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Friday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09:00 - 11:00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Staffa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An internal calendar with the actual distribution of lectures and labs will be shared.</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midterm test</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Multiple choice, ten questions, plus two exercises: about 45 minutes, in person and on paper</a:t>
            </a:r>
            <a:endParaRPr lang="en-US" sz="2000" dirty="0"/>
          </a:p>
        </p:txBody>
      </p:sp>
      <p:sp>
        <p:nvSpPr>
          <p:cNvPr id="5" name="Shape 3"/>
          <p:cNvSpPr/>
          <p:nvPr/>
        </p:nvSpPr>
        <p:spPr>
          <a:xfrm>
            <a:off x="548640" y="240118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0257"/>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Monday, date TBD, 14:00-16:00, Aula 1</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Students may be split into groups and the test run in shifts</a:t>
            </a:r>
            <a:endParaRPr lang="en-US" sz="2000" dirty="0"/>
          </a:p>
        </p:txBody>
      </p:sp>
      <p:sp>
        <p:nvSpPr>
          <p:cNvPr id="7" name="Shape 5"/>
          <p:cNvSpPr/>
          <p:nvPr/>
        </p:nvSpPr>
        <p:spPr>
          <a:xfrm>
            <a:off x="548640" y="35476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6686"/>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Bring an identity document and a pen; know your institutional e-mail and your student number (transfer students without a number are excused)</a:t>
            </a:r>
            <a:endParaRPr lang="en-US" sz="2000" dirty="0"/>
          </a:p>
        </p:txBody>
      </p:sp>
      <p:sp>
        <p:nvSpPr>
          <p:cNvPr id="9" name="Shape 7"/>
          <p:cNvSpPr/>
          <p:nvPr/>
        </p:nvSpPr>
        <p:spPr>
          <a:xfrm>
            <a:off x="548640" y="47504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59503"/>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test assesses both sides, you and us: we need it to know where we are going</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Every lecture ends with questions of the same kind: the best preparation is to answer them week by week</a:t>
            </a:r>
            <a:endParaRPr lang="en-US" sz="20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10 + 2</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multiple-choice questions plus two exercises, on paper, in about 45 minutes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Assessment</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2443734"/>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exam has two parts and you must pass both</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Theory (50%): oral, with impromptu questions on the whole syllabus; some answers need a diagram or a calculation on the board</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Practical (50%): the laboratory exam with Prof. Staffa</a:t>
            </a:r>
            <a:endParaRPr lang="en-US" sz="2400" dirty="0"/>
          </a:p>
        </p:txBody>
      </p:sp>
      <p:sp>
        <p:nvSpPr>
          <p:cNvPr id="5" name="Shape 3"/>
          <p:cNvSpPr/>
          <p:nvPr/>
        </p:nvSpPr>
        <p:spPr>
          <a:xfrm>
            <a:off x="548640" y="439483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272915"/>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oral can also lower the mark obtained in the midterm test</a:t>
            </a:r>
            <a:endParaRPr lang="en-US" sz="2400" dirty="0"/>
          </a:p>
        </p:txBody>
      </p:sp>
      <p:sp>
        <p:nvSpPr>
          <p:cNvPr id="7" name="Shape 5"/>
          <p:cNvSpPr/>
          <p:nvPr/>
        </p:nvSpPr>
        <p:spPr>
          <a:xfrm>
            <a:off x="548640" y="55504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428488"/>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Final mark = mean of the theory mark and the practical mark</a:t>
            </a:r>
            <a:endParaRPr lang="en-US" sz="2400" dirty="0"/>
          </a:p>
        </p:txBody>
      </p:sp>
      <p:sp>
        <p:nvSpPr>
          <p:cNvPr id="9" name="Shape 7"/>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0" name="Text 8"/>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50 + 50</a:t>
            </a:r>
            <a:endParaRPr lang="en-US" sz="6000" dirty="0"/>
          </a:p>
        </p:txBody>
      </p:sp>
      <p:sp>
        <p:nvSpPr>
          <p:cNvPr id="11" name="Text 9"/>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theory and practice: two parts, and you must pass both</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Teaching material</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Slides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always shared on Google Drive; periodically published on elearning.uniparthenope.it</a:t>
            </a:r>
            <a:endParaRPr lang="en-US" sz="2000" dirty="0"/>
          </a:p>
        </p:txBody>
      </p:sp>
      <p:sp>
        <p:nvSpPr>
          <p:cNvPr id="5" name="Shape 3"/>
          <p:cNvSpPr/>
          <p:nvPr/>
        </p:nvSpPr>
        <p:spPr>
          <a:xfrm>
            <a:off x="548640" y="251434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23414"/>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PRG32 platform and textbook (free, open source)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github.com/riscv-prg32/PRG32</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Playing with RISC-V: Assembly, C, and Retro Games on the PRG32 Platform</a:t>
            </a:r>
            <a:endParaRPr lang="en-US" sz="2000" dirty="0"/>
          </a:p>
        </p:txBody>
      </p:sp>
      <p:sp>
        <p:nvSpPr>
          <p:cNvPr id="7" name="Shape 5"/>
          <p:cNvSpPr/>
          <p:nvPr/>
        </p:nvSpPr>
        <p:spPr>
          <a:xfrm>
            <a:off x="548640" y="382041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29482"/>
            <a:ext cx="6565392" cy="199999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Textbooks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Computer Organization and Design, RISC-V Edition</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Tanenbaum, Austin: Structured Computer Organization</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Also in the syllabus: Stallings, Computer Organization and Architecture; Bucci, Architettura dei calcolatori elettronici</a:t>
            </a:r>
            <a:endParaRPr lang="en-US" sz="2000" dirty="0"/>
          </a:p>
        </p:txBody>
      </p:sp>
      <p:sp>
        <p:nvSpPr>
          <p:cNvPr id="9" name="Shape 7"/>
          <p:cNvSpPr/>
          <p:nvPr/>
        </p:nvSpPr>
        <p:spPr>
          <a:xfrm>
            <a:off x="548640" y="59532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862320"/>
            <a:ext cx="6565392"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Official RISC-V documentation: riscv.org</a:t>
            </a:r>
            <a:endParaRPr lang="en-US" sz="2000" dirty="0"/>
          </a:p>
        </p:txBody>
      </p:sp>
      <p:pic>
        <p:nvPicPr>
          <p:cNvPr id="11" name="Image 0" descr="/Users/raffaelemontella/devel/riscv-prg32/computer-architecture-with-prg32/tools/assets/book_patterson.jpg">    </p:cNvPr>
          <p:cNvPicPr>
            <a:picLocks noChangeAspect="1"/>
          </p:cNvPicPr>
          <p:nvPr/>
        </p:nvPicPr>
        <p:blipFill>
          <a:blip r:embed="rId1"/>
          <a:stretch>
            <a:fillRect/>
          </a:stretch>
        </p:blipFill>
        <p:spPr>
          <a:xfrm>
            <a:off x="8192838" y="1417320"/>
            <a:ext cx="3121220" cy="4297680"/>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Patterson, Hennessy: RISC-V edition (Italian translation, Zanichelli)</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First contact: who are you?</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Hardware</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Who has assembled their own computer? Who has already played with an Arduino or an ESP32?</a:t>
            </a:r>
            <a:endParaRPr lang="en-US" sz="16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Software</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How many programming languages do you know? Has anyone ever read a line of assembly?</a:t>
            </a:r>
            <a:endParaRPr lang="en-US" sz="16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Culture</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What are retrocomputing and retrogaming? Have you ever visited a computer museum?</a:t>
            </a:r>
            <a:endParaRPr lang="en-US" sz="16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Concepts</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Who can tell the difference between ROM, RAM and storage? What is cloud computing? And the Internet of Things?</a:t>
            </a:r>
            <a:endParaRPr lang="en-US" sz="16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RISC-V</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Who has heard of RISC-V? Which processor is inside your phone, your laptop, your router?</a:t>
            </a:r>
            <a:endParaRPr lang="en-US" sz="16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You</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Hobbies? Passions? Pastimes, besides studying?</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Course Introduction</dc:title>
  <dc:subject>Lecture 00</dc:subject>
  <dc:creator>Raffaele Montella</dc:creator>
  <cp:lastModifiedBy>Raffaele Montella</cp:lastModifiedBy>
  <cp:revision>1</cp:revision>
  <dcterms:created xsi:type="dcterms:W3CDTF">2026-10-13T08:56:23Z</dcterms:created>
  <dcterms:modified xsi:type="dcterms:W3CDTF">2026-10-13T08:56:23Z</dcterms:modified>
</cp:coreProperties>
</file>