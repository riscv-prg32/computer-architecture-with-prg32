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7ec1506-d9f4-23eb-aba0-f1656cd0d54b}">
          <p14:sldIdLst>
            <p14:sldId id="256"/>
            <p14:sldId id="257"/>
            <p14:sldId id="258"/>
            <p14:sldId id="259"/>
          </p14:sldIdLst>
        </p14:section>
        <p14:section name="A new approach" id="{34f1dec9-37d8-366f-d0c5-f57fd7160b1a}">
          <p14:sldIdLst>
            <p14:sldId id="260"/>
            <p14:sldId id="261"/>
            <p14:sldId id="262"/>
            <p14:sldId id="263"/>
          </p14:sldIdLst>
        </p14:section>
        <p14:section name="PRG32 and RISC-V" id="{d0564cca-5c5e-b9c5-5ec4-dd4103cb6f51}">
          <p14:sldIdLst>
            <p14:sldId id="264"/>
            <p14:sldId id="265"/>
            <p14:sldId id="266"/>
            <p14:sldId id="267"/>
            <p14:sldId id="268"/>
            <p14:sldId id="269"/>
            <p14:sldId id="270"/>
          </p14:sldIdLst>
        </p14:section>
        <p14:section name="The course project: Verm1" id="{228b5539-639d-1e2c-0338-bbe69a5cc246}">
          <p14:sldIdLst>
            <p14:sldId id="271"/>
            <p14:sldId id="272"/>
            <p14:sldId id="273"/>
            <p14:sldId id="274"/>
            <p14:sldId id="275"/>
            <p14:sldId id="276"/>
          </p14:sldIdLst>
        </p14:section>
        <p14:section name="Syllabus and learning outcomes" id="{a049b2b6-d6a6-cef4-885e-bfcd791dfdac}">
          <p14:sldIdLst>
            <p14:sldId id="277"/>
            <p14:sldId id="278"/>
            <p14:sldId id="279"/>
          </p14:sldIdLst>
        </p14:section>
        <p14:section name="Organisation and assessment" id="{d7d6dfa2-eef0-fc6b-10a6-d04c2170028e}">
          <p14:sldIdLst>
            <p14:sldId id="280"/>
            <p14:sldId id="281"/>
            <p14:sldId id="282"/>
            <p14:sldId id="283"/>
            <p14:sldId id="284"/>
            <p14:sldId id="285"/>
            <p14:sldId id="286"/>
            <p14:sldId id="287"/>
          </p14:sldIdLst>
        </p14:section>
        <p14:section name="Material and first contact" id="{762fe53b-93f5-b10a-68dd-21d2b7976f2b}">
          <p14:sldIdLst>
            <p14:sldId id="288"/>
            <p14:sldId id="289"/>
            <p14:sldId id="290"/>
            <p14:sldId id="291"/>
            <p14:sldId id="292"/>
            <p14:sldId id="293"/>
            <p14:sldId id="2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opening lecture of the course. It does not teach a topic: it explains how the course works, which machine you will program, which game you will build and how you will be assessed. The quotation from The Matrix is a promise: a computer is a system, and a system that you can open and read stops being a mystery. Keep the title in mind, program first, formalise later: it is the method of every lecture that follows, and the reason why you will type assembly before you meet the theory that explains it.
For the lecturer: Opening lecture. The administrative facts (timetable, assessment) are carried over from the Italian 2026/27 deck; from this year there is one midterm test, with ten questions and two exercises. Dates still marked TBD must be filled in before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lecture has five parts: the people and the hours, the approach, the machine, the project and the rules. They follow the questions a new student asks, in the order in which the answers make sense: you cannot judge the rules before you know what the course asks of you. If you are impatient to hear about the exam, it is the last part, and it is complete. Use this list as a map while you listen, and again when you come back to the slides to look something up.
For the lecturer: Five parts, about ten minutes each. The last part is the one students ask about: say at once that it comes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facts about the course. It is worth 12 credits and 96 hours, split evenly between lectures (Prof. Montella) and laboratory (Prof. Staffa): two lecturers, one course, one mark. There are no formal prerequisites, and this is meant literally: nobody assumes that you have programmed before. What you do need is curiosity about how a computer really works. Note the office hours and the Teams code now: questions asked early, in the first weeks, are the cheapest ones to answer.
For the lecturer: Teams link from the original deck: https://teams.microsoft.com/l/channel/19%3Af4f24e8de71f424395ba903febdc4766%40thread.tacv2/General?groupId=09ae05f6-46f6-4441-ab7b-7522f88007d5 . The team code c7rf33g comes from the official syllabus and may change: announce any change in class. Accenture SuperSkills: https://richiediaccesso.uniparthenope.it/reservations?type=J</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columns are the two halves of the course, and they are designed to meet. In the lectures every topic opens with a program that runs, is then formalised, and closes with questions in the style of the midterm; every four lectures a tutorial adds a part to the game of the course. In the laboratory you practise conversions, logic circuits and RISC-V assembly, and you develop your own project. Read the last line of each column together: the tutorial gives you the game, the laboratory makes it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explains the idea that shapes the whole course. In a traditional course you would study number systems, Boolean algebra and circuits for weeks before seeing a processor execute anything. Here the order is reversed: you write assembly from the first days, and the theory arrives when you already have something to explain. The next slides say why this works and what it asks of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to remember. Program first means that from day one you write RISC-V instructions that a real processor executes. Formalise later means that definitions and theorems come as answers: each one explains something your own program has already shown you. The order matters because a question you have met yourself is easier to remember than an answer to a question you were never asked. Nothing is taken away from the theory: it is all there, and it is examined; it simply arrives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steps are repeated for every topic. Play: type a few instructions and run them. Observe: something happens that you did not fully expect, for example a number that passes zero and becomes 0xFFFFFFFF. Formalise: the lecture gives the rule that explains it, in this case two's complement. Return: go back to the machine and predict the result before you run the program. The last step is the test of understanding: if your prediction is right, you know the rule; if it is wrong, the machine tells you at once, and without a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aims of the course, in the words of the official syllabus. Read them as a chain: first the aspects of architecture, then the low-level languages to program a machine, then the formal tools from which a processor is built (Boolean algebra, binary arithmetic), then the structure of CPU, memory and input/output, and finally assembly code that makes all this visible. The picture is Pong on PRG32: a game of a few hundred instructions, each of which you will be able to read by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slides present the machine of the course: PRG32, the platform; PRG32-QT, the application that runs it on your laptop; and RISC-V, the family of processors whose instructions you will write. They are the tools of every lecture, so it is worth understanding why each was chosen before you install them in Lecture 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 is a small game console that you program in assembly or C. Three ideas matter here. First, your code is real machine code for a 32-bit RISC-V processor, called RV32IMAC: it is executed, not imitated. Second, the contract with the machine is three functions that you write: init runs once, update and draw run once per frame, many times per second. Third, a finished program is a cartridge, one small file ending in .prg32. The screen has 320 by 200 pixels: small enough that you can reason about every one of them.
For the lecturer: PRG32: https://github.com/riscv-prg32/PRG32 . Textbook: https://github.com/riscv-prg32/Playing-with-RISC-V_PRG32_textbook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principles, which you will recognise in every tutorial. The machine is small, so nothing is hidden. It is real, so what you learn holds on every RISC-V processor. It is limited, and limits force good ideas. You add one thing at a time and run after each addition, so a mistake is always in the last few lines. You look inside with the debugger whenever something surprises you. And what you finish, you share. If you keep only one, keep the fourth: one thing at a time is what makes a large program possible for a beginner.
For the lecturer: The design principles are those of the PRG32 textbook: start with returns that do nothing; add one thing at a time; update changes state and draw renders it; sound comes last. The course follows them literally in the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 is used in two ways, and they ask different things of you. As a gymnasium it gives exercises with a prediction and a check: you say what will happen, you run, and the machine answers without flattery and without a mark. As a workshop it gives you an empty cartridge and asks for decisions: rules, colours, sounds. The project of the course begins in the first mode and ends in the second. Many students do not expect a course of architecture to ask for an idea of their own: this one does.
For the lecturer: PRG32 is not only the place where the exercises of the course run: it is a place to make things. Insist on the second column: first-year students rarely expect a course of architecture to ask them for an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PRG32-QT is PRG32 as an application for your laptop: it runs the same cartridges without a board. In debug mode it shows the machine while the game runs: you can pause, execute one instruction at a time, stop at a breakpoint, read the 32 registers and any 128 bytes of memory, and slow the program down to one hundredth of its speed. In the picture the game is on the left and the machine on the right. Take the last line as a definition: you understand a program when you can say what each register will hold before you press Step.
For the lecturer: Settings, Run cartridges in RISC-V debug mode. Lecture 01 installs it; the same cartridge also runs on the kit and on the QEMU emulator, and Lecture 01 compares the three. The debugger is used from Lecture 02 and systematically in the Verm1 tutorials: each one has a debugging section with a precise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for RISC-V. It is open: the instruction set is a public standard, and anyone may build a processor that implements it. It is small: about forty base instructions and thirty-two registers, an amount that one semester can cover completely. It is real: these are the instructions of billions of chips on the market, not a teaching toy. And it is strategic for Europe, which builds its own processors on it. The second reason is the one you will feel most: you will know the whole base instruction set, not a selection.
For the lecturer: DARE: Digital Autonomy with RISC-V in Europe, a EuroHPC Joint Undertaking project. See chapter 1 of the PRG32 textbook for the full argument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course on one page. The left column lists the formal topics; the right column says where you meet each one first, on the machine. Two's complement appears as a position that walks left past zero; Boolean algebra as the test of a button; sequential networks as a counter that survives from one frame to the next. Come back to this slide at the start of each block: it tells you which experience the coming theory is going to explain, and it is a good checklist when you revise.
For the lecturer: This table is the course in one slide. Come back to it at the start of each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course has a project that lasts the whole semester: one game, written from an empty file in RISC-V assembly, that grows as the lectures proceed. This section presents the game, the way it is built, and the place it has in the calendar.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Verm1, read "vermone", the big worm: a tribute to Snake. A worm moves on a grid, eats, grows and must not bite itself. The rules fit in one sentence, yet the program needs almost everything the course teaches: numbers for positions, logic for the buttons, memory for the body, calls and division for the score. You write every line yourself; there is no game engine behind it, only the few calls of PRG32 that draw a rectangle, read the buttons or play a note. At the end the game carries your name.
For the lecturer: The project is the thread of the course: each part uses exactly what the four lectures before it have taught. The reference implementation of Verm1 was contributed by Giuseppe Coviello; its sources are in the verm1 folder of the course material and are built and played automatically by the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has four parts and a publication, and each part comes after the block of lectures that it uses. Part 1 (Lecture 07) uses numbers: a grid and a head that moves. Part 2 (Lecture 12) uses logic: steering, food and a score. Part 3 (Lecture 17) uses state and memory: a body, collisions and three screens. Part 4 (Lecture 22) uses the machine: digits, levels and fast drawing. Lecture 23 packages the game for the Store. The caption states the rule that matters most to you: every part ends with a game that runs.
For the lecturer: Every fifth deck is a tutorial. The numbers are those of the lectures: 07, 12, 17 and 22 for the four parts, 23 for the publication.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screenshots of the same file at four moments of the semester: a green square that moves; a square that chases food and counts; a worm with a body; the finished game with levels and a score in digits. The pictures were not drawn for the slide: they are produced by running the reference programs with automatic tests. Look at them as a schedule of what you will have written, and notice how little changes on the screen at each step compared with how much you will have learned to make it happen.
For the lecturer: Screenshots taken from the reference programs by the automatic tests of the course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tutorial lecture has four properties. It is self-contained: the slides show the whole program, and every line is marked as new, changed or unchanged, so you never have to guess what the file contains. It proceeds step by step, and after each step you build, run and compare with an expected result. It includes a session with the debugger, with a precise thing to look at. And it ends with changes that are yours to make. If your program is broken at the start of a tutorial, you start from the reference file of the previous part: nobody is left behind by a bug.
For the lecturer: If a student's program does not work at the start of a tutorial, they start from the reference file of the previous part: nobody is left behind by a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calendar of the course, in blocks. After three opening lectures there are four blocks of four lectures: Information (what a bit means), Logic (how bits are combined), State and memory (how bits are remembered) and The machine (the processor and its devices). After each block comes a part of Verm1. Lecture 23 publishes the game and Lecture 24 looks at larger machines. The lecture numbers on this slide are the ones used everywhere in the material: when a slide says "Lecture 13", this is the table that tells you where it sits.
For the lecturer: The order was chosen for learning: first what a bit means, then how bits are combined, then how they are remembered, then the machine that does all three; the processor comes before the devices it drives. After each block the project uses it. The last lecture is an outlook, before the visit to the Department's computing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formal slides follow: the syllabus, which is what is taught, and the learning outcomes, which are what you should be able to do at the end. They are the official description of the course, and the exam is built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syllabus in six cards: the organisation of a computer; Boolean algebra and logic networks; the representation of data; the structure of CPU, memory and input/output; RISC-V assembly; and the project. Compare it with the map of the blocks: the content is the same, arranged by subject here and by learning order there. When you prepare for the exam, this slide is the list to tick off; the detailed version is in the Syllabus file on Esse3 and on the e-learning portal.
For the lecturer: The detailed syllabus is in the Syllabus file available on U-GOV / Esse3 and on https://elearning.uniparthenope.it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learning outcomes say what you will be able to do, in five steps of growing autonomy: know the binary system, digital logic and how a computer operates; apply this to exercises and assembly programs; judge which representation and which control structure suit a problem; communicate inside a team with the correct technical terms; and keep learning on your own from reliable sources. Read the first card again: no previous computing background is assumed, so every one of these outcomes is reached starting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part begins here: the timetable, the midterm test, the exam and the rules of conduct. These are the slides to come back to during the semester, when a doubt arises about dates or about how the mark is formed.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meetings a week from September to December, all in Aula 1: Monday afternoon and Wednesday morning with Prof. Montella, Tuesday and Friday morning with Prof. Staffa. Lectures and laboratory do not always alternate strictly: an internal calendar, shared with the class, gives the actual distribution week by week. Check that calendar, not only this table, before deciding which material to prepare for a given day.
For the lecturer: We will share an internal calendar with the actual distribution of lectures and laboratory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one midterm test: ten multiple-choice questions and two exercises, on paper, in about 45 minutes. Bring an identity document and a pen, and know your institutional e-mail address and student number. The test measures two things at once: how you are doing, and how the course is doing. The best preparation is already built into the lectures: each one ends with questions of exactly this kind. Answering them week by week costs a few minutes; leaving them all for the night before does not work.
For the lecturer: One midterm from 2026/27 (there were two). The date is TBD: fill it in. The weight of the test is decided after evaluating the correct behaviour of the students in the room. Booking rules are not on the slide: say them in class if they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midterm covers the first three blocks: Information (Lectures 03 to 06), Logic (08 to 11), and State and memory (13 to 16). The last row, highlighted, is what it does not cover: the processor, instructions and interrupts, the video card and input/output belong to the oral exam. Examples in the test may use RISC-V instructions, so the first-contact material of Lecture 02 is assumed, and the code of Verm1, parts 1 to 3, is a natural source of questions. Use the middle column as your revision plan.
For the lecturer: From this year RISC-V instructions appear in the examples of the test: the first-contact material of Lecture 02 is assumed, and the code of Verm1, parts 1 to 3, is a natural source of questions. The midterm falls after the third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the midterm and the exam is short: no devices and no help, human or artificial, of any kind. This includes ChatGPT, other language models and every form of generative AI. Copying cancels your test immediately. The rule is not hostility towards technology, which you will use every day in this course: it follows from what the test is for. A test measures what you know; an answer produced by something else measures nothing and helps nobody, least of all you.
For the lecturer: If more than two tests have to be cancelled for inadequate behaviour, the whole midterm is cancelled for everyone.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 has two parts and you must pass both: theory, an oral with questions on the whole syllabus, some of which need a diagram or a calculation at the board; and practice, the laboratory exam with Prof. Staffa. Each counts for half, and the final mark is the mean of the two. Note that the oral can also lower the mark obtained in the midterm: the midterm is a real result, not a guarantee. How the midterm enters the theory mark is explained in class.
For the lecturer: Midterm and exam results are kept within the current academic year. The official syllabus describes the written part as exercises on the analysis and synthesis of logic networks and on RISC-V assembly development on PRG32. How the midterm enters the theory mark is said in class: the slide does not give a formula.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record the final mark you need a positive result in both parts, and the recording happens only during a theory session; the laboratory exam is usually a week earlier. Book both on Esse3. The two frequent questions have the same answer: yes, you may take the theory before the practice, and your result is kept for the academic year, but nothing is recorded until both parts are passed. Plan the two exams together rather than one at a time.
For the lecturer: Dates of the sessions were empty in the source deck: add them when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events mark the semester. During the midterm week there are seminars on emerging computer architectures. At the end of the course there is a closing morning: the last lecture, which looks beyond the single core towards supercomputers, and then a visit to the supercomputing systems of the Department. A student or a team that presents its game at the closing event, a variant of Verm1 or an original one, can earn bonus points for the exam. Finished games can also be published on the Cartridge Store, as Lecture 23 explains.
For the lecturer: The source deck still carried the 2025 dates (24-28 November, 19 December 2025) and spoke of an 8-bit architecture: both updated here, dates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section says where the material is and then turns to you: a few questions to learn who is in the room, a short questionnaire, a list of films, and what to do before the next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material has four sources. The slides are in a shared Google Drive folder and are published on the e-learning portal. PRG32 and its textbook, Playing with RISC-V, are free and open source on GitHub. The reference textbooks are Patterson and Hennessy, in the RISC-V edition, and Tanenbaum and Austin; both exist in Italian. The official RISC-V documentation is at riscv.org. You do not need to buy everything on the first day: start with the slides and the PRG32 material, and choose one textbook when the formal topics begin.
For the lecturer: Drive folder: https://drive.google.com/drive/folders/15Kdu8XYbQQVP0ieuZA5OIEmoKqDjQ-eR?usp=sharing . E-learning: https://elearning.uniparthenope.it/course/view.php?id=107 . Italian editions: Tanenbaum, Austin, Architettura dei calcolatori. Un approccio strutturale (Pearson); Patterson, Hennessy, Struttura e progetto dei calcolatori: progettare con RISC-V (Zanichelli).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teaching material is shared, and you can contribute to it. To get access to the Drive folder, send the lecturer the address you use for that service; all other communication goes through your institutional address. The slides are generated from source files, so a correction or a new exercise can be added precisely and rebuilt for everyone. If you find a mistake, report it: a correction made by a student this year is a better slide for the students of next year.
For the lecturer: The decks are built by tools/build.js from compact specifications in tools/decks, in English and in Italian; every slide has a tutorial note in the notes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groups of questions to break the ice: hardware, software, culture, concepts, RISC-V and yourselves. There are no right answers, and nobody is assessed. The purpose is practical: the answers tell the lecturer how much can be taken for granted in the first weeks. If you have never built a computer or read a line of assembly, you are in the majority and in the right place; if you have, you will be able to help the person sitting next to you.
For the lecturer: Ice-breaker. Keep it quick; note the answers: they tell you how fast Lecture 02 can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Sorting Hat is a short anonymous questionnaire about what attracts you most in the future of computing and science. Scan the code or open the link from the shared folder. The aggregated results are discussed in class and are used to choose examples and project themes close to your interests. It takes two minutes, and it is the first of several moments in the course in which what you say changes what is taught.
For the lecturer: The picture carries the Italian prompt: 'Cosa ti attrae di più nel futuro dell'Informatica e della Scienza?'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films and series about computing, from Tron and WarGames to Mr. Robot. It is not required viewing, and it is not examined. It is an invitation to see how the culture around you has imagined computers, hackers and artificial intelligence, sometimes accurately and often not. A useful exercise as the course proceeds: watch one, and find a scene that you can now explain, or one that you can now recognise as impossible.
For the lecturer: Ready Player One is also the cultural reference of the PRG32 textbook: fluency with the foundational layers is a literacy that keeps its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for the next lecture, which is a hands-on installation. Bring your laptop, charged, on which you are allowed to install software. Download the installer of PRG32-QT for your system. At home, on a good connection, start the long download of ESP-IDF, following the README of PRG32. If something fails, do not lose an evening on it: bring the exact error message and it will be solved in class. The expected result is stated at the bottom: after Lecture 01 everyone has PRG32-QT running and a cartridge built on their own machine.
For the lecturer: Lecture 01 is the installation, step by step, for Windows, macOS and Linux. The only thing that cannot be done in class is the download of ESP-IDF: a few gigabytes per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00: Course introduction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2.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Course Introduction</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000" dirty="0">
                <a:solidFill>
                  <a:srgbClr val="CFE3EA"/>
                </a:solidFill>
                <a:latin typeface="Calibri" pitchFamily="34" charset="0"/>
                <a:ea typeface="Calibri" pitchFamily="34" charset="-122"/>
                <a:cs typeface="Calibri" pitchFamily="34" charset="-120"/>
              </a:rPr>
              <a:t>Computer Architecture and Laboratory (ARC12): program first, formalise later</a:t>
            </a:r>
            <a:endParaRPr lang="en-US" sz="20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“The Matrix is a system, Neo. That system is our enemy.”</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The Matrix, Lana and Lilly Wachowski, 1999</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prg32_logo.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Today</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Who we are, and how the 96 hours of the course are organised</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approach: you program first, and we formalise afterwards</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machine: PRG32, RISC-V, and the debugger you will use every week; next time we install them together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project: Verm1, a game you write from an empty file and publish</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rules: timetable, the midterm test, the exam, the material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at a glance</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Name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Computer Architecture and Computer Architecture Laboratory (ARC12). First year, first semester, Bachelor's Degree in Computer Science.</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Lecturers</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Raffaele Montella: lectures, 6 ECTS.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Mariacarla Staffa: laboratory, 6 ECTS.</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Credits</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12 ECTS, 96 hours.</a:t>
            </a:r>
            <a:endParaRPr lang="en-US" sz="1500" dirty="0"/>
          </a:p>
          <a:p>
            <a:pPr indent="0" marL="0">
              <a:buNone/>
            </a:pPr>
            <a:r>
              <a:rPr lang="en-US" sz="1500" dirty="0">
                <a:solidFill>
                  <a:srgbClr val="1B2530"/>
                </a:solidFill>
                <a:latin typeface="Calibri" pitchFamily="34" charset="0"/>
                <a:ea typeface="Calibri" pitchFamily="34" charset="-122"/>
                <a:cs typeface="Calibri" pitchFamily="34" charset="-120"/>
              </a:rPr>
              <a:t>Scientific area: INFO-01/A (Informatics).</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Office hours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Room 420, Tuesday 14:00-16:00, by appointment. Also on Microsoft Teams (team code: c7rf33g).</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Extra credits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Accenture SuperSkills! gives 2 ECTS as further knowledge: richiediaccesso.uniparthenope.it</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Prerequisites</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None. The only real prerequisite is a passion for computing and the technologies that enable it.</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the 96 hours are organised</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Lectures: 48 hours (Prof. Montella)</a:t>
            </a:r>
            <a:endParaRPr lang="en-US" sz="18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B2530"/>
                </a:solidFill>
                <a:latin typeface="Calibri" pitchFamily="34" charset="0"/>
                <a:ea typeface="Calibri" pitchFamily="34" charset="-122"/>
                <a:cs typeface="Calibri" pitchFamily="34" charset="-120"/>
              </a:rPr>
              <a:t>The ideas: information, numbers, Boolean algebra, logic networks, the processor, memory, input and output</a:t>
            </a:r>
            <a:endParaRPr lang="en-US" sz="1600" dirty="0"/>
          </a:p>
          <a:p>
            <a:pPr marL="203200" indent="-203200">
              <a:spcAft>
                <a:spcPts val="800"/>
              </a:spcAft>
              <a:buSzPct val="100000"/>
              <a:buChar char="•"/>
            </a:pPr>
            <a:r>
              <a:rPr lang="en-US" sz="1600" dirty="0">
                <a:solidFill>
                  <a:srgbClr val="1B2530"/>
                </a:solidFill>
                <a:latin typeface="Calibri" pitchFamily="34" charset="0"/>
                <a:ea typeface="Calibri" pitchFamily="34" charset="-122"/>
                <a:cs typeface="Calibri" pitchFamily="34" charset="-120"/>
              </a:rPr>
              <a:t>Every topic opens with a program you can run</a:t>
            </a:r>
            <a:endParaRPr lang="en-US" sz="1600" dirty="0"/>
          </a:p>
          <a:p>
            <a:pPr marL="203200" indent="-203200">
              <a:spcAft>
                <a:spcPts val="800"/>
              </a:spcAft>
              <a:buSzPct val="100000"/>
              <a:buChar char="•"/>
            </a:pPr>
            <a:r>
              <a:rPr lang="en-US" sz="1600" dirty="0">
                <a:solidFill>
                  <a:srgbClr val="1B2530"/>
                </a:solidFill>
                <a:latin typeface="Calibri" pitchFamily="34" charset="0"/>
                <a:ea typeface="Calibri" pitchFamily="34" charset="-122"/>
                <a:cs typeface="Calibri" pitchFamily="34" charset="-120"/>
              </a:rPr>
              <a:t>Then we formalise it with definitions, methods and proofs</a:t>
            </a:r>
            <a:endParaRPr lang="en-US" sz="1600" dirty="0"/>
          </a:p>
          <a:p>
            <a:pPr marL="203200" indent="-203200">
              <a:spcAft>
                <a:spcPts val="800"/>
              </a:spcAft>
              <a:buSzPct val="100000"/>
              <a:buChar char="•"/>
            </a:pPr>
            <a:r>
              <a:rPr lang="en-US" sz="1600" dirty="0">
                <a:solidFill>
                  <a:srgbClr val="1B2530"/>
                </a:solidFill>
                <a:latin typeface="Calibri" pitchFamily="34" charset="0"/>
                <a:ea typeface="Calibri" pitchFamily="34" charset="-122"/>
                <a:cs typeface="Calibri" pitchFamily="34" charset="-120"/>
              </a:rPr>
              <a:t>Each lecture closes with multiple-choice questions in the style of the midterm test</a:t>
            </a:r>
            <a:endParaRPr lang="en-US" sz="1600" dirty="0"/>
          </a:p>
          <a:p>
            <a:pPr marL="203200" indent="-203200">
              <a:spcAft>
                <a:spcPts val="800"/>
              </a:spcAft>
              <a:buSzPct val="100000"/>
              <a:buChar char="•"/>
            </a:pPr>
            <a:r>
              <a:rPr lang="en-US" sz="1600" dirty="0">
                <a:solidFill>
                  <a:srgbClr val="1B2530"/>
                </a:solidFill>
                <a:latin typeface="Calibri" pitchFamily="34" charset="0"/>
                <a:ea typeface="Calibri" pitchFamily="34" charset="-122"/>
                <a:cs typeface="Calibri" pitchFamily="34" charset="-120"/>
              </a:rPr>
              <a:t>Every four lectures a tutorial: the next part of Verm1, the game of the course</a:t>
            </a:r>
            <a:endParaRPr lang="en-US" sz="16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Laboratory: 48 hours (Prof. Staffa)</a:t>
            </a:r>
            <a:endParaRPr lang="en-US" sz="18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600" dirty="0">
                <a:solidFill>
                  <a:srgbClr val="1B2530"/>
                </a:solidFill>
                <a:latin typeface="Calibri" pitchFamily="34" charset="0"/>
                <a:ea typeface="Calibri" pitchFamily="34" charset="-122"/>
                <a:cs typeface="Calibri" pitchFamily="34" charset="-120"/>
              </a:rPr>
              <a:t>Number representation and conversion techniques</a:t>
            </a:r>
            <a:endParaRPr lang="en-US" sz="1600" dirty="0"/>
          </a:p>
          <a:p>
            <a:pPr marL="203200" indent="-203200">
              <a:spcAft>
                <a:spcPts val="800"/>
              </a:spcAft>
              <a:buSzPct val="100000"/>
              <a:buChar char="•"/>
            </a:pPr>
            <a:r>
              <a:rPr lang="en-US" sz="1600" dirty="0">
                <a:solidFill>
                  <a:srgbClr val="1B2530"/>
                </a:solidFill>
                <a:latin typeface="Calibri" pitchFamily="34" charset="0"/>
                <a:ea typeface="Calibri" pitchFamily="34" charset="-122"/>
                <a:cs typeface="Calibri" pitchFamily="34" charset="-120"/>
              </a:rPr>
              <a:t>Analysis, synthesis and minimisation of logic circuits</a:t>
            </a:r>
            <a:endParaRPr lang="en-US" sz="1600" dirty="0"/>
          </a:p>
          <a:p>
            <a:pPr marL="203200" indent="-203200">
              <a:spcAft>
                <a:spcPts val="800"/>
              </a:spcAft>
              <a:buSzPct val="100000"/>
              <a:buChar char="•"/>
            </a:pPr>
            <a:r>
              <a:rPr lang="en-US" sz="1600" dirty="0">
                <a:solidFill>
                  <a:srgbClr val="1B2530"/>
                </a:solidFill>
                <a:latin typeface="Calibri" pitchFamily="34" charset="0"/>
                <a:ea typeface="Calibri" pitchFamily="34" charset="-122"/>
                <a:cs typeface="Calibri" pitchFamily="34" charset="-120"/>
              </a:rPr>
              <a:t>RISC-V assembly programming on the PRG32 platform</a:t>
            </a:r>
            <a:endParaRPr lang="en-US" sz="1600" dirty="0"/>
          </a:p>
          <a:p>
            <a:pPr marL="203200" indent="-203200">
              <a:spcAft>
                <a:spcPts val="800"/>
              </a:spcAft>
              <a:buSzPct val="100000"/>
              <a:buChar char="•"/>
            </a:pPr>
            <a:r>
              <a:rPr lang="en-US" sz="1600" dirty="0">
                <a:solidFill>
                  <a:srgbClr val="1B2530"/>
                </a:solidFill>
                <a:latin typeface="Calibri" pitchFamily="34" charset="0"/>
                <a:ea typeface="Calibri" pitchFamily="34" charset="-122"/>
                <a:cs typeface="Calibri" pitchFamily="34" charset="-120"/>
              </a:rPr>
              <a:t>Your own project: a variant of Verm1, or a game of your invention</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 new approach</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You will write assembly from the first days. The theory comes after, to explain what you have already seen happen.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Program first. Formalise later.</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From day one you write RISC-V assembly that runs on a real processor. Each formal topic then answers a question that your own program has already raised.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learning spiral, repeated for every topic</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Play</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Type a few instructions, build a cartridge, run it on PRG32</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Observe</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Something happens: a number wraps, a bit lights a lamp, a rectangle moves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Formalise</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Definitions, theorems and methods explain exactly why</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Return</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Back to the machine: predict the result before you run it</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mark is an opinion; a paddle that leaves the screen is a fact. We will use facts, then explain them.</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course aims at</a:t>
            </a:r>
            <a:endParaRPr lang="en-US" sz="3200" dirty="0"/>
          </a:p>
        </p:txBody>
      </p:sp>
      <p:sp>
        <p:nvSpPr>
          <p:cNvPr id="3" name="Shape 1"/>
          <p:cNvSpPr/>
          <p:nvPr/>
        </p:nvSpPr>
        <p:spPr>
          <a:xfrm>
            <a:off x="548640" y="1492758"/>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Present the fundamental aspects of the architecture of modern computers</a:t>
            </a:r>
            <a:endParaRPr lang="en-US" sz="1800" dirty="0"/>
          </a:p>
        </p:txBody>
      </p:sp>
      <p:sp>
        <p:nvSpPr>
          <p:cNvPr id="5" name="Shape 3"/>
          <p:cNvSpPr/>
          <p:nvPr/>
        </p:nvSpPr>
        <p:spPr>
          <a:xfrm>
            <a:off x="548640" y="227971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4276"/>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Use, in the laboratory, the basic concepts for programming them efficiently in low-level languages: machine language and assembly</a:t>
            </a:r>
            <a:endParaRPr lang="en-US" sz="1800" dirty="0"/>
          </a:p>
        </p:txBody>
      </p:sp>
      <p:sp>
        <p:nvSpPr>
          <p:cNvPr id="7" name="Shape 5"/>
          <p:cNvSpPr/>
          <p:nvPr/>
        </p:nvSpPr>
        <p:spPr>
          <a:xfrm>
            <a:off x="548640" y="334556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70123"/>
            <a:ext cx="6565392" cy="104927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Treat rigorously the tools the processor is built from</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Boolean algebra and the synthesis of combinational and sequential logic networks</a:t>
            </a:r>
            <a:endParaRPr lang="en-US" sz="1800" dirty="0"/>
          </a:p>
          <a:p>
            <a:pPr indent="0" marL="0">
              <a:spcAft>
                <a:spcPts val="200"/>
              </a:spcAft>
              <a:buNone/>
            </a:pPr>
            <a:r>
              <a:rPr lang="en-US" sz="1500" dirty="0">
                <a:solidFill>
                  <a:srgbClr val="5B6B78"/>
                </a:solidFill>
                <a:latin typeface="Calibri" pitchFamily="34" charset="0"/>
                <a:ea typeface="Calibri" pitchFamily="34" charset="-122"/>
                <a:cs typeface="Calibri" pitchFamily="34" charset="-120"/>
              </a:rPr>
              <a:t>– binary representation and binary arithmetic</a:t>
            </a:r>
            <a:endParaRPr lang="en-US" sz="1800" dirty="0"/>
          </a:p>
        </p:txBody>
      </p:sp>
      <p:sp>
        <p:nvSpPr>
          <p:cNvPr id="9" name="Shape 7"/>
          <p:cNvSpPr/>
          <p:nvPr/>
        </p:nvSpPr>
        <p:spPr>
          <a:xfrm>
            <a:off x="548640" y="462400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8569"/>
            <a:ext cx="6565392"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Describe in detail the functional and physical structure of the CPU, the memory and the input/output subsystem</a:t>
            </a:r>
            <a:endParaRPr lang="en-US" sz="1800" dirty="0"/>
          </a:p>
        </p:txBody>
      </p:sp>
      <p:sp>
        <p:nvSpPr>
          <p:cNvPr id="11" name="Shape 9"/>
          <p:cNvSpPr/>
          <p:nvPr/>
        </p:nvSpPr>
        <p:spPr>
          <a:xfrm>
            <a:off x="548640" y="541096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335524"/>
            <a:ext cx="6565392" cy="836676"/>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Develop assembly code that makes visible how a processor really works and how the basic units of a computer interact</a:t>
            </a:r>
            <a:endParaRPr lang="en-US" sz="1800" dirty="0"/>
          </a:p>
        </p:txBody>
      </p:sp>
      <p:pic>
        <p:nvPicPr>
          <p:cNvPr id="13" name="Image 0" descr="/Users/raffaelemontella/devel/riscv-prg32/computer-architecture-with-prg32/tools/assets/game_pong.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Pong running on PRG32: native RISC-V machine code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PRG32 and RISC-V</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machine you will program, the ideas behind it, and why we chose it.</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 a retro console you program in assembly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open-source educational runtime for teaching RISC-V assembly and C, developed at Parthenope</a:t>
            </a:r>
            <a:endParaRPr lang="en-US" sz="2100" dirty="0"/>
          </a:p>
        </p:txBody>
      </p:sp>
      <p:sp>
        <p:nvSpPr>
          <p:cNvPr id="5" name="Shape 3"/>
          <p:cNvSpPr/>
          <p:nvPr/>
        </p:nvSpPr>
        <p:spPr>
          <a:xfrm>
            <a:off x="548640" y="230047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01799"/>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Your code runs natively as 32-bit RISC-V machine code (RV32IMAC): it is not interpreted by a simulator</a:t>
            </a:r>
            <a:endParaRPr lang="en-US" sz="2100" dirty="0"/>
          </a:p>
        </p:txBody>
      </p:sp>
      <p:sp>
        <p:nvSpPr>
          <p:cNvPr id="7" name="Shape 5"/>
          <p:cNvSpPr/>
          <p:nvPr/>
        </p:nvSpPr>
        <p:spPr>
          <a:xfrm>
            <a:off x="548640" y="341033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11652"/>
            <a:ext cx="65653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deliberately thin contract: three functions that you write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init runs once; update and draw run once per frame</a:t>
            </a:r>
            <a:endParaRPr lang="en-US" sz="2100" dirty="0"/>
          </a:p>
        </p:txBody>
      </p:sp>
      <p:sp>
        <p:nvSpPr>
          <p:cNvPr id="9" name="Shape 7"/>
          <p:cNvSpPr/>
          <p:nvPr/>
        </p:nvSpPr>
        <p:spPr>
          <a:xfrm>
            <a:off x="548640" y="4510278"/>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1599"/>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Games travel as small cartridges: files with the extension .prg32</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320 by 200 viewport, a joystick, sound: small enough to hold in your head, rich enough to exercise the whole course</a:t>
            </a:r>
            <a:endParaRPr lang="en-US" sz="2100" dirty="0"/>
          </a:p>
        </p:txBody>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resident firmware menu</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philosophy behind PRG32</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Small enough to understand</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One processor, a screen of 320 by 200 pixels, a joystick, a small speaker. Nothing is hidden: you can hold the whole machine in your head.</a:t>
            </a:r>
            <a:endParaRPr lang="en-US" sz="15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Real, not simulated</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Your instructions are the ones the chip executes. What you learn here is true on every RISC-V processor, from a sensor to a supercomputer.</a:t>
            </a:r>
            <a:endParaRPr lang="en-US" sz="15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Limits make you creative</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few kilobytes and three functions. The games of the 1980s were born from limits like these: a constraint is an invitation.</a:t>
            </a:r>
            <a:endParaRPr lang="en-US" sz="15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One thing at a time</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Start with functions that only return. Add one thing, run, look. Update changes the state, draw shows it. Sound comes last.</a:t>
            </a:r>
            <a:endParaRPr lang="en-US" sz="15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Look inside</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When something surprises you, stop the program and read registers and memory. The debugger is part of the method, not an emergency tool.</a:t>
            </a:r>
            <a:endParaRPr lang="en-US" sz="15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Make, then share</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500" dirty="0">
                <a:solidFill>
                  <a:srgbClr val="1B2530"/>
                </a:solidFill>
                <a:latin typeface="Calibri" pitchFamily="34" charset="0"/>
                <a:ea typeface="Calibri" pitchFamily="34" charset="-122"/>
                <a:cs typeface="Calibri" pitchFamily="34" charset="-120"/>
              </a:rPr>
              <a:t>A cartridge is a file you can give to a friend. The Cartridge Store is the shelf where finished work meets its players.</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platform, two uses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gymnasium: exercises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Every lecture opens with a short program that runs, and closes by going back to the machine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An exercise has a prediction and a check: say what will happen, then run it</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machine never flatters: a wrong mask lights the wrong lamp</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Small steps, immediate answers, no marks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 workshop: creativity</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blank cartridge and a screen: what you put on it is your choice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Rules, colours, sounds and levels are design decisions, and they are yours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The course project starts guided and ends free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What you finish, you can publish</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PRG32-QT: the debugger of the course</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PRG32-QT is PRG32 on your laptop: it runs the same cartridges, with no board and no compiler</a:t>
            </a:r>
            <a:endParaRPr lang="en-US" sz="1900" dirty="0"/>
          </a:p>
        </p:txBody>
      </p:sp>
      <p:sp>
        <p:nvSpPr>
          <p:cNvPr id="5" name="Shape 3"/>
          <p:cNvSpPr/>
          <p:nvPr/>
        </p:nvSpPr>
        <p:spPr>
          <a:xfrm>
            <a:off x="548640" y="25563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3198"/>
            <a:ext cx="5468112" cy="217601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In debug mode it opens the machine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pause, resume, one instruction at a time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breakpoints on any instruction of init, update or draw</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the 32 registers and 128 bytes of memory at any address</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speed from 0.01x to 4x, and counters: frames, instructions, late frames</a:t>
            </a:r>
            <a:endParaRPr lang="en-US" sz="1900" dirty="0"/>
          </a:p>
        </p:txBody>
      </p:sp>
      <p:sp>
        <p:nvSpPr>
          <p:cNvPr id="7" name="Shape 5"/>
          <p:cNvSpPr/>
          <p:nvPr/>
        </p:nvSpPr>
        <p:spPr>
          <a:xfrm>
            <a:off x="548640" y="49051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821936"/>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You will use it in every lecture: to check a prediction, to find a mistake, to measure</a:t>
            </a:r>
            <a:endParaRPr lang="en-US" sz="1900" dirty="0"/>
          </a:p>
        </p:txBody>
      </p:sp>
      <p:sp>
        <p:nvSpPr>
          <p:cNvPr id="9" name="Shape 7"/>
          <p:cNvSpPr/>
          <p:nvPr/>
        </p:nvSpPr>
        <p:spPr>
          <a:xfrm>
            <a:off x="548640" y="56666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program is understood when you can say what each register will hold before you press Step</a:t>
            </a:r>
            <a:endParaRPr lang="en-US" sz="1900" dirty="0"/>
          </a:p>
        </p:txBody>
      </p:sp>
      <p:pic>
        <p:nvPicPr>
          <p:cNvPr id="11" name="Image 0" descr="/Users/raffaelemontella/devel/riscv-prg32/computer-architecture-with-prg32/tools/assets/prg32qt_debugger.png">    </p:cNvPr>
          <p:cNvPicPr>
            <a:picLocks noChangeAspect="1"/>
          </p:cNvPicPr>
          <p:nvPr/>
        </p:nvPicPr>
        <p:blipFill>
          <a:blip r:embed="rId1"/>
          <a:stretch>
            <a:fillRect/>
          </a:stretch>
        </p:blipFill>
        <p:spPr>
          <a:xfrm>
            <a:off x="6766560" y="1882245"/>
            <a:ext cx="4876495" cy="3367829"/>
          </a:xfrm>
          <a:prstGeom prst="rect">
            <a:avLst/>
          </a:prstGeom>
        </p:spPr>
      </p:pic>
      <p:sp>
        <p:nvSpPr>
          <p:cNvPr id="12" name="Text 9"/>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PRG32-QT in debug mode: the game on the left, the machine on the right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RISC-V?</a:t>
            </a:r>
            <a:endParaRPr lang="en-US" sz="3200" dirty="0"/>
          </a:p>
        </p:txBody>
      </p:sp>
      <p:sp>
        <p:nvSpPr>
          <p:cNvPr id="3" name="Shape 1"/>
          <p:cNvSpPr/>
          <p:nvPr/>
        </p:nvSpPr>
        <p:spPr>
          <a:xfrm>
            <a:off x="548640" y="1417320"/>
            <a:ext cx="541004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Open</a:t>
            </a:r>
            <a:endParaRPr lang="en-US" sz="2000" dirty="0"/>
          </a:p>
        </p:txBody>
      </p:sp>
      <p:sp>
        <p:nvSpPr>
          <p:cNvPr id="6" name="Text 4"/>
          <p:cNvSpPr txBox="1"/>
          <p:nvPr/>
        </p:nvSpPr>
        <p:spPr>
          <a:xfrm>
            <a:off x="822960"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RISC-V is an open standard instruction set: anyone may design, build and sell a RISC-V processor without paying a licence for the architecture.</a:t>
            </a:r>
            <a:endParaRPr lang="en-US" sz="1900" dirty="0"/>
          </a:p>
        </p:txBody>
      </p:sp>
      <p:sp>
        <p:nvSpPr>
          <p:cNvPr id="7" name="Shape 5"/>
          <p:cNvSpPr/>
          <p:nvPr/>
        </p:nvSpPr>
        <p:spPr>
          <a:xfrm>
            <a:off x="6233008" y="1417320"/>
            <a:ext cx="541004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646160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7010248" y="16002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Small</a:t>
            </a:r>
            <a:endParaRPr lang="en-US" sz="2000" dirty="0"/>
          </a:p>
        </p:txBody>
      </p:sp>
      <p:sp>
        <p:nvSpPr>
          <p:cNvPr id="10" name="Text 8"/>
          <p:cNvSpPr txBox="1"/>
          <p:nvPr/>
        </p:nvSpPr>
        <p:spPr>
          <a:xfrm>
            <a:off x="6507328" y="23317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base integer instruction set has about forty instructions and thirty-two registers. You can learn all of it in one semester.</a:t>
            </a:r>
            <a:endParaRPr lang="en-US" sz="1900" dirty="0"/>
          </a:p>
        </p:txBody>
      </p:sp>
      <p:sp>
        <p:nvSpPr>
          <p:cNvPr id="11" name="Shape 9"/>
          <p:cNvSpPr/>
          <p:nvPr/>
        </p:nvSpPr>
        <p:spPr>
          <a:xfrm>
            <a:off x="548640" y="3931920"/>
            <a:ext cx="541004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777240" y="41605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Real</a:t>
            </a:r>
            <a:endParaRPr lang="en-US" sz="2000" dirty="0"/>
          </a:p>
        </p:txBody>
      </p:sp>
      <p:sp>
        <p:nvSpPr>
          <p:cNvPr id="14" name="Text 12"/>
          <p:cNvSpPr txBox="1"/>
          <p:nvPr/>
        </p:nvSpPr>
        <p:spPr>
          <a:xfrm>
            <a:off x="822960"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addi, lw, sw and beqz are not a teaching dialect. Industry ships billions of RISC-V cores that execute exactly these instructions.</a:t>
            </a:r>
            <a:endParaRPr lang="en-US" sz="1900" dirty="0"/>
          </a:p>
        </p:txBody>
      </p:sp>
      <p:sp>
        <p:nvSpPr>
          <p:cNvPr id="15" name="Shape 13"/>
          <p:cNvSpPr/>
          <p:nvPr/>
        </p:nvSpPr>
        <p:spPr>
          <a:xfrm>
            <a:off x="6233008" y="3931920"/>
            <a:ext cx="541004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6461608"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7010248" y="4114800"/>
            <a:ext cx="440420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European</a:t>
            </a:r>
            <a:endParaRPr lang="en-US" sz="2000" dirty="0"/>
          </a:p>
        </p:txBody>
      </p:sp>
      <p:sp>
        <p:nvSpPr>
          <p:cNvPr id="18" name="Text 16"/>
          <p:cNvSpPr txBox="1"/>
          <p:nvPr/>
        </p:nvSpPr>
        <p:spPr>
          <a:xfrm>
            <a:off x="6507328" y="4846320"/>
            <a:ext cx="4861408" cy="118872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Europe treats RISC-V as a lever for technological sovereignty: the Chips Act and projects such as DARE build processors on it.</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map: you meet every topic twice</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183140"/>
                <a:gridCol w="6911275"/>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Formal topic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You meet it first on PRG32 as...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Positional notation, hexadecimal</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colour 0x07E0 and the value shown by the debugger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Two's complement, overflow</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position that moves left past zero and shows 0xFFFFFFFF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Fixed and floating point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ball that moves 0.375 pixels per frame on a chip with no FPU</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Boolean algebra, bit masks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andi t3, t0, 1 to test whether LEFT is pressed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Electronics, logic gates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button that joins a pin of the chip to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Combinational networks, adders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what add actually does to thirty-two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Sequential networks, 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counter that survives from one frame to the next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CPU, datapath, instruction cycle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single-stepping one instruction in PRG32-QT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Memory and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lw and sw, the stack, the joystick and the display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course project: Verm1</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One game, written from scratch in RISC-V assembly, that grows with the course.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your game, from an empty file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Verm1, read "vermone", the big worm: a tribute to Snake, the game of Blockade (1976) and of the Nokia phones (1997)</a:t>
            </a:r>
            <a:endParaRPr lang="en-US" sz="22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1257"/>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worm moves on a grid, eats, grows, and must not bite itself</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You write every line, in RISC-V assembly: no engine, no library beyond the calls of PRG32</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Small enough for a first-year student, rich enough to need every topic of the course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At the end it is ready for the Cartridge Store, with your name on it</a:t>
            </a:r>
            <a:endParaRPr lang="en-US" sz="2200" dirty="0"/>
          </a:p>
        </p:txBody>
      </p:sp>
      <p:pic>
        <p:nvPicPr>
          <p:cNvPr id="13"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at the end of the course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parts and a publication</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96923"/>
                <a:gridCol w="2437409"/>
                <a:gridCol w="4202430"/>
                <a:gridCol w="285765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Lecture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After the block 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Verm1 gains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With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07  Part 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information and numbers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grid, a head that moves, a world without edges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colours, shifts, fixed point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12  Part 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logic and circuits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steering, food, a score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masks, XOR, tables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17  Part 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state and 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body that grows, collisions, three screens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state machine, arrays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22  Part 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machine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digits, levels, sound, fast drawing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calls, division, the frame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23  The Store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whole course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name, an icon, credits, a bundle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PRG32 tools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Each part ends with a game that runs. You never go home with a broken program.</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Verm1 grows with you</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verm1_p1.png">    </p:cNvPr>
          <p:cNvPicPr>
            <a:picLocks noChangeAspect="1"/>
          </p:cNvPicPr>
          <p:nvPr/>
        </p:nvPicPr>
        <p:blipFill>
          <a:blip r:embed="rId1"/>
          <a:stretch>
            <a:fillRect/>
          </a:stretch>
        </p:blipFill>
        <p:spPr>
          <a:xfrm>
            <a:off x="685800" y="2369368"/>
            <a:ext cx="2293544" cy="1433465"/>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Part 1: a head</a:t>
            </a:r>
            <a:endParaRPr lang="en-US" sz="15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verm1_p2.png">    </p:cNvPr>
          <p:cNvPicPr>
            <a:picLocks noChangeAspect="1"/>
          </p:cNvPicPr>
          <p:nvPr/>
        </p:nvPicPr>
        <p:blipFill>
          <a:blip r:embed="rId2"/>
          <a:stretch>
            <a:fillRect/>
          </a:stretch>
        </p:blipFill>
        <p:spPr>
          <a:xfrm>
            <a:off x="3527984" y="2369368"/>
            <a:ext cx="2293544" cy="1433465"/>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Part 2: food and a score</a:t>
            </a:r>
            <a:endParaRPr lang="en-US" sz="15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verm1_p3_play.png">    </p:cNvPr>
          <p:cNvPicPr>
            <a:picLocks noChangeAspect="1"/>
          </p:cNvPicPr>
          <p:nvPr/>
        </p:nvPicPr>
        <p:blipFill>
          <a:blip r:embed="rId3"/>
          <a:stretch>
            <a:fillRect/>
          </a:stretch>
        </p:blipFill>
        <p:spPr>
          <a:xfrm>
            <a:off x="6370168" y="2369368"/>
            <a:ext cx="2293544" cy="1433465"/>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Part 3: a body</a:t>
            </a:r>
            <a:endParaRPr lang="en-US" sz="15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verm1_p4_play.png">    </p:cNvPr>
          <p:cNvPicPr>
            <a:picLocks noChangeAspect="1"/>
          </p:cNvPicPr>
          <p:nvPr/>
        </p:nvPicPr>
        <p:blipFill>
          <a:blip r:embed="rId4"/>
          <a:stretch>
            <a:fillRect/>
          </a:stretch>
        </p:blipFill>
        <p:spPr>
          <a:xfrm>
            <a:off x="9212351" y="2369368"/>
            <a:ext cx="2293544" cy="1433465"/>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Part 4: the finished game</a:t>
            </a:r>
            <a:endParaRPr lang="en-US" sz="15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file, four sittings. Each picture is a program that you will have written and run.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tutorial lecture works</a:t>
            </a:r>
            <a:endParaRPr lang="en-US" sz="3200" dirty="0"/>
          </a:p>
        </p:txBody>
      </p:sp>
      <p:sp>
        <p:nvSpPr>
          <p:cNvPr id="3" name="Shape 1"/>
          <p:cNvSpPr/>
          <p:nvPr/>
        </p:nvSpPr>
        <p:spPr>
          <a:xfrm>
            <a:off x="548640" y="1828800"/>
            <a:ext cx="2464994" cy="4251960"/>
          </a:xfrm>
          <a:prstGeom prst="roundRect">
            <a:avLst>
              <a:gd name="adj" fmla="val 2968"/>
            </a:avLst>
          </a:prstGeom>
          <a:solidFill>
            <a:srgbClr val="EEF2F4"/>
          </a:solidFill>
          <a:ln w="12700">
            <a:solidFill>
              <a:srgbClr val="EEF2F4"/>
            </a:solidFill>
            <a:prstDash val="solid"/>
          </a:ln>
        </p:spPr>
      </p:sp>
      <p:sp>
        <p:nvSpPr>
          <p:cNvPr id="4" name="Text 2"/>
          <p:cNvSpPr txBox="1"/>
          <p:nvPr/>
        </p:nvSpPr>
        <p:spPr>
          <a:xfrm>
            <a:off x="1506817"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5" name="Text 3"/>
          <p:cNvSpPr txBox="1"/>
          <p:nvPr/>
        </p:nvSpPr>
        <p:spPr>
          <a:xfrm>
            <a:off x="731520"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Self-contained</a:t>
            </a:r>
            <a:endParaRPr lang="en-US" sz="1900" dirty="0"/>
          </a:p>
        </p:txBody>
      </p:sp>
      <p:sp>
        <p:nvSpPr>
          <p:cNvPr id="6" name="Text 4"/>
          <p:cNvSpPr txBox="1"/>
          <p:nvPr/>
        </p:nvSpPr>
        <p:spPr>
          <a:xfrm>
            <a:off x="731520"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The deck shows the whole program: every line is either new, changed, or reprinted unchanged</a:t>
            </a:r>
            <a:endParaRPr lang="en-US" sz="1900" dirty="0"/>
          </a:p>
        </p:txBody>
      </p:sp>
      <p:sp>
        <p:nvSpPr>
          <p:cNvPr id="7" name="Shape 5"/>
          <p:cNvSpPr/>
          <p:nvPr/>
        </p:nvSpPr>
        <p:spPr>
          <a:xfrm>
            <a:off x="3077642" y="3808476"/>
            <a:ext cx="283464" cy="292608"/>
          </a:xfrm>
          <a:prstGeom prst="rightArrow">
            <a:avLst/>
          </a:prstGeom>
          <a:solidFill>
            <a:srgbClr val="C9D2D8"/>
          </a:solidFill>
          <a:ln w="12700">
            <a:solidFill>
              <a:srgbClr val="C9D2D8"/>
            </a:solidFill>
            <a:prstDash val="solid"/>
          </a:ln>
        </p:spPr>
      </p:sp>
      <p:sp>
        <p:nvSpPr>
          <p:cNvPr id="8" name="Shape 6"/>
          <p:cNvSpPr/>
          <p:nvPr/>
        </p:nvSpPr>
        <p:spPr>
          <a:xfrm>
            <a:off x="3425114" y="1828800"/>
            <a:ext cx="2464994" cy="4251960"/>
          </a:xfrm>
          <a:prstGeom prst="roundRect">
            <a:avLst>
              <a:gd name="adj" fmla="val 2968"/>
            </a:avLst>
          </a:prstGeom>
          <a:solidFill>
            <a:srgbClr val="EEF2F4"/>
          </a:solidFill>
          <a:ln w="12700">
            <a:solidFill>
              <a:srgbClr val="EEF2F4"/>
            </a:solidFill>
            <a:prstDash val="solid"/>
          </a:ln>
        </p:spPr>
      </p:sp>
      <p:sp>
        <p:nvSpPr>
          <p:cNvPr id="9" name="Text 7"/>
          <p:cNvSpPr txBox="1"/>
          <p:nvPr/>
        </p:nvSpPr>
        <p:spPr>
          <a:xfrm>
            <a:off x="4383291"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0" name="Text 8"/>
          <p:cNvSpPr txBox="1"/>
          <p:nvPr/>
        </p:nvSpPr>
        <p:spPr>
          <a:xfrm>
            <a:off x="3607994"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Step by step</a:t>
            </a:r>
            <a:endParaRPr lang="en-US" sz="1900" dirty="0"/>
          </a:p>
        </p:txBody>
      </p:sp>
      <p:sp>
        <p:nvSpPr>
          <p:cNvPr id="11" name="Text 9"/>
          <p:cNvSpPr txBox="1"/>
          <p:nvPr/>
        </p:nvSpPr>
        <p:spPr>
          <a:xfrm>
            <a:off x="3607994"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A few lines at a time; after each step you build, run and compare with the expected result</a:t>
            </a:r>
            <a:endParaRPr lang="en-US" sz="1900" dirty="0"/>
          </a:p>
        </p:txBody>
      </p:sp>
      <p:sp>
        <p:nvSpPr>
          <p:cNvPr id="12" name="Shape 10"/>
          <p:cNvSpPr/>
          <p:nvPr/>
        </p:nvSpPr>
        <p:spPr>
          <a:xfrm>
            <a:off x="5954116" y="3808476"/>
            <a:ext cx="283464" cy="292608"/>
          </a:xfrm>
          <a:prstGeom prst="rightArrow">
            <a:avLst/>
          </a:prstGeom>
          <a:solidFill>
            <a:srgbClr val="C9D2D8"/>
          </a:solidFill>
          <a:ln w="12700">
            <a:solidFill>
              <a:srgbClr val="C9D2D8"/>
            </a:solidFill>
            <a:prstDash val="solid"/>
          </a:ln>
        </p:spPr>
      </p:sp>
      <p:sp>
        <p:nvSpPr>
          <p:cNvPr id="13" name="Shape 11"/>
          <p:cNvSpPr/>
          <p:nvPr/>
        </p:nvSpPr>
        <p:spPr>
          <a:xfrm>
            <a:off x="6301588" y="1828800"/>
            <a:ext cx="2464994" cy="4251960"/>
          </a:xfrm>
          <a:prstGeom prst="roundRect">
            <a:avLst>
              <a:gd name="adj" fmla="val 2968"/>
            </a:avLst>
          </a:prstGeom>
          <a:solidFill>
            <a:srgbClr val="EEF2F4"/>
          </a:solidFill>
          <a:ln w="12700">
            <a:solidFill>
              <a:srgbClr val="EEF2F4"/>
            </a:solidFill>
            <a:prstDash val="solid"/>
          </a:ln>
        </p:spPr>
      </p:sp>
      <p:sp>
        <p:nvSpPr>
          <p:cNvPr id="14" name="Text 12"/>
          <p:cNvSpPr txBox="1"/>
          <p:nvPr/>
        </p:nvSpPr>
        <p:spPr>
          <a:xfrm>
            <a:off x="7259765"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5" name="Text 13"/>
          <p:cNvSpPr txBox="1"/>
          <p:nvPr/>
        </p:nvSpPr>
        <p:spPr>
          <a:xfrm>
            <a:off x="6484468"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With the debugger</a:t>
            </a:r>
            <a:endParaRPr lang="en-US" sz="1900" dirty="0"/>
          </a:p>
        </p:txBody>
      </p:sp>
      <p:sp>
        <p:nvSpPr>
          <p:cNvPr id="16" name="Text 14"/>
          <p:cNvSpPr txBox="1"/>
          <p:nvPr/>
        </p:nvSpPr>
        <p:spPr>
          <a:xfrm>
            <a:off x="6484468"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tutorial has a session in PRG32-QT: a breakpoint, a register to watch, a region of memory to read</a:t>
            </a:r>
            <a:endParaRPr lang="en-US" sz="1900" dirty="0"/>
          </a:p>
        </p:txBody>
      </p:sp>
      <p:sp>
        <p:nvSpPr>
          <p:cNvPr id="17" name="Shape 15"/>
          <p:cNvSpPr/>
          <p:nvPr/>
        </p:nvSpPr>
        <p:spPr>
          <a:xfrm>
            <a:off x="8830589" y="3808476"/>
            <a:ext cx="283464" cy="292608"/>
          </a:xfrm>
          <a:prstGeom prst="rightArrow">
            <a:avLst/>
          </a:prstGeom>
          <a:solidFill>
            <a:srgbClr val="C9D2D8"/>
          </a:solidFill>
          <a:ln w="12700">
            <a:solidFill>
              <a:srgbClr val="C9D2D8"/>
            </a:solidFill>
            <a:prstDash val="solid"/>
          </a:ln>
        </p:spPr>
      </p:sp>
      <p:sp>
        <p:nvSpPr>
          <p:cNvPr id="18" name="Shape 16"/>
          <p:cNvSpPr/>
          <p:nvPr/>
        </p:nvSpPr>
        <p:spPr>
          <a:xfrm>
            <a:off x="9178061" y="1828800"/>
            <a:ext cx="2464994" cy="4251960"/>
          </a:xfrm>
          <a:prstGeom prst="roundRect">
            <a:avLst>
              <a:gd name="adj" fmla="val 2968"/>
            </a:avLst>
          </a:prstGeom>
          <a:solidFill>
            <a:srgbClr val="EEF2F4"/>
          </a:solidFill>
          <a:ln w="12700">
            <a:solidFill>
              <a:srgbClr val="EEF2F4"/>
            </a:solidFill>
            <a:prstDash val="solid"/>
          </a:ln>
        </p:spPr>
      </p:sp>
      <p:sp>
        <p:nvSpPr>
          <p:cNvPr id="19" name="Text 17"/>
          <p:cNvSpPr txBox="1"/>
          <p:nvPr/>
        </p:nvSpPr>
        <p:spPr>
          <a:xfrm>
            <a:off x="10136238" y="1554480"/>
            <a:ext cx="548640"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0" name="Text 18"/>
          <p:cNvSpPr txBox="1"/>
          <p:nvPr/>
        </p:nvSpPr>
        <p:spPr>
          <a:xfrm>
            <a:off x="9360941" y="2240280"/>
            <a:ext cx="2099234" cy="822960"/>
          </a:xfrm>
          <a:prstGeom prst="rect">
            <a:avLst/>
          </a:prstGeom>
          <a:noFill/>
          <a:ln/>
        </p:spPr>
        <p:txBody>
          <a:bodyPr wrap="square" lIns="0" tIns="0" rIns="0" bIns="0" rtlCol="0" anchor="ctr"/>
          <a:lstStyle/>
          <a:p>
            <a:pPr algn="ctr" indent="0" marL="0">
              <a:buNone/>
            </a:pPr>
            <a:r>
              <a:rPr lang="en-US" sz="1900" b="1" dirty="0">
                <a:solidFill>
                  <a:srgbClr val="2E4A62"/>
                </a:solidFill>
                <a:latin typeface="Calibri" pitchFamily="34" charset="0"/>
                <a:ea typeface="Calibri" pitchFamily="34" charset="-122"/>
                <a:cs typeface="Calibri" pitchFamily="34" charset="-120"/>
              </a:rPr>
              <a:t>Yours</a:t>
            </a:r>
            <a:endParaRPr lang="en-US" sz="1900" dirty="0"/>
          </a:p>
        </p:txBody>
      </p:sp>
      <p:sp>
        <p:nvSpPr>
          <p:cNvPr id="21" name="Text 19"/>
          <p:cNvSpPr txBox="1"/>
          <p:nvPr/>
        </p:nvSpPr>
        <p:spPr>
          <a:xfrm>
            <a:off x="9360941" y="3200400"/>
            <a:ext cx="2099234" cy="2697480"/>
          </a:xfrm>
          <a:prstGeom prst="rect">
            <a:avLst/>
          </a:prstGeom>
          <a:noFill/>
          <a:ln/>
        </p:spPr>
        <p:txBody>
          <a:bodyPr wrap="square" lIns="0" tIns="0" rIns="0" bIns="0" rtlCol="0" anchor="t"/>
          <a:lstStyle/>
          <a:p>
            <a:pPr indent="0" marL="0">
              <a:buNone/>
            </a:pPr>
            <a:r>
              <a:rPr lang="en-US" sz="1900" dirty="0">
                <a:solidFill>
                  <a:srgbClr val="1B2530"/>
                </a:solidFill>
                <a:latin typeface="Calibri" pitchFamily="34" charset="0"/>
                <a:ea typeface="Calibri" pitchFamily="34" charset="-122"/>
                <a:cs typeface="Calibri" pitchFamily="34" charset="-120"/>
              </a:rPr>
              <a:t>Each ends with changes to make by yourself: the game you publish should not be identical to ours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course in blocks</a:t>
            </a:r>
            <a:endParaRPr lang="en-US" sz="3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17166"/>
                <a:gridCol w="6639839"/>
                <a:gridCol w="2437409"/>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Lectures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Then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Start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00 Introduction, 01 PRG32 and PRG32-QT: setting up, 02 First contact with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Information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03 History, 04 Digital information, 05 Integers, 06 Reals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07 Verm1, part 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Logic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08 and 09 Boolean algebra, 10 Electronics, 11 Combinational machines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12 Verm1, part 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State and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13 Sequential machines, 14 Registers and buses, 15 Memory, 16 Permanent memory</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17 Verm1, part 3</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The machine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18 Processor, 19 Instructions and interrupts, 20 Video card, 21 Input and output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22 Verm1, part 4</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Publication</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23 Verm1 on the Cartridge Store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Outlook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24 Beyond one core: superscalar RISC-V, HPC, GPUs and FPGAs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the visit to the computing systems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Syllabus and learning outcomes</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What we study, and what you will be able to do at the end.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Syllabus</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Computer organisation</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Hardware and software; application and system software; the von Neumann model; operating principles of a computer.</a:t>
            </a:r>
            <a:endParaRPr lang="en-US" sz="14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Boolean algebra and logic</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Boolean functions, truth tables; combinational networks and minimisation; adders; finite-state machines; sequential networks; flip-flops, registers.</a:t>
            </a:r>
            <a:endParaRPr lang="en-US" sz="14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Data representation</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Encoding; redundant codes, error detection and correction; decoders, multiplexers; positional systems; naturals, integers, reals; arithmetic.</a:t>
            </a:r>
            <a:endParaRPr lang="en-US" sz="14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Structure of a computer</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CPU: control unit, ALU, registers; instruction cycle; datapath; main memory; I/O subsystem; microprogrammed architectures.</a:t>
            </a:r>
            <a:endParaRPr lang="en-US" sz="14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RISC-V assembly</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Instruction set; registers, addressing; arithmetic and logic; branches; subroutines, calling convention, stack; memory and I/O.</a:t>
            </a:r>
            <a:endParaRPr lang="en-US" sz="14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Project</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Verm1: a game in RISC-V assembly on PRG32, built in four guided parts, then varied, documented and packaged by the student or a small team.</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Learning outcomes</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Knowledge and understanding</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A sound knowledge of the binary system, digital logic and the operating principles of computers. No previous computing background is assumed.</a:t>
            </a:r>
            <a:endParaRPr lang="en-US" sz="14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Applying knowledge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Apply theory to exercises and to RISC-V assembly programs; recognise both the capabilities and the limits of computers on real problems.</a:t>
            </a:r>
            <a:endParaRPr lang="en-US" sz="14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Making judgements</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Write assembly programs that represent and process real problems in binary, choosing suitable data representations and control structures.</a:t>
            </a:r>
            <a:endParaRPr lang="en-US" sz="14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Communication skills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Take an active part in teams that design, implement and document assembly applications, using correct technical terminology.</a:t>
            </a:r>
            <a:endParaRPr lang="en-US" sz="14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Learning skills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400" dirty="0">
                <a:solidFill>
                  <a:srgbClr val="1B2530"/>
                </a:solidFill>
                <a:latin typeface="Calibri" pitchFamily="34" charset="0"/>
                <a:ea typeface="Calibri" pitchFamily="34" charset="-122"/>
                <a:cs typeface="Calibri" pitchFamily="34" charset="-120"/>
              </a:rPr>
              <a:t>Connect representation, logic networks and processors into one picture, and keep up to date independently from reliable technical sources.</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Organisation and assessment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When we meet, how you are assessed, and the rules of the game.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Timetable: September to December 2026</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77360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Lecturer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Monday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14:00 - 16:00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Tuesday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Wednesday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Montella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Friday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09:00 - 11:00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Aula 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Staffa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An internal calendar with the actual distribution of lectures and labs will be shared.</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midterm test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Multiple choice, ten questions, plus two exercises: about 45 minutes, in person and on paper</a:t>
            </a:r>
            <a:endParaRPr lang="en-US" sz="2000" dirty="0"/>
          </a:p>
        </p:txBody>
      </p:sp>
      <p:sp>
        <p:nvSpPr>
          <p:cNvPr id="5" name="Shape 3"/>
          <p:cNvSpPr/>
          <p:nvPr/>
        </p:nvSpPr>
        <p:spPr>
          <a:xfrm>
            <a:off x="548640" y="240118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0257"/>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Monday, date TBD, 14:00-16:00, Aula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Students may be split into groups and the test run in shifts</a:t>
            </a:r>
            <a:endParaRPr lang="en-US" sz="2000" dirty="0"/>
          </a:p>
        </p:txBody>
      </p:sp>
      <p:sp>
        <p:nvSpPr>
          <p:cNvPr id="7" name="Shape 5"/>
          <p:cNvSpPr/>
          <p:nvPr/>
        </p:nvSpPr>
        <p:spPr>
          <a:xfrm>
            <a:off x="548640" y="35476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6686"/>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an identity document and a pen; know your institutional e-mail and your student number (transfer students without a number are excused)</a:t>
            </a:r>
            <a:endParaRPr lang="en-US" sz="2000" dirty="0"/>
          </a:p>
        </p:txBody>
      </p:sp>
      <p:sp>
        <p:nvSpPr>
          <p:cNvPr id="9" name="Shape 7"/>
          <p:cNvSpPr/>
          <p:nvPr/>
        </p:nvSpPr>
        <p:spPr>
          <a:xfrm>
            <a:off x="548640" y="47504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595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test assesses both sides, you and us: we need it to know where we are going</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Every lecture ends with questions of the same kind: the best preparation is to answer them week by week</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10 + 2</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multiple-choice questions plus two exercises, on paper, in about 45 minutes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the midterm covers</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04225"/>
                <a:gridCol w="1536150"/>
                <a:gridCol w="7254041"/>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Block</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Lectures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Topics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Information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03 to 06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history of computing; digital information; number representation: integers and reals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Logic</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08 to 11</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Boolean algebra; electronics and logic gates; combinational machines</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State and memory</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13 to 16</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sequential machines: latches, flip-flops, state machines; registers and buses; memory and permanent storage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Not in the midterm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18 to 24</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the processor, instructions and interrupts, the video card, input and output, the outlook: part of the oral exam</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The midterm closes the first three blocks. The machine, Lectures 18 to 21, is examined in the oral.</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No tech. No GPT.</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midterm test and the exam are #nogpt. No technological or human help of any kind: no devices, no ChatGPT or other LLMs, no generative AI. Cheating cancels your test at once; more serious behaviour has more serious consequences.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Assessment</a:t>
            </a:r>
            <a:endParaRPr lang="en-US" sz="3200" dirty="0"/>
          </a:p>
        </p:txBody>
      </p:sp>
      <p:sp>
        <p:nvSpPr>
          <p:cNvPr id="3" name="Shape 1"/>
          <p:cNvSpPr/>
          <p:nvPr/>
        </p:nvSpPr>
        <p:spPr>
          <a:xfrm>
            <a:off x="548640" y="153924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443734"/>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exam has two parts and you must pass both</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Theory (50%): oral, with impromptu questions on the whole syllabus; some answers need a diagram or a calculation on the board</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Practical (50%): the laboratory exam with Prof. Staffa</a:t>
            </a:r>
            <a:endParaRPr lang="en-US" sz="2400" dirty="0"/>
          </a:p>
        </p:txBody>
      </p:sp>
      <p:sp>
        <p:nvSpPr>
          <p:cNvPr id="5" name="Shape 3"/>
          <p:cNvSpPr/>
          <p:nvPr/>
        </p:nvSpPr>
        <p:spPr>
          <a:xfrm>
            <a:off x="548640" y="43948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272915"/>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oral can also lower the mark obtained in the midterm test</a:t>
            </a:r>
            <a:endParaRPr lang="en-US" sz="2400" dirty="0"/>
          </a:p>
        </p:txBody>
      </p:sp>
      <p:sp>
        <p:nvSpPr>
          <p:cNvPr id="7" name="Shape 5"/>
          <p:cNvSpPr/>
          <p:nvPr/>
        </p:nvSpPr>
        <p:spPr>
          <a:xfrm>
            <a:off x="548640" y="55504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428488"/>
            <a:ext cx="6565392"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Final mark = mean of the theory mark and the practical mark</a:t>
            </a:r>
            <a:endParaRPr lang="en-US" sz="2400" dirty="0"/>
          </a:p>
        </p:txBody>
      </p:sp>
      <p:sp>
        <p:nvSpPr>
          <p:cNvPr id="9" name="Shape 7"/>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0" name="Text 8"/>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50 + 50</a:t>
            </a:r>
            <a:endParaRPr lang="en-US" sz="6000" dirty="0"/>
          </a:p>
        </p:txBody>
      </p:sp>
      <p:sp>
        <p:nvSpPr>
          <p:cNvPr id="11" name="Text 9"/>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theory and practice: two parts, and you must pass both</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Exam sessions and finalisation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finalise you need a positive mark in both theory and practice</a:t>
            </a:r>
            <a:endParaRPr lang="en-US" sz="2200" dirty="0"/>
          </a:p>
        </p:txBody>
      </p:sp>
      <p:sp>
        <p:nvSpPr>
          <p:cNvPr id="5" name="Shape 3"/>
          <p:cNvSpPr/>
          <p:nvPr/>
        </p:nvSpPr>
        <p:spPr>
          <a:xfrm>
            <a:off x="548640" y="230295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96529"/>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Finalisation happens only during a theory exam session</a:t>
            </a:r>
            <a:endParaRPr lang="en-US" sz="2200" dirty="0"/>
          </a:p>
        </p:txBody>
      </p:sp>
      <p:sp>
        <p:nvSpPr>
          <p:cNvPr id="7" name="Shape 5"/>
          <p:cNvSpPr/>
          <p:nvPr/>
        </p:nvSpPr>
        <p:spPr>
          <a:xfrm>
            <a:off x="548640" y="308216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75737"/>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laboratory exam with Prof. Staffa is usually one week before the theory session</a:t>
            </a:r>
            <a:endParaRPr lang="en-US" sz="2200" dirty="0"/>
          </a:p>
        </p:txBody>
      </p:sp>
      <p:sp>
        <p:nvSpPr>
          <p:cNvPr id="9" name="Shape 7"/>
          <p:cNvSpPr/>
          <p:nvPr/>
        </p:nvSpPr>
        <p:spPr>
          <a:xfrm>
            <a:off x="548640" y="420224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9581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Book both sessions on uniparthenope.esse3.cineca.it</a:t>
            </a:r>
            <a:endParaRPr lang="en-US" sz="2200" dirty="0"/>
          </a:p>
        </p:txBody>
      </p:sp>
      <p:sp>
        <p:nvSpPr>
          <p:cNvPr id="11" name="Shape 9"/>
          <p:cNvSpPr/>
          <p:nvPr/>
        </p:nvSpPr>
        <p:spPr>
          <a:xfrm>
            <a:off x="548640" y="49814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75022"/>
            <a:ext cx="10710367" cy="129717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Frequently asked</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Can I take the theory exam before passing the practical one? Yes: the midterm result is kept for one academic year, but you finalise only after passing the practical part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Can I book the theory session without the practical test? Yes, the case is the same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Midterm week and the closing event</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During the midterm week, seminars on emerging computer architectures</a:t>
            </a:r>
            <a:endParaRPr lang="en-US" sz="2000" dirty="0"/>
          </a:p>
        </p:txBody>
      </p:sp>
      <p:sp>
        <p:nvSpPr>
          <p:cNvPr id="5" name="Shape 3"/>
          <p:cNvSpPr/>
          <p:nvPr/>
        </p:nvSpPr>
        <p:spPr>
          <a:xfrm>
            <a:off x="548640" y="240775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6819"/>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student or a team that presents its game at the closing ceremony can earn bonus points for the exam: your variant of Verm1, or a game of your own</a:t>
            </a:r>
            <a:endParaRPr lang="en-US" sz="2000" dirty="0"/>
          </a:p>
        </p:txBody>
      </p:sp>
      <p:sp>
        <p:nvSpPr>
          <p:cNvPr id="7" name="Shape 5"/>
          <p:cNvSpPr/>
          <p:nvPr/>
        </p:nvSpPr>
        <p:spPr>
          <a:xfrm>
            <a:off x="548640" y="361712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6197"/>
            <a:ext cx="6565392" cy="174650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Closing of the course: date TBD, 09:00-13:00, Aula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09:00-11:00 the last lecture: beyond one core, from superscalar RISC-V to supercomputers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11:00-13:00 visit to the supercomputing systems of the Department of Science and Technology</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Finished games can be published on the PRG32 Cartridge Store: Lecture 23 shows how</a:t>
            </a:r>
            <a:endParaRPr lang="en-US" sz="2000" dirty="0"/>
          </a:p>
        </p:txBody>
      </p:sp>
      <p:pic>
        <p:nvPicPr>
          <p:cNvPr id="11" name="Image 0" descr="/Users/raffaelemontella/devel/riscv-prg32/computer-architecture-with-prg32/tools/assets/verm1_p4_play.png">    </p:cNvPr>
          <p:cNvPicPr>
            <a:picLocks noChangeAspect="1"/>
          </p:cNvPicPr>
          <p:nvPr/>
        </p:nvPicPr>
        <p:blipFill>
          <a:blip r:embed="rId1"/>
          <a:stretch>
            <a:fillRect/>
          </a:stretch>
        </p:blipFill>
        <p:spPr>
          <a:xfrm>
            <a:off x="7863840" y="2385155"/>
            <a:ext cx="3779215" cy="236201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Verm1: the game you can present, in your own variant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06</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Material and first contact</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Where everything is, and a first look at who is in the room.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Teaching material</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7325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Slides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always shared on Google Drive; periodically published on elearning.uniparthenope.it</a:t>
            </a:r>
            <a:endParaRPr lang="en-US" sz="2000" dirty="0"/>
          </a:p>
        </p:txBody>
      </p:sp>
      <p:sp>
        <p:nvSpPr>
          <p:cNvPr id="5" name="Shape 3"/>
          <p:cNvSpPr/>
          <p:nvPr/>
        </p:nvSpPr>
        <p:spPr>
          <a:xfrm>
            <a:off x="548640" y="25143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23414"/>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PRG32 platform and textbook (free, open source)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github.com/riscv-prg32/PRG32</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Assembly, C, and Retro Games on the PRG32 Platform</a:t>
            </a:r>
            <a:endParaRPr lang="en-US" sz="2000" dirty="0"/>
          </a:p>
        </p:txBody>
      </p:sp>
      <p:sp>
        <p:nvSpPr>
          <p:cNvPr id="7" name="Shape 5"/>
          <p:cNvSpPr/>
          <p:nvPr/>
        </p:nvSpPr>
        <p:spPr>
          <a:xfrm>
            <a:off x="548640" y="382041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29482"/>
            <a:ext cx="6565392" cy="199999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Textbooks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Patterson, Hennessy: Computer Organization and Design, RISC-V Edition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Structured Computer Organization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Also in the syllabus: Stallings, Computer Organization and Architecture; Bucci, Architettura dei calcolatori elettronici</a:t>
            </a:r>
            <a:endParaRPr lang="en-US" sz="2000" dirty="0"/>
          </a:p>
        </p:txBody>
      </p:sp>
      <p:sp>
        <p:nvSpPr>
          <p:cNvPr id="9" name="Shape 7"/>
          <p:cNvSpPr/>
          <p:nvPr/>
        </p:nvSpPr>
        <p:spPr>
          <a:xfrm>
            <a:off x="548640" y="595325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862320"/>
            <a:ext cx="6565392"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Official RISC-V documentation: riscv.org</a:t>
            </a:r>
            <a:endParaRPr lang="en-US" sz="2000" dirty="0"/>
          </a:p>
        </p:txBody>
      </p:sp>
      <p:pic>
        <p:nvPicPr>
          <p:cNvPr id="11" name="Image 0" descr="/Users/raffaelemontella/devel/riscv-prg32/computer-architecture-with-prg32/tools/assets/book_patterson.jpg">    </p:cNvPr>
          <p:cNvPicPr>
            <a:picLocks noChangeAspect="1"/>
          </p:cNvPicPr>
          <p:nvPr/>
        </p:nvPicPr>
        <p:blipFill>
          <a:blip r:embed="rId1"/>
          <a:stretch>
            <a:fillRect/>
          </a:stretch>
        </p:blipFill>
        <p:spPr>
          <a:xfrm>
            <a:off x="8192838" y="1417320"/>
            <a:ext cx="3121220" cy="4297680"/>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Patterson, Hennessy: RISC-V edition (Italian translation, Zanichelli)</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Creative Commons and shared material</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These slides and all the teaching material live in a Google Drive folder shared with the students, who can contribute</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Periodically the material is finalised and published on the Department e-learning portal</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 get access, send your Gmail address (or another address linked to the service) to raffaele.montella@uniparthenope.it</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All communication with the lecturer still goes through the institutional address @studenti.uniparthenope.it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slides are generated from source: corrections and new exercises are welcome as contributions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First contact: who are you?</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Hardware</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assembled their own computer? Who has already played with an Arduino or an ESP32?</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Software</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How many programming languages do you know? Has anyone ever read a line of assembly?</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Culture</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What are retrocomputing and retrogaming? Have you ever visited a computer museum?</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Concepts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can tell the difference between ROM, RAM and storage? What is cloud computing? And the Internet of Things?</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RISC-V</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Who has heard of RISC-V? Which processor is inside your phone, your laptop, your router?</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You</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Hobbies? Passions? Pastimes, besides studying?</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Sorting Hat (stage 1)</a:t>
            </a:r>
            <a:endParaRPr lang="en-US" sz="3200" dirty="0"/>
          </a:p>
        </p:txBody>
      </p:sp>
      <p:sp>
        <p:nvSpPr>
          <p:cNvPr id="3" name="Shape 1"/>
          <p:cNvSpPr/>
          <p:nvPr/>
        </p:nvSpPr>
        <p:spPr>
          <a:xfrm>
            <a:off x="548640" y="1417320"/>
            <a:ext cx="4754880" cy="4754880"/>
          </a:xfrm>
          <a:prstGeom prst="roundRect">
            <a:avLst>
              <a:gd name="adj" fmla="val 1538"/>
            </a:avLst>
          </a:prstGeom>
          <a:solidFill>
            <a:srgbClr val="1B2530"/>
          </a:solidFill>
          <a:ln w="12700">
            <a:solidFill>
              <a:srgbClr val="1B2530"/>
            </a:solidFill>
            <a:prstDash val="solid"/>
          </a:ln>
        </p:spPr>
      </p:sp>
      <p:pic>
        <p:nvPicPr>
          <p:cNvPr id="4" name="Image 0" descr="/Users/raffaelemontella/devel/riscv-prg32/computer-architecture-with-prg32/tools/assets/sorting_hat.png">    </p:cNvPr>
          <p:cNvPicPr>
            <a:picLocks noChangeAspect="1"/>
          </p:cNvPicPr>
          <p:nvPr/>
        </p:nvPicPr>
        <p:blipFill>
          <a:blip r:embed="rId1"/>
          <a:stretch>
            <a:fillRect/>
          </a:stretch>
        </p:blipFill>
        <p:spPr>
          <a:xfrm>
            <a:off x="685800" y="1554480"/>
            <a:ext cx="4480560" cy="4480560"/>
          </a:xfrm>
          <a:prstGeom prst="rect">
            <a:avLst/>
          </a:prstGeom>
        </p:spPr>
      </p:pic>
      <p:sp>
        <p:nvSpPr>
          <p:cNvPr id="5" name="Shape 2"/>
          <p:cNvSpPr/>
          <p:nvPr/>
        </p:nvSpPr>
        <p:spPr>
          <a:xfrm>
            <a:off x="5760720" y="1531493"/>
            <a:ext cx="146304" cy="146304"/>
          </a:xfrm>
          <a:prstGeom prst="rect">
            <a:avLst/>
          </a:prstGeom>
          <a:solidFill>
            <a:srgbClr val="0E7C86"/>
          </a:solidFill>
          <a:ln w="12700">
            <a:solidFill>
              <a:srgbClr val="0E7C86"/>
            </a:solidFill>
            <a:prstDash val="solid"/>
          </a:ln>
        </p:spPr>
      </p:sp>
      <p:sp>
        <p:nvSpPr>
          <p:cNvPr id="6" name="Text 3"/>
          <p:cNvSpPr txBox="1"/>
          <p:nvPr/>
        </p:nvSpPr>
        <p:spPr>
          <a:xfrm>
            <a:off x="6144768" y="1417320"/>
            <a:ext cx="546811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 short questionnaire: what attracts you most in the future of computing and science?</a:t>
            </a:r>
            <a:endParaRPr lang="en-US" sz="2300" dirty="0"/>
          </a:p>
        </p:txBody>
      </p:sp>
      <p:sp>
        <p:nvSpPr>
          <p:cNvPr id="7" name="Shape 4"/>
          <p:cNvSpPr/>
          <p:nvPr/>
        </p:nvSpPr>
        <p:spPr>
          <a:xfrm>
            <a:off x="5760720" y="2729611"/>
            <a:ext cx="146304" cy="146304"/>
          </a:xfrm>
          <a:prstGeom prst="rect">
            <a:avLst/>
          </a:prstGeom>
          <a:solidFill>
            <a:srgbClr val="C7791B"/>
          </a:solidFill>
          <a:ln w="12700">
            <a:solidFill>
              <a:srgbClr val="C7791B"/>
            </a:solidFill>
            <a:prstDash val="solid"/>
          </a:ln>
        </p:spPr>
      </p:sp>
      <p:sp>
        <p:nvSpPr>
          <p:cNvPr id="8" name="Text 5"/>
          <p:cNvSpPr txBox="1"/>
          <p:nvPr/>
        </p:nvSpPr>
        <p:spPr>
          <a:xfrm>
            <a:off x="6144768" y="2615438"/>
            <a:ext cx="546811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Scan the code or open the link from the shared folder</a:t>
            </a:r>
            <a:endParaRPr lang="en-US" sz="2300" dirty="0"/>
          </a:p>
        </p:txBody>
      </p:sp>
      <p:sp>
        <p:nvSpPr>
          <p:cNvPr id="9" name="Shape 6"/>
          <p:cNvSpPr/>
          <p:nvPr/>
        </p:nvSpPr>
        <p:spPr>
          <a:xfrm>
            <a:off x="5760720" y="3571367"/>
            <a:ext cx="146304" cy="146304"/>
          </a:xfrm>
          <a:prstGeom prst="rect">
            <a:avLst/>
          </a:prstGeom>
          <a:solidFill>
            <a:srgbClr val="0E7C86"/>
          </a:solidFill>
          <a:ln w="12700">
            <a:solidFill>
              <a:srgbClr val="0E7C86"/>
            </a:solidFill>
            <a:prstDash val="solid"/>
          </a:ln>
        </p:spPr>
      </p:sp>
      <p:sp>
        <p:nvSpPr>
          <p:cNvPr id="10" name="Text 7"/>
          <p:cNvSpPr txBox="1"/>
          <p:nvPr/>
        </p:nvSpPr>
        <p:spPr>
          <a:xfrm>
            <a:off x="6144768" y="3457194"/>
            <a:ext cx="546811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Anonymous results are discussed in class and used to tune examples and projects</a:t>
            </a:r>
            <a:endParaRPr lang="en-US" sz="2300" dirty="0"/>
          </a:p>
        </p:txBody>
      </p:sp>
      <p:sp>
        <p:nvSpPr>
          <p:cNvPr id="11" name="Shape 8"/>
          <p:cNvSpPr/>
          <p:nvPr/>
        </p:nvSpPr>
        <p:spPr>
          <a:xfrm>
            <a:off x="5760720" y="4754880"/>
            <a:ext cx="5852160" cy="1417320"/>
          </a:xfrm>
          <a:prstGeom prst="roundRect">
            <a:avLst>
              <a:gd name="adj" fmla="val 5161"/>
            </a:avLst>
          </a:prstGeom>
          <a:solidFill>
            <a:srgbClr val="D8ECEE"/>
          </a:solidFill>
          <a:ln w="12700">
            <a:solidFill>
              <a:srgbClr val="D8ECEE"/>
            </a:solidFill>
            <a:prstDash val="solid"/>
          </a:ln>
        </p:spPr>
      </p:sp>
      <p:sp>
        <p:nvSpPr>
          <p:cNvPr id="12" name="Text 9"/>
          <p:cNvSpPr txBox="1"/>
          <p:nvPr/>
        </p:nvSpPr>
        <p:spPr>
          <a:xfrm>
            <a:off x="5943600" y="4846320"/>
            <a:ext cx="5486400" cy="1234440"/>
          </a:xfrm>
          <a:prstGeom prst="rect">
            <a:avLst/>
          </a:prstGeom>
          <a:noFill/>
          <a:ln/>
        </p:spPr>
        <p:txBody>
          <a:bodyPr wrap="square" lIns="0" tIns="0" rIns="0" bIns="0" rtlCol="0" anchor="ctr"/>
          <a:lstStyle/>
          <a:p>
            <a:pPr indent="0" marL="0">
              <a:buNone/>
            </a:pPr>
            <a:r>
              <a:rPr lang="en-US" sz="1200" dirty="0">
                <a:solidFill>
                  <a:srgbClr val="2E4A62"/>
                </a:solidFill>
                <a:latin typeface="Courier New" pitchFamily="34" charset="0"/>
                <a:ea typeface="Courier New" pitchFamily="34" charset="-122"/>
                <a:cs typeface="Courier New" pitchFamily="34" charset="-120"/>
              </a:rPr>
              <a:t>https://forms.office.com/Pages/ResponsePage.aspx</a:t>
            </a:r>
            <a:endParaRPr lang="en-US" sz="1200" dirty="0"/>
          </a:p>
          <a:p>
            <a:pPr indent="0" marL="0">
              <a:buNone/>
            </a:pPr>
            <a:r>
              <a:rPr lang="en-US" sz="1200" dirty="0">
                <a:solidFill>
                  <a:srgbClr val="2E4A62"/>
                </a:solidFill>
                <a:latin typeface="Courier New" pitchFamily="34" charset="0"/>
                <a:ea typeface="Courier New" pitchFamily="34" charset="-122"/>
                <a:cs typeface="Courier New" pitchFamily="34" charset="-120"/>
              </a:rPr>
              <a:t>?id=rhZ-ARX0jU-a8KIbV81EjtQ3ybGbf6pBqasTaUHJdQ1</a:t>
            </a:r>
            <a:endParaRPr lang="en-US" sz="1200" dirty="0"/>
          </a:p>
          <a:p>
            <a:pPr indent="0" marL="0">
              <a:buNone/>
            </a:pPr>
            <a:r>
              <a:rPr lang="en-US" sz="1200" dirty="0">
                <a:solidFill>
                  <a:srgbClr val="2E4A62"/>
                </a:solidFill>
                <a:latin typeface="Courier New" pitchFamily="34" charset="0"/>
                <a:ea typeface="Courier New" pitchFamily="34" charset="-122"/>
                <a:cs typeface="Courier New" pitchFamily="34" charset="-120"/>
              </a:rPr>
              <a:t>UQUFaVEdZMkZYWFI3S0dJWVlOMDVOSFBCTS4u</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Cineforum: thirty films and series about computing</a:t>
            </a:r>
            <a:endParaRPr lang="en-US" sz="3200" dirty="0"/>
          </a:p>
        </p:txBody>
      </p:sp>
      <p:sp>
        <p:nvSpPr>
          <p:cNvPr id="3" name="Shape 1"/>
          <p:cNvSpPr/>
          <p:nvPr/>
        </p:nvSpPr>
        <p:spPr>
          <a:xfrm>
            <a:off x="548640" y="1417320"/>
            <a:ext cx="3515258" cy="4754880"/>
          </a:xfrm>
          <a:prstGeom prst="roundRect">
            <a:avLst>
              <a:gd name="adj" fmla="val 2081"/>
            </a:avLst>
          </a:prstGeom>
          <a:solidFill>
            <a:srgbClr val="EEF2F4"/>
          </a:solidFill>
          <a:ln w="12700">
            <a:solidFill>
              <a:srgbClr val="EEF2F4"/>
            </a:solidFill>
            <a:prstDash val="solid"/>
          </a:ln>
        </p:spPr>
      </p:sp>
      <p:sp>
        <p:nvSpPr>
          <p:cNvPr id="4" name="Text 2"/>
          <p:cNvSpPr txBox="1"/>
          <p:nvPr/>
        </p:nvSpPr>
        <p:spPr>
          <a:xfrm>
            <a:off x="822960" y="1645920"/>
            <a:ext cx="3058058" cy="4297680"/>
          </a:xfrm>
          <a:prstGeom prst="rect">
            <a:avLst/>
          </a:prstGeom>
          <a:noFill/>
          <a:ln/>
        </p:spPr>
        <p:txBody>
          <a:bodyPr wrap="square" lIns="0" tIns="0" rIns="0" bIns="0" rtlCol="0" anchor="ctr"/>
          <a:lstStyle/>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 1.  The Social Network (2010)</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 2.  Steve Jobs (2015)</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 3.  Pirates of Silicon Valley (1999)</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 4.  The Imitation Game (2014)</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 5.  Hackers (1995)</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 6.  Ex Machina (2014)</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 7.  Her (2013)</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 8.  Tron (1982)</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 9.  Tron: Legacy (2010)</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10.  The Matrix (1999)</a:t>
            </a:r>
            <a:endParaRPr lang="en-US" sz="1600" dirty="0"/>
          </a:p>
        </p:txBody>
      </p:sp>
      <p:sp>
        <p:nvSpPr>
          <p:cNvPr id="5" name="Shape 3"/>
          <p:cNvSpPr/>
          <p:nvPr/>
        </p:nvSpPr>
        <p:spPr>
          <a:xfrm>
            <a:off x="4338218" y="1417320"/>
            <a:ext cx="3515258" cy="4754880"/>
          </a:xfrm>
          <a:prstGeom prst="roundRect">
            <a:avLst>
              <a:gd name="adj" fmla="val 2081"/>
            </a:avLst>
          </a:prstGeom>
          <a:solidFill>
            <a:srgbClr val="EEF2F4"/>
          </a:solidFill>
          <a:ln w="12700">
            <a:solidFill>
              <a:srgbClr val="EEF2F4"/>
            </a:solidFill>
            <a:prstDash val="solid"/>
          </a:ln>
        </p:spPr>
      </p:sp>
      <p:sp>
        <p:nvSpPr>
          <p:cNvPr id="6" name="Text 4"/>
          <p:cNvSpPr txBox="1"/>
          <p:nvPr/>
        </p:nvSpPr>
        <p:spPr>
          <a:xfrm>
            <a:off x="4612538" y="1645920"/>
            <a:ext cx="3058058" cy="4297680"/>
          </a:xfrm>
          <a:prstGeom prst="rect">
            <a:avLst/>
          </a:prstGeom>
          <a:noFill/>
          <a:ln/>
        </p:spPr>
        <p:txBody>
          <a:bodyPr wrap="square" lIns="0" tIns="0" rIns="0" bIns="0" rtlCol="0" anchor="ctr"/>
          <a:lstStyle/>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11.  WarGames (1983)</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12.  Sneakers (1992)</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13.  Jobs (2013)</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14.  Antitrust (2001)</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15.  Blackhat (2015)</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16.  The Fifth Estate (2013)</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17.  The Circle (2017)</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18.  Silicon Valley (2014-2019)</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19.  Source Code (2011)</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20.  Chappie (2015)</a:t>
            </a:r>
            <a:endParaRPr lang="en-US" sz="1600" dirty="0"/>
          </a:p>
        </p:txBody>
      </p:sp>
      <p:sp>
        <p:nvSpPr>
          <p:cNvPr id="7" name="Shape 5"/>
          <p:cNvSpPr/>
          <p:nvPr/>
        </p:nvSpPr>
        <p:spPr>
          <a:xfrm>
            <a:off x="8127797" y="1417320"/>
            <a:ext cx="3515258" cy="4754880"/>
          </a:xfrm>
          <a:prstGeom prst="roundRect">
            <a:avLst>
              <a:gd name="adj" fmla="val 2081"/>
            </a:avLst>
          </a:prstGeom>
          <a:solidFill>
            <a:srgbClr val="EEF2F4"/>
          </a:solidFill>
          <a:ln w="12700">
            <a:solidFill>
              <a:srgbClr val="EEF2F4"/>
            </a:solidFill>
            <a:prstDash val="solid"/>
          </a:ln>
        </p:spPr>
      </p:sp>
      <p:sp>
        <p:nvSpPr>
          <p:cNvPr id="8" name="Text 6"/>
          <p:cNvSpPr txBox="1"/>
          <p:nvPr/>
        </p:nvSpPr>
        <p:spPr>
          <a:xfrm>
            <a:off x="8402117" y="1645920"/>
            <a:ext cx="3058058" cy="4297680"/>
          </a:xfrm>
          <a:prstGeom prst="rect">
            <a:avLst/>
          </a:prstGeom>
          <a:noFill/>
          <a:ln/>
        </p:spPr>
        <p:txBody>
          <a:bodyPr wrap="square" lIns="0" tIns="0" rIns="0" bIns="0" rtlCol="0" anchor="ctr"/>
          <a:lstStyle/>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21.  Mr. Robot (2015-2019)</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22.  Ghost in the Shell (1995)</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23.  Minority Report (2002)</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24.  Transcendence (2014)</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25.  Ready Player One (2018)</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26.  A.I. Artificial Intelligence (2001)</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27.  Revolt (2017)</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28.  The Thirteenth Floor (1999)</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29.  Eagle Eye (2008)</a:t>
            </a:r>
            <a:endParaRPr lang="en-US" sz="1600" dirty="0"/>
          </a:p>
          <a:p>
            <a:pPr indent="0" marL="0">
              <a:spcAft>
                <a:spcPts val="900"/>
              </a:spcAft>
              <a:buNone/>
            </a:pPr>
            <a:r>
              <a:rPr lang="en-US" sz="1600" dirty="0">
                <a:solidFill>
                  <a:srgbClr val="1B2530"/>
                </a:solidFill>
                <a:latin typeface="Calibri" pitchFamily="34" charset="0"/>
                <a:ea typeface="Calibri" pitchFamily="34" charset="-122"/>
                <a:cs typeface="Calibri" pitchFamily="34" charset="-120"/>
              </a:rPr>
              <a:t>30.  Terminator 2: Judgment Day (1991)</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Before the next lecture: we install everything together</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Bring your laptop, charged, with the right to install programs on it</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Download the PRG32-QT installer for your system: github.com/riscv-prg32/PRG32-QT, Releases</a:t>
            </a:r>
            <a:endParaRPr lang="en-US" sz="2000" dirty="0"/>
          </a:p>
        </p:txBody>
      </p:sp>
      <p:sp>
        <p:nvSpPr>
          <p:cNvPr id="8" name="Text 6"/>
          <p:cNvSpPr txBox="1"/>
          <p:nvPr/>
        </p:nvSpPr>
        <p:spPr>
          <a:xfrm>
            <a:off x="548640" y="28630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4480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At home, on a good connection, start the long download: ESP-IDF, following the README of github.com/riscv-prg32/PRG32 for your system</a:t>
            </a:r>
            <a:endParaRPr lang="en-US" sz="2000" dirty="0"/>
          </a:p>
        </p:txBody>
      </p:sp>
      <p:sp>
        <p:nvSpPr>
          <p:cNvPr id="10" name="Text 8"/>
          <p:cNvSpPr txBox="1"/>
          <p:nvPr/>
        </p:nvSpPr>
        <p:spPr>
          <a:xfrm>
            <a:off x="548640" y="36672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648964"/>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If something fails, do not fight it alone: bring the error message, we solve it in class</a:t>
            </a:r>
            <a:endParaRPr lang="en-US" sz="2000" dirty="0"/>
          </a:p>
        </p:txBody>
      </p:sp>
      <p:sp>
        <p:nvSpPr>
          <p:cNvPr id="12" name="Text 10"/>
          <p:cNvSpPr txBox="1"/>
          <p:nvPr/>
        </p:nvSpPr>
        <p:spPr>
          <a:xfrm>
            <a:off x="548640" y="44714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453128"/>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Send your address for the shared folder and fill in the Sorting Hat questionnaire</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You arrive at Lecture 01 with the downloads done. In two hours everyone leaves with PRG32-QT running and a cartridge built on their own laptop.</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Course Introduction</dc:title>
  <dc:subject>Lecture 00</dc:subject>
  <dc:creator>Raffaele Montella</dc:creator>
  <cp:lastModifiedBy>Raffaele Montella</cp:lastModifiedBy>
  <cp:revision>1</cp:revision>
  <dcterms:created xsi:type="dcterms:W3CDTF">2026-10-12T11:28:38Z</dcterms:created>
  <dcterms:modified xsi:type="dcterms:W3CDTF">2026-10-12T11:28:38Z</dcterms:modified>
</cp:coreProperties>
</file>