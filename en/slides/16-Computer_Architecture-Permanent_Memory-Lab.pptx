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b698e99-74c0-77f3-cd5a-5f88ddf7e7bc}">
          <p14:sldIdLst>
            <p14:sldId id="256"/>
            <p14:sldId id="257"/>
          </p14:sldIdLst>
        </p14:section>
        <p14:section name="Warm-up on the machine" id="{c0c47837-d9f2-6c66-48aa-e37d062c9527}">
          <p14:sldIdLst>
            <p14:sldId id="258"/>
          </p14:sldIdLst>
        </p14:section>
        <p14:section name="The complete program" id="{27014663-20e6-0c63-2f63-f691c6c3fb57}">
          <p14:sldIdLst>
            <p14:sldId id="259"/>
            <p14:sldId id="260"/>
            <p14:sldId id="261"/>
            <p14:sldId id="262"/>
          </p14:sldIdLst>
        </p14:section>
        <p14:section name="Run it and test it" id="{383b64b4-d7ca-5134-fa0f-1c4934a986d0}">
          <p14:sldIdLst>
            <p14:sldId id="263"/>
            <p14:sldId id="264"/>
            <p14:sldId id="265"/>
            <p14:sldId id="266"/>
            <p14:sldId id="267"/>
          </p14:sldIdLst>
        </p14:section>
        <p14:section name="Exercises" id="{bbb65cb1-0224-354c-59fe-6de58ff94e25}">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16.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ROM, flash, firmware; the von Neumann architecture; the cache; secondary memory. USE NOW: the complete program,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~/arc12/code/l16.S; tools/tests/cartridges/run.py builds it, runs it on PRG32-QT with scripted input and checks the pixels of the frame.
For the lecturer: Get the code once: git clone https://github.com/riscv-prg32/computer-architecture-with-prg32 ~/arc12. The program of this lecture is ~/arc12/code/l16.S;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The title resides in the .rodata section, which is part of the cartridge file; the file is stored in flash memory and therefore survives. The best score is a variable in the .data section, which is copied into RAM when the cartridge starts; it lives in SRAM and is lost. After a power cycle the title is still present and the score has returned to 0. To retain a score permanently it would have to be written to a non-volatile memory, and the lecture surveys the memories that exist. The lesson concerns more than the score: every section of a program has a physical location, and that location determines its lifetime.
UNDERSTAND NOW: ROM, flash, firmware.
For the lecturer: Written for this lecture. On PRG32 persistent scores are handled by the Cartridge Store service; the point here is where each section of a program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code/l16.S,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Compute the average rotational latency of a disk at 7,200 revolutions per minute, which is the time of half a revolution. Compute the average access time of a cache with a 95% hit rate, as a weighted mean of the hit and miss times. State where five objects reside on the kit: the boot code, the firmware, a cartridge, a variable and a register. Find the specifications of the storage of one's own laptop or phone. And measure on PRG32 two loops over a large array, one sequential and one strided: is there a difference, and why might there be none on this particular chip, which has no data cache in front of its SRAM?
For the lecturer: 60 / 7200 = 8.33 ms per revolution. Exercise 3: ROM, flash, flash (or RAM once loaded), SRAM, a flip-flop register in the processor. Exercise 5: the SRAM of the ESP32-C6 has no cache in front of it, so the access pattern matters little; on a laptop the difference is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16: Permanent memory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16</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Permanent Memory: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16-Computer_Architecture-Permanent_Memory.pptx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platformer.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listing of Lecture 16: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code/l16.S, 82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Switch the kit off and on again</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.section .rodata            </a:t>
            </a:r>
            <a:pPr indent="0" marL="0">
              <a:buNone/>
            </a:pPr>
            <a:r>
              <a:rPr lang="en-US" sz="1350" dirty="0">
                <a:solidFill>
                  <a:srgbClr val="8FB3A0"/>
                </a:solidFill>
                <a:latin typeface="Courier New" pitchFamily="34" charset="0"/>
                <a:ea typeface="Courier New" pitchFamily="34" charset="-122"/>
                <a:cs typeface="Courier New" pitchFamily="34" charset="-120"/>
              </a:rPr>
              <a:t># part of the cartridge file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title: .asciz "HIGH SCORE"  </a:t>
            </a:r>
            <a:pPr indent="0" marL="0">
              <a:buNone/>
            </a:pPr>
            <a:r>
              <a:rPr lang="en-US" sz="1350" dirty="0">
                <a:solidFill>
                  <a:srgbClr val="8FB3A0"/>
                </a:solidFill>
                <a:latin typeface="Courier New" pitchFamily="34" charset="0"/>
                <a:ea typeface="Courier New" pitchFamily="34" charset="-122"/>
                <a:cs typeface="Courier New" pitchFamily="34" charset="-120"/>
              </a:rPr>
              <a:t># stored in flash: it survives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.data              </a:t>
            </a:r>
            <a:pPr indent="0" marL="0">
              <a:buNone/>
            </a:pPr>
            <a:r>
              <a:rPr lang="en-US" sz="1350" dirty="0">
                <a:solidFill>
                  <a:srgbClr val="8FB3A0"/>
                </a:solidFill>
                <a:latin typeface="Courier New" pitchFamily="34" charset="0"/>
                <a:ea typeface="Courier New" pitchFamily="34" charset="-122"/>
                <a:cs typeface="Courier New" pitchFamily="34" charset="-120"/>
              </a:rPr>
              <a:t># copied into RAM at start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best:  .word 0              </a:t>
            </a:r>
            <a:pPr indent="0" marL="0">
              <a:buNone/>
            </a:pPr>
            <a:r>
              <a:rPr lang="en-US" sz="1350" dirty="0">
                <a:solidFill>
                  <a:srgbClr val="8FB3A0"/>
                </a:solidFill>
                <a:latin typeface="Courier New" pitchFamily="34" charset="0"/>
                <a:ea typeface="Courier New" pitchFamily="34" charset="-122"/>
                <a:cs typeface="Courier New" pitchFamily="34" charset="-120"/>
              </a:rPr>
              <a:t># lives in RAM: it is lost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game_update: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best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ble  a0, t1, 1f         </a:t>
            </a:r>
            <a:pPr indent="0" marL="0">
              <a:buNone/>
            </a:pPr>
            <a:r>
              <a:rPr lang="en-US" sz="1350" dirty="0">
                <a:solidFill>
                  <a:srgbClr val="8FB3A0"/>
                </a:solidFill>
                <a:latin typeface="Courier New" pitchFamily="34" charset="0"/>
                <a:ea typeface="Courier New" pitchFamily="34" charset="-122"/>
                <a:cs typeface="Courier New" pitchFamily="34" charset="-120"/>
              </a:rPr>
              <a:t># new score not better: skip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a0, 0(t0)          </a:t>
            </a:r>
            <a:pPr indent="0" marL="0">
              <a:buNone/>
            </a:pPr>
            <a:r>
              <a:rPr lang="en-US" sz="1350" dirty="0">
                <a:solidFill>
                  <a:srgbClr val="8FB3A0"/>
                </a:solidFill>
                <a:latin typeface="Courier New" pitchFamily="34" charset="0"/>
                <a:ea typeface="Courier New" pitchFamily="34" charset="-122"/>
                <a:cs typeface="Courier New" pitchFamily="34" charset="-120"/>
              </a:rPr>
              <a:t># remember the best score ... in RAM</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After a power cycle the title is still there, but the best score is 0 again</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cartridge is a file in flash memory: non-volatile</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variable lives in SRAM: volatile</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To keep a score for ever it must be written to a permanent memory: which ones exist?</a:t>
            </a:r>
            <a:endParaRPr lang="en-US" sz="1300" dirty="0"/>
          </a:p>
        </p:txBody>
      </p:sp>
      <p:sp>
        <p:nvSpPr>
          <p:cNvPr id="17" name="Shape 15"/>
          <p:cNvSpPr/>
          <p:nvPr/>
        </p:nvSpPr>
        <p:spPr>
          <a:xfrm>
            <a:off x="8353374" y="91440"/>
            <a:ext cx="3289681" cy="274320"/>
          </a:xfrm>
          <a:prstGeom prst="rect">
            <a:avLst/>
          </a:prstGeom>
          <a:solidFill>
            <a:srgbClr val="E0F2FE"/>
          </a:solidFill>
          <a:ln w="12700">
            <a:solidFill>
              <a:srgbClr val="0369A1"/>
            </a:solidFill>
            <a:prstDash val="solid"/>
          </a:ln>
        </p:spPr>
      </p:sp>
      <p:sp>
        <p:nvSpPr>
          <p:cNvPr id="18" name="Shape 16"/>
          <p:cNvSpPr/>
          <p:nvPr/>
        </p:nvSpPr>
        <p:spPr>
          <a:xfrm>
            <a:off x="8353374"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20" name="Text 17"/>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ROM, flash, firmware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l16.S (1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ARC12 Computer Architecture - Lecture 16: Permanent Memory</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l16.S: what stays in the file and what lives in RAM</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screen: the title HIGH SCORE and two bars: the score of this run, which grows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while A is held and falls back to zero when A is released, and the best score, which</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never goes down. Restart the cartridge: the title is still there, the best score is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zero again.</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Build: python3 -m prg32 cartridge build l16.S --portable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--entry-prefix l16 --name l16 --out l16.prg32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WHITE,  0xffff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GREEN,  0x07e0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YELLOW, 0xffe0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.section .text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l16_init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l16_update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l16_draw</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l16_init: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l16.S (2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l16_update: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game_update: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prg32_input_read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andi t2, a0, 0x10        </a:t>
            </a:r>
            <a:pPr indent="0" marL="0">
              <a:buNone/>
            </a:pPr>
            <a:r>
              <a:rPr lang="en-US" sz="1400" dirty="0">
                <a:solidFill>
                  <a:srgbClr val="8FB3A0"/>
                </a:solidFill>
                <a:latin typeface="Courier New" pitchFamily="34" charset="0"/>
                <a:ea typeface="Courier New" pitchFamily="34" charset="-122"/>
                <a:cs typeface="Courier New" pitchFamily="34" charset="-120"/>
              </a:rPr>
              <a:t># button A</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score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a0,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a0, a0, 1           </a:t>
            </a:r>
            <a:pPr indent="0" marL="0">
              <a:buNone/>
            </a:pPr>
            <a:r>
              <a:rPr lang="en-US" sz="1400" dirty="0">
                <a:solidFill>
                  <a:srgbClr val="8FB3A0"/>
                </a:solidFill>
                <a:latin typeface="Courier New" pitchFamily="34" charset="0"/>
                <a:ea typeface="Courier New" pitchFamily="34" charset="-122"/>
                <a:cs typeface="Courier New" pitchFamily="34" charset="-120"/>
              </a:rPr>
              <a:t># A held: one more point per frame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bnez t2, 2f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a0, 0               </a:t>
            </a:r>
            <a:pPr indent="0" marL="0">
              <a:buNone/>
            </a:pPr>
            <a:r>
              <a:rPr lang="en-US" sz="1400" dirty="0">
                <a:solidFill>
                  <a:srgbClr val="8FB3A0"/>
                </a:solidFill>
                <a:latin typeface="Courier New" pitchFamily="34" charset="0"/>
                <a:ea typeface="Courier New" pitchFamily="34" charset="-122"/>
                <a:cs typeface="Courier New" pitchFamily="34" charset="-120"/>
              </a:rPr>
              <a:t># A released: the run is over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2:  sw   a0,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best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ble  a0, t1, 1f         </a:t>
            </a:r>
            <a:pPr indent="0" marL="0">
              <a:buNone/>
            </a:pPr>
            <a:r>
              <a:rPr lang="en-US" sz="1400" dirty="0">
                <a:solidFill>
                  <a:srgbClr val="8FB3A0"/>
                </a:solidFill>
                <a:latin typeface="Courier New" pitchFamily="34" charset="0"/>
                <a:ea typeface="Courier New" pitchFamily="34" charset="-122"/>
                <a:cs typeface="Courier New" pitchFamily="34" charset="-120"/>
              </a:rPr>
              <a:t># new score not better: skip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a0, 0(t0)          </a:t>
            </a:r>
            <a:pPr indent="0" marL="0">
              <a:buNone/>
            </a:pPr>
            <a:r>
              <a:rPr lang="en-US" sz="1400" dirty="0">
                <a:solidFill>
                  <a:srgbClr val="8FB3A0"/>
                </a:solidFill>
                <a:latin typeface="Courier New" pitchFamily="34" charset="0"/>
                <a:ea typeface="Courier New" pitchFamily="34" charset="-122"/>
                <a:cs typeface="Courier New" pitchFamily="34" charset="-120"/>
              </a:rPr>
              <a:t># remember the best score ... in RAM</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1:  lw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l16.S (3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l16_draw: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20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20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a2, title           </a:t>
            </a:r>
            <a:pPr indent="0" marL="0">
              <a:buNone/>
            </a:pPr>
            <a:r>
              <a:rPr lang="en-US" sz="1200" dirty="0">
                <a:solidFill>
                  <a:srgbClr val="8FB3A0"/>
                </a:solidFill>
                <a:latin typeface="Courier New" pitchFamily="34" charset="0"/>
                <a:ea typeface="Courier New" pitchFamily="34" charset="-122"/>
                <a:cs typeface="Courier New" pitchFamily="34" charset="-120"/>
              </a:rPr>
              <a:t># read from .rodata: it is always there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WHITE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prg32_gfx_text8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score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a2, a2, 255         </a:t>
            </a:r>
            <a:pPr indent="0" marL="0">
              <a:buNone/>
            </a:pPr>
            <a:r>
              <a:rPr lang="en-US" sz="1200" dirty="0">
                <a:solidFill>
                  <a:srgbClr val="8FB3A0"/>
                </a:solidFill>
                <a:latin typeface="Courier New" pitchFamily="34" charset="0"/>
                <a:ea typeface="Courier New" pitchFamily="34" charset="-122"/>
                <a:cs typeface="Courier New" pitchFamily="34" charset="-120"/>
              </a:rPr>
              <a:t># width = score, at most 255 pixels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20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60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12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GREEN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prg32_gfx_rect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best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a2,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a2, a2, 255</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20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100</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l16.S (4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li   a3, 12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YELLOW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.rodata            </a:t>
            </a:r>
            <a:pPr indent="0" marL="0">
              <a:buNone/>
            </a:pPr>
            <a:r>
              <a:rPr lang="en-US" sz="1800" dirty="0">
                <a:solidFill>
                  <a:srgbClr val="8FB3A0"/>
                </a:solidFill>
                <a:latin typeface="Courier New" pitchFamily="34" charset="0"/>
                <a:ea typeface="Courier New" pitchFamily="34" charset="-122"/>
                <a:cs typeface="Courier New" pitchFamily="34" charset="-120"/>
              </a:rPr>
              <a:t># part of the cartridge file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title: .asciz "HIGH SCORE"  </a:t>
            </a:r>
            <a:pPr indent="0" marL="0">
              <a:buNone/>
            </a:pPr>
            <a:r>
              <a:rPr lang="en-US" sz="1800" dirty="0">
                <a:solidFill>
                  <a:srgbClr val="8FB3A0"/>
                </a:solidFill>
                <a:latin typeface="Courier New" pitchFamily="34" charset="0"/>
                <a:ea typeface="Courier New" pitchFamily="34" charset="-122"/>
                <a:cs typeface="Courier New" pitchFamily="34" charset="-120"/>
              </a:rPr>
              <a:t># stored in flash: it survives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.data              </a:t>
            </a:r>
            <a:pPr indent="0" marL="0">
              <a:buNone/>
            </a:pPr>
            <a:r>
              <a:rPr lang="en-US" sz="1800" dirty="0">
                <a:solidFill>
                  <a:srgbClr val="8FB3A0"/>
                </a:solidFill>
                <a:latin typeface="Courier New" pitchFamily="34" charset="0"/>
                <a:ea typeface="Courier New" pitchFamily="34" charset="-122"/>
                <a:cs typeface="Courier New" pitchFamily="34" charset="-120"/>
              </a:rPr>
              <a:t># copied into RAM at start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best:  .word 0              </a:t>
            </a:r>
            <a:pPr indent="0" marL="0">
              <a:buNone/>
            </a:pPr>
            <a:r>
              <a:rPr lang="en-US" sz="1800" dirty="0">
                <a:solidFill>
                  <a:srgbClr val="8FB3A0"/>
                </a:solidFill>
                <a:latin typeface="Courier New" pitchFamily="34" charset="0"/>
                <a:ea typeface="Courier New" pitchFamily="34" charset="-122"/>
                <a:cs typeface="Courier New" pitchFamily="34" charset="-120"/>
              </a:rPr>
              <a:t># lives in RAM: it is lost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score: .word 0</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68605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 title HIGH SCORE and two bars: the score of this run, which grows while A is held and falls back to zero when A is released, and the best score, which never goes down. Restart the cartridge: the title is still there, the best score is zero again.</a:t>
            </a:r>
            <a:endParaRPr lang="en-US" sz="2400" dirty="0"/>
          </a:p>
        </p:txBody>
      </p:sp>
      <p:sp>
        <p:nvSpPr>
          <p:cNvPr id="5" name="Shape 3"/>
          <p:cNvSpPr/>
          <p:nvPr/>
        </p:nvSpPr>
        <p:spPr>
          <a:xfrm>
            <a:off x="548640" y="486537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743450"/>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hold A, release it, then restart the cartridge</a:t>
            </a:r>
            <a:endParaRPr lang="en-US" sz="2400" dirty="0"/>
          </a:p>
        </p:txBody>
      </p:sp>
      <p:pic>
        <p:nvPicPr>
          <p:cNvPr id="7" name="Image 0" descr="/Users/raffaelemontella/devel/riscv-prg32/computer-architecture-with-prg32/tools/assets/lab_l16.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l16 --name l16 --out l16.prg32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l16 --name l16 --architecture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l16-qemu.prg32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l16-qemu.prg32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~/arc12/code/l16.S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l16 --name l16 --architecture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l16-esp32c6.prg32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l16-esp32c6.prg32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l16;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disk turns at 7,200 revolutions per minute: what is its average latency?</a:t>
            </a:r>
            <a:endParaRPr lang="en-US" sz="2000" dirty="0"/>
          </a:p>
        </p:txBody>
      </p:sp>
      <p:sp>
        <p:nvSpPr>
          <p:cNvPr id="6" name="Text 4"/>
          <p:cNvSpPr txBox="1"/>
          <p:nvPr/>
        </p:nvSpPr>
        <p:spPr>
          <a:xfrm>
            <a:off x="548640" y="2013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54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cache answers in 1 ns and the memory in 50 ns: what is the average access time with 95% of hits?</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List where each of these lives on the PRG32 kit: the boot code, the firmware, a cartridge, the variable counter, the register t0</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Find the specifications of the storage of your laptop or phone: technology, capacity, interface</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On PRG32, time two loops that sum a large array: one in order, one jumping by a large step. Is there a difference, and why might there not be on this chip?</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Latency: half a revolution, about 4.2 ms. Average access time: 0.95 x 1 + 0.05 x 51 = 3.5 ns.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Permanent Memory: the code</dc:title>
  <dc:subject>Lecture 16</dc:subject>
  <dc:creator>Raffaele Montella</dc:creator>
  <cp:lastModifiedBy>Raffaele Montella</cp:lastModifiedBy>
  <cp:revision>1</cp:revision>
  <dcterms:created xsi:type="dcterms:W3CDTF">2026-10-16T20:22:24Z</dcterms:created>
  <dcterms:modified xsi:type="dcterms:W3CDTF">2026-10-16T20:22:24Z</dcterms:modified>
</cp:coreProperties>
</file>