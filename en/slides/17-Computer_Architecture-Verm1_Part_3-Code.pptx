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1003d5-5506-68f0-2e84-88022165e8ea}">
          <p14:sldIdLst>
            <p14:sldId id="256"/>
            <p14:sldId id="257"/>
          </p14:sldIdLst>
        </p14:section>
        <p14:section name="The listings" id="{87fa948b-44ee-37fa-1bae-d97b9a51026d}">
          <p14:sldIdLst>
            <p14:sldId id="258"/>
          </p14:sldIdLst>
        </p14:section>
        <p14:section name="Step 1: the memory of the game" id="{49d324b8-47b9-d911-eeda-ca4e9e960a7c}">
          <p14:sldIdLst>
            <p14:sldId id="259"/>
            <p14:sldId id="260"/>
            <p14:sldId id="261"/>
          </p14:sldIdLst>
        </p14:section>
        <p14:section name="Step 2: three states" id="{4207c2f2-c896-bed7-7ed1-0dc77d3c3748}">
          <p14:sldIdLst>
            <p14:sldId id="262"/>
            <p14:sldId id="263"/>
            <p14:sldId id="264"/>
            <p14:sldId id="265"/>
            <p14:sldId id="266"/>
            <p14:sldId id="267"/>
            <p14:sldId id="268"/>
          </p14:sldIdLst>
        </p14:section>
        <p14:section name="Step 3: a worm in memory" id="{40662b43-e96e-c345-f88f-63dfdd79385b}">
          <p14:sldIdLst>
            <p14:sldId id="269"/>
            <p14:sldId id="270"/>
            <p14:sldId id="271"/>
            <p14:sldId id="272"/>
            <p14:sldId id="273"/>
            <p14:sldId id="274"/>
          </p14:sldIdLst>
        </p14:section>
        <p14:section name="Step 4: rules" id="{dc90dc86-0569-622d-d7c9-67860faaeb88}">
          <p14:sldIdLst>
            <p14:sldId id="275"/>
            <p14:sldId id="276"/>
            <p14:sldId id="277"/>
            <p14:sldId id="278"/>
            <p14:sldId id="279"/>
            <p14:sldId id="280"/>
            <p14:sldId id="281"/>
            <p14:sldId id="282"/>
            <p14:sldId id="283"/>
          </p14:sldIdLst>
        </p14:section>
        <p14:section name="Step 5: look at memory move" id="{5a41be1d-e848-2b2d-622d-c037f999397b}">
          <p14:sldIdLst>
            <p14:sldId id="284"/>
            <p14:sldId id="285"/>
            <p14:sldId id="286"/>
          </p14:sldIdLst>
        </p14:section>
        <p14:section name="Run it and test it" id="{79ecc2f9-d7fa-0b36-73a9-b4b8a036de10}">
          <p14:sldIdLst>
            <p14:sldId id="287"/>
            <p14:sldId id="288"/>
            <p14:sldId id="289"/>
            <p14:sldId id="290"/>
            <p14:sldId id="291"/>
          </p14:sldIdLst>
        </p14:section>
        <p14:section name="Exercises" id="{0bb61495-262e-e1c7-01da-57e44e75913c}">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17.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arrays in memory; finite-state machines; .text, .rodata, .data; latches and flip-flops; fixed point. USE NOW: the calling convention (Lecture 18) and, used without being studied in this course, the PRG32 tools, the PRG32-QT debugger.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reference program is ~/arc12/verm1/verm1_part3.S; tools/tests/verm1_check.py builds it and plays it with a scripted player, and verm1_steps.py runs the intermediate checkpoints.
For the lecturer: Get the code once: git clone https://github.com/riscv-prg32/computer-architecture-with-prg32 ~/arc12. The reference program is ~/arc12/verm1/verm1_part3.S;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two commands. Today the file changes a great deal, so do not wait until the end to build: build and run after every slide entitled "Run it". If something breaks, the mistake is in the lines added since the last run.
USE NOW: the PRG32 tools (used, not studied, in this course).
For the lecturer: The same two commands. Today the file changes a lot: build after every slide that says Run it, not only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constants replace those of Part 2. BODY is a darker green for the segments behind the head. BTN_A is the mask of button A, bit 4 of the word of buttons. The three states are simply the numbers 0, 1 and 2, with names. The lines .section and .global, which used to close this block, move to the next slide.
UNDERSTAND NOW: finite-state machines.
For the lecturer: Replace the constants of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read-only section: three strings, for the title, the invitation and the game over, and the two tables dx and dy of Part 2. The program never writes here. On the board this section could remain in flash; it is the part of the cartridge that would survive a power-off.
UNDERSTAND NOW: .text, .rodata, .data.
For the lecturer: Replace the .rodata of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of variables. head_x and head_y have disappeared: the head now lives in the ring. The directive .space reserves a number of bytes without naming each one: 256 for body_x, 256 for body_y, 960 for the map. best holds the best score: it survives from one game to the next, but not a power-off, because it lives in RAM. A portable cartridge has no permanent memory of its own: an honest limit.
UNDERSTAND NOW: .text, .rodata, .data.
For the lecturer: Replace the .data of Part 2. Everything here is lost when the cartridge is unloaded: Lecture 16. A best score that survives needs permanent memory, which a portable cartridge does not have: an honest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now does one thing only: it chooses the first state, TITLE. Preparing the game is the job of a new function, new_game, called when the player presses A. Delete from your file the old verm1_update, step and verm1_draw: the next slides replace them. Keep place_food, eat_sound and draw_cell.
UNDERSTAND NOW: finite-state machines.
For the lecturer: Replace verm1_init. Delete from your file verm1_update, step and verm1_draw of Part 2: the next slides replace them. Keep place_food, eat_sound and draw_cell.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the new verm1_update reads the buttons and computes their edges. s0 holds the buttons of this frame; prev_btn, in memory, holds those of the previous frame. The expression "now AND NOT before" gives a 1 only in the positions where a press has just begun, and the result goes into s1. Then prev_btn is updated. It is the edge detector of Lecture 13: a register that delays by one clock, and an AND gate with one input inverted.
UNDERSTAND NOW: latches and flip-flops. USE NOW: the calling convention (studied in Lecture 18).
For the lecturer: The edge detector of Lecture 13: a flip-flop and an AND gate with one inverted input. Here the flip-flop is a word of memory and the clock is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the transition table, line by line. The state is read first, and it decides who looks at the inputs. In TITLE a new press of A calls new_game. In OVER a new press of A stores TITLE. In PLAY the buttons that are held, the levels and not the edges, are passed to play_update, because steering must work while a button is kept down. The labels have names here, u_play, u_start, u_done, because numbers would be hard to follow.
UNDERSTAND NOW: finite-state machines.
For the lecturer: This is the rest of verm1_update: the transition table, line by line. OVER to TITLE only stores the new state; TITLE to PLAY calls new_game, which stores PLAY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shows a different picture in each state. The title line is always drawn. In TITLE only the invitation PRESS A appears, centred: 132 is the x that centres seven characters of 8 pixels. In PLAY and OVER the function draws the score, the worm and the food. Note that draw changes nothing: its output depends only on the state and on the memory, as in a Moore machine.
UNDERSTAND NOW: finite-state machines.
For the lecturer: Replace verm1_draw. The output depends only on the state and on the memory: draw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verm1_draw: in the state OVER two words are written over the scene. A small helper, draw_text, fills in the two colour arguments, white on black, and passes the first three through, so that each call to draw text needs two lines less. Small helpers like this make a program shorter and easier to change.
UNDERSTAND NOW: finite-state machines.
For the lecturer: The end of verm1_draw, and a small helper that removes two lines from every text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stubs: functions that exist only by name and return at once, except new_game, which just stores PLAY. Thanks to them the program builds and the machine can be tried before its parts are written. It is the method of the first lecture: start with returns that do nothing, then add one thing at a time.
For the lecturer: Start with returns that do nothing, then add one thing at a time: the method of the first lecture. This intermediate program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You see the title line and PRESS A. Press A: the invitation disappears and a red cell appears in the top-left corner, because the variables of the food are still zero. Nothing moves and the game cannot end: PLAY has no rules yet. In the debugger, find the variable state and watch it go from 0 to 1 when you press A: the machine works, and it is empty.
For the lecturer: The food is at (0, 0) because food_x and food_y start at zero and the stub of new_game does not call place_food.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the real new_game. A loop sets the 960 bytes of the map to zero, one sb at a time. Then the worm is laid down: three segments in columns 3, 4 and 5 of row 12. Each segment is written twice: its column and row in the ring, and a 1 in the map. The expression grid+12*COLS is computed by the assembler. Since each entry is one byte, the index is added to the base address without any shift.
UNDERSTAND NOW: arrays in memory.
For the lecturer: grid+12*COLS is computed by the assembler: the address of the first byte of row 12. sb stores one byte; the index is added to the base address, with no shift because each entry is one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sets the variables: head_i is 2 and length is 3, which together describe the worm just laid; direction, timer and score start from zero; the first food is placed. The last instruction stores PLAY in the state. The order is deliberate: the transition is complete only when everything is ready.
UNDERSTAND NOW: arrays in memory.
For the lecturer: The second half of new_game. The transition TITLE to PLAY is complete only when everything is ready: the state is stored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draw_worm walks the ring backwards from the head: segment number i is entry head_i - i, masked with 255. Column and row are loaded with lbu, which reads one byte as an unsigned number, and passed to draw_cell. Segment 0, the head, is drawn in a brighter green than the others. The loop ends when i reaches the length.
UNDERSTAND NOW: arrays in memory.
For the lecturer: lbu and not lb: a column is a number from 0 to 39, never negative. With lb a byte of 200 or more would become negative: Lecture 05. Here both would work; lbu says what we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draw_score is the loop that in Part 2 was inside verm1_draw, now a function of its own: one small mark for each point. It uses s0 as its counter, so it saves it at the beginning and restores it at the end.
USE NOW: the calling convention (studied in Lecture 18).
For the lecturer: The same loop that was inside verm1_draw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four stubs only one is left: play_update, which still does nothing. The worm exists in memory and on the screen, and stands still.
For the lecturer: Only this stub remains from the previous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and press A: a worm of three cells in row 12, with the brighter head on the right, and the food in a random cell. Now look at memory with the debugger. At the address of body_x the first bytes are 03 04 05. In the map, at row 12 times 40 plus 3, there are three bytes at 01 in a sea of zeros. You are looking at the two structures of the lecture deck, the ring and the map, filled.
For the lecturer: To find the address of body_x: break at the start of draw_worm and step until la t0, body_x has run; t0 holds it. grid is 512 bytes after body_x; row 12 starts 480 bytes after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play_update is your verm1_update of Part 2 under a new name: the four button tests and the U-turn rule. One difference: the buttons arrive as an argument in a0, so there is no call to read them.
UNDERSTAND NOW: fixed point.
For the lecturer: Take the body of the old verm1_update: remove the call to prg32_input_read and rename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play_update is exactly the timer of Part 2: add the speed, and when a whole cell has accumulated call step.
UNDERSTAND NOW: fixed point.
For the lecturer: The end of play_update.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Three registers must keep their values across the calls that follow: s0 and s1 for the cell of the new head, s2 for the result of the food test. So the frame saves ra and three s registers. The lookup of dx and dy is that of Part 2.
USE NOW: the calling convention (studied in Lecture 18).
For the lecturer: The frame has room for four words: ra and three saved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will the head be? The present head is entry head_i of the ring: its column and row are loaded with lbu, dx and dy are added, and the result wraps at the edges as in Part 2. The new cell is now in s0 and s1. Nothing has been written: first the program must look.
UNDERSTAND NOW: arrays in memory.
For the lecturer: The new cell is only computed, in s0 and s1. Writing it comes after the collision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 or move the tail. The comparator of Part 2 leaves its result in s2: zero if the new head is on the food. If the worm eats, the length grows by one and the tail stays where it is. If not, the tail must leave: its entry is head_i - length + 1, and its column and row are loaded. Growing and not moving the tail are the same thing: that is the whole trick of Snake.
UNDERSTAND NOW: arrays in memory.
For the lecturer: Growing and not moving the tail are the same thing: this is the whole trick of Snake. t3 and t4 receive the column and row of the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map. The number of a byte is row times 40 plus column, computed with mul and add. First the byte of the tail is cleared; then the byte of the new head is tested. The order matters: in the same step the tail moves away, so the head may enter the cell that the tail has just left. If the byte is 1 the worm has bitten itself: the state becomes OVER and the best score is updated.
UNDERSTAND NOW: arrays in memory.
For the lecturer: The order matters: freeing the tail before the test allows the worm to chase its own tail, as in the original game. mul needs the M extension of RISC-V, which the ESP32-C6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cell is free, the new head is written: a 1 in the map, head_i plus 1 masked with 255, and column and row in the new entry of the ring. Then, if s2 is zero, the reward: a point, new food, a sound. After a collision the function skips all of this, so the screen shows the worm as it was before the fatal step.
UNDERSTAND NOW: arrays in memory.
For the lecturer: The end of step. After a collision the function jumps straight to label 9: nothing is written, and the screen shows the worm as it was before the fatal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is corrected: it draws a random cell, looks at its byte in the map, and if the cell is occupied draws again, until a free one comes out. The column waits in s0 while the second random number is requested. The loop is short: even with the longest worm fewer than two attempts are needed on average.
USE NOW: the calling convention (studied in Lecture 18).
For the lecturer: Replace place_food of Part 2. The loop ends quickly as long as the worm is short: with 255 cells out of 960 the average is fewer than two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this is Verm1, Part 3. The worm follows the head and grows at every meal; turning into the body ends the game; A returns to the title, and A again starts a new game. The two screenshots come from the automatic test: seven cells and four marks after four meals, and the game-over screen.
For the lecturer: Screenshots produced by tools/tests/verm1_check.py.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functions did not change with respect to Part 2: eat_sound and draw_cell. They are reprinted on the next two slides, marked UNCHANGED, so that this deck contains the whole program. The complete file is the sum of the slides marked NEW and CHANGED, plus these two.
For the lecturer: Reference file for this part: verm1/verm1_part3.S (435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eat_sound, as in Part 2: five arguments and a call to prg32_audio_note, for one note of 60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as in Part 2: column, row and colour come in, the cell coordinates are converted to pixels, and one rectangle is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changes of your own. Walls: the worm dies at the edge instead of wrapping. A longer worm at the start, perhaps depending on the best score. Poison: a second, blue cell that makes the worm one cell shorter. And the best score shown as marks on the game-over screen. Each touches one or two functions. Keep a copy of the working Part 3 first.
For the lecturer: Walls: in step-head, replace each wrap with a jump to the code that stores OVER. Poison: move the tail twice in one step, clearing both bytes of the map, and never go below length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17: Verm1, part 3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3: A Body, Rules and States: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17-Computer_Architecture-Verm1_Part_3.pptx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3_play.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25 listings of Lecture 17,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verm1/verm1_part3.S, 435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a button, a colour, three states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50" dirty="0">
                <a:solidFill>
                  <a:srgbClr val="8FB3A0"/>
                </a:solidFill>
                <a:latin typeface="Courier New" pitchFamily="34" charset="0"/>
                <a:ea typeface="Courier New" pitchFamily="34" charset="-122"/>
                <a:cs typeface="Courier New" pitchFamily="34" charset="-120"/>
              </a:rPr>
              <a:t># RGB565 colours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          </a:t>
            </a:r>
            <a:pPr indent="0" marL="0">
              <a:buNone/>
            </a:pPr>
            <a:r>
              <a:rPr lang="en-US" sz="1250" dirty="0">
                <a:solidFill>
                  <a:srgbClr val="8FB3A0"/>
                </a:solidFill>
                <a:latin typeface="Courier New" pitchFamily="34" charset="0"/>
                <a:ea typeface="Courier New" pitchFamily="34" charset="-122"/>
                <a:cs typeface="Courier New" pitchFamily="34" charset="-120"/>
              </a:rPr>
              <a:t># the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BODY,  0x03e0          </a:t>
            </a:r>
            <a:pPr indent="0" marL="0">
              <a:buNone/>
            </a:pPr>
            <a:r>
              <a:rPr lang="en-US" sz="1250" dirty="0">
                <a:solidFill>
                  <a:srgbClr val="8FB3A0"/>
                </a:solidFill>
                <a:latin typeface="Courier New" pitchFamily="34" charset="0"/>
                <a:ea typeface="Courier New" pitchFamily="34" charset="-122"/>
                <a:cs typeface="Courier New" pitchFamily="34" charset="-120"/>
              </a:rPr>
              <a:t># the body: a darker green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          </a:t>
            </a:r>
            <a:pPr indent="0" marL="0">
              <a:buNone/>
            </a:pPr>
            <a:r>
              <a:rPr lang="en-US" sz="1250" dirty="0">
                <a:solidFill>
                  <a:srgbClr val="8FB3A0"/>
                </a:solidFill>
                <a:latin typeface="Courier New" pitchFamily="34" charset="0"/>
                <a:ea typeface="Courier New" pitchFamily="34" charset="-122"/>
                <a:cs typeface="Courier New" pitchFamily="34" charset="-120"/>
              </a:rPr>
              <a:t># the food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CELL,  8               </a:t>
            </a:r>
            <a:pPr indent="0" marL="0">
              <a:buNone/>
            </a:pPr>
            <a:r>
              <a:rPr lang="en-US" sz="1250" dirty="0">
                <a:solidFill>
                  <a:srgbClr val="8FB3A0"/>
                </a:solidFill>
                <a:latin typeface="Courier New" pitchFamily="34" charset="0"/>
                <a:ea typeface="Courier New" pitchFamily="34" charset="-122"/>
                <a:cs typeface="Courier New" pitchFamily="34" charset="-120"/>
              </a:rPr>
              <a:t># a cell is 8 x 8 pixels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COLS,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ROWS,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TOP,   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SPEED_Q8, 40           </a:t>
            </a:r>
            <a:pPr indent="0" marL="0">
              <a:buNone/>
            </a:pPr>
            <a:r>
              <a:rPr lang="en-US" sz="1250" dirty="0">
                <a:solidFill>
                  <a:srgbClr val="8FB3A0"/>
                </a:solidFill>
                <a:latin typeface="Courier New" pitchFamily="34" charset="0"/>
                <a:ea typeface="Courier New" pitchFamily="34" charset="-122"/>
                <a:cs typeface="Courier New" pitchFamily="34" charset="-120"/>
              </a:rPr>
              <a:t># 40/256 of a cell per frame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BTN_LEFT,  0x01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BTN_RIGHT, 0x02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BTN_UP,    0x04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BTN_DOWN,  0x08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BTN_A,     0x10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50" dirty="0">
                <a:solidFill>
                  <a:srgbClr val="8FB3A0"/>
                </a:solidFill>
                <a:latin typeface="Courier New" pitchFamily="34" charset="0"/>
                <a:ea typeface="Courier New" pitchFamily="34" charset="-122"/>
                <a:cs typeface="Courier New" pitchFamily="34" charset="-120"/>
              </a:rPr>
              <a:t># bit 0 = vertical, bit 1 = backwards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DIR_DOWN,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DIR_LEFT,  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DIR_UP,    3</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TITLE, 0               </a:t>
            </a:r>
            <a:pPr indent="0" marL="0">
              <a:buNone/>
            </a:pPr>
            <a:r>
              <a:rPr lang="en-US" sz="1250" dirty="0">
                <a:solidFill>
                  <a:srgbClr val="8FB3A0"/>
                </a:solidFill>
                <a:latin typeface="Courier New" pitchFamily="34" charset="0"/>
                <a:ea typeface="Courier New" pitchFamily="34" charset="-122"/>
                <a:cs typeface="Courier New" pitchFamily="34" charset="-120"/>
              </a:rPr>
              <a:t># the three states of the game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PLAY,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OVER,  2</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BODY: a darker green, 0x03e0</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BTN_A is bit 4 of the word of buttons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states are numbers: 0, 1, 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.section and .global lines move to the next slide</a:t>
            </a:r>
            <a:endParaRPr lang="en-US" sz="15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.rodata: what stays in the file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.section .rodata                </a:t>
            </a:r>
            <a:pPr indent="0" marL="0">
              <a:buNone/>
            </a:pPr>
            <a:r>
              <a:rPr lang="en-US" sz="1300" dirty="0">
                <a:solidFill>
                  <a:srgbClr val="8FB3A0"/>
                </a:solidFill>
                <a:latin typeface="Courier New" pitchFamily="34" charset="0"/>
                <a:ea typeface="Courier New" pitchFamily="34" charset="-122"/>
                <a:cs typeface="Courier New" pitchFamily="34" charset="-120"/>
              </a:rPr>
              <a:t># constants: they stay in the cartridge file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title:     .asciz "VERM1"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press_a:   .asciz "PRESS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game_over: .asciz "GAME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dx:        .word  1, 0, -1,  0  </a:t>
            </a:r>
            <a:pPr indent="0" marL="0">
              <a:buNone/>
            </a:pPr>
            <a:r>
              <a:rPr lang="en-US" sz="1300" dirty="0">
                <a:solidFill>
                  <a:srgbClr val="8FB3A0"/>
                </a:solidFill>
                <a:latin typeface="Courier New" pitchFamily="34" charset="0"/>
                <a:ea typeface="Courier New" pitchFamily="34" charset="-122"/>
                <a:cs typeface="Courier New" pitchFamily="34" charset="-120"/>
              </a:rPr>
              <a:t># right, down, left, up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dy:        .word  0, 1,  0, -1</a:t>
            </a:r>
            <a:endParaRPr lang="en-US" sz="13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strings and the two tables of Part 2</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Read-only: the program never writes here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 the board this could stay in flash</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what lives in RAM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.data                  </a:t>
            </a:r>
            <a:pPr indent="0" marL="0">
              <a:buNone/>
            </a:pPr>
            <a:r>
              <a:rPr lang="en-US" sz="1500" dirty="0">
                <a:solidFill>
                  <a:srgbClr val="8FB3A0"/>
                </a:solidFill>
                <a:latin typeface="Courier New" pitchFamily="34" charset="0"/>
                <a:ea typeface="Courier New" pitchFamily="34" charset="-122"/>
                <a:cs typeface="Courier New" pitchFamily="34" charset="-120"/>
              </a:rPr>
              <a:t># variables: they live in RAM</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state:     .word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prev_btn:  .word 0              </a:t>
            </a:r>
            <a:pPr indent="0" marL="0">
              <a:buNone/>
            </a:pPr>
            <a:r>
              <a:rPr lang="en-US" sz="1500" dirty="0">
                <a:solidFill>
                  <a:srgbClr val="8FB3A0"/>
                </a:solidFill>
                <a:latin typeface="Courier New" pitchFamily="34" charset="0"/>
                <a:ea typeface="Courier New" pitchFamily="34" charset="-122"/>
                <a:cs typeface="Courier New" pitchFamily="34" charset="-120"/>
              </a:rPr>
              <a:t># the buttons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dir: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want: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score: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best:      .word 0              </a:t>
            </a:r>
            <a:pPr indent="0" marL="0">
              <a:buNone/>
            </a:pPr>
            <a:r>
              <a:rPr lang="en-US" sz="1500" dirty="0">
                <a:solidFill>
                  <a:srgbClr val="8FB3A0"/>
                </a:solidFill>
                <a:latin typeface="Courier New" pitchFamily="34" charset="0"/>
                <a:ea typeface="Courier New" pitchFamily="34" charset="-122"/>
                <a:cs typeface="Courier New" pitchFamily="34" charset="-120"/>
              </a:rPr>
              <a:t># lost when the power goes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food_x: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food_y: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head_i:    .word 0              </a:t>
            </a:r>
            <a:pPr indent="0" marL="0">
              <a:buNone/>
            </a:pPr>
            <a:r>
              <a:rPr lang="en-US" sz="1500" dirty="0">
                <a:solidFill>
                  <a:srgbClr val="8FB3A0"/>
                </a:solidFill>
                <a:latin typeface="Courier New" pitchFamily="34" charset="0"/>
                <a:ea typeface="Courier New" pitchFamily="34" charset="-122"/>
                <a:cs typeface="Courier New" pitchFamily="34" charset="-120"/>
              </a:rPr>
              <a:t># ring index of the head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length:    .word 0              </a:t>
            </a:r>
            <a:pPr indent="0" marL="0">
              <a:buNone/>
            </a:pPr>
            <a:r>
              <a:rPr lang="en-US" sz="1500" dirty="0">
                <a:solidFill>
                  <a:srgbClr val="8FB3A0"/>
                </a:solidFill>
                <a:latin typeface="Courier New" pitchFamily="34" charset="0"/>
                <a:ea typeface="Courier New" pitchFamily="34" charset="-122"/>
                <a:cs typeface="Courier New" pitchFamily="34" charset="-120"/>
              </a:rPr>
              <a:t># number of cells of the worm</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body_x:    .space 256           </a:t>
            </a:r>
            <a:pPr indent="0" marL="0">
              <a:buNone/>
            </a:pPr>
            <a:r>
              <a:rPr lang="en-US" sz="1500" dirty="0">
                <a:solidFill>
                  <a:srgbClr val="8FB3A0"/>
                </a:solidFill>
                <a:latin typeface="Courier New" pitchFamily="34" charset="0"/>
                <a:ea typeface="Courier New" pitchFamily="34" charset="-122"/>
                <a:cs typeface="Courier New" pitchFamily="34" charset="-120"/>
              </a:rPr>
              <a:t># the ring: one byte per segment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body_y:    .space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grid:      .space COLS*ROWS     </a:t>
            </a:r>
            <a:pPr indent="0" marL="0">
              <a:buNone/>
            </a:pPr>
            <a:r>
              <a:rPr lang="en-US" sz="1500" dirty="0">
                <a:solidFill>
                  <a:srgbClr val="8FB3A0"/>
                </a:solidFill>
                <a:latin typeface="Courier New" pitchFamily="34" charset="0"/>
                <a:ea typeface="Courier New" pitchFamily="34" charset="-122"/>
                <a:cs typeface="Courier New" pitchFamily="34" charset="-120"/>
              </a:rPr>
              <a:t># one byte per cell: 1 = worm</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head_x and head_y are gone: the head is in the ring</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.space reserves bytes without naming each one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256 + 256 + 960 bytes: the worm and its world</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best survives a game, not a power-off</a:t>
            </a:r>
            <a:endParaRPr lang="en-US" sz="15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start on the title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.section .text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verm1_init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verm1_draw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verm1_init: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state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zero, 0(t0)            </a:t>
            </a:r>
            <a:pPr indent="0" marL="0">
              <a:buNone/>
            </a:pPr>
            <a:r>
              <a:rPr lang="en-US" sz="1650" dirty="0">
                <a:solidFill>
                  <a:srgbClr val="8FB3A0"/>
                </a:solidFill>
                <a:latin typeface="Courier New" pitchFamily="34" charset="0"/>
                <a:ea typeface="Courier New" pitchFamily="34" charset="-122"/>
                <a:cs typeface="Courier New" pitchFamily="34" charset="-120"/>
              </a:rPr>
              <a:t># start on the title screen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prev_btn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zero,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init only chooses the first state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game itself is prepared by new_game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leaf again: no frame</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buttons, and their edges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8(sp)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s1, 4(sp)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s0, a0                 </a:t>
            </a:r>
            <a:pPr indent="0" marL="0">
              <a:buNone/>
            </a:pPr>
            <a:r>
              <a:rPr lang="en-US" sz="1500" dirty="0">
                <a:solidFill>
                  <a:srgbClr val="8FB3A0"/>
                </a:solidFill>
                <a:latin typeface="Courier New" pitchFamily="34" charset="0"/>
                <a:ea typeface="Courier New" pitchFamily="34" charset="-122"/>
                <a:cs typeface="Courier New" pitchFamily="34" charset="-120"/>
              </a:rPr>
              <a:t># s0 = buttons held in this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prev_btn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buttons held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not  t1,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  s1, s0, t1             </a:t>
            </a:r>
            <a:pPr indent="0" marL="0">
              <a:buNone/>
            </a:pPr>
            <a:r>
              <a:rPr lang="en-US" sz="1500" dirty="0">
                <a:solidFill>
                  <a:srgbClr val="8FB3A0"/>
                </a:solidFill>
                <a:latin typeface="Courier New" pitchFamily="34" charset="0"/>
                <a:ea typeface="Courier New" pitchFamily="34" charset="-122"/>
                <a:cs typeface="Courier New" pitchFamily="34" charset="-120"/>
              </a:rPr>
              <a:t># s1 = buttons pressed just now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 buttons now; prev_btn = buttons one frame ago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prev_btn is a register: it delays by one frame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now AND NOT before: 1 only where a press began</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and s1 must survive the calls: saved in the frame</a:t>
            </a:r>
            <a:endParaRPr lang="en-US" sz="1500" dirty="0"/>
          </a:p>
        </p:txBody>
      </p:sp>
      <p:sp>
        <p:nvSpPr>
          <p:cNvPr id="17" name="Shape 15"/>
          <p:cNvSpPr/>
          <p:nvPr/>
        </p:nvSpPr>
        <p:spPr>
          <a:xfrm>
            <a:off x="7865821" y="91440"/>
            <a:ext cx="3777234" cy="274320"/>
          </a:xfrm>
          <a:prstGeom prst="rect">
            <a:avLst/>
          </a:prstGeom>
          <a:solidFill>
            <a:srgbClr val="FEF3C7"/>
          </a:solidFill>
          <a:ln w="12700">
            <a:solidFill>
              <a:srgbClr val="B45309"/>
            </a:solidFill>
            <a:prstDash val="solid"/>
          </a:ln>
        </p:spPr>
      </p:sp>
      <p:sp>
        <p:nvSpPr>
          <p:cNvPr id="18" name="Shape 16"/>
          <p:cNvSpPr/>
          <p:nvPr/>
        </p:nvSpPr>
        <p:spPr>
          <a:xfrm>
            <a:off x="7865821" y="91440"/>
            <a:ext cx="27432" cy="274320"/>
          </a:xfrm>
          <a:prstGeom prst="rect">
            <a:avLst/>
          </a:prstGeom>
          <a:solidFill>
            <a:srgbClr val="B45309"/>
          </a:solidFill>
          <a:ln w="12700">
            <a:solidFill>
              <a:srgbClr val="B45309"/>
            </a:solidFill>
            <a:prstDash val="solid"/>
          </a:ln>
        </p:spPr>
      </p:sp>
      <p:sp>
        <p:nvSpPr>
          <p:cNvPr id="19" name="Shape 17"/>
          <p:cNvSpPr/>
          <p:nvPr/>
        </p:nvSpPr>
        <p:spPr>
          <a:xfrm>
            <a:off x="792068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21" name="Text 18"/>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2" name="Shape 19"/>
          <p:cNvSpPr/>
          <p:nvPr/>
        </p:nvSpPr>
        <p:spPr>
          <a:xfrm>
            <a:off x="4335094" y="91440"/>
            <a:ext cx="3420999" cy="274320"/>
          </a:xfrm>
          <a:prstGeom prst="rect">
            <a:avLst/>
          </a:prstGeom>
          <a:solidFill>
            <a:srgbClr val="E0F2FE"/>
          </a:solidFill>
          <a:ln w="12700">
            <a:solidFill>
              <a:srgbClr val="0369A1"/>
            </a:solidFill>
            <a:prstDash val="solid"/>
          </a:ln>
        </p:spPr>
      </p:sp>
      <p:sp>
        <p:nvSpPr>
          <p:cNvPr id="23" name="Shape 20"/>
          <p:cNvSpPr/>
          <p:nvPr/>
        </p:nvSpPr>
        <p:spPr>
          <a:xfrm>
            <a:off x="4335094"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4463110" y="128016"/>
            <a:ext cx="201168" cy="201168"/>
          </a:xfrm>
          <a:prstGeom prst="rect">
            <a:avLst/>
          </a:prstGeom>
        </p:spPr>
      </p:pic>
      <p:sp>
        <p:nvSpPr>
          <p:cNvPr id="25" name="Text 21"/>
          <p:cNvSpPr txBox="1"/>
          <p:nvPr/>
        </p:nvSpPr>
        <p:spPr>
          <a:xfrm>
            <a:off x="4719142"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one branch per state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              </a:t>
            </a:r>
            <a:pPr indent="0" marL="0">
              <a:buNone/>
            </a:pPr>
            <a:r>
              <a:rPr lang="en-US" sz="1300" dirty="0">
                <a:solidFill>
                  <a:srgbClr val="8FB3A0"/>
                </a:solidFill>
                <a:latin typeface="Courier New" pitchFamily="34" charset="0"/>
                <a:ea typeface="Courier New" pitchFamily="34" charset="-122"/>
                <a:cs typeface="Courier New" pitchFamily="34" charset="-120"/>
              </a:rPr>
              <a:t># t1 = present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  t1, t2, u_play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s1, BTN_A          </a:t>
            </a:r>
            <a:pPr indent="0" marL="0">
              <a:buNone/>
            </a:pPr>
            <a:r>
              <a:rPr lang="en-US" sz="1300" dirty="0">
                <a:solidFill>
                  <a:srgbClr val="8FB3A0"/>
                </a:solidFill>
                <a:latin typeface="Courier New" pitchFamily="34" charset="0"/>
                <a:ea typeface="Courier New" pitchFamily="34" charset="-122"/>
                <a:cs typeface="Courier New" pitchFamily="34" charset="-120"/>
              </a:rPr>
              <a:t># TITLE or OVER: wait for a new press of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TITLE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  t1, t2, u_start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t2, 0(t0)              </a:t>
            </a:r>
            <a:pPr indent="0" marL="0">
              <a:buNone/>
            </a:pPr>
            <a:r>
              <a:rPr lang="en-US" sz="1300" dirty="0">
                <a:solidFill>
                  <a:srgbClr val="8FB3A0"/>
                </a:solidFill>
                <a:latin typeface="Courier New" pitchFamily="34" charset="0"/>
                <a:ea typeface="Courier New" pitchFamily="34" charset="-122"/>
                <a:cs typeface="Courier New" pitchFamily="34" charset="-120"/>
              </a:rPr>
              <a:t># OVER --A--&gt; TITLE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u_start: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new_game               </a:t>
            </a:r>
            <a:pPr indent="0" marL="0">
              <a:buNone/>
            </a:pPr>
            <a:r>
              <a:rPr lang="en-US" sz="1300" dirty="0">
                <a:solidFill>
                  <a:srgbClr val="8FB3A0"/>
                </a:solidFill>
                <a:latin typeface="Courier New" pitchFamily="34" charset="0"/>
                <a:ea typeface="Courier New" pitchFamily="34" charset="-122"/>
                <a:cs typeface="Courier New" pitchFamily="34" charset="-120"/>
              </a:rPr>
              <a:t># TITLE --A--&gt; 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a0, s0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play_update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s0, 8(sp)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state is read first: it decides who looks at the inputs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TITLE and OVER react only to a new press of A</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PLAY passes the held buttons to play_update</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Named labels: u_play, u_start, u_done</a:t>
            </a:r>
            <a:endParaRPr lang="en-US" sz="13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what to show in each state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verm1_draw: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prg32_gfx_clear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draw_text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state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  t1, t2, 1f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132                </a:t>
            </a:r>
            <a:pPr indent="0" marL="0">
              <a:buNone/>
            </a:pPr>
            <a:r>
              <a:rPr lang="en-US" sz="1100" dirty="0">
                <a:solidFill>
                  <a:srgbClr val="8FB3A0"/>
                </a:solidFill>
                <a:latin typeface="Courier New" pitchFamily="34" charset="0"/>
                <a:ea typeface="Courier New" pitchFamily="34" charset="-122"/>
                <a:cs typeface="Courier New" pitchFamily="34" charset="-120"/>
              </a:rPr>
              <a:t># TITLE: only an invitation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96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press_a</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draw_text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2f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call draw_score             </a:t>
            </a:r>
            <a:pPr indent="0" marL="0">
              <a:buNone/>
            </a:pPr>
            <a:r>
              <a:rPr lang="en-US" sz="1100" dirty="0">
                <a:solidFill>
                  <a:srgbClr val="8FB3A0"/>
                </a:solidFill>
                <a:latin typeface="Courier New" pitchFamily="34" charset="0"/>
                <a:ea typeface="Courier New" pitchFamily="34" charset="-122"/>
                <a:cs typeface="Courier New" pitchFamily="34" charset="-120"/>
              </a:rPr>
              <a:t># PLAY and OVER: the whole scene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draw_worm</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a1,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a2, RED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draw_cell</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title line is always drawn</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TITLE: only the invitation, PRESS A</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PLAY and OVER: score, worm, food</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 = 132 centres 7 characters of 8 pixels</a:t>
            </a:r>
            <a:endParaRPr lang="en-US" sz="16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game over, and draw_text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bne  t1, t2, 2f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124</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96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game_over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2: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draw_text:                      </a:t>
            </a:r>
            <a:pPr indent="0" marL="0">
              <a:buNone/>
            </a:pPr>
            <a:r>
              <a:rPr lang="en-US" sz="1300" dirty="0">
                <a:solidFill>
                  <a:srgbClr val="8FB3A0"/>
                </a:solidFill>
                <a:latin typeface="Courier New" pitchFamily="34" charset="0"/>
                <a:ea typeface="Courier New" pitchFamily="34" charset="-122"/>
                <a:cs typeface="Courier New" pitchFamily="34" charset="-120"/>
              </a:rPr>
              <a:t># a0 = x, a1 = y, a2 = address of the string</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prg32_gfx_text8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adds two words on top of the scene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draw_text: white on black, written once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fills a3 and a4 and passes a0 to a2 through</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For now: four functions that do nothing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new_game:                       </a:t>
            </a:r>
            <a:pPr indent="0" marL="0">
              <a:buNone/>
            </a:pPr>
            <a:r>
              <a:rPr lang="en-US" sz="1450" dirty="0">
                <a:solidFill>
                  <a:srgbClr val="8FB3A0"/>
                </a:solidFill>
                <a:latin typeface="Courier New" pitchFamily="34" charset="0"/>
                <a:ea typeface="Courier New" pitchFamily="34" charset="-122"/>
                <a:cs typeface="Courier New" pitchFamily="34" charset="-120"/>
              </a:rPr>
              <a:t># temporary: only change the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t1, PLAY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play_update:                    </a:t>
            </a:r>
            <a:pPr indent="0" marL="0">
              <a:buNone/>
            </a:pPr>
            <a:r>
              <a:rPr lang="en-US" sz="1450" dirty="0">
                <a:solidFill>
                  <a:srgbClr val="8FB3A0"/>
                </a:solidFill>
                <a:latin typeface="Courier New" pitchFamily="34" charset="0"/>
                <a:ea typeface="Courier New" pitchFamily="34" charset="-122"/>
                <a:cs typeface="Courier New" pitchFamily="34" charset="-120"/>
              </a:rPr>
              <a:t># temporary: nothing moves yet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draw_score:                     </a:t>
            </a:r>
            <a:pPr indent="0" marL="0">
              <a:buNone/>
            </a:pPr>
            <a:r>
              <a:rPr lang="en-US" sz="1450" dirty="0">
                <a:solidFill>
                  <a:srgbClr val="8FB3A0"/>
                </a:solidFill>
                <a:latin typeface="Courier New" pitchFamily="34" charset="0"/>
                <a:ea typeface="Courier New" pitchFamily="34" charset="-122"/>
                <a:cs typeface="Courier New" pitchFamily="34" charset="-120"/>
              </a:rPr>
              <a:t># temporary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draw_worm:                      </a:t>
            </a:r>
            <a:pPr indent="0" marL="0">
              <a:buNone/>
            </a:pPr>
            <a:r>
              <a:rPr lang="en-US" sz="1450" dirty="0">
                <a:solidFill>
                  <a:srgbClr val="8FB3A0"/>
                </a:solidFill>
                <a:latin typeface="Courier New" pitchFamily="34" charset="0"/>
                <a:ea typeface="Courier New" pitchFamily="34" charset="-122"/>
                <a:cs typeface="Courier New" pitchFamily="34" charset="-120"/>
              </a:rPr>
              <a:t># temporary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Stubs: the names exist, so the program builds</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new_game only changes the state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Steps 3 and 4 replace them one at a time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machine with nothing inside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title line and PRESS A in the middle of the screen</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Press A: the invitation disappears. A red cell is in the top-left corner: the food, at column 0 of row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Nothing moves and the game cannot end: PLAY has no rules yet</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find the variable state and watch it change from 0 to 1 when you press 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Title screen, then an empty field with one red cell at the top left.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new_game: empty the map, lay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new_game: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COLS*ROWS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sb   zero, 0(t0)            </a:t>
            </a:r>
            <a:pPr indent="0" marL="0">
              <a:buNone/>
            </a:pPr>
            <a:r>
              <a:rPr lang="en-US" sz="1150" dirty="0">
                <a:solidFill>
                  <a:srgbClr val="8FB3A0"/>
                </a:solidFill>
                <a:latin typeface="Courier New" pitchFamily="34" charset="0"/>
                <a:ea typeface="Courier New" pitchFamily="34" charset="-122"/>
                <a:cs typeface="Courier New" pitchFamily="34" charset="-120"/>
              </a:rPr>
              <a:t># empty the grid, one byte per cell</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t0, t0,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bnez t1, 1b</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0                  </a:t>
            </a:r>
            <a:pPr indent="0" marL="0">
              <a:buNone/>
            </a:pPr>
            <a:r>
              <a:rPr lang="en-US" sz="1150" dirty="0">
                <a:solidFill>
                  <a:srgbClr val="8FB3A0"/>
                </a:solidFill>
                <a:latin typeface="Courier New" pitchFamily="34" charset="0"/>
                <a:ea typeface="Courier New" pitchFamily="34" charset="-122"/>
                <a:cs typeface="Courier New" pitchFamily="34" charset="-120"/>
              </a:rPr>
              <a:t># i = 0, 1, 2: three cells in row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t2, t1,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t2, 0(t0)              </a:t>
            </a:r>
            <a:pPr indent="0" marL="0">
              <a:buNone/>
            </a:pPr>
            <a:r>
              <a:rPr lang="en-US" sz="1150" dirty="0">
                <a:solidFill>
                  <a:srgbClr val="8FB3A0"/>
                </a:solidFill>
                <a:latin typeface="Courier New" pitchFamily="34" charset="0"/>
                <a:ea typeface="Courier New" pitchFamily="34" charset="-122"/>
                <a:cs typeface="Courier New" pitchFamily="34" charset="-120"/>
              </a:rPr>
              <a:t># columns 3, 4, 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grid+12*COLS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              </a:t>
            </a:r>
            <a:pPr indent="0" marL="0">
              <a:buNone/>
            </a:pPr>
            <a:r>
              <a:rPr lang="en-US" sz="1150" dirty="0">
                <a:solidFill>
                  <a:srgbClr val="8FB3A0"/>
                </a:solidFill>
                <a:latin typeface="Courier New" pitchFamily="34" charset="0"/>
                <a:ea typeface="Courier New" pitchFamily="34" charset="-122"/>
                <a:cs typeface="Courier New" pitchFamily="34" charset="-120"/>
              </a:rPr>
              <a:t># mark the cell as occupied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t1, t3, 2b</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Replace the stub of new_game with this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960 bytes set to zero, one sb at a time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Three segments: columns 3, 4, 5 of row 12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Each one is written twice: in the ring and in the map</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new_game: the variables, the food, PLAY</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head_i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the head is entry 2 of the 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length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want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place_food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PLAY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head_i = 2 and length = 3 describe the worm</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Direction, timer and score start from zero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last thing: the state becomes PLAY</a:t>
            </a:r>
            <a:endParaRPr lang="en-US" sz="1700" dirty="0"/>
          </a:p>
        </p:txBody>
      </p:sp>
      <p:sp>
        <p:nvSpPr>
          <p:cNvPr id="14"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draw_worm: walk the ring backwards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draw_worm:</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s0, 0                  </a:t>
            </a:r>
            <a:pPr indent="0" marL="0">
              <a:buNone/>
            </a:pPr>
            <a:r>
              <a:rPr lang="en-US" sz="1000" dirty="0">
                <a:solidFill>
                  <a:srgbClr val="8FB3A0"/>
                </a:solidFill>
                <a:latin typeface="Courier New" pitchFamily="34" charset="0"/>
                <a:ea typeface="Courier New" pitchFamily="34" charset="-122"/>
                <a:cs typeface="Courier New" pitchFamily="34" charset="-120"/>
              </a:rPr>
              <a:t># s0 = i: segment 0 is the head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1: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s0, t1, 3f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segment 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a0,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BODY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s0, 2f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GREEN              </a:t>
            </a:r>
            <a:pPr indent="0" marL="0">
              <a:buNone/>
            </a:pPr>
            <a:r>
              <a:rPr lang="en-US" sz="1000" dirty="0">
                <a:solidFill>
                  <a:srgbClr val="8FB3A0"/>
                </a:solidFill>
                <a:latin typeface="Courier New" pitchFamily="34" charset="0"/>
                <a:ea typeface="Courier New" pitchFamily="34" charset="-122"/>
                <a:cs typeface="Courier New" pitchFamily="34" charset="-120"/>
              </a:rPr>
              <a:t># the head is brighter</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2:  call draw_cell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s0, s0,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1b</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3:  lw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ret</a:t>
            </a:r>
            <a:endParaRPr lang="en-US" sz="10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Replace the stub of draw_worm with this</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Segment i is entry head_i - i, AND 255</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lbu loads one byte as an unsigned number</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Segment 0 is the head: a brighter green</a:t>
            </a:r>
            <a:endParaRPr lang="en-US" sz="16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draw_score: the marks of Part 2</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draw_score: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0                  </a:t>
            </a:r>
            <a:pPr indent="0" marL="0">
              <a:buNone/>
            </a:pPr>
            <a:r>
              <a:rPr lang="en-US" sz="1350" dirty="0">
                <a:solidFill>
                  <a:srgbClr val="8FB3A0"/>
                </a:solidFill>
                <a:latin typeface="Courier New" pitchFamily="34" charset="0"/>
                <a:ea typeface="Courier New" pitchFamily="34" charset="-122"/>
                <a:cs typeface="Courier New" pitchFamily="34" charset="-120"/>
              </a:rPr>
              <a:t># s0 = i: one mark per point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  s0, t1,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s0,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a0, a0, 56             </a:t>
            </a:r>
            <a:pPr indent="0" marL="0">
              <a:buNone/>
            </a:pPr>
            <a:r>
              <a:rPr lang="en-US" sz="1350" dirty="0">
                <a:solidFill>
                  <a:srgbClr val="8FB3A0"/>
                </a:solidFill>
                <a:latin typeface="Courier New" pitchFamily="34" charset="0"/>
                <a:ea typeface="Courier New" pitchFamily="34" charset="-122"/>
                <a:cs typeface="Courier New" pitchFamily="34" charset="-120"/>
              </a:rPr>
              <a:t># x = 56 + 4 * 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WHITE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prg32_gfx_rect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s0, s0,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j    1b</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stub of draw_score with this</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loop of Part 2, now a function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uses s0, so it saves and restores it</a:t>
            </a:r>
            <a:endParaRPr lang="en-US" sz="1700" dirty="0"/>
          </a:p>
        </p:txBody>
      </p:sp>
      <p:sp>
        <p:nvSpPr>
          <p:cNvPr id="14" name="Shape 12"/>
          <p:cNvSpPr/>
          <p:nvPr/>
        </p:nvSpPr>
        <p:spPr>
          <a:xfrm>
            <a:off x="7865821" y="91440"/>
            <a:ext cx="3777234" cy="274320"/>
          </a:xfrm>
          <a:prstGeom prst="rect">
            <a:avLst/>
          </a:prstGeom>
          <a:solidFill>
            <a:srgbClr val="FEF3C7"/>
          </a:solidFill>
          <a:ln w="12700">
            <a:solidFill>
              <a:srgbClr val="B45309"/>
            </a:solidFill>
            <a:prstDash val="solid"/>
          </a:ln>
        </p:spPr>
      </p:sp>
      <p:sp>
        <p:nvSpPr>
          <p:cNvPr id="15" name="Shape 13"/>
          <p:cNvSpPr/>
          <p:nvPr/>
        </p:nvSpPr>
        <p:spPr>
          <a:xfrm>
            <a:off x="7865821" y="91440"/>
            <a:ext cx="27432" cy="274320"/>
          </a:xfrm>
          <a:prstGeom prst="rect">
            <a:avLst/>
          </a:prstGeom>
          <a:solidFill>
            <a:srgbClr val="B45309"/>
          </a:solidFill>
          <a:ln w="12700">
            <a:solidFill>
              <a:srgbClr val="B45309"/>
            </a:solidFill>
            <a:prstDash val="solid"/>
          </a:ln>
        </p:spPr>
      </p:sp>
      <p:sp>
        <p:nvSpPr>
          <p:cNvPr id="16" name="Shape 14"/>
          <p:cNvSpPr/>
          <p:nvPr/>
        </p:nvSpPr>
        <p:spPr>
          <a:xfrm>
            <a:off x="7920685"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18" name="Text 15"/>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stub is left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play_update:                    </a:t>
            </a:r>
            <a:pPr indent="0" marL="0">
              <a:buNone/>
            </a:pPr>
            <a:r>
              <a:rPr lang="en-US" sz="1550" dirty="0">
                <a:solidFill>
                  <a:srgbClr val="8FB3A0"/>
                </a:solidFill>
                <a:latin typeface="Courier New" pitchFamily="34" charset="0"/>
                <a:ea typeface="Courier New" pitchFamily="34" charset="-122"/>
                <a:cs typeface="Courier New" pitchFamily="34" charset="-120"/>
              </a:rPr>
              <a:t># temporary: nothing moves yet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ret</a:t>
            </a:r>
            <a:endParaRPr lang="en-US" sz="15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play_update still does nothing</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worm exists, and stands still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worm that stands still</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press A: a worm of three cells in row 12, columns 3 to 5, the head on the right</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food is now at a random cell: new_game calls place_food</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type the address of body_x in the Memory field: the first bytes are 03 04 05</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Find grid + 12 x 40 + 3: three bytes at 01 in a sea of zeros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Three green cells, the rightmost brighter; one red cell somewhere; nothing moves.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your update of Part 2</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play_update:                    </a:t>
            </a:r>
            <a:pPr indent="0" marL="0">
              <a:buNone/>
            </a:pPr>
            <a:r>
              <a:rPr lang="en-US" sz="1200" dirty="0">
                <a:solidFill>
                  <a:srgbClr val="8FB3A0"/>
                </a:solidFill>
                <a:latin typeface="Courier New" pitchFamily="34" charset="0"/>
                <a:ea typeface="Courier New" pitchFamily="34" charset="-122"/>
                <a:cs typeface="Courier New" pitchFamily="34" charset="-120"/>
              </a:rPr>
              <a:t># a0 = buttons held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direction of the last step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              </a:t>
            </a:r>
            <a:pPr indent="0" marL="0">
              <a:buNone/>
            </a:pPr>
            <a:r>
              <a:rPr lang="en-US" sz="1200" dirty="0">
                <a:solidFill>
                  <a:srgbClr val="8FB3A0"/>
                </a:solidFill>
                <a:latin typeface="Courier New" pitchFamily="34" charset="0"/>
                <a:ea typeface="Courier New" pitchFamily="34" charset="-122"/>
                <a:cs typeface="Courier New" pitchFamily="34" charset="-120"/>
              </a:rPr>
              <a:t># t2 = wanted direction, so far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t3, a0, BTN_RIGHT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andi t3, a0, BTN_DOWN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andi t3, a0, BTN_LEFT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3f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3:  andi t3, a0, BTN_UP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4f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4:  xor  t3, t2, t1             </a:t>
            </a:r>
            <a:pPr indent="0" marL="0">
              <a:buNone/>
            </a:pPr>
            <a:r>
              <a:rPr lang="en-US" sz="1200" dirty="0">
                <a:solidFill>
                  <a:srgbClr val="8FB3A0"/>
                </a:solidFill>
                <a:latin typeface="Courier New" pitchFamily="34" charset="0"/>
                <a:ea typeface="Courier New" pitchFamily="34" charset="-122"/>
                <a:cs typeface="Courier New" pitchFamily="34" charset="-120"/>
              </a:rPr>
              <a:t># opposite directions differ in bit 1 only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t4,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  t3, t4, 5f             </a:t>
            </a:r>
            <a:pPr indent="0" marL="0">
              <a:buNone/>
            </a:pPr>
            <a:r>
              <a:rPr lang="en-US" sz="1200" dirty="0">
                <a:solidFill>
                  <a:srgbClr val="8FB3A0"/>
                </a:solidFill>
                <a:latin typeface="Courier New" pitchFamily="34" charset="0"/>
                <a:ea typeface="Courier New" pitchFamily="34" charset="-122"/>
                <a:cs typeface="Courier New" pitchFamily="34" charset="-120"/>
              </a:rPr>
              <a:t># a U-turn: ignore the request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5:</a:t>
            </a:r>
            <a:endParaRPr lang="en-US" sz="12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last stub with this and the next slide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steering of Part 2, under a new name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buttons arrive in a0: no call to read them</a:t>
            </a:r>
            <a:endParaRPr lang="en-US" sz="1700" dirty="0"/>
          </a:p>
        </p:txBody>
      </p:sp>
      <p:sp>
        <p:nvSpPr>
          <p:cNvPr id="14" name="Shape 12"/>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3"/>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the timer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500" dirty="0">
                <a:solidFill>
                  <a:srgbClr val="8FB3A0"/>
                </a:solidFill>
                <a:latin typeface="Courier New" pitchFamily="34" charset="0"/>
                <a:ea typeface="Courier New" pitchFamily="34" charset="-122"/>
                <a:cs typeface="Courier New" pitchFamily="34" charset="-120"/>
              </a:rPr>
              <a:t># add a fraction of a cell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blt  t1, t2, 6f             </a:t>
            </a:r>
            <a:pPr indent="0" marL="0">
              <a:buNone/>
            </a:pPr>
            <a:r>
              <a:rPr lang="en-US" sz="1500" dirty="0">
                <a:solidFill>
                  <a:srgbClr val="8FB3A0"/>
                </a:solidFill>
                <a:latin typeface="Courier New" pitchFamily="34" charset="0"/>
                <a:ea typeface="Courier New" pitchFamily="34" charset="-122"/>
                <a:cs typeface="Courier New" pitchFamily="34" charset="-120"/>
              </a:rPr>
              <a:t># less than one whole cell: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step                   </a:t>
            </a:r>
            <a:pPr indent="0" marL="0">
              <a:buNone/>
            </a:pPr>
            <a:r>
              <a:rPr lang="en-US" sz="1500" dirty="0">
                <a:solidFill>
                  <a:srgbClr val="8FB3A0"/>
                </a:solidFill>
                <a:latin typeface="Courier New" pitchFamily="34" charset="0"/>
                <a:ea typeface="Courier New" pitchFamily="34" charset="-122"/>
                <a:cs typeface="Courier New" pitchFamily="34" charset="-120"/>
              </a:rPr>
              <a:t># one whole cell: move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7f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6: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7: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Exactly the timer of Part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whole cell accumulated: call step</a:t>
            </a:r>
            <a:endParaRPr lang="en-US" sz="1700" dirty="0"/>
          </a:p>
        </p:txBody>
      </p:sp>
      <p:sp>
        <p:nvSpPr>
          <p:cNvPr id="11" name="Shape 9"/>
          <p:cNvSpPr/>
          <p:nvPr/>
        </p:nvSpPr>
        <p:spPr>
          <a:xfrm>
            <a:off x="8944305" y="91440"/>
            <a:ext cx="2698750" cy="274320"/>
          </a:xfrm>
          <a:prstGeom prst="rect">
            <a:avLst/>
          </a:prstGeom>
          <a:solidFill>
            <a:srgbClr val="E0F2FE"/>
          </a:solidFill>
          <a:ln w="12700">
            <a:solidFill>
              <a:srgbClr val="0369A1"/>
            </a:solidFill>
            <a:prstDash val="solid"/>
          </a:ln>
        </p:spPr>
      </p:sp>
      <p:sp>
        <p:nvSpPr>
          <p:cNvPr id="12" name="Shape 10"/>
          <p:cNvSpPr/>
          <p:nvPr/>
        </p:nvSpPr>
        <p:spPr>
          <a:xfrm>
            <a:off x="8944305"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4" name="Text 11"/>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three registers to keep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              </a:t>
            </a:r>
            <a:pPr indent="0" marL="0">
              <a:buNone/>
            </a:pPr>
            <a:r>
              <a:rPr lang="en-US" sz="1300" dirty="0">
                <a:solidFill>
                  <a:srgbClr val="8FB3A0"/>
                </a:solidFill>
                <a:latin typeface="Courier New" pitchFamily="34" charset="0"/>
                <a:ea typeface="Courier New" pitchFamily="34" charset="-122"/>
                <a:cs typeface="Courier New" pitchFamily="34" charset="-120"/>
              </a:rPr>
              <a:t># s0 = column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s1, 4(sp)              </a:t>
            </a:r>
            <a:pPr indent="0" marL="0">
              <a:buNone/>
            </a:pPr>
            <a:r>
              <a:rPr lang="en-US" sz="1300" dirty="0">
                <a:solidFill>
                  <a:srgbClr val="8FB3A0"/>
                </a:solidFill>
                <a:latin typeface="Courier New" pitchFamily="34" charset="0"/>
                <a:ea typeface="Courier New" pitchFamily="34" charset="-122"/>
                <a:cs typeface="Courier New" pitchFamily="34" charset="-120"/>
              </a:rPr>
              <a:t># s1 = row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s2, 0(sp)              </a:t>
            </a:r>
            <a:pPr indent="0" marL="0">
              <a:buNone/>
            </a:pPr>
            <a:r>
              <a:rPr lang="en-US" sz="1300" dirty="0">
                <a:solidFill>
                  <a:srgbClr val="8FB3A0"/>
                </a:solidFill>
                <a:latin typeface="Courier New" pitchFamily="34" charset="0"/>
                <a:ea typeface="Courier New" pitchFamily="34" charset="-122"/>
                <a:cs typeface="Courier New" pitchFamily="34" charset="-120"/>
              </a:rPr>
              <a:t># s2 = 0 when the worm eats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s0, s1: the cell of the new head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s2: zero when the worm eats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They must survive place_food: s registers</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table lookup is that of Part 2</a:t>
            </a:r>
            <a:endParaRPr lang="en-US" sz="1600" dirty="0"/>
          </a:p>
        </p:txBody>
      </p:sp>
      <p:sp>
        <p:nvSpPr>
          <p:cNvPr id="17" name="Shape 15"/>
          <p:cNvSpPr/>
          <p:nvPr/>
        </p:nvSpPr>
        <p:spPr>
          <a:xfrm>
            <a:off x="7865821" y="91440"/>
            <a:ext cx="3777234" cy="274320"/>
          </a:xfrm>
          <a:prstGeom prst="rect">
            <a:avLst/>
          </a:prstGeom>
          <a:solidFill>
            <a:srgbClr val="FEF3C7"/>
          </a:solidFill>
          <a:ln w="12700">
            <a:solidFill>
              <a:srgbClr val="B45309"/>
            </a:solidFill>
            <a:prstDash val="solid"/>
          </a:ln>
        </p:spPr>
      </p:sp>
      <p:sp>
        <p:nvSpPr>
          <p:cNvPr id="18" name="Shape 16"/>
          <p:cNvSpPr/>
          <p:nvPr/>
        </p:nvSpPr>
        <p:spPr>
          <a:xfrm>
            <a:off x="7865821" y="91440"/>
            <a:ext cx="27432" cy="274320"/>
          </a:xfrm>
          <a:prstGeom prst="rect">
            <a:avLst/>
          </a:prstGeom>
          <a:solidFill>
            <a:srgbClr val="B45309"/>
          </a:solidFill>
          <a:ln w="12700">
            <a:solidFill>
              <a:srgbClr val="B45309"/>
            </a:solidFill>
            <a:prstDash val="solid"/>
          </a:ln>
        </p:spPr>
      </p:sp>
      <p:sp>
        <p:nvSpPr>
          <p:cNvPr id="19" name="Shape 17"/>
          <p:cNvSpPr/>
          <p:nvPr/>
        </p:nvSpPr>
        <p:spPr>
          <a:xfrm>
            <a:off x="792068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21" name="Text 18"/>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where will the head be?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head_i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t5, 0(t0)              </a:t>
            </a:r>
            <a:pPr indent="0" marL="0">
              <a:buNone/>
            </a:pPr>
            <a:r>
              <a:rPr lang="en-US" sz="1350" dirty="0">
                <a:solidFill>
                  <a:srgbClr val="8FB3A0"/>
                </a:solidFill>
                <a:latin typeface="Courier New" pitchFamily="34" charset="0"/>
                <a:ea typeface="Courier New" pitchFamily="34" charset="-122"/>
                <a:cs typeface="Courier New" pitchFamily="34" charset="-120"/>
              </a:rPr>
              <a:t># t5 = ring index of the head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body_x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s0, 0(t0)              </a:t>
            </a:r>
            <a:pPr indent="0" marL="0">
              <a:buNone/>
            </a:pPr>
            <a:r>
              <a:rPr lang="en-US" sz="1350" dirty="0">
                <a:solidFill>
                  <a:srgbClr val="8FB3A0"/>
                </a:solidFill>
                <a:latin typeface="Courier New" pitchFamily="34" charset="0"/>
                <a:ea typeface="Courier New" pitchFamily="34" charset="-122"/>
                <a:cs typeface="Courier New" pitchFamily="34" charset="-120"/>
              </a:rPr>
              <a:t># one byte: the column of the head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s0, s0, t2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bgez s0,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COLS-1             </a:t>
            </a:r>
            <a:pPr indent="0" marL="0">
              <a:buNone/>
            </a:pPr>
            <a:r>
              <a:rPr lang="en-US" sz="1350" dirty="0">
                <a:solidFill>
                  <a:srgbClr val="8FB3A0"/>
                </a:solidFill>
                <a:latin typeface="Courier New" pitchFamily="34" charset="0"/>
                <a:ea typeface="Courier New" pitchFamily="34" charset="-122"/>
                <a:cs typeface="Courier New" pitchFamily="34" charset="-120"/>
              </a:rPr>
              <a:t># off the left edge: wrap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s0, t4,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la   t0, body_y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s1,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s1, s1, t3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bgez s1, 3f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s1, ROWS-1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3:  li   t4, ROWS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s1, t4, 4f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s1,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4:</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present head is entry head_i of the ring</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byte each for column and row: lbu</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dx and dy, wrap as in Part 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Nothing is written yet: first we must look</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eat, or move the tail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xor  t1, t1,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t2,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xor  t2, t2, 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or   s2, t1, t2             </a:t>
            </a:r>
            <a:pPr indent="0" marL="0">
              <a:buNone/>
            </a:pPr>
            <a:r>
              <a:rPr lang="en-US" sz="1100" dirty="0">
                <a:solidFill>
                  <a:srgbClr val="8FB3A0"/>
                </a:solidFill>
                <a:latin typeface="Courier New" pitchFamily="34" charset="0"/>
                <a:ea typeface="Courier New" pitchFamily="34" charset="-122"/>
                <a:cs typeface="Courier New" pitchFamily="34" charset="-120"/>
              </a:rPr>
              <a:t># s2 = 0 if the new head is on the 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length</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s2, 5f                 </a:t>
            </a:r>
            <a:pPr indent="0" marL="0">
              <a:buNone/>
            </a:pPr>
            <a:r>
              <a:rPr lang="en-US" sz="1100" dirty="0">
                <a:solidFill>
                  <a:srgbClr val="8FB3A0"/>
                </a:solidFill>
                <a:latin typeface="Courier New" pitchFamily="34" charset="0"/>
                <a:ea typeface="Courier New" pitchFamily="34" charset="-122"/>
                <a:cs typeface="Courier New" pitchFamily="34" charset="-120"/>
              </a:rPr>
              <a:t># not eating: the tail moves on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t2, 255</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bge  t1, t2, 5f             </a:t>
            </a:r>
            <a:pPr indent="0" marL="0">
              <a:buNone/>
            </a:pPr>
            <a:r>
              <a:rPr lang="en-US" sz="1100" dirty="0">
                <a:solidFill>
                  <a:srgbClr val="8FB3A0"/>
                </a:solidFill>
                <a:latin typeface="Courier New" pitchFamily="34" charset="0"/>
                <a:ea typeface="Courier New" pitchFamily="34" charset="-122"/>
                <a:cs typeface="Courier New" pitchFamily="34" charset="-120"/>
              </a:rPr>
              <a:t># the ring is full: no more growth</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              </a:t>
            </a:r>
            <a:pPr indent="0" marL="0">
              <a:buNone/>
            </a:pPr>
            <a:r>
              <a:rPr lang="en-US" sz="1100" dirty="0">
                <a:solidFill>
                  <a:srgbClr val="8FB3A0"/>
                </a:solidFill>
                <a:latin typeface="Courier New" pitchFamily="34" charset="0"/>
                <a:ea typeface="Courier New" pitchFamily="34" charset="-122"/>
                <a:cs typeface="Courier New" pitchFamily="34" charset="-120"/>
              </a:rPr>
              <a:t># eating: one cell longer, the tail stays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6f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5:  la   t0, head_i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t2,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sub  t2, t2,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t2, t2,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andi t2, t2, 255            </a:t>
            </a:r>
            <a:pPr indent="0" marL="0">
              <a:buNone/>
            </a:pPr>
            <a:r>
              <a:rPr lang="en-US" sz="1100" dirty="0">
                <a:solidFill>
                  <a:srgbClr val="8FB3A0"/>
                </a:solidFill>
                <a:latin typeface="Courier New" pitchFamily="34" charset="0"/>
                <a:ea typeface="Courier New" pitchFamily="34" charset="-122"/>
                <a:cs typeface="Courier New" pitchFamily="34" charset="-120"/>
              </a:rPr>
              <a:t># ring index of the tail</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t4, 0(t0)</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comparator of Part 2 leaves its result in s2</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Eating: length + 1, the tail stays where it is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Not eating: find the tail, entry head_i - length + 1</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At 255 cells the worm stops growing</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free the tail, test the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t4,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t3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tail = row * 40 + column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sb   zero, 0(t0)            </a:t>
            </a:r>
            <a:pPr indent="0" marL="0">
              <a:buNone/>
            </a:pPr>
            <a:r>
              <a:rPr lang="en-US" sz="1250" dirty="0">
                <a:solidFill>
                  <a:srgbClr val="8FB3A0"/>
                </a:solidFill>
                <a:latin typeface="Courier New" pitchFamily="34" charset="0"/>
                <a:ea typeface="Courier New" pitchFamily="34" charset="-122"/>
                <a:cs typeface="Courier New" pitchFamily="34" charset="-120"/>
              </a:rPr>
              <a:t># the tail cell is free again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6: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s1,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s0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new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lbu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7f                 </a:t>
            </a:r>
            <a:pPr indent="0" marL="0">
              <a:buNone/>
            </a:pPr>
            <a:r>
              <a:rPr lang="en-US" sz="1250" dirty="0">
                <a:solidFill>
                  <a:srgbClr val="8FB3A0"/>
                </a:solidFill>
                <a:latin typeface="Courier New" pitchFamily="34" charset="0"/>
                <a:ea typeface="Courier New" pitchFamily="34" charset="-122"/>
                <a:cs typeface="Courier New" pitchFamily="34" charset="-120"/>
              </a:rPr>
              <a:t># a free cell: go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the worm bit itself: PLAY --&gt;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score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best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t2,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ble  t1, t2, 9f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a new best score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9f</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Byte number = row x 40 + column: mul and add</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Clear the tail's byte first, then test the head's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So the head may enter the cell the tail just left</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Occupied: the state becomes OVER, best is updated</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write the new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7:  li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t1, 0(t0)              </a:t>
            </a:r>
            <a:pPr indent="0" marL="0">
              <a:buNone/>
            </a:pPr>
            <a:r>
              <a:rPr lang="en-US" sz="1100" dirty="0">
                <a:solidFill>
                  <a:srgbClr val="8FB3A0"/>
                </a:solidFill>
                <a:latin typeface="Courier New" pitchFamily="34" charset="0"/>
                <a:ea typeface="Courier New" pitchFamily="34" charset="-122"/>
                <a:cs typeface="Courier New" pitchFamily="34" charset="-120"/>
              </a:rPr>
              <a:t># occupy the new cell</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head_i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100" dirty="0">
                <a:solidFill>
                  <a:srgbClr val="8FB3A0"/>
                </a:solidFill>
                <a:latin typeface="Courier New" pitchFamily="34" charset="0"/>
                <a:ea typeface="Courier New" pitchFamily="34" charset="-122"/>
                <a:cs typeface="Courier New" pitchFamily="34" charset="-120"/>
              </a:rPr>
              <a:t># the ring wraps after entry 255</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s0, 0(t0)              </a:t>
            </a:r>
            <a:pPr indent="0" marL="0">
              <a:buNone/>
            </a:pPr>
            <a:r>
              <a:rPr lang="en-US" sz="1100" dirty="0">
                <a:solidFill>
                  <a:srgbClr val="8FB3A0"/>
                </a:solidFill>
                <a:latin typeface="Courier New" pitchFamily="34" charset="0"/>
                <a:ea typeface="Courier New" pitchFamily="34" charset="-122"/>
                <a:cs typeface="Courier New" pitchFamily="34" charset="-120"/>
              </a:rPr>
              <a:t># write the new head into the ring</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s1,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s2, 9f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score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eat_sound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9:  lw   s2, 0(sp)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s1, 4(sp)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Mark the cell in the map: t0 still points to it</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head_i + 1, AND 255: the ring closes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Write column and row in the new entry</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If s2 is zero: a point, new food, a sound</a:t>
            </a:r>
            <a:endParaRPr lang="en-US" sz="16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place_food: not on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COLS-1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mv   s0, a0                 </a:t>
            </a:r>
            <a:pPr indent="0" marL="0">
              <a:buNone/>
            </a:pPr>
            <a:r>
              <a:rPr lang="en-US" sz="1100" dirty="0">
                <a:solidFill>
                  <a:srgbClr val="8FB3A0"/>
                </a:solidFill>
                <a:latin typeface="Courier New" pitchFamily="34" charset="0"/>
                <a:ea typeface="Courier New" pitchFamily="34" charset="-122"/>
                <a:cs typeface="Courier New" pitchFamily="34" charset="-120"/>
              </a:rPr>
              <a:t># s0 = a column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ROWS-1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100" dirty="0">
                <a:solidFill>
                  <a:srgbClr val="8FB3A0"/>
                </a:solidFill>
                <a:latin typeface="Courier New" pitchFamily="34" charset="0"/>
                <a:ea typeface="Courier New" pitchFamily="34" charset="-122"/>
                <a:cs typeface="Courier New" pitchFamily="34" charset="-120"/>
              </a:rPr>
              <a:t># a0 = a row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t1, COLS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mul  t2, a0,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t2, t2,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grid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t3, 1b                 </a:t>
            </a:r>
            <a:pPr indent="0" marL="0">
              <a:buNone/>
            </a:pPr>
            <a:r>
              <a:rPr lang="en-US" sz="1100" dirty="0">
                <a:solidFill>
                  <a:srgbClr val="8FB3A0"/>
                </a:solidFill>
                <a:latin typeface="Courier New" pitchFamily="34" charset="0"/>
                <a:ea typeface="Courier New" pitchFamily="34" charset="-122"/>
                <a:cs typeface="Courier New" pitchFamily="34" charset="-120"/>
              </a:rPr>
              <a:t># on the worm: try again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 a cell at random, then look at the map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Occupied: draw again, until a free cell comes</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column waits in s0 during the second call</a:t>
            </a:r>
            <a:endParaRPr lang="en-US" sz="1700" dirty="0"/>
          </a:p>
        </p:txBody>
      </p:sp>
      <p:sp>
        <p:nvSpPr>
          <p:cNvPr id="14" name="Shape 12"/>
          <p:cNvSpPr/>
          <p:nvPr/>
        </p:nvSpPr>
        <p:spPr>
          <a:xfrm>
            <a:off x="7865821" y="91440"/>
            <a:ext cx="3777234" cy="274320"/>
          </a:xfrm>
          <a:prstGeom prst="rect">
            <a:avLst/>
          </a:prstGeom>
          <a:solidFill>
            <a:srgbClr val="FEF3C7"/>
          </a:solidFill>
          <a:ln w="12700">
            <a:solidFill>
              <a:srgbClr val="B45309"/>
            </a:solidFill>
            <a:prstDash val="solid"/>
          </a:ln>
        </p:spPr>
      </p:sp>
      <p:sp>
        <p:nvSpPr>
          <p:cNvPr id="15" name="Shape 13"/>
          <p:cNvSpPr/>
          <p:nvPr/>
        </p:nvSpPr>
        <p:spPr>
          <a:xfrm>
            <a:off x="7865821" y="91440"/>
            <a:ext cx="27432" cy="274320"/>
          </a:xfrm>
          <a:prstGeom prst="rect">
            <a:avLst/>
          </a:prstGeom>
          <a:solidFill>
            <a:srgbClr val="B45309"/>
          </a:solidFill>
          <a:ln w="12700">
            <a:solidFill>
              <a:srgbClr val="B45309"/>
            </a:solidFill>
            <a:prstDash val="solid"/>
          </a:ln>
        </p:spPr>
      </p:sp>
      <p:sp>
        <p:nvSpPr>
          <p:cNvPr id="16" name="Shape 14"/>
          <p:cNvSpPr/>
          <p:nvPr/>
        </p:nvSpPr>
        <p:spPr>
          <a:xfrm>
            <a:off x="7920685"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18" name="Text 15"/>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Verm1, Part 3</a:t>
            </a:r>
            <a:endParaRPr lang="en-US" sz="3200" dirty="0"/>
          </a:p>
        </p:txBody>
      </p:sp>
      <p:sp>
        <p:nvSpPr>
          <p:cNvPr id="3" name="Shape 1"/>
          <p:cNvSpPr/>
          <p:nvPr/>
        </p:nvSpPr>
        <p:spPr>
          <a:xfrm>
            <a:off x="548640" y="1417320"/>
            <a:ext cx="5410048"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3_play.png">    </p:cNvPr>
          <p:cNvPicPr>
            <a:picLocks noChangeAspect="1"/>
          </p:cNvPicPr>
          <p:nvPr/>
        </p:nvPicPr>
        <p:blipFill>
          <a:blip r:embed="rId1"/>
          <a:stretch>
            <a:fillRect/>
          </a:stretch>
        </p:blipFill>
        <p:spPr>
          <a:xfrm>
            <a:off x="803072" y="1554480"/>
            <a:ext cx="4901184" cy="3063240"/>
          </a:xfrm>
          <a:prstGeom prst="rect">
            <a:avLst/>
          </a:prstGeom>
        </p:spPr>
      </p:pic>
      <p:sp>
        <p:nvSpPr>
          <p:cNvPr id="5" name="Text 2"/>
          <p:cNvSpPr txBox="1"/>
          <p:nvPr/>
        </p:nvSpPr>
        <p:spPr>
          <a:xfrm>
            <a:off x="685800"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After four meals: seven cells and four marks</a:t>
            </a:r>
            <a:endParaRPr lang="en-US" sz="1500" dirty="0"/>
          </a:p>
        </p:txBody>
      </p:sp>
      <p:sp>
        <p:nvSpPr>
          <p:cNvPr id="6" name="Shape 3"/>
          <p:cNvSpPr/>
          <p:nvPr/>
        </p:nvSpPr>
        <p:spPr>
          <a:xfrm>
            <a:off x="6233008" y="1417320"/>
            <a:ext cx="5410048" cy="3931920"/>
          </a:xfrm>
          <a:prstGeom prst="roundRect">
            <a:avLst>
              <a:gd name="adj" fmla="val 1860"/>
            </a:avLst>
          </a:prstGeom>
          <a:solidFill>
            <a:srgbClr val="EEF2F4"/>
          </a:solidFill>
          <a:ln w="12700">
            <a:solidFill>
              <a:srgbClr val="EEF2F4"/>
            </a:solidFill>
            <a:prstDash val="solid"/>
          </a:ln>
        </p:spPr>
      </p:sp>
      <p:pic>
        <p:nvPicPr>
          <p:cNvPr id="7" name="Image 1" descr="/Users/raffaelemontella/devel/riscv-prg32/computer-architecture-with-prg32/tools/assets/verm1_p3_over.png">    </p:cNvPr>
          <p:cNvPicPr>
            <a:picLocks noChangeAspect="1"/>
          </p:cNvPicPr>
          <p:nvPr/>
        </p:nvPicPr>
        <p:blipFill>
          <a:blip r:embed="rId2"/>
          <a:stretch>
            <a:fillRect/>
          </a:stretch>
        </p:blipFill>
        <p:spPr>
          <a:xfrm>
            <a:off x="6487439" y="1554480"/>
            <a:ext cx="4901184" cy="3063240"/>
          </a:xfrm>
          <a:prstGeom prst="rect">
            <a:avLst/>
          </a:prstGeom>
        </p:spPr>
      </p:pic>
      <p:sp>
        <p:nvSpPr>
          <p:cNvPr id="8" name="Text 4"/>
          <p:cNvSpPr txBox="1"/>
          <p:nvPr/>
        </p:nvSpPr>
        <p:spPr>
          <a:xfrm>
            <a:off x="6370168"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worm has bitten itself</a:t>
            </a:r>
            <a:endParaRPr lang="en-US" sz="1500" dirty="0"/>
          </a:p>
        </p:txBody>
      </p:sp>
      <p:sp>
        <p:nvSpPr>
          <p:cNvPr id="9" name="Text 5"/>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the worm follows the head and grows; turning into the body ends the game; A returns to the title, A again starts a new game.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Appendix: two functions that did not change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eat_sound and draw_cell are those of Part 2: keep them as they are</a:t>
            </a:r>
            <a:endParaRPr lang="en-US" sz="2400" dirty="0"/>
          </a:p>
        </p:txBody>
      </p:sp>
      <p:sp>
        <p:nvSpPr>
          <p:cNvPr id="5" name="Shape 3"/>
          <p:cNvSpPr/>
          <p:nvPr/>
        </p:nvSpPr>
        <p:spPr>
          <a:xfrm>
            <a:off x="548640" y="25511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2925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are on the next two slides, so that this deck contains the whole program</a:t>
            </a:r>
            <a:endParaRPr lang="en-US" sz="2400" dirty="0"/>
          </a:p>
        </p:txBody>
      </p:sp>
      <p:sp>
        <p:nvSpPr>
          <p:cNvPr id="7" name="Shape 5"/>
          <p:cNvSpPr/>
          <p:nvPr/>
        </p:nvSpPr>
        <p:spPr>
          <a:xfrm>
            <a:off x="548640" y="375208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016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complete file is the sum of the slides marked NEW and CHANGED, plus these two</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eat_sound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eat_sound: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                  </a:t>
            </a:r>
            <a:pPr indent="0" marL="0">
              <a:buNone/>
            </a:pPr>
            <a:r>
              <a:rPr lang="en-US" sz="1800" dirty="0">
                <a:solidFill>
                  <a:srgbClr val="8FB3A0"/>
                </a:solidFill>
                <a:latin typeface="Courier New" pitchFamily="34" charset="0"/>
                <a:ea typeface="Courier New" pitchFamily="34" charset="-122"/>
                <a:cs typeface="Courier New" pitchFamily="34" charset="-120"/>
              </a:rPr>
              <a:t># channel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0                  </a:t>
            </a:r>
            <a:pPr indent="0" marL="0">
              <a:buNone/>
            </a:pPr>
            <a:r>
              <a:rPr lang="en-US" sz="1800" dirty="0">
                <a:solidFill>
                  <a:srgbClr val="8FB3A0"/>
                </a:solidFill>
                <a:latin typeface="Courier New" pitchFamily="34" charset="0"/>
                <a:ea typeface="Courier New" pitchFamily="34" charset="-122"/>
                <a:cs typeface="Courier New" pitchFamily="34" charset="-120"/>
              </a:rPr>
              <a:t># instrument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72                 </a:t>
            </a:r>
            <a:pPr indent="0" marL="0">
              <a:buNone/>
            </a:pPr>
            <a:r>
              <a:rPr lang="en-US" sz="1800" dirty="0">
                <a:solidFill>
                  <a:srgbClr val="8FB3A0"/>
                </a:solidFill>
                <a:latin typeface="Courier New" pitchFamily="34" charset="0"/>
                <a:ea typeface="Courier New" pitchFamily="34" charset="-122"/>
                <a:cs typeface="Courier New" pitchFamily="34" charset="-120"/>
              </a:rPr>
              <a:t># note: C5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255                </a:t>
            </a:r>
            <a:pPr indent="0" marL="0">
              <a:buNone/>
            </a:pPr>
            <a:r>
              <a:rPr lang="en-US" sz="1800" dirty="0">
                <a:solidFill>
                  <a:srgbClr val="8FB3A0"/>
                </a:solidFill>
                <a:latin typeface="Courier New" pitchFamily="34" charset="0"/>
                <a:ea typeface="Courier New" pitchFamily="34" charset="-122"/>
                <a:cs typeface="Courier New" pitchFamily="34" charset="-120"/>
              </a:rPr>
              <a:t># volume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60                 </a:t>
            </a:r>
            <a:pPr indent="0" marL="0">
              <a:buNone/>
            </a:pPr>
            <a:r>
              <a:rPr lang="en-US" sz="1800" dirty="0">
                <a:solidFill>
                  <a:srgbClr val="8FB3A0"/>
                </a:solidFill>
                <a:latin typeface="Courier New" pitchFamily="34" charset="0"/>
                <a:ea typeface="Courier New" pitchFamily="34" charset="-122"/>
                <a:cs typeface="Courier New" pitchFamily="34" charset="-120"/>
              </a:rPr>
              <a:t># milliseconds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prg32_audio_note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note of 60 milliseconds, as in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Column, row and colour in; one rectangle out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title screen; after A, a worm of three cells that grows by one at every meal; biting the body ends the game, and A returns to the title.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p3_play.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Walls: the worm dies when it leaves the screen instead of wrapping</a:t>
            </a:r>
            <a:endParaRPr lang="en-US" sz="2400" dirty="0"/>
          </a:p>
        </p:txBody>
      </p:sp>
      <p:sp>
        <p:nvSpPr>
          <p:cNvPr id="6" name="Text 4"/>
          <p:cNvSpPr txBox="1"/>
          <p:nvPr/>
        </p:nvSpPr>
        <p:spPr>
          <a:xfrm>
            <a:off x="548640" y="22443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60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Start with a worm of five cells; then let the length at the start depend on the best score</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Poison: a second, blue cell that makes the worm one cell shorter</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game-over screen show the best score as marks on the second line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touches one or two functions. Keep a copy of the working Part 3: Part 4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3: A Body, Rules and States: the code</dc:title>
  <dc:subject>Lecture 17</dc:subject>
  <dc:creator>Raffaele Montella</dc:creator>
  <cp:lastModifiedBy>Raffaele Montella</cp:lastModifiedBy>
  <cp:revision>1</cp:revision>
  <dcterms:created xsi:type="dcterms:W3CDTF">2026-10-16T16:46:56Z</dcterms:created>
  <dcterms:modified xsi:type="dcterms:W3CDTF">2026-10-16T16:46:56Z</dcterms:modified>
</cp:coreProperties>
</file>