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51100ee-5806-5d54-8337-7ed7a15dd7fa}">
          <p14:sldIdLst>
            <p14:sldId id="256"/>
            <p14:sldId id="257"/>
          </p14:sldIdLst>
        </p14:section>
        <p14:section name="Bases and conversions" id="{c314dfce-c8dd-f13c-4674-aaeec8028a1b}">
          <p14:sldIdLst>
            <p14:sldId id="258"/>
            <p14:sldId id="259"/>
            <p14:sldId id="260"/>
            <p14:sldId id="261"/>
          </p14:sldIdLst>
        </p14:section>
        <p14:section name="Natural numbers and overflow" id="{d610a5b9-792e-4cf0-ecc3-70174409384d}">
          <p14:sldIdLst>
            <p14:sldId id="262"/>
            <p14:sldId id="263"/>
            <p14:sldId id="264"/>
          </p14:sldIdLst>
        </p14:section>
        <p14:section name="Signed integers" id="{0d93d285-4613-f4d1-ef30-fa40a173c8f9}">
          <p14:sldIdLst>
            <p14:sldId id="265"/>
            <p14:sldId id="266"/>
            <p14:sldId id="267"/>
            <p14:sldId id="268"/>
            <p14:sldId id="269"/>
            <p14:sldId id="270"/>
          </p14:sldIdLst>
        </p14:section>
        <p14:section name="Back to the machine" id="{f2f2aa3e-af6b-4a1a-b2b7-c955fde51a4e}">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begins the formal treatment of numbers. It opens with a small surprise on the machine, a marker that walks left past zero and shows FFFFFFFF, and it ends by explaining exactly why that happens. In between you learn to convert between bases, to say which numbers fit in a given number of bits, and to write negative numbers. The quotation by Trilussa, the One arguing with the Zero, is a reminder that in a positional system even a zero has its weight.
For the lecturer: Original quotation (Romanesco): «Conterò poco, è vero: - diceva l'Uno ar Zero - ma tu che vali? Gnente: propio gnente.» Spiral: the lecture opens with the marker of textbook lab 06 moving left past zero, and closes by explaining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The first three are skills on paper: converting between bases 2, 8, 10 and 16, saying which naturals fit in n bits, and encoding signed integers in two ways. The fourth is arithmetic: adding, subtracting and negating in two's complement, and recognising an overflow. The last two return to the machine: explaining the FFFFFFFF of the warm-up, and choosing the RISC-V instruction that reads the same bits as signed or as unsigned.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positional system with base b uses b digits, from 0 to b minus 1, and the value of a number is the sum of each digit times the power of b that corresponds to its position: the formula in the caption. The table shows thirteen in four bases: 1101 in binary, 15 in octal, 13 in decimal, D in hexadecimal. It is always the same number: only its writing changes. Base 10 has no special status for a machine; it is the base of people with ten fingers.
For the lecturer: A number N is a string of digits d(n-1) ... d(1) d(0), each smaller than the base b. The value is the sum of each digit times the power of the base of its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that are powers of two share the same bits. The slide takes 127, writes it in binary, and groups the bits from the right: in fours, each group is one hexadecimal digit, giving 7F; in threes, each group is one octal digit, giving 177. No division is needed, only a table lookup. Two details: always group from the right, the least significant end, and pad the leftmost group with zeros if it is incomplete.
For the lecturer: Group from the right (the least significant end) and pad with zeros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convert an integer from base 10 to base r, divide by r repeatedly: each remainder is a digit, and the quotient is divided again until it becomes zero. The three tables do it for 127 with r equal to 8, 16 and 2. The yellow box holds the detail that is most often got wrong: the first remainder is the least significant digit, so the remainders must be read from the bottom up. Check: 177 in octal is 64 + 56 + 7 = 127.
For the lecturer: N = Q(n) r^(n+1) + R(n) r^n + ... + R(1) r + R(0). In C the two operations are / and %; in RISC-V (M extension) they are divu and remu.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number between 0 and 1 the procedure is the mirror image: multiply by r repeatedly; each time the integer part of the product is a digit, starting from the most significant, and the fractional part is multiplied again. 0.875 gives 0.111 and stops, because the fraction becomes zero. 0.8 never stops: the same fractions return, and the digits 1100 repeat for ever. A number that is finite in base ten can be periodic in base two, and with a finite number of bits it must be cut. This is the origin of the rounding errors of Lecture 06.
For the lecturer: N = R(1) r^-1 + R(2) r^-2 + ... The source slides linked two online converters (fermimn.edu.it and fauser.edu); any modern calculator in programmer mode does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natural numbers the law is the simplest possible: X is x written in binary. With n bits there are 2 to the n patterns, so the numbers go from 0 to 2 to the n minus 1: with four bits, from 0 to 15, as the strip shows. The table gives the cases you meet on RISC-V: a byte reaches 255, a halfword 65,535, a word 4,294,967,295. The last is the unsigned reading of FFFFFFFF: half of the answer to the warm-up.
For the lecturer: 4,294,967,295 is the unsigned reading of 0xFFFFFFFF: the first half of the answer to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to remember. A register has a finite number of bits, so it represents a finite subset of an infinite set of numbers. The arithmetic operations are closed on the whole set, not on the subset: the sum of two representable numbers may fall outside. When this happens there is an overflow. The example uses seven bits, which cover 0 to 127: 100 and 38 are both representable, and their sum, 138, is not. Overflow is not a fault of the machine: it is a consequence of finiteness.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calculations on four bits, done column by column as in decimal: 1 plus 1 is 0 with a carry of 1. Six plus eight fits. Fourteen plus three gives seventeen, which needs a fifth bit: an overflow. The difference borrows as in decimal. The product of two numbers of n bits may need 2n bits, which is why RISC-V has two instructions: mul for the low half of the product and mulhu for the high half. Redo the four calculations by hand, covering the results.
For the lecturer: The source slide said the overflow 'can be detected through the overflow bit': true of processors with a flags register, not of RISC-V. See the last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natural idea: use the leftmost bit for the sign and the remaining bits for the magnitude. It is easy for a person to read, and it has two defects. Zero has two representations, plus zero and minus zero. And arithmetic is awkward: to add two numbers of opposite sign the circuit must compare the magnitudes, subtract the smaller from the larger and choose the sign. A representation that makes addition complicated is a poor law in the sense of the previous section.
For the lecturer: Simple for people, awkward for circuits. It survives in the mantissa of IEEE 754 floating-point numbers (Lecture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Two's complement. Non-negative numbers are represented by themselves. A negative number x is represented by 2 to the n minus its magnitude: on four bits, minus 3 is 16 minus 3, that is 13, 1101. The range is not symmetric: from minus 2 to the n minus 1 up to 2 to the n minus 1, minus 1, so on four bits from minus 8 to plus 7. Zero has one representation only, and the leftmost bit is 1 exactly when the number is negative. For a 32-bit register the range is about minus two billion to plus two billion.
For the lecturer: Also called radix complement (complemento alla base). The asymmetry of the range (one more negative number) has a consequence: negating the most negative number overflows.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sixteen patterns read in three ways. In the left table, where the leftmost bit is 0, the three readings agree. In the right table they differ: 1000 is 8 as unsigned, minus zero in sign and magnitude, and minus 8 in two's complement; 1111 is 15, minus 7 or minus 1. The sentence at the bottom is the key to the whole lecture: the bits do not say which column is right. The program says it, through the instructions it chooses.
For the lecturer: Highlighted: 1000 is minus zero in sign and magnitude but -8 in two's complement; 1111 is -7 or -1. One's complement and excess-8 are added to this table in Lecture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n bits the numbers form a circle: after the last pattern comes the first. Adding 1 moves one step clockwise. The inner ring gives the unsigned value, the outer discs the value in two's complement. The wheel "breaks" in two different places. For the unsigned reading the break is at the top, between 1111 and 0000: crossing it is a carry. For two's complement it is at the bottom, between 0111 and 1000: crossing it is a signed overflow. And one step back from 0000 is 1111: this is the FFFFFFFF of the warm-up.
For the lecturer: Inner ring: unsigned value. Middle: bits. Outer discs: two's complement value. The same adder serves both readings: only the place where the wheel 'breaks'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calculations that show the advantage of two's complement. To add 2 and minus 6, simply add the two patterns: 0010 plus 1010 is 1100, which reads minus 4. To add two negative numbers, add the patterns and discard the carry out of the leftmost position. Even the product works on the low four bits. The first row of bullets is the point: the adder does not need to know the signs. The circuit that adds natural numbers already gives the right answer for signed ones.
For the lecturer: Check of the product: 2 x 13 = 26 = 1 1010; the low four bits are 1010, which reads -6. This is why RISC-V has a single mul for signed and unsigned operands.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overflows, and they are independent. For unsigned numbers, overflow is a carry out of the leftmost bit: 128 plus 130 on eight bits leaves 2 in the register. For signed numbers, overflow is a result with the wrong sign: 127 plus 127 produces no carry out, but the pattern reads minus 2. The rule: two positive operands that give a negative sum, or two negative ones that give a positive sum. Two operands of opposite sign can never overflow, because the result lies between them.
For the lecturer: Equivalent circuit rule for signed overflow: the carry into the most significant bit differs from the carry out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number moved to more bits without changing its value? For two's complement, copy the sign bit into all the new positions: minus 1 on four bits, 1111, becomes 1111 1111 on eight; plus 5, 0101, becomes 0000 0101. This is sign extension. The processor does it whenever a short value meets a long one: the twelve-bit constant of addi is sign-extended to thirty-two bits, and lb sign-extends the byte it loads, while lbu fills with zeros.
For the lecturer: Extending with zeros would turn 1111 (-1) into 0000 1111 (+15). Sign extension is the signed counterpart of the 'extension on the left' property seen for naturals.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leftmost bit is 1, so the number is negative: discard 252, which is the unsigned reading. To find the magnitude, change the sign: complement, 0000 0011, and add one, 0000 0100, which is 4. The pattern is minus 4.
On eight bits in two's complement the range is from minus 128 to plus 127. Compute each sum and see whether it falls in the range. Remember that operands of opposite sign cannot overflow, which excludes two options at once.
For the lecturer: 1. Answer: B. Complement and add one: 0000 0011 + 1 = 0000 0100 = 4, so the pattern is -4. (252 is its unsigned reading.)
2. Answer: B. The range is [-128, 127]. 100 + 27 = 127 fits; 100 + 28 = 128 does not: two positives give a negative pattern (1000 0000 = -128).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registers, two instructions that differ by one letter. slt reads FFFFFFFF as minus 1, which is less than 1. sltu reads it as more than four billion, which is not. This question is the whole lecture in one line.
Use repeated multiplication: 0.625 times 2 is 1.25, digit 1; 0.25 times 2 is 0.5, digit 0; 0.5 times 2 is 1.0, digit 1. Check with the weights: one half plus one eighth is 0.625.
For the lecturer: 1. Answer: C. Signed: -1 &lt; 1 is true, so t2 = 1. Unsigned: 4,294,967,295 &lt; 1 is false, so t3 = 0.
2. Answer: A. 0.625 x 2 = 1.25 (1); 0.25 x 2 = 0.5 (0); 0.5 x 2 = 1.0 (1): 0.101 = 1/2 + 1/8.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Signed integer is in Italian numero relativo or intero con segno. Carry and borrow are the digit carried in an addition and the one borrowed in a subtraction. Sign extension is the operation that widens a signed number. To clamp has no single Italian word: it means to limit a value to an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Each base has its use: two for circuits, sixteen for people who read bits. With n bits there are 2 to the n numbers, and the encoding law says which. Two's complement turns subtraction into addition. Overflow is the price of finite registers: detect it, or design it away as with the clamp. And in RISC-V the bits have no type: the instruction chooses. The next lecture completes the picture with the real numbers.
For the lecturer: Next lecture: one's complement, excess-k, fixed point and IEEE 754 floating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05: Number representation (integers)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Integers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Bases, natural numbers, two's complement and overflow</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 may count for little, it's true, said the One to the Zero, but what are you worth? Nothing: nothing at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05-Computer_Architecture-Number_Representation_Integers-Code.pptx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2_move.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 integers and fractions between bases 2, 8, 10 and 16</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which natural numbers fit in n bits and recognise an overflow</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and decode signed integers in sign and magnitude and in two's complement</a:t>
            </a:r>
            <a:endParaRPr lang="en-US" sz="2200" dirty="0"/>
          </a:p>
        </p:txBody>
      </p:sp>
      <p:sp>
        <p:nvSpPr>
          <p:cNvPr id="9" name="Text 7"/>
          <p:cNvSpPr txBox="1"/>
          <p:nvPr/>
        </p:nvSpPr>
        <p:spPr>
          <a:xfrm>
            <a:off x="548640" y="41223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1040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Add, subtract and negate in two's complement, and detect overflow</a:t>
            </a:r>
            <a:endParaRPr lang="en-US" sz="2200" dirty="0"/>
          </a:p>
        </p:txBody>
      </p:sp>
      <p:sp>
        <p:nvSpPr>
          <p:cNvPr id="11" name="Text 9"/>
          <p:cNvSpPr txBox="1"/>
          <p:nvPr/>
        </p:nvSpPr>
        <p:spPr>
          <a:xfrm>
            <a:off x="548640" y="493694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91865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0 - 1 shows as 0xFFFFFFFF in a RISC-V register</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Choose the right RISC-V instruction for signed and for unsigned data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Positional systems: base 2, 8, 10 and 16</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30264"/>
                <a:gridCol w="3443094"/>
                <a:gridCol w="2869245"/>
                <a:gridCol w="325181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Base b</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Digits</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Name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Thirteen is written</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2</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binary</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1101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8</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0, 1, ..., 7</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octal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15</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10</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0, 1, ..., 9</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decimal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13</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16</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 9, A, ..., F</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hexadecimal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D</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 d(n-1) x b^(n-1) + ... + d(1) x b + d(0), with every digit between 0 and b - 1.</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Bases that are powers of two share the same bits</a:t>
            </a:r>
            <a:endParaRPr lang="en-US" sz="3200" dirty="0"/>
          </a:p>
        </p:txBody>
      </p:sp>
      <p:sp>
        <p:nvSpPr>
          <p:cNvPr id="3" name="Text 1"/>
          <p:cNvSpPr txBox="1"/>
          <p:nvPr/>
        </p:nvSpPr>
        <p:spPr>
          <a:xfrm>
            <a:off x="548640" y="169164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127 in base 10</a:t>
            </a:r>
            <a:endParaRPr lang="en-US" sz="1800" dirty="0"/>
          </a:p>
        </p:txBody>
      </p:sp>
      <p:sp>
        <p:nvSpPr>
          <p:cNvPr id="4" name="Text 2"/>
          <p:cNvSpPr txBox="1"/>
          <p:nvPr/>
        </p:nvSpPr>
        <p:spPr>
          <a:xfrm>
            <a:off x="429768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0</a:t>
            </a:r>
            <a:endParaRPr lang="en-US" sz="2200" dirty="0"/>
          </a:p>
        </p:txBody>
      </p:sp>
      <p:sp>
        <p:nvSpPr>
          <p:cNvPr id="5" name="Text 3"/>
          <p:cNvSpPr txBox="1"/>
          <p:nvPr/>
        </p:nvSpPr>
        <p:spPr>
          <a:xfrm>
            <a:off x="486460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6" name="Text 4"/>
          <p:cNvSpPr txBox="1"/>
          <p:nvPr/>
        </p:nvSpPr>
        <p:spPr>
          <a:xfrm>
            <a:off x="543153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7" name="Text 5"/>
          <p:cNvSpPr txBox="1"/>
          <p:nvPr/>
        </p:nvSpPr>
        <p:spPr>
          <a:xfrm>
            <a:off x="5998464"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8" name="Text 6"/>
          <p:cNvSpPr txBox="1"/>
          <p:nvPr/>
        </p:nvSpPr>
        <p:spPr>
          <a:xfrm>
            <a:off x="6565392"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9" name="Text 7"/>
          <p:cNvSpPr txBox="1"/>
          <p:nvPr/>
        </p:nvSpPr>
        <p:spPr>
          <a:xfrm>
            <a:off x="713232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0" name="Text 8"/>
          <p:cNvSpPr txBox="1"/>
          <p:nvPr/>
        </p:nvSpPr>
        <p:spPr>
          <a:xfrm>
            <a:off x="769924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1" name="Text 9"/>
          <p:cNvSpPr txBox="1"/>
          <p:nvPr/>
        </p:nvSpPr>
        <p:spPr>
          <a:xfrm>
            <a:off x="826617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2" name="Text 10"/>
          <p:cNvSpPr txBox="1"/>
          <p:nvPr/>
        </p:nvSpPr>
        <p:spPr>
          <a:xfrm>
            <a:off x="548640" y="292608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groups of 4: hexadecimal</a:t>
            </a:r>
            <a:endParaRPr lang="en-US" sz="1800" dirty="0"/>
          </a:p>
        </p:txBody>
      </p:sp>
      <p:sp>
        <p:nvSpPr>
          <p:cNvPr id="13" name="Text 11"/>
          <p:cNvSpPr txBox="1"/>
          <p:nvPr/>
        </p:nvSpPr>
        <p:spPr>
          <a:xfrm>
            <a:off x="4297680" y="2926080"/>
            <a:ext cx="2267712" cy="64008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0111 = 7</a:t>
            </a:r>
            <a:endParaRPr lang="en-US" sz="2000" dirty="0"/>
          </a:p>
        </p:txBody>
      </p:sp>
      <p:sp>
        <p:nvSpPr>
          <p:cNvPr id="14" name="Text 12"/>
          <p:cNvSpPr txBox="1"/>
          <p:nvPr/>
        </p:nvSpPr>
        <p:spPr>
          <a:xfrm>
            <a:off x="6565392" y="2926080"/>
            <a:ext cx="2267712" cy="64008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1111 = F</a:t>
            </a:r>
            <a:endParaRPr lang="en-US" sz="2000" dirty="0"/>
          </a:p>
        </p:txBody>
      </p:sp>
      <p:sp>
        <p:nvSpPr>
          <p:cNvPr id="15" name="Text 13"/>
          <p:cNvSpPr txBox="1"/>
          <p:nvPr/>
        </p:nvSpPr>
        <p:spPr>
          <a:xfrm>
            <a:off x="8961120" y="2926080"/>
            <a:ext cx="201168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0x7F</a:t>
            </a:r>
            <a:endParaRPr lang="en-US" sz="2400" dirty="0"/>
          </a:p>
        </p:txBody>
      </p:sp>
      <p:sp>
        <p:nvSpPr>
          <p:cNvPr id="16" name="Text 14"/>
          <p:cNvSpPr txBox="1"/>
          <p:nvPr/>
        </p:nvSpPr>
        <p:spPr>
          <a:xfrm>
            <a:off x="548640" y="411480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groups of 3: octal</a:t>
            </a:r>
            <a:endParaRPr lang="en-US" sz="1800" dirty="0"/>
          </a:p>
        </p:txBody>
      </p:sp>
      <p:sp>
        <p:nvSpPr>
          <p:cNvPr id="17" name="Text 15"/>
          <p:cNvSpPr txBox="1"/>
          <p:nvPr/>
        </p:nvSpPr>
        <p:spPr>
          <a:xfrm>
            <a:off x="4297680" y="4114800"/>
            <a:ext cx="1133856" cy="64008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01 = 1</a:t>
            </a:r>
            <a:endParaRPr lang="en-US" sz="1800" dirty="0"/>
          </a:p>
        </p:txBody>
      </p:sp>
      <p:sp>
        <p:nvSpPr>
          <p:cNvPr id="18" name="Text 16"/>
          <p:cNvSpPr txBox="1"/>
          <p:nvPr/>
        </p:nvSpPr>
        <p:spPr>
          <a:xfrm>
            <a:off x="5431536" y="4114800"/>
            <a:ext cx="1700784" cy="64008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19" name="Text 17"/>
          <p:cNvSpPr txBox="1"/>
          <p:nvPr/>
        </p:nvSpPr>
        <p:spPr>
          <a:xfrm>
            <a:off x="7132320" y="4114800"/>
            <a:ext cx="1700784" cy="640080"/>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20" name="Text 18"/>
          <p:cNvSpPr txBox="1"/>
          <p:nvPr/>
        </p:nvSpPr>
        <p:spPr>
          <a:xfrm>
            <a:off x="8961120" y="4114800"/>
            <a:ext cx="274320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177 octal</a:t>
            </a:r>
            <a:endParaRPr lang="en-US" sz="2400" dirty="0"/>
          </a:p>
        </p:txBody>
      </p:sp>
      <p:sp>
        <p:nvSpPr>
          <p:cNvPr id="21" name="Shape 19"/>
          <p:cNvSpPr/>
          <p:nvPr/>
        </p:nvSpPr>
        <p:spPr>
          <a:xfrm>
            <a:off x="548640" y="5120640"/>
            <a:ext cx="11094415" cy="1051560"/>
          </a:xfrm>
          <a:prstGeom prst="roundRect">
            <a:avLst>
              <a:gd name="adj" fmla="val 6957"/>
            </a:avLst>
          </a:prstGeom>
          <a:solidFill>
            <a:srgbClr val="D8ECEE"/>
          </a:solidFill>
          <a:ln w="12700">
            <a:solidFill>
              <a:srgbClr val="D8ECEE"/>
            </a:solidFill>
            <a:prstDash val="solid"/>
          </a:ln>
        </p:spPr>
      </p:sp>
      <p:sp>
        <p:nvSpPr>
          <p:cNvPr id="22" name="Text 20"/>
          <p:cNvSpPr txBox="1"/>
          <p:nvPr/>
        </p:nvSpPr>
        <p:spPr>
          <a:xfrm>
            <a:off x="822960" y="5166360"/>
            <a:ext cx="10545775" cy="96012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If each digit is written in pure binary, the bits of a number are the same in every base b = 2^k: group them from the right, k at a time. Example: 13 = 1101 in binary = 15 in octal = D in hexadecimal.</a:t>
            </a:r>
            <a:endParaRPr lang="en-US" sz="16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Converting an integer: repeated division</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Divide N by the base r; the remainder is the next digit, starting from the least significant. Repeat on the quotient until it is zero.</a:t>
            </a:r>
            <a:endParaRPr lang="en-US" sz="1700" dirty="0"/>
          </a:p>
        </p:txBody>
      </p:sp>
      <p:sp>
        <p:nvSpPr>
          <p:cNvPr id="4" name="Text 2"/>
          <p:cNvSpPr txBox="1"/>
          <p:nvPr/>
        </p:nvSpPr>
        <p:spPr>
          <a:xfrm>
            <a:off x="54864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8</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803904"/>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177 octal</a:t>
            </a:r>
            <a:endParaRPr lang="en-US" sz="1800" dirty="0"/>
          </a:p>
        </p:txBody>
      </p:sp>
      <p:sp>
        <p:nvSpPr>
          <p:cNvPr id="7" name="Text 4"/>
          <p:cNvSpPr txBox="1"/>
          <p:nvPr/>
        </p:nvSpPr>
        <p:spPr>
          <a:xfrm>
            <a:off x="4389120" y="2029968"/>
            <a:ext cx="315468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16</a:t>
            </a:r>
            <a:endParaRPr lang="en-US" sz="15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389120" y="2377440"/>
          <a:ext cx="3154680" cy="914400"/>
        </p:xfrm>
        <a:graphic>
          <a:graphicData uri="http://schemas.openxmlformats.org/drawingml/2006/table">
            <a:tbl>
              <a:tblPr/>
              <a:tblGrid>
                <a:gridCol w="1051560"/>
                <a:gridCol w="1051560"/>
                <a:gridCol w="105156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 = F</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4389120" y="3474720"/>
            <a:ext cx="370332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0x7F</a:t>
            </a:r>
            <a:endParaRPr lang="en-US" sz="1800" dirty="0"/>
          </a:p>
        </p:txBody>
      </p:sp>
      <p:sp>
        <p:nvSpPr>
          <p:cNvPr id="10" name="Text 6"/>
          <p:cNvSpPr txBox="1"/>
          <p:nvPr/>
        </p:nvSpPr>
        <p:spPr>
          <a:xfrm>
            <a:off x="827532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2</a:t>
            </a:r>
            <a:endParaRPr lang="en-US" sz="15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827532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2" name="Text 7"/>
          <p:cNvSpPr txBox="1"/>
          <p:nvPr/>
        </p:nvSpPr>
        <p:spPr>
          <a:xfrm>
            <a:off x="8275320" y="5120640"/>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1111111</a:t>
            </a:r>
            <a:endParaRPr lang="en-US" sz="1800" dirty="0"/>
          </a:p>
        </p:txBody>
      </p:sp>
      <p:sp>
        <p:nvSpPr>
          <p:cNvPr id="13" name="Shape 8"/>
          <p:cNvSpPr/>
          <p:nvPr/>
        </p:nvSpPr>
        <p:spPr>
          <a:xfrm>
            <a:off x="548640" y="4846320"/>
            <a:ext cx="7223760" cy="1325880"/>
          </a:xfrm>
          <a:prstGeom prst="roundRect">
            <a:avLst>
              <a:gd name="adj" fmla="val 5517"/>
            </a:avLst>
          </a:prstGeom>
          <a:solidFill>
            <a:srgbClr val="F6E7D2"/>
          </a:solidFill>
          <a:ln w="12700">
            <a:solidFill>
              <a:srgbClr val="F6E7D2"/>
            </a:solidFill>
            <a:prstDash val="solid"/>
          </a:ln>
        </p:spPr>
      </p:sp>
      <p:sp>
        <p:nvSpPr>
          <p:cNvPr id="14" name="Text 9"/>
          <p:cNvSpPr txBox="1"/>
          <p:nvPr/>
        </p:nvSpPr>
        <p:spPr>
          <a:xfrm>
            <a:off x="777240" y="4892040"/>
            <a:ext cx="6766560" cy="1234440"/>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Read the remainders from the bottom up: the last remainder is the most significant digit. The method follows from N = Q x r + R, applied again and again to the quotient.</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Converting a fraction: repeated multiplication</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For 0 &lt;= N &lt; 1, multiply by the base r: the integer part of the product is the next digit, starting from the most significant. Repeat on the fractional part.</a:t>
            </a:r>
            <a:endParaRPr lang="en-US" sz="1700" dirty="0"/>
          </a:p>
        </p:txBody>
      </p:sp>
      <p:sp>
        <p:nvSpPr>
          <p:cNvPr id="4" name="Text 2"/>
          <p:cNvSpPr txBox="1"/>
          <p:nvPr/>
        </p:nvSpPr>
        <p:spPr>
          <a:xfrm>
            <a:off x="54864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0.875 in base 2: exact</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Multiply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Fraction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Digit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931920"/>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0.875 = 0.111 in binary</a:t>
            </a:r>
            <a:endParaRPr lang="en-US" sz="1800" dirty="0"/>
          </a:p>
        </p:txBody>
      </p:sp>
      <p:sp>
        <p:nvSpPr>
          <p:cNvPr id="7" name="Text 4"/>
          <p:cNvSpPr txBox="1"/>
          <p:nvPr/>
        </p:nvSpPr>
        <p:spPr>
          <a:xfrm>
            <a:off x="658368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 in base 2: periodic</a:t>
            </a:r>
            <a:endParaRPr lang="en-US" sz="15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8368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Multiply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Fraction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Digit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1 ...</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9" name="Text 5"/>
          <p:cNvSpPr txBox="1"/>
          <p:nvPr/>
        </p:nvSpPr>
        <p:spPr>
          <a:xfrm>
            <a:off x="6583680" y="4599432"/>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 = 0.1100 1100 1100 ...</a:t>
            </a:r>
            <a:endParaRPr lang="en-US" sz="1800" dirty="0"/>
          </a:p>
        </p:txBody>
      </p:sp>
      <p:sp>
        <p:nvSpPr>
          <p:cNvPr id="10" name="Shape 6"/>
          <p:cNvSpPr/>
          <p:nvPr/>
        </p:nvSpPr>
        <p:spPr>
          <a:xfrm>
            <a:off x="548640" y="5074920"/>
            <a:ext cx="11094415" cy="1097280"/>
          </a:xfrm>
          <a:prstGeom prst="roundRect">
            <a:avLst>
              <a:gd name="adj" fmla="val 6667"/>
            </a:avLst>
          </a:prstGeom>
          <a:solidFill>
            <a:srgbClr val="F3DDE0"/>
          </a:solidFill>
          <a:ln w="12700">
            <a:solidFill>
              <a:srgbClr val="F3DDE0"/>
            </a:solidFill>
            <a:prstDash val="solid"/>
          </a:ln>
        </p:spPr>
      </p:sp>
      <p:sp>
        <p:nvSpPr>
          <p:cNvPr id="11" name="Text 7"/>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A fraction that is finite in base 10 can be periodic in base 2. With a finite number of bits it must be cut: this is where the approximation errors of real numbers come from (Lecture 06).</a:t>
            </a:r>
            <a:endParaRPr lang="en-US" sz="16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Natural numbers on n bits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With n bits there are 2^n patterns: the naturals from 0 to 2^n - 1</a:t>
            </a:r>
            <a:endParaRPr lang="en-US" sz="2300" dirty="0"/>
          </a:p>
        </p:txBody>
      </p:sp>
      <p:sp>
        <p:nvSpPr>
          <p:cNvPr id="5" name="Shape 3"/>
          <p:cNvSpPr/>
          <p:nvPr/>
        </p:nvSpPr>
        <p:spPr>
          <a:xfrm>
            <a:off x="548640" y="20532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39036"/>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Each number is associated with the string of bits that represents it in the binary positional system</a:t>
            </a:r>
            <a:endParaRPr lang="en-US" sz="2300" dirty="0"/>
          </a:p>
        </p:txBody>
      </p:sp>
      <p:sp>
        <p:nvSpPr>
          <p:cNvPr id="7" name="Text 5"/>
          <p:cNvSpPr txBox="1"/>
          <p:nvPr/>
        </p:nvSpPr>
        <p:spPr>
          <a:xfrm>
            <a:off x="548640" y="2834640"/>
            <a:ext cx="11094415"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Example: n = 4, range [0, 15]</a:t>
            </a:r>
            <a:endParaRPr lang="en-US" sz="1500" dirty="0"/>
          </a:p>
        </p:txBody>
      </p:sp>
      <p:sp>
        <p:nvSpPr>
          <p:cNvPr id="8" name="Text 6"/>
          <p:cNvSpPr txBox="1"/>
          <p:nvPr/>
        </p:nvSpPr>
        <p:spPr>
          <a:xfrm>
            <a:off x="54864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0000</a:t>
            </a:r>
            <a:endParaRPr lang="en-US" sz="1350" dirty="0"/>
          </a:p>
        </p:txBody>
      </p:sp>
      <p:sp>
        <p:nvSpPr>
          <p:cNvPr id="9" name="Text 7"/>
          <p:cNvSpPr txBox="1"/>
          <p:nvPr/>
        </p:nvSpPr>
        <p:spPr>
          <a:xfrm>
            <a:off x="54864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p>
        </p:txBody>
      </p:sp>
      <p:sp>
        <p:nvSpPr>
          <p:cNvPr id="10" name="Text 8"/>
          <p:cNvSpPr txBox="1"/>
          <p:nvPr/>
        </p:nvSpPr>
        <p:spPr>
          <a:xfrm>
            <a:off x="124204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0001</a:t>
            </a:r>
            <a:endParaRPr lang="en-US" sz="1350" dirty="0"/>
          </a:p>
        </p:txBody>
      </p:sp>
      <p:sp>
        <p:nvSpPr>
          <p:cNvPr id="11" name="Text 9"/>
          <p:cNvSpPr txBox="1"/>
          <p:nvPr/>
        </p:nvSpPr>
        <p:spPr>
          <a:xfrm>
            <a:off x="124204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p>
        </p:txBody>
      </p:sp>
      <p:sp>
        <p:nvSpPr>
          <p:cNvPr id="12" name="Text 10"/>
          <p:cNvSpPr txBox="1"/>
          <p:nvPr/>
        </p:nvSpPr>
        <p:spPr>
          <a:xfrm>
            <a:off x="193544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0010</a:t>
            </a:r>
            <a:endParaRPr lang="en-US" sz="1350" dirty="0"/>
          </a:p>
        </p:txBody>
      </p:sp>
      <p:sp>
        <p:nvSpPr>
          <p:cNvPr id="13" name="Text 11"/>
          <p:cNvSpPr txBox="1"/>
          <p:nvPr/>
        </p:nvSpPr>
        <p:spPr>
          <a:xfrm>
            <a:off x="193544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262884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0011</a:t>
            </a:r>
            <a:endParaRPr lang="en-US" sz="1350" dirty="0"/>
          </a:p>
        </p:txBody>
      </p:sp>
      <p:sp>
        <p:nvSpPr>
          <p:cNvPr id="15" name="Text 13"/>
          <p:cNvSpPr txBox="1"/>
          <p:nvPr/>
        </p:nvSpPr>
        <p:spPr>
          <a:xfrm>
            <a:off x="262884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332224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0100</a:t>
            </a:r>
            <a:endParaRPr lang="en-US" sz="1350" dirty="0"/>
          </a:p>
        </p:txBody>
      </p:sp>
      <p:sp>
        <p:nvSpPr>
          <p:cNvPr id="17" name="Text 15"/>
          <p:cNvSpPr txBox="1"/>
          <p:nvPr/>
        </p:nvSpPr>
        <p:spPr>
          <a:xfrm>
            <a:off x="332224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4015645"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0101</a:t>
            </a:r>
            <a:endParaRPr lang="en-US" sz="1350" dirty="0"/>
          </a:p>
        </p:txBody>
      </p:sp>
      <p:sp>
        <p:nvSpPr>
          <p:cNvPr id="19" name="Text 17"/>
          <p:cNvSpPr txBox="1"/>
          <p:nvPr/>
        </p:nvSpPr>
        <p:spPr>
          <a:xfrm>
            <a:off x="4015645"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p>
        </p:txBody>
      </p:sp>
      <p:sp>
        <p:nvSpPr>
          <p:cNvPr id="20" name="Text 18"/>
          <p:cNvSpPr txBox="1"/>
          <p:nvPr/>
        </p:nvSpPr>
        <p:spPr>
          <a:xfrm>
            <a:off x="4709046"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0110</a:t>
            </a:r>
            <a:endParaRPr lang="en-US" sz="1350" dirty="0"/>
          </a:p>
        </p:txBody>
      </p:sp>
      <p:sp>
        <p:nvSpPr>
          <p:cNvPr id="21" name="Text 19"/>
          <p:cNvSpPr txBox="1"/>
          <p:nvPr/>
        </p:nvSpPr>
        <p:spPr>
          <a:xfrm>
            <a:off x="4709046"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p>
        </p:txBody>
      </p:sp>
      <p:sp>
        <p:nvSpPr>
          <p:cNvPr id="22" name="Text 20"/>
          <p:cNvSpPr txBox="1"/>
          <p:nvPr/>
        </p:nvSpPr>
        <p:spPr>
          <a:xfrm>
            <a:off x="5402447"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0111</a:t>
            </a:r>
            <a:endParaRPr lang="en-US" sz="1350" dirty="0"/>
          </a:p>
        </p:txBody>
      </p:sp>
      <p:sp>
        <p:nvSpPr>
          <p:cNvPr id="23" name="Text 21"/>
          <p:cNvSpPr txBox="1"/>
          <p:nvPr/>
        </p:nvSpPr>
        <p:spPr>
          <a:xfrm>
            <a:off x="5402447"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p>
        </p:txBody>
      </p:sp>
      <p:sp>
        <p:nvSpPr>
          <p:cNvPr id="24" name="Text 22"/>
          <p:cNvSpPr txBox="1"/>
          <p:nvPr/>
        </p:nvSpPr>
        <p:spPr>
          <a:xfrm>
            <a:off x="6095848"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1000</a:t>
            </a:r>
            <a:endParaRPr lang="en-US" sz="1350" dirty="0"/>
          </a:p>
        </p:txBody>
      </p:sp>
      <p:sp>
        <p:nvSpPr>
          <p:cNvPr id="25" name="Text 23"/>
          <p:cNvSpPr txBox="1"/>
          <p:nvPr/>
        </p:nvSpPr>
        <p:spPr>
          <a:xfrm>
            <a:off x="6095848"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p>
        </p:txBody>
      </p:sp>
      <p:sp>
        <p:nvSpPr>
          <p:cNvPr id="26" name="Text 24"/>
          <p:cNvSpPr txBox="1"/>
          <p:nvPr/>
        </p:nvSpPr>
        <p:spPr>
          <a:xfrm>
            <a:off x="6789249"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1001</a:t>
            </a:r>
            <a:endParaRPr lang="en-US" sz="1350" dirty="0"/>
          </a:p>
        </p:txBody>
      </p:sp>
      <p:sp>
        <p:nvSpPr>
          <p:cNvPr id="27" name="Text 25"/>
          <p:cNvSpPr txBox="1"/>
          <p:nvPr/>
        </p:nvSpPr>
        <p:spPr>
          <a:xfrm>
            <a:off x="6789249"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p>
        </p:txBody>
      </p:sp>
      <p:sp>
        <p:nvSpPr>
          <p:cNvPr id="28" name="Text 26"/>
          <p:cNvSpPr txBox="1"/>
          <p:nvPr/>
        </p:nvSpPr>
        <p:spPr>
          <a:xfrm>
            <a:off x="74826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1010</a:t>
            </a:r>
            <a:endParaRPr lang="en-US" sz="1350" dirty="0"/>
          </a:p>
        </p:txBody>
      </p:sp>
      <p:sp>
        <p:nvSpPr>
          <p:cNvPr id="29" name="Text 27"/>
          <p:cNvSpPr txBox="1"/>
          <p:nvPr/>
        </p:nvSpPr>
        <p:spPr>
          <a:xfrm>
            <a:off x="74826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p>
        </p:txBody>
      </p:sp>
      <p:sp>
        <p:nvSpPr>
          <p:cNvPr id="30" name="Text 28"/>
          <p:cNvSpPr txBox="1"/>
          <p:nvPr/>
        </p:nvSpPr>
        <p:spPr>
          <a:xfrm>
            <a:off x="81760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1011</a:t>
            </a:r>
            <a:endParaRPr lang="en-US" sz="1350" dirty="0"/>
          </a:p>
        </p:txBody>
      </p:sp>
      <p:sp>
        <p:nvSpPr>
          <p:cNvPr id="31" name="Text 29"/>
          <p:cNvSpPr txBox="1"/>
          <p:nvPr/>
        </p:nvSpPr>
        <p:spPr>
          <a:xfrm>
            <a:off x="81760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p>
        </p:txBody>
      </p:sp>
      <p:sp>
        <p:nvSpPr>
          <p:cNvPr id="32" name="Text 30"/>
          <p:cNvSpPr txBox="1"/>
          <p:nvPr/>
        </p:nvSpPr>
        <p:spPr>
          <a:xfrm>
            <a:off x="886945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1100</a:t>
            </a:r>
            <a:endParaRPr lang="en-US" sz="1350" dirty="0"/>
          </a:p>
        </p:txBody>
      </p:sp>
      <p:sp>
        <p:nvSpPr>
          <p:cNvPr id="33" name="Text 31"/>
          <p:cNvSpPr txBox="1"/>
          <p:nvPr/>
        </p:nvSpPr>
        <p:spPr>
          <a:xfrm>
            <a:off x="886945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p>
        </p:txBody>
      </p:sp>
      <p:sp>
        <p:nvSpPr>
          <p:cNvPr id="34" name="Text 32"/>
          <p:cNvSpPr txBox="1"/>
          <p:nvPr/>
        </p:nvSpPr>
        <p:spPr>
          <a:xfrm>
            <a:off x="956285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1101</a:t>
            </a:r>
            <a:endParaRPr lang="en-US" sz="1350" dirty="0"/>
          </a:p>
        </p:txBody>
      </p:sp>
      <p:sp>
        <p:nvSpPr>
          <p:cNvPr id="35" name="Text 33"/>
          <p:cNvSpPr txBox="1"/>
          <p:nvPr/>
        </p:nvSpPr>
        <p:spPr>
          <a:xfrm>
            <a:off x="956285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p>
        </p:txBody>
      </p:sp>
      <p:sp>
        <p:nvSpPr>
          <p:cNvPr id="36" name="Text 34"/>
          <p:cNvSpPr txBox="1"/>
          <p:nvPr/>
        </p:nvSpPr>
        <p:spPr>
          <a:xfrm>
            <a:off x="1025625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1110</a:t>
            </a:r>
            <a:endParaRPr lang="en-US" sz="1350" dirty="0"/>
          </a:p>
        </p:txBody>
      </p:sp>
      <p:sp>
        <p:nvSpPr>
          <p:cNvPr id="37" name="Text 35"/>
          <p:cNvSpPr txBox="1"/>
          <p:nvPr/>
        </p:nvSpPr>
        <p:spPr>
          <a:xfrm>
            <a:off x="1025625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p>
        </p:txBody>
      </p:sp>
      <p:sp>
        <p:nvSpPr>
          <p:cNvPr id="38" name="Text 36"/>
          <p:cNvSpPr txBox="1"/>
          <p:nvPr/>
        </p:nvSpPr>
        <p:spPr>
          <a:xfrm>
            <a:off x="1094965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1111</a:t>
            </a:r>
            <a:endParaRPr lang="en-US" sz="1350" dirty="0"/>
          </a:p>
        </p:txBody>
      </p:sp>
      <p:sp>
        <p:nvSpPr>
          <p:cNvPr id="39" name="Text 37"/>
          <p:cNvSpPr txBox="1"/>
          <p:nvPr/>
        </p:nvSpPr>
        <p:spPr>
          <a:xfrm>
            <a:off x="1094965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094415" cy="914400"/>
        </p:xfrm>
        <a:graphic>
          <a:graphicData uri="http://schemas.openxmlformats.org/drawingml/2006/table">
            <a:tbl>
              <a:tblPr/>
              <a:tblGrid>
                <a:gridCol w="2743200"/>
                <a:gridCol w="2743200"/>
                <a:gridCol w="2743200"/>
                <a:gridCol w="286481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Range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Maximum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2^8 - 1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byte (lbu)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255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2^16 - 1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halfword (lhu)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65,535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2^32 - 1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word, register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4,294,967,295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Overflow</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An overflow occurs when the result of an operation is not contained in the finite subset of numbers that the available bits can represent.</a:t>
            </a:r>
            <a:endParaRPr lang="en-US" sz="23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Registers have a finite size and there is a finite number of them</a:t>
            </a:r>
            <a:endParaRPr lang="en-US" sz="2400" dirty="0"/>
          </a:p>
        </p:txBody>
      </p:sp>
      <p:sp>
        <p:nvSpPr>
          <p:cNvPr id="8" name="Shape 6"/>
          <p:cNvSpPr/>
          <p:nvPr/>
        </p:nvSpPr>
        <p:spPr>
          <a:xfrm>
            <a:off x="548640" y="4029795"/>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3907875"/>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Number sets are infinite: only a finite subset can be represented</a:t>
            </a:r>
            <a:endParaRPr lang="en-US" sz="2400" dirty="0"/>
          </a:p>
        </p:txBody>
      </p:sp>
      <p:sp>
        <p:nvSpPr>
          <p:cNvPr id="10" name="Shape 8"/>
          <p:cNvSpPr/>
          <p:nvPr/>
        </p:nvSpPr>
        <p:spPr>
          <a:xfrm>
            <a:off x="548640" y="460417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482253"/>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Arithmetic operators are closed on the whole set, not on the finite subset</a:t>
            </a:r>
            <a:endParaRPr lang="en-US" sz="2400" dirty="0"/>
          </a:p>
        </p:txBody>
      </p:sp>
      <p:sp>
        <p:nvSpPr>
          <p:cNvPr id="12" name="Shape 10"/>
          <p:cNvSpPr/>
          <p:nvPr/>
        </p:nvSpPr>
        <p:spPr>
          <a:xfrm>
            <a:off x="548640" y="5550408"/>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7 bits we encode [0, 127]: 100 and 38 are representable, their sum 138 is not</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Arithmetic on four bits</a:t>
            </a:r>
            <a:endParaRPr lang="en-US" sz="3200" dirty="0"/>
          </a:p>
        </p:txBody>
      </p:sp>
      <p:sp>
        <p:nvSpPr>
          <p:cNvPr id="3" name="Shape 1"/>
          <p:cNvSpPr/>
          <p:nvPr/>
        </p:nvSpPr>
        <p:spPr>
          <a:xfrm>
            <a:off x="548640" y="1463040"/>
            <a:ext cx="2567864"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Sum</a:t>
            </a:r>
            <a:endParaRPr lang="en-US" sz="1400" dirty="0"/>
          </a:p>
        </p:txBody>
      </p:sp>
      <p:sp>
        <p:nvSpPr>
          <p:cNvPr id="5" name="Text 3"/>
          <p:cNvSpPr txBox="1"/>
          <p:nvPr/>
        </p:nvSpPr>
        <p:spPr>
          <a:xfrm>
            <a:off x="731520"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14</a:t>
            </a:r>
            <a:endParaRPr lang="en-US" sz="1600" dirty="0"/>
          </a:p>
        </p:txBody>
      </p:sp>
      <p:sp>
        <p:nvSpPr>
          <p:cNvPr id="6" name="Text 4"/>
          <p:cNvSpPr txBox="1"/>
          <p:nvPr/>
        </p:nvSpPr>
        <p:spPr>
          <a:xfrm>
            <a:off x="1575786"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1110</a:t>
            </a:r>
            <a:endParaRPr lang="en-US" sz="1600" dirty="0"/>
          </a:p>
        </p:txBody>
      </p:sp>
      <p:sp>
        <p:nvSpPr>
          <p:cNvPr id="7" name="Text 5"/>
          <p:cNvSpPr txBox="1"/>
          <p:nvPr/>
        </p:nvSpPr>
        <p:spPr>
          <a:xfrm>
            <a:off x="731520"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fits in four bits</a:t>
            </a:r>
            <a:endParaRPr lang="en-US" sz="1250" dirty="0"/>
          </a:p>
        </p:txBody>
      </p:sp>
      <p:sp>
        <p:nvSpPr>
          <p:cNvPr id="8" name="Shape 6"/>
          <p:cNvSpPr/>
          <p:nvPr/>
        </p:nvSpPr>
        <p:spPr>
          <a:xfrm>
            <a:off x="3390824" y="1463040"/>
            <a:ext cx="2567864"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3573704" y="1554480"/>
            <a:ext cx="2202104"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Sum with overflow</a:t>
            </a:r>
            <a:endParaRPr lang="en-US" sz="1400" dirty="0"/>
          </a:p>
        </p:txBody>
      </p:sp>
      <p:sp>
        <p:nvSpPr>
          <p:cNvPr id="10" name="Text 8"/>
          <p:cNvSpPr txBox="1"/>
          <p:nvPr/>
        </p:nvSpPr>
        <p:spPr>
          <a:xfrm>
            <a:off x="3573704"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14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17</a:t>
            </a:r>
            <a:endParaRPr lang="en-US" sz="1600" dirty="0"/>
          </a:p>
        </p:txBody>
      </p:sp>
      <p:sp>
        <p:nvSpPr>
          <p:cNvPr id="11" name="Text 9"/>
          <p:cNvSpPr txBox="1"/>
          <p:nvPr/>
        </p:nvSpPr>
        <p:spPr>
          <a:xfrm>
            <a:off x="4417969"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1 0001</a:t>
            </a:r>
            <a:endParaRPr lang="en-US" sz="1600" dirty="0"/>
          </a:p>
        </p:txBody>
      </p:sp>
      <p:sp>
        <p:nvSpPr>
          <p:cNvPr id="12" name="Text 10"/>
          <p:cNvSpPr txBox="1"/>
          <p:nvPr/>
        </p:nvSpPr>
        <p:spPr>
          <a:xfrm>
            <a:off x="3573704" y="3044952"/>
            <a:ext cx="2202104"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a fifth bit is needed</a:t>
            </a:r>
            <a:endParaRPr lang="en-US" sz="1250" dirty="0"/>
          </a:p>
        </p:txBody>
      </p:sp>
      <p:sp>
        <p:nvSpPr>
          <p:cNvPr id="13" name="Shape 11"/>
          <p:cNvSpPr/>
          <p:nvPr/>
        </p:nvSpPr>
        <p:spPr>
          <a:xfrm>
            <a:off x="6233008" y="1463040"/>
            <a:ext cx="2567864"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6415888"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Difference</a:t>
            </a:r>
            <a:endParaRPr lang="en-US" sz="1400" dirty="0"/>
          </a:p>
        </p:txBody>
      </p:sp>
      <p:sp>
        <p:nvSpPr>
          <p:cNvPr id="15" name="Text 13"/>
          <p:cNvSpPr txBox="1"/>
          <p:nvPr/>
        </p:nvSpPr>
        <p:spPr>
          <a:xfrm>
            <a:off x="6415888"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11 -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7260153"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0110</a:t>
            </a:r>
            <a:endParaRPr lang="en-US" sz="1600" dirty="0"/>
          </a:p>
        </p:txBody>
      </p:sp>
      <p:sp>
        <p:nvSpPr>
          <p:cNvPr id="17" name="Text 15"/>
          <p:cNvSpPr txBox="1"/>
          <p:nvPr/>
        </p:nvSpPr>
        <p:spPr>
          <a:xfrm>
            <a:off x="6415888"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borrow as in decimal</a:t>
            </a:r>
            <a:endParaRPr lang="en-US" sz="1250" dirty="0"/>
          </a:p>
        </p:txBody>
      </p:sp>
      <p:sp>
        <p:nvSpPr>
          <p:cNvPr id="18" name="Shape 16"/>
          <p:cNvSpPr/>
          <p:nvPr/>
        </p:nvSpPr>
        <p:spPr>
          <a:xfrm>
            <a:off x="9075191" y="1463040"/>
            <a:ext cx="2567864" cy="2057400"/>
          </a:xfrm>
          <a:prstGeom prst="roundRect">
            <a:avLst>
              <a:gd name="adj" fmla="val 3556"/>
            </a:avLst>
          </a:prstGeom>
          <a:solidFill>
            <a:srgbClr val="EEF2F4"/>
          </a:solidFill>
          <a:ln w="12700">
            <a:solidFill>
              <a:srgbClr val="EEF2F4"/>
            </a:solidFill>
            <a:prstDash val="solid"/>
          </a:ln>
        </p:spPr>
      </p:sp>
      <p:sp>
        <p:nvSpPr>
          <p:cNvPr id="19" name="Text 17"/>
          <p:cNvSpPr txBox="1"/>
          <p:nvPr/>
        </p:nvSpPr>
        <p:spPr>
          <a:xfrm>
            <a:off x="9258071"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Product</a:t>
            </a:r>
            <a:endParaRPr lang="en-US" sz="1400" dirty="0"/>
          </a:p>
        </p:txBody>
      </p:sp>
      <p:sp>
        <p:nvSpPr>
          <p:cNvPr id="20" name="Text 18"/>
          <p:cNvSpPr txBox="1"/>
          <p:nvPr/>
        </p:nvSpPr>
        <p:spPr>
          <a:xfrm>
            <a:off x="9258071"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5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15</a:t>
            </a:r>
            <a:endParaRPr lang="en-US" sz="1600" dirty="0"/>
          </a:p>
        </p:txBody>
      </p:sp>
      <p:sp>
        <p:nvSpPr>
          <p:cNvPr id="21" name="Text 19"/>
          <p:cNvSpPr txBox="1"/>
          <p:nvPr/>
        </p:nvSpPr>
        <p:spPr>
          <a:xfrm>
            <a:off x="10102337"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0101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000 1111</a:t>
            </a:r>
            <a:endParaRPr lang="en-US" sz="1600" dirty="0"/>
          </a:p>
        </p:txBody>
      </p:sp>
      <p:sp>
        <p:nvSpPr>
          <p:cNvPr id="22" name="Text 20"/>
          <p:cNvSpPr txBox="1"/>
          <p:nvPr/>
        </p:nvSpPr>
        <p:spPr>
          <a:xfrm>
            <a:off x="9258071"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 x n bits give up to 2n bits</a:t>
            </a:r>
            <a:endParaRPr lang="en-US" sz="1250" dirty="0"/>
          </a:p>
        </p:txBody>
      </p:sp>
      <p:sp>
        <p:nvSpPr>
          <p:cNvPr id="23" name="Shape 21"/>
          <p:cNvSpPr/>
          <p:nvPr/>
        </p:nvSpPr>
        <p:spPr>
          <a:xfrm>
            <a:off x="548640" y="3901186"/>
            <a:ext cx="146304" cy="146304"/>
          </a:xfrm>
          <a:prstGeom prst="rect">
            <a:avLst/>
          </a:prstGeom>
          <a:solidFill>
            <a:srgbClr val="0E7C86"/>
          </a:solidFill>
          <a:ln w="12700">
            <a:solidFill>
              <a:srgbClr val="0E7C86"/>
            </a:solidFill>
            <a:prstDash val="solid"/>
          </a:ln>
        </p:spPr>
      </p:sp>
      <p:sp>
        <p:nvSpPr>
          <p:cNvPr id="24" name="Text 22"/>
          <p:cNvSpPr txBox="1"/>
          <p:nvPr/>
        </p:nvSpPr>
        <p:spPr>
          <a:xfrm>
            <a:off x="932688" y="379476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Binary arithmetic follows the same column-by-column rules as decimal arithmetic: 1 + 1 = 0 with a carry of 1</a:t>
            </a:r>
            <a:endParaRPr lang="en-US" sz="2200" dirty="0"/>
          </a:p>
        </p:txBody>
      </p:sp>
      <p:sp>
        <p:nvSpPr>
          <p:cNvPr id="25" name="Shape 23"/>
          <p:cNvSpPr/>
          <p:nvPr/>
        </p:nvSpPr>
        <p:spPr>
          <a:xfrm>
            <a:off x="548640" y="4749038"/>
            <a:ext cx="146304" cy="146304"/>
          </a:xfrm>
          <a:prstGeom prst="rect">
            <a:avLst/>
          </a:prstGeom>
          <a:solidFill>
            <a:srgbClr val="C7791B"/>
          </a:solidFill>
          <a:ln w="12700">
            <a:solidFill>
              <a:srgbClr val="C7791B"/>
            </a:solidFill>
            <a:prstDash val="solid"/>
          </a:ln>
        </p:spPr>
      </p:sp>
      <p:sp>
        <p:nvSpPr>
          <p:cNvPr id="26" name="Text 24"/>
          <p:cNvSpPr txBox="1"/>
          <p:nvPr/>
        </p:nvSpPr>
        <p:spPr>
          <a:xfrm>
            <a:off x="932688" y="464261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processor signals a lost carry in different ways: many have a carry flag, RISC-V lets you compute it with a comparison</a:t>
            </a:r>
            <a:endParaRPr lang="en-US" sz="2200" dirty="0"/>
          </a:p>
        </p:txBody>
      </p:sp>
      <p:sp>
        <p:nvSpPr>
          <p:cNvPr id="27" name="Shape 25"/>
          <p:cNvSpPr/>
          <p:nvPr/>
        </p:nvSpPr>
        <p:spPr>
          <a:xfrm>
            <a:off x="548640" y="5596890"/>
            <a:ext cx="146304" cy="146304"/>
          </a:xfrm>
          <a:prstGeom prst="rect">
            <a:avLst/>
          </a:prstGeom>
          <a:solidFill>
            <a:srgbClr val="0E7C86"/>
          </a:solidFill>
          <a:ln w="12700">
            <a:solidFill>
              <a:srgbClr val="0E7C86"/>
            </a:solidFill>
            <a:prstDash val="solid"/>
          </a:ln>
        </p:spPr>
      </p:sp>
      <p:sp>
        <p:nvSpPr>
          <p:cNvPr id="28" name="Text 26"/>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product needs twice the bits: on RV32 mul gives the low 32 bits and mulhu the high 32</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Sign and magnitude</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most significant bit is the sign (1 = negative); the other n - 1 bits are the magnitude</a:t>
            </a:r>
            <a:endParaRPr lang="en-US" sz="23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83510"/>
            <a:ext cx="6565392"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Range: from -(2^(n-1) - 1) to +(2^(n-1) - 1)</a:t>
            </a:r>
            <a:endParaRPr lang="en-US" sz="2300" dirty="0"/>
          </a:p>
        </p:txBody>
      </p:sp>
      <p:sp>
        <p:nvSpPr>
          <p:cNvPr id="7" name="Shape 5"/>
          <p:cNvSpPr/>
          <p:nvPr/>
        </p:nvSpPr>
        <p:spPr>
          <a:xfrm>
            <a:off x="548640" y="335114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69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Zero has two representations, +0 and -0: only 2^n - 1 numbers are represented</a:t>
            </a:r>
            <a:endParaRPr lang="en-US" sz="2300" dirty="0"/>
          </a:p>
        </p:txBody>
      </p:sp>
      <p:sp>
        <p:nvSpPr>
          <p:cNvPr id="9" name="Shape 7"/>
          <p:cNvSpPr/>
          <p:nvPr/>
        </p:nvSpPr>
        <p:spPr>
          <a:xfrm>
            <a:off x="548640" y="42609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46804"/>
            <a:ext cx="6565392" cy="202539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Arithmetic must work separately on sign and magnitude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to add two numbers of opposite sign, find the larger magnitude and subtract the smaller from it</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the result takes the sign of the operand with the larger magnitude</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X = |x| + 2^(n-1) s</a:t>
            </a:r>
            <a:endParaRPr lang="en-US" sz="53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encoding law, where s = 1 if x is negative and 0 otherwise. On four bits: X = |x| + 8 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Two's complement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Non-negative numbers, 0 &lt;= x &lt; 2^(n-1), are represented by themselves: X = x</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Negative numbers, -2^(n-1) &lt;= x &lt; 0, are represented by X = 2^n - |x|</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Range: from -2^(n-1) to +2^(n-1) - 1; zero has a single representation</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most significant bit is 1 if and only if the number is negative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This is the representation every modern processor uses, RISC-V included</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-2^31 ... 2^31 - 1</a:t>
            </a:r>
            <a:endParaRPr lang="en-US" sz="53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range of a 32-bit RISC-V register read as a signed integer: about minus two billion to plus two billion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bits, three readings</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Unsigned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Sign-magnitude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Two's compl.</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339535"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Unsigned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Sign-magnitude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Two's compl.</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5" name="Text 1"/>
          <p:cNvSpPr txBox="1"/>
          <p:nvPr/>
        </p:nvSpPr>
        <p:spPr>
          <a:xfrm>
            <a:off x="548640" y="5029200"/>
            <a:ext cx="5303520" cy="320040"/>
          </a:xfrm>
          <a:prstGeom prst="rect">
            <a:avLst/>
          </a:prstGeom>
          <a:noFill/>
          <a:ln/>
        </p:spPr>
        <p:txBody>
          <a:bodyPr wrap="square" lIns="0" tIns="0" rIns="0" bIns="0" rtlCol="0" anchor="t"/>
          <a:lstStyle/>
          <a:p>
            <a:pPr algn="ctr" indent="0" marL="0">
              <a:buNone/>
            </a:pPr>
            <a:r>
              <a:rPr lang="en-US" sz="1400" i="1" dirty="0">
                <a:solidFill>
                  <a:srgbClr val="0E7C86"/>
                </a:solidFill>
                <a:latin typeface="Calibri" pitchFamily="34" charset="0"/>
                <a:ea typeface="Calibri" pitchFamily="34" charset="-122"/>
                <a:cs typeface="Calibri" pitchFamily="34" charset="-120"/>
              </a:rPr>
              <a:t>non-negative: the three readings agree</a:t>
            </a:r>
            <a:endParaRPr lang="en-US" sz="1400" dirty="0"/>
          </a:p>
        </p:txBody>
      </p:sp>
      <p:sp>
        <p:nvSpPr>
          <p:cNvPr id="6" name="Text 2"/>
          <p:cNvSpPr txBox="1"/>
          <p:nvPr/>
        </p:nvSpPr>
        <p:spPr>
          <a:xfrm>
            <a:off x="6339535" y="5029200"/>
            <a:ext cx="5303520" cy="320040"/>
          </a:xfrm>
          <a:prstGeom prst="rect">
            <a:avLst/>
          </a:prstGeom>
          <a:noFill/>
          <a:ln/>
        </p:spPr>
        <p:txBody>
          <a:bodyPr wrap="square" lIns="0" tIns="0" rIns="0" bIns="0" rtlCol="0" anchor="t"/>
          <a:lstStyle/>
          <a:p>
            <a:pPr algn="ctr" indent="0" marL="0">
              <a:buNone/>
            </a:pPr>
            <a:r>
              <a:rPr lang="en-US" sz="1400" i="1" dirty="0">
                <a:solidFill>
                  <a:srgbClr val="C7791B"/>
                </a:solidFill>
                <a:latin typeface="Calibri" pitchFamily="34" charset="0"/>
                <a:ea typeface="Calibri" pitchFamily="34" charset="-122"/>
                <a:cs typeface="Calibri" pitchFamily="34" charset="-120"/>
              </a:rPr>
              <a:t>most significant bit 1: the readings differ</a:t>
            </a:r>
            <a:endParaRPr lang="en-US" sz="1400" dirty="0"/>
          </a:p>
        </p:txBody>
      </p:sp>
      <p:sp>
        <p:nvSpPr>
          <p:cNvPr id="7" name="Shape 3"/>
          <p:cNvSpPr/>
          <p:nvPr/>
        </p:nvSpPr>
        <p:spPr>
          <a:xfrm>
            <a:off x="548640" y="5486400"/>
            <a:ext cx="11094415" cy="685800"/>
          </a:xfrm>
          <a:prstGeom prst="roundRect">
            <a:avLst>
              <a:gd name="adj" fmla="val 10667"/>
            </a:avLst>
          </a:prstGeom>
          <a:solidFill>
            <a:srgbClr val="D8ECEE"/>
          </a:solidFill>
          <a:ln w="12700">
            <a:solidFill>
              <a:srgbClr val="D8ECEE"/>
            </a:solidFill>
            <a:prstDash val="solid"/>
          </a:ln>
        </p:spPr>
      </p:sp>
      <p:sp>
        <p:nvSpPr>
          <p:cNvPr id="8" name="Text 4"/>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bits do not say which column is the right one. The program does, by choosing its instructions.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number wheel</a:t>
            </a:r>
            <a:endParaRPr lang="en-US" sz="3200" dirty="0"/>
          </a:p>
        </p:txBody>
      </p:sp>
      <p:pic>
        <p:nvPicPr>
          <p:cNvPr id="4" name="Image 0" descr="preencoded.png">    </p:cNvPr>
          <p:cNvPicPr>
            <a:picLocks noChangeAspect="1"/>
          </p:cNvPicPr>
          <p:nvPr/>
        </p:nvPicPr>
        <p:blipFill>
          <a:blip r:embed="rId1"/>
          <a:stretch>
            <a:fillRect/>
          </a:stretch>
        </p:blipFill>
        <p:spPr>
          <a:xfrm>
            <a:off x="502920" y="1234440"/>
            <a:ext cx="5074920" cy="5074920"/>
          </a:xfrm>
          <a:prstGeom prst="rect">
            <a:avLst/>
          </a:prstGeom>
        </p:spPr>
      </p:pic>
      <p:sp>
        <p:nvSpPr>
          <p:cNvPr id="5" name="Shape 1"/>
          <p:cNvSpPr/>
          <p:nvPr/>
        </p:nvSpPr>
        <p:spPr>
          <a:xfrm>
            <a:off x="5943600" y="1515999"/>
            <a:ext cx="146304" cy="146304"/>
          </a:xfrm>
          <a:prstGeom prst="rect">
            <a:avLst/>
          </a:prstGeom>
          <a:solidFill>
            <a:srgbClr val="0E7C86"/>
          </a:solidFill>
          <a:ln w="12700">
            <a:solidFill>
              <a:srgbClr val="0E7C86"/>
            </a:solidFill>
            <a:prstDash val="solid"/>
          </a:ln>
        </p:spPr>
      </p:sp>
      <p:sp>
        <p:nvSpPr>
          <p:cNvPr id="6" name="Text 2"/>
          <p:cNvSpPr txBox="1"/>
          <p:nvPr/>
        </p:nvSpPr>
        <p:spPr>
          <a:xfrm>
            <a:off x="6327648" y="1417320"/>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With n bits arithmetic is modulo 2^n: the number line closes into a circle</a:t>
            </a:r>
            <a:endParaRPr lang="en-US" sz="2100" dirty="0"/>
          </a:p>
        </p:txBody>
      </p:sp>
      <p:sp>
        <p:nvSpPr>
          <p:cNvPr id="7" name="Shape 3"/>
          <p:cNvSpPr/>
          <p:nvPr/>
        </p:nvSpPr>
        <p:spPr>
          <a:xfrm>
            <a:off x="5943600" y="2314575"/>
            <a:ext cx="146304" cy="146304"/>
          </a:xfrm>
          <a:prstGeom prst="rect">
            <a:avLst/>
          </a:prstGeom>
          <a:solidFill>
            <a:srgbClr val="C7791B"/>
          </a:solidFill>
          <a:ln w="12700">
            <a:solidFill>
              <a:srgbClr val="C7791B"/>
            </a:solidFill>
            <a:prstDash val="solid"/>
          </a:ln>
        </p:spPr>
      </p:sp>
      <p:sp>
        <p:nvSpPr>
          <p:cNvPr id="8" name="Text 4"/>
          <p:cNvSpPr txBox="1"/>
          <p:nvPr/>
        </p:nvSpPr>
        <p:spPr>
          <a:xfrm>
            <a:off x="6327648" y="2215896"/>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Adding 1 moves one step clockwise, whatever the reading</a:t>
            </a:r>
            <a:endParaRPr lang="en-US" sz="2100" dirty="0"/>
          </a:p>
        </p:txBody>
      </p:sp>
      <p:sp>
        <p:nvSpPr>
          <p:cNvPr id="9" name="Shape 5"/>
          <p:cNvSpPr/>
          <p:nvPr/>
        </p:nvSpPr>
        <p:spPr>
          <a:xfrm>
            <a:off x="5943600" y="3113151"/>
            <a:ext cx="146304" cy="146304"/>
          </a:xfrm>
          <a:prstGeom prst="rect">
            <a:avLst/>
          </a:prstGeom>
          <a:solidFill>
            <a:srgbClr val="0E7C86"/>
          </a:solidFill>
          <a:ln w="12700">
            <a:solidFill>
              <a:srgbClr val="0E7C86"/>
            </a:solidFill>
            <a:prstDash val="solid"/>
          </a:ln>
        </p:spPr>
      </p:sp>
      <p:sp>
        <p:nvSpPr>
          <p:cNvPr id="10" name="Text 6"/>
          <p:cNvSpPr txBox="1"/>
          <p:nvPr/>
        </p:nvSpPr>
        <p:spPr>
          <a:xfrm>
            <a:off x="6327648" y="3014472"/>
            <a:ext cx="5315407"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Unsigned reading: the wheel breaks between 1111 and 0000</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crossing it is a carry: 15 + 1 = 0</a:t>
            </a:r>
            <a:endParaRPr lang="en-US" sz="2100" dirty="0"/>
          </a:p>
        </p:txBody>
      </p:sp>
      <p:sp>
        <p:nvSpPr>
          <p:cNvPr id="11" name="Shape 7"/>
          <p:cNvSpPr/>
          <p:nvPr/>
        </p:nvSpPr>
        <p:spPr>
          <a:xfrm>
            <a:off x="5943600" y="4227195"/>
            <a:ext cx="146304" cy="146304"/>
          </a:xfrm>
          <a:prstGeom prst="rect">
            <a:avLst/>
          </a:prstGeom>
          <a:solidFill>
            <a:srgbClr val="C7791B"/>
          </a:solidFill>
          <a:ln w="12700">
            <a:solidFill>
              <a:srgbClr val="C7791B"/>
            </a:solidFill>
            <a:prstDash val="solid"/>
          </a:ln>
        </p:spPr>
      </p:sp>
      <p:sp>
        <p:nvSpPr>
          <p:cNvPr id="12" name="Text 8"/>
          <p:cNvSpPr txBox="1"/>
          <p:nvPr/>
        </p:nvSpPr>
        <p:spPr>
          <a:xfrm>
            <a:off x="6327648" y="4128516"/>
            <a:ext cx="5315407"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Two's complement reading: the wheel breaks between 0111 and 1000</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crossing it is a signed overflow: 7 + 1 = -8</a:t>
            </a:r>
            <a:endParaRPr lang="en-US" sz="2100" dirty="0"/>
          </a:p>
        </p:txBody>
      </p:sp>
      <p:sp>
        <p:nvSpPr>
          <p:cNvPr id="13" name="Shape 9"/>
          <p:cNvSpPr/>
          <p:nvPr/>
        </p:nvSpPr>
        <p:spPr>
          <a:xfrm>
            <a:off x="5943600" y="5620131"/>
            <a:ext cx="146304" cy="146304"/>
          </a:xfrm>
          <a:prstGeom prst="rect">
            <a:avLst/>
          </a:prstGeom>
          <a:solidFill>
            <a:srgbClr val="0E7C86"/>
          </a:solidFill>
          <a:ln w="12700">
            <a:solidFill>
              <a:srgbClr val="0E7C86"/>
            </a:solidFill>
            <a:prstDash val="solid"/>
          </a:ln>
        </p:spPr>
      </p:sp>
      <p:sp>
        <p:nvSpPr>
          <p:cNvPr id="14" name="Text 10"/>
          <p:cNvSpPr txBox="1"/>
          <p:nvPr/>
        </p:nvSpPr>
        <p:spPr>
          <a:xfrm>
            <a:off x="6327648" y="5521452"/>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One step back from 0000 is 1111: that is why 0 - 1 gives all ones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Two's complement arithmetic</a:t>
            </a:r>
            <a:endParaRPr lang="en-US" sz="3200" dirty="0"/>
          </a:p>
        </p:txBody>
      </p:sp>
      <p:sp>
        <p:nvSpPr>
          <p:cNvPr id="3" name="Shape 1"/>
          <p:cNvSpPr/>
          <p:nvPr/>
        </p:nvSpPr>
        <p:spPr>
          <a:xfrm>
            <a:off x="548640" y="1463040"/>
            <a:ext cx="351525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Opposite signs</a:t>
            </a:r>
            <a:endParaRPr lang="en-US" sz="1400" dirty="0"/>
          </a:p>
        </p:txBody>
      </p:sp>
      <p:sp>
        <p:nvSpPr>
          <p:cNvPr id="5" name="Text 3"/>
          <p:cNvSpPr txBox="1"/>
          <p:nvPr/>
        </p:nvSpPr>
        <p:spPr>
          <a:xfrm>
            <a:off x="731520"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-4</a:t>
            </a:r>
            <a:endParaRPr lang="en-US" sz="1600" dirty="0"/>
          </a:p>
        </p:txBody>
      </p:sp>
      <p:sp>
        <p:nvSpPr>
          <p:cNvPr id="6" name="Text 4"/>
          <p:cNvSpPr txBox="1"/>
          <p:nvPr/>
        </p:nvSpPr>
        <p:spPr>
          <a:xfrm>
            <a:off x="1954743"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1100</a:t>
            </a:r>
            <a:endParaRPr lang="en-US" sz="1600" dirty="0"/>
          </a:p>
        </p:txBody>
      </p:sp>
      <p:sp>
        <p:nvSpPr>
          <p:cNvPr id="7" name="Text 5"/>
          <p:cNvSpPr txBox="1"/>
          <p:nvPr/>
        </p:nvSpPr>
        <p:spPr>
          <a:xfrm>
            <a:off x="731520"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just add the patterns</a:t>
            </a:r>
            <a:endParaRPr lang="en-US" sz="1250" dirty="0"/>
          </a:p>
        </p:txBody>
      </p:sp>
      <p:sp>
        <p:nvSpPr>
          <p:cNvPr id="8" name="Shape 6"/>
          <p:cNvSpPr/>
          <p:nvPr/>
        </p:nvSpPr>
        <p:spPr>
          <a:xfrm>
            <a:off x="4338218" y="1463040"/>
            <a:ext cx="351525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Two negatives</a:t>
            </a:r>
            <a:endParaRPr lang="en-US" sz="1400" dirty="0"/>
          </a:p>
        </p:txBody>
      </p:sp>
      <p:sp>
        <p:nvSpPr>
          <p:cNvPr id="10" name="Text 8"/>
          <p:cNvSpPr txBox="1"/>
          <p:nvPr/>
        </p:nvSpPr>
        <p:spPr>
          <a:xfrm>
            <a:off x="4521098"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a:t>
            </a:r>
            <a:endParaRPr lang="en-US" sz="1600" dirty="0"/>
          </a:p>
        </p:txBody>
      </p:sp>
      <p:sp>
        <p:nvSpPr>
          <p:cNvPr id="11" name="Text 9"/>
          <p:cNvSpPr txBox="1"/>
          <p:nvPr/>
        </p:nvSpPr>
        <p:spPr>
          <a:xfrm>
            <a:off x="5744322"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1 1011</a:t>
            </a:r>
            <a:endParaRPr lang="en-US" sz="1600" dirty="0"/>
          </a:p>
        </p:txBody>
      </p:sp>
      <p:sp>
        <p:nvSpPr>
          <p:cNvPr id="12" name="Text 10"/>
          <p:cNvSpPr txBox="1"/>
          <p:nvPr/>
        </p:nvSpPr>
        <p:spPr>
          <a:xfrm>
            <a:off x="4521098"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the carry out is ignored (sum modulo 16)</a:t>
            </a:r>
            <a:endParaRPr lang="en-US" sz="1250" dirty="0"/>
          </a:p>
        </p:txBody>
      </p:sp>
      <p:sp>
        <p:nvSpPr>
          <p:cNvPr id="13" name="Shape 11"/>
          <p:cNvSpPr/>
          <p:nvPr/>
        </p:nvSpPr>
        <p:spPr>
          <a:xfrm>
            <a:off x="8127797" y="1463040"/>
            <a:ext cx="3515258"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Product</a:t>
            </a:r>
            <a:endParaRPr lang="en-US" sz="1400" dirty="0"/>
          </a:p>
        </p:txBody>
      </p:sp>
      <p:sp>
        <p:nvSpPr>
          <p:cNvPr id="15" name="Text 13"/>
          <p:cNvSpPr txBox="1"/>
          <p:nvPr/>
        </p:nvSpPr>
        <p:spPr>
          <a:xfrm>
            <a:off x="8310677"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9533900"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001 1010</a:t>
            </a:r>
            <a:endParaRPr lang="en-US" sz="1600" dirty="0"/>
          </a:p>
        </p:txBody>
      </p:sp>
      <p:sp>
        <p:nvSpPr>
          <p:cNvPr id="17" name="Text 15"/>
          <p:cNvSpPr txBox="1"/>
          <p:nvPr/>
        </p:nvSpPr>
        <p:spPr>
          <a:xfrm>
            <a:off x="8310677"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keep the low four bits: 1010 = -6</a:t>
            </a:r>
            <a:endParaRPr lang="en-US" sz="1250" dirty="0"/>
          </a:p>
        </p:txBody>
      </p:sp>
      <p:sp>
        <p:nvSpPr>
          <p:cNvPr id="18" name="Shape 16"/>
          <p:cNvSpPr/>
          <p:nvPr/>
        </p:nvSpPr>
        <p:spPr>
          <a:xfrm>
            <a:off x="548640" y="3916680"/>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79476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Addition needs no knowledge of the signs: the adder for natural numbers already gives the right answer</a:t>
            </a:r>
            <a:endParaRPr lang="en-US" sz="2400" dirty="0"/>
          </a:p>
        </p:txBody>
      </p:sp>
      <p:sp>
        <p:nvSpPr>
          <p:cNvPr id="20" name="Shape 18"/>
          <p:cNvSpPr/>
          <p:nvPr/>
        </p:nvSpPr>
        <p:spPr>
          <a:xfrm>
            <a:off x="548640" y="5105400"/>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98348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carry out of the most significant bit is simply discarded</a:t>
            </a:r>
            <a:endParaRPr lang="en-US" sz="2400" dirty="0"/>
          </a:p>
        </p:txBody>
      </p:sp>
      <p:sp>
        <p:nvSpPr>
          <p:cNvPr id="22" name="Shape 20"/>
          <p:cNvSpPr/>
          <p:nvPr/>
        </p:nvSpPr>
        <p:spPr>
          <a:xfrm>
            <a:off x="548640" y="5922264"/>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low n bits of a product are also correct, whatever the signs</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Detecting overflow</a:t>
            </a:r>
            <a:endParaRPr lang="en-US" sz="3200" dirty="0"/>
          </a:p>
        </p:txBody>
      </p:sp>
      <p:sp>
        <p:nvSpPr>
          <p:cNvPr id="3" name="Shape 1"/>
          <p:cNvSpPr/>
          <p:nvPr/>
        </p:nvSpPr>
        <p:spPr>
          <a:xfrm>
            <a:off x="548640" y="1463040"/>
            <a:ext cx="536432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4998568" cy="320040"/>
          </a:xfrm>
          <a:prstGeom prst="rect">
            <a:avLst/>
          </a:prstGeom>
          <a:noFill/>
          <a:ln/>
        </p:spPr>
        <p:txBody>
          <a:bodyPr wrap="square" lIns="0" tIns="0" rIns="0" bIns="0" rtlCol="0" anchor="t"/>
          <a:lstStyle/>
          <a:p>
            <a:pPr indent="0" marL="0">
              <a:buNone/>
            </a:pPr>
            <a:r>
              <a:rPr lang="en-US" sz="1400" b="1" dirty="0">
                <a:solidFill>
                  <a:srgbClr val="6B4FA0"/>
                </a:solidFill>
                <a:latin typeface="Calibri" pitchFamily="34" charset="0"/>
                <a:ea typeface="Calibri" pitchFamily="34" charset="-122"/>
                <a:cs typeface="Calibri" pitchFamily="34" charset="-120"/>
              </a:rPr>
              <a:t>Unsigned, 8 bits</a:t>
            </a:r>
            <a:endParaRPr lang="en-US" sz="1400" dirty="0"/>
          </a:p>
        </p:txBody>
      </p:sp>
      <p:sp>
        <p:nvSpPr>
          <p:cNvPr id="5" name="Text 3"/>
          <p:cNvSpPr txBox="1"/>
          <p:nvPr/>
        </p:nvSpPr>
        <p:spPr>
          <a:xfrm>
            <a:off x="731520"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130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258</a:t>
            </a:r>
            <a:endParaRPr lang="en-US" sz="1600" dirty="0"/>
          </a:p>
        </p:txBody>
      </p:sp>
      <p:sp>
        <p:nvSpPr>
          <p:cNvPr id="6" name="Text 4"/>
          <p:cNvSpPr txBox="1"/>
          <p:nvPr/>
        </p:nvSpPr>
        <p:spPr>
          <a:xfrm>
            <a:off x="2694371"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1000 0000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1 0000 0010</a:t>
            </a:r>
            <a:endParaRPr lang="en-US" sz="1600" dirty="0"/>
          </a:p>
        </p:txBody>
      </p:sp>
      <p:sp>
        <p:nvSpPr>
          <p:cNvPr id="7" name="Text 5"/>
          <p:cNvSpPr txBox="1"/>
          <p:nvPr/>
        </p:nvSpPr>
        <p:spPr>
          <a:xfrm>
            <a:off x="731520" y="3044952"/>
            <a:ext cx="4998568" cy="411480"/>
          </a:xfrm>
          <a:prstGeom prst="rect">
            <a:avLst/>
          </a:prstGeom>
          <a:noFill/>
          <a:ln/>
        </p:spPr>
        <p:txBody>
          <a:bodyPr wrap="square" lIns="0" tIns="0" rIns="0" bIns="0" rtlCol="0" anchor="ctr"/>
          <a:lstStyle/>
          <a:p>
            <a:pPr indent="0" marL="0">
              <a:buNone/>
            </a:pPr>
            <a:r>
              <a:rPr lang="en-US" sz="1250" i="1" dirty="0">
                <a:solidFill>
                  <a:srgbClr val="6B4FA0"/>
                </a:solidFill>
                <a:latin typeface="Calibri" pitchFamily="34" charset="0"/>
                <a:ea typeface="Calibri" pitchFamily="34" charset="-122"/>
                <a:cs typeface="Calibri" pitchFamily="34" charset="-120"/>
              </a:rPr>
              <a:t>carry out: the register holds 2, the sum modulo 256</a:t>
            </a:r>
            <a:endParaRPr lang="en-US" sz="1250" dirty="0"/>
          </a:p>
        </p:txBody>
      </p:sp>
      <p:sp>
        <p:nvSpPr>
          <p:cNvPr id="8" name="Shape 6"/>
          <p:cNvSpPr/>
          <p:nvPr/>
        </p:nvSpPr>
        <p:spPr>
          <a:xfrm>
            <a:off x="6278728" y="1463040"/>
            <a:ext cx="536432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6461608" y="1554480"/>
            <a:ext cx="499856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Signed, 8 bits</a:t>
            </a:r>
            <a:endParaRPr lang="en-US" sz="1400" dirty="0"/>
          </a:p>
        </p:txBody>
      </p:sp>
      <p:sp>
        <p:nvSpPr>
          <p:cNvPr id="10" name="Text 8"/>
          <p:cNvSpPr txBox="1"/>
          <p:nvPr/>
        </p:nvSpPr>
        <p:spPr>
          <a:xfrm>
            <a:off x="6461608"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254</a:t>
            </a:r>
            <a:endParaRPr lang="en-US" sz="1600" dirty="0"/>
          </a:p>
        </p:txBody>
      </p:sp>
      <p:sp>
        <p:nvSpPr>
          <p:cNvPr id="11" name="Text 9"/>
          <p:cNvSpPr txBox="1"/>
          <p:nvPr/>
        </p:nvSpPr>
        <p:spPr>
          <a:xfrm>
            <a:off x="8424459"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1111 1110</a:t>
            </a:r>
            <a:endParaRPr lang="en-US" sz="1600" dirty="0"/>
          </a:p>
        </p:txBody>
      </p:sp>
      <p:sp>
        <p:nvSpPr>
          <p:cNvPr id="12" name="Text 10"/>
          <p:cNvSpPr txBox="1"/>
          <p:nvPr/>
        </p:nvSpPr>
        <p:spPr>
          <a:xfrm>
            <a:off x="6461608" y="3044952"/>
            <a:ext cx="499856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no carry out, but the result reads -2</a:t>
            </a:r>
            <a:endParaRPr lang="en-US" sz="1250" dirty="0"/>
          </a:p>
        </p:txBody>
      </p:sp>
      <p:sp>
        <p:nvSpPr>
          <p:cNvPr id="13" name="Shape 11"/>
          <p:cNvSpPr/>
          <p:nvPr/>
        </p:nvSpPr>
        <p:spPr>
          <a:xfrm>
            <a:off x="548640" y="3877945"/>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379476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Unsigned overflow: there is a carry out of the most significant bit</a:t>
            </a:r>
            <a:endParaRPr lang="en-US" sz="1900" dirty="0"/>
          </a:p>
        </p:txBody>
      </p:sp>
      <p:sp>
        <p:nvSpPr>
          <p:cNvPr id="15" name="Shape 13"/>
          <p:cNvSpPr/>
          <p:nvPr/>
        </p:nvSpPr>
        <p:spPr>
          <a:xfrm>
            <a:off x="548640" y="4382643"/>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4299458"/>
            <a:ext cx="10710367" cy="86334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Signed overflow in two's complement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two positive operands give a negative sum</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two negative operands give a positive sum</a:t>
            </a:r>
            <a:endParaRPr lang="en-US" sz="1900" dirty="0"/>
          </a:p>
        </p:txBody>
      </p:sp>
      <p:sp>
        <p:nvSpPr>
          <p:cNvPr id="17" name="Shape 15"/>
          <p:cNvSpPr/>
          <p:nvPr/>
        </p:nvSpPr>
        <p:spPr>
          <a:xfrm>
            <a:off x="548640" y="5456301"/>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5373116"/>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Adding two numbers of opposite sign can never overflow</a:t>
            </a:r>
            <a:endParaRPr lang="en-US" sz="1900" dirty="0"/>
          </a:p>
        </p:txBody>
      </p:sp>
      <p:sp>
        <p:nvSpPr>
          <p:cNvPr id="19" name="Shape 17"/>
          <p:cNvSpPr/>
          <p:nvPr/>
        </p:nvSpPr>
        <p:spPr>
          <a:xfrm>
            <a:off x="548640" y="5960999"/>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8778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two conditions are independent: the same addition can trigger one, both or neither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Sign extension: the same number on more bits</a:t>
            </a:r>
            <a:endParaRPr lang="en-US" sz="3200" dirty="0"/>
          </a:p>
        </p:txBody>
      </p:sp>
      <p:sp>
        <p:nvSpPr>
          <p:cNvPr id="3" name="Text 1"/>
          <p:cNvSpPr txBox="1"/>
          <p:nvPr/>
        </p:nvSpPr>
        <p:spPr>
          <a:xfrm>
            <a:off x="548640" y="155448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on 4 bits</a:t>
            </a:r>
            <a:endParaRPr lang="en-US" sz="1600" dirty="0"/>
          </a:p>
        </p:txBody>
      </p:sp>
      <p:sp>
        <p:nvSpPr>
          <p:cNvPr id="4" name="Text 2"/>
          <p:cNvSpPr txBox="1"/>
          <p:nvPr/>
        </p:nvSpPr>
        <p:spPr>
          <a:xfrm>
            <a:off x="4206240" y="155448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5" name="Text 3"/>
          <p:cNvSpPr txBox="1"/>
          <p:nvPr/>
        </p:nvSpPr>
        <p:spPr>
          <a:xfrm>
            <a:off x="5303520" y="155448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6" name="Text 4"/>
          <p:cNvSpPr txBox="1"/>
          <p:nvPr/>
        </p:nvSpPr>
        <p:spPr>
          <a:xfrm>
            <a:off x="548640" y="233172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on 8 bits</a:t>
            </a:r>
            <a:endParaRPr lang="en-US" sz="1600" dirty="0"/>
          </a:p>
        </p:txBody>
      </p:sp>
      <p:sp>
        <p:nvSpPr>
          <p:cNvPr id="7" name="Text 5"/>
          <p:cNvSpPr txBox="1"/>
          <p:nvPr/>
        </p:nvSpPr>
        <p:spPr>
          <a:xfrm>
            <a:off x="4206240" y="2331720"/>
            <a:ext cx="868680"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8" name="Text 6"/>
          <p:cNvSpPr txBox="1"/>
          <p:nvPr/>
        </p:nvSpPr>
        <p:spPr>
          <a:xfrm>
            <a:off x="5074920" y="233172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9" name="Text 7"/>
          <p:cNvSpPr txBox="1"/>
          <p:nvPr/>
        </p:nvSpPr>
        <p:spPr>
          <a:xfrm>
            <a:off x="6172200" y="233172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10" name="Text 8"/>
          <p:cNvSpPr txBox="1"/>
          <p:nvPr/>
        </p:nvSpPr>
        <p:spPr>
          <a:xfrm>
            <a:off x="548640" y="310896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on 4 bits</a:t>
            </a:r>
            <a:endParaRPr lang="en-US" sz="1600" dirty="0"/>
          </a:p>
        </p:txBody>
      </p:sp>
      <p:sp>
        <p:nvSpPr>
          <p:cNvPr id="11" name="Text 9"/>
          <p:cNvSpPr txBox="1"/>
          <p:nvPr/>
        </p:nvSpPr>
        <p:spPr>
          <a:xfrm>
            <a:off x="4206240" y="310896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2" name="Text 10"/>
          <p:cNvSpPr txBox="1"/>
          <p:nvPr/>
        </p:nvSpPr>
        <p:spPr>
          <a:xfrm>
            <a:off x="5303520" y="310896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3" name="Text 11"/>
          <p:cNvSpPr txBox="1"/>
          <p:nvPr/>
        </p:nvSpPr>
        <p:spPr>
          <a:xfrm>
            <a:off x="548640" y="388620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on 8 bits</a:t>
            </a:r>
            <a:endParaRPr lang="en-US" sz="1600" dirty="0"/>
          </a:p>
        </p:txBody>
      </p:sp>
      <p:sp>
        <p:nvSpPr>
          <p:cNvPr id="14" name="Text 12"/>
          <p:cNvSpPr txBox="1"/>
          <p:nvPr/>
        </p:nvSpPr>
        <p:spPr>
          <a:xfrm>
            <a:off x="4206240" y="3886200"/>
            <a:ext cx="868680" cy="566928"/>
          </a:xfrm>
          <a:prstGeom prst="rect">
            <a:avLst/>
          </a:prstGeom>
          <a:solidFill>
            <a:srgbClr val="2E4A62"/>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a:t>
            </a:r>
            <a:endParaRPr lang="en-US" sz="1700" dirty="0"/>
          </a:p>
        </p:txBody>
      </p:sp>
      <p:sp>
        <p:nvSpPr>
          <p:cNvPr id="15" name="Text 13"/>
          <p:cNvSpPr txBox="1"/>
          <p:nvPr/>
        </p:nvSpPr>
        <p:spPr>
          <a:xfrm>
            <a:off x="5074920" y="388620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6" name="Text 14"/>
          <p:cNvSpPr txBox="1"/>
          <p:nvPr/>
        </p:nvSpPr>
        <p:spPr>
          <a:xfrm>
            <a:off x="6172200" y="388620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7" name="Shape 15"/>
          <p:cNvSpPr/>
          <p:nvPr/>
        </p:nvSpPr>
        <p:spPr>
          <a:xfrm>
            <a:off x="548640" y="4685411"/>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461772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To widen a two's complement number, copy its sign bit into all the new positions on the left</a:t>
            </a:r>
            <a:endParaRPr lang="en-US" sz="1700" dirty="0"/>
          </a:p>
        </p:txBody>
      </p:sp>
      <p:sp>
        <p:nvSpPr>
          <p:cNvPr id="19" name="Shape 17"/>
          <p:cNvSpPr/>
          <p:nvPr/>
        </p:nvSpPr>
        <p:spPr>
          <a:xfrm>
            <a:off x="548640" y="5330952"/>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26326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addi t2, t2, -1 stores -1 in twelve bits; the processor sign-extends it to thirty-two before adding</a:t>
            </a:r>
            <a:endParaRPr lang="en-US" sz="1700" dirty="0"/>
          </a:p>
        </p:txBody>
      </p:sp>
      <p:sp>
        <p:nvSpPr>
          <p:cNvPr id="21" name="Shape 19"/>
          <p:cNvSpPr/>
          <p:nvPr/>
        </p:nvSpPr>
        <p:spPr>
          <a:xfrm>
            <a:off x="548640" y="5976493"/>
            <a:ext cx="146304" cy="146304"/>
          </a:xfrm>
          <a:prstGeom prst="rect">
            <a:avLst/>
          </a:prstGeom>
          <a:solidFill>
            <a:srgbClr val="0E7C86"/>
          </a:solidFill>
          <a:ln w="12700">
            <a:solidFill>
              <a:srgbClr val="0E7C86"/>
            </a:solidFill>
            <a:prstDash val="solid"/>
          </a:ln>
        </p:spPr>
      </p:sp>
      <p:sp>
        <p:nvSpPr>
          <p:cNvPr id="22" name="Text 20"/>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lb sign-extends the byte it loads; lbu fills with zeros: choose according to what the byte means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number does the 8-bit pattern 1111 1100 represent in two's complement?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-124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8 bits, which addition produces a signed overflow?</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+ 27</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 + 1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holds 0xFFFFFFFF and t1 holds 1. After slt t2, t0, t1 and sltu t3, t0, t1:</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1</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is 0.625 written in binary?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0.101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0.110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0.625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0.011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946954"/>
                <a:gridCol w="2426903"/>
                <a:gridCol w="2946954"/>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base (radix)</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two's 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a due (alla 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natural number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naturale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and magnitude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segno e modulo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signed integer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relativo (intero con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 (traboccamento)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most significant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bit più significativo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carry / borrow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riporto / prestito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remainder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extension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estensione del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scorrimento (shift)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clamp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limitare a un intervallo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base has its advantages: base 2 for circuits, base 16 for people who read bits</a:t>
            </a:r>
            <a:endParaRPr lang="en-US" sz="2200" dirty="0"/>
          </a:p>
        </p:txBody>
      </p:sp>
      <p:sp>
        <p:nvSpPr>
          <p:cNvPr id="5" name="Shape 3"/>
          <p:cNvSpPr/>
          <p:nvPr/>
        </p:nvSpPr>
        <p:spPr>
          <a:xfrm>
            <a:off x="548640" y="236291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485"/>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 bits represent 2^n numbers: which ones depends on the encoding law</a:t>
            </a:r>
            <a:endParaRPr lang="en-US" sz="2200" dirty="0"/>
          </a:p>
        </p:txBody>
      </p:sp>
      <p:sp>
        <p:nvSpPr>
          <p:cNvPr id="7" name="Shape 5"/>
          <p:cNvSpPr/>
          <p:nvPr/>
        </p:nvSpPr>
        <p:spPr>
          <a:xfrm>
            <a:off x="548640" y="28612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5478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Two's complement turns subtraction into addition: one adder does everything</a:t>
            </a:r>
            <a:endParaRPr lang="en-US" sz="2200" dirty="0"/>
          </a:p>
        </p:txBody>
      </p:sp>
      <p:sp>
        <p:nvSpPr>
          <p:cNvPr id="9" name="Shape 7"/>
          <p:cNvSpPr/>
          <p:nvPr/>
        </p:nvSpPr>
        <p:spPr>
          <a:xfrm>
            <a:off x="548640" y="335950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5308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Overflow is the price of finite registers: detect it, or design it away</a:t>
            </a:r>
            <a:endParaRPr lang="en-US" sz="2200" dirty="0"/>
          </a:p>
        </p:txBody>
      </p:sp>
      <p:sp>
        <p:nvSpPr>
          <p:cNvPr id="11" name="Shape 9"/>
          <p:cNvSpPr/>
          <p:nvPr/>
        </p:nvSpPr>
        <p:spPr>
          <a:xfrm>
            <a:off x="548640" y="385780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3751377"/>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RISC-V the bits have no type: the instruction chooses signed or unsigned</a:t>
            </a:r>
            <a:endParaRPr lang="en-US" sz="2200" dirty="0"/>
          </a:p>
        </p:txBody>
      </p:sp>
      <p:sp>
        <p:nvSpPr>
          <p:cNvPr id="13" name="Shape 11"/>
          <p:cNvSpPr/>
          <p:nvPr/>
        </p:nvSpPr>
        <p:spPr>
          <a:xfrm>
            <a:off x="548640" y="435610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249674"/>
            <a:ext cx="10710367" cy="192252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sections 2.4 and 3.1-3.2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6: State and Input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Stallings: Computer Organization and Architecture, chapters on number systems and computer arithmetic</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Integers</dc:title>
  <dc:subject>Lecture 05</dc:subject>
  <dc:creator>Raffaele Montella</dc:creator>
  <cp:lastModifiedBy>Raffaele Montella</cp:lastModifiedBy>
  <cp:revision>1</cp:revision>
  <dcterms:created xsi:type="dcterms:W3CDTF">2026-10-13T10:41:31Z</dcterms:created>
  <dcterms:modified xsi:type="dcterms:W3CDTF">2026-10-13T10:41:31Z</dcterms:modified>
</cp:coreProperties>
</file>