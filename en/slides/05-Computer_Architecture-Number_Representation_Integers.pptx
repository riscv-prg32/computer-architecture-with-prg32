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4666048-a044-06d8-599a-06a3a9ffa71c}">
          <p14:sldIdLst>
            <p14:sldId id="256"/>
            <p14:sldId id="257"/>
          </p14:sldIdLst>
        </p14:section>
        <p14:section name="Bases and conversions" id="{34da6e0a-56e7-a77c-bcec-261e25faf079}">
          <p14:sldIdLst>
            <p14:sldId id="258"/>
            <p14:sldId id="259"/>
            <p14:sldId id="260"/>
            <p14:sldId id="261"/>
          </p14:sldIdLst>
        </p14:section>
        <p14:section name="Natural numbers and overflow" id="{bb93e0af-5c17-6b56-4476-dfc74322030a}">
          <p14:sldIdLst>
            <p14:sldId id="262"/>
            <p14:sldId id="263"/>
            <p14:sldId id="264"/>
          </p14:sldIdLst>
        </p14:section>
        <p14:section name="Signed integers" id="{f0b79f6c-66e2-623e-3654-0178111d5d55}">
          <p14:sldIdLst>
            <p14:sldId id="265"/>
            <p14:sldId id="266"/>
            <p14:sldId id="267"/>
            <p14:sldId id="268"/>
            <p14:sldId id="269"/>
            <p14:sldId id="270"/>
          </p14:sldIdLst>
        </p14:section>
        <p14:section name="Back to the machine" id="{2be7dfac-13cd-350f-7730-02b8eb1d1678}">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begins the formal treatment of numerical representation. It opens with a puzzle observed on the machine, a marker that moves left past zero and displays FFFFFFFF, and closes by explaining it completely. Between the two, the student learns to convert between bases, to determine which numbers a given number of bits can represent, and to encode negative numbers. The epigraph from Trilussa, in which the One mocks the Zero, carries a precise mathematical point: in a positional system the zero, worthless on its own, gives every other digit its weight.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Roadmap. Today's outcomes: (1) convert between bases and read an n-bit pattern as unsigned and as two's complement; (2) recognise overflow in unsigned and in signed addition; (3) choose between signed and unsigned instructions, including lb and lbu. Builds on: only what Lecture 01 set up. Next: Lecture 06, Number Representation: Real Numbers.
For the lecturer: Original quotation (Romanesco): «Conterò poco, è vero: - diceva l'Uno ar Zero - ma tu che vali? Gnente: propio gnente.» Spiral: the lecture opens with the marker of textbook lab 06 moving left past zero, and closes by explaining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The first three are skills exercised on paper: converting between bases 2, 8, 10 and 16, determining which natural numbers fit in n bits, and encoding signed integers in two representations. The fourth concerns arithmetic: addition, subtraction and negation in two's complement, together with the detection of overflow. The last two return to the machine: explaining the FFFFFFFF of the warm-up, and choosing the RISC-V instruction that interprets the same bits as signed or as unsigned.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positional system of base b uses b digits, from 0 to b - 1, and the value of a numeral is the sum of each digit multiplied by the power of b corresponding to its position, as the formula in the caption states. The table writes thirteen in four bases: 1101 in binary, 15 in octal, 13 in decimal, D in hexadecimal. The number is the same in every case; only its notation changes. Base ten enjoys no privilege for a machine: it is merely the base of a species with ten fingers.
UNDERSTAND NOW: base conversions.
For the lecturer: A number N is a string of digits d(n-1) ... d(1) d(0), each smaller than the base b. The value is the sum of each digit times the power of the base of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that are powers of two share the same underlying bits, which makes conversion among them purely a matter of regrouping. The slide writes 127 in binary and groups its bits from the right: groups of four give the hexadecimal digits, 7F; groups of three give the octal digits, 177. No division is required, only a table lookup. Two details must be respected: grouping always starts from the right, the least significant end, and the leftmost group is padded with zeros if incomplete.
UNDERSTAND NOW: base conversions.
For the lecturer: Group from the right (the least significant end) and pad with zeros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convert an integer from base ten to base r, one divides by r repeatedly: each remainder is a digit, and the quotient is divided again until it reaches zero. The three tables perform the procedure for 127 with r equal to 8, 16 and 2. The highlighted box addresses the most frequent error: the first remainder is the least significant digit, so the remainders must be read from the bottom upwards. The result can always be checked by evaluating it positionally: 177 in octal is 64 + 56 + 7 = 127.
UNDERSTAND NOW: base conversions.
For the lecturer: N = Q(n) r^(n+1) + R(n) r^n + ... + R(1) r + R(0). In C the two operations are / and %; in RISC-V (M extension) they are divu and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number between 0 and 1 the procedure is the mirror image: one multiplies by r repeatedly, and at each step the integer part of the product is a digit, starting from the most significant, while the fractional part is multiplied again. 0.875 yields 0.111 and terminates, because the fraction becomes zero. 0.8 never terminates: the same fractions recur and the digits 1100 repeat indefinitely. A number with a finite representation in base ten may thus be periodic in base two, and a finite number of bits must truncate it. This is the origin of the rounding errors studied in Lecture 06.
UNDERSTAND NOW: base conversions.
For the lecturer: N = R(1) r^-1 + R(2) r^-2 + ... The source slides linked two online converters (fermimn.edu.it and fauser.edu); any modern calculator in programmer mode does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natural numbers the representation law is the simplest possible: X is x written in binary. With n bits there are 2^n patterns, so the representable range is 0 to 2^n - 1, from 0 to 15 for four bits as the strip shows. The table gives the sizes that occur on RISC-V: a byte reaches 255, a halfword 65,535, a word 4,294,967,295. The last value is the unsigned reading of FFFFFFFF, and thus half of the answer to the warm-up.
UNDERSTAND NOW: naturals and overflow.
For the lecturer: 4,294,967,295 is the unsigned reading of 0xFFFFFFFF: the first half of the answer to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retain. A register has a finite number of bits and therefore represents a finite subset of an infinite set of numbers. The arithmetic operations are closed over the whole set but not over the subset: the sum of two representable numbers may fall outside it, and when it does an overflow has occurred. The example uses seven bits, which cover 0 to 127: 100 and 38 are both representable, while their sum, 138, is not. Overflow is not a malfunction of the machine; it is a necessary consequence of finiteness, and the engineering question is how to detect or avoid it.
UNDERSTAND NOW: naturals and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calculations on four bits, performed column by column exactly as in decimal: 1 plus 1 gives 0 with a carry of 1. Six plus eight fits. Fourteen plus three yields seventeen, which requires a fifth bit: an overflow. Subtraction borrows as in decimal. The product of two n-bit numbers may require 2n bits, which is why RISC-V provides two instructions, mul for the low half of the product and mulhu for the high half. The four calculations are worth redoing by hand with the results covered.
UNDERSTAND NOW: naturals and overflow.
For the lecturer: The source slide said the overflow 'can be detected through the overflow bit': true of processors with a flags register, not of RISC-V. See the last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natural idea is to devote the leftmost bit to the sign and the remaining bits to the magnitude. The representation is easy for people to read but has two defects. Zero has two representations, plus zero and minus zero. And arithmetic becomes awkward: to add two numbers of opposite sign, a circuit must compare the magnitudes, subtract the smaller from the larger, and select the sign of the result. A representation that complicates addition is a poor choice of law in the sense introduced earlier. Sign and magnitude nonetheless survives in the mantissa of floating-point numbers, as Lecture 06 shows.
UNDERSTAND NOW: sign and magnitude.
For the lecturer: Simple for people, awkward for circuits. It survives in the mantissa of IEEE 754 floating-point numbers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 complement. Non-negative numbers are represented by themselves; a negative number x is represented by 2^n - |x|, so that on four bits -3 is represented by 16 - 3 = 13, that is 1101. The range is asymmetric, from -2^(n-1) to 2^(n-1) - 1, hence from -8 to +7 on four bits. Zero has a unique representation, and the leftmost bit is 1 exactly when the number is negative. For a 32-bit register the range extends from about minus two billion to plus two billion. This is the representation used by every modern processor, RISC-V included.
UNDERSTAND NOW: two's complement.
For the lecturer: Also called radix complement (complemento alla base). The asymmetry of the range (one more negative number) has a consequence: negating the most negative number overflows.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sixteen patterns read according to three laws. In the left table, where the leftmost bit is 0, the three readings coincide. In the right table they diverge: 1000 is 8 unsigned, minus zero in sign and magnitude, and -8 in two's complement; 1111 is 15, -7 or -1. The sentence at the bottom is the key to the entire lecture: the bits do not indicate which column is correct. The program indicates it, through the instructions it chooses to apply to them.
UNDERSTAND NOW: two's complement.
For the lecturer: Highlighted: 1000 is minus zero in sign and magnitude but -8 in two's complement; 1111 is -7 or -1. One's complement and excess-8 are added to this table in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n bits the numbers form a circle: the last pattern is followed by the first, because arithmetic is performed modulo 2^n. Adding 1 moves one step clockwise. The inner ring shows the unsigned value, the outer discs the two's complement value. The circle is "broken" at two different points. For the unsigned reading the discontinuity lies at the top, between 1111 and 0000, and crossing it is a carry. For two's complement it lies at the bottom, between 0111 and 1000, and crossing it is a signed overflow. One step back from 0000 reaches 1111: this is precisely the FFFFFFFF of the warm-up.
UNDERSTAND NOW: two's complement.
For the lecturer: Inner ring: unsigned value. Middle: bits. Outer discs: two's complement value. The same adder serves both readings: only the place where the wheel 'breaks'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calculations exhibit the decisive advantage of two's complement. To add 2 and -6, one simply adds the two patterns: 0010 plus 1010 is 1100, which reads -4. To add two negative numbers, one adds the patterns and discards the carry out of the leftmost position. Even the low four bits of the product are correct. The first line of bullets states the consequence: the adder need not know the signs of its operands. The circuit that adds natural numbers already yields the correct result for signed ones, so a single adder serves both.
UNDERSTAND NOW: two's complement.
For the lecturer: Check of the product: 2 x 13 = 26 = 1 1010; the low four bits are 1010, which reads -6. This is why RISC-V has a single mul for signed and unsigned operands.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distinct notions of overflow, and they are independent. For unsigned numbers, overflow is a carry out of the leftmost bit: 128 plus 130 on eight bits leaves 2 in the register. For signed numbers, overflow is a result of the wrong sign: 127 plus 127 produces no carry out, yet the pattern reads -2. The rule follows: two positive operands yielding a negative sum, or two negative operands yielding a positive sum. Operands of opposite sign can never overflow, because the exact result lies between them and is therefore representable.
UNDERSTAND NOW: two's complement.
For the lecturer: Equivalent circuit rule for signed overflow: the carry into the most significant bit differs from the carry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can a number be widened to more bits without changing its value? In two's complement, by copying the sign bit into every new position: -1 on four bits, 1111, becomes 1111 1111 on eight; +5, 0101, becomes 0000 0101. This is sign extension. The processor performs it whenever a narrow value meets a wide one: the twelve-bit immediate of addi is sign-extended to thirty-two bits, and lb sign-extends the byte it loads, whereas lbu fills the upper bits with zeros. The choice between the two loads is a statement about what the byte means.
UNDERSTAND NOW: sign extension.
For the lecturer: Extending with zeros would turn 1111 (-1) into 0000 1111 (+15). Sign extension is the signed counterpart of the 'extension on the left' property seen for naturals.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leftmost bit is 1, so the number is negative, and 252, the unsigned reading, is to be discarded. The magnitude is found by negation: complementing gives 0000 0011, and adding one gives 0000 0100, which is 4. The pattern therefore represents -4.
For the second, the eight-bit two's complement range runs from -128 to +127. Each sum is computed and compared with the range. Recalling that operands of opposite sign cannot overflow eliminates two options at once.
For the lecturer: 1. Answer: B. Complement and add one: 0000 0011 + 1 = 0000 0100 = 4, so the pattern is -4. (252 is its unsigned reading.)
2. Answer: B. The range is [-128, 127]. 100 + 27 = 127 fits; 100 + 28 = 128 does not: two positives give a negative pattern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same two registers, and two instructions that differ by a single letter. slt interprets FFFFFFFF as -1, which is less than 1; sltu interprets it as a value above four billion, which is not. The question condenses the entire lecture into one line.
For the second, repeated multiplication is applied: 0.625 times 2 is 1.25, digit 1; 0.25 times 2 is 0.5, digit 0; 0.5 times 2 is 1.0, digit 1. The result is verified with the positional weights: one half plus one eighth is 0.625.
For the lecturer: 1. Answer: C. Signed: -1 &lt; 1 is true, so t2 = 1. Unsigned: 4,294,967,295 &lt; 1 is false, so t3 = 0.
2. Answer: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Signed integer is rendered in Italian as numero relativo or intero con segno. Carry and borrow denote the digit carried in addition and the digit borrowed in subtraction. Sign extension is the operation that widens a signed number while preserving its value. To clamp has no single Italian equivalent: it means to constrain a value to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Each base has its purpose: base two for circuits, base sixteen for people who read bits. With n bits exactly 2^n numbers are representable, and the encoding law determines which. Two's complement reduces subtraction to addition, so that one adder serves signed and unsigned arithmetic alike. Overflow is the price of finite registers: it must be detected, or designed away, as the clamp does. And in RISC-V bits carry no type: the instruction decides how they are read. The next lecture completes the picture with the representation of real numbers.
Learning status, recap.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Closing thread: The 0xFFFFFFFF of a counter that went below zero is -1 in two's complement: the bits did not change, the reading did. Next: fractions on a chip with no floating-point unit. Exit ticket (two to four minutes, alone, on paper): 1. The byte 0xF6 is in memory. Which 32-bit value does lb leave in a register, and which does lbu leave? Which is right if the byte is a temperature of -10 degrees? 2. On 8 bits, compute 0111 1111 + 0000 0001. Read the result as an unsigned number and as a two's-complement number. Is there overflow in each reading?
For the lecturer: Next lecture: one's complement, excess-k, fixed point and IEEE 754 floating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Bases, natural numbers, two's complement and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integers and fractions between bases 2, 8, 10 and 16</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which natural numbers fit in n bits and recognise an overflow</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signed integers in sign and magnitude and in two's complement</a:t>
            </a:r>
            <a:endParaRPr lang="en-US" sz="2200" dirty="0"/>
          </a:p>
        </p:txBody>
      </p:sp>
      <p:sp>
        <p:nvSpPr>
          <p:cNvPr id="9" name="Text 7"/>
          <p:cNvSpPr txBox="1"/>
          <p:nvPr/>
        </p:nvSpPr>
        <p:spPr>
          <a:xfrm>
            <a:off x="548640" y="41223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1040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Add, subtract and negate in two's complement, and detect overflow</a:t>
            </a:r>
            <a:endParaRPr lang="en-US" sz="2200" dirty="0"/>
          </a:p>
        </p:txBody>
      </p:sp>
      <p:sp>
        <p:nvSpPr>
          <p:cNvPr id="11" name="Text 9"/>
          <p:cNvSpPr txBox="1"/>
          <p:nvPr/>
        </p:nvSpPr>
        <p:spPr>
          <a:xfrm>
            <a:off x="548640" y="493694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1865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0 - 1 shows as 0xFFFFFFFF in a RISC-V register</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the right RISC-V instruction for signed and for unsigned data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systems: base 2, 8, 10 and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Digits</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Name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Thirteen is written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octal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hexadecimal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with every digit between 0 and b - 1.</a:t>
            </a:r>
            <a:endParaRPr lang="en-US" sz="1500" dirty="0"/>
          </a:p>
        </p:txBody>
      </p:sp>
      <p:sp>
        <p:nvSpPr>
          <p:cNvPr id="5" name="Shape 2"/>
          <p:cNvSpPr/>
          <p:nvPr/>
        </p:nvSpPr>
        <p:spPr>
          <a:xfrm>
            <a:off x="8616010" y="91440"/>
            <a:ext cx="3027045" cy="274320"/>
          </a:xfrm>
          <a:prstGeom prst="rect">
            <a:avLst/>
          </a:prstGeom>
          <a:solidFill>
            <a:srgbClr val="E0F2FE"/>
          </a:solidFill>
          <a:ln w="12700">
            <a:solidFill>
              <a:srgbClr val="0369A1"/>
            </a:solidFill>
            <a:prstDash val="solid"/>
          </a:ln>
        </p:spPr>
      </p:sp>
      <p:sp>
        <p:nvSpPr>
          <p:cNvPr id="6" name="Shape 3"/>
          <p:cNvSpPr/>
          <p:nvPr/>
        </p:nvSpPr>
        <p:spPr>
          <a:xfrm>
            <a:off x="861601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8" name="Text 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Bases that are powers of two share the same bits</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4: hexadecimal</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3: octal</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octal</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If each digit is written in pure binary, the bits of a number are the same in every base b = 2^k: group them from the right, k at a time. Example: 13 = 1101 in binary = 15 in octal = D in hexadecimal.</a:t>
            </a:r>
            <a:endParaRPr lang="en-US" sz="1650" dirty="0"/>
          </a:p>
        </p:txBody>
      </p:sp>
      <p:sp>
        <p:nvSpPr>
          <p:cNvPr id="23" name="Shape 21"/>
          <p:cNvSpPr/>
          <p:nvPr/>
        </p:nvSpPr>
        <p:spPr>
          <a:xfrm>
            <a:off x="8616010" y="91440"/>
            <a:ext cx="3027045" cy="274320"/>
          </a:xfrm>
          <a:prstGeom prst="rect">
            <a:avLst/>
          </a:prstGeom>
          <a:solidFill>
            <a:srgbClr val="E0F2FE"/>
          </a:solidFill>
          <a:ln w="12700">
            <a:solidFill>
              <a:srgbClr val="0369A1"/>
            </a:solidFill>
            <a:prstDash val="solid"/>
          </a:ln>
        </p:spPr>
      </p:sp>
      <p:sp>
        <p:nvSpPr>
          <p:cNvPr id="24" name="Shape 22"/>
          <p:cNvSpPr/>
          <p:nvPr/>
        </p:nvSpPr>
        <p:spPr>
          <a:xfrm>
            <a:off x="8616010"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6" name="Text 2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an integer: repeated division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Divide N by the base r; the remainder is the next digit, starting from the least significant. Repeat on the quotient until it is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octal</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Read the remainders from the bottom up: the last remainder is the most significant digit. The method follows from N = Q x r + R, applied again and again to the quotient.</a:t>
            </a:r>
            <a:endParaRPr lang="en-US" sz="1600" dirty="0"/>
          </a:p>
        </p:txBody>
      </p:sp>
      <p:sp>
        <p:nvSpPr>
          <p:cNvPr id="15" name="Shape 10"/>
          <p:cNvSpPr/>
          <p:nvPr/>
        </p:nvSpPr>
        <p:spPr>
          <a:xfrm>
            <a:off x="8616010" y="91440"/>
            <a:ext cx="3027045" cy="274320"/>
          </a:xfrm>
          <a:prstGeom prst="rect">
            <a:avLst/>
          </a:prstGeom>
          <a:solidFill>
            <a:srgbClr val="E0F2FE"/>
          </a:solidFill>
          <a:ln w="12700">
            <a:solidFill>
              <a:srgbClr val="0369A1"/>
            </a:solidFill>
            <a:prstDash val="solid"/>
          </a:ln>
        </p:spPr>
      </p:sp>
      <p:sp>
        <p:nvSpPr>
          <p:cNvPr id="16" name="Shape 11"/>
          <p:cNvSpPr/>
          <p:nvPr/>
        </p:nvSpPr>
        <p:spPr>
          <a:xfrm>
            <a:off x="8616010"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8" name="Text 12"/>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 fraction: repeated multiplication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 0 &lt;= N &lt; 1, multiply by the base r: the integer part of the product is the next digit, starting from the most significant. Repeat on the fractional part.</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exact</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binary</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A fraction that is finite in base 10 can be periodic in base 2. With a finite number of bits it must be cut: this is where the approximation errors of real numbers come from (Lecture 06).</a:t>
            </a:r>
            <a:endParaRPr lang="en-US" sz="1650" dirty="0"/>
          </a:p>
        </p:txBody>
      </p:sp>
      <p:sp>
        <p:nvSpPr>
          <p:cNvPr id="12" name="Shape 8"/>
          <p:cNvSpPr/>
          <p:nvPr/>
        </p:nvSpPr>
        <p:spPr>
          <a:xfrm>
            <a:off x="8616010" y="91440"/>
            <a:ext cx="3027045" cy="274320"/>
          </a:xfrm>
          <a:prstGeom prst="rect">
            <a:avLst/>
          </a:prstGeom>
          <a:solidFill>
            <a:srgbClr val="E0F2FE"/>
          </a:solidFill>
          <a:ln w="12700">
            <a:solidFill>
              <a:srgbClr val="0369A1"/>
            </a:solidFill>
            <a:prstDash val="solid"/>
          </a:ln>
        </p:spPr>
      </p:sp>
      <p:sp>
        <p:nvSpPr>
          <p:cNvPr id="13" name="Shape 9"/>
          <p:cNvSpPr/>
          <p:nvPr/>
        </p:nvSpPr>
        <p:spPr>
          <a:xfrm>
            <a:off x="8616010"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5" name="Text 10"/>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base conversions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Natural numbers on n bits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With n bits there are 2^n patterns: the naturals from 0 to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number is associated with the string of bits that represents it in the binary positional system</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Example: n = 4, range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Range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Maximum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register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1" name="Shape 38"/>
          <p:cNvSpPr/>
          <p:nvPr/>
        </p:nvSpPr>
        <p:spPr>
          <a:xfrm>
            <a:off x="8287715" y="91440"/>
            <a:ext cx="3355340" cy="274320"/>
          </a:xfrm>
          <a:prstGeom prst="rect">
            <a:avLst/>
          </a:prstGeom>
          <a:solidFill>
            <a:srgbClr val="E0F2FE"/>
          </a:solidFill>
          <a:ln w="12700">
            <a:solidFill>
              <a:srgbClr val="0369A1"/>
            </a:solidFill>
            <a:prstDash val="solid"/>
          </a:ln>
        </p:spPr>
      </p:sp>
      <p:sp>
        <p:nvSpPr>
          <p:cNvPr id="42" name="Shape 39"/>
          <p:cNvSpPr/>
          <p:nvPr/>
        </p:nvSpPr>
        <p:spPr>
          <a:xfrm>
            <a:off x="8287715"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44" name="Text 40"/>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An overflow occurs when the result of an operation is not contained in the finite subset of numbers that the available bits can represent.</a:t>
            </a:r>
            <a:endParaRPr lang="en-US" sz="23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Registers have a finite size and there is a finite number of them</a:t>
            </a:r>
            <a:endParaRPr lang="en-US" sz="2400" dirty="0"/>
          </a:p>
        </p:txBody>
      </p:sp>
      <p:sp>
        <p:nvSpPr>
          <p:cNvPr id="8" name="Shape 6"/>
          <p:cNvSpPr/>
          <p:nvPr/>
        </p:nvSpPr>
        <p:spPr>
          <a:xfrm>
            <a:off x="548640" y="402979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907875"/>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Number sets are infinite: only a finite subset can be represented</a:t>
            </a:r>
            <a:endParaRPr lang="en-US" sz="2400" dirty="0"/>
          </a:p>
        </p:txBody>
      </p:sp>
      <p:sp>
        <p:nvSpPr>
          <p:cNvPr id="10" name="Shape 8"/>
          <p:cNvSpPr/>
          <p:nvPr/>
        </p:nvSpPr>
        <p:spPr>
          <a:xfrm>
            <a:off x="548640" y="460417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482253"/>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Arithmetic operators are closed on the whole set, not on the finite subset</a:t>
            </a:r>
            <a:endParaRPr lang="en-US" sz="2400" dirty="0"/>
          </a:p>
        </p:txBody>
      </p:sp>
      <p:sp>
        <p:nvSpPr>
          <p:cNvPr id="12" name="Shape 10"/>
          <p:cNvSpPr/>
          <p:nvPr/>
        </p:nvSpPr>
        <p:spPr>
          <a:xfrm>
            <a:off x="548640" y="5550408"/>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7 bits we encode [0, 127]: 100 and 38 are representable, their sum 138 is not</a:t>
            </a:r>
            <a:endParaRPr lang="en-US" sz="24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on four bits</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Sum</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fits in four bits</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Sum with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a fifth bit is needed</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Difference</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borrow as in decimal</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bits give up to 2n bits</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Binary arithmetic follows the same column-by-column rules as decimal arithmetic: 1 + 1 = 0 with a carry of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processor signals a lost carry in different ways: many have a carry flag, RISC-V lets you compute it with a comparison</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product needs twice the bits: on RV32 mul gives the low 32 bits and mulhu the high 32</a:t>
            </a:r>
            <a:endParaRPr lang="en-US" sz="2200" dirty="0"/>
          </a:p>
        </p:txBody>
      </p:sp>
      <p:sp>
        <p:nvSpPr>
          <p:cNvPr id="29" name="Shape 27"/>
          <p:cNvSpPr/>
          <p:nvPr/>
        </p:nvSpPr>
        <p:spPr>
          <a:xfrm>
            <a:off x="8287715" y="91440"/>
            <a:ext cx="3355340" cy="274320"/>
          </a:xfrm>
          <a:prstGeom prst="rect">
            <a:avLst/>
          </a:prstGeom>
          <a:solidFill>
            <a:srgbClr val="E0F2FE"/>
          </a:solidFill>
          <a:ln w="12700">
            <a:solidFill>
              <a:srgbClr val="0369A1"/>
            </a:solidFill>
            <a:prstDash val="solid"/>
          </a:ln>
        </p:spPr>
      </p:sp>
      <p:sp>
        <p:nvSpPr>
          <p:cNvPr id="30" name="Shape 28"/>
          <p:cNvSpPr/>
          <p:nvPr/>
        </p:nvSpPr>
        <p:spPr>
          <a:xfrm>
            <a:off x="8287715"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32" name="Text 29"/>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naturals and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and magnitude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most significant bit is the sign (1 = negative); the other n - 1 bits are the magnitude</a:t>
            </a:r>
            <a:endParaRPr lang="en-US" sz="23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3510"/>
            <a:ext cx="6565392"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Range: from -(2^(n-1) - 1) to +(2^(n-1) - 1)</a:t>
            </a:r>
            <a:endParaRPr lang="en-US" sz="2300" dirty="0"/>
          </a:p>
        </p:txBody>
      </p:sp>
      <p:sp>
        <p:nvSpPr>
          <p:cNvPr id="7" name="Shape 5"/>
          <p:cNvSpPr/>
          <p:nvPr/>
        </p:nvSpPr>
        <p:spPr>
          <a:xfrm>
            <a:off x="548640" y="33511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Zero has two representations, +0 and -0: only 2^n - 1 numbers are represented</a:t>
            </a:r>
            <a:endParaRPr lang="en-US" sz="2300" dirty="0"/>
          </a:p>
        </p:txBody>
      </p:sp>
      <p:sp>
        <p:nvSpPr>
          <p:cNvPr id="9" name="Shape 7"/>
          <p:cNvSpPr/>
          <p:nvPr/>
        </p:nvSpPr>
        <p:spPr>
          <a:xfrm>
            <a:off x="548640" y="42609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46804"/>
            <a:ext cx="6565392" cy="202539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Arithmetic must work separately on sign and magnitude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to add two numbers of opposite sign, find the larger magnitude and subtract the smaller from 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the result takes the sign of the operand with the larger magnitude</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encoding law, where s = 1 if x is negative and 0 otherwise. On four bits: X = |x| + 8 s</a:t>
            </a:r>
            <a:endParaRPr lang="en-US" sz="1900" dirty="0"/>
          </a:p>
        </p:txBody>
      </p:sp>
      <p:sp>
        <p:nvSpPr>
          <p:cNvPr id="14" name="Shape 12"/>
          <p:cNvSpPr/>
          <p:nvPr/>
        </p:nvSpPr>
        <p:spPr>
          <a:xfrm>
            <a:off x="8484692" y="91440"/>
            <a:ext cx="3158363" cy="274320"/>
          </a:xfrm>
          <a:prstGeom prst="rect">
            <a:avLst/>
          </a:prstGeom>
          <a:solidFill>
            <a:srgbClr val="E0F2FE"/>
          </a:solidFill>
          <a:ln w="12700">
            <a:solidFill>
              <a:srgbClr val="0369A1"/>
            </a:solidFill>
            <a:prstDash val="solid"/>
          </a:ln>
        </p:spPr>
      </p:sp>
      <p:sp>
        <p:nvSpPr>
          <p:cNvPr id="15" name="Shape 13"/>
          <p:cNvSpPr/>
          <p:nvPr/>
        </p:nvSpPr>
        <p:spPr>
          <a:xfrm>
            <a:off x="848469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7" name="Text 14"/>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and magnitude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-2^(n-1) &lt;= x &lt; 0, are represented by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to +2^(n-1) - 1; zero has a single representation</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most significant bit is 1 if and only if the number is negative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the representation every modern processor uses, RISC-V included</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range of a 32-bit RISC-V register read as a signed integer: about minus two billion to plus two billion</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three readings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non-negative: the three readings agree</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most significant bit 1: the readings differ</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bits do not say which column is the right one. The program does, by choosing its instructions.</a:t>
            </a:r>
            <a:endParaRPr lang="en-US" sz="1700" dirty="0"/>
          </a:p>
        </p:txBody>
      </p:sp>
      <p:sp>
        <p:nvSpPr>
          <p:cNvPr id="9" name="Shape 5"/>
          <p:cNvSpPr/>
          <p:nvPr/>
        </p:nvSpPr>
        <p:spPr>
          <a:xfrm>
            <a:off x="8616010" y="91440"/>
            <a:ext cx="3027045" cy="274320"/>
          </a:xfrm>
          <a:prstGeom prst="rect">
            <a:avLst/>
          </a:prstGeom>
          <a:solidFill>
            <a:srgbClr val="E0F2FE"/>
          </a:solidFill>
          <a:ln w="12700">
            <a:solidFill>
              <a:srgbClr val="0369A1"/>
            </a:solidFill>
            <a:prstDash val="solid"/>
          </a:ln>
        </p:spPr>
      </p:sp>
      <p:sp>
        <p:nvSpPr>
          <p:cNvPr id="10" name="Shape 6"/>
          <p:cNvSpPr/>
          <p:nvPr/>
        </p:nvSpPr>
        <p:spPr>
          <a:xfrm>
            <a:off x="861601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2" name="Text 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number wheel</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pic>
        <p:nvPicPr>
          <p:cNvPr id="8" name="Image 1" descr="preencoded.png">    </p:cNvPr>
          <p:cNvPicPr>
            <a:picLocks noChangeAspect="1"/>
          </p:cNvPicPr>
          <p:nvPr/>
        </p:nvPicPr>
        <p:blipFill>
          <a:blip r:embed="rId2"/>
          <a:stretch>
            <a:fillRect/>
          </a:stretch>
        </p:blipFill>
        <p:spPr>
          <a:xfrm>
            <a:off x="502920" y="1234440"/>
            <a:ext cx="5074920" cy="5074920"/>
          </a:xfrm>
          <a:prstGeom prst="rect">
            <a:avLst/>
          </a:prstGeom>
        </p:spPr>
      </p:pic>
      <p:sp>
        <p:nvSpPr>
          <p:cNvPr id="9" name="Shape 4"/>
          <p:cNvSpPr/>
          <p:nvPr/>
        </p:nvSpPr>
        <p:spPr>
          <a:xfrm>
            <a:off x="5943600" y="1515999"/>
            <a:ext cx="146304" cy="146304"/>
          </a:xfrm>
          <a:prstGeom prst="rect">
            <a:avLst/>
          </a:prstGeom>
          <a:solidFill>
            <a:srgbClr val="0E7C86"/>
          </a:solidFill>
          <a:ln w="12700">
            <a:solidFill>
              <a:srgbClr val="0E7C86"/>
            </a:solidFill>
            <a:prstDash val="solid"/>
          </a:ln>
        </p:spPr>
      </p:sp>
      <p:sp>
        <p:nvSpPr>
          <p:cNvPr id="10" name="Text 5"/>
          <p:cNvSpPr txBox="1"/>
          <p:nvPr/>
        </p:nvSpPr>
        <p:spPr>
          <a:xfrm>
            <a:off x="6327648" y="1417320"/>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With n bits arithmetic is modulo 2^n: the number line closes into a circle</a:t>
            </a:r>
            <a:endParaRPr lang="en-US" sz="2100" dirty="0"/>
          </a:p>
        </p:txBody>
      </p:sp>
      <p:sp>
        <p:nvSpPr>
          <p:cNvPr id="11" name="Shape 6"/>
          <p:cNvSpPr/>
          <p:nvPr/>
        </p:nvSpPr>
        <p:spPr>
          <a:xfrm>
            <a:off x="5943600" y="2314575"/>
            <a:ext cx="146304" cy="146304"/>
          </a:xfrm>
          <a:prstGeom prst="rect">
            <a:avLst/>
          </a:prstGeom>
          <a:solidFill>
            <a:srgbClr val="C7791B"/>
          </a:solidFill>
          <a:ln w="12700">
            <a:solidFill>
              <a:srgbClr val="C7791B"/>
            </a:solidFill>
            <a:prstDash val="solid"/>
          </a:ln>
        </p:spPr>
      </p:sp>
      <p:sp>
        <p:nvSpPr>
          <p:cNvPr id="12" name="Text 7"/>
          <p:cNvSpPr txBox="1"/>
          <p:nvPr/>
        </p:nvSpPr>
        <p:spPr>
          <a:xfrm>
            <a:off x="6327648" y="2215896"/>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1 moves one step clockwise, whatever the reading</a:t>
            </a:r>
            <a:endParaRPr lang="en-US" sz="2100" dirty="0"/>
          </a:p>
        </p:txBody>
      </p:sp>
      <p:sp>
        <p:nvSpPr>
          <p:cNvPr id="13" name="Shape 8"/>
          <p:cNvSpPr/>
          <p:nvPr/>
        </p:nvSpPr>
        <p:spPr>
          <a:xfrm>
            <a:off x="5943600" y="3113151"/>
            <a:ext cx="146304" cy="146304"/>
          </a:xfrm>
          <a:prstGeom prst="rect">
            <a:avLst/>
          </a:prstGeom>
          <a:solidFill>
            <a:srgbClr val="0E7C86"/>
          </a:solidFill>
          <a:ln w="12700">
            <a:solidFill>
              <a:srgbClr val="0E7C86"/>
            </a:solidFill>
            <a:prstDash val="solid"/>
          </a:ln>
        </p:spPr>
      </p:sp>
      <p:sp>
        <p:nvSpPr>
          <p:cNvPr id="14" name="Text 9"/>
          <p:cNvSpPr txBox="1"/>
          <p:nvPr/>
        </p:nvSpPr>
        <p:spPr>
          <a:xfrm>
            <a:off x="6327648" y="3014472"/>
            <a:ext cx="5315407"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Unsigned reading: the wheel breaks between 1111 and 0000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carry: 15 + 1 = 0</a:t>
            </a:r>
            <a:endParaRPr lang="en-US" sz="2100" dirty="0"/>
          </a:p>
        </p:txBody>
      </p:sp>
      <p:sp>
        <p:nvSpPr>
          <p:cNvPr id="15" name="Shape 10"/>
          <p:cNvSpPr/>
          <p:nvPr/>
        </p:nvSpPr>
        <p:spPr>
          <a:xfrm>
            <a:off x="5943600" y="4227195"/>
            <a:ext cx="146304" cy="146304"/>
          </a:xfrm>
          <a:prstGeom prst="rect">
            <a:avLst/>
          </a:prstGeom>
          <a:solidFill>
            <a:srgbClr val="C7791B"/>
          </a:solidFill>
          <a:ln w="12700">
            <a:solidFill>
              <a:srgbClr val="C7791B"/>
            </a:solidFill>
            <a:prstDash val="solid"/>
          </a:ln>
        </p:spPr>
      </p:sp>
      <p:sp>
        <p:nvSpPr>
          <p:cNvPr id="16" name="Text 11"/>
          <p:cNvSpPr txBox="1"/>
          <p:nvPr/>
        </p:nvSpPr>
        <p:spPr>
          <a:xfrm>
            <a:off x="6327648" y="4128516"/>
            <a:ext cx="531540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Two's complement reading: the wheel breaks between 0111 and 1000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signed overflow: 7 + 1 = -8</a:t>
            </a:r>
            <a:endParaRPr lang="en-US" sz="2100" dirty="0"/>
          </a:p>
        </p:txBody>
      </p:sp>
      <p:sp>
        <p:nvSpPr>
          <p:cNvPr id="17" name="Shape 12"/>
          <p:cNvSpPr/>
          <p:nvPr/>
        </p:nvSpPr>
        <p:spPr>
          <a:xfrm>
            <a:off x="5943600" y="5620131"/>
            <a:ext cx="146304" cy="146304"/>
          </a:xfrm>
          <a:prstGeom prst="rect">
            <a:avLst/>
          </a:prstGeom>
          <a:solidFill>
            <a:srgbClr val="0E7C86"/>
          </a:solidFill>
          <a:ln w="12700">
            <a:solidFill>
              <a:srgbClr val="0E7C86"/>
            </a:solidFill>
            <a:prstDash val="solid"/>
          </a:ln>
        </p:spPr>
      </p:sp>
      <p:sp>
        <p:nvSpPr>
          <p:cNvPr id="18" name="Text 13"/>
          <p:cNvSpPr txBox="1"/>
          <p:nvPr/>
        </p:nvSpPr>
        <p:spPr>
          <a:xfrm>
            <a:off x="6327648" y="5521452"/>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step back from 0000 is 1111: that is why 0 - 1 gives all ones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 arithmetic</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Opposite signs</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just add the patterns</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the carry out is ignored (sum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keep the low four bits: 1010 = -6</a:t>
            </a:r>
            <a:endParaRPr lang="en-US" sz="1250" dirty="0"/>
          </a:p>
        </p:txBody>
      </p:sp>
      <p:sp>
        <p:nvSpPr>
          <p:cNvPr id="18" name="Shape 16"/>
          <p:cNvSpPr/>
          <p:nvPr/>
        </p:nvSpPr>
        <p:spPr>
          <a:xfrm>
            <a:off x="548640" y="3916680"/>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Addition needs no knowledge of the signs: the adder for natural numbers already gives the right answer</a:t>
            </a:r>
            <a:endParaRPr lang="en-US" sz="2400" dirty="0"/>
          </a:p>
        </p:txBody>
      </p:sp>
      <p:sp>
        <p:nvSpPr>
          <p:cNvPr id="20" name="Shape 18"/>
          <p:cNvSpPr/>
          <p:nvPr/>
        </p:nvSpPr>
        <p:spPr>
          <a:xfrm>
            <a:off x="548640" y="5105400"/>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9834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carry out of the most significant bit is simply discarded</a:t>
            </a:r>
            <a:endParaRPr lang="en-US" sz="2400" dirty="0"/>
          </a:p>
        </p:txBody>
      </p:sp>
      <p:sp>
        <p:nvSpPr>
          <p:cNvPr id="22" name="Shape 20"/>
          <p:cNvSpPr/>
          <p:nvPr/>
        </p:nvSpPr>
        <p:spPr>
          <a:xfrm>
            <a:off x="548640" y="5922264"/>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low n bits of a product are also correct, whatever the signs</a:t>
            </a:r>
            <a:endParaRPr lang="en-US" sz="2400" dirty="0"/>
          </a:p>
        </p:txBody>
      </p:sp>
      <p:sp>
        <p:nvSpPr>
          <p:cNvPr id="24" name="Shape 22"/>
          <p:cNvSpPr/>
          <p:nvPr/>
        </p:nvSpPr>
        <p:spPr>
          <a:xfrm>
            <a:off x="8616010" y="91440"/>
            <a:ext cx="3027045" cy="274320"/>
          </a:xfrm>
          <a:prstGeom prst="rect">
            <a:avLst/>
          </a:prstGeom>
          <a:solidFill>
            <a:srgbClr val="E0F2FE"/>
          </a:solidFill>
          <a:ln w="12700">
            <a:solidFill>
              <a:srgbClr val="0369A1"/>
            </a:solidFill>
            <a:prstDash val="solid"/>
          </a:ln>
        </p:spPr>
      </p:sp>
      <p:sp>
        <p:nvSpPr>
          <p:cNvPr id="25" name="Shape 23"/>
          <p:cNvSpPr/>
          <p:nvPr/>
        </p:nvSpPr>
        <p:spPr>
          <a:xfrm>
            <a:off x="8616010"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7" name="Text 2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Unsigned, 8 bits</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carry out: the register holds 2, the sum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Signed, 8 bits</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no carry out, but the result reads -2</a:t>
            </a:r>
            <a:endParaRPr lang="en-US" sz="1250" dirty="0"/>
          </a:p>
        </p:txBody>
      </p:sp>
      <p:sp>
        <p:nvSpPr>
          <p:cNvPr id="13" name="Shape 11"/>
          <p:cNvSpPr/>
          <p:nvPr/>
        </p:nvSpPr>
        <p:spPr>
          <a:xfrm>
            <a:off x="548640" y="3877945"/>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Unsigned overflow: there is a carry out of the most significant bit</a:t>
            </a:r>
            <a:endParaRPr lang="en-US" sz="1900" dirty="0"/>
          </a:p>
        </p:txBody>
      </p:sp>
      <p:sp>
        <p:nvSpPr>
          <p:cNvPr id="15" name="Shape 13"/>
          <p:cNvSpPr/>
          <p:nvPr/>
        </p:nvSpPr>
        <p:spPr>
          <a:xfrm>
            <a:off x="548640" y="4382643"/>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99458"/>
            <a:ext cx="10710367" cy="86334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Signed overflow in two's complement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positive operands give a negative sum</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negative operands give a positive sum</a:t>
            </a:r>
            <a:endParaRPr lang="en-US" sz="1900" dirty="0"/>
          </a:p>
        </p:txBody>
      </p:sp>
      <p:sp>
        <p:nvSpPr>
          <p:cNvPr id="17" name="Shape 15"/>
          <p:cNvSpPr/>
          <p:nvPr/>
        </p:nvSpPr>
        <p:spPr>
          <a:xfrm>
            <a:off x="548640" y="545630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37311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Adding two numbers of opposite sign can never overflow</a:t>
            </a:r>
            <a:endParaRPr lang="en-US" sz="1900" dirty="0"/>
          </a:p>
        </p:txBody>
      </p:sp>
      <p:sp>
        <p:nvSpPr>
          <p:cNvPr id="19" name="Shape 17"/>
          <p:cNvSpPr/>
          <p:nvPr/>
        </p:nvSpPr>
        <p:spPr>
          <a:xfrm>
            <a:off x="548640" y="5960999"/>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conditions are independent: the same addition can trigger one, both or neither</a:t>
            </a:r>
            <a:endParaRPr lang="en-US" sz="1900" dirty="0"/>
          </a:p>
        </p:txBody>
      </p:sp>
      <p:sp>
        <p:nvSpPr>
          <p:cNvPr id="21" name="Shape 19"/>
          <p:cNvSpPr/>
          <p:nvPr/>
        </p:nvSpPr>
        <p:spPr>
          <a:xfrm>
            <a:off x="8616010" y="91440"/>
            <a:ext cx="3027045" cy="274320"/>
          </a:xfrm>
          <a:prstGeom prst="rect">
            <a:avLst/>
          </a:prstGeom>
          <a:solidFill>
            <a:srgbClr val="E0F2FE"/>
          </a:solidFill>
          <a:ln w="12700">
            <a:solidFill>
              <a:srgbClr val="0369A1"/>
            </a:solidFill>
            <a:prstDash val="solid"/>
          </a:ln>
        </p:spPr>
      </p:sp>
      <p:sp>
        <p:nvSpPr>
          <p:cNvPr id="22" name="Shape 20"/>
          <p:cNvSpPr/>
          <p:nvPr/>
        </p:nvSpPr>
        <p:spPr>
          <a:xfrm>
            <a:off x="8616010"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4" name="Text 2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extension: the same number on more bits</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4 bits</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8 bits</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4 bits</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8 bits</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8541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To widen a two's complement number, copy its sign bit into all the new positions on the left</a:t>
            </a:r>
            <a:endParaRPr lang="en-US" sz="17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6326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addi t2, t2, -1 stores -1 in twelve bits; the processor sign-extends it to thirty-two before adding</a:t>
            </a:r>
            <a:endParaRPr lang="en-US" sz="1700" dirty="0"/>
          </a:p>
        </p:txBody>
      </p:sp>
      <p:sp>
        <p:nvSpPr>
          <p:cNvPr id="21" name="Shape 19"/>
          <p:cNvSpPr/>
          <p:nvPr/>
        </p:nvSpPr>
        <p:spPr>
          <a:xfrm>
            <a:off x="548640" y="5976493"/>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lb sign-extends the byte it loads; lbu fills with zeros: choose according to what the byte means</a:t>
            </a:r>
            <a:endParaRPr lang="en-US" sz="1700" dirty="0"/>
          </a:p>
        </p:txBody>
      </p:sp>
      <p:sp>
        <p:nvSpPr>
          <p:cNvPr id="23" name="Shape 21"/>
          <p:cNvSpPr/>
          <p:nvPr/>
        </p:nvSpPr>
        <p:spPr>
          <a:xfrm>
            <a:off x="8747328" y="91440"/>
            <a:ext cx="2895727" cy="274320"/>
          </a:xfrm>
          <a:prstGeom prst="rect">
            <a:avLst/>
          </a:prstGeom>
          <a:solidFill>
            <a:srgbClr val="E0F2FE"/>
          </a:solidFill>
          <a:ln w="12700">
            <a:solidFill>
              <a:srgbClr val="0369A1"/>
            </a:solidFill>
            <a:prstDash val="solid"/>
          </a:ln>
        </p:spPr>
      </p:sp>
      <p:sp>
        <p:nvSpPr>
          <p:cNvPr id="24" name="Shape 22"/>
          <p:cNvSpPr/>
          <p:nvPr/>
        </p:nvSpPr>
        <p:spPr>
          <a:xfrm>
            <a:off x="8747328"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26" name="Text 2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 extension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number does the 8-bit pattern 1111 1100 represent in two's complement?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8 bits, which addition produces a signed overflow?</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holds 0xFFFFFFFF and t1 holds 1. After slt t2, t0, t1 and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is 0.625 written in binary?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base has its advantages: base 2 for circuits, base 16 for people who read bits</a:t>
            </a:r>
            <a:endParaRPr lang="en-US" sz="2200" dirty="0"/>
          </a:p>
        </p:txBody>
      </p:sp>
      <p:sp>
        <p:nvSpPr>
          <p:cNvPr id="5" name="Shape 3"/>
          <p:cNvSpPr/>
          <p:nvPr/>
        </p:nvSpPr>
        <p:spPr>
          <a:xfrm>
            <a:off x="548640" y="23629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 bits represent 2^n numbers: which ones depends on the encoding law</a:t>
            </a:r>
            <a:endParaRPr lang="en-US" sz="2200" dirty="0"/>
          </a:p>
        </p:txBody>
      </p:sp>
      <p:sp>
        <p:nvSpPr>
          <p:cNvPr id="7" name="Shape 5"/>
          <p:cNvSpPr/>
          <p:nvPr/>
        </p:nvSpPr>
        <p:spPr>
          <a:xfrm>
            <a:off x="548640" y="28612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5478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Two's complement turns subtraction into addition: one adder does everything</a:t>
            </a:r>
            <a:endParaRPr lang="en-US" sz="2200" dirty="0"/>
          </a:p>
        </p:txBody>
      </p:sp>
      <p:sp>
        <p:nvSpPr>
          <p:cNvPr id="9" name="Shape 7"/>
          <p:cNvSpPr/>
          <p:nvPr/>
        </p:nvSpPr>
        <p:spPr>
          <a:xfrm>
            <a:off x="548640" y="33595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530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Overflow is the price of finite registers: detect it, or design it away</a:t>
            </a:r>
            <a:endParaRPr lang="en-US" sz="2200" dirty="0"/>
          </a:p>
        </p:txBody>
      </p:sp>
      <p:sp>
        <p:nvSpPr>
          <p:cNvPr id="11" name="Shape 9"/>
          <p:cNvSpPr/>
          <p:nvPr/>
        </p:nvSpPr>
        <p:spPr>
          <a:xfrm>
            <a:off x="548640" y="385780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75137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RISC-V the bits have no type: the instruction chooses signed or unsigned</a:t>
            </a:r>
            <a:endParaRPr lang="en-US" sz="2200" dirty="0"/>
          </a:p>
        </p:txBody>
      </p:sp>
      <p:sp>
        <p:nvSpPr>
          <p:cNvPr id="13" name="Shape 11"/>
          <p:cNvSpPr/>
          <p:nvPr/>
        </p:nvSpPr>
        <p:spPr>
          <a:xfrm>
            <a:off x="548640" y="435610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249674"/>
            <a:ext cx="10710367" cy="192252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sections 2.4 and 3.1-3.2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6: State and Input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Stallings: Computer Organization and Architecture, chapters on number systems and computer arithmetic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dc:title>
  <dc:subject>Lecture 05</dc:subject>
  <dc:creator>Raffaele Montella</dc:creator>
  <cp:lastModifiedBy>Raffaele Montella</cp:lastModifiedBy>
  <cp:revision>1</cp:revision>
  <dcterms:created xsi:type="dcterms:W3CDTF">2026-10-17T07:16:48Z</dcterms:created>
  <dcterms:modified xsi:type="dcterms:W3CDTF">2026-10-17T07:16:48Z</dcterms:modified>
</cp:coreProperties>
</file>