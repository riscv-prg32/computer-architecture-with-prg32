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1debacec-33b0-409e-e8a7-a83894af8846}">
          <p14:sldIdLst>
            <p14:sldId id="256"/>
            <p14:sldId id="257"/>
          </p14:sldIdLst>
        </p14:section>
        <p14:section name="Step 0: the working loop" id="{4ada3058-22fd-5eb1-748c-c0388aea1be0}">
          <p14:sldIdLst>
            <p14:sldId id="258"/>
            <p14:sldId id="259"/>
          </p14:sldIdLst>
        </p14:section>
        <p14:section name="Step 2: a grid and a head" id="{99678840-ef0c-5bc5-a2dd-d1a3f4458363}">
          <p14:sldIdLst>
            <p14:sldId id="260"/>
            <p14:sldId id="261"/>
            <p14:sldId id="262"/>
            <p14:sldId id="263"/>
            <p14:sldId id="264"/>
          </p14:sldIdLst>
        </p14:section>
        <p14:section name="Step 3: movement" id="{b302ed3a-2b3f-3333-e8e0-4840bd21e721}">
          <p14:sldIdLst>
            <p14:sldId id="265"/>
            <p14:sldId id="266"/>
          </p14:sldIdLst>
        </p14:section>
        <p14:section name="Step 4: look inside with PRG32-QT" id="{1bc8a331-ab04-860a-df30-d5e6be925477}">
          <p14:sldIdLst>
            <p14:sldId id="267"/>
          </p14:sldIdLst>
        </p14:section>
        <p14:section name="Run it and test it" id="{00e009f0-8a27-f5b5-ddf0-a21169fbe66f}">
          <p14:sldIdLst>
            <p14:sldId id="268"/>
            <p14:sldId id="269"/>
            <p14:sldId id="270"/>
            <p14:sldId id="271"/>
            <p14:sldId id="272"/>
          </p14:sldIdLst>
        </p14:section>
        <p14:section name="Exercises" id="{cfada311-0664-2497-283e-16adf5735ce4}">
          <p14:sldIdLst>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code deck of Lecture 07. The lecture deck holds the concepts; this one holds everything you type and run: the listings with their explanation, the complete program, what it shows, and the way to test it on each of the three hosts.
Learning status: UNDERSTAND NOW, by the end of this lecture you explain it, trace it and apply it on your own; USE NOW, you follow and use the recipe today; how it works inside is explained later, or is not part of the course; UNDERSTAND LATER, recognise the name and what it is for; a later lecture explains it. A slide without a badge is context: a story, an example, a question, an exercise.
Learning status of this lecture. UNDERSTAND NOW: the Verm1 project; the init, update, draw contract; a colour is a number; arrays in memory; .text, .rodata, .data; address, value, load, store; why ra is saved; shifts as multiplications; fixed point; pseudo-instructions; little-endian byte order. USE NOW: the PRG32 tools, the PRG32-QT debugger (used, not studied, in this course). UNDERSTAND LATER: instruction formats (Lecture 19). A slide without a badge is context: a story, an example, a question, an exercise.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deck contains, in the order of the slides. The program of the lecture is a file that you can build and run as it is: start from there, and come back to the listings to understand each part. The reference program is ~/arc12/verm1/verm1_part1.S; tools/tests/verm1_check.py builds it and plays it with a scripted player, and verm1_steps.py runs the intermediate checkpoints.
For the lecturer: Get the code once: git clone https://github.com/riscv-prg32/computer-architecture-with-prg32 ~/arc12. The reference program is ~/arc12/verm1/verm1_part1.S; tools/tests/verm1_check.py builds it and plays it with a scripted player, and verm1_steps.py runs the intermediate checkpoints. Every listing on these slides is read by the build from a tested file, or checked by tools/tests: see its README.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a folder called verm1 in your home directory and keep in it one file, verm1.S, that will grow from part to part. The first command builds the cartridge; the second sends it to PRG32-QT running on the same computer and starts it. These two commands are identical in every tutorial. If localhost does not answer, use the address shown on the Setup screen of PRG32-QT. As an alternative you can import the file from the menu of PRG32-QT.
USE NOW: the PRG32 tools (used, not studied, in this course).
For the lecturer: Make a folder ~/verm1 and keep one file in it, verm1.S, that grows from part to part. PRG32-QT listens on port 8080 and shows its address on the Setup screen: use that address if localhost does not answer. The same cartridge runs on QEMU (python3 -m prg32 qemu upload, then qemu run) and on the board (--url http://192.168.4.1).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is the skeleton of Lecture 02 with the prefix verm1: three global labels and three functions that only return. Type it, build it, run it. The right result is a black screen: it proves that the tools work and that the firmware finds your functions. If the build fails here, the problem is the installation, not your program, and it must be solved before going on. The last callout is the rule of the whole project: add one thing, run, look. Never two things at once.
UNDERSTAND NOW: the init, update, draw contract.
For the lecturer: The skeleton of Lecture 02. If the build fails here the problem is the installation, not the program: solve it before going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lines replace the beginning of the skeleton. Each .equ gives a name to a number and uses no memory: the assembler simply substitutes the number. Three colours in RGB565. Then the geometry: a cell is 8 by 8 pixels, so the 320 pixels of the width hold 40 columns; the top 8 pixels are reserved for the title, and the remaining 192 hold 24 rows. SPEED_Q8 is the speed in fixed point and will be used in step 3. Constants with names make the program readable and easy to change.
UNDERSTAND NOW: a colour is a number.
For the lecturer: Replace the skeleton's first lines with these. SPEED_Q8 is used in step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goes at the end of the file. The section .rodata holds what never changes: the title, a string that .asciz ends with a zero byte. The section .data holds the variables, one 32-bit word each: the column of the head, its row, and the fraction of a step accumulated so far. The initial values written here are only a start: init will set them again explicitly.
UNDERSTAND NOW: .text, .rodata, .data.
For the lecturer: Put this at the end of the file. step_q8 is used in step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verm1_init puts the head in its place. For each variable the pattern is the same: la loads the address, li loads the value, sw stores the value at the address. The fraction step_q8 is set to zero by storing the register zero directly. The function calls nothing, so it is a leaf and needs no stack frame. Why set values that .data already contains? Because init may be called again to restart the game: never trust what memory contained.
UNDERSTAND NOW: address, value, load, store.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verm1_draw makes three calls: clear the screen, write the title, draw the head. It therefore saves ra in a stack frame at the beginning and restores it at the end, as in Lecture 02. Look at how the cell becomes pixels: the column is loaded into a0 and shifted left by 3; the row is loaded into a1, shifted and increased by TOP. The remaining arguments are width, height and colour. Arguments travel in a0 to a4, in the order in which the function expects them.
UNDERSTAND NOW: why ra is saved; shifts as multiplications.
For the lecturer: prg32_gfx_text8(x, y, string, foreground, background); prg32_gfx_rect(x, y, width, height, colour).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 and run. You should see the word VERM1 at the top left and a green square standing still in column 5 of row 12. The screenshot on the slide was taken later, from the finished Part 1, so its head is further to the right: do not worry about the difference. If your square is in the wrong place, check the two shifts and the addition of TOP before anything else.
For the lecturer: Screenshot produced by tools/tests/verm1_check.py from verm1/verm1_part1.S.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verm1_update in two halves. First the timer: load step_q8, add the speed, compare with 256. If it is less, jump to label 2, store the fraction and return: nothing moves in this frame. Otherwise subtract 256, keeping the remainder, and store it. Then the step: load head_x, add 1, compare with COLS; if the column has reached 40 it becomes 0, and the head comes back from the left. The labels 1: and 2: are local labels: 1f means "the next label 1 forward".
UNDERSTAND NOW: fixed point.
For the lecturer: blt compares signed numbers, which is right here: every value is small and positive. Local labels 1: and 2: are referred to as 1f and 2f, 'the next 1 or 2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it. The head moves to the right at about five cells per second, leaves at column 39 and returns at column 0. Then experiment with the speed: before each run, predict what you will see. With 8 the head is slow; with 128 it takes a step every two frames; with 256, one step per frame. Try a larger value and discover a limit of this program: update takes at most one step per frame.
For the lecturer: With SPEED_Q8 = 256 the head moves one cell per frame; larger values still give one step per frame, because update takes at most one step: a limit worth discovering.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debugger does not show your source: it shows what the assembler produced. Names have disappeared: labels have become addresses and SPEED_Q8 has become the number 40. Pseudo-instructions are expanded: la is auipc followed by addi, li is an addi from zero, ret is a jump to ra. Some instructions begin with c.: they are the compressed, 16-bit forms of the same instructions, the C in RV32IMAC. Recognising your own program in this listing is a skill that grows with practice.
UNDERSTAND NOW: pseudo-instructions. UNDERSTAND LATER: instruction formats (studied in Lecture 19).
For the lecturer: Disassembly of verm1_update from verm1/verm1_part1.S (objdump, rv32imac), abridged; the exact offsets depend on the build. Instruction formats and compressed instructions are the subject of Lecture 19.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program shows when it runs, and what to press. Predict before you run: if the screen differs from this picture, the difference is information. The picture was written by the automatic test, not drawn by hand.
For the lecturer: The picture is the frame that the headless runner of PRG32-QT produced in the test of this program. On QEMU and on the board the game area is the same 320 by 200 pixels, between the two status bands.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quickest way: PRG32-QT on your own computer. Four steps, each with its command. PRG32-QT behaves like a board on port 8080, which is why the upload command says esp32c6. With debug mode enabled you can stop at any instruction and read registers and memory.
USE NOW: the PRG32 tools (used, not studied, in this course).
For the lecturer: Run by the tests: the cartridge of this slide is built with this command and executed on the headless runner of PRG32-QT. Without the toolchain: import the .prg32 file in PRG32-QT and choose Run Cartridge. Keys: arrows or WASD for the joystick, Z or J for A, X or K for B, Enter for Start, Escape to go back to Setup.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emulator. QEMU runs the real firmware on an emulated chip, so the cartridge must be built for the architecture qemu. Stage the cartridge while QEMU is closed. The firmware opens on the Setup menu: choose Run Cartridge and the slot. Remember that the keyboard is read by the terminal, not by the window with the picture.
USE NOW: the PRG32 tools (used, not studied, in this course).
For the lecturer: Checked by the tests up to the staging: the cartridge is built for the architecture qemu and accepted into the flash image of the emulator. What the emulator then shows is not checked automatically: Espressif QEMU needs its window. Since October 2026 the firmware starts on Setup: choose Run Cartridge, then cart0.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kit. The firmware is written once, through USB; after that cartridges travel over Wi-Fi. The upload command is the one used for PRG32-QT with the address of the board. This is the only host that the automatic tests do not run: try it, and report what you see.
USE NOW: the PRG32 tools (used, not studied, in this course).
For the lecturer: Not run by the tests: there is no board on the test machine. The cartridge for the architecture esp32c6 is built by the tests; the steps are those of the PRG32 documentation. If the serial port is not found pass it explicitly. To use the Wi-Fi of the classroom: python3 -m prg32 wifi set --ssid NAME --password PASSWORD --mode 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most common symptoms, what each means, and what to do. Read the message before changing anything: it nearly always names the cause.
USE NOW: the PRG32 tools (used, not studied, in this course).
For the lecturer: The first three rows cover most cases. When asking for help, paste the command and the whole message as text. docs/usage/troubleshooting.md of the PRG32 repository has the complete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changes to make the program yours, each of a few lines. Make the head move to the left: the addition becomes a subtraction, and the edge is detected on the sign of the result. Make it move downwards. Draw a second, darker cell behind the head. Write your name beside the title in a colour computed by hand. Before experimenting, keep a copy of the working Part 1: Part 2 starts from it.
For the lecturer: Moving left: addi t3, t3, -1, then bgez t3 to skip the wrap, else li t3, COLS-1. The comparison is on the sign: Lecture 05. Darker green: 0x03e0.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07: Verm1, part 1 (code)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2.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07</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Verm1, Part 1: A Head That Crosses the World: the code</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Code deck: every listing explained, the complete program, and how to test it on PRG32-QT, on QEMU and on the board</a:t>
            </a:r>
            <a:endParaRPr lang="en-US" sz="1700" dirty="0"/>
          </a:p>
        </p:txBody>
      </p:sp>
      <p:sp>
        <p:nvSpPr>
          <p:cNvPr id="10" name="Text 8"/>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1" name="Text 9"/>
          <p:cNvSpPr txBox="1"/>
          <p:nvPr/>
        </p:nvSpPr>
        <p:spPr>
          <a:xfrm>
            <a:off x="548640" y="6419088"/>
            <a:ext cx="8229600" cy="274320"/>
          </a:xfrm>
          <a:prstGeom prst="rect">
            <a:avLst/>
          </a:prstGeom>
          <a:noFill/>
          <a:ln/>
        </p:spPr>
        <p:txBody>
          <a:bodyPr wrap="square" lIns="0" tIns="0" rIns="0" bIns="0" rtlCol="0" anchor="t"/>
          <a:lstStyle/>
          <a:p>
            <a:pPr indent="0" marL="0">
              <a:buNone/>
            </a:pPr>
            <a:r>
              <a:rPr lang="en-US" sz="1200" i="1" dirty="0">
                <a:solidFill>
                  <a:srgbClr val="CFE3EA"/>
                </a:solidFill>
                <a:latin typeface="Calibri" pitchFamily="34" charset="0"/>
                <a:ea typeface="Calibri" pitchFamily="34" charset="-122"/>
                <a:cs typeface="Calibri" pitchFamily="34" charset="-120"/>
              </a:rPr>
              <a:t>Verm1 reference implementation contributed by Giuseppe Coviello</a:t>
            </a:r>
            <a:endParaRPr lang="en-US" sz="1200" dirty="0"/>
          </a:p>
        </p:txBody>
      </p:sp>
      <p:sp>
        <p:nvSpPr>
          <p:cNvPr id="12" name="Text 10"/>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Code deck. The concepts, the figures and the questions are in the lecture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07-Computer_Architecture-Verm1_Part_1.pptx</a:t>
            </a:r>
            <a:endParaRPr lang="en-US" sz="13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verm1_p1.png">    </p:cNvPr>
          <p:cNvPicPr>
            <a:picLocks noChangeAspect="1"/>
          </p:cNvPicPr>
          <p:nvPr/>
        </p:nvPicPr>
        <p:blipFill>
          <a:blip r:embed="rId1"/>
          <a:stretch>
            <a:fillRect/>
          </a:stretch>
        </p:blipFill>
        <p:spPr>
          <a:xfrm>
            <a:off x="8716975" y="4280535"/>
            <a:ext cx="2834640" cy="1771650"/>
          </a:xfrm>
          <a:prstGeom prst="rect">
            <a:avLst/>
          </a:prstGeom>
        </p:spPr>
      </p:pic>
      <p:sp>
        <p:nvSpPr>
          <p:cNvPr id="15" name="Shape 12"/>
          <p:cNvSpPr/>
          <p:nvPr/>
        </p:nvSpPr>
        <p:spPr>
          <a:xfrm>
            <a:off x="9690303" y="91440"/>
            <a:ext cx="1952752" cy="274320"/>
          </a:xfrm>
          <a:prstGeom prst="rect">
            <a:avLst/>
          </a:prstGeom>
          <a:solidFill>
            <a:srgbClr val="F3E8FF"/>
          </a:solidFill>
          <a:ln w="12700">
            <a:solidFill>
              <a:srgbClr val="7E22CE"/>
            </a:solidFill>
            <a:prstDash val="dash"/>
          </a:ln>
        </p:spPr>
      </p:sp>
      <p:sp>
        <p:nvSpPr>
          <p:cNvPr id="16" name="Shape 13"/>
          <p:cNvSpPr/>
          <p:nvPr/>
        </p:nvSpPr>
        <p:spPr>
          <a:xfrm>
            <a:off x="9717735" y="128016"/>
            <a:ext cx="45720" cy="45720"/>
          </a:xfrm>
          <a:prstGeom prst="rect">
            <a:avLst/>
          </a:prstGeom>
          <a:solidFill>
            <a:srgbClr val="7E22CE"/>
          </a:solidFill>
          <a:ln w="12700">
            <a:solidFill>
              <a:srgbClr val="7E22CE"/>
            </a:solidFill>
            <a:prstDash val="solid"/>
          </a:ln>
        </p:spPr>
      </p:sp>
      <p:sp>
        <p:nvSpPr>
          <p:cNvPr id="17" name="Shape 14"/>
          <p:cNvSpPr/>
          <p:nvPr/>
        </p:nvSpPr>
        <p:spPr>
          <a:xfrm>
            <a:off x="9717735" y="205740"/>
            <a:ext cx="45720" cy="45720"/>
          </a:xfrm>
          <a:prstGeom prst="rect">
            <a:avLst/>
          </a:prstGeom>
          <a:solidFill>
            <a:srgbClr val="7E22CE"/>
          </a:solidFill>
          <a:ln w="12700">
            <a:solidFill>
              <a:srgbClr val="7E22CE"/>
            </a:solidFill>
            <a:prstDash val="solid"/>
          </a:ln>
        </p:spPr>
      </p:sp>
      <p:sp>
        <p:nvSpPr>
          <p:cNvPr id="18" name="Shape 15"/>
          <p:cNvSpPr/>
          <p:nvPr/>
        </p:nvSpPr>
        <p:spPr>
          <a:xfrm>
            <a:off x="9717735" y="283464"/>
            <a:ext cx="45720" cy="45720"/>
          </a:xfrm>
          <a:prstGeom prst="rect">
            <a:avLst/>
          </a:prstGeom>
          <a:solidFill>
            <a:srgbClr val="7E22CE"/>
          </a:solidFill>
          <a:ln w="12700">
            <a:solidFill>
              <a:srgbClr val="7E22CE"/>
            </a:solidFill>
            <a:prstDash val="solid"/>
          </a:ln>
        </p:spPr>
      </p:sp>
      <p:pic>
        <p:nvPicPr>
          <p:cNvPr id="19" name="Image 1" descr="preencoded.png">    </p:cNvPr>
          <p:cNvPicPr>
            <a:picLocks noChangeAspect="1"/>
          </p:cNvPicPr>
          <p:nvPr/>
        </p:nvPicPr>
        <p:blipFill>
          <a:blip r:embed="rId2"/>
          <a:stretch>
            <a:fillRect/>
          </a:stretch>
        </p:blipFill>
        <p:spPr>
          <a:xfrm>
            <a:off x="9818319" y="128016"/>
            <a:ext cx="201168" cy="201168"/>
          </a:xfrm>
          <a:prstGeom prst="rect">
            <a:avLst/>
          </a:prstGeom>
        </p:spPr>
      </p:pic>
      <p:sp>
        <p:nvSpPr>
          <p:cNvPr id="20" name="Text 16"/>
          <p:cNvSpPr txBox="1"/>
          <p:nvPr/>
        </p:nvSpPr>
        <p:spPr>
          <a:xfrm>
            <a:off x="10074351" y="91440"/>
            <a:ext cx="1532128"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endParaRPr lang="en-US" sz="1100" dirty="0"/>
          </a:p>
        </p:txBody>
      </p:sp>
      <p:sp>
        <p:nvSpPr>
          <p:cNvPr id="21" name="Shape 17"/>
          <p:cNvSpPr/>
          <p:nvPr/>
        </p:nvSpPr>
        <p:spPr>
          <a:xfrm>
            <a:off x="8407349" y="91440"/>
            <a:ext cx="1173226" cy="274320"/>
          </a:xfrm>
          <a:prstGeom prst="rect">
            <a:avLst/>
          </a:prstGeom>
          <a:solidFill>
            <a:srgbClr val="FEF3C7"/>
          </a:solidFill>
          <a:ln w="12700">
            <a:solidFill>
              <a:srgbClr val="B45309"/>
            </a:solidFill>
            <a:prstDash val="solid"/>
          </a:ln>
        </p:spPr>
      </p:sp>
      <p:sp>
        <p:nvSpPr>
          <p:cNvPr id="22" name="Shape 18"/>
          <p:cNvSpPr/>
          <p:nvPr/>
        </p:nvSpPr>
        <p:spPr>
          <a:xfrm>
            <a:off x="8407349" y="91440"/>
            <a:ext cx="27432" cy="274320"/>
          </a:xfrm>
          <a:prstGeom prst="rect">
            <a:avLst/>
          </a:prstGeom>
          <a:solidFill>
            <a:srgbClr val="B45309"/>
          </a:solidFill>
          <a:ln w="12700">
            <a:solidFill>
              <a:srgbClr val="B45309"/>
            </a:solidFill>
            <a:prstDash val="solid"/>
          </a:ln>
        </p:spPr>
      </p:sp>
      <p:sp>
        <p:nvSpPr>
          <p:cNvPr id="23" name="Shape 19"/>
          <p:cNvSpPr/>
          <p:nvPr/>
        </p:nvSpPr>
        <p:spPr>
          <a:xfrm>
            <a:off x="8462213" y="91440"/>
            <a:ext cx="27432" cy="274320"/>
          </a:xfrm>
          <a:prstGeom prst="rect">
            <a:avLst/>
          </a:prstGeom>
          <a:solidFill>
            <a:srgbClr val="B45309"/>
          </a:solidFill>
          <a:ln w="12700">
            <a:solidFill>
              <a:srgbClr val="B45309"/>
            </a:solidFill>
            <a:prstDash val="solid"/>
          </a:ln>
        </p:spPr>
      </p:sp>
      <p:pic>
        <p:nvPicPr>
          <p:cNvPr id="24" name="Image 2" descr="preencoded.png">    </p:cNvPr>
          <p:cNvPicPr>
            <a:picLocks noChangeAspect="1"/>
          </p:cNvPicPr>
          <p:nvPr/>
        </p:nvPicPr>
        <p:blipFill>
          <a:blip r:embed="rId3"/>
          <a:stretch>
            <a:fillRect/>
          </a:stretch>
        </p:blipFill>
        <p:spPr>
          <a:xfrm>
            <a:off x="8535365" y="128016"/>
            <a:ext cx="201168" cy="201168"/>
          </a:xfrm>
          <a:prstGeom prst="rect">
            <a:avLst/>
          </a:prstGeom>
        </p:spPr>
      </p:pic>
      <p:sp>
        <p:nvSpPr>
          <p:cNvPr id="25" name="Text 20"/>
          <p:cNvSpPr txBox="1"/>
          <p:nvPr/>
        </p:nvSpPr>
        <p:spPr>
          <a:xfrm>
            <a:off x="8791397" y="91440"/>
            <a:ext cx="75260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endParaRPr lang="en-US" sz="1100" dirty="0"/>
          </a:p>
        </p:txBody>
      </p:sp>
      <p:sp>
        <p:nvSpPr>
          <p:cNvPr id="26" name="Shape 21"/>
          <p:cNvSpPr/>
          <p:nvPr/>
        </p:nvSpPr>
        <p:spPr>
          <a:xfrm>
            <a:off x="6518097" y="91440"/>
            <a:ext cx="1779524" cy="274320"/>
          </a:xfrm>
          <a:prstGeom prst="rect">
            <a:avLst/>
          </a:prstGeom>
          <a:solidFill>
            <a:srgbClr val="E0F2FE"/>
          </a:solidFill>
          <a:ln w="12700">
            <a:solidFill>
              <a:srgbClr val="0369A1"/>
            </a:solidFill>
            <a:prstDash val="solid"/>
          </a:ln>
        </p:spPr>
      </p:sp>
      <p:sp>
        <p:nvSpPr>
          <p:cNvPr id="27" name="Shape 22"/>
          <p:cNvSpPr/>
          <p:nvPr/>
        </p:nvSpPr>
        <p:spPr>
          <a:xfrm>
            <a:off x="6518097" y="91440"/>
            <a:ext cx="73152" cy="274320"/>
          </a:xfrm>
          <a:prstGeom prst="rect">
            <a:avLst/>
          </a:prstGeom>
          <a:solidFill>
            <a:srgbClr val="0369A1"/>
          </a:solidFill>
          <a:ln w="12700">
            <a:solidFill>
              <a:srgbClr val="0369A1"/>
            </a:solidFill>
            <a:prstDash val="solid"/>
          </a:ln>
        </p:spPr>
      </p:sp>
      <p:pic>
        <p:nvPicPr>
          <p:cNvPr id="28" name="Image 3" descr="preencoded.png">    </p:cNvPr>
          <p:cNvPicPr>
            <a:picLocks noChangeAspect="1"/>
          </p:cNvPicPr>
          <p:nvPr/>
        </p:nvPicPr>
        <p:blipFill>
          <a:blip r:embed="rId4"/>
          <a:stretch>
            <a:fillRect/>
          </a:stretch>
        </p:blipFill>
        <p:spPr>
          <a:xfrm>
            <a:off x="6646113" y="128016"/>
            <a:ext cx="201168" cy="201168"/>
          </a:xfrm>
          <a:prstGeom prst="rect">
            <a:avLst/>
          </a:prstGeom>
        </p:spPr>
      </p:pic>
      <p:sp>
        <p:nvSpPr>
          <p:cNvPr id="29" name="Text 23"/>
          <p:cNvSpPr txBox="1"/>
          <p:nvPr/>
        </p:nvSpPr>
        <p:spPr>
          <a:xfrm>
            <a:off x="6902145" y="91440"/>
            <a:ext cx="135890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 this deck</a:t>
            </a:r>
            <a:endParaRPr lang="en-US" sz="3200" dirty="0"/>
          </a:p>
        </p:txBody>
      </p:sp>
      <p:sp>
        <p:nvSpPr>
          <p:cNvPr id="3" name="Text 1"/>
          <p:cNvSpPr txBox="1"/>
          <p:nvPr/>
        </p:nvSpPr>
        <p:spPr>
          <a:xfrm>
            <a:off x="548640" y="155854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540256"/>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8 listings of Lecture 07, one per slide: read the code, then the numbered remarks beside it</a:t>
            </a:r>
            <a:endParaRPr lang="en-US" sz="2200" dirty="0"/>
          </a:p>
        </p:txBody>
      </p:sp>
      <p:sp>
        <p:nvSpPr>
          <p:cNvPr id="5" name="Text 3"/>
          <p:cNvSpPr txBox="1"/>
          <p:nvPr/>
        </p:nvSpPr>
        <p:spPr>
          <a:xfrm>
            <a:off x="548640" y="269748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679192"/>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program is your verm1.S; the reference is verm1/verm1_part1.S, 78 lines, shown here region by region</a:t>
            </a:r>
            <a:endParaRPr lang="en-US" sz="2200" dirty="0"/>
          </a:p>
        </p:txBody>
      </p:sp>
      <p:sp>
        <p:nvSpPr>
          <p:cNvPr id="7" name="Text 5"/>
          <p:cNvSpPr txBox="1"/>
          <p:nvPr/>
        </p:nvSpPr>
        <p:spPr>
          <a:xfrm>
            <a:off x="548640" y="38364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81812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What you should see when it runs, checked on the PRG32-QT headless runner</a:t>
            </a:r>
            <a:endParaRPr lang="en-US" sz="2200" dirty="0"/>
          </a:p>
        </p:txBody>
      </p:sp>
      <p:sp>
        <p:nvSpPr>
          <p:cNvPr id="9" name="Text 7"/>
          <p:cNvSpPr txBox="1"/>
          <p:nvPr/>
        </p:nvSpPr>
        <p:spPr>
          <a:xfrm>
            <a:off x="548640" y="473252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71424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How to test it, step by step: on PRG32-QT, on QEMU, on the board</a:t>
            </a:r>
            <a:endParaRPr lang="en-US" sz="2200" dirty="0"/>
          </a:p>
        </p:txBody>
      </p:sp>
      <p:sp>
        <p:nvSpPr>
          <p:cNvPr id="11" name="Text 9"/>
          <p:cNvSpPr txBox="1"/>
          <p:nvPr/>
        </p:nvSpPr>
        <p:spPr>
          <a:xfrm>
            <a:off x="548640" y="562864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61035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exercises: change the program, predict, run</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Build and run</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800" dirty="0">
                <a:solidFill>
                  <a:srgbClr val="8FB3A0"/>
                </a:solidFill>
                <a:latin typeface="Courier New" pitchFamily="34" charset="0"/>
                <a:ea typeface="Courier New" pitchFamily="34" charset="-122"/>
                <a:cs typeface="Courier New" pitchFamily="34" charset="-120"/>
              </a:rPr>
              <a:t># 1. build the cartridge (from your PRG32 folder, toolchain active)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python3 -m prg32 cartridge build ~/verm1/verm1.S --portable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--entry-prefix verm1 --name verm1 --out ~/verm1/verm1.prg32</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8FB3A0"/>
                </a:solidFill>
                <a:latin typeface="Courier New" pitchFamily="34" charset="0"/>
                <a:ea typeface="Courier New" pitchFamily="34" charset="-122"/>
                <a:cs typeface="Courier New" pitchFamily="34" charset="-120"/>
              </a:rPr>
              <a:t># 2. send it to PRG32-QT, running on the same computer</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python3 -m prg32 esp32c6 upload-and-run ~/verm1/verm1.prg32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--url http://localhost:8080 --slot cart0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8FB3A0"/>
                </a:solidFill>
                <a:latin typeface="Courier New" pitchFamily="34" charset="0"/>
                <a:ea typeface="Courier New" pitchFamily="34" charset="-122"/>
                <a:cs typeface="Courier New" pitchFamily="34" charset="-120"/>
              </a:rPr>
              <a:t># or: in PRG32-QT, import the file verm1.prg32 and choose Run Cartridge</a:t>
            </a:r>
            <a:endParaRPr lang="en-US" sz="1800" dirty="0"/>
          </a:p>
        </p:txBody>
      </p:sp>
      <p:sp>
        <p:nvSpPr>
          <p:cNvPr id="5" name="Shape 3"/>
          <p:cNvSpPr/>
          <p:nvPr/>
        </p:nvSpPr>
        <p:spPr>
          <a:xfrm>
            <a:off x="9287967" y="91440"/>
            <a:ext cx="2355088" cy="274320"/>
          </a:xfrm>
          <a:prstGeom prst="rect">
            <a:avLst/>
          </a:prstGeom>
          <a:solidFill>
            <a:srgbClr val="FEF3C7"/>
          </a:solidFill>
          <a:ln w="12700">
            <a:solidFill>
              <a:srgbClr val="B45309"/>
            </a:solidFill>
            <a:prstDash val="solid"/>
          </a:ln>
        </p:spPr>
      </p:sp>
      <p:sp>
        <p:nvSpPr>
          <p:cNvPr id="6" name="Shape 4"/>
          <p:cNvSpPr/>
          <p:nvPr/>
        </p:nvSpPr>
        <p:spPr>
          <a:xfrm>
            <a:off x="9287967" y="91440"/>
            <a:ext cx="27432" cy="274320"/>
          </a:xfrm>
          <a:prstGeom prst="rect">
            <a:avLst/>
          </a:prstGeom>
          <a:solidFill>
            <a:srgbClr val="B45309"/>
          </a:solidFill>
          <a:ln w="12700">
            <a:solidFill>
              <a:srgbClr val="B45309"/>
            </a:solidFill>
            <a:prstDash val="solid"/>
          </a:ln>
        </p:spPr>
      </p:sp>
      <p:sp>
        <p:nvSpPr>
          <p:cNvPr id="7" name="Shape 5"/>
          <p:cNvSpPr/>
          <p:nvPr/>
        </p:nvSpPr>
        <p:spPr>
          <a:xfrm>
            <a:off x="9342831"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9" name="Text 6"/>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Step 1: three functions that return</a:t>
            </a:r>
            <a:endParaRPr lang="en-US" sz="3200" dirty="0"/>
          </a:p>
        </p:txBody>
      </p:sp>
      <p:sp>
        <p:nvSpPr>
          <p:cNvPr id="3" name="Shape 1"/>
          <p:cNvSpPr/>
          <p:nvPr/>
        </p:nvSpPr>
        <p:spPr>
          <a:xfrm>
            <a:off x="548640" y="1417320"/>
            <a:ext cx="740664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949440" cy="4389120"/>
          </a:xfrm>
          <a:prstGeom prst="rect">
            <a:avLst/>
          </a:prstGeom>
          <a:noFill/>
          <a:ln/>
        </p:spPr>
        <p:txBody>
          <a:bodyPr wrap="square" lIns="0" tIns="0" rIns="0" bIns="0" rtlCol="0" anchor="t"/>
          <a:lstStyle/>
          <a:p>
            <a:pPr indent="0" marL="0">
              <a:buNone/>
            </a:pPr>
            <a:r>
              <a:rPr lang="en-US" sz="1800" dirty="0">
                <a:solidFill>
                  <a:srgbClr val="8FB3A0"/>
                </a:solidFill>
                <a:latin typeface="Courier New" pitchFamily="34" charset="0"/>
                <a:ea typeface="Courier New" pitchFamily="34" charset="-122"/>
                <a:cs typeface="Courier New" pitchFamily="34" charset="-120"/>
              </a:rPr>
              <a:t># verm1.S - my Verm1</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.option norelax</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.section .text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.global verm1_init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.global verm1_update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.global verm1_draw</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verm1_init: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verm1_update: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verm1_draw:</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p:txBody>
      </p:sp>
      <p:sp>
        <p:nvSpPr>
          <p:cNvPr id="5" name="Shape 3"/>
          <p:cNvSpPr/>
          <p:nvPr/>
        </p:nvSpPr>
        <p:spPr>
          <a:xfrm>
            <a:off x="8229600" y="1417320"/>
            <a:ext cx="341345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839419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8915400" y="1554480"/>
            <a:ext cx="254477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Type it, build it, run it: a black screen is the right answer</a:t>
            </a:r>
            <a:endParaRPr lang="en-US" sz="1600" dirty="0"/>
          </a:p>
        </p:txBody>
      </p:sp>
      <p:sp>
        <p:nvSpPr>
          <p:cNvPr id="8" name="Shape 6"/>
          <p:cNvSpPr/>
          <p:nvPr/>
        </p:nvSpPr>
        <p:spPr>
          <a:xfrm>
            <a:off x="8229600" y="2656332"/>
            <a:ext cx="341345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839419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8915400" y="2793492"/>
            <a:ext cx="254477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The prefix verm1 is the name you pass to --entry-prefix</a:t>
            </a:r>
            <a:endParaRPr lang="en-US" sz="1600" dirty="0"/>
          </a:p>
        </p:txBody>
      </p:sp>
      <p:sp>
        <p:nvSpPr>
          <p:cNvPr id="11" name="Shape 9"/>
          <p:cNvSpPr/>
          <p:nvPr/>
        </p:nvSpPr>
        <p:spPr>
          <a:xfrm>
            <a:off x="8229600" y="3895344"/>
            <a:ext cx="341345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839419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15400" y="4032504"/>
            <a:ext cx="254477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init runs once; update and draw run once per frame</a:t>
            </a:r>
            <a:endParaRPr lang="en-US" sz="1600" dirty="0"/>
          </a:p>
        </p:txBody>
      </p:sp>
      <p:sp>
        <p:nvSpPr>
          <p:cNvPr id="14" name="Shape 12"/>
          <p:cNvSpPr/>
          <p:nvPr/>
        </p:nvSpPr>
        <p:spPr>
          <a:xfrm>
            <a:off x="8229600" y="5134356"/>
            <a:ext cx="341345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839419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8915400" y="5271516"/>
            <a:ext cx="254477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From now on: add one thing, run, look. Never two things at once</a:t>
            </a:r>
            <a:endParaRPr lang="en-US" sz="1600" dirty="0"/>
          </a:p>
        </p:txBody>
      </p:sp>
      <p:sp>
        <p:nvSpPr>
          <p:cNvPr id="17" name="Shape 15"/>
          <p:cNvSpPr/>
          <p:nvPr/>
        </p:nvSpPr>
        <p:spPr>
          <a:xfrm>
            <a:off x="7631125" y="91440"/>
            <a:ext cx="4011930" cy="274320"/>
          </a:xfrm>
          <a:prstGeom prst="rect">
            <a:avLst/>
          </a:prstGeom>
          <a:solidFill>
            <a:srgbClr val="E0F2FE"/>
          </a:solidFill>
          <a:ln w="12700">
            <a:solidFill>
              <a:srgbClr val="0369A1"/>
            </a:solidFill>
            <a:prstDash val="solid"/>
          </a:ln>
        </p:spPr>
      </p:sp>
      <p:sp>
        <p:nvSpPr>
          <p:cNvPr id="18" name="Shape 16"/>
          <p:cNvSpPr/>
          <p:nvPr/>
        </p:nvSpPr>
        <p:spPr>
          <a:xfrm>
            <a:off x="7631125"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7759141" y="128016"/>
            <a:ext cx="201168" cy="201168"/>
          </a:xfrm>
          <a:prstGeom prst="rect">
            <a:avLst/>
          </a:prstGeom>
        </p:spPr>
      </p:pic>
      <p:sp>
        <p:nvSpPr>
          <p:cNvPr id="20" name="Text 17"/>
          <p:cNvSpPr txBox="1"/>
          <p:nvPr/>
        </p:nvSpPr>
        <p:spPr>
          <a:xfrm>
            <a:off x="8015173" y="91440"/>
            <a:ext cx="359130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init, update, draw contract</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Constants: colours and the grid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500" dirty="0">
                <a:solidFill>
                  <a:srgbClr val="E6EDF2"/>
                </a:solidFill>
                <a:latin typeface="Courier New" pitchFamily="34" charset="0"/>
                <a:ea typeface="Courier New" pitchFamily="34" charset="-122"/>
                <a:cs typeface="Courier New" pitchFamily="34" charset="-120"/>
              </a:rPr>
              <a:t>.option norelax</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.equ BLACK, 0x0000          </a:t>
            </a:r>
            <a:pPr indent="0" marL="0">
              <a:buNone/>
            </a:pPr>
            <a:r>
              <a:rPr lang="en-US" sz="1500" dirty="0">
                <a:solidFill>
                  <a:srgbClr val="8FB3A0"/>
                </a:solidFill>
                <a:latin typeface="Courier New" pitchFamily="34" charset="0"/>
                <a:ea typeface="Courier New" pitchFamily="34" charset="-122"/>
                <a:cs typeface="Courier New" pitchFamily="34" charset="-120"/>
              </a:rPr>
              <a:t># RGB565 colours</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.equ WHITE, 0xffff</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.equ GREEN, 0x07e0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.equ CELL,  8               </a:t>
            </a:r>
            <a:pPr indent="0" marL="0">
              <a:buNone/>
            </a:pPr>
            <a:r>
              <a:rPr lang="en-US" sz="1500" dirty="0">
                <a:solidFill>
                  <a:srgbClr val="8FB3A0"/>
                </a:solidFill>
                <a:latin typeface="Courier New" pitchFamily="34" charset="0"/>
                <a:ea typeface="Courier New" pitchFamily="34" charset="-122"/>
                <a:cs typeface="Courier New" pitchFamily="34" charset="-120"/>
              </a:rPr>
              <a:t># a cell is 8 x 8 pixels</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.equ COLS,  40              </a:t>
            </a:r>
            <a:pPr indent="0" marL="0">
              <a:buNone/>
            </a:pPr>
            <a:r>
              <a:rPr lang="en-US" sz="1500" dirty="0">
                <a:solidFill>
                  <a:srgbClr val="8FB3A0"/>
                </a:solidFill>
                <a:latin typeface="Courier New" pitchFamily="34" charset="0"/>
                <a:ea typeface="Courier New" pitchFamily="34" charset="-122"/>
                <a:cs typeface="Courier New" pitchFamily="34" charset="-120"/>
              </a:rPr>
              <a:t># 320 / 8 cells across</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.equ ROWS,  24              </a:t>
            </a:r>
            <a:pPr indent="0" marL="0">
              <a:buNone/>
            </a:pPr>
            <a:r>
              <a:rPr lang="en-US" sz="1500" dirty="0">
                <a:solidFill>
                  <a:srgbClr val="8FB3A0"/>
                </a:solidFill>
                <a:latin typeface="Courier New" pitchFamily="34" charset="0"/>
                <a:ea typeface="Courier New" pitchFamily="34" charset="-122"/>
                <a:cs typeface="Courier New" pitchFamily="34" charset="-120"/>
              </a:rPr>
              <a:t># 192 / 8 cells down</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.equ TOP,   8               </a:t>
            </a:r>
            <a:pPr indent="0" marL="0">
              <a:buNone/>
            </a:pPr>
            <a:r>
              <a:rPr lang="en-US" sz="1500" dirty="0">
                <a:solidFill>
                  <a:srgbClr val="8FB3A0"/>
                </a:solidFill>
                <a:latin typeface="Courier New" pitchFamily="34" charset="0"/>
                <a:ea typeface="Courier New" pitchFamily="34" charset="-122"/>
                <a:cs typeface="Courier New" pitchFamily="34" charset="-120"/>
              </a:rPr>
              <a:t># the top 8 pixels are the title line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.equ SPEED_Q8, 40           </a:t>
            </a:r>
            <a:pPr indent="0" marL="0">
              <a:buNone/>
            </a:pPr>
            <a:r>
              <a:rPr lang="en-US" sz="1500" dirty="0">
                <a:solidFill>
                  <a:srgbClr val="8FB3A0"/>
                </a:solidFill>
                <a:latin typeface="Courier New" pitchFamily="34" charset="0"/>
                <a:ea typeface="Courier New" pitchFamily="34" charset="-122"/>
                <a:cs typeface="Courier New" pitchFamily="34" charset="-120"/>
              </a:rPr>
              <a:t># 40/256 of a cell per frame (Q24.8)</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.section .text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.global verm1_init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.global verm1_update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.global verm1_draw</a:t>
            </a:r>
            <a:endParaRPr lang="en-US" sz="15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Colours are RGB565 numbers: 0x07e0 is pure green</a:t>
            </a:r>
            <a:endParaRPr lang="en-US" sz="15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320 pixels across, 8 per cell: 40 columns</a:t>
            </a:r>
            <a:endParaRPr lang="en-US" sz="15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The top 8 pixels hold the title; 192 are left: 24 rows</a:t>
            </a:r>
            <a:endParaRPr lang="en-US" sz="15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.equ gives a name to a number: no memory is used</a:t>
            </a:r>
            <a:endParaRPr lang="en-US" sz="1500" dirty="0"/>
          </a:p>
        </p:txBody>
      </p:sp>
      <p:sp>
        <p:nvSpPr>
          <p:cNvPr id="17" name="Shape 15"/>
          <p:cNvSpPr/>
          <p:nvPr/>
        </p:nvSpPr>
        <p:spPr>
          <a:xfrm>
            <a:off x="8353374" y="91440"/>
            <a:ext cx="3289681" cy="274320"/>
          </a:xfrm>
          <a:prstGeom prst="rect">
            <a:avLst/>
          </a:prstGeom>
          <a:solidFill>
            <a:srgbClr val="E0F2FE"/>
          </a:solidFill>
          <a:ln w="12700">
            <a:solidFill>
              <a:srgbClr val="0369A1"/>
            </a:solidFill>
            <a:prstDash val="solid"/>
          </a:ln>
        </p:spPr>
      </p:sp>
      <p:sp>
        <p:nvSpPr>
          <p:cNvPr id="18" name="Shape 16"/>
          <p:cNvSpPr/>
          <p:nvPr/>
        </p:nvSpPr>
        <p:spPr>
          <a:xfrm>
            <a:off x="8353374"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8481390" y="128016"/>
            <a:ext cx="201168" cy="201168"/>
          </a:xfrm>
          <a:prstGeom prst="rect">
            <a:avLst/>
          </a:prstGeom>
        </p:spPr>
      </p:pic>
      <p:sp>
        <p:nvSpPr>
          <p:cNvPr id="20" name="Text 17"/>
          <p:cNvSpPr txBox="1"/>
          <p:nvPr/>
        </p:nvSpPr>
        <p:spPr>
          <a:xfrm>
            <a:off x="8737422" y="91440"/>
            <a:ext cx="286905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a colour is a number</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Variables and a string</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500" dirty="0">
                <a:solidFill>
                  <a:srgbClr val="E6EDF2"/>
                </a:solidFill>
                <a:latin typeface="Courier New" pitchFamily="34" charset="0"/>
                <a:ea typeface="Courier New" pitchFamily="34" charset="-122"/>
                <a:cs typeface="Courier New" pitchFamily="34" charset="-120"/>
              </a:rPr>
              <a:t>.section .rodata</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title:   .asciz "VERM1"</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.section .data</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head_x:  .word 5                </a:t>
            </a:r>
            <a:pPr indent="0" marL="0">
              <a:buNone/>
            </a:pPr>
            <a:r>
              <a:rPr lang="en-US" sz="1500" dirty="0">
                <a:solidFill>
                  <a:srgbClr val="8FB3A0"/>
                </a:solidFill>
                <a:latin typeface="Courier New" pitchFamily="34" charset="0"/>
                <a:ea typeface="Courier New" pitchFamily="34" charset="-122"/>
                <a:cs typeface="Courier New" pitchFamily="34" charset="-120"/>
              </a:rPr>
              <a:t># column of the head, 0 .. COLS-1</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head_y:  .word 12               </a:t>
            </a:r>
            <a:pPr indent="0" marL="0">
              <a:buNone/>
            </a:pPr>
            <a:r>
              <a:rPr lang="en-US" sz="1500" dirty="0">
                <a:solidFill>
                  <a:srgbClr val="8FB3A0"/>
                </a:solidFill>
                <a:latin typeface="Courier New" pitchFamily="34" charset="0"/>
                <a:ea typeface="Courier New" pitchFamily="34" charset="-122"/>
                <a:cs typeface="Courier New" pitchFamily="34" charset="-120"/>
              </a:rPr>
              <a:t># row of the head, 0 .. ROWS-1</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step_q8: .word 0                </a:t>
            </a:r>
            <a:pPr indent="0" marL="0">
              <a:buNone/>
            </a:pPr>
            <a:r>
              <a:rPr lang="en-US" sz="1500" dirty="0">
                <a:solidFill>
                  <a:srgbClr val="8FB3A0"/>
                </a:solidFill>
                <a:latin typeface="Courier New" pitchFamily="34" charset="0"/>
                <a:ea typeface="Courier New" pitchFamily="34" charset="-122"/>
                <a:cs typeface="Courier New" pitchFamily="34" charset="-120"/>
              </a:rPr>
              <a:t># fraction of a step, in 1/256</a:t>
            </a:r>
            <a:endParaRPr lang="en-US" sz="1500" dirty="0"/>
          </a:p>
        </p:txBody>
      </p:sp>
      <p:sp>
        <p:nvSpPr>
          <p:cNvPr id="5" name="Shape 3"/>
          <p:cNvSpPr/>
          <p:nvPr/>
        </p:nvSpPr>
        <p:spPr>
          <a:xfrm>
            <a:off x="8961120" y="1417320"/>
            <a:ext cx="2681935" cy="1450848"/>
          </a:xfrm>
          <a:prstGeom prst="roundRect">
            <a:avLst>
              <a:gd name="adj" fmla="val 5042"/>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1176528"/>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.rodata holds constants: the title ends with a zero byte</a:t>
            </a:r>
            <a:endParaRPr lang="en-US" sz="1600" dirty="0"/>
          </a:p>
        </p:txBody>
      </p:sp>
      <p:sp>
        <p:nvSpPr>
          <p:cNvPr id="8" name="Shape 6"/>
          <p:cNvSpPr/>
          <p:nvPr/>
        </p:nvSpPr>
        <p:spPr>
          <a:xfrm>
            <a:off x="8961120" y="3069336"/>
            <a:ext cx="2681935" cy="1450848"/>
          </a:xfrm>
          <a:prstGeom prst="roundRect">
            <a:avLst>
              <a:gd name="adj" fmla="val 5042"/>
            </a:avLst>
          </a:prstGeom>
          <a:solidFill>
            <a:srgbClr val="EEF2F4"/>
          </a:solidFill>
          <a:ln w="12700">
            <a:solidFill>
              <a:srgbClr val="EEF2F4"/>
            </a:solidFill>
            <a:prstDash val="solid"/>
          </a:ln>
        </p:spPr>
      </p:sp>
      <p:sp>
        <p:nvSpPr>
          <p:cNvPr id="9" name="Text 7"/>
          <p:cNvSpPr txBox="1"/>
          <p:nvPr/>
        </p:nvSpPr>
        <p:spPr>
          <a:xfrm>
            <a:off x="9125712" y="323392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3206496"/>
            <a:ext cx="1813255" cy="1176528"/>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.data holds variables: one 32-bit word each</a:t>
            </a:r>
            <a:endParaRPr lang="en-US" sz="1600" dirty="0"/>
          </a:p>
        </p:txBody>
      </p:sp>
      <p:sp>
        <p:nvSpPr>
          <p:cNvPr id="11" name="Shape 9"/>
          <p:cNvSpPr/>
          <p:nvPr/>
        </p:nvSpPr>
        <p:spPr>
          <a:xfrm>
            <a:off x="8961120" y="4721352"/>
            <a:ext cx="2681935" cy="1450848"/>
          </a:xfrm>
          <a:prstGeom prst="roundRect">
            <a:avLst>
              <a:gd name="adj" fmla="val 5042"/>
            </a:avLst>
          </a:prstGeom>
          <a:solidFill>
            <a:srgbClr val="EEF2F4"/>
          </a:solidFill>
          <a:ln w="12700">
            <a:solidFill>
              <a:srgbClr val="EEF2F4"/>
            </a:solidFill>
            <a:prstDash val="solid"/>
          </a:ln>
        </p:spPr>
      </p:sp>
      <p:sp>
        <p:nvSpPr>
          <p:cNvPr id="12" name="Text 10"/>
          <p:cNvSpPr txBox="1"/>
          <p:nvPr/>
        </p:nvSpPr>
        <p:spPr>
          <a:xfrm>
            <a:off x="9125712" y="488594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858512"/>
            <a:ext cx="1813255" cy="1176528"/>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The initial values are only a start: init will set them again</a:t>
            </a:r>
            <a:endParaRPr lang="en-US" sz="1600" dirty="0"/>
          </a:p>
        </p:txBody>
      </p:sp>
      <p:sp>
        <p:nvSpPr>
          <p:cNvPr id="14" name="Shape 12"/>
          <p:cNvSpPr/>
          <p:nvPr/>
        </p:nvSpPr>
        <p:spPr>
          <a:xfrm>
            <a:off x="8287715" y="91440"/>
            <a:ext cx="3355340" cy="274320"/>
          </a:xfrm>
          <a:prstGeom prst="rect">
            <a:avLst/>
          </a:prstGeom>
          <a:solidFill>
            <a:srgbClr val="E0F2FE"/>
          </a:solidFill>
          <a:ln w="12700">
            <a:solidFill>
              <a:srgbClr val="0369A1"/>
            </a:solidFill>
            <a:prstDash val="solid"/>
          </a:ln>
        </p:spPr>
      </p:sp>
      <p:sp>
        <p:nvSpPr>
          <p:cNvPr id="15" name="Shape 13"/>
          <p:cNvSpPr/>
          <p:nvPr/>
        </p:nvSpPr>
        <p:spPr>
          <a:xfrm>
            <a:off x="8287715"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8415731" y="128016"/>
            <a:ext cx="201168" cy="201168"/>
          </a:xfrm>
          <a:prstGeom prst="rect">
            <a:avLst/>
          </a:prstGeom>
        </p:spPr>
      </p:pic>
      <p:sp>
        <p:nvSpPr>
          <p:cNvPr id="17" name="Text 14"/>
          <p:cNvSpPr txBox="1"/>
          <p:nvPr/>
        </p:nvSpPr>
        <p:spPr>
          <a:xfrm>
            <a:off x="8671763" y="91440"/>
            <a:ext cx="293471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.text, .rodata, .data</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init: put the head in its place</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500" dirty="0">
                <a:solidFill>
                  <a:srgbClr val="E6EDF2"/>
                </a:solidFill>
                <a:latin typeface="Courier New" pitchFamily="34" charset="0"/>
                <a:ea typeface="Courier New" pitchFamily="34" charset="-122"/>
                <a:cs typeface="Courier New" pitchFamily="34" charset="-120"/>
              </a:rPr>
              <a:t>verm1_init: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la   t0, head_x</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t1, 5</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sw   t1, 0(t0)              </a:t>
            </a:r>
            <a:pPr indent="0" marL="0">
              <a:buNone/>
            </a:pPr>
            <a:r>
              <a:rPr lang="en-US" sz="1500" dirty="0">
                <a:solidFill>
                  <a:srgbClr val="8FB3A0"/>
                </a:solidFill>
                <a:latin typeface="Courier New" pitchFamily="34" charset="0"/>
                <a:ea typeface="Courier New" pitchFamily="34" charset="-122"/>
                <a:cs typeface="Courier New" pitchFamily="34" charset="-120"/>
              </a:rPr>
              <a:t># the head starts in column 5 ...</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la   t0, head_y</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t1, 12</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sw   t1, 0(t0)              </a:t>
            </a:r>
            <a:pPr indent="0" marL="0">
              <a:buNone/>
            </a:pPr>
            <a:r>
              <a:rPr lang="en-US" sz="1500" dirty="0">
                <a:solidFill>
                  <a:srgbClr val="8FB3A0"/>
                </a:solidFill>
                <a:latin typeface="Courier New" pitchFamily="34" charset="0"/>
                <a:ea typeface="Courier New" pitchFamily="34" charset="-122"/>
                <a:cs typeface="Courier New" pitchFamily="34" charset="-120"/>
              </a:rPr>
              <a:t># ... of row 12</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la   t0, step_q8</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sw   zero, 0(t0)            </a:t>
            </a:r>
            <a:pPr indent="0" marL="0">
              <a:buNone/>
            </a:pPr>
            <a:r>
              <a:rPr lang="en-US" sz="1500" dirty="0">
                <a:solidFill>
                  <a:srgbClr val="8FB3A0"/>
                </a:solidFill>
                <a:latin typeface="Courier New" pitchFamily="34" charset="0"/>
                <a:ea typeface="Courier New" pitchFamily="34" charset="-122"/>
                <a:cs typeface="Courier New" pitchFamily="34" charset="-120"/>
              </a:rPr>
              <a:t># no fraction of a step yet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ret</a:t>
            </a:r>
            <a:endParaRPr lang="en-US" sz="15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la takes an ADDRESS, sw stores a VALUE there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init sets the start explicitly: never trust what memory contained</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zero is the register that always reads 0</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 leaf function: no calls, so no stack frame</a:t>
            </a:r>
            <a:endParaRPr lang="en-US" sz="1200" dirty="0"/>
          </a:p>
        </p:txBody>
      </p:sp>
      <p:sp>
        <p:nvSpPr>
          <p:cNvPr id="17" name="Shape 15"/>
          <p:cNvSpPr/>
          <p:nvPr/>
        </p:nvSpPr>
        <p:spPr>
          <a:xfrm>
            <a:off x="7893761" y="91440"/>
            <a:ext cx="3749294" cy="274320"/>
          </a:xfrm>
          <a:prstGeom prst="rect">
            <a:avLst/>
          </a:prstGeom>
          <a:solidFill>
            <a:srgbClr val="E0F2FE"/>
          </a:solidFill>
          <a:ln w="12700">
            <a:solidFill>
              <a:srgbClr val="0369A1"/>
            </a:solidFill>
            <a:prstDash val="solid"/>
          </a:ln>
        </p:spPr>
      </p:sp>
      <p:sp>
        <p:nvSpPr>
          <p:cNvPr id="18" name="Shape 16"/>
          <p:cNvSpPr/>
          <p:nvPr/>
        </p:nvSpPr>
        <p:spPr>
          <a:xfrm>
            <a:off x="7893761"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8021777" y="128016"/>
            <a:ext cx="201168" cy="201168"/>
          </a:xfrm>
          <a:prstGeom prst="rect">
            <a:avLst/>
          </a:prstGeom>
        </p:spPr>
      </p:pic>
      <p:sp>
        <p:nvSpPr>
          <p:cNvPr id="20" name="Text 17"/>
          <p:cNvSpPr txBox="1"/>
          <p:nvPr/>
        </p:nvSpPr>
        <p:spPr>
          <a:xfrm>
            <a:off x="8277809" y="91440"/>
            <a:ext cx="332867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address, value, load, store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draw: title and head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150" dirty="0">
                <a:solidFill>
                  <a:srgbClr val="E6EDF2"/>
                </a:solidFill>
                <a:latin typeface="Courier New" pitchFamily="34" charset="0"/>
                <a:ea typeface="Courier New" pitchFamily="34" charset="-122"/>
                <a:cs typeface="Courier New" pitchFamily="34" charset="-120"/>
              </a:rPr>
              <a:t>verm1_draw:</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addi sp, sp, -16</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sw   ra, 12(sp)</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a0, BLACK</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call prg32_gfx_clear</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a0, 0                  </a:t>
            </a:r>
            <a:pPr indent="0" marL="0">
              <a:buNone/>
            </a:pPr>
            <a:r>
              <a:rPr lang="en-US" sz="1150" dirty="0">
                <a:solidFill>
                  <a:srgbClr val="8FB3A0"/>
                </a:solidFill>
                <a:latin typeface="Courier New" pitchFamily="34" charset="0"/>
                <a:ea typeface="Courier New" pitchFamily="34" charset="-122"/>
                <a:cs typeface="Courier New" pitchFamily="34" charset="-120"/>
              </a:rPr>
              <a:t># x</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a1, 0                  </a:t>
            </a:r>
            <a:pPr indent="0" marL="0">
              <a:buNone/>
            </a:pPr>
            <a:r>
              <a:rPr lang="en-US" sz="1150" dirty="0">
                <a:solidFill>
                  <a:srgbClr val="8FB3A0"/>
                </a:solidFill>
                <a:latin typeface="Courier New" pitchFamily="34" charset="0"/>
                <a:ea typeface="Courier New" pitchFamily="34" charset="-122"/>
                <a:cs typeface="Courier New" pitchFamily="34" charset="-120"/>
              </a:rPr>
              <a:t># y</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la   a2, title              </a:t>
            </a:r>
            <a:pPr indent="0" marL="0">
              <a:buNone/>
            </a:pPr>
            <a:r>
              <a:rPr lang="en-US" sz="1150" dirty="0">
                <a:solidFill>
                  <a:srgbClr val="8FB3A0"/>
                </a:solidFill>
                <a:latin typeface="Courier New" pitchFamily="34" charset="0"/>
                <a:ea typeface="Courier New" pitchFamily="34" charset="-122"/>
                <a:cs typeface="Courier New" pitchFamily="34" charset="-120"/>
              </a:rPr>
              <a:t># address of the string</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a3, WHITE</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a4, BLACK</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call prg32_gfx_text8</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la   t0, head_x</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lw   a0, 0(t0)</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slli a0, a0, 3              </a:t>
            </a:r>
            <a:pPr indent="0" marL="0">
              <a:buNone/>
            </a:pPr>
            <a:r>
              <a:rPr lang="en-US" sz="1150" dirty="0">
                <a:solidFill>
                  <a:srgbClr val="8FB3A0"/>
                </a:solidFill>
                <a:latin typeface="Courier New" pitchFamily="34" charset="0"/>
                <a:ea typeface="Courier New" pitchFamily="34" charset="-122"/>
                <a:cs typeface="Courier New" pitchFamily="34" charset="-120"/>
              </a:rPr>
              <a:t># x = column * 8</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la   t0, head_y</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lw   a1, 0(t0)</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slli a1, a1, 3</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addi a1, a1, TOP            </a:t>
            </a:r>
            <a:pPr indent="0" marL="0">
              <a:buNone/>
            </a:pPr>
            <a:r>
              <a:rPr lang="en-US" sz="1150" dirty="0">
                <a:solidFill>
                  <a:srgbClr val="8FB3A0"/>
                </a:solidFill>
                <a:latin typeface="Courier New" pitchFamily="34" charset="0"/>
                <a:ea typeface="Courier New" pitchFamily="34" charset="-122"/>
                <a:cs typeface="Courier New" pitchFamily="34" charset="-120"/>
              </a:rPr>
              <a:t># y = row * 8 + 8</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a2, CELL               </a:t>
            </a:r>
            <a:pPr indent="0" marL="0">
              <a:buNone/>
            </a:pPr>
            <a:r>
              <a:rPr lang="en-US" sz="1150" dirty="0">
                <a:solidFill>
                  <a:srgbClr val="8FB3A0"/>
                </a:solidFill>
                <a:latin typeface="Courier New" pitchFamily="34" charset="0"/>
                <a:ea typeface="Courier New" pitchFamily="34" charset="-122"/>
                <a:cs typeface="Courier New" pitchFamily="34" charset="-120"/>
              </a:rPr>
              <a:t># width</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a3, CELL               </a:t>
            </a:r>
            <a:pPr indent="0" marL="0">
              <a:buNone/>
            </a:pPr>
            <a:r>
              <a:rPr lang="en-US" sz="1150" dirty="0">
                <a:solidFill>
                  <a:srgbClr val="8FB3A0"/>
                </a:solidFill>
                <a:latin typeface="Courier New" pitchFamily="34" charset="0"/>
                <a:ea typeface="Courier New" pitchFamily="34" charset="-122"/>
                <a:cs typeface="Courier New" pitchFamily="34" charset="-120"/>
              </a:rPr>
              <a:t># height</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a4, GREEN</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call prg32_gfx_rect</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lw   ra, 12(sp)</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addi sp, sp, 16</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ret</a:t>
            </a:r>
            <a:endParaRPr lang="en-US" sz="11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Clear, write the title, draw one rectangle: three calls</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Arguments travel in a0 to a4, in order</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slli by 3 multiplies by 8: cell to pixel</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draw makes calls, so it saves ra in a stack frame</a:t>
            </a:r>
            <a:endParaRPr lang="en-US" sz="1200" dirty="0"/>
          </a:p>
        </p:txBody>
      </p:sp>
      <p:sp>
        <p:nvSpPr>
          <p:cNvPr id="17" name="Shape 15"/>
          <p:cNvSpPr/>
          <p:nvPr/>
        </p:nvSpPr>
        <p:spPr>
          <a:xfrm>
            <a:off x="8681669" y="91440"/>
            <a:ext cx="2961386" cy="274320"/>
          </a:xfrm>
          <a:prstGeom prst="rect">
            <a:avLst/>
          </a:prstGeom>
          <a:solidFill>
            <a:srgbClr val="E0F2FE"/>
          </a:solidFill>
          <a:ln w="12700">
            <a:solidFill>
              <a:srgbClr val="0369A1"/>
            </a:solidFill>
            <a:prstDash val="solid"/>
          </a:ln>
        </p:spPr>
      </p:sp>
      <p:sp>
        <p:nvSpPr>
          <p:cNvPr id="18" name="Shape 16"/>
          <p:cNvSpPr/>
          <p:nvPr/>
        </p:nvSpPr>
        <p:spPr>
          <a:xfrm>
            <a:off x="8681669"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8809685" y="128016"/>
            <a:ext cx="201168" cy="201168"/>
          </a:xfrm>
          <a:prstGeom prst="rect">
            <a:avLst/>
          </a:prstGeom>
        </p:spPr>
      </p:pic>
      <p:sp>
        <p:nvSpPr>
          <p:cNvPr id="20" name="Text 17"/>
          <p:cNvSpPr txBox="1"/>
          <p:nvPr/>
        </p:nvSpPr>
        <p:spPr>
          <a:xfrm>
            <a:off x="9065717" y="91440"/>
            <a:ext cx="254076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why ra is saved</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Run it: a head on the grid</a:t>
            </a:r>
            <a:endParaRPr lang="en-US" sz="3200" dirty="0"/>
          </a:p>
        </p:txBody>
      </p:sp>
      <p:sp>
        <p:nvSpPr>
          <p:cNvPr id="3" name="Shape 1"/>
          <p:cNvSpPr/>
          <p:nvPr/>
        </p:nvSpPr>
        <p:spPr>
          <a:xfrm>
            <a:off x="548640" y="1417320"/>
            <a:ext cx="11094415" cy="3931920"/>
          </a:xfrm>
          <a:prstGeom prst="roundRect">
            <a:avLst>
              <a:gd name="adj" fmla="val 1860"/>
            </a:avLst>
          </a:prstGeom>
          <a:solidFill>
            <a:srgbClr val="EEF2F4"/>
          </a:solidFill>
          <a:ln w="12700">
            <a:solidFill>
              <a:srgbClr val="EEF2F4"/>
            </a:solidFill>
            <a:prstDash val="solid"/>
          </a:ln>
        </p:spPr>
      </p:sp>
      <p:pic>
        <p:nvPicPr>
          <p:cNvPr id="4" name="Image 0" descr="/Users/raffaelemontella/devel/riscv-prg32/computer-architecture-with-prg32/tools/assets/verm1_p1.png">    </p:cNvPr>
          <p:cNvPicPr>
            <a:picLocks noChangeAspect="1"/>
          </p:cNvPicPr>
          <p:nvPr/>
        </p:nvPicPr>
        <p:blipFill>
          <a:blip r:embed="rId1"/>
          <a:stretch>
            <a:fillRect/>
          </a:stretch>
        </p:blipFill>
        <p:spPr>
          <a:xfrm>
            <a:off x="3645256" y="1554480"/>
            <a:ext cx="4901184" cy="3063240"/>
          </a:xfrm>
          <a:prstGeom prst="rect">
            <a:avLst/>
          </a:prstGeom>
        </p:spPr>
      </p:pic>
      <p:sp>
        <p:nvSpPr>
          <p:cNvPr id="5" name="Text 2"/>
          <p:cNvSpPr txBox="1"/>
          <p:nvPr/>
        </p:nvSpPr>
        <p:spPr>
          <a:xfrm>
            <a:off x="685800" y="4663440"/>
            <a:ext cx="10820095" cy="59436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The title and the head. After step 3 the head will be moving: this picture was taken 64 frames into the finished Part 1</a:t>
            </a:r>
            <a:endParaRPr lang="en-US" sz="1500" dirty="0"/>
          </a:p>
        </p:txBody>
      </p:sp>
      <p:sp>
        <p:nvSpPr>
          <p:cNvPr id="6" name="Text 3"/>
          <p:cNvSpPr txBox="1"/>
          <p:nvPr/>
        </p:nvSpPr>
        <p:spPr>
          <a:xfrm>
            <a:off x="548640" y="5486400"/>
            <a:ext cx="11094415" cy="685800"/>
          </a:xfrm>
          <a:prstGeom prst="rect">
            <a:avLst/>
          </a:prstGeom>
          <a:noFill/>
          <a:ln/>
        </p:spPr>
        <p:txBody>
          <a:bodyPr wrap="square" lIns="0" tIns="0" rIns="0" bIns="0" rtlCol="0" anchor="ctr"/>
          <a:lstStyle/>
          <a:p>
            <a:pPr indent="0" marL="0">
              <a:buNone/>
            </a:pPr>
            <a:r>
              <a:rPr lang="en-US" sz="1900" dirty="0">
                <a:solidFill>
                  <a:srgbClr val="1B2530"/>
                </a:solidFill>
                <a:latin typeface="Calibri" pitchFamily="34" charset="0"/>
                <a:ea typeface="Calibri" pitchFamily="34" charset="-122"/>
                <a:cs typeface="Calibri" pitchFamily="34" charset="-120"/>
              </a:rPr>
              <a:t>Expected now: the word VERM1 at the top left and a green square standing still in column 5, row 12.</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update: accumulate, step, wrap</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350" dirty="0">
                <a:solidFill>
                  <a:srgbClr val="E6EDF2"/>
                </a:solidFill>
                <a:latin typeface="Courier New" pitchFamily="34" charset="0"/>
                <a:ea typeface="Courier New" pitchFamily="34" charset="-122"/>
                <a:cs typeface="Courier New" pitchFamily="34" charset="-120"/>
              </a:rPr>
              <a:t>verm1_update: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la   t0, step_q8</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lw   t1, 0(t0)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addi t1, t1, SPEED_Q8       </a:t>
            </a:r>
            <a:pPr indent="0" marL="0">
              <a:buNone/>
            </a:pPr>
            <a:r>
              <a:rPr lang="en-US" sz="1350" dirty="0">
                <a:solidFill>
                  <a:srgbClr val="8FB3A0"/>
                </a:solidFill>
                <a:latin typeface="Courier New" pitchFamily="34" charset="0"/>
                <a:ea typeface="Courier New" pitchFamily="34" charset="-122"/>
                <a:cs typeface="Courier New" pitchFamily="34" charset="-120"/>
              </a:rPr>
              <a:t># add a fraction of a cell</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t2, 256</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blt  t1, t2, 2f             </a:t>
            </a:r>
            <a:pPr indent="0" marL="0">
              <a:buNone/>
            </a:pPr>
            <a:r>
              <a:rPr lang="en-US" sz="1350" dirty="0">
                <a:solidFill>
                  <a:srgbClr val="8FB3A0"/>
                </a:solidFill>
                <a:latin typeface="Courier New" pitchFamily="34" charset="0"/>
                <a:ea typeface="Courier New" pitchFamily="34" charset="-122"/>
                <a:cs typeface="Courier New" pitchFamily="34" charset="-120"/>
              </a:rPr>
              <a:t># less than one whole cell: wait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sub  t1, t1, t2             </a:t>
            </a:r>
            <a:pPr indent="0" marL="0">
              <a:buNone/>
            </a:pPr>
            <a:r>
              <a:rPr lang="en-US" sz="1350" dirty="0">
                <a:solidFill>
                  <a:srgbClr val="8FB3A0"/>
                </a:solidFill>
                <a:latin typeface="Courier New" pitchFamily="34" charset="0"/>
                <a:ea typeface="Courier New" pitchFamily="34" charset="-122"/>
                <a:cs typeface="Courier New" pitchFamily="34" charset="-120"/>
              </a:rPr>
              <a:t># one cell done: keep the remainder</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sw   t1, 0(t0)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la   t0, head_x</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lw   t3, 0(t0)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addi t3, t3, 1              </a:t>
            </a:r>
            <a:pPr indent="0" marL="0">
              <a:buNone/>
            </a:pPr>
            <a:r>
              <a:rPr lang="en-US" sz="1350" dirty="0">
                <a:solidFill>
                  <a:srgbClr val="8FB3A0"/>
                </a:solidFill>
                <a:latin typeface="Courier New" pitchFamily="34" charset="0"/>
                <a:ea typeface="Courier New" pitchFamily="34" charset="-122"/>
                <a:cs typeface="Courier New" pitchFamily="34" charset="-120"/>
              </a:rPr>
              <a:t># one cell to the right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t4, COLS</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blt  t3, t4, 1f</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t3, 0                  </a:t>
            </a:r>
            <a:pPr indent="0" marL="0">
              <a:buNone/>
            </a:pPr>
            <a:r>
              <a:rPr lang="en-US" sz="1350" dirty="0">
                <a:solidFill>
                  <a:srgbClr val="8FB3A0"/>
                </a:solidFill>
                <a:latin typeface="Courier New" pitchFamily="34" charset="0"/>
                <a:ea typeface="Courier New" pitchFamily="34" charset="-122"/>
                <a:cs typeface="Courier New" pitchFamily="34" charset="-120"/>
              </a:rPr>
              <a:t># past the right edge: back to column 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1:  sw   t3, 0(t0)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ret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2:  sw   t1, 0(t0)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ret</a:t>
            </a:r>
            <a:endParaRPr lang="en-US" sz="13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Add the speed to the fraction; below 256, wait</a:t>
            </a:r>
            <a:endParaRPr lang="en-US" sz="15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At 256: subtract it, keep the rest, move one cell</a:t>
            </a:r>
            <a:endParaRPr lang="en-US" sz="15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Column 40 does not exist: back to column 0</a:t>
            </a:r>
            <a:endParaRPr lang="en-US" sz="15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Two exits: each stores what it changed</a:t>
            </a:r>
            <a:endParaRPr lang="en-US" sz="1500" dirty="0"/>
          </a:p>
        </p:txBody>
      </p:sp>
      <p:sp>
        <p:nvSpPr>
          <p:cNvPr id="17" name="Shape 15"/>
          <p:cNvSpPr/>
          <p:nvPr/>
        </p:nvSpPr>
        <p:spPr>
          <a:xfrm>
            <a:off x="8944305" y="91440"/>
            <a:ext cx="2698750" cy="274320"/>
          </a:xfrm>
          <a:prstGeom prst="rect">
            <a:avLst/>
          </a:prstGeom>
          <a:solidFill>
            <a:srgbClr val="E0F2FE"/>
          </a:solidFill>
          <a:ln w="12700">
            <a:solidFill>
              <a:srgbClr val="0369A1"/>
            </a:solidFill>
            <a:prstDash val="solid"/>
          </a:ln>
        </p:spPr>
      </p:sp>
      <p:sp>
        <p:nvSpPr>
          <p:cNvPr id="18" name="Shape 16"/>
          <p:cNvSpPr/>
          <p:nvPr/>
        </p:nvSpPr>
        <p:spPr>
          <a:xfrm>
            <a:off x="8944305"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9072321" y="128016"/>
            <a:ext cx="201168" cy="201168"/>
          </a:xfrm>
          <a:prstGeom prst="rect">
            <a:avLst/>
          </a:prstGeom>
        </p:spPr>
      </p:pic>
      <p:sp>
        <p:nvSpPr>
          <p:cNvPr id="20" name="Text 17"/>
          <p:cNvSpPr txBox="1"/>
          <p:nvPr/>
        </p:nvSpPr>
        <p:spPr>
          <a:xfrm>
            <a:off x="9328353" y="91440"/>
            <a:ext cx="227812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fixed point</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Run it: the head crosses the world</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TRY IT</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Build and run: the head moves to the right, about five cells per second</a:t>
            </a:r>
            <a:endParaRPr lang="en-US" sz="2400" dirty="0"/>
          </a:p>
        </p:txBody>
      </p:sp>
      <p:sp>
        <p:nvSpPr>
          <p:cNvPr id="6" name="Text 4"/>
          <p:cNvSpPr txBox="1"/>
          <p:nvPr/>
        </p:nvSpPr>
        <p:spPr>
          <a:xfrm>
            <a:off x="548640" y="244754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429256"/>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Wait for the right edge: the head leaves at column 39 and returns at column 0</a:t>
            </a:r>
            <a:endParaRPr lang="en-US" sz="2400" dirty="0"/>
          </a:p>
        </p:txBody>
      </p:sp>
      <p:sp>
        <p:nvSpPr>
          <p:cNvPr id="8" name="Text 6"/>
          <p:cNvSpPr txBox="1"/>
          <p:nvPr/>
        </p:nvSpPr>
        <p:spPr>
          <a:xfrm>
            <a:off x="548640" y="345948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3441192"/>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Change SPEED_Q8 to 8, then to 128, then to 256: predict the speed before you run</a:t>
            </a:r>
            <a:endParaRPr lang="en-US" sz="2400" dirty="0"/>
          </a:p>
        </p:txBody>
      </p:sp>
      <p:sp>
        <p:nvSpPr>
          <p:cNvPr id="10" name="Text 8"/>
          <p:cNvSpPr txBox="1"/>
          <p:nvPr/>
        </p:nvSpPr>
        <p:spPr>
          <a:xfrm>
            <a:off x="548640" y="44714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4453128"/>
            <a:ext cx="10436047" cy="438912"/>
          </a:xfrm>
          <a:prstGeom prst="rect">
            <a:avLst/>
          </a:prstGeom>
          <a:noFill/>
          <a:ln/>
        </p:spPr>
        <p:txBody>
          <a:bodyPr wrap="square" lIns="0" tIns="0" rIns="0" bIns="0" rtlCol="0" anchor="ctr"/>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Change the starting row in init and the colour of the head</a:t>
            </a:r>
            <a:endParaRPr lang="en-US" sz="2400" dirty="0"/>
          </a:p>
        </p:txBody>
      </p:sp>
      <p:sp>
        <p:nvSpPr>
          <p:cNvPr id="12" name="Shape 10"/>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3" name="Text 11"/>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Expected result</a:t>
            </a:r>
            <a:endParaRPr lang="en-US" sz="1300" dirty="0"/>
          </a:p>
        </p:txBody>
      </p:sp>
      <p:sp>
        <p:nvSpPr>
          <p:cNvPr id="14" name="Text 12"/>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The head crosses the forty columns in 256 frames, about eight and a half seconds at thirty frames per second, for ever.</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the listing shows: your code, as the assembler left it</a:t>
            </a:r>
            <a:endParaRPr lang="en-US" sz="3200" dirty="0"/>
          </a:p>
        </p:txBody>
      </p:sp>
      <p:sp>
        <p:nvSpPr>
          <p:cNvPr id="3" name="Shape 1"/>
          <p:cNvSpPr/>
          <p:nvPr/>
        </p:nvSpPr>
        <p:spPr>
          <a:xfrm>
            <a:off x="548640" y="1417320"/>
            <a:ext cx="740664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949440" cy="4389120"/>
          </a:xfrm>
          <a:prstGeom prst="rect">
            <a:avLst/>
          </a:prstGeom>
          <a:noFill/>
          <a:ln/>
        </p:spPr>
        <p:txBody>
          <a:bodyPr wrap="square" lIns="0" tIns="0" rIns="0" bIns="0" rtlCol="0" anchor="t"/>
          <a:lstStyle/>
          <a:p>
            <a:pPr indent="0" marL="0">
              <a:buNone/>
            </a:pPr>
            <a:r>
              <a:rPr lang="en-US" sz="1250" dirty="0">
                <a:solidFill>
                  <a:srgbClr val="E6EDF2"/>
                </a:solidFill>
                <a:latin typeface="Courier New" pitchFamily="34" charset="0"/>
                <a:ea typeface="Courier New" pitchFamily="34" charset="-122"/>
                <a:cs typeface="Courier New" pitchFamily="34" charset="-120"/>
              </a:rPr>
              <a:t>verm1_update:</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auipc   t0, 0x0          # la t0, step_q8   is two instructions:</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addi    t0, t0, ...      #   t0 = address of step_q8</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lw      t1, 0(t0)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addi    t1, t1, 40       # SPEED_Q8 is gone: only the number is left</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addi    t2, zero, 256    # li t2, 256</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blt     t1, t2, ...</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sub     t1, t1, t2</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sw      t1, 0(t0)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c.addi  t3, 1            # addi t3, t3, 1 in a 16-bit form</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c.jr    ra               # ret</a:t>
            </a:r>
            <a:endParaRPr lang="en-US" sz="1250" dirty="0"/>
          </a:p>
        </p:txBody>
      </p:sp>
      <p:sp>
        <p:nvSpPr>
          <p:cNvPr id="5" name="Shape 3"/>
          <p:cNvSpPr/>
          <p:nvPr/>
        </p:nvSpPr>
        <p:spPr>
          <a:xfrm>
            <a:off x="8229600" y="1417320"/>
            <a:ext cx="341345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839419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8915400" y="1554480"/>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Names are gone: labels became addresses, constants became numbers</a:t>
            </a:r>
            <a:endParaRPr lang="en-US" sz="1200" dirty="0"/>
          </a:p>
        </p:txBody>
      </p:sp>
      <p:sp>
        <p:nvSpPr>
          <p:cNvPr id="8" name="Shape 6"/>
          <p:cNvSpPr/>
          <p:nvPr/>
        </p:nvSpPr>
        <p:spPr>
          <a:xfrm>
            <a:off x="8229600" y="2656332"/>
            <a:ext cx="341345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839419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8915400" y="2793492"/>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Pseudo-instructions are expanded: la is auipc plus addi, li is addi from zero, ret is a jump to ra</a:t>
            </a:r>
            <a:endParaRPr lang="en-US" sz="1200" dirty="0"/>
          </a:p>
        </p:txBody>
      </p:sp>
      <p:sp>
        <p:nvSpPr>
          <p:cNvPr id="11" name="Shape 9"/>
          <p:cNvSpPr/>
          <p:nvPr/>
        </p:nvSpPr>
        <p:spPr>
          <a:xfrm>
            <a:off x="8229600" y="3895344"/>
            <a:ext cx="341345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839419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15400" y="4032504"/>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Some instructions start with c.: the compressed 16-bit forms of the same instructions</a:t>
            </a:r>
            <a:endParaRPr lang="en-US" sz="1200" dirty="0"/>
          </a:p>
        </p:txBody>
      </p:sp>
      <p:sp>
        <p:nvSpPr>
          <p:cNvPr id="14" name="Shape 12"/>
          <p:cNvSpPr/>
          <p:nvPr/>
        </p:nvSpPr>
        <p:spPr>
          <a:xfrm>
            <a:off x="8229600" y="5134356"/>
            <a:ext cx="341345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839419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8915400" y="5271516"/>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cartridge is loaded at address 0x40800000: every address you see starts there</a:t>
            </a:r>
            <a:endParaRPr lang="en-US" sz="1200" dirty="0"/>
          </a:p>
        </p:txBody>
      </p:sp>
      <p:sp>
        <p:nvSpPr>
          <p:cNvPr id="17" name="Shape 15"/>
          <p:cNvSpPr/>
          <p:nvPr/>
        </p:nvSpPr>
        <p:spPr>
          <a:xfrm>
            <a:off x="7283272" y="91440"/>
            <a:ext cx="4359783" cy="274320"/>
          </a:xfrm>
          <a:prstGeom prst="rect">
            <a:avLst/>
          </a:prstGeom>
          <a:solidFill>
            <a:srgbClr val="F3E8FF"/>
          </a:solidFill>
          <a:ln w="12700">
            <a:solidFill>
              <a:srgbClr val="7E22CE"/>
            </a:solidFill>
            <a:prstDash val="dash"/>
          </a:ln>
        </p:spPr>
      </p:sp>
      <p:sp>
        <p:nvSpPr>
          <p:cNvPr id="18" name="Shape 16"/>
          <p:cNvSpPr/>
          <p:nvPr/>
        </p:nvSpPr>
        <p:spPr>
          <a:xfrm>
            <a:off x="7310704" y="128016"/>
            <a:ext cx="45720" cy="45720"/>
          </a:xfrm>
          <a:prstGeom prst="rect">
            <a:avLst/>
          </a:prstGeom>
          <a:solidFill>
            <a:srgbClr val="7E22CE"/>
          </a:solidFill>
          <a:ln w="12700">
            <a:solidFill>
              <a:srgbClr val="7E22CE"/>
            </a:solidFill>
            <a:prstDash val="solid"/>
          </a:ln>
        </p:spPr>
      </p:sp>
      <p:sp>
        <p:nvSpPr>
          <p:cNvPr id="19" name="Shape 17"/>
          <p:cNvSpPr/>
          <p:nvPr/>
        </p:nvSpPr>
        <p:spPr>
          <a:xfrm>
            <a:off x="7310704" y="205740"/>
            <a:ext cx="45720" cy="45720"/>
          </a:xfrm>
          <a:prstGeom prst="rect">
            <a:avLst/>
          </a:prstGeom>
          <a:solidFill>
            <a:srgbClr val="7E22CE"/>
          </a:solidFill>
          <a:ln w="12700">
            <a:solidFill>
              <a:srgbClr val="7E22CE"/>
            </a:solidFill>
            <a:prstDash val="solid"/>
          </a:ln>
        </p:spPr>
      </p:sp>
      <p:sp>
        <p:nvSpPr>
          <p:cNvPr id="20" name="Shape 18"/>
          <p:cNvSpPr/>
          <p:nvPr/>
        </p:nvSpPr>
        <p:spPr>
          <a:xfrm>
            <a:off x="7310704" y="283464"/>
            <a:ext cx="45720" cy="45720"/>
          </a:xfrm>
          <a:prstGeom prst="rect">
            <a:avLst/>
          </a:prstGeom>
          <a:solidFill>
            <a:srgbClr val="7E22CE"/>
          </a:solidFill>
          <a:ln w="12700">
            <a:solidFill>
              <a:srgbClr val="7E22CE"/>
            </a:solidFill>
            <a:prstDash val="solid"/>
          </a:ln>
        </p:spPr>
      </p:sp>
      <p:pic>
        <p:nvPicPr>
          <p:cNvPr id="21" name="Image 0" descr="preencoded.png">    </p:cNvPr>
          <p:cNvPicPr>
            <a:picLocks noChangeAspect="1"/>
          </p:cNvPicPr>
          <p:nvPr/>
        </p:nvPicPr>
        <p:blipFill>
          <a:blip r:embed="rId1"/>
          <a:stretch>
            <a:fillRect/>
          </a:stretch>
        </p:blipFill>
        <p:spPr>
          <a:xfrm>
            <a:off x="7411288" y="128016"/>
            <a:ext cx="201168" cy="201168"/>
          </a:xfrm>
          <a:prstGeom prst="rect">
            <a:avLst/>
          </a:prstGeom>
        </p:spPr>
      </p:pic>
      <p:sp>
        <p:nvSpPr>
          <p:cNvPr id="22" name="Text 19"/>
          <p:cNvSpPr txBox="1"/>
          <p:nvPr/>
        </p:nvSpPr>
        <p:spPr>
          <a:xfrm>
            <a:off x="7667320" y="91440"/>
            <a:ext cx="3939159"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pPr indent="0" marL="0">
              <a:buNone/>
            </a:pPr>
            <a:r>
              <a:rPr lang="en-US" sz="1100" dirty="0">
                <a:solidFill>
                  <a:srgbClr val="6B21A8"/>
                </a:solidFill>
                <a:latin typeface="Calibri" pitchFamily="34" charset="0"/>
                <a:ea typeface="Calibri" pitchFamily="34" charset="-122"/>
                <a:cs typeface="Calibri" pitchFamily="34" charset="-120"/>
              </a:rPr>
              <a:t> · instruction formats</a:t>
            </a:r>
            <a:pPr indent="0" marL="0">
              <a:buNone/>
            </a:pPr>
            <a:r>
              <a:rPr lang="en-US" sz="1100" b="1" dirty="0">
                <a:solidFill>
                  <a:srgbClr val="6B21A8"/>
                </a:solidFill>
                <a:latin typeface="Calibri" pitchFamily="34" charset="0"/>
                <a:ea typeface="Calibri" pitchFamily="34" charset="-122"/>
                <a:cs typeface="Calibri" pitchFamily="34" charset="-120"/>
              </a:rPr>
              <a:t> → Lecture 19</a:t>
            </a:r>
            <a:endParaRPr lang="en-US" sz="1100" dirty="0"/>
          </a:p>
        </p:txBody>
      </p:sp>
      <p:sp>
        <p:nvSpPr>
          <p:cNvPr id="23" name="Shape 20"/>
          <p:cNvSpPr/>
          <p:nvPr/>
        </p:nvSpPr>
        <p:spPr>
          <a:xfrm>
            <a:off x="3949522" y="91440"/>
            <a:ext cx="3224022" cy="274320"/>
          </a:xfrm>
          <a:prstGeom prst="rect">
            <a:avLst/>
          </a:prstGeom>
          <a:solidFill>
            <a:srgbClr val="E0F2FE"/>
          </a:solidFill>
          <a:ln w="12700">
            <a:solidFill>
              <a:srgbClr val="0369A1"/>
            </a:solidFill>
            <a:prstDash val="solid"/>
          </a:ln>
        </p:spPr>
      </p:sp>
      <p:sp>
        <p:nvSpPr>
          <p:cNvPr id="24" name="Shape 21"/>
          <p:cNvSpPr/>
          <p:nvPr/>
        </p:nvSpPr>
        <p:spPr>
          <a:xfrm>
            <a:off x="3949522" y="91440"/>
            <a:ext cx="73152" cy="274320"/>
          </a:xfrm>
          <a:prstGeom prst="rect">
            <a:avLst/>
          </a:prstGeom>
          <a:solidFill>
            <a:srgbClr val="0369A1"/>
          </a:solidFill>
          <a:ln w="12700">
            <a:solidFill>
              <a:srgbClr val="0369A1"/>
            </a:solidFill>
            <a:prstDash val="solid"/>
          </a:ln>
        </p:spPr>
      </p:sp>
      <p:pic>
        <p:nvPicPr>
          <p:cNvPr id="25" name="Image 1" descr="preencoded.png">    </p:cNvPr>
          <p:cNvPicPr>
            <a:picLocks noChangeAspect="1"/>
          </p:cNvPicPr>
          <p:nvPr/>
        </p:nvPicPr>
        <p:blipFill>
          <a:blip r:embed="rId2"/>
          <a:stretch>
            <a:fillRect/>
          </a:stretch>
        </p:blipFill>
        <p:spPr>
          <a:xfrm>
            <a:off x="4077538" y="128016"/>
            <a:ext cx="201168" cy="201168"/>
          </a:xfrm>
          <a:prstGeom prst="rect">
            <a:avLst/>
          </a:prstGeom>
        </p:spPr>
      </p:pic>
      <p:sp>
        <p:nvSpPr>
          <p:cNvPr id="26" name="Text 22"/>
          <p:cNvSpPr txBox="1"/>
          <p:nvPr/>
        </p:nvSpPr>
        <p:spPr>
          <a:xfrm>
            <a:off x="4333570" y="91440"/>
            <a:ext cx="280339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pseudo-instructions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Run it: what you should see</a:t>
            </a:r>
            <a:endParaRPr lang="en-US" sz="3200" dirty="0"/>
          </a:p>
        </p:txBody>
      </p:sp>
      <p:sp>
        <p:nvSpPr>
          <p:cNvPr id="3" name="Shape 1"/>
          <p:cNvSpPr/>
          <p:nvPr/>
        </p:nvSpPr>
        <p:spPr>
          <a:xfrm>
            <a:off x="548640" y="172212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600200"/>
            <a:ext cx="5468112" cy="203530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On the screen</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the word VERM1 at the top left and a green head that crosses the grid from left to right, about five cells per second, and comes back in from column 0.</a:t>
            </a:r>
            <a:endParaRPr lang="en-US" sz="2400" dirty="0"/>
          </a:p>
        </p:txBody>
      </p:sp>
      <p:sp>
        <p:nvSpPr>
          <p:cNvPr id="5" name="Shape 3"/>
          <p:cNvSpPr/>
          <p:nvPr/>
        </p:nvSpPr>
        <p:spPr>
          <a:xfrm>
            <a:off x="548640" y="421462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4092702"/>
            <a:ext cx="5468112" cy="73380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What to press</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nothing: the program runs by itself</a:t>
            </a:r>
            <a:endParaRPr lang="en-US" sz="2400" dirty="0"/>
          </a:p>
        </p:txBody>
      </p:sp>
      <p:pic>
        <p:nvPicPr>
          <p:cNvPr id="7" name="Image 0" descr="/Users/raffaelemontella/devel/riscv-prg32/computer-architecture-with-prg32/tools/assets/verm1_p1.png">    </p:cNvPr>
          <p:cNvPicPr>
            <a:picLocks noChangeAspect="1"/>
          </p:cNvPicPr>
          <p:nvPr/>
        </p:nvPicPr>
        <p:blipFill>
          <a:blip r:embed="rId1"/>
          <a:stretch>
            <a:fillRect/>
          </a:stretch>
        </p:blipFill>
        <p:spPr>
          <a:xfrm>
            <a:off x="6766560" y="2042255"/>
            <a:ext cx="4876495" cy="3047810"/>
          </a:xfrm>
          <a:prstGeom prst="rect">
            <a:avLst/>
          </a:prstGeom>
        </p:spPr>
      </p:pic>
      <p:sp>
        <p:nvSpPr>
          <p:cNvPr id="8" name="Text 5"/>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The frame written by the automatic test on PRG32-QT</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PRG32-QT</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start PRG32-QT on this computer (it listens on port 8080)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in the PRG32 folder, with ESP-IDF active: build the cartridge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~/verm1/verm1.S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verm1 --name verm1 --out verm1.prg32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send it to PRG32-QT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verm1.prg32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http://localhost:8080 --slot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look, press, compare with the previous slide</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PRG32-QT must be running: it answers on port 8080, like a board</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Build once, from the PRG32 folder, with ESP-IDF active in the terminal</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upload-and-run stores the cartridge in slot cart0 and starts it</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Enable debug mode in Settings to stop the program and read registers and memory</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QEMU</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build the firmware for QEMU (several minutes)</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build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build the cartridge for the emulated chip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~/verm1/verm1.S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verm1 --name verm1 --architecture qemu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verm1-qemu.prg32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with QEMU closed, stage the cartridge into its flash image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upload verm1-qemu.prg32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start the emulator; on Setup choose Run Cartridge, then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run</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emulator runs the real firmware on an emulated chip: build it once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cartridge is built for the architecture qemu: the same source, another file</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Stage the cartridge with QEMU closed, then start it and choose Run Cartridge</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keys go to the terminal: arrows or WASD, Z or J for A, X or K for B</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the board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per board: write the firmware through the USB cable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build-and-flash</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join the Wi-Fi network of the board: PRG32, password prg32game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build the cartridge for the board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~/verm1/verm1.S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verm1 --name verm1 --architecture esp32c6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verm1-esp32c6.prg32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send it over Wi-Fi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verm1-esp32c6.prg32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http://192.168.4.1 --slot cart0</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firmware is written once per board, through the USB cable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board creates the Wi-Fi network PRG32: join it with your computer</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same upload command as for PRG32-QT, with the address of the board</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 black screen: check the wiring of the display against the firmware</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If it does not work</a:t>
            </a:r>
            <a:endParaRPr lang="en-US" sz="32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025750"/>
                <a:gridCol w="3866236"/>
                <a:gridCol w="4202430"/>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You see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It means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Do this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missing entry point</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prefix is not the one in the source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--entry-prefix verm1; check the three .global lines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idf.py: command not found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ESP-IDF is not active in this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run export.sh, or open the ESP-IDF PowerShell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upload: connection refused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host is not listening at that address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start PRG32-QT; use the address on its Setup screen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a black screen, or the menu again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 function does not return, or ra was not saved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debug mode: step through init, update, draw</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QEMU ignores the keys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keyboard goes to the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click the terminal that launched QEMU</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9287967" y="91440"/>
            <a:ext cx="2355088" cy="274320"/>
          </a:xfrm>
          <a:prstGeom prst="rect">
            <a:avLst/>
          </a:prstGeom>
          <a:solidFill>
            <a:srgbClr val="FEF3C7"/>
          </a:solidFill>
          <a:ln w="12700">
            <a:solidFill>
              <a:srgbClr val="B45309"/>
            </a:solidFill>
            <a:prstDash val="solid"/>
          </a:ln>
        </p:spPr>
      </p:sp>
      <p:sp>
        <p:nvSpPr>
          <p:cNvPr id="5" name="Shape 2"/>
          <p:cNvSpPr/>
          <p:nvPr/>
        </p:nvSpPr>
        <p:spPr>
          <a:xfrm>
            <a:off x="9287967" y="91440"/>
            <a:ext cx="27432" cy="274320"/>
          </a:xfrm>
          <a:prstGeom prst="rect">
            <a:avLst/>
          </a:prstGeom>
          <a:solidFill>
            <a:srgbClr val="B45309"/>
          </a:solidFill>
          <a:ln w="12700">
            <a:solidFill>
              <a:srgbClr val="B45309"/>
            </a:solidFill>
            <a:prstDash val="solid"/>
          </a:ln>
        </p:spPr>
      </p:sp>
      <p:sp>
        <p:nvSpPr>
          <p:cNvPr id="6" name="Shape 3"/>
          <p:cNvSpPr/>
          <p:nvPr/>
        </p:nvSpPr>
        <p:spPr>
          <a:xfrm>
            <a:off x="9342831" y="91440"/>
            <a:ext cx="27432" cy="274320"/>
          </a:xfrm>
          <a:prstGeom prst="rect">
            <a:avLst/>
          </a:prstGeom>
          <a:solidFill>
            <a:srgbClr val="B45309"/>
          </a:solidFill>
          <a:ln w="12700">
            <a:solidFill>
              <a:srgbClr val="B45309"/>
            </a:solidFill>
            <a:prstDash val="solid"/>
          </a:ln>
        </p:spPr>
      </p:sp>
      <p:pic>
        <p:nvPicPr>
          <p:cNvPr id="7"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8" name="Text 4"/>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Make it yours</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TRY IT</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Make the head move to the left: which instruction changes, and which comparison detects the edge?</a:t>
            </a:r>
            <a:endParaRPr lang="en-US" sz="2400" dirty="0"/>
          </a:p>
        </p:txBody>
      </p:sp>
      <p:sp>
        <p:nvSpPr>
          <p:cNvPr id="6" name="Text 4"/>
          <p:cNvSpPr txBox="1"/>
          <p:nvPr/>
        </p:nvSpPr>
        <p:spPr>
          <a:xfrm>
            <a:off x="548640" y="244754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429256"/>
            <a:ext cx="10436047" cy="438912"/>
          </a:xfrm>
          <a:prstGeom prst="rect">
            <a:avLst/>
          </a:prstGeom>
          <a:noFill/>
          <a:ln/>
        </p:spPr>
        <p:txBody>
          <a:bodyPr wrap="square" lIns="0" tIns="0" rIns="0" bIns="0" rtlCol="0" anchor="ctr"/>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Make it move downwards instead, wrapping from row 23 to row 0</a:t>
            </a:r>
            <a:endParaRPr lang="en-US" sz="2400" dirty="0"/>
          </a:p>
        </p:txBody>
      </p:sp>
      <p:sp>
        <p:nvSpPr>
          <p:cNvPr id="8" name="Text 6"/>
          <p:cNvSpPr txBox="1"/>
          <p:nvPr/>
        </p:nvSpPr>
        <p:spPr>
          <a:xfrm>
            <a:off x="548640" y="315468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3136392"/>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Draw a second cell, in a darker green, one column behind the head: a first hint of a body</a:t>
            </a:r>
            <a:endParaRPr lang="en-US" sz="2400" dirty="0"/>
          </a:p>
        </p:txBody>
      </p:sp>
      <p:sp>
        <p:nvSpPr>
          <p:cNvPr id="10" name="Text 8"/>
          <p:cNvSpPr txBox="1"/>
          <p:nvPr/>
        </p:nvSpPr>
        <p:spPr>
          <a:xfrm>
            <a:off x="548640" y="41666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4148328"/>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Write your own name next to the title, in a colour you computed by hand in RGB565</a:t>
            </a:r>
            <a:endParaRPr lang="en-US" sz="2400" dirty="0"/>
          </a:p>
        </p:txBody>
      </p:sp>
      <p:sp>
        <p:nvSpPr>
          <p:cNvPr id="12" name="Shape 10"/>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3" name="Text 11"/>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Expected result</a:t>
            </a:r>
            <a:endParaRPr lang="en-US" sz="1300" dirty="0"/>
          </a:p>
        </p:txBody>
      </p:sp>
      <p:sp>
        <p:nvSpPr>
          <p:cNvPr id="14" name="Text 12"/>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Each change is a few lines. Keep a copy of the working Part 1 before you experiment: Part 2 starts from it.</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Verm1, Part 1: A Head That Crosses the World: the code</dc:title>
  <dc:subject>Lecture 07</dc:subject>
  <dc:creator>Raffaele Montella</dc:creator>
  <cp:lastModifiedBy>Raffaele Montella</cp:lastModifiedBy>
  <cp:revision>1</cp:revision>
  <dcterms:created xsi:type="dcterms:W3CDTF">2026-10-16T15:51:37Z</dcterms:created>
  <dcterms:modified xsi:type="dcterms:W3CDTF">2026-10-16T15:51:37Z</dcterms:modified>
</cp:coreProperties>
</file>