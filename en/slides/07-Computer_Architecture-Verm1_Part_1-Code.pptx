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4110d10-109f-5e61-e800-8a5dbf3e61f2}">
          <p14:sldIdLst>
            <p14:sldId id="256"/>
            <p14:sldId id="257"/>
          </p14:sldIdLst>
        </p14:section>
        <p14:section name="Step 0: the working loop" id="{6cdc6925-9981-76d5-e1ac-72ef132183ee}">
          <p14:sldIdLst>
            <p14:sldId id="258"/>
            <p14:sldId id="259"/>
          </p14:sldIdLst>
        </p14:section>
        <p14:section name="Step 2: a grid and a head" id="{099f9210-96df-b7ce-cfcb-888112b4b2be}">
          <p14:sldIdLst>
            <p14:sldId id="260"/>
            <p14:sldId id="261"/>
            <p14:sldId id="262"/>
            <p14:sldId id="263"/>
            <p14:sldId id="264"/>
          </p14:sldIdLst>
        </p14:section>
        <p14:section name="Step 3: movement" id="{6f3577a6-c02f-be5f-fcf6-1f7fae91e3d6}">
          <p14:sldIdLst>
            <p14:sldId id="265"/>
            <p14:sldId id="266"/>
          </p14:sldIdLst>
        </p14:section>
        <p14:section name="Step 4: look inside with PRG32-QT" id="{09e131fd-c543-34d5-090c-2ab15a9a892f}">
          <p14:sldIdLst>
            <p14:sldId id="267"/>
          </p14:sldIdLst>
        </p14:section>
        <p14:section name="Run it and test it" id="{717feca1-ad6e-4be7-36b0-7b022f972139}">
          <p14:sldIdLst>
            <p14:sldId id="268"/>
            <p14:sldId id="269"/>
            <p14:sldId id="270"/>
            <p14:sldId id="271"/>
            <p14:sldId id="272"/>
          </p14:sldIdLst>
        </p14:section>
        <p14:section name="Exercises" id="{e8e93ec1-8fb6-7fbe-008b-9383fe9067ee}">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07.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reference program is ~/arc12/verm1/verm1_part1.S; tools/tests/verm1_check.py builds it and plays it with a scripted player, and verm1_steps.py runs the intermediate checkpoints.
For the lecturer: Get the code once: git clone https://github.com/riscv-prg32/computer-architecture-with-prg32 ~/arc12. The reference program is ~/arc12/verm1/verm1_part1.S;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a folder called verm1 in your home directory and keep in it one file, verm1.S, that will grow from part to part. The first command builds the cartridge; the second sends it to PRG32-QT running on the same computer and starts it. These two commands are identical in every tutorial. If localhost does not answer, use the address shown on the Setup screen of PRG32-QT. As an alternative you can import the file from the menu of PRG32-QT.
For the lecturer: Make a folder ~/verm1 and keep one file in it, verm1.S, that grows from part to part. PRG32-QT listens on port 8080 and shows its address on the Setup screen: use that address if localhost does not answer. The same cartridge runs on QEMU (python3 -m prg32 qemu upload, then qemu run) and on the board (--url http://192.168.4.1).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skeleton of Lecture 02 with the prefix verm1: three global labels and three functions that only return. Type it, build it, run it. The right result is a black screen: it proves that the tools work and that the firmware finds your functions. If the build fails here, the problem is the installation, not your program, and it must be solved before going on. The last callout is the rule of the whole project: add one thing, run, look. Never two things at once.
For the lecturer: The skeleton of Lecture 02. If the build fails here the problem is the installation, not the program: solve it before going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lines replace the beginning of the skeleton. Each .equ gives a name to a number and uses no memory: the assembler simply substitutes the number. Three colours in RGB565. Then the geometry: a cell is 8 by 8 pixels, so the 320 pixels of the width hold 40 columns; the top 8 pixels are reserved for the title, and the remaining 192 hold 24 rows. SPEED_Q8 is the speed in fixed point and will be used in step 3. Constants with names make the program readable and easy to change.
For the lecturer: Replace the skeleton's first lines with these. SPEED_Q8 is used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goes at the end of the file. The section .rodata holds what never changes: the title, a string that .asciz ends with a zero byte. The section .data holds the variables, one 32-bit word each: the column of the head, its row, and the fraction of a step accumulated so far. The initial values written here are only a start: init will set them again explicitly.
For the lecturer: Put this at the end of the file. step_q8 is used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puts the head in its place. For each variable the pattern is the same: la loads the address, li loads the value, sw stores the value at the address. The fraction step_q8 is set to zero by storing the register zero directly. The function calls nothing, so it is a leaf and needs no stack frame. Why set values that .data already contains? Because init may be called again to restart the game: never trust what memory contained.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verm1_draw makes three calls: clear the screen, write the title, draw the head. It therefore saves ra in a stack frame at the beginning and restores it at the end, as in Lecture 02. Look at how the cell becomes pixels: the column is loaded into a0 and shifted left by 3; the row is loaded into a1, shifted and increased by TOP. The remaining arguments are width, height and colour. Arguments travel in a0 to a4, in the order in which the function expects them.
For the lecturer: prg32_gfx_text8(x, y, string, foreground, background); prg32_gfx_rect(x, y, width, height,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and run. You should see the word VERM1 at the top left and a green square standing still in column 5 of row 12. The screenshot on the slide was taken later, from the finished Part 1, so its head is further to the right: do not worry about the difference. If your square is in the wrong place, check the two shifts and the addition of TOP before anything else.
For the lecturer: Screenshot produced by tools/tests/verm1_check.py from verm1/verm1_part1.S.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verm1_update in two halves. First the timer: load step_q8, add the speed, compare with 256. If it is less, jump to label 2, store the fraction and return: nothing moves in this frame. Otherwise subtract 256, keeping the remainder, and store it. Then the step: load head_x, add 1, compare with COLS; if the column has reached 40 it becomes 0, and the head comes back from the left. The labels 1: and 2: are local labels: 1f means "the next label 1 forward".
For the lecturer: blt compares signed numbers, which is right here: every value is small and positive. Local labels 1: and 2: are referred to as 1f and 2f, 'the next 1 or 2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The head moves to the right at about five cells per second, leaves at column 39 and returns at column 0. Then experiment with the speed: before each run, predict what you will see. With 8 the head is slow; with 128 it takes a step every two frames; with 256, one step per frame. Try a larger value and discover a limit of this program: update takes at most one step per frame.
For the lecturer: With SPEED_Q8 = 256 the head moves one cell per frame; larger values still give one step per frame, because update takes at most one step: a limit worth discovering.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debugger does not show your source: it shows what the assembler produced. Names have disappeared: labels have become addresses and SPEED_Q8 has become the number 40. Pseudo-instructions are expanded: la is auipc followed by addi, li is an addi from zero, ret is a jump to ra. Some instructions begin with c.: they are the compressed, 16-bit forms of the same instructions, the C in RV32IMAC. Recognising your own program in this listing is a skill that grows with practice.
For the lecturer: Disassembly of verm1_update from verm1/verm1_part1.S (objdump, rv32imac), abridged; the exact offsets depend on the build. Instruction formats and compressed instructions are the subject of Lecture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changes to make the program yours, each of a few lines. Make the head move to the left: the addition becomes a subtraction, and the edge is detected on the sign of the result. Make it move downwards. Draw a second, darker cell behind the head. Write your name beside the title in a colour computed by hand. Before experimenting, keep a copy of the working Part 1: Part 2 starts from it.
For the lecturer: Moving left: addi t3, t3, -1, then bgez t3 to skip the wrap, else li t3, COLS-1. The comparison is on the sign: Lecture 05. Darker green: 0x03e0.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07: Verm1, part 1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07</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1: A Head That Crosses the World: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07-Computer_Architecture-Verm1_Part_1.pptx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1.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8 listings of Lecture 07,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verm1/verm1_part1.S, 78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and run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1: three functions that return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verm1.S - my Verm1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verm1_draw: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Type it, build it, run it: a black screen is the right answer</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prefix verm1 is the name you pass to --entry-prefix</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init runs once; update and draw run once per frame</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From now on: add one thing, run, look. Never two things at once</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Constants: colours and the grid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500" dirty="0">
                <a:solidFill>
                  <a:srgbClr val="8FB3A0"/>
                </a:solidFill>
                <a:latin typeface="Courier New" pitchFamily="34" charset="0"/>
                <a:ea typeface="Courier New" pitchFamily="34" charset="-122"/>
                <a:cs typeface="Courier New" pitchFamily="34" charset="-120"/>
              </a:rPr>
              <a:t># RGB565 colours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WHITE, 0xffff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  8               </a:t>
            </a:r>
            <a:pPr indent="0" marL="0">
              <a:buNone/>
            </a:pPr>
            <a:r>
              <a:rPr lang="en-US" sz="1500" dirty="0">
                <a:solidFill>
                  <a:srgbClr val="8FB3A0"/>
                </a:solidFill>
                <a:latin typeface="Courier New" pitchFamily="34" charset="0"/>
                <a:ea typeface="Courier New" pitchFamily="34" charset="-122"/>
                <a:cs typeface="Courier New" pitchFamily="34" charset="-120"/>
              </a:rPr>
              <a:t># a cell is 8 x 8 pixels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COLS,  40              </a:t>
            </a:r>
            <a:pPr indent="0" marL="0">
              <a:buNone/>
            </a:pPr>
            <a:r>
              <a:rPr lang="en-US" sz="1500" dirty="0">
                <a:solidFill>
                  <a:srgbClr val="8FB3A0"/>
                </a:solidFill>
                <a:latin typeface="Courier New" pitchFamily="34" charset="0"/>
                <a:ea typeface="Courier New" pitchFamily="34" charset="-122"/>
                <a:cs typeface="Courier New" pitchFamily="34" charset="-120"/>
              </a:rPr>
              <a:t># 320 / 8 cells across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ROWS,  24              </a:t>
            </a:r>
            <a:pPr indent="0" marL="0">
              <a:buNone/>
            </a:pPr>
            <a:r>
              <a:rPr lang="en-US" sz="1500" dirty="0">
                <a:solidFill>
                  <a:srgbClr val="8FB3A0"/>
                </a:solidFill>
                <a:latin typeface="Courier New" pitchFamily="34" charset="0"/>
                <a:ea typeface="Courier New" pitchFamily="34" charset="-122"/>
                <a:cs typeface="Courier New" pitchFamily="34" charset="-120"/>
              </a:rPr>
              <a:t># 192 / 8 cells down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TOP,   8               </a:t>
            </a:r>
            <a:pPr indent="0" marL="0">
              <a:buNone/>
            </a:pPr>
            <a:r>
              <a:rPr lang="en-US" sz="1500" dirty="0">
                <a:solidFill>
                  <a:srgbClr val="8FB3A0"/>
                </a:solidFill>
                <a:latin typeface="Courier New" pitchFamily="34" charset="0"/>
                <a:ea typeface="Courier New" pitchFamily="34" charset="-122"/>
                <a:cs typeface="Courier New" pitchFamily="34" charset="-120"/>
              </a:rPr>
              <a:t># the top 8 pixels are the title line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SPEED_Q8, 40           </a:t>
            </a:r>
            <a:pPr indent="0" marL="0">
              <a:buNone/>
            </a:pPr>
            <a:r>
              <a:rPr lang="en-US" sz="1500" dirty="0">
                <a:solidFill>
                  <a:srgbClr val="8FB3A0"/>
                </a:solidFill>
                <a:latin typeface="Courier New" pitchFamily="34" charset="0"/>
                <a:ea typeface="Courier New" pitchFamily="34" charset="-122"/>
                <a:cs typeface="Courier New" pitchFamily="34" charset="-120"/>
              </a:rPr>
              <a:t># 40/256 of a cell per frame (Q24.8)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verm1_draw</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Colours are RGB565 numbers: 0x07e0 is pure green</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320 pixels across, 8 per cell: 40 columns</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top 8 pixels hold the title; 192 are left: 24 rows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.equ gives a name to a number: no memory is used</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Variables and a string</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   .asciz "VERM1"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head_x:  .word 5                </a:t>
            </a:r>
            <a:pPr indent="0" marL="0">
              <a:buNone/>
            </a:pPr>
            <a:r>
              <a:rPr lang="en-US" sz="1500" dirty="0">
                <a:solidFill>
                  <a:srgbClr val="8FB3A0"/>
                </a:solidFill>
                <a:latin typeface="Courier New" pitchFamily="34" charset="0"/>
                <a:ea typeface="Courier New" pitchFamily="34" charset="-122"/>
                <a:cs typeface="Courier New" pitchFamily="34" charset="-120"/>
              </a:rPr>
              <a:t># column of the head, 0 .. COLS-1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head_y:  .word 12               </a:t>
            </a:r>
            <a:pPr indent="0" marL="0">
              <a:buNone/>
            </a:pPr>
            <a:r>
              <a:rPr lang="en-US" sz="1500" dirty="0">
                <a:solidFill>
                  <a:srgbClr val="8FB3A0"/>
                </a:solidFill>
                <a:latin typeface="Courier New" pitchFamily="34" charset="0"/>
                <a:ea typeface="Courier New" pitchFamily="34" charset="-122"/>
                <a:cs typeface="Courier New" pitchFamily="34" charset="-120"/>
              </a:rPr>
              <a:t># row of the head, 0 .. ROWS-1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step_q8: .word 0                </a:t>
            </a:r>
            <a:pPr indent="0" marL="0">
              <a:buNone/>
            </a:pPr>
            <a:r>
              <a:rPr lang="en-US" sz="1500" dirty="0">
                <a:solidFill>
                  <a:srgbClr val="8FB3A0"/>
                </a:solidFill>
                <a:latin typeface="Courier New" pitchFamily="34" charset="0"/>
                <a:ea typeface="Courier New" pitchFamily="34" charset="-122"/>
                <a:cs typeface="Courier New" pitchFamily="34" charset="-120"/>
              </a:rPr>
              <a:t># fraction of a step, in 1/256</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.rodata holds constants: the title ends with a zero byte</a:t>
            </a:r>
            <a:endParaRPr lang="en-US" sz="16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.data holds variables: one 32-bit word each</a:t>
            </a:r>
            <a:endParaRPr lang="en-US" sz="16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initial values are only a start: init will set them again</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init: put the head in its place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verm1_init: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5</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the head starts in column 5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head_y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 of row 12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zero, 0(t0)            </a:t>
            </a:r>
            <a:pPr indent="0" marL="0">
              <a:buNone/>
            </a:pPr>
            <a:r>
              <a:rPr lang="en-US" sz="1500" dirty="0">
                <a:solidFill>
                  <a:srgbClr val="8FB3A0"/>
                </a:solidFill>
                <a:latin typeface="Courier New" pitchFamily="34" charset="0"/>
                <a:ea typeface="Courier New" pitchFamily="34" charset="-122"/>
                <a:cs typeface="Courier New" pitchFamily="34" charset="-120"/>
              </a:rPr>
              <a:t># no fraction of a step yet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takes an ADDRESS, sw stores a VALUE there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init sets the start explicitly: never trust what memory contained</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zero is the register that always reads 0</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leaf function: no calls, so no stack frame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draw: title and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verm1_draw:</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prg32_gfx_clear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a0, 0                  </a:t>
            </a:r>
            <a:pPr indent="0" marL="0">
              <a:buNone/>
            </a:pPr>
            <a:r>
              <a:rPr lang="en-US" sz="1150" dirty="0">
                <a:solidFill>
                  <a:srgbClr val="8FB3A0"/>
                </a:solidFill>
                <a:latin typeface="Courier New" pitchFamily="34" charset="0"/>
                <a:ea typeface="Courier New" pitchFamily="34" charset="-122"/>
                <a:cs typeface="Courier New" pitchFamily="34" charset="-120"/>
              </a:rPr>
              <a:t># 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a1, 0                  </a:t>
            </a:r>
            <a:pPr indent="0" marL="0">
              <a:buNone/>
            </a:pPr>
            <a:r>
              <a:rPr lang="en-US" sz="1150" dirty="0">
                <a:solidFill>
                  <a:srgbClr val="8FB3A0"/>
                </a:solidFill>
                <a:latin typeface="Courier New" pitchFamily="34" charset="0"/>
                <a:ea typeface="Courier New" pitchFamily="34" charset="-122"/>
                <a:cs typeface="Courier New" pitchFamily="34" charset="-120"/>
              </a:rPr>
              <a:t># 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a2, title              </a:t>
            </a:r>
            <a:pPr indent="0" marL="0">
              <a:buNone/>
            </a:pPr>
            <a:r>
              <a:rPr lang="en-US" sz="1150" dirty="0">
                <a:solidFill>
                  <a:srgbClr val="8FB3A0"/>
                </a:solidFill>
                <a:latin typeface="Courier New" pitchFamily="34" charset="0"/>
                <a:ea typeface="Courier New" pitchFamily="34" charset="-122"/>
                <a:cs typeface="Courier New" pitchFamily="34" charset="-120"/>
              </a:rPr>
              <a:t># address of the string</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WHITE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BLACK</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prg32_gfx_text8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head_x</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a0,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a0, a0, 3              </a:t>
            </a:r>
            <a:pPr indent="0" marL="0">
              <a:buNone/>
            </a:pPr>
            <a:r>
              <a:rPr lang="en-US" sz="1150" dirty="0">
                <a:solidFill>
                  <a:srgbClr val="8FB3A0"/>
                </a:solidFill>
                <a:latin typeface="Courier New" pitchFamily="34" charset="0"/>
                <a:ea typeface="Courier New" pitchFamily="34" charset="-122"/>
                <a:cs typeface="Courier New" pitchFamily="34" charset="-120"/>
              </a:rPr>
              <a:t># x = column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head_y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a1, 0(t0)</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slli a1, a1, 3</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150" dirty="0">
                <a:solidFill>
                  <a:srgbClr val="8FB3A0"/>
                </a:solidFill>
                <a:latin typeface="Courier New" pitchFamily="34" charset="0"/>
                <a:ea typeface="Courier New" pitchFamily="34" charset="-122"/>
                <a:cs typeface="Courier New" pitchFamily="34" charset="-120"/>
              </a:rPr>
              <a:t># y = row * 8 + 8</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a2, CELL               </a:t>
            </a:r>
            <a:pPr indent="0" marL="0">
              <a:buNone/>
            </a:pPr>
            <a:r>
              <a:rPr lang="en-US" sz="1150" dirty="0">
                <a:solidFill>
                  <a:srgbClr val="8FB3A0"/>
                </a:solidFill>
                <a:latin typeface="Courier New" pitchFamily="34" charset="0"/>
                <a:ea typeface="Courier New" pitchFamily="34" charset="-122"/>
                <a:cs typeface="Courier New" pitchFamily="34" charset="-120"/>
              </a:rPr>
              <a:t># width</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a3, CELL               </a:t>
            </a:r>
            <a:pPr indent="0" marL="0">
              <a:buNone/>
            </a:pPr>
            <a:r>
              <a:rPr lang="en-US" sz="1150" dirty="0">
                <a:solidFill>
                  <a:srgbClr val="8FB3A0"/>
                </a:solidFill>
                <a:latin typeface="Courier New" pitchFamily="34" charset="0"/>
                <a:ea typeface="Courier New" pitchFamily="34" charset="-122"/>
                <a:cs typeface="Courier New" pitchFamily="34" charset="-120"/>
              </a:rPr>
              <a:t># height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a4, GREEN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prg32_gfx_rect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ret</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Clear, write the title, draw one rectangle: three calls</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Arguments travel in a0 to a4, in order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slli by 3 multiplies by 8: cell to pixel</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draw makes calls, so it saves ra in a stack frame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a head on the grid</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1.png">    </p:cNvPr>
          <p:cNvPicPr>
            <a:picLocks noChangeAspect="1"/>
          </p:cNvPicPr>
          <p:nvPr/>
        </p:nvPicPr>
        <p:blipFill>
          <a:blip r:embed="rId1"/>
          <a:stretch>
            <a:fillRect/>
          </a:stretch>
        </p:blipFill>
        <p:spPr>
          <a:xfrm>
            <a:off x="3645256" y="1554480"/>
            <a:ext cx="4901184"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title and the head. After step 3 the head will be moving: this picture was taken 64 frames into the finished Part 1</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now: the word VERM1 at the top left and a green square standing still in column 5, row 12.</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update: accumulate, step, wrap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verm1_update: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350" dirty="0">
                <a:solidFill>
                  <a:srgbClr val="8FB3A0"/>
                </a:solidFill>
                <a:latin typeface="Courier New" pitchFamily="34" charset="0"/>
                <a:ea typeface="Courier New" pitchFamily="34" charset="-122"/>
                <a:cs typeface="Courier New" pitchFamily="34" charset="-120"/>
              </a:rPr>
              <a:t># add a fraction of a cell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t2, 256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t1, t2, 2f             </a:t>
            </a:r>
            <a:pPr indent="0" marL="0">
              <a:buNone/>
            </a:pPr>
            <a:r>
              <a:rPr lang="en-US" sz="1350" dirty="0">
                <a:solidFill>
                  <a:srgbClr val="8FB3A0"/>
                </a:solidFill>
                <a:latin typeface="Courier New" pitchFamily="34" charset="0"/>
                <a:ea typeface="Courier New" pitchFamily="34" charset="-122"/>
                <a:cs typeface="Courier New" pitchFamily="34" charset="-120"/>
              </a:rPr>
              <a:t># less than one whole cell: wait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sub  t1, t1, t2             </a:t>
            </a:r>
            <a:pPr indent="0" marL="0">
              <a:buNone/>
            </a:pPr>
            <a:r>
              <a:rPr lang="en-US" sz="1350" dirty="0">
                <a:solidFill>
                  <a:srgbClr val="8FB3A0"/>
                </a:solidFill>
                <a:latin typeface="Courier New" pitchFamily="34" charset="0"/>
                <a:ea typeface="Courier New" pitchFamily="34" charset="-122"/>
                <a:cs typeface="Courier New" pitchFamily="34" charset="-120"/>
              </a:rPr>
              <a:t># one cell done: keep the remainder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t3, t3, 1              </a:t>
            </a:r>
            <a:pPr indent="0" marL="0">
              <a:buNone/>
            </a:pPr>
            <a:r>
              <a:rPr lang="en-US" sz="1350" dirty="0">
                <a:solidFill>
                  <a:srgbClr val="8FB3A0"/>
                </a:solidFill>
                <a:latin typeface="Courier New" pitchFamily="34" charset="0"/>
                <a:ea typeface="Courier New" pitchFamily="34" charset="-122"/>
                <a:cs typeface="Courier New" pitchFamily="34" charset="-120"/>
              </a:rPr>
              <a:t># one cell to the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t4, COLS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blt  t3, t4,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t3, 0                  </a:t>
            </a:r>
            <a:pPr indent="0" marL="0">
              <a:buNone/>
            </a:pPr>
            <a:r>
              <a:rPr lang="en-US" sz="1350" dirty="0">
                <a:solidFill>
                  <a:srgbClr val="8FB3A0"/>
                </a:solidFill>
                <a:latin typeface="Courier New" pitchFamily="34" charset="0"/>
                <a:ea typeface="Courier New" pitchFamily="34" charset="-122"/>
                <a:cs typeface="Courier New" pitchFamily="34" charset="-120"/>
              </a:rPr>
              <a:t># past the right edge: back to column 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sw   t3,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 the speed to the fraction; below 256, wait</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At 256: subtract it, keep the rest, move one cell</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Column 40 does not exist: back to column 0</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Two exits: each stores what it changed</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the head crosses the world</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head moves to the right, about five cells per second</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Wait for the right edge: the head leaves at column 39 and returns at column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SPEED_Q8 to 8, then to 128, then to 256: predict the speed before you run</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the starting row in init and the colour of the head</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head crosses the forty columns in 256 frames, about eight and a half seconds at thirty frames per second, for ever.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the listing shows: your code, as the assembler left it</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verm1_update: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auipc   t0, 0x0          # la t0, step_q8   is two instructions: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t0, t0, ...      #   t0 = address of step_q8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t1, t1, 40       # SPEED_Q8 is gone: only the number is left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addi    t2, zero, 256    # li t2, 256</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blt     t1, t2,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sub     t1, t1, t2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sw      t1, 0(t0)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c.addi  t3, 1            # addi t3, t3, 1 in a 16-bit form</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c.jr    ra               # ret</a:t>
            </a:r>
            <a:endParaRPr lang="en-US" sz="12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Names are gone: labels became addresses, constants became numbers</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Pseudo-instructions are expanded: la is auipc plus addi, li is addi from zero, ret is a jump to ra</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Some instructions start with c.: the compressed 16-bit forms of the same instructions</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loaded at address 0x40800000: every address you see starts there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word VERM1 at the top left and a green head that crosses the grid from left to right, about five cells per second, and comes back in from column 0.</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verm1_p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Make the head move to the left: which instruction changes, and which comparison detects the edge?</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Make it move downwards instead, wrapping from row 23 to row 0</a:t>
            </a:r>
            <a:endParaRPr lang="en-US" sz="2400" dirty="0"/>
          </a:p>
        </p:txBody>
      </p:sp>
      <p:sp>
        <p:nvSpPr>
          <p:cNvPr id="8" name="Text 6"/>
          <p:cNvSpPr txBox="1"/>
          <p:nvPr/>
        </p:nvSpPr>
        <p:spPr>
          <a:xfrm>
            <a:off x="548640" y="31546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1363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Draw a second cell, in a darker green, one column behind the head: a first hint of a body</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Write your own name next to the title, in a colour you computed by hand in RGB565</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Each change is a few lines. Keep a copy of the working Part 1 before you experiment: Part 2 starts from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1: A Head That Crosses the World: the code</dc:title>
  <dc:subject>Lecture 07</dc:subject>
  <dc:creator>Raffaele Montella</dc:creator>
  <cp:lastModifiedBy>Raffaele Montella</cp:lastModifiedBy>
  <cp:revision>1</cp:revision>
  <dcterms:created xsi:type="dcterms:W3CDTF">2026-10-13T10:41:31Z</dcterms:created>
  <dcterms:modified xsi:type="dcterms:W3CDTF">2026-10-13T10:41:31Z</dcterms:modified>
</cp:coreProperties>
</file>