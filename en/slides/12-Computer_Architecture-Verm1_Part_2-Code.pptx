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4eda316-91f9-aec0-c4f9-e59b63712d1e}">
          <p14:sldIdLst>
            <p14:sldId id="256"/>
            <p14:sldId id="257"/>
          </p14:sldIdLst>
        </p14:section>
        <p14:section name="The listings" id="{4263ba5c-0606-2afd-a935-9e03adb4769e}">
          <p14:sldIdLst>
            <p14:sldId id="258"/>
          </p14:sldIdLst>
        </p14:section>
        <p14:section name="Step 1: names for bits" id="{c606775e-c376-ff74-9f44-b3c76b153749}">
          <p14:sldIdLst>
            <p14:sldId id="259"/>
            <p14:sldId id="260"/>
          </p14:sldIdLst>
        </p14:section>
        <p14:section name="Step 2: steering" id="{d462dcdb-8cd5-7919-8cb8-5301e2a154e8}">
          <p14:sldIdLst>
            <p14:sldId id="261"/>
            <p14:sldId id="262"/>
            <p14:sldId id="263"/>
            <p14:sldId id="264"/>
            <p14:sldId id="265"/>
            <p14:sldId id="266"/>
          </p14:sldIdLst>
        </p14:section>
        <p14:section name="Step 3: food, a score, a sound" id="{acccd259-877c-ef3d-3d0f-02ffdd696163}">
          <p14:sldIdLst>
            <p14:sldId id="267"/>
            <p14:sldId id="268"/>
            <p14:sldId id="269"/>
            <p14:sldId id="270"/>
            <p14:sldId id="271"/>
            <p14:sldId id="272"/>
            <p14:sldId id="273"/>
            <p14:sldId id="274"/>
          </p14:sldIdLst>
        </p14:section>
        <p14:section name="Run it and test it" id="{a3c18a10-6d57-4824-9784-d9e547448d42}">
          <p14:sldIdLst>
            <p14:sldId id="275"/>
            <p14:sldId id="276"/>
            <p14:sldId id="277"/>
            <p14:sldId id="278"/>
            <p14:sldId id="279"/>
          </p14:sldIdLst>
        </p14:section>
        <p14:section name="Exercises" id="{a36f98c6-bdac-b131-18e6-276b5edab033}">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12.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~/arc12/verm1/verm1_part2.S; tools/tests/verm1_check.py builds it and plays it with a scripted player, and verm1_steps.py runs the intermediate checkpoints.
For the lecturer: Get the code once: git clone https://github.com/riscv-prg32/computer-architecture-with-prg32 ~/arc12. The reference program is ~/arc12/verm1/verm1_part2.S;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in Part 1: build the cartridge, then upload it to PRG32-QT and run it. Keep PRG32-QT open for the whole session, with the debug mode enabled if you want the debugger at hand: step 4 uses it.
USE NOW: the PRG32 tools (used, not studied, in this course).
For the lecturer: The same two commands of Part 1. PRG32-QT must be running, with Run cartridges in RISC-V debug mode enabled in Settings if you want the debugger.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these lines to the constants of Part 1. RED is the colour of the food. The four BTN_ constants are masks: each has a single bit at 1, the bit of that button in the word returned by the runtime. The four DIR_ constants are the codes of the directions, numbers from 0 to 3, that is two bits. The comments say what each of the two bits means, and the lecture deck, in the slide "A code chosen with care", explains why the codes were chosen in this way.
UNDERSTAND NOW: bit masks.
For the lecturer: Add the lines from RED and from BTN_LEFT to DIR_UP to the constants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data of Part 1 with these. In .rodata there are two tables of four words, dx and dy: for each direction code, the change of column and the change of row. They never change, so they live with the constants. In .data there are five new variables: dir, the direction of the last step; want, the direction the player has asked for; and score, food_x and food_y, which are used in step 3.
UNDERSTAND NOW: arrays in memory.
For the lecturer: Replace the data of Part 1 with this. The initial values are enough for step 2: init is completed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beginning of verm1_update. After the call to prg32_input_read, t1 receives the current direction and t2 the current wish. Then four identical blocks: andi isolates one button; if the result is zero the next instruction is skipped; otherwise the wish in t2 is overwritten with that direction. Finally the rule: the XOR of wish and direction is compared with 2; if they are equal the request is a U-turn and the sw is skipped, so the old wish survives. update now makes a call, so it has a stack frame.
UNDERSTAND NOW: bit masks.
For the lecturer: This replaces the beginning of verm1_update. update now calls a function, so it needs a stack frame. With two buttons pressed the last test wins: UP beats LEFT beats DOWN beats RIGHT. The player's wish is stored in want and becomes the direction only at the next step: so two quick presses cannot fold the worm onto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verm1_update is the fixed-point timer of Part 1, unchanged: add the speed, and when a whole cell has accumulated subtract 256. The only difference is what happens then: instead of moving head_x directly, the code calls a new function, step. The local labels here are 6 and 7 because the numbers from 1 to 5 are already used in the first half of the function.
UNDERSTAND NOW: fixed point.
For the lecturer: This is the rest of verm1_update. The lines that moved head_x in Part 1 are gone: they become the function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step. The wish becomes the direction: this happens once per step, not once per frame, so two quick presses cannot fold the worm back on itself. Then the lookup: the code of the direction is shifted left by 2, because each entry of a table is a word of four bytes, and added to the address of dx; the word loaded is the change of column, minus 1, 0 or plus 1. The same offset serves for dy. There is no branch: the code selects the value, as a multiplexer would.
UNDERSTAND NOW: multiplexers.
For the lecturer: A table in read-only memory addressed by a code is a ROM: Lecture 11. The alternative is four branches; the table is shorter, and changing the rules means changing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moves the head and handles the edges, in both directions. The column plus dx can now become minus 1: bgez tests the sign, and a negative column is replaced by the last column. If instead it has reached COLS, it becomes 0. The same is done for the row with ROWS. Note the last callout: t4 and t6 still hold the new column and row, and the next piece of code will use them.
UNDERSTAND NOW: signed or unsigned instructions.
For the lecturer: In Part 1 only the right edge existed. A negative column is a signed number: bgez and blt are the signed comparisons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temporary lines that restore ra, release the frame and return, so that step is complete and the program can run now. This is a habit of the tutorials: when a function will be finished later, close it provisionally and test what you have. In step 3 you will insert the test for the food before these lines.
For the lecturer: A temporary ending, so that the program can run now.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are driving. The head starts to the right as before. Hold DOWN and it turns at its next step. While it goes right, hold LEFT: nothing happens, because the U-turn is refused. To go left you need two turns, DOWN and then LEFT. The green box gives a precise check: holding DOWN from the start for 64 frames brings the head to column 5 of row 22, ten steps down.
For the lecturer: Checked on the PRG32-QT headless runner: DOWN held 64 frames gives (5, 22); LEFT held 64 frames gives (15, 12), as if nothing had been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is replaced by a complete version: every variable receives its starting value, including the direction, the wish and the score, and the first food is placed by calling place_food. Because it now makes a call, init too has a stack frame that saves ra.
For the lecturer: Replace verm1_init.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asks the runtime for two random numbers. The contract of prg32_random_number is: minimum in a0, maximum in a1, both included, result in a0. The first call gives a column from 0 to 39, the second a row from 0 to 23, and each is stored in its variable. One defect is left on purpose: the food may fall exactly on the head. Part 3, when the worm has a body, will correct it.
USE NOW: the PRG32 runtime calls (used, not studied, in this course).
For the lecturer: The random numbers come from the runtime: on the board from the hardware generator of the ESP32-C6. Two runs of the game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temporary ending of step. It is a comparator built from instructions: xor of the food's column and the head's column is 0 when they are equal; the same for the rows; or of the two results is 0 only if both are equal. If the result is not zero, the function ends. Otherwise the worm has eaten: the score is increased by one, new food is placed, and a sound is played. It is the AND of XNORs of Lecture 11, written with two xor and one or.
UNDERSTAND NOW: comparators and parity.
For the lecturer: A comparator for equality is a row of XOR gates followed by an OR: Lecture 11. Here it is two xor and one or. The registers t4 and t6 still hold the new column and row; after the calls they are no longer needed, which is why it is safe to keep them in temporaries.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plays one note. prg32_audio_note takes five arguments, in a0 to a4: channel, instrument, note, volume and duration in milliseconds. Note 72 is the C of the fifth octave in MIDI numbering. The last callout repeats a principle of PRG32: sound comes last. The game worked without it, and it is added when everything else is solid.
USE NOW: the PRG32 runtime calls (used, not studied, in this course).
For the lecturer: prg32_audio_note(channel, instrument, note, volume, milliseconds). On PRG32-QT the note is played by the computer; on the board by the amplifier and its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the new verm1_draw: after the title, a loop draws one small rectangle for each point of the score, 4 pixels apart. The counter of the loop is in s0, not in a t register, because it must survive the calls to prg32_gfx_rect: a function may destroy the temporaries, but preserves the s registers. In exchange your own function must save s0 in its frame and restore it at the end. This convention is studied in Lecture 18.
USE NOW: the calling convention (studied in Lecture 18).
For the lecturer: Replace the beginning of verm1_draw. A t register may be destroyed by any call; an s register is preserved, provided that we save and restore it ourselves: the convention, met in Lecture 02, is studied in Lecture 18. Digits arrive in Part 4, when division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verm1_draw: the same three lines twice, first for the food and then for the head: load the column, load the row, load the colour, and call draw_cell. The order matters: the head is drawn last, so that it covers the food if they are in the same cell. Then s0 and ra are restored and the function returns.
UNDERSTAND NOW: arguments in a0 to a7.
For the lecturer: This is the rest of verm1_draw: it replaces the rectangle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gathers in one function the arithmetic that Part 1 had inside draw: column times 8, row times 8 plus TOP. Its contract is written in the comment on its first line: column in a0, row in a1, colour in a2. One subtlety: prg32_gfx_rect wants the colour in a4, and a2 is about to be overwritten with the width, so the colour must be moved first. Writing the contract of a function in a comment is part of the job.
UNDERSTAND NOW: arguments in a0 to a7.
For the lecturer: A function with a contract: a0 = column, a1 = row, a2 = colour. Writing the contract in a comment is part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should see a red cell somewhere. Steer the head onto it: a note sounds, a mark appears next to the title, and the food moves to another cell. The screenshot shows the game after two bites, with two marks. It was produced by the automatic test, in which a scripted player steers the head to the food twice.
For the lecturer: Screenshot produced by tools/tests/verm1_check.py: a scripted player steers the head to the food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of your own. Make button A a brake that stops the timer while it is held. Give two points for food eaten in the top row. Draw the head in a different colour for each direction, with a third table indexed like dx. And change the encoding of the directions: with RIGHT 0, LEFT 1, DOWN 2 and UP 3, what does the U-turn rule become? Keep a copy of the working Part 2 before experimenting.
For the lecturer: Brake: andi with BTN_A (0x10) at the start of the timer, branch to the exit. Colour table: four .word in .rodata, indexed like dx. New encoding: opposites differ in bit 0, so the test is XOR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15 listings of Lecture 12,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verm1/verm1_part2.S, 231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buttons and directions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        </a:t>
            </a:r>
            <a:pPr indent="0" marL="0">
              <a:buNone/>
            </a:pPr>
            <a:r>
              <a:rPr lang="en-US" sz="1250" dirty="0">
                <a:solidFill>
                  <a:srgbClr val="8FB3A0"/>
                </a:solidFill>
                <a:latin typeface="Courier New" pitchFamily="34" charset="0"/>
                <a:ea typeface="Courier New" pitchFamily="34" charset="-122"/>
                <a:cs typeface="Courier New" pitchFamily="34" charset="-120"/>
              </a:rPr>
              <a:t># one bit per button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a direction is a 2-bit code: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           </a:t>
            </a:r>
            <a:pPr indent="0" marL="0">
              <a:buNone/>
            </a:pPr>
            <a:r>
              <a:rPr lang="en-US" sz="1250" dirty="0">
                <a:solidFill>
                  <a:srgbClr val="8FB3A0"/>
                </a:solidFill>
                <a:latin typeface="Courier New" pitchFamily="34" charset="0"/>
                <a:ea typeface="Courier New" pitchFamily="34" charset="-122"/>
                <a:cs typeface="Courier New" pitchFamily="34" charset="-120"/>
              </a:rPr>
              <a:t>#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verm1_draw</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New colour: RED, for the food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button is one bit of a word: a mask selects it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direction is a number from 0 to 3: two bits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codes are not arbitrary: see the lecture deck</a:t>
            </a:r>
            <a:endParaRPr lang="en-US" sz="15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two tables and five new variables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.section .rodata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title:   .asciz "VERM1"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dx:      .word  1, 0, -1,  0    </a:t>
            </a:r>
            <a:pPr indent="0" marL="0">
              <a:buNone/>
            </a:pPr>
            <a:r>
              <a:rPr lang="en-US" sz="1550" dirty="0">
                <a:solidFill>
                  <a:srgbClr val="8FB3A0"/>
                </a:solidFill>
                <a:latin typeface="Courier New" pitchFamily="34" charset="0"/>
                <a:ea typeface="Courier New" pitchFamily="34" charset="-122"/>
                <a:cs typeface="Courier New" pitchFamily="34" charset="-120"/>
              </a:rPr>
              <a:t># right, down, left, up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dy:      .word  0, 1,  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head_y:  .word 12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dir: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of the last step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want: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asked by the player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step_q8: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score: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food_x:  .word 20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food_y:  .word 12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dx and dy: four words each, one per direction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They are constants, so they live in .rodata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dir is the direction of the last step, want the one asked for</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score, food_x, food_y: used in step 3</a:t>
            </a:r>
            <a:endParaRPr lang="en-US" sz="12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from buttons to a wish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150" dirty="0">
                <a:solidFill>
                  <a:srgbClr val="8FB3A0"/>
                </a:solidFill>
                <a:latin typeface="Courier New" pitchFamily="34" charset="0"/>
                <a:ea typeface="Courier New" pitchFamily="34" charset="-122"/>
                <a:cs typeface="Courier New" pitchFamily="34" charset="-120"/>
              </a:rPr>
              <a:t># a0 = one bit per button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direction of the last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want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t2, 0(t0)              </a:t>
            </a:r>
            <a:pPr indent="0" marL="0">
              <a:buNone/>
            </a:pPr>
            <a:r>
              <a:rPr lang="en-US" sz="1150" dirty="0">
                <a:solidFill>
                  <a:srgbClr val="8FB3A0"/>
                </a:solidFill>
                <a:latin typeface="Courier New" pitchFamily="34" charset="0"/>
                <a:ea typeface="Courier New" pitchFamily="34" charset="-122"/>
                <a:cs typeface="Courier New" pitchFamily="34" charset="-120"/>
              </a:rPr>
              <a:t># t2 = wanted direction, so far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a0, BTN_RIGHT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andi t3, a0, BTN_DOWN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andi t3, a0, BTN_LEFT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andi t3, a0, BTN_UP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  xor  t3, t2, t1             </a:t>
            </a:r>
            <a:pPr indent="0" marL="0">
              <a:buNone/>
            </a:pPr>
            <a:r>
              <a:rPr lang="en-US" sz="1150" dirty="0">
                <a:solidFill>
                  <a:srgbClr val="8FB3A0"/>
                </a:solidFill>
                <a:latin typeface="Courier New" pitchFamily="34" charset="0"/>
                <a:ea typeface="Courier New" pitchFamily="34" charset="-122"/>
                <a:cs typeface="Courier New" pitchFamily="34" charset="-120"/>
              </a:rPr>
              <a:t># opposite directions differ in bit 1 only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t4,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t3, t4, 5f             </a:t>
            </a:r>
            <a:pPr indent="0" marL="0">
              <a:buNone/>
            </a:pPr>
            <a:r>
              <a:rPr lang="en-US" sz="1150" dirty="0">
                <a:solidFill>
                  <a:srgbClr val="8FB3A0"/>
                </a:solidFill>
                <a:latin typeface="Courier New" pitchFamily="34" charset="0"/>
                <a:ea typeface="Courier New" pitchFamily="34" charset="-122"/>
                <a:cs typeface="Courier New" pitchFamily="34" charset="-120"/>
              </a:rPr>
              <a:t># a U-turn: ignore the request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it for the next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5:</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andi keeps one bit: zero means not pressed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Each pressed button overwrites the wish in t2</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of wish and direction: 2 means opposite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U-turn is not stored: the old wish survives</a:t>
            </a:r>
            <a:endParaRPr lang="en-US" sz="16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the timer calls step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fixed-point timer of Part 1, unchanged</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Moving is now a function of its own: step</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Labels 6 and 7: numbers 1 to 5 are used above</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look the movement 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 -1, 0 or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wish becomes the direction, once per step</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word is 4 bytes: offset = code shifted left by 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address of table + offset: the word to load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 branch: the code selects, like a multiplexer</a:t>
            </a:r>
            <a:endParaRPr lang="en-US" sz="1500" dirty="0"/>
          </a:p>
        </p:txBody>
      </p:sp>
      <p:sp>
        <p:nvSpPr>
          <p:cNvPr id="17" name="Shape 15"/>
          <p:cNvSpPr/>
          <p:nvPr/>
        </p:nvSpPr>
        <p:spPr>
          <a:xfrm>
            <a:off x="8878646" y="91440"/>
            <a:ext cx="2764409" cy="274320"/>
          </a:xfrm>
          <a:prstGeom prst="rect">
            <a:avLst/>
          </a:prstGeom>
          <a:solidFill>
            <a:srgbClr val="E0F2FE"/>
          </a:solidFill>
          <a:ln w="12700">
            <a:solidFill>
              <a:srgbClr val="0369A1"/>
            </a:solidFill>
            <a:prstDash val="solid"/>
          </a:ln>
        </p:spPr>
      </p:sp>
      <p:sp>
        <p:nvSpPr>
          <p:cNvPr id="18" name="Shape 16"/>
          <p:cNvSpPr/>
          <p:nvPr/>
        </p:nvSpPr>
        <p:spPr>
          <a:xfrm>
            <a:off x="887864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20" name="Text 17"/>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move and wrap, both ways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    la   t0, head_x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t4,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t4, t4, t2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t4, 1f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COLS-1             </a:t>
            </a:r>
            <a:pPr indent="0" marL="0">
              <a:buNone/>
            </a:pPr>
            <a:r>
              <a:rPr lang="en-US" sz="1600" dirty="0">
                <a:solidFill>
                  <a:srgbClr val="8FB3A0"/>
                </a:solidFill>
                <a:latin typeface="Courier New" pitchFamily="34" charset="0"/>
                <a:ea typeface="Courier New" pitchFamily="34" charset="-122"/>
                <a:cs typeface="Courier New" pitchFamily="34" charset="-120"/>
              </a:rPr>
              <a:t># off the left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1:  li   t5, COLS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t4, t5, 2f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0                  </a:t>
            </a:r>
            <a:pPr indent="0" marL="0">
              <a:buNone/>
            </a:pPr>
            <a:r>
              <a:rPr lang="en-US" sz="1600" dirty="0">
                <a:solidFill>
                  <a:srgbClr val="8FB3A0"/>
                </a:solidFill>
                <a:latin typeface="Courier New" pitchFamily="34" charset="0"/>
                <a:ea typeface="Courier New" pitchFamily="34" charset="-122"/>
                <a:cs typeface="Courier New" pitchFamily="34" charset="-120"/>
              </a:rPr>
              <a:t># off the right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2:  sw   t4, 0(t0)              </a:t>
            </a:r>
            <a:pPr indent="0" marL="0">
              <a:buNone/>
            </a:pPr>
            <a:r>
              <a:rPr lang="en-US" sz="1600" dirty="0">
                <a:solidFill>
                  <a:srgbClr val="8FB3A0"/>
                </a:solidFill>
                <a:latin typeface="Courier New" pitchFamily="34" charset="0"/>
                <a:ea typeface="Courier New" pitchFamily="34" charset="-122"/>
                <a:cs typeface="Courier New" pitchFamily="34" charset="-120"/>
              </a:rPr>
              <a:t># t4 = new column</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head_y</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t6,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t6, t6, t3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t6, 3f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ROWS-1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3:  li   t5, ROWS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t6, t5, 4f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4:  sw   t6, 0(t0)              </a:t>
            </a:r>
            <a:pPr indent="0" marL="0">
              <a:buNone/>
            </a:pPr>
            <a:r>
              <a:rPr lang="en-US" sz="1600" dirty="0">
                <a:solidFill>
                  <a:srgbClr val="8FB3A0"/>
                </a:solidFill>
                <a:latin typeface="Courier New" pitchFamily="34" charset="0"/>
                <a:ea typeface="Courier New" pitchFamily="34" charset="-122"/>
                <a:cs typeface="Courier New" pitchFamily="34" charset="-120"/>
              </a:rPr>
              <a:t># t6 = new row</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the column can now go below 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bgez tests the sign: negative means off the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for the row, with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t4 and t6 keep the new cell for the next slide</a:t>
            </a:r>
            <a:endParaRPr lang="en-US" sz="15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close the function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temporary end of step: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Step 3 will replace these three lines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Type these three lines after the wrap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They restore ra and return: step is complete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 3 puts the food test before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 are driving</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still starts to the right, from column 5 of row 12</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the head turns at its next step and goes down, wrapping from row 23 to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While it goes right, hold LEFT: nothing happens. The U-turn is refused</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and then LEFT: two turns, and now the head goes left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Holding DOWN from the start for 64 frames brings the head to column 5, row 22: ten steps, all downwards.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 complete start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            </a:t>
            </a:r>
            <a:pPr indent="0" marL="0">
              <a:buNone/>
            </a:pPr>
            <a:r>
              <a:rPr lang="en-US" sz="1350" dirty="0">
                <a:solidFill>
                  <a:srgbClr val="8FB3A0"/>
                </a:solidFill>
                <a:latin typeface="Courier New" pitchFamily="34" charset="0"/>
                <a:ea typeface="Courier New" pitchFamily="34" charset="-122"/>
                <a:cs typeface="Courier New" pitchFamily="34" charset="-120"/>
              </a:rPr>
              <a:t># moving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variable gets its starting value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now calls a function: it needs a stack frame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food is placed here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place_food: a random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place_food: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COLS-1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column, 0 .. 39</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food_x</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ROWS-1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row, 0 .. 23</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food_y</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prg32_random_number(min, max): both included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Arguments in a0 and a1, result in a0</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column from 0 to 39, a row from 0 to 23</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food may fall on the head: Part 3 fixes it</a:t>
            </a:r>
            <a:endParaRPr lang="en-US" sz="1600" dirty="0"/>
          </a:p>
        </p:txBody>
      </p:sp>
      <p:sp>
        <p:nvSpPr>
          <p:cNvPr id="17" name="Shape 15"/>
          <p:cNvSpPr/>
          <p:nvPr/>
        </p:nvSpPr>
        <p:spPr>
          <a:xfrm>
            <a:off x="8762695" y="91440"/>
            <a:ext cx="2880360" cy="274320"/>
          </a:xfrm>
          <a:prstGeom prst="rect">
            <a:avLst/>
          </a:prstGeom>
          <a:solidFill>
            <a:srgbClr val="FEF3C7"/>
          </a:solidFill>
          <a:ln w="12700">
            <a:solidFill>
              <a:srgbClr val="B45309"/>
            </a:solidFill>
            <a:prstDash val="solid"/>
          </a:ln>
        </p:spPr>
      </p:sp>
      <p:sp>
        <p:nvSpPr>
          <p:cNvPr id="18" name="Shape 16"/>
          <p:cNvSpPr/>
          <p:nvPr/>
        </p:nvSpPr>
        <p:spPr>
          <a:xfrm>
            <a:off x="8762695" y="91440"/>
            <a:ext cx="27432" cy="274320"/>
          </a:xfrm>
          <a:prstGeom prst="rect">
            <a:avLst/>
          </a:prstGeom>
          <a:solidFill>
            <a:srgbClr val="B45309"/>
          </a:solidFill>
          <a:ln w="12700">
            <a:solidFill>
              <a:srgbClr val="B45309"/>
            </a:solidFill>
            <a:prstDash val="solid"/>
          </a:ln>
        </p:spPr>
      </p:sp>
      <p:sp>
        <p:nvSpPr>
          <p:cNvPr id="19" name="Shape 17"/>
          <p:cNvSpPr/>
          <p:nvPr/>
        </p:nvSpPr>
        <p:spPr>
          <a:xfrm>
            <a:off x="8817559"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21" name="Text 18"/>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 head on the 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la   t0, food_x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t1, t1, t4             </a:t>
            </a:r>
            <a:pPr indent="0" marL="0">
              <a:buNone/>
            </a:pPr>
            <a:r>
              <a:rPr lang="en-US" sz="1650" dirty="0">
                <a:solidFill>
                  <a:srgbClr val="8FB3A0"/>
                </a:solidFill>
                <a:latin typeface="Courier New" pitchFamily="34" charset="0"/>
                <a:ea typeface="Courier New" pitchFamily="34" charset="-122"/>
                <a:cs typeface="Courier New" pitchFamily="34" charset="-120"/>
              </a:rPr>
              <a:t># 0 if same column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food_y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t2, t2, t6             </a:t>
            </a:r>
            <a:pPr indent="0" marL="0">
              <a:buNone/>
            </a:pPr>
            <a:r>
              <a:rPr lang="en-US" sz="1650" dirty="0">
                <a:solidFill>
                  <a:srgbClr val="8FB3A0"/>
                </a:solidFill>
                <a:latin typeface="Courier New" pitchFamily="34" charset="0"/>
                <a:ea typeface="Courier New" pitchFamily="34" charset="-122"/>
                <a:cs typeface="Courier New" pitchFamily="34" charset="-120"/>
              </a:rPr>
              <a:t># 0 if same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or   t1, t1, t2             </a:t>
            </a:r>
            <a:pPr indent="0" marL="0">
              <a:buNone/>
            </a:pPr>
            <a:r>
              <a:rPr lang="en-US" sz="1650" dirty="0">
                <a:solidFill>
                  <a:srgbClr val="8FB3A0"/>
                </a:solidFill>
                <a:latin typeface="Courier New" pitchFamily="34" charset="0"/>
                <a:ea typeface="Courier New" pitchFamily="34" charset="-122"/>
                <a:cs typeface="Courier New" pitchFamily="34" charset="-120"/>
              </a:rPr>
              <a:t># 0 only if both are equal</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5f                 </a:t>
            </a:r>
            <a:pPr indent="0" marL="0">
              <a:buNone/>
            </a:pPr>
            <a:r>
              <a:rPr lang="en-US" sz="1650" dirty="0">
                <a:solidFill>
                  <a:srgbClr val="8FB3A0"/>
                </a:solidFill>
                <a:latin typeface="Courier New" pitchFamily="34" charset="0"/>
                <a:ea typeface="Courier New" pitchFamily="34" charset="-122"/>
                <a:cs typeface="Courier New" pitchFamily="34" charset="-120"/>
              </a:rPr>
              <a:t># not on the 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score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place_food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eat_sound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5:  lw   ra, 12(sp)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temporary ending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is 0 when two numbers are equal</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or of the two results: 0 only if both are equal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Eating: one more point, new food, a sound</a:t>
            </a:r>
            <a:endParaRPr lang="en-US" sz="16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eat_sound: one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Five arguments, a0 to a4, then the call</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Note 72 is C5 in MIDI numbering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Sound comes last: the game worked without it</a:t>
            </a:r>
            <a:endParaRPr lang="en-US" sz="1700" dirty="0"/>
          </a:p>
        </p:txBody>
      </p:sp>
      <p:sp>
        <p:nvSpPr>
          <p:cNvPr id="14" name="Shape 12"/>
          <p:cNvSpPr/>
          <p:nvPr/>
        </p:nvSpPr>
        <p:spPr>
          <a:xfrm>
            <a:off x="8762695" y="91440"/>
            <a:ext cx="2880360" cy="274320"/>
          </a:xfrm>
          <a:prstGeom prst="rect">
            <a:avLst/>
          </a:prstGeom>
          <a:solidFill>
            <a:srgbClr val="FEF3C7"/>
          </a:solidFill>
          <a:ln w="12700">
            <a:solidFill>
              <a:srgbClr val="B45309"/>
            </a:solidFill>
            <a:prstDash val="solid"/>
          </a:ln>
        </p:spPr>
      </p:sp>
      <p:sp>
        <p:nvSpPr>
          <p:cNvPr id="15" name="Shape 13"/>
          <p:cNvSpPr/>
          <p:nvPr/>
        </p:nvSpPr>
        <p:spPr>
          <a:xfrm>
            <a:off x="8762695" y="91440"/>
            <a:ext cx="27432" cy="274320"/>
          </a:xfrm>
          <a:prstGeom prst="rect">
            <a:avLst/>
          </a:prstGeom>
          <a:solidFill>
            <a:srgbClr val="B45309"/>
          </a:solidFill>
          <a:ln w="12700">
            <a:solidFill>
              <a:srgbClr val="B45309"/>
            </a:solidFill>
            <a:prstDash val="solid"/>
          </a:ln>
        </p:spPr>
      </p:sp>
      <p:sp>
        <p:nvSpPr>
          <p:cNvPr id="16" name="Shape 14"/>
          <p:cNvSpPr/>
          <p:nvPr/>
        </p:nvSpPr>
        <p:spPr>
          <a:xfrm>
            <a:off x="8817559"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18" name="Text 15"/>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the score as marks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prg32_gfx_text8</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s0, 0                  </a:t>
            </a:r>
            <a:pPr indent="0" marL="0">
              <a:buNone/>
            </a:pPr>
            <a:r>
              <a:rPr lang="en-US" sz="1100" dirty="0">
                <a:solidFill>
                  <a:srgbClr val="8FB3A0"/>
                </a:solidFill>
                <a:latin typeface="Courier New" pitchFamily="34" charset="0"/>
                <a:ea typeface="Courier New" pitchFamily="34" charset="-122"/>
                <a:cs typeface="Courier New" pitchFamily="34" charset="-120"/>
              </a:rPr>
              <a:t># s0 = i: one mark per point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s0, t1,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slli a0, s0, 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a0, a0, 56             </a:t>
            </a:r>
            <a:pPr indent="0" marL="0">
              <a:buNone/>
            </a:pPr>
            <a:r>
              <a:rPr lang="en-US" sz="1100" dirty="0">
                <a:solidFill>
                  <a:srgbClr val="8FB3A0"/>
                </a:solidFill>
                <a:latin typeface="Courier New" pitchFamily="34" charset="0"/>
                <a:ea typeface="Courier New" pitchFamily="34" charset="-122"/>
                <a:cs typeface="Courier New" pitchFamily="34" charset="-120"/>
              </a:rPr>
              <a:t># x = 56 + 4 * 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3</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prg32_gfx_rect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s0, s0,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1b</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2:</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counts the marks: it must survive the calls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s0 is saved in the frame, with ra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small rectangle per point, 4 pixels apart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loop ends when s0 reaches the score</a:t>
            </a:r>
            <a:endParaRPr lang="en-US" sz="15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food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three lines twice: column, row, colour</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draw_cell does the conversion to pixels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drawn last: it covers the food</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draw_cell: from cells to pixels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arithmetic of Part 1, written once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colour arrives in a2 and must leave in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Move it first: a2 is about to be overwritten</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2</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2.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head, the food, and two marks after the title: two points</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a red cell somewhere; steer the head onto it; a note sounds, a mark appears next to VERM1, the food moves.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head that you steer, a red cell of food that moves when it is eaten, a note, and one mark per point next to VERM1.</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steer with the joystick; a U-turn is refused</a:t>
            </a:r>
            <a:endParaRPr lang="en-US" sz="2400" dirty="0"/>
          </a:p>
        </p:txBody>
      </p:sp>
      <p:pic>
        <p:nvPicPr>
          <p:cNvPr id="7" name="Image 0" descr="/Users/raffaelemontella/devel/riscv-prg32/computer-architecture-with-prg32/tools/assets/verm1_p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button A a brake: while it is held, the timer does not advance</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Give two points for a piece of food eaten in the top row</a:t>
            </a:r>
            <a:endParaRPr lang="en-US" sz="2400" dirty="0"/>
          </a:p>
        </p:txBody>
      </p:sp>
      <p:sp>
        <p:nvSpPr>
          <p:cNvPr id="8" name="Text 6"/>
          <p:cNvSpPr txBox="1"/>
          <p:nvPr/>
        </p:nvSpPr>
        <p:spPr>
          <a:xfrm>
            <a:off x="548640" y="3053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347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the head in a different colour for each direction, using a third table of four colours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encoding so that RIGHT = 0, LEFT = 1, DOWN = 2, UP = 3: what does the U-turn rule become?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2 before you experiment: Part 3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 the code</dc:title>
  <dc:subject>Lecture 12</dc:subject>
  <dc:creator>Raffaele Montella</dc:creator>
  <cp:lastModifiedBy>Raffaele Montella</cp:lastModifiedBy>
  <cp:revision>1</cp:revision>
  <dcterms:created xsi:type="dcterms:W3CDTF">2026-10-16T16:46:56Z</dcterms:created>
  <dcterms:modified xsi:type="dcterms:W3CDTF">2026-10-16T16:46:56Z</dcterms:modified>
</cp:coreProperties>
</file>