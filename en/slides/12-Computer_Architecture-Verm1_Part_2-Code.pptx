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f8a2dbd-cce4-62b6-2404-ae74b5098a8a}">
          <p14:sldIdLst>
            <p14:sldId id="256"/>
            <p14:sldId id="257"/>
          </p14:sldIdLst>
        </p14:section>
        <p14:section name="The listings" id="{a5b45a34-8df7-3db4-44ee-909836fae3bd}">
          <p14:sldIdLst>
            <p14:sldId id="258"/>
          </p14:sldIdLst>
        </p14:section>
        <p14:section name="Step 1: names for bits" id="{681533d3-378e-a77e-65d6-8ccba4464261}">
          <p14:sldIdLst>
            <p14:sldId id="259"/>
            <p14:sldId id="260"/>
          </p14:sldIdLst>
        </p14:section>
        <p14:section name="Step 2: steering" id="{fcdbdf5d-cb84-017a-9e67-c57d6210e618}">
          <p14:sldIdLst>
            <p14:sldId id="261"/>
            <p14:sldId id="262"/>
            <p14:sldId id="263"/>
            <p14:sldId id="264"/>
            <p14:sldId id="265"/>
            <p14:sldId id="266"/>
          </p14:sldIdLst>
        </p14:section>
        <p14:section name="Step 3: food, a score, a sound" id="{08c57ee5-87a3-ab0f-e253-379b466c2b46}">
          <p14:sldIdLst>
            <p14:sldId id="267"/>
            <p14:sldId id="268"/>
            <p14:sldId id="269"/>
            <p14:sldId id="270"/>
            <p14:sldId id="271"/>
            <p14:sldId id="272"/>
            <p14:sldId id="273"/>
            <p14:sldId id="274"/>
          </p14:sldIdLst>
        </p14:section>
        <p14:section name="Run it and test it" id="{2a3aa97c-90cd-04ea-5c6f-36bf85027a4e}">
          <p14:sldIdLst>
            <p14:sldId id="275"/>
            <p14:sldId id="276"/>
            <p14:sldId id="277"/>
            <p14:sldId id="278"/>
            <p14:sldId id="279"/>
          </p14:sldIdLst>
        </p14:section>
        <p14:section name="Exercises" id="{1b6a11c8-73e1-f0b9-aa08-b707c47c0c84}">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12.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reference program is ~/arc12/verm1/verm1_part2.S; tools/tests/verm1_check.py builds it and plays it with a scripted player, and verm1_steps.py runs the intermediate checkpoints.
For the lecturer: Get the code once: git clone https://github.com/riscv-prg32/computer-architecture-with-prg32 ~/arc12. The reference program is ~/arc12/verm1/verm1_part2.S; tools/tests/verm1_check.py builds it and plays it with a scripted player, and verm1_steps.py runs the intermediate checkpoints.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two commands as in Part 1: build the cartridge, then upload it to PRG32-QT and run it. Keep PRG32-QT open for the whole session, with the debug mode enabled if you want the debugger at hand: step 4 uses it.
For the lecturer: The same two commands of Part 1. PRG32-QT must be running, with Run cartridges in RISC-V debug mode enabled in Settings if you want the debugger.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these lines to the constants of Part 1. RED is the colour of the food. The four BTN_ constants are masks: each has a single bit at 1, the bit of that button in the word returned by the runtime. The four DIR_ constants are the codes of the directions, numbers from 0 to 3, that is two bits. The comments say what each of the two bits means, and the lecture deck, in the slide "A code chosen with care", explains why the codes were chosen in this way.
For the lecturer: Add the lines from RED and from BTN_LEFT to DIR_UP to the constants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data of Part 1 with these. In .rodata there are two tables of four words, dx and dy: for each direction code, the change of column and the change of row. They never change, so they live with the constants. In .data there are five new variables: dir, the direction of the last step; want, the direction the player has asked for; and score, food_x and food_y, which are used in step 3.
For the lecturer: Replace the data of Part 1 with this. The initial values are enough for step 2: init is completed in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beginning of verm1_update. After the call to prg32_input_read, t1 receives the current direction and t2 the current wish. Then four identical blocks: andi isolates one button; if the result is zero the next instruction is skipped; otherwise the wish in t2 is overwritten with that direction. Finally the rule: the XOR of wish and direction is compared with 2; if they are equal the request is a U-turn and the sw is skipped, so the old wish survives. update now makes a call, so it has a stack frame.
For the lecturer: This replaces the beginning of verm1_update. update now calls a function, so it needs a stack frame. With two buttons pressed the last test wins: UP beats LEFT beats DOWN beats RIGHT. The player's wish is stored in want and becomes the direction only at the next step: so two quick presses cannot fold the worm onto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verm1_update is the fixed-point timer of Part 1, unchanged: add the speed, and when a whole cell has accumulated subtract 256. The only difference is what happens then: instead of moving head_x directly, the code calls a new function, step. The local labels here are 6 and 7 because the numbers from 1 to 5 are already used in the first half of the function.
For the lecturer: This is the rest of verm1_update. The lines that moved head_x in Part 1 are gone: they become the function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half of step. The wish becomes the direction: this happens once per step, not once per frame, so two quick presses cannot fold the worm back on itself. Then the lookup: the code of the direction is shifted left by 2, because each entry of a table is a word of four bytes, and added to the address of dx; the word loaded is the change of column, minus 1, 0 or plus 1. The same offset serves for dy. There is no branch: the code selects the value, as a multiplexer would.
For the lecturer: A table in read-only memory addressed by a code is a ROM: Lecture 11. The alternative is four branches; the table is shorter, and changing the rules means changing data,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moves the head and handles the edges, in both directions. The column plus dx can now become minus 1: bgez tests the sign, and a negative column is replaced by the last column. If instead it has reached COLS, it becomes 0. The same is done for the row with ROWS. Note the last callout: t4 and t6 still hold the new column and row, and the next piece of code will use them.
For the lecturer: In Part 1 only the right edge existed. A negative column is a signed number: bgez and blt are the signed comparisons of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temporary lines that restore ra, release the frame and return, so that step is complete and the program can run now. This is a habit of the tutorials: when a function will be finished later, close it provisionally and test what you have. In step 3 you will insert the test for the food before these lines.
For the lecturer: A temporary ending, so that the program can run now. This intermediate program is built and run by tests/verm1_steps.py.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you are driving. The head starts to the right as before. Hold DOWN and it turns at its next step. While it goes right, hold LEFT: nothing happens, because the U-turn is refused. To go left you need two turns, DOWN and then LEFT. The green box gives a precise check: holding DOWN from the start for 64 frames brings the head to column 5 of row 22, ten steps down.
For the lecturer: Checked on the PRG32-QT headless runner: DOWN held 64 frames gives (5, 22); LEFT held 64 frames gives (15, 12), as if nothing had been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verm1_init is replaced by a complete version: every variable receives its starting value, including the direction, the wish and the score, and the first food is placed by calling place_food. Because it now makes a call, init too has a stack frame that saves ra.
For the lecturer: Replace verm1_init.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place_food asks the runtime for two random numbers. The contract of prg32_random_number is: minimum in a0, maximum in a1, both included, result in a0. The first call gives a column from 0 to 39, the second a row from 0 to 23, and each is stored in its variable. One defect is left on purpose: the food may fall exactly on the head. Part 3, when the worm has a body, will correct it.
For the lecturer: The random numbers come from the runtime: on the board from the hardware generator of the ESP32-C6. Two runs of the game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temporary ending of step. It is a comparator built from instructions: xor of the food's column and the head's column is 0 when they are equal; the same for the rows; or of the two results is 0 only if both are equal. If the result is not zero, the function ends. Otherwise the worm has eaten: the score is increased by one, new food is placed, and a sound is played. It is the AND of XNORs of Lecture 11, written with two xor and one or.
For the lecturer: A comparator for equality is a row of XOR gates followed by an OR: Lecture 11. Here it is two xor and one or. The registers t4 and t6 still hold the new column and row; after the calls they are no longer needed, which is why it is safe to keep them in temporaries.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eat_sound plays one note. prg32_audio_note takes five arguments, in a0 to a4: channel, instrument, note, volume and duration in milliseconds. Note 72 is the C of the fifth octave in MIDI numbering. The last callout repeats a principle of PRG32: sound comes last. The game worked without it, and it is added when everything else is solid.
For the lecturer: prg32_audio_note(channel, instrument, note, volume, milliseconds). On PRG32-QT the note is played by the computer; on the board by the amplifier and its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beginning of the new verm1_draw: after the title, a loop draws one small rectangle for each point of the score, 4 pixels apart. The counter of the loop is in s0, not in a t register, because it must survive the calls to prg32_gfx_rect: a function may destroy the temporaries, but preserves the s registers. In exchange your own function must save s0 in its frame and restore it at the end. This convention is studied in Lecture 18.
For the lecturer: Replace the beginning of verm1_draw. A t register may be destroyed by any call; an s register is preserved, provided that we save and restore it ourselves: the convention, met in Lecture 02, is studied in Lecture 18. Digits arrive in Part 4, when division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verm1_draw: the same three lines twice, first for the food and then for the head: load the column, load the row, load the colour, and call draw_cell. The order matters: the head is drawn last, so that it covers the food if they are in the same cell. Then s0 and ra are restored and the function returns.
For the lecturer: This is the rest of verm1_draw: it replaces the rectangle of Part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draw_cell gathers in one function the arithmetic that Part 1 had inside draw: column times 8, row times 8 plus TOP. Its contract is written in the comment on its first line: column in a0, row in a1, colour in a2. One subtlety: prg32_gfx_rect wants the colour in a4, and a2 is about to be overwritten with the width, so the colour must be moved first. Writing the contract of a function in a comment is part of the job.
For the lecturer: A function with a contract: a0 = column, a1 = row, a2 = colour. Writing the contract in a comment is part of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You should see a red cell somewhere. Steer the head onto it: a note sounds, a mark appears next to the title, and the food moves to another cell. The screenshot shows the game after two bites, with two marks. It was produced by the automatic test, in which a scripted player steers the head to the food twice.
For the lecturer: Screenshot produced by tools/tests/verm1_check.py: a scripted player steers the head to the food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changes of your own. Make button A a brake that stops the timer while it is held. Give two points for food eaten in the top row. Draw the head in a different colour for each direction, with a third table indexed like dx. And change the encoding of the directions: with RIGHT 0, LEFT 1, DOWN 2 and UP 3, what does the U-turn rule become? Keep a copy of the working Part 2 before experimenting.
For the lecturer: Brake: andi with BTN_A (0x10) at the start of the timer, branch to the exit. Colour table: four .word in .rodata, indexed like dx. New encoding: opposites differ in bit 0, so the test is XOR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12: Verm1, part 2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2: Steering, Food and a Score: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12-Computer_Architecture-Verm1_Part_2.pptx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verm1_p2.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15 listings of Lecture 12,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program is your verm1.S; the reference is verm1/verm1_part2.S, 231 lines, shown here region by region</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working loop, again</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the cartridge (from your PRG32 folder, toolchain active)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verm1 --name verm1 --out ~/verm1/verm1.prg32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 send it to PRG32-QT, running on the same computer</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~/verm1/verm1.prg32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http://localhost:8080 --slot cart0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or: in PRG32-QT, import the file verm1.prg32 and choose Run Cartridge</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Constants: buttons and directions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.option norelax</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BLACK, 0x0000          </a:t>
            </a:r>
            <a:pPr indent="0" marL="0">
              <a:buNone/>
            </a:pPr>
            <a:r>
              <a:rPr lang="en-US" sz="1250" dirty="0">
                <a:solidFill>
                  <a:srgbClr val="8FB3A0"/>
                </a:solidFill>
                <a:latin typeface="Courier New" pitchFamily="34" charset="0"/>
                <a:ea typeface="Courier New" pitchFamily="34" charset="-122"/>
                <a:cs typeface="Courier New" pitchFamily="34" charset="-120"/>
              </a:rPr>
              <a:t># RGB565 colours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WHITE, 0xffff</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GREEN, 0x07e0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RED,   0xf800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CELL,  8               </a:t>
            </a:r>
            <a:pPr indent="0" marL="0">
              <a:buNone/>
            </a:pPr>
            <a:r>
              <a:rPr lang="en-US" sz="1250" dirty="0">
                <a:solidFill>
                  <a:srgbClr val="8FB3A0"/>
                </a:solidFill>
                <a:latin typeface="Courier New" pitchFamily="34" charset="0"/>
                <a:ea typeface="Courier New" pitchFamily="34" charset="-122"/>
                <a:cs typeface="Courier New" pitchFamily="34" charset="-120"/>
              </a:rPr>
              <a:t># a cell is 8 x 8 pixels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COLS,  40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ROWS,  24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TOP,   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SPEED_Q8, 40           </a:t>
            </a:r>
            <a:pPr indent="0" marL="0">
              <a:buNone/>
            </a:pPr>
            <a:r>
              <a:rPr lang="en-US" sz="1250" dirty="0">
                <a:solidFill>
                  <a:srgbClr val="8FB3A0"/>
                </a:solidFill>
                <a:latin typeface="Courier New" pitchFamily="34" charset="0"/>
                <a:ea typeface="Courier New" pitchFamily="34" charset="-122"/>
                <a:cs typeface="Courier New" pitchFamily="34" charset="-120"/>
              </a:rPr>
              <a:t># 40/256 of a cell per frame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BTN_LEFT,  0x01        </a:t>
            </a:r>
            <a:pPr indent="0" marL="0">
              <a:buNone/>
            </a:pPr>
            <a:r>
              <a:rPr lang="en-US" sz="1250" dirty="0">
                <a:solidFill>
                  <a:srgbClr val="8FB3A0"/>
                </a:solidFill>
                <a:latin typeface="Courier New" pitchFamily="34" charset="0"/>
                <a:ea typeface="Courier New" pitchFamily="34" charset="-122"/>
                <a:cs typeface="Courier New" pitchFamily="34" charset="-120"/>
              </a:rPr>
              <a:t># one bit per button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BTN_RIGHT, 0x02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BTN_UP,    0x04</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BTN_DOWN,  0x08</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DIR_RIGHT, 0           </a:t>
            </a:r>
            <a:pPr indent="0" marL="0">
              <a:buNone/>
            </a:pPr>
            <a:r>
              <a:rPr lang="en-US" sz="1250" dirty="0">
                <a:solidFill>
                  <a:srgbClr val="8FB3A0"/>
                </a:solidFill>
                <a:latin typeface="Courier New" pitchFamily="34" charset="0"/>
                <a:ea typeface="Courier New" pitchFamily="34" charset="-122"/>
                <a:cs typeface="Courier New" pitchFamily="34" charset="-120"/>
              </a:rPr>
              <a:t># a direction is a 2-bit code: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DIR_DOWN,  1           </a:t>
            </a:r>
            <a:pPr indent="0" marL="0">
              <a:buNone/>
            </a:pPr>
            <a:r>
              <a:rPr lang="en-US" sz="1250" dirty="0">
                <a:solidFill>
                  <a:srgbClr val="8FB3A0"/>
                </a:solidFill>
                <a:latin typeface="Courier New" pitchFamily="34" charset="0"/>
                <a:ea typeface="Courier New" pitchFamily="34" charset="-122"/>
                <a:cs typeface="Courier New" pitchFamily="34" charset="-120"/>
              </a:rPr>
              <a:t>#   bit 0 = vertical</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DIR_LEFT,  2           </a:t>
            </a:r>
            <a:pPr indent="0" marL="0">
              <a:buNone/>
            </a:pPr>
            <a:r>
              <a:rPr lang="en-US" sz="1250" dirty="0">
                <a:solidFill>
                  <a:srgbClr val="8FB3A0"/>
                </a:solidFill>
                <a:latin typeface="Courier New" pitchFamily="34" charset="0"/>
                <a:ea typeface="Courier New" pitchFamily="34" charset="-122"/>
                <a:cs typeface="Courier New" pitchFamily="34" charset="-120"/>
              </a:rPr>
              <a:t>#   bit 1 = backwards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.equ DIR_UP,    3</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.section .text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verm1_init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verm1_update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.global verm1_draw</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New colour: RED, for the food</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Each button is one bit of a word: a mask selects it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direction is a number from 0 to 3: two bits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codes are not arbitrary: see the lecture deck</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Data: two tables and five new variables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.section .rodata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title:   .asciz "VERM1"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dx:      .word  1, 0, -1,  0    </a:t>
            </a:r>
            <a:pPr indent="0" marL="0">
              <a:buNone/>
            </a:pPr>
            <a:r>
              <a:rPr lang="en-US" sz="1550" dirty="0">
                <a:solidFill>
                  <a:srgbClr val="8FB3A0"/>
                </a:solidFill>
                <a:latin typeface="Courier New" pitchFamily="34" charset="0"/>
                <a:ea typeface="Courier New" pitchFamily="34" charset="-122"/>
                <a:cs typeface="Courier New" pitchFamily="34" charset="-120"/>
              </a:rPr>
              <a:t># right, down, left, up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dy:      .word  0, 1,  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head_y:  .word 12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dir: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of the last step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want:    .word 0                </a:t>
            </a:r>
            <a:pPr indent="0" marL="0">
              <a:buNone/>
            </a:pPr>
            <a:r>
              <a:rPr lang="en-US" sz="1550" dirty="0">
                <a:solidFill>
                  <a:srgbClr val="8FB3A0"/>
                </a:solidFill>
                <a:latin typeface="Courier New" pitchFamily="34" charset="0"/>
                <a:ea typeface="Courier New" pitchFamily="34" charset="-122"/>
                <a:cs typeface="Courier New" pitchFamily="34" charset="-120"/>
              </a:rPr>
              <a:t># direction asked by the player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step_q8: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score:   .word 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food_x:  .word 20</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food_y:  .word 12</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dx and dy: four words each, one per direction</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They are constants, so they live in .rodata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dir is the direction of the last step, want the one asked for</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score, food_x, food_y: used in step 3</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from buttons to a wish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50" dirty="0">
                <a:solidFill>
                  <a:srgbClr val="E6EDF2"/>
                </a:solidFill>
                <a:latin typeface="Courier New" pitchFamily="34" charset="0"/>
                <a:ea typeface="Courier New" pitchFamily="34" charset="-122"/>
                <a:cs typeface="Courier New" pitchFamily="34" charset="-120"/>
              </a:rPr>
              <a:t>verm1_update:</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addi sp, sp, -16</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ra, 12(sp)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150" dirty="0">
                <a:solidFill>
                  <a:srgbClr val="8FB3A0"/>
                </a:solidFill>
                <a:latin typeface="Courier New" pitchFamily="34" charset="0"/>
                <a:ea typeface="Courier New" pitchFamily="34" charset="-122"/>
                <a:cs typeface="Courier New" pitchFamily="34" charset="-120"/>
              </a:rPr>
              <a:t># a0 = one bit per button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dir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t1, 0(t0)              </a:t>
            </a:r>
            <a:pPr indent="0" marL="0">
              <a:buNone/>
            </a:pPr>
            <a:r>
              <a:rPr lang="en-US" sz="1150" dirty="0">
                <a:solidFill>
                  <a:srgbClr val="8FB3A0"/>
                </a:solidFill>
                <a:latin typeface="Courier New" pitchFamily="34" charset="0"/>
                <a:ea typeface="Courier New" pitchFamily="34" charset="-122"/>
                <a:cs typeface="Courier New" pitchFamily="34" charset="-120"/>
              </a:rPr>
              <a:t># t1 = direction of the last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la   t0, want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lw   t2, 0(t0)              </a:t>
            </a:r>
            <a:pPr indent="0" marL="0">
              <a:buNone/>
            </a:pPr>
            <a:r>
              <a:rPr lang="en-US" sz="1150" dirty="0">
                <a:solidFill>
                  <a:srgbClr val="8FB3A0"/>
                </a:solidFill>
                <a:latin typeface="Courier New" pitchFamily="34" charset="0"/>
                <a:ea typeface="Courier New" pitchFamily="34" charset="-122"/>
                <a:cs typeface="Courier New" pitchFamily="34" charset="-120"/>
              </a:rPr>
              <a:t># t2 = wanted direction, so far</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andi t3, a0, BTN_RIGHT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1f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DIR_RIGHT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1:  andi t3, a0, BTN_DOWN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2f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DIR_DOWN</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2:  andi t3, a0, BTN_LEFT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3f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DIR_LEFT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3:  andi t3, a0, BTN_UP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beqz t3, 4f</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t2, DIR_UP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4:  xor  t3, t2, t1             </a:t>
            </a:r>
            <a:pPr indent="0" marL="0">
              <a:buNone/>
            </a:pPr>
            <a:r>
              <a:rPr lang="en-US" sz="1150" dirty="0">
                <a:solidFill>
                  <a:srgbClr val="8FB3A0"/>
                </a:solidFill>
                <a:latin typeface="Courier New" pitchFamily="34" charset="0"/>
                <a:ea typeface="Courier New" pitchFamily="34" charset="-122"/>
                <a:cs typeface="Courier New" pitchFamily="34" charset="-120"/>
              </a:rPr>
              <a:t># opposite directions differ in bit 1 only</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li   t4, 2</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beq  t3, t4, 5f             </a:t>
            </a:r>
            <a:pPr indent="0" marL="0">
              <a:buNone/>
            </a:pPr>
            <a:r>
              <a:rPr lang="en-US" sz="1150" dirty="0">
                <a:solidFill>
                  <a:srgbClr val="8FB3A0"/>
                </a:solidFill>
                <a:latin typeface="Courier New" pitchFamily="34" charset="0"/>
                <a:ea typeface="Courier New" pitchFamily="34" charset="-122"/>
                <a:cs typeface="Courier New" pitchFamily="34" charset="-120"/>
              </a:rPr>
              <a:t># a U-turn: ignore the request</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    sw   t2, 0(t0)              </a:t>
            </a:r>
            <a:pPr indent="0" marL="0">
              <a:buNone/>
            </a:pPr>
            <a:r>
              <a:rPr lang="en-US" sz="1150" dirty="0">
                <a:solidFill>
                  <a:srgbClr val="8FB3A0"/>
                </a:solidFill>
                <a:latin typeface="Courier New" pitchFamily="34" charset="0"/>
                <a:ea typeface="Courier New" pitchFamily="34" charset="-122"/>
                <a:cs typeface="Courier New" pitchFamily="34" charset="-120"/>
              </a:rPr>
              <a:t># remember it for the next step</a:t>
            </a:r>
            <a:endParaRPr lang="en-US" sz="1150" dirty="0"/>
          </a:p>
          <a:p>
            <a:pPr indent="0" marL="0">
              <a:buNone/>
            </a:pPr>
            <a:r>
              <a:rPr lang="en-US" sz="1150" dirty="0">
                <a:solidFill>
                  <a:srgbClr val="E6EDF2"/>
                </a:solidFill>
                <a:latin typeface="Courier New" pitchFamily="34" charset="0"/>
                <a:ea typeface="Courier New" pitchFamily="34" charset="-122"/>
                <a:cs typeface="Courier New" pitchFamily="34" charset="-120"/>
              </a:rPr>
              <a:t>5:</a:t>
            </a:r>
            <a:endParaRPr lang="en-US" sz="11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andi keeps one bit: zero means not pressed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Each pressed button overwrites the wish in t2</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xor of wish and direction: 2 means opposite</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U-turn is not stored: the old wish survives</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update: the timer calls step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step_q8</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SPEED_Q8       </a:t>
            </a:r>
            <a:pPr indent="0" marL="0">
              <a:buNone/>
            </a:pPr>
            <a:r>
              <a:rPr lang="en-US" sz="1500" dirty="0">
                <a:solidFill>
                  <a:srgbClr val="8FB3A0"/>
                </a:solidFill>
                <a:latin typeface="Courier New" pitchFamily="34" charset="0"/>
                <a:ea typeface="Courier New" pitchFamily="34" charset="-122"/>
                <a:cs typeface="Courier New" pitchFamily="34" charset="-120"/>
              </a:rPr>
              <a:t># add a fraction of a cell</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t2,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blt  t1, t2, 6f             </a:t>
            </a:r>
            <a:pPr indent="0" marL="0">
              <a:buNone/>
            </a:pPr>
            <a:r>
              <a:rPr lang="en-US" sz="1500" dirty="0">
                <a:solidFill>
                  <a:srgbClr val="8FB3A0"/>
                </a:solidFill>
                <a:latin typeface="Courier New" pitchFamily="34" charset="0"/>
                <a:ea typeface="Courier New" pitchFamily="34" charset="-122"/>
                <a:cs typeface="Courier New" pitchFamily="34" charset="-120"/>
              </a:rPr>
              <a:t># less than one whole cell: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step                   </a:t>
            </a:r>
            <a:pPr indent="0" marL="0">
              <a:buNone/>
            </a:pPr>
            <a:r>
              <a:rPr lang="en-US" sz="1500" dirty="0">
                <a:solidFill>
                  <a:srgbClr val="8FB3A0"/>
                </a:solidFill>
                <a:latin typeface="Courier New" pitchFamily="34" charset="0"/>
                <a:ea typeface="Courier New" pitchFamily="34" charset="-122"/>
                <a:cs typeface="Courier New" pitchFamily="34" charset="-120"/>
              </a:rPr>
              <a:t># one whole cell: move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j    7f</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6:  sw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7:  lw   ra, 12(sp)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fixed-point timer of Part 1, unchanged</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Moving is now a function of its own: step</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Labels 6 and 7: numbers 1 to 5 are used above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look the movement up</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step: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want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dir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0(t0)              </a:t>
            </a:r>
            <a:pPr indent="0" marL="0">
              <a:buNone/>
            </a:pPr>
            <a:r>
              <a:rPr lang="en-US" sz="1300" dirty="0">
                <a:solidFill>
                  <a:srgbClr val="8FB3A0"/>
                </a:solidFill>
                <a:latin typeface="Courier New" pitchFamily="34" charset="0"/>
                <a:ea typeface="Courier New" pitchFamily="34" charset="-122"/>
                <a:cs typeface="Courier New" pitchFamily="34" charset="-120"/>
              </a:rPr>
              <a:t># the wanted direction is now the direction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slli t1, t1, 2              </a:t>
            </a:r>
            <a:pPr indent="0" marL="0">
              <a:buNone/>
            </a:pPr>
            <a:r>
              <a:rPr lang="en-US" sz="1300" dirty="0">
                <a:solidFill>
                  <a:srgbClr val="8FB3A0"/>
                </a:solidFill>
                <a:latin typeface="Courier New" pitchFamily="34" charset="0"/>
                <a:ea typeface="Courier New" pitchFamily="34" charset="-122"/>
                <a:cs typeface="Courier New" pitchFamily="34" charset="-120"/>
              </a:rPr>
              <a:t># table offset = direction * 4 bytes</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t2, 0(t0)              </a:t>
            </a:r>
            <a:pPr indent="0" marL="0">
              <a:buNone/>
            </a:pPr>
            <a:r>
              <a:rPr lang="en-US" sz="1300" dirty="0">
                <a:solidFill>
                  <a:srgbClr val="8FB3A0"/>
                </a:solidFill>
                <a:latin typeface="Courier New" pitchFamily="34" charset="0"/>
                <a:ea typeface="Courier New" pitchFamily="34" charset="-122"/>
                <a:cs typeface="Courier New" pitchFamily="34" charset="-120"/>
              </a:rPr>
              <a:t># t2 = dx[direction]: -1, 0 or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dy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  t0, t0, t1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t3, 0(t0)              </a:t>
            </a:r>
            <a:pPr indent="0" marL="0">
              <a:buNone/>
            </a:pPr>
            <a:r>
              <a:rPr lang="en-US" sz="1300" dirty="0">
                <a:solidFill>
                  <a:srgbClr val="8FB3A0"/>
                </a:solidFill>
                <a:latin typeface="Courier New" pitchFamily="34" charset="0"/>
                <a:ea typeface="Courier New" pitchFamily="34" charset="-122"/>
                <a:cs typeface="Courier New" pitchFamily="34" charset="-120"/>
              </a:rPr>
              <a:t># t3 = dy[direction]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wish becomes the direction, once per step</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 word is 4 bytes: offset = code shifted left by 2</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address of table + offset: the word to load</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No branch: the code selects, like a multiplexer</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step: move and wrap, both ways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    la   t0, head_x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t4,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t4, t4, t2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t4, 1f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COLS-1             </a:t>
            </a:r>
            <a:pPr indent="0" marL="0">
              <a:buNone/>
            </a:pPr>
            <a:r>
              <a:rPr lang="en-US" sz="1600" dirty="0">
                <a:solidFill>
                  <a:srgbClr val="8FB3A0"/>
                </a:solidFill>
                <a:latin typeface="Courier New" pitchFamily="34" charset="0"/>
                <a:ea typeface="Courier New" pitchFamily="34" charset="-122"/>
                <a:cs typeface="Courier New" pitchFamily="34" charset="-120"/>
              </a:rPr>
              <a:t># off the left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1:  li   t5, COLS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t4, t5, 2f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t4, 0                  </a:t>
            </a:r>
            <a:pPr indent="0" marL="0">
              <a:buNone/>
            </a:pPr>
            <a:r>
              <a:rPr lang="en-US" sz="1600" dirty="0">
                <a:solidFill>
                  <a:srgbClr val="8FB3A0"/>
                </a:solidFill>
                <a:latin typeface="Courier New" pitchFamily="34" charset="0"/>
                <a:ea typeface="Courier New" pitchFamily="34" charset="-122"/>
                <a:cs typeface="Courier New" pitchFamily="34" charset="-120"/>
              </a:rPr>
              <a:t># off the right edge: wrap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2:  sw   t4, 0(t0)              </a:t>
            </a:r>
            <a:pPr indent="0" marL="0">
              <a:buNone/>
            </a:pPr>
            <a:r>
              <a:rPr lang="en-US" sz="1600" dirty="0">
                <a:solidFill>
                  <a:srgbClr val="8FB3A0"/>
                </a:solidFill>
                <a:latin typeface="Courier New" pitchFamily="34" charset="0"/>
                <a:ea typeface="Courier New" pitchFamily="34" charset="-122"/>
                <a:cs typeface="Courier New" pitchFamily="34" charset="-120"/>
              </a:rPr>
              <a:t># t4 = new column</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la   t0, head_y</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t6,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  t6, t6, t3</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bgez t6, 3f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ROWS-1</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3:  li   t5, ROWS</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blt  t6, t5, 4f</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t6,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4:  sw   t6, 0(t0)              </a:t>
            </a:r>
            <a:pPr indent="0" marL="0">
              <a:buNone/>
            </a:pPr>
            <a:r>
              <a:rPr lang="en-US" sz="1600" dirty="0">
                <a:solidFill>
                  <a:srgbClr val="8FB3A0"/>
                </a:solidFill>
                <a:latin typeface="Courier New" pitchFamily="34" charset="0"/>
                <a:ea typeface="Courier New" pitchFamily="34" charset="-122"/>
                <a:cs typeface="Courier New" pitchFamily="34" charset="-120"/>
              </a:rPr>
              <a:t># t6 = new row</a:t>
            </a:r>
            <a:endParaRPr lang="en-US" sz="16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Add dx: the column can now go below 0</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bgez tests the sign: negative means off the left</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same for the row, with ROWS</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t4 and t6 keep the new cell for the next slide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For now: close the function</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temporary end of step: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Step 3 will replace these three lines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Type these three lines after the wrap</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They restore ra and return: step is complete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Step 3 puts the food test before them</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you are driving</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and run: the head still starts to the right, from column 5 of row 12</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Hold DOWN: the head turns at its next step and goes down, wrapping from row 23 to row 0</a:t>
            </a:r>
            <a:endParaRPr lang="en-US" sz="2400" dirty="0"/>
          </a:p>
        </p:txBody>
      </p:sp>
      <p:sp>
        <p:nvSpPr>
          <p:cNvPr id="8" name="Text 6"/>
          <p:cNvSpPr txBox="1"/>
          <p:nvPr/>
        </p:nvSpPr>
        <p:spPr>
          <a:xfrm>
            <a:off x="548640" y="3459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4411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While it goes right, hold LEFT: nothing happens. The U-turn is refused</a:t>
            </a:r>
            <a:endParaRPr lang="en-US" sz="2400" dirty="0"/>
          </a:p>
        </p:txBody>
      </p:sp>
      <p:sp>
        <p:nvSpPr>
          <p:cNvPr id="10" name="Text 8"/>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Hold DOWN and then LEFT: two turns, and now the head goes left</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Holding DOWN from the start for 64 frames brings the head to column 5, row 22: ten steps, all downwards.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init: a complete start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verm1_init: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5</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head_y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t1, 12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dir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            </a:t>
            </a:r>
            <a:pPr indent="0" marL="0">
              <a:buNone/>
            </a:pPr>
            <a:r>
              <a:rPr lang="en-US" sz="1350" dirty="0">
                <a:solidFill>
                  <a:srgbClr val="8FB3A0"/>
                </a:solidFill>
                <a:latin typeface="Courier New" pitchFamily="34" charset="0"/>
                <a:ea typeface="Courier New" pitchFamily="34" charset="-122"/>
                <a:cs typeface="Courier New" pitchFamily="34" charset="-120"/>
              </a:rPr>
              <a:t># moving right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want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step_q8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score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zero,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place_food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Every variable gets its starting value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init now calls a function: it needs a stack frame</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first food is placed here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place_food: a random cell</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place_food:</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COLS-1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column, 0 .. 39</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food_x</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a0, 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li   a1, ROWS-1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call prg32_random_number    </a:t>
            </a:r>
            <a:pPr indent="0" marL="0">
              <a:buNone/>
            </a:pPr>
            <a:r>
              <a:rPr lang="en-US" sz="1750" dirty="0">
                <a:solidFill>
                  <a:srgbClr val="8FB3A0"/>
                </a:solidFill>
                <a:latin typeface="Courier New" pitchFamily="34" charset="0"/>
                <a:ea typeface="Courier New" pitchFamily="34" charset="-122"/>
                <a:cs typeface="Courier New" pitchFamily="34" charset="-120"/>
              </a:rPr>
              <a:t># a0 = a row, 0 .. 23</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la   t0, food_y</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sw   a0,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lw   ra, 12(sp)</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addi sp, sp, 16</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ret</a:t>
            </a:r>
            <a:endParaRPr lang="en-US" sz="17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prg32_random_number(min, max): both included</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Arguments in a0 and a1, result in a0</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A column from 0 to 39, a row from 0 to 23</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food may fall on the head: Part 3 fixes it</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step: is the head on the food?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    la   t0, food_x</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t1, t1, t4             </a:t>
            </a:r>
            <a:pPr indent="0" marL="0">
              <a:buNone/>
            </a:pPr>
            <a:r>
              <a:rPr lang="en-US" sz="1650" dirty="0">
                <a:solidFill>
                  <a:srgbClr val="8FB3A0"/>
                </a:solidFill>
                <a:latin typeface="Courier New" pitchFamily="34" charset="0"/>
                <a:ea typeface="Courier New" pitchFamily="34" charset="-122"/>
                <a:cs typeface="Courier New" pitchFamily="34" charset="-120"/>
              </a:rPr>
              <a:t># 0 if same column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food_y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xor  t2, t2, t6             </a:t>
            </a:r>
            <a:pPr indent="0" marL="0">
              <a:buNone/>
            </a:pPr>
            <a:r>
              <a:rPr lang="en-US" sz="1650" dirty="0">
                <a:solidFill>
                  <a:srgbClr val="8FB3A0"/>
                </a:solidFill>
                <a:latin typeface="Courier New" pitchFamily="34" charset="0"/>
                <a:ea typeface="Courier New" pitchFamily="34" charset="-122"/>
                <a:cs typeface="Courier New" pitchFamily="34" charset="-120"/>
              </a:rPr>
              <a:t># 0 if same row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or   t1, t1, t2             </a:t>
            </a:r>
            <a:pPr indent="0" marL="0">
              <a:buNone/>
            </a:pPr>
            <a:r>
              <a:rPr lang="en-US" sz="1650" dirty="0">
                <a:solidFill>
                  <a:srgbClr val="8FB3A0"/>
                </a:solidFill>
                <a:latin typeface="Courier New" pitchFamily="34" charset="0"/>
                <a:ea typeface="Courier New" pitchFamily="34" charset="-122"/>
                <a:cs typeface="Courier New" pitchFamily="34" charset="-120"/>
              </a:rPr>
              <a:t># 0 only if both are equal</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5f                 </a:t>
            </a:r>
            <a:pPr indent="0" marL="0">
              <a:buNone/>
            </a:pPr>
            <a:r>
              <a:rPr lang="en-US" sz="1650" dirty="0">
                <a:solidFill>
                  <a:srgbClr val="8FB3A0"/>
                </a:solidFill>
                <a:latin typeface="Courier New" pitchFamily="34" charset="0"/>
                <a:ea typeface="Courier New" pitchFamily="34" charset="-122"/>
                <a:cs typeface="Courier New" pitchFamily="34" charset="-120"/>
              </a:rPr>
              <a:t># not on the 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score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t1,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place_food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eat_sound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5:  lw   ra, 12(sp)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sp, sp, 16</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Replace the temporary ending with this</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xor is 0 when two numbers are equal</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or of the two results: 0 only if both are equal</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Eating: one more point, new food, a sound</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eat_sound: one note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eat_sound: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a0, 0                  </a:t>
            </a:r>
            <a:pPr indent="0" marL="0">
              <a:buNone/>
            </a:pPr>
            <a:r>
              <a:rPr lang="en-US" sz="1800" dirty="0">
                <a:solidFill>
                  <a:srgbClr val="8FB3A0"/>
                </a:solidFill>
                <a:latin typeface="Courier New" pitchFamily="34" charset="0"/>
                <a:ea typeface="Courier New" pitchFamily="34" charset="-122"/>
                <a:cs typeface="Courier New" pitchFamily="34" charset="-120"/>
              </a:rPr>
              <a:t># channel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a1, 0                  </a:t>
            </a:r>
            <a:pPr indent="0" marL="0">
              <a:buNone/>
            </a:pPr>
            <a:r>
              <a:rPr lang="en-US" sz="1800" dirty="0">
                <a:solidFill>
                  <a:srgbClr val="8FB3A0"/>
                </a:solidFill>
                <a:latin typeface="Courier New" pitchFamily="34" charset="0"/>
                <a:ea typeface="Courier New" pitchFamily="34" charset="-122"/>
                <a:cs typeface="Courier New" pitchFamily="34" charset="-120"/>
              </a:rPr>
              <a:t># instrument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72                 </a:t>
            </a:r>
            <a:pPr indent="0" marL="0">
              <a:buNone/>
            </a:pPr>
            <a:r>
              <a:rPr lang="en-US" sz="1800" dirty="0">
                <a:solidFill>
                  <a:srgbClr val="8FB3A0"/>
                </a:solidFill>
                <a:latin typeface="Courier New" pitchFamily="34" charset="0"/>
                <a:ea typeface="Courier New" pitchFamily="34" charset="-122"/>
                <a:cs typeface="Courier New" pitchFamily="34" charset="-120"/>
              </a:rPr>
              <a:t># note: C5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255                </a:t>
            </a:r>
            <a:pPr indent="0" marL="0">
              <a:buNone/>
            </a:pPr>
            <a:r>
              <a:rPr lang="en-US" sz="1800" dirty="0">
                <a:solidFill>
                  <a:srgbClr val="8FB3A0"/>
                </a:solidFill>
                <a:latin typeface="Courier New" pitchFamily="34" charset="0"/>
                <a:ea typeface="Courier New" pitchFamily="34" charset="-122"/>
                <a:cs typeface="Courier New" pitchFamily="34" charset="-120"/>
              </a:rPr>
              <a:t># volume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a4, 60                 </a:t>
            </a:r>
            <a:pPr indent="0" marL="0">
              <a:buNone/>
            </a:pPr>
            <a:r>
              <a:rPr lang="en-US" sz="1800" dirty="0">
                <a:solidFill>
                  <a:srgbClr val="8FB3A0"/>
                </a:solidFill>
                <a:latin typeface="Courier New" pitchFamily="34" charset="0"/>
                <a:ea typeface="Courier New" pitchFamily="34" charset="-122"/>
                <a:cs typeface="Courier New" pitchFamily="34" charset="-120"/>
              </a:rPr>
              <a:t># milliseconds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prg32_audio_note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Five arguments, a0 to a4, then the call</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Note 72 is C5 in MIDI numbering</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Sound comes last: the game worked without it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the score as marks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100" dirty="0">
                <a:solidFill>
                  <a:srgbClr val="E6EDF2"/>
                </a:solidFill>
                <a:latin typeface="Courier New" pitchFamily="34" charset="0"/>
                <a:ea typeface="Courier New" pitchFamily="34" charset="-122"/>
                <a:cs typeface="Courier New" pitchFamily="34" charset="-120"/>
              </a:rPr>
              <a:t>verm1_draw:</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sp, sp, -16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ra, 12(sp)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sw   s0, 8(sp)</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prg32_gfx_clear</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a0,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la   a2, title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BLACK</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prg32_gfx_text8</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s0, 0                  </a:t>
            </a:r>
            <a:pPr indent="0" marL="0">
              <a:buNone/>
            </a:pPr>
            <a:r>
              <a:rPr lang="en-US" sz="1100" dirty="0">
                <a:solidFill>
                  <a:srgbClr val="8FB3A0"/>
                </a:solidFill>
                <a:latin typeface="Courier New" pitchFamily="34" charset="0"/>
                <a:ea typeface="Courier New" pitchFamily="34" charset="-122"/>
                <a:cs typeface="Courier New" pitchFamily="34" charset="-120"/>
              </a:rPr>
              <a:t># s0 = i: one mark per point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1:  la   t0, score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lw   t1, 0(t0)</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bge  s0, t1, 2f</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slli a0, s0, 2</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a0, a0, 56             </a:t>
            </a:r>
            <a:pPr indent="0" marL="0">
              <a:buNone/>
            </a:pPr>
            <a:r>
              <a:rPr lang="en-US" sz="1100" dirty="0">
                <a:solidFill>
                  <a:srgbClr val="8FB3A0"/>
                </a:solidFill>
                <a:latin typeface="Courier New" pitchFamily="34" charset="0"/>
                <a:ea typeface="Courier New" pitchFamily="34" charset="-122"/>
                <a:cs typeface="Courier New" pitchFamily="34" charset="-120"/>
              </a:rPr>
              <a:t># x = 56 + 4 * i</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a1,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a2, 3</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a3, 6</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li   a4, WHITE</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call prg32_gfx_rect</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addi s0, s0, 1</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    j    1b</a:t>
            </a:r>
            <a:endParaRPr lang="en-US" sz="1100" dirty="0"/>
          </a:p>
          <a:p>
            <a:pPr indent="0" marL="0">
              <a:buNone/>
            </a:pPr>
            <a:r>
              <a:rPr lang="en-US" sz="1100" dirty="0">
                <a:solidFill>
                  <a:srgbClr val="E6EDF2"/>
                </a:solidFill>
                <a:latin typeface="Courier New" pitchFamily="34" charset="0"/>
                <a:ea typeface="Courier New" pitchFamily="34" charset="-122"/>
                <a:cs typeface="Courier New" pitchFamily="34" charset="-120"/>
              </a:rPr>
              <a:t>2:</a:t>
            </a:r>
            <a:endParaRPr lang="en-US" sz="11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s0 counts the marks: it must survive the calls</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So s0 is saved in the frame, with ra</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One small rectangle per point, 4 pixels apart</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loop ends when s0 reaches the score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CHANGED  draw: food and head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food_x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food_y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RED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a0,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head_y</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a1,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a2, GREEN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draw_cell</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same three lines twice: column, row, colour</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draw_cell does the conversion to pixels</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head is drawn last: it covers the food</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NEW  draw_cell: from cells to pixels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draw_cell:                      </a:t>
            </a:r>
            <a:pPr indent="0" marL="0">
              <a:buNone/>
            </a:pPr>
            <a:r>
              <a:rPr lang="en-US" sz="1450" dirty="0">
                <a:solidFill>
                  <a:srgbClr val="8FB3A0"/>
                </a:solidFill>
                <a:latin typeface="Courier New" pitchFamily="34" charset="0"/>
                <a:ea typeface="Courier New" pitchFamily="34" charset="-122"/>
                <a:cs typeface="Courier New" pitchFamily="34" charset="-120"/>
              </a:rPr>
              <a:t># a0 = column, a1 = row, a2 = colour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a0, a0, 3              </a:t>
            </a:r>
            <a:pPr indent="0" marL="0">
              <a:buNone/>
            </a:pPr>
            <a:r>
              <a:rPr lang="en-US" sz="1450" dirty="0">
                <a:solidFill>
                  <a:srgbClr val="8FB3A0"/>
                </a:solidFill>
                <a:latin typeface="Courier New" pitchFamily="34" charset="0"/>
                <a:ea typeface="Courier New" pitchFamily="34" charset="-122"/>
                <a:cs typeface="Courier New" pitchFamily="34" charset="-120"/>
              </a:rPr>
              <a:t># x = column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slli a1, a1, 3</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a1, a1, TOP            </a:t>
            </a:r>
            <a:pPr indent="0" marL="0">
              <a:buNone/>
            </a:pPr>
            <a:r>
              <a:rPr lang="en-US" sz="1450" dirty="0">
                <a:solidFill>
                  <a:srgbClr val="8FB3A0"/>
                </a:solidFill>
                <a:latin typeface="Courier New" pitchFamily="34" charset="0"/>
                <a:ea typeface="Courier New" pitchFamily="34" charset="-122"/>
                <a:cs typeface="Courier New" pitchFamily="34" charset="-120"/>
              </a:rPr>
              <a:t># y = row * 8 + 8</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mv   a4, a2                 </a:t>
            </a:r>
            <a:pPr indent="0" marL="0">
              <a:buNone/>
            </a:pPr>
            <a:r>
              <a:rPr lang="en-US" sz="1450" dirty="0">
                <a:solidFill>
                  <a:srgbClr val="8FB3A0"/>
                </a:solidFill>
                <a:latin typeface="Courier New" pitchFamily="34" charset="0"/>
                <a:ea typeface="Courier New" pitchFamily="34" charset="-122"/>
                <a:cs typeface="Courier New" pitchFamily="34" charset="-120"/>
              </a:rPr>
              <a:t># the colour is the fifth argument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a2,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CELL</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ra, 12(sp)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addi sp, sp, 16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ret</a:t>
            </a:r>
            <a:endParaRPr lang="en-US" sz="1450" dirty="0"/>
          </a:p>
        </p:txBody>
      </p:sp>
      <p:sp>
        <p:nvSpPr>
          <p:cNvPr id="5" name="Shape 3"/>
          <p:cNvSpPr/>
          <p:nvPr/>
        </p:nvSpPr>
        <p:spPr>
          <a:xfrm>
            <a:off x="8961120" y="1417320"/>
            <a:ext cx="2681935" cy="1450848"/>
          </a:xfrm>
          <a:prstGeom prst="roundRect">
            <a:avLst>
              <a:gd name="adj" fmla="val 5042"/>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arithmetic of Part 1, written once</a:t>
            </a:r>
            <a:endParaRPr lang="en-US" sz="1700" dirty="0"/>
          </a:p>
        </p:txBody>
      </p:sp>
      <p:sp>
        <p:nvSpPr>
          <p:cNvPr id="8" name="Shape 6"/>
          <p:cNvSpPr/>
          <p:nvPr/>
        </p:nvSpPr>
        <p:spPr>
          <a:xfrm>
            <a:off x="8961120" y="3069336"/>
            <a:ext cx="2681935" cy="1450848"/>
          </a:xfrm>
          <a:prstGeom prst="roundRect">
            <a:avLst>
              <a:gd name="adj" fmla="val 5042"/>
            </a:avLst>
          </a:prstGeom>
          <a:solidFill>
            <a:srgbClr val="EEF2F4"/>
          </a:solidFill>
          <a:ln w="12700">
            <a:solidFill>
              <a:srgbClr val="EEF2F4"/>
            </a:solidFill>
            <a:prstDash val="solid"/>
          </a:ln>
        </p:spPr>
      </p:sp>
      <p:sp>
        <p:nvSpPr>
          <p:cNvPr id="9" name="Text 7"/>
          <p:cNvSpPr txBox="1"/>
          <p:nvPr/>
        </p:nvSpPr>
        <p:spPr>
          <a:xfrm>
            <a:off x="9125712" y="323392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3206496"/>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colour arrives in a2 and must leave in a4</a:t>
            </a:r>
            <a:endParaRPr lang="en-US" sz="1700" dirty="0"/>
          </a:p>
        </p:txBody>
      </p:sp>
      <p:sp>
        <p:nvSpPr>
          <p:cNvPr id="11" name="Shape 9"/>
          <p:cNvSpPr/>
          <p:nvPr/>
        </p:nvSpPr>
        <p:spPr>
          <a:xfrm>
            <a:off x="8961120" y="4721352"/>
            <a:ext cx="2681935" cy="1450848"/>
          </a:xfrm>
          <a:prstGeom prst="roundRect">
            <a:avLst>
              <a:gd name="adj" fmla="val 5042"/>
            </a:avLst>
          </a:prstGeom>
          <a:solidFill>
            <a:srgbClr val="EEF2F4"/>
          </a:solidFill>
          <a:ln w="12700">
            <a:solidFill>
              <a:srgbClr val="EEF2F4"/>
            </a:solidFill>
            <a:prstDash val="solid"/>
          </a:ln>
        </p:spPr>
      </p:sp>
      <p:sp>
        <p:nvSpPr>
          <p:cNvPr id="12" name="Text 10"/>
          <p:cNvSpPr txBox="1"/>
          <p:nvPr/>
        </p:nvSpPr>
        <p:spPr>
          <a:xfrm>
            <a:off x="9125712" y="488594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858512"/>
            <a:ext cx="1813255" cy="1176528"/>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Move it first: a2 is about to be overwritten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Verm1, Part 2</a:t>
            </a:r>
            <a:endParaRPr lang="en-US" sz="3200" dirty="0"/>
          </a:p>
        </p:txBody>
      </p:sp>
      <p:sp>
        <p:nvSpPr>
          <p:cNvPr id="3" name="Shape 1"/>
          <p:cNvSpPr/>
          <p:nvPr/>
        </p:nvSpPr>
        <p:spPr>
          <a:xfrm>
            <a:off x="548640" y="1417320"/>
            <a:ext cx="11094415" cy="3931920"/>
          </a:xfrm>
          <a:prstGeom prst="roundRect">
            <a:avLst>
              <a:gd name="adj" fmla="val 1860"/>
            </a:avLst>
          </a:prstGeom>
          <a:solidFill>
            <a:srgbClr val="EEF2F4"/>
          </a:solidFill>
          <a:ln w="12700">
            <a:solidFill>
              <a:srgbClr val="EEF2F4"/>
            </a:solidFill>
            <a:prstDash val="solid"/>
          </a:ln>
        </p:spPr>
      </p:sp>
      <p:pic>
        <p:nvPicPr>
          <p:cNvPr id="4" name="Image 0" descr="/Users/raffaelemontella/devel/riscv-prg32/computer-architecture-with-prg32/tools/assets/verm1_p2.png">    </p:cNvPr>
          <p:cNvPicPr>
            <a:picLocks noChangeAspect="1"/>
          </p:cNvPicPr>
          <p:nvPr/>
        </p:nvPicPr>
        <p:blipFill>
          <a:blip r:embed="rId1"/>
          <a:stretch>
            <a:fillRect/>
          </a:stretch>
        </p:blipFill>
        <p:spPr>
          <a:xfrm>
            <a:off x="3645256" y="1554480"/>
            <a:ext cx="4901184" cy="3063240"/>
          </a:xfrm>
          <a:prstGeom prst="rect">
            <a:avLst/>
          </a:prstGeom>
        </p:spPr>
      </p:pic>
      <p:sp>
        <p:nvSpPr>
          <p:cNvPr id="5" name="Text 2"/>
          <p:cNvSpPr txBox="1"/>
          <p:nvPr/>
        </p:nvSpPr>
        <p:spPr>
          <a:xfrm>
            <a:off x="685800" y="4663440"/>
            <a:ext cx="10820095"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The head, the food, and two marks after the title: two points</a:t>
            </a:r>
            <a:endParaRPr lang="en-US" sz="1500" dirty="0"/>
          </a:p>
        </p:txBody>
      </p:sp>
      <p:sp>
        <p:nvSpPr>
          <p:cNvPr id="6" name="Text 3"/>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Expected: a red cell somewhere; steer the head onto it; a note sounds, a mark appears next to VERM1, the food moves.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head that you steer, a red cell of food that moves when it is eaten, a note, and one mark per point next to VERM1.</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steer with the joystick; a U-turn is refused</a:t>
            </a:r>
            <a:endParaRPr lang="en-US" sz="2400" dirty="0"/>
          </a:p>
        </p:txBody>
      </p:sp>
      <p:pic>
        <p:nvPicPr>
          <p:cNvPr id="7" name="Image 0" descr="/Users/raffaelemontella/devel/riscv-prg32/computer-architecture-with-prg32/tools/assets/verm1_p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verm1 --out verm1.prg32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verm1-qemu.prg32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verm1 --name verm1 --architecture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verm1-esp32c6.prg32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verm1-esp32c6.prg32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Make it yours</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Make button A a brake: while it is held, the timer does not advance</a:t>
            </a:r>
            <a:endParaRPr lang="en-US" sz="2400" dirty="0"/>
          </a:p>
        </p:txBody>
      </p:sp>
      <p:sp>
        <p:nvSpPr>
          <p:cNvPr id="6" name="Text 4"/>
          <p:cNvSpPr txBox="1"/>
          <p:nvPr/>
        </p:nvSpPr>
        <p:spPr>
          <a:xfrm>
            <a:off x="548640" y="22443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2260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Give two points for a piece of food eaten in the top row</a:t>
            </a:r>
            <a:endParaRPr lang="en-US" sz="2400" dirty="0"/>
          </a:p>
        </p:txBody>
      </p:sp>
      <p:sp>
        <p:nvSpPr>
          <p:cNvPr id="8" name="Text 6"/>
          <p:cNvSpPr txBox="1"/>
          <p:nvPr/>
        </p:nvSpPr>
        <p:spPr>
          <a:xfrm>
            <a:off x="548640" y="30530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0347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the head in a different colour for each direction, using a third table of four colours</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Change the encoding so that RIGHT = 0, LEFT = 1, DOWN = 2, UP = 3: what does the U-turn rule become?</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Each change is a few lines. Keep a copy of the working Part 2 before you experiment: Part 3 starts from it.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2: Steering, Food and a Score: the code</dc:title>
  <dc:subject>Lecture 12</dc:subject>
  <dc:creator>Raffaele Montella</dc:creator>
  <cp:lastModifiedBy>Raffaele Montella</cp:lastModifiedBy>
  <cp:revision>1</cp:revision>
  <dcterms:created xsi:type="dcterms:W3CDTF">2026-10-13T10:41:31Z</dcterms:created>
  <dcterms:modified xsi:type="dcterms:W3CDTF">2026-10-13T10:41:31Z</dcterms:modified>
</cp:coreProperties>
</file>