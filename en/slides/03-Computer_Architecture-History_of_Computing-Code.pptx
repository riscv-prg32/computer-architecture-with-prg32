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958794-c737-d12c-c83c-faaa1c340be0}">
          <p14:sldIdLst>
            <p14:sldId id="256"/>
            <p14:sldId id="257"/>
          </p14:sldIdLst>
        </p14:section>
        <p14:section name="The complete program" id="{04a4b777-93d6-38b1-c154-e245ee3352d7}">
          <p14:sldIdLst>
            <p14:sldId id="258"/>
            <p14:sldId id="259"/>
            <p14:sldId id="260"/>
            <p14:sldId id="261"/>
            <p14:sldId id="262"/>
          </p14:sldIdLst>
        </p14:section>
        <p14:section name="Run it and test it" id="{21d21883-32c3-e708-df4e-bbb477bb8d51}">
          <p14:sldIdLst>
            <p14:sldId id="263"/>
            <p14:sldId id="264"/>
            <p14:sldId id="265"/>
            <p14:sldId id="266"/>
            <p14:sldId id="267"/>
          </p14:sldIdLst>
        </p14:section>
        <p14:section name="Exercises" id="{164067d1-bba8-c0c8-5dd8-6395dff19a2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03.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what informatics is; the von Neumann architecture; RISC and an open ISA. USE NOW: the complete program, the PRG32 tools (used, not studied, in this course). UNDERSTAND LATER: Boolean algebra (Lecture 08).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~/arc12/code/l03.S; tools/tests/cartridges/run.py builds it, runs it on PRG32-QT with scripted input and checks the pixels of the frame.
For the lecturer: Get the code once: git clone https://github.com/riscv-prg32/computer-architecture-with-prg32 ~/arc12. The program of this lecture is ~/arc12/code/l03.S;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exercises. The first asks you to draw the four units and to place in each something from the program of Lecture 02: it checks that the architecture is not an abstract diagram for you. The second asks you to classify six inventions as ways of representing information or of prescribing operations; the stored program is the interesting case, because it unifies the two. The third is on the machine: use the counters of the debugger to compare how many instructions two games execute per frame.
For the lecturer: Representing: abacus, Pascaline (digits as wheel positions), Boole's algebra. Prescribing: the Jacquard loom, the cards of the Analytical Engine, the stored program, which unifies the two: a program is itself represented information. The third exercise has no fixed answer: the counters depend on the game and on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03: History of computing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History of Computing: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03-Computer_Architecture-History_of_Computing.pptx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spaceinvaders.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 listing in Lecture 03: this deck gives you the program to run</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code/l03.S, 94 lines, printed in full</a:t>
            </a:r>
            <a:endParaRPr lang="en-US" sz="2200" dirty="0"/>
          </a:p>
        </p:txBody>
      </p:sp>
      <p:sp>
        <p:nvSpPr>
          <p:cNvPr id="7" name="Text 5"/>
          <p:cNvSpPr txBox="1"/>
          <p:nvPr/>
        </p:nvSpPr>
        <p:spPr>
          <a:xfrm>
            <a:off x="548640" y="3410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924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3068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2885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2029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1846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(1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03: History of Computing</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l03.S: the stored program: a program that reads one of its own instructions as data</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a row of 32 lamps showing 0x00130313, the machine code of addi t1,</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t1, 1, and a green square: the word read is the one expected.</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l03.S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l03 --name l03 --out l03.prg32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GREEN,  0x07e0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RED,    0xf800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l03_init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l03_update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l03_draw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l03_init: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(2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l03_update:</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ret</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One instruction of the program.  For von Neumann's machine it is a number in</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the same memory as the data: the program can load it like any other word.</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.option push</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.option norvc                </a:t>
            </a:r>
            <a:pPr indent="0" marL="0">
              <a:buNone/>
            </a:pPr>
            <a:r>
              <a:rPr lang="en-US" sz="1750" dirty="0">
                <a:solidFill>
                  <a:srgbClr val="8FB3A0"/>
                </a:solidFill>
                <a:latin typeface="Courier New" pitchFamily="34" charset="0"/>
                <a:ea typeface="Courier New" pitchFamily="34" charset="-122"/>
                <a:cs typeface="Courier New" pitchFamily="34" charset="-120"/>
              </a:rPr>
              <a:t># keep it 32 bits long: no compressed form</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specimen:</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t1, t1, 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.option pop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ret</a:t>
            </a:r>
            <a:endParaRPr lang="en-US" sz="17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(3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l03_draw: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specimen        </a:t>
            </a:r>
            <a:pPr indent="0" marL="0">
              <a:buNone/>
            </a:pPr>
            <a:r>
              <a:rPr lang="en-US" sz="1200" dirty="0">
                <a:solidFill>
                  <a:srgbClr val="8FB3A0"/>
                </a:solidFill>
                <a:latin typeface="Courier New" pitchFamily="34" charset="0"/>
                <a:ea typeface="Courier New" pitchFamily="34" charset="-122"/>
                <a:cs typeface="Courier New" pitchFamily="34" charset="-120"/>
              </a:rPr>
              <a:t># the ADDRESS of an instruction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s0, 0(t0)           </a:t>
            </a:r>
            <a:pPr indent="0" marL="0">
              <a:buNone/>
            </a:pPr>
            <a:r>
              <a:rPr lang="en-US" sz="1200" dirty="0">
                <a:solidFill>
                  <a:srgbClr val="8FB3A0"/>
                </a:solidFill>
                <a:latin typeface="Courier New" pitchFamily="34" charset="0"/>
                <a:ea typeface="Courier New" pitchFamily="34" charset="-122"/>
                <a:cs typeface="Courier New" pitchFamily="34" charset="-120"/>
              </a:rPr>
              <a:t># ... and the instruction, read as DATA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60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lamps32             </a:t>
            </a:r>
            <a:pPr indent="0" marL="0">
              <a:buNone/>
            </a:pPr>
            <a:r>
              <a:rPr lang="en-US" sz="1200" dirty="0">
                <a:solidFill>
                  <a:srgbClr val="8FB3A0"/>
                </a:solidFill>
                <a:latin typeface="Courier New" pitchFamily="34" charset="0"/>
                <a:ea typeface="Courier New" pitchFamily="34" charset="-122"/>
                <a:cs typeface="Courier New" pitchFamily="34" charset="-120"/>
              </a:rPr>
              <a:t># show its 32 bits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0x00130313      </a:t>
            </a:r>
            <a:pPr indent="0" marL="0">
              <a:buNone/>
            </a:pPr>
            <a:r>
              <a:rPr lang="en-US" sz="1200" dirty="0">
                <a:solidFill>
                  <a:srgbClr val="8FB3A0"/>
                </a:solidFill>
                <a:latin typeface="Courier New" pitchFamily="34" charset="0"/>
                <a:ea typeface="Courier New" pitchFamily="34" charset="-122"/>
                <a:cs typeface="Courier New" pitchFamily="34" charset="-120"/>
              </a:rPr>
              <a:t># what the assembler should have produced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RED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s0, t0,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           </a:t>
            </a:r>
            <a:pPr indent="0" marL="0">
              <a:buNone/>
            </a:pPr>
            <a:r>
              <a:rPr lang="en-US" sz="1200" dirty="0">
                <a:solidFill>
                  <a:srgbClr val="8FB3A0"/>
                </a:solidFill>
                <a:latin typeface="Courier New" pitchFamily="34" charset="0"/>
                <a:ea typeface="Courier New" pitchFamily="34" charset="-122"/>
                <a:cs typeface="Courier New" pitchFamily="34" charset="-120"/>
              </a:rPr>
              <a:t># equal: instructions are numbers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a0, 152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100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(4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(5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row of 32 lamps showing 0x00130313, the machine code of addi t1, t1, 1, and a green square: the word read is the one expected.</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3.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l03 --name l03 --out l03.prg32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l03.prg32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l03 --name l03 --architecture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l03 --name l03 --architecture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l03-esp32c6.prg32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l03-esp32c6.prg32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l03;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the four units of the von Neumann architecture and write, inside each, one thing of the program of Lecture 02 that lives or happens there</a:t>
            </a:r>
            <a:endParaRPr lang="en-US" sz="2200" dirty="0"/>
          </a:p>
        </p:txBody>
      </p:sp>
      <p:sp>
        <p:nvSpPr>
          <p:cNvPr id="6" name="Text 4"/>
          <p:cNvSpPr txBox="1"/>
          <p:nvPr/>
        </p:nvSpPr>
        <p:spPr>
          <a:xfrm>
            <a:off x="548640" y="232079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02510"/>
            <a:ext cx="10436047" cy="136347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For each of these, say whether it is a new way of representing information or of prescribing operations: the abacus, the Jacquard loom, the Pascaline, Boole's algebra, the punched cards of the Analytical Engine, the stored program</a:t>
            </a:r>
            <a:endParaRPr lang="en-US" sz="2200" dirty="0"/>
          </a:p>
        </p:txBody>
      </p:sp>
      <p:sp>
        <p:nvSpPr>
          <p:cNvPr id="8" name="Text 6"/>
          <p:cNvSpPr txBox="1"/>
          <p:nvPr/>
        </p:nvSpPr>
        <p:spPr>
          <a:xfrm>
            <a:off x="548640" y="38877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869436"/>
            <a:ext cx="10436047"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Download two of the four retro games from the Store, or build them from examples/games; with the counters of the debugger find how many instructions each executes per frame, and compare</a:t>
            </a:r>
            <a:endParaRPr lang="en-US" sz="2200" dirty="0"/>
          </a:p>
        </p:txBody>
      </p:sp>
      <p:sp>
        <p:nvSpPr>
          <p:cNvPr id="10" name="Shape 8"/>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1" name="Text 9"/>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2" name="Text 10"/>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Registers and ALU: addi executed. Memory: counter and the instructions themselves. Control unit: the fetch of each instruction. Input/output: the bar on the screen.</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History of Computing: the code</dc:title>
  <dc:subject>Lecture 03</dc:subject>
  <dc:creator>Raffaele Montella</dc:creator>
  <cp:lastModifiedBy>Raffaele Montella</cp:lastModifiedBy>
  <cp:revision>1</cp:revision>
  <dcterms:created xsi:type="dcterms:W3CDTF">2026-10-16T16:46:55Z</dcterms:created>
  <dcterms:modified xsi:type="dcterms:W3CDTF">2026-10-16T16:46:55Z</dcterms:modified>
</cp:coreProperties>
</file>