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Lst>
  <p:notesMasterIdLst>
    <p:notesMasterId r:id="rId1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b9b661f1-b412-4cf3-d53b-147a0b00dfcc}">
          <p14:sldIdLst>
            <p14:sldId id="256"/>
            <p14:sldId id="257"/>
          </p14:sldIdLst>
        </p14:section>
        <p14:section name="The complete program" id="{3d264049-0554-30fe-ad6a-5143890f439c}">
          <p14:sldIdLst>
            <p14:sldId id="258"/>
            <p14:sldId id="259"/>
            <p14:sldId id="260"/>
            <p14:sldId id="261"/>
            <p14:sldId id="262"/>
          </p14:sldIdLst>
        </p14:section>
        <p14:section name="Run it and test it" id="{f92242da-535e-609d-3800-7f01791aa39a}">
          <p14:sldIdLst>
            <p14:sldId id="263"/>
            <p14:sldId id="264"/>
            <p14:sldId id="265"/>
            <p14:sldId id="266"/>
            <p14:sldId id="267"/>
          </p14:sldIdLst>
        </p14:section>
        <p14:section name="Exercises" id="{a5a02708-a317-4aa0-0bfa-eab69ebd30e8}">
          <p14:sldIdLst>
            <p14:sldId id="26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notesMaster" Target="notesMasters/notesMaster1.xml"/><Relationship Id="rId16" Type="http://schemas.openxmlformats.org/officeDocument/2006/relationships/presProps" Target="presProps.xml"/><Relationship Id="rId17" Type="http://schemas.openxmlformats.org/officeDocument/2006/relationships/viewProps" Target="viewProps.xml"/><Relationship Id="rId18" Type="http://schemas.openxmlformats.org/officeDocument/2006/relationships/theme" Target="theme/theme1.xml"/><Relationship Id="rId1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03. The lecture deck holds the concepts; this one holds everything you type and run: the listings with their explanation, the complete program, what it shows, and the way to test it on each of the three hosts.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~/arc12/code/l03.S; tools/tests/cartridges/run.py builds it, runs it on PRG32-QT with scripted input and checks the pixels of the frame.
For the lecturer: Get the code once: git clone https://github.com/riscv-prg32/computer-architecture-with-prg32 ~/arc12. The program of this lecture is ~/arc12/code/l03.S;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For the lecturer: code/l03.S,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exercises. The first asks you to draw the four units and to place in each something from the program of Lecture 02: it checks that the architecture is not an abstract diagram for you. The second asks you to classify six inventions as ways of representing information or of prescribing operations; the stored program is the interesting case, because it unifies the two. The third is on the machine: use the counters of the debugger to compare how many instructions two games execute per frame.
For the lecturer: Representing: abacus, Pascaline (digits as wheel positions), Boole's algebra. Prescribing: the Jacquard loom, the cards of the Analytical Engine, the stored program, which unifies the two: a program is itself represented information. The third exercise has no fixed answer: the counters depend on the game and on the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03: History of computing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03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History of Computing: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Shape 9"/>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2" name="Image 0" descr="/Users/raffaelemontella/devel/riscv-prg32/computer-architecture-with-prg32/tools/assets/game_spaceinvaders.png">    </p:cNvPr>
          <p:cNvPicPr>
            <a:picLocks noChangeAspect="1"/>
          </p:cNvPicPr>
          <p:nvPr/>
        </p:nvPicPr>
        <p:blipFill>
          <a:blip r:embed="rId1"/>
          <a:stretch>
            <a:fillRect/>
          </a:stretch>
        </p:blipFill>
        <p:spPr>
          <a:xfrm>
            <a:off x="8915095" y="4251960"/>
            <a:ext cx="2438400" cy="1828800"/>
          </a:xfrm>
          <a:prstGeom prst="rect">
            <a:avLst/>
          </a:prstGeom>
        </p:spPr>
      </p:pic>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No listing in Lecture 03: this deck gives you the program to run</a:t>
            </a:r>
            <a:endParaRPr lang="en-US" sz="2200" dirty="0"/>
          </a:p>
        </p:txBody>
      </p:sp>
      <p:sp>
        <p:nvSpPr>
          <p:cNvPr id="5" name="Text 3"/>
          <p:cNvSpPr txBox="1"/>
          <p:nvPr/>
        </p:nvSpPr>
        <p:spPr>
          <a:xfrm>
            <a:off x="548640" y="251460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49631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code/l03.S, 94 lines, printed in full</a:t>
            </a:r>
            <a:endParaRPr lang="en-US" sz="2200" dirty="0"/>
          </a:p>
        </p:txBody>
      </p:sp>
      <p:sp>
        <p:nvSpPr>
          <p:cNvPr id="7" name="Text 5"/>
          <p:cNvSpPr txBox="1"/>
          <p:nvPr/>
        </p:nvSpPr>
        <p:spPr>
          <a:xfrm>
            <a:off x="548640" y="341071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392424"/>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3068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2885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2029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1846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(1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00" dirty="0">
                <a:solidFill>
                  <a:srgbClr val="8FB3A0"/>
                </a:solidFill>
                <a:latin typeface="Courier New" pitchFamily="34" charset="0"/>
                <a:ea typeface="Courier New" pitchFamily="34" charset="-122"/>
                <a:cs typeface="Courier New" pitchFamily="34" charset="-120"/>
              </a:rPr>
              <a:t># ARC12 Computer Architecture - Lecture 03: History of Computing</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l03.S: the stored program: a program that reads one of its own instructions as data</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On the screen: a row of 32 lamps showing 0x00130313, the machine code of addi t1,</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t1, 1, and a green square: the word read is the one expected.</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Build: python3 -m prg32 cartridge build l03.S --portable \</a:t>
            </a:r>
            <a:endParaRPr lang="en-US" sz="1300" dirty="0"/>
          </a:p>
          <a:p>
            <a:pPr indent="0" marL="0">
              <a:buNone/>
            </a:pPr>
            <a:r>
              <a:rPr lang="en-US" sz="1300" dirty="0">
                <a:solidFill>
                  <a:srgbClr val="8FB3A0"/>
                </a:solidFill>
                <a:latin typeface="Courier New" pitchFamily="34" charset="0"/>
                <a:ea typeface="Courier New" pitchFamily="34" charset="-122"/>
                <a:cs typeface="Courier New" pitchFamily="34" charset="-120"/>
              </a:rPr>
              <a:t>#            --entry-prefix l03 --name l03 --out l03.prg32</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.option norelax</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BLACK,  0x0000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GREY,   0x4208</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YELLOW, 0xffe0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GREEN,  0x07e0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.equ RED,    0xf800</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.section .text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l03_update</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.global l03_draw</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l03_init:</a:t>
            </a:r>
            <a:endParaRPr lang="en-US" sz="1300" dirty="0"/>
          </a:p>
          <a:p>
            <a:pPr indent="0" marL="0">
              <a:buNone/>
            </a:pPr>
            <a:r>
              <a:rPr lang="en-US" sz="1300" dirty="0">
                <a:solidFill>
                  <a:srgbClr val="E6EDF2"/>
                </a:solidFill>
                <a:latin typeface="Courier New" pitchFamily="34" charset="0"/>
                <a:ea typeface="Courier New" pitchFamily="34" charset="-122"/>
                <a:cs typeface="Courier New" pitchFamily="34" charset="-120"/>
              </a:rPr>
              <a:t>    ret</a:t>
            </a:r>
            <a:endParaRPr lang="en-US" sz="13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(2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750" dirty="0">
                <a:solidFill>
                  <a:srgbClr val="E6EDF2"/>
                </a:solidFill>
                <a:latin typeface="Courier New" pitchFamily="34" charset="0"/>
                <a:ea typeface="Courier New" pitchFamily="34" charset="-122"/>
                <a:cs typeface="Courier New" pitchFamily="34" charset="-120"/>
              </a:rPr>
              <a:t>l03_update:</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One instruction of the program.  For von Neumann's machine it is a number in</a:t>
            </a:r>
            <a:endParaRPr lang="en-US" sz="1750" dirty="0"/>
          </a:p>
          <a:p>
            <a:pPr indent="0" marL="0">
              <a:buNone/>
            </a:pPr>
            <a:r>
              <a:rPr lang="en-US" sz="1750" dirty="0">
                <a:solidFill>
                  <a:srgbClr val="8FB3A0"/>
                </a:solidFill>
                <a:latin typeface="Courier New" pitchFamily="34" charset="0"/>
                <a:ea typeface="Courier New" pitchFamily="34" charset="-122"/>
                <a:cs typeface="Courier New" pitchFamily="34" charset="-120"/>
              </a:rPr>
              <a:t># the same memory as the data: the program can load it like any other word.</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push</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norvc                </a:t>
            </a:r>
            <a:pPr indent="0" marL="0">
              <a:buNone/>
            </a:pPr>
            <a:r>
              <a:rPr lang="en-US" sz="1750" dirty="0">
                <a:solidFill>
                  <a:srgbClr val="8FB3A0"/>
                </a:solidFill>
                <a:latin typeface="Courier New" pitchFamily="34" charset="0"/>
                <a:ea typeface="Courier New" pitchFamily="34" charset="-122"/>
                <a:cs typeface="Courier New" pitchFamily="34" charset="-120"/>
              </a:rPr>
              <a:t># keep it 32 bits long: no compressed form</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specimen:</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addi t1, t1, 1</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.option pop</a:t>
            </a:r>
            <a:endParaRPr lang="en-US" sz="1750" dirty="0"/>
          </a:p>
          <a:p>
            <a:pPr indent="0" marL="0">
              <a:buNone/>
            </a:pPr>
            <a:r>
              <a:rPr lang="en-US" sz="1750" dirty="0">
                <a:solidFill>
                  <a:srgbClr val="E6EDF2"/>
                </a:solidFill>
                <a:latin typeface="Courier New" pitchFamily="34" charset="0"/>
                <a:ea typeface="Courier New" pitchFamily="34" charset="-122"/>
                <a:cs typeface="Courier New" pitchFamily="34" charset="-120"/>
              </a:rPr>
              <a:t>    ret</a:t>
            </a:r>
            <a:endParaRPr lang="en-US" sz="175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(3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l03_draw:</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a0, BLACK</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prg32_gfx_clear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specimen        </a:t>
            </a:r>
            <a:pPr indent="0" marL="0">
              <a:buNone/>
            </a:pPr>
            <a:r>
              <a:rPr lang="en-US" sz="1200" dirty="0">
                <a:solidFill>
                  <a:srgbClr val="8FB3A0"/>
                </a:solidFill>
                <a:latin typeface="Courier New" pitchFamily="34" charset="0"/>
                <a:ea typeface="Courier New" pitchFamily="34" charset="-122"/>
                <a:cs typeface="Courier New" pitchFamily="34" charset="-120"/>
              </a:rPr>
              <a:t># the ADDRESS of an instruction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0(t0)           </a:t>
            </a:r>
            <a:pPr indent="0" marL="0">
              <a:buNone/>
            </a:pPr>
            <a:r>
              <a:rPr lang="en-US" sz="1200" dirty="0">
                <a:solidFill>
                  <a:srgbClr val="8FB3A0"/>
                </a:solidFill>
                <a:latin typeface="Courier New" pitchFamily="34" charset="0"/>
                <a:ea typeface="Courier New" pitchFamily="34" charset="-122"/>
                <a:cs typeface="Courier New" pitchFamily="34" charset="-120"/>
              </a:rPr>
              <a:t># ... and the instruction, read as DATA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a0, s0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60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lamps32             </a:t>
            </a:r>
            <a:pPr indent="0" marL="0">
              <a:buNone/>
            </a:pPr>
            <a:r>
              <a:rPr lang="en-US" sz="1200" dirty="0">
                <a:solidFill>
                  <a:srgbClr val="8FB3A0"/>
                </a:solidFill>
                <a:latin typeface="Courier New" pitchFamily="34" charset="0"/>
                <a:ea typeface="Courier New" pitchFamily="34" charset="-122"/>
                <a:cs typeface="Courier New" pitchFamily="34" charset="-120"/>
              </a:rPr>
              <a:t># show its 32 bits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t0, 0x00130313      </a:t>
            </a:r>
            <a:pPr indent="0" marL="0">
              <a:buNone/>
            </a:pPr>
            <a:r>
              <a:rPr lang="en-US" sz="1200" dirty="0">
                <a:solidFill>
                  <a:srgbClr val="8FB3A0"/>
                </a:solidFill>
                <a:latin typeface="Courier New" pitchFamily="34" charset="0"/>
                <a:ea typeface="Courier New" pitchFamily="34" charset="-122"/>
                <a:cs typeface="Courier New" pitchFamily="34" charset="-120"/>
              </a:rPr>
              <a:t># what the assembler should have produced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RED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s0, t0,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GREEN           </a:t>
            </a:r>
            <a:pPr indent="0" marL="0">
              <a:buNone/>
            </a:pPr>
            <a:r>
              <a:rPr lang="en-US" sz="1200" dirty="0">
                <a:solidFill>
                  <a:srgbClr val="8FB3A0"/>
                </a:solidFill>
                <a:latin typeface="Courier New" pitchFamily="34" charset="0"/>
                <a:ea typeface="Courier New" pitchFamily="34" charset="-122"/>
                <a:cs typeface="Courier New" pitchFamily="34" charset="-120"/>
              </a:rPr>
              <a:t># equal: instructions are numbers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a0, 152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a1, 100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prg32_gfx_rect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s0, 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ra, 12(sp)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16</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ret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(4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00" dirty="0">
                <a:solidFill>
                  <a:srgbClr val="8FB3A0"/>
                </a:solidFill>
                <a:latin typeface="Courier New" pitchFamily="34" charset="0"/>
                <a:ea typeface="Courier New" pitchFamily="34" charset="-122"/>
                <a:cs typeface="Courier New" pitchFamily="34" charset="-120"/>
              </a:rPr>
              <a:t># lamps32: show the 32 bits of a word as a row of lamps, bit 31 on the left.</a:t>
            </a:r>
            <a:endParaRPr lang="en-US" sz="1200" dirty="0"/>
          </a:p>
          <a:p>
            <a:pPr indent="0" marL="0">
              <a:buNone/>
            </a:pPr>
            <a:r>
              <a:rPr lang="en-US" sz="1200" dirty="0">
                <a:solidFill>
                  <a:srgbClr val="8FB3A0"/>
                </a:solidFill>
                <a:latin typeface="Courier New" pitchFamily="34" charset="0"/>
                <a:ea typeface="Courier New" pitchFamily="34" charset="-122"/>
                <a:cs typeface="Courier New" pitchFamily="34" charset="-120"/>
              </a:rPr>
              <a:t>#   a0 = the word, a1 = y of the row.  A lamp is yellow for 1, grey for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lamps32: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sp, sp, -32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ra, 28(sp)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s0, 24(sp)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s1, 20(sp)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s2, 16(sp)</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s0, a0              </a:t>
            </a:r>
            <a:pPr indent="0" marL="0">
              <a:buNone/>
            </a:pPr>
            <a:r>
              <a:rPr lang="en-US" sz="1200" dirty="0">
                <a:solidFill>
                  <a:srgbClr val="8FB3A0"/>
                </a:solidFill>
                <a:latin typeface="Courier New" pitchFamily="34" charset="0"/>
                <a:ea typeface="Courier New" pitchFamily="34" charset="-122"/>
                <a:cs typeface="Courier New" pitchFamily="34" charset="-120"/>
              </a:rPr>
              <a:t># the word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s1, a1              </a:t>
            </a:r>
            <a:pPr indent="0" marL="0">
              <a:buNone/>
            </a:pPr>
            <a:r>
              <a:rPr lang="en-US" sz="1200" dirty="0">
                <a:solidFill>
                  <a:srgbClr val="8FB3A0"/>
                </a:solidFill>
                <a:latin typeface="Courier New" pitchFamily="34" charset="0"/>
                <a:ea typeface="Courier New" pitchFamily="34" charset="-122"/>
                <a:cs typeface="Courier New" pitchFamily="34" charset="-120"/>
              </a:rPr>
              <a:t># 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s2, 0               </a:t>
            </a:r>
            <a:pPr indent="0" marL="0">
              <a:buNone/>
            </a:pPr>
            <a:r>
              <a:rPr lang="en-US" sz="1200" dirty="0">
                <a:solidFill>
                  <a:srgbClr val="8FB3A0"/>
                </a:solidFill>
                <a:latin typeface="Courier New" pitchFamily="34" charset="0"/>
                <a:ea typeface="Courier New" pitchFamily="34" charset="-122"/>
                <a:cs typeface="Courier New" pitchFamily="34" charset="-120"/>
              </a:rPr>
              <a:t># lamp number, 0 on the left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t0, 31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sub  t0, t0, s2          </a:t>
            </a:r>
            <a:pPr indent="0" marL="0">
              <a:buNone/>
            </a:pPr>
            <a:r>
              <a:rPr lang="en-US" sz="1200" dirty="0">
                <a:solidFill>
                  <a:srgbClr val="8FB3A0"/>
                </a:solidFill>
                <a:latin typeface="Courier New" pitchFamily="34" charset="0"/>
                <a:ea typeface="Courier New" pitchFamily="34" charset="-122"/>
                <a:cs typeface="Courier New" pitchFamily="34" charset="-120"/>
              </a:rPr>
              <a:t># lamp i shows bit 31 -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srl  t1, s0, t0          </a:t>
            </a:r>
            <a:pPr indent="0" marL="0">
              <a:buNone/>
            </a:pPr>
            <a:r>
              <a:rPr lang="en-US" sz="1200" dirty="0">
                <a:solidFill>
                  <a:srgbClr val="8FB3A0"/>
                </a:solidFill>
                <a:latin typeface="Courier New" pitchFamily="34" charset="0"/>
                <a:ea typeface="Courier New" pitchFamily="34" charset="-122"/>
                <a:cs typeface="Courier New" pitchFamily="34" charset="-120"/>
              </a:rPr>
              <a:t># bring that bit down to bit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t1, t1, 1           </a:t>
            </a:r>
            <a:pPr indent="0" marL="0">
              <a:buNone/>
            </a:pPr>
            <a:r>
              <a:rPr lang="en-US" sz="1200" dirty="0">
                <a:solidFill>
                  <a:srgbClr val="8FB3A0"/>
                </a:solidFill>
                <a:latin typeface="Courier New" pitchFamily="34" charset="0"/>
                <a:ea typeface="Courier New" pitchFamily="34" charset="-122"/>
                <a:cs typeface="Courier New" pitchFamily="34" charset="-120"/>
              </a:rPr>
              <a:t># keep it, clear all the others</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GREY            </a:t>
            </a:r>
            <a:pPr indent="0" marL="0">
              <a:buNone/>
            </a:pPr>
            <a:r>
              <a:rPr lang="en-US" sz="1200" dirty="0">
                <a:solidFill>
                  <a:srgbClr val="8FB3A0"/>
                </a:solidFill>
                <a:latin typeface="Courier New" pitchFamily="34" charset="0"/>
                <a:ea typeface="Courier New" pitchFamily="34" charset="-122"/>
                <a:cs typeface="Courier New" pitchFamily="34" charset="-120"/>
              </a:rPr>
              <a:t># lamp off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t1, 2f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a4, YELLOW          </a:t>
            </a:r>
            <a:pPr indent="0" marL="0">
              <a:buNone/>
            </a:pPr>
            <a:r>
              <a:rPr lang="en-US" sz="1200" dirty="0">
                <a:solidFill>
                  <a:srgbClr val="8FB3A0"/>
                </a:solidFill>
                <a:latin typeface="Courier New" pitchFamily="34" charset="0"/>
                <a:ea typeface="Courier New" pitchFamily="34" charset="-122"/>
                <a:cs typeface="Courier New" pitchFamily="34" charset="-120"/>
              </a:rPr>
              <a:t># lamp on</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2:  slli a0, s2, 3</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  a0, a0, s2          </a:t>
            </a:r>
            <a:pPr indent="0" marL="0">
              <a:buNone/>
            </a:pPr>
            <a:r>
              <a:rPr lang="en-US" sz="1200" dirty="0">
                <a:solidFill>
                  <a:srgbClr val="8FB3A0"/>
                </a:solidFill>
                <a:latin typeface="Courier New" pitchFamily="34" charset="0"/>
                <a:ea typeface="Courier New" pitchFamily="34" charset="-122"/>
                <a:cs typeface="Courier New" pitchFamily="34" charset="-120"/>
              </a:rPr>
              <a:t>#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addi a0, a0, 16          </a:t>
            </a:r>
            <a:pPr indent="0" marL="0">
              <a:buNone/>
            </a:pPr>
            <a:r>
              <a:rPr lang="en-US" sz="1200" dirty="0">
                <a:solidFill>
                  <a:srgbClr val="8FB3A0"/>
                </a:solidFill>
                <a:latin typeface="Courier New" pitchFamily="34" charset="0"/>
                <a:ea typeface="Courier New" pitchFamily="34" charset="-122"/>
                <a:cs typeface="Courier New" pitchFamily="34" charset="-120"/>
              </a:rPr>
              <a:t># x = 16 + 9 * i</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mv   a1, s1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a2, 8</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a3, 8</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l03.S (5 of 5)</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1709928"/>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a row of 32 lamps showing 0x00130313, the machine code of addi t1, t1, 1, and a green square: the word read is the one expected.</a:t>
            </a:r>
            <a:endParaRPr lang="en-US" sz="2400" dirty="0"/>
          </a:p>
        </p:txBody>
      </p:sp>
      <p:sp>
        <p:nvSpPr>
          <p:cNvPr id="5" name="Shape 3"/>
          <p:cNvSpPr/>
          <p:nvPr/>
        </p:nvSpPr>
        <p:spPr>
          <a:xfrm>
            <a:off x="548640" y="3889248"/>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3767328"/>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03.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l03 --out l03.prg32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l03.prg32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l03-qemu.prg32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~/arc12/code/l03.S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l03 --name l03 --architecture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l03-esp32c6.prg32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l03-esp32c6.prg32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l03;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Draw the four units of the von Neumann architecture and write, inside each, one thing of the program of Lecture 02 that lives or happens there</a:t>
            </a:r>
            <a:endParaRPr lang="en-US" sz="2200" dirty="0"/>
          </a:p>
        </p:txBody>
      </p:sp>
      <p:sp>
        <p:nvSpPr>
          <p:cNvPr id="6" name="Text 4"/>
          <p:cNvSpPr txBox="1"/>
          <p:nvPr/>
        </p:nvSpPr>
        <p:spPr>
          <a:xfrm>
            <a:off x="548640" y="232079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302510"/>
            <a:ext cx="10436047" cy="1363472"/>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For each of these, say whether it is a new way of representing information or of prescribing operations: the abacus, the Jacquard loom, the Pascaline, Boole's algebra, the punched cards of the Analytical Engine, the stored program</a:t>
            </a:r>
            <a:endParaRPr lang="en-US" sz="2200" dirty="0"/>
          </a:p>
        </p:txBody>
      </p:sp>
      <p:sp>
        <p:nvSpPr>
          <p:cNvPr id="8" name="Text 6"/>
          <p:cNvSpPr txBox="1"/>
          <p:nvPr/>
        </p:nvSpPr>
        <p:spPr>
          <a:xfrm>
            <a:off x="548640" y="38877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3869436"/>
            <a:ext cx="10436047" cy="1022604"/>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Download two of the four retro games from the Store, or build them from examples/games; with the counters of the debugger find how many instructions each executes per frame, and compare</a:t>
            </a:r>
            <a:endParaRPr lang="en-US" sz="2200" dirty="0"/>
          </a:p>
        </p:txBody>
      </p:sp>
      <p:sp>
        <p:nvSpPr>
          <p:cNvPr id="10" name="Shape 8"/>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1" name="Text 9"/>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2" name="Text 10"/>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Registers and ALU: addi executed. Memory: counter and the instructions themselves. Control unit: the fetch of each instruction. Input/output: the bar on the screen.</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13</Slides>
  <Notes>13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13</vt:i4>
      </vt:variant>
    </vt:vector>
  </HeadingPairs>
  <TitlesOfParts>
    <vt:vector size="1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History of Computing: the code</dc:title>
  <dc:subject>Lecture 03</dc:subject>
  <dc:creator>Raffaele Montella</dc:creator>
  <cp:lastModifiedBy>Raffaele Montella</cp:lastModifiedBy>
  <cp:revision>1</cp:revision>
  <dcterms:created xsi:type="dcterms:W3CDTF">2026-10-13T08:56:23Z</dcterms:created>
  <dcterms:modified xsi:type="dcterms:W3CDTF">2026-10-13T08:56:23Z</dcterms:modified>
</cp:coreProperties>
</file>