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d4b6f61-db19-7456-3a07-aa3839b099e3}">
          <p14:sldIdLst>
            <p14:sldId id="256"/>
            <p14:sldId id="257"/>
          </p14:sldIdLst>
        </p14:section>
        <p14:section name="Electricity in four quantities" id="{07f65772-8b9f-1b10-07a8-73d4a12db1bc}">
          <p14:sldIdLst>
            <p14:sldId id="258"/>
            <p14:sldId id="259"/>
            <p14:sldId id="260"/>
            <p14:sldId id="261"/>
          </p14:sldIdLst>
        </p14:section>
        <p14:section name="Semiconductors" id="{5d65bff4-1240-47c9-948c-6f06dc5ca536}">
          <p14:sldIdLst>
            <p14:sldId id="262"/>
            <p14:sldId id="263"/>
            <p14:sldId id="264"/>
          </p14:sldIdLst>
        </p14:section>
        <p14:section name="From volts to bits" id="{97eb7699-671e-0b18-d333-574cc02b5075}">
          <p14:sldIdLst>
            <p14:sldId id="265"/>
            <p14:sldId id="266"/>
            <p14:sldId id="267"/>
            <p14:sldId id="268"/>
            <p14:sldId id="269"/>
            <p14:sldId id="270"/>
          </p14:sldIdLst>
        </p14:section>
        <p14:section name="Back to the machine" id="{ba72cfb9-081b-c881-c923-d1f041ead394}">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a gate has been a symbol and a truth table. This lecture gives it a body. It follows one bit, the bit of a button of the kit, from the finger that presses it to the register that your program reads, and along the way explains what a volt is, what a transistor does, and how two transistors make a NOT. No previous knowledge of physics is assumed. The quotation by Clarke is the feeling to dispel: a chip looks like magic only until you see what it is made of.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Use the four electrical quantities and Ohm's law on a simple circuit. Size the resistor of an LED and compute a voltage divider. Explain what a transistor is and how a MOS transistor works as a switch. Say how a voltage becomes a logic value, and what a noise margin is. Draw the inverter, the NAND and the NOR in CMOS and count their transistors. And explain pull-up resistors, floating inputs and why switching a gate takes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with the analogy of water in pipes. Voltage is the pressure that pushes; it is measured in volts and always between two points. Current is the flow, in amperes. Resistance is what hinders the flow, in ohms. Power is the work done each second, in watts. The last column ties each to the kit: 3.3 V of supply, about 10 mA through a lit LED, 45 kΩ inside each input pin. Remember the caption: when we say that a pin "is at 3.3 V", we mean with respect to ground, the common reference.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times the current through it. A circuit is a closed loop, and the drawing shows the simplest useful one: a supply, a resistor and an LED. The LED keeps about 2 V for itself; the resistor takes the remaining 1.3 V and thereby fixes the current. For 10 mA you need 1.3 divided by 0.010, that is 130 Ω, and the nearest standard value is 150 Ω. Without the resistor the current would be far too large and the LED would burn.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resistors. In series the same current crosses both and the resistances add. In parallel the same voltage is across both and the total resistance is smaller than either. Two resistors in series form a voltage divider: the output, taken between them, is the supply multiplied by R2 over R1 plus R2. With equal resistors it is half the supply; if R2 is much smaller, the output is close to ground. Keep the divider in mind: it explains the button at the end of the lecture.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instantly: it has to be filled or emptied through a resistance. The time needed is of the order of R times C. For an input pin of the kit, 45 kΩ times 2 pF is 90 nanoseconds. Every wire and every input of a transistor is a small capacitor, and this is where the delay of a gate comes from. A capacitor that is charged or empty is also a way of storing one bit: you will meet it again in the memory lecture.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let charge flow; insulators do not. Semiconductors lie in between, and their conduction can be controlled. The control is obtained by doping: adding a few atoms of another element. In n-type silicon there are extra electrons, negative carriers; in p-type silicon there are missing electrons, called holes, which behave as positive carriers. Where a p region meets an n region there is a junction. A chip is a slice of silicon with billions of such regions, connected by layers of metal.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puts several transistors on one piece of semiconductor. The MOS transistor of 1960 is small, simple to build and needs almost no control current. CMOS, in 1963, combines two complementary types so that power is drawn only when switching. In 1971 a whole processor fits on a chip with 2,300 transistors; today a chip holds tens of billions.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can pass between the other two, the source and the drain. There are two types, and the table says everything: an nMOS conducts when its gate is high; a pMOS conducts when its gate is low. They are complementary: what closes one opens the other. The gate is insulated, so it draws practically no current. One more fact will be needed shortly: an nMOS is good at connecting to ground, a pMOS at connecting to the supply.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it uses two ranges. The figure shows them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that cannot change the bit. Between the two input thresholds the value is undefined, and signals must cross that band quickly.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give up the richness of analog signals? In an analog circuit the exact value is the information, so every stage adds a little noise, and the noise accumulates: each copy is worse than the previous one. In a digital circuit only the range matters, and every gate produces a fresh, clean level: noise does not accumulate, copies are perfect, and errors can even be detected and corrected. Analog circuits remain indispensable at the edges of a system, where it touches the world: sensors, radio, sound.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One pMOS connects the output to the supply, one nMOS connects it to ground, and both gates are driven by the same input. With the input at 0 the pMOS conducts and the output is 1; with the input at 1 the nMOS conducts and the output is 0. It is a NOT. Exactly one of the two transistors conducts at any time, so no current flows from supply to ground when the input is still: this is why CMOS consumes almost nothing at rest.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reaches ground only if A and B are both 1. The two pMOS are in parallel: the output reaches the supply if either input is 0. Series is AND, parallel is OR. The NOR is the dual: series and parallel are exchanged, exactly as De Morgan's laws exchange AND and OR. Check both drawings yourself for the four combinations of the inputs, marking which transistors conduct.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in transistors. A NOT costs 2, a NAND or a NOR 4, an AND or an OR 6, because they are a NAND or a NOR followed by an inverter. This reverses the intuition of the algebra: in CMOS the inverting gates come first, and an AND is more expensive than a NAND. A full adder needs about 28 transistors, a memory cell 6, a flip-flop about 20. Now the purpose of minimisation is concrete: fewer literals mean fewer transistors, less area, less energy and less time.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and this takes time: the propagation delay. It also takes energy, at every change of level. The power spent in switching is about C times V squared times f: the capacitance, the square of the supply voltage, and the frequency. Lowering the voltage saves the most, which is why chips moved from 5 V to about 1 V inside. Speed is paid for in heat.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at random. The remedy is a pull-up resistor that ties the pin to 3.3 V. With the button released no current flows, and the pin reads a clean 1. With the button pressed the switch joins the pin to ground: 0 V, a clean 0, and a negligible current of 73 microamperes flows through the resistor. It is a voltage divider whose lower resistor is either infinite or zero. The firmware then inverts the bit, so that in your program pressed is 1.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Ohm's law to the resistor, not to the whole circuit. The resistor sees the supply minus what the LED keeps: 3.3 minus 2. Divide that voltage by the current, in amperes: 5 mA is 0.005 A.
With the input at 0, which of the two transistors has its gate at the level that makes it conduct? A pMOS conducts with a low gate, and it is the one connected to the supply. The two never conduct together, and the output is never left unconnected.
For the lecturer: 1. Answer: B. R = (3.3 - 2) / 0.005 = 260 Ω.
2.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AND in CMOS is not built directly: it is a NAND followed by an inverter. Add the transistors of the two.
Think of the released button: the pin is connected to nothing. What would it read? The pull-up has nothing to do with the LED, with speed or with protection: it gives the input a defined level when the switch is open.
For the lecturer: 1. Answer: C. A NAND (4) followed by an inverter (2).
2.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Note two false friends: voltage is in Italian tensione,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pushes, current flows, resistance hinders, and Ohm's law covers most of what a digital designer needs. A MOS transistor is a switch controlled by a voltage, in two complementary types. A bit is a range of voltages, made reliable by noise margins and by the regeneration of levels. CMOS gates are pairs of switch networks, and the inverting ones are the cheapest. Switching costs time and energy. The next lecture builds machines out of these gates.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2193978"/>
            <a:ext cx="3840480" cy="3201564"/>
          </a:xfrm>
          <a:prstGeom prst="rect">
            <a:avLst/>
          </a:prstGeom>
        </p:spPr>
      </p:pic>
      <p:sp>
        <p:nvSpPr>
          <p:cNvPr id="6" name="Text 2"/>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7" name="Shape 3"/>
          <p:cNvSpPr/>
          <p:nvPr/>
        </p:nvSpPr>
        <p:spPr>
          <a:xfrm>
            <a:off x="5120640" y="2338959"/>
            <a:ext cx="146304" cy="146304"/>
          </a:xfrm>
          <a:prstGeom prst="rect">
            <a:avLst/>
          </a:prstGeom>
          <a:solidFill>
            <a:srgbClr val="0E7C86"/>
          </a:solidFill>
          <a:ln w="12700">
            <a:solidFill>
              <a:srgbClr val="0E7C86"/>
            </a:solidFill>
            <a:prstDash val="solid"/>
          </a:ln>
        </p:spPr>
      </p:sp>
      <p:sp>
        <p:nvSpPr>
          <p:cNvPr id="8" name="Text 4"/>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9" name="Shape 5"/>
          <p:cNvSpPr/>
          <p:nvPr/>
        </p:nvSpPr>
        <p:spPr>
          <a:xfrm>
            <a:off x="5120640" y="3126105"/>
            <a:ext cx="146304" cy="146304"/>
          </a:xfrm>
          <a:prstGeom prst="rect">
            <a:avLst/>
          </a:prstGeom>
          <a:solidFill>
            <a:srgbClr val="C7791B"/>
          </a:solidFill>
          <a:ln w="12700">
            <a:solidFill>
              <a:srgbClr val="C7791B"/>
            </a:solidFill>
            <a:prstDash val="solid"/>
          </a:ln>
        </p:spPr>
      </p:sp>
      <p:sp>
        <p:nvSpPr>
          <p:cNvPr id="10" name="Text 6"/>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1" name="Shape 7"/>
          <p:cNvSpPr/>
          <p:nvPr/>
        </p:nvSpPr>
        <p:spPr>
          <a:xfrm>
            <a:off x="5120640" y="3913251"/>
            <a:ext cx="146304" cy="146304"/>
          </a:xfrm>
          <a:prstGeom prst="rect">
            <a:avLst/>
          </a:prstGeom>
          <a:solidFill>
            <a:srgbClr val="0E7C86"/>
          </a:solidFill>
          <a:ln w="12700">
            <a:solidFill>
              <a:srgbClr val="0E7C86"/>
            </a:solidFill>
            <a:prstDash val="solid"/>
          </a:ln>
        </p:spPr>
      </p:sp>
      <p:sp>
        <p:nvSpPr>
          <p:cNvPr id="12" name="Text 8"/>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3" name="Shape 9"/>
          <p:cNvSpPr/>
          <p:nvPr/>
        </p:nvSpPr>
        <p:spPr>
          <a:xfrm>
            <a:off x="5120640" y="5025771"/>
            <a:ext cx="146304" cy="146304"/>
          </a:xfrm>
          <a:prstGeom prst="rect">
            <a:avLst/>
          </a:prstGeom>
          <a:solidFill>
            <a:srgbClr val="C7791B"/>
          </a:solidFill>
          <a:ln w="12700">
            <a:solidFill>
              <a:srgbClr val="C7791B"/>
            </a:solidFill>
            <a:prstDash val="solid"/>
          </a:ln>
        </p:spPr>
      </p:sp>
      <p:sp>
        <p:nvSpPr>
          <p:cNvPr id="14" name="Text 10"/>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pic>
        <p:nvPicPr>
          <p:cNvPr id="15" name="Image 0" descr="preencoded.png">    </p:cNvPr>
          <p:cNvPicPr>
            <a:picLocks noChangeAspect="1"/>
          </p:cNvPicPr>
          <p:nvPr/>
        </p:nvPicPr>
        <p:blipFill>
          <a:blip r:embed="rId1"/>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973325" y="1828800"/>
            <a:ext cx="2168150" cy="1737360"/>
          </a:xfrm>
          <a:prstGeom prst="rect">
            <a:avLst/>
          </a:prstGeom>
        </p:spPr>
      </p:pic>
      <p:pic>
        <p:nvPicPr>
          <p:cNvPr id="7" name="Image 1" descr="preencoded.png">    </p:cNvPr>
          <p:cNvPicPr>
            <a:picLocks noChangeAspect="1"/>
          </p:cNvPicPr>
          <p:nvPr/>
        </p:nvPicPr>
        <p:blipFill>
          <a:blip r:embed="rId2"/>
          <a:stretch>
            <a:fillRect/>
          </a:stretch>
        </p:blipFill>
        <p:spPr>
          <a:xfrm>
            <a:off x="973325" y="4297680"/>
            <a:ext cx="2168150" cy="1737360"/>
          </a:xfrm>
          <a:prstGeom prst="rect">
            <a:avLst/>
          </a:prstGeom>
        </p:spPr>
      </p:pic>
      <p:sp>
        <p:nvSpPr>
          <p:cNvPr id="8" name="Text 3"/>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9" name="Text 4"/>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1" name="Shape 5"/>
          <p:cNvSpPr/>
          <p:nvPr/>
        </p:nvSpPr>
        <p:spPr>
          <a:xfrm>
            <a:off x="4023360" y="3253359"/>
            <a:ext cx="146304" cy="146304"/>
          </a:xfrm>
          <a:prstGeom prst="rect">
            <a:avLst/>
          </a:prstGeom>
          <a:solidFill>
            <a:srgbClr val="0E7C86"/>
          </a:solidFill>
          <a:ln w="12700">
            <a:solidFill>
              <a:srgbClr val="0E7C86"/>
            </a:solidFill>
            <a:prstDash val="solid"/>
          </a:ln>
        </p:spPr>
      </p:sp>
      <p:sp>
        <p:nvSpPr>
          <p:cNvPr id="12" name="Text 6"/>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3" name="Shape 7"/>
          <p:cNvSpPr/>
          <p:nvPr/>
        </p:nvSpPr>
        <p:spPr>
          <a:xfrm>
            <a:off x="4023360" y="4042283"/>
            <a:ext cx="146304" cy="146304"/>
          </a:xfrm>
          <a:prstGeom prst="rect">
            <a:avLst/>
          </a:prstGeom>
          <a:solidFill>
            <a:srgbClr val="C7791B"/>
          </a:solidFill>
          <a:ln w="12700">
            <a:solidFill>
              <a:srgbClr val="C7791B"/>
            </a:solidFill>
            <a:prstDash val="solid"/>
          </a:ln>
        </p:spPr>
      </p:sp>
      <p:sp>
        <p:nvSpPr>
          <p:cNvPr id="14" name="Text 8"/>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5" name="Shape 9"/>
          <p:cNvSpPr/>
          <p:nvPr/>
        </p:nvSpPr>
        <p:spPr>
          <a:xfrm>
            <a:off x="4023360" y="4831207"/>
            <a:ext cx="146304" cy="146304"/>
          </a:xfrm>
          <a:prstGeom prst="rect">
            <a:avLst/>
          </a:prstGeom>
          <a:solidFill>
            <a:srgbClr val="0E7C86"/>
          </a:solidFill>
          <a:ln w="12700">
            <a:solidFill>
              <a:srgbClr val="0E7C86"/>
            </a:solidFill>
            <a:prstDash val="solid"/>
          </a:ln>
        </p:spPr>
      </p:sp>
      <p:sp>
        <p:nvSpPr>
          <p:cNvPr id="16" name="Text 10"/>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17" name="Shape 11"/>
          <p:cNvSpPr/>
          <p:nvPr/>
        </p:nvSpPr>
        <p:spPr>
          <a:xfrm>
            <a:off x="4023360" y="5620131"/>
            <a:ext cx="146304" cy="146304"/>
          </a:xfrm>
          <a:prstGeom prst="rect">
            <a:avLst/>
          </a:prstGeom>
          <a:solidFill>
            <a:srgbClr val="C7791B"/>
          </a:solidFill>
          <a:ln w="12700">
            <a:solidFill>
              <a:srgbClr val="C7791B"/>
            </a:solidFill>
            <a:prstDash val="solid"/>
          </a:ln>
        </p:spPr>
      </p:sp>
      <p:sp>
        <p:nvSpPr>
          <p:cNvPr id="18" name="Text 12"/>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2159889"/>
            <a:ext cx="5486400" cy="3269742"/>
          </a:xfrm>
          <a:prstGeom prst="rect">
            <a:avLst/>
          </a:prstGeom>
        </p:spPr>
      </p:pic>
      <p:sp>
        <p:nvSpPr>
          <p:cNvPr id="6" name="Shape 2"/>
          <p:cNvSpPr/>
          <p:nvPr/>
        </p:nvSpPr>
        <p:spPr>
          <a:xfrm>
            <a:off x="6766560" y="1508252"/>
            <a:ext cx="146304" cy="146304"/>
          </a:xfrm>
          <a:prstGeom prst="rect">
            <a:avLst/>
          </a:prstGeom>
          <a:solidFill>
            <a:srgbClr val="0E7C86"/>
          </a:solidFill>
          <a:ln w="12700">
            <a:solidFill>
              <a:srgbClr val="0E7C86"/>
            </a:solidFill>
            <a:prstDash val="solid"/>
          </a:ln>
        </p:spPr>
      </p:sp>
      <p:sp>
        <p:nvSpPr>
          <p:cNvPr id="7" name="Text 3"/>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8" name="Shape 4"/>
          <p:cNvSpPr/>
          <p:nvPr/>
        </p:nvSpPr>
        <p:spPr>
          <a:xfrm>
            <a:off x="6766560" y="2260346"/>
            <a:ext cx="146304" cy="146304"/>
          </a:xfrm>
          <a:prstGeom prst="rect">
            <a:avLst/>
          </a:prstGeom>
          <a:solidFill>
            <a:srgbClr val="C7791B"/>
          </a:solidFill>
          <a:ln w="12700">
            <a:solidFill>
              <a:srgbClr val="C7791B"/>
            </a:solidFill>
            <a:prstDash val="solid"/>
          </a:ln>
        </p:spPr>
      </p:sp>
      <p:sp>
        <p:nvSpPr>
          <p:cNvPr id="9" name="Text 5"/>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0" name="Shape 6"/>
          <p:cNvSpPr/>
          <p:nvPr/>
        </p:nvSpPr>
        <p:spPr>
          <a:xfrm>
            <a:off x="6766560" y="3265932"/>
            <a:ext cx="146304" cy="146304"/>
          </a:xfrm>
          <a:prstGeom prst="rect">
            <a:avLst/>
          </a:prstGeom>
          <a:solidFill>
            <a:srgbClr val="0E7C86"/>
          </a:solidFill>
          <a:ln w="12700">
            <a:solidFill>
              <a:srgbClr val="0E7C86"/>
            </a:solidFill>
            <a:prstDash val="solid"/>
          </a:ln>
        </p:spPr>
      </p:sp>
      <p:sp>
        <p:nvSpPr>
          <p:cNvPr id="11" name="Text 7"/>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2" name="Shape 8"/>
          <p:cNvSpPr/>
          <p:nvPr/>
        </p:nvSpPr>
        <p:spPr>
          <a:xfrm>
            <a:off x="6766560" y="4271518"/>
            <a:ext cx="146304" cy="146304"/>
          </a:xfrm>
          <a:prstGeom prst="rect">
            <a:avLst/>
          </a:prstGeom>
          <a:solidFill>
            <a:srgbClr val="C7791B"/>
          </a:solidFill>
          <a:ln w="12700">
            <a:solidFill>
              <a:srgbClr val="C7791B"/>
            </a:solidFill>
            <a:prstDash val="solid"/>
          </a:ln>
        </p:spPr>
      </p:sp>
      <p:sp>
        <p:nvSpPr>
          <p:cNvPr id="13" name="Text 9"/>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4" name="Shape 10"/>
          <p:cNvSpPr/>
          <p:nvPr/>
        </p:nvSpPr>
        <p:spPr>
          <a:xfrm>
            <a:off x="6766560" y="5333492"/>
            <a:ext cx="146304" cy="146304"/>
          </a:xfrm>
          <a:prstGeom prst="rect">
            <a:avLst/>
          </a:prstGeom>
          <a:solidFill>
            <a:srgbClr val="0E7C86"/>
          </a:solidFill>
          <a:ln w="12700">
            <a:solidFill>
              <a:srgbClr val="0E7C86"/>
            </a:solidFill>
            <a:prstDash val="solid"/>
          </a:ln>
        </p:spPr>
      </p:sp>
      <p:sp>
        <p:nvSpPr>
          <p:cNvPr id="15" name="Text 11"/>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0" y="3138678"/>
            <a:ext cx="146304" cy="146304"/>
          </a:xfrm>
          <a:prstGeom prst="rect">
            <a:avLst/>
          </a:prstGeom>
          <a:solidFill>
            <a:srgbClr val="0E7C86"/>
          </a:solidFill>
          <a:ln w="12700">
            <a:solidFill>
              <a:srgbClr val="0E7C86"/>
            </a:solidFill>
            <a:prstDash val="solid"/>
          </a:ln>
        </p:spPr>
      </p:sp>
      <p:sp>
        <p:nvSpPr>
          <p:cNvPr id="8" name="Text 3"/>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9" name="Shape 4"/>
          <p:cNvSpPr/>
          <p:nvPr/>
        </p:nvSpPr>
        <p:spPr>
          <a:xfrm>
            <a:off x="5486400" y="3896106"/>
            <a:ext cx="146304" cy="146304"/>
          </a:xfrm>
          <a:prstGeom prst="rect">
            <a:avLst/>
          </a:prstGeom>
          <a:solidFill>
            <a:srgbClr val="C7791B"/>
          </a:solidFill>
          <a:ln w="12700">
            <a:solidFill>
              <a:srgbClr val="C7791B"/>
            </a:solidFill>
            <a:prstDash val="solid"/>
          </a:ln>
        </p:spPr>
      </p:sp>
      <p:sp>
        <p:nvSpPr>
          <p:cNvPr id="10" name="Text 5"/>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1" name="Shape 6"/>
          <p:cNvSpPr/>
          <p:nvPr/>
        </p:nvSpPr>
        <p:spPr>
          <a:xfrm>
            <a:off x="5486400" y="4653534"/>
            <a:ext cx="146304" cy="146304"/>
          </a:xfrm>
          <a:prstGeom prst="rect">
            <a:avLst/>
          </a:prstGeom>
          <a:solidFill>
            <a:srgbClr val="0E7C86"/>
          </a:solidFill>
          <a:ln w="12700">
            <a:solidFill>
              <a:srgbClr val="0E7C86"/>
            </a:solidFill>
            <a:prstDash val="solid"/>
          </a:ln>
        </p:spPr>
      </p:sp>
      <p:sp>
        <p:nvSpPr>
          <p:cNvPr id="12" name="Text 7"/>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3" name="Shape 8"/>
          <p:cNvSpPr/>
          <p:nvPr/>
        </p:nvSpPr>
        <p:spPr>
          <a:xfrm>
            <a:off x="5486400" y="5410962"/>
            <a:ext cx="146304" cy="146304"/>
          </a:xfrm>
          <a:prstGeom prst="rect">
            <a:avLst/>
          </a:prstGeom>
          <a:solidFill>
            <a:srgbClr val="C7791B"/>
          </a:solidFill>
          <a:ln w="12700">
            <a:solidFill>
              <a:srgbClr val="C7791B"/>
            </a:solidFill>
            <a:prstDash val="solid"/>
          </a:ln>
        </p:spPr>
      </p:sp>
      <p:sp>
        <p:nvSpPr>
          <p:cNvPr id="14" name="Text 9"/>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pic>
        <p:nvPicPr>
          <p:cNvPr id="8" name="Image 0" descr="preencoded.png">    </p:cNvPr>
          <p:cNvPicPr>
            <a:picLocks noChangeAspect="1"/>
          </p:cNvPicPr>
          <p:nvPr/>
        </p:nvPicPr>
        <p:blipFill>
          <a:blip r:embed="rId1"/>
          <a:stretch>
            <a:fillRect/>
          </a:stretch>
        </p:blipFill>
        <p:spPr>
          <a:xfrm>
            <a:off x="1447926" y="1874520"/>
            <a:ext cx="3565756" cy="3383280"/>
          </a:xfrm>
          <a:prstGeom prst="rect">
            <a:avLst/>
          </a:prstGeom>
        </p:spPr>
      </p:pic>
      <p:pic>
        <p:nvPicPr>
          <p:cNvPr id="9" name="Image 1" descr="preencoded.png">    </p:cNvPr>
          <p:cNvPicPr>
            <a:picLocks noChangeAspect="1"/>
          </p:cNvPicPr>
          <p:nvPr/>
        </p:nvPicPr>
        <p:blipFill>
          <a:blip r:embed="rId2"/>
          <a:stretch>
            <a:fillRect/>
          </a:stretch>
        </p:blipFill>
        <p:spPr>
          <a:xfrm>
            <a:off x="7178014" y="1874520"/>
            <a:ext cx="3565756" cy="3383280"/>
          </a:xfrm>
          <a:prstGeom prst="rect">
            <a:avLst/>
          </a:prstGeom>
        </p:spPr>
      </p:pic>
      <p:sp>
        <p:nvSpPr>
          <p:cNvPr id="10" name="Shape 5"/>
          <p:cNvSpPr/>
          <p:nvPr/>
        </p:nvSpPr>
        <p:spPr>
          <a:xfrm>
            <a:off x="548640" y="5485130"/>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2" name="Shape 7"/>
          <p:cNvSpPr/>
          <p:nvPr/>
        </p:nvSpPr>
        <p:spPr>
          <a:xfrm>
            <a:off x="548640" y="5999734"/>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640080" y="2105753"/>
            <a:ext cx="2560320" cy="3378014"/>
          </a:xfrm>
          <a:prstGeom prst="rect">
            <a:avLst/>
          </a:prstGeom>
        </p:spPr>
      </p:pic>
      <p:pic>
        <p:nvPicPr>
          <p:cNvPr id="7" name="Image 1" descr="preencoded.png">    </p:cNvPr>
          <p:cNvPicPr>
            <a:picLocks noChangeAspect="1"/>
          </p:cNvPicPr>
          <p:nvPr/>
        </p:nvPicPr>
        <p:blipFill>
          <a:blip r:embed="rId2"/>
          <a:stretch>
            <a:fillRect/>
          </a:stretch>
        </p:blipFill>
        <p:spPr>
          <a:xfrm>
            <a:off x="3611880" y="2105753"/>
            <a:ext cx="2560320" cy="3378014"/>
          </a:xfrm>
          <a:prstGeom prst="rect">
            <a:avLst/>
          </a:prstGeom>
        </p:spPr>
      </p:pic>
      <p:sp>
        <p:nvSpPr>
          <p:cNvPr id="8" name="Shape 3"/>
          <p:cNvSpPr/>
          <p:nvPr/>
        </p:nvSpPr>
        <p:spPr>
          <a:xfrm>
            <a:off x="6583680" y="1500505"/>
            <a:ext cx="146304" cy="146304"/>
          </a:xfrm>
          <a:prstGeom prst="rect">
            <a:avLst/>
          </a:prstGeom>
          <a:solidFill>
            <a:srgbClr val="0E7C86"/>
          </a:solidFill>
          <a:ln w="12700">
            <a:solidFill>
              <a:srgbClr val="0E7C86"/>
            </a:solidFill>
            <a:prstDash val="solid"/>
          </a:ln>
        </p:spPr>
      </p:sp>
      <p:sp>
        <p:nvSpPr>
          <p:cNvPr id="9" name="Text 4"/>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0" name="Shape 5"/>
          <p:cNvSpPr/>
          <p:nvPr/>
        </p:nvSpPr>
        <p:spPr>
          <a:xfrm>
            <a:off x="6583680" y="2556129"/>
            <a:ext cx="146304" cy="146304"/>
          </a:xfrm>
          <a:prstGeom prst="rect">
            <a:avLst/>
          </a:prstGeom>
          <a:solidFill>
            <a:srgbClr val="C7791B"/>
          </a:solidFill>
          <a:ln w="12700">
            <a:solidFill>
              <a:srgbClr val="C7791B"/>
            </a:solidFill>
            <a:prstDash val="solid"/>
          </a:ln>
        </p:spPr>
      </p:sp>
      <p:sp>
        <p:nvSpPr>
          <p:cNvPr id="11" name="Text 6"/>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2" name="Shape 7"/>
          <p:cNvSpPr/>
          <p:nvPr/>
        </p:nvSpPr>
        <p:spPr>
          <a:xfrm>
            <a:off x="6583680" y="3611753"/>
            <a:ext cx="146304" cy="146304"/>
          </a:xfrm>
          <a:prstGeom prst="rect">
            <a:avLst/>
          </a:prstGeom>
          <a:solidFill>
            <a:srgbClr val="0E7C86"/>
          </a:solidFill>
          <a:ln w="12700">
            <a:solidFill>
              <a:srgbClr val="0E7C86"/>
            </a:solidFill>
            <a:prstDash val="solid"/>
          </a:ln>
        </p:spPr>
      </p:sp>
      <p:sp>
        <p:nvSpPr>
          <p:cNvPr id="13" name="Text 8"/>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4" name="Shape 9"/>
          <p:cNvSpPr/>
          <p:nvPr/>
        </p:nvSpPr>
        <p:spPr>
          <a:xfrm>
            <a:off x="6583680" y="4905375"/>
            <a:ext cx="146304" cy="146304"/>
          </a:xfrm>
          <a:prstGeom prst="rect">
            <a:avLst/>
          </a:prstGeom>
          <a:solidFill>
            <a:srgbClr val="C7791B"/>
          </a:solidFill>
          <a:ln w="12700">
            <a:solidFill>
              <a:srgbClr val="C7791B"/>
            </a:solidFill>
            <a:prstDash val="solid"/>
          </a:ln>
        </p:spPr>
      </p:sp>
      <p:sp>
        <p:nvSpPr>
          <p:cNvPr id="15" name="Text 10"/>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16" name="Shape 11"/>
          <p:cNvSpPr/>
          <p:nvPr/>
        </p:nvSpPr>
        <p:spPr>
          <a:xfrm>
            <a:off x="6583680" y="5666613"/>
            <a:ext cx="146304" cy="146304"/>
          </a:xfrm>
          <a:prstGeom prst="rect">
            <a:avLst/>
          </a:prstGeom>
          <a:solidFill>
            <a:srgbClr val="0E7C86"/>
          </a:solidFill>
          <a:ln w="12700">
            <a:solidFill>
              <a:srgbClr val="0E7C86"/>
            </a:solidFill>
            <a:prstDash val="solid"/>
          </a:ln>
        </p:spPr>
      </p:sp>
      <p:sp>
        <p:nvSpPr>
          <p:cNvPr id="17" name="Text 12"/>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CMOS inverter with the input at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both transistors conduct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pMOS conducts and the output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nMOS conducts and the output is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neither conducts and the output floats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limit the current of the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button faster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protect the chip from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2026-10-13T08:56:24Z</dcterms:created>
  <dcterms:modified xsi:type="dcterms:W3CDTF">2026-10-13T08:56:24Z</dcterms:modified>
</cp:coreProperties>
</file>