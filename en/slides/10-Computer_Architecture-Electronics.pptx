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d4a0b1d-e773-4690-92e8-aa921f27ddb1}">
          <p14:sldIdLst>
            <p14:sldId id="256"/>
            <p14:sldId id="257"/>
          </p14:sldIdLst>
        </p14:section>
        <p14:section name="Electricity in four quantities" id="{9fb69d49-2ac3-91ba-4db3-847e05c7281e}">
          <p14:sldIdLst>
            <p14:sldId id="258"/>
            <p14:sldId id="259"/>
            <p14:sldId id="260"/>
            <p14:sldId id="261"/>
          </p14:sldIdLst>
        </p14:section>
        <p14:section name="Semiconductors" id="{e49f5d84-6f52-c34c-c723-7551f005695d}">
          <p14:sldIdLst>
            <p14:sldId id="262"/>
            <p14:sldId id="263"/>
            <p14:sldId id="264"/>
          </p14:sldIdLst>
        </p14:section>
        <p14:section name="From volts to bits" id="{fe97efbd-09cc-c6f5-a2c5-42e093afc4a6}">
          <p14:sldIdLst>
            <p14:sldId id="265"/>
            <p14:sldId id="266"/>
            <p14:sldId id="267"/>
            <p14:sldId id="268"/>
            <p14:sldId id="269"/>
            <p14:sldId id="270"/>
          </p14:sldIdLst>
        </p14:section>
        <p14:section name="Back to the machine" id="{d2836125-e301-5b23-b56e-1312f5ad1ff1}">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a gate has been a symbol and a truth table. This lecture gives it a body. It follows one bit, the bit of a button of the kit, from the finger that presses it to the register that your program reads, and along the way explains what a volt is, what a transistor does, and how two transistors make a NOT. No previous knowledge of physics is assumed. The quotation by Clarke is the feeling to dispel: a chip looks like magic only until you see what it is made of.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pull-up inputs; voltage, current, Ohm's law; the transistor as a switch; from volts to bits; CMOS gates. USE NOW: the complete program, the PRG32 tools (used, not studied, in this course). UNDERSTAND LATER: the clock (Lecture 13). A slide without a badge is context: a story, an example, a question, an exercise.
For the lecturer: New lecture for 2026/27, placed between Boolean algebra and combinational machines. It gives the gates of Lectures 08 and 09 a physical body before Lecture 11 composes them into machines. Spiral: the button of the kit, read since the first labs, is followed from the finger to the bit. No previous knowledge of physics is assumed; numbers for the kit are from the ESP32-C6 datasheet (table 5-4) and from the PRG32 hardware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Use the four electrical quantities and Ohm's law on a simple circuit. Size the resistor of an LED and compute a voltage divider. Explain what a transistor is and how a MOS transistor works as a switch. Say how a voltage becomes a logic value, and what a noise margin is. Draw the inverter, the NAND and the NOR in CMOS and count their transistors. And explain pull-up resistors, floating inputs and why switching a gate takes time and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quantities, with the analogy of water in pipes. Voltage is the pressure that pushes; it is measured in volts and always between two points. Current is the flow, in amperes. Resistance is what hinders the flow, in ohms. Power is the work done each second, in watts. The last column ties each to the kit: 3.3 V of supply, about 10 mA through a lit LED, 45 kΩ inside each input pin. Remember the caption: when we say that a pin "is at 3.3 V", we mean with respect to ground, the common reference.
UNDERSTAND NOW: voltage, current, Ohm's law.
For the lecturer: Electric charge is carried by electrons; current is charge per second. A voltage is always between two points: when we say 'the pin is at 3.3 V' we mean with respect to ground, the common reference of the whole circuit. Prefixes: milli (m) 10^-3, micro (µ) 10^-6, kilo (k) 10^3, mega (M)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Ohm's law: the voltage across a resistor equals its resistance times the current through it. A circuit is a closed loop, and the drawing shows the simplest useful one: a supply, a resistor and an LED. The LED keeps about 2 V for itself; the resistor takes the remaining 1.3 V and thereby fixes the current. For 10 mA you need 1.3 divided by 0.010, that is 130 Ω, and the nearest standard value is 150 Ω. Without the resistor the current would be far too large and the LED would burn.
UNDERSTAND NOW: voltage, current, Ohm's law.
For the lecturer: Georg Ohm, 1827. The forward voltage of an LED depends on its colour: about 1.8-2.2 V for red, about 3 V for blue and white. With 150 Ω the current is 1.3 / 150 = 8.7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connecting resistors. In series the same current crosses both and the resistances add. In parallel the same voltage is across both and the total resistance is smaller than either. Two resistors in series form a voltage divider: the output, taken between them, is the supply multiplied by R2 over R1 plus R2. With equal resistors it is half the supply; if R2 is much smaller, the output is close to ground. Keep the divider in mind: it explains the button at the end of the lecture.
UNDERSTAND NOW: voltage, current, Ohm's law.
For the lecturer: The divider is the key to the pull-up circuit at the end of the lecture: a button is a resistor that is either infinite (open) or nearly zero (closed). Parallel: 1/R = 1/R1 + 1/R2.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capacitor stores charge as a tank stores water, and its voltage cannot change instantly: it has to be filled or emptied through a resistance. The time needed is of the order of R times C. For an input pin of the kit, 45 kΩ times 2 pF is 90 nanoseconds. Every wire and every input of a transistor is a small capacitor, and this is where the delay of a gate comes from. A capacitor that is charged or empty is also a way of storing one bit: you will meet it again in the memory lecture.
UNDERSTAND NOW: voltage, current, Ohm's law.
For the lecturer: RC is the time constant: after RC the voltage has covered about 63% of the way. Pin capacitance of the ESP32-C6: 2 pF typical (datasheet). Wiring and the button add more, so the real figure is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Conductors let charge flow; insulators do not. Semiconductors lie in between, and their conduction can be controlled. The control is obtained by doping: adding a few atoms of another element. In n-type silicon there are extra electrons, negative carriers; in p-type silicon there are missing electrons, called holes, which behave as positive carriers. Where a p region meets an n region there is a junction. A chip is a slice of silicon with billions of such regions, connected by layers of metal.
UNDERSTAND NOW: the transistor as a switch.
For the lecturer: Silicon is the second most abundant element in the Earth's crust: sand. The whole industry rests on purifying it and doping it with extreme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history of the switch without moving parts, in six dates. The transistor of 1947 replaces the vacuum tube. The integrated circuit of 1958 puts several transistors on one piece of semiconductor. The MOS transistor of 1960 is small, simple to build and needs almost no control current. CMOS, in 1963, combines two complementary types so that power is drawn only when switching. In 1971 a whole processor fits on a chip with 2,300 transistors; today a chip holds tens of billions.
UNDERSTAND NOW: the transistor as a switch.
For the lecturer: A transistor is a device with three terminals in which a small signal on one controls the current between the other two. Used as an amplifier it made the radio portable; used as a switch it made the computer. Vacuum tubes and relays did the same job in the first computers of Lecture 03, a million times larger and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MOS transistor has three terminals: the gate controls whether current can pass between the other two, the source and the drain. There are two types, and the table says everything: an nMOS conducts when its gate is high; a pMOS conducts when its gate is low. They are complementary: what closes one opens the other. The gate is insulated, so it draws practically no current. One more fact will be needed shortly: an nMOS is good at connecting to ground, a pMOS at connecting to the supply.
UNDERSTAND NOW: the transistor as a switch.
For the lecturer: MOS: metal, oxide, semiconductor, the three layers of the gate. The small circle on the pMOS gate means, as on logic symbols, 'active when low'. Input current of an ESP32-C6 pin: at most 50 nA (datasheet).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circuit does not use exact voltages: it uses two ranges. The figure shows them for the kit. An output guarantees clean levels: above 2.64 V for a 1, below 0.33 V for a 0. An input is more tolerant: it reads 1 above 2.475 V and 0 below 0.825 V. The difference between what an output guarantees and what an input requires is the noise margin: a disturbance smaller than that cannot change the bit. Between the two input thresholds the value is undefined, and signals must cross that band quickly.
UNDERSTAND NOW: from volts to bits.
For the lecturer: ESP32-C6 datasheet, table 5-4, with VDD = 3.3 V: VOH min 0.8 VDD, VOL max 0.1 VDD, VIH min 0.75 VDD, VIL max 0.25 VDD. Noise margins: 2.64 - 2.475 = 0.165 V high, 0.825 - 0.33 = 0.495 V low. This is the threshold 'half of the supply voltage' of Lecture 13, made precise.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give up the richness of analog signals? In an analog circuit the exact value is the information, so every stage adds a little noise, and the noise accumulates: each copy is worse than the previous one. In a digital circuit only the range matters, and every gate produces a fresh, clean level: noise does not accumulate, copies are perfect, and errors can even be detected and corrected. Analog circuits remain indispensable at the edges of a system, where it touches the world: sensors, radio, sound.
UNDERSTAND NOW: from volts to bits.
For the lecturer: The analog-to-digital story of Lecture 04, seen from the wire. The audio amplifier and the radio of the kit are the analog edges of an otherwise digital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gate. One pMOS connects the output to the supply, one nMOS connects it to ground, and both gates are driven by the same input. With the input at 0 the pMOS conducts and the output is 1; with the input at 1 the nMOS conducts and the output is 0. It is a NOT. Exactly one of the two transistors conducts at any time, so no current flows from supply to ground when the input is still: this is why CMOS consumes almost nothing at rest.
UNDERSTAND NOW: CMOS gates.
For the lecturer: CMOS: complementary MOS. Y = A'. The pull-up network (pMOS) and the pull-down network (nMOS) are each other's dual, as in the duality principle of Lecture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inputs, four transistors. In the NAND the two nMOS are in series: the output reaches ground only if A and B are both 1. The two pMOS are in parallel: the output reaches the supply if either input is 0. Series is AND, parallel is OR. The NOR is the dual: series and parallel are exchanged, exactly as De Morgan's laws exchange AND and OR. Check both drawings yourself for the four combinations of the inputs, marking which transistors conduct.
UNDERSTAND NOW: CMOS gates.
For the lecturer: Series is AND, parallel is OR: the switching-circuit idea of Nakajima and Shannon (Lecture 03). Four transistors each. Ask the class to check the four input combinations on the drawing.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of circuits in transistors. A NOT costs 2, a NAND or a NOR 4, an AND or an OR 6, because they are a NAND or a NOR followed by an inverter. This reverses the intuition of the algebra: in CMOS the inverting gates come first, and an AND is more expensive than a NAND. A full adder needs about 28 transistors, a memory cell 6, a flip-flop about 20. Now the purpose of minimisation is concrete: fewer literals mean fewer transistors, less area, less energy and less time.
UNDERSTAND NOW: CMOS gates.
For the lecturer: This is why NAND is the universal gate of Lecture 09 in practice as well as in theory: an AND costs more than a NAND. Counts are for conventional static CMOS and vary with the design style. Thirty-two full adders: about 900 transistors for the adder behind the add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gate drives the inputs of other gates, which are small capacitors. To change level it must charge or discharge them through the resistance of its own transistors, and this takes time: the propagation delay. It also takes energy, at every change of level. The power spent in switching is about C times V squared times f: the capacitance, the square of the supply voltage, and the frequency. Lowering the voltage saves the most, which is why chips moved from 5 V to about 1 V inside. Speed is paid for in heat.
UNDERSTAND NOW: CMOS gates. UNDERSTAND LATER: the clock (studied in Lecture 13).
For the lecturer: C the switched capacitance, V the supply, f the switching frequency. The propagation delay returns in Lecture 11 as the critical path, and in Lecture 13 as the reason for the clock. The ESP32-C6 has a 3.3 V supply for its pins and a lower internal voltage for its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input connected to nothing is floating: it picks up noise and reads 0 or 1 at random. The remedy is a pull-up resistor that ties the pin to 3.3 V. With the button released no current flows, and the pin reads a clean 1. With the button pressed the switch joins the pin to ground: 0 V, a clean 0, and a negligible current of 73 microamperes flows through the resistor. It is a voltage divider whose lower resistor is either infinite or zero. The firmware then inverts the bit, so that in your program pressed is 1.
UNDERSTAND NOW: pull-up inputs.
For the lecturer: Internal weak pull-up of the ESP32-C6: 45 kΩ typical (datasheet). The firmware enables it on every button pin (prg32_input.c) and reads the pins inverted (prg32_controller.c). The triangle is the input buffer of the pin. This is called active-low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Ohm's law to the resistor, not to the whole circuit. The resistor sees the supply minus what the LED keeps: 3.3 minus 2. Divide that voltage by the current, in amperes: 5 mA is 0.005 A.
With the input at 0, which of the two transistors has its gate at the level that makes it conduct? A pMOS conducts with a low gate, and it is the one connected to the supply. The two never conduct together, and the output is never left unconnected.
For the lecturer: 1. Answer: B. R = (3.3 - 2) / 0.005 = 260 Ω.
2. Answer: B. A low gate closes the pMOS, which joins the output to the supply; the nMOS is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AND in CMOS is not built directly: it is a NAND followed by an inverter. Add the transistors of the two.
Think of the released button: the pin is connected to nothing. What would it read? The pull-up has nothing to do with the LED, with speed or with protection: it gives the input a defined level when the switch is open.
For the lecturer: 1. Answer: C. A NAND (4) followed by an inverter (2).
2. Answer: B. Without it the released pin would float; the pull-up ties it to 3.3 V, and the pressed switch overrides it to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terms. Note two false friends: voltage is in Italian tensione, and ground is massa. A capacitor is a condensatore. Gate, source and drain are not translated. The noise margin is the margine di rumore, and a floating input is an ingresso flottante.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Voltage pushes, current flows, resistance hinders, and Ohm's law covers most of what a digital designer needs. A MOS transistor is a switch controlled by a voltage, in two complementary types. A bit is a range of voltages, made reliable by noise margins and by the regeneration of levels. CMOS gates are pairs of switch networks, and the inverting ones are the cheapest. Switching costs time and energy. The next lecture builds machines out of these gates.
Learning status, recap. UNDERSTAND NOW: pull-up inputs; voltage, current, Ohm's law; the transistor as a switch; from volts to bits; CMOS gates. USE NOW: the complete program, the PRG32 tools (used, not studied, in this course). UNDERSTAND LATER: the clock (Lecture 13). A slide without a badge is context: a story, an example, a question, an exercise.
For the lecturer: Next lecture: combinational machines, built from these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10: Electronics and digital electronics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Introduction to Electronics and Digital Electronics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From volts and transistors to logic gates: what a 0 and a 1 are made of</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“Any sufficiently advanced technology is indistinguishable from magic.”</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Arthur C. Clarke, Profiles of the Future, 1973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10-Computer_Architecture-Electronics-Code.pptx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voltage, current, resistance and power, and apply Ohm's law to a simple circuit</a:t>
            </a:r>
            <a:endParaRPr lang="en-US" sz="2200" dirty="0"/>
          </a:p>
        </p:txBody>
      </p:sp>
      <p:sp>
        <p:nvSpPr>
          <p:cNvPr id="5" name="Text 3"/>
          <p:cNvSpPr txBox="1"/>
          <p:nvPr/>
        </p:nvSpPr>
        <p:spPr>
          <a:xfrm>
            <a:off x="548640" y="24444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2620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Size the resistor of an LED and compute a voltage divider</a:t>
            </a:r>
            <a:endParaRPr lang="en-US" sz="2200" dirty="0"/>
          </a:p>
        </p:txBody>
      </p:sp>
      <p:sp>
        <p:nvSpPr>
          <p:cNvPr id="7" name="Text 5"/>
          <p:cNvSpPr txBox="1"/>
          <p:nvPr/>
        </p:nvSpPr>
        <p:spPr>
          <a:xfrm>
            <a:off x="548640" y="3210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1922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transistor is and how a MOS transistor works as a switch</a:t>
            </a:r>
            <a:endParaRPr lang="en-US" sz="2200" dirty="0"/>
          </a:p>
        </p:txBody>
      </p:sp>
      <p:sp>
        <p:nvSpPr>
          <p:cNvPr id="9" name="Text 7"/>
          <p:cNvSpPr txBox="1"/>
          <p:nvPr/>
        </p:nvSpPr>
        <p:spPr>
          <a:xfrm>
            <a:off x="548640" y="39766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583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voltages become logic values, and what a noise margin is</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CMOS inverter, NAND and NOR, and count their transistors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pull-up resistors, floating inputs and why a gate takes time and energy to switch</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quantities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000632"/>
                <a:gridCol w="3637513"/>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Quantity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Symbol,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Water analogy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On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voltage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 volt (V)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pressure that pushes the water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3.3 V between the supply rail and ground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current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ampere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flow: litres per second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10 mA through a lit LED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resistance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 ohm (Ω)</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narrow pipe that hinders the flow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45 kΩ: the pull-up inside each input pin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power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 watt (W)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work the flow can do each second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most 2.5 W from a USB 2.0 port (5 V, 0.5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 voltage is always measured between two points. Ground (GND) is the common reference: 0 V by definition.</a:t>
            </a:r>
            <a:endParaRPr lang="en-US" sz="1500" dirty="0"/>
          </a:p>
        </p:txBody>
      </p:sp>
      <p:sp>
        <p:nvSpPr>
          <p:cNvPr id="5" name="Shape 2"/>
          <p:cNvSpPr/>
          <p:nvPr/>
        </p:nvSpPr>
        <p:spPr>
          <a:xfrm>
            <a:off x="7893761" y="91440"/>
            <a:ext cx="3749294" cy="274320"/>
          </a:xfrm>
          <a:prstGeom prst="rect">
            <a:avLst/>
          </a:prstGeom>
          <a:solidFill>
            <a:srgbClr val="E0F2FE"/>
          </a:solidFill>
          <a:ln w="12700">
            <a:solidFill>
              <a:srgbClr val="0369A1"/>
            </a:solidFill>
            <a:prstDash val="solid"/>
          </a:ln>
        </p:spPr>
      </p:sp>
      <p:sp>
        <p:nvSpPr>
          <p:cNvPr id="6" name="Shape 3"/>
          <p:cNvSpPr/>
          <p:nvPr/>
        </p:nvSpPr>
        <p:spPr>
          <a:xfrm>
            <a:off x="789376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8" name="Text 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voltage, current, Ohm's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Ohm's law, and the resistor of an LED</a:t>
            </a:r>
            <a:endParaRPr lang="en-US" sz="3200" dirty="0"/>
          </a:p>
        </p:txBody>
      </p:sp>
      <p:sp>
        <p:nvSpPr>
          <p:cNvPr id="3" name="Shape 1"/>
          <p:cNvSpPr/>
          <p:nvPr/>
        </p:nvSpPr>
        <p:spPr>
          <a:xfrm>
            <a:off x="548640" y="1417320"/>
            <a:ext cx="4206240" cy="4754880"/>
          </a:xfrm>
          <a:prstGeom prst="roundRect">
            <a:avLst>
              <a:gd name="adj" fmla="val 1739"/>
            </a:avLst>
          </a:prstGeom>
          <a:solidFill>
            <a:srgbClr val="EEF2F4"/>
          </a:solidFill>
          <a:ln w="12700">
            <a:solidFill>
              <a:srgbClr val="EEF2F4"/>
            </a:solidFill>
            <a:prstDash val="solid"/>
          </a:ln>
        </p:spPr>
      </p:sp>
      <p:sp>
        <p:nvSpPr>
          <p:cNvPr id="4" name="Shape 2"/>
          <p:cNvSpPr/>
          <p:nvPr/>
        </p:nvSpPr>
        <p:spPr>
          <a:xfrm>
            <a:off x="7893761" y="91440"/>
            <a:ext cx="3749294" cy="274320"/>
          </a:xfrm>
          <a:prstGeom prst="rect">
            <a:avLst/>
          </a:prstGeom>
          <a:solidFill>
            <a:srgbClr val="E0F2FE"/>
          </a:solidFill>
          <a:ln w="12700">
            <a:solidFill>
              <a:srgbClr val="0369A1"/>
            </a:solidFill>
            <a:prstDash val="solid"/>
          </a:ln>
        </p:spPr>
      </p:sp>
      <p:sp>
        <p:nvSpPr>
          <p:cNvPr id="5" name="Shape 3"/>
          <p:cNvSpPr/>
          <p:nvPr/>
        </p:nvSpPr>
        <p:spPr>
          <a:xfrm>
            <a:off x="789376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7" name="Text 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voltage, current, Ohm's law</a:t>
            </a:r>
            <a:endParaRPr lang="en-US" sz="1100" dirty="0"/>
          </a:p>
        </p:txBody>
      </p:sp>
      <p:pic>
        <p:nvPicPr>
          <p:cNvPr id="9" name="Image 1" descr="preencoded.png">    </p:cNvPr>
          <p:cNvPicPr>
            <a:picLocks noChangeAspect="1"/>
          </p:cNvPicPr>
          <p:nvPr/>
        </p:nvPicPr>
        <p:blipFill>
          <a:blip r:embed="rId2"/>
          <a:stretch>
            <a:fillRect/>
          </a:stretch>
        </p:blipFill>
        <p:spPr>
          <a:xfrm>
            <a:off x="731520" y="2193978"/>
            <a:ext cx="3840480" cy="3201564"/>
          </a:xfrm>
          <a:prstGeom prst="rect">
            <a:avLst/>
          </a:prstGeom>
        </p:spPr>
      </p:pic>
      <p:sp>
        <p:nvSpPr>
          <p:cNvPr id="10" name="Text 5"/>
          <p:cNvSpPr txBox="1"/>
          <p:nvPr/>
        </p:nvSpPr>
        <p:spPr>
          <a:xfrm>
            <a:off x="5120640" y="1417320"/>
            <a:ext cx="6522415" cy="640080"/>
          </a:xfrm>
          <a:prstGeom prst="rect">
            <a:avLst/>
          </a:prstGeom>
          <a:noFill/>
          <a:ln/>
        </p:spPr>
        <p:txBody>
          <a:bodyPr wrap="square" lIns="0" tIns="0" rIns="0" bIns="0" rtlCol="0" anchor="ctr"/>
          <a:lstStyle/>
          <a:p>
            <a:pPr indent="0" marL="0">
              <a:buNone/>
            </a:pPr>
            <a:r>
              <a:rPr lang="en-US" sz="3200" b="1" dirty="0">
                <a:solidFill>
                  <a:srgbClr val="2E4A62"/>
                </a:solidFill>
                <a:latin typeface="Courier New" pitchFamily="34" charset="0"/>
                <a:ea typeface="Courier New" pitchFamily="34" charset="-122"/>
                <a:cs typeface="Courier New" pitchFamily="34" charset="-120"/>
              </a:rPr>
              <a:t>V = R x I</a:t>
            </a:r>
            <a:endParaRPr lang="en-US" sz="3200" dirty="0"/>
          </a:p>
        </p:txBody>
      </p:sp>
      <p:sp>
        <p:nvSpPr>
          <p:cNvPr id="11" name="Shape 6"/>
          <p:cNvSpPr/>
          <p:nvPr/>
        </p:nvSpPr>
        <p:spPr>
          <a:xfrm>
            <a:off x="5120640" y="2338959"/>
            <a:ext cx="146304" cy="146304"/>
          </a:xfrm>
          <a:prstGeom prst="rect">
            <a:avLst/>
          </a:prstGeom>
          <a:solidFill>
            <a:srgbClr val="0E7C86"/>
          </a:solidFill>
          <a:ln w="12700">
            <a:solidFill>
              <a:srgbClr val="0E7C86"/>
            </a:solidFill>
            <a:prstDash val="solid"/>
          </a:ln>
        </p:spPr>
      </p:sp>
      <p:sp>
        <p:nvSpPr>
          <p:cNvPr id="12" name="Text 7"/>
          <p:cNvSpPr txBox="1"/>
          <p:nvPr/>
        </p:nvSpPr>
        <p:spPr>
          <a:xfrm>
            <a:off x="5504688" y="2240280"/>
            <a:ext cx="6138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current through a resistor is proportional to the voltage across it</a:t>
            </a:r>
            <a:endParaRPr lang="en-US" sz="2100" dirty="0"/>
          </a:p>
        </p:txBody>
      </p:sp>
      <p:sp>
        <p:nvSpPr>
          <p:cNvPr id="13" name="Shape 8"/>
          <p:cNvSpPr/>
          <p:nvPr/>
        </p:nvSpPr>
        <p:spPr>
          <a:xfrm>
            <a:off x="5120640" y="3126105"/>
            <a:ext cx="146304" cy="146304"/>
          </a:xfrm>
          <a:prstGeom prst="rect">
            <a:avLst/>
          </a:prstGeom>
          <a:solidFill>
            <a:srgbClr val="C7791B"/>
          </a:solidFill>
          <a:ln w="12700">
            <a:solidFill>
              <a:srgbClr val="C7791B"/>
            </a:solidFill>
            <a:prstDash val="solid"/>
          </a:ln>
        </p:spPr>
      </p:sp>
      <p:sp>
        <p:nvSpPr>
          <p:cNvPr id="14" name="Text 9"/>
          <p:cNvSpPr txBox="1"/>
          <p:nvPr/>
        </p:nvSpPr>
        <p:spPr>
          <a:xfrm>
            <a:off x="5504688" y="3027426"/>
            <a:ext cx="6138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circuit is a closed loop: the current leaves the source, crosses the components and returns</a:t>
            </a:r>
            <a:endParaRPr lang="en-US" sz="2100" dirty="0"/>
          </a:p>
        </p:txBody>
      </p:sp>
      <p:sp>
        <p:nvSpPr>
          <p:cNvPr id="15" name="Shape 10"/>
          <p:cNvSpPr/>
          <p:nvPr/>
        </p:nvSpPr>
        <p:spPr>
          <a:xfrm>
            <a:off x="5120640" y="3913251"/>
            <a:ext cx="146304" cy="146304"/>
          </a:xfrm>
          <a:prstGeom prst="rect">
            <a:avLst/>
          </a:prstGeom>
          <a:solidFill>
            <a:srgbClr val="0E7C86"/>
          </a:solidFill>
          <a:ln w="12700">
            <a:solidFill>
              <a:srgbClr val="0E7C86"/>
            </a:solidFill>
            <a:prstDash val="solid"/>
          </a:ln>
        </p:spPr>
      </p:sp>
      <p:sp>
        <p:nvSpPr>
          <p:cNvPr id="16" name="Text 11"/>
          <p:cNvSpPr txBox="1"/>
          <p:nvPr/>
        </p:nvSpPr>
        <p:spPr>
          <a:xfrm>
            <a:off x="5504688" y="3814572"/>
            <a:ext cx="61383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LED lights when current flows through it, and drops about 2 V; without a resistor the current would be far too large</a:t>
            </a:r>
            <a:endParaRPr lang="en-US" sz="2100" dirty="0"/>
          </a:p>
        </p:txBody>
      </p:sp>
      <p:sp>
        <p:nvSpPr>
          <p:cNvPr id="17" name="Shape 12"/>
          <p:cNvSpPr/>
          <p:nvPr/>
        </p:nvSpPr>
        <p:spPr>
          <a:xfrm>
            <a:off x="5120640" y="5025771"/>
            <a:ext cx="146304" cy="146304"/>
          </a:xfrm>
          <a:prstGeom prst="rect">
            <a:avLst/>
          </a:prstGeom>
          <a:solidFill>
            <a:srgbClr val="C7791B"/>
          </a:solidFill>
          <a:ln w="12700">
            <a:solidFill>
              <a:srgbClr val="C7791B"/>
            </a:solidFill>
            <a:prstDash val="solid"/>
          </a:ln>
        </p:spPr>
      </p:sp>
      <p:sp>
        <p:nvSpPr>
          <p:cNvPr id="18" name="Text 13"/>
          <p:cNvSpPr txBox="1"/>
          <p:nvPr/>
        </p:nvSpPr>
        <p:spPr>
          <a:xfrm>
            <a:off x="5504688" y="4927092"/>
            <a:ext cx="6138367"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resistor takes what is left: 3.3 - 2 = 1.3 V</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for 10 mA: R = 1.3 / 0.010 = 130 Ω; the nearest common value is 150 Ω</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Series, parallel and the voltage divider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38251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Series: the same current crosses both resistors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resistances add: R = R1 + R2</a:t>
            </a:r>
            <a:endParaRPr lang="en-US" sz="2100" dirty="0"/>
          </a:p>
        </p:txBody>
      </p:sp>
      <p:sp>
        <p:nvSpPr>
          <p:cNvPr id="5" name="Shape 3"/>
          <p:cNvSpPr/>
          <p:nvPr/>
        </p:nvSpPr>
        <p:spPr>
          <a:xfrm>
            <a:off x="548640" y="23884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9810"/>
            <a:ext cx="638251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Parallel: the same voltage is across both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current splits; the total resistance is smaller than either</a:t>
            </a:r>
            <a:endParaRPr lang="en-US" sz="2100" dirty="0"/>
          </a:p>
        </p:txBody>
      </p:sp>
      <p:sp>
        <p:nvSpPr>
          <p:cNvPr id="7" name="Shape 5"/>
          <p:cNvSpPr/>
          <p:nvPr/>
        </p:nvSpPr>
        <p:spPr>
          <a:xfrm>
            <a:off x="548640" y="353987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41192"/>
            <a:ext cx="638251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resistors in series divide the voltage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Vout = Vdd x R2 / (R1 + R2)</a:t>
            </a:r>
            <a:endParaRPr lang="en-US" sz="2100" dirty="0"/>
          </a:p>
        </p:txBody>
      </p:sp>
      <p:sp>
        <p:nvSpPr>
          <p:cNvPr id="9" name="Shape 7"/>
          <p:cNvSpPr/>
          <p:nvPr/>
        </p:nvSpPr>
        <p:spPr>
          <a:xfrm>
            <a:off x="548640" y="44123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13682"/>
            <a:ext cx="63825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Equal resistors give half the supply; a much smaller R2 pulls Vout close to ground</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3825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Kirchhoff's rules: the currents entering a node add up to those leaving; the voltages around a loop add up to zero</a:t>
            </a:r>
            <a:endParaRPr lang="en-US" sz="2100" dirty="0"/>
          </a:p>
        </p:txBody>
      </p:sp>
      <p:sp>
        <p:nvSpPr>
          <p:cNvPr id="13" name="Shape 11"/>
          <p:cNvSpPr/>
          <p:nvPr/>
        </p:nvSpPr>
        <p:spPr>
          <a:xfrm>
            <a:off x="7772400" y="1417320"/>
            <a:ext cx="3870655" cy="4754880"/>
          </a:xfrm>
          <a:prstGeom prst="roundRect">
            <a:avLst>
              <a:gd name="adj" fmla="val 1890"/>
            </a:avLst>
          </a:prstGeom>
          <a:solidFill>
            <a:srgbClr val="EEF2F4"/>
          </a:solidFill>
          <a:ln w="12700">
            <a:solidFill>
              <a:srgbClr val="EEF2F4"/>
            </a:solidFill>
            <a:prstDash val="solid"/>
          </a:ln>
        </p:spPr>
      </p:sp>
      <p:sp>
        <p:nvSpPr>
          <p:cNvPr id="14"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5"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7"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voltage, current, Ohm's law</a:t>
            </a:r>
            <a:endParaRPr lang="en-US" sz="1100" dirty="0"/>
          </a:p>
        </p:txBody>
      </p:sp>
      <p:pic>
        <p:nvPicPr>
          <p:cNvPr id="19" name="Image 1" descr="preencoded.png">    </p:cNvPr>
          <p:cNvPicPr>
            <a:picLocks noChangeAspect="1"/>
          </p:cNvPicPr>
          <p:nvPr/>
        </p:nvPicPr>
        <p:blipFill>
          <a:blip r:embed="rId2"/>
          <a:stretch>
            <a:fillRect/>
          </a:stretch>
        </p:blipFill>
        <p:spPr>
          <a:xfrm>
            <a:off x="7955280" y="1925737"/>
            <a:ext cx="3504895" cy="3738045"/>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capacitor: why signals take time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capacitor stores electric charge, as a tank stores water; capacitance is measured in farads (F)</a:t>
            </a:r>
            <a:endParaRPr lang="en-US" sz="2100" dirty="0"/>
          </a:p>
        </p:txBody>
      </p:sp>
      <p:sp>
        <p:nvSpPr>
          <p:cNvPr id="5" name="Shape 3"/>
          <p:cNvSpPr/>
          <p:nvPr/>
        </p:nvSpPr>
        <p:spPr>
          <a:xfrm>
            <a:off x="548640" y="26374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8794"/>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Its voltage cannot jump: it must be filled, or emptied, through a resistance</a:t>
            </a:r>
            <a:endParaRPr lang="en-US" sz="2100" dirty="0"/>
          </a:p>
        </p:txBody>
      </p:sp>
      <p:sp>
        <p:nvSpPr>
          <p:cNvPr id="7" name="Shape 5"/>
          <p:cNvSpPr/>
          <p:nvPr/>
        </p:nvSpPr>
        <p:spPr>
          <a:xfrm>
            <a:off x="548640" y="34335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348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time it takes is of the order of R x C</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45 kΩ x 2 pF = 90 ns: the time an input pin of the kit needs to rise through its pull-up</a:t>
            </a:r>
            <a:endParaRPr lang="en-US" sz="2100" dirty="0"/>
          </a:p>
        </p:txBody>
      </p:sp>
      <p:sp>
        <p:nvSpPr>
          <p:cNvPr id="9" name="Shape 7"/>
          <p:cNvSpPr/>
          <p:nvPr/>
        </p:nvSpPr>
        <p:spPr>
          <a:xfrm>
            <a:off x="548640" y="4498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997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wire and every transistor input is a small capacitor: this is where the propagation delay of a gate comes from</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charged or empty capacitor is also a way to store a bit: the DRAM cell of Lecture 15</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 x C</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resistance times capacitance is a time: the reason nothing in a circuit is instantaneous</a:t>
            </a:r>
            <a:endParaRPr lang="en-US" sz="1900" dirty="0"/>
          </a:p>
        </p:txBody>
      </p:sp>
      <p:sp>
        <p:nvSpPr>
          <p:cNvPr id="16" name="Shape 14"/>
          <p:cNvSpPr/>
          <p:nvPr/>
        </p:nvSpPr>
        <p:spPr>
          <a:xfrm>
            <a:off x="7893761" y="91440"/>
            <a:ext cx="3749294" cy="274320"/>
          </a:xfrm>
          <a:prstGeom prst="rect">
            <a:avLst/>
          </a:prstGeom>
          <a:solidFill>
            <a:srgbClr val="E0F2FE"/>
          </a:solidFill>
          <a:ln w="12700">
            <a:solidFill>
              <a:srgbClr val="0369A1"/>
            </a:solidFill>
            <a:prstDash val="solid"/>
          </a:ln>
        </p:spPr>
      </p:sp>
      <p:sp>
        <p:nvSpPr>
          <p:cNvPr id="17" name="Shape 15"/>
          <p:cNvSpPr/>
          <p:nvPr/>
        </p:nvSpPr>
        <p:spPr>
          <a:xfrm>
            <a:off x="789376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9" name="Text 16"/>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voltage, current, Ohm's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Conductors, insulators, semiconductors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Conductors, such as copper, let charge flow freely; insulators, such as glass, do not</a:t>
            </a:r>
            <a:endParaRPr lang="en-US" sz="2100" dirty="0"/>
          </a:p>
        </p:txBody>
      </p:sp>
      <p:sp>
        <p:nvSpPr>
          <p:cNvPr id="5" name="Shape 3"/>
          <p:cNvSpPr/>
          <p:nvPr/>
        </p:nvSpPr>
        <p:spPr>
          <a:xfrm>
            <a:off x="548640" y="23959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724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Semiconductors, above all silicon, lie in between, and their conduction can be controlled</a:t>
            </a:r>
            <a:endParaRPr lang="en-US" sz="2100" dirty="0"/>
          </a:p>
        </p:txBody>
      </p:sp>
      <p:sp>
        <p:nvSpPr>
          <p:cNvPr id="7" name="Shape 5"/>
          <p:cNvSpPr/>
          <p:nvPr/>
        </p:nvSpPr>
        <p:spPr>
          <a:xfrm>
            <a:off x="548640" y="32758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7159"/>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Doping: adding a few atoms of another element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n-type silicon has extra electrons, negative carriers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p-type silicon has missing electrons, called holes, that behave as positive carriers</a:t>
            </a:r>
            <a:endParaRPr lang="en-US" sz="2100" dirty="0"/>
          </a:p>
        </p:txBody>
      </p:sp>
      <p:sp>
        <p:nvSpPr>
          <p:cNvPr id="9" name="Shape 7"/>
          <p:cNvSpPr/>
          <p:nvPr/>
        </p:nvSpPr>
        <p:spPr>
          <a:xfrm>
            <a:off x="548640" y="474021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153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Where a p region meets an n region there is a junction: the building block of every device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chip is a slice of silicon with billions of doped regions, connected by layers of metal</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Si</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silicon: element 14, a semiconductor, the raw material of almost every chip</a:t>
            </a:r>
            <a:endParaRPr lang="en-US" sz="1900" dirty="0"/>
          </a:p>
        </p:txBody>
      </p:sp>
      <p:sp>
        <p:nvSpPr>
          <p:cNvPr id="16" name="Shape 14"/>
          <p:cNvSpPr/>
          <p:nvPr/>
        </p:nvSpPr>
        <p:spPr>
          <a:xfrm>
            <a:off x="7959420" y="91440"/>
            <a:ext cx="3683635" cy="274320"/>
          </a:xfrm>
          <a:prstGeom prst="rect">
            <a:avLst/>
          </a:prstGeom>
          <a:solidFill>
            <a:srgbClr val="E0F2FE"/>
          </a:solidFill>
          <a:ln w="12700">
            <a:solidFill>
              <a:srgbClr val="0369A1"/>
            </a:solidFill>
            <a:prstDash val="solid"/>
          </a:ln>
        </p:spPr>
      </p:sp>
      <p:sp>
        <p:nvSpPr>
          <p:cNvPr id="17" name="Shape 15"/>
          <p:cNvSpPr/>
          <p:nvPr/>
        </p:nvSpPr>
        <p:spPr>
          <a:xfrm>
            <a:off x="795942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87436" y="128016"/>
            <a:ext cx="201168" cy="201168"/>
          </a:xfrm>
          <a:prstGeom prst="rect">
            <a:avLst/>
          </a:prstGeom>
        </p:spPr>
      </p:pic>
      <p:sp>
        <p:nvSpPr>
          <p:cNvPr id="19" name="Text 16"/>
          <p:cNvSpPr txBox="1"/>
          <p:nvPr/>
        </p:nvSpPr>
        <p:spPr>
          <a:xfrm>
            <a:off x="8343468"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transistor as a switch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transistor: a switch with no moving parts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4183140"/>
                <a:gridCol w="5638145"/>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Year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1947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Bardeen, Brattain and Shockley, Bell Labs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first transistor: it replaces the vacuum tube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1958-59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Jack Kilby; Robert Noyce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integrated circuit: several transistors on one piece of semiconductor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1959-60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Atalla and Kahng, Bell Labs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MOS transistor: small, simple to build, almost no control 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1963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Wanlass and Sah, Fairchild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CMOS: pairs of complementary MOS transistors that draw power only when switching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1971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Intel 4004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2,300 MOS transistors: a processor on a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today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whole industry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 of billions of CMOS transistors on a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59420" y="91440"/>
            <a:ext cx="3683635" cy="274320"/>
          </a:xfrm>
          <a:prstGeom prst="rect">
            <a:avLst/>
          </a:prstGeom>
          <a:solidFill>
            <a:srgbClr val="E0F2FE"/>
          </a:solidFill>
          <a:ln w="12700">
            <a:solidFill>
              <a:srgbClr val="0369A1"/>
            </a:solidFill>
            <a:prstDash val="solid"/>
          </a:ln>
        </p:spPr>
      </p:sp>
      <p:sp>
        <p:nvSpPr>
          <p:cNvPr id="5" name="Shape 2"/>
          <p:cNvSpPr/>
          <p:nvPr/>
        </p:nvSpPr>
        <p:spPr>
          <a:xfrm>
            <a:off x="795942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87436" y="128016"/>
            <a:ext cx="201168" cy="201168"/>
          </a:xfrm>
          <a:prstGeom prst="rect">
            <a:avLst/>
          </a:prstGeom>
        </p:spPr>
      </p:pic>
      <p:sp>
        <p:nvSpPr>
          <p:cNvPr id="7" name="Text 3"/>
          <p:cNvSpPr txBox="1"/>
          <p:nvPr/>
        </p:nvSpPr>
        <p:spPr>
          <a:xfrm>
            <a:off x="8343468"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transistor as a switch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MOS transistor as a switch</a:t>
            </a:r>
            <a:endParaRPr lang="en-US" sz="3200" dirty="0"/>
          </a:p>
        </p:txBody>
      </p:sp>
      <p:sp>
        <p:nvSpPr>
          <p:cNvPr id="3" name="Shape 1"/>
          <p:cNvSpPr/>
          <p:nvPr/>
        </p:nvSpPr>
        <p:spPr>
          <a:xfrm>
            <a:off x="548640" y="1417320"/>
            <a:ext cx="3017520" cy="2286000"/>
          </a:xfrm>
          <a:prstGeom prst="roundRect">
            <a:avLst>
              <a:gd name="adj" fmla="val 3200"/>
            </a:avLst>
          </a:prstGeom>
          <a:solidFill>
            <a:srgbClr val="EEF2F4"/>
          </a:solidFill>
          <a:ln w="12700">
            <a:solidFill>
              <a:srgbClr val="EEF2F4"/>
            </a:solidFill>
            <a:prstDash val="solid"/>
          </a:ln>
        </p:spPr>
      </p:sp>
      <p:sp>
        <p:nvSpPr>
          <p:cNvPr id="4" name="Shape 2"/>
          <p:cNvSpPr/>
          <p:nvPr/>
        </p:nvSpPr>
        <p:spPr>
          <a:xfrm>
            <a:off x="548640" y="3886200"/>
            <a:ext cx="3017520" cy="2286000"/>
          </a:xfrm>
          <a:prstGeom prst="roundRect">
            <a:avLst>
              <a:gd name="adj" fmla="val 3200"/>
            </a:avLst>
          </a:prstGeom>
          <a:solidFill>
            <a:srgbClr val="EEF2F4"/>
          </a:solidFill>
          <a:ln w="12700">
            <a:solidFill>
              <a:srgbClr val="EEF2F4"/>
            </a:solidFill>
            <a:prstDash val="solid"/>
          </a:ln>
        </p:spPr>
      </p:sp>
      <p:sp>
        <p:nvSpPr>
          <p:cNvPr id="5" name="Shape 3"/>
          <p:cNvSpPr/>
          <p:nvPr/>
        </p:nvSpPr>
        <p:spPr>
          <a:xfrm>
            <a:off x="7959420" y="91440"/>
            <a:ext cx="3683635" cy="274320"/>
          </a:xfrm>
          <a:prstGeom prst="rect">
            <a:avLst/>
          </a:prstGeom>
          <a:solidFill>
            <a:srgbClr val="E0F2FE"/>
          </a:solidFill>
          <a:ln w="12700">
            <a:solidFill>
              <a:srgbClr val="0369A1"/>
            </a:solidFill>
            <a:prstDash val="solid"/>
          </a:ln>
        </p:spPr>
      </p:sp>
      <p:sp>
        <p:nvSpPr>
          <p:cNvPr id="6" name="Shape 4"/>
          <p:cNvSpPr/>
          <p:nvPr/>
        </p:nvSpPr>
        <p:spPr>
          <a:xfrm>
            <a:off x="795942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87436" y="128016"/>
            <a:ext cx="201168" cy="201168"/>
          </a:xfrm>
          <a:prstGeom prst="rect">
            <a:avLst/>
          </a:prstGeom>
        </p:spPr>
      </p:pic>
      <p:sp>
        <p:nvSpPr>
          <p:cNvPr id="8" name="Text 5"/>
          <p:cNvSpPr txBox="1"/>
          <p:nvPr/>
        </p:nvSpPr>
        <p:spPr>
          <a:xfrm>
            <a:off x="8343468"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transistor as a switch</a:t>
            </a:r>
            <a:endParaRPr lang="en-US" sz="1100" dirty="0"/>
          </a:p>
        </p:txBody>
      </p:sp>
      <p:pic>
        <p:nvPicPr>
          <p:cNvPr id="10" name="Image 1" descr="preencoded.png">    </p:cNvPr>
          <p:cNvPicPr>
            <a:picLocks noChangeAspect="1"/>
          </p:cNvPicPr>
          <p:nvPr/>
        </p:nvPicPr>
        <p:blipFill>
          <a:blip r:embed="rId2"/>
          <a:stretch>
            <a:fillRect/>
          </a:stretch>
        </p:blipFill>
        <p:spPr>
          <a:xfrm>
            <a:off x="973325" y="1828800"/>
            <a:ext cx="2168150" cy="1737360"/>
          </a:xfrm>
          <a:prstGeom prst="rect">
            <a:avLst/>
          </a:prstGeom>
        </p:spPr>
      </p:pic>
      <p:pic>
        <p:nvPicPr>
          <p:cNvPr id="11" name="Image 2" descr="preencoded.png">    </p:cNvPr>
          <p:cNvPicPr>
            <a:picLocks noChangeAspect="1"/>
          </p:cNvPicPr>
          <p:nvPr/>
        </p:nvPicPr>
        <p:blipFill>
          <a:blip r:embed="rId3"/>
          <a:stretch>
            <a:fillRect/>
          </a:stretch>
        </p:blipFill>
        <p:spPr>
          <a:xfrm>
            <a:off x="973325" y="4297680"/>
            <a:ext cx="2168150" cy="1737360"/>
          </a:xfrm>
          <a:prstGeom prst="rect">
            <a:avLst/>
          </a:prstGeom>
        </p:spPr>
      </p:pic>
      <p:sp>
        <p:nvSpPr>
          <p:cNvPr id="12" name="Text 6"/>
          <p:cNvSpPr txBox="1"/>
          <p:nvPr/>
        </p:nvSpPr>
        <p:spPr>
          <a:xfrm>
            <a:off x="731520" y="1490472"/>
            <a:ext cx="1828800" cy="320040"/>
          </a:xfrm>
          <a:prstGeom prst="rect">
            <a:avLst/>
          </a:prstGeom>
          <a:noFill/>
          <a:ln/>
        </p:spPr>
        <p:txBody>
          <a:bodyPr wrap="square" lIns="0" tIns="0" rIns="0" bIns="0" rtlCol="0" anchor="t"/>
          <a:lstStyle/>
          <a:p>
            <a:pPr indent="0" marL="0">
              <a:buNone/>
            </a:pPr>
            <a:r>
              <a:rPr lang="en-US" sz="1600" b="1" dirty="0">
                <a:solidFill>
                  <a:srgbClr val="0E7C86"/>
                </a:solidFill>
                <a:latin typeface="Calibri" pitchFamily="34" charset="0"/>
                <a:ea typeface="Calibri" pitchFamily="34" charset="-122"/>
                <a:cs typeface="Calibri" pitchFamily="34" charset="-120"/>
              </a:rPr>
              <a:t>nMOS</a:t>
            </a:r>
            <a:endParaRPr lang="en-US" sz="1600" dirty="0"/>
          </a:p>
        </p:txBody>
      </p:sp>
      <p:sp>
        <p:nvSpPr>
          <p:cNvPr id="13" name="Text 7"/>
          <p:cNvSpPr txBox="1"/>
          <p:nvPr/>
        </p:nvSpPr>
        <p:spPr>
          <a:xfrm>
            <a:off x="731520" y="3959352"/>
            <a:ext cx="1828800" cy="320040"/>
          </a:xfrm>
          <a:prstGeom prst="rect">
            <a:avLst/>
          </a:prstGeom>
          <a:noFill/>
          <a:ln/>
        </p:spPr>
        <p:txBody>
          <a:bodyPr wrap="square" lIns="0" tIns="0" rIns="0" bIns="0" rtlCol="0" anchor="t"/>
          <a:lstStyle/>
          <a:p>
            <a:pPr indent="0" marL="0">
              <a:buNone/>
            </a:pPr>
            <a:r>
              <a:rPr lang="en-US" sz="1600" b="1" dirty="0">
                <a:solidFill>
                  <a:srgbClr val="C7791B"/>
                </a:solidFill>
                <a:latin typeface="Calibri" pitchFamily="34" charset="0"/>
                <a:ea typeface="Calibri" pitchFamily="34" charset="-122"/>
                <a:cs typeface="Calibri" pitchFamily="34" charset="-120"/>
              </a:rPr>
              <a:t>pMOS</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23360" y="1417320"/>
          <a:ext cx="7616952" cy="914400"/>
        </p:xfrm>
        <a:graphic>
          <a:graphicData uri="http://schemas.openxmlformats.org/drawingml/2006/table">
            <a:tbl>
              <a:tblPr/>
              <a:tblGrid>
                <a:gridCol w="2011680"/>
                <a:gridCol w="2834640"/>
                <a:gridCol w="2770632"/>
              </a:tblGrid>
              <a:tr h="50292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Gate voltage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high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conducts: switch closed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blocks: switch open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low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blocks: switch open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conducts: switch closed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r>
            </a:tbl>
          </a:graphicData>
        </a:graphic>
      </p:graphicFrame>
      <p:sp>
        <p:nvSpPr>
          <p:cNvPr id="15" name="Shape 8"/>
          <p:cNvSpPr/>
          <p:nvPr/>
        </p:nvSpPr>
        <p:spPr>
          <a:xfrm>
            <a:off x="4023360" y="3253359"/>
            <a:ext cx="146304" cy="146304"/>
          </a:xfrm>
          <a:prstGeom prst="rect">
            <a:avLst/>
          </a:prstGeom>
          <a:solidFill>
            <a:srgbClr val="0E7C86"/>
          </a:solidFill>
          <a:ln w="12700">
            <a:solidFill>
              <a:srgbClr val="0E7C86"/>
            </a:solidFill>
            <a:prstDash val="solid"/>
          </a:ln>
        </p:spPr>
      </p:sp>
      <p:sp>
        <p:nvSpPr>
          <p:cNvPr id="16" name="Text 9"/>
          <p:cNvSpPr txBox="1"/>
          <p:nvPr/>
        </p:nvSpPr>
        <p:spPr>
          <a:xfrm>
            <a:off x="4407408" y="3154680"/>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terminals: the gate controls whether current can pass between the other two, source and drain</a:t>
            </a:r>
            <a:endParaRPr lang="en-US" sz="2100" dirty="0"/>
          </a:p>
        </p:txBody>
      </p:sp>
      <p:sp>
        <p:nvSpPr>
          <p:cNvPr id="17" name="Shape 10"/>
          <p:cNvSpPr/>
          <p:nvPr/>
        </p:nvSpPr>
        <p:spPr>
          <a:xfrm>
            <a:off x="4023360" y="4042283"/>
            <a:ext cx="146304" cy="146304"/>
          </a:xfrm>
          <a:prstGeom prst="rect">
            <a:avLst/>
          </a:prstGeom>
          <a:solidFill>
            <a:srgbClr val="C7791B"/>
          </a:solidFill>
          <a:ln w="12700">
            <a:solidFill>
              <a:srgbClr val="C7791B"/>
            </a:solidFill>
            <a:prstDash val="solid"/>
          </a:ln>
        </p:spPr>
      </p:sp>
      <p:sp>
        <p:nvSpPr>
          <p:cNvPr id="18" name="Text 11"/>
          <p:cNvSpPr txBox="1"/>
          <p:nvPr/>
        </p:nvSpPr>
        <p:spPr>
          <a:xfrm>
            <a:off x="4407408" y="3943604"/>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gate is insulated: it draws practically no current, only the tiny charge of its capacitance</a:t>
            </a:r>
            <a:endParaRPr lang="en-US" sz="2100" dirty="0"/>
          </a:p>
        </p:txBody>
      </p:sp>
      <p:sp>
        <p:nvSpPr>
          <p:cNvPr id="19" name="Shape 12"/>
          <p:cNvSpPr/>
          <p:nvPr/>
        </p:nvSpPr>
        <p:spPr>
          <a:xfrm>
            <a:off x="4023360" y="4831207"/>
            <a:ext cx="146304" cy="146304"/>
          </a:xfrm>
          <a:prstGeom prst="rect">
            <a:avLst/>
          </a:prstGeom>
          <a:solidFill>
            <a:srgbClr val="0E7C86"/>
          </a:solidFill>
          <a:ln w="12700">
            <a:solidFill>
              <a:srgbClr val="0E7C86"/>
            </a:solidFill>
            <a:prstDash val="solid"/>
          </a:ln>
        </p:spPr>
      </p:sp>
      <p:sp>
        <p:nvSpPr>
          <p:cNvPr id="20" name="Text 13"/>
          <p:cNvSpPr txBox="1"/>
          <p:nvPr/>
        </p:nvSpPr>
        <p:spPr>
          <a:xfrm>
            <a:off x="4407408" y="4732528"/>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two types are complementary: what closes one opens the other</a:t>
            </a:r>
            <a:endParaRPr lang="en-US" sz="2100" dirty="0"/>
          </a:p>
        </p:txBody>
      </p:sp>
      <p:sp>
        <p:nvSpPr>
          <p:cNvPr id="21" name="Shape 14"/>
          <p:cNvSpPr/>
          <p:nvPr/>
        </p:nvSpPr>
        <p:spPr>
          <a:xfrm>
            <a:off x="4023360" y="5620131"/>
            <a:ext cx="146304" cy="146304"/>
          </a:xfrm>
          <a:prstGeom prst="rect">
            <a:avLst/>
          </a:prstGeom>
          <a:solidFill>
            <a:srgbClr val="C7791B"/>
          </a:solidFill>
          <a:ln w="12700">
            <a:solidFill>
              <a:srgbClr val="C7791B"/>
            </a:solidFill>
            <a:prstDash val="solid"/>
          </a:ln>
        </p:spPr>
      </p:sp>
      <p:sp>
        <p:nvSpPr>
          <p:cNvPr id="22" name="Text 15"/>
          <p:cNvSpPr txBox="1"/>
          <p:nvPr/>
        </p:nvSpPr>
        <p:spPr>
          <a:xfrm>
            <a:off x="4407408" y="5521452"/>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nMOS passes a good 0 (it connects to ground); pMOS passes a good 1 (it connects to the supply)</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Logic levels: when is a voltage a 1?</a:t>
            </a:r>
            <a:endParaRPr lang="en-US" sz="3200" dirty="0"/>
          </a:p>
        </p:txBody>
      </p:sp>
      <p:sp>
        <p:nvSpPr>
          <p:cNvPr id="3" name="Shape 1"/>
          <p:cNvSpPr/>
          <p:nvPr/>
        </p:nvSpPr>
        <p:spPr>
          <a:xfrm>
            <a:off x="548640" y="1417320"/>
            <a:ext cx="576072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484692" y="91440"/>
            <a:ext cx="3158363" cy="274320"/>
          </a:xfrm>
          <a:prstGeom prst="rect">
            <a:avLst/>
          </a:prstGeom>
          <a:solidFill>
            <a:srgbClr val="E0F2FE"/>
          </a:solidFill>
          <a:ln w="12700">
            <a:solidFill>
              <a:srgbClr val="0369A1"/>
            </a:solidFill>
            <a:prstDash val="solid"/>
          </a:ln>
        </p:spPr>
      </p:sp>
      <p:sp>
        <p:nvSpPr>
          <p:cNvPr id="5" name="Shape 3"/>
          <p:cNvSpPr/>
          <p:nvPr/>
        </p:nvSpPr>
        <p:spPr>
          <a:xfrm>
            <a:off x="848469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7" name="Text 4"/>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from volts to bits</a:t>
            </a:r>
            <a:endParaRPr lang="en-US" sz="1100" dirty="0"/>
          </a:p>
        </p:txBody>
      </p:sp>
      <p:pic>
        <p:nvPicPr>
          <p:cNvPr id="9" name="Image 1" descr="preencoded.png">    </p:cNvPr>
          <p:cNvPicPr>
            <a:picLocks noChangeAspect="1"/>
          </p:cNvPicPr>
          <p:nvPr/>
        </p:nvPicPr>
        <p:blipFill>
          <a:blip r:embed="rId2"/>
          <a:stretch>
            <a:fillRect/>
          </a:stretch>
        </p:blipFill>
        <p:spPr>
          <a:xfrm>
            <a:off x="685800" y="2159889"/>
            <a:ext cx="5486400" cy="3269742"/>
          </a:xfrm>
          <a:prstGeom prst="rect">
            <a:avLst/>
          </a:prstGeom>
        </p:spPr>
      </p:pic>
      <p:sp>
        <p:nvSpPr>
          <p:cNvPr id="10" name="Shape 5"/>
          <p:cNvSpPr/>
          <p:nvPr/>
        </p:nvSpPr>
        <p:spPr>
          <a:xfrm>
            <a:off x="6766560" y="1508252"/>
            <a:ext cx="146304" cy="146304"/>
          </a:xfrm>
          <a:prstGeom prst="rect">
            <a:avLst/>
          </a:prstGeom>
          <a:solidFill>
            <a:srgbClr val="0E7C86"/>
          </a:solidFill>
          <a:ln w="12700">
            <a:solidFill>
              <a:srgbClr val="0E7C86"/>
            </a:solidFill>
            <a:prstDash val="solid"/>
          </a:ln>
        </p:spPr>
      </p:sp>
      <p:sp>
        <p:nvSpPr>
          <p:cNvPr id="11" name="Text 6"/>
          <p:cNvSpPr txBox="1"/>
          <p:nvPr/>
        </p:nvSpPr>
        <p:spPr>
          <a:xfrm>
            <a:off x="7150608" y="1417320"/>
            <a:ext cx="44924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digital circuit uses two ranges of voltage: low is 0, high is 1</a:t>
            </a:r>
            <a:endParaRPr lang="en-US" sz="2000" dirty="0"/>
          </a:p>
        </p:txBody>
      </p:sp>
      <p:sp>
        <p:nvSpPr>
          <p:cNvPr id="12" name="Shape 7"/>
          <p:cNvSpPr/>
          <p:nvPr/>
        </p:nvSpPr>
        <p:spPr>
          <a:xfrm>
            <a:off x="6766560" y="2260346"/>
            <a:ext cx="146304" cy="146304"/>
          </a:xfrm>
          <a:prstGeom prst="rect">
            <a:avLst/>
          </a:prstGeom>
          <a:solidFill>
            <a:srgbClr val="C7791B"/>
          </a:solidFill>
          <a:ln w="12700">
            <a:solidFill>
              <a:srgbClr val="C7791B"/>
            </a:solidFill>
            <a:prstDash val="solid"/>
          </a:ln>
        </p:spPr>
      </p:sp>
      <p:sp>
        <p:nvSpPr>
          <p:cNvPr id="13" name="Text 8"/>
          <p:cNvSpPr txBox="1"/>
          <p:nvPr/>
        </p:nvSpPr>
        <p:spPr>
          <a:xfrm>
            <a:off x="7150608" y="2169414"/>
            <a:ext cx="4492447"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output guarantees clean levels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on the kit: above 2.64 V for a 1, below 0.33 V for a 0</a:t>
            </a:r>
            <a:endParaRPr lang="en-US" sz="2000" dirty="0"/>
          </a:p>
        </p:txBody>
      </p:sp>
      <p:sp>
        <p:nvSpPr>
          <p:cNvPr id="14" name="Shape 9"/>
          <p:cNvSpPr/>
          <p:nvPr/>
        </p:nvSpPr>
        <p:spPr>
          <a:xfrm>
            <a:off x="6766560" y="3265932"/>
            <a:ext cx="146304" cy="146304"/>
          </a:xfrm>
          <a:prstGeom prst="rect">
            <a:avLst/>
          </a:prstGeom>
          <a:solidFill>
            <a:srgbClr val="0E7C86"/>
          </a:solidFill>
          <a:ln w="12700">
            <a:solidFill>
              <a:srgbClr val="0E7C86"/>
            </a:solidFill>
            <a:prstDash val="solid"/>
          </a:ln>
        </p:spPr>
      </p:sp>
      <p:sp>
        <p:nvSpPr>
          <p:cNvPr id="15" name="Text 10"/>
          <p:cNvSpPr txBox="1"/>
          <p:nvPr/>
        </p:nvSpPr>
        <p:spPr>
          <a:xfrm>
            <a:off x="7150608" y="3175000"/>
            <a:ext cx="4492447"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input accepts wider ranges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above 2.475 V it reads 1, below 0.825 V it reads 0</a:t>
            </a:r>
            <a:endParaRPr lang="en-US" sz="2000" dirty="0"/>
          </a:p>
        </p:txBody>
      </p:sp>
      <p:sp>
        <p:nvSpPr>
          <p:cNvPr id="16" name="Shape 11"/>
          <p:cNvSpPr/>
          <p:nvPr/>
        </p:nvSpPr>
        <p:spPr>
          <a:xfrm>
            <a:off x="6766560" y="4271518"/>
            <a:ext cx="146304" cy="146304"/>
          </a:xfrm>
          <a:prstGeom prst="rect">
            <a:avLst/>
          </a:prstGeom>
          <a:solidFill>
            <a:srgbClr val="C7791B"/>
          </a:solidFill>
          <a:ln w="12700">
            <a:solidFill>
              <a:srgbClr val="C7791B"/>
            </a:solidFill>
            <a:prstDash val="solid"/>
          </a:ln>
        </p:spPr>
      </p:sp>
      <p:sp>
        <p:nvSpPr>
          <p:cNvPr id="17" name="Text 12"/>
          <p:cNvSpPr txBox="1"/>
          <p:nvPr/>
        </p:nvSpPr>
        <p:spPr>
          <a:xfrm>
            <a:off x="7150608" y="4180586"/>
            <a:ext cx="4492447"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difference is the noise margin: a disturbance smaller than that cannot change the bit</a:t>
            </a:r>
            <a:endParaRPr lang="en-US" sz="2000" dirty="0"/>
          </a:p>
        </p:txBody>
      </p:sp>
      <p:sp>
        <p:nvSpPr>
          <p:cNvPr id="18" name="Shape 13"/>
          <p:cNvSpPr/>
          <p:nvPr/>
        </p:nvSpPr>
        <p:spPr>
          <a:xfrm>
            <a:off x="6766560" y="5333492"/>
            <a:ext cx="146304" cy="146304"/>
          </a:xfrm>
          <a:prstGeom prst="rect">
            <a:avLst/>
          </a:prstGeom>
          <a:solidFill>
            <a:srgbClr val="0E7C86"/>
          </a:solidFill>
          <a:ln w="12700">
            <a:solidFill>
              <a:srgbClr val="0E7C86"/>
            </a:solidFill>
            <a:prstDash val="solid"/>
          </a:ln>
        </p:spPr>
      </p:sp>
      <p:sp>
        <p:nvSpPr>
          <p:cNvPr id="19" name="Text 14"/>
          <p:cNvSpPr txBox="1"/>
          <p:nvPr/>
        </p:nvSpPr>
        <p:spPr>
          <a:xfrm>
            <a:off x="7150608" y="5242560"/>
            <a:ext cx="4492447"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between, the value is undefined: signals must cross that band quickly and never stay there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digital?</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Analog circuits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The exact value of the voltage is the information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Every stage adds a little noise and distortion, and they accumulate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Copies get worse at every generation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Still indispensable at the edges: sensors, radio, sound</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Digital circuits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Only the range matters: high or low</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Every gate restores the levels: noise does not accumulate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Copies are perfect, and errors can be detected and corrected (Lecture 11)</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Two levels are easy to tell apart with fast, tiny, cheap transistors</a:t>
            </a:r>
            <a:endParaRPr lang="en-US" sz="2000" dirty="0"/>
          </a:p>
        </p:txBody>
      </p:sp>
      <p:sp>
        <p:nvSpPr>
          <p:cNvPr id="9" name="Shape 7"/>
          <p:cNvSpPr/>
          <p:nvPr/>
        </p:nvSpPr>
        <p:spPr>
          <a:xfrm>
            <a:off x="8484692" y="91440"/>
            <a:ext cx="3158363" cy="274320"/>
          </a:xfrm>
          <a:prstGeom prst="rect">
            <a:avLst/>
          </a:prstGeom>
          <a:solidFill>
            <a:srgbClr val="E0F2FE"/>
          </a:solidFill>
          <a:ln w="12700">
            <a:solidFill>
              <a:srgbClr val="0369A1"/>
            </a:solidFill>
            <a:prstDash val="solid"/>
          </a:ln>
        </p:spPr>
      </p:sp>
      <p:sp>
        <p:nvSpPr>
          <p:cNvPr id="10" name="Shape 8"/>
          <p:cNvSpPr/>
          <p:nvPr/>
        </p:nvSpPr>
        <p:spPr>
          <a:xfrm>
            <a:off x="8484692"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2" name="Text 9"/>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from volts to bits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CMOS inverter: a NOT gate from two transistors</a:t>
            </a:r>
            <a:endParaRPr lang="en-US" sz="3200" dirty="0"/>
          </a:p>
        </p:txBody>
      </p:sp>
      <p:sp>
        <p:nvSpPr>
          <p:cNvPr id="3" name="Shape 1"/>
          <p:cNvSpPr/>
          <p:nvPr/>
        </p:nvSpPr>
        <p:spPr>
          <a:xfrm>
            <a:off x="548640" y="1417320"/>
            <a:ext cx="4480560" cy="4754880"/>
          </a:xfrm>
          <a:prstGeom prst="roundRect">
            <a:avLst>
              <a:gd name="adj" fmla="val 1633"/>
            </a:avLst>
          </a:prstGeom>
          <a:solidFill>
            <a:srgbClr val="EEF2F4"/>
          </a:solidFill>
          <a:ln w="12700">
            <a:solidFill>
              <a:srgbClr val="EEF2F4"/>
            </a:solidFill>
            <a:prstDash val="solid"/>
          </a:ln>
        </p:spPr>
      </p:sp>
      <p:sp>
        <p:nvSpPr>
          <p:cNvPr id="4" name="Shape 2"/>
          <p:cNvSpPr/>
          <p:nvPr/>
        </p:nvSpPr>
        <p:spPr>
          <a:xfrm>
            <a:off x="9009964" y="91440"/>
            <a:ext cx="2633091" cy="274320"/>
          </a:xfrm>
          <a:prstGeom prst="rect">
            <a:avLst/>
          </a:prstGeom>
          <a:solidFill>
            <a:srgbClr val="E0F2FE"/>
          </a:solidFill>
          <a:ln w="12700">
            <a:solidFill>
              <a:srgbClr val="0369A1"/>
            </a:solidFill>
            <a:prstDash val="solid"/>
          </a:ln>
        </p:spPr>
      </p:sp>
      <p:sp>
        <p:nvSpPr>
          <p:cNvPr id="5" name="Shape 3"/>
          <p:cNvSpPr/>
          <p:nvPr/>
        </p:nvSpPr>
        <p:spPr>
          <a:xfrm>
            <a:off x="900996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7" name="Text 4"/>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CMOS gates</a:t>
            </a:r>
            <a:endParaRPr lang="en-US" sz="1100" dirty="0"/>
          </a:p>
        </p:txBody>
      </p:sp>
      <p:pic>
        <p:nvPicPr>
          <p:cNvPr id="9" name="Image 1" descr="preencoded.png">    </p:cNvPr>
          <p:cNvPicPr>
            <a:picLocks noChangeAspect="1"/>
          </p:cNvPicPr>
          <p:nvPr/>
        </p:nvPicPr>
        <p:blipFill>
          <a:blip r:embed="rId2"/>
          <a:stretch>
            <a:fillRect/>
          </a:stretch>
        </p:blipFill>
        <p:spPr>
          <a:xfrm>
            <a:off x="731520" y="1670051"/>
            <a:ext cx="4114800" cy="4249417"/>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0" y="1417320"/>
          <a:ext cx="6153912" cy="914400"/>
        </p:xfrm>
        <a:graphic>
          <a:graphicData uri="http://schemas.openxmlformats.org/drawingml/2006/table">
            <a:tbl>
              <a:tblPr/>
              <a:tblGrid>
                <a:gridCol w="731520"/>
                <a:gridCol w="1371600"/>
                <a:gridCol w="1371600"/>
                <a:gridCol w="2679192"/>
              </a:tblGrid>
              <a:tr h="45720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off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 joined to 3.3 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off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 joined to ground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5"/>
          <p:cNvSpPr/>
          <p:nvPr/>
        </p:nvSpPr>
        <p:spPr>
          <a:xfrm>
            <a:off x="5486400" y="3138678"/>
            <a:ext cx="146304" cy="146304"/>
          </a:xfrm>
          <a:prstGeom prst="rect">
            <a:avLst/>
          </a:prstGeom>
          <a:solidFill>
            <a:srgbClr val="0E7C86"/>
          </a:solidFill>
          <a:ln w="12700">
            <a:solidFill>
              <a:srgbClr val="0E7C86"/>
            </a:solidFill>
            <a:prstDash val="solid"/>
          </a:ln>
        </p:spPr>
      </p:sp>
      <p:sp>
        <p:nvSpPr>
          <p:cNvPr id="12" name="Text 6"/>
          <p:cNvSpPr txBox="1"/>
          <p:nvPr/>
        </p:nvSpPr>
        <p:spPr>
          <a:xfrm>
            <a:off x="5870448" y="3063240"/>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One pMOS towards the supply, one nMOS towards ground, driven by the same input</a:t>
            </a:r>
            <a:endParaRPr lang="en-US" sz="1800" dirty="0"/>
          </a:p>
        </p:txBody>
      </p:sp>
      <p:sp>
        <p:nvSpPr>
          <p:cNvPr id="13" name="Shape 7"/>
          <p:cNvSpPr/>
          <p:nvPr/>
        </p:nvSpPr>
        <p:spPr>
          <a:xfrm>
            <a:off x="5486400" y="3896106"/>
            <a:ext cx="146304" cy="146304"/>
          </a:xfrm>
          <a:prstGeom prst="rect">
            <a:avLst/>
          </a:prstGeom>
          <a:solidFill>
            <a:srgbClr val="C7791B"/>
          </a:solidFill>
          <a:ln w="12700">
            <a:solidFill>
              <a:srgbClr val="C7791B"/>
            </a:solidFill>
            <a:prstDash val="solid"/>
          </a:ln>
        </p:spPr>
      </p:sp>
      <p:sp>
        <p:nvSpPr>
          <p:cNvPr id="14" name="Text 8"/>
          <p:cNvSpPr txBox="1"/>
          <p:nvPr/>
        </p:nvSpPr>
        <p:spPr>
          <a:xfrm>
            <a:off x="5870448" y="3820668"/>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Exactly one of the two conducts: the output is always connected to one rail, never to both</a:t>
            </a:r>
            <a:endParaRPr lang="en-US" sz="1800" dirty="0"/>
          </a:p>
        </p:txBody>
      </p:sp>
      <p:sp>
        <p:nvSpPr>
          <p:cNvPr id="15" name="Shape 9"/>
          <p:cNvSpPr/>
          <p:nvPr/>
        </p:nvSpPr>
        <p:spPr>
          <a:xfrm>
            <a:off x="5486400" y="4653534"/>
            <a:ext cx="146304" cy="146304"/>
          </a:xfrm>
          <a:prstGeom prst="rect">
            <a:avLst/>
          </a:prstGeom>
          <a:solidFill>
            <a:srgbClr val="0E7C86"/>
          </a:solidFill>
          <a:ln w="12700">
            <a:solidFill>
              <a:srgbClr val="0E7C86"/>
            </a:solidFill>
            <a:prstDash val="solid"/>
          </a:ln>
        </p:spPr>
      </p:sp>
      <p:sp>
        <p:nvSpPr>
          <p:cNvPr id="16" name="Text 10"/>
          <p:cNvSpPr txBox="1"/>
          <p:nvPr/>
        </p:nvSpPr>
        <p:spPr>
          <a:xfrm>
            <a:off x="5870448" y="4578096"/>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With the input still, no current flows from supply to ground: CMOS consumes almost nothing at rest</a:t>
            </a:r>
            <a:endParaRPr lang="en-US" sz="1800" dirty="0"/>
          </a:p>
        </p:txBody>
      </p:sp>
      <p:sp>
        <p:nvSpPr>
          <p:cNvPr id="17" name="Shape 11"/>
          <p:cNvSpPr/>
          <p:nvPr/>
        </p:nvSpPr>
        <p:spPr>
          <a:xfrm>
            <a:off x="5486400" y="5410962"/>
            <a:ext cx="146304" cy="146304"/>
          </a:xfrm>
          <a:prstGeom prst="rect">
            <a:avLst/>
          </a:prstGeom>
          <a:solidFill>
            <a:srgbClr val="C7791B"/>
          </a:solidFill>
          <a:ln w="12700">
            <a:solidFill>
              <a:srgbClr val="C7791B"/>
            </a:solidFill>
            <a:prstDash val="solid"/>
          </a:ln>
        </p:spPr>
      </p:sp>
      <p:sp>
        <p:nvSpPr>
          <p:cNvPr id="18" name="Text 12"/>
          <p:cNvSpPr txBox="1"/>
          <p:nvPr/>
        </p:nvSpPr>
        <p:spPr>
          <a:xfrm>
            <a:off x="5870448" y="5335524"/>
            <a:ext cx="57726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output is a fresh, clean level whatever the quality of the input: the gate regenerates the signal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NAND and NOR in CMOS</a:t>
            </a:r>
            <a:endParaRPr lang="en-US" sz="3200" dirty="0"/>
          </a:p>
        </p:txBody>
      </p:sp>
      <p:sp>
        <p:nvSpPr>
          <p:cNvPr id="3" name="Shape 1"/>
          <p:cNvSpPr/>
          <p:nvPr/>
        </p:nvSpPr>
        <p:spPr>
          <a:xfrm>
            <a:off x="548640" y="1417320"/>
            <a:ext cx="5364328" cy="3886200"/>
          </a:xfrm>
          <a:prstGeom prst="roundRect">
            <a:avLst>
              <a:gd name="adj" fmla="val 1882"/>
            </a:avLst>
          </a:prstGeom>
          <a:solidFill>
            <a:srgbClr val="EEF2F4"/>
          </a:solidFill>
          <a:ln w="12700">
            <a:solidFill>
              <a:srgbClr val="EEF2F4"/>
            </a:solidFill>
            <a:prstDash val="solid"/>
          </a:ln>
        </p:spPr>
      </p:sp>
      <p:sp>
        <p:nvSpPr>
          <p:cNvPr id="4" name="Shape 2"/>
          <p:cNvSpPr/>
          <p:nvPr/>
        </p:nvSpPr>
        <p:spPr>
          <a:xfrm>
            <a:off x="6278728" y="1417320"/>
            <a:ext cx="5364328" cy="3886200"/>
          </a:xfrm>
          <a:prstGeom prst="roundRect">
            <a:avLst>
              <a:gd name="adj" fmla="val 1882"/>
            </a:avLst>
          </a:prstGeom>
          <a:solidFill>
            <a:srgbClr val="EEF2F4"/>
          </a:solidFill>
          <a:ln w="12700">
            <a:solidFill>
              <a:srgbClr val="EEF2F4"/>
            </a:solidFill>
            <a:prstDash val="solid"/>
          </a:ln>
        </p:spPr>
      </p:sp>
      <p:sp>
        <p:nvSpPr>
          <p:cNvPr id="5" name="Text 3"/>
          <p:cNvSpPr txBox="1"/>
          <p:nvPr/>
        </p:nvSpPr>
        <p:spPr>
          <a:xfrm>
            <a:off x="777240" y="1508760"/>
            <a:ext cx="4907128" cy="365760"/>
          </a:xfrm>
          <a:prstGeom prst="rect">
            <a:avLst/>
          </a:prstGeom>
          <a:noFill/>
          <a:ln/>
        </p:spPr>
        <p:txBody>
          <a:bodyPr wrap="square" lIns="0" tIns="0" rIns="0" bIns="0" rtlCol="0" anchor="t"/>
          <a:lstStyle/>
          <a:p>
            <a:pPr indent="0" marL="0">
              <a:buNone/>
            </a:pPr>
            <a:r>
              <a:rPr lang="en-US" sz="1600" b="1" dirty="0">
                <a:solidFill>
                  <a:srgbClr val="0E7C86"/>
                </a:solidFill>
                <a:latin typeface="Courier New" pitchFamily="34" charset="0"/>
                <a:ea typeface="Courier New" pitchFamily="34" charset="-122"/>
                <a:cs typeface="Courier New" pitchFamily="34" charset="-120"/>
              </a:rPr>
              <a:t>NAND:  Y = (A . B)'</a:t>
            </a:r>
            <a:endParaRPr lang="en-US" sz="1600" dirty="0"/>
          </a:p>
        </p:txBody>
      </p:sp>
      <p:sp>
        <p:nvSpPr>
          <p:cNvPr id="6" name="Text 4"/>
          <p:cNvSpPr txBox="1"/>
          <p:nvPr/>
        </p:nvSpPr>
        <p:spPr>
          <a:xfrm>
            <a:off x="6507328" y="1508760"/>
            <a:ext cx="4907128" cy="365760"/>
          </a:xfrm>
          <a:prstGeom prst="rect">
            <a:avLst/>
          </a:prstGeom>
          <a:noFill/>
          <a:ln/>
        </p:spPr>
        <p:txBody>
          <a:bodyPr wrap="square" lIns="0" tIns="0" rIns="0" bIns="0" rtlCol="0" anchor="t"/>
          <a:lstStyle/>
          <a:p>
            <a:pPr indent="0" marL="0">
              <a:buNone/>
            </a:pPr>
            <a:r>
              <a:rPr lang="en-US" sz="1600" b="1" dirty="0">
                <a:solidFill>
                  <a:srgbClr val="C7791B"/>
                </a:solidFill>
                <a:latin typeface="Courier New" pitchFamily="34" charset="0"/>
                <a:ea typeface="Courier New" pitchFamily="34" charset="-122"/>
                <a:cs typeface="Courier New" pitchFamily="34" charset="-120"/>
              </a:rPr>
              <a:t>NOR:  Y = (A + B)'</a:t>
            </a:r>
            <a:endParaRPr lang="en-US" sz="1600" dirty="0"/>
          </a:p>
        </p:txBody>
      </p:sp>
      <p:sp>
        <p:nvSpPr>
          <p:cNvPr id="7" name="Shape 5"/>
          <p:cNvSpPr/>
          <p:nvPr/>
        </p:nvSpPr>
        <p:spPr>
          <a:xfrm>
            <a:off x="9009964" y="91440"/>
            <a:ext cx="2633091" cy="274320"/>
          </a:xfrm>
          <a:prstGeom prst="rect">
            <a:avLst/>
          </a:prstGeom>
          <a:solidFill>
            <a:srgbClr val="E0F2FE"/>
          </a:solidFill>
          <a:ln w="12700">
            <a:solidFill>
              <a:srgbClr val="0369A1"/>
            </a:solidFill>
            <a:prstDash val="solid"/>
          </a:ln>
        </p:spPr>
      </p:sp>
      <p:sp>
        <p:nvSpPr>
          <p:cNvPr id="8" name="Shape 6"/>
          <p:cNvSpPr/>
          <p:nvPr/>
        </p:nvSpPr>
        <p:spPr>
          <a:xfrm>
            <a:off x="9009964"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0" name="Text 7"/>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CMOS gates</a:t>
            </a:r>
            <a:endParaRPr lang="en-US" sz="1100" dirty="0"/>
          </a:p>
        </p:txBody>
      </p:sp>
      <p:pic>
        <p:nvPicPr>
          <p:cNvPr id="12" name="Image 1" descr="preencoded.png">    </p:cNvPr>
          <p:cNvPicPr>
            <a:picLocks noChangeAspect="1"/>
          </p:cNvPicPr>
          <p:nvPr/>
        </p:nvPicPr>
        <p:blipFill>
          <a:blip r:embed="rId2"/>
          <a:stretch>
            <a:fillRect/>
          </a:stretch>
        </p:blipFill>
        <p:spPr>
          <a:xfrm>
            <a:off x="1447926" y="1874520"/>
            <a:ext cx="3565756" cy="3383280"/>
          </a:xfrm>
          <a:prstGeom prst="rect">
            <a:avLst/>
          </a:prstGeom>
        </p:spPr>
      </p:pic>
      <p:pic>
        <p:nvPicPr>
          <p:cNvPr id="13" name="Image 2" descr="preencoded.png">    </p:cNvPr>
          <p:cNvPicPr>
            <a:picLocks noChangeAspect="1"/>
          </p:cNvPicPr>
          <p:nvPr/>
        </p:nvPicPr>
        <p:blipFill>
          <a:blip r:embed="rId3"/>
          <a:stretch>
            <a:fillRect/>
          </a:stretch>
        </p:blipFill>
        <p:spPr>
          <a:xfrm>
            <a:off x="7178014" y="1874520"/>
            <a:ext cx="3565756" cy="3383280"/>
          </a:xfrm>
          <a:prstGeom prst="rect">
            <a:avLst/>
          </a:prstGeom>
        </p:spPr>
      </p:pic>
      <p:sp>
        <p:nvSpPr>
          <p:cNvPr id="14" name="Shape 8"/>
          <p:cNvSpPr/>
          <p:nvPr/>
        </p:nvSpPr>
        <p:spPr>
          <a:xfrm>
            <a:off x="548640" y="5485130"/>
            <a:ext cx="146304" cy="146304"/>
          </a:xfrm>
          <a:prstGeom prst="rect">
            <a:avLst/>
          </a:prstGeom>
          <a:solidFill>
            <a:srgbClr val="0E7C86"/>
          </a:solidFill>
          <a:ln w="12700">
            <a:solidFill>
              <a:srgbClr val="0E7C86"/>
            </a:solidFill>
            <a:prstDash val="solid"/>
          </a:ln>
        </p:spPr>
      </p:sp>
      <p:sp>
        <p:nvSpPr>
          <p:cNvPr id="15" name="Text 9"/>
          <p:cNvSpPr txBox="1"/>
          <p:nvPr/>
        </p:nvSpPr>
        <p:spPr>
          <a:xfrm>
            <a:off x="932688" y="5440680"/>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NAND: two nMOS in series reach ground only if A AND B are 1; two pMOS in parallel reach the supply if either is 0</a:t>
            </a:r>
            <a:endParaRPr lang="en-US" sz="1400" dirty="0"/>
          </a:p>
        </p:txBody>
      </p:sp>
      <p:sp>
        <p:nvSpPr>
          <p:cNvPr id="16" name="Shape 10"/>
          <p:cNvSpPr/>
          <p:nvPr/>
        </p:nvSpPr>
        <p:spPr>
          <a:xfrm>
            <a:off x="548640" y="5999734"/>
            <a:ext cx="146304" cy="146304"/>
          </a:xfrm>
          <a:prstGeom prst="rect">
            <a:avLst/>
          </a:prstGeom>
          <a:solidFill>
            <a:srgbClr val="C7791B"/>
          </a:solidFill>
          <a:ln w="12700">
            <a:solidFill>
              <a:srgbClr val="C7791B"/>
            </a:solidFill>
            <a:prstDash val="solid"/>
          </a:ln>
        </p:spPr>
      </p:sp>
      <p:sp>
        <p:nvSpPr>
          <p:cNvPr id="17" name="Text 11"/>
          <p:cNvSpPr txBox="1"/>
          <p:nvPr/>
        </p:nvSpPr>
        <p:spPr>
          <a:xfrm>
            <a:off x="932688" y="5955284"/>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NOR: the dual. Parallel becomes series and series becomes parallel, as De Morgan's laws exchange AND and OR</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gates cost, in transistors</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2182508"/>
                <a:gridCol w="5820021"/>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Circuit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Transistors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Remark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CMOS inverter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NAND, NOR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natural gates of CMOS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AND, 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NAND or a NOR followed by an inverter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XOR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8 to 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depending on the design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full adder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28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classic static CMOS adder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SRAM cell, one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inverters in a loop and two access transistors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 flip-flop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latches, master and slave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AND costs more than NAND: in CMOS the inverting gates come first. Minimising a function means saving transistors, area, energy and time.</a:t>
            </a:r>
            <a:endParaRPr lang="en-US" sz="1300" dirty="0"/>
          </a:p>
        </p:txBody>
      </p:sp>
      <p:sp>
        <p:nvSpPr>
          <p:cNvPr id="5" name="Shape 2"/>
          <p:cNvSpPr/>
          <p:nvPr/>
        </p:nvSpPr>
        <p:spPr>
          <a:xfrm>
            <a:off x="9009964" y="91440"/>
            <a:ext cx="2633091" cy="274320"/>
          </a:xfrm>
          <a:prstGeom prst="rect">
            <a:avLst/>
          </a:prstGeom>
          <a:solidFill>
            <a:srgbClr val="E0F2FE"/>
          </a:solidFill>
          <a:ln w="12700">
            <a:solidFill>
              <a:srgbClr val="0369A1"/>
            </a:solidFill>
            <a:prstDash val="solid"/>
          </a:ln>
        </p:spPr>
      </p:sp>
      <p:sp>
        <p:nvSpPr>
          <p:cNvPr id="6" name="Shape 3"/>
          <p:cNvSpPr/>
          <p:nvPr/>
        </p:nvSpPr>
        <p:spPr>
          <a:xfrm>
            <a:off x="9009964"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8" name="Text 4"/>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CMOS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Switching takes time and energy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output of a gate drives the inputs of the next gates, which are small capacitors</a:t>
            </a:r>
            <a:endParaRPr lang="en-US" sz="2100" dirty="0"/>
          </a:p>
        </p:txBody>
      </p:sp>
      <p:sp>
        <p:nvSpPr>
          <p:cNvPr id="5" name="Shape 3"/>
          <p:cNvSpPr/>
          <p:nvPr/>
        </p:nvSpPr>
        <p:spPr>
          <a:xfrm>
            <a:off x="548640" y="230047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17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change level, the output must charge or discharge them through the resistance of its transistors: this is the propagation delay</a:t>
            </a:r>
            <a:endParaRPr lang="en-US" sz="2100" dirty="0"/>
          </a:p>
        </p:txBody>
      </p:sp>
      <p:sp>
        <p:nvSpPr>
          <p:cNvPr id="7" name="Shape 5"/>
          <p:cNvSpPr/>
          <p:nvPr/>
        </p:nvSpPr>
        <p:spPr>
          <a:xfrm>
            <a:off x="548640" y="34103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1652"/>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change of level costs energy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power spent in switching is about C x V^2 x f</a:t>
            </a:r>
            <a:endParaRPr lang="en-US" sz="2100" dirty="0"/>
          </a:p>
        </p:txBody>
      </p:sp>
      <p:sp>
        <p:nvSpPr>
          <p:cNvPr id="9" name="Shape 7"/>
          <p:cNvSpPr/>
          <p:nvPr/>
        </p:nvSpPr>
        <p:spPr>
          <a:xfrm>
            <a:off x="548640" y="41849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62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Lowering the supply voltage saves the most: the reason chips moved from 5 V to 3.3 V to about 1 V inside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Raising the clock frequency raises the consumption in proportion: speed is paid for in heat</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C x V^2 x 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dynamic power: capacitance, the square of the voltage, and how often you switch</a:t>
            </a:r>
            <a:endParaRPr lang="en-US" sz="1900" dirty="0"/>
          </a:p>
        </p:txBody>
      </p:sp>
      <p:sp>
        <p:nvSpPr>
          <p:cNvPr id="16" name="Shape 14"/>
          <p:cNvSpPr/>
          <p:nvPr/>
        </p:nvSpPr>
        <p:spPr>
          <a:xfrm>
            <a:off x="7939862" y="91440"/>
            <a:ext cx="3703193" cy="274320"/>
          </a:xfrm>
          <a:prstGeom prst="rect">
            <a:avLst/>
          </a:prstGeom>
          <a:solidFill>
            <a:srgbClr val="F3E8FF"/>
          </a:solidFill>
          <a:ln w="12700">
            <a:solidFill>
              <a:srgbClr val="7E22CE"/>
            </a:solidFill>
            <a:prstDash val="dash"/>
          </a:ln>
        </p:spPr>
      </p:sp>
      <p:sp>
        <p:nvSpPr>
          <p:cNvPr id="17" name="Shape 15"/>
          <p:cNvSpPr/>
          <p:nvPr/>
        </p:nvSpPr>
        <p:spPr>
          <a:xfrm>
            <a:off x="7967294" y="128016"/>
            <a:ext cx="45720" cy="45720"/>
          </a:xfrm>
          <a:prstGeom prst="rect">
            <a:avLst/>
          </a:prstGeom>
          <a:solidFill>
            <a:srgbClr val="7E22CE"/>
          </a:solidFill>
          <a:ln w="12700">
            <a:solidFill>
              <a:srgbClr val="7E22CE"/>
            </a:solidFill>
            <a:prstDash val="solid"/>
          </a:ln>
        </p:spPr>
      </p:sp>
      <p:sp>
        <p:nvSpPr>
          <p:cNvPr id="18" name="Shape 16"/>
          <p:cNvSpPr/>
          <p:nvPr/>
        </p:nvSpPr>
        <p:spPr>
          <a:xfrm>
            <a:off x="7967294" y="205740"/>
            <a:ext cx="45720" cy="45720"/>
          </a:xfrm>
          <a:prstGeom prst="rect">
            <a:avLst/>
          </a:prstGeom>
          <a:solidFill>
            <a:srgbClr val="7E22CE"/>
          </a:solidFill>
          <a:ln w="12700">
            <a:solidFill>
              <a:srgbClr val="7E22CE"/>
            </a:solidFill>
            <a:prstDash val="solid"/>
          </a:ln>
        </p:spPr>
      </p:sp>
      <p:sp>
        <p:nvSpPr>
          <p:cNvPr id="19" name="Shape 17"/>
          <p:cNvSpPr/>
          <p:nvPr/>
        </p:nvSpPr>
        <p:spPr>
          <a:xfrm>
            <a:off x="7967294" y="283464"/>
            <a:ext cx="45720" cy="45720"/>
          </a:xfrm>
          <a:prstGeom prst="rect">
            <a:avLst/>
          </a:prstGeom>
          <a:solidFill>
            <a:srgbClr val="7E22CE"/>
          </a:solidFill>
          <a:ln w="12700">
            <a:solidFill>
              <a:srgbClr val="7E22CE"/>
            </a:solidFill>
            <a:prstDash val="solid"/>
          </a:ln>
        </p:spPr>
      </p:sp>
      <p:pic>
        <p:nvPicPr>
          <p:cNvPr id="20" name="Image 0" descr="preencoded.png">    </p:cNvPr>
          <p:cNvPicPr>
            <a:picLocks noChangeAspect="1"/>
          </p:cNvPicPr>
          <p:nvPr/>
        </p:nvPicPr>
        <p:blipFill>
          <a:blip r:embed="rId1"/>
          <a:stretch>
            <a:fillRect/>
          </a:stretch>
        </p:blipFill>
        <p:spPr>
          <a:xfrm>
            <a:off x="8067878" y="128016"/>
            <a:ext cx="201168" cy="201168"/>
          </a:xfrm>
          <a:prstGeom prst="rect">
            <a:avLst/>
          </a:prstGeom>
        </p:spPr>
      </p:pic>
      <p:sp>
        <p:nvSpPr>
          <p:cNvPr id="21" name="Text 18"/>
          <p:cNvSpPr txBox="1"/>
          <p:nvPr/>
        </p:nvSpPr>
        <p:spPr>
          <a:xfrm>
            <a:off x="8323910" y="91440"/>
            <a:ext cx="328256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clock</a:t>
            </a:r>
            <a:pPr indent="0" marL="0">
              <a:buNone/>
            </a:pPr>
            <a:r>
              <a:rPr lang="en-US" sz="1100" b="1" dirty="0">
                <a:solidFill>
                  <a:srgbClr val="6B21A8"/>
                </a:solidFill>
                <a:latin typeface="Calibri" pitchFamily="34" charset="0"/>
                <a:ea typeface="Calibri" pitchFamily="34" charset="-122"/>
                <a:cs typeface="Calibri" pitchFamily="34" charset="-120"/>
              </a:rPr>
              <a:t> → Lecture 13</a:t>
            </a:r>
            <a:endParaRPr lang="en-US" sz="1100" dirty="0"/>
          </a:p>
        </p:txBody>
      </p:sp>
      <p:sp>
        <p:nvSpPr>
          <p:cNvPr id="22" name="Shape 19"/>
          <p:cNvSpPr/>
          <p:nvPr/>
        </p:nvSpPr>
        <p:spPr>
          <a:xfrm>
            <a:off x="5197043" y="91440"/>
            <a:ext cx="2633091" cy="274320"/>
          </a:xfrm>
          <a:prstGeom prst="rect">
            <a:avLst/>
          </a:prstGeom>
          <a:solidFill>
            <a:srgbClr val="E0F2FE"/>
          </a:solidFill>
          <a:ln w="12700">
            <a:solidFill>
              <a:srgbClr val="0369A1"/>
            </a:solidFill>
            <a:prstDash val="solid"/>
          </a:ln>
        </p:spPr>
      </p:sp>
      <p:sp>
        <p:nvSpPr>
          <p:cNvPr id="23" name="Shape 20"/>
          <p:cNvSpPr/>
          <p:nvPr/>
        </p:nvSpPr>
        <p:spPr>
          <a:xfrm>
            <a:off x="5197043"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5325059" y="128016"/>
            <a:ext cx="201168" cy="201168"/>
          </a:xfrm>
          <a:prstGeom prst="rect">
            <a:avLst/>
          </a:prstGeom>
        </p:spPr>
      </p:pic>
      <p:sp>
        <p:nvSpPr>
          <p:cNvPr id="25" name="Text 21"/>
          <p:cNvSpPr txBox="1"/>
          <p:nvPr/>
        </p:nvSpPr>
        <p:spPr>
          <a:xfrm>
            <a:off x="5581091"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CMOS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Pull-up: an input that is never left floating</a:t>
            </a:r>
            <a:endParaRPr lang="en-US" sz="3200" dirty="0"/>
          </a:p>
        </p:txBody>
      </p:sp>
      <p:sp>
        <p:nvSpPr>
          <p:cNvPr id="3" name="Shape 1"/>
          <p:cNvSpPr/>
          <p:nvPr/>
        </p:nvSpPr>
        <p:spPr>
          <a:xfrm>
            <a:off x="548640" y="1417320"/>
            <a:ext cx="2743200" cy="4754880"/>
          </a:xfrm>
          <a:prstGeom prst="roundRect">
            <a:avLst>
              <a:gd name="adj" fmla="val 2667"/>
            </a:avLst>
          </a:prstGeom>
          <a:solidFill>
            <a:srgbClr val="EEF2F4"/>
          </a:solidFill>
          <a:ln w="12700">
            <a:solidFill>
              <a:srgbClr val="EEF2F4"/>
            </a:solidFill>
            <a:prstDash val="solid"/>
          </a:ln>
        </p:spPr>
      </p:sp>
      <p:sp>
        <p:nvSpPr>
          <p:cNvPr id="4" name="Shape 2"/>
          <p:cNvSpPr/>
          <p:nvPr/>
        </p:nvSpPr>
        <p:spPr>
          <a:xfrm>
            <a:off x="3520440" y="1417320"/>
            <a:ext cx="2743200" cy="4754880"/>
          </a:xfrm>
          <a:prstGeom prst="roundRect">
            <a:avLst>
              <a:gd name="adj" fmla="val 2667"/>
            </a:avLst>
          </a:prstGeom>
          <a:solidFill>
            <a:srgbClr val="EEF2F4"/>
          </a:solidFill>
          <a:ln w="12700">
            <a:solidFill>
              <a:srgbClr val="EEF2F4"/>
            </a:solidFill>
            <a:prstDash val="solid"/>
          </a:ln>
        </p:spPr>
      </p:sp>
      <p:sp>
        <p:nvSpPr>
          <p:cNvPr id="5" name="Shape 3"/>
          <p:cNvSpPr/>
          <p:nvPr/>
        </p:nvSpPr>
        <p:spPr>
          <a:xfrm>
            <a:off x="8747328" y="91440"/>
            <a:ext cx="2895727" cy="274320"/>
          </a:xfrm>
          <a:prstGeom prst="rect">
            <a:avLst/>
          </a:prstGeom>
          <a:solidFill>
            <a:srgbClr val="E0F2FE"/>
          </a:solidFill>
          <a:ln w="12700">
            <a:solidFill>
              <a:srgbClr val="0369A1"/>
            </a:solidFill>
            <a:prstDash val="solid"/>
          </a:ln>
        </p:spPr>
      </p:sp>
      <p:sp>
        <p:nvSpPr>
          <p:cNvPr id="6" name="Shape 4"/>
          <p:cNvSpPr/>
          <p:nvPr/>
        </p:nvSpPr>
        <p:spPr>
          <a:xfrm>
            <a:off x="8747328"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8" name="Text 5"/>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pic>
        <p:nvPicPr>
          <p:cNvPr id="10" name="Image 1" descr="preencoded.png">    </p:cNvPr>
          <p:cNvPicPr>
            <a:picLocks noChangeAspect="1"/>
          </p:cNvPicPr>
          <p:nvPr/>
        </p:nvPicPr>
        <p:blipFill>
          <a:blip r:embed="rId2"/>
          <a:stretch>
            <a:fillRect/>
          </a:stretch>
        </p:blipFill>
        <p:spPr>
          <a:xfrm>
            <a:off x="640080" y="2105753"/>
            <a:ext cx="2560320" cy="3378014"/>
          </a:xfrm>
          <a:prstGeom prst="rect">
            <a:avLst/>
          </a:prstGeom>
        </p:spPr>
      </p:pic>
      <p:pic>
        <p:nvPicPr>
          <p:cNvPr id="11" name="Image 2" descr="preencoded.png">    </p:cNvPr>
          <p:cNvPicPr>
            <a:picLocks noChangeAspect="1"/>
          </p:cNvPicPr>
          <p:nvPr/>
        </p:nvPicPr>
        <p:blipFill>
          <a:blip r:embed="rId3"/>
          <a:stretch>
            <a:fillRect/>
          </a:stretch>
        </p:blipFill>
        <p:spPr>
          <a:xfrm>
            <a:off x="3611880" y="2105753"/>
            <a:ext cx="2560320" cy="3378014"/>
          </a:xfrm>
          <a:prstGeom prst="rect">
            <a:avLst/>
          </a:prstGeom>
        </p:spPr>
      </p:pic>
      <p:sp>
        <p:nvSpPr>
          <p:cNvPr id="12" name="Shape 6"/>
          <p:cNvSpPr/>
          <p:nvPr/>
        </p:nvSpPr>
        <p:spPr>
          <a:xfrm>
            <a:off x="6583680" y="1500505"/>
            <a:ext cx="146304" cy="146304"/>
          </a:xfrm>
          <a:prstGeom prst="rect">
            <a:avLst/>
          </a:prstGeom>
          <a:solidFill>
            <a:srgbClr val="0E7C86"/>
          </a:solidFill>
          <a:ln w="12700">
            <a:solidFill>
              <a:srgbClr val="0E7C86"/>
            </a:solidFill>
            <a:prstDash val="solid"/>
          </a:ln>
        </p:spPr>
      </p:sp>
      <p:sp>
        <p:nvSpPr>
          <p:cNvPr id="13" name="Text 7"/>
          <p:cNvSpPr txBox="1"/>
          <p:nvPr/>
        </p:nvSpPr>
        <p:spPr>
          <a:xfrm>
            <a:off x="6967728" y="1417320"/>
            <a:ext cx="467532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input connected to nothing is floating: it picks up noise and reads 0 or 1 at random</a:t>
            </a:r>
            <a:endParaRPr lang="en-US" sz="1900" dirty="0"/>
          </a:p>
        </p:txBody>
      </p:sp>
      <p:sp>
        <p:nvSpPr>
          <p:cNvPr id="14" name="Shape 8"/>
          <p:cNvSpPr/>
          <p:nvPr/>
        </p:nvSpPr>
        <p:spPr>
          <a:xfrm>
            <a:off x="6583680" y="2556129"/>
            <a:ext cx="146304" cy="146304"/>
          </a:xfrm>
          <a:prstGeom prst="rect">
            <a:avLst/>
          </a:prstGeom>
          <a:solidFill>
            <a:srgbClr val="C7791B"/>
          </a:solidFill>
          <a:ln w="12700">
            <a:solidFill>
              <a:srgbClr val="C7791B"/>
            </a:solidFill>
            <a:prstDash val="solid"/>
          </a:ln>
        </p:spPr>
      </p:sp>
      <p:sp>
        <p:nvSpPr>
          <p:cNvPr id="15" name="Text 9"/>
          <p:cNvSpPr txBox="1"/>
          <p:nvPr/>
        </p:nvSpPr>
        <p:spPr>
          <a:xfrm>
            <a:off x="6967728" y="2472944"/>
            <a:ext cx="467532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pull-up resistor ties the pin to 3.3 V: released, no current flows, and the pin reads a clean 1</a:t>
            </a:r>
            <a:endParaRPr lang="en-US" sz="1900" dirty="0"/>
          </a:p>
        </p:txBody>
      </p:sp>
      <p:sp>
        <p:nvSpPr>
          <p:cNvPr id="16" name="Shape 10"/>
          <p:cNvSpPr/>
          <p:nvPr/>
        </p:nvSpPr>
        <p:spPr>
          <a:xfrm>
            <a:off x="6583680" y="3611753"/>
            <a:ext cx="146304" cy="146304"/>
          </a:xfrm>
          <a:prstGeom prst="rect">
            <a:avLst/>
          </a:prstGeom>
          <a:solidFill>
            <a:srgbClr val="0E7C86"/>
          </a:solidFill>
          <a:ln w="12700">
            <a:solidFill>
              <a:srgbClr val="0E7C86"/>
            </a:solidFill>
            <a:prstDash val="solid"/>
          </a:ln>
        </p:spPr>
      </p:sp>
      <p:sp>
        <p:nvSpPr>
          <p:cNvPr id="17" name="Text 11"/>
          <p:cNvSpPr txBox="1"/>
          <p:nvPr/>
        </p:nvSpPr>
        <p:spPr>
          <a:xfrm>
            <a:off x="6967728" y="3528568"/>
            <a:ext cx="4675327"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Pressed, the switch joins the pin to ground: 0 V, a clean 0</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 current of 3.3 V / 45 kΩ = 73 µA flows, too small to matter</a:t>
            </a:r>
            <a:endParaRPr lang="en-US" sz="1900" dirty="0"/>
          </a:p>
        </p:txBody>
      </p:sp>
      <p:sp>
        <p:nvSpPr>
          <p:cNvPr id="18" name="Shape 12"/>
          <p:cNvSpPr/>
          <p:nvPr/>
        </p:nvSpPr>
        <p:spPr>
          <a:xfrm>
            <a:off x="6583680" y="4905375"/>
            <a:ext cx="146304" cy="146304"/>
          </a:xfrm>
          <a:prstGeom prst="rect">
            <a:avLst/>
          </a:prstGeom>
          <a:solidFill>
            <a:srgbClr val="C7791B"/>
          </a:solidFill>
          <a:ln w="12700">
            <a:solidFill>
              <a:srgbClr val="C7791B"/>
            </a:solidFill>
            <a:prstDash val="solid"/>
          </a:ln>
        </p:spPr>
      </p:sp>
      <p:sp>
        <p:nvSpPr>
          <p:cNvPr id="19" name="Text 13"/>
          <p:cNvSpPr txBox="1"/>
          <p:nvPr/>
        </p:nvSpPr>
        <p:spPr>
          <a:xfrm>
            <a:off x="6967728" y="4822190"/>
            <a:ext cx="46753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is a voltage divider whose lower resistor is either infinite or zero</a:t>
            </a:r>
            <a:endParaRPr lang="en-US" sz="1900" dirty="0"/>
          </a:p>
        </p:txBody>
      </p:sp>
      <p:sp>
        <p:nvSpPr>
          <p:cNvPr id="20" name="Shape 14"/>
          <p:cNvSpPr/>
          <p:nvPr/>
        </p:nvSpPr>
        <p:spPr>
          <a:xfrm>
            <a:off x="6583680" y="5666613"/>
            <a:ext cx="146304" cy="146304"/>
          </a:xfrm>
          <a:prstGeom prst="rect">
            <a:avLst/>
          </a:prstGeom>
          <a:solidFill>
            <a:srgbClr val="0E7C86"/>
          </a:solidFill>
          <a:ln w="12700">
            <a:solidFill>
              <a:srgbClr val="0E7C86"/>
            </a:solidFill>
            <a:prstDash val="solid"/>
          </a:ln>
        </p:spPr>
      </p:sp>
      <p:sp>
        <p:nvSpPr>
          <p:cNvPr id="21" name="Text 15"/>
          <p:cNvSpPr txBox="1"/>
          <p:nvPr/>
        </p:nvSpPr>
        <p:spPr>
          <a:xfrm>
            <a:off x="6967728" y="5583428"/>
            <a:ext cx="46753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firmware inverts the bit, so that in your program pressed is 1</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An LED drops 2 V and must carry 5 mA from a 3.3 V pin. Which resistor is needed?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 Ω</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260 Ω</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Ω</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660 Ω</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CMOS inverter with the input at 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both transistors conduct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pMOS conducts and the output is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nMOS conducts and the output is 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neither conducts and the output floats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transistors does a two-input AND need in static CMOS?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the button input of the kit need a pull-up resistor?</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limit the current of the LED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pin read a defined 1 when the button is released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button faster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protect the chip from 5 V</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600254"/>
                <a:gridCol w="312030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English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English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voltage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level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livello logico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corrente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noise margin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margine di rumore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resistor / resistance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resistore / resistenza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pull-up resistor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resistenza di pull-up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capacitor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condensatore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floating input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flottante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ground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propagation delay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ritardo di propagazione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semiconductor, doping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semiconduttore, drogaggio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integrated circuit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circuito integrato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basetta sperimentale (breadboard)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Voltage pushes, current flows, resistance hinders: V = R x I describes most of what a digital designer needs</a:t>
            </a:r>
            <a:endParaRPr lang="en-US" sz="1900" dirty="0"/>
          </a:p>
        </p:txBody>
      </p:sp>
      <p:sp>
        <p:nvSpPr>
          <p:cNvPr id="5" name="Shape 3"/>
          <p:cNvSpPr/>
          <p:nvPr/>
        </p:nvSpPr>
        <p:spPr>
          <a:xfrm>
            <a:off x="548640" y="223121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802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MOS transistor is a switch controlled by a voltage; nMOS and pMOS are complementary</a:t>
            </a:r>
            <a:endParaRPr lang="en-US" sz="1900" dirty="0"/>
          </a:p>
        </p:txBody>
      </p:sp>
      <p:sp>
        <p:nvSpPr>
          <p:cNvPr id="7" name="Shape 5"/>
          <p:cNvSpPr/>
          <p:nvPr/>
        </p:nvSpPr>
        <p:spPr>
          <a:xfrm>
            <a:off x="548640" y="26675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58434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bit is a range of voltages; noise margins and regeneration are what make digital circuits reliable</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CMOS gates are pairs of switch networks; the inverting gates NAND and NOR are the cheapest</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Switching costs time (R x C) and energy (C x V^2 x f): the physical limits behind every clock</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Charles Petzold: Code, the chapters from the flashlight to logic gates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sections 1.5, 1.7 and appendix 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PRG32 repository: docs/hardware/hardware.md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Introduction to Electronics and Digital Electronics</dc:title>
  <dc:subject>Lecture 10</dc:subject>
  <dc:creator>Raffaele Montella</dc:creator>
  <cp:lastModifiedBy>Raffaele Montella</cp:lastModifiedBy>
  <cp:revision>1</cp:revision>
  <dcterms:created xsi:type="dcterms:W3CDTF">2026-10-16T16:46:56Z</dcterms:created>
  <dcterms:modified xsi:type="dcterms:W3CDTF">2026-10-16T16:46:56Z</dcterms:modified>
</cp:coreProperties>
</file>