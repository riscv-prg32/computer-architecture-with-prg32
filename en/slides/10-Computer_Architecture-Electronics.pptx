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5756faf-b7e1-45c9-ce60-747cda90349b}">
          <p14:sldIdLst>
            <p14:sldId id="256"/>
            <p14:sldId id="257"/>
          </p14:sldIdLst>
        </p14:section>
        <p14:section name="Electricity in four quantities" id="{6f05f086-f9d6-3b9f-d807-e1a76e2384e6}">
          <p14:sldIdLst>
            <p14:sldId id="258"/>
            <p14:sldId id="259"/>
            <p14:sldId id="260"/>
            <p14:sldId id="261"/>
          </p14:sldIdLst>
        </p14:section>
        <p14:section name="Semiconductors" id="{388c38fc-8a69-5f37-8917-12b338f9431e}">
          <p14:sldIdLst>
            <p14:sldId id="262"/>
            <p14:sldId id="263"/>
            <p14:sldId id="264"/>
          </p14:sldIdLst>
        </p14:section>
        <p14:section name="From volts to bits" id="{115d417e-0826-7802-7402-3272309b6a1a}">
          <p14:sldIdLst>
            <p14:sldId id="265"/>
            <p14:sldId id="266"/>
            <p14:sldId id="267"/>
            <p14:sldId id="268"/>
            <p14:sldId id="269"/>
            <p14:sldId id="270"/>
          </p14:sldIdLst>
        </p14:section>
        <p14:section name="Back to the machine" id="{e32d6a27-a759-ea20-4603-ff84702baa6d}">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now a gate has been a symbol and a truth table; this lecture gives it a physical body. It follows a single bit, that of a button of the kit, from the finger that presses it to the register the program reads, explaining along the way what a volt is, what a transistor does, and how two transistors make a NOT gate. No prior knowledge of physics is assumed. The epigraph by Arthur C. Clarke names the impression the lecture sets out to dispel: a chip appears to be magic only until one sees what it is made of.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pull-up inputs; voltage, current, Ohm's law; the transistor as a switch; from volts to bits; CMOS gates. USE NOW: the complete program, the PRG32 tools (used, not studied, in this course). UNDERSTAND LATER: the clock (Lecture 13). A slide without a badge is context: a story, an example, a question, an exercise.
For the lecturer: New lecture for 2026/27, placed between Boolean algebra and combinational machines. It gives the gates of Lectures 08 and 09 a physical body before Lecture 11 composes them into machines. Spiral: the button of the kit, read since the first labs, is followed from the finger to the bit. No previous knowledge of physics is assumed; numbers for the kit are from the ESP32-C6 datasheet (table 5-4) and from the PRG32 hardware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learning outcomes. Applying the four electrical quantities and Ohm's law to a simple circuit. Sizing the resistor of an LED and computing a voltage divider. Explaining what a transistor is and how a MOS transistor operates as a switch. Stating how a voltage becomes a logic value, and what a noise margin is. Drawing the CMOS inverter, NAND and NOR and counting their transistors. And explaining pull-up resistors, floating inputs, and why switching a gate costs time and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quantities, introduced through the analogy of water in pipes. Voltage is the pressure that drives the flow; it is measured in volts and is always defined between two points. Current is the flow, in amperes. Resistance is the opposition to the flow, in ohms. Power is the work done per second, in watts. The last column relates each to the kit: a 3.3 V supply, about 10 mA through a lit LED, 45 kΩ inside each input pin. The caption fixes a convention: saying that a pin "is at 3.3 V" means 3.3 V with respect to ground, the common reference.
UNDERSTAND NOW: voltage, current, Ohm's law.
For the lecturer: Electric charge is carried by electrons; current is charge per second. A voltage is always between two points: when we say 'the pin is at 3.3 V' we mean with respect to ground, the common reference of the whole circuit. Prefixes: milli (m) 10^-3, micro (µ) 10^-6, kilo (k) 10^3, mega (M) 10^6.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Ohm's law: the voltage across a resistor equals its resistance multiplied by the current through it. A circuit is a closed loop, and the drawing shows the simplest useful one: a supply, a resistor and an LED. The LED holds about 2 V across itself; the resistor takes the remaining 1.3 V and thereby determines the current. For 10 mA the resistance must be 1.3 / 0.010 = 130 Ω, and the nearest standard value is 150 Ω, which errs on the side of a smaller current. Without the resistor the current would be limited only by the supply and the LED would be destroyed.
UNDERSTAND NOW: voltage, current, Ohm's law.
For the lecturer: Georg Ohm, 1827. The forward voltage of an LED depends on its colour: about 1.8-2.2 V for red, about 3 V for blue and white. With 150 Ω the current is 1.3 / 150 = 8.7 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of combining resistors. In series the same current flows through both and the resistances add. In parallel the same voltage appears across both and the combined resistance is smaller than either. Two resistors in series form a voltage divider: the output, taken at their junction, equals the supply multiplied by R2/(R1 + R2). With equal resistors it is half the supply; if R2 is much smaller than R1, the output approaches ground. The divider should be kept in mind, because it explains the button circuit at the end of the lecture.
UNDERSTAND NOW: voltage, current, Ohm's law.
For the lecturer: The divider is the key to the pull-up circuit at the end of the lecture: a button is a resistor that is either infinite (open) or nearly zero (closed). Parallel: 1/R = 1/R1 + 1/R2.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capacitor stores charge as a tank stores water, and its voltage cannot change instantaneously: it must be charged or discharged through a resistance. The time required is of the order of R times C, the time constant; after one time constant the voltage has covered about 63% of its excursion. For an input pin of the kit, 45 kΩ times 2 pF gives 90 nanoseconds. Every wire and every transistor input behaves as a small capacitor, and this is the physical origin of gate delay. A capacitor that is charged or discharged is also a means of storing a bit, as the DRAM cell of Lecture 15 shows.
UNDERSTAND NOW: voltage, current, Ohm's law.
For the lecturer: RC is the time constant: after RC the voltage has covered about 63% of the way. Pin capacitance of the ESP32-C6: 2 pF typical (datasheet). Wiring and the button add more, so the real figure is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Conductors permit the flow of charge; insulators prevent it. Semiconductors lie between the two, and their conductivity can be controlled. The control is achieved by doping: introducing a small number of atoms of another element. In n-type silicon there is an excess of electrons, which act as negative carriers; in p-type silicon there is a deficit of electrons, called holes, which behave as positive carriers. Where a p region meets an n region a junction is formed. A chip is a slice of silicon containing billions of such regions, interconnected by layers of metal.
UNDERSTAND NOW: the transistor as a switch.
For the lecturer: Silicon is the second most abundant element in the Earth's crust: sand. The whole industry rests on purifying it and doping it with extreme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history of the switch without moving parts, in six dates. The transistor of 1947 replaces the vacuum tube. The integrated circuit of 1958 places several transistors on a single piece of semiconductor. The MOS transistor of 1960 is small, simple to manufacture and requires almost no control current. CMOS, in 1963, combines two complementary types so that power is consumed essentially only during switching. In 1971 a complete processor fits on one chip with 2,300 transistors; a contemporary chip holds tens of billions.
UNDERSTAND NOW: the transistor as a switch.
For the lecturer: A transistor is a device with three terminals in which a small signal on one controls the current between the other two. Used as an amplifier it made the radio portable; used as a switch it made the computer. Vacuum tubes and relays did the same job in the first computers of Lecture 03, a million times larger and slower.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MOS transistor has three terminals: the gate controls whether current may pass between the other two, the source and the drain. There are two types, and the table contains everything needed: an nMOS conducts when its gate is high, a pMOS when its gate is low. They are complementary, since the voltage that closes one opens the other. The gate is insulated and draws practically no current. One further fact will be needed shortly: an nMOS is effective at connecting a node to ground, a pMOS at connecting it to the supply.
UNDERSTAND NOW: the transistor as a switch.
For the lecturer: MOS: metal, oxide, semiconductor, the three layers of the gate. The small circle on the pMOS gate means, as on logic symbols, 'active when low'. Input current of an ESP32-C6 pin: at most 50 nA (datasheet).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circuit does not use exact voltages but two ranges, shown in the figure for the kit. An output guarantees clean levels: above 2.64 V for a 1, below 0.33 V for a 0. An input is more tolerant: it reads 1 above 2.475 V and 0 below 0.825 V. The difference between what an output guarantees and what an input requires is the noise margin: a disturbance smaller than the margin cannot alter the bit. Between the two input thresholds the logical value is undefined, and signals must traverse that band quickly.
UNDERSTAND NOW: from volts to bits.
For the lecturer: ESP32-C6 datasheet, table 5-4, with VDD = 3.3 V: VOH min 0.8 VDD, VOL max 0.1 VDD, VIH min 0.75 VDD, VIL max 0.25 VDD. Noise margins: 2.64 - 2.475 = 0.165 V high, 0.825 - 0.33 = 0.495 V low. This is the threshold 'half of the supply voltage' of Lecture 13, made 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renounce the richness of analog signals? In an analog circuit the exact value is the information, so every stage adds a little noise and the noise accumulates: each copy is worse than its predecessor. In a digital circuit only the range matters, and every gate regenerates a fresh, clean level: noise does not accumulate, copies are perfect, and errors can even be detected and corrected, as Lecture 11 shows with parity. Analog circuits remain indispensable at the boundaries of a system, where it meets the physical world: sensors, radio, sound.
UNDERSTAND NOW: from volts to bits.
For the lecturer: The analog-to-digital story of Lecture 04, seen from the wire. The audio amplifier and the radio of the kit are the analog edges of an otherwise digital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gate. A pMOS connects the output to the supply, an nMOS connects it to ground, and both gates are driven by the same input. With the input at 0 the pMOS conducts and the output is 1; with the input at 1 the nMOS conducts and the output is 0. The circuit is a NOT. At any steady input exactly one of the two transistors conducts, so no current flows from supply to ground at rest: this is why CMOS consumes almost no static power, and the reason for its universal adoption.
UNDERSTAND NOW: CMOS gates.
For the lecturer: CMOS: complementary MOS. Y = A'. The pull-up network (pMOS) and the pull-down network (nMOS) are each other's dual, as in the duality principle of Lecture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inputs, four transistors. In the NAND the two nMOS are in series: the output is connected to ground only if A and B are both 1. The two pMOS are in parallel: the output is connected to the supply if either input is 0. Series realises AND, parallel realises OR. The NOR is the dual circuit, with series and parallel interchanged, exactly as De Morgan's laws interchange AND and OR. Both drawings should be checked for the four input combinations, marking which transistors conduct in each case.
UNDERSTAND NOW: CMOS gates.
For the lecturer: Series is AND, parallel is OR: the switching-circuit idea of Nakajima and Shannon (Lecture 03). Four transistors each. Ask the class to check the four input combinations on the 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of circuits measured in transistors. A NOT costs 2, a NAND or a NOR 4, an AND or an OR 6, because each is a NAND or NOR followed by an inverter. This reverses the intuition suggested by the algebra: in CMOS the inverting gates are the primitive ones, and an AND is more expensive than a NAND. A full adder requires about 28 transistors, a memory cell 6, a flip-flop about 20. The purpose of minimisation now becomes concrete: fewer literals mean fewer transistors, and hence less area, less energy and less delay.
UNDERSTAND NOW: CMOS gates.
For the lecturer: This is why NAND is the universal gate of Lecture 09 in practice as well as in theory: an AND costs more than a NAND. Counts are for conventional static CMOS and vary with the design style. Thirty-two full adders: about 900 transistors for the adder behind the add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of a gate drives the inputs of other gates, which are small capacitors. To change level it must charge or discharge them through the resistance of its own transistors, which takes time, the propagation delay, and energy, at every transition. The dynamic power is approximately C times V^2 times f: capacitance, the square of the supply voltage, and the switching frequency. Reducing the voltage yields the largest saving, which is why internal supply voltages fell from 5 V to about 1 V. Speed is paid for in heat. The propagation delay reappears in Lecture 11 as the critical path and in Lecture 13 as the reason for the clock.
UNDERSTAND NOW: CMOS gates. UNDERSTAND LATER: the clock (studied in Lecture 13).
For the lecturer: C the switched capacitance, V the supply, f the switching frequency. The propagation delay returns in Lecture 11 as the critical path, and in Lecture 13 as the reason for the clock. The ESP32-C6 has a 3.3 V supply for its pins and a lower internal voltage for its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input connected to nothing is floating: it picks up noise and reads 0 or 1 unpredictably. The remedy is a pull-up resistor that ties the pin to 3.3 V. With the button released no current flows, and the pin reads a clean 1. With the button pressed the switch connects the pin to ground: 0 V, a clean 0, while a negligible current of 73 microamperes flows through the resistor. The circuit is a voltage divider whose lower resistance is either infinite or zero. The firmware then inverts the bit, so that in the program "pressed" reads as 1. The warm-up is thereby explained completely.
UNDERSTAND NOW: pull-up inputs.
For the lecturer: Internal weak pull-up of the ESP32-C6: 45 kΩ typical (datasheet). The firmware enables it on every button pin (prg32_input.c) and reads the pins inverted (prg32_controller.c). The triangle is the input buffer of the pin. This is called active-low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Ohm's law is applied to the resistor alone, not to the whole circuit. The resistor sees the supply minus what the LED retains, 3.3 - 2 V, and that voltage is divided by the current expressed in amperes: 5 mA is 0.005 A.
For the second, one asks which of the two transistors has its gate at the level that makes it conduct when the input is 0. A pMOS conducts with a low gate, and it is the one connected to the supply. The two transistors never conduct together, and the output is never left unconnected.
For the lecturer: 1. Answer: B. R = (3.3 - 2) / 0.005 = 260 Ω.
2. Answer: B. A low gate closes the pMOS, which joins the output to the supply; the nMOS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an AND is not built directly in CMOS but as a NAND followed by an inverter, so the transistors of the two are added.
For the second, one considers the released button: the pin is then connected to nothing. What would it read? The pull-up is unrelated to the LED, to speed or to protection: it gives the input a defined level when the switch is open.
For the lecturer: 1. Answer: C. A NAND (4) followed by an inverter (2).
2. Answer: B. Without it the released pin would float; the pull-up ties it to 3.3 V, and the pressed switch overrides it to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terms. Two false friends deserve note: voltage is tensione in Italian, and ground is massa. A capacitor is a condensatore. Gate, source and drain are not translated. The noise margin is the margine di rumore, and a floating input is an ingresso flottante.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Voltage drives, current flows, resistance opposes, and Ohm's law covers most of what a digital designer needs. A MOS transistor is a voltage-controlled switch, available in two complementary types. A bit is a range of voltages, made reliable by noise margins and by the regeneration of levels at every gate. CMOS gates are pairs of complementary switch networks, and the inverting gates are the cheapest. Switching costs time and energy. The next lecture builds functional machines from these gates.
Learning status, recap. UNDERSTAND NOW: pull-up inputs; voltage, current, Ohm's law; the transistor as a switch; from volts to bits; CMOS gates. USE NOW: the complete program, the PRG32 tools (used, not studied, in this course). UNDERSTAND LATER: the clock (Lecture 13). A slide without a badge is context: a story, an example, a question, an exercise.
For the lecturer: Next lecture: combinational machines, built from these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10: Electronics and digital electronics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10</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Introduction to Electronics and Digital Electronics</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100" dirty="0">
                <a:solidFill>
                  <a:srgbClr val="CFE3EA"/>
                </a:solidFill>
                <a:latin typeface="Calibri" pitchFamily="34" charset="0"/>
                <a:ea typeface="Calibri" pitchFamily="34" charset="-122"/>
                <a:cs typeface="Calibri" pitchFamily="34" charset="-120"/>
              </a:rPr>
              <a:t>From volts and transistors to logic gates: what a 0 and a 1 are made of</a:t>
            </a:r>
            <a:endParaRPr lang="en-US" sz="21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“Any sufficiently advanced technology is indistinguishable from magic.”</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Arthur C. Clarke, Profiles of the Future, 1973</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10-Computer_Architecture-Electronics-Lab.pptx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kit_breadboard.png">    </p:cNvPr>
          <p:cNvPicPr>
            <a:picLocks noChangeAspect="1"/>
          </p:cNvPicPr>
          <p:nvPr/>
        </p:nvPicPr>
        <p:blipFill>
          <a:blip r:embed="rId1"/>
          <a:stretch>
            <a:fillRect/>
          </a:stretch>
        </p:blipFill>
        <p:spPr>
          <a:xfrm>
            <a:off x="8716975" y="4254756"/>
            <a:ext cx="2834640" cy="1823209"/>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Use voltage, current, resistance and power, and apply Ohm's law to a simple circuit</a:t>
            </a:r>
            <a:endParaRPr lang="en-US" sz="2200" dirty="0"/>
          </a:p>
        </p:txBody>
      </p:sp>
      <p:sp>
        <p:nvSpPr>
          <p:cNvPr id="5" name="Text 3"/>
          <p:cNvSpPr txBox="1"/>
          <p:nvPr/>
        </p:nvSpPr>
        <p:spPr>
          <a:xfrm>
            <a:off x="548640" y="244449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2620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Size the resistor of an LED and compute a voltage divider</a:t>
            </a:r>
            <a:endParaRPr lang="en-US" sz="2200" dirty="0"/>
          </a:p>
        </p:txBody>
      </p:sp>
      <p:sp>
        <p:nvSpPr>
          <p:cNvPr id="7" name="Text 5"/>
          <p:cNvSpPr txBox="1"/>
          <p:nvPr/>
        </p:nvSpPr>
        <p:spPr>
          <a:xfrm>
            <a:off x="548640" y="3210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1922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what a transistor is and how a MOS transistor works as a switch</a:t>
            </a:r>
            <a:endParaRPr lang="en-US" sz="2200" dirty="0"/>
          </a:p>
        </p:txBody>
      </p:sp>
      <p:sp>
        <p:nvSpPr>
          <p:cNvPr id="9" name="Text 7"/>
          <p:cNvSpPr txBox="1"/>
          <p:nvPr/>
        </p:nvSpPr>
        <p:spPr>
          <a:xfrm>
            <a:off x="548640" y="39766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9583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Say how voltages become logic values, and what a noise margin is</a:t>
            </a:r>
            <a:endParaRPr lang="en-US" sz="2200" dirty="0"/>
          </a:p>
        </p:txBody>
      </p:sp>
      <p:sp>
        <p:nvSpPr>
          <p:cNvPr id="11" name="Text 9"/>
          <p:cNvSpPr txBox="1"/>
          <p:nvPr/>
        </p:nvSpPr>
        <p:spPr>
          <a:xfrm>
            <a:off x="548640" y="47426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72440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Draw the CMOS inverter, NAND and NOR, and count their transistors</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pull-up resistors, floating inputs and why a gate takes time and energy to switch</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Four quantities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2000632"/>
                <a:gridCol w="3637513"/>
                <a:gridCol w="381938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Quantity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Symbol, unit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Water analogy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On the kit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voltage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 volt (V)</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pressure that pushes the water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3.3 V between the supply rail and ground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current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 ampere (A)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flow: litres per second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about 10 mA through a lit LED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resistance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 ohm (Ω)</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narrow pipe that hinders the flow</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45 kΩ: the pull-up inside each input pin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power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 watt (W)</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work the flow can do each second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most 2.5 W from a USB 2.0 port (5 V, 0.5 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A voltage is always measured between two points. Ground (GND) is the common reference: 0 V by definition.</a:t>
            </a:r>
            <a:endParaRPr lang="en-US" sz="1500" dirty="0"/>
          </a:p>
        </p:txBody>
      </p:sp>
      <p:sp>
        <p:nvSpPr>
          <p:cNvPr id="5" name="Shape 2"/>
          <p:cNvSpPr/>
          <p:nvPr/>
        </p:nvSpPr>
        <p:spPr>
          <a:xfrm>
            <a:off x="7893761" y="91440"/>
            <a:ext cx="3749294" cy="274320"/>
          </a:xfrm>
          <a:prstGeom prst="rect">
            <a:avLst/>
          </a:prstGeom>
          <a:solidFill>
            <a:srgbClr val="E0F2FE"/>
          </a:solidFill>
          <a:ln w="12700">
            <a:solidFill>
              <a:srgbClr val="0369A1"/>
            </a:solidFill>
            <a:prstDash val="solid"/>
          </a:ln>
        </p:spPr>
      </p:sp>
      <p:sp>
        <p:nvSpPr>
          <p:cNvPr id="6" name="Shape 3"/>
          <p:cNvSpPr/>
          <p:nvPr/>
        </p:nvSpPr>
        <p:spPr>
          <a:xfrm>
            <a:off x="7893761"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021777" y="128016"/>
            <a:ext cx="201168" cy="201168"/>
          </a:xfrm>
          <a:prstGeom prst="rect">
            <a:avLst/>
          </a:prstGeom>
        </p:spPr>
      </p:pic>
      <p:sp>
        <p:nvSpPr>
          <p:cNvPr id="8" name="Text 4"/>
          <p:cNvSpPr txBox="1"/>
          <p:nvPr/>
        </p:nvSpPr>
        <p:spPr>
          <a:xfrm>
            <a:off x="8277809" y="91440"/>
            <a:ext cx="33286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voltage, current, Ohm's law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Ohm's law, and the resistor of an LED</a:t>
            </a:r>
            <a:endParaRPr lang="en-US" sz="3200" dirty="0"/>
          </a:p>
        </p:txBody>
      </p:sp>
      <p:sp>
        <p:nvSpPr>
          <p:cNvPr id="3" name="Shape 1"/>
          <p:cNvSpPr/>
          <p:nvPr/>
        </p:nvSpPr>
        <p:spPr>
          <a:xfrm>
            <a:off x="548640" y="1417320"/>
            <a:ext cx="4206240" cy="4754880"/>
          </a:xfrm>
          <a:prstGeom prst="roundRect">
            <a:avLst>
              <a:gd name="adj" fmla="val 1739"/>
            </a:avLst>
          </a:prstGeom>
          <a:solidFill>
            <a:srgbClr val="EEF2F4"/>
          </a:solidFill>
          <a:ln w="12700">
            <a:solidFill>
              <a:srgbClr val="EEF2F4"/>
            </a:solidFill>
            <a:prstDash val="solid"/>
          </a:ln>
        </p:spPr>
      </p:sp>
      <p:sp>
        <p:nvSpPr>
          <p:cNvPr id="4" name="Shape 2"/>
          <p:cNvSpPr/>
          <p:nvPr/>
        </p:nvSpPr>
        <p:spPr>
          <a:xfrm>
            <a:off x="7893761" y="91440"/>
            <a:ext cx="3749294" cy="274320"/>
          </a:xfrm>
          <a:prstGeom prst="rect">
            <a:avLst/>
          </a:prstGeom>
          <a:solidFill>
            <a:srgbClr val="E0F2FE"/>
          </a:solidFill>
          <a:ln w="12700">
            <a:solidFill>
              <a:srgbClr val="0369A1"/>
            </a:solidFill>
            <a:prstDash val="solid"/>
          </a:ln>
        </p:spPr>
      </p:sp>
      <p:sp>
        <p:nvSpPr>
          <p:cNvPr id="5" name="Shape 3"/>
          <p:cNvSpPr/>
          <p:nvPr/>
        </p:nvSpPr>
        <p:spPr>
          <a:xfrm>
            <a:off x="7893761"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021777" y="128016"/>
            <a:ext cx="201168" cy="201168"/>
          </a:xfrm>
          <a:prstGeom prst="rect">
            <a:avLst/>
          </a:prstGeom>
        </p:spPr>
      </p:pic>
      <p:sp>
        <p:nvSpPr>
          <p:cNvPr id="7" name="Text 4"/>
          <p:cNvSpPr txBox="1"/>
          <p:nvPr/>
        </p:nvSpPr>
        <p:spPr>
          <a:xfrm>
            <a:off x="8277809" y="91440"/>
            <a:ext cx="33286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voltage, current, Ohm's law</a:t>
            </a:r>
            <a:endParaRPr lang="en-US" sz="1100" dirty="0"/>
          </a:p>
        </p:txBody>
      </p:sp>
      <p:pic>
        <p:nvPicPr>
          <p:cNvPr id="9" name="Image 1" descr="preencoded.png">    </p:cNvPr>
          <p:cNvPicPr>
            <a:picLocks noChangeAspect="1"/>
          </p:cNvPicPr>
          <p:nvPr/>
        </p:nvPicPr>
        <p:blipFill>
          <a:blip r:embed="rId2"/>
          <a:stretch>
            <a:fillRect/>
          </a:stretch>
        </p:blipFill>
        <p:spPr>
          <a:xfrm>
            <a:off x="731520" y="2193978"/>
            <a:ext cx="3840480" cy="3201564"/>
          </a:xfrm>
          <a:prstGeom prst="rect">
            <a:avLst/>
          </a:prstGeom>
        </p:spPr>
      </p:pic>
      <p:sp>
        <p:nvSpPr>
          <p:cNvPr id="10" name="Text 5"/>
          <p:cNvSpPr txBox="1"/>
          <p:nvPr/>
        </p:nvSpPr>
        <p:spPr>
          <a:xfrm>
            <a:off x="5120640" y="1417320"/>
            <a:ext cx="6522415" cy="640080"/>
          </a:xfrm>
          <a:prstGeom prst="rect">
            <a:avLst/>
          </a:prstGeom>
          <a:noFill/>
          <a:ln/>
        </p:spPr>
        <p:txBody>
          <a:bodyPr wrap="square" lIns="0" tIns="0" rIns="0" bIns="0" rtlCol="0" anchor="ctr"/>
          <a:lstStyle/>
          <a:p>
            <a:pPr indent="0" marL="0">
              <a:buNone/>
            </a:pPr>
            <a:r>
              <a:rPr lang="en-US" sz="3200" b="1" dirty="0">
                <a:solidFill>
                  <a:srgbClr val="2E4A62"/>
                </a:solidFill>
                <a:latin typeface="Courier New" pitchFamily="34" charset="0"/>
                <a:ea typeface="Courier New" pitchFamily="34" charset="-122"/>
                <a:cs typeface="Courier New" pitchFamily="34" charset="-120"/>
              </a:rPr>
              <a:t>V = R x I</a:t>
            </a:r>
            <a:endParaRPr lang="en-US" sz="3200" dirty="0"/>
          </a:p>
        </p:txBody>
      </p:sp>
      <p:sp>
        <p:nvSpPr>
          <p:cNvPr id="11" name="Shape 6"/>
          <p:cNvSpPr/>
          <p:nvPr/>
        </p:nvSpPr>
        <p:spPr>
          <a:xfrm>
            <a:off x="5120640" y="2338959"/>
            <a:ext cx="146304" cy="146304"/>
          </a:xfrm>
          <a:prstGeom prst="rect">
            <a:avLst/>
          </a:prstGeom>
          <a:solidFill>
            <a:srgbClr val="0E7C86"/>
          </a:solidFill>
          <a:ln w="12700">
            <a:solidFill>
              <a:srgbClr val="0E7C86"/>
            </a:solidFill>
            <a:prstDash val="solid"/>
          </a:ln>
        </p:spPr>
      </p:sp>
      <p:sp>
        <p:nvSpPr>
          <p:cNvPr id="12" name="Text 7"/>
          <p:cNvSpPr txBox="1"/>
          <p:nvPr/>
        </p:nvSpPr>
        <p:spPr>
          <a:xfrm>
            <a:off x="5504688" y="2240280"/>
            <a:ext cx="6138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current through a resistor is proportional to the voltage across it</a:t>
            </a:r>
            <a:endParaRPr lang="en-US" sz="2100" dirty="0"/>
          </a:p>
        </p:txBody>
      </p:sp>
      <p:sp>
        <p:nvSpPr>
          <p:cNvPr id="13" name="Shape 8"/>
          <p:cNvSpPr/>
          <p:nvPr/>
        </p:nvSpPr>
        <p:spPr>
          <a:xfrm>
            <a:off x="5120640" y="3126105"/>
            <a:ext cx="146304" cy="146304"/>
          </a:xfrm>
          <a:prstGeom prst="rect">
            <a:avLst/>
          </a:prstGeom>
          <a:solidFill>
            <a:srgbClr val="C7791B"/>
          </a:solidFill>
          <a:ln w="12700">
            <a:solidFill>
              <a:srgbClr val="C7791B"/>
            </a:solidFill>
            <a:prstDash val="solid"/>
          </a:ln>
        </p:spPr>
      </p:sp>
      <p:sp>
        <p:nvSpPr>
          <p:cNvPr id="14" name="Text 9"/>
          <p:cNvSpPr txBox="1"/>
          <p:nvPr/>
        </p:nvSpPr>
        <p:spPr>
          <a:xfrm>
            <a:off x="5504688" y="3027426"/>
            <a:ext cx="6138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circuit is a closed loop: the current leaves the source, crosses the components and returns</a:t>
            </a:r>
            <a:endParaRPr lang="en-US" sz="2100" dirty="0"/>
          </a:p>
        </p:txBody>
      </p:sp>
      <p:sp>
        <p:nvSpPr>
          <p:cNvPr id="15" name="Shape 10"/>
          <p:cNvSpPr/>
          <p:nvPr/>
        </p:nvSpPr>
        <p:spPr>
          <a:xfrm>
            <a:off x="5120640" y="3913251"/>
            <a:ext cx="146304" cy="146304"/>
          </a:xfrm>
          <a:prstGeom prst="rect">
            <a:avLst/>
          </a:prstGeom>
          <a:solidFill>
            <a:srgbClr val="0E7C86"/>
          </a:solidFill>
          <a:ln w="12700">
            <a:solidFill>
              <a:srgbClr val="0E7C86"/>
            </a:solidFill>
            <a:prstDash val="solid"/>
          </a:ln>
        </p:spPr>
      </p:sp>
      <p:sp>
        <p:nvSpPr>
          <p:cNvPr id="16" name="Text 11"/>
          <p:cNvSpPr txBox="1"/>
          <p:nvPr/>
        </p:nvSpPr>
        <p:spPr>
          <a:xfrm>
            <a:off x="5504688" y="3814572"/>
            <a:ext cx="6138367"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An LED lights when current flows through it, and drops about 2 V; without a resistor the current would be far too large</a:t>
            </a:r>
            <a:endParaRPr lang="en-US" sz="2100" dirty="0"/>
          </a:p>
        </p:txBody>
      </p:sp>
      <p:sp>
        <p:nvSpPr>
          <p:cNvPr id="17" name="Shape 12"/>
          <p:cNvSpPr/>
          <p:nvPr/>
        </p:nvSpPr>
        <p:spPr>
          <a:xfrm>
            <a:off x="5120640" y="5025771"/>
            <a:ext cx="146304" cy="146304"/>
          </a:xfrm>
          <a:prstGeom prst="rect">
            <a:avLst/>
          </a:prstGeom>
          <a:solidFill>
            <a:srgbClr val="C7791B"/>
          </a:solidFill>
          <a:ln w="12700">
            <a:solidFill>
              <a:srgbClr val="C7791B"/>
            </a:solidFill>
            <a:prstDash val="solid"/>
          </a:ln>
        </p:spPr>
      </p:sp>
      <p:sp>
        <p:nvSpPr>
          <p:cNvPr id="18" name="Text 13"/>
          <p:cNvSpPr txBox="1"/>
          <p:nvPr/>
        </p:nvSpPr>
        <p:spPr>
          <a:xfrm>
            <a:off x="5504688" y="4927092"/>
            <a:ext cx="6138367" cy="124510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resistor takes what is left: 3.3 - 2 = 1.3 V</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for 10 mA: R = 1.3 / 0.010 = 130 Ω; the nearest common value is 150 Ω</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Series, parallel and the voltage divider</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382512" cy="64084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Series: the same current crosses both resistors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the resistances add: R = R1 + R2</a:t>
            </a:r>
            <a:endParaRPr lang="en-US" sz="2100" dirty="0"/>
          </a:p>
        </p:txBody>
      </p:sp>
      <p:sp>
        <p:nvSpPr>
          <p:cNvPr id="5" name="Shape 3"/>
          <p:cNvSpPr/>
          <p:nvPr/>
        </p:nvSpPr>
        <p:spPr>
          <a:xfrm>
            <a:off x="548640" y="238848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89810"/>
            <a:ext cx="6382512" cy="91973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Parallel: the same voltage is across both</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the current splits; the total resistance is smaller than either</a:t>
            </a:r>
            <a:endParaRPr lang="en-US" sz="2100" dirty="0"/>
          </a:p>
        </p:txBody>
      </p:sp>
      <p:sp>
        <p:nvSpPr>
          <p:cNvPr id="7" name="Shape 5"/>
          <p:cNvSpPr/>
          <p:nvPr/>
        </p:nvSpPr>
        <p:spPr>
          <a:xfrm>
            <a:off x="548640" y="353987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41192"/>
            <a:ext cx="6382512" cy="64084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Two resistors in series divide the voltage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Vout = Vdd x R2 / (R1 + R2)</a:t>
            </a:r>
            <a:endParaRPr lang="en-US" sz="2100" dirty="0"/>
          </a:p>
        </p:txBody>
      </p:sp>
      <p:sp>
        <p:nvSpPr>
          <p:cNvPr id="9" name="Shape 7"/>
          <p:cNvSpPr/>
          <p:nvPr/>
        </p:nvSpPr>
        <p:spPr>
          <a:xfrm>
            <a:off x="548640" y="441236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13682"/>
            <a:ext cx="63825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Equal resistors give half the supply; a much smaller R2 pulls Vout close to ground</a:t>
            </a:r>
            <a:endParaRPr lang="en-US" sz="2100" dirty="0"/>
          </a:p>
        </p:txBody>
      </p:sp>
      <p:sp>
        <p:nvSpPr>
          <p:cNvPr id="11" name="Shape 9"/>
          <p:cNvSpPr/>
          <p:nvPr/>
        </p:nvSpPr>
        <p:spPr>
          <a:xfrm>
            <a:off x="548640" y="529475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96078"/>
            <a:ext cx="63825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Kirchhoff's rules: the currents entering a node add up to those leaving; the voltages around a loop add up to zero</a:t>
            </a:r>
            <a:endParaRPr lang="en-US" sz="2100" dirty="0"/>
          </a:p>
        </p:txBody>
      </p:sp>
      <p:sp>
        <p:nvSpPr>
          <p:cNvPr id="13" name="Shape 11"/>
          <p:cNvSpPr/>
          <p:nvPr/>
        </p:nvSpPr>
        <p:spPr>
          <a:xfrm>
            <a:off x="7772400" y="1417320"/>
            <a:ext cx="3870655" cy="4754880"/>
          </a:xfrm>
          <a:prstGeom prst="roundRect">
            <a:avLst>
              <a:gd name="adj" fmla="val 1890"/>
            </a:avLst>
          </a:prstGeom>
          <a:solidFill>
            <a:srgbClr val="EEF2F4"/>
          </a:solidFill>
          <a:ln w="12700">
            <a:solidFill>
              <a:srgbClr val="EEF2F4"/>
            </a:solidFill>
            <a:prstDash val="solid"/>
          </a:ln>
        </p:spPr>
      </p:sp>
      <p:sp>
        <p:nvSpPr>
          <p:cNvPr id="14" name="Shape 12"/>
          <p:cNvSpPr/>
          <p:nvPr/>
        </p:nvSpPr>
        <p:spPr>
          <a:xfrm>
            <a:off x="7893761" y="91440"/>
            <a:ext cx="3749294" cy="274320"/>
          </a:xfrm>
          <a:prstGeom prst="rect">
            <a:avLst/>
          </a:prstGeom>
          <a:solidFill>
            <a:srgbClr val="E0F2FE"/>
          </a:solidFill>
          <a:ln w="12700">
            <a:solidFill>
              <a:srgbClr val="0369A1"/>
            </a:solidFill>
            <a:prstDash val="solid"/>
          </a:ln>
        </p:spPr>
      </p:sp>
      <p:sp>
        <p:nvSpPr>
          <p:cNvPr id="15" name="Shape 13"/>
          <p:cNvSpPr/>
          <p:nvPr/>
        </p:nvSpPr>
        <p:spPr>
          <a:xfrm>
            <a:off x="7893761"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021777" y="128016"/>
            <a:ext cx="201168" cy="201168"/>
          </a:xfrm>
          <a:prstGeom prst="rect">
            <a:avLst/>
          </a:prstGeom>
        </p:spPr>
      </p:pic>
      <p:sp>
        <p:nvSpPr>
          <p:cNvPr id="17" name="Text 14"/>
          <p:cNvSpPr txBox="1"/>
          <p:nvPr/>
        </p:nvSpPr>
        <p:spPr>
          <a:xfrm>
            <a:off x="8277809" y="91440"/>
            <a:ext cx="33286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voltage, current, Ohm's law</a:t>
            </a:r>
            <a:endParaRPr lang="en-US" sz="1100" dirty="0"/>
          </a:p>
        </p:txBody>
      </p:sp>
      <p:pic>
        <p:nvPicPr>
          <p:cNvPr id="19" name="Image 1" descr="preencoded.png">    </p:cNvPr>
          <p:cNvPicPr>
            <a:picLocks noChangeAspect="1"/>
          </p:cNvPicPr>
          <p:nvPr/>
        </p:nvPicPr>
        <p:blipFill>
          <a:blip r:embed="rId2"/>
          <a:stretch>
            <a:fillRect/>
          </a:stretch>
        </p:blipFill>
        <p:spPr>
          <a:xfrm>
            <a:off x="7955280" y="1925737"/>
            <a:ext cx="3504895" cy="3738045"/>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capacitor: why signals take time</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capacitor stores electric charge, as a tank stores water; capacitance is measured in farads (F)</a:t>
            </a:r>
            <a:endParaRPr lang="en-US" sz="2100" dirty="0"/>
          </a:p>
        </p:txBody>
      </p:sp>
      <p:sp>
        <p:nvSpPr>
          <p:cNvPr id="5" name="Shape 3"/>
          <p:cNvSpPr/>
          <p:nvPr/>
        </p:nvSpPr>
        <p:spPr>
          <a:xfrm>
            <a:off x="548640" y="263747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38794"/>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Its voltage cannot jump: it must be filled, or emptied, through a resistance</a:t>
            </a:r>
            <a:endParaRPr lang="en-US" sz="2100" dirty="0"/>
          </a:p>
        </p:txBody>
      </p:sp>
      <p:sp>
        <p:nvSpPr>
          <p:cNvPr id="7" name="Shape 5"/>
          <p:cNvSpPr/>
          <p:nvPr/>
        </p:nvSpPr>
        <p:spPr>
          <a:xfrm>
            <a:off x="548640" y="343357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34893"/>
            <a:ext cx="6565392" cy="91973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time it takes is of the order of R x C</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45 kΩ x 2 pF = 90 ns: the time an input pin of the kit needs to rise through its pull-up</a:t>
            </a:r>
            <a:endParaRPr lang="en-US" sz="2100" dirty="0"/>
          </a:p>
        </p:txBody>
      </p:sp>
      <p:sp>
        <p:nvSpPr>
          <p:cNvPr id="9" name="Shape 7"/>
          <p:cNvSpPr/>
          <p:nvPr/>
        </p:nvSpPr>
        <p:spPr>
          <a:xfrm>
            <a:off x="548640" y="449865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99979"/>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Every wire and every transistor input is a small capacitor: this is where the propagation delay of a gate comes from</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charged or empty capacitor is also a way to store a bit: the DRAM cell of Lecture 15</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R x C</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resistance times capacitance is a time: the reason nothing in a circuit is instantaneous</a:t>
            </a:r>
            <a:endParaRPr lang="en-US" sz="1900" dirty="0"/>
          </a:p>
        </p:txBody>
      </p:sp>
      <p:sp>
        <p:nvSpPr>
          <p:cNvPr id="16" name="Shape 14"/>
          <p:cNvSpPr/>
          <p:nvPr/>
        </p:nvSpPr>
        <p:spPr>
          <a:xfrm>
            <a:off x="7893761" y="91440"/>
            <a:ext cx="3749294" cy="274320"/>
          </a:xfrm>
          <a:prstGeom prst="rect">
            <a:avLst/>
          </a:prstGeom>
          <a:solidFill>
            <a:srgbClr val="E0F2FE"/>
          </a:solidFill>
          <a:ln w="12700">
            <a:solidFill>
              <a:srgbClr val="0369A1"/>
            </a:solidFill>
            <a:prstDash val="solid"/>
          </a:ln>
        </p:spPr>
      </p:sp>
      <p:sp>
        <p:nvSpPr>
          <p:cNvPr id="17" name="Shape 15"/>
          <p:cNvSpPr/>
          <p:nvPr/>
        </p:nvSpPr>
        <p:spPr>
          <a:xfrm>
            <a:off x="7893761"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021777" y="128016"/>
            <a:ext cx="201168" cy="201168"/>
          </a:xfrm>
          <a:prstGeom prst="rect">
            <a:avLst/>
          </a:prstGeom>
        </p:spPr>
      </p:pic>
      <p:sp>
        <p:nvSpPr>
          <p:cNvPr id="19" name="Text 16"/>
          <p:cNvSpPr txBox="1"/>
          <p:nvPr/>
        </p:nvSpPr>
        <p:spPr>
          <a:xfrm>
            <a:off x="8277809" y="91440"/>
            <a:ext cx="33286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voltage, current, Ohm's law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Conductors, insulators, semiconductors</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Conductors, such as copper, let charge flow freely; insulators, such as glass, do not</a:t>
            </a:r>
            <a:endParaRPr lang="en-US" sz="2100" dirty="0"/>
          </a:p>
        </p:txBody>
      </p:sp>
      <p:sp>
        <p:nvSpPr>
          <p:cNvPr id="5" name="Shape 3"/>
          <p:cNvSpPr/>
          <p:nvPr/>
        </p:nvSpPr>
        <p:spPr>
          <a:xfrm>
            <a:off x="548640" y="239591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9724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Semiconductors, above all silicon, lie in between, and their conduction can be controlled</a:t>
            </a:r>
            <a:endParaRPr lang="en-US" sz="2100" dirty="0"/>
          </a:p>
        </p:txBody>
      </p:sp>
      <p:sp>
        <p:nvSpPr>
          <p:cNvPr id="7" name="Shape 5"/>
          <p:cNvSpPr/>
          <p:nvPr/>
        </p:nvSpPr>
        <p:spPr>
          <a:xfrm>
            <a:off x="548640" y="327583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77159"/>
            <a:ext cx="6565392" cy="123520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Doping: adding a few atoms of another element</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n-type silicon has extra electrons, negative carriers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p-type silicon has missing electrons, called holes, that behave as positive carriers</a:t>
            </a:r>
            <a:endParaRPr lang="en-US" sz="2100" dirty="0"/>
          </a:p>
        </p:txBody>
      </p:sp>
      <p:sp>
        <p:nvSpPr>
          <p:cNvPr id="9" name="Shape 7"/>
          <p:cNvSpPr/>
          <p:nvPr/>
        </p:nvSpPr>
        <p:spPr>
          <a:xfrm>
            <a:off x="548640" y="474021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641533"/>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Where a p region meets an n region there is a junction: the building block of every device</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chip is a slice of silicon with billions of doped regions, connected by layers of metal</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Si</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silicon: element 14, a semiconductor, the raw material of almost every chip</a:t>
            </a:r>
            <a:endParaRPr lang="en-US" sz="1900" dirty="0"/>
          </a:p>
        </p:txBody>
      </p:sp>
      <p:sp>
        <p:nvSpPr>
          <p:cNvPr id="16" name="Shape 14"/>
          <p:cNvSpPr/>
          <p:nvPr/>
        </p:nvSpPr>
        <p:spPr>
          <a:xfrm>
            <a:off x="7959420" y="91440"/>
            <a:ext cx="3683635" cy="274320"/>
          </a:xfrm>
          <a:prstGeom prst="rect">
            <a:avLst/>
          </a:prstGeom>
          <a:solidFill>
            <a:srgbClr val="E0F2FE"/>
          </a:solidFill>
          <a:ln w="12700">
            <a:solidFill>
              <a:srgbClr val="0369A1"/>
            </a:solidFill>
            <a:prstDash val="solid"/>
          </a:ln>
        </p:spPr>
      </p:sp>
      <p:sp>
        <p:nvSpPr>
          <p:cNvPr id="17" name="Shape 15"/>
          <p:cNvSpPr/>
          <p:nvPr/>
        </p:nvSpPr>
        <p:spPr>
          <a:xfrm>
            <a:off x="7959420"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087436" y="128016"/>
            <a:ext cx="201168" cy="201168"/>
          </a:xfrm>
          <a:prstGeom prst="rect">
            <a:avLst/>
          </a:prstGeom>
        </p:spPr>
      </p:pic>
      <p:sp>
        <p:nvSpPr>
          <p:cNvPr id="19" name="Text 16"/>
          <p:cNvSpPr txBox="1"/>
          <p:nvPr/>
        </p:nvSpPr>
        <p:spPr>
          <a:xfrm>
            <a:off x="8343468" y="91440"/>
            <a:ext cx="326301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transistor as a switch</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transistor: a switch with no moving parts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273130"/>
                <a:gridCol w="4183140"/>
                <a:gridCol w="5638145"/>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Year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Who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What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1947</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Bardeen, Brattain and Shockley, Bell Labs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first transistor: it replaces the vacuum tube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1958-59</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Jack Kilby; Robert Noyce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integrated circuit: several transistors on one piece of semiconductor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1959-60</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Atalla and Kahng, Bell Labs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MOS transistor: small, simple to build, almost no control current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1963</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Wanlass and Sah, Fairchild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CMOS: pairs of complementary MOS transistors that draw power only when switching</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1971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Intel 4004</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2,300 MOS transistors: a processor on a chip</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today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whole industry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tens of billions of CMOS transistors on a chip</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7959420" y="91440"/>
            <a:ext cx="3683635" cy="274320"/>
          </a:xfrm>
          <a:prstGeom prst="rect">
            <a:avLst/>
          </a:prstGeom>
          <a:solidFill>
            <a:srgbClr val="E0F2FE"/>
          </a:solidFill>
          <a:ln w="12700">
            <a:solidFill>
              <a:srgbClr val="0369A1"/>
            </a:solidFill>
            <a:prstDash val="solid"/>
          </a:ln>
        </p:spPr>
      </p:sp>
      <p:sp>
        <p:nvSpPr>
          <p:cNvPr id="5" name="Shape 2"/>
          <p:cNvSpPr/>
          <p:nvPr/>
        </p:nvSpPr>
        <p:spPr>
          <a:xfrm>
            <a:off x="7959420"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087436" y="128016"/>
            <a:ext cx="201168" cy="201168"/>
          </a:xfrm>
          <a:prstGeom prst="rect">
            <a:avLst/>
          </a:prstGeom>
        </p:spPr>
      </p:pic>
      <p:sp>
        <p:nvSpPr>
          <p:cNvPr id="7" name="Text 3"/>
          <p:cNvSpPr txBox="1"/>
          <p:nvPr/>
        </p:nvSpPr>
        <p:spPr>
          <a:xfrm>
            <a:off x="8343468" y="91440"/>
            <a:ext cx="326301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transistor as a switch</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MOS transistor as a switch</a:t>
            </a:r>
            <a:endParaRPr lang="en-US" sz="3200" dirty="0"/>
          </a:p>
        </p:txBody>
      </p:sp>
      <p:sp>
        <p:nvSpPr>
          <p:cNvPr id="3" name="Shape 1"/>
          <p:cNvSpPr/>
          <p:nvPr/>
        </p:nvSpPr>
        <p:spPr>
          <a:xfrm>
            <a:off x="548640" y="1417320"/>
            <a:ext cx="3017520" cy="2286000"/>
          </a:xfrm>
          <a:prstGeom prst="roundRect">
            <a:avLst>
              <a:gd name="adj" fmla="val 3200"/>
            </a:avLst>
          </a:prstGeom>
          <a:solidFill>
            <a:srgbClr val="EEF2F4"/>
          </a:solidFill>
          <a:ln w="12700">
            <a:solidFill>
              <a:srgbClr val="EEF2F4"/>
            </a:solidFill>
            <a:prstDash val="solid"/>
          </a:ln>
        </p:spPr>
      </p:sp>
      <p:sp>
        <p:nvSpPr>
          <p:cNvPr id="4" name="Shape 2"/>
          <p:cNvSpPr/>
          <p:nvPr/>
        </p:nvSpPr>
        <p:spPr>
          <a:xfrm>
            <a:off x="548640" y="3886200"/>
            <a:ext cx="3017520" cy="2286000"/>
          </a:xfrm>
          <a:prstGeom prst="roundRect">
            <a:avLst>
              <a:gd name="adj" fmla="val 3200"/>
            </a:avLst>
          </a:prstGeom>
          <a:solidFill>
            <a:srgbClr val="EEF2F4"/>
          </a:solidFill>
          <a:ln w="12700">
            <a:solidFill>
              <a:srgbClr val="EEF2F4"/>
            </a:solidFill>
            <a:prstDash val="solid"/>
          </a:ln>
        </p:spPr>
      </p:sp>
      <p:sp>
        <p:nvSpPr>
          <p:cNvPr id="5" name="Shape 3"/>
          <p:cNvSpPr/>
          <p:nvPr/>
        </p:nvSpPr>
        <p:spPr>
          <a:xfrm>
            <a:off x="7959420" y="91440"/>
            <a:ext cx="3683635" cy="274320"/>
          </a:xfrm>
          <a:prstGeom prst="rect">
            <a:avLst/>
          </a:prstGeom>
          <a:solidFill>
            <a:srgbClr val="E0F2FE"/>
          </a:solidFill>
          <a:ln w="12700">
            <a:solidFill>
              <a:srgbClr val="0369A1"/>
            </a:solidFill>
            <a:prstDash val="solid"/>
          </a:ln>
        </p:spPr>
      </p:sp>
      <p:sp>
        <p:nvSpPr>
          <p:cNvPr id="6" name="Shape 4"/>
          <p:cNvSpPr/>
          <p:nvPr/>
        </p:nvSpPr>
        <p:spPr>
          <a:xfrm>
            <a:off x="7959420"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087436" y="128016"/>
            <a:ext cx="201168" cy="201168"/>
          </a:xfrm>
          <a:prstGeom prst="rect">
            <a:avLst/>
          </a:prstGeom>
        </p:spPr>
      </p:pic>
      <p:sp>
        <p:nvSpPr>
          <p:cNvPr id="8" name="Text 5"/>
          <p:cNvSpPr txBox="1"/>
          <p:nvPr/>
        </p:nvSpPr>
        <p:spPr>
          <a:xfrm>
            <a:off x="8343468" y="91440"/>
            <a:ext cx="326301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transistor as a switch</a:t>
            </a:r>
            <a:endParaRPr lang="en-US" sz="1100" dirty="0"/>
          </a:p>
        </p:txBody>
      </p:sp>
      <p:pic>
        <p:nvPicPr>
          <p:cNvPr id="10" name="Image 1" descr="preencoded.png">    </p:cNvPr>
          <p:cNvPicPr>
            <a:picLocks noChangeAspect="1"/>
          </p:cNvPicPr>
          <p:nvPr/>
        </p:nvPicPr>
        <p:blipFill>
          <a:blip r:embed="rId2"/>
          <a:stretch>
            <a:fillRect/>
          </a:stretch>
        </p:blipFill>
        <p:spPr>
          <a:xfrm>
            <a:off x="973325" y="1828800"/>
            <a:ext cx="2168150" cy="1737360"/>
          </a:xfrm>
          <a:prstGeom prst="rect">
            <a:avLst/>
          </a:prstGeom>
        </p:spPr>
      </p:pic>
      <p:pic>
        <p:nvPicPr>
          <p:cNvPr id="11" name="Image 2" descr="preencoded.png">    </p:cNvPr>
          <p:cNvPicPr>
            <a:picLocks noChangeAspect="1"/>
          </p:cNvPicPr>
          <p:nvPr/>
        </p:nvPicPr>
        <p:blipFill>
          <a:blip r:embed="rId3"/>
          <a:stretch>
            <a:fillRect/>
          </a:stretch>
        </p:blipFill>
        <p:spPr>
          <a:xfrm>
            <a:off x="973325" y="4297680"/>
            <a:ext cx="2168150" cy="1737360"/>
          </a:xfrm>
          <a:prstGeom prst="rect">
            <a:avLst/>
          </a:prstGeom>
        </p:spPr>
      </p:pic>
      <p:sp>
        <p:nvSpPr>
          <p:cNvPr id="12" name="Text 6"/>
          <p:cNvSpPr txBox="1"/>
          <p:nvPr/>
        </p:nvSpPr>
        <p:spPr>
          <a:xfrm>
            <a:off x="731520" y="1490472"/>
            <a:ext cx="1828800" cy="320040"/>
          </a:xfrm>
          <a:prstGeom prst="rect">
            <a:avLst/>
          </a:prstGeom>
          <a:noFill/>
          <a:ln/>
        </p:spPr>
        <p:txBody>
          <a:bodyPr wrap="square" lIns="0" tIns="0" rIns="0" bIns="0" rtlCol="0" anchor="t"/>
          <a:lstStyle/>
          <a:p>
            <a:pPr indent="0" marL="0">
              <a:buNone/>
            </a:pPr>
            <a:r>
              <a:rPr lang="en-US" sz="1600" b="1" dirty="0">
                <a:solidFill>
                  <a:srgbClr val="0E7C86"/>
                </a:solidFill>
                <a:latin typeface="Calibri" pitchFamily="34" charset="0"/>
                <a:ea typeface="Calibri" pitchFamily="34" charset="-122"/>
                <a:cs typeface="Calibri" pitchFamily="34" charset="-120"/>
              </a:rPr>
              <a:t>nMOS</a:t>
            </a:r>
            <a:endParaRPr lang="en-US" sz="1600" dirty="0"/>
          </a:p>
        </p:txBody>
      </p:sp>
      <p:sp>
        <p:nvSpPr>
          <p:cNvPr id="13" name="Text 7"/>
          <p:cNvSpPr txBox="1"/>
          <p:nvPr/>
        </p:nvSpPr>
        <p:spPr>
          <a:xfrm>
            <a:off x="731520" y="3959352"/>
            <a:ext cx="1828800" cy="320040"/>
          </a:xfrm>
          <a:prstGeom prst="rect">
            <a:avLst/>
          </a:prstGeom>
          <a:noFill/>
          <a:ln/>
        </p:spPr>
        <p:txBody>
          <a:bodyPr wrap="square" lIns="0" tIns="0" rIns="0" bIns="0" rtlCol="0" anchor="t"/>
          <a:lstStyle/>
          <a:p>
            <a:pPr indent="0" marL="0">
              <a:buNone/>
            </a:pPr>
            <a:r>
              <a:rPr lang="en-US" sz="1600" b="1" dirty="0">
                <a:solidFill>
                  <a:srgbClr val="C7791B"/>
                </a:solidFill>
                <a:latin typeface="Calibri" pitchFamily="34" charset="0"/>
                <a:ea typeface="Calibri" pitchFamily="34" charset="-122"/>
                <a:cs typeface="Calibri" pitchFamily="34" charset="-120"/>
              </a:rPr>
              <a:t>pMOS</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023360" y="1417320"/>
          <a:ext cx="7616952" cy="914400"/>
        </p:xfrm>
        <a:graphic>
          <a:graphicData uri="http://schemas.openxmlformats.org/drawingml/2006/table">
            <a:tbl>
              <a:tblPr/>
              <a:tblGrid>
                <a:gridCol w="2011680"/>
                <a:gridCol w="2834640"/>
                <a:gridCol w="2770632"/>
              </a:tblGrid>
              <a:tr h="50292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Gate voltage</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nMOS</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pMOS</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50292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high (1)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conducts: switch closed</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blocks: switch open</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50292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low (0)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blocks: switch open</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conducts: switch closed</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r>
            </a:tbl>
          </a:graphicData>
        </a:graphic>
      </p:graphicFrame>
      <p:sp>
        <p:nvSpPr>
          <p:cNvPr id="15" name="Shape 8"/>
          <p:cNvSpPr/>
          <p:nvPr/>
        </p:nvSpPr>
        <p:spPr>
          <a:xfrm>
            <a:off x="4023360" y="3253359"/>
            <a:ext cx="146304" cy="146304"/>
          </a:xfrm>
          <a:prstGeom prst="rect">
            <a:avLst/>
          </a:prstGeom>
          <a:solidFill>
            <a:srgbClr val="0E7C86"/>
          </a:solidFill>
          <a:ln w="12700">
            <a:solidFill>
              <a:srgbClr val="0E7C86"/>
            </a:solidFill>
            <a:prstDash val="solid"/>
          </a:ln>
        </p:spPr>
      </p:sp>
      <p:sp>
        <p:nvSpPr>
          <p:cNvPr id="16" name="Text 9"/>
          <p:cNvSpPr txBox="1"/>
          <p:nvPr/>
        </p:nvSpPr>
        <p:spPr>
          <a:xfrm>
            <a:off x="4407408" y="3154680"/>
            <a:ext cx="723564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Three terminals: the gate controls whether current can pass between the other two, source and drain</a:t>
            </a:r>
            <a:endParaRPr lang="en-US" sz="2100" dirty="0"/>
          </a:p>
        </p:txBody>
      </p:sp>
      <p:sp>
        <p:nvSpPr>
          <p:cNvPr id="17" name="Shape 10"/>
          <p:cNvSpPr/>
          <p:nvPr/>
        </p:nvSpPr>
        <p:spPr>
          <a:xfrm>
            <a:off x="4023360" y="4042283"/>
            <a:ext cx="146304" cy="146304"/>
          </a:xfrm>
          <a:prstGeom prst="rect">
            <a:avLst/>
          </a:prstGeom>
          <a:solidFill>
            <a:srgbClr val="C7791B"/>
          </a:solidFill>
          <a:ln w="12700">
            <a:solidFill>
              <a:srgbClr val="C7791B"/>
            </a:solidFill>
            <a:prstDash val="solid"/>
          </a:ln>
        </p:spPr>
      </p:sp>
      <p:sp>
        <p:nvSpPr>
          <p:cNvPr id="18" name="Text 11"/>
          <p:cNvSpPr txBox="1"/>
          <p:nvPr/>
        </p:nvSpPr>
        <p:spPr>
          <a:xfrm>
            <a:off x="4407408" y="3943604"/>
            <a:ext cx="723564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gate is insulated: it draws practically no current, only the tiny charge of its capacitance</a:t>
            </a:r>
            <a:endParaRPr lang="en-US" sz="2100" dirty="0"/>
          </a:p>
        </p:txBody>
      </p:sp>
      <p:sp>
        <p:nvSpPr>
          <p:cNvPr id="19" name="Shape 12"/>
          <p:cNvSpPr/>
          <p:nvPr/>
        </p:nvSpPr>
        <p:spPr>
          <a:xfrm>
            <a:off x="4023360" y="4831207"/>
            <a:ext cx="146304" cy="146304"/>
          </a:xfrm>
          <a:prstGeom prst="rect">
            <a:avLst/>
          </a:prstGeom>
          <a:solidFill>
            <a:srgbClr val="0E7C86"/>
          </a:solidFill>
          <a:ln w="12700">
            <a:solidFill>
              <a:srgbClr val="0E7C86"/>
            </a:solidFill>
            <a:prstDash val="solid"/>
          </a:ln>
        </p:spPr>
      </p:sp>
      <p:sp>
        <p:nvSpPr>
          <p:cNvPr id="20" name="Text 13"/>
          <p:cNvSpPr txBox="1"/>
          <p:nvPr/>
        </p:nvSpPr>
        <p:spPr>
          <a:xfrm>
            <a:off x="4407408" y="4732528"/>
            <a:ext cx="723564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two types are complementary: what closes one opens the other</a:t>
            </a:r>
            <a:endParaRPr lang="en-US" sz="2100" dirty="0"/>
          </a:p>
        </p:txBody>
      </p:sp>
      <p:sp>
        <p:nvSpPr>
          <p:cNvPr id="21" name="Shape 14"/>
          <p:cNvSpPr/>
          <p:nvPr/>
        </p:nvSpPr>
        <p:spPr>
          <a:xfrm>
            <a:off x="4023360" y="5620131"/>
            <a:ext cx="146304" cy="146304"/>
          </a:xfrm>
          <a:prstGeom prst="rect">
            <a:avLst/>
          </a:prstGeom>
          <a:solidFill>
            <a:srgbClr val="C7791B"/>
          </a:solidFill>
          <a:ln w="12700">
            <a:solidFill>
              <a:srgbClr val="C7791B"/>
            </a:solidFill>
            <a:prstDash val="solid"/>
          </a:ln>
        </p:spPr>
      </p:sp>
      <p:sp>
        <p:nvSpPr>
          <p:cNvPr id="22" name="Text 15"/>
          <p:cNvSpPr txBox="1"/>
          <p:nvPr/>
        </p:nvSpPr>
        <p:spPr>
          <a:xfrm>
            <a:off x="4407408" y="5521452"/>
            <a:ext cx="723564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nMOS passes a good 0 (it connects to ground); pMOS passes a good 1 (it connects to the supply)</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Logic levels: when is a voltage a 1?</a:t>
            </a:r>
            <a:endParaRPr lang="en-US" sz="3200" dirty="0"/>
          </a:p>
        </p:txBody>
      </p:sp>
      <p:sp>
        <p:nvSpPr>
          <p:cNvPr id="3" name="Shape 1"/>
          <p:cNvSpPr/>
          <p:nvPr/>
        </p:nvSpPr>
        <p:spPr>
          <a:xfrm>
            <a:off x="548640" y="1417320"/>
            <a:ext cx="5760720" cy="4754880"/>
          </a:xfrm>
          <a:prstGeom prst="roundRect">
            <a:avLst>
              <a:gd name="adj" fmla="val 1538"/>
            </a:avLst>
          </a:prstGeom>
          <a:solidFill>
            <a:srgbClr val="EEF2F4"/>
          </a:solidFill>
          <a:ln w="12700">
            <a:solidFill>
              <a:srgbClr val="EEF2F4"/>
            </a:solidFill>
            <a:prstDash val="solid"/>
          </a:ln>
        </p:spPr>
      </p:sp>
      <p:sp>
        <p:nvSpPr>
          <p:cNvPr id="4" name="Shape 2"/>
          <p:cNvSpPr/>
          <p:nvPr/>
        </p:nvSpPr>
        <p:spPr>
          <a:xfrm>
            <a:off x="8484692" y="91440"/>
            <a:ext cx="3158363" cy="274320"/>
          </a:xfrm>
          <a:prstGeom prst="rect">
            <a:avLst/>
          </a:prstGeom>
          <a:solidFill>
            <a:srgbClr val="E0F2FE"/>
          </a:solidFill>
          <a:ln w="12700">
            <a:solidFill>
              <a:srgbClr val="0369A1"/>
            </a:solidFill>
            <a:prstDash val="solid"/>
          </a:ln>
        </p:spPr>
      </p:sp>
      <p:sp>
        <p:nvSpPr>
          <p:cNvPr id="5" name="Shape 3"/>
          <p:cNvSpPr/>
          <p:nvPr/>
        </p:nvSpPr>
        <p:spPr>
          <a:xfrm>
            <a:off x="8484692"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612708" y="128016"/>
            <a:ext cx="201168" cy="201168"/>
          </a:xfrm>
          <a:prstGeom prst="rect">
            <a:avLst/>
          </a:prstGeom>
        </p:spPr>
      </p:pic>
      <p:sp>
        <p:nvSpPr>
          <p:cNvPr id="7" name="Text 4"/>
          <p:cNvSpPr txBox="1"/>
          <p:nvPr/>
        </p:nvSpPr>
        <p:spPr>
          <a:xfrm>
            <a:off x="8868740" y="91440"/>
            <a:ext cx="273773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from volts to bits</a:t>
            </a:r>
            <a:endParaRPr lang="en-US" sz="1100" dirty="0"/>
          </a:p>
        </p:txBody>
      </p:sp>
      <p:pic>
        <p:nvPicPr>
          <p:cNvPr id="9" name="Image 1" descr="preencoded.png">    </p:cNvPr>
          <p:cNvPicPr>
            <a:picLocks noChangeAspect="1"/>
          </p:cNvPicPr>
          <p:nvPr/>
        </p:nvPicPr>
        <p:blipFill>
          <a:blip r:embed="rId2"/>
          <a:stretch>
            <a:fillRect/>
          </a:stretch>
        </p:blipFill>
        <p:spPr>
          <a:xfrm>
            <a:off x="685800" y="2159889"/>
            <a:ext cx="5486400" cy="3269742"/>
          </a:xfrm>
          <a:prstGeom prst="rect">
            <a:avLst/>
          </a:prstGeom>
        </p:spPr>
      </p:pic>
      <p:sp>
        <p:nvSpPr>
          <p:cNvPr id="10" name="Shape 5"/>
          <p:cNvSpPr/>
          <p:nvPr/>
        </p:nvSpPr>
        <p:spPr>
          <a:xfrm>
            <a:off x="6766560" y="1508252"/>
            <a:ext cx="146304" cy="146304"/>
          </a:xfrm>
          <a:prstGeom prst="rect">
            <a:avLst/>
          </a:prstGeom>
          <a:solidFill>
            <a:srgbClr val="0E7C86"/>
          </a:solidFill>
          <a:ln w="12700">
            <a:solidFill>
              <a:srgbClr val="0E7C86"/>
            </a:solidFill>
            <a:prstDash val="solid"/>
          </a:ln>
        </p:spPr>
      </p:sp>
      <p:sp>
        <p:nvSpPr>
          <p:cNvPr id="11" name="Text 6"/>
          <p:cNvSpPr txBox="1"/>
          <p:nvPr/>
        </p:nvSpPr>
        <p:spPr>
          <a:xfrm>
            <a:off x="7150608" y="1417320"/>
            <a:ext cx="44924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digital circuit uses two ranges of voltage: low is 0, high is 1</a:t>
            </a:r>
            <a:endParaRPr lang="en-US" sz="2000" dirty="0"/>
          </a:p>
        </p:txBody>
      </p:sp>
      <p:sp>
        <p:nvSpPr>
          <p:cNvPr id="12" name="Shape 7"/>
          <p:cNvSpPr/>
          <p:nvPr/>
        </p:nvSpPr>
        <p:spPr>
          <a:xfrm>
            <a:off x="6766560" y="2260346"/>
            <a:ext cx="146304" cy="146304"/>
          </a:xfrm>
          <a:prstGeom prst="rect">
            <a:avLst/>
          </a:prstGeom>
          <a:solidFill>
            <a:srgbClr val="C7791B"/>
          </a:solidFill>
          <a:ln w="12700">
            <a:solidFill>
              <a:srgbClr val="C7791B"/>
            </a:solidFill>
            <a:prstDash val="solid"/>
          </a:ln>
        </p:spPr>
      </p:sp>
      <p:sp>
        <p:nvSpPr>
          <p:cNvPr id="13" name="Text 8"/>
          <p:cNvSpPr txBox="1"/>
          <p:nvPr/>
        </p:nvSpPr>
        <p:spPr>
          <a:xfrm>
            <a:off x="7150608" y="2169414"/>
            <a:ext cx="4492447" cy="87325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An output guarantees clean levels</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on the kit: above 2.64 V for a 1, below 0.33 V for a 0</a:t>
            </a:r>
            <a:endParaRPr lang="en-US" sz="2000" dirty="0"/>
          </a:p>
        </p:txBody>
      </p:sp>
      <p:sp>
        <p:nvSpPr>
          <p:cNvPr id="14" name="Shape 9"/>
          <p:cNvSpPr/>
          <p:nvPr/>
        </p:nvSpPr>
        <p:spPr>
          <a:xfrm>
            <a:off x="6766560" y="3265932"/>
            <a:ext cx="146304" cy="146304"/>
          </a:xfrm>
          <a:prstGeom prst="rect">
            <a:avLst/>
          </a:prstGeom>
          <a:solidFill>
            <a:srgbClr val="0E7C86"/>
          </a:solidFill>
          <a:ln w="12700">
            <a:solidFill>
              <a:srgbClr val="0E7C86"/>
            </a:solidFill>
            <a:prstDash val="solid"/>
          </a:ln>
        </p:spPr>
      </p:sp>
      <p:sp>
        <p:nvSpPr>
          <p:cNvPr id="15" name="Text 10"/>
          <p:cNvSpPr txBox="1"/>
          <p:nvPr/>
        </p:nvSpPr>
        <p:spPr>
          <a:xfrm>
            <a:off x="7150608" y="3175000"/>
            <a:ext cx="4492447" cy="87325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An input accepts wider ranges</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above 2.475 V it reads 1, below 0.825 V it reads 0</a:t>
            </a:r>
            <a:endParaRPr lang="en-US" sz="2000" dirty="0"/>
          </a:p>
        </p:txBody>
      </p:sp>
      <p:sp>
        <p:nvSpPr>
          <p:cNvPr id="16" name="Shape 11"/>
          <p:cNvSpPr/>
          <p:nvPr/>
        </p:nvSpPr>
        <p:spPr>
          <a:xfrm>
            <a:off x="6766560" y="4271518"/>
            <a:ext cx="146304" cy="146304"/>
          </a:xfrm>
          <a:prstGeom prst="rect">
            <a:avLst/>
          </a:prstGeom>
          <a:solidFill>
            <a:srgbClr val="C7791B"/>
          </a:solidFill>
          <a:ln w="12700">
            <a:solidFill>
              <a:srgbClr val="C7791B"/>
            </a:solidFill>
            <a:prstDash val="solid"/>
          </a:ln>
        </p:spPr>
      </p:sp>
      <p:sp>
        <p:nvSpPr>
          <p:cNvPr id="17" name="Text 12"/>
          <p:cNvSpPr txBox="1"/>
          <p:nvPr/>
        </p:nvSpPr>
        <p:spPr>
          <a:xfrm>
            <a:off x="7150608" y="4180586"/>
            <a:ext cx="4492447"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difference is the noise margin: a disturbance smaller than that cannot change the bit</a:t>
            </a:r>
            <a:endParaRPr lang="en-US" sz="2000" dirty="0"/>
          </a:p>
        </p:txBody>
      </p:sp>
      <p:sp>
        <p:nvSpPr>
          <p:cNvPr id="18" name="Shape 13"/>
          <p:cNvSpPr/>
          <p:nvPr/>
        </p:nvSpPr>
        <p:spPr>
          <a:xfrm>
            <a:off x="6766560" y="5333492"/>
            <a:ext cx="146304" cy="146304"/>
          </a:xfrm>
          <a:prstGeom prst="rect">
            <a:avLst/>
          </a:prstGeom>
          <a:solidFill>
            <a:srgbClr val="0E7C86"/>
          </a:solidFill>
          <a:ln w="12700">
            <a:solidFill>
              <a:srgbClr val="0E7C86"/>
            </a:solidFill>
            <a:prstDash val="solid"/>
          </a:ln>
        </p:spPr>
      </p:sp>
      <p:sp>
        <p:nvSpPr>
          <p:cNvPr id="19" name="Text 14"/>
          <p:cNvSpPr txBox="1"/>
          <p:nvPr/>
        </p:nvSpPr>
        <p:spPr>
          <a:xfrm>
            <a:off x="7150608" y="5242560"/>
            <a:ext cx="4492447"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between, the value is undefined: signals must cross that band quickly and never stay there</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Why digital?</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Analog circuits</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The exact value of the voltage is the information</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Every stage adds a little noise and distortion, and they accumulate</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Copies get worse at every generation</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Still indispensable at the edges: sensors, radio, sound</a:t>
            </a:r>
            <a:endParaRPr lang="en-US" sz="20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Digital circuits</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Only the range matters: high or low</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Every gate restores the levels: noise does not accumulate</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Copies are perfect, and errors can be detected and corrected (Lecture 11)</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Two levels are easy to tell apart with fast, tiny, cheap transistors</a:t>
            </a:r>
            <a:endParaRPr lang="en-US" sz="2000" dirty="0"/>
          </a:p>
        </p:txBody>
      </p:sp>
      <p:sp>
        <p:nvSpPr>
          <p:cNvPr id="9" name="Shape 7"/>
          <p:cNvSpPr/>
          <p:nvPr/>
        </p:nvSpPr>
        <p:spPr>
          <a:xfrm>
            <a:off x="8484692" y="91440"/>
            <a:ext cx="3158363" cy="274320"/>
          </a:xfrm>
          <a:prstGeom prst="rect">
            <a:avLst/>
          </a:prstGeom>
          <a:solidFill>
            <a:srgbClr val="E0F2FE"/>
          </a:solidFill>
          <a:ln w="12700">
            <a:solidFill>
              <a:srgbClr val="0369A1"/>
            </a:solidFill>
            <a:prstDash val="solid"/>
          </a:ln>
        </p:spPr>
      </p:sp>
      <p:sp>
        <p:nvSpPr>
          <p:cNvPr id="10" name="Shape 8"/>
          <p:cNvSpPr/>
          <p:nvPr/>
        </p:nvSpPr>
        <p:spPr>
          <a:xfrm>
            <a:off x="8484692" y="91440"/>
            <a:ext cx="73152" cy="274320"/>
          </a:xfrm>
          <a:prstGeom prst="rect">
            <a:avLst/>
          </a:prstGeom>
          <a:solidFill>
            <a:srgbClr val="0369A1"/>
          </a:solidFill>
          <a:ln w="12700">
            <a:solidFill>
              <a:srgbClr val="0369A1"/>
            </a:solidFill>
            <a:prstDash val="solid"/>
          </a:ln>
        </p:spPr>
      </p:sp>
      <p:pic>
        <p:nvPicPr>
          <p:cNvPr id="11" name="Image 0" descr="preencoded.png">    </p:cNvPr>
          <p:cNvPicPr>
            <a:picLocks noChangeAspect="1"/>
          </p:cNvPicPr>
          <p:nvPr/>
        </p:nvPicPr>
        <p:blipFill>
          <a:blip r:embed="rId1"/>
          <a:stretch>
            <a:fillRect/>
          </a:stretch>
        </p:blipFill>
        <p:spPr>
          <a:xfrm>
            <a:off x="8612708" y="128016"/>
            <a:ext cx="201168" cy="201168"/>
          </a:xfrm>
          <a:prstGeom prst="rect">
            <a:avLst/>
          </a:prstGeom>
        </p:spPr>
      </p:pic>
      <p:sp>
        <p:nvSpPr>
          <p:cNvPr id="12" name="Text 9"/>
          <p:cNvSpPr txBox="1"/>
          <p:nvPr/>
        </p:nvSpPr>
        <p:spPr>
          <a:xfrm>
            <a:off x="8868740" y="91440"/>
            <a:ext cx="273773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from volts to bits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CMOS inverter: a NOT gate from two transistors</a:t>
            </a:r>
            <a:endParaRPr lang="en-US" sz="3200" dirty="0"/>
          </a:p>
        </p:txBody>
      </p:sp>
      <p:sp>
        <p:nvSpPr>
          <p:cNvPr id="3" name="Shape 1"/>
          <p:cNvSpPr/>
          <p:nvPr/>
        </p:nvSpPr>
        <p:spPr>
          <a:xfrm>
            <a:off x="548640" y="1417320"/>
            <a:ext cx="4480560" cy="4754880"/>
          </a:xfrm>
          <a:prstGeom prst="roundRect">
            <a:avLst>
              <a:gd name="adj" fmla="val 1633"/>
            </a:avLst>
          </a:prstGeom>
          <a:solidFill>
            <a:srgbClr val="EEF2F4"/>
          </a:solidFill>
          <a:ln w="12700">
            <a:solidFill>
              <a:srgbClr val="EEF2F4"/>
            </a:solidFill>
            <a:prstDash val="solid"/>
          </a:ln>
        </p:spPr>
      </p:sp>
      <p:sp>
        <p:nvSpPr>
          <p:cNvPr id="4" name="Shape 2"/>
          <p:cNvSpPr/>
          <p:nvPr/>
        </p:nvSpPr>
        <p:spPr>
          <a:xfrm>
            <a:off x="9009964" y="91440"/>
            <a:ext cx="2633091" cy="274320"/>
          </a:xfrm>
          <a:prstGeom prst="rect">
            <a:avLst/>
          </a:prstGeom>
          <a:solidFill>
            <a:srgbClr val="E0F2FE"/>
          </a:solidFill>
          <a:ln w="12700">
            <a:solidFill>
              <a:srgbClr val="0369A1"/>
            </a:solidFill>
            <a:prstDash val="solid"/>
          </a:ln>
        </p:spPr>
      </p:sp>
      <p:sp>
        <p:nvSpPr>
          <p:cNvPr id="5" name="Shape 3"/>
          <p:cNvSpPr/>
          <p:nvPr/>
        </p:nvSpPr>
        <p:spPr>
          <a:xfrm>
            <a:off x="9009964"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9137980" y="128016"/>
            <a:ext cx="201168" cy="201168"/>
          </a:xfrm>
          <a:prstGeom prst="rect">
            <a:avLst/>
          </a:prstGeom>
        </p:spPr>
      </p:pic>
      <p:sp>
        <p:nvSpPr>
          <p:cNvPr id="7" name="Text 4"/>
          <p:cNvSpPr txBox="1"/>
          <p:nvPr/>
        </p:nvSpPr>
        <p:spPr>
          <a:xfrm>
            <a:off x="9394012" y="91440"/>
            <a:ext cx="221246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CMOS gates</a:t>
            </a:r>
            <a:endParaRPr lang="en-US" sz="1100" dirty="0"/>
          </a:p>
        </p:txBody>
      </p:sp>
      <p:pic>
        <p:nvPicPr>
          <p:cNvPr id="9" name="Image 1" descr="preencoded.png">    </p:cNvPr>
          <p:cNvPicPr>
            <a:picLocks noChangeAspect="1"/>
          </p:cNvPicPr>
          <p:nvPr/>
        </p:nvPicPr>
        <p:blipFill>
          <a:blip r:embed="rId2"/>
          <a:stretch>
            <a:fillRect/>
          </a:stretch>
        </p:blipFill>
        <p:spPr>
          <a:xfrm>
            <a:off x="731520" y="1670051"/>
            <a:ext cx="4114800" cy="4249417"/>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0" y="1417320"/>
          <a:ext cx="6153912" cy="914400"/>
        </p:xfrm>
        <a:graphic>
          <a:graphicData uri="http://schemas.openxmlformats.org/drawingml/2006/table">
            <a:tbl>
              <a:tblPr/>
              <a:tblGrid>
                <a:gridCol w="731520"/>
                <a:gridCol w="1371600"/>
                <a:gridCol w="1371600"/>
                <a:gridCol w="2679192"/>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pMOS</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nMOS</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45720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on</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off</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 joined to 3.3 V</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5720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off</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on</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 joined to ground</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11" name="Shape 5"/>
          <p:cNvSpPr/>
          <p:nvPr/>
        </p:nvSpPr>
        <p:spPr>
          <a:xfrm>
            <a:off x="5486400" y="3138678"/>
            <a:ext cx="146304" cy="146304"/>
          </a:xfrm>
          <a:prstGeom prst="rect">
            <a:avLst/>
          </a:prstGeom>
          <a:solidFill>
            <a:srgbClr val="0E7C86"/>
          </a:solidFill>
          <a:ln w="12700">
            <a:solidFill>
              <a:srgbClr val="0E7C86"/>
            </a:solidFill>
            <a:prstDash val="solid"/>
          </a:ln>
        </p:spPr>
      </p:sp>
      <p:sp>
        <p:nvSpPr>
          <p:cNvPr id="12" name="Text 6"/>
          <p:cNvSpPr txBox="1"/>
          <p:nvPr/>
        </p:nvSpPr>
        <p:spPr>
          <a:xfrm>
            <a:off x="5870448" y="3063240"/>
            <a:ext cx="577260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One pMOS towards the supply, one nMOS towards ground, driven by the same input</a:t>
            </a:r>
            <a:endParaRPr lang="en-US" sz="1800" dirty="0"/>
          </a:p>
        </p:txBody>
      </p:sp>
      <p:sp>
        <p:nvSpPr>
          <p:cNvPr id="13" name="Shape 7"/>
          <p:cNvSpPr/>
          <p:nvPr/>
        </p:nvSpPr>
        <p:spPr>
          <a:xfrm>
            <a:off x="5486400" y="3896106"/>
            <a:ext cx="146304" cy="146304"/>
          </a:xfrm>
          <a:prstGeom prst="rect">
            <a:avLst/>
          </a:prstGeom>
          <a:solidFill>
            <a:srgbClr val="C7791B"/>
          </a:solidFill>
          <a:ln w="12700">
            <a:solidFill>
              <a:srgbClr val="C7791B"/>
            </a:solidFill>
            <a:prstDash val="solid"/>
          </a:ln>
        </p:spPr>
      </p:sp>
      <p:sp>
        <p:nvSpPr>
          <p:cNvPr id="14" name="Text 8"/>
          <p:cNvSpPr txBox="1"/>
          <p:nvPr/>
        </p:nvSpPr>
        <p:spPr>
          <a:xfrm>
            <a:off x="5870448" y="3820668"/>
            <a:ext cx="577260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Exactly one of the two conducts: the output is always connected to one rail, never to both</a:t>
            </a:r>
            <a:endParaRPr lang="en-US" sz="1800" dirty="0"/>
          </a:p>
        </p:txBody>
      </p:sp>
      <p:sp>
        <p:nvSpPr>
          <p:cNvPr id="15" name="Shape 9"/>
          <p:cNvSpPr/>
          <p:nvPr/>
        </p:nvSpPr>
        <p:spPr>
          <a:xfrm>
            <a:off x="5486400" y="4653534"/>
            <a:ext cx="146304" cy="146304"/>
          </a:xfrm>
          <a:prstGeom prst="rect">
            <a:avLst/>
          </a:prstGeom>
          <a:solidFill>
            <a:srgbClr val="0E7C86"/>
          </a:solidFill>
          <a:ln w="12700">
            <a:solidFill>
              <a:srgbClr val="0E7C86"/>
            </a:solidFill>
            <a:prstDash val="solid"/>
          </a:ln>
        </p:spPr>
      </p:sp>
      <p:sp>
        <p:nvSpPr>
          <p:cNvPr id="16" name="Text 10"/>
          <p:cNvSpPr txBox="1"/>
          <p:nvPr/>
        </p:nvSpPr>
        <p:spPr>
          <a:xfrm>
            <a:off x="5870448" y="4578096"/>
            <a:ext cx="577260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With the input still, no current flows from supply to ground: CMOS consumes almost nothing at rest</a:t>
            </a:r>
            <a:endParaRPr lang="en-US" sz="1800" dirty="0"/>
          </a:p>
        </p:txBody>
      </p:sp>
      <p:sp>
        <p:nvSpPr>
          <p:cNvPr id="17" name="Shape 11"/>
          <p:cNvSpPr/>
          <p:nvPr/>
        </p:nvSpPr>
        <p:spPr>
          <a:xfrm>
            <a:off x="5486400" y="5410962"/>
            <a:ext cx="146304" cy="146304"/>
          </a:xfrm>
          <a:prstGeom prst="rect">
            <a:avLst/>
          </a:prstGeom>
          <a:solidFill>
            <a:srgbClr val="C7791B"/>
          </a:solidFill>
          <a:ln w="12700">
            <a:solidFill>
              <a:srgbClr val="C7791B"/>
            </a:solidFill>
            <a:prstDash val="solid"/>
          </a:ln>
        </p:spPr>
      </p:sp>
      <p:sp>
        <p:nvSpPr>
          <p:cNvPr id="18" name="Text 12"/>
          <p:cNvSpPr txBox="1"/>
          <p:nvPr/>
        </p:nvSpPr>
        <p:spPr>
          <a:xfrm>
            <a:off x="5870448" y="5335524"/>
            <a:ext cx="577260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The output is a fresh, clean level whatever the quality of the input: the gate regenerates the signal</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NAND and NOR in CMOS</a:t>
            </a:r>
            <a:endParaRPr lang="en-US" sz="3200" dirty="0"/>
          </a:p>
        </p:txBody>
      </p:sp>
      <p:sp>
        <p:nvSpPr>
          <p:cNvPr id="3" name="Shape 1"/>
          <p:cNvSpPr/>
          <p:nvPr/>
        </p:nvSpPr>
        <p:spPr>
          <a:xfrm>
            <a:off x="548640" y="1417320"/>
            <a:ext cx="5364328" cy="3886200"/>
          </a:xfrm>
          <a:prstGeom prst="roundRect">
            <a:avLst>
              <a:gd name="adj" fmla="val 1882"/>
            </a:avLst>
          </a:prstGeom>
          <a:solidFill>
            <a:srgbClr val="EEF2F4"/>
          </a:solidFill>
          <a:ln w="12700">
            <a:solidFill>
              <a:srgbClr val="EEF2F4"/>
            </a:solidFill>
            <a:prstDash val="solid"/>
          </a:ln>
        </p:spPr>
      </p:sp>
      <p:sp>
        <p:nvSpPr>
          <p:cNvPr id="4" name="Shape 2"/>
          <p:cNvSpPr/>
          <p:nvPr/>
        </p:nvSpPr>
        <p:spPr>
          <a:xfrm>
            <a:off x="6278728" y="1417320"/>
            <a:ext cx="5364328" cy="3886200"/>
          </a:xfrm>
          <a:prstGeom prst="roundRect">
            <a:avLst>
              <a:gd name="adj" fmla="val 1882"/>
            </a:avLst>
          </a:prstGeom>
          <a:solidFill>
            <a:srgbClr val="EEF2F4"/>
          </a:solidFill>
          <a:ln w="12700">
            <a:solidFill>
              <a:srgbClr val="EEF2F4"/>
            </a:solidFill>
            <a:prstDash val="solid"/>
          </a:ln>
        </p:spPr>
      </p:sp>
      <p:sp>
        <p:nvSpPr>
          <p:cNvPr id="5" name="Text 3"/>
          <p:cNvSpPr txBox="1"/>
          <p:nvPr/>
        </p:nvSpPr>
        <p:spPr>
          <a:xfrm>
            <a:off x="777240" y="1508760"/>
            <a:ext cx="4907128" cy="365760"/>
          </a:xfrm>
          <a:prstGeom prst="rect">
            <a:avLst/>
          </a:prstGeom>
          <a:noFill/>
          <a:ln/>
        </p:spPr>
        <p:txBody>
          <a:bodyPr wrap="square" lIns="0" tIns="0" rIns="0" bIns="0" rtlCol="0" anchor="t"/>
          <a:lstStyle/>
          <a:p>
            <a:pPr indent="0" marL="0">
              <a:buNone/>
            </a:pPr>
            <a:r>
              <a:rPr lang="en-US" sz="1600" b="1" dirty="0">
                <a:solidFill>
                  <a:srgbClr val="0E7C86"/>
                </a:solidFill>
                <a:latin typeface="Courier New" pitchFamily="34" charset="0"/>
                <a:ea typeface="Courier New" pitchFamily="34" charset="-122"/>
                <a:cs typeface="Courier New" pitchFamily="34" charset="-120"/>
              </a:rPr>
              <a:t>NAND:  Y = (A . B)'</a:t>
            </a:r>
            <a:endParaRPr lang="en-US" sz="1600" dirty="0"/>
          </a:p>
        </p:txBody>
      </p:sp>
      <p:sp>
        <p:nvSpPr>
          <p:cNvPr id="6" name="Text 4"/>
          <p:cNvSpPr txBox="1"/>
          <p:nvPr/>
        </p:nvSpPr>
        <p:spPr>
          <a:xfrm>
            <a:off x="6507328" y="1508760"/>
            <a:ext cx="4907128" cy="365760"/>
          </a:xfrm>
          <a:prstGeom prst="rect">
            <a:avLst/>
          </a:prstGeom>
          <a:noFill/>
          <a:ln/>
        </p:spPr>
        <p:txBody>
          <a:bodyPr wrap="square" lIns="0" tIns="0" rIns="0" bIns="0" rtlCol="0" anchor="t"/>
          <a:lstStyle/>
          <a:p>
            <a:pPr indent="0" marL="0">
              <a:buNone/>
            </a:pPr>
            <a:r>
              <a:rPr lang="en-US" sz="1600" b="1" dirty="0">
                <a:solidFill>
                  <a:srgbClr val="C7791B"/>
                </a:solidFill>
                <a:latin typeface="Courier New" pitchFamily="34" charset="0"/>
                <a:ea typeface="Courier New" pitchFamily="34" charset="-122"/>
                <a:cs typeface="Courier New" pitchFamily="34" charset="-120"/>
              </a:rPr>
              <a:t>NOR:  Y = (A + B)'</a:t>
            </a:r>
            <a:endParaRPr lang="en-US" sz="1600" dirty="0"/>
          </a:p>
        </p:txBody>
      </p:sp>
      <p:sp>
        <p:nvSpPr>
          <p:cNvPr id="7" name="Shape 5"/>
          <p:cNvSpPr/>
          <p:nvPr/>
        </p:nvSpPr>
        <p:spPr>
          <a:xfrm>
            <a:off x="9009964" y="91440"/>
            <a:ext cx="2633091" cy="274320"/>
          </a:xfrm>
          <a:prstGeom prst="rect">
            <a:avLst/>
          </a:prstGeom>
          <a:solidFill>
            <a:srgbClr val="E0F2FE"/>
          </a:solidFill>
          <a:ln w="12700">
            <a:solidFill>
              <a:srgbClr val="0369A1"/>
            </a:solidFill>
            <a:prstDash val="solid"/>
          </a:ln>
        </p:spPr>
      </p:sp>
      <p:sp>
        <p:nvSpPr>
          <p:cNvPr id="8" name="Shape 6"/>
          <p:cNvSpPr/>
          <p:nvPr/>
        </p:nvSpPr>
        <p:spPr>
          <a:xfrm>
            <a:off x="9009964" y="91440"/>
            <a:ext cx="73152" cy="274320"/>
          </a:xfrm>
          <a:prstGeom prst="rect">
            <a:avLst/>
          </a:prstGeom>
          <a:solidFill>
            <a:srgbClr val="0369A1"/>
          </a:solidFill>
          <a:ln w="12700">
            <a:solidFill>
              <a:srgbClr val="0369A1"/>
            </a:solidFill>
            <a:prstDash val="solid"/>
          </a:ln>
        </p:spPr>
      </p:sp>
      <p:pic>
        <p:nvPicPr>
          <p:cNvPr id="9" name="Image 0" descr="preencoded.png">    </p:cNvPr>
          <p:cNvPicPr>
            <a:picLocks noChangeAspect="1"/>
          </p:cNvPicPr>
          <p:nvPr/>
        </p:nvPicPr>
        <p:blipFill>
          <a:blip r:embed="rId1"/>
          <a:stretch>
            <a:fillRect/>
          </a:stretch>
        </p:blipFill>
        <p:spPr>
          <a:xfrm>
            <a:off x="9137980" y="128016"/>
            <a:ext cx="201168" cy="201168"/>
          </a:xfrm>
          <a:prstGeom prst="rect">
            <a:avLst/>
          </a:prstGeom>
        </p:spPr>
      </p:pic>
      <p:sp>
        <p:nvSpPr>
          <p:cNvPr id="10" name="Text 7"/>
          <p:cNvSpPr txBox="1"/>
          <p:nvPr/>
        </p:nvSpPr>
        <p:spPr>
          <a:xfrm>
            <a:off x="9394012" y="91440"/>
            <a:ext cx="221246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CMOS gates</a:t>
            </a:r>
            <a:endParaRPr lang="en-US" sz="1100" dirty="0"/>
          </a:p>
        </p:txBody>
      </p:sp>
      <p:pic>
        <p:nvPicPr>
          <p:cNvPr id="12" name="Image 1" descr="preencoded.png">    </p:cNvPr>
          <p:cNvPicPr>
            <a:picLocks noChangeAspect="1"/>
          </p:cNvPicPr>
          <p:nvPr/>
        </p:nvPicPr>
        <p:blipFill>
          <a:blip r:embed="rId2"/>
          <a:stretch>
            <a:fillRect/>
          </a:stretch>
        </p:blipFill>
        <p:spPr>
          <a:xfrm>
            <a:off x="1447926" y="1874520"/>
            <a:ext cx="3565756" cy="3383280"/>
          </a:xfrm>
          <a:prstGeom prst="rect">
            <a:avLst/>
          </a:prstGeom>
        </p:spPr>
      </p:pic>
      <p:pic>
        <p:nvPicPr>
          <p:cNvPr id="13" name="Image 2" descr="preencoded.png">    </p:cNvPr>
          <p:cNvPicPr>
            <a:picLocks noChangeAspect="1"/>
          </p:cNvPicPr>
          <p:nvPr/>
        </p:nvPicPr>
        <p:blipFill>
          <a:blip r:embed="rId3"/>
          <a:stretch>
            <a:fillRect/>
          </a:stretch>
        </p:blipFill>
        <p:spPr>
          <a:xfrm>
            <a:off x="7178014" y="1874520"/>
            <a:ext cx="3565756" cy="3383280"/>
          </a:xfrm>
          <a:prstGeom prst="rect">
            <a:avLst/>
          </a:prstGeom>
        </p:spPr>
      </p:pic>
      <p:sp>
        <p:nvSpPr>
          <p:cNvPr id="14" name="Shape 8"/>
          <p:cNvSpPr/>
          <p:nvPr/>
        </p:nvSpPr>
        <p:spPr>
          <a:xfrm>
            <a:off x="548640" y="5485130"/>
            <a:ext cx="146304" cy="146304"/>
          </a:xfrm>
          <a:prstGeom prst="rect">
            <a:avLst/>
          </a:prstGeom>
          <a:solidFill>
            <a:srgbClr val="0E7C86"/>
          </a:solidFill>
          <a:ln w="12700">
            <a:solidFill>
              <a:srgbClr val="0E7C86"/>
            </a:solidFill>
            <a:prstDash val="solid"/>
          </a:ln>
        </p:spPr>
      </p:sp>
      <p:sp>
        <p:nvSpPr>
          <p:cNvPr id="15" name="Text 9"/>
          <p:cNvSpPr txBox="1"/>
          <p:nvPr/>
        </p:nvSpPr>
        <p:spPr>
          <a:xfrm>
            <a:off x="932688" y="5440680"/>
            <a:ext cx="10710367" cy="216916"/>
          </a:xfrm>
          <a:prstGeom prst="rect">
            <a:avLst/>
          </a:prstGeom>
          <a:noFill/>
          <a:ln/>
        </p:spPr>
        <p:txBody>
          <a:bodyPr wrap="square" lIns="0" tIns="0" rIns="0" bIns="0" rtlCol="0" anchor="t"/>
          <a:lstStyle/>
          <a:p>
            <a:pPr indent="0" marL="0">
              <a:spcAft>
                <a:spcPts val="200"/>
              </a:spcAft>
              <a:buNone/>
            </a:pPr>
            <a:r>
              <a:rPr lang="en-US" sz="1400" dirty="0">
                <a:solidFill>
                  <a:srgbClr val="1B2530"/>
                </a:solidFill>
                <a:latin typeface="Calibri" pitchFamily="34" charset="0"/>
                <a:ea typeface="Calibri" pitchFamily="34" charset="-122"/>
                <a:cs typeface="Calibri" pitchFamily="34" charset="-120"/>
              </a:rPr>
              <a:t>NAND: two nMOS in series reach ground only if A AND B are 1; two pMOS in parallel reach the supply if either is 0</a:t>
            </a:r>
            <a:endParaRPr lang="en-US" sz="1400" dirty="0"/>
          </a:p>
        </p:txBody>
      </p:sp>
      <p:sp>
        <p:nvSpPr>
          <p:cNvPr id="16" name="Shape 10"/>
          <p:cNvSpPr/>
          <p:nvPr/>
        </p:nvSpPr>
        <p:spPr>
          <a:xfrm>
            <a:off x="548640" y="5999734"/>
            <a:ext cx="146304" cy="146304"/>
          </a:xfrm>
          <a:prstGeom prst="rect">
            <a:avLst/>
          </a:prstGeom>
          <a:solidFill>
            <a:srgbClr val="C7791B"/>
          </a:solidFill>
          <a:ln w="12700">
            <a:solidFill>
              <a:srgbClr val="C7791B"/>
            </a:solidFill>
            <a:prstDash val="solid"/>
          </a:ln>
        </p:spPr>
      </p:sp>
      <p:sp>
        <p:nvSpPr>
          <p:cNvPr id="17" name="Text 11"/>
          <p:cNvSpPr txBox="1"/>
          <p:nvPr/>
        </p:nvSpPr>
        <p:spPr>
          <a:xfrm>
            <a:off x="932688" y="5955284"/>
            <a:ext cx="10710367" cy="216916"/>
          </a:xfrm>
          <a:prstGeom prst="rect">
            <a:avLst/>
          </a:prstGeom>
          <a:noFill/>
          <a:ln/>
        </p:spPr>
        <p:txBody>
          <a:bodyPr wrap="square" lIns="0" tIns="0" rIns="0" bIns="0" rtlCol="0" anchor="t"/>
          <a:lstStyle/>
          <a:p>
            <a:pPr indent="0" marL="0">
              <a:spcAft>
                <a:spcPts val="200"/>
              </a:spcAft>
              <a:buNone/>
            </a:pPr>
            <a:r>
              <a:rPr lang="en-US" sz="1400" dirty="0">
                <a:solidFill>
                  <a:srgbClr val="1B2530"/>
                </a:solidFill>
                <a:latin typeface="Calibri" pitchFamily="34" charset="0"/>
                <a:ea typeface="Calibri" pitchFamily="34" charset="-122"/>
                <a:cs typeface="Calibri" pitchFamily="34" charset="-120"/>
              </a:rPr>
              <a:t>NOR: the dual. Parallel becomes series and series becomes parallel, as De Morgan's laws exchange AND and OR</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gates cost, in transistors</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91886"/>
                <a:gridCol w="2182508"/>
                <a:gridCol w="5820021"/>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Circuit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Transistors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Remark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NOT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CMOS inverter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NAND, NOR (2 inputs)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natural gates of CMOS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AND, OR (2 inputs)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NAND or a NOR followed by an inverter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XOR (2 inputs)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about 8 to 12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depending on the design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full adder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about 28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classic static CMOS adder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SRAM cell, one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two inverters in a loop and two access transistors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D flip-flop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about 20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two latches, master and slave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300" i="1" dirty="0">
                <a:solidFill>
                  <a:srgbClr val="5B6B78"/>
                </a:solidFill>
                <a:latin typeface="Calibri" pitchFamily="34" charset="0"/>
                <a:ea typeface="Calibri" pitchFamily="34" charset="-122"/>
                <a:cs typeface="Calibri" pitchFamily="34" charset="-120"/>
              </a:rPr>
              <a:t>AND costs more than NAND: in CMOS the inverting gates come first. Minimising a function means saving transistors, area, energy and time.</a:t>
            </a:r>
            <a:endParaRPr lang="en-US" sz="1300" dirty="0"/>
          </a:p>
        </p:txBody>
      </p:sp>
      <p:sp>
        <p:nvSpPr>
          <p:cNvPr id="5" name="Shape 2"/>
          <p:cNvSpPr/>
          <p:nvPr/>
        </p:nvSpPr>
        <p:spPr>
          <a:xfrm>
            <a:off x="9009964" y="91440"/>
            <a:ext cx="2633091" cy="274320"/>
          </a:xfrm>
          <a:prstGeom prst="rect">
            <a:avLst/>
          </a:prstGeom>
          <a:solidFill>
            <a:srgbClr val="E0F2FE"/>
          </a:solidFill>
          <a:ln w="12700">
            <a:solidFill>
              <a:srgbClr val="0369A1"/>
            </a:solidFill>
            <a:prstDash val="solid"/>
          </a:ln>
        </p:spPr>
      </p:sp>
      <p:sp>
        <p:nvSpPr>
          <p:cNvPr id="6" name="Shape 3"/>
          <p:cNvSpPr/>
          <p:nvPr/>
        </p:nvSpPr>
        <p:spPr>
          <a:xfrm>
            <a:off x="9009964"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9137980" y="128016"/>
            <a:ext cx="201168" cy="201168"/>
          </a:xfrm>
          <a:prstGeom prst="rect">
            <a:avLst/>
          </a:prstGeom>
        </p:spPr>
      </p:pic>
      <p:sp>
        <p:nvSpPr>
          <p:cNvPr id="8" name="Text 4"/>
          <p:cNvSpPr txBox="1"/>
          <p:nvPr/>
        </p:nvSpPr>
        <p:spPr>
          <a:xfrm>
            <a:off x="9394012" y="91440"/>
            <a:ext cx="221246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CMOS gates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Switching takes time and energy</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output of a gate drives the inputs of the next gates, which are small capacitors</a:t>
            </a:r>
            <a:endParaRPr lang="en-US" sz="2100" dirty="0"/>
          </a:p>
        </p:txBody>
      </p:sp>
      <p:sp>
        <p:nvSpPr>
          <p:cNvPr id="5" name="Shape 3"/>
          <p:cNvSpPr/>
          <p:nvPr/>
        </p:nvSpPr>
        <p:spPr>
          <a:xfrm>
            <a:off x="548640" y="230047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01799"/>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To change level, the output must charge or discharge them through the resistance of its transistors: this is the propagation delay</a:t>
            </a:r>
            <a:endParaRPr lang="en-US" sz="2100" dirty="0"/>
          </a:p>
        </p:txBody>
      </p:sp>
      <p:sp>
        <p:nvSpPr>
          <p:cNvPr id="7" name="Shape 5"/>
          <p:cNvSpPr/>
          <p:nvPr/>
        </p:nvSpPr>
        <p:spPr>
          <a:xfrm>
            <a:off x="548640" y="341033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11652"/>
            <a:ext cx="6565392" cy="64084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Every change of level costs energy</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the power spent in switching is about C x V^2 x f</a:t>
            </a:r>
            <a:endParaRPr lang="en-US" sz="2100" dirty="0"/>
          </a:p>
        </p:txBody>
      </p:sp>
      <p:sp>
        <p:nvSpPr>
          <p:cNvPr id="9" name="Shape 7"/>
          <p:cNvSpPr/>
          <p:nvPr/>
        </p:nvSpPr>
        <p:spPr>
          <a:xfrm>
            <a:off x="548640" y="418490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086225"/>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Lowering the supply voltage saves the most: the reason chips moved from 5 V to 3.3 V to about 1 V inside</a:t>
            </a:r>
            <a:endParaRPr lang="en-US" sz="2100" dirty="0"/>
          </a:p>
        </p:txBody>
      </p:sp>
      <p:sp>
        <p:nvSpPr>
          <p:cNvPr id="11" name="Shape 9"/>
          <p:cNvSpPr/>
          <p:nvPr/>
        </p:nvSpPr>
        <p:spPr>
          <a:xfrm>
            <a:off x="548640" y="529475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96078"/>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Raising the clock frequency raises the consumption in proportion: speed is paid for in heat</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C x V^2 x f</a:t>
            </a:r>
            <a:endParaRPr lang="en-US" sz="5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dynamic power: capacitance, the square of the voltage, and how often you switch</a:t>
            </a:r>
            <a:endParaRPr lang="en-US" sz="1900" dirty="0"/>
          </a:p>
        </p:txBody>
      </p:sp>
      <p:sp>
        <p:nvSpPr>
          <p:cNvPr id="16" name="Shape 14"/>
          <p:cNvSpPr/>
          <p:nvPr/>
        </p:nvSpPr>
        <p:spPr>
          <a:xfrm>
            <a:off x="7939862" y="91440"/>
            <a:ext cx="3703193" cy="274320"/>
          </a:xfrm>
          <a:prstGeom prst="rect">
            <a:avLst/>
          </a:prstGeom>
          <a:solidFill>
            <a:srgbClr val="F3E8FF"/>
          </a:solidFill>
          <a:ln w="12700">
            <a:solidFill>
              <a:srgbClr val="7E22CE"/>
            </a:solidFill>
            <a:prstDash val="dash"/>
          </a:ln>
        </p:spPr>
      </p:sp>
      <p:sp>
        <p:nvSpPr>
          <p:cNvPr id="17" name="Shape 15"/>
          <p:cNvSpPr/>
          <p:nvPr/>
        </p:nvSpPr>
        <p:spPr>
          <a:xfrm>
            <a:off x="7967294" y="128016"/>
            <a:ext cx="45720" cy="45720"/>
          </a:xfrm>
          <a:prstGeom prst="rect">
            <a:avLst/>
          </a:prstGeom>
          <a:solidFill>
            <a:srgbClr val="7E22CE"/>
          </a:solidFill>
          <a:ln w="12700">
            <a:solidFill>
              <a:srgbClr val="7E22CE"/>
            </a:solidFill>
            <a:prstDash val="solid"/>
          </a:ln>
        </p:spPr>
      </p:sp>
      <p:sp>
        <p:nvSpPr>
          <p:cNvPr id="18" name="Shape 16"/>
          <p:cNvSpPr/>
          <p:nvPr/>
        </p:nvSpPr>
        <p:spPr>
          <a:xfrm>
            <a:off x="7967294" y="205740"/>
            <a:ext cx="45720" cy="45720"/>
          </a:xfrm>
          <a:prstGeom prst="rect">
            <a:avLst/>
          </a:prstGeom>
          <a:solidFill>
            <a:srgbClr val="7E22CE"/>
          </a:solidFill>
          <a:ln w="12700">
            <a:solidFill>
              <a:srgbClr val="7E22CE"/>
            </a:solidFill>
            <a:prstDash val="solid"/>
          </a:ln>
        </p:spPr>
      </p:sp>
      <p:sp>
        <p:nvSpPr>
          <p:cNvPr id="19" name="Shape 17"/>
          <p:cNvSpPr/>
          <p:nvPr/>
        </p:nvSpPr>
        <p:spPr>
          <a:xfrm>
            <a:off x="7967294" y="283464"/>
            <a:ext cx="45720" cy="45720"/>
          </a:xfrm>
          <a:prstGeom prst="rect">
            <a:avLst/>
          </a:prstGeom>
          <a:solidFill>
            <a:srgbClr val="7E22CE"/>
          </a:solidFill>
          <a:ln w="12700">
            <a:solidFill>
              <a:srgbClr val="7E22CE"/>
            </a:solidFill>
            <a:prstDash val="solid"/>
          </a:ln>
        </p:spPr>
      </p:sp>
      <p:pic>
        <p:nvPicPr>
          <p:cNvPr id="20" name="Image 0" descr="preencoded.png">    </p:cNvPr>
          <p:cNvPicPr>
            <a:picLocks noChangeAspect="1"/>
          </p:cNvPicPr>
          <p:nvPr/>
        </p:nvPicPr>
        <p:blipFill>
          <a:blip r:embed="rId1"/>
          <a:stretch>
            <a:fillRect/>
          </a:stretch>
        </p:blipFill>
        <p:spPr>
          <a:xfrm>
            <a:off x="8067878" y="128016"/>
            <a:ext cx="201168" cy="201168"/>
          </a:xfrm>
          <a:prstGeom prst="rect">
            <a:avLst/>
          </a:prstGeom>
        </p:spPr>
      </p:pic>
      <p:sp>
        <p:nvSpPr>
          <p:cNvPr id="21" name="Text 18"/>
          <p:cNvSpPr txBox="1"/>
          <p:nvPr/>
        </p:nvSpPr>
        <p:spPr>
          <a:xfrm>
            <a:off x="8323910" y="91440"/>
            <a:ext cx="3282569"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the clock</a:t>
            </a:r>
            <a:pPr indent="0" marL="0">
              <a:buNone/>
            </a:pPr>
            <a:r>
              <a:rPr lang="en-US" sz="1100" b="1" dirty="0">
                <a:solidFill>
                  <a:srgbClr val="6B21A8"/>
                </a:solidFill>
                <a:latin typeface="Calibri" pitchFamily="34" charset="0"/>
                <a:ea typeface="Calibri" pitchFamily="34" charset="-122"/>
                <a:cs typeface="Calibri" pitchFamily="34" charset="-120"/>
              </a:rPr>
              <a:t> → Lecture 13</a:t>
            </a:r>
            <a:endParaRPr lang="en-US" sz="1100" dirty="0"/>
          </a:p>
        </p:txBody>
      </p:sp>
      <p:sp>
        <p:nvSpPr>
          <p:cNvPr id="22" name="Shape 19"/>
          <p:cNvSpPr/>
          <p:nvPr/>
        </p:nvSpPr>
        <p:spPr>
          <a:xfrm>
            <a:off x="5197043" y="91440"/>
            <a:ext cx="2633091" cy="274320"/>
          </a:xfrm>
          <a:prstGeom prst="rect">
            <a:avLst/>
          </a:prstGeom>
          <a:solidFill>
            <a:srgbClr val="E0F2FE"/>
          </a:solidFill>
          <a:ln w="12700">
            <a:solidFill>
              <a:srgbClr val="0369A1"/>
            </a:solidFill>
            <a:prstDash val="solid"/>
          </a:ln>
        </p:spPr>
      </p:sp>
      <p:sp>
        <p:nvSpPr>
          <p:cNvPr id="23" name="Shape 20"/>
          <p:cNvSpPr/>
          <p:nvPr/>
        </p:nvSpPr>
        <p:spPr>
          <a:xfrm>
            <a:off x="5197043" y="91440"/>
            <a:ext cx="73152" cy="274320"/>
          </a:xfrm>
          <a:prstGeom prst="rect">
            <a:avLst/>
          </a:prstGeom>
          <a:solidFill>
            <a:srgbClr val="0369A1"/>
          </a:solidFill>
          <a:ln w="12700">
            <a:solidFill>
              <a:srgbClr val="0369A1"/>
            </a:solidFill>
            <a:prstDash val="solid"/>
          </a:ln>
        </p:spPr>
      </p:sp>
      <p:pic>
        <p:nvPicPr>
          <p:cNvPr id="24" name="Image 1" descr="preencoded.png">    </p:cNvPr>
          <p:cNvPicPr>
            <a:picLocks noChangeAspect="1"/>
          </p:cNvPicPr>
          <p:nvPr/>
        </p:nvPicPr>
        <p:blipFill>
          <a:blip r:embed="rId2"/>
          <a:stretch>
            <a:fillRect/>
          </a:stretch>
        </p:blipFill>
        <p:spPr>
          <a:xfrm>
            <a:off x="5325059" y="128016"/>
            <a:ext cx="201168" cy="201168"/>
          </a:xfrm>
          <a:prstGeom prst="rect">
            <a:avLst/>
          </a:prstGeom>
        </p:spPr>
      </p:pic>
      <p:sp>
        <p:nvSpPr>
          <p:cNvPr id="25" name="Text 21"/>
          <p:cNvSpPr txBox="1"/>
          <p:nvPr/>
        </p:nvSpPr>
        <p:spPr>
          <a:xfrm>
            <a:off x="5581091" y="91440"/>
            <a:ext cx="221246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CMOS gates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Pull-up: an input that is never left floating</a:t>
            </a:r>
            <a:endParaRPr lang="en-US" sz="3200" dirty="0"/>
          </a:p>
        </p:txBody>
      </p:sp>
      <p:sp>
        <p:nvSpPr>
          <p:cNvPr id="3" name="Shape 1"/>
          <p:cNvSpPr/>
          <p:nvPr/>
        </p:nvSpPr>
        <p:spPr>
          <a:xfrm>
            <a:off x="548640" y="1417320"/>
            <a:ext cx="2743200" cy="4754880"/>
          </a:xfrm>
          <a:prstGeom prst="roundRect">
            <a:avLst>
              <a:gd name="adj" fmla="val 2667"/>
            </a:avLst>
          </a:prstGeom>
          <a:solidFill>
            <a:srgbClr val="EEF2F4"/>
          </a:solidFill>
          <a:ln w="12700">
            <a:solidFill>
              <a:srgbClr val="EEF2F4"/>
            </a:solidFill>
            <a:prstDash val="solid"/>
          </a:ln>
        </p:spPr>
      </p:sp>
      <p:sp>
        <p:nvSpPr>
          <p:cNvPr id="4" name="Shape 2"/>
          <p:cNvSpPr/>
          <p:nvPr/>
        </p:nvSpPr>
        <p:spPr>
          <a:xfrm>
            <a:off x="3520440" y="1417320"/>
            <a:ext cx="2743200" cy="4754880"/>
          </a:xfrm>
          <a:prstGeom prst="roundRect">
            <a:avLst>
              <a:gd name="adj" fmla="val 2667"/>
            </a:avLst>
          </a:prstGeom>
          <a:solidFill>
            <a:srgbClr val="EEF2F4"/>
          </a:solidFill>
          <a:ln w="12700">
            <a:solidFill>
              <a:srgbClr val="EEF2F4"/>
            </a:solidFill>
            <a:prstDash val="solid"/>
          </a:ln>
        </p:spPr>
      </p:sp>
      <p:sp>
        <p:nvSpPr>
          <p:cNvPr id="5" name="Shape 3"/>
          <p:cNvSpPr/>
          <p:nvPr/>
        </p:nvSpPr>
        <p:spPr>
          <a:xfrm>
            <a:off x="8747328" y="91440"/>
            <a:ext cx="2895727" cy="274320"/>
          </a:xfrm>
          <a:prstGeom prst="rect">
            <a:avLst/>
          </a:prstGeom>
          <a:solidFill>
            <a:srgbClr val="E0F2FE"/>
          </a:solidFill>
          <a:ln w="12700">
            <a:solidFill>
              <a:srgbClr val="0369A1"/>
            </a:solidFill>
            <a:prstDash val="solid"/>
          </a:ln>
        </p:spPr>
      </p:sp>
      <p:sp>
        <p:nvSpPr>
          <p:cNvPr id="6" name="Shape 4"/>
          <p:cNvSpPr/>
          <p:nvPr/>
        </p:nvSpPr>
        <p:spPr>
          <a:xfrm>
            <a:off x="8747328"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875344" y="128016"/>
            <a:ext cx="201168" cy="201168"/>
          </a:xfrm>
          <a:prstGeom prst="rect">
            <a:avLst/>
          </a:prstGeom>
        </p:spPr>
      </p:pic>
      <p:sp>
        <p:nvSpPr>
          <p:cNvPr id="8" name="Text 5"/>
          <p:cNvSpPr txBox="1"/>
          <p:nvPr/>
        </p:nvSpPr>
        <p:spPr>
          <a:xfrm>
            <a:off x="9131376" y="91440"/>
            <a:ext cx="247510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pull-up inputs</a:t>
            </a:r>
            <a:endParaRPr lang="en-US" sz="1100" dirty="0"/>
          </a:p>
        </p:txBody>
      </p:sp>
      <p:pic>
        <p:nvPicPr>
          <p:cNvPr id="10" name="Image 1" descr="preencoded.png">    </p:cNvPr>
          <p:cNvPicPr>
            <a:picLocks noChangeAspect="1"/>
          </p:cNvPicPr>
          <p:nvPr/>
        </p:nvPicPr>
        <p:blipFill>
          <a:blip r:embed="rId2"/>
          <a:stretch>
            <a:fillRect/>
          </a:stretch>
        </p:blipFill>
        <p:spPr>
          <a:xfrm>
            <a:off x="640080" y="2105753"/>
            <a:ext cx="2560320" cy="3378014"/>
          </a:xfrm>
          <a:prstGeom prst="rect">
            <a:avLst/>
          </a:prstGeom>
        </p:spPr>
      </p:pic>
      <p:pic>
        <p:nvPicPr>
          <p:cNvPr id="11" name="Image 2" descr="preencoded.png">    </p:cNvPr>
          <p:cNvPicPr>
            <a:picLocks noChangeAspect="1"/>
          </p:cNvPicPr>
          <p:nvPr/>
        </p:nvPicPr>
        <p:blipFill>
          <a:blip r:embed="rId3"/>
          <a:stretch>
            <a:fillRect/>
          </a:stretch>
        </p:blipFill>
        <p:spPr>
          <a:xfrm>
            <a:off x="3611880" y="2105753"/>
            <a:ext cx="2560320" cy="3378014"/>
          </a:xfrm>
          <a:prstGeom prst="rect">
            <a:avLst/>
          </a:prstGeom>
        </p:spPr>
      </p:pic>
      <p:sp>
        <p:nvSpPr>
          <p:cNvPr id="12" name="Shape 6"/>
          <p:cNvSpPr/>
          <p:nvPr/>
        </p:nvSpPr>
        <p:spPr>
          <a:xfrm>
            <a:off x="6583680" y="1500505"/>
            <a:ext cx="146304" cy="146304"/>
          </a:xfrm>
          <a:prstGeom prst="rect">
            <a:avLst/>
          </a:prstGeom>
          <a:solidFill>
            <a:srgbClr val="0E7C86"/>
          </a:solidFill>
          <a:ln w="12700">
            <a:solidFill>
              <a:srgbClr val="0E7C86"/>
            </a:solidFill>
            <a:prstDash val="solid"/>
          </a:ln>
        </p:spPr>
      </p:sp>
      <p:sp>
        <p:nvSpPr>
          <p:cNvPr id="13" name="Text 7"/>
          <p:cNvSpPr txBox="1"/>
          <p:nvPr/>
        </p:nvSpPr>
        <p:spPr>
          <a:xfrm>
            <a:off x="6967728" y="1417320"/>
            <a:ext cx="4675327"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An input connected to nothing is floating: it picks up noise and reads 0 or 1 at random</a:t>
            </a:r>
            <a:endParaRPr lang="en-US" sz="1900" dirty="0"/>
          </a:p>
        </p:txBody>
      </p:sp>
      <p:sp>
        <p:nvSpPr>
          <p:cNvPr id="14" name="Shape 8"/>
          <p:cNvSpPr/>
          <p:nvPr/>
        </p:nvSpPr>
        <p:spPr>
          <a:xfrm>
            <a:off x="6583680" y="2556129"/>
            <a:ext cx="146304" cy="146304"/>
          </a:xfrm>
          <a:prstGeom prst="rect">
            <a:avLst/>
          </a:prstGeom>
          <a:solidFill>
            <a:srgbClr val="C7791B"/>
          </a:solidFill>
          <a:ln w="12700">
            <a:solidFill>
              <a:srgbClr val="C7791B"/>
            </a:solidFill>
            <a:prstDash val="solid"/>
          </a:ln>
        </p:spPr>
      </p:sp>
      <p:sp>
        <p:nvSpPr>
          <p:cNvPr id="15" name="Text 9"/>
          <p:cNvSpPr txBox="1"/>
          <p:nvPr/>
        </p:nvSpPr>
        <p:spPr>
          <a:xfrm>
            <a:off x="6967728" y="2472944"/>
            <a:ext cx="4675327"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pull-up resistor ties the pin to 3.3 V: released, no current flows, and the pin reads a clean 1</a:t>
            </a:r>
            <a:endParaRPr lang="en-US" sz="1900" dirty="0"/>
          </a:p>
        </p:txBody>
      </p:sp>
      <p:sp>
        <p:nvSpPr>
          <p:cNvPr id="16" name="Shape 10"/>
          <p:cNvSpPr/>
          <p:nvPr/>
        </p:nvSpPr>
        <p:spPr>
          <a:xfrm>
            <a:off x="6583680" y="3611753"/>
            <a:ext cx="146304" cy="146304"/>
          </a:xfrm>
          <a:prstGeom prst="rect">
            <a:avLst/>
          </a:prstGeom>
          <a:solidFill>
            <a:srgbClr val="0E7C86"/>
          </a:solidFill>
          <a:ln w="12700">
            <a:solidFill>
              <a:srgbClr val="0E7C86"/>
            </a:solidFill>
            <a:prstDash val="solid"/>
          </a:ln>
        </p:spPr>
      </p:sp>
      <p:sp>
        <p:nvSpPr>
          <p:cNvPr id="17" name="Text 11"/>
          <p:cNvSpPr txBox="1"/>
          <p:nvPr/>
        </p:nvSpPr>
        <p:spPr>
          <a:xfrm>
            <a:off x="6967728" y="3528568"/>
            <a:ext cx="4675327" cy="112115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Pressed, the switch joins the pin to ground: 0 V, a clean 0</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a current of 3.3 V / 45 kΩ = 73 µA flows, too small to matter</a:t>
            </a:r>
            <a:endParaRPr lang="en-US" sz="1900" dirty="0"/>
          </a:p>
        </p:txBody>
      </p:sp>
      <p:sp>
        <p:nvSpPr>
          <p:cNvPr id="18" name="Shape 12"/>
          <p:cNvSpPr/>
          <p:nvPr/>
        </p:nvSpPr>
        <p:spPr>
          <a:xfrm>
            <a:off x="6583680" y="4905375"/>
            <a:ext cx="146304" cy="146304"/>
          </a:xfrm>
          <a:prstGeom prst="rect">
            <a:avLst/>
          </a:prstGeom>
          <a:solidFill>
            <a:srgbClr val="C7791B"/>
          </a:solidFill>
          <a:ln w="12700">
            <a:solidFill>
              <a:srgbClr val="C7791B"/>
            </a:solidFill>
            <a:prstDash val="solid"/>
          </a:ln>
        </p:spPr>
      </p:sp>
      <p:sp>
        <p:nvSpPr>
          <p:cNvPr id="19" name="Text 13"/>
          <p:cNvSpPr txBox="1"/>
          <p:nvPr/>
        </p:nvSpPr>
        <p:spPr>
          <a:xfrm>
            <a:off x="6967728" y="4822190"/>
            <a:ext cx="467532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It is a voltage divider whose lower resistor is either infinite or zero</a:t>
            </a:r>
            <a:endParaRPr lang="en-US" sz="1900" dirty="0"/>
          </a:p>
        </p:txBody>
      </p:sp>
      <p:sp>
        <p:nvSpPr>
          <p:cNvPr id="20" name="Shape 14"/>
          <p:cNvSpPr/>
          <p:nvPr/>
        </p:nvSpPr>
        <p:spPr>
          <a:xfrm>
            <a:off x="6583680" y="5666613"/>
            <a:ext cx="146304" cy="146304"/>
          </a:xfrm>
          <a:prstGeom prst="rect">
            <a:avLst/>
          </a:prstGeom>
          <a:solidFill>
            <a:srgbClr val="0E7C86"/>
          </a:solidFill>
          <a:ln w="12700">
            <a:solidFill>
              <a:srgbClr val="0E7C86"/>
            </a:solidFill>
            <a:prstDash val="solid"/>
          </a:ln>
        </p:spPr>
      </p:sp>
      <p:sp>
        <p:nvSpPr>
          <p:cNvPr id="21" name="Text 15"/>
          <p:cNvSpPr txBox="1"/>
          <p:nvPr/>
        </p:nvSpPr>
        <p:spPr>
          <a:xfrm>
            <a:off x="6967728" y="5583428"/>
            <a:ext cx="467532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firmware inverts the bit, so that in your program pressed is 1</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An LED drops 2 V and must carry 5 mA from a 3.3 V pin. Which resistor is needed?</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26 Ω</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260 Ω</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400 Ω</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660 Ω</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a CMOS inverter with the input at 0:</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both transistors conduct</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pMOS conducts and the output is 1</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nMOS conducts and the output is 0</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neither conducts and the output floats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How many transistors does a two-input AND need in static CMOS?</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Why does the button input of the kit need a pull-up resistor?</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To limit the current of the LED</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To make the pin read a defined 1 when the button is released</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To make the button faster</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To protect the chip from 5 V</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00254"/>
                <a:gridCol w="2773604"/>
                <a:gridCol w="2600254"/>
                <a:gridCol w="3120304"/>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English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Italiano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English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Italiano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voltage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tensione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logic level</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livello logico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current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corrente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noise margin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margine di rumore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resistor / resistance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resistore / resistenza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pull-up resistor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resistenza di pull-up</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capacitor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condensatore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floating input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ingresso flottante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ground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massa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propagation delay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ritardo di propagazione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semiconductor, doping</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semiconduttore, drogaggio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integrated circuit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circuito integrato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gate, source, drain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gate, source, drain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breadboard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basetta sperimentale (breadboard)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Voltage pushes, current flows, resistance hinders: V = R x I describes most of what a digital designer needs</a:t>
            </a:r>
            <a:endParaRPr lang="en-US" sz="1900" dirty="0"/>
          </a:p>
        </p:txBody>
      </p:sp>
      <p:sp>
        <p:nvSpPr>
          <p:cNvPr id="5" name="Shape 3"/>
          <p:cNvSpPr/>
          <p:nvPr/>
        </p:nvSpPr>
        <p:spPr>
          <a:xfrm>
            <a:off x="548640" y="223121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48027"/>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MOS transistor is a switch controlled by a voltage; nMOS and pMOS are complementary</a:t>
            </a:r>
            <a:endParaRPr lang="en-US" sz="1900" dirty="0"/>
          </a:p>
        </p:txBody>
      </p:sp>
      <p:sp>
        <p:nvSpPr>
          <p:cNvPr id="7" name="Shape 5"/>
          <p:cNvSpPr/>
          <p:nvPr/>
        </p:nvSpPr>
        <p:spPr>
          <a:xfrm>
            <a:off x="548640" y="266753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584348"/>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bit is a range of voltages; noise margins and regeneration are what make digital circuits reliable</a:t>
            </a:r>
            <a:endParaRPr lang="en-US" sz="1900" dirty="0"/>
          </a:p>
        </p:txBody>
      </p:sp>
      <p:sp>
        <p:nvSpPr>
          <p:cNvPr id="9" name="Shape 7"/>
          <p:cNvSpPr/>
          <p:nvPr/>
        </p:nvSpPr>
        <p:spPr>
          <a:xfrm>
            <a:off x="548640" y="339824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315056"/>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CMOS gates are pairs of switch networks; the inverting gates NAND and NOR are the cheapest</a:t>
            </a:r>
            <a:endParaRPr lang="en-US" sz="1900" dirty="0"/>
          </a:p>
        </p:txBody>
      </p:sp>
      <p:sp>
        <p:nvSpPr>
          <p:cNvPr id="11" name="Shape 9"/>
          <p:cNvSpPr/>
          <p:nvPr/>
        </p:nvSpPr>
        <p:spPr>
          <a:xfrm>
            <a:off x="548640" y="412894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045763"/>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Switching costs time (R x C) and energy (C x V^2 x f): the physical limits behind every clock</a:t>
            </a:r>
            <a:endParaRPr lang="en-US" sz="1900" dirty="0"/>
          </a:p>
        </p:txBody>
      </p:sp>
      <p:sp>
        <p:nvSpPr>
          <p:cNvPr id="13" name="Shape 11"/>
          <p:cNvSpPr/>
          <p:nvPr/>
        </p:nvSpPr>
        <p:spPr>
          <a:xfrm>
            <a:off x="548640" y="4859655"/>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776470"/>
            <a:ext cx="10710367" cy="139573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Reading</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Charles Petzold: Code, the chapters from the flashlight to logic gates</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Patterson, Hennessy: Computer Organization and Design, RISC-V Edition, sections 1.5, 1.7 and appendix A</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PRG32 repository: docs/hardware/hardware.md</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Introduction to Electronics and Digital Electronics</dc:title>
  <dc:subject>Lecture 10</dc:subject>
  <dc:creator>Raffaele Montella</dc:creator>
  <cp:lastModifiedBy>Raffaele Montella</cp:lastModifiedBy>
  <cp:revision>1</cp:revision>
  <dcterms:created xsi:type="dcterms:W3CDTF">2026-10-16T20:22:24Z</dcterms:created>
  <dcterms:modified xsi:type="dcterms:W3CDTF">2026-10-16T20:22:24Z</dcterms:modified>
</cp:coreProperties>
</file>