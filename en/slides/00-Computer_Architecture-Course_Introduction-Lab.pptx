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db9689-325a-7de9-73f2-8ae2d9da59cd}">
          <p14:sldIdLst>
            <p14:sldId id="256"/>
            <p14:sldId id="257"/>
          </p14:sldIdLst>
        </p14:section>
        <p14:section name="Material and first contact" id="{0029801b-dc87-6f06-1c62-e8c5a1650589}">
          <p14:sldIdLst>
            <p14:sldId id="258"/>
          </p14:sldIdLst>
        </p14:section>
        <p14:section name="The complete program" id="{30aac942-71a7-6e70-325e-2bd39caa89c4}">
          <p14:sldIdLst>
            <p14:sldId id="259"/>
            <p14:sldId id="260"/>
          </p14:sldIdLst>
        </p14:section>
        <p14:section name="Run it and test it" id="{9f08efac-ad16-58aa-216c-a493400958e5}">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~/arc12/code/l00.S; tools/tests/cartridges/run.py builds it, runs it on PRG32-QT with scripted input and checks the pixels of the frame.
For the lecturer: Get the code once: git clone https://github.com/riscv-prg32/computer-architecture-with-prg32 ~/arc12. The program of this lecture is ~/arc12/code/l00.S;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for the next lecture, which is a practical installation session. Each student should bring a charged laptop on which they have the right to install software, and should already have downloaded the PRG32-QT installer for their operating system. The download of ESP-IDF is large and is best started at home, on a reliable connection, following the README of PRG32. Should a step fail, it is not worth losing an evening on it: the exact error message, copied verbatim, is all that is needed to resolve the problem in class. The expected outcome is stated at the bottom of the slide: by the end of Lecture 01, every student has PRG32-QT running and has built a cartridge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00: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code/l00.S, 46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00: Course Introduction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l00.S: the first program of the course, to read before you can write it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the word ARC12 in white on a blue screen, and under it HELLO, RISC-V.</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l00.S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l00 --name l00 --out l00.prg32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BLUE,  0x001f           </a:t>
            </a:r>
            <a:pPr indent="0" marL="0">
              <a:buNone/>
            </a:pPr>
            <a:r>
              <a:rPr lang="en-US" sz="1350" dirty="0">
                <a:solidFill>
                  <a:srgbClr val="8FB3A0"/>
                </a:solidFill>
                <a:latin typeface="Courier New" pitchFamily="34" charset="0"/>
                <a:ea typeface="Courier New" pitchFamily="34" charset="-122"/>
                <a:cs typeface="Courier New" pitchFamily="34" charset="-120"/>
              </a:rPr>
              <a:t># a colour is a 16-bit number (Lecture 04)</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l00_init:                    </a:t>
            </a:r>
            <a:pPr indent="0" marL="0">
              <a:buNone/>
            </a:pPr>
            <a:r>
              <a:rPr lang="en-US" sz="1350" dirty="0">
                <a:solidFill>
                  <a:srgbClr val="8FB3A0"/>
                </a:solidFill>
                <a:latin typeface="Courier New" pitchFamily="34" charset="0"/>
                <a:ea typeface="Courier New" pitchFamily="34" charset="-122"/>
                <a:cs typeface="Courier New" pitchFamily="34" charset="-120"/>
              </a:rPr>
              <a:t># called once, when the cartridge starts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l00_update:                  </a:t>
            </a:r>
            <a:pPr indent="0" marL="0">
              <a:buNone/>
            </a:pPr>
            <a:r>
              <a:rPr lang="en-US" sz="1350" dirty="0">
                <a:solidFill>
                  <a:srgbClr val="8FB3A0"/>
                </a:solidFill>
                <a:latin typeface="Courier New" pitchFamily="34" charset="0"/>
                <a:ea typeface="Courier New" pitchFamily="34" charset="-122"/>
                <a:cs typeface="Courier New" pitchFamily="34" charset="-120"/>
              </a:rPr>
              <a:t># called once per frame: nothing changes here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l00_draw:                    </a:t>
            </a:r>
            <a:pPr indent="0" marL="0">
              <a:buNone/>
            </a:pPr>
            <a:r>
              <a:rPr lang="en-US" sz="1200" dirty="0">
                <a:solidFill>
                  <a:srgbClr val="8FB3A0"/>
                </a:solidFill>
                <a:latin typeface="Courier New" pitchFamily="34" charset="0"/>
                <a:ea typeface="Courier New" pitchFamily="34" charset="-122"/>
                <a:cs typeface="Courier New" pitchFamily="34" charset="-120"/>
              </a:rPr>
              <a:t># called once per frame: paint the screen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         </a:t>
            </a:r>
            <a:pPr indent="0" marL="0">
              <a:buNone/>
            </a:pPr>
            <a:r>
              <a:rPr lang="en-US" sz="1200" dirty="0">
                <a:solidFill>
                  <a:srgbClr val="8FB3A0"/>
                </a:solidFill>
                <a:latin typeface="Courier New" pitchFamily="34" charset="0"/>
                <a:ea typeface="Courier New" pitchFamily="34" charset="-122"/>
                <a:cs typeface="Courier New" pitchFamily="34" charset="-120"/>
              </a:rPr>
              <a:t># a function that calls others saves ra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     </a:t>
            </a:r>
            <a:pPr indent="0" marL="0">
              <a:buNone/>
            </a:pPr>
            <a:r>
              <a:rPr lang="en-US" sz="1200" dirty="0">
                <a:solidFill>
                  <a:srgbClr val="8FB3A0"/>
                </a:solidFill>
                <a:latin typeface="Courier New" pitchFamily="34" charset="0"/>
                <a:ea typeface="Courier New" pitchFamily="34" charset="-122"/>
                <a:cs typeface="Courier New" pitchFamily="34" charset="-120"/>
              </a:rPr>
              <a:t># fill the screen with one colour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140             </a:t>
            </a:r>
            <a:pPr indent="0" marL="0">
              <a:buNone/>
            </a:pPr>
            <a:r>
              <a:rPr lang="en-US" sz="1200" dirty="0">
                <a:solidFill>
                  <a:srgbClr val="8FB3A0"/>
                </a:solidFill>
                <a:latin typeface="Courier New" pitchFamily="34" charset="0"/>
                <a:ea typeface="Courier New" pitchFamily="34" charset="-122"/>
                <a:cs typeface="Courier New" pitchFamily="34" charset="-120"/>
              </a:rPr>
              <a:t># x, in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88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line1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the text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           </a:t>
            </a:r>
            <a:pPr indent="0" marL="0">
              <a:buNone/>
            </a:pPr>
            <a:r>
              <a:rPr lang="en-US" sz="1200" dirty="0">
                <a:solidFill>
                  <a:srgbClr val="8FB3A0"/>
                </a:solidFill>
                <a:latin typeface="Courier New" pitchFamily="34" charset="0"/>
                <a:ea typeface="Courier New" pitchFamily="34" charset="-122"/>
                <a:cs typeface="Courier New" pitchFamily="34" charset="-120"/>
              </a:rPr>
              <a:t># foreground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            </a:t>
            </a:r>
            <a:pPr indent="0" marL="0">
              <a:buNone/>
            </a:pPr>
            <a:r>
              <a:rPr lang="en-US" sz="1200" dirty="0">
                <a:solidFill>
                  <a:srgbClr val="8FB3A0"/>
                </a:solidFill>
                <a:latin typeface="Courier New" pitchFamily="34" charset="0"/>
                <a:ea typeface="Courier New" pitchFamily="34" charset="-122"/>
                <a:cs typeface="Courier New" pitchFamily="34" charset="-120"/>
              </a:rPr>
              <a:t># background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.section .rodata             </a:t>
            </a:r>
            <a:pPr indent="0" marL="0">
              <a:buNone/>
            </a:pPr>
            <a:r>
              <a:rPr lang="en-US" sz="1200" dirty="0">
                <a:solidFill>
                  <a:srgbClr val="8FB3A0"/>
                </a:solidFill>
                <a:latin typeface="Courier New" pitchFamily="34" charset="0"/>
                <a:ea typeface="Courier New" pitchFamily="34" charset="-122"/>
                <a:cs typeface="Courier New" pitchFamily="34" charset="-120"/>
              </a:rPr>
              <a:t># constants: two strings, each ending with a zero byte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line1: .asciz "ARC12"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line2: .asciz "HELLO, RISC-V"</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ARC12 in white on a blue screen, and under it HELLO, RISC-V.</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l00 --out l00.prg32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 the code</dc:title>
  <dc:subject>Lecture 00</dc:subject>
  <dc:creator>Raffaele Montella</dc:creator>
  <cp:lastModifiedBy>Raffaele Montella</cp:lastModifiedBy>
  <cp:revision>1</cp:revision>
  <dcterms:created xsi:type="dcterms:W3CDTF">2026-10-16T20:22:23Z</dcterms:created>
  <dcterms:modified xsi:type="dcterms:W3CDTF">2026-10-16T20:22:23Z</dcterms:modified>
</cp:coreProperties>
</file>