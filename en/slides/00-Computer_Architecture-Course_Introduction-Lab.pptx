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81ef9e3-ca17-9ebd-f54a-4cc49d4e7220}">
          <p14:sldIdLst>
            <p14:sldId id="256"/>
            <p14:sldId id="257"/>
          </p14:sldIdLst>
        </p14:section>
        <p14:section name="Material and first contact" id="{e8f6d31c-a337-8df5-b6ec-912ed2a88c79}">
          <p14:sldIdLst>
            <p14:sldId id="258"/>
          </p14:sldIdLst>
        </p14:section>
        <p14:section name="The complete program" id="{3dc57865-7db0-c916-6859-12d6aced2cb3}">
          <p14:sldIdLst>
            <p14:sldId id="259"/>
            <p14:sldId id="260"/>
          </p14:sldIdLst>
        </p14:section>
        <p14:section name="Run it and test it" id="{eeb20d2b-e55a-4e0a-60d8-3e634d3524c6}">
          <p14:sldIdLst>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00.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For those who have never programmed, a few words that this deck uses. The source code of a program is the text that a person writes. The repository is the online folder, on GitHub, where all the source code of the course is kept together with its history. The toolchain is the set of programs that translates source code into a cartridge. The terminal is a window in which one types commands instead of clicking. A port, such as 8080, is a numbered door through which one program receives messages from another. Flash memory is the kind that keeps its contents when the power is off, as in a USB stick. None of this has to be mastered today: Lecture 01 installs the tools and teaches the terminal step by step, and Lecture 02 teaches how to read every line of the program shown here.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program-first method; the rules of the course. USE NOW: the complete program, the PRG32 tools (used, not studied, in this course). UNDERSTAND LATER: the pieces of PRG32 (Lecture 01); RISC and an open ISA (Lecture 03); the Verm1 project (Lecture 07).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~/arc12/code/l00.S; tools/tests/cartridges/run.py builds it, runs it on PRG32-QT with scripted input and checks the pixels of the frame.
For the lecturer: Get the code once: git clone https://github.com/riscv-prg32/computer-architecture-with-prg32 ~/arc12. The program of this lecture is ~/arc12/code/l00.S;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for the next lecture, which is a practical installation session. Each student should bring a charged laptop on which they have the right to install software, and should already have downloaded the PRG32-QT installer for their operating system. The download of ESP-IDF is large and is best started at home, on a reliable connection, following the README of PRG32. Should a step fail, it is not worth losing an evening on it: the exact error message, copied verbatim, is all that is needed to resolve the problem in class. The expected outcome is stated at the bottom of the slide: by the end of Lecture 01, every student has PRG32-QT running and has built a cartridge on their own machine.
For the lecturer: Lecture 01 is the installation, step by step, for Windows, macOS and Linux. The only thing that cannot be done in class is the download of ESP-IDF: a few gigabytes per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00: Course introduction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Course Introduction: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00-Computer_Architecture-Course_Introduction.pptx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_logo.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 listing in Lecture 00: this deck gives you the program to run</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code/l00.S, 46 lines, printed in full</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3068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885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2029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1846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the next lecture: we install everything together</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Bring your laptop, charged, with the right to install programs on it</a:t>
            </a:r>
            <a:endParaRPr lang="en-US" sz="2000" dirty="0"/>
          </a:p>
        </p:txBody>
      </p:sp>
      <p:sp>
        <p:nvSpPr>
          <p:cNvPr id="6" name="Text 4"/>
          <p:cNvSpPr txBox="1"/>
          <p:nvPr/>
        </p:nvSpPr>
        <p:spPr>
          <a:xfrm>
            <a:off x="548640" y="20589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4063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Download the PRG32-QT installer for your system: github.com/riscv-prg32/PRG32-QT, Releases</a:t>
            </a:r>
            <a:endParaRPr lang="en-US" sz="2000" dirty="0"/>
          </a:p>
        </p:txBody>
      </p:sp>
      <p:sp>
        <p:nvSpPr>
          <p:cNvPr id="8" name="Text 6"/>
          <p:cNvSpPr txBox="1"/>
          <p:nvPr/>
        </p:nvSpPr>
        <p:spPr>
          <a:xfrm>
            <a:off x="548640" y="28630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4480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At home, on a good connection, start the long download: ESP-IDF, following the README of github.com/riscv-prg32/PRG32 for your system</a:t>
            </a:r>
            <a:endParaRPr lang="en-US" sz="2000" dirty="0"/>
          </a:p>
        </p:txBody>
      </p:sp>
      <p:sp>
        <p:nvSpPr>
          <p:cNvPr id="10" name="Text 8"/>
          <p:cNvSpPr txBox="1"/>
          <p:nvPr/>
        </p:nvSpPr>
        <p:spPr>
          <a:xfrm>
            <a:off x="548640" y="36672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4896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If something fails, do not fight it alone: bring the error message, we solve it in class</a:t>
            </a:r>
            <a:endParaRPr lang="en-US" sz="20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Send your address for the shared folder and fill in the Sorting Hat questionnaire</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You arrive at Lecture 01 with the downloads done. In two hours everyone leaves with PRG32-QT running and a cartridge built on their own laptop.</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l00.S (1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00: Course Introduction</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l00.S: the first program of the course, to read before you can write it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the word ARC12 in white on a blue screen, and under it HELLO, RISC-V.</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l00.S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l00 --name l00 --out l00.prg32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BLUE,  0x001f           </a:t>
            </a:r>
            <a:pPr indent="0" marL="0">
              <a:buNone/>
            </a:pPr>
            <a:r>
              <a:rPr lang="en-US" sz="1350" dirty="0">
                <a:solidFill>
                  <a:srgbClr val="8FB3A0"/>
                </a:solidFill>
                <a:latin typeface="Courier New" pitchFamily="34" charset="0"/>
                <a:ea typeface="Courier New" pitchFamily="34" charset="-122"/>
                <a:cs typeface="Courier New" pitchFamily="34" charset="-120"/>
              </a:rPr>
              <a:t># a colour is a 16-bit number (Lecture 04)</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WHITE, 0xffff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l00_init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l00_update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l00_draw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l00_init:                    </a:t>
            </a:r>
            <a:pPr indent="0" marL="0">
              <a:buNone/>
            </a:pPr>
            <a:r>
              <a:rPr lang="en-US" sz="1350" dirty="0">
                <a:solidFill>
                  <a:srgbClr val="8FB3A0"/>
                </a:solidFill>
                <a:latin typeface="Courier New" pitchFamily="34" charset="0"/>
                <a:ea typeface="Courier New" pitchFamily="34" charset="-122"/>
                <a:cs typeface="Courier New" pitchFamily="34" charset="-120"/>
              </a:rPr>
              <a:t># called once, when the cartridge starts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l00_update:                  </a:t>
            </a:r>
            <a:pPr indent="0" marL="0">
              <a:buNone/>
            </a:pPr>
            <a:r>
              <a:rPr lang="en-US" sz="1350" dirty="0">
                <a:solidFill>
                  <a:srgbClr val="8FB3A0"/>
                </a:solidFill>
                <a:latin typeface="Courier New" pitchFamily="34" charset="0"/>
                <a:ea typeface="Courier New" pitchFamily="34" charset="-122"/>
                <a:cs typeface="Courier New" pitchFamily="34" charset="-120"/>
              </a:rPr>
              <a:t># called once per frame: nothing changes here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l00.S (2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l00_draw:                    </a:t>
            </a:r>
            <a:pPr indent="0" marL="0">
              <a:buNone/>
            </a:pPr>
            <a:r>
              <a:rPr lang="en-US" sz="1200" dirty="0">
                <a:solidFill>
                  <a:srgbClr val="8FB3A0"/>
                </a:solidFill>
                <a:latin typeface="Courier New" pitchFamily="34" charset="0"/>
                <a:ea typeface="Courier New" pitchFamily="34" charset="-122"/>
                <a:cs typeface="Courier New" pitchFamily="34" charset="-120"/>
              </a:rPr>
              <a:t># called once per frame: paint the screen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         </a:t>
            </a:r>
            <a:pPr indent="0" marL="0">
              <a:buNone/>
            </a:pPr>
            <a:r>
              <a:rPr lang="en-US" sz="1200" dirty="0">
                <a:solidFill>
                  <a:srgbClr val="8FB3A0"/>
                </a:solidFill>
                <a:latin typeface="Courier New" pitchFamily="34" charset="0"/>
                <a:ea typeface="Courier New" pitchFamily="34" charset="-122"/>
                <a:cs typeface="Courier New" pitchFamily="34" charset="-120"/>
              </a:rPr>
              <a:t># a function that calls others saves ra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BLUE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     </a:t>
            </a:r>
            <a:pPr indent="0" marL="0">
              <a:buNone/>
            </a:pPr>
            <a:r>
              <a:rPr lang="en-US" sz="1200" dirty="0">
                <a:solidFill>
                  <a:srgbClr val="8FB3A0"/>
                </a:solidFill>
                <a:latin typeface="Courier New" pitchFamily="34" charset="0"/>
                <a:ea typeface="Courier New" pitchFamily="34" charset="-122"/>
                <a:cs typeface="Courier New" pitchFamily="34" charset="-120"/>
              </a:rPr>
              <a:t># fill the screen with one colour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140             </a:t>
            </a:r>
            <a:pPr indent="0" marL="0">
              <a:buNone/>
            </a:pPr>
            <a:r>
              <a:rPr lang="en-US" sz="1200" dirty="0">
                <a:solidFill>
                  <a:srgbClr val="8FB3A0"/>
                </a:solidFill>
                <a:latin typeface="Courier New" pitchFamily="34" charset="0"/>
                <a:ea typeface="Courier New" pitchFamily="34" charset="-122"/>
                <a:cs typeface="Courier New" pitchFamily="34" charset="-120"/>
              </a:rPr>
              <a:t># x, in pixels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88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line1           </a:t>
            </a:r>
            <a:pPr indent="0" marL="0">
              <a:buNone/>
            </a:pPr>
            <a:r>
              <a:rPr lang="en-US" sz="1200" dirty="0">
                <a:solidFill>
                  <a:srgbClr val="8FB3A0"/>
                </a:solidFill>
                <a:latin typeface="Courier New" pitchFamily="34" charset="0"/>
                <a:ea typeface="Courier New" pitchFamily="34" charset="-122"/>
                <a:cs typeface="Courier New" pitchFamily="34" charset="-120"/>
              </a:rPr>
              <a:t># the ADDRESS of the text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           </a:t>
            </a:r>
            <a:pPr indent="0" marL="0">
              <a:buNone/>
            </a:pPr>
            <a:r>
              <a:rPr lang="en-US" sz="1200" dirty="0">
                <a:solidFill>
                  <a:srgbClr val="8FB3A0"/>
                </a:solidFill>
                <a:latin typeface="Courier New" pitchFamily="34" charset="0"/>
                <a:ea typeface="Courier New" pitchFamily="34" charset="-122"/>
                <a:cs typeface="Courier New" pitchFamily="34" charset="-120"/>
              </a:rPr>
              <a:t># foreground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BLUE            </a:t>
            </a:r>
            <a:pPr indent="0" marL="0">
              <a:buNone/>
            </a:pPr>
            <a:r>
              <a:rPr lang="en-US" sz="1200" dirty="0">
                <a:solidFill>
                  <a:srgbClr val="8FB3A0"/>
                </a:solidFill>
                <a:latin typeface="Courier New" pitchFamily="34" charset="0"/>
                <a:ea typeface="Courier New" pitchFamily="34" charset="-122"/>
                <a:cs typeface="Courier New" pitchFamily="34" charset="-120"/>
              </a:rPr>
              <a:t># background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prg32_gfx_text8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104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104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line2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BLUE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prg32_gfx_text8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.section .rodata             </a:t>
            </a:r>
            <a:pPr indent="0" marL="0">
              <a:buNone/>
            </a:pPr>
            <a:r>
              <a:rPr lang="en-US" sz="1200" dirty="0">
                <a:solidFill>
                  <a:srgbClr val="8FB3A0"/>
                </a:solidFill>
                <a:latin typeface="Courier New" pitchFamily="34" charset="0"/>
                <a:ea typeface="Courier New" pitchFamily="34" charset="-122"/>
                <a:cs typeface="Courier New" pitchFamily="34" charset="-120"/>
              </a:rPr>
              <a:t># constants: two strings, each ending with a zero byte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line1: .asciz "ARC12"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line2: .asciz "HELLO, RISC-V"</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word ARC12 in white on a blue screen, and under it HELLO, RISC-V.</a:t>
            </a:r>
            <a:endParaRPr lang="en-US" sz="2400" dirty="0"/>
          </a:p>
        </p:txBody>
      </p:sp>
      <p:sp>
        <p:nvSpPr>
          <p:cNvPr id="5" name="Shape 3"/>
          <p:cNvSpPr/>
          <p:nvPr/>
        </p:nvSpPr>
        <p:spPr>
          <a:xfrm>
            <a:off x="548640" y="32385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1658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0.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l00 --name l00 --out l00.prg32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l00.prg32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l00 --name l00 --architecture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l00 --name l00 --architecture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l00-esp32c6.prg32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l00-esp32c6.prg32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l00;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Course Introduction: the code</dc:title>
  <dc:subject>Lecture 00</dc:subject>
  <dc:creator>Raffaele Montella</dc:creator>
  <cp:lastModifiedBy>Raffaele Montella</cp:lastModifiedBy>
  <cp:revision>1</cp:revision>
  <dcterms:created xsi:type="dcterms:W3CDTF">2026-10-16T23:36:42Z</dcterms:created>
  <dcterms:modified xsi:type="dcterms:W3CDTF">2026-10-16T23:36:42Z</dcterms:modified>
</cp:coreProperties>
</file>