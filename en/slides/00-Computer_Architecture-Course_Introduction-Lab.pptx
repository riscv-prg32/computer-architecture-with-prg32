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c83fb57-804f-31e2-39c0-7beda4cd8389}">
          <p14:sldIdLst>
            <p14:sldId id="256"/>
            <p14:sldId id="257"/>
          </p14:sldIdLst>
        </p14:section>
        <p14:section name="Material and first contact" id="{393e98a5-5c3d-6fb3-5b37-6e090b28ec59}">
          <p14:sldIdLst>
            <p14:sldId id="258"/>
          </p14:sldIdLst>
        </p14:section>
        <p14:section name="The complete program" id="{664ad64b-779f-959e-d58b-7dc77f3a4eeb}">
          <p14:sldIdLst>
            <p14:sldId id="259"/>
            <p14:sldId id="260"/>
          </p14:sldIdLst>
        </p14:section>
        <p14:section name="Run it and test it" id="{e2267b70-7c02-89dd-22b7-49ecf7bf7ab4}">
          <p14:sldIdLst>
            <p14:sldId id="261"/>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deck of Lecture 00. Where the lecture deck develops the concepts, this deck contains everything that is written and executed: each listing with its commentary, the complete program of the lecture, the output it is expected to produce, and the procedure for testing it on each of the three hosts. The two decks are meant to be read together: the concepts explain the code, and the code gives the concepts an observable consequence.
For those who have never programmed, a few words that this deck uses. The source code of a program is the text that a person writes. The repository is the online folder, on GitHub, where all the source code of the course is kept together with its history. The toolchain is the set of programs that translates source code into a cartridge. The terminal is a window in which one types commands instead of clicking. A port, such as 8080, is a numbered door through which one program receives messages from another. Flash memory is the kind that keeps its contents when the power is off, as in a USB stick. None of this has to be mastered today: Lecture 01 installs the tools and teaches the terminal step by step, and Lecture 02 teaches how to read every line of the program shown here.
Learning status: UNDERSTAND NOW, by the end of this lecture you explain it, trace it and apply it on your own; USE NOW, you follow and use the recipe today; how it works inside is explained later, or is not part of the course; UNDERSTAND LATER, recognise the name and what it is for; a later lecture explains it. A slide without a badge is context: a story, an example, a question, an exercise.
Learning status of this lecture. UNDERSTAND NOW: the program-first method; the rules of the course. USE NOW: the complete program, the PRG32 tools (used, not studied, in this course). UNDERSTAND LATER: the pieces of PRG32 (Lecture 01); RISC and an open ISA (Lecture 03); the Verm1 project (Lecture 07). A slide without a badge is context: a story, an example, a question, an exercise.
Roadmap. Today's outcomes: (1) describe the four steps of the learning spiral and say why a prediction comes before running; (2) state the assessment rules: one midterm, two exam parts that must both be passed, no devices and no AI. Builds on: nothing: it is the first lecture. Next: Lecture 01, PRG32 and PRG32-QT: Setting Up Your Workshop.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contents of the deck, in the order of the slides. The program of the lecture is a complete source file that can be built and executed as it stands. The recommended approach is to run it first, observe its behaviour, and then return to the individual listings to understand how each part contributes to that behaviour. The program of this lecture is ~/arc12/code/l00.S; tools/tests/cartridges/run.py builds it, runs it on PRG32-QT with scripted input and checks the pixels of the frame.
For the lecturer: Get the code once: git clone https://github.com/riscv-prg32/computer-architecture-with-prg32 ~/arc12. The program of this lecture is ~/arc12/code/l00.S; tools/tests/cartridges/run.py builds it, runs it on PRG32-QT with scripted input and checks the pixels of the frame. Every listing on these slides is read by the build from a tested file, or checked by tools/tests: see its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for the next lecture, which is a practical installation session. Each student should bring a charged laptop on which they have the right to install software, and should already have downloaded the PRG32-QT installer for their operating system. The download of ESP-IDF is large and is best started at home, on a reliable connection, following the README of PRG32. Should a step fail, it is not worth losing an evening on it: the exact error message, copied verbatim, is all that is needed to resolve the problem in class. The expected outcome is stated at the bottom of the slide: by the end of Lecture 01, every student has PRG32-QT running and has built a cartridge on their own machine.
For the lecturer: Lecture 01 is the installation, step by step, for Windows, macOS and Linux. The only thing that cannot be done in class is the download of ESP-IDF: a few gigabytes per student.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code/l00.S,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code/l00.S,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behaviour of the program, and the input it requires. The outcome should be predicted before the program is run: any discrepancy between prediction and screen is information about one's model of the machine, and is worth explaining before it is corrected. The image was produced by the automatic test, not drawn by hand.
For the lecturer: The picture is the frame that the headless runner of PRG32-QT produced in the test of this program. On QEMU and on the board the game area is the same 320 by 200 pixels, between the two status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direct route: PRG32-QT on one's own computer, in four steps, each with its command. PRG32-QT presents itself to the tools as a board listening on port 8080, which is why the upload command names the esp32c6. With debug mode enabled, execution can be halted at any instruction and the registers and memory inspected.
USE NOW: the PRG32 tools (used, not studied, in this course).
For the lecturer: Run by the tests: the cartridge of this slide is built with this command and executed on the headless runner of PRG32-QT. Without the toolchain: import the .prg32 file in PRG32-QT and choose Run Cartridge. Keys: arrows or WASD for the joystick, Z or J for A, X or K for B, Enter for Start, Escape to go back to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emulator. QEMU executes the actual firmware on an emulated chip, so the cartridge must be built for the qemu architecture and staged while QEMU is not running. The firmware starts on its Setup menu, from which Run Cartridge and the slot are selected. Keyboard input is read by the terminal from which QEMU was launched, not by the window that displays the image.
USE NOW: the PRG32 tools (used, not studied, in this course).
For the lecturer: Checked by the tests up to the staging: the cartridge is built for the architecture qemu and accepted into the flash image of the emulator. What the emulator then shows is not checked automatically: Espressif QEMU needs its window. Since October 2026 the firmware starts on Setup: choose Run Cartridge, then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physical kit. The firmware is written once, over USB; thereafter cartridges are transferred over Wi-Fi with the same upload command used for PRG32-QT, addressed to the board. This is the only host not exercised by the automatic tests, so observations made on the board are particularly valuable and should be reported.
USE NOW: the PRG32 tools (used, not studied, in this course).
For the lecturer: Not run by the tests: there is no board on the test machine. The cartridge for the architecture esp32c6 is built by the tests; the steps are those of the PRG32 documentation. If the serial port is not found pass it explicitly. To use the Wi-Fi of the classroom: python3 -m prg32 wifi set --ssid NAME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most frequent symptoms, their meaning, and the corrective action. The error message should be read in full before anything is changed: in nearly every case it names the cause. When asking for help, the command and the complete message should be reported verbatim.
USE NOW: the PRG32 tools (used, not studied, in this course).
For the lecturer: The first three rows cover most cases. When asking for help, paste the command and the whole message as text. docs/usage/troubleshooting.md of the PRG32 repository has the complete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00: Course introduction (code)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00</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Course Introduction: the code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Code deck: every listing explained, the complete program, and how to test it on PRG32-QT, on QEMU and on the board</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Text 9"/>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Code deck. The concepts, the figures and the questions are in the lecture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00-Computer_Architecture-Course_Introduction.pptx</a:t>
            </a:r>
            <a:endParaRPr lang="en-US" sz="1300" dirty="0"/>
          </a:p>
        </p:txBody>
      </p:sp>
      <p:sp>
        <p:nvSpPr>
          <p:cNvPr id="12" name="Shape 10"/>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3" name="Image 0" descr="/Users/raffaelemontella/devel/riscv-prg32/computer-architecture-with-prg32/tools/assets/prg32_logo.png">    </p:cNvPr>
          <p:cNvPicPr>
            <a:picLocks noChangeAspect="1"/>
          </p:cNvPicPr>
          <p:nvPr/>
        </p:nvPicPr>
        <p:blipFill>
          <a:blip r:embed="rId1"/>
          <a:stretch>
            <a:fillRect/>
          </a:stretch>
        </p:blipFill>
        <p:spPr>
          <a:xfrm>
            <a:off x="8716975" y="4280535"/>
            <a:ext cx="2834640" cy="1771650"/>
          </a:xfrm>
          <a:prstGeom prst="rect">
            <a:avLst/>
          </a:prstGeom>
        </p:spPr>
      </p:pic>
      <p:sp>
        <p:nvSpPr>
          <p:cNvPr id="14" name="Shape 11"/>
          <p:cNvSpPr/>
          <p:nvPr/>
        </p:nvSpPr>
        <p:spPr>
          <a:xfrm>
            <a:off x="9690303" y="91440"/>
            <a:ext cx="1952752" cy="274320"/>
          </a:xfrm>
          <a:prstGeom prst="rect">
            <a:avLst/>
          </a:prstGeom>
          <a:solidFill>
            <a:srgbClr val="F3E8FF"/>
          </a:solidFill>
          <a:ln w="12700">
            <a:solidFill>
              <a:srgbClr val="7E22CE"/>
            </a:solidFill>
            <a:prstDash val="dash"/>
          </a:ln>
        </p:spPr>
      </p:sp>
      <p:sp>
        <p:nvSpPr>
          <p:cNvPr id="15" name="Shape 12"/>
          <p:cNvSpPr/>
          <p:nvPr/>
        </p:nvSpPr>
        <p:spPr>
          <a:xfrm>
            <a:off x="9717735" y="128016"/>
            <a:ext cx="45720" cy="45720"/>
          </a:xfrm>
          <a:prstGeom prst="rect">
            <a:avLst/>
          </a:prstGeom>
          <a:solidFill>
            <a:srgbClr val="7E22CE"/>
          </a:solidFill>
          <a:ln w="12700">
            <a:solidFill>
              <a:srgbClr val="7E22CE"/>
            </a:solidFill>
            <a:prstDash val="solid"/>
          </a:ln>
        </p:spPr>
      </p:sp>
      <p:sp>
        <p:nvSpPr>
          <p:cNvPr id="16" name="Shape 13"/>
          <p:cNvSpPr/>
          <p:nvPr/>
        </p:nvSpPr>
        <p:spPr>
          <a:xfrm>
            <a:off x="9717735" y="205740"/>
            <a:ext cx="45720" cy="45720"/>
          </a:xfrm>
          <a:prstGeom prst="rect">
            <a:avLst/>
          </a:prstGeom>
          <a:solidFill>
            <a:srgbClr val="7E22CE"/>
          </a:solidFill>
          <a:ln w="12700">
            <a:solidFill>
              <a:srgbClr val="7E22CE"/>
            </a:solidFill>
            <a:prstDash val="solid"/>
          </a:ln>
        </p:spPr>
      </p:sp>
      <p:sp>
        <p:nvSpPr>
          <p:cNvPr id="17" name="Shape 14"/>
          <p:cNvSpPr/>
          <p:nvPr/>
        </p:nvSpPr>
        <p:spPr>
          <a:xfrm>
            <a:off x="9717735" y="283464"/>
            <a:ext cx="45720" cy="45720"/>
          </a:xfrm>
          <a:prstGeom prst="rect">
            <a:avLst/>
          </a:prstGeom>
          <a:solidFill>
            <a:srgbClr val="7E22CE"/>
          </a:solidFill>
          <a:ln w="12700">
            <a:solidFill>
              <a:srgbClr val="7E22CE"/>
            </a:solidFill>
            <a:prstDash val="solid"/>
          </a:ln>
        </p:spPr>
      </p:sp>
      <p:pic>
        <p:nvPicPr>
          <p:cNvPr id="18" name="Image 1" descr="preencoded.png">    </p:cNvPr>
          <p:cNvPicPr>
            <a:picLocks noChangeAspect="1"/>
          </p:cNvPicPr>
          <p:nvPr/>
        </p:nvPicPr>
        <p:blipFill>
          <a:blip r:embed="rId2"/>
          <a:stretch>
            <a:fillRect/>
          </a:stretch>
        </p:blipFill>
        <p:spPr>
          <a:xfrm>
            <a:off x="9818319" y="128016"/>
            <a:ext cx="201168" cy="201168"/>
          </a:xfrm>
          <a:prstGeom prst="rect">
            <a:avLst/>
          </a:prstGeom>
        </p:spPr>
      </p:pic>
      <p:sp>
        <p:nvSpPr>
          <p:cNvPr id="19" name="Text 15"/>
          <p:cNvSpPr txBox="1"/>
          <p:nvPr/>
        </p:nvSpPr>
        <p:spPr>
          <a:xfrm>
            <a:off x="10074351" y="91440"/>
            <a:ext cx="153212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endParaRPr lang="en-US" sz="1100" dirty="0"/>
          </a:p>
        </p:txBody>
      </p:sp>
      <p:sp>
        <p:nvSpPr>
          <p:cNvPr id="20" name="Shape 16"/>
          <p:cNvSpPr/>
          <p:nvPr/>
        </p:nvSpPr>
        <p:spPr>
          <a:xfrm>
            <a:off x="8407349" y="91440"/>
            <a:ext cx="1173226" cy="274320"/>
          </a:xfrm>
          <a:prstGeom prst="rect">
            <a:avLst/>
          </a:prstGeom>
          <a:solidFill>
            <a:srgbClr val="FEF3C7"/>
          </a:solidFill>
          <a:ln w="12700">
            <a:solidFill>
              <a:srgbClr val="B45309"/>
            </a:solidFill>
            <a:prstDash val="solid"/>
          </a:ln>
        </p:spPr>
      </p:sp>
      <p:sp>
        <p:nvSpPr>
          <p:cNvPr id="21" name="Shape 17"/>
          <p:cNvSpPr/>
          <p:nvPr/>
        </p:nvSpPr>
        <p:spPr>
          <a:xfrm>
            <a:off x="8407349" y="91440"/>
            <a:ext cx="27432" cy="274320"/>
          </a:xfrm>
          <a:prstGeom prst="rect">
            <a:avLst/>
          </a:prstGeom>
          <a:solidFill>
            <a:srgbClr val="B45309"/>
          </a:solidFill>
          <a:ln w="12700">
            <a:solidFill>
              <a:srgbClr val="B45309"/>
            </a:solidFill>
            <a:prstDash val="solid"/>
          </a:ln>
        </p:spPr>
      </p:sp>
      <p:sp>
        <p:nvSpPr>
          <p:cNvPr id="22" name="Shape 18"/>
          <p:cNvSpPr/>
          <p:nvPr/>
        </p:nvSpPr>
        <p:spPr>
          <a:xfrm>
            <a:off x="8462213" y="91440"/>
            <a:ext cx="27432" cy="274320"/>
          </a:xfrm>
          <a:prstGeom prst="rect">
            <a:avLst/>
          </a:prstGeom>
          <a:solidFill>
            <a:srgbClr val="B45309"/>
          </a:solidFill>
          <a:ln w="12700">
            <a:solidFill>
              <a:srgbClr val="B45309"/>
            </a:solidFill>
            <a:prstDash val="solid"/>
          </a:ln>
        </p:spPr>
      </p:sp>
      <p:pic>
        <p:nvPicPr>
          <p:cNvPr id="23" name="Image 2" descr="preencoded.png">    </p:cNvPr>
          <p:cNvPicPr>
            <a:picLocks noChangeAspect="1"/>
          </p:cNvPicPr>
          <p:nvPr/>
        </p:nvPicPr>
        <p:blipFill>
          <a:blip r:embed="rId3"/>
          <a:stretch>
            <a:fillRect/>
          </a:stretch>
        </p:blipFill>
        <p:spPr>
          <a:xfrm>
            <a:off x="8535365" y="128016"/>
            <a:ext cx="201168" cy="201168"/>
          </a:xfrm>
          <a:prstGeom prst="rect">
            <a:avLst/>
          </a:prstGeom>
        </p:spPr>
      </p:pic>
      <p:sp>
        <p:nvSpPr>
          <p:cNvPr id="24" name="Text 19"/>
          <p:cNvSpPr txBox="1"/>
          <p:nvPr/>
        </p:nvSpPr>
        <p:spPr>
          <a:xfrm>
            <a:off x="8791397" y="91440"/>
            <a:ext cx="75260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endParaRPr lang="en-US" sz="1100" dirty="0"/>
          </a:p>
        </p:txBody>
      </p:sp>
      <p:sp>
        <p:nvSpPr>
          <p:cNvPr id="25" name="Shape 20"/>
          <p:cNvSpPr/>
          <p:nvPr/>
        </p:nvSpPr>
        <p:spPr>
          <a:xfrm>
            <a:off x="6518097" y="91440"/>
            <a:ext cx="1779524" cy="274320"/>
          </a:xfrm>
          <a:prstGeom prst="rect">
            <a:avLst/>
          </a:prstGeom>
          <a:solidFill>
            <a:srgbClr val="E0F2FE"/>
          </a:solidFill>
          <a:ln w="12700">
            <a:solidFill>
              <a:srgbClr val="0369A1"/>
            </a:solidFill>
            <a:prstDash val="solid"/>
          </a:ln>
        </p:spPr>
      </p:sp>
      <p:sp>
        <p:nvSpPr>
          <p:cNvPr id="26" name="Shape 21"/>
          <p:cNvSpPr/>
          <p:nvPr/>
        </p:nvSpPr>
        <p:spPr>
          <a:xfrm>
            <a:off x="6518097" y="91440"/>
            <a:ext cx="73152" cy="274320"/>
          </a:xfrm>
          <a:prstGeom prst="rect">
            <a:avLst/>
          </a:prstGeom>
          <a:solidFill>
            <a:srgbClr val="0369A1"/>
          </a:solidFill>
          <a:ln w="12700">
            <a:solidFill>
              <a:srgbClr val="0369A1"/>
            </a:solidFill>
            <a:prstDash val="solid"/>
          </a:ln>
        </p:spPr>
      </p:sp>
      <p:pic>
        <p:nvPicPr>
          <p:cNvPr id="27" name="Image 3" descr="preencoded.png">    </p:cNvPr>
          <p:cNvPicPr>
            <a:picLocks noChangeAspect="1"/>
          </p:cNvPicPr>
          <p:nvPr/>
        </p:nvPicPr>
        <p:blipFill>
          <a:blip r:embed="rId4"/>
          <a:stretch>
            <a:fillRect/>
          </a:stretch>
        </p:blipFill>
        <p:spPr>
          <a:xfrm>
            <a:off x="6646113" y="128016"/>
            <a:ext cx="201168" cy="201168"/>
          </a:xfrm>
          <a:prstGeom prst="rect">
            <a:avLst/>
          </a:prstGeom>
        </p:spPr>
      </p:pic>
      <p:sp>
        <p:nvSpPr>
          <p:cNvPr id="28" name="Text 22"/>
          <p:cNvSpPr txBox="1"/>
          <p:nvPr/>
        </p:nvSpPr>
        <p:spPr>
          <a:xfrm>
            <a:off x="6902145" y="91440"/>
            <a:ext cx="135890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this deck</a:t>
            </a:r>
            <a:endParaRPr lang="en-US" sz="3200" dirty="0"/>
          </a:p>
        </p:txBody>
      </p:sp>
      <p:sp>
        <p:nvSpPr>
          <p:cNvPr id="3" name="Text 1"/>
          <p:cNvSpPr txBox="1"/>
          <p:nvPr/>
        </p:nvSpPr>
        <p:spPr>
          <a:xfrm>
            <a:off x="548640" y="161848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60020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No listing in Lecture 00: this deck gives you the program to run</a:t>
            </a:r>
            <a:endParaRPr lang="en-US" sz="2200" dirty="0"/>
          </a:p>
        </p:txBody>
      </p:sp>
      <p:sp>
        <p:nvSpPr>
          <p:cNvPr id="5" name="Text 3"/>
          <p:cNvSpPr txBox="1"/>
          <p:nvPr/>
        </p:nvSpPr>
        <p:spPr>
          <a:xfrm>
            <a:off x="548640" y="251460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49631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complete program: code/l00.S, 46 lines, printed in full</a:t>
            </a:r>
            <a:endParaRPr lang="en-US" sz="2200" dirty="0"/>
          </a:p>
        </p:txBody>
      </p:sp>
      <p:sp>
        <p:nvSpPr>
          <p:cNvPr id="7" name="Text 5"/>
          <p:cNvSpPr txBox="1"/>
          <p:nvPr/>
        </p:nvSpPr>
        <p:spPr>
          <a:xfrm>
            <a:off x="548640" y="341071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392424"/>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What you should see when it runs, checked on the PRG32-QT headless runner</a:t>
            </a:r>
            <a:endParaRPr lang="en-US" sz="2200" dirty="0"/>
          </a:p>
        </p:txBody>
      </p:sp>
      <p:sp>
        <p:nvSpPr>
          <p:cNvPr id="9" name="Text 7"/>
          <p:cNvSpPr txBox="1"/>
          <p:nvPr/>
        </p:nvSpPr>
        <p:spPr>
          <a:xfrm>
            <a:off x="548640" y="430682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28853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How to test it, step by step: on PRG32-QT, on QEMU, on the board</a:t>
            </a:r>
            <a:endParaRPr lang="en-US" sz="2200" dirty="0"/>
          </a:p>
        </p:txBody>
      </p:sp>
      <p:sp>
        <p:nvSpPr>
          <p:cNvPr id="11" name="Text 9"/>
          <p:cNvSpPr txBox="1"/>
          <p:nvPr/>
        </p:nvSpPr>
        <p:spPr>
          <a:xfrm>
            <a:off x="548640" y="520293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18464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exercises: change the program, predict, run</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Before the next lecture: we install everything together</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438912"/>
          </a:xfrm>
          <a:prstGeom prst="rect">
            <a:avLst/>
          </a:prstGeom>
          <a:noFill/>
          <a:ln/>
        </p:spPr>
        <p:txBody>
          <a:bodyPr wrap="square" lIns="0" tIns="0" rIns="0" bIns="0" rtlCol="0" anchor="ctr"/>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Bring your laptop, charged, with the right to install programs on it</a:t>
            </a:r>
            <a:endParaRPr lang="en-US" sz="2000" dirty="0"/>
          </a:p>
        </p:txBody>
      </p:sp>
      <p:sp>
        <p:nvSpPr>
          <p:cNvPr id="6" name="Text 4"/>
          <p:cNvSpPr txBox="1"/>
          <p:nvPr/>
        </p:nvSpPr>
        <p:spPr>
          <a:xfrm>
            <a:off x="548640" y="205892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040636"/>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Download the PRG32-QT installer for your system: github.com/riscv-prg32/PRG32-QT, Releases</a:t>
            </a:r>
            <a:endParaRPr lang="en-US" sz="2000" dirty="0"/>
          </a:p>
        </p:txBody>
      </p:sp>
      <p:sp>
        <p:nvSpPr>
          <p:cNvPr id="8" name="Text 6"/>
          <p:cNvSpPr txBox="1"/>
          <p:nvPr/>
        </p:nvSpPr>
        <p:spPr>
          <a:xfrm>
            <a:off x="548640" y="286308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844800"/>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At home, on a good connection, start the long download: ESP-IDF, following the README of github.com/riscv-prg32/PRG32 for your system</a:t>
            </a:r>
            <a:endParaRPr lang="en-US" sz="2000" dirty="0"/>
          </a:p>
        </p:txBody>
      </p:sp>
      <p:sp>
        <p:nvSpPr>
          <p:cNvPr id="10" name="Text 8"/>
          <p:cNvSpPr txBox="1"/>
          <p:nvPr/>
        </p:nvSpPr>
        <p:spPr>
          <a:xfrm>
            <a:off x="548640" y="366725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648964"/>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If something fails, do not fight it alone: bring the error message, we solve it in class</a:t>
            </a:r>
            <a:endParaRPr lang="en-US" sz="2000" dirty="0"/>
          </a:p>
        </p:txBody>
      </p:sp>
      <p:sp>
        <p:nvSpPr>
          <p:cNvPr id="12" name="Text 10"/>
          <p:cNvSpPr txBox="1"/>
          <p:nvPr/>
        </p:nvSpPr>
        <p:spPr>
          <a:xfrm>
            <a:off x="548640" y="44714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453128"/>
            <a:ext cx="10436047" cy="438912"/>
          </a:xfrm>
          <a:prstGeom prst="rect">
            <a:avLst/>
          </a:prstGeom>
          <a:noFill/>
          <a:ln/>
        </p:spPr>
        <p:txBody>
          <a:bodyPr wrap="square" lIns="0" tIns="0" rIns="0" bIns="0" rtlCol="0" anchor="ctr"/>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Send your address for the shared folder and fill in the Sorting Hat questionnaire</a:t>
            </a:r>
            <a:endParaRPr lang="en-US" sz="20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You arrive at Lecture 01 with the downloads done. In two hours everyone leaves with PRG32-QT running and a cartridge built on their own laptop.</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l00.S (1 of 2)</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350" dirty="0">
                <a:solidFill>
                  <a:srgbClr val="8FB3A0"/>
                </a:solidFill>
                <a:latin typeface="Courier New" pitchFamily="34" charset="0"/>
                <a:ea typeface="Courier New" pitchFamily="34" charset="-122"/>
                <a:cs typeface="Courier New" pitchFamily="34" charset="-120"/>
              </a:rPr>
              <a:t># ARC12 Computer Architecture - Lecture 00: Course Introduction</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l00.S: the first program of the course, to read before you can write it</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On the screen: the word ARC12 in white on a blue screen, and under it HELLO, RISC-V.</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Build: python3 -m prg32 cartridge build l00.S --portable \</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--entry-prefix l00 --name l00 --out l00.prg32</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.option norelax</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.equ BLUE,  0x001f           </a:t>
            </a:r>
            <a:pPr indent="0" marL="0">
              <a:buNone/>
            </a:pPr>
            <a:r>
              <a:rPr lang="en-US" sz="1350" dirty="0">
                <a:solidFill>
                  <a:srgbClr val="8FB3A0"/>
                </a:solidFill>
                <a:latin typeface="Courier New" pitchFamily="34" charset="0"/>
                <a:ea typeface="Courier New" pitchFamily="34" charset="-122"/>
                <a:cs typeface="Courier New" pitchFamily="34" charset="-120"/>
              </a:rPr>
              <a:t># a colour is a 16-bit number (Lecture 04)</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.equ WHITE, 0xffff</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.section .text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.global l00_init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.global l00_update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.global l00_draw</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l00_init:                    </a:t>
            </a:r>
            <a:pPr indent="0" marL="0">
              <a:buNone/>
            </a:pPr>
            <a:r>
              <a:rPr lang="en-US" sz="1350" dirty="0">
                <a:solidFill>
                  <a:srgbClr val="8FB3A0"/>
                </a:solidFill>
                <a:latin typeface="Courier New" pitchFamily="34" charset="0"/>
                <a:ea typeface="Courier New" pitchFamily="34" charset="-122"/>
                <a:cs typeface="Courier New" pitchFamily="34" charset="-120"/>
              </a:rPr>
              <a:t># called once, when the cartridge starts</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ret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l00_update:                  </a:t>
            </a:r>
            <a:pPr indent="0" marL="0">
              <a:buNone/>
            </a:pPr>
            <a:r>
              <a:rPr lang="en-US" sz="1350" dirty="0">
                <a:solidFill>
                  <a:srgbClr val="8FB3A0"/>
                </a:solidFill>
                <a:latin typeface="Courier New" pitchFamily="34" charset="0"/>
                <a:ea typeface="Courier New" pitchFamily="34" charset="-122"/>
                <a:cs typeface="Courier New" pitchFamily="34" charset="-120"/>
              </a:rPr>
              <a:t># called once per frame: nothing changes here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ret</a:t>
            </a:r>
            <a:endParaRPr lang="en-US" sz="135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l00.S (2 of 2)</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200" dirty="0">
                <a:solidFill>
                  <a:srgbClr val="E6EDF2"/>
                </a:solidFill>
                <a:latin typeface="Courier New" pitchFamily="34" charset="0"/>
                <a:ea typeface="Courier New" pitchFamily="34" charset="-122"/>
                <a:cs typeface="Courier New" pitchFamily="34" charset="-120"/>
              </a:rPr>
              <a:t>l00_draw:                    </a:t>
            </a:r>
            <a:pPr indent="0" marL="0">
              <a:buNone/>
            </a:pPr>
            <a:r>
              <a:rPr lang="en-US" sz="1200" dirty="0">
                <a:solidFill>
                  <a:srgbClr val="8FB3A0"/>
                </a:solidFill>
                <a:latin typeface="Courier New" pitchFamily="34" charset="0"/>
                <a:ea typeface="Courier New" pitchFamily="34" charset="-122"/>
                <a:cs typeface="Courier New" pitchFamily="34" charset="-120"/>
              </a:rPr>
              <a:t># called once per frame: paint the screen</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sp, sp, -16         </a:t>
            </a:r>
            <a:pPr indent="0" marL="0">
              <a:buNone/>
            </a:pPr>
            <a:r>
              <a:rPr lang="en-US" sz="1200" dirty="0">
                <a:solidFill>
                  <a:srgbClr val="8FB3A0"/>
                </a:solidFill>
                <a:latin typeface="Courier New" pitchFamily="34" charset="0"/>
                <a:ea typeface="Courier New" pitchFamily="34" charset="-122"/>
                <a:cs typeface="Courier New" pitchFamily="34" charset="-120"/>
              </a:rPr>
              <a:t># a function that calls others saves ra</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ra, 12(sp)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a0, BLUE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prg32_gfx_clear     </a:t>
            </a:r>
            <a:pPr indent="0" marL="0">
              <a:buNone/>
            </a:pPr>
            <a:r>
              <a:rPr lang="en-US" sz="1200" dirty="0">
                <a:solidFill>
                  <a:srgbClr val="8FB3A0"/>
                </a:solidFill>
                <a:latin typeface="Courier New" pitchFamily="34" charset="0"/>
                <a:ea typeface="Courier New" pitchFamily="34" charset="-122"/>
                <a:cs typeface="Courier New" pitchFamily="34" charset="-120"/>
              </a:rPr>
              <a:t># fill the screen with one colour</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a0, 140             </a:t>
            </a:r>
            <a:pPr indent="0" marL="0">
              <a:buNone/>
            </a:pPr>
            <a:r>
              <a:rPr lang="en-US" sz="1200" dirty="0">
                <a:solidFill>
                  <a:srgbClr val="8FB3A0"/>
                </a:solidFill>
                <a:latin typeface="Courier New" pitchFamily="34" charset="0"/>
                <a:ea typeface="Courier New" pitchFamily="34" charset="-122"/>
                <a:cs typeface="Courier New" pitchFamily="34" charset="-120"/>
              </a:rPr>
              <a:t># x, in pixels</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a1, 88              </a:t>
            </a:r>
            <a:pPr indent="0" marL="0">
              <a:buNone/>
            </a:pPr>
            <a:r>
              <a:rPr lang="en-US" sz="1200" dirty="0">
                <a:solidFill>
                  <a:srgbClr val="8FB3A0"/>
                </a:solidFill>
                <a:latin typeface="Courier New" pitchFamily="34" charset="0"/>
                <a:ea typeface="Courier New" pitchFamily="34" charset="-122"/>
                <a:cs typeface="Courier New" pitchFamily="34" charset="-120"/>
              </a:rPr>
              <a:t># y</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a2, line1           </a:t>
            </a:r>
            <a:pPr indent="0" marL="0">
              <a:buNone/>
            </a:pPr>
            <a:r>
              <a:rPr lang="en-US" sz="1200" dirty="0">
                <a:solidFill>
                  <a:srgbClr val="8FB3A0"/>
                </a:solidFill>
                <a:latin typeface="Courier New" pitchFamily="34" charset="0"/>
                <a:ea typeface="Courier New" pitchFamily="34" charset="-122"/>
                <a:cs typeface="Courier New" pitchFamily="34" charset="-120"/>
              </a:rPr>
              <a:t># the ADDRESS of the text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a3, WHITE           </a:t>
            </a:r>
            <a:pPr indent="0" marL="0">
              <a:buNone/>
            </a:pPr>
            <a:r>
              <a:rPr lang="en-US" sz="1200" dirty="0">
                <a:solidFill>
                  <a:srgbClr val="8FB3A0"/>
                </a:solidFill>
                <a:latin typeface="Courier New" pitchFamily="34" charset="0"/>
                <a:ea typeface="Courier New" pitchFamily="34" charset="-122"/>
                <a:cs typeface="Courier New" pitchFamily="34" charset="-120"/>
              </a:rPr>
              <a:t># foreground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a4, BLUE            </a:t>
            </a:r>
            <a:pPr indent="0" marL="0">
              <a:buNone/>
            </a:pPr>
            <a:r>
              <a:rPr lang="en-US" sz="1200" dirty="0">
                <a:solidFill>
                  <a:srgbClr val="8FB3A0"/>
                </a:solidFill>
                <a:latin typeface="Courier New" pitchFamily="34" charset="0"/>
                <a:ea typeface="Courier New" pitchFamily="34" charset="-122"/>
                <a:cs typeface="Courier New" pitchFamily="34" charset="-120"/>
              </a:rPr>
              <a:t># background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prg32_gfx_text8</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a0, 104</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a1, 104</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a2, line2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a3, WHITE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a4, BLUE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prg32_gfx_text8</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ra, 12(sp)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sp, sp, 16</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ret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.section .rodata             </a:t>
            </a:r>
            <a:pPr indent="0" marL="0">
              <a:buNone/>
            </a:pPr>
            <a:r>
              <a:rPr lang="en-US" sz="1200" dirty="0">
                <a:solidFill>
                  <a:srgbClr val="8FB3A0"/>
                </a:solidFill>
                <a:latin typeface="Courier New" pitchFamily="34" charset="0"/>
                <a:ea typeface="Courier New" pitchFamily="34" charset="-122"/>
                <a:cs typeface="Courier New" pitchFamily="34" charset="-120"/>
              </a:rPr>
              <a:t># constants: two strings, each ending with a zero byte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line1: .asciz "ARC12"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line2: .asciz "HELLO, RISC-V"</a:t>
            </a:r>
            <a:endParaRPr lang="en-US" sz="12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what you should see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1059180"/>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On the screen</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the word ARC12 in white on a blue screen, and under it HELLO, RISC-V.</a:t>
            </a:r>
            <a:endParaRPr lang="en-US" sz="2400" dirty="0"/>
          </a:p>
        </p:txBody>
      </p:sp>
      <p:sp>
        <p:nvSpPr>
          <p:cNvPr id="5" name="Shape 3"/>
          <p:cNvSpPr/>
          <p:nvPr/>
        </p:nvSpPr>
        <p:spPr>
          <a:xfrm>
            <a:off x="548640" y="3238500"/>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3116580"/>
            <a:ext cx="5468112"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What to press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nothing: the program runs by itself</a:t>
            </a:r>
            <a:endParaRPr lang="en-US" sz="2400" dirty="0"/>
          </a:p>
        </p:txBody>
      </p:sp>
      <p:pic>
        <p:nvPicPr>
          <p:cNvPr id="7" name="Image 0" descr="/Users/raffaelemontella/devel/riscv-prg32/computer-architecture-with-prg32/tools/assets/lab_l00.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frame written by the automatic test on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~/arc12/code/l00.S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l00 --name l00 --out l00.prg32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l00.prg32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must be running: it answers on port 8080, like a board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Build once, from the PRG32 folder, with ESP-IDF active in the terminal</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stores the cartridge in slot cart0 and starts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Enable debug mode in Settings to stop the program and read registers and memory</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~/arc12/code/l00.S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l00 --name l00 --architecture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l00-qemu.prg32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l00-qemu.prg32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emulator runs the real firmware on an emulated chip: build it once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cartridge is built for the architecture qemu: the same source, another file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Stage the cartridge with QEMU closed, then start it and choose Run Cartridge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keys go to the terminal: arrows or WASD, Z or J for A, X or K for B</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the board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~/arc12/code/l00.S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l00 --name l00 --architecture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l00-esp32c6.prg32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l00-esp32c6.prg32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firmware is written once per board, through the USB cable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board creates the Wi-Fi network PRG32: join it with your computer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upload command as for PRG32-QT, with the address of the board</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black screen: check the wiring of the display against the firmware</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If it does not work</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You see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It means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Do this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missing entry point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prefix is not the one in the source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l00; check the three .global lines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is not active in this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run export.sh, or open the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host is not listening at that address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start PRG32-QT; use the address on its Setup screen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 black screen, or the menu again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 function does not return, or ra was not saved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debug mode: step through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ignores the keys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keyboard goes to the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click the terminal that launched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9287967" y="91440"/>
            <a:ext cx="2355088" cy="274320"/>
          </a:xfrm>
          <a:prstGeom prst="rect">
            <a:avLst/>
          </a:prstGeom>
          <a:solidFill>
            <a:srgbClr val="FEF3C7"/>
          </a:solidFill>
          <a:ln w="12700">
            <a:solidFill>
              <a:srgbClr val="B45309"/>
            </a:solidFill>
            <a:prstDash val="solid"/>
          </a:ln>
        </p:spPr>
      </p:sp>
      <p:sp>
        <p:nvSpPr>
          <p:cNvPr id="5" name="Shape 2"/>
          <p:cNvSpPr/>
          <p:nvPr/>
        </p:nvSpPr>
        <p:spPr>
          <a:xfrm>
            <a:off x="9287967" y="91440"/>
            <a:ext cx="27432" cy="274320"/>
          </a:xfrm>
          <a:prstGeom prst="rect">
            <a:avLst/>
          </a:prstGeom>
          <a:solidFill>
            <a:srgbClr val="B45309"/>
          </a:solidFill>
          <a:ln w="12700">
            <a:solidFill>
              <a:srgbClr val="B45309"/>
            </a:solidFill>
            <a:prstDash val="solid"/>
          </a:ln>
        </p:spPr>
      </p:sp>
      <p:sp>
        <p:nvSpPr>
          <p:cNvPr id="6" name="Shape 3"/>
          <p:cNvSpPr/>
          <p:nvPr/>
        </p:nvSpPr>
        <p:spPr>
          <a:xfrm>
            <a:off x="9342831" y="91440"/>
            <a:ext cx="27432" cy="274320"/>
          </a:xfrm>
          <a:prstGeom prst="rect">
            <a:avLst/>
          </a:prstGeom>
          <a:solidFill>
            <a:srgbClr val="B45309"/>
          </a:solidFill>
          <a:ln w="12700">
            <a:solidFill>
              <a:srgbClr val="B45309"/>
            </a:solidFill>
            <a:prstDash val="solid"/>
          </a:ln>
        </p:spPr>
      </p:sp>
      <p:pic>
        <p:nvPicPr>
          <p:cNvPr id="7"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8" name="Text 4"/>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Course Introduction: the code</dc:title>
  <dc:subject>Lecture 00</dc:subject>
  <dc:creator>Raffaele Montella</dc:creator>
  <cp:lastModifiedBy>Raffaele Montella</cp:lastModifiedBy>
  <cp:revision>1</cp:revision>
  <dcterms:created xsi:type="dcterms:W3CDTF">2026-10-17T07:16:48Z</dcterms:created>
  <dcterms:modified xsi:type="dcterms:W3CDTF">2026-10-17T07:16:48Z</dcterms:modified>
</cp:coreProperties>
</file>