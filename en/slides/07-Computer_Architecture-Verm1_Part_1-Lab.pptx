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f3784b-d2f6-5b29-fbed-b4e438be0114}">
          <p14:sldIdLst>
            <p14:sldId id="256"/>
            <p14:sldId id="257"/>
          </p14:sldIdLst>
        </p14:section>
        <p14:section name="Step 0: the working loop" id="{2056538e-6fcc-5d16-aafb-ff9ee75e71b3}">
          <p14:sldIdLst>
            <p14:sldId id="258"/>
            <p14:sldId id="259"/>
          </p14:sldIdLst>
        </p14:section>
        <p14:section name="Step 2: a grid and a head" id="{23f80a25-ab36-fba4-ee15-bbf6a3087c8f}">
          <p14:sldIdLst>
            <p14:sldId id="260"/>
            <p14:sldId id="261"/>
            <p14:sldId id="262"/>
            <p14:sldId id="263"/>
            <p14:sldId id="264"/>
          </p14:sldIdLst>
        </p14:section>
        <p14:section name="Step 3: movement" id="{ec62951f-eb64-308c-a40c-e9f66766439f}">
          <p14:sldIdLst>
            <p14:sldId id="265"/>
            <p14:sldId id="266"/>
          </p14:sldIdLst>
        </p14:section>
        <p14:section name="Step 4: look inside with PRG32-QT" id="{9894c079-6671-4c70-4455-0fd6aa9e8c45}">
          <p14:sldIdLst>
            <p14:sldId id="267"/>
          </p14:sldIdLst>
        </p14:section>
        <p14:section name="Run it and test it" id="{39520fcd-60c3-74a4-48d0-5832679df475}">
          <p14:sldIdLst>
            <p14:sldId id="268"/>
            <p14:sldId id="269"/>
            <p14:sldId id="270"/>
            <p14:sldId id="271"/>
            <p14:sldId id="272"/>
          </p14:sldIdLst>
        </p14:section>
        <p14:section name="Exercises" id="{b1183e76-5115-3adc-8e8b-4e97ad192233}">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07.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~/arc12/verm1/verm1_part1.S; tools/tests/verm1_check.py builds it and plays it with a scripted player, and verm1_steps.py runs the intermediate checkpoints.
For the lecturer: Get the code once: git clone https://github.com/riscv-prg32/computer-architecture-with-prg32 ~/arc12. The reference program is ~/arc12/verm1/verm1_part1.S;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folder named verm1 is created in the home directory, and in it a single file, verm1.S, which will grow from part to part. The first command builds the cartridge; the second sends it to PRG32-QT, running on the same computer, and starts it. These two commands are identical in every tutorial, which is the point: the cost of trying an idea must be negligible. If localhost does not answer, the address shown on the Setup screen of PRG32-QT is used instead; alternatively, the file can be imported from the PRG32-QT menu.
USE NOW: the PRG32 tools (used, not studied, in this course).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merely return. It is typed, built and run. The correct result is a black screen, which demonstrates that the tools work and that the firmware locates the three entry points. A build failure at this stage indicates a problem with the installation, not with the program, and must be resolved before proceeding. The last callout states the methodological rule of the entire project: add one thing, run, observe; never two things at once, so that every failure has a single candidate cause.
UNDERSTAND NOW: the init, update, draw contract.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binds a name to a number and occupies no memory: the assembler merely substitutes the value wherever the name appears. Three colours are defined in RGB565. Then the geometry: a cell measures 8 by 8 pixels, so the 320-pixel width holds 40 columns; the top 8 pixels are reserved for the title, and the remaining 192 hold 24 rows. SPEED_Q8, the speed in fixed point, is used in step 3. Named constants make the program legible and its parameters easy to change in one place.
UNDERSTAND NOW: a colour is a number.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placed at the end of the file. The .rodata section holds what never changes: the title, a string terminated by a zero byte through .asciz. The .data section holds the variables, one 32-bit word each: the column of the head, its row, and the fraction of a step accumulated so far. The initial values written here are only a starting point; init assigns them again explicitly, for a reason given on the next slide.
UNDERSTAND NOW: .text, .rodata, .data.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places the head in its starting position. For each variable the pattern is identical: la loads the address, li the value, and sw stores the value at the address. The accumulator step_q8 is cleared by storing the register zero directly. The function calls nothing, so it is a leaf and requires no stack frame. Why assign values that .data already contains? Because init may be invoked again to restart the game; the general principle is never to rely on the prior content of memory.
UNDERSTAND NOW: address, value,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on entry and restores it on exit, as in Lecture 02. The conversion from cell to pixels deserves attention: the column is loaded into a0 and shifted left by 3; the row is loaded into a1, shifted, and offset by TOP. The remaining arguments are width, height and colour. Arguments are passed in a0 to a4, in the order the callee expects them.
UNDERSTAND NOW: why ra is saved; shifts as multiplications.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word VERM1 should appear at the top left, and a stationary green square in column 5 of row 12. The screenshot on the slide was taken from the finished Part 1, so its head lies further to the right; the difference is expected. If the square is misplaced, the two shifts and the addition of TOP are the first things to check.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is best read in two halves. First the timer: step_q8 is loaded, the speed added, and the sum compared with 256. If it is smaller, control jumps to label 2, the accumulator is stored and the function returns: nothing moves in this frame. Otherwise 256 is subtracted, the remainder kept and stored. Then the step: head_x is loaded and incremented, and compared with COLS; if the column has reached 40 it is reset to 0, so the head re-enters from the left. The labels 1: and 2: are local labels, and 1f denotes "the next label 1, searching forward".
UNDERSTAND NOW: fixed point.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reappears at column 0. The speed should then be varied, predicting the outcome before each run: with 8 the head is slow; with 128 it steps every two frames; with 256, once per frame. A larger value exposes a limitation of this program: update takes at most one step per frame, so speeds above 256 saturate. Discovering such a limit by prediction and experiment is exactly the habit the course aims to form.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display the source but what the assembler produced from it. Symbolic names have disappeared: labels have become addresses, and SPEED_Q8 has become the number 40. Pseudo-instructions have been expanded: la into auipc followed by addi, li into an addi from zero, ret into a jump through ra. Some instructions bear the prefix c.: these are the compressed 16-bit encodings of the same operations, the C of RV32IMAC. Recognising one's own program in this listing is a skill acquired with practice; the instruction formats behind it are studied in Lecture 19.
UNDERSTAND NOW: pseudo-instructions. UNDERSTAND LATER: instruction formats (studied in Lecture 19).
For the lecturer: Disassembly of verm1_update from verm1/verm1_part1.S (objdump, rv32imac), abridged; the exact offsets depend on the build. Instruction formats are the subject of Lecture 19; the compressed forms are only named there, and listed in Appendix A of the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that make the program the student's own, each requiring a few lines. Make the head move leftwards: the addition becomes a subtraction, and the edge is detected from the sign of the result. Make it move downwards. Draw a second, darker cell behind the head. Write one's name beside the title, in a colour computed by hand. Before experimenting, a copy of the working Part 1 should be kept, since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07,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verm1/verm1_part1.S, 78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17" name="Shape 15"/>
          <p:cNvSpPr/>
          <p:nvPr/>
        </p:nvSpPr>
        <p:spPr>
          <a:xfrm>
            <a:off x="8681669" y="91440"/>
            <a:ext cx="2961386" cy="274320"/>
          </a:xfrm>
          <a:prstGeom prst="rect">
            <a:avLst/>
          </a:prstGeom>
          <a:solidFill>
            <a:srgbClr val="E0F2FE"/>
          </a:solidFill>
          <a:ln w="12700">
            <a:solidFill>
              <a:srgbClr val="0369A1"/>
            </a:solidFill>
            <a:prstDash val="solid"/>
          </a:ln>
        </p:spPr>
      </p:sp>
      <p:sp>
        <p:nvSpPr>
          <p:cNvPr id="18" name="Shape 16"/>
          <p:cNvSpPr/>
          <p:nvPr/>
        </p:nvSpPr>
        <p:spPr>
          <a:xfrm>
            <a:off x="868166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0" name="Text 1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17" name="Shape 15"/>
          <p:cNvSpPr/>
          <p:nvPr/>
        </p:nvSpPr>
        <p:spPr>
          <a:xfrm>
            <a:off x="7283272" y="91440"/>
            <a:ext cx="4359783" cy="274320"/>
          </a:xfrm>
          <a:prstGeom prst="rect">
            <a:avLst/>
          </a:prstGeom>
          <a:solidFill>
            <a:srgbClr val="F3E8FF"/>
          </a:solidFill>
          <a:ln w="12700">
            <a:solidFill>
              <a:srgbClr val="7E22CE"/>
            </a:solidFill>
            <a:prstDash val="dash"/>
          </a:ln>
        </p:spPr>
      </p:sp>
      <p:sp>
        <p:nvSpPr>
          <p:cNvPr id="18" name="Shape 16"/>
          <p:cNvSpPr/>
          <p:nvPr/>
        </p:nvSpPr>
        <p:spPr>
          <a:xfrm>
            <a:off x="7310704" y="128016"/>
            <a:ext cx="45720" cy="45720"/>
          </a:xfrm>
          <a:prstGeom prst="rect">
            <a:avLst/>
          </a:prstGeom>
          <a:solidFill>
            <a:srgbClr val="7E22CE"/>
          </a:solidFill>
          <a:ln w="12700">
            <a:solidFill>
              <a:srgbClr val="7E22CE"/>
            </a:solidFill>
            <a:prstDash val="solid"/>
          </a:ln>
        </p:spPr>
      </p:sp>
      <p:sp>
        <p:nvSpPr>
          <p:cNvPr id="19" name="Shape 17"/>
          <p:cNvSpPr/>
          <p:nvPr/>
        </p:nvSpPr>
        <p:spPr>
          <a:xfrm>
            <a:off x="7310704" y="205740"/>
            <a:ext cx="45720" cy="45720"/>
          </a:xfrm>
          <a:prstGeom prst="rect">
            <a:avLst/>
          </a:prstGeom>
          <a:solidFill>
            <a:srgbClr val="7E22CE"/>
          </a:solidFill>
          <a:ln w="12700">
            <a:solidFill>
              <a:srgbClr val="7E22CE"/>
            </a:solidFill>
            <a:prstDash val="solid"/>
          </a:ln>
        </p:spPr>
      </p:sp>
      <p:sp>
        <p:nvSpPr>
          <p:cNvPr id="20" name="Shape 18"/>
          <p:cNvSpPr/>
          <p:nvPr/>
        </p:nvSpPr>
        <p:spPr>
          <a:xfrm>
            <a:off x="7310704"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22" name="Text 1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3" name="Shape 20"/>
          <p:cNvSpPr/>
          <p:nvPr/>
        </p:nvSpPr>
        <p:spPr>
          <a:xfrm>
            <a:off x="3949522" y="91440"/>
            <a:ext cx="3224022" cy="274320"/>
          </a:xfrm>
          <a:prstGeom prst="rect">
            <a:avLst/>
          </a:prstGeom>
          <a:solidFill>
            <a:srgbClr val="E0F2FE"/>
          </a:solidFill>
          <a:ln w="12700">
            <a:solidFill>
              <a:srgbClr val="0369A1"/>
            </a:solidFill>
            <a:prstDash val="solid"/>
          </a:ln>
        </p:spPr>
      </p:sp>
      <p:sp>
        <p:nvSpPr>
          <p:cNvPr id="24" name="Shape 21"/>
          <p:cNvSpPr/>
          <p:nvPr/>
        </p:nvSpPr>
        <p:spPr>
          <a:xfrm>
            <a:off x="394952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077538" y="128016"/>
            <a:ext cx="201168" cy="201168"/>
          </a:xfrm>
          <a:prstGeom prst="rect">
            <a:avLst/>
          </a:prstGeom>
        </p:spPr>
      </p:pic>
      <p:sp>
        <p:nvSpPr>
          <p:cNvPr id="26" name="Text 22"/>
          <p:cNvSpPr txBox="1"/>
          <p:nvPr/>
        </p:nvSpPr>
        <p:spPr>
          <a:xfrm>
            <a:off x="4333570"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VERM1 at the top left and a green head that crosses the grid from left to right, about five cells per second, and comes back in from column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 the code</dc:title>
  <dc:subject>Lecture 07</dc:subject>
  <dc:creator>Raffaele Montella</dc:creator>
  <cp:lastModifiedBy>Raffaele Montella</cp:lastModifiedBy>
  <cp:revision>1</cp:revision>
  <dcterms:created xsi:type="dcterms:W3CDTF">2026-10-16T23:36:43Z</dcterms:created>
  <dcterms:modified xsi:type="dcterms:W3CDTF">2026-10-16T23:36:43Z</dcterms:modified>
</cp:coreProperties>
</file>