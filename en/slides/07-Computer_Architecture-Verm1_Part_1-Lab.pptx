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8ede149-0b80-90bc-b5e0-a50a4874e3bb}">
          <p14:sldIdLst>
            <p14:sldId id="256"/>
            <p14:sldId id="257"/>
          </p14:sldIdLst>
        </p14:section>
        <p14:section name="Step 0: the working loop" id="{b24716f8-3ad0-13ae-4999-0e1b3cc11925}">
          <p14:sldIdLst>
            <p14:sldId id="258"/>
            <p14:sldId id="259"/>
          </p14:sldIdLst>
        </p14:section>
        <p14:section name="Step 2: a grid and a head" id="{26fc95ba-b743-39b2-87f3-2edafe53ef38}">
          <p14:sldIdLst>
            <p14:sldId id="260"/>
            <p14:sldId id="261"/>
            <p14:sldId id="262"/>
            <p14:sldId id="263"/>
            <p14:sldId id="264"/>
          </p14:sldIdLst>
        </p14:section>
        <p14:section name="Step 3: movement" id="{cf4bd017-1ebe-3d43-5a61-cda657f421d6}">
          <p14:sldIdLst>
            <p14:sldId id="265"/>
            <p14:sldId id="266"/>
          </p14:sldIdLst>
        </p14:section>
        <p14:section name="Step 4: look inside with PRG32-QT" id="{8ea6b750-4293-671e-d4d7-ea9819c44805}">
          <p14:sldIdLst>
            <p14:sldId id="267"/>
          </p14:sldIdLst>
        </p14:section>
        <p14:section name="Run it and test it" id="{80dec992-66da-7826-bce4-6e37a4f84c20}">
          <p14:sldIdLst>
            <p14:sldId id="268"/>
            <p14:sldId id="269"/>
            <p14:sldId id="270"/>
            <p14:sldId id="271"/>
            <p14:sldId id="272"/>
          </p14:sldIdLst>
        </p14:section>
        <p14:section name="Exercises" id="{bb97e0c9-4909-061c-d550-7d6f8c45641f}">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07. Where the lecture deck develops the concepts, this deck contains everything that is written and executed: each listing with its commentary, the complete program of the lecture, the output it is expected to produce, and the procedure for testing it on each of the three hosts. The two decks are meant to be read together: the concepts explain the code, and the code gives the concepts an observable consequence.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the Verm1 project; the init, update, draw contract; a colour is a number; arrays in memory; .text, .rodata, .data; address, value, load, store; why ra is saved; shifts as multiplications; fixed point; pseudo-instructions; little-endian byte order. USE NOW: the PRG32 tools, the PRG32-QT debugger (used, not studied, in this course). UNDERSTAND LATER: instruction formats (Lecture 19). A slide without a badge is context: a story, an example, a question, an exercise.
Roadmap. Today's outcomes: (1) build a cartridge from an empty file: a grid, a title and a moving head; (2) place constants and variables in the right section, .rodata or .data; (3) control a speed with a fixed-point accumulator. Builds on: the init, update, draw contract (Lecture 02); a colour is a number (Lecture 04); arrays in memory (Lecture 04); address, value, load, store (Lecture 02); why ra is saved (Lecture 02). Next: Lecture 08, Elements of Boolean Algebra.
Bridge. In Lecture 02 step 2 saved ra on the stack before its calls, and lw t1, 0(t0) read a word at the address in t0. Today verm1_draw saves ra and verm1_update does not, and every variable of Verm1 is read with la and lw. Lecture 18 explains the stack and the calling convention; Lecture 19 names the addressing modes. Recall: Why does verm1_draw save ra while verm1_update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contents of the deck, in the order of the slides. The program of the lecture is a complete source file that can be built and executed as it stands. The recommended approach is to run it first, observe its behaviour, and then return to the individual listings to understand how each part contributes to that behaviour. The reference program is ~/arc12/verm1/verm1_part1.S; tools/tests/verm1_check.py builds it and plays it with a scripted player, and verm1_steps.py runs the intermediate checkpoints.
For the lecturer: Get the code once: git clone https://github.com/riscv-prg32/computer-architecture-with-prg32 ~/arc12. The reference program is ~/arc12/verm1/verm1_part1.S; tools/tests/verm1_check.py builds it and plays it with a scripted player, and verm1_steps.py runs the intermediate checkpoints.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folder named verm1 is created in the home directory, and in it a single file, verm1.S, which will grow from part to part. The first command builds the cartridge; the second sends it to PRG32-QT, running on the same computer, and starts it. These two commands are identical in every tutorial, which is the point: the cost of trying an idea must be negligible. If localhost does not answer, the address shown on the Setup screen of PRG32-QT is used instead; alternatively, the file can be imported from the PRG32-QT menu.
USE NOW: the PRG32 tools (used, not studied, in this course).
For the lecturer: Make a folder ~/verm1 and keep one file in it, verm1.S, that grows from part to part. PRG32-QT listens on port 8080 and shows its address on the Setup screen: use that address if localhost does not answer. The same cartridge runs on QEMU (python3 -m prg32 qemu upload, then qemu run) and on the board (--url http://192.168.4.1).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is the skeleton of Lecture 02 with the prefix verm1: three global labels and three functions that merely return. It is typed, built and run. The correct result is a black screen, which demonstrates that the tools work and that the firmware locates the three entry points. A build failure at this stage indicates a problem with the installation, not with the program, and must be resolved before proceeding. The last callout states the methodological rule of the entire project: add one thing, run, observe; never two things at once, so that every failure has a single candidate cause.
UNDERSTAND NOW: the init, update, draw contract.
For the lecturer: The skeleton of Lecture 02. If the build fails here the problem is the installation, not the program: solve it before going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lines replace the beginning of the skeleton. Each .equ binds a name to a number and occupies no memory: the assembler merely substitutes the value wherever the name appears. Three colours are defined in RGB565. Then the geometry: a cell measures 8 by 8 pixels, so the 320-pixel width holds 40 columns; the top 8 pixels are reserved for the title, and the remaining 192 hold 24 rows. SPEED_Q8, the speed in fixed point, is used in step 3. Named constants make the program legible and its parameters easy to change in one place.
UNDERSTAND NOW: a colour is a number.
For the lecturer: Replace the skeleton's first lines with these. SPEED_Q8 is used in step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block is placed at the end of the file. The .rodata section holds what never changes: the title, a string terminated by a zero byte through .asciz. The .data section holds the variables, one 32-bit word each: the column of the head, its row, and the fraction of a step accumulated so far. The initial values written here are only a starting point; init assigns them again explicitly, for a reason given on the next slide.
UNDERSTAND NOW: .text, .rodata, .data.
For the lecturer: Put this at the end of the file. step_q8 is used in step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verm1_init places the head in its starting position. For each variable the pattern is identical: la loads the address, li the value, and sw stores the value at the address. The accumulator step_q8 is cleared by storing the register zero directly. The function calls nothing, so it is a leaf and requires no stack frame. Why assign values that .data already contains? Because init may be invoked again to restart the game; the general principle is never to rely on the prior content of memory.
UNDERSTAND NOW: address, value, load,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verm1_draw makes three calls: clear the screen, write the title, draw the head. It therefore saves ra in a stack frame on entry and restores it on exit, as in Lecture 02. The conversion from cell to pixels deserves attention: the column is loaded into a0 and shifted left by 3; the row is loaded into a1, shifted, and offset by TOP. The remaining arguments are width, height and colour. Arguments are passed in a0 to a4, in the order the callee expects them.
UNDERSTAND NOW: why ra is saved; shifts as multiplications.
For the lecturer: prg32_gfx_text8(x, y, string, foreground, background); prg32_gfx_rect(x, y, width, height,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and run. The word VERM1 should appear at the top left, and a stationary green square in column 5 of row 12. The screenshot on the slide was taken from the finished Part 1, so its head lies further to the right; the difference is expected. If the square is misplaced, the two shifts and the addition of TOP are the first things to check.
For the lecturer: Screenshot produced by tools/tests/verm1_check.py from verm1/verm1_part1.S.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verm1_update is best read in two halves. First the timer: step_q8 is loaded, the speed added, and the sum compared with 256. If it is smaller, control jumps to label 2, the accumulator is stored and the function returns: nothing moves in this frame. Otherwise 256 is subtracted, the remainder kept and stored. Then the step: head_x is loaded and incremented, and compared with COLS; if the column has reached 40 it is reset to 0, so the head re-enters from the left. The labels 1: and 2: are local labels, and 1f denotes "the next label 1, searching forward".
UNDERSTAND NOW: fixed point.
For the lecturer: blt compares signed numbers, which is right here: every value is small and positive. Local labels 1: and 2: are referred to as 1f and 2f, 'the next 1 or 2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The head moves to the right at about five cells per second, leaves at column 39 and reappears at column 0. The speed should then be varied, predicting the outcome before each run: with 8 the head is slow; with 128 it steps every two frames; with 256, once per frame. A larger value exposes a limitation of this program: update takes at most one step per frame, so speeds above 256 saturate. Discovering such a limit by prediction and experiment is exactly the habit the course aims to form.
For the lecturer: With SPEED_Q8 = 256 the head moves one cell per frame; larger values still give one step per frame, because update takes at most one step: a limit worth discovering.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debugger does not display the source but what the assembler produced from it. Symbolic names have disappeared: labels have become addresses, and SPEED_Q8 has become the number 40. Pseudo-instructions have been expanded: la into auipc followed by addi, li into an addi from zero, ret into a jump through ra. Some instructions bear the prefix c.: these are the compressed 16-bit encodings of the same operations, the C of RV32IMAC. Recognising one's own program in this listing is a skill acquired with practice; the instruction formats behind it are studied in Lecture 19.
UNDERSTAND NOW: pseudo-instructions. UNDERSTAND LATER: instruction formats (studied in Lecture 19).
For the lecturer: Disassembly of verm1_update from verm1/verm1_part1.S (objdump, rv32imac), abridged; the exact offsets depend on the build. Instruction formats are the subject of Lecture 19; the compressed forms are only named there, and listed in Appendix A of the textbook.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behaviour of the program, and the input it requires. The outcome should be predicted before the program is run: any discrepancy between prediction and screen is information about one's model of the machine, and is worth explaining before it is corrected. The image was produced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direct route: PRG32-QT on one's own computer, in four steps, each with its command. PRG32-QT presents itself to the tools as a board listening on port 8080, which is why the upload command names the esp32c6. With debug mode enabled, execution can be halted at any instruction and the registers and memory inspected.
USE NOW: the PRG32 tools (used, not studied, in this course).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executes the actual firmware on an emulated chip, so the cartridge must be built for the qemu architecture and staged while QEMU is not running. The firmware starts on its Setup menu, from which Run Cartridge and the slot are selected. Keyboard input is read by the terminal from which QEMU was launched, not by the window that displays the image.
USE NOW: the PRG32 tools (used, not studied, in this course).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physical kit. The firmware is written once, over USB; thereafter cartridges are transferred over Wi-Fi with the same upload command used for PRG32-QT, addressed to the board. This is the only host not exercised by the automatic tests, so observations made on the board are particularly valuable and should be reported.
USE NOW: the PRG32 tools (used, not studied, in this course).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frequent symptoms, their meaning, and the corrective action. The error message should be read in full before anything is changed: in nearly every case it names the cause. When asking for help, the command and the complete message should be reported verbatim.
USE NOW: the PRG32 tools (used, not studied, in this course).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modifications that make the program the student's own, each requiring a few lines. Make the head move leftwards: the addition becomes a subtraction, and the edge is detected from the sign of the result. Make it move downwards. Draw a second, darker cell behind the head. Write one's name beside the title, in a colour computed by hand. Before experimenting, a copy of the working Part 1 should be kept, since Part 2 starts from it.
For the lecturer: Moving left: addi t3, t3, -1, then bgez t3 to skip the wrap, else li t3, COLS-1. The comparison is on the sign: Lecture 05. Darker green: 0x03e0.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07: Verm1, part 1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07</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Verm1, Part 1: A Head That Crosses the World: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548640" y="6419088"/>
            <a:ext cx="8229600" cy="274320"/>
          </a:xfrm>
          <a:prstGeom prst="rect">
            <a:avLst/>
          </a:prstGeom>
          <a:noFill/>
          <a:ln/>
        </p:spPr>
        <p:txBody>
          <a:bodyPr wrap="square" lIns="0" tIns="0" rIns="0" bIns="0" rtlCol="0" anchor="t"/>
          <a:lstStyle/>
          <a:p>
            <a:pPr indent="0" marL="0">
              <a:buNone/>
            </a:pPr>
            <a:r>
              <a:rPr lang="en-US" sz="1200" i="1" dirty="0">
                <a:solidFill>
                  <a:srgbClr val="CFE3EA"/>
                </a:solidFill>
                <a:latin typeface="Calibri" pitchFamily="34" charset="0"/>
                <a:ea typeface="Calibri" pitchFamily="34" charset="-122"/>
                <a:cs typeface="Calibri" pitchFamily="34" charset="-120"/>
              </a:rPr>
              <a:t>Verm1 reference implementation contributed by Giuseppe Coviello</a:t>
            </a:r>
            <a:endParaRPr lang="en-US" sz="1200" dirty="0"/>
          </a:p>
        </p:txBody>
      </p:sp>
      <p:sp>
        <p:nvSpPr>
          <p:cNvPr id="12" name="Text 10"/>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07-Computer_Architecture-Verm1_Part_1.pptx</a:t>
            </a:r>
            <a:endParaRPr lang="en-US" sz="1300" dirty="0"/>
          </a:p>
        </p:txBody>
      </p:sp>
      <p:sp>
        <p:nvSpPr>
          <p:cNvPr id="13" name="Shape 11"/>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4" name="Image 0" descr="/Users/raffaelemontella/devel/riscv-prg32/computer-architecture-with-prg32/tools/assets/verm1_p1.png">    </p:cNvPr>
          <p:cNvPicPr>
            <a:picLocks noChangeAspect="1"/>
          </p:cNvPicPr>
          <p:nvPr/>
        </p:nvPicPr>
        <p:blipFill>
          <a:blip r:embed="rId1"/>
          <a:stretch>
            <a:fillRect/>
          </a:stretch>
        </p:blipFill>
        <p:spPr>
          <a:xfrm>
            <a:off x="8716975" y="4280535"/>
            <a:ext cx="2834640" cy="1771650"/>
          </a:xfrm>
          <a:prstGeom prst="rect">
            <a:avLst/>
          </a:prstGeom>
        </p:spPr>
      </p:pic>
      <p:sp>
        <p:nvSpPr>
          <p:cNvPr id="15" name="Shape 12"/>
          <p:cNvSpPr/>
          <p:nvPr/>
        </p:nvSpPr>
        <p:spPr>
          <a:xfrm>
            <a:off x="9690303" y="91440"/>
            <a:ext cx="1952752" cy="274320"/>
          </a:xfrm>
          <a:prstGeom prst="rect">
            <a:avLst/>
          </a:prstGeom>
          <a:solidFill>
            <a:srgbClr val="F3E8FF"/>
          </a:solidFill>
          <a:ln w="12700">
            <a:solidFill>
              <a:srgbClr val="7E22CE"/>
            </a:solidFill>
            <a:prstDash val="dash"/>
          </a:ln>
        </p:spPr>
      </p:sp>
      <p:sp>
        <p:nvSpPr>
          <p:cNvPr id="16" name="Shape 13"/>
          <p:cNvSpPr/>
          <p:nvPr/>
        </p:nvSpPr>
        <p:spPr>
          <a:xfrm>
            <a:off x="9717735" y="128016"/>
            <a:ext cx="45720" cy="45720"/>
          </a:xfrm>
          <a:prstGeom prst="rect">
            <a:avLst/>
          </a:prstGeom>
          <a:solidFill>
            <a:srgbClr val="7E22CE"/>
          </a:solidFill>
          <a:ln w="12700">
            <a:solidFill>
              <a:srgbClr val="7E22CE"/>
            </a:solidFill>
            <a:prstDash val="solid"/>
          </a:ln>
        </p:spPr>
      </p:sp>
      <p:sp>
        <p:nvSpPr>
          <p:cNvPr id="17" name="Shape 14"/>
          <p:cNvSpPr/>
          <p:nvPr/>
        </p:nvSpPr>
        <p:spPr>
          <a:xfrm>
            <a:off x="9717735" y="205740"/>
            <a:ext cx="45720" cy="45720"/>
          </a:xfrm>
          <a:prstGeom prst="rect">
            <a:avLst/>
          </a:prstGeom>
          <a:solidFill>
            <a:srgbClr val="7E22CE"/>
          </a:solidFill>
          <a:ln w="12700">
            <a:solidFill>
              <a:srgbClr val="7E22CE"/>
            </a:solidFill>
            <a:prstDash val="solid"/>
          </a:ln>
        </p:spPr>
      </p:sp>
      <p:sp>
        <p:nvSpPr>
          <p:cNvPr id="18" name="Shape 15"/>
          <p:cNvSpPr/>
          <p:nvPr/>
        </p:nvSpPr>
        <p:spPr>
          <a:xfrm>
            <a:off x="9717735" y="283464"/>
            <a:ext cx="45720" cy="45720"/>
          </a:xfrm>
          <a:prstGeom prst="rect">
            <a:avLst/>
          </a:prstGeom>
          <a:solidFill>
            <a:srgbClr val="7E22CE"/>
          </a:solidFill>
          <a:ln w="12700">
            <a:solidFill>
              <a:srgbClr val="7E22CE"/>
            </a:solidFill>
            <a:prstDash val="solid"/>
          </a:ln>
        </p:spPr>
      </p:sp>
      <p:pic>
        <p:nvPicPr>
          <p:cNvPr id="19"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20" name="Text 16"/>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1" name="Shape 17"/>
          <p:cNvSpPr/>
          <p:nvPr/>
        </p:nvSpPr>
        <p:spPr>
          <a:xfrm>
            <a:off x="8407349" y="91440"/>
            <a:ext cx="1173226" cy="274320"/>
          </a:xfrm>
          <a:prstGeom prst="rect">
            <a:avLst/>
          </a:prstGeom>
          <a:solidFill>
            <a:srgbClr val="FEF3C7"/>
          </a:solidFill>
          <a:ln w="12700">
            <a:solidFill>
              <a:srgbClr val="B45309"/>
            </a:solidFill>
            <a:prstDash val="solid"/>
          </a:ln>
        </p:spPr>
      </p:sp>
      <p:sp>
        <p:nvSpPr>
          <p:cNvPr id="22" name="Shape 18"/>
          <p:cNvSpPr/>
          <p:nvPr/>
        </p:nvSpPr>
        <p:spPr>
          <a:xfrm>
            <a:off x="8407349" y="91440"/>
            <a:ext cx="27432" cy="274320"/>
          </a:xfrm>
          <a:prstGeom prst="rect">
            <a:avLst/>
          </a:prstGeom>
          <a:solidFill>
            <a:srgbClr val="B45309"/>
          </a:solidFill>
          <a:ln w="12700">
            <a:solidFill>
              <a:srgbClr val="B45309"/>
            </a:solidFill>
            <a:prstDash val="solid"/>
          </a:ln>
        </p:spPr>
      </p:sp>
      <p:sp>
        <p:nvSpPr>
          <p:cNvPr id="23" name="Shape 19"/>
          <p:cNvSpPr/>
          <p:nvPr/>
        </p:nvSpPr>
        <p:spPr>
          <a:xfrm>
            <a:off x="8462213" y="91440"/>
            <a:ext cx="27432" cy="274320"/>
          </a:xfrm>
          <a:prstGeom prst="rect">
            <a:avLst/>
          </a:prstGeom>
          <a:solidFill>
            <a:srgbClr val="B45309"/>
          </a:solidFill>
          <a:ln w="12700">
            <a:solidFill>
              <a:srgbClr val="B45309"/>
            </a:solidFill>
            <a:prstDash val="solid"/>
          </a:ln>
        </p:spPr>
      </p:sp>
      <p:pic>
        <p:nvPicPr>
          <p:cNvPr id="24"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5" name="Text 20"/>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6" name="Shape 21"/>
          <p:cNvSpPr/>
          <p:nvPr/>
        </p:nvSpPr>
        <p:spPr>
          <a:xfrm>
            <a:off x="6518097" y="91440"/>
            <a:ext cx="1779524" cy="274320"/>
          </a:xfrm>
          <a:prstGeom prst="rect">
            <a:avLst/>
          </a:prstGeom>
          <a:solidFill>
            <a:srgbClr val="E0F2FE"/>
          </a:solidFill>
          <a:ln w="12700">
            <a:solidFill>
              <a:srgbClr val="0369A1"/>
            </a:solidFill>
            <a:prstDash val="solid"/>
          </a:ln>
        </p:spPr>
      </p:sp>
      <p:sp>
        <p:nvSpPr>
          <p:cNvPr id="27" name="Shape 22"/>
          <p:cNvSpPr/>
          <p:nvPr/>
        </p:nvSpPr>
        <p:spPr>
          <a:xfrm>
            <a:off x="6518097" y="91440"/>
            <a:ext cx="73152" cy="274320"/>
          </a:xfrm>
          <a:prstGeom prst="rect">
            <a:avLst/>
          </a:prstGeom>
          <a:solidFill>
            <a:srgbClr val="0369A1"/>
          </a:solidFill>
          <a:ln w="12700">
            <a:solidFill>
              <a:srgbClr val="0369A1"/>
            </a:solidFill>
            <a:prstDash val="solid"/>
          </a:ln>
        </p:spPr>
      </p:sp>
      <p:pic>
        <p:nvPicPr>
          <p:cNvPr id="28"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9" name="Text 23"/>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5585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54025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8 listings of Lecture 07, one per slide: read the code, then the numbered remarks beside it</a:t>
            </a:r>
            <a:endParaRPr lang="en-US" sz="2200" dirty="0"/>
          </a:p>
        </p:txBody>
      </p:sp>
      <p:sp>
        <p:nvSpPr>
          <p:cNvPr id="5" name="Text 3"/>
          <p:cNvSpPr txBox="1"/>
          <p:nvPr/>
        </p:nvSpPr>
        <p:spPr>
          <a:xfrm>
            <a:off x="548640" y="26974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679192"/>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program is your verm1.S; the reference is verm1/verm1_part1.S, 78 lines, shown here region by region</a:t>
            </a:r>
            <a:endParaRPr lang="en-US" sz="2200" dirty="0"/>
          </a:p>
        </p:txBody>
      </p:sp>
      <p:sp>
        <p:nvSpPr>
          <p:cNvPr id="7" name="Text 5"/>
          <p:cNvSpPr txBox="1"/>
          <p:nvPr/>
        </p:nvSpPr>
        <p:spPr>
          <a:xfrm>
            <a:off x="548640" y="38364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81812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73252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71424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62864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61035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Build and run</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8FB3A0"/>
                </a:solidFill>
                <a:latin typeface="Courier New" pitchFamily="34" charset="0"/>
                <a:ea typeface="Courier New" pitchFamily="34" charset="-122"/>
                <a:cs typeface="Courier New" pitchFamily="34" charset="-120"/>
              </a:rPr>
              <a:t># 1. build the cartridge (from your PRG32 folder, toolchain active)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--entry-prefix verm1 --name verm1 --out ~/verm1/verm1.prg32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2. send it to PRG32-QT, running on the same computer</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esp32c6 upload-and-run ~/verm1/verm1.prg32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--url http://localhost:8080 --slot cart0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or: in PRG32-QT, import the file verm1.prg32 and choose Run Cartridge</a:t>
            </a:r>
            <a:endParaRPr lang="en-US" sz="1800" dirty="0"/>
          </a:p>
        </p:txBody>
      </p:sp>
      <p:sp>
        <p:nvSpPr>
          <p:cNvPr id="5" name="Shape 3"/>
          <p:cNvSpPr/>
          <p:nvPr/>
        </p:nvSpPr>
        <p:spPr>
          <a:xfrm>
            <a:off x="9287967" y="91440"/>
            <a:ext cx="2355088" cy="274320"/>
          </a:xfrm>
          <a:prstGeom prst="rect">
            <a:avLst/>
          </a:prstGeom>
          <a:solidFill>
            <a:srgbClr val="FEF3C7"/>
          </a:solidFill>
          <a:ln w="12700">
            <a:solidFill>
              <a:srgbClr val="B45309"/>
            </a:solidFill>
            <a:prstDash val="solid"/>
          </a:ln>
        </p:spPr>
      </p:sp>
      <p:sp>
        <p:nvSpPr>
          <p:cNvPr id="6" name="Shape 4"/>
          <p:cNvSpPr/>
          <p:nvPr/>
        </p:nvSpPr>
        <p:spPr>
          <a:xfrm>
            <a:off x="9287967" y="91440"/>
            <a:ext cx="27432" cy="274320"/>
          </a:xfrm>
          <a:prstGeom prst="rect">
            <a:avLst/>
          </a:prstGeom>
          <a:solidFill>
            <a:srgbClr val="B45309"/>
          </a:solidFill>
          <a:ln w="12700">
            <a:solidFill>
              <a:srgbClr val="B45309"/>
            </a:solidFill>
            <a:prstDash val="solid"/>
          </a:ln>
        </p:spPr>
      </p:sp>
      <p:sp>
        <p:nvSpPr>
          <p:cNvPr id="7" name="Shape 5"/>
          <p:cNvSpPr/>
          <p:nvPr/>
        </p:nvSpPr>
        <p:spPr>
          <a:xfrm>
            <a:off x="9342831"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9" name="Text 6"/>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Step 1: three functions that return</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800" dirty="0">
                <a:solidFill>
                  <a:srgbClr val="8FB3A0"/>
                </a:solidFill>
                <a:latin typeface="Courier New" pitchFamily="34" charset="0"/>
                <a:ea typeface="Courier New" pitchFamily="34" charset="-122"/>
                <a:cs typeface="Courier New" pitchFamily="34" charset="-120"/>
              </a:rPr>
              <a:t># verm1.S - my Verm1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.option norelax</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.section .text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.global verm1_init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.global verm1_update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.global verm1_draw</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verm1_init: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verm1_update: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verm1_draw:</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Type it, build it, run it: a black screen is the right answer</a:t>
            </a:r>
            <a:endParaRPr lang="en-US" sz="16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The prefix verm1 is the name you pass to --entry-prefix</a:t>
            </a:r>
            <a:endParaRPr lang="en-US" sz="16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init runs once; update and draw run once per frame</a:t>
            </a:r>
            <a:endParaRPr lang="en-US" sz="16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From now on: add one thing, run, look. Never two things at once</a:t>
            </a:r>
            <a:endParaRPr lang="en-US" sz="1600" dirty="0"/>
          </a:p>
        </p:txBody>
      </p:sp>
      <p:sp>
        <p:nvSpPr>
          <p:cNvPr id="17" name="Shape 15"/>
          <p:cNvSpPr/>
          <p:nvPr/>
        </p:nvSpPr>
        <p:spPr>
          <a:xfrm>
            <a:off x="7631125" y="91440"/>
            <a:ext cx="4011930" cy="274320"/>
          </a:xfrm>
          <a:prstGeom prst="rect">
            <a:avLst/>
          </a:prstGeom>
          <a:solidFill>
            <a:srgbClr val="E0F2FE"/>
          </a:solidFill>
          <a:ln w="12700">
            <a:solidFill>
              <a:srgbClr val="0369A1"/>
            </a:solidFill>
            <a:prstDash val="solid"/>
          </a:ln>
        </p:spPr>
      </p:sp>
      <p:sp>
        <p:nvSpPr>
          <p:cNvPr id="18" name="Shape 16"/>
          <p:cNvSpPr/>
          <p:nvPr/>
        </p:nvSpPr>
        <p:spPr>
          <a:xfrm>
            <a:off x="7631125"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7759141" y="128016"/>
            <a:ext cx="201168" cy="201168"/>
          </a:xfrm>
          <a:prstGeom prst="rect">
            <a:avLst/>
          </a:prstGeom>
        </p:spPr>
      </p:pic>
      <p:sp>
        <p:nvSpPr>
          <p:cNvPr id="20" name="Text 17"/>
          <p:cNvSpPr txBox="1"/>
          <p:nvPr/>
        </p:nvSpPr>
        <p:spPr>
          <a:xfrm>
            <a:off x="8015173" y="91440"/>
            <a:ext cx="359130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init, update, draw contract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Constants: colours and the grid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.option norelax</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BLACK, 0x0000          </a:t>
            </a:r>
            <a:pPr indent="0" marL="0">
              <a:buNone/>
            </a:pPr>
            <a:r>
              <a:rPr lang="en-US" sz="1500" dirty="0">
                <a:solidFill>
                  <a:srgbClr val="8FB3A0"/>
                </a:solidFill>
                <a:latin typeface="Courier New" pitchFamily="34" charset="0"/>
                <a:ea typeface="Courier New" pitchFamily="34" charset="-122"/>
                <a:cs typeface="Courier New" pitchFamily="34" charset="-120"/>
              </a:rPr>
              <a:t># RGB565 colours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WHITE, 0xffff</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GREEN, 0x07e0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CELL,  8               </a:t>
            </a:r>
            <a:pPr indent="0" marL="0">
              <a:buNone/>
            </a:pPr>
            <a:r>
              <a:rPr lang="en-US" sz="1500" dirty="0">
                <a:solidFill>
                  <a:srgbClr val="8FB3A0"/>
                </a:solidFill>
                <a:latin typeface="Courier New" pitchFamily="34" charset="0"/>
                <a:ea typeface="Courier New" pitchFamily="34" charset="-122"/>
                <a:cs typeface="Courier New" pitchFamily="34" charset="-120"/>
              </a:rPr>
              <a:t># a cell is 8 x 8 pixels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COLS,  40              </a:t>
            </a:r>
            <a:pPr indent="0" marL="0">
              <a:buNone/>
            </a:pPr>
            <a:r>
              <a:rPr lang="en-US" sz="1500" dirty="0">
                <a:solidFill>
                  <a:srgbClr val="8FB3A0"/>
                </a:solidFill>
                <a:latin typeface="Courier New" pitchFamily="34" charset="0"/>
                <a:ea typeface="Courier New" pitchFamily="34" charset="-122"/>
                <a:cs typeface="Courier New" pitchFamily="34" charset="-120"/>
              </a:rPr>
              <a:t># 320 / 8 cells across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ROWS,  24              </a:t>
            </a:r>
            <a:pPr indent="0" marL="0">
              <a:buNone/>
            </a:pPr>
            <a:r>
              <a:rPr lang="en-US" sz="1500" dirty="0">
                <a:solidFill>
                  <a:srgbClr val="8FB3A0"/>
                </a:solidFill>
                <a:latin typeface="Courier New" pitchFamily="34" charset="0"/>
                <a:ea typeface="Courier New" pitchFamily="34" charset="-122"/>
                <a:cs typeface="Courier New" pitchFamily="34" charset="-120"/>
              </a:rPr>
              <a:t># 192 / 8 cells down</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TOP,   8               </a:t>
            </a:r>
            <a:pPr indent="0" marL="0">
              <a:buNone/>
            </a:pPr>
            <a:r>
              <a:rPr lang="en-US" sz="1500" dirty="0">
                <a:solidFill>
                  <a:srgbClr val="8FB3A0"/>
                </a:solidFill>
                <a:latin typeface="Courier New" pitchFamily="34" charset="0"/>
                <a:ea typeface="Courier New" pitchFamily="34" charset="-122"/>
                <a:cs typeface="Courier New" pitchFamily="34" charset="-120"/>
              </a:rPr>
              <a:t># the top 8 pixels are the title line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SPEED_Q8, 40           </a:t>
            </a:r>
            <a:pPr indent="0" marL="0">
              <a:buNone/>
            </a:pPr>
            <a:r>
              <a:rPr lang="en-US" sz="1500" dirty="0">
                <a:solidFill>
                  <a:srgbClr val="8FB3A0"/>
                </a:solidFill>
                <a:latin typeface="Courier New" pitchFamily="34" charset="0"/>
                <a:ea typeface="Courier New" pitchFamily="34" charset="-122"/>
                <a:cs typeface="Courier New" pitchFamily="34" charset="-120"/>
              </a:rPr>
              <a:t># 40/256 of a cell per frame (Q24.8)</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.section .text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.global verm1_init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.global verm1_update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.global verm1_draw</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Colours are RGB565 numbers: 0x07e0 is pure green</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320 pixels across, 8 per cell: 40 columns</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The top 8 pixels hold the title; 192 are left: 24 rows</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.equ gives a name to a number: no memory is used</a:t>
            </a:r>
            <a:endParaRPr lang="en-US" sz="1500" dirty="0"/>
          </a:p>
        </p:txBody>
      </p:sp>
      <p:sp>
        <p:nvSpPr>
          <p:cNvPr id="17" name="Shape 15"/>
          <p:cNvSpPr/>
          <p:nvPr/>
        </p:nvSpPr>
        <p:spPr>
          <a:xfrm>
            <a:off x="8353374" y="91440"/>
            <a:ext cx="3289681" cy="274320"/>
          </a:xfrm>
          <a:prstGeom prst="rect">
            <a:avLst/>
          </a:prstGeom>
          <a:solidFill>
            <a:srgbClr val="E0F2FE"/>
          </a:solidFill>
          <a:ln w="12700">
            <a:solidFill>
              <a:srgbClr val="0369A1"/>
            </a:solidFill>
            <a:prstDash val="solid"/>
          </a:ln>
        </p:spPr>
      </p:sp>
      <p:sp>
        <p:nvSpPr>
          <p:cNvPr id="18" name="Shape 16"/>
          <p:cNvSpPr/>
          <p:nvPr/>
        </p:nvSpPr>
        <p:spPr>
          <a:xfrm>
            <a:off x="8353374"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481390" y="128016"/>
            <a:ext cx="201168" cy="201168"/>
          </a:xfrm>
          <a:prstGeom prst="rect">
            <a:avLst/>
          </a:prstGeom>
        </p:spPr>
      </p:pic>
      <p:sp>
        <p:nvSpPr>
          <p:cNvPr id="20" name="Text 17"/>
          <p:cNvSpPr txBox="1"/>
          <p:nvPr/>
        </p:nvSpPr>
        <p:spPr>
          <a:xfrm>
            <a:off x="8737422" y="91440"/>
            <a:ext cx="286905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 colour is a number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Variables and a string</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.section .rodata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title:   .asciz "VERM1"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.section .data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head_x:  .word 5                </a:t>
            </a:r>
            <a:pPr indent="0" marL="0">
              <a:buNone/>
            </a:pPr>
            <a:r>
              <a:rPr lang="en-US" sz="1500" dirty="0">
                <a:solidFill>
                  <a:srgbClr val="8FB3A0"/>
                </a:solidFill>
                <a:latin typeface="Courier New" pitchFamily="34" charset="0"/>
                <a:ea typeface="Courier New" pitchFamily="34" charset="-122"/>
                <a:cs typeface="Courier New" pitchFamily="34" charset="-120"/>
              </a:rPr>
              <a:t># column of the head, 0 .. COLS-1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head_y:  .word 12               </a:t>
            </a:r>
            <a:pPr indent="0" marL="0">
              <a:buNone/>
            </a:pPr>
            <a:r>
              <a:rPr lang="en-US" sz="1500" dirty="0">
                <a:solidFill>
                  <a:srgbClr val="8FB3A0"/>
                </a:solidFill>
                <a:latin typeface="Courier New" pitchFamily="34" charset="0"/>
                <a:ea typeface="Courier New" pitchFamily="34" charset="-122"/>
                <a:cs typeface="Courier New" pitchFamily="34" charset="-120"/>
              </a:rPr>
              <a:t># row of the head, 0 .. ROWS-1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step_q8: .word 0                </a:t>
            </a:r>
            <a:pPr indent="0" marL="0">
              <a:buNone/>
            </a:pPr>
            <a:r>
              <a:rPr lang="en-US" sz="1500" dirty="0">
                <a:solidFill>
                  <a:srgbClr val="8FB3A0"/>
                </a:solidFill>
                <a:latin typeface="Courier New" pitchFamily="34" charset="0"/>
                <a:ea typeface="Courier New" pitchFamily="34" charset="-122"/>
                <a:cs typeface="Courier New" pitchFamily="34" charset="-120"/>
              </a:rPr>
              <a:t># fraction of a step, in 1/256</a:t>
            </a:r>
            <a:endParaRPr lang="en-US" sz="150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.rodata holds constants: the title ends with a zero byte</a:t>
            </a:r>
            <a:endParaRPr lang="en-US" sz="16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.data holds variables: one 32-bit word each</a:t>
            </a:r>
            <a:endParaRPr lang="en-US" sz="16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The initial values are only a start: init will set them again</a:t>
            </a:r>
            <a:endParaRPr lang="en-US" sz="1600" dirty="0"/>
          </a:p>
        </p:txBody>
      </p:sp>
      <p:sp>
        <p:nvSpPr>
          <p:cNvPr id="14" name="Shape 12"/>
          <p:cNvSpPr/>
          <p:nvPr/>
        </p:nvSpPr>
        <p:spPr>
          <a:xfrm>
            <a:off x="8287715" y="91440"/>
            <a:ext cx="3355340" cy="274320"/>
          </a:xfrm>
          <a:prstGeom prst="rect">
            <a:avLst/>
          </a:prstGeom>
          <a:solidFill>
            <a:srgbClr val="E0F2FE"/>
          </a:solidFill>
          <a:ln w="12700">
            <a:solidFill>
              <a:srgbClr val="0369A1"/>
            </a:solidFill>
            <a:prstDash val="solid"/>
          </a:ln>
        </p:spPr>
      </p:sp>
      <p:sp>
        <p:nvSpPr>
          <p:cNvPr id="15" name="Shape 13"/>
          <p:cNvSpPr/>
          <p:nvPr/>
        </p:nvSpPr>
        <p:spPr>
          <a:xfrm>
            <a:off x="8287715"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415731" y="128016"/>
            <a:ext cx="201168" cy="201168"/>
          </a:xfrm>
          <a:prstGeom prst="rect">
            <a:avLst/>
          </a:prstGeom>
        </p:spPr>
      </p:pic>
      <p:sp>
        <p:nvSpPr>
          <p:cNvPr id="17" name="Text 14"/>
          <p:cNvSpPr txBox="1"/>
          <p:nvPr/>
        </p:nvSpPr>
        <p:spPr>
          <a:xfrm>
            <a:off x="8671763" y="91440"/>
            <a:ext cx="293471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.text, .rodata, .data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init: put the head in its place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verm1_init: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t0, head_x</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t1, 5</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t1, 0(t0)              </a:t>
            </a:r>
            <a:pPr indent="0" marL="0">
              <a:buNone/>
            </a:pPr>
            <a:r>
              <a:rPr lang="en-US" sz="1500" dirty="0">
                <a:solidFill>
                  <a:srgbClr val="8FB3A0"/>
                </a:solidFill>
                <a:latin typeface="Courier New" pitchFamily="34" charset="0"/>
                <a:ea typeface="Courier New" pitchFamily="34" charset="-122"/>
                <a:cs typeface="Courier New" pitchFamily="34" charset="-120"/>
              </a:rPr>
              <a:t># the head starts in column 5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t0, head_y</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t1, 12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t1, 0(t0)              </a:t>
            </a:r>
            <a:pPr indent="0" marL="0">
              <a:buNone/>
            </a:pPr>
            <a:r>
              <a:rPr lang="en-US" sz="1500" dirty="0">
                <a:solidFill>
                  <a:srgbClr val="8FB3A0"/>
                </a:solidFill>
                <a:latin typeface="Courier New" pitchFamily="34" charset="0"/>
                <a:ea typeface="Courier New" pitchFamily="34" charset="-122"/>
                <a:cs typeface="Courier New" pitchFamily="34" charset="-120"/>
              </a:rPr>
              <a:t># ... of row 12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t0, step_q8</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zero, 0(t0)            </a:t>
            </a:r>
            <a:pPr indent="0" marL="0">
              <a:buNone/>
            </a:pPr>
            <a:r>
              <a:rPr lang="en-US" sz="1500" dirty="0">
                <a:solidFill>
                  <a:srgbClr val="8FB3A0"/>
                </a:solidFill>
                <a:latin typeface="Courier New" pitchFamily="34" charset="0"/>
                <a:ea typeface="Courier New" pitchFamily="34" charset="-122"/>
                <a:cs typeface="Courier New" pitchFamily="34" charset="-120"/>
              </a:rPr>
              <a:t># no fraction of a step yet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ret</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la takes an ADDRESS, sw stores a VALUE there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init sets the start explicitly: never trust what memory contained</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zero is the register that always reads 0</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leaf function: no calls, so no stack frame</a:t>
            </a:r>
            <a:endParaRPr lang="en-US" sz="1200" dirty="0"/>
          </a:p>
        </p:txBody>
      </p:sp>
      <p:sp>
        <p:nvSpPr>
          <p:cNvPr id="17" name="Shape 15"/>
          <p:cNvSpPr/>
          <p:nvPr/>
        </p:nvSpPr>
        <p:spPr>
          <a:xfrm>
            <a:off x="7893761" y="91440"/>
            <a:ext cx="3749294" cy="274320"/>
          </a:xfrm>
          <a:prstGeom prst="rect">
            <a:avLst/>
          </a:prstGeom>
          <a:solidFill>
            <a:srgbClr val="E0F2FE"/>
          </a:solidFill>
          <a:ln w="12700">
            <a:solidFill>
              <a:srgbClr val="0369A1"/>
            </a:solidFill>
            <a:prstDash val="solid"/>
          </a:ln>
        </p:spPr>
      </p:sp>
      <p:sp>
        <p:nvSpPr>
          <p:cNvPr id="18" name="Shape 16"/>
          <p:cNvSpPr/>
          <p:nvPr/>
        </p:nvSpPr>
        <p:spPr>
          <a:xfrm>
            <a:off x="7893761"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021777" y="128016"/>
            <a:ext cx="201168" cy="201168"/>
          </a:xfrm>
          <a:prstGeom prst="rect">
            <a:avLst/>
          </a:prstGeom>
        </p:spPr>
      </p:pic>
      <p:sp>
        <p:nvSpPr>
          <p:cNvPr id="20" name="Text 17"/>
          <p:cNvSpPr txBox="1"/>
          <p:nvPr/>
        </p:nvSpPr>
        <p:spPr>
          <a:xfrm>
            <a:off x="8277809" y="91440"/>
            <a:ext cx="332867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address, value, load, store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draw: title and head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150" dirty="0">
                <a:solidFill>
                  <a:srgbClr val="E6EDF2"/>
                </a:solidFill>
                <a:latin typeface="Courier New" pitchFamily="34" charset="0"/>
                <a:ea typeface="Courier New" pitchFamily="34" charset="-122"/>
                <a:cs typeface="Courier New" pitchFamily="34" charset="-120"/>
              </a:rPr>
              <a:t>verm1_draw:</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sp, sp, -16</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sw   ra, 12(sp)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a0, BLACK</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call prg32_gfx_clear</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a0, 0                  </a:t>
            </a:r>
            <a:pPr indent="0" marL="0">
              <a:buNone/>
            </a:pPr>
            <a:r>
              <a:rPr lang="en-US" sz="1150" dirty="0">
                <a:solidFill>
                  <a:srgbClr val="8FB3A0"/>
                </a:solidFill>
                <a:latin typeface="Courier New" pitchFamily="34" charset="0"/>
                <a:ea typeface="Courier New" pitchFamily="34" charset="-122"/>
                <a:cs typeface="Courier New" pitchFamily="34" charset="-120"/>
              </a:rPr>
              <a:t># x</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a1, 0                  </a:t>
            </a:r>
            <a:pPr indent="0" marL="0">
              <a:buNone/>
            </a:pPr>
            <a:r>
              <a:rPr lang="en-US" sz="1150" dirty="0">
                <a:solidFill>
                  <a:srgbClr val="8FB3A0"/>
                </a:solidFill>
                <a:latin typeface="Courier New" pitchFamily="34" charset="0"/>
                <a:ea typeface="Courier New" pitchFamily="34" charset="-122"/>
                <a:cs typeface="Courier New" pitchFamily="34" charset="-120"/>
              </a:rPr>
              <a:t># 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a2, title              </a:t>
            </a:r>
            <a:pPr indent="0" marL="0">
              <a:buNone/>
            </a:pPr>
            <a:r>
              <a:rPr lang="en-US" sz="1150" dirty="0">
                <a:solidFill>
                  <a:srgbClr val="8FB3A0"/>
                </a:solidFill>
                <a:latin typeface="Courier New" pitchFamily="34" charset="0"/>
                <a:ea typeface="Courier New" pitchFamily="34" charset="-122"/>
                <a:cs typeface="Courier New" pitchFamily="34" charset="-120"/>
              </a:rPr>
              <a:t># address of the string</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a3, WHITE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a4, BLACK</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call prg32_gfx_text8</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head_x</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lw   a0, 0(t0)</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slli a0, a0, 3              </a:t>
            </a:r>
            <a:pPr indent="0" marL="0">
              <a:buNone/>
            </a:pPr>
            <a:r>
              <a:rPr lang="en-US" sz="1150" dirty="0">
                <a:solidFill>
                  <a:srgbClr val="8FB3A0"/>
                </a:solidFill>
                <a:latin typeface="Courier New" pitchFamily="34" charset="0"/>
                <a:ea typeface="Courier New" pitchFamily="34" charset="-122"/>
                <a:cs typeface="Courier New" pitchFamily="34" charset="-120"/>
              </a:rPr>
              <a:t># x = column * 8</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head_y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lw   a1, 0(t0)</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slli a1, a1, 3</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a1, a1, TOP            </a:t>
            </a:r>
            <a:pPr indent="0" marL="0">
              <a:buNone/>
            </a:pPr>
            <a:r>
              <a:rPr lang="en-US" sz="1150" dirty="0">
                <a:solidFill>
                  <a:srgbClr val="8FB3A0"/>
                </a:solidFill>
                <a:latin typeface="Courier New" pitchFamily="34" charset="0"/>
                <a:ea typeface="Courier New" pitchFamily="34" charset="-122"/>
                <a:cs typeface="Courier New" pitchFamily="34" charset="-120"/>
              </a:rPr>
              <a:t># y = row * 8 + 8</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a2, CELL               </a:t>
            </a:r>
            <a:pPr indent="0" marL="0">
              <a:buNone/>
            </a:pPr>
            <a:r>
              <a:rPr lang="en-US" sz="1150" dirty="0">
                <a:solidFill>
                  <a:srgbClr val="8FB3A0"/>
                </a:solidFill>
                <a:latin typeface="Courier New" pitchFamily="34" charset="0"/>
                <a:ea typeface="Courier New" pitchFamily="34" charset="-122"/>
                <a:cs typeface="Courier New" pitchFamily="34" charset="-120"/>
              </a:rPr>
              <a:t># width</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a3, CELL               </a:t>
            </a:r>
            <a:pPr indent="0" marL="0">
              <a:buNone/>
            </a:pPr>
            <a:r>
              <a:rPr lang="en-US" sz="1150" dirty="0">
                <a:solidFill>
                  <a:srgbClr val="8FB3A0"/>
                </a:solidFill>
                <a:latin typeface="Courier New" pitchFamily="34" charset="0"/>
                <a:ea typeface="Courier New" pitchFamily="34" charset="-122"/>
                <a:cs typeface="Courier New" pitchFamily="34" charset="-120"/>
              </a:rPr>
              <a:t># height</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a4, GREEN</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call prg32_gfx_rect</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lw   ra, 12(sp)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sp, sp, 16</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ret</a:t>
            </a:r>
            <a:endParaRPr lang="en-US" sz="11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Clear, write the title, draw one rectangle: three calls</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Arguments travel in a0 to a4, in order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slli by 3 multiplies by 8: cell to pixel</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draw makes calls, so it saves ra in a stack frame</a:t>
            </a:r>
            <a:endParaRPr lang="en-US" sz="1200" dirty="0"/>
          </a:p>
        </p:txBody>
      </p:sp>
      <p:sp>
        <p:nvSpPr>
          <p:cNvPr id="17" name="Shape 15"/>
          <p:cNvSpPr/>
          <p:nvPr/>
        </p:nvSpPr>
        <p:spPr>
          <a:xfrm>
            <a:off x="8681669" y="91440"/>
            <a:ext cx="2961386" cy="274320"/>
          </a:xfrm>
          <a:prstGeom prst="rect">
            <a:avLst/>
          </a:prstGeom>
          <a:solidFill>
            <a:srgbClr val="E0F2FE"/>
          </a:solidFill>
          <a:ln w="12700">
            <a:solidFill>
              <a:srgbClr val="0369A1"/>
            </a:solidFill>
            <a:prstDash val="solid"/>
          </a:ln>
        </p:spPr>
      </p:sp>
      <p:sp>
        <p:nvSpPr>
          <p:cNvPr id="18" name="Shape 16"/>
          <p:cNvSpPr/>
          <p:nvPr/>
        </p:nvSpPr>
        <p:spPr>
          <a:xfrm>
            <a:off x="8681669"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809685" y="128016"/>
            <a:ext cx="201168" cy="201168"/>
          </a:xfrm>
          <a:prstGeom prst="rect">
            <a:avLst/>
          </a:prstGeom>
        </p:spPr>
      </p:pic>
      <p:sp>
        <p:nvSpPr>
          <p:cNvPr id="20" name="Text 17"/>
          <p:cNvSpPr txBox="1"/>
          <p:nvPr/>
        </p:nvSpPr>
        <p:spPr>
          <a:xfrm>
            <a:off x="9065717" y="91440"/>
            <a:ext cx="2540762"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why ra is saved</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a head on the grid</a:t>
            </a:r>
            <a:endParaRPr lang="en-US" sz="3200" dirty="0"/>
          </a:p>
        </p:txBody>
      </p:sp>
      <p:sp>
        <p:nvSpPr>
          <p:cNvPr id="3" name="Shape 1"/>
          <p:cNvSpPr/>
          <p:nvPr/>
        </p:nvSpPr>
        <p:spPr>
          <a:xfrm>
            <a:off x="548640" y="1417320"/>
            <a:ext cx="11094415" cy="3931920"/>
          </a:xfrm>
          <a:prstGeom prst="roundRect">
            <a:avLst>
              <a:gd name="adj" fmla="val 1860"/>
            </a:avLst>
          </a:prstGeom>
          <a:solidFill>
            <a:srgbClr val="EEF2F4"/>
          </a:solidFill>
          <a:ln w="12700">
            <a:solidFill>
              <a:srgbClr val="EEF2F4"/>
            </a:solidFill>
            <a:prstDash val="solid"/>
          </a:ln>
        </p:spPr>
      </p:sp>
      <p:pic>
        <p:nvPicPr>
          <p:cNvPr id="4" name="Image 0" descr="/Users/raffaelemontella/devel/riscv-prg32/computer-architecture-with-prg32/tools/assets/verm1_p1.png">    </p:cNvPr>
          <p:cNvPicPr>
            <a:picLocks noChangeAspect="1"/>
          </p:cNvPicPr>
          <p:nvPr/>
        </p:nvPicPr>
        <p:blipFill>
          <a:blip r:embed="rId1"/>
          <a:stretch>
            <a:fillRect/>
          </a:stretch>
        </p:blipFill>
        <p:spPr>
          <a:xfrm>
            <a:off x="3645256" y="1554480"/>
            <a:ext cx="4901184" cy="3063240"/>
          </a:xfrm>
          <a:prstGeom prst="rect">
            <a:avLst/>
          </a:prstGeom>
        </p:spPr>
      </p:pic>
      <p:sp>
        <p:nvSpPr>
          <p:cNvPr id="5" name="Text 2"/>
          <p:cNvSpPr txBox="1"/>
          <p:nvPr/>
        </p:nvSpPr>
        <p:spPr>
          <a:xfrm>
            <a:off x="685800" y="4663440"/>
            <a:ext cx="10820095"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The title and the head. After step 3 the head will be moving: this picture was taken 64 frames into the finished Part 1</a:t>
            </a:r>
            <a:endParaRPr lang="en-US" sz="1500" dirty="0"/>
          </a:p>
        </p:txBody>
      </p:sp>
      <p:sp>
        <p:nvSpPr>
          <p:cNvPr id="6" name="Text 3"/>
          <p:cNvSpPr txBox="1"/>
          <p:nvPr/>
        </p:nvSpPr>
        <p:spPr>
          <a:xfrm>
            <a:off x="548640" y="5486400"/>
            <a:ext cx="11094415" cy="685800"/>
          </a:xfrm>
          <a:prstGeom prst="rect">
            <a:avLst/>
          </a:prstGeom>
          <a:noFill/>
          <a:ln/>
        </p:spPr>
        <p:txBody>
          <a:bodyPr wrap="square" lIns="0" tIns="0" rIns="0" bIns="0" rtlCol="0" anchor="ctr"/>
          <a:lstStyle/>
          <a:p>
            <a:pPr indent="0" marL="0">
              <a:buNone/>
            </a:pPr>
            <a:r>
              <a:rPr lang="en-US" sz="1900" dirty="0">
                <a:solidFill>
                  <a:srgbClr val="1B2530"/>
                </a:solidFill>
                <a:latin typeface="Calibri" pitchFamily="34" charset="0"/>
                <a:ea typeface="Calibri" pitchFamily="34" charset="-122"/>
                <a:cs typeface="Calibri" pitchFamily="34" charset="-120"/>
              </a:rPr>
              <a:t>Expected now: the word VERM1 at the top left and a green square standing still in column 5, row 12.</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update: accumulate, step, wrap</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verm1_update: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step_q8</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t1,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t1, t1, SPEED_Q8       </a:t>
            </a:r>
            <a:pPr indent="0" marL="0">
              <a:buNone/>
            </a:pPr>
            <a:r>
              <a:rPr lang="en-US" sz="1350" dirty="0">
                <a:solidFill>
                  <a:srgbClr val="8FB3A0"/>
                </a:solidFill>
                <a:latin typeface="Courier New" pitchFamily="34" charset="0"/>
                <a:ea typeface="Courier New" pitchFamily="34" charset="-122"/>
                <a:cs typeface="Courier New" pitchFamily="34" charset="-120"/>
              </a:rPr>
              <a:t># add a fraction of a cell</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t2, 256</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blt  t1, t2, 2f             </a:t>
            </a:r>
            <a:pPr indent="0" marL="0">
              <a:buNone/>
            </a:pPr>
            <a:r>
              <a:rPr lang="en-US" sz="1350" dirty="0">
                <a:solidFill>
                  <a:srgbClr val="8FB3A0"/>
                </a:solidFill>
                <a:latin typeface="Courier New" pitchFamily="34" charset="0"/>
                <a:ea typeface="Courier New" pitchFamily="34" charset="-122"/>
                <a:cs typeface="Courier New" pitchFamily="34" charset="-120"/>
              </a:rPr>
              <a:t># less than one whole cell: wait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sub  t1, t1, t2             </a:t>
            </a:r>
            <a:pPr indent="0" marL="0">
              <a:buNone/>
            </a:pPr>
            <a:r>
              <a:rPr lang="en-US" sz="1350" dirty="0">
                <a:solidFill>
                  <a:srgbClr val="8FB3A0"/>
                </a:solidFill>
                <a:latin typeface="Courier New" pitchFamily="34" charset="0"/>
                <a:ea typeface="Courier New" pitchFamily="34" charset="-122"/>
                <a:cs typeface="Courier New" pitchFamily="34" charset="-120"/>
              </a:rPr>
              <a:t># one cell done: keep the remainder</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t1,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head_x</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t3,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t3, t3, 1              </a:t>
            </a:r>
            <a:pPr indent="0" marL="0">
              <a:buNone/>
            </a:pPr>
            <a:r>
              <a:rPr lang="en-US" sz="1350" dirty="0">
                <a:solidFill>
                  <a:srgbClr val="8FB3A0"/>
                </a:solidFill>
                <a:latin typeface="Courier New" pitchFamily="34" charset="0"/>
                <a:ea typeface="Courier New" pitchFamily="34" charset="-122"/>
                <a:cs typeface="Courier New" pitchFamily="34" charset="-120"/>
              </a:rPr>
              <a:t># one cell to the right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t4, COLS</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blt  t3, t4, 1f</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t3, 0                  </a:t>
            </a:r>
            <a:pPr indent="0" marL="0">
              <a:buNone/>
            </a:pPr>
            <a:r>
              <a:rPr lang="en-US" sz="1350" dirty="0">
                <a:solidFill>
                  <a:srgbClr val="8FB3A0"/>
                </a:solidFill>
                <a:latin typeface="Courier New" pitchFamily="34" charset="0"/>
                <a:ea typeface="Courier New" pitchFamily="34" charset="-122"/>
                <a:cs typeface="Courier New" pitchFamily="34" charset="-120"/>
              </a:rPr>
              <a:t># past the right edge: back to column 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1:  sw   t3,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2:  sw   t1,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a:t>
            </a:r>
            <a:endParaRPr lang="en-US" sz="13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Add the speed to the fraction; below 256, wait</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At 256: subtract it, keep the rest, move one cell</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Column 40 does not exist: back to column 0</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Two exits: each stores what it changed</a:t>
            </a:r>
            <a:endParaRPr lang="en-US" sz="1500" dirty="0"/>
          </a:p>
        </p:txBody>
      </p:sp>
      <p:sp>
        <p:nvSpPr>
          <p:cNvPr id="17" name="Shape 15"/>
          <p:cNvSpPr/>
          <p:nvPr/>
        </p:nvSpPr>
        <p:spPr>
          <a:xfrm>
            <a:off x="8944305" y="91440"/>
            <a:ext cx="2698750" cy="274320"/>
          </a:xfrm>
          <a:prstGeom prst="rect">
            <a:avLst/>
          </a:prstGeom>
          <a:solidFill>
            <a:srgbClr val="E0F2FE"/>
          </a:solidFill>
          <a:ln w="12700">
            <a:solidFill>
              <a:srgbClr val="0369A1"/>
            </a:solidFill>
            <a:prstDash val="solid"/>
          </a:ln>
        </p:spPr>
      </p:sp>
      <p:sp>
        <p:nvSpPr>
          <p:cNvPr id="18" name="Shape 16"/>
          <p:cNvSpPr/>
          <p:nvPr/>
        </p:nvSpPr>
        <p:spPr>
          <a:xfrm>
            <a:off x="8944305"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9072321" y="128016"/>
            <a:ext cx="201168" cy="201168"/>
          </a:xfrm>
          <a:prstGeom prst="rect">
            <a:avLst/>
          </a:prstGeom>
        </p:spPr>
      </p:pic>
      <p:sp>
        <p:nvSpPr>
          <p:cNvPr id="20" name="Text 17"/>
          <p:cNvSpPr txBox="1"/>
          <p:nvPr/>
        </p:nvSpPr>
        <p:spPr>
          <a:xfrm>
            <a:off x="9328353" y="91440"/>
            <a:ext cx="227812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fixed point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the head crosses the world</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Build and run: the head moves to the right, about five cells per second</a:t>
            </a:r>
            <a:endParaRPr lang="en-US" sz="2400" dirty="0"/>
          </a:p>
        </p:txBody>
      </p:sp>
      <p:sp>
        <p:nvSpPr>
          <p:cNvPr id="6" name="Text 4"/>
          <p:cNvSpPr txBox="1"/>
          <p:nvPr/>
        </p:nvSpPr>
        <p:spPr>
          <a:xfrm>
            <a:off x="548640" y="24475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429256"/>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Wait for the right edge: the head leaves at column 39 and returns at column 0</a:t>
            </a:r>
            <a:endParaRPr lang="en-US" sz="2400" dirty="0"/>
          </a:p>
        </p:txBody>
      </p:sp>
      <p:sp>
        <p:nvSpPr>
          <p:cNvPr id="8" name="Text 6"/>
          <p:cNvSpPr txBox="1"/>
          <p:nvPr/>
        </p:nvSpPr>
        <p:spPr>
          <a:xfrm>
            <a:off x="548640" y="34594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441192"/>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Change SPEED_Q8 to 8, then to 128, then to 256: predict the speed before you run</a:t>
            </a:r>
            <a:endParaRPr lang="en-US" sz="2400" dirty="0"/>
          </a:p>
        </p:txBody>
      </p:sp>
      <p:sp>
        <p:nvSpPr>
          <p:cNvPr id="10" name="Text 8"/>
          <p:cNvSpPr txBox="1"/>
          <p:nvPr/>
        </p:nvSpPr>
        <p:spPr>
          <a:xfrm>
            <a:off x="548640" y="44714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4453128"/>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Change the starting row in init and the colour of the head</a:t>
            </a:r>
            <a:endParaRPr lang="en-US" sz="2400" dirty="0"/>
          </a:p>
        </p:txBody>
      </p:sp>
      <p:sp>
        <p:nvSpPr>
          <p:cNvPr id="12" name="Shape 10"/>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3" name="Text 11"/>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4" name="Text 12"/>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The head crosses the forty columns in 256 frames, about eight and a half seconds at thirty frames per second, for ever.</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the listing shows: your code, as the assembler left it</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250" dirty="0">
                <a:solidFill>
                  <a:srgbClr val="E6EDF2"/>
                </a:solidFill>
                <a:latin typeface="Courier New" pitchFamily="34" charset="0"/>
                <a:ea typeface="Courier New" pitchFamily="34" charset="-122"/>
                <a:cs typeface="Courier New" pitchFamily="34" charset="-120"/>
              </a:rPr>
              <a:t>verm1_update: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auipc   t0, 0x0          # la t0, step_q8   is two instructions: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addi    t0, t0, ...      #   t0 = address of step_q8</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lw      t1, 0(t0)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addi    t1, t1, 40       # SPEED_Q8 is gone: only the number is left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addi    t2, zero, 256    # li t2, 256</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blt     t1, t2,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sub     t1, t1, t2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sw      t1, 0(t0)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c.addi  t3, 1            # addi t3, t3, 1 in a 16-bit form</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c.jr    ra               # ret</a:t>
            </a:r>
            <a:endParaRPr lang="en-US" sz="12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Names are gone: labels became addresses, constants became numbers</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Pseudo-instructions are expanded: la is auipc plus addi, li is addi from zero, ret is a jump to ra</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Some instructions start with c.: the compressed 16-bit forms of the same instructions</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loaded at address 0x40800000: every address you see starts there</a:t>
            </a:r>
            <a:endParaRPr lang="en-US" sz="1200" dirty="0"/>
          </a:p>
        </p:txBody>
      </p:sp>
      <p:sp>
        <p:nvSpPr>
          <p:cNvPr id="17" name="Shape 15"/>
          <p:cNvSpPr/>
          <p:nvPr/>
        </p:nvSpPr>
        <p:spPr>
          <a:xfrm>
            <a:off x="7283272" y="91440"/>
            <a:ext cx="4359783" cy="274320"/>
          </a:xfrm>
          <a:prstGeom prst="rect">
            <a:avLst/>
          </a:prstGeom>
          <a:solidFill>
            <a:srgbClr val="F3E8FF"/>
          </a:solidFill>
          <a:ln w="12700">
            <a:solidFill>
              <a:srgbClr val="7E22CE"/>
            </a:solidFill>
            <a:prstDash val="dash"/>
          </a:ln>
        </p:spPr>
      </p:sp>
      <p:sp>
        <p:nvSpPr>
          <p:cNvPr id="18" name="Shape 16"/>
          <p:cNvSpPr/>
          <p:nvPr/>
        </p:nvSpPr>
        <p:spPr>
          <a:xfrm>
            <a:off x="7310704" y="128016"/>
            <a:ext cx="45720" cy="45720"/>
          </a:xfrm>
          <a:prstGeom prst="rect">
            <a:avLst/>
          </a:prstGeom>
          <a:solidFill>
            <a:srgbClr val="7E22CE"/>
          </a:solidFill>
          <a:ln w="12700">
            <a:solidFill>
              <a:srgbClr val="7E22CE"/>
            </a:solidFill>
            <a:prstDash val="solid"/>
          </a:ln>
        </p:spPr>
      </p:sp>
      <p:sp>
        <p:nvSpPr>
          <p:cNvPr id="19" name="Shape 17"/>
          <p:cNvSpPr/>
          <p:nvPr/>
        </p:nvSpPr>
        <p:spPr>
          <a:xfrm>
            <a:off x="7310704" y="205740"/>
            <a:ext cx="45720" cy="45720"/>
          </a:xfrm>
          <a:prstGeom prst="rect">
            <a:avLst/>
          </a:prstGeom>
          <a:solidFill>
            <a:srgbClr val="7E22CE"/>
          </a:solidFill>
          <a:ln w="12700">
            <a:solidFill>
              <a:srgbClr val="7E22CE"/>
            </a:solidFill>
            <a:prstDash val="solid"/>
          </a:ln>
        </p:spPr>
      </p:sp>
      <p:sp>
        <p:nvSpPr>
          <p:cNvPr id="20" name="Shape 18"/>
          <p:cNvSpPr/>
          <p:nvPr/>
        </p:nvSpPr>
        <p:spPr>
          <a:xfrm>
            <a:off x="7310704" y="283464"/>
            <a:ext cx="45720" cy="45720"/>
          </a:xfrm>
          <a:prstGeom prst="rect">
            <a:avLst/>
          </a:prstGeom>
          <a:solidFill>
            <a:srgbClr val="7E22CE"/>
          </a:solidFill>
          <a:ln w="12700">
            <a:solidFill>
              <a:srgbClr val="7E22CE"/>
            </a:solidFill>
            <a:prstDash val="solid"/>
          </a:ln>
        </p:spPr>
      </p:sp>
      <p:pic>
        <p:nvPicPr>
          <p:cNvPr id="21" name="Image 0" descr="preencoded.png">    </p:cNvPr>
          <p:cNvPicPr>
            <a:picLocks noChangeAspect="1"/>
          </p:cNvPicPr>
          <p:nvPr/>
        </p:nvPicPr>
        <p:blipFill>
          <a:blip r:embed="rId1"/>
          <a:stretch>
            <a:fillRect/>
          </a:stretch>
        </p:blipFill>
        <p:spPr>
          <a:xfrm>
            <a:off x="7411288" y="128016"/>
            <a:ext cx="201168" cy="201168"/>
          </a:xfrm>
          <a:prstGeom prst="rect">
            <a:avLst/>
          </a:prstGeom>
        </p:spPr>
      </p:pic>
      <p:sp>
        <p:nvSpPr>
          <p:cNvPr id="22" name="Text 19"/>
          <p:cNvSpPr txBox="1"/>
          <p:nvPr/>
        </p:nvSpPr>
        <p:spPr>
          <a:xfrm>
            <a:off x="7667320" y="91440"/>
            <a:ext cx="3939159"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pPr indent="0" marL="0">
              <a:buNone/>
            </a:pPr>
            <a:r>
              <a:rPr lang="en-US" sz="1100" dirty="0">
                <a:solidFill>
                  <a:srgbClr val="6B21A8"/>
                </a:solidFill>
                <a:latin typeface="Calibri" pitchFamily="34" charset="0"/>
                <a:ea typeface="Calibri" pitchFamily="34" charset="-122"/>
                <a:cs typeface="Calibri" pitchFamily="34" charset="-120"/>
              </a:rPr>
              <a:t> · instruction formats</a:t>
            </a:r>
            <a:pPr indent="0" marL="0">
              <a:buNone/>
            </a:pPr>
            <a:r>
              <a:rPr lang="en-US" sz="1100" b="1" dirty="0">
                <a:solidFill>
                  <a:srgbClr val="6B21A8"/>
                </a:solidFill>
                <a:latin typeface="Calibri" pitchFamily="34" charset="0"/>
                <a:ea typeface="Calibri" pitchFamily="34" charset="-122"/>
                <a:cs typeface="Calibri" pitchFamily="34" charset="-120"/>
              </a:rPr>
              <a:t> → Lecture 19</a:t>
            </a:r>
            <a:endParaRPr lang="en-US" sz="1100" dirty="0"/>
          </a:p>
        </p:txBody>
      </p:sp>
      <p:sp>
        <p:nvSpPr>
          <p:cNvPr id="23" name="Shape 20"/>
          <p:cNvSpPr/>
          <p:nvPr/>
        </p:nvSpPr>
        <p:spPr>
          <a:xfrm>
            <a:off x="3949522" y="91440"/>
            <a:ext cx="3224022" cy="274320"/>
          </a:xfrm>
          <a:prstGeom prst="rect">
            <a:avLst/>
          </a:prstGeom>
          <a:solidFill>
            <a:srgbClr val="E0F2FE"/>
          </a:solidFill>
          <a:ln w="12700">
            <a:solidFill>
              <a:srgbClr val="0369A1"/>
            </a:solidFill>
            <a:prstDash val="solid"/>
          </a:ln>
        </p:spPr>
      </p:sp>
      <p:sp>
        <p:nvSpPr>
          <p:cNvPr id="24" name="Shape 21"/>
          <p:cNvSpPr/>
          <p:nvPr/>
        </p:nvSpPr>
        <p:spPr>
          <a:xfrm>
            <a:off x="3949522" y="91440"/>
            <a:ext cx="73152" cy="274320"/>
          </a:xfrm>
          <a:prstGeom prst="rect">
            <a:avLst/>
          </a:prstGeom>
          <a:solidFill>
            <a:srgbClr val="0369A1"/>
          </a:solidFill>
          <a:ln w="12700">
            <a:solidFill>
              <a:srgbClr val="0369A1"/>
            </a:solidFill>
            <a:prstDash val="solid"/>
          </a:ln>
        </p:spPr>
      </p:sp>
      <p:pic>
        <p:nvPicPr>
          <p:cNvPr id="25" name="Image 1" descr="preencoded.png">    </p:cNvPr>
          <p:cNvPicPr>
            <a:picLocks noChangeAspect="1"/>
          </p:cNvPicPr>
          <p:nvPr/>
        </p:nvPicPr>
        <p:blipFill>
          <a:blip r:embed="rId2"/>
          <a:stretch>
            <a:fillRect/>
          </a:stretch>
        </p:blipFill>
        <p:spPr>
          <a:xfrm>
            <a:off x="4077538" y="128016"/>
            <a:ext cx="201168" cy="201168"/>
          </a:xfrm>
          <a:prstGeom prst="rect">
            <a:avLst/>
          </a:prstGeom>
        </p:spPr>
      </p:pic>
      <p:sp>
        <p:nvSpPr>
          <p:cNvPr id="26" name="Text 22"/>
          <p:cNvSpPr txBox="1"/>
          <p:nvPr/>
        </p:nvSpPr>
        <p:spPr>
          <a:xfrm>
            <a:off x="4333570" y="91440"/>
            <a:ext cx="280339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pseudo-instructions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203530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the word VERM1 at the top left and a green head that crosses the grid from left to right, about five cells per second, and comes back in from column 0.</a:t>
            </a:r>
            <a:endParaRPr lang="en-US" sz="2400" dirty="0"/>
          </a:p>
        </p:txBody>
      </p:sp>
      <p:sp>
        <p:nvSpPr>
          <p:cNvPr id="5" name="Shape 3"/>
          <p:cNvSpPr/>
          <p:nvPr/>
        </p:nvSpPr>
        <p:spPr>
          <a:xfrm>
            <a:off x="548640" y="421462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4092702"/>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nothing: the program runs by itself</a:t>
            </a:r>
            <a:endParaRPr lang="en-US" sz="2400" dirty="0"/>
          </a:p>
        </p:txBody>
      </p:sp>
      <p:pic>
        <p:nvPicPr>
          <p:cNvPr id="7" name="Image 0" descr="/Users/raffaelemontella/devel/riscv-prg32/computer-architecture-with-prg32/tools/assets/verm1_p1.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verm1 --name verm1 --out verm1.prg32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verm1.prg32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verm1 --name verm1 --architecture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verm1-qemu.prg32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verm1-qemu.prg32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verm1 --name verm1 --architecture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verm1-esp32c6.prg32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verm1-esp32c6.prg32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verm1;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9287967" y="91440"/>
            <a:ext cx="2355088" cy="274320"/>
          </a:xfrm>
          <a:prstGeom prst="rect">
            <a:avLst/>
          </a:prstGeom>
          <a:solidFill>
            <a:srgbClr val="FEF3C7"/>
          </a:solidFill>
          <a:ln w="12700">
            <a:solidFill>
              <a:srgbClr val="B45309"/>
            </a:solidFill>
            <a:prstDash val="solid"/>
          </a:ln>
        </p:spPr>
      </p:sp>
      <p:sp>
        <p:nvSpPr>
          <p:cNvPr id="5" name="Shape 2"/>
          <p:cNvSpPr/>
          <p:nvPr/>
        </p:nvSpPr>
        <p:spPr>
          <a:xfrm>
            <a:off x="9287967" y="91440"/>
            <a:ext cx="27432" cy="274320"/>
          </a:xfrm>
          <a:prstGeom prst="rect">
            <a:avLst/>
          </a:prstGeom>
          <a:solidFill>
            <a:srgbClr val="B45309"/>
          </a:solidFill>
          <a:ln w="12700">
            <a:solidFill>
              <a:srgbClr val="B45309"/>
            </a:solidFill>
            <a:prstDash val="solid"/>
          </a:ln>
        </p:spPr>
      </p:sp>
      <p:sp>
        <p:nvSpPr>
          <p:cNvPr id="6" name="Shape 3"/>
          <p:cNvSpPr/>
          <p:nvPr/>
        </p:nvSpPr>
        <p:spPr>
          <a:xfrm>
            <a:off x="9342831"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8" name="Text 4"/>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Make it yours</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Make the head move to the left: which instruction changes, and which comparison detects the edge?</a:t>
            </a:r>
            <a:endParaRPr lang="en-US" sz="2400" dirty="0"/>
          </a:p>
        </p:txBody>
      </p:sp>
      <p:sp>
        <p:nvSpPr>
          <p:cNvPr id="6" name="Text 4"/>
          <p:cNvSpPr txBox="1"/>
          <p:nvPr/>
        </p:nvSpPr>
        <p:spPr>
          <a:xfrm>
            <a:off x="548640" y="24475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429256"/>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Make it move downwards instead, wrapping from row 23 to row 0</a:t>
            </a:r>
            <a:endParaRPr lang="en-US" sz="2400" dirty="0"/>
          </a:p>
        </p:txBody>
      </p:sp>
      <p:sp>
        <p:nvSpPr>
          <p:cNvPr id="8" name="Text 6"/>
          <p:cNvSpPr txBox="1"/>
          <p:nvPr/>
        </p:nvSpPr>
        <p:spPr>
          <a:xfrm>
            <a:off x="548640" y="31546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136392"/>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Draw a second cell, in a darker green, one column behind the head: a first hint of a body</a:t>
            </a:r>
            <a:endParaRPr lang="en-US" sz="2400" dirty="0"/>
          </a:p>
        </p:txBody>
      </p:sp>
      <p:sp>
        <p:nvSpPr>
          <p:cNvPr id="10" name="Text 8"/>
          <p:cNvSpPr txBox="1"/>
          <p:nvPr/>
        </p:nvSpPr>
        <p:spPr>
          <a:xfrm>
            <a:off x="548640" y="4166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4148328"/>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Write your own name next to the title, in a colour you computed by hand in RGB565</a:t>
            </a:r>
            <a:endParaRPr lang="en-US" sz="2400" dirty="0"/>
          </a:p>
        </p:txBody>
      </p:sp>
      <p:sp>
        <p:nvSpPr>
          <p:cNvPr id="12" name="Shape 10"/>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3" name="Text 11"/>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4" name="Text 12"/>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Each change is a few lines. Keep a copy of the working Part 1 before you experiment: Part 2 starts from it.</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Verm1, Part 1: A Head That Crosses the World: the code</dc:title>
  <dc:subject>Lecture 07</dc:subject>
  <dc:creator>Raffaele Montella</dc:creator>
  <cp:lastModifiedBy>Raffaele Montella</cp:lastModifiedBy>
  <cp:revision>1</cp:revision>
  <dcterms:created xsi:type="dcterms:W3CDTF">2026-10-17T07:16:48Z</dcterms:created>
  <dcterms:modified xsi:type="dcterms:W3CDTF">2026-10-17T07:16:48Z</dcterms:modified>
</cp:coreProperties>
</file>