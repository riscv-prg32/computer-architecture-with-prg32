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1e14d7-bec9-4b15-e53f-40b0550b935d}">
          <p14:sldIdLst>
            <p14:sldId id="256"/>
            <p14:sldId id="257"/>
          </p14:sldIdLst>
        </p14:section>
        <p14:section name="Warm-up on the machine" id="{755e8301-9a5f-b52a-0ece-4a1039d10fe2}">
          <p14:sldIdLst>
            <p14:sldId id="258"/>
          </p14:sldIdLst>
        </p14:section>
        <p14:section name="The stack" id="{2badfb4c-fa3d-9bbc-7787-c193148e459a}">
          <p14:sldIdLst>
            <p14:sldId id="259"/>
          </p14:sldIdLst>
        </p14:section>
        <p14:section name="Processor models" id="{d21f434e-cff4-2723-9a29-5108a34fbb42}">
          <p14:sldIdLst>
            <p14:sldId id="260"/>
          </p14:sldIdLst>
        </p14:section>
        <p14:section name="The complete program" id="{193db989-9bcb-15f8-b8be-87a0ba41aa00}">
          <p14:sldIdLst>
            <p14:sldId id="261"/>
            <p14:sldId id="262"/>
            <p14:sldId id="263"/>
            <p14:sldId id="264"/>
          </p14:sldIdLst>
        </p14:section>
        <p14:section name="Run it and test it" id="{a63996e1-903d-2134-a755-f8641d8bebc2}">
          <p14:sldIdLst>
            <p14:sldId id="265"/>
            <p14:sldId id="266"/>
            <p14:sldId id="267"/>
            <p14:sldId id="268"/>
            <p14:sldId id="269"/>
          </p14:sldIdLst>
        </p14:section>
        <p14:section name="Exercises" id="{6b594736-83ac-129e-e1d4-b19512dd285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18.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~/arc12/code/l18.S; tools/tests/cartridges/run.py builds it, runs it on PRG32-QT with scripted input and checks the pixels of the frame.
For the lecturer: Get the code once: git clone https://github.com/riscv-prg32/computer-architecture-with-prg32 ~/arc12. The program of this lecture is ~/arc12/code/l18.S;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To compute z = x + y the program loads x into one register and y into another, adds the two registers into a third, and stores the result in z: seven lines for one sum. Memory is accessed only by lw and sw; arithmetic takes place only between registers. Other processors perform the same task with three instructions, or with one. Why is RISC-V designed in this way? Answering the question requires first a model of what a processor is, and then a comparison of the different ways of building one, which is the plan of the lecture.
UNDERSTAND NOW: accumulator, stack, registers.
For the lecturer: The load-modify-store cycle of Lecture 02, now seen as a design choice. Keep the three addresses in mind: the same computation returns in the comparison of the processor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the stack pointer sp holds the address of the last occupied location, and the stack grows towards lower addresses. A push takes two instructions: subtract 4 from sp, then store at the new top. A pop is the reverse: load from the top, then add 4. The table compares three processors: RISC-V requires two instructions, the 68000 one instruction with a pre-decrement addressing mode, x86 a dedicated instruction. In practice a RISC-V function allocates its entire frame once, sixteen bytes at a time to respect the alignment the calling convention requires, as has been done since Lecture 02.
UNDERSTAND NOW: the stack; the calling convention.
For the lecturer: The values are those drawn in the original deck. RISC-V has no push and pop: a stack frame is allocated once per function, sixteen bytes at a time, and filled with ordinary stores (Lecture 02). The 68000 form MOVE (SP)+, D0 pops with a post-increment.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the warm-up on four machines. The accumulator machine: load x, add y, store z. The stack machine: push x, push y, add, pop z. A register machine with memory operands: move x into a register, add y to it, move the register into z. RISC-V: two loads, a register-to-register add, a store. Three memory accesses occur in every case. What differs is the number of instructions and the work each performs: in RISC-V each instruction does exactly one thing, which is what allows each to be executed quickly and in a pipeline.
UNDERSTAND NOW: accumulator, stack, registers.
For the lecturer: The same three accesses to memory everywhere: what changes is how many instructions there are and how complex each one is. In the register-memory model an instruction such as ADD y, D0 reads memory and computes; in the load-store model every instruction does one thing. Stack machines with the stack in memory are generally slower than general-register machines. lw t1, x is a shorthand the assembler accepts for the la and lw pair of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z = (a + b) - (c + d) for an accumulator machine, a stack machine and RISC-V, counting instructions and memory accesses in each. Write push and pop of two registers while keeping sp a multiple of 16, as the calling convention requires. Classify the registers of one's latest program by function, distinguishing caller-saved from callee-saved. Single-step a call and its return in PRG32-QT, observing pc, ra and sp. And identify the processor of one's own phone or laptop, locating it among the models of the lecture.
For the lecturer: Accumulator: LDA a; ADD b; STA tmp; LDA c; ADD d; STA tmp2; LDA tmp; SUB tmp2; STA z. Stack: PUSH a; PUSH b; ADD; PUSH c; PUSH d; ADD; SUB; POP z. RISC-V: four loads, two adds, one sub, one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18: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code/l18.S, 64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Seven lines for one sum: memory is touched only by lw and sw</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arithmetic happens only between registers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Other processors do the same job with three instructions, or with one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Why is RISC-V made this way? To answer we need a model of the processor</a:t>
            </a:r>
            <a:endParaRPr lang="en-US" sz="1600" dirty="0"/>
          </a:p>
        </p:txBody>
      </p:sp>
      <p:sp>
        <p:nvSpPr>
          <p:cNvPr id="17" name="Shape 15"/>
          <p:cNvSpPr/>
          <p:nvPr/>
        </p:nvSpPr>
        <p:spPr>
          <a:xfrm>
            <a:off x="7762443" y="91440"/>
            <a:ext cx="3880612" cy="274320"/>
          </a:xfrm>
          <a:prstGeom prst="rect">
            <a:avLst/>
          </a:prstGeom>
          <a:solidFill>
            <a:srgbClr val="E0F2FE"/>
          </a:solidFill>
          <a:ln w="12700">
            <a:solidFill>
              <a:srgbClr val="0369A1"/>
            </a:solidFill>
            <a:prstDash val="solid"/>
          </a:ln>
        </p:spPr>
      </p:sp>
      <p:sp>
        <p:nvSpPr>
          <p:cNvPr id="18" name="Shape 16"/>
          <p:cNvSpPr/>
          <p:nvPr/>
        </p:nvSpPr>
        <p:spPr>
          <a:xfrm>
            <a:off x="776244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0" name="Text 17"/>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and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memory</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low addresses</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bottom of the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points to the last occupied location; the stack grows towards low addresses.</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and sw: two instructions</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a pre-decrement addressing mode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a dedicated instruction</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8"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9"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1"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four processors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Memory accesses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Java virtual machine,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plus the stack itself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memory operands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62443" y="91440"/>
            <a:ext cx="3880612" cy="274320"/>
          </a:xfrm>
          <a:prstGeom prst="rect">
            <a:avLst/>
          </a:prstGeom>
          <a:solidFill>
            <a:srgbClr val="E0F2FE"/>
          </a:solidFill>
          <a:ln w="12700">
            <a:solidFill>
              <a:srgbClr val="0369A1"/>
            </a:solidFill>
            <a:prstDash val="solid"/>
          </a:ln>
        </p:spPr>
      </p:sp>
      <p:sp>
        <p:nvSpPr>
          <p:cNvPr id="5" name="Shape 2"/>
          <p:cNvSpPr/>
          <p:nvPr/>
        </p:nvSpPr>
        <p:spPr>
          <a:xfrm>
            <a:off x="776244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7" name="Text 3"/>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18: The Processor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l18.S: z = x + y on a load-store machine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three bars, eight pixels per unit: x = 5 (white), y = 7 (white) and z</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12 (green), computed by the seven instructions of the slide.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l18.S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l18 --name l18 --out l18.prg32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l18_update: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       </a:t>
            </a:r>
            <a:pPr indent="0" marL="0">
              <a:buNone/>
            </a:pPr>
            <a:r>
              <a:rPr lang="en-US" sz="1650" dirty="0">
                <a:solidFill>
                  <a:srgbClr val="8FB3A0"/>
                </a:solidFill>
                <a:latin typeface="Courier New" pitchFamily="34" charset="0"/>
                <a:ea typeface="Courier New" pitchFamily="34" charset="-122"/>
                <a:cs typeface="Courier New" pitchFamily="34" charset="-120"/>
              </a:rPr>
              <a:t># bring x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       </a:t>
            </a:r>
            <a:pPr indent="0" marL="0">
              <a:buNone/>
            </a:pPr>
            <a:r>
              <a:rPr lang="en-US" sz="1650" dirty="0">
                <a:solidFill>
                  <a:srgbClr val="8FB3A0"/>
                </a:solidFill>
                <a:latin typeface="Courier New" pitchFamily="34" charset="0"/>
                <a:ea typeface="Courier New" pitchFamily="34" charset="-122"/>
                <a:cs typeface="Courier New" pitchFamily="34" charset="-120"/>
              </a:rPr>
              <a:t># bring y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  t3, t1, t2      </a:t>
            </a:r>
            <a:pPr indent="0" marL="0">
              <a:buNone/>
            </a:pPr>
            <a:r>
              <a:rPr lang="en-US" sz="1650" dirty="0">
                <a:solidFill>
                  <a:srgbClr val="8FB3A0"/>
                </a:solidFill>
                <a:latin typeface="Courier New" pitchFamily="34" charset="0"/>
                <a:ea typeface="Courier New" pitchFamily="34" charset="-122"/>
                <a:cs typeface="Courier New" pitchFamily="34" charset="-120"/>
              </a:rPr>
              <a:t># compute, between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z</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t3, 0(t0)       </a:t>
            </a:r>
            <a:pPr indent="0" marL="0">
              <a:buNone/>
            </a:pPr>
            <a:r>
              <a:rPr lang="en-US" sz="1650" dirty="0">
                <a:solidFill>
                  <a:srgbClr val="8FB3A0"/>
                </a:solidFill>
                <a:latin typeface="Courier New" pitchFamily="34" charset="0"/>
                <a:ea typeface="Courier New" pitchFamily="34" charset="-122"/>
                <a:cs typeface="Courier New" pitchFamily="34" charset="-120"/>
              </a:rPr>
              <a:t># take the result back to memory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bar: a0 = ADDRESS of a variable, a1 = y of the bar, a4 = colour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bar: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a2, 0(a0)       </a:t>
            </a:r>
            <a:pPr indent="0" marL="0">
              <a:buNone/>
            </a:pPr>
            <a:r>
              <a:rPr lang="en-US" sz="1650" dirty="0">
                <a:solidFill>
                  <a:srgbClr val="8FB3A0"/>
                </a:solidFill>
                <a:latin typeface="Courier New" pitchFamily="34" charset="0"/>
                <a:ea typeface="Courier New" pitchFamily="34" charset="-122"/>
                <a:cs typeface="Courier New" pitchFamily="34" charset="-120"/>
              </a:rPr>
              <a:t># the VALUE of the variable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slli a2, a2, 3       </a:t>
            </a:r>
            <a:pPr indent="0" marL="0">
              <a:buNone/>
            </a:pPr>
            <a:r>
              <a:rPr lang="en-US" sz="1650" dirty="0">
                <a:solidFill>
                  <a:srgbClr val="8FB3A0"/>
                </a:solidFill>
                <a:latin typeface="Courier New" pitchFamily="34" charset="0"/>
                <a:ea typeface="Courier New" pitchFamily="34" charset="-122"/>
                <a:cs typeface="Courier New" pitchFamily="34" charset="-120"/>
              </a:rPr>
              <a:t># width: eight pixels per unit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20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a3,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tail prg32_gfx_rect</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BLACK</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40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72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z</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GREEN</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x: .word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y: .word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z: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three bars, eight pixels per unit: x = 5 (white), y = 7 (white) and z = 12 (green), computed by the seven instructions of the slide.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l18 --out l18.prg32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z = (a + b) - (c + d) for an accumulator machine, a stack machine and RISC-V; count instructions and memory accesses</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push and pop of two registers, t0 and t1, keeping sp a multiple of 16 as the calling convention requires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 each register used in your last PRG32 program, say which function it serves: transit, accumulation, addressing,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single-step a call and its return: watch pc, ra and sp, and the word saved on the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Find in the datasheet of the processor of your phone or laptop: instruction set, number of cores, clock, privilege levels</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PRG32-QT: sp drops by 16 at the prologue and returns at the epilogue; ra holds the address after the call.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 the code</dc:title>
  <dc:subject>Lecture 18</dc:subject>
  <dc:creator>Raffaele Montella</dc:creator>
  <cp:lastModifiedBy>Raffaele Montella</cp:lastModifiedBy>
  <cp:revision>1</cp:revision>
  <dcterms:created xsi:type="dcterms:W3CDTF">2026-10-16T20:22:25Z</dcterms:created>
  <dcterms:modified xsi:type="dcterms:W3CDTF">2026-10-16T20:22:25Z</dcterms:modified>
</cp:coreProperties>
</file>