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4f2270c-63de-eca5-a5d1-7e5600fd6c7b}">
          <p14:sldIdLst>
            <p14:sldId id="256"/>
            <p14:sldId id="257"/>
          </p14:sldIdLst>
        </p14:section>
        <p14:section name="Warm-up on the machine" id="{580d958f-acb2-316c-35b3-be469aa9d905}">
          <p14:sldIdLst>
            <p14:sldId id="258"/>
          </p14:sldIdLst>
        </p14:section>
        <p14:section name="The stack" id="{1d1e836c-f48c-7bf6-632b-ea32017a1926}">
          <p14:sldIdLst>
            <p14:sldId id="259"/>
          </p14:sldIdLst>
        </p14:section>
        <p14:section name="Processor models" id="{bbaad88b-ec72-da8e-3438-42e3bac45b09}">
          <p14:sldIdLst>
            <p14:sldId id="260"/>
          </p14:sldIdLst>
        </p14:section>
        <p14:section name="The complete program" id="{c85b4e2e-f453-4140-6ebb-521d3766510d}">
          <p14:sldIdLst>
            <p14:sldId id="261"/>
            <p14:sldId id="262"/>
            <p14:sldId id="263"/>
            <p14:sldId id="264"/>
          </p14:sldIdLst>
        </p14:section>
        <p14:section name="Run it and test it" id="{1aab2326-f12c-960f-262c-b427dc469129}">
          <p14:sldIdLst>
            <p14:sldId id="265"/>
            <p14:sldId id="266"/>
            <p14:sldId id="267"/>
            <p14:sldId id="268"/>
            <p14:sldId id="269"/>
          </p14:sldIdLst>
        </p14:section>
        <p14:section name="Exercises" id="{c1a8edee-029a-83b2-5abb-d6c177c5a1bd}">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18.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accumulator, stack, registers; the processor model; the registers of RISC-V; the calling convention; the stack; the RV32 processor. USE NOW: the complete program, the PRG32 tools (used, not studied, in this course). UNDERSTAND LATER: interrupts and traps (Lecture 19).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~/arc12/code/l18.S; tools/tests/cartridges/run.py builds it, runs it on PRG32-QT with scripted input and checks the pixels of the frame.
For the lecturer: Get the code once: git clone https://github.com/riscv-prg32/computer-architecture-with-prg32 ~/arc12. The program of this lecture is ~/arc12/code/l18.S;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warm-up. To compute z = x + y the program loads x into one register and y into another, adds the two registers into a third, and stores the result in z: seven lines for one sum. Memory is accessed only by lw and sw; arithmetic takes place only between registers. Other processors perform the same task with three instructions, or with one. Why is RISC-V designed in this way? Answering the question requires first a model of what a processor is, and then a comparison of the different ways of building one, which is the plan of the lecture.
UNDERSTAND NOW: accumulator, stack, registers.
For the lecturer: The load-modify-store cycle of Lecture 02, now seen as a design choice. Keep the three addresses in mind: the same computation returns in the comparison of the processor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RISC-V the stack pointer sp holds the address of the last occupied location, and the stack grows towards lower addresses. A push takes two instructions: subtract 4 from sp, then store at the new top. A pop is the reverse: load from the top, then add 4. The table compares three processors: RISC-V requires two instructions, the 68000 one instruction with a pre-decrement addressing mode, x86 a dedicated instruction. In practice a RISC-V function allocates its entire frame once, sixteen bytes at a time to respect the alignment the calling convention requires, as has been done since Lecture 02.
UNDERSTAND NOW: the stack; the calling convention.
For the lecturer: The values are those drawn in the original deck. RISC-V has no push and pop: a stack frame is allocated once per function, sixteen bytes at a time, and filled with ordinary stores (Lecture 02). The 68000 form MOVE (SP)+, D0 pops with a post-increment.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sum of the warm-up on four machines. The accumulator machine: load x, add y, store z. The stack machine: push x, push y, add, pop z. A register machine with memory operands: move x into a register, add y to it, move the register into z. RISC-V: two loads, a register-to-register add, a store. Three memory accesses occur in every case. What differs is the number of instructions and the work each performs: in RISC-V each instruction does exactly one thing, which is what allows each to be executed quickly and in a pipeline.
UNDERSTAND NOW: accumulator, stack, registers.
For the lecturer: The same three accesses to memory everywhere: what changes is how many instructions there are and how complex each one is. In the register-memory model an instruction such as ADD y, D0 reads memory and computes; in the load-store model every instruction does one thing. Stack machines with the stack in memory are generally slower than general-register machines. lw t1, x is a shorthand the assembler accepts for the la and lw pair of the warm-up.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Write z = (a + b) - (c + d) for an accumulator machine, a stack machine and RISC-V, counting instructions and memory accesses in each. Write push and pop of two registers while keeping sp a multiple of 16, as the calling convention requires. Classify the registers of one's latest program by function, distinguishing caller-saved from callee-saved. Single-step a call and its return in PRG32-QT, observing pc, ra and sp. And identify the processor of one's own phone or laptop, locating it among the models of the lecture.
For the lecturer: Accumulator: LDA a; ADD b; STA tmp; LDA c; ADD d; STA tmp2; LDA tmp; SUB tmp2; STA z. Stack: PUSH a; PUSH b; ADD; PUSH c; PUSH d; ADD; SUB; POP z. RISC-V: four loads, two adds, one sub, one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18: The processor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18</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The Processor: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18-Computer_Architecture-Processor.pptx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prg32qt_debugger.png">    </p:cNvPr>
          <p:cNvPicPr>
            <a:picLocks noChangeAspect="1"/>
          </p:cNvPicPr>
          <p:nvPr/>
        </p:nvPicPr>
        <p:blipFill>
          <a:blip r:embed="rId1"/>
          <a:stretch>
            <a:fillRect/>
          </a:stretch>
        </p:blipFill>
        <p:spPr>
          <a:xfrm>
            <a:off x="8810277" y="4251960"/>
            <a:ext cx="2648036" cy="182880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listing of Lecture 18: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code/l18.S, 64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z = x + y</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    la   t0, x</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lw   t1, 0(t0)       </a:t>
            </a:r>
            <a:pPr indent="0" marL="0">
              <a:buNone/>
            </a:pPr>
            <a:r>
              <a:rPr lang="en-US" sz="1550" dirty="0">
                <a:solidFill>
                  <a:srgbClr val="8FB3A0"/>
                </a:solidFill>
                <a:latin typeface="Courier New" pitchFamily="34" charset="0"/>
                <a:ea typeface="Courier New" pitchFamily="34" charset="-122"/>
                <a:cs typeface="Courier New" pitchFamily="34" charset="-120"/>
              </a:rPr>
              <a:t># bring x into a register</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la   t0, y</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lw   t2, 0(t0)       </a:t>
            </a:r>
            <a:pPr indent="0" marL="0">
              <a:buNone/>
            </a:pPr>
            <a:r>
              <a:rPr lang="en-US" sz="1550" dirty="0">
                <a:solidFill>
                  <a:srgbClr val="8FB3A0"/>
                </a:solidFill>
                <a:latin typeface="Courier New" pitchFamily="34" charset="0"/>
                <a:ea typeface="Courier New" pitchFamily="34" charset="-122"/>
                <a:cs typeface="Courier New" pitchFamily="34" charset="-120"/>
              </a:rPr>
              <a:t># bring y into a register</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  t3, t1, t2      </a:t>
            </a:r>
            <a:pPr indent="0" marL="0">
              <a:buNone/>
            </a:pPr>
            <a:r>
              <a:rPr lang="en-US" sz="1550" dirty="0">
                <a:solidFill>
                  <a:srgbClr val="8FB3A0"/>
                </a:solidFill>
                <a:latin typeface="Courier New" pitchFamily="34" charset="0"/>
                <a:ea typeface="Courier New" pitchFamily="34" charset="-122"/>
                <a:cs typeface="Courier New" pitchFamily="34" charset="-120"/>
              </a:rPr>
              <a:t># compute, between registers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la   t0, z</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sw   t3, 0(t0)       </a:t>
            </a:r>
            <a:pPr indent="0" marL="0">
              <a:buNone/>
            </a:pPr>
            <a:r>
              <a:rPr lang="en-US" sz="1550" dirty="0">
                <a:solidFill>
                  <a:srgbClr val="8FB3A0"/>
                </a:solidFill>
                <a:latin typeface="Courier New" pitchFamily="34" charset="0"/>
                <a:ea typeface="Courier New" pitchFamily="34" charset="-122"/>
                <a:cs typeface="Courier New" pitchFamily="34" charset="-120"/>
              </a:rPr>
              <a:t># take the result back to memory</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.section .data</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x: .word 5</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y: .word 7</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z: .word 0</a:t>
            </a:r>
            <a:endParaRPr lang="en-US" sz="15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Seven lines for one sum: memory is touched only by lw and sw</a:t>
            </a:r>
            <a:endParaRPr lang="en-US" sz="16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arithmetic happens only between registers</a:t>
            </a:r>
            <a:endParaRPr lang="en-US" sz="16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Other processors do the same job with three instructions, or with one</a:t>
            </a:r>
            <a:endParaRPr lang="en-US" sz="16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Why is RISC-V made this way? To answer we need a model of the processor</a:t>
            </a:r>
            <a:endParaRPr lang="en-US" sz="1600" dirty="0"/>
          </a:p>
        </p:txBody>
      </p:sp>
      <p:sp>
        <p:nvSpPr>
          <p:cNvPr id="17" name="Shape 15"/>
          <p:cNvSpPr/>
          <p:nvPr/>
        </p:nvSpPr>
        <p:spPr>
          <a:xfrm>
            <a:off x="7762443" y="91440"/>
            <a:ext cx="3880612" cy="274320"/>
          </a:xfrm>
          <a:prstGeom prst="rect">
            <a:avLst/>
          </a:prstGeom>
          <a:solidFill>
            <a:srgbClr val="E0F2FE"/>
          </a:solidFill>
          <a:ln w="12700">
            <a:solidFill>
              <a:srgbClr val="0369A1"/>
            </a:solidFill>
            <a:prstDash val="solid"/>
          </a:ln>
        </p:spPr>
      </p:sp>
      <p:sp>
        <p:nvSpPr>
          <p:cNvPr id="18" name="Shape 16"/>
          <p:cNvSpPr/>
          <p:nvPr/>
        </p:nvSpPr>
        <p:spPr>
          <a:xfrm>
            <a:off x="7762443"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890459" y="128016"/>
            <a:ext cx="201168" cy="201168"/>
          </a:xfrm>
          <a:prstGeom prst="rect">
            <a:avLst/>
          </a:prstGeom>
        </p:spPr>
      </p:pic>
      <p:sp>
        <p:nvSpPr>
          <p:cNvPr id="20" name="Text 17"/>
          <p:cNvSpPr txBox="1"/>
          <p:nvPr/>
        </p:nvSpPr>
        <p:spPr>
          <a:xfrm>
            <a:off x="8146491" y="91440"/>
            <a:ext cx="345998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accumulator, stack, registers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Push and pop in RISC-V</a:t>
            </a:r>
            <a:endParaRPr lang="en-US" sz="3200" dirty="0"/>
          </a:p>
        </p:txBody>
      </p:sp>
      <p:sp>
        <p:nvSpPr>
          <p:cNvPr id="3" name="Text 1"/>
          <p:cNvSpPr txBox="1"/>
          <p:nvPr/>
        </p:nvSpPr>
        <p:spPr>
          <a:xfrm>
            <a:off x="1920240" y="1399032"/>
            <a:ext cx="2194560" cy="274320"/>
          </a:xfrm>
          <a:prstGeom prst="rect">
            <a:avLst/>
          </a:prstGeom>
          <a:noFill/>
          <a:ln/>
        </p:spPr>
        <p:txBody>
          <a:bodyPr wrap="square" lIns="0" tIns="0" rIns="0" bIns="0" rtlCol="0" anchor="t"/>
          <a:lstStyle/>
          <a:p>
            <a:pPr algn="ctr" indent="0" marL="0">
              <a:buNone/>
            </a:pPr>
            <a:r>
              <a:rPr lang="en-US" sz="1300" b="1" dirty="0">
                <a:solidFill>
                  <a:srgbClr val="2E4A62"/>
                </a:solidFill>
                <a:latin typeface="Calibri" pitchFamily="34" charset="0"/>
                <a:ea typeface="Calibri" pitchFamily="34" charset="-122"/>
                <a:cs typeface="Calibri" pitchFamily="34" charset="-120"/>
              </a:rPr>
              <a:t>memory</a:t>
            </a:r>
            <a:endParaRPr lang="en-US" sz="1300" dirty="0"/>
          </a:p>
        </p:txBody>
      </p:sp>
      <p:sp>
        <p:nvSpPr>
          <p:cNvPr id="4" name="Text 2"/>
          <p:cNvSpPr txBox="1"/>
          <p:nvPr/>
        </p:nvSpPr>
        <p:spPr>
          <a:xfrm>
            <a:off x="4251960" y="1828800"/>
            <a:ext cx="1463040" cy="530352"/>
          </a:xfrm>
          <a:prstGeom prst="rect">
            <a:avLst/>
          </a:prstGeom>
          <a:noFill/>
          <a:ln/>
        </p:spPr>
        <p:txBody>
          <a:bodyPr wrap="square" lIns="0" tIns="0" rIns="0" bIns="0" rtlCol="0" anchor="ctr"/>
          <a:lstStyle/>
          <a:p>
            <a:pPr indent="0" marL="0">
              <a:buNone/>
            </a:pPr>
            <a:r>
              <a:rPr lang="en-US" sz="1150" i="1" dirty="0">
                <a:solidFill>
                  <a:srgbClr val="5B6B78"/>
                </a:solidFill>
                <a:latin typeface="Calibri" pitchFamily="34" charset="0"/>
                <a:ea typeface="Calibri" pitchFamily="34" charset="-122"/>
                <a:cs typeface="Calibri" pitchFamily="34" charset="-120"/>
              </a:rPr>
              <a:t>low addresses</a:t>
            </a:r>
            <a:endParaRPr lang="en-US" sz="1150" dirty="0"/>
          </a:p>
        </p:txBody>
      </p:sp>
      <p:sp>
        <p:nvSpPr>
          <p:cNvPr id="5" name="Text 3"/>
          <p:cNvSpPr txBox="1"/>
          <p:nvPr/>
        </p:nvSpPr>
        <p:spPr>
          <a:xfrm>
            <a:off x="1920240" y="1828800"/>
            <a:ext cx="2194560" cy="530352"/>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500" b="1" dirty="0">
                <a:solidFill>
                  <a:srgbClr val="5B6B78"/>
                </a:solidFill>
                <a:latin typeface="Courier New" pitchFamily="34" charset="0"/>
                <a:ea typeface="Courier New" pitchFamily="34" charset="-122"/>
                <a:cs typeface="Courier New" pitchFamily="34" charset="-120"/>
              </a:rPr>
              <a:t>(free)</a:t>
            </a:r>
            <a:endParaRPr lang="en-US" sz="1500" dirty="0"/>
          </a:p>
        </p:txBody>
      </p:sp>
      <p:sp>
        <p:nvSpPr>
          <p:cNvPr id="6" name="Text 4"/>
          <p:cNvSpPr txBox="1"/>
          <p:nvPr/>
        </p:nvSpPr>
        <p:spPr>
          <a:xfrm>
            <a:off x="1920240" y="2359152"/>
            <a:ext cx="2194560" cy="530352"/>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500" b="1" dirty="0">
                <a:solidFill>
                  <a:srgbClr val="5B6B78"/>
                </a:solidFill>
                <a:latin typeface="Courier New" pitchFamily="34" charset="0"/>
                <a:ea typeface="Courier New" pitchFamily="34" charset="-122"/>
                <a:cs typeface="Courier New" pitchFamily="34" charset="-120"/>
              </a:rPr>
              <a:t>(free)</a:t>
            </a:r>
            <a:endParaRPr lang="en-US" sz="1500" dirty="0"/>
          </a:p>
        </p:txBody>
      </p:sp>
      <p:sp>
        <p:nvSpPr>
          <p:cNvPr id="7" name="Text 5"/>
          <p:cNvSpPr txBox="1"/>
          <p:nvPr/>
        </p:nvSpPr>
        <p:spPr>
          <a:xfrm>
            <a:off x="1920240" y="2889504"/>
            <a:ext cx="2194560" cy="530352"/>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-28</a:t>
            </a:r>
            <a:endParaRPr lang="en-US" sz="1500" dirty="0"/>
          </a:p>
        </p:txBody>
      </p:sp>
      <p:sp>
        <p:nvSpPr>
          <p:cNvPr id="8" name="Text 6"/>
          <p:cNvSpPr txBox="1"/>
          <p:nvPr/>
        </p:nvSpPr>
        <p:spPr>
          <a:xfrm>
            <a:off x="1920240" y="3419856"/>
            <a:ext cx="2194560" cy="530352"/>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-17</a:t>
            </a:r>
            <a:endParaRPr lang="en-US" sz="1500" dirty="0"/>
          </a:p>
        </p:txBody>
      </p:sp>
      <p:sp>
        <p:nvSpPr>
          <p:cNvPr id="9" name="Text 7"/>
          <p:cNvSpPr txBox="1"/>
          <p:nvPr/>
        </p:nvSpPr>
        <p:spPr>
          <a:xfrm>
            <a:off x="1920240" y="3950208"/>
            <a:ext cx="2194560" cy="530352"/>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739</a:t>
            </a:r>
            <a:endParaRPr lang="en-US" sz="1500" dirty="0"/>
          </a:p>
        </p:txBody>
      </p:sp>
      <p:sp>
        <p:nvSpPr>
          <p:cNvPr id="10" name="Text 8"/>
          <p:cNvSpPr txBox="1"/>
          <p:nvPr/>
        </p:nvSpPr>
        <p:spPr>
          <a:xfrm>
            <a:off x="1920240" y="4480560"/>
            <a:ext cx="2194560" cy="530352"/>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43</a:t>
            </a:r>
            <a:endParaRPr lang="en-US" sz="1500" dirty="0"/>
          </a:p>
        </p:txBody>
      </p:sp>
      <p:sp>
        <p:nvSpPr>
          <p:cNvPr id="11" name="Text 9"/>
          <p:cNvSpPr txBox="1"/>
          <p:nvPr/>
        </p:nvSpPr>
        <p:spPr>
          <a:xfrm>
            <a:off x="4251960" y="4480560"/>
            <a:ext cx="1828800" cy="530352"/>
          </a:xfrm>
          <a:prstGeom prst="rect">
            <a:avLst/>
          </a:prstGeom>
          <a:noFill/>
          <a:ln/>
        </p:spPr>
        <p:txBody>
          <a:bodyPr wrap="square" lIns="0" tIns="0" rIns="0" bIns="0" rtlCol="0" anchor="ctr"/>
          <a:lstStyle/>
          <a:p>
            <a:pPr indent="0" marL="0">
              <a:buNone/>
            </a:pPr>
            <a:r>
              <a:rPr lang="en-US" sz="1150" i="1" dirty="0">
                <a:solidFill>
                  <a:srgbClr val="5B6B78"/>
                </a:solidFill>
                <a:latin typeface="Calibri" pitchFamily="34" charset="0"/>
                <a:ea typeface="Calibri" pitchFamily="34" charset="-122"/>
                <a:cs typeface="Calibri" pitchFamily="34" charset="-120"/>
              </a:rPr>
              <a:t>bottom of the stack</a:t>
            </a:r>
            <a:endParaRPr lang="en-US" sz="1150" dirty="0"/>
          </a:p>
        </p:txBody>
      </p:sp>
      <p:sp>
        <p:nvSpPr>
          <p:cNvPr id="12" name="Shape 10"/>
          <p:cNvSpPr/>
          <p:nvPr/>
        </p:nvSpPr>
        <p:spPr>
          <a:xfrm>
            <a:off x="1097280" y="3154680"/>
            <a:ext cx="777240" cy="0"/>
          </a:xfrm>
          <a:prstGeom prst="line">
            <a:avLst/>
          </a:prstGeom>
          <a:noFill/>
          <a:ln w="28575">
            <a:solidFill>
              <a:srgbClr val="B23A48"/>
            </a:solidFill>
            <a:prstDash val="solid"/>
            <a:tailEnd type="triangle"/>
          </a:ln>
        </p:spPr>
      </p:sp>
      <p:sp>
        <p:nvSpPr>
          <p:cNvPr id="13" name="Text 11"/>
          <p:cNvSpPr txBox="1"/>
          <p:nvPr/>
        </p:nvSpPr>
        <p:spPr>
          <a:xfrm>
            <a:off x="548640" y="2889504"/>
            <a:ext cx="502920" cy="530352"/>
          </a:xfrm>
          <a:prstGeom prst="rect">
            <a:avLst/>
          </a:prstGeom>
          <a:noFill/>
          <a:ln/>
        </p:spPr>
        <p:txBody>
          <a:bodyPr wrap="square" lIns="0" tIns="0" rIns="0" bIns="0" rtlCol="0" anchor="ctr"/>
          <a:lstStyle/>
          <a:p>
            <a:pPr algn="r" indent="0" marL="0">
              <a:buNone/>
            </a:pPr>
            <a:r>
              <a:rPr lang="en-US" sz="1800" b="1" dirty="0">
                <a:solidFill>
                  <a:srgbClr val="B23A48"/>
                </a:solidFill>
                <a:latin typeface="Courier New" pitchFamily="34" charset="0"/>
                <a:ea typeface="Courier New" pitchFamily="34" charset="-122"/>
                <a:cs typeface="Courier New" pitchFamily="34" charset="-120"/>
              </a:rPr>
              <a:t>sp</a:t>
            </a:r>
            <a:endParaRPr lang="en-US" sz="1800" dirty="0"/>
          </a:p>
        </p:txBody>
      </p:sp>
      <p:sp>
        <p:nvSpPr>
          <p:cNvPr id="14" name="Text 12"/>
          <p:cNvSpPr txBox="1"/>
          <p:nvPr/>
        </p:nvSpPr>
        <p:spPr>
          <a:xfrm>
            <a:off x="548640" y="5148072"/>
            <a:ext cx="5120640" cy="640080"/>
          </a:xfrm>
          <a:prstGeom prst="rect">
            <a:avLst/>
          </a:prstGeom>
          <a:noFill/>
          <a:ln/>
        </p:spPr>
        <p:txBody>
          <a:bodyPr wrap="square" lIns="0" tIns="0" rIns="0" bIns="0" rtlCol="0" anchor="t"/>
          <a:lstStyle/>
          <a:p>
            <a:pPr indent="0" marL="0">
              <a:buNone/>
            </a:pPr>
            <a:r>
              <a:rPr lang="en-US" sz="1400" dirty="0">
                <a:solidFill>
                  <a:srgbClr val="1B2530"/>
                </a:solidFill>
                <a:latin typeface="Calibri" pitchFamily="34" charset="0"/>
                <a:ea typeface="Calibri" pitchFamily="34" charset="-122"/>
                <a:cs typeface="Calibri" pitchFamily="34" charset="-120"/>
              </a:rPr>
              <a:t>sp points to the last occupied location; the stack grows towards low addresses.</a:t>
            </a:r>
            <a:endParaRPr lang="en-US" sz="1400" dirty="0"/>
          </a:p>
        </p:txBody>
      </p:sp>
      <p:sp>
        <p:nvSpPr>
          <p:cNvPr id="15" name="Shape 13"/>
          <p:cNvSpPr/>
          <p:nvPr/>
        </p:nvSpPr>
        <p:spPr>
          <a:xfrm>
            <a:off x="6035040" y="1417320"/>
            <a:ext cx="5608015" cy="2743200"/>
          </a:xfrm>
          <a:prstGeom prst="roundRect">
            <a:avLst>
              <a:gd name="adj" fmla="val 2667"/>
            </a:avLst>
          </a:prstGeom>
          <a:solidFill>
            <a:srgbClr val="12202B"/>
          </a:solidFill>
          <a:ln w="12700">
            <a:solidFill>
              <a:srgbClr val="12202B"/>
            </a:solidFill>
            <a:prstDash val="solid"/>
          </a:ln>
        </p:spPr>
      </p:sp>
      <p:sp>
        <p:nvSpPr>
          <p:cNvPr id="16" name="Text 14"/>
          <p:cNvSpPr txBox="1"/>
          <p:nvPr/>
        </p:nvSpPr>
        <p:spPr>
          <a:xfrm>
            <a:off x="6263640" y="1600200"/>
            <a:ext cx="5150815" cy="2377440"/>
          </a:xfrm>
          <a:prstGeom prst="rect">
            <a:avLst/>
          </a:prstGeom>
          <a:noFill/>
          <a:ln/>
        </p:spPr>
        <p:txBody>
          <a:bodyPr wrap="square" lIns="0" tIns="0" rIns="0" bIns="0" rtlCol="0" anchor="t"/>
          <a:lstStyle/>
          <a:p>
            <a:pPr indent="0" marL="0">
              <a:buNone/>
            </a:pPr>
            <a:r>
              <a:rPr lang="en-US" sz="1600" dirty="0">
                <a:solidFill>
                  <a:srgbClr val="8FB3A0"/>
                </a:solidFill>
                <a:latin typeface="Courier New" pitchFamily="34" charset="0"/>
                <a:ea typeface="Courier New" pitchFamily="34" charset="-122"/>
                <a:cs typeface="Courier New" pitchFamily="34" charset="-120"/>
              </a:rPr>
              <a:t># push t0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addi sp, sp, -4      </a:t>
            </a:r>
            <a:pPr indent="0" marL="0">
              <a:buNone/>
            </a:pPr>
            <a:r>
              <a:rPr lang="en-US" sz="1600" dirty="0">
                <a:solidFill>
                  <a:srgbClr val="8FB3A0"/>
                </a:solidFill>
                <a:latin typeface="Courier New" pitchFamily="34" charset="0"/>
                <a:ea typeface="Courier New" pitchFamily="34" charset="-122"/>
                <a:cs typeface="Courier New" pitchFamily="34" charset="-120"/>
              </a:rPr>
              <a:t># make room</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sw   t0, 0(sp)       </a:t>
            </a:r>
            <a:pPr indent="0" marL="0">
              <a:buNone/>
            </a:pPr>
            <a:r>
              <a:rPr lang="en-US" sz="1600" dirty="0">
                <a:solidFill>
                  <a:srgbClr val="8FB3A0"/>
                </a:solidFill>
                <a:latin typeface="Courier New" pitchFamily="34" charset="0"/>
                <a:ea typeface="Courier New" pitchFamily="34" charset="-122"/>
                <a:cs typeface="Courier New" pitchFamily="34" charset="-120"/>
              </a:rPr>
              <a:t># store on top</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pop t0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lw   t0, 0(sp)       </a:t>
            </a:r>
            <a:pPr indent="0" marL="0">
              <a:buNone/>
            </a:pPr>
            <a:r>
              <a:rPr lang="en-US" sz="1600" dirty="0">
                <a:solidFill>
                  <a:srgbClr val="8FB3A0"/>
                </a:solidFill>
                <a:latin typeface="Courier New" pitchFamily="34" charset="0"/>
                <a:ea typeface="Courier New" pitchFamily="34" charset="-122"/>
                <a:cs typeface="Courier New" pitchFamily="34" charset="-120"/>
              </a:rPr>
              <a:t># fetch the top</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addi sp, sp, 4       </a:t>
            </a:r>
            <a:pPr indent="0" marL="0">
              <a:buNone/>
            </a:pPr>
            <a:r>
              <a:rPr lang="en-US" sz="1600" dirty="0">
                <a:solidFill>
                  <a:srgbClr val="8FB3A0"/>
                </a:solidFill>
                <a:latin typeface="Courier New" pitchFamily="34" charset="0"/>
                <a:ea typeface="Courier New" pitchFamily="34" charset="-122"/>
                <a:cs typeface="Courier New" pitchFamily="34" charset="-120"/>
              </a:rPr>
              <a:t># release it</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35040" y="4389120"/>
          <a:ext cx="5605272" cy="914400"/>
        </p:xfrm>
        <a:graphic>
          <a:graphicData uri="http://schemas.openxmlformats.org/drawingml/2006/table">
            <a:tbl>
              <a:tblPr/>
              <a:tblGrid>
                <a:gridCol w="2011680"/>
                <a:gridCol w="3593592"/>
              </a:tblGrid>
              <a:tr h="0">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Processor</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Push</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350" b="1" dirty="0">
                          <a:solidFill>
                            <a:srgbClr val="1B2530"/>
                          </a:solidFill>
                          <a:latin typeface="Calibri" pitchFamily="34" charset="0"/>
                          <a:ea typeface="Calibri" pitchFamily="34" charset="-122"/>
                          <a:cs typeface="Calibri" pitchFamily="34" charset="-120"/>
                        </a:rPr>
                        <a:t>RISC-V</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350" dirty="0">
                          <a:solidFill>
                            <a:srgbClr val="1B2530"/>
                          </a:solidFill>
                          <a:latin typeface="Calibri" pitchFamily="34" charset="0"/>
                          <a:ea typeface="Calibri" pitchFamily="34" charset="-122"/>
                          <a:cs typeface="Calibri" pitchFamily="34" charset="-120"/>
                        </a:rPr>
                        <a:t>addi sp, sp, -4 and sw: two instructions</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350" b="1" dirty="0">
                          <a:solidFill>
                            <a:srgbClr val="1B2530"/>
                          </a:solidFill>
                          <a:latin typeface="Calibri" pitchFamily="34" charset="0"/>
                          <a:ea typeface="Calibri" pitchFamily="34" charset="-122"/>
                          <a:cs typeface="Calibri" pitchFamily="34" charset="-120"/>
                        </a:rPr>
                        <a:t>MC68000</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B2530"/>
                          </a:solidFill>
                          <a:latin typeface="Calibri" pitchFamily="34" charset="0"/>
                          <a:ea typeface="Calibri" pitchFamily="34" charset="-122"/>
                          <a:cs typeface="Calibri" pitchFamily="34" charset="-120"/>
                        </a:rPr>
                        <a:t>MOVE D0, -(SP): a pre-decrement addressing mode</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350" b="1" dirty="0">
                          <a:solidFill>
                            <a:srgbClr val="1B2530"/>
                          </a:solidFill>
                          <a:latin typeface="Calibri" pitchFamily="34" charset="0"/>
                          <a:ea typeface="Calibri" pitchFamily="34" charset="-122"/>
                          <a:cs typeface="Calibri" pitchFamily="34" charset="-120"/>
                        </a:rPr>
                        <a:t>Intel x86</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350" dirty="0">
                          <a:solidFill>
                            <a:srgbClr val="1B2530"/>
                          </a:solidFill>
                          <a:latin typeface="Calibri" pitchFamily="34" charset="0"/>
                          <a:ea typeface="Calibri" pitchFamily="34" charset="-122"/>
                          <a:cs typeface="Calibri" pitchFamily="34" charset="-120"/>
                        </a:rPr>
                        <a:t>PUSH: a dedicated instruction</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18" name="Shape 15"/>
          <p:cNvSpPr/>
          <p:nvPr/>
        </p:nvSpPr>
        <p:spPr>
          <a:xfrm>
            <a:off x="9075623" y="91440"/>
            <a:ext cx="2567432" cy="274320"/>
          </a:xfrm>
          <a:prstGeom prst="rect">
            <a:avLst/>
          </a:prstGeom>
          <a:solidFill>
            <a:srgbClr val="E0F2FE"/>
          </a:solidFill>
          <a:ln w="12700">
            <a:solidFill>
              <a:srgbClr val="0369A1"/>
            </a:solidFill>
            <a:prstDash val="solid"/>
          </a:ln>
        </p:spPr>
      </p:sp>
      <p:sp>
        <p:nvSpPr>
          <p:cNvPr id="19" name="Shape 16"/>
          <p:cNvSpPr/>
          <p:nvPr/>
        </p:nvSpPr>
        <p:spPr>
          <a:xfrm>
            <a:off x="9075623" y="91440"/>
            <a:ext cx="73152" cy="274320"/>
          </a:xfrm>
          <a:prstGeom prst="rect">
            <a:avLst/>
          </a:prstGeom>
          <a:solidFill>
            <a:srgbClr val="0369A1"/>
          </a:solidFill>
          <a:ln w="12700">
            <a:solidFill>
              <a:srgbClr val="0369A1"/>
            </a:solidFill>
            <a:prstDash val="solid"/>
          </a:ln>
        </p:spPr>
      </p:sp>
      <p:pic>
        <p:nvPicPr>
          <p:cNvPr id="20" name="Image 0" descr="preencoded.png">    </p:cNvPr>
          <p:cNvPicPr>
            <a:picLocks noChangeAspect="1"/>
          </p:cNvPicPr>
          <p:nvPr/>
        </p:nvPicPr>
        <p:blipFill>
          <a:blip r:embed="rId1"/>
          <a:stretch>
            <a:fillRect/>
          </a:stretch>
        </p:blipFill>
        <p:spPr>
          <a:xfrm>
            <a:off x="9203639" y="128016"/>
            <a:ext cx="201168" cy="201168"/>
          </a:xfrm>
          <a:prstGeom prst="rect">
            <a:avLst/>
          </a:prstGeom>
        </p:spPr>
      </p:pic>
      <p:sp>
        <p:nvSpPr>
          <p:cNvPr id="21" name="Text 17"/>
          <p:cNvSpPr txBox="1"/>
          <p:nvPr/>
        </p:nvSpPr>
        <p:spPr>
          <a:xfrm>
            <a:off x="9459671" y="91440"/>
            <a:ext cx="214680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stack</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z = x + y in four processors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26248"/>
                <a:gridCol w="2326248"/>
                <a:gridCol w="5278794"/>
                <a:gridCol w="1163124"/>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Example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Program</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Memory accesses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accumulator</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Motorola 6809, MOS 6502</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LDA x ;  ADD y ;  STA z</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stack</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Java virtual machine, WebAssembly</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PUSH x ;  PUSH y ;  ADD ;  POP z</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3, plus the stack itself</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general registers, memory operands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MC68000, Intel x86</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MOVE x, D0 ;  ADD y, D0 ;  MOVE D0, z</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general registers, load-store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RISC-V</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lw t1, x ;  lw t2, y ;  add t3, t1, t2 ;  sw t3, z</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7762443" y="91440"/>
            <a:ext cx="3880612" cy="274320"/>
          </a:xfrm>
          <a:prstGeom prst="rect">
            <a:avLst/>
          </a:prstGeom>
          <a:solidFill>
            <a:srgbClr val="E0F2FE"/>
          </a:solidFill>
          <a:ln w="12700">
            <a:solidFill>
              <a:srgbClr val="0369A1"/>
            </a:solidFill>
            <a:prstDash val="solid"/>
          </a:ln>
        </p:spPr>
      </p:sp>
      <p:sp>
        <p:nvSpPr>
          <p:cNvPr id="5" name="Shape 2"/>
          <p:cNvSpPr/>
          <p:nvPr/>
        </p:nvSpPr>
        <p:spPr>
          <a:xfrm>
            <a:off x="7762443"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7890459" y="128016"/>
            <a:ext cx="201168" cy="201168"/>
          </a:xfrm>
          <a:prstGeom prst="rect">
            <a:avLst/>
          </a:prstGeom>
        </p:spPr>
      </p:pic>
      <p:sp>
        <p:nvSpPr>
          <p:cNvPr id="7" name="Text 3"/>
          <p:cNvSpPr txBox="1"/>
          <p:nvPr/>
        </p:nvSpPr>
        <p:spPr>
          <a:xfrm>
            <a:off x="8146491" y="91440"/>
            <a:ext cx="345998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accumulator, stack, registers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l18.S (1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400" dirty="0">
                <a:solidFill>
                  <a:srgbClr val="8FB3A0"/>
                </a:solidFill>
                <a:latin typeface="Courier New" pitchFamily="34" charset="0"/>
                <a:ea typeface="Courier New" pitchFamily="34" charset="-122"/>
                <a:cs typeface="Courier New" pitchFamily="34" charset="-120"/>
              </a:rPr>
              <a:t># ARC12 Computer Architecture - Lecture 18: The Processor</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l18.S: z = x + y on a load-store machine</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On the screen: three bars, eight pixels per unit: x = 5 (white), y = 7 (white) and z</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 12 (green), computed by the seven instructions of the slide.</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Build: python3 -m prg32 cartridge build l18.S --portable \</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--entry-prefix l18 --name l18 --out l18.prg32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.option norelax</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BLACK, 0x0000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WHITE, 0xffff</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GREEN, 0x07e0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.section .text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l18_init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l18_update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l18_draw</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l18_init: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l18.S (2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650" dirty="0">
                <a:solidFill>
                  <a:srgbClr val="E6EDF2"/>
                </a:solidFill>
                <a:latin typeface="Courier New" pitchFamily="34" charset="0"/>
                <a:ea typeface="Courier New" pitchFamily="34" charset="-122"/>
                <a:cs typeface="Courier New" pitchFamily="34" charset="-120"/>
              </a:rPr>
              <a:t>l18_update:</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x</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lw   t1, 0(t0)       </a:t>
            </a:r>
            <a:pPr indent="0" marL="0">
              <a:buNone/>
            </a:pPr>
            <a:r>
              <a:rPr lang="en-US" sz="1650" dirty="0">
                <a:solidFill>
                  <a:srgbClr val="8FB3A0"/>
                </a:solidFill>
                <a:latin typeface="Courier New" pitchFamily="34" charset="0"/>
                <a:ea typeface="Courier New" pitchFamily="34" charset="-122"/>
                <a:cs typeface="Courier New" pitchFamily="34" charset="-120"/>
              </a:rPr>
              <a:t># bring x into a register</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y</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lw   t2, 0(t0)       </a:t>
            </a:r>
            <a:pPr indent="0" marL="0">
              <a:buNone/>
            </a:pPr>
            <a:r>
              <a:rPr lang="en-US" sz="1650" dirty="0">
                <a:solidFill>
                  <a:srgbClr val="8FB3A0"/>
                </a:solidFill>
                <a:latin typeface="Courier New" pitchFamily="34" charset="0"/>
                <a:ea typeface="Courier New" pitchFamily="34" charset="-122"/>
                <a:cs typeface="Courier New" pitchFamily="34" charset="-120"/>
              </a:rPr>
              <a:t># bring y into a register</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  t3, t1, t2      </a:t>
            </a:r>
            <a:pPr indent="0" marL="0">
              <a:buNone/>
            </a:pPr>
            <a:r>
              <a:rPr lang="en-US" sz="1650" dirty="0">
                <a:solidFill>
                  <a:srgbClr val="8FB3A0"/>
                </a:solidFill>
                <a:latin typeface="Courier New" pitchFamily="34" charset="0"/>
                <a:ea typeface="Courier New" pitchFamily="34" charset="-122"/>
                <a:cs typeface="Courier New" pitchFamily="34" charset="-120"/>
              </a:rPr>
              <a:t># compute, between registers</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z</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sw   t3, 0(t0)       </a:t>
            </a:r>
            <a:pPr indent="0" marL="0">
              <a:buNone/>
            </a:pPr>
            <a:r>
              <a:rPr lang="en-US" sz="1650" dirty="0">
                <a:solidFill>
                  <a:srgbClr val="8FB3A0"/>
                </a:solidFill>
                <a:latin typeface="Courier New" pitchFamily="34" charset="0"/>
                <a:ea typeface="Courier New" pitchFamily="34" charset="-122"/>
                <a:cs typeface="Courier New" pitchFamily="34" charset="-120"/>
              </a:rPr>
              <a:t># take the result back to memory</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ret</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t>
            </a:r>
            <a:endParaRPr lang="en-US" sz="1650" dirty="0"/>
          </a:p>
          <a:p>
            <a:pPr indent="0" marL="0">
              <a:buNone/>
            </a:pPr>
            <a:r>
              <a:rPr lang="en-US" sz="1650" dirty="0">
                <a:solidFill>
                  <a:srgbClr val="8FB3A0"/>
                </a:solidFill>
                <a:latin typeface="Courier New" pitchFamily="34" charset="0"/>
                <a:ea typeface="Courier New" pitchFamily="34" charset="-122"/>
                <a:cs typeface="Courier New" pitchFamily="34" charset="-120"/>
              </a:rPr>
              <a:t># bar: a0 = ADDRESS of a variable, a1 = y of the bar, a4 = colour</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bar:</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lw   a2, 0(a0)       </a:t>
            </a:r>
            <a:pPr indent="0" marL="0">
              <a:buNone/>
            </a:pPr>
            <a:r>
              <a:rPr lang="en-US" sz="1650" dirty="0">
                <a:solidFill>
                  <a:srgbClr val="8FB3A0"/>
                </a:solidFill>
                <a:latin typeface="Courier New" pitchFamily="34" charset="0"/>
                <a:ea typeface="Courier New" pitchFamily="34" charset="-122"/>
                <a:cs typeface="Courier New" pitchFamily="34" charset="-120"/>
              </a:rPr>
              <a:t># the VALUE of the variable</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slli a2, a2, 3       </a:t>
            </a:r>
            <a:pPr indent="0" marL="0">
              <a:buNone/>
            </a:pPr>
            <a:r>
              <a:rPr lang="en-US" sz="1650" dirty="0">
                <a:solidFill>
                  <a:srgbClr val="8FB3A0"/>
                </a:solidFill>
                <a:latin typeface="Courier New" pitchFamily="34" charset="0"/>
                <a:ea typeface="Courier New" pitchFamily="34" charset="-122"/>
                <a:cs typeface="Courier New" pitchFamily="34" charset="-120"/>
              </a:rPr>
              <a:t># width: eight pixels per unit</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a0, 20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a3, 16</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tail prg32_gfx_rect</a:t>
            </a:r>
            <a:endParaRPr lang="en-US" sz="165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l18.S (3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400" dirty="0">
                <a:solidFill>
                  <a:srgbClr val="E6EDF2"/>
                </a:solidFill>
                <a:latin typeface="Courier New" pitchFamily="34" charset="0"/>
                <a:ea typeface="Courier New" pitchFamily="34" charset="-122"/>
                <a:cs typeface="Courier New" pitchFamily="34" charset="-120"/>
              </a:rPr>
              <a:t>l18_draw:</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sp, sp, -16</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ra, 12(sp)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a0, BLACK</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prg32_gfx_clear</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a0, x</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a1, 40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a4, WHITE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bar</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a0, y</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a1, 72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a4, WHITE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bar</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a0, z</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a1, 120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a4, GREEN</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bar</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ra, 12(sp)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sp, sp, 16</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l18.S (4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.section .data</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x: .word 5</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y: .word 7</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z: .word 0</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70992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three bars, eight pixels per unit: x = 5 (white), y = 7 (white) and z = 12 (green), computed by the seven instructions of the slide.</a:t>
            </a:r>
            <a:endParaRPr lang="en-US" sz="2400" dirty="0"/>
          </a:p>
        </p:txBody>
      </p:sp>
      <p:sp>
        <p:nvSpPr>
          <p:cNvPr id="5" name="Shape 3"/>
          <p:cNvSpPr/>
          <p:nvPr/>
        </p:nvSpPr>
        <p:spPr>
          <a:xfrm>
            <a:off x="548640" y="3889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767328"/>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18.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~/arc12/code/l18.S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l18 --name l18 --out l18.prg32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l18.prg32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~/arc12/code/l18.S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l18 --name l18 --architecture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l18-qemu.prg32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l18-qemu.prg32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~/arc12/code/l18.S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l18 --name l18 --architecture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l18-esp32c6.prg32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l18-esp32c6.prg32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l18;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Write z = (a + b) - (c + d) for an accumulator machine, a stack machine and RISC-V; count instructions and memory accesses</a:t>
            </a:r>
            <a:endParaRPr lang="en-US" sz="1900" dirty="0"/>
          </a:p>
        </p:txBody>
      </p:sp>
      <p:sp>
        <p:nvSpPr>
          <p:cNvPr id="6" name="Text 4"/>
          <p:cNvSpPr txBox="1"/>
          <p:nvPr/>
        </p:nvSpPr>
        <p:spPr>
          <a:xfrm>
            <a:off x="548640" y="2157095"/>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38807"/>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Write push and pop of two registers, t0 and t1, keeping sp a multiple of 16 as the calling convention requires</a:t>
            </a:r>
            <a:endParaRPr lang="en-US" sz="1900" dirty="0"/>
          </a:p>
        </p:txBody>
      </p:sp>
      <p:sp>
        <p:nvSpPr>
          <p:cNvPr id="8" name="Text 6"/>
          <p:cNvSpPr txBox="1"/>
          <p:nvPr/>
        </p:nvSpPr>
        <p:spPr>
          <a:xfrm>
            <a:off x="548640" y="287858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60294"/>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For each register used in your last PRG32 program, say which function it serves: transit, accumulation, addressing, stack</a:t>
            </a:r>
            <a:endParaRPr lang="en-US" sz="1900" dirty="0"/>
          </a:p>
        </p:txBody>
      </p:sp>
      <p:sp>
        <p:nvSpPr>
          <p:cNvPr id="10" name="Text 8"/>
          <p:cNvSpPr txBox="1"/>
          <p:nvPr/>
        </p:nvSpPr>
        <p:spPr>
          <a:xfrm>
            <a:off x="548640" y="3600069"/>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81781"/>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In PRG32-QT, single-step a call and its return: watch pc, ra and sp, and the word saved on the stack</a:t>
            </a:r>
            <a:endParaRPr lang="en-US" sz="1900" dirty="0"/>
          </a:p>
        </p:txBody>
      </p:sp>
      <p:sp>
        <p:nvSpPr>
          <p:cNvPr id="12" name="Text 10"/>
          <p:cNvSpPr txBox="1"/>
          <p:nvPr/>
        </p:nvSpPr>
        <p:spPr>
          <a:xfrm>
            <a:off x="548640" y="432155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303268"/>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Find in the datasheet of the processor of your phone or laptop: instruction set, number of cores, clock, privilege levels</a:t>
            </a:r>
            <a:endParaRPr lang="en-US" sz="19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PRG32-QT: sp drops by 16 at the prologue and returns at the epilogue; ra holds the address after the call.</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The Processor: the code</dc:title>
  <dc:subject>Lecture 18</dc:subject>
  <dc:creator>Raffaele Montella</dc:creator>
  <cp:lastModifiedBy>Raffaele Montella</cp:lastModifiedBy>
  <cp:revision>1</cp:revision>
  <dcterms:created xsi:type="dcterms:W3CDTF">2026-10-16T23:36:44Z</dcterms:created>
  <dcterms:modified xsi:type="dcterms:W3CDTF">2026-10-16T23:36:44Z</dcterms:modified>
</cp:coreProperties>
</file>