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7d28289-cdce-bb52-6ff9-e074331ebc0b}">
          <p14:sldIdLst>
            <p14:sldId id="256"/>
            <p14:sldId id="257"/>
          </p14:sldIdLst>
        </p14:section>
        <p14:section name="Step 1: one source, two cartridges" id="{b2f2ed13-f231-6b85-f270-3441e86111a6}">
          <p14:sldIdLst>
            <p14:sldId id="258"/>
            <p14:sldId id="259"/>
          </p14:sldIdLst>
        </p14:section>
        <p14:section name="Step 2: an identity" id="{33eabeee-ef8b-744d-8e44-844b96ee6a46}">
          <p14:sldIdLst>
            <p14:sldId id="260"/>
            <p14:sldId id="261"/>
          </p14:sldIdLst>
        </p14:section>
        <p14:section name="Step 3: the cartridge carries its papers" id="{7e3237d9-9d6e-2ed7-d4e1-ccad6ed3cf28}">
          <p14:sldIdLst>
            <p14:sldId id="262"/>
            <p14:sldId id="263"/>
          </p14:sldIdLst>
        </p14:section>
        <p14:section name="Step 4: the bundle" id="{f594bb53-2ee7-fa56-a014-46c222eda3d9}">
          <p14:sldIdLst>
            <p14:sldId id="264"/>
            <p14:sldId id="265"/>
          </p14:sldIdLst>
        </p14:section>
        <p14:section name="Step 5: publication" id="{d028a724-7b54-7238-dc4c-9bb0e3b69512}">
          <p14:sldIdLst>
            <p14:sldId id="266"/>
          </p14:sldIdLst>
        </p14:section>
        <p14:section name="Run it and test it" id="{b86a3d5c-f20d-3b64-fb4a-7a17b70a43a4}">
          <p14:sldIdLst>
            <p14:sldId id="267"/>
            <p14:sldId id="268"/>
            <p14:sldId id="269"/>
            <p14:sldId id="270"/>
            <p14:sldId id="271"/>
          </p14:sldIdLst>
        </p14:section>
        <p14:section name="Exercises" id="{8f1a3542-d70d-c7de-4a07-2ba953f69ef7}">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23.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packaging and publishing; the portable cartridge. USE NOW: the PRG32 tools (used, not studied, in this course).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tools/tests/verm1_store.py builds the two cartridges, attaches the metadata and packs the bundle; nothing is uploaded.
For the lecturer: Get the code once: git clone https://github.com/riscv-prg32/computer-architecture-with-prg32 ~/arc12. tools/tests/verm1_store.py builds the two cartridges, attaches the metadata and packs the bundle; nothing is uploaded.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command of every lecture, with one additional option: --architecture names the target for which the file is produced, first esp32c6 and then qemu. The output files follow a naming rule: the name of the game, a hyphen, the architecture. The source is identical for both. The size reported by the builder is worth noting: the entire finished game amounts to about six kilobytes of code.
UNDERSTAND NOW: the portable cartridge. USE NOW: the PRG32 tools (used, not studied, in this course).
For the lecturer: The builder answers: built verm1-esp32c6.prg32 name=verm1 load=0x40800000, and code=6216 for the reference game. Six kilobytes: less than this slide as a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cartridge summary prints what a cartridge file declares about itself. One line is decisive: import_model must be abi-table. It means that the cartridge reaches the runtime's functions through a table, not through the fixed addresses of a particular firmware image. Such a cartridge is portable: it continues to work when the firmware is updated, because the table, not the addresses, is the interface. This is the stable-interface principle first met in Lecture 01. The Store accepts portable cartridges, and the check is repeated on the second file.
UNDERSTAND NOW: the portable cartridge.
For the lecturer: A non-portable cartridge is linked against the addresses of one firmware image and breaks at the next update. The table is the ABI of PRG32: prg32_gfx_rect and the others are entries of it. Repeat the check on the QEMU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manifest is a JSON file describing the game, whose fields should be read one by one. id is a globally unique name. version consists of three numbers. title is what the player reads. summary is a one-line description for the shelf, description a paragraph. Authors, licence and tags follow. At the end, assets names the icon and architectures states which cartridge file serves which target. The file is created with a text editor in the folder of the game.
UNDERSTAND NOW: packaging and publishing.
For the lecturer: Create the file in ~/verm1 with a text editor. The description is cut on the slide. The abi line says which version of the metadata format this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colophon is the credits page of the cartridge; the word comes from printing, where it denotes the note at the end of a book recording who made it. It lists roles and names, the controls, that is, what each input does for the player, and the acknowledgements, in which the reference game from which the student began remains cited. The placeholder name is replaced throughout and the date set.
UNDERSTAND NOW: packaging and publishing.
For the lecturer: Colophon is the printers' word for the note at the end of a book that says who made it. Replace Your Name everywhere, and set the release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metadata.json is prepared first: a copy of the manifest without the two entries assets and architectures, which concern the bundle rather than an individual cartridge. store attach-metadata then writes metadata, icon and colophon into the cartridge, once per file, each with its own architecture. The program itself is untouched; the information is appended after it. Henceforth a cartridge copied by hand still declares what it is and who made it.
UNDERSTAND NOW: the portable cartridge.
For the lecturer: The tool answers: wrote verm1-esp32c6.prg32 legacy=6316 blocks=3. The three blocks are the metadata, the icon and the colophon, appended after the program; the program itself is untouched. Careful: giving the full manifest to --metadata makes the tool fail, because of the assets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write that has not been read back should never be trusted. store inspect-metadata prints what the cartridge contains: identifier, title, version and architecture are checked, together with trailer_present being true. The cartridge is then run once more and must behave exactly as before. Reading back what was written is a habit cultivated throughout the course, from the memory view of the debugger to this command.
UNDERSTAND NOW: the portable cartridge.
For the lecturer: Output abridged. Reading back what was written is the habit of the whole course: the memory view of the debugger, and now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 pack-bundle reads the manifest, collects the files it names and produces a ZIP file whose name carries the version. If a file is missing or misnamed, the tool stops here, on the student's computer, rather than later at the Store, so that errors are caught where they are cheapest to correct. The listing it prints shows the manifest, the icon and the two cartridges: the entire game, for two machines, occupies about sixteen kilobytes.
UNDERSTAND NOW: packaging and publishing.
For the lecturer: Real output for the reference game, from tools/tests/verm1_store.py. The files must be in the same folder as the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bundle is tested, not the working folder. It is unzipped into an empty folder and used from there: the ESP32-C6 cartridge is imported into PRG32-QT to verify that title, icon and credits are the author's; the other is uploaded to QEMU and a game played; on a kit, the real joystick is tried. A colleague is then asked to repeat the procedure on another computer. This catches the classic error of a bundle built before the last correction.
For the lecturer: Testing the packaged files, and not the ones in the working folder, catches the classic mistake: a bundle built before the last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actions. The author signs in to the Store and creates a token, keeps it in an environment variable of the shell, and submits the bundle with store publish-bundle. The token stands for its owner: whoever holds it publishes in the owner's name. It is therefore a secret, and belongs neither in the source, nor in any file under version control, nor in a screenshot. A token that is lost or accidentally exposed is revoked and replaced. This is the only step not executed for these slides, since it requires a personal account.
UNDERSTAND NOW: packaging and publishing.
For the lecturer: This is the only step that was not run for these slides: it needs a personal account. Do it live with a volunteer, with the volunteer's own token, and never project the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release. The student chooses an identifier and a title, writes the manifest and the colophon of their variant, and draws the icon. The cartridge is then built, the metadata attached, inspected and packed, and the checklist completed with a colleague acting as reviewer. The bundle is the deliverable of the project. Publication itself is optional and personal: those who wish their game to stand on the shelf publish it and share the link with the class.
For the lecturer: Publication is optional and personal; the bundle is the deliverable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23: Verm1: the Store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23</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on the Cartridge Store: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23-Computer_Architecture-Verm1_On_The_Cartridge_Store.pptx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prg32qt_store.png">    </p:cNvPr>
          <p:cNvPicPr>
            <a:picLocks noChangeAspect="1"/>
          </p:cNvPicPr>
          <p:nvPr/>
        </p:nvPicPr>
        <p:blipFill>
          <a:blip r:embed="rId1"/>
          <a:stretch>
            <a:fillRect/>
          </a:stretch>
        </p:blipFill>
        <p:spPr>
          <a:xfrm>
            <a:off x="8810822" y="4251960"/>
            <a:ext cx="2646947" cy="182880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8 listings of Lecture 23, one per slide: read the code, then the numbered remarks beside it</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files of the bundle: manifest, metadata, colophon, icon, and one cartridge per architecture</a:t>
            </a:r>
            <a:endParaRPr lang="en-US" sz="2200" dirty="0"/>
          </a:p>
        </p:txBody>
      </p:sp>
      <p:sp>
        <p:nvSpPr>
          <p:cNvPr id="7" name="Text 5"/>
          <p:cNvSpPr txBox="1"/>
          <p:nvPr/>
        </p:nvSpPr>
        <p:spPr>
          <a:xfrm>
            <a:off x="548640" y="3836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8181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Build for the kit and for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600" dirty="0">
                <a:solidFill>
                  <a:srgbClr val="E6EDF2"/>
                </a:solidFill>
                <a:latin typeface="Courier New" pitchFamily="34" charset="0"/>
                <a:ea typeface="Courier New" pitchFamily="34" charset="-122"/>
                <a:cs typeface="Courier New" pitchFamily="34" charset="-120"/>
              </a:rPr>
              <a:t>cd ~/PRG32         </a:t>
            </a:r>
            <a:pPr indent="0" marL="0">
              <a:buNone/>
            </a:pPr>
            <a:r>
              <a:rPr lang="en-US" sz="1600" dirty="0">
                <a:solidFill>
                  <a:srgbClr val="8FB3A0"/>
                </a:solidFill>
                <a:latin typeface="Courier New" pitchFamily="34" charset="0"/>
                <a:ea typeface="Courier New" pitchFamily="34" charset="-122"/>
                <a:cs typeface="Courier New" pitchFamily="34" charset="-120"/>
              </a:rPr>
              <a:t> # your PRG32 folder, toolchain active</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--entry-prefix verm1 --name verm1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--architecture esp32c6 --out ~/verm1/verm1-esp32c6.prg32</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python3 -m prg32 cartridge build ~/verm1/verm1.S --portable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--entry-prefix verm1 --name verm1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--architecture qemu --out ~/verm1/verm1-qemu.prg32</a:t>
            </a:r>
            <a:endParaRPr lang="en-US" sz="16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command of every lecture, with one more option</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--architecture names the target of the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names follow a rule: game-architecture.prg32</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finished Verm1 is about 6 kilobytes of code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2" name="Shape 19"/>
          <p:cNvSpPr/>
          <p:nvPr/>
        </p:nvSpPr>
        <p:spPr>
          <a:xfrm>
            <a:off x="5757240" y="91440"/>
            <a:ext cx="3420999" cy="274320"/>
          </a:xfrm>
          <a:prstGeom prst="rect">
            <a:avLst/>
          </a:prstGeom>
          <a:solidFill>
            <a:srgbClr val="E0F2FE"/>
          </a:solidFill>
          <a:ln w="12700">
            <a:solidFill>
              <a:srgbClr val="0369A1"/>
            </a:solidFill>
            <a:prstDash val="solid"/>
          </a:ln>
        </p:spPr>
      </p:sp>
      <p:sp>
        <p:nvSpPr>
          <p:cNvPr id="23" name="Shape 20"/>
          <p:cNvSpPr/>
          <p:nvPr/>
        </p:nvSpPr>
        <p:spPr>
          <a:xfrm>
            <a:off x="5757240" y="91440"/>
            <a:ext cx="73152" cy="274320"/>
          </a:xfrm>
          <a:prstGeom prst="rect">
            <a:avLst/>
          </a:prstGeom>
          <a:solidFill>
            <a:srgbClr val="0369A1"/>
          </a:solidFill>
          <a:ln w="12700">
            <a:solidFill>
              <a:srgbClr val="0369A1"/>
            </a:solidFill>
            <a:prstDash val="solid"/>
          </a:ln>
        </p:spPr>
      </p:sp>
      <p:pic>
        <p:nvPicPr>
          <p:cNvPr id="24" name="Image 1" descr="preencoded.png">    </p:cNvPr>
          <p:cNvPicPr>
            <a:picLocks noChangeAspect="1"/>
          </p:cNvPicPr>
          <p:nvPr/>
        </p:nvPicPr>
        <p:blipFill>
          <a:blip r:embed="rId2"/>
          <a:stretch>
            <a:fillRect/>
          </a:stretch>
        </p:blipFill>
        <p:spPr>
          <a:xfrm>
            <a:off x="5885256" y="128016"/>
            <a:ext cx="201168" cy="201168"/>
          </a:xfrm>
          <a:prstGeom prst="rect">
            <a:avLst/>
          </a:prstGeom>
        </p:spPr>
      </p:pic>
      <p:sp>
        <p:nvSpPr>
          <p:cNvPr id="25" name="Text 21"/>
          <p:cNvSpPr txBox="1"/>
          <p:nvPr/>
        </p:nvSpPr>
        <p:spPr>
          <a:xfrm>
            <a:off x="6141288"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portable cartridge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is it portable?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python3 -m prg32 cartridge summary ~/verm1/verm1-esp32c6.prg32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"import_model": "abi-table",</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summary prints what the file declares about itself</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abi-table: the cartridge reaches the runtime through a table of functions</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So it does not depend on one build of the firmware: it is portable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Store accepts portable cartridges</a:t>
            </a:r>
            <a:endParaRPr lang="en-US" sz="1200" dirty="0"/>
          </a:p>
        </p:txBody>
      </p:sp>
      <p:sp>
        <p:nvSpPr>
          <p:cNvPr id="17" name="Shape 15"/>
          <p:cNvSpPr/>
          <p:nvPr/>
        </p:nvSpPr>
        <p:spPr>
          <a:xfrm>
            <a:off x="8222056" y="91440"/>
            <a:ext cx="3420999" cy="274320"/>
          </a:xfrm>
          <a:prstGeom prst="rect">
            <a:avLst/>
          </a:prstGeom>
          <a:solidFill>
            <a:srgbClr val="E0F2FE"/>
          </a:solidFill>
          <a:ln w="12700">
            <a:solidFill>
              <a:srgbClr val="0369A1"/>
            </a:solidFill>
            <a:prstDash val="solid"/>
          </a:ln>
        </p:spPr>
      </p:sp>
      <p:sp>
        <p:nvSpPr>
          <p:cNvPr id="18" name="Shape 16"/>
          <p:cNvSpPr/>
          <p:nvPr/>
        </p:nvSpPr>
        <p:spPr>
          <a:xfrm>
            <a:off x="8222056"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20" name="Text 17"/>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portable cartridge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manifest.json: who is this game?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E6EDF2"/>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"abi": "prg32-metadata-1.0",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"id": "it.uniparthenope.arc12.verm1",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"title": "Verm1",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"version": "1.0.0",</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"summary": "A hungry worm on a 40 by 24 grid: a tribute to Snake.",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"description": "Verm1 (say \"vermone\") is the course-long project of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"authors": [{"name": "Your Name"}],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"license": "MIT",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"tags": ["arcade", "snake", "assembly", "education"],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"assets": {"icon": "icon.png"},</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"architectures":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{"id": "esp32c6", "file": "verm1-esp32c6.prg32"},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{"id": "qemu", "file": "verm1-qemu.prg32"}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id: a name that is unique in the world, and for ever</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version: three numbers, 1.0.0 for a first release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summary: one line for the shelf; description: a paragraph</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architectures: which file serves which target</a:t>
            </a:r>
            <a:endParaRPr lang="en-US" sz="1200" dirty="0"/>
          </a:p>
        </p:txBody>
      </p:sp>
      <p:sp>
        <p:nvSpPr>
          <p:cNvPr id="17" name="Shape 15"/>
          <p:cNvSpPr/>
          <p:nvPr/>
        </p:nvSpPr>
        <p:spPr>
          <a:xfrm>
            <a:off x="8090738" y="91440"/>
            <a:ext cx="3552317" cy="274320"/>
          </a:xfrm>
          <a:prstGeom prst="rect">
            <a:avLst/>
          </a:prstGeom>
          <a:solidFill>
            <a:srgbClr val="E0F2FE"/>
          </a:solidFill>
          <a:ln w="12700">
            <a:solidFill>
              <a:srgbClr val="0369A1"/>
            </a:solidFill>
            <a:prstDash val="solid"/>
          </a:ln>
        </p:spPr>
      </p:sp>
      <p:sp>
        <p:nvSpPr>
          <p:cNvPr id="18" name="Shape 16"/>
          <p:cNvSpPr/>
          <p:nvPr/>
        </p:nvSpPr>
        <p:spPr>
          <a:xfrm>
            <a:off x="8090738"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20" name="Text 17"/>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colophon.json: credits and controls</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"abi": "prg32-colophon-1.0",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"title": "Verm1",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"subtitle": "A tribute to Snake, in RISC-V assembly",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"version": "1.0.0",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"release_date": "2026-12-18",</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"developer": {"name": "Your Name"},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"authors":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{"role": "game design", "name": "Your Name"},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{"role": "programming", "name": "Your Name"}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"license": "MIT",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"copyright": "Copyright 2026 Your Name",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"acknowledgements":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"Giuseppe Coviello, reference implementation of Verm1",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"ARC12 Computer Architecture, University of Naples Parthenope",</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"The PRG32 community"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"controls":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{"input": "JOYSTICK", "action": "Steer the worm"},</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{"input": "A", "action": "Start, and return to the title after game over"}</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"start_prompt": "Press A to play"</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a:t>
            </a:r>
            <a:endParaRPr lang="en-US" sz="12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The colophon is the credits page of the cartridge</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Roles and names: give credit to everyone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controls: what each input does, for the player</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acknowledgements: whom you thank; the reference game you started from stays there</a:t>
            </a:r>
            <a:endParaRPr lang="en-US" sz="1100" dirty="0"/>
          </a:p>
        </p:txBody>
      </p:sp>
      <p:sp>
        <p:nvSpPr>
          <p:cNvPr id="17" name="Shape 15"/>
          <p:cNvSpPr/>
          <p:nvPr/>
        </p:nvSpPr>
        <p:spPr>
          <a:xfrm>
            <a:off x="8090738" y="91440"/>
            <a:ext cx="3552317" cy="274320"/>
          </a:xfrm>
          <a:prstGeom prst="rect">
            <a:avLst/>
          </a:prstGeom>
          <a:solidFill>
            <a:srgbClr val="E0F2FE"/>
          </a:solidFill>
          <a:ln w="12700">
            <a:solidFill>
              <a:srgbClr val="0369A1"/>
            </a:solidFill>
            <a:prstDash val="solid"/>
          </a:ln>
        </p:spPr>
      </p:sp>
      <p:sp>
        <p:nvSpPr>
          <p:cNvPr id="18" name="Shape 16"/>
          <p:cNvSpPr/>
          <p:nvPr/>
        </p:nvSpPr>
        <p:spPr>
          <a:xfrm>
            <a:off x="8090738"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20" name="Text 17"/>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metadata.json, and attach</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00" dirty="0">
                <a:solidFill>
                  <a:srgbClr val="8FB3A0"/>
                </a:solidFill>
                <a:latin typeface="Courier New" pitchFamily="34" charset="0"/>
                <a:ea typeface="Courier New" pitchFamily="34" charset="-122"/>
                <a:cs typeface="Courier New" pitchFamily="34" charset="-120"/>
              </a:rPr>
              <a:t># metadata.json = manifest.json WITHOUT the "assets" and "architectures" entries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python3 -m prg32 store attach-metadata ~/verm1/verm1-esp32c6.prg32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--metadata ~/verm1/metadata.json --icon ~/verm1/icon.png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--colophon ~/verm1/colophon.json --architecture esp32c6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--out ~/verm1/verm1-esp32c6.prg32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python3 -m prg32 store attach-metadata ~/verm1/verm1-qemu.prg32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--metadata ~/verm1/metadata.json --icon ~/verm1/icon.png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--colophon ~/verm1/colophon.json --architecture qemu \</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--out ~/verm1/verm1-qemu.prg32</a:t>
            </a:r>
            <a:endParaRPr lang="en-US" sz="12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Copy the manifest and delete two entries: assets, architectures</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attach writes title, icon and credits inside the cartridge</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 cartridge copied by hand still says what it is</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Once per file, with its own architecture</a:t>
            </a:r>
            <a:endParaRPr lang="en-US" sz="1300" dirty="0"/>
          </a:p>
        </p:txBody>
      </p:sp>
      <p:sp>
        <p:nvSpPr>
          <p:cNvPr id="17" name="Shape 15"/>
          <p:cNvSpPr/>
          <p:nvPr/>
        </p:nvSpPr>
        <p:spPr>
          <a:xfrm>
            <a:off x="8222056" y="91440"/>
            <a:ext cx="3420999" cy="274320"/>
          </a:xfrm>
          <a:prstGeom prst="rect">
            <a:avLst/>
          </a:prstGeom>
          <a:solidFill>
            <a:srgbClr val="E0F2FE"/>
          </a:solidFill>
          <a:ln w="12700">
            <a:solidFill>
              <a:srgbClr val="0369A1"/>
            </a:solidFill>
            <a:prstDash val="solid"/>
          </a:ln>
        </p:spPr>
      </p:sp>
      <p:sp>
        <p:nvSpPr>
          <p:cNvPr id="18" name="Shape 16"/>
          <p:cNvSpPr/>
          <p:nvPr/>
        </p:nvSpPr>
        <p:spPr>
          <a:xfrm>
            <a:off x="8222056"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20" name="Text 17"/>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portable cartridge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Read it back</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python3 -m prg32 store inspect-metadata ~/verm1/verm1-esp32c6.prg32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"id": "it.uniparthenope.arc12.verm1",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"license": "MIT",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"runtime": { "architecture": "esp32c6", ...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"summary": "A hungry worm on a 40 by 24 grid: a tribute to Snake.",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"title": "Verm1",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"version": "1.0.0"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"trailer_present": true,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"unknown_blocks":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a:t>
            </a:r>
            <a:endParaRPr lang="en-US" sz="13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Never trust a write you have not read back</a:t>
            </a:r>
            <a:endParaRPr lang="en-US" sz="16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Check id, title, version and architecture</a:t>
            </a:r>
            <a:endParaRPr lang="en-US" sz="16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trailer_present: the papers are in the file</a:t>
            </a:r>
            <a:endParaRPr lang="en-US" sz="16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Run the cartridge once more: it must still work</a:t>
            </a:r>
            <a:endParaRPr lang="en-US" sz="1600" dirty="0"/>
          </a:p>
        </p:txBody>
      </p:sp>
      <p:sp>
        <p:nvSpPr>
          <p:cNvPr id="17" name="Shape 15"/>
          <p:cNvSpPr/>
          <p:nvPr/>
        </p:nvSpPr>
        <p:spPr>
          <a:xfrm>
            <a:off x="8222056" y="91440"/>
            <a:ext cx="3420999" cy="274320"/>
          </a:xfrm>
          <a:prstGeom prst="rect">
            <a:avLst/>
          </a:prstGeom>
          <a:solidFill>
            <a:srgbClr val="E0F2FE"/>
          </a:solidFill>
          <a:ln w="12700">
            <a:solidFill>
              <a:srgbClr val="0369A1"/>
            </a:solidFill>
            <a:prstDash val="solid"/>
          </a:ln>
        </p:spPr>
      </p:sp>
      <p:sp>
        <p:nvSpPr>
          <p:cNvPr id="18" name="Shape 16"/>
          <p:cNvSpPr/>
          <p:nvPr/>
        </p:nvSpPr>
        <p:spPr>
          <a:xfrm>
            <a:off x="8222056"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20" name="Text 17"/>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portable cartridge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Pack</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python3 -m prg32 store pack-bundle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--manifest ~/verm1/manifest.json --out ~/verm1/verm1-1.0.0.zip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Bundle: ~/verm1/verm1-1.0.0.zip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manifest.json                   0.7 KB</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icon.png                        0.1 KB</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verm1-esp32c6.prg32             7.8 KB</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verm1-qemu.prg32                7.8 KB</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Total: 16.4 KB</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tool reads the manifest and collects the files it names</a:t>
            </a:r>
            <a:endParaRPr lang="en-US" sz="13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A missing or misnamed file stops it here, not at the Store</a:t>
            </a:r>
            <a:endParaRPr lang="en-US" sz="13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The name carries the version: verm1-1.0.0.zip</a:t>
            </a:r>
            <a:endParaRPr lang="en-US" sz="13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Your whole game, for two machines: 16 kilobytes</a:t>
            </a:r>
            <a:endParaRPr lang="en-US" sz="1300" dirty="0"/>
          </a:p>
        </p:txBody>
      </p:sp>
      <p:sp>
        <p:nvSpPr>
          <p:cNvPr id="17" name="Shape 15"/>
          <p:cNvSpPr/>
          <p:nvPr/>
        </p:nvSpPr>
        <p:spPr>
          <a:xfrm>
            <a:off x="8090738" y="91440"/>
            <a:ext cx="3552317" cy="274320"/>
          </a:xfrm>
          <a:prstGeom prst="rect">
            <a:avLst/>
          </a:prstGeom>
          <a:solidFill>
            <a:srgbClr val="E0F2FE"/>
          </a:solidFill>
          <a:ln w="12700">
            <a:solidFill>
              <a:srgbClr val="0369A1"/>
            </a:solidFill>
            <a:prstDash val="solid"/>
          </a:ln>
        </p:spPr>
      </p:sp>
      <p:sp>
        <p:nvSpPr>
          <p:cNvPr id="18" name="Shape 16"/>
          <p:cNvSpPr/>
          <p:nvPr/>
        </p:nvSpPr>
        <p:spPr>
          <a:xfrm>
            <a:off x="8090738"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20" name="Text 17"/>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test the bundle, not your folder</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Unzip verm1-1.0.0.zip into an empty folder</a:t>
            </a:r>
            <a:endParaRPr lang="en-US" sz="2200" dirty="0"/>
          </a:p>
        </p:txBody>
      </p:sp>
      <p:sp>
        <p:nvSpPr>
          <p:cNvPr id="6" name="Text 4"/>
          <p:cNvSpPr txBox="1"/>
          <p:nvPr/>
        </p:nvSpPr>
        <p:spPr>
          <a:xfrm>
            <a:off x="548640" y="201244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415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PRG32-QT import verm1-esp32c6.prg32 from that folder and run it: title, icon and credits must be yours</a:t>
            </a:r>
            <a:endParaRPr lang="en-US" sz="2200" dirty="0"/>
          </a:p>
        </p:txBody>
      </p:sp>
      <p:sp>
        <p:nvSpPr>
          <p:cNvPr id="8" name="Text 6"/>
          <p:cNvSpPr txBox="1"/>
          <p:nvPr/>
        </p:nvSpPr>
        <p:spPr>
          <a:xfrm>
            <a:off x="548640" y="28321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1381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Upload verm1-qemu.prg32 to QEMU and play one game</a:t>
            </a:r>
            <a:endParaRPr lang="en-US" sz="2200" dirty="0"/>
          </a:p>
        </p:txBody>
      </p:sp>
      <p:sp>
        <p:nvSpPr>
          <p:cNvPr id="10" name="Text 8"/>
          <p:cNvSpPr txBox="1"/>
          <p:nvPr/>
        </p:nvSpPr>
        <p:spPr>
          <a:xfrm>
            <a:off x="548640" y="340893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39064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If you have a kit, upload the ESP32-C6 file and play with the real joystick</a:t>
            </a:r>
            <a:endParaRPr lang="en-US" sz="2200" dirty="0"/>
          </a:p>
        </p:txBody>
      </p:sp>
      <p:sp>
        <p:nvSpPr>
          <p:cNvPr id="12" name="Text 10"/>
          <p:cNvSpPr txBox="1"/>
          <p:nvPr/>
        </p:nvSpPr>
        <p:spPr>
          <a:xfrm>
            <a:off x="548640" y="4228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10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Ask a colleague to do the same on another computer: the first user who is not you</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The game runs from the files in the bundle, on every target you declared, on a computer that is not yours.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Publish</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1. sign in to the Store and create a token on the Tokens page</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2. keep it in the environment of your shell: never in a file, never in Git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export PRG32_STORE_URL="https://store.prg32.uniparthenope.it"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export PRG32_STORE_TOKEN="paste-your-token-here"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3. submit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python3 -m prg32 store publish-bundle ~/verm1/verm1-1.0.0.zip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--store-url "$PRG32_STORE_URL" --token "$PRG32_STORE_TOKEN"</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token is you: whoever has it publishes in your name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It is a secret: not in the source, not in a screenshot</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submission is pending until an editor approves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Lost or shown by mistake: revoke it and make a new one</a:t>
            </a:r>
            <a:endParaRPr lang="en-US" sz="1200" dirty="0"/>
          </a:p>
        </p:txBody>
      </p:sp>
      <p:sp>
        <p:nvSpPr>
          <p:cNvPr id="17" name="Shape 15"/>
          <p:cNvSpPr/>
          <p:nvPr/>
        </p:nvSpPr>
        <p:spPr>
          <a:xfrm>
            <a:off x="8090738" y="91440"/>
            <a:ext cx="3552317" cy="274320"/>
          </a:xfrm>
          <a:prstGeom prst="rect">
            <a:avLst/>
          </a:prstGeom>
          <a:solidFill>
            <a:srgbClr val="E0F2FE"/>
          </a:solidFill>
          <a:ln w="12700">
            <a:solidFill>
              <a:srgbClr val="0369A1"/>
            </a:solidFill>
            <a:prstDash val="solid"/>
          </a:ln>
        </p:spPr>
      </p:sp>
      <p:sp>
        <p:nvSpPr>
          <p:cNvPr id="18" name="Shape 16"/>
          <p:cNvSpPr/>
          <p:nvPr/>
        </p:nvSpPr>
        <p:spPr>
          <a:xfrm>
            <a:off x="8090738"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20" name="Text 17"/>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packaging and publishing</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Verm1, started from the files of the bundle: on each host the title, the icon and the credits are those of the manifest.</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starts a game; steer with the joystick</a:t>
            </a:r>
            <a:endParaRPr lang="en-US" sz="2400" dirty="0"/>
          </a:p>
        </p:txBody>
      </p:sp>
      <p:pic>
        <p:nvPicPr>
          <p:cNvPr id="7" name="Image 0" descr="/Users/raffaelemontella/devel/riscv-prg32/computer-architecture-with-prg32/tools/assets/verm1_icon.png">    </p:cNvPr>
          <p:cNvPicPr>
            <a:picLocks noChangeAspect="1"/>
          </p:cNvPicPr>
          <p:nvPr/>
        </p:nvPicPr>
        <p:blipFill>
          <a:blip r:embed="rId1"/>
          <a:stretch>
            <a:fillRect/>
          </a:stretch>
        </p:blipFill>
        <p:spPr>
          <a:xfrm>
            <a:off x="7055968" y="1417320"/>
            <a:ext cx="4297680" cy="429768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1. start PRG32-QT on this computer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2. unzip the bundle into an empty folder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mkdir ~/verm1-test &amp;&amp; cd ~/verm1-test &amp;&amp; unzip ~/verm1/verm1-1.0.0.zip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3. in PRG32-QT: import verm1-esp32c6.prg32 from that folder, Run Cartridge</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or, from the PRG32 folder: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python3 -m prg32 esp32c6 upload-and-run ~/verm1-test/verm1-esp32c6.prg32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--url http://localhost:8080 --slot cart0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4. the title, the icon and the credits must be those of your manifest</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0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python3 -m prg32 qemu build</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2. read back what the cartridge for QEMU declares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python3 -m prg32 store inspect-metadata ~/verm1-test/verm1-qemu.prg32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3. with QEMU closed, stage it into the flash image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python3 -m prg32 qemu upload ~/verm1-test/verm1-qemu.prg32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python3 -m prg32 qemu run</a:t>
            </a:r>
            <a:endParaRPr lang="en-US" sz="14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python3 -m prg32 esp32c6 build-and-flash</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3. send the cartridge of the bundle for the board, and start 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python3 -m prg32 esp32c6 upload-and-run ~/verm1-test/verm1-esp32c6.prg32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--url http://192.168.4.1 --slot cart0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4. play one whole game with the real joystick and speaker</a:t>
            </a:r>
            <a:endParaRPr lang="en-US" sz="13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verm1;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Your release</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Choose your id and your title, write the manifest and the colophon for your variant of Verm1</a:t>
            </a:r>
            <a:endParaRPr lang="en-US" sz="2400" dirty="0"/>
          </a:p>
        </p:txBody>
      </p:sp>
      <p:sp>
        <p:nvSpPr>
          <p:cNvPr id="6" name="Text 4"/>
          <p:cNvSpPr txBox="1"/>
          <p:nvPr/>
        </p:nvSpPr>
        <p:spPr>
          <a:xfrm>
            <a:off x="548640" y="2447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42925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Draw your icon</a:t>
            </a:r>
            <a:endParaRPr lang="en-US" sz="2400" dirty="0"/>
          </a:p>
        </p:txBody>
      </p:sp>
      <p:sp>
        <p:nvSpPr>
          <p:cNvPr id="8" name="Text 6"/>
          <p:cNvSpPr txBox="1"/>
          <p:nvPr/>
        </p:nvSpPr>
        <p:spPr>
          <a:xfrm>
            <a:off x="548640" y="31546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3136392"/>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Build, attach, inspect, pack: produce your bundle and pass the checklist with a colleague as reviewer</a:t>
            </a:r>
            <a:endParaRPr lang="en-US" sz="2400" dirty="0"/>
          </a:p>
        </p:txBody>
      </p:sp>
      <p:sp>
        <p:nvSpPr>
          <p:cNvPr id="10" name="Text 8"/>
          <p:cNvSpPr txBox="1"/>
          <p:nvPr/>
        </p:nvSpPr>
        <p:spPr>
          <a:xfrm>
            <a:off x="548640" y="4166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4148328"/>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If you want your game on the shelf: publish it, and send the link to the class</a:t>
            </a:r>
            <a:endParaRPr lang="en-US" sz="2400" dirty="0"/>
          </a:p>
        </p:txBody>
      </p:sp>
      <p:sp>
        <p:nvSpPr>
          <p:cNvPr id="12" name="Shape 10"/>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3" name="Text 11"/>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4" name="Text 12"/>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A bundle of your own game, reviewed by a colleague against the checklist.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on the Cartridge Store: the code</dc:title>
  <dc:subject>Lecture 23</dc:subject>
  <dc:creator>Raffaele Montella</dc:creator>
  <cp:lastModifiedBy>Raffaele Montella</cp:lastModifiedBy>
  <cp:revision>1</cp:revision>
  <dcterms:created xsi:type="dcterms:W3CDTF">2026-10-16T20:22:25Z</dcterms:created>
  <dcterms:modified xsi:type="dcterms:W3CDTF">2026-10-16T20:22:25Z</dcterms:modified>
</cp:coreProperties>
</file>