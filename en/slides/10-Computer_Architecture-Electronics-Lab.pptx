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8de3665-f6ea-d002-da55-dd2624383a29}">
          <p14:sldIdLst>
            <p14:sldId id="256"/>
            <p14:sldId id="257"/>
          </p14:sldIdLst>
        </p14:section>
        <p14:section name="Warm-up on the machine" id="{2cf3b602-b6a6-e536-0e91-38243f411d0d}">
          <p14:sldIdLst>
            <p14:sldId id="258"/>
          </p14:sldIdLst>
        </p14:section>
        <p14:section name="Back to the machine" id="{9095ab07-de17-8763-3ebc-43d9cc225ff4}">
          <p14:sldIdLst>
            <p14:sldId id="259"/>
            <p14:sldId id="260"/>
          </p14:sldIdLst>
        </p14:section>
        <p14:section name="The complete program" id="{2bbd7b59-cad4-98dd-3c88-518392ede828}">
          <p14:sldIdLst>
            <p14:sldId id="261"/>
            <p14:sldId id="262"/>
            <p14:sldId id="263"/>
          </p14:sldIdLst>
        </p14:section>
        <p14:section name="Run it and test it" id="{eb8eecef-68c6-a81f-6402-e0959356b1cc}">
          <p14:sldIdLst>
            <p14:sldId id="264"/>
            <p14:sldId id="265"/>
            <p14:sldId id="266"/>
            <p14:sldId id="267"/>
            <p14:sldId id="268"/>
          </p14:sldIdLst>
        </p14:section>
        <p14:section name="Exercises" id="{b1a0544c-6531-bca3-127a-ea19c3b8a8d4}">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10.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pull-up inputs; voltage, current, Ohm's law; the transistor as a switch; from volts to bits; CMOS gates. USE NOW: the complete program, the PRG32 tools (used, not studied, in this course). UNDERSTAND LATER: the clock (Lecture 13).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~/arc12/code/l10.S; tools/tests/cartridges/run.py builds it, runs it on PRG32-QT with scripted input and checks the pixels of the frame.
For the lecturer: Get the code once: git clone https://github.com/riscv-prg32/computer-architecture-with-prg32 ~/arc12. The program of this lecture is ~/arc12/code/l10.S;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In the program a pressed button reads as 1. On the board, however, the LEFT button is a switch between a pin of the chip, GPIO18, and ground: when pressed the pin is at 0 volts, when released at 3.3 volts. Pressed therefore means 0 volts, and yet the program reads 1. The four callouts turn this apparent contradiction into the questions of the lecture: what is a volt, why does the released pin sit at 3.3 V, and what decides that 0 V is a bit? The final section of the lecture answers all four.
UNDERSTAND NOW: pull-up inputs.
For the lecturer: Wiring from the PRG32 hardware documentation: every button is a switch to GND, and the firmware enables the internal pull-up of each input. The runtime inverts the level when it builds the mask (prg32_controller.c): pressed pin low, bit high. The last section of the lecture answers the four callouts.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journey in seven steps. The finger closes the switch; the pin falls to 0 V in less than a microsecond; the input buffer sees a voltage below its threshold, a logic 0; the level is captured in a flip-flop; the firmware reads it with a load instruction, inverts it and packs it with the other buttons; the program tests it with andi. The right-hand column indicates where each step is explained: three in this lecture, the others in lectures already attended or still to come. Seven layers of abstraction separate a finger from a bit, and the course traverses all of them.
UNDERSTAND NOW: pull-up inputs.
For the lecturer: The contacts of a real switch bounce for a few milliseconds when they close: reading the buttons once per frame, every few tens of milliseconds, hides the bounce (Lecture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 considered as a circuit. A breadboard has holes connected in rows beneath its surface, so that components can be joined without soldering. Two long rails carry the supply, 3.3 V and ground, and a separate rail carries 5 V for the audio amplifiers. Every component shares the same ground: without a common reference the voltages of two parts would bear no relation to each other. Buttons connect a pin to ground; the display and the amplifiers receive digital signals. A pin driven high must never be connected directly to ground, since the resulting short circuit would draw an excessive current.
UNDERSTAND NOW: pull-up inputs.
For the lecturer: Diagram from the PRG32 repository (docs/hardware/images). A pin of the ESP32-C6 can source some tens of milliamperes: an LED needs its series resistor, as computed earlier. Never join a pin driven high directly to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code/l10.S,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Size the resistor for a blue LED and compute the power it dissipates. Compute the output of a voltage divider and determine how an input of the kit would read it, by comparison with the two thresholds. Draw a three-input NAND and count its transistors. Verify the NOR on the drawing by enumerating the input combinations. And on the kit, with the lamps cartridge running, connect a button pin to ground with a wire: the observation is to be explained, together with what would happen in the absence of the pull-up.
For the lecturer: Exercise 1: (3.3 - 3.0) / 0.002 = 150 Ω; P = 0.3 x 0.002 = 0.6 mW. Exercise 2: 3.3 x 20 / 30 = 2.2 V, between 0.825 and 2.475. Exercise 3: three pMOS in parallel, three nMOS in series: six transistors. The lamps cartridge is step 1 of textbook lab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10: Electronics and digital electronics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500" b="1" dirty="0">
                <a:solidFill>
                  <a:srgbClr val="FFFFFF"/>
                </a:solidFill>
                <a:latin typeface="Cambria" pitchFamily="34" charset="0"/>
                <a:ea typeface="Cambria" pitchFamily="34" charset="-122"/>
                <a:cs typeface="Cambria" pitchFamily="34" charset="-120"/>
              </a:rPr>
              <a:t>Introduction to Electronics and Digital Electronics: the code</a:t>
            </a:r>
            <a:endParaRPr lang="en-US" sz="45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10-Computer_Architecture-Electronics.pptx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kit_breadboard.png">    </p:cNvPr>
          <p:cNvPicPr>
            <a:picLocks noChangeAspect="1"/>
          </p:cNvPicPr>
          <p:nvPr/>
        </p:nvPicPr>
        <p:blipFill>
          <a:blip r:embed="rId1"/>
          <a:stretch>
            <a:fillRect/>
          </a:stretch>
        </p:blipFill>
        <p:spPr>
          <a:xfrm>
            <a:off x="8716975" y="4254756"/>
            <a:ext cx="2834640" cy="1823209"/>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listing of Lecture 10: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code/l10.S, 58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button, one bit</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650" dirty="0">
                <a:solidFill>
                  <a:srgbClr val="8FB3A0"/>
                </a:solidFill>
                <a:latin typeface="Courier New" pitchFamily="34" charset="0"/>
                <a:ea typeface="Courier New" pitchFamily="34" charset="-122"/>
                <a:cs typeface="Courier New" pitchFamily="34" charset="-120"/>
              </a:rPr>
              <a:t># a0 = one bit per button</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andi t3, a0, 0x01        </a:t>
            </a:r>
            <a:pPr indent="0" marL="0">
              <a:buNone/>
            </a:pPr>
            <a:r>
              <a:rPr lang="en-US" sz="1650" dirty="0">
                <a:solidFill>
                  <a:srgbClr val="8FB3A0"/>
                </a:solidFill>
                <a:latin typeface="Courier New" pitchFamily="34" charset="0"/>
                <a:ea typeface="Courier New" pitchFamily="34" charset="-122"/>
                <a:cs typeface="Courier New" pitchFamily="34" charset="-120"/>
              </a:rPr>
              <a:t># bit 0: LEFT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beqz t3, 1f              </a:t>
            </a:r>
            <a:pPr indent="0" marL="0">
              <a:buNone/>
            </a:pPr>
            <a:r>
              <a:rPr lang="en-US" sz="1650" dirty="0">
                <a:solidFill>
                  <a:srgbClr val="8FB3A0"/>
                </a:solidFill>
                <a:latin typeface="Courier New" pitchFamily="34" charset="0"/>
                <a:ea typeface="Courier New" pitchFamily="34" charset="-122"/>
                <a:cs typeface="Courier New" pitchFamily="34" charset="-120"/>
              </a:rPr>
              <a:t># 0: not pressed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                      </a:t>
            </a:r>
            <a:pPr indent="0" marL="0">
              <a:buNone/>
            </a:pPr>
            <a:r>
              <a:rPr lang="en-US" sz="1650" dirty="0">
                <a:solidFill>
                  <a:srgbClr val="8FB3A0"/>
                </a:solidFill>
                <a:latin typeface="Courier New" pitchFamily="34" charset="0"/>
                <a:ea typeface="Courier New" pitchFamily="34" charset="-122"/>
                <a:cs typeface="Courier New" pitchFamily="34" charset="-120"/>
              </a:rPr>
              <a:t># 1: pressed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t>
            </a:r>
            <a:endParaRPr lang="en-US" sz="1650" dirty="0"/>
          </a:p>
          <a:p>
            <a:pPr indent="0" marL="0">
              <a:buNone/>
            </a:pPr>
            <a:r>
              <a:rPr lang="en-US" sz="1650" dirty="0">
                <a:solidFill>
                  <a:srgbClr val="8FB3A0"/>
                </a:solidFill>
                <a:latin typeface="Courier New" pitchFamily="34" charset="0"/>
                <a:ea typeface="Courier New" pitchFamily="34" charset="-122"/>
                <a:cs typeface="Courier New" pitchFamily="34" charset="-120"/>
              </a:rPr>
              <a:t># on the kit:</a:t>
            </a:r>
            <a:endParaRPr lang="en-US" sz="1650" dirty="0"/>
          </a:p>
          <a:p>
            <a:pPr indent="0" marL="0">
              <a:buNone/>
            </a:pPr>
            <a:r>
              <a:rPr lang="en-US" sz="1650" dirty="0">
                <a:solidFill>
                  <a:srgbClr val="8FB3A0"/>
                </a:solidFill>
                <a:latin typeface="Courier New" pitchFamily="34" charset="0"/>
                <a:ea typeface="Courier New" pitchFamily="34" charset="-122"/>
                <a:cs typeface="Courier New" pitchFamily="34" charset="-120"/>
              </a:rPr>
              <a:t>#   LEFT is a switch between pin GPIO18 and ground</a:t>
            </a:r>
            <a:endParaRPr lang="en-US" sz="1650" dirty="0"/>
          </a:p>
          <a:p>
            <a:pPr indent="0" marL="0">
              <a:buNone/>
            </a:pPr>
            <a:r>
              <a:rPr lang="en-US" sz="1650" dirty="0">
                <a:solidFill>
                  <a:srgbClr val="8FB3A0"/>
                </a:solidFill>
                <a:latin typeface="Courier New" pitchFamily="34" charset="0"/>
                <a:ea typeface="Courier New" pitchFamily="34" charset="-122"/>
                <a:cs typeface="Courier New" pitchFamily="34" charset="-120"/>
              </a:rPr>
              <a:t>#   pressed  -&gt; the pin is at 0 volts</a:t>
            </a:r>
            <a:endParaRPr lang="en-US" sz="1650" dirty="0"/>
          </a:p>
          <a:p>
            <a:pPr indent="0" marL="0">
              <a:buNone/>
            </a:pPr>
            <a:r>
              <a:rPr lang="en-US" sz="1650" dirty="0">
                <a:solidFill>
                  <a:srgbClr val="8FB3A0"/>
                </a:solidFill>
                <a:latin typeface="Courier New" pitchFamily="34" charset="0"/>
                <a:ea typeface="Courier New" pitchFamily="34" charset="-122"/>
                <a:cs typeface="Courier New" pitchFamily="34" charset="-120"/>
              </a:rPr>
              <a:t>#   released -&gt; the pin is at 3.3 volts</a:t>
            </a:r>
            <a:endParaRPr lang="en-US" sz="16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Since the first labs a pressed button has been a 1 in a register</a:t>
            </a:r>
            <a:endParaRPr lang="en-US" sz="13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On the board the button is a piece of metal that joins a pin of the chip to ground</a:t>
            </a:r>
            <a:endParaRPr lang="en-US" sz="13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Pressed means 0 volts on the pin, and yet the program reads 1</a:t>
            </a:r>
            <a:endParaRPr lang="en-US" sz="13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300" dirty="0">
                <a:solidFill>
                  <a:srgbClr val="1B2530"/>
                </a:solidFill>
                <a:latin typeface="Calibri" pitchFamily="34" charset="0"/>
                <a:ea typeface="Calibri" pitchFamily="34" charset="-122"/>
                <a:cs typeface="Calibri" pitchFamily="34" charset="-120"/>
              </a:rPr>
              <a:t>What is a volt, why is the released pin at 3.3 V, and who decides that 0 V is a bit?</a:t>
            </a:r>
            <a:endParaRPr lang="en-US" sz="1300" dirty="0"/>
          </a:p>
        </p:txBody>
      </p:sp>
      <p:sp>
        <p:nvSpPr>
          <p:cNvPr id="17" name="Shape 15"/>
          <p:cNvSpPr/>
          <p:nvPr/>
        </p:nvSpPr>
        <p:spPr>
          <a:xfrm>
            <a:off x="8747328" y="91440"/>
            <a:ext cx="2895727" cy="274320"/>
          </a:xfrm>
          <a:prstGeom prst="rect">
            <a:avLst/>
          </a:prstGeom>
          <a:solidFill>
            <a:srgbClr val="E0F2FE"/>
          </a:solidFill>
          <a:ln w="12700">
            <a:solidFill>
              <a:srgbClr val="0369A1"/>
            </a:solidFill>
            <a:prstDash val="solid"/>
          </a:ln>
        </p:spPr>
      </p:sp>
      <p:sp>
        <p:nvSpPr>
          <p:cNvPr id="18" name="Shape 16"/>
          <p:cNvSpPr/>
          <p:nvPr/>
        </p:nvSpPr>
        <p:spPr>
          <a:xfrm>
            <a:off x="874732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875344" y="128016"/>
            <a:ext cx="201168" cy="201168"/>
          </a:xfrm>
          <a:prstGeom prst="rect">
            <a:avLst/>
          </a:prstGeom>
        </p:spPr>
      </p:pic>
      <p:sp>
        <p:nvSpPr>
          <p:cNvPr id="20" name="Text 17"/>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pull-up inputs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the finger to the bit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818440"/>
                <a:gridCol w="6456586"/>
                <a:gridCol w="3819389"/>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Step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What happens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Where it is explained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finger closes the switch between GPIO18 and ground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this lecture: the circuit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pin falls from 3.3 V to 0 V, in well under a microsecond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this lecture: R x C</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input buffer sees a voltage below 0.825 V: a logic 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this lecture: logic levels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level is sampled into a flip-flop of the input register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Lecture 13: sequential machines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firmware reads that register with a load instruction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Lecture 15: memory-mapped input/output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it inverts the bit and packs it with the others into a0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Lecture 08: masks; Lecture 21: input devices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7</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your program tests it: andi t3, a0, 0x01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Lecture 02: first contact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747328" y="91440"/>
            <a:ext cx="2895727" cy="274320"/>
          </a:xfrm>
          <a:prstGeom prst="rect">
            <a:avLst/>
          </a:prstGeom>
          <a:solidFill>
            <a:srgbClr val="E0F2FE"/>
          </a:solidFill>
          <a:ln w="12700">
            <a:solidFill>
              <a:srgbClr val="0369A1"/>
            </a:solidFill>
            <a:prstDash val="solid"/>
          </a:ln>
        </p:spPr>
      </p:sp>
      <p:sp>
        <p:nvSpPr>
          <p:cNvPr id="5" name="Shape 2"/>
          <p:cNvSpPr/>
          <p:nvPr/>
        </p:nvSpPr>
        <p:spPr>
          <a:xfrm>
            <a:off x="8747328"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875344" y="128016"/>
            <a:ext cx="201168" cy="201168"/>
          </a:xfrm>
          <a:prstGeom prst="rect">
            <a:avLst/>
          </a:prstGeom>
        </p:spPr>
      </p:pic>
      <p:sp>
        <p:nvSpPr>
          <p:cNvPr id="7" name="Text 3"/>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pull-up inputs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kit as a circuit</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breadboard: holes joined in rows underneath, so that components connect without soldering</a:t>
            </a:r>
            <a:endParaRPr lang="en-US" sz="19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58847"/>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Two long buses carry the supply: 3.3 V and ground; a separate bus carries 5 V for the audio amplifiers</a:t>
            </a:r>
            <a:endParaRPr lang="en-US" sz="1900" dirty="0"/>
          </a:p>
        </p:txBody>
      </p:sp>
      <p:sp>
        <p:nvSpPr>
          <p:cNvPr id="7" name="Shape 5"/>
          <p:cNvSpPr/>
          <p:nvPr/>
        </p:nvSpPr>
        <p:spPr>
          <a:xfrm>
            <a:off x="548640" y="358355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00374"/>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Every part shares the same ground: without a common reference, the voltages of two parts mean nothing to each other</a:t>
            </a:r>
            <a:endParaRPr lang="en-US" sz="1900" dirty="0"/>
          </a:p>
        </p:txBody>
      </p:sp>
      <p:sp>
        <p:nvSpPr>
          <p:cNvPr id="9" name="Shape 7"/>
          <p:cNvSpPr/>
          <p:nvPr/>
        </p:nvSpPr>
        <p:spPr>
          <a:xfrm>
            <a:off x="548640" y="462508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41901"/>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buttons go from a pin to ground; the display and the amplifiers receive digital signals from other pins</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An output pin can light an LED through a resistor; an input pin only listens</a:t>
            </a:r>
            <a:endParaRPr lang="en-US" sz="1900" dirty="0"/>
          </a:p>
        </p:txBody>
      </p:sp>
      <p:pic>
        <p:nvPicPr>
          <p:cNvPr id="13" name="Image 0" descr="/Users/raffaelemontella/devel/riscv-prg32/computer-architecture-with-prg32/tools/assets/kit_breadboard.png">    </p:cNvPr>
          <p:cNvPicPr>
            <a:picLocks noChangeAspect="1"/>
          </p:cNvPicPr>
          <p:nvPr/>
        </p:nvPicPr>
        <p:blipFill>
          <a:blip r:embed="rId1"/>
          <a:stretch>
            <a:fillRect/>
          </a:stretch>
        </p:blipFill>
        <p:spPr>
          <a:xfrm>
            <a:off x="6766560" y="1997906"/>
            <a:ext cx="4876495" cy="3136507"/>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PRG32 kit on a breadboard (PRG32 hardware documentation)</a:t>
            </a:r>
            <a:endParaRPr lang="en-US" sz="1200" dirty="0"/>
          </a:p>
        </p:txBody>
      </p:sp>
      <p:sp>
        <p:nvSpPr>
          <p:cNvPr id="15" name="Shape 12"/>
          <p:cNvSpPr/>
          <p:nvPr/>
        </p:nvSpPr>
        <p:spPr>
          <a:xfrm>
            <a:off x="8747328" y="91440"/>
            <a:ext cx="2895727" cy="274320"/>
          </a:xfrm>
          <a:prstGeom prst="rect">
            <a:avLst/>
          </a:prstGeom>
          <a:solidFill>
            <a:srgbClr val="E0F2FE"/>
          </a:solidFill>
          <a:ln w="12700">
            <a:solidFill>
              <a:srgbClr val="0369A1"/>
            </a:solidFill>
            <a:prstDash val="solid"/>
          </a:ln>
        </p:spPr>
      </p:sp>
      <p:sp>
        <p:nvSpPr>
          <p:cNvPr id="16" name="Shape 13"/>
          <p:cNvSpPr/>
          <p:nvPr/>
        </p:nvSpPr>
        <p:spPr>
          <a:xfrm>
            <a:off x="8747328"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875344" y="128016"/>
            <a:ext cx="201168" cy="201168"/>
          </a:xfrm>
          <a:prstGeom prst="rect">
            <a:avLst/>
          </a:prstGeom>
        </p:spPr>
      </p:pic>
      <p:sp>
        <p:nvSpPr>
          <p:cNvPr id="18" name="Text 14"/>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pull-up inputs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l10.S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ARC12 Computer Architecture - Lecture 10: Introduction to Electronics and Digital Electronics</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l10.S: one button, one bit: from the finger to a register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On the screen: a large square, grey while LEFT is released and yellow while it is</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pressed. On the kit LEFT is a switch between GPIO18 and ground.</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Build: python3 -m prg32 cartridge build l10.S --portable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--entry-prefix l10 --name l10 --out l10.prg32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.option norelax</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BLACK,  0x0000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GREY,   0x4208</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YELLOW, 0xffe0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.text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l10_init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l10_update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l10_draw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l10_init: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l10.S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l10_update: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800" dirty="0">
                <a:solidFill>
                  <a:srgbClr val="8FB3A0"/>
                </a:solidFill>
                <a:latin typeface="Courier New" pitchFamily="34" charset="0"/>
                <a:ea typeface="Courier New" pitchFamily="34" charset="-122"/>
                <a:cs typeface="Courier New" pitchFamily="34" charset="-120"/>
              </a:rPr>
              <a:t># a0 = one bit per button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andi t3, a0, 0x01        </a:t>
            </a:r>
            <a:pPr indent="0" marL="0">
              <a:buNone/>
            </a:pPr>
            <a:r>
              <a:rPr lang="en-US" sz="1800" dirty="0">
                <a:solidFill>
                  <a:srgbClr val="8FB3A0"/>
                </a:solidFill>
                <a:latin typeface="Courier New" pitchFamily="34" charset="0"/>
                <a:ea typeface="Courier New" pitchFamily="34" charset="-122"/>
                <a:cs typeface="Courier New" pitchFamily="34" charset="-120"/>
              </a:rPr>
              <a:t># bit 0: LEFT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pressed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t3, 0(t0)           </a:t>
            </a:r>
            <a:pPr indent="0" marL="0">
              <a:buNone/>
            </a:pPr>
            <a:r>
              <a:rPr lang="en-US" sz="1800" dirty="0">
                <a:solidFill>
                  <a:srgbClr val="8FB3A0"/>
                </a:solidFill>
                <a:latin typeface="Courier New" pitchFamily="34" charset="0"/>
                <a:ea typeface="Courier New" pitchFamily="34" charset="-122"/>
                <a:cs typeface="Courier New" pitchFamily="34" charset="-120"/>
              </a:rPr>
              <a:t># 0: not pressed, 1: pressed</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12(sp)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16</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on the kit:</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LEFT is a switch between pin GPIO18 and ground</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pressed  -&gt; the pin is at 0 volts</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released -&gt; the pin is at 3.3 volts</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the runtime inverts the level: in the program, pressed is 1</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l10.S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l10_draw: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BLACK</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prg32_gfx_clear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t0, pressed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t1, 0(t0)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GREY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t1,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YELLOW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li   a0, 120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60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a2, 80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80</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prg32_gfx_rect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pressed: .word 0</a:t>
            </a:r>
            <a:endParaRPr lang="en-US" sz="13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large square, grey while LEFT is released and yellow while it is pressed. On the kit LEFT is a switch between GPIO18 and ground.</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press and release LEFT</a:t>
            </a:r>
            <a:endParaRPr lang="en-US" sz="2400" dirty="0"/>
          </a:p>
        </p:txBody>
      </p:sp>
      <p:pic>
        <p:nvPicPr>
          <p:cNvPr id="7" name="Image 0" descr="/Users/raffaelemontella/devel/riscv-prg32/computer-architecture-with-prg32/tools/assets/lab_l10.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l10 --name l10 --out l10.prg32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l10.prg32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l10 --name l10 --architecture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l10-qemu.prg32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~/arc12/code/l10.S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l10 --name l10 --architecture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l10-esp32c6.prg32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l10-esp32c6.prg32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l10;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the kit</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blue LED drops 3.0 V: which resistor gives 2 mA from 3.3 V? What power does the resistor dissipate?</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divider with R1 = 10 kΩ and R2 = 20 kΩ on 3.3 V: compute Vout. Is it read as 0, as 1, or undefined by an input of the kit?</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a three-input NAND in CMOS and count its transistors</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Check the NOR drawing for the four input combinations, marking which transistors conduct</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On PRG32, run the lamps cartridge and bridge a button pin to ground with a wire: explain what you see, and what would happen with the pull-up disabled</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150 Ω and 0.6 mW; Vout = 2.2 V, in the undefined band. On the kit: the lamp lights exactly as if the button were pressed.</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Introduction to Electronics and Digital Electronics: the code</dc:title>
  <dc:subject>Lecture 10</dc:subject>
  <dc:creator>Raffaele Montella</dc:creator>
  <cp:lastModifiedBy>Raffaele Montella</cp:lastModifiedBy>
  <cp:revision>1</cp:revision>
  <dcterms:created xsi:type="dcterms:W3CDTF">2026-10-16T20:22:24Z</dcterms:created>
  <dcterms:modified xsi:type="dcterms:W3CDTF">2026-10-16T20:22:24Z</dcterms:modified>
</cp:coreProperties>
</file>