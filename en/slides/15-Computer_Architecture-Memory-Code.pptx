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a568fd-91a8-b052-6bce-0a5e77c68a1e}">
          <p14:sldIdLst>
            <p14:sldId id="256"/>
            <p14:sldId id="257"/>
          </p14:sldIdLst>
        </p14:section>
        <p14:section name="Warm-up on the machine" id="{437e94cf-683e-43eb-438e-96360c6becda}">
          <p14:sldIdLst>
            <p14:sldId id="258"/>
          </p14:sldIdLst>
        </p14:section>
        <p14:section name="The main memory" id="{e008f607-d82e-568e-635d-8b6aac69763f}">
          <p14:sldIdLst>
            <p14:sldId id="259"/>
          </p14:sldIdLst>
        </p14:section>
        <p14:section name="Processor and memory" id="{cca882f2-08cd-9675-96c5-2cda42cea3e5}">
          <p14:sldIdLst>
            <p14:sldId id="260"/>
          </p14:sldIdLst>
        </p14:section>
        <p14:section name="Memory and input/output" id="{35763a94-5d19-a901-7695-b9537e9261a7}">
          <p14:sldIdLst>
            <p14:sldId id="261"/>
          </p14:sldIdLst>
        </p14:section>
        <p14:section name="The complete program" id="{41849516-37a7-6bce-a86d-8e374f9a6542}">
          <p14:sldIdLst>
            <p14:sldId id="262"/>
            <p14:sldId id="263"/>
            <p14:sldId id="264"/>
            <p14:sldId id="265"/>
            <p14:sldId id="266"/>
          </p14:sldIdLst>
        </p14:section>
        <p14:section name="Run it and test it" id="{0148922e-ec04-9a1c-a07a-79cf2d8688aa}">
          <p14:sldIdLst>
            <p14:sldId id="267"/>
            <p14:sldId id="268"/>
            <p14:sldId id="269"/>
            <p14:sldId id="270"/>
            <p14:sldId id="271"/>
          </p14:sldIdLst>
        </p14:section>
        <p14:section name="Exercises" id="{0c404347-fc4b-4f44-6c9d-0b09cf126c1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15.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~/arc12/code/l15.S; tools/tests/cartridges/run.py builds it, runs it on PRG32-QT with scripted input and checks the pixels of the frame.
For the lecturer: Get the code once: git clone https://github.com/riscv-prg32/computer-architecture-with-prg32 ~/arc12. The program of this lecture is ~/arc12/code/l15.S;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is a word that contains 0x12345678. lw loads all of it into t1. Then three lbu instructions load single bytes, at the address of the word, at that address plus 1 and plus 3: they give 0x78, 0x56 and 0x12. Two facts follow. A word occupies four consecutive addresses, because memory is addressed byte by byte. And the byte at the lowest address is the least significant: the little-endian order. Open the memory view of PRG32-QT at the address in t0 and you see 78 56 34 12.
For the lecturer: Run it in PRG32-QT and open the memory view at the address in t0: the bytes appear as 78 56 34 12. The byte-order slide of Lecture 04 becomes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is aligned when it starts at an address that is a multiple of its size: a multiple of 4 for 32-bit words. An aligned word is fetched with a single access; an unaligned one straddles two memory words. In RISC-V the assembler aligns .word data for you, and a load from a misaligned address is, depending on the processor, slower or refused. The code on the right shows the typical case: after a string of six bytes, .balign 4 skips two bytes so that the next word is aligned.
For the lecturer: The original deck: the MC68000 does not allow unaligned words, Intel x86 allows them at the cost of two accesses. The RISC-V specification leaves the choice to the implementation: correct programs keep their data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steps of lw t1, 0(t0). The ALU computes the address and puts it in MA. MA drives the address bus. The control unit raises read enable. The memory decodes the address and puts the word on the data bus. The datum is captured in MB. MB is copied into t1. A store is symmetrical: the address goes to MA, the datum to MB, write enable is raised, and the memory stores what it finds on the data bus. The access time is what elapses between the second and the fifth step.
For the lecturer: A store, sw t1, 0(t0), is symmetrical: address in MA, datum in MB, write enable raised, and the memory latches the datum. The access time is the time between step 2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simplified map of the addresses of the ESP32-C6. Addresses that begin with 0x4000 are the ROM with the code that starts the chip; 0x4080 is the SRAM, where your cartridge is loaded; 0x4200 is the external flash with the firmware; 0x6000 are the registers of the peripherals. The same thirty-two address lines reach everything, and the same lw and sw operate everything. The cartridge address you saw in the debugger, 0x40800000, is the beginning of the RAM.
For the lecturer: Simplified from the ESP32-C6 technical reference manual; check the manual before relying on an address. The point for the students: the same thirty-two address lines reach ROM, RAM, flash and every device, and the same lw and sw operate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code/l15.S,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Compute address lines, data lines and total bits of a memory of 4 KiB words of 16 bits. Write, in order of address, the bytes stored by a word and by a string on a little-endian machine. List the steps of a store on the processor-memory interface. In PRG32-QT find your counter in the memory view and watch its four bytes change. And store a word, read it back as four bytes, rebuild it with shifts and ORs, and check that it matches.
For the lecturer: 0xDEADBEEF: EF BE AD DE. "Ciao": 43 69 61 6F 00. Exercise 5: slli by 8, 16 and 24, then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15: Memory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Memory: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15-Computer_Architecture-Memory.pptx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15,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code/l15.S, 95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 the same memory as a word and as bytes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la   t0, value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       </a:t>
            </a:r>
            <a:pPr indent="0" marL="0">
              <a:buNone/>
            </a:pPr>
            <a:r>
              <a:rPr lang="en-US" sz="1350" dirty="0">
                <a:solidFill>
                  <a:srgbClr val="8FB3A0"/>
                </a:solidFill>
                <a:latin typeface="Courier New" pitchFamily="34" charset="0"/>
                <a:ea typeface="Courier New" pitchFamily="34" charset="-122"/>
                <a:cs typeface="Courier New" pitchFamily="34" charset="-120"/>
              </a:rPr>
              <a:t># the whole word        t1 = 0x12345678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t2, 0(t0)       </a:t>
            </a:r>
            <a:pPr indent="0" marL="0">
              <a:buNone/>
            </a:pPr>
            <a:r>
              <a:rPr lang="en-US" sz="1350" dirty="0">
                <a:solidFill>
                  <a:srgbClr val="8FB3A0"/>
                </a:solidFill>
                <a:latin typeface="Courier New" pitchFamily="34" charset="0"/>
                <a:ea typeface="Courier New" pitchFamily="34" charset="-122"/>
                <a:cs typeface="Courier New" pitchFamily="34" charset="-120"/>
              </a:rPr>
              <a:t># the byte at address A     t2 = 0x78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t3, 1(t0)       </a:t>
            </a:r>
            <a:pPr indent="0" marL="0">
              <a:buNone/>
            </a:pPr>
            <a:r>
              <a:rPr lang="en-US" sz="1350" dirty="0">
                <a:solidFill>
                  <a:srgbClr val="8FB3A0"/>
                </a:solidFill>
                <a:latin typeface="Courier New" pitchFamily="34" charset="0"/>
                <a:ea typeface="Courier New" pitchFamily="34" charset="-122"/>
                <a:cs typeface="Courier New" pitchFamily="34" charset="-120"/>
              </a:rPr>
              <a:t># the byte at address A+1   t3 = 0x56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lbu  t4, 3(t0)       </a:t>
            </a:r>
            <a:pPr indent="0" marL="0">
              <a:buNone/>
            </a:pPr>
            <a:r>
              <a:rPr lang="en-US" sz="1350" dirty="0">
                <a:solidFill>
                  <a:srgbClr val="8FB3A0"/>
                </a:solidFill>
                <a:latin typeface="Courier New" pitchFamily="34" charset="0"/>
                <a:ea typeface="Courier New" pitchFamily="34" charset="-122"/>
                <a:cs typeface="Courier New" pitchFamily="34" charset="-120"/>
              </a:rPr>
              <a:t># the byte at address A+3   t4 = 0x12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value: .word 0x12345678</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word of thirty-two bits occupies four consecutive addresses: memory is addressed byte by byte</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byte at the lowest address is 0x78, the least significant: little-endian order</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lw fetches four bytes in one operation; lbu fetches one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What is a memory made of, and what happens between the processor and the memory when lw runs?</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Aligned and unaligned words</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word that starts at an address multiple of its size is aligned on the word boundary: multiples of 4 for 32-bit words</a:t>
            </a:r>
            <a:endParaRPr lang="en-US" sz="1900" dirty="0"/>
          </a:p>
        </p:txBody>
      </p:sp>
      <p:sp>
        <p:nvSpPr>
          <p:cNvPr id="5" name="Shape 3"/>
          <p:cNvSpPr/>
          <p:nvPr/>
        </p:nvSpPr>
        <p:spPr>
          <a:xfrm>
            <a:off x="548640" y="256775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84565"/>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aligned word is fetched with a single memory access</a:t>
            </a:r>
            <a:endParaRPr lang="en-US" sz="1900" dirty="0"/>
          </a:p>
        </p:txBody>
      </p:sp>
      <p:sp>
        <p:nvSpPr>
          <p:cNvPr id="7" name="Shape 5"/>
          <p:cNvSpPr/>
          <p:nvPr/>
        </p:nvSpPr>
        <p:spPr>
          <a:xfrm>
            <a:off x="548640" y="33406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57423"/>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unaligned word straddles two memory words: two accesses are needed</a:t>
            </a:r>
            <a:endParaRPr lang="en-US" sz="1900" dirty="0"/>
          </a:p>
        </p:txBody>
      </p:sp>
      <p:sp>
        <p:nvSpPr>
          <p:cNvPr id="9" name="Shape 7"/>
          <p:cNvSpPr/>
          <p:nvPr/>
        </p:nvSpPr>
        <p:spPr>
          <a:xfrm>
            <a:off x="548640" y="411346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30282"/>
            <a:ext cx="5468112" cy="136906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RISC-V: the assembler aligns .word data for you, and instructions must always be aligned</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a load or store to a misaligned address is, depending on the processor, done more slowly or refused with an exception</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directive .balign 4 forces alignment after a string or a byte</a:t>
            </a:r>
            <a:endParaRPr lang="en-US" sz="1900" dirty="0"/>
          </a:p>
        </p:txBody>
      </p:sp>
      <p:sp>
        <p:nvSpPr>
          <p:cNvPr id="13" name="Shape 11"/>
          <p:cNvSpPr/>
          <p:nvPr/>
        </p:nvSpPr>
        <p:spPr>
          <a:xfrm>
            <a:off x="6766560" y="1417320"/>
            <a:ext cx="4876495" cy="2194560"/>
          </a:xfrm>
          <a:prstGeom prst="roundRect">
            <a:avLst>
              <a:gd name="adj" fmla="val 3333"/>
            </a:avLst>
          </a:prstGeom>
          <a:solidFill>
            <a:srgbClr val="12202B"/>
          </a:solidFill>
          <a:ln w="12700">
            <a:solidFill>
              <a:srgbClr val="12202B"/>
            </a:solidFill>
            <a:prstDash val="solid"/>
          </a:ln>
        </p:spPr>
      </p:sp>
      <p:sp>
        <p:nvSpPr>
          <p:cNvPr id="14" name="Text 12"/>
          <p:cNvSpPr txBox="1"/>
          <p:nvPr/>
        </p:nvSpPr>
        <p:spPr>
          <a:xfrm>
            <a:off x="6995160" y="1600200"/>
            <a:ext cx="4419295" cy="182880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.section .data</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name:  .asciz "PRG32"   </a:t>
            </a:r>
            <a:pPr indent="0" marL="0">
              <a:buNone/>
            </a:pPr>
            <a:r>
              <a:rPr lang="en-US" sz="1600" dirty="0">
                <a:solidFill>
                  <a:srgbClr val="8FB3A0"/>
                </a:solidFill>
                <a:latin typeface="Courier New" pitchFamily="34" charset="0"/>
                <a:ea typeface="Courier New" pitchFamily="34" charset="-122"/>
                <a:cs typeface="Courier New" pitchFamily="34" charset="-120"/>
              </a:rPr>
              <a:t># 6 bytes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.balign 4          </a:t>
            </a:r>
            <a:pPr indent="0" marL="0">
              <a:buNone/>
            </a:pPr>
            <a:r>
              <a:rPr lang="en-US" sz="1600" dirty="0">
                <a:solidFill>
                  <a:srgbClr val="8FB3A0"/>
                </a:solidFill>
                <a:latin typeface="Courier New" pitchFamily="34" charset="0"/>
                <a:ea typeface="Courier New" pitchFamily="34" charset="-122"/>
                <a:cs typeface="Courier New" pitchFamily="34" charset="-120"/>
              </a:rPr>
              <a:t># skip 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score: .word 0            </a:t>
            </a:r>
            <a:pPr indent="0" marL="0">
              <a:buNone/>
            </a:pPr>
            <a:r>
              <a:rPr lang="en-US" sz="1600" dirty="0">
                <a:solidFill>
                  <a:srgbClr val="8FB3A0"/>
                </a:solidFill>
                <a:latin typeface="Courier New" pitchFamily="34" charset="0"/>
                <a:ea typeface="Courier New" pitchFamily="34" charset="-122"/>
                <a:cs typeface="Courier New" pitchFamily="34" charset="-120"/>
              </a:rPr>
              <a:t># aligned</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Fetching a word: lw t1, 0(t0)</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7456902"/>
                <a:gridCol w="2819073"/>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Step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What happens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address, t0 + 0, is computed by the ALU and placed in MA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 drives the address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address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control unit raises read enable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control lines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memory decodes the address and puts the four bytes of the word on the data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memory, data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datum on the data bus is latched in MB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MB is copied into the destination register 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i="1" dirty="0">
                <a:solidFill>
                  <a:srgbClr val="5B6B78"/>
                </a:solidFill>
                <a:latin typeface="Calibri" pitchFamily="34" charset="0"/>
                <a:ea typeface="Calibri" pitchFamily="34" charset="-122"/>
                <a:cs typeface="Calibri" pitchFamily="34" charset="-120"/>
              </a:rPr>
              <a:t>sw is symmetrical: the datum goes into MB, write enable is raised, and the memory stores what it finds on the data bus.</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things live on the ESP32-C6 (simplified)</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28135"/>
                <a:gridCol w="5638145"/>
                <a:gridCol w="2728135"/>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Address range begins with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What is there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Reached by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ROM: the code that starts the chip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instruction fetch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0x4080...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SRAM: 512 KB for data, stack and cartridges loaded in 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lw, sw, instruction fetch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0x4200...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external flash, seen through a cache: firmware and constants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lw, instruction fetch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0x6000...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peripheral registers: GPIO, SPI, I2S, timers, Wi-Fi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lw, sw</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One address space for everything. Writing a word to a peripheral register with sw is how a RISC-V program lights a pixel or reads a button.</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(1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15: Memory</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l15.S: the same memory read as a word and as bytes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five rows of lamps. The first is the word 0x12345678 read with lw.</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The other four are the bytes at addresses A, A+1, A+2, A+3 read with lbu: 0x78,</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0x56, 0x34, 0x12. The lowest address holds the least significant byte: little-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endian.</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l15.S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l15 --name l15 --out l15.prg32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l15_init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l15_update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l15_draw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l15_init: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(2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l15_update: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l15_draw: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value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       </a:t>
            </a:r>
            <a:pPr indent="0" marL="0">
              <a:buNone/>
            </a:pPr>
            <a:r>
              <a:rPr lang="en-US" sz="1800" dirty="0">
                <a:solidFill>
                  <a:srgbClr val="8FB3A0"/>
                </a:solidFill>
                <a:latin typeface="Courier New" pitchFamily="34" charset="0"/>
                <a:ea typeface="Courier New" pitchFamily="34" charset="-122"/>
                <a:cs typeface="Courier New" pitchFamily="34" charset="-120"/>
              </a:rPr>
              <a:t># the whole word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prg32_console_hex32</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(3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    la   t0, value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a0, 0(t0)       </a:t>
            </a:r>
            <a:pPr indent="0" marL="0">
              <a:buNone/>
            </a:pPr>
            <a:r>
              <a:rPr lang="en-US" sz="1400" dirty="0">
                <a:solidFill>
                  <a:srgbClr val="8FB3A0"/>
                </a:solidFill>
                <a:latin typeface="Courier New" pitchFamily="34" charset="0"/>
                <a:ea typeface="Courier New" pitchFamily="34" charset="-122"/>
                <a:cs typeface="Courier New" pitchFamily="34" charset="-120"/>
              </a:rPr>
              <a:t># the whole word: 0x12345678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20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lamps32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s0, 0           </a:t>
            </a:r>
            <a:pPr indent="0" marL="0">
              <a:buNone/>
            </a:pPr>
            <a:r>
              <a:rPr lang="en-US" sz="1400" dirty="0">
                <a:solidFill>
                  <a:srgbClr val="8FB3A0"/>
                </a:solidFill>
                <a:latin typeface="Courier New" pitchFamily="34" charset="0"/>
                <a:ea typeface="Courier New" pitchFamily="34" charset="-122"/>
                <a:cs typeface="Courier New" pitchFamily="34" charset="-120"/>
              </a:rPr>
              <a:t># byte number, 0 to 3</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1:  la   t0, value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  t0, t0, s0      </a:t>
            </a:r>
            <a:pPr indent="0" marL="0">
              <a:buNone/>
            </a:pPr>
            <a:r>
              <a:rPr lang="en-US" sz="1400" dirty="0">
                <a:solidFill>
                  <a:srgbClr val="8FB3A0"/>
                </a:solidFill>
                <a:latin typeface="Courier New" pitchFamily="34" charset="0"/>
                <a:ea typeface="Courier New" pitchFamily="34" charset="-122"/>
                <a:cs typeface="Courier New" pitchFamily="34" charset="-120"/>
              </a:rPr>
              <a:t># address A + s0: one byte further each time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lbu  a0, 0(t0)       </a:t>
            </a:r>
            <a:pPr indent="0" marL="0">
              <a:buNone/>
            </a:pPr>
            <a:r>
              <a:rPr lang="en-US" sz="1400" dirty="0">
                <a:solidFill>
                  <a:srgbClr val="8FB3A0"/>
                </a:solidFill>
                <a:latin typeface="Courier New" pitchFamily="34" charset="0"/>
                <a:ea typeface="Courier New" pitchFamily="34" charset="-122"/>
                <a:cs typeface="Courier New" pitchFamily="34" charset="-120"/>
              </a:rPr>
              <a:t># the byte at that address, zero-extended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slli a1, s0, 4</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slli t1, s0, 3</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  a1, a1, t1      </a:t>
            </a:r>
            <a:pPr indent="0" marL="0">
              <a:buNone/>
            </a:pPr>
            <a:r>
              <a:rPr lang="en-US" sz="1400" dirty="0">
                <a:solidFill>
                  <a:srgbClr val="8FB3A0"/>
                </a:solidFill>
                <a:latin typeface="Courier New" pitchFamily="34" charset="0"/>
                <a:ea typeface="Courier New" pitchFamily="34" charset="-122"/>
                <a:cs typeface="Courier New" pitchFamily="34" charset="-120"/>
              </a:rPr>
              <a:t># 24 * s0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a1, a1, 60      </a:t>
            </a:r>
            <a:pPr indent="0" marL="0">
              <a:buNone/>
            </a:pPr>
            <a:r>
              <a:rPr lang="en-US" sz="1400" dirty="0">
                <a:solidFill>
                  <a:srgbClr val="8FB3A0"/>
                </a:solidFill>
                <a:latin typeface="Courier New" pitchFamily="34" charset="0"/>
                <a:ea typeface="Courier New" pitchFamily="34" charset="-122"/>
                <a:cs typeface="Courier New" pitchFamily="34" charset="-120"/>
              </a:rPr>
              <a:t># y = 60 + 24 * byte number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lamps32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s0, s0, 1</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t0, 4</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blt  s0, t0, 1b</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s0, 8(sp)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(4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l15.S (5 of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value: .word 0x12345678</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68605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five rows of lamps. The first is the word 0x12345678 read with lw. The other four are the bytes at addresses A, A+1, A+2, A+3 read with lbu: 0x78, 0x56, 0x34, 0x12. The lowest address holds the least significant byte: little-endian.</a:t>
            </a:r>
            <a:endParaRPr lang="en-US" sz="2400" dirty="0"/>
          </a:p>
        </p:txBody>
      </p:sp>
      <p:sp>
        <p:nvSpPr>
          <p:cNvPr id="5" name="Shape 3"/>
          <p:cNvSpPr/>
          <p:nvPr/>
        </p:nvSpPr>
        <p:spPr>
          <a:xfrm>
            <a:off x="548640" y="48653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74345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5.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l15 --name l15 --out l15.prg32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l15.prg32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l15 --name l15 --architecture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l15 --name l15 --architecture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l15-esp32c6.prg32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l15-esp32c6.prg32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l15;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memory of 4 KiB words of 16 bits: how many address lines, how many data lines, how many bits in all?</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Write the bytes stored, in order of address, by .word 0xDEADBEEF and by .asciz "Ciao" on a little-endian machine</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List the steps of sw t1, 8(t0) on the processor-memory interface</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PRG32-QT, find your counter variable in the memory view and watch its four bytes change frame by frame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Store a word with sw and read it back with four lbu instructions; rebuild it with shifts and ors and check that it matches</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12 address lines, 16 data lines, 65,536 bits. On PRG32: the lowest byte of the counter changes every frame, the next one every 256 frames.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Memory: the code</dc:title>
  <dc:subject>Lecture 15</dc:subject>
  <dc:creator>Raffaele Montella</dc:creator>
  <cp:lastModifiedBy>Raffaele Montella</cp:lastModifiedBy>
  <cp:revision>1</cp:revision>
  <dcterms:created xsi:type="dcterms:W3CDTF">2026-10-13T10:41:32Z</dcterms:created>
  <dcterms:modified xsi:type="dcterms:W3CDTF">2026-10-13T10:41:32Z</dcterms:modified>
</cp:coreProperties>
</file>