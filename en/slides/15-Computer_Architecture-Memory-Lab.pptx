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7ab763-5b49-b00d-87b3-33ebb94d4d5b}">
          <p14:sldIdLst>
            <p14:sldId id="256"/>
            <p14:sldId id="257"/>
          </p14:sldIdLst>
        </p14:section>
        <p14:section name="Warm-up on the machine" id="{02c95b80-894d-0841-e4d0-68237186725c}">
          <p14:sldIdLst>
            <p14:sldId id="258"/>
          </p14:sldIdLst>
        </p14:section>
        <p14:section name="The main memory" id="{a4f0a0b0-7d00-3a3f-9156-c35e0cd7e72c}">
          <p14:sldIdLst>
            <p14:sldId id="259"/>
          </p14:sldIdLst>
        </p14:section>
        <p14:section name="Processor and memory" id="{8c85d767-ed9b-df17-43ab-f4be13f97309}">
          <p14:sldIdLst>
            <p14:sldId id="260"/>
          </p14:sldIdLst>
        </p14:section>
        <p14:section name="Memory and input/output" id="{86e346b3-9d7b-607d-7d44-107ed4c2e2f8}">
          <p14:sldIdLst>
            <p14:sldId id="261"/>
          </p14:sldIdLst>
        </p14:section>
        <p14:section name="The complete program" id="{8c3c603b-b30a-8766-2a93-228b1a9f876f}">
          <p14:sldIdLst>
            <p14:sldId id="262"/>
            <p14:sldId id="263"/>
            <p14:sldId id="264"/>
            <p14:sldId id="265"/>
            <p14:sldId id="266"/>
          </p14:sldIdLst>
        </p14:section>
        <p14:section name="Run it and test it" id="{656ddb4b-eb29-8f95-faee-ff3bfda181c3}">
          <p14:sldIdLst>
            <p14:sldId id="267"/>
            <p14:sldId id="268"/>
            <p14:sldId id="269"/>
            <p14:sldId id="270"/>
            <p14:sldId id="271"/>
          </p14:sldIdLst>
        </p14:section>
        <p14:section name="Exercises" id="{59616591-b914-25ed-6250-47b1302e74e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15.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~/arc12/code/l15.S; tools/tests/cartridges/run.py builds it, runs it on PRG32-QT with scripted input and checks the pixels of the frame.
For the lecturer: Get the code once: git clone https://github.com/riscv-prg32/computer-architecture-with-prg32 ~/arc12. The program of this lecture is ~/arc12/code/l15.S;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value is a word containing 0x12345678. lw loads all of it into t1; three lbu instructions then load single bytes at the address of the word and at that address plus 1 and plus 3, yielding 0x78, 0x56 and 0x12. Two facts follow. A word occupies four consecutive addresses, because memory is addressed byte by byte. And the byte at the lowest address is the least significant, which is little-endian order. Opening the memory view of PRG32-QT at the address held in t0 displays 78 56 34 12, so the byte-order slide of Lecture 04 becomes an observation.
UNDERSTAND NOW: memories and addresses.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begins at an address that is a multiple of its size, a multiple of 4 for 32-bit words. An aligned word is fetched in a single access; an unaligned one straddles two memory words. In RISC-V the assembler aligns .word data automatically, and a load from a misaligned address is, depending on the implementation, slower or refused altogether; the specification leaves the choice to the implementer, and correct programs keep their data aligned. The code on the right shows the typical case: after a string of six bytes, .balign 4 skips two bytes so that the following word is aligned.
UNDERSTAND NOW: memories and addresses.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places it in MA. MA drives the address bus. The control unit asserts read enable. The memory decodes the address and places the word on the data bus. The datum is captured in MB. MB is copied into t1. A store is symmetrical: the address goes to MA, the datum to MB, write enable is asserted, and the memory stores what it finds on the data bus. The access time is the interval between the second and the fifth step, and Lecture 19 places these steps within the processor cycle.
UNDERSTAND NOW: processor and memory.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address map of the ESP32-C6. Addresses beginning 0x4000 hold the ROM containing the start-up code; 0x4080 is the SRAM, into which the cartridge is loaded; 0x4200 is the external flash holding the firmware; 0x6000 are the registers of the peripherals. The same thirty-two address lines reach everything, and the same lw and sw operate everything, which is memory-mapped I/O in concrete form. The cartridge address seen in the debugger, 0x40800000, is the beginning of RAM.
UNDERSTAND NOW: memory-mapped I/O.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address lines, data lines and total number of bits of a memory of 4 Ki words of 16 bits. Write, in order of increasing address, the bytes stored for a word and for a string on a little-endian machine. List the steps of a store on the processor-memory interface. In PRG32-QT, locate the counter in the memory view and observe its four bytes change. And store a word, read it back as four bytes, reconstruct it with shifts and ORs, and verify that the result matches: an exercise that combines the byte order of this lecture with the bitwise operations of Lecture 08.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code/l15.S, 95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15" name="Shape 13"/>
          <p:cNvSpPr/>
          <p:nvPr/>
        </p:nvSpPr>
        <p:spPr>
          <a:xfrm>
            <a:off x="8222056" y="91440"/>
            <a:ext cx="3420999" cy="274320"/>
          </a:xfrm>
          <a:prstGeom prst="rect">
            <a:avLst/>
          </a:prstGeom>
          <a:solidFill>
            <a:srgbClr val="E0F2FE"/>
          </a:solidFill>
          <a:ln w="12700">
            <a:solidFill>
              <a:srgbClr val="0369A1"/>
            </a:solidFill>
            <a:prstDash val="solid"/>
          </a:ln>
        </p:spPr>
      </p:sp>
      <p:sp>
        <p:nvSpPr>
          <p:cNvPr id="16" name="Shape 14"/>
          <p:cNvSpPr/>
          <p:nvPr/>
        </p:nvSpPr>
        <p:spPr>
          <a:xfrm>
            <a:off x="822205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8" name="Text 15"/>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5" name="Shape 2"/>
          <p:cNvSpPr/>
          <p:nvPr/>
        </p:nvSpPr>
        <p:spPr>
          <a:xfrm>
            <a:off x="8353374" y="91440"/>
            <a:ext cx="3289681" cy="274320"/>
          </a:xfrm>
          <a:prstGeom prst="rect">
            <a:avLst/>
          </a:prstGeom>
          <a:solidFill>
            <a:srgbClr val="E0F2FE"/>
          </a:solidFill>
          <a:ln w="12700">
            <a:solidFill>
              <a:srgbClr val="0369A1"/>
            </a:solidFill>
            <a:prstDash val="solid"/>
          </a:ln>
        </p:spPr>
      </p:sp>
      <p:sp>
        <p:nvSpPr>
          <p:cNvPr id="6" name="Shape 3"/>
          <p:cNvSpPr/>
          <p:nvPr/>
        </p:nvSpPr>
        <p:spPr>
          <a:xfrm>
            <a:off x="835337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8" name="Text 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5" name="Shape 2"/>
          <p:cNvSpPr/>
          <p:nvPr/>
        </p:nvSpPr>
        <p:spPr>
          <a:xfrm>
            <a:off x="8550351" y="91440"/>
            <a:ext cx="3092704" cy="274320"/>
          </a:xfrm>
          <a:prstGeom prst="rect">
            <a:avLst/>
          </a:prstGeom>
          <a:solidFill>
            <a:srgbClr val="E0F2FE"/>
          </a:solidFill>
          <a:ln w="12700">
            <a:solidFill>
              <a:srgbClr val="0369A1"/>
            </a:solidFill>
            <a:prstDash val="solid"/>
          </a:ln>
        </p:spPr>
      </p:sp>
      <p:sp>
        <p:nvSpPr>
          <p:cNvPr id="6" name="Shape 3"/>
          <p:cNvSpPr/>
          <p:nvPr/>
        </p:nvSpPr>
        <p:spPr>
          <a:xfrm>
            <a:off x="855035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8" name="Text 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15: Memory</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l15.S: the same memory read as a word and as bytes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five rows of lamps. The first is the word 0x12345678 read with lw.</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The other four are the bytes at addresses A, A+1, A+2, A+3 read with lbu: 0x78,</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0x56, 0x34, 0x12. The lowest address holds the least significant byte: little-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endian.</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l15.S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l15 --name l15 --out l15.prg32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value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the whole word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       </a:t>
            </a:r>
            <a:pPr indent="0" marL="0">
              <a:buNone/>
            </a:pPr>
            <a:r>
              <a:rPr lang="en-US" sz="1400" dirty="0">
                <a:solidFill>
                  <a:srgbClr val="8FB3A0"/>
                </a:solidFill>
                <a:latin typeface="Courier New" pitchFamily="34" charset="0"/>
                <a:ea typeface="Courier New" pitchFamily="34" charset="-122"/>
                <a:cs typeface="Courier New" pitchFamily="34" charset="-120"/>
              </a:rPr>
              <a:t># the whole word: 0x12345678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s0, 0           </a:t>
            </a:r>
            <a:pPr indent="0" marL="0">
              <a:buNone/>
            </a:pPr>
            <a:r>
              <a:rPr lang="en-US" sz="1400" dirty="0">
                <a:solidFill>
                  <a:srgbClr val="8FB3A0"/>
                </a:solidFill>
                <a:latin typeface="Courier New" pitchFamily="34" charset="0"/>
                <a:ea typeface="Courier New" pitchFamily="34" charset="-122"/>
                <a:cs typeface="Courier New" pitchFamily="34" charset="-120"/>
              </a:rPr>
              <a:t># byte number, 0 to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t0, t0, s0      </a:t>
            </a:r>
            <a:pPr indent="0" marL="0">
              <a:buNone/>
            </a:pPr>
            <a:r>
              <a:rPr lang="en-US" sz="1400" dirty="0">
                <a:solidFill>
                  <a:srgbClr val="8FB3A0"/>
                </a:solidFill>
                <a:latin typeface="Courier New" pitchFamily="34" charset="0"/>
                <a:ea typeface="Courier New" pitchFamily="34" charset="-122"/>
                <a:cs typeface="Courier New" pitchFamily="34" charset="-120"/>
              </a:rPr>
              <a:t># address A + s0: one byte further each time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lbu  a0, 0(t0)       </a:t>
            </a:r>
            <a:pPr indent="0" marL="0">
              <a:buNone/>
            </a:pPr>
            <a:r>
              <a:rPr lang="en-US" sz="1400" dirty="0">
                <a:solidFill>
                  <a:srgbClr val="8FB3A0"/>
                </a:solidFill>
                <a:latin typeface="Courier New" pitchFamily="34" charset="0"/>
                <a:ea typeface="Courier New" pitchFamily="34" charset="-122"/>
                <a:cs typeface="Courier New" pitchFamily="34" charset="-120"/>
              </a:rPr>
              <a:t># the byte at that address, zero-extended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a1, s0,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t1, s0,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a1, a1, t1      </a:t>
            </a:r>
            <a:pPr indent="0" marL="0">
              <a:buNone/>
            </a:pPr>
            <a:r>
              <a:rPr lang="en-US" sz="1400" dirty="0">
                <a:solidFill>
                  <a:srgbClr val="8FB3A0"/>
                </a:solidFill>
                <a:latin typeface="Courier New" pitchFamily="34" charset="0"/>
                <a:ea typeface="Courier New" pitchFamily="34" charset="-122"/>
                <a:cs typeface="Courier New" pitchFamily="34" charset="-120"/>
              </a:rPr>
              <a:t># 24 * s0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a1, a1, 60      </a:t>
            </a:r>
            <a:pPr indent="0" marL="0">
              <a:buNone/>
            </a:pPr>
            <a:r>
              <a:rPr lang="en-US" sz="1400" dirty="0">
                <a:solidFill>
                  <a:srgbClr val="8FB3A0"/>
                </a:solidFill>
                <a:latin typeface="Courier New" pitchFamily="34" charset="0"/>
                <a:ea typeface="Courier New" pitchFamily="34" charset="-122"/>
                <a:cs typeface="Courier New" pitchFamily="34" charset="-120"/>
              </a:rPr>
              <a:t># y = 60 + 24 * byte number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s0, s0,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blt  s0, t0, 1b</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value: .word 0x12345678</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five rows of lamps. The first is the word 0x12345678 read with lw. The other four are the bytes at addresses A, A+1, A+2, A+3 read with lbu: 0x78, 0x56, 0x34, 0x12. The lowest address holds the least significant byte: little-endian.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l15 --out l15.prg32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 the code</dc:title>
  <dc:subject>Lecture 15</dc:subject>
  <dc:creator>Raffaele Montella</dc:creator>
  <cp:lastModifiedBy>Raffaele Montella</cp:lastModifiedBy>
  <cp:revision>1</cp:revision>
  <dcterms:created xsi:type="dcterms:W3CDTF">2026-10-16T23:36:43Z</dcterms:created>
  <dcterms:modified xsi:type="dcterms:W3CDTF">2026-10-16T23:36:43Z</dcterms:modified>
</cp:coreProperties>
</file>