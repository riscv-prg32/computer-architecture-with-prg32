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e3e8e16-4a7f-586b-fedb-fccc0894ca31}">
          <p14:sldIdLst>
            <p14:sldId id="256"/>
            <p14:sldId id="257"/>
          </p14:sldIdLst>
        </p14:section>
        <p14:section name="Material and first contact" id="{bcd1a191-d873-33e6-4a2c-6122d90d7b20}">
          <p14:sldIdLst>
            <p14:sldId id="258"/>
          </p14:sldIdLst>
        </p14:section>
        <p14:section name="The complete program" id="{2b6cab4b-4074-cd59-04f0-4c7a8e0ab60e}">
          <p14:sldIdLst>
            <p14:sldId id="259"/>
            <p14:sldId id="260"/>
          </p14:sldIdLst>
        </p14:section>
        <p14:section name="Run it and test it" id="{6586402f-fa78-2b37-59c2-61989c57fe49}">
          <p14:sldIdLst>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00.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~/arc12/code/l00.S; tools/tests/cartridges/run.py builds it, runs it on PRG32-QT with scripted input and checks the pixels of the frame.
For the lecturer: Get the code once: git clone https://github.com/riscv-prg32/computer-architecture-with-prg32 ~/arc12. The program of this lecture is ~/arc12/code/l00.S;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for the next lecture, which is a hands-on installation. Bring your laptop, charged, on which you are allowed to install software. Download the installer of PRG32-QT for your system. At home, on a good connection, start the long download of ESP-IDF, following the README of PRG32. If something fails, do not lose an evening on it: bring the exact error message and it will be solved in class. The expected result is stated at the bottom: after Lecture 01 everyone has PRG32-QT running and a cartridge built on their own machine.
For the lecturer: Lecture 01 is the installation, step by step, for Windows, macOS and Linux. The only thing that cannot be done in class is the download of ESP-IDF: a few gigabytes per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code/l00.S,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code/l00.S,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00: Course introduction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00</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Course Introduction: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00-Computer_Architecture-Course_Introduction.pptx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prg32_logo.png">    </p:cNvPr>
          <p:cNvPicPr>
            <a:picLocks noChangeAspect="1"/>
          </p:cNvPicPr>
          <p:nvPr/>
        </p:nvPicPr>
        <p:blipFill>
          <a:blip r:embed="rId1"/>
          <a:stretch>
            <a:fillRect/>
          </a:stretch>
        </p:blipFill>
        <p:spPr>
          <a:xfrm>
            <a:off x="8716975" y="4280535"/>
            <a:ext cx="2834640" cy="177165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No listing in Lecture 00: this deck gives you the program to run</a:t>
            </a:r>
            <a:endParaRPr lang="en-US" sz="2200" dirty="0"/>
          </a:p>
        </p:txBody>
      </p:sp>
      <p:sp>
        <p:nvSpPr>
          <p:cNvPr id="5" name="Text 3"/>
          <p:cNvSpPr txBox="1"/>
          <p:nvPr/>
        </p:nvSpPr>
        <p:spPr>
          <a:xfrm>
            <a:off x="548640" y="25146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9631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code/l00.S, 46 lines, printed in full</a:t>
            </a:r>
            <a:endParaRPr lang="en-US" sz="2200" dirty="0"/>
          </a:p>
        </p:txBody>
      </p:sp>
      <p:sp>
        <p:nvSpPr>
          <p:cNvPr id="7" name="Text 5"/>
          <p:cNvSpPr txBox="1"/>
          <p:nvPr/>
        </p:nvSpPr>
        <p:spPr>
          <a:xfrm>
            <a:off x="548640" y="34107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3924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3068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2885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2029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1846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Before the next lecture: we install everything together</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Bring your laptop, charged, with the right to install programs on it</a:t>
            </a:r>
            <a:endParaRPr lang="en-US" sz="2000" dirty="0"/>
          </a:p>
        </p:txBody>
      </p:sp>
      <p:sp>
        <p:nvSpPr>
          <p:cNvPr id="6" name="Text 4"/>
          <p:cNvSpPr txBox="1"/>
          <p:nvPr/>
        </p:nvSpPr>
        <p:spPr>
          <a:xfrm>
            <a:off x="548640" y="20589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04063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Download the PRG32-QT installer for your system: github.com/riscv-prg32/PRG32-QT, Releases</a:t>
            </a:r>
            <a:endParaRPr lang="en-US" sz="2000" dirty="0"/>
          </a:p>
        </p:txBody>
      </p:sp>
      <p:sp>
        <p:nvSpPr>
          <p:cNvPr id="8" name="Text 6"/>
          <p:cNvSpPr txBox="1"/>
          <p:nvPr/>
        </p:nvSpPr>
        <p:spPr>
          <a:xfrm>
            <a:off x="548640" y="28630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4480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At home, on a good connection, start the long download: ESP-IDF, following the README of github.com/riscv-prg32/PRG32 for your system</a:t>
            </a:r>
            <a:endParaRPr lang="en-US" sz="2000" dirty="0"/>
          </a:p>
        </p:txBody>
      </p:sp>
      <p:sp>
        <p:nvSpPr>
          <p:cNvPr id="10" name="Text 8"/>
          <p:cNvSpPr txBox="1"/>
          <p:nvPr/>
        </p:nvSpPr>
        <p:spPr>
          <a:xfrm>
            <a:off x="548640" y="36672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648964"/>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If something fails, do not fight it alone: bring the error message, we solve it in class</a:t>
            </a:r>
            <a:endParaRPr lang="en-US" sz="2000" dirty="0"/>
          </a:p>
        </p:txBody>
      </p:sp>
      <p:sp>
        <p:nvSpPr>
          <p:cNvPr id="12" name="Text 10"/>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Send your address for the shared folder and fill in the Sorting Hat questionnaire</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You arrive at Lecture 01 with the downloads done. In two hours everyone leaves with PRG32-QT running and a cartridge built on their own laptop.</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l00.S (1 of 2)</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50" dirty="0">
                <a:solidFill>
                  <a:srgbClr val="8FB3A0"/>
                </a:solidFill>
                <a:latin typeface="Courier New" pitchFamily="34" charset="0"/>
                <a:ea typeface="Courier New" pitchFamily="34" charset="-122"/>
                <a:cs typeface="Courier New" pitchFamily="34" charset="-120"/>
              </a:rPr>
              <a:t># ARC12 Computer Architecture - Lecture 00: Course Introduction</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l00.S: the first program of the course, to read before you can write it</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On the screen: the word ARC12 in white on a blue screen, and under it HELLO, RISC-V.</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Build: python3 -m prg32 cartridge build l00.S --portable \</a:t>
            </a:r>
            <a:endParaRPr lang="en-US" sz="1350" dirty="0"/>
          </a:p>
          <a:p>
            <a:pPr indent="0" marL="0">
              <a:buNone/>
            </a:pPr>
            <a:r>
              <a:rPr lang="en-US" sz="1350" dirty="0">
                <a:solidFill>
                  <a:srgbClr val="8FB3A0"/>
                </a:solidFill>
                <a:latin typeface="Courier New" pitchFamily="34" charset="0"/>
                <a:ea typeface="Courier New" pitchFamily="34" charset="-122"/>
                <a:cs typeface="Courier New" pitchFamily="34" charset="-120"/>
              </a:rPr>
              <a:t>#            --entry-prefix l00 --name l00 --out l00.prg32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.option norelax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BLUE,  0x001f           </a:t>
            </a:r>
            <a:pPr indent="0" marL="0">
              <a:buNone/>
            </a:pPr>
            <a:r>
              <a:rPr lang="en-US" sz="1350" dirty="0">
                <a:solidFill>
                  <a:srgbClr val="8FB3A0"/>
                </a:solidFill>
                <a:latin typeface="Courier New" pitchFamily="34" charset="0"/>
                <a:ea typeface="Courier New" pitchFamily="34" charset="-122"/>
                <a:cs typeface="Courier New" pitchFamily="34" charset="-120"/>
              </a:rPr>
              <a:t># a colour is a 16-bit number (Lecture 04)</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.equ WHITE, 0xffff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.text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l00_init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l00_update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.global l00_draw</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l00_init:                    </a:t>
            </a:r>
            <a:pPr indent="0" marL="0">
              <a:buNone/>
            </a:pPr>
            <a:r>
              <a:rPr lang="en-US" sz="1350" dirty="0">
                <a:solidFill>
                  <a:srgbClr val="8FB3A0"/>
                </a:solidFill>
                <a:latin typeface="Courier New" pitchFamily="34" charset="0"/>
                <a:ea typeface="Courier New" pitchFamily="34" charset="-122"/>
                <a:cs typeface="Courier New" pitchFamily="34" charset="-120"/>
              </a:rPr>
              <a:t># called once, when the cartridge starts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l00_update:                  </a:t>
            </a:r>
            <a:pPr indent="0" marL="0">
              <a:buNone/>
            </a:pPr>
            <a:r>
              <a:rPr lang="en-US" sz="1350" dirty="0">
                <a:solidFill>
                  <a:srgbClr val="8FB3A0"/>
                </a:solidFill>
                <a:latin typeface="Courier New" pitchFamily="34" charset="0"/>
                <a:ea typeface="Courier New" pitchFamily="34" charset="-122"/>
                <a:cs typeface="Courier New" pitchFamily="34" charset="-120"/>
              </a:rPr>
              <a:t># called once per frame: nothing changes here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l00.S (2 of 2)</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l00_draw:                    </a:t>
            </a:r>
            <a:pPr indent="0" marL="0">
              <a:buNone/>
            </a:pPr>
            <a:r>
              <a:rPr lang="en-US" sz="1200" dirty="0">
                <a:solidFill>
                  <a:srgbClr val="8FB3A0"/>
                </a:solidFill>
                <a:latin typeface="Courier New" pitchFamily="34" charset="0"/>
                <a:ea typeface="Courier New" pitchFamily="34" charset="-122"/>
                <a:cs typeface="Courier New" pitchFamily="34" charset="-120"/>
              </a:rPr>
              <a:t># called once per frame: paint the screen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         </a:t>
            </a:r>
            <a:pPr indent="0" marL="0">
              <a:buNone/>
            </a:pPr>
            <a:r>
              <a:rPr lang="en-US" sz="1200" dirty="0">
                <a:solidFill>
                  <a:srgbClr val="8FB3A0"/>
                </a:solidFill>
                <a:latin typeface="Courier New" pitchFamily="34" charset="0"/>
                <a:ea typeface="Courier New" pitchFamily="34" charset="-122"/>
                <a:cs typeface="Courier New" pitchFamily="34" charset="-120"/>
              </a:rPr>
              <a:t># a function that calls others saves ra</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BLUE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prg32_gfx_clear     </a:t>
            </a:r>
            <a:pPr indent="0" marL="0">
              <a:buNone/>
            </a:pPr>
            <a:r>
              <a:rPr lang="en-US" sz="1200" dirty="0">
                <a:solidFill>
                  <a:srgbClr val="8FB3A0"/>
                </a:solidFill>
                <a:latin typeface="Courier New" pitchFamily="34" charset="0"/>
                <a:ea typeface="Courier New" pitchFamily="34" charset="-122"/>
                <a:cs typeface="Courier New" pitchFamily="34" charset="-120"/>
              </a:rPr>
              <a:t># fill the screen with one colour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140             </a:t>
            </a:r>
            <a:pPr indent="0" marL="0">
              <a:buNone/>
            </a:pPr>
            <a:r>
              <a:rPr lang="en-US" sz="1200" dirty="0">
                <a:solidFill>
                  <a:srgbClr val="8FB3A0"/>
                </a:solidFill>
                <a:latin typeface="Courier New" pitchFamily="34" charset="0"/>
                <a:ea typeface="Courier New" pitchFamily="34" charset="-122"/>
                <a:cs typeface="Courier New" pitchFamily="34" charset="-120"/>
              </a:rPr>
              <a:t># x, in pixels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88              </a:t>
            </a:r>
            <a:pPr indent="0" marL="0">
              <a:buNone/>
            </a:pPr>
            <a:r>
              <a:rPr lang="en-US" sz="1200" dirty="0">
                <a:solidFill>
                  <a:srgbClr val="8FB3A0"/>
                </a:solidFill>
                <a:latin typeface="Courier New" pitchFamily="34" charset="0"/>
                <a:ea typeface="Courier New" pitchFamily="34" charset="-122"/>
                <a:cs typeface="Courier New" pitchFamily="34" charset="-120"/>
              </a:rPr>
              <a:t># 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a2, line1           </a:t>
            </a:r>
            <a:pPr indent="0" marL="0">
              <a:buNone/>
            </a:pPr>
            <a:r>
              <a:rPr lang="en-US" sz="1200" dirty="0">
                <a:solidFill>
                  <a:srgbClr val="8FB3A0"/>
                </a:solidFill>
                <a:latin typeface="Courier New" pitchFamily="34" charset="0"/>
                <a:ea typeface="Courier New" pitchFamily="34" charset="-122"/>
                <a:cs typeface="Courier New" pitchFamily="34" charset="-120"/>
              </a:rPr>
              <a:t># the ADDRESS of the text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WHITE           </a:t>
            </a:r>
            <a:pPr indent="0" marL="0">
              <a:buNone/>
            </a:pPr>
            <a:r>
              <a:rPr lang="en-US" sz="1200" dirty="0">
                <a:solidFill>
                  <a:srgbClr val="8FB3A0"/>
                </a:solidFill>
                <a:latin typeface="Courier New" pitchFamily="34" charset="0"/>
                <a:ea typeface="Courier New" pitchFamily="34" charset="-122"/>
                <a:cs typeface="Courier New" pitchFamily="34" charset="-120"/>
              </a:rPr>
              <a:t># foreground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BLUE            </a:t>
            </a:r>
            <a:pPr indent="0" marL="0">
              <a:buNone/>
            </a:pPr>
            <a:r>
              <a:rPr lang="en-US" sz="1200" dirty="0">
                <a:solidFill>
                  <a:srgbClr val="8FB3A0"/>
                </a:solidFill>
                <a:latin typeface="Courier New" pitchFamily="34" charset="0"/>
                <a:ea typeface="Courier New" pitchFamily="34" charset="-122"/>
                <a:cs typeface="Courier New" pitchFamily="34" charset="-120"/>
              </a:rPr>
              <a:t># background</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prg32_gfx_text8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104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a1, 104</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la   a2, line2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WHITE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a4, BLUE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prg32_gfx_text8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lw   ra, 12(sp)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addi sp, sp, 16</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ret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.section .rodata             </a:t>
            </a:r>
            <a:pPr indent="0" marL="0">
              <a:buNone/>
            </a:pPr>
            <a:r>
              <a:rPr lang="en-US" sz="1200" dirty="0">
                <a:solidFill>
                  <a:srgbClr val="8FB3A0"/>
                </a:solidFill>
                <a:latin typeface="Courier New" pitchFamily="34" charset="0"/>
                <a:ea typeface="Courier New" pitchFamily="34" charset="-122"/>
                <a:cs typeface="Courier New" pitchFamily="34" charset="-120"/>
              </a:rPr>
              <a:t># constants: two strings, each ending with a zero byte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line1: .asciz "ARC12"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line2: .asciz "HELLO, RISC-V"</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the word ARC12 in white on a blue screen, and under it HELLO, RISC-V.</a:t>
            </a:r>
            <a:endParaRPr lang="en-US" sz="2400" dirty="0"/>
          </a:p>
        </p:txBody>
      </p:sp>
      <p:sp>
        <p:nvSpPr>
          <p:cNvPr id="5" name="Shape 3"/>
          <p:cNvSpPr/>
          <p:nvPr/>
        </p:nvSpPr>
        <p:spPr>
          <a:xfrm>
            <a:off x="548640" y="323850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116580"/>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00.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l00 --name l00 --out l00.prg32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l00.prg32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l00 --name l00 --architecture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l00-qemu.prg32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l00-qemu.prg32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l00 --name l00 --architecture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l00-esp32c6.prg32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l00-esp32c6.prg32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l00;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Course Introduction: the code</dc:title>
  <dc:subject>Lecture 00</dc:subject>
  <dc:creator>Raffaele Montella</dc:creator>
  <cp:lastModifiedBy>Raffaele Montella</cp:lastModifiedBy>
  <cp:revision>1</cp:revision>
  <dcterms:created xsi:type="dcterms:W3CDTF">2026-10-13T10:41:31Z</dcterms:created>
  <dcterms:modified xsi:type="dcterms:W3CDTF">2026-10-13T10:41:31Z</dcterms:modified>
</cp:coreProperties>
</file>