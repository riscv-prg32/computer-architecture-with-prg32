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cd98b2a-dc7d-dd9f-e247-12715879c3e2}">
          <p14:sldIdLst>
            <p14:sldId id="256"/>
            <p14:sldId id="257"/>
          </p14:sldIdLst>
        </p14:section>
        <p14:section name="Material and first contact" id="{2fa7a465-d88f-8a1b-b01e-13c3cfc24208}">
          <p14:sldIdLst>
            <p14:sldId id="258"/>
          </p14:sldIdLst>
        </p14:section>
        <p14:section name="The complete program" id="{cc2b4746-892c-9476-8918-fecb9a7d4978}">
          <p14:sldIdLst>
            <p14:sldId id="259"/>
            <p14:sldId id="260"/>
          </p14:sldIdLst>
        </p14:section>
        <p14:section name="Run it and test it" id="{ac354c50-1665-fda6-c7e2-d8dc25673172}">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00.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~/arc12/code/l00.S; tools/tests/cartridges/run.py builds it, runs it on PRG32-QT with scripted input and checks the pixels of the frame.
For the lecturer: Get the code once: git clone https://github.com/riscv-prg32/computer-architecture-with-prg32 ~/arc12. The program of this lecture is ~/arc12/code/l00.S;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for the next lecture, which is a hands-on installation. Bring your laptop, charged, on which you are allowed to install software. Download the installer of PRG32-QT for your system. At home, on a good connection, start the long download of ESP-IDF, following the README of PRG32. If something fails, do not lose an evening on it: bring the exact error message and it will be solved in class. The expected result is stated at the bottom: after Lecture 01 everyone has PRG32-QT running and a cartridge built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00: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code/l00.S, 46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00: Course Introduction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l00.S: the first program of the course, to read before you can write it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the word ARC12 in white on a blue screen, and under it HELLO, RISC-V.</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l00.S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l00 --name l00 --out l00.prg32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BLUE,  0x001f           </a:t>
            </a:r>
            <a:pPr indent="0" marL="0">
              <a:buNone/>
            </a:pPr>
            <a:r>
              <a:rPr lang="en-US" sz="1350" dirty="0">
                <a:solidFill>
                  <a:srgbClr val="8FB3A0"/>
                </a:solidFill>
                <a:latin typeface="Courier New" pitchFamily="34" charset="0"/>
                <a:ea typeface="Courier New" pitchFamily="34" charset="-122"/>
                <a:cs typeface="Courier New" pitchFamily="34" charset="-120"/>
              </a:rPr>
              <a:t># a colour is a 16-bit number (Lecture 04)</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l00_init:                    </a:t>
            </a:r>
            <a:pPr indent="0" marL="0">
              <a:buNone/>
            </a:pPr>
            <a:r>
              <a:rPr lang="en-US" sz="1350" dirty="0">
                <a:solidFill>
                  <a:srgbClr val="8FB3A0"/>
                </a:solidFill>
                <a:latin typeface="Courier New" pitchFamily="34" charset="0"/>
                <a:ea typeface="Courier New" pitchFamily="34" charset="-122"/>
                <a:cs typeface="Courier New" pitchFamily="34" charset="-120"/>
              </a:rPr>
              <a:t># called once, when the cartridge starts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l00_update:                  </a:t>
            </a:r>
            <a:pPr indent="0" marL="0">
              <a:buNone/>
            </a:pPr>
            <a:r>
              <a:rPr lang="en-US" sz="1350" dirty="0">
                <a:solidFill>
                  <a:srgbClr val="8FB3A0"/>
                </a:solidFill>
                <a:latin typeface="Courier New" pitchFamily="34" charset="0"/>
                <a:ea typeface="Courier New" pitchFamily="34" charset="-122"/>
                <a:cs typeface="Courier New" pitchFamily="34" charset="-120"/>
              </a:rPr>
              <a:t># called once per frame: nothing changes here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l00_draw:                    </a:t>
            </a:r>
            <a:pPr indent="0" marL="0">
              <a:buNone/>
            </a:pPr>
            <a:r>
              <a:rPr lang="en-US" sz="1200" dirty="0">
                <a:solidFill>
                  <a:srgbClr val="8FB3A0"/>
                </a:solidFill>
                <a:latin typeface="Courier New" pitchFamily="34" charset="0"/>
                <a:ea typeface="Courier New" pitchFamily="34" charset="-122"/>
                <a:cs typeface="Courier New" pitchFamily="34" charset="-120"/>
              </a:rPr>
              <a:t># called once per frame: paint the screen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         </a:t>
            </a:r>
            <a:pPr indent="0" marL="0">
              <a:buNone/>
            </a:pPr>
            <a:r>
              <a:rPr lang="en-US" sz="1200" dirty="0">
                <a:solidFill>
                  <a:srgbClr val="8FB3A0"/>
                </a:solidFill>
                <a:latin typeface="Courier New" pitchFamily="34" charset="0"/>
                <a:ea typeface="Courier New" pitchFamily="34" charset="-122"/>
                <a:cs typeface="Courier New" pitchFamily="34" charset="-120"/>
              </a:rPr>
              <a:t># a function that calls others saves ra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     </a:t>
            </a:r>
            <a:pPr indent="0" marL="0">
              <a:buNone/>
            </a:pPr>
            <a:r>
              <a:rPr lang="en-US" sz="1200" dirty="0">
                <a:solidFill>
                  <a:srgbClr val="8FB3A0"/>
                </a:solidFill>
                <a:latin typeface="Courier New" pitchFamily="34" charset="0"/>
                <a:ea typeface="Courier New" pitchFamily="34" charset="-122"/>
                <a:cs typeface="Courier New" pitchFamily="34" charset="-120"/>
              </a:rPr>
              <a:t># fill the screen with one colour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140             </a:t>
            </a:r>
            <a:pPr indent="0" marL="0">
              <a:buNone/>
            </a:pPr>
            <a:r>
              <a:rPr lang="en-US" sz="1200" dirty="0">
                <a:solidFill>
                  <a:srgbClr val="8FB3A0"/>
                </a:solidFill>
                <a:latin typeface="Courier New" pitchFamily="34" charset="0"/>
                <a:ea typeface="Courier New" pitchFamily="34" charset="-122"/>
                <a:cs typeface="Courier New" pitchFamily="34" charset="-120"/>
              </a:rPr>
              <a:t># x, in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88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line1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the text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           </a:t>
            </a:r>
            <a:pPr indent="0" marL="0">
              <a:buNone/>
            </a:pPr>
            <a:r>
              <a:rPr lang="en-US" sz="1200" dirty="0">
                <a:solidFill>
                  <a:srgbClr val="8FB3A0"/>
                </a:solidFill>
                <a:latin typeface="Courier New" pitchFamily="34" charset="0"/>
                <a:ea typeface="Courier New" pitchFamily="34" charset="-122"/>
                <a:cs typeface="Courier New" pitchFamily="34" charset="-120"/>
              </a:rPr>
              <a:t># foreground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            </a:t>
            </a:r>
            <a:pPr indent="0" marL="0">
              <a:buNone/>
            </a:pPr>
            <a:r>
              <a:rPr lang="en-US" sz="1200" dirty="0">
                <a:solidFill>
                  <a:srgbClr val="8FB3A0"/>
                </a:solidFill>
                <a:latin typeface="Courier New" pitchFamily="34" charset="0"/>
                <a:ea typeface="Courier New" pitchFamily="34" charset="-122"/>
                <a:cs typeface="Courier New" pitchFamily="34" charset="-120"/>
              </a:rPr>
              <a:t># background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.section .rodata             </a:t>
            </a:r>
            <a:pPr indent="0" marL="0">
              <a:buNone/>
            </a:pPr>
            <a:r>
              <a:rPr lang="en-US" sz="1200" dirty="0">
                <a:solidFill>
                  <a:srgbClr val="8FB3A0"/>
                </a:solidFill>
                <a:latin typeface="Courier New" pitchFamily="34" charset="0"/>
                <a:ea typeface="Courier New" pitchFamily="34" charset="-122"/>
                <a:cs typeface="Courier New" pitchFamily="34" charset="-120"/>
              </a:rPr>
              <a:t># constants: two strings, each ending with a zero byte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line1: .asciz "ARC12"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line2: .asciz "HELLO, RISC-V"</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ARC12 in white on a blue screen, and under it HELLO, RISC-V.</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l00 --out l00.prg32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 the code</dc:title>
  <dc:subject>Lecture 00</dc:subject>
  <dc:creator>Raffaele Montella</dc:creator>
  <cp:lastModifiedBy>Raffaele Montella</cp:lastModifiedBy>
  <cp:revision>1</cp:revision>
  <dcterms:created xsi:type="dcterms:W3CDTF">2026-10-16T16:46:55Z</dcterms:created>
  <dcterms:modified xsi:type="dcterms:W3CDTF">2026-10-16T16:46:55Z</dcterms:modified>
</cp:coreProperties>
</file>