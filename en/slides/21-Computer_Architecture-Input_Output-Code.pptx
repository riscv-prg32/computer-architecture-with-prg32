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cc46fb8-8542-3c7c-7c2d-cfc30a2d3b4a}">
          <p14:sldIdLst>
            <p14:sldId id="256"/>
            <p14:sldId id="257"/>
          </p14:sldIdLst>
        </p14:section>
        <p14:section name="Warm-up on the machine" id="{9b6a9edd-1620-40f1-a3c0-75a5cbcb7bf6}">
          <p14:sldIdLst>
            <p14:sldId id="258"/>
          </p14:sldIdLst>
        </p14:section>
        <p14:section name="The complete program" id="{56bea5de-598b-6b3a-9555-15007046e790}">
          <p14:sldIdLst>
            <p14:sldId id="259"/>
            <p14:sldId id="260"/>
            <p14:sldId id="261"/>
          </p14:sldIdLst>
        </p14:section>
        <p14:section name="Run it and test it" id="{98b39530-d459-fc25-dd1d-283732fdbf87}">
          <p14:sldIdLst>
            <p14:sldId id="262"/>
            <p14:sldId id="263"/>
            <p14:sldId id="264"/>
            <p14:sldId id="265"/>
            <p14:sldId id="266"/>
          </p14:sldIdLst>
        </p14:section>
        <p14:section name="Exercises" id="{61f0e41c-99f4-1518-da41-e2cd6499add7}">
          <p14:sldIdLst>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21. The lecture deck holds the concepts; this one holds everything you type and run: the listings with their explanation, the complete program, what it shows, and the way to test it on each of the three hosts.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polling, interrupts, DMA; CRT and LCD displays; keyboard and mouse; printers. USE NOW: the complete program, the PRG32 tools (used, not studied, in this course). UNDERSTAND LATER: nothing. A slide without a badge is context: a story, an example, a question, an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deck contains, in the order of the slides. The program of the lecture is a file that you can build and run as it is: start from there, and come back to the listings to understand each part. The program of this lecture is ~/arc12/code/l21.S; tools/tests/cartridges/run.py builds it, runs it on PRG32-QT with scripted input and checks the pixels of the frame.
For the lecturer: Get the code once: git clone https://github.com/riscv-prg32/computer-architecture-with-prg32 ~/arc12. The program of this lecture is ~/arc12/code/l21.S;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function that reads the input once per frame. prg32_input_read returns in a0 a word with one bit per button; the code copies it into s0, a saved register, because the word must survive the call that plays a note. Then each button is tested with andi and a mask: 0x10 for A, 0x01 for LEFT. Behind each bit there is a switch on an input pin of the chip. The program asks, once per frame, and this way of proceeding has a name: polling. The other devices are less simple.
UNDERSTAND NOW: polling, interrupts, DMA.
For the lecturer: From textbook chapter 6, lab 06 and the sound example of the capstone chapter (examples/asm_capstone/audio_note_event.S). Built as a cartridge and run on the PRG32-QT headless runner (tools/tests): the marker moves with LEFT also while A plays the note, because the mask is kept in s0, a saved register; in t0 it would be lost at the call. The pins are memory-mapped GPIO registers (Lecture 15), configured as inputs, that is, with their output buffers in high impedance (Lecture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code/l21.S,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code/l21.S,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code/l21.S,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program shows when it runs, and what to press. Predict before you run: if the screen differs from this picture, the difference is information. The picture was written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quickest way: PRG32-QT on your own computer. Four steps, each with its command. PRG32-QT behaves like a board on port 8080, which is why the upload command says esp32c6. With debug mode enabled you can stop at any instruction and read registers and memory.
USE NOW: the PRG32 tools (used, not studied, in this course).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runs the real firmware on an emulated chip, so the cartridge must be built for the architecture qemu. Stage the cartridge while QEMU is closed. The firmware opens on the Setup menu: choose Run Cartridge and the slot. Remember that the keyboard is read by the terminal, not by the window with the picture.
USE NOW: the PRG32 tools (used, not studied, in this course).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kit. The firmware is written once, through USB; after that cartridges travel over Wi-Fi. The upload command is the one used for PRG32-QT with the address of the board. This is the only host that the automatic tests do not run: try it, and report what you see.
USE NOW: the PRG32 tools (used, not studied, in this course).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common symptoms, what each means, and what to do. Read the message before changing anything: it nearly always names the cause.
USE NOW: the PRG32 tools (used, not studied, in this course).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exercises. How many bits does the code of a keyboard with 104 keys need, and what matrix could it have? How much memory does a printer need for the bitmap of a page at 600 dots per inch? Move a pointer on the screen with the joystick, keeping it inside the screen. Make button A act only once per press, by detecting the edge. And draw a score with seven-segment digits, using the table of Lecture 11.
For the lecturer: 8 x 600 = 4,800 by 11 x 600 = 6,600 dots: 31,680,000 bits = 3.96 MB.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21: Input and output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21</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Input and Output: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21-Computer_Architecture-Input_Output.pptx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lab2_step1_lamps.png">    </p:cNvPr>
          <p:cNvPicPr>
            <a:picLocks noChangeAspect="1"/>
          </p:cNvPicPr>
          <p:nvPr/>
        </p:nvPicPr>
        <p:blipFill>
          <a:blip r:embed="rId1"/>
          <a:stretch>
            <a:fillRect/>
          </a:stretch>
        </p:blipFill>
        <p:spPr>
          <a:xfrm>
            <a:off x="8716975" y="4280535"/>
            <a:ext cx="2834640" cy="1771650"/>
          </a:xfrm>
          <a:prstGeom prst="rect">
            <a:avLst/>
          </a:prstGeom>
        </p:spPr>
      </p:pic>
      <p:sp>
        <p:nvSpPr>
          <p:cNvPr id="14" name="Shape 11"/>
          <p:cNvSpPr/>
          <p:nvPr/>
        </p:nvSpPr>
        <p:spPr>
          <a:xfrm>
            <a:off x="9690303" y="91440"/>
            <a:ext cx="1952752" cy="274320"/>
          </a:xfrm>
          <a:prstGeom prst="rect">
            <a:avLst/>
          </a:prstGeom>
          <a:solidFill>
            <a:srgbClr val="F3E8FF"/>
          </a:solidFill>
          <a:ln w="12700">
            <a:solidFill>
              <a:srgbClr val="7E22CE"/>
            </a:solidFill>
            <a:prstDash val="dash"/>
          </a:ln>
        </p:spPr>
      </p:sp>
      <p:sp>
        <p:nvSpPr>
          <p:cNvPr id="15" name="Shape 12"/>
          <p:cNvSpPr/>
          <p:nvPr/>
        </p:nvSpPr>
        <p:spPr>
          <a:xfrm>
            <a:off x="9717735" y="128016"/>
            <a:ext cx="45720" cy="45720"/>
          </a:xfrm>
          <a:prstGeom prst="rect">
            <a:avLst/>
          </a:prstGeom>
          <a:solidFill>
            <a:srgbClr val="7E22CE"/>
          </a:solidFill>
          <a:ln w="12700">
            <a:solidFill>
              <a:srgbClr val="7E22CE"/>
            </a:solidFill>
            <a:prstDash val="solid"/>
          </a:ln>
        </p:spPr>
      </p:sp>
      <p:sp>
        <p:nvSpPr>
          <p:cNvPr id="16" name="Shape 13"/>
          <p:cNvSpPr/>
          <p:nvPr/>
        </p:nvSpPr>
        <p:spPr>
          <a:xfrm>
            <a:off x="9717735" y="205740"/>
            <a:ext cx="45720" cy="45720"/>
          </a:xfrm>
          <a:prstGeom prst="rect">
            <a:avLst/>
          </a:prstGeom>
          <a:solidFill>
            <a:srgbClr val="7E22CE"/>
          </a:solidFill>
          <a:ln w="12700">
            <a:solidFill>
              <a:srgbClr val="7E22CE"/>
            </a:solidFill>
            <a:prstDash val="solid"/>
          </a:ln>
        </p:spPr>
      </p:sp>
      <p:sp>
        <p:nvSpPr>
          <p:cNvPr id="17" name="Shape 14"/>
          <p:cNvSpPr/>
          <p:nvPr/>
        </p:nvSpPr>
        <p:spPr>
          <a:xfrm>
            <a:off x="9717735" y="283464"/>
            <a:ext cx="45720" cy="45720"/>
          </a:xfrm>
          <a:prstGeom prst="rect">
            <a:avLst/>
          </a:prstGeom>
          <a:solidFill>
            <a:srgbClr val="7E22CE"/>
          </a:solidFill>
          <a:ln w="12700">
            <a:solidFill>
              <a:srgbClr val="7E22CE"/>
            </a:solidFill>
            <a:prstDash val="solid"/>
          </a:ln>
        </p:spPr>
      </p:sp>
      <p:pic>
        <p:nvPicPr>
          <p:cNvPr id="18"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19" name="Text 15"/>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0" name="Shape 16"/>
          <p:cNvSpPr/>
          <p:nvPr/>
        </p:nvSpPr>
        <p:spPr>
          <a:xfrm>
            <a:off x="8407349" y="91440"/>
            <a:ext cx="1173226" cy="274320"/>
          </a:xfrm>
          <a:prstGeom prst="rect">
            <a:avLst/>
          </a:prstGeom>
          <a:solidFill>
            <a:srgbClr val="FEF3C7"/>
          </a:solidFill>
          <a:ln w="12700">
            <a:solidFill>
              <a:srgbClr val="B45309"/>
            </a:solidFill>
            <a:prstDash val="solid"/>
          </a:ln>
        </p:spPr>
      </p:sp>
      <p:sp>
        <p:nvSpPr>
          <p:cNvPr id="21" name="Shape 17"/>
          <p:cNvSpPr/>
          <p:nvPr/>
        </p:nvSpPr>
        <p:spPr>
          <a:xfrm>
            <a:off x="8407349" y="91440"/>
            <a:ext cx="27432" cy="274320"/>
          </a:xfrm>
          <a:prstGeom prst="rect">
            <a:avLst/>
          </a:prstGeom>
          <a:solidFill>
            <a:srgbClr val="B45309"/>
          </a:solidFill>
          <a:ln w="12700">
            <a:solidFill>
              <a:srgbClr val="B45309"/>
            </a:solidFill>
            <a:prstDash val="solid"/>
          </a:ln>
        </p:spPr>
      </p:sp>
      <p:sp>
        <p:nvSpPr>
          <p:cNvPr id="22" name="Shape 18"/>
          <p:cNvSpPr/>
          <p:nvPr/>
        </p:nvSpPr>
        <p:spPr>
          <a:xfrm>
            <a:off x="8462213" y="91440"/>
            <a:ext cx="27432" cy="274320"/>
          </a:xfrm>
          <a:prstGeom prst="rect">
            <a:avLst/>
          </a:prstGeom>
          <a:solidFill>
            <a:srgbClr val="B45309"/>
          </a:solidFill>
          <a:ln w="12700">
            <a:solidFill>
              <a:srgbClr val="B45309"/>
            </a:solidFill>
            <a:prstDash val="solid"/>
          </a:ln>
        </p:spPr>
      </p:sp>
      <p:pic>
        <p:nvPicPr>
          <p:cNvPr id="23"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4" name="Text 19"/>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5" name="Shape 20"/>
          <p:cNvSpPr/>
          <p:nvPr/>
        </p:nvSpPr>
        <p:spPr>
          <a:xfrm>
            <a:off x="6518097" y="91440"/>
            <a:ext cx="1779524" cy="274320"/>
          </a:xfrm>
          <a:prstGeom prst="rect">
            <a:avLst/>
          </a:prstGeom>
          <a:solidFill>
            <a:srgbClr val="E0F2FE"/>
          </a:solidFill>
          <a:ln w="12700">
            <a:solidFill>
              <a:srgbClr val="0369A1"/>
            </a:solidFill>
            <a:prstDash val="solid"/>
          </a:ln>
        </p:spPr>
      </p:sp>
      <p:sp>
        <p:nvSpPr>
          <p:cNvPr id="26" name="Shape 21"/>
          <p:cNvSpPr/>
          <p:nvPr/>
        </p:nvSpPr>
        <p:spPr>
          <a:xfrm>
            <a:off x="6518097" y="91440"/>
            <a:ext cx="73152" cy="274320"/>
          </a:xfrm>
          <a:prstGeom prst="rect">
            <a:avLst/>
          </a:prstGeom>
          <a:solidFill>
            <a:srgbClr val="0369A1"/>
          </a:solidFill>
          <a:ln w="12700">
            <a:solidFill>
              <a:srgbClr val="0369A1"/>
            </a:solidFill>
            <a:prstDash val="solid"/>
          </a:ln>
        </p:spPr>
      </p:sp>
      <p:pic>
        <p:nvPicPr>
          <p:cNvPr id="27"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8" name="Text 22"/>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listing of Lecture 21: read the code, then the numbered remarks beside it</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code/l21.S, 63 lines, printed in full</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Read the world, once per frame</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steer_update: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ra, 12(sp)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s0, 8(sp)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call prg32_input_read      </a:t>
            </a:r>
            <a:pPr indent="0" marL="0">
              <a:buNone/>
            </a:pPr>
            <a:r>
              <a:rPr lang="en-US" sz="1350" dirty="0">
                <a:solidFill>
                  <a:srgbClr val="8FB3A0"/>
                </a:solidFill>
                <a:latin typeface="Courier New" pitchFamily="34" charset="0"/>
                <a:ea typeface="Courier New" pitchFamily="34" charset="-122"/>
                <a:cs typeface="Courier New" pitchFamily="34" charset="-120"/>
              </a:rPr>
              <a:t># a0 = one bit per button</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mv   s0, a0                </a:t>
            </a:r>
            <a:pPr indent="0" marL="0">
              <a:buNone/>
            </a:pPr>
            <a:r>
              <a:rPr lang="en-US" sz="1350" dirty="0">
                <a:solidFill>
                  <a:srgbClr val="8FB3A0"/>
                </a:solidFill>
                <a:latin typeface="Courier New" pitchFamily="34" charset="0"/>
                <a:ea typeface="Courier New" pitchFamily="34" charset="-122"/>
                <a:cs typeface="Courier New" pitchFamily="34" charset="-120"/>
              </a:rPr>
              <a:t># keep it in a saved register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andi t0, s0, 0x10          </a:t>
            </a:r>
            <a:pPr indent="0" marL="0">
              <a:buNone/>
            </a:pPr>
            <a:r>
              <a:rPr lang="en-US" sz="1350" dirty="0">
                <a:solidFill>
                  <a:srgbClr val="8FB3A0"/>
                </a:solidFill>
                <a:latin typeface="Courier New" pitchFamily="34" charset="0"/>
                <a:ea typeface="Courier New" pitchFamily="34" charset="-122"/>
                <a:cs typeface="Courier New" pitchFamily="34" charset="-120"/>
              </a:rPr>
              <a:t># button A</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beqz t0, 1f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a0, 0                 </a:t>
            </a:r>
            <a:pPr indent="0" marL="0">
              <a:buNone/>
            </a:pPr>
            <a:r>
              <a:rPr lang="en-US" sz="1350" dirty="0">
                <a:solidFill>
                  <a:srgbClr val="8FB3A0"/>
                </a:solidFill>
                <a:latin typeface="Courier New" pitchFamily="34" charset="0"/>
                <a:ea typeface="Courier New" pitchFamily="34" charset="-122"/>
                <a:cs typeface="Courier New" pitchFamily="34" charset="-120"/>
              </a:rPr>
              <a:t># channel</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a1, 0                 </a:t>
            </a:r>
            <a:pPr indent="0" marL="0">
              <a:buNone/>
            </a:pPr>
            <a:r>
              <a:rPr lang="en-US" sz="1350" dirty="0">
                <a:solidFill>
                  <a:srgbClr val="8FB3A0"/>
                </a:solidFill>
                <a:latin typeface="Courier New" pitchFamily="34" charset="0"/>
                <a:ea typeface="Courier New" pitchFamily="34" charset="-122"/>
                <a:cs typeface="Courier New" pitchFamily="34" charset="-120"/>
              </a:rPr>
              <a:t># instrument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a2, 69                </a:t>
            </a:r>
            <a:pPr indent="0" marL="0">
              <a:buNone/>
            </a:pPr>
            <a:r>
              <a:rPr lang="en-US" sz="1350" dirty="0">
                <a:solidFill>
                  <a:srgbClr val="8FB3A0"/>
                </a:solidFill>
                <a:latin typeface="Courier New" pitchFamily="34" charset="0"/>
                <a:ea typeface="Courier New" pitchFamily="34" charset="-122"/>
                <a:cs typeface="Courier New" pitchFamily="34" charset="-120"/>
              </a:rPr>
              <a:t># note: A4, 440 Hz</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a3, 255               </a:t>
            </a:r>
            <a:pPr indent="0" marL="0">
              <a:buNone/>
            </a:pPr>
            <a:r>
              <a:rPr lang="en-US" sz="1350" dirty="0">
                <a:solidFill>
                  <a:srgbClr val="8FB3A0"/>
                </a:solidFill>
                <a:latin typeface="Courier New" pitchFamily="34" charset="0"/>
                <a:ea typeface="Courier New" pitchFamily="34" charset="-122"/>
                <a:cs typeface="Courier New" pitchFamily="34" charset="-120"/>
              </a:rPr>
              <a:t># volume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a4, 120               </a:t>
            </a:r>
            <a:pPr indent="0" marL="0">
              <a:buNone/>
            </a:pPr>
            <a:r>
              <a:rPr lang="en-US" sz="1350" dirty="0">
                <a:solidFill>
                  <a:srgbClr val="8FB3A0"/>
                </a:solidFill>
                <a:latin typeface="Courier New" pitchFamily="34" charset="0"/>
                <a:ea typeface="Courier New" pitchFamily="34" charset="-122"/>
                <a:cs typeface="Courier New" pitchFamily="34" charset="-120"/>
              </a:rPr>
              <a:t># milliseconds</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call prg32_audio_note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1:  andi t0, s0, 0x01          </a:t>
            </a:r>
            <a:pPr indent="0" marL="0">
              <a:buNone/>
            </a:pPr>
            <a:r>
              <a:rPr lang="en-US" sz="1350" dirty="0">
                <a:solidFill>
                  <a:srgbClr val="8FB3A0"/>
                </a:solidFill>
                <a:latin typeface="Courier New" pitchFamily="34" charset="0"/>
                <a:ea typeface="Courier New" pitchFamily="34" charset="-122"/>
                <a:cs typeface="Courier New" pitchFamily="34" charset="-120"/>
              </a:rPr>
              <a:t># LEFT: s0 survived the call</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beqz t0, 2f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                        </a:t>
            </a:r>
            <a:pPr indent="0" marL="0">
              <a:buNone/>
            </a:pPr>
            <a:r>
              <a:rPr lang="en-US" sz="1350" dirty="0">
                <a:solidFill>
                  <a:srgbClr val="8FB3A0"/>
                </a:solidFill>
                <a:latin typeface="Courier New" pitchFamily="34" charset="0"/>
                <a:ea typeface="Courier New" pitchFamily="34" charset="-122"/>
                <a:cs typeface="Courier New" pitchFamily="34" charset="-120"/>
              </a:rPr>
              <a:t># move left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2:  ...</a:t>
            </a:r>
            <a:endParaRPr lang="en-US" sz="13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Each button is a switch on one input pin of the chip: pressed or released, one bit</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runtime reads the pins and packs them into one word: a decoded representation (Lecture 11)</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Your game asks once per frame: this is polling</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keyboard has a hundred keys, a mouse moves in two dimensions, a display has thousands of pixels: how do they talk to a processor?</a:t>
            </a:r>
            <a:endParaRPr lang="en-US" sz="1200" dirty="0"/>
          </a:p>
        </p:txBody>
      </p:sp>
      <p:sp>
        <p:nvSpPr>
          <p:cNvPr id="17" name="Shape 15"/>
          <p:cNvSpPr/>
          <p:nvPr/>
        </p:nvSpPr>
        <p:spPr>
          <a:xfrm>
            <a:off x="8090738" y="91440"/>
            <a:ext cx="3552317" cy="274320"/>
          </a:xfrm>
          <a:prstGeom prst="rect">
            <a:avLst/>
          </a:prstGeom>
          <a:solidFill>
            <a:srgbClr val="E0F2FE"/>
          </a:solidFill>
          <a:ln w="12700">
            <a:solidFill>
              <a:srgbClr val="0369A1"/>
            </a:solidFill>
            <a:prstDash val="solid"/>
          </a:ln>
        </p:spPr>
      </p:sp>
      <p:sp>
        <p:nvSpPr>
          <p:cNvPr id="18" name="Shape 16"/>
          <p:cNvSpPr/>
          <p:nvPr/>
        </p:nvSpPr>
        <p:spPr>
          <a:xfrm>
            <a:off x="8090738"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218754" y="128016"/>
            <a:ext cx="201168" cy="201168"/>
          </a:xfrm>
          <a:prstGeom prst="rect">
            <a:avLst/>
          </a:prstGeom>
        </p:spPr>
      </p:pic>
      <p:sp>
        <p:nvSpPr>
          <p:cNvPr id="20" name="Text 17"/>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polling, interrupts, DMA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l21.S (1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300" dirty="0">
                <a:solidFill>
                  <a:srgbClr val="8FB3A0"/>
                </a:solidFill>
                <a:latin typeface="Courier New" pitchFamily="34" charset="0"/>
                <a:ea typeface="Courier New" pitchFamily="34" charset="-122"/>
                <a:cs typeface="Courier New" pitchFamily="34" charset="-120"/>
              </a:rPr>
              <a:t># ARC12 Computer Architecture - Lecture 21: Input and Output</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l21.S: read the world, once per frame</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On the screen: a yellow square in the middle of the screen. LEFT moves it to the</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left; A plays a note, and the square keeps moving while the note sounds.</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Build: python3 -m prg32 cartridge build l21.S --portable \</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--entry-prefix l21 --name l21 --out l21.prg32</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.option norelax</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.section .text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l21_init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l21_update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l21_draw</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l21_init: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l21_update: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steer_update: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s0, 8(sp)</a:t>
            </a:r>
            <a:endParaRPr lang="en-US" sz="13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l21.S (2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    call prg32_input_read      </a:t>
            </a:r>
            <a:pPr indent="0" marL="0">
              <a:buNone/>
            </a:pPr>
            <a:r>
              <a:rPr lang="en-US" sz="1350" dirty="0">
                <a:solidFill>
                  <a:srgbClr val="8FB3A0"/>
                </a:solidFill>
                <a:latin typeface="Courier New" pitchFamily="34" charset="0"/>
                <a:ea typeface="Courier New" pitchFamily="34" charset="-122"/>
                <a:cs typeface="Courier New" pitchFamily="34" charset="-120"/>
              </a:rPr>
              <a:t># a0 = one bit per button</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mv   s0, a0                </a:t>
            </a:r>
            <a:pPr indent="0" marL="0">
              <a:buNone/>
            </a:pPr>
            <a:r>
              <a:rPr lang="en-US" sz="1350" dirty="0">
                <a:solidFill>
                  <a:srgbClr val="8FB3A0"/>
                </a:solidFill>
                <a:latin typeface="Courier New" pitchFamily="34" charset="0"/>
                <a:ea typeface="Courier New" pitchFamily="34" charset="-122"/>
                <a:cs typeface="Courier New" pitchFamily="34" charset="-120"/>
              </a:rPr>
              <a:t># keep it in a saved register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andi t0, s0, 0x10          </a:t>
            </a:r>
            <a:pPr indent="0" marL="0">
              <a:buNone/>
            </a:pPr>
            <a:r>
              <a:rPr lang="en-US" sz="1350" dirty="0">
                <a:solidFill>
                  <a:srgbClr val="8FB3A0"/>
                </a:solidFill>
                <a:latin typeface="Courier New" pitchFamily="34" charset="0"/>
                <a:ea typeface="Courier New" pitchFamily="34" charset="-122"/>
                <a:cs typeface="Courier New" pitchFamily="34" charset="-120"/>
              </a:rPr>
              <a:t># button A</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beqz t0, 1f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a0, 0                 </a:t>
            </a:r>
            <a:pPr indent="0" marL="0">
              <a:buNone/>
            </a:pPr>
            <a:r>
              <a:rPr lang="en-US" sz="1350" dirty="0">
                <a:solidFill>
                  <a:srgbClr val="8FB3A0"/>
                </a:solidFill>
                <a:latin typeface="Courier New" pitchFamily="34" charset="0"/>
                <a:ea typeface="Courier New" pitchFamily="34" charset="-122"/>
                <a:cs typeface="Courier New" pitchFamily="34" charset="-120"/>
              </a:rPr>
              <a:t># channel</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a1, 0                 </a:t>
            </a:r>
            <a:pPr indent="0" marL="0">
              <a:buNone/>
            </a:pPr>
            <a:r>
              <a:rPr lang="en-US" sz="1350" dirty="0">
                <a:solidFill>
                  <a:srgbClr val="8FB3A0"/>
                </a:solidFill>
                <a:latin typeface="Courier New" pitchFamily="34" charset="0"/>
                <a:ea typeface="Courier New" pitchFamily="34" charset="-122"/>
                <a:cs typeface="Courier New" pitchFamily="34" charset="-120"/>
              </a:rPr>
              <a:t># instrument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a2, 69                </a:t>
            </a:r>
            <a:pPr indent="0" marL="0">
              <a:buNone/>
            </a:pPr>
            <a:r>
              <a:rPr lang="en-US" sz="1350" dirty="0">
                <a:solidFill>
                  <a:srgbClr val="8FB3A0"/>
                </a:solidFill>
                <a:latin typeface="Courier New" pitchFamily="34" charset="0"/>
                <a:ea typeface="Courier New" pitchFamily="34" charset="-122"/>
                <a:cs typeface="Courier New" pitchFamily="34" charset="-120"/>
              </a:rPr>
              <a:t># note: A4, 440 Hz</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a3, 255               </a:t>
            </a:r>
            <a:pPr indent="0" marL="0">
              <a:buNone/>
            </a:pPr>
            <a:r>
              <a:rPr lang="en-US" sz="1350" dirty="0">
                <a:solidFill>
                  <a:srgbClr val="8FB3A0"/>
                </a:solidFill>
                <a:latin typeface="Courier New" pitchFamily="34" charset="0"/>
                <a:ea typeface="Courier New" pitchFamily="34" charset="-122"/>
                <a:cs typeface="Courier New" pitchFamily="34" charset="-120"/>
              </a:rPr>
              <a:t># volume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a4, 120               </a:t>
            </a:r>
            <a:pPr indent="0" marL="0">
              <a:buNone/>
            </a:pPr>
            <a:r>
              <a:rPr lang="en-US" sz="1350" dirty="0">
                <a:solidFill>
                  <a:srgbClr val="8FB3A0"/>
                </a:solidFill>
                <a:latin typeface="Courier New" pitchFamily="34" charset="0"/>
                <a:ea typeface="Courier New" pitchFamily="34" charset="-122"/>
                <a:cs typeface="Courier New" pitchFamily="34" charset="-120"/>
              </a:rPr>
              <a:t># milliseconds</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call prg32_audio_note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1:  andi t0, s0, 0x01          </a:t>
            </a:r>
            <a:pPr indent="0" marL="0">
              <a:buNone/>
            </a:pPr>
            <a:r>
              <a:rPr lang="en-US" sz="1350" dirty="0">
                <a:solidFill>
                  <a:srgbClr val="8FB3A0"/>
                </a:solidFill>
                <a:latin typeface="Courier New" pitchFamily="34" charset="0"/>
                <a:ea typeface="Courier New" pitchFamily="34" charset="-122"/>
                <a:cs typeface="Courier New" pitchFamily="34" charset="-120"/>
              </a:rPr>
              <a:t># LEFT: s0 survived the call</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beqz t0, 2f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t1, marker_x</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t2, 0(t1)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t2, t2, -2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t2, 0(t1)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2:  lw   s0, 8(sp)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ra, 12(sp)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l21.S (3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600" dirty="0">
                <a:solidFill>
                  <a:srgbClr val="E6EDF2"/>
                </a:solidFill>
                <a:latin typeface="Courier New" pitchFamily="34" charset="0"/>
                <a:ea typeface="Courier New" pitchFamily="34" charset="-122"/>
                <a:cs typeface="Courier New" pitchFamily="34" charset="-120"/>
              </a:rPr>
              <a:t>l21_draw:</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addi sp, sp, -16</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sw   ra, 12(sp)</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li   a0, 0</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call prg32_gfx_clear</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la   t0, marker_x</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lw   a0, 0(t0)</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li   a1, 100</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li   a2, 16</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li   a3, 16</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li   a4, 0xffe0</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call prg32_gfx_rect</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lw   ra, 12(sp)</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addi sp, sp, 16</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ret</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.section .data</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marker_x: .word 152</a:t>
            </a:r>
            <a:endParaRPr lang="en-US" sz="16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170992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 yellow square in the middle of the screen. LEFT moves it to the left; A plays a note, and the square keeps moving while the note sounds.</a:t>
            </a:r>
            <a:endParaRPr lang="en-US" sz="2400" dirty="0"/>
          </a:p>
        </p:txBody>
      </p:sp>
      <p:sp>
        <p:nvSpPr>
          <p:cNvPr id="5" name="Shape 3"/>
          <p:cNvSpPr/>
          <p:nvPr/>
        </p:nvSpPr>
        <p:spPr>
          <a:xfrm>
            <a:off x="548640" y="388924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767328"/>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LEFT moves the square; A plays a note</a:t>
            </a:r>
            <a:endParaRPr lang="en-US" sz="2400" dirty="0"/>
          </a:p>
        </p:txBody>
      </p:sp>
      <p:pic>
        <p:nvPicPr>
          <p:cNvPr id="7" name="Image 0" descr="/Users/raffaelemontella/devel/riscv-prg32/computer-architecture-with-prg32/tools/assets/lab_l21.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~/arc12/code/l21.S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l21 --name l21 --out l21.prg32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l21.prg32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~/arc12/code/l21.S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l21 --name l21 --architecture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l21-qemu.prg32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l21-qemu.prg32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~/arc12/code/l21.S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l21 --name l21 --architecture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l21-esp32c6.prg32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l21-esp32c6.prg32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l21;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paper first, then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 keyboard has 104 keys: how many bits does the key code need? How many rows and columns could the matrix have?</a:t>
            </a:r>
            <a:endParaRPr lang="en-US" sz="2000" dirty="0"/>
          </a:p>
        </p:txBody>
      </p:sp>
      <p:sp>
        <p:nvSpPr>
          <p:cNvPr id="6" name="Text 4"/>
          <p:cNvSpPr txBox="1"/>
          <p:nvPr/>
        </p:nvSpPr>
        <p:spPr>
          <a:xfrm>
            <a:off x="548640" y="21945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176272"/>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 page of 8 by 11 inches at 600 dots per inch, one bit per dot: how much memory does the printer need for the bitmap?</a:t>
            </a:r>
            <a:endParaRPr lang="en-US" sz="2000" dirty="0"/>
          </a:p>
        </p:txBody>
      </p:sp>
      <p:sp>
        <p:nvSpPr>
          <p:cNvPr id="8" name="Text 6"/>
          <p:cNvSpPr txBox="1"/>
          <p:nvPr/>
        </p:nvSpPr>
        <p:spPr>
          <a:xfrm>
            <a:off x="548640" y="29535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935224"/>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Move a pointer on the PRG32 screen with the joystick, as a mouse would: keep x and y, clamp them to the screen</a:t>
            </a:r>
            <a:endParaRPr lang="en-US" sz="2000" dirty="0"/>
          </a:p>
        </p:txBody>
      </p:sp>
      <p:sp>
        <p:nvSpPr>
          <p:cNvPr id="10" name="Text 8"/>
          <p:cNvSpPr txBox="1"/>
          <p:nvPr/>
        </p:nvSpPr>
        <p:spPr>
          <a:xfrm>
            <a:off x="548640" y="371246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694176"/>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Make button A act only once per press (edge detection, Lecture 13)</a:t>
            </a:r>
            <a:endParaRPr lang="en-US" sz="2000" dirty="0"/>
          </a:p>
        </p:txBody>
      </p:sp>
      <p:sp>
        <p:nvSpPr>
          <p:cNvPr id="12" name="Text 10"/>
          <p:cNvSpPr txBox="1"/>
          <p:nvPr/>
        </p:nvSpPr>
        <p:spPr>
          <a:xfrm>
            <a:off x="548640" y="42905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7228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Draw a seven-segment score with rectangles, using the transcoder table of Lecture 11</a:t>
            </a:r>
            <a:endParaRPr lang="en-US" sz="20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On paper: 7 bits, for example 8 by 13; about 4 MB. On PRG32: a pointer that stays on screen and a button that fires once per press.</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Input and Output: the code</dc:title>
  <dc:subject>Lecture 21</dc:subject>
  <dc:creator>Raffaele Montella</dc:creator>
  <cp:lastModifiedBy>Raffaele Montella</cp:lastModifiedBy>
  <cp:revision>1</cp:revision>
  <dcterms:created xsi:type="dcterms:W3CDTF">2026-10-16T15:51:38Z</dcterms:created>
  <dcterms:modified xsi:type="dcterms:W3CDTF">2026-10-16T15:51:38Z</dcterms:modified>
</cp:coreProperties>
</file>