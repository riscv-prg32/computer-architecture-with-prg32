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303d89f-a863-5758-8063-9d94ca4e2e79}">
          <p14:sldIdLst>
            <p14:sldId id="256"/>
            <p14:sldId id="257"/>
          </p14:sldIdLst>
        </p14:section>
        <p14:section name="The listings" id="{d7859ae7-3f69-38b3-0672-987666db99c5}">
          <p14:sldIdLst>
            <p14:sldId id="258"/>
            <p14:sldId id="259"/>
            <p14:sldId id="260"/>
            <p14:sldId id="261"/>
            <p14:sldId id="262"/>
            <p14:sldId id="263"/>
            <p14:sldId id="264"/>
            <p14:sldId id="265"/>
          </p14:sldIdLst>
        </p14:section>
        <p14:section name="The complete program" id="{8087254e-1335-1202-5d11-17f2faabe06a}">
          <p14:sldIdLst>
            <p14:sldId id="266"/>
            <p14:sldId id="267"/>
            <p14:sldId id="268"/>
            <p14:sldId id="269"/>
          </p14:sldIdLst>
        </p14:section>
        <p14:section name="Run it and test it" id="{9ed617b5-f22b-f4e7-21a7-b26e64d924dc}">
          <p14:sldIdLst>
            <p14:sldId id="270"/>
            <p14:sldId id="271"/>
            <p14:sldId id="272"/>
            <p14:sldId id="273"/>
            <p14:sldId id="274"/>
            <p14:sldId id="275"/>
          </p14:sldIdLst>
        </p14:section>
        <p14:section name="Exercises" id="{72abda34-7f13-edb3-e993-1eb3dbf48d3c}">
          <p14:sldIdLst>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code deck of Lecture 24. The lecture deck holds the concepts; this one holds everything you type and run: the listings with their explanation, the complete program, what it shows, and the way to test it on each of the three hosts.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deck contains, in the order of the slides. The program of the lecture is a file that you can build and run as it is: start from there, and come back to the listings to understand each part. The program of this lecture is ~/arc12/code/l24.S; tools/tests/cartridges/run.py builds it, runs it on PRG32-QT with scripted input and checks the pixels of the frame.
For the lecturer: Get the code once: git clone https://github.com/riscv-prg32/computer-architecture-with-prg32 ~/arc12. The program of this lecture is ~/arc12/code/l24.S; tools/tests/cartridges/run.py builds it, runs it on PRG32-QT with scripted input and checks the pixels of the frame. Every listing on these slides is read by the build from a tested file, or checked by tools/tests: see its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loop that empties the map in new_game: 960 bytes set to zero. Four instructions per turn: a store of one byte, the increment of the address, the decrement of the counter, the branch back. In all 3,840 instructions, one byte at a time, one instruction at a time. On the kit it takes about 24 microseconds, and nobody needs it faster. It is chosen because it is small enough to be followed onto every machine of today. In how many ways can it be made faster?
For the lecturer: The processor cycle of Lecture 19. At best one instruction per clock cycle, and 160 million cycles per second on the kit: about 24 microseconds. Nobody needs this loop to be faster; it is small enough to follow onto every machine of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gets in the way. The second instruction uses t0, which the first is still computing: it cannot run beside it. This is a data dependence. The third depends on nobody, and yet in an in-order processor it waits behind the second. The fourth is a branch: until it is resolved the processor does not know whether the fifth must be executed. This is a control dependence. Real programs are full of such chains, so width alone is not enough.
For the lecturer: Data dependences, control dependences. An in-order superscalar stalls at i2 and everything behind it waits. The remedy is to let i3 overtake.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Register renaming on an example. On the left the code as written: two halves, each loading a word, incrementing it and storing it back, and both using t0. The second half reuses the name, not the value: it is a false dependence. On the right, after renaming, each new value has its own physical register, and the two halves share nothing, so they can execute at the same time. The thirty-two registers you know are names; the chip has a few hundred registers.
For the lecturer: A false dependence: the same name for two unrelated values. p41 to p44 are invented numbers of physical registers. A big core has a few hundred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loop with the vector extension. v0 is a vector register, many bytes wide, filled with zeros. In each turn vsetvli asks: of the bytes still to do, how many fit in a register? The answer goes in t2. vse8.v stores that many bytes with a single instruction, and the address and the counter advance by t2. With 128-bit registers a turn handles 16 bytes: 60 turns instead of 960. The code never states the width of the registers, so the same program works with any width.
For the lecturer: The V extension, ratified in 2021. Not on the kit: the ESP32-C6 is RV32IMAC. The code never says how wide the registers are: it is vector-length agnostic, and the same binary uses 128, 256 or 1024 bits. Tested on QEMU at 128, 256, 512 and 1024 bits by tools/tests/vector_qemu.S.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sum, lane by lane. A vector register holds several words, each in its own lane. vle32.v loads several words at once; vadd.vv adds two registers lane by lane, so that v1 accumulates as many partial sums as there are lanes. At the end vredsum adds the lanes together into one number. With the sixteen numbers from 1 to 16 the result is 136. It is the parallel sum you saw as a picture in Lecture 04, now as instructions.
For the lecturer: The parallel sum of Lectures 04 and 20, in RISC-V. tu, tail undisturbed, keeps the partial sums of the lanes that the last turn does not use. Tested on QEMU together with the previous listing.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 of Verm1 on a GPU. The function marked as kernel runs once in every thread. Each thread first computes who it is, its index i, from the number of its block and its position in the block; then, if the index is inside the map, it clears its own cell. There is no loop: there are 960 threads. The last line, on the host, launches four blocks of 256 threads. For 960 bytes the two copies cost far more than the work: this example shows the form, not a gain.
For the lecturer: CUDA C, in its usual textbook form; not compiled for these slides. The point of the last callout is serious: a GPU pays off when the data are large and the work per element is real. Ask: for which size of map would it be worth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 of Verm1 that forbids the U-turn, written as hardware. Verilog is a language that describes circuits, not sequences of steps. The module has two inputs of two bits, the current direction and the one requested, and one output. The line with assign is a wire that is always true: the output is 1 when the XOR of the two directions equals binary 10. There is no before and after. On the kit the same rule took three instructions.
For the lecturer: A hardware description language: Verilog, or VHDL. Not synthesised for these slides. The xor, li, beq of Part 2 become gates that answer in a fraction of a nanosecond, continuously. Ask the students to draw the circuit: refuse = (d1 xor w1) and not (d0 xor w0).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Emptying the 960 cells of the map. On the kit: one byte per turn, 3,840 cycles. On an out-of-order RISC-V core: the same binary, in a fraction of those cycles. With 128-bit vectors: 60 turns. On a GPU: one launch of 960 threads, plus two copies. On an FPGA: 960 flip-flops with a common reset, one clock cycle. The work is the same; what changes is how much of it happens at the same time, and what it costs to obtain it. The engineer's question is not which is fastest, but which is enough.
For the lecturer: The work is the same; what changes is how much of it happens at the same time. And the costs: the first row needs a two-euro chip and four lines of assembly; the last needs a hardware design. The engineer's question is never which is fastest, but which is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For the lecturer: code/l24.S,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For the lecturer: code/l24.S,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For the lecturer: code/l24.S,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For the lecturer: code/l24.S,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program shows when it runs, and what to press. Predict before you run: if the screen differs from this picture, the difference is information. The picture was written by the automatic test, not drawn by hand.
For the lecturer: The picture is the frame that the headless runner of PRG32-QT produced in the test of this program. On QEMU and on the board the game area is the same 320 by 200 pixels, between the two status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quickest way: PRG32-QT on your own computer. Four steps, each with its command. PRG32-QT behaves like a board on port 8080, which is why the upload command says esp32c6. With debug mode enabled you can stop at any instruction and read registers and memory.
For the lecturer: Run by the tests: the cartridge of this slide is built with this command and executed on the headless runner of PRG32-QT. Without the toolchain: import the .prg32 file in PRG32-QT and choose Run Cartridge. Keys: arrows or WASD for the joystick, Z or J for A, X or K for B, Enter for Start, Escape to go back to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emulator. QEMU runs the real firmware on an emulated chip, so the cartridge must be built for the architecture qemu. Stage the cartridge while QEMU is closed. The firmware opens on the Setup menu: choose Run Cartridge and the slot. Remember that the keyboard is read by the terminal, not by the window with the picture.
For the lecturer: Checked by the tests up to the staging: the cartridge is built for the architecture qemu and accepted into the flash image of the emulator. What the emulator then shows is not checked automatically: Espressif QEMU needs its window. Since October 2026 the firmware starts on Setup: choose Run Cartridge, then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kit. The firmware is written once, through USB; after that cartridges travel over Wi-Fi. The upload command is the one used for PRG32-QT with the address of the board. This is the only host that the automatic tests do not run: try it, and report what you see.
For the lecturer: Not run by the tests: there is no board on the test machine. The cartridge for the architecture esp32c6 is built by the tests; the steps are those of the PRG32 documentation. If the serial port is not found pass it explicitly. To use the Wi-Fi of the classroom: python3 -m prg32 wifi set --ssid NAME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vector listings of this lecture cannot run on the kit, whose processor has no V extension. They are tested on a bare emulated processor instead: the commands build one binary and run it with four vector lengths. The exit code is the result.
For the lecturer: Run by the tests (tools/tests/run_all.sh, step vectors). On macOS there is no timeout command: if a listing loops for ever, stop QEMU with Ctrl-A 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most common symptoms, what each means, and what to do. Read the message before changing anything: it nearly always names the cause.
For the lecturer: The first three rows cover most cases. When asking for help, paste the command and the whole message as text. docs/usage/troubleshooting.md of the PRG32 repository has the complete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exercises. Fill in the Amdahl table for p = 0.95. Draw the pipeline diagram of a three-wide processor for nine independent instructions. Rename the registers of a fragment of Verm1 and say which instructions could run in the same cycle. Write the truth table of a four-input look-up table for the U-turn rule. And build the vector test and run it on QEMU with two different widths: why does the same binary work?
For the lecturer: QEMU: qemu-system-riscv32 -machine virt -cpu rv32,v=true,vlen=128; the build command is in tools/tests/README.md. The four ones of the table: (dir, want) = (0,2), (1,3), (2,0), (3,1).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24: Beyond one core (code)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24</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3900" b="1" dirty="0">
                <a:solidFill>
                  <a:srgbClr val="FFFFFF"/>
                </a:solidFill>
                <a:latin typeface="Cambria" pitchFamily="34" charset="0"/>
                <a:ea typeface="Cambria" pitchFamily="34" charset="-122"/>
                <a:cs typeface="Cambria" pitchFamily="34" charset="-120"/>
              </a:rPr>
              <a:t>Beyond One Core: Superscalar RISC-V, HPC, GPUs and FPGAs: the code</a:t>
            </a:r>
            <a:endParaRPr lang="en-US" sz="39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Code deck: every listing explained, the complete program, and how to test it on PRG32-QT, on QEMU and on the board</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Shape 9"/>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2" name="Image 0" descr="/Users/raffaelemontella/devel/riscv-prg32/computer-architecture-with-prg32/tools/assets/cluster_1.jpg">    </p:cNvPr>
          <p:cNvPicPr>
            <a:picLocks noChangeAspect="1"/>
          </p:cNvPicPr>
          <p:nvPr/>
        </p:nvPicPr>
        <p:blipFill>
          <a:blip r:embed="rId1"/>
          <a:stretch>
            <a:fillRect/>
          </a:stretch>
        </p:blipFill>
        <p:spPr>
          <a:xfrm>
            <a:off x="8915095" y="4251960"/>
            <a:ext cx="2438400" cy="1828800"/>
          </a:xfrm>
          <a:prstGeom prst="rect">
            <a:avLst/>
          </a:prstGeom>
        </p:spPr>
      </p:pic>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this deck</a:t>
            </a:r>
            <a:endParaRPr lang="en-US" sz="3200" dirty="0"/>
          </a:p>
        </p:txBody>
      </p:sp>
      <p:sp>
        <p:nvSpPr>
          <p:cNvPr id="3" name="Text 1"/>
          <p:cNvSpPr txBox="1"/>
          <p:nvPr/>
        </p:nvSpPr>
        <p:spPr>
          <a:xfrm>
            <a:off x="548640" y="161848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60020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7 listings of Lecture 24, one per slide: read the code, then the numbered remarks beside it</a:t>
            </a:r>
            <a:endParaRPr lang="en-US" sz="2200" dirty="0"/>
          </a:p>
        </p:txBody>
      </p:sp>
      <p:sp>
        <p:nvSpPr>
          <p:cNvPr id="5" name="Text 3"/>
          <p:cNvSpPr txBox="1"/>
          <p:nvPr/>
        </p:nvSpPr>
        <p:spPr>
          <a:xfrm>
            <a:off x="548640" y="275742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73913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complete program: code/l24.S, 72 lines, printed in full</a:t>
            </a:r>
            <a:endParaRPr lang="en-US" sz="2200" dirty="0"/>
          </a:p>
        </p:txBody>
      </p:sp>
      <p:sp>
        <p:nvSpPr>
          <p:cNvPr id="7" name="Text 5"/>
          <p:cNvSpPr txBox="1"/>
          <p:nvPr/>
        </p:nvSpPr>
        <p:spPr>
          <a:xfrm>
            <a:off x="548640" y="365353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63524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What you should see when it runs, checked on the PRG32-QT headless runner</a:t>
            </a:r>
            <a:endParaRPr lang="en-US" sz="2200" dirty="0"/>
          </a:p>
        </p:txBody>
      </p:sp>
      <p:sp>
        <p:nvSpPr>
          <p:cNvPr id="9" name="Text 7"/>
          <p:cNvSpPr txBox="1"/>
          <p:nvPr/>
        </p:nvSpPr>
        <p:spPr>
          <a:xfrm>
            <a:off x="548640" y="454964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53136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How to test it, step by step: on PRG32-QT, on QEMU, on the board</a:t>
            </a:r>
            <a:endParaRPr lang="en-US" sz="2200" dirty="0"/>
          </a:p>
        </p:txBody>
      </p:sp>
      <p:sp>
        <p:nvSpPr>
          <p:cNvPr id="11" name="Text 9"/>
          <p:cNvSpPr txBox="1"/>
          <p:nvPr/>
        </p:nvSpPr>
        <p:spPr>
          <a:xfrm>
            <a:off x="548640" y="54457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42747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exercises: change the program, predict, run</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loop that empties the map</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50" dirty="0">
                <a:solidFill>
                  <a:srgbClr val="E6EDF2"/>
                </a:solidFill>
                <a:latin typeface="Courier New" pitchFamily="34" charset="0"/>
                <a:ea typeface="Courier New" pitchFamily="34" charset="-122"/>
                <a:cs typeface="Courier New" pitchFamily="34" charset="-120"/>
              </a:rPr>
              <a:t>    la   t0, grid</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li   t1, COLS*ROWS</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1:  sb   zero, 0(t0)            </a:t>
            </a:r>
            <a:pPr indent="0" marL="0">
              <a:buNone/>
            </a:pPr>
            <a:r>
              <a:rPr lang="en-US" sz="1550" dirty="0">
                <a:solidFill>
                  <a:srgbClr val="8FB3A0"/>
                </a:solidFill>
                <a:latin typeface="Courier New" pitchFamily="34" charset="0"/>
                <a:ea typeface="Courier New" pitchFamily="34" charset="-122"/>
                <a:cs typeface="Courier New" pitchFamily="34" charset="-120"/>
              </a:rPr>
              <a:t># one byte per turn of the loop</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addi t0, t0, 1</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addi t1, t1, -1</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bnez t1, 1b</a:t>
            </a:r>
            <a:endParaRPr lang="en-US" sz="15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From new_game of Verm1: 960 bytes set to zero</a:t>
            </a:r>
            <a:endParaRPr lang="en-US" sz="15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Four instructions per byte: 3 840 instructions in all</a:t>
            </a:r>
            <a:endParaRPr lang="en-US" sz="15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One byte at a time, one instruction at a time</a:t>
            </a:r>
            <a:endParaRPr lang="en-US" sz="15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How many ways are there to make this faster?</a:t>
            </a:r>
            <a:endParaRPr lang="en-US" sz="15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What gets in the way: dependences</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    add  t0, t1, t2        </a:t>
            </a:r>
            <a:pPr indent="0" marL="0">
              <a:buNone/>
            </a:pPr>
            <a:r>
              <a:rPr lang="en-US" sz="1500" dirty="0">
                <a:solidFill>
                  <a:srgbClr val="8FB3A0"/>
                </a:solidFill>
                <a:latin typeface="Courier New" pitchFamily="34" charset="0"/>
                <a:ea typeface="Courier New" pitchFamily="34" charset="-122"/>
                <a:cs typeface="Courier New" pitchFamily="34" charset="-120"/>
              </a:rPr>
              <a:t># i1</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  t3, t0, t4        </a:t>
            </a:r>
            <a:pPr indent="0" marL="0">
              <a:buNone/>
            </a:pPr>
            <a:r>
              <a:rPr lang="en-US" sz="1500" dirty="0">
                <a:solidFill>
                  <a:srgbClr val="8FB3A0"/>
                </a:solidFill>
                <a:latin typeface="Courier New" pitchFamily="34" charset="0"/>
                <a:ea typeface="Courier New" pitchFamily="34" charset="-122"/>
                <a:cs typeface="Courier New" pitchFamily="34" charset="-120"/>
              </a:rPr>
              <a:t># i2 needs the t0 of i1: it must wait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t5, 0(t6)         </a:t>
            </a:r>
            <a:pPr indent="0" marL="0">
              <a:buNone/>
            </a:pPr>
            <a:r>
              <a:rPr lang="en-US" sz="1500" dirty="0">
                <a:solidFill>
                  <a:srgbClr val="8FB3A0"/>
                </a:solidFill>
                <a:latin typeface="Courier New" pitchFamily="34" charset="0"/>
                <a:ea typeface="Courier New" pitchFamily="34" charset="-122"/>
                <a:cs typeface="Courier New" pitchFamily="34" charset="-120"/>
              </a:rPr>
              <a:t># i3 is independent: it could go now</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beqz t3, skip          </a:t>
            </a:r>
            <a:pPr indent="0" marL="0">
              <a:buNone/>
            </a:pPr>
            <a:r>
              <a:rPr lang="en-US" sz="1500" dirty="0">
                <a:solidFill>
                  <a:srgbClr val="8FB3A0"/>
                </a:solidFill>
                <a:latin typeface="Courier New" pitchFamily="34" charset="0"/>
                <a:ea typeface="Courier New" pitchFamily="34" charset="-122"/>
                <a:cs typeface="Courier New" pitchFamily="34" charset="-120"/>
              </a:rPr>
              <a:t># i4: which way? known only after i2</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t5, t5, 1         </a:t>
            </a:r>
            <a:pPr indent="0" marL="0">
              <a:buNone/>
            </a:pPr>
            <a:r>
              <a:rPr lang="en-US" sz="1500" dirty="0">
                <a:solidFill>
                  <a:srgbClr val="8FB3A0"/>
                </a:solidFill>
                <a:latin typeface="Courier New" pitchFamily="34" charset="0"/>
                <a:ea typeface="Courier New" pitchFamily="34" charset="-122"/>
                <a:cs typeface="Courier New" pitchFamily="34" charset="-120"/>
              </a:rPr>
              <a:t># i5: executed, or not?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skip:</a:t>
            </a:r>
            <a:endParaRPr lang="en-US" sz="15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i2 cannot run beside i1: it uses its result</a:t>
            </a:r>
            <a:endParaRPr lang="en-US" sz="14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i3 depends on nobody: why should it wait?</a:t>
            </a:r>
            <a:endParaRPr lang="en-US" sz="14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After a branch the processor does not know what comes next</a:t>
            </a:r>
            <a:endParaRPr lang="en-US" sz="14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Real code is full of such chains: width alone is not enough</a:t>
            </a:r>
            <a:endParaRPr lang="en-US" sz="14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Register renaming: thirty-two names, many registers</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8FB3A0"/>
                </a:solidFill>
                <a:latin typeface="Courier New" pitchFamily="34" charset="0"/>
                <a:ea typeface="Courier New" pitchFamily="34" charset="-122"/>
                <a:cs typeface="Courier New" pitchFamily="34" charset="-120"/>
              </a:rPr>
              <a:t># as written                 # as executed, after renaming</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t0, 0(a0)                lw   p41, 0(a0)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t0, t0, 1                addi p42, p41, 1</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t0, 0(a0)                sw   p42, 0(a0)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t0, 4(a0)                lw   p43, 4(a0)      </a:t>
            </a:r>
            <a:pPr indent="0" marL="0">
              <a:buNone/>
            </a:pPr>
            <a:r>
              <a:rPr lang="en-US" sz="1500" dirty="0">
                <a:solidFill>
                  <a:srgbClr val="8FB3A0"/>
                </a:solidFill>
                <a:latin typeface="Courier New" pitchFamily="34" charset="0"/>
                <a:ea typeface="Courier New" pitchFamily="34" charset="-122"/>
                <a:cs typeface="Courier New" pitchFamily="34" charset="-120"/>
              </a:rPr>
              <a:t># a new t0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t0, t0, 1                addi p44, p43, 1</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t0, 4(a0)                sw   p44, 4(a0)</a:t>
            </a:r>
            <a:endParaRPr lang="en-US" sz="15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The second half reuses the name t0, not its value</a:t>
            </a:r>
            <a:endParaRPr lang="en-US" sz="14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Renamed, the two halves share nothing</a:t>
            </a:r>
            <a:endParaRPr lang="en-US" sz="14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They can run at the same time, on different registers</a:t>
            </a:r>
            <a:endParaRPr lang="en-US" sz="14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The 32 registers you know are names; the chip has many more</a:t>
            </a:r>
            <a:endParaRPr lang="en-US" sz="14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same loop, with vectors</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50" dirty="0">
                <a:solidFill>
                  <a:srgbClr val="E6EDF2"/>
                </a:solidFill>
                <a:latin typeface="Courier New" pitchFamily="34" charset="0"/>
                <a:ea typeface="Courier New" pitchFamily="34" charset="-122"/>
                <a:cs typeface="Courier New" pitchFamily="34" charset="-120"/>
              </a:rPr>
              <a:t>    la   t0, grid</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li   t1, COLS*ROWS</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vsetvli t2, t1, e8, m1, ta, ma  </a:t>
            </a:r>
            <a:pPr indent="0" marL="0">
              <a:buNone/>
            </a:pPr>
            <a:r>
              <a:rPr lang="en-US" sz="1550" dirty="0">
                <a:solidFill>
                  <a:srgbClr val="8FB3A0"/>
                </a:solidFill>
                <a:latin typeface="Courier New" pitchFamily="34" charset="0"/>
                <a:ea typeface="Courier New" pitchFamily="34" charset="-122"/>
                <a:cs typeface="Courier New" pitchFamily="34" charset="-120"/>
              </a:rPr>
              <a:t># elements are bytes</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vmv.v.i v0, 0                   </a:t>
            </a:r>
            <a:pPr indent="0" marL="0">
              <a:buNone/>
            </a:pPr>
            <a:r>
              <a:rPr lang="en-US" sz="1550" dirty="0">
                <a:solidFill>
                  <a:srgbClr val="8FB3A0"/>
                </a:solidFill>
                <a:latin typeface="Courier New" pitchFamily="34" charset="0"/>
                <a:ea typeface="Courier New" pitchFamily="34" charset="-122"/>
                <a:cs typeface="Courier New" pitchFamily="34" charset="-120"/>
              </a:rPr>
              <a:t># a register full of zeros</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1:  vsetvli t2, t1, e8, m1, ta, ma  </a:t>
            </a:r>
            <a:pPr indent="0" marL="0">
              <a:buNone/>
            </a:pPr>
            <a:r>
              <a:rPr lang="en-US" sz="1550" dirty="0">
                <a:solidFill>
                  <a:srgbClr val="8FB3A0"/>
                </a:solidFill>
                <a:latin typeface="Courier New" pitchFamily="34" charset="0"/>
                <a:ea typeface="Courier New" pitchFamily="34" charset="-122"/>
                <a:cs typeface="Courier New" pitchFamily="34" charset="-120"/>
              </a:rPr>
              <a:t># t2 = bytes of this turn</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vse8.v  v0, (t0)                </a:t>
            </a:r>
            <a:pPr indent="0" marL="0">
              <a:buNone/>
            </a:pPr>
            <a:r>
              <a:rPr lang="en-US" sz="1550" dirty="0">
                <a:solidFill>
                  <a:srgbClr val="8FB3A0"/>
                </a:solidFill>
                <a:latin typeface="Courier New" pitchFamily="34" charset="0"/>
                <a:ea typeface="Courier New" pitchFamily="34" charset="-122"/>
                <a:cs typeface="Courier New" pitchFamily="34" charset="-120"/>
              </a:rPr>
              <a:t># store t2 bytes at once</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add  t0, t0, t2</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sub  t1, t1, t2</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bnez t1, 1b</a:t>
            </a:r>
            <a:endParaRPr lang="en-US" sz="15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v0 is a vector register: many bytes wide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vsetvli asks: how many of the bytes left fit? The answer is in t2</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vse8.v stores t2 bytes with one instruction</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With 128-bit registers: 16 bytes per turn, 60 turns instead of 960</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 sum, lane by lane</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    la   t0, numbers</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t1, 16                 </a:t>
            </a:r>
            <a:pPr indent="0" marL="0">
              <a:buNone/>
            </a:pPr>
            <a:r>
              <a:rPr lang="en-US" sz="1500" dirty="0">
                <a:solidFill>
                  <a:srgbClr val="8FB3A0"/>
                </a:solidFill>
                <a:latin typeface="Courier New" pitchFamily="34" charset="0"/>
                <a:ea typeface="Courier New" pitchFamily="34" charset="-122"/>
                <a:cs typeface="Courier New" pitchFamily="34" charset="-120"/>
              </a:rPr>
              <a:t># sixteen words to add</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vsetvli t2, zero, e32, m1, ta, ma</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vmv.v.i v1, 0               </a:t>
            </a:r>
            <a:pPr indent="0" marL="0">
              <a:buNone/>
            </a:pPr>
            <a:r>
              <a:rPr lang="en-US" sz="1500" dirty="0">
                <a:solidFill>
                  <a:srgbClr val="8FB3A0"/>
                </a:solidFill>
                <a:latin typeface="Courier New" pitchFamily="34" charset="0"/>
                <a:ea typeface="Courier New" pitchFamily="34" charset="-122"/>
                <a:cs typeface="Courier New" pitchFamily="34" charset="-120"/>
              </a:rPr>
              <a:t># v1 = partial sums, one per lane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1:  vsetvli t2, t1, e32, m1, tu, ma</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vle32.v v2, (t0)            </a:t>
            </a:r>
            <a:pPr indent="0" marL="0">
              <a:buNone/>
            </a:pPr>
            <a:r>
              <a:rPr lang="en-US" sz="1500" dirty="0">
                <a:solidFill>
                  <a:srgbClr val="8FB3A0"/>
                </a:solidFill>
                <a:latin typeface="Courier New" pitchFamily="34" charset="0"/>
                <a:ea typeface="Courier New" pitchFamily="34" charset="-122"/>
                <a:cs typeface="Courier New" pitchFamily="34" charset="-120"/>
              </a:rPr>
              <a:t># load t2 words</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vadd.vv v1, v1, v2          </a:t>
            </a:r>
            <a:pPr indent="0" marL="0">
              <a:buNone/>
            </a:pPr>
            <a:r>
              <a:rPr lang="en-US" sz="1500" dirty="0">
                <a:solidFill>
                  <a:srgbClr val="8FB3A0"/>
                </a:solidFill>
                <a:latin typeface="Courier New" pitchFamily="34" charset="0"/>
                <a:ea typeface="Courier New" pitchFamily="34" charset="-122"/>
                <a:cs typeface="Courier New" pitchFamily="34" charset="-120"/>
              </a:rPr>
              <a:t># add them, lane by lane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slli t3, t2, 2</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  t0, t0, t3</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sub  t1, t1, t2</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bnez t1, 1b</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vsetvli t2, zero, e32, m1, ta, ma</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vmv.s.x v3, zero</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vredsum.vs v3, v1, v3       </a:t>
            </a:r>
            <a:pPr indent="0" marL="0">
              <a:buNone/>
            </a:pPr>
            <a:r>
              <a:rPr lang="en-US" sz="1500" dirty="0">
                <a:solidFill>
                  <a:srgbClr val="8FB3A0"/>
                </a:solidFill>
                <a:latin typeface="Courier New" pitchFamily="34" charset="0"/>
                <a:ea typeface="Courier New" pitchFamily="34" charset="-122"/>
                <a:cs typeface="Courier New" pitchFamily="34" charset="-120"/>
              </a:rPr>
              <a:t># add the lanes together</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vmv.x.s a0, v3</a:t>
            </a:r>
            <a:endParaRPr lang="en-US" sz="15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vle32.v loads several words at once</a:t>
            </a:r>
            <a:endParaRPr lang="en-US" sz="13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vadd.vv adds register to register, lane by lane</a:t>
            </a:r>
            <a:endParaRPr lang="en-US" sz="13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At the end vredsum adds the lanes together</a:t>
            </a:r>
            <a:endParaRPr lang="en-US" sz="13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Sixteen numbers, 1 to 16: the result is 136</a:t>
            </a:r>
            <a:endParaRPr lang="en-US" sz="13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map of Verm1, one thread per cell</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250" dirty="0">
                <a:solidFill>
                  <a:srgbClr val="8FB3A0"/>
                </a:solidFill>
                <a:latin typeface="Courier New" pitchFamily="34" charset="0"/>
                <a:ea typeface="Courier New" pitchFamily="34" charset="-122"/>
                <a:cs typeface="Courier New" pitchFamily="34" charset="-120"/>
              </a:rPr>
              <a:t>// the kernel: this function runs once in every thread</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__global__ void clear(unsigned char *grid, int n)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int i = blockIdx.x * blockDim.x + threadIdx.x;   </a:t>
            </a:r>
            <a:pPr indent="0" marL="0">
              <a:buNone/>
            </a:pPr>
            <a:r>
              <a:rPr lang="en-US" sz="1250" dirty="0">
                <a:solidFill>
                  <a:srgbClr val="8FB3A0"/>
                </a:solidFill>
                <a:latin typeface="Courier New" pitchFamily="34" charset="0"/>
                <a:ea typeface="Courier New" pitchFamily="34" charset="-122"/>
                <a:cs typeface="Courier New" pitchFamily="34" charset="-120"/>
              </a:rPr>
              <a:t>// who am I?</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if (i &lt; n)</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grid[i] = 0;                                 </a:t>
            </a:r>
            <a:pPr indent="0" marL="0">
              <a:buNone/>
            </a:pPr>
            <a:r>
              <a:rPr lang="en-US" sz="1250" dirty="0">
                <a:solidFill>
                  <a:srgbClr val="8FB3A0"/>
                </a:solidFill>
                <a:latin typeface="Courier New" pitchFamily="34" charset="0"/>
                <a:ea typeface="Courier New" pitchFamily="34" charset="-122"/>
                <a:cs typeface="Courier New" pitchFamily="34" charset="-120"/>
              </a:rPr>
              <a:t>// my cell, and only mine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on the host: 4 blocks of 256 threads cover the 960 cells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clear&lt;&lt;&lt;(960 + 255) / 256, 256&gt;&gt;&gt;(grid, 960);</a:t>
            </a:r>
            <a:endParaRPr lang="en-US" sz="12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There is no loop: there are 960 threads</a:t>
            </a:r>
            <a:endParaRPr lang="en-US" sz="13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Each thread computes its own index and does one store</a:t>
            </a:r>
            <a:endParaRPr lang="en-US" sz="13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Threads come in blocks; the last ones find nothing to do</a:t>
            </a:r>
            <a:endParaRPr lang="en-US" sz="13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For 960 bytes the copies cost far more than the work</a:t>
            </a:r>
            <a:endParaRPr lang="en-US" sz="13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U-turn rule of Verm1, as hardware</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8FB3A0"/>
                </a:solidFill>
                <a:latin typeface="Courier New" pitchFamily="34" charset="0"/>
                <a:ea typeface="Courier New" pitchFamily="34" charset="-122"/>
                <a:cs typeface="Courier New" pitchFamily="34" charset="-120"/>
              </a:rPr>
              <a:t>// Lecture 12: opposite directions differ in bit 1 only</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module uturn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input  wire [1:0] dir,      </a:t>
            </a:r>
            <a:pPr indent="0" marL="0">
              <a:buNone/>
            </a:pPr>
            <a:r>
              <a:rPr lang="en-US" sz="1500" dirty="0">
                <a:solidFill>
                  <a:srgbClr val="8FB3A0"/>
                </a:solidFill>
                <a:latin typeface="Courier New" pitchFamily="34" charset="0"/>
                <a:ea typeface="Courier New" pitchFamily="34" charset="-122"/>
                <a:cs typeface="Courier New" pitchFamily="34" charset="-120"/>
              </a:rPr>
              <a:t>// direction of the last step</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input  wire [1:0] want,     </a:t>
            </a:r>
            <a:pPr indent="0" marL="0">
              <a:buNone/>
            </a:pPr>
            <a:r>
              <a:rPr lang="en-US" sz="1500" dirty="0">
                <a:solidFill>
                  <a:srgbClr val="8FB3A0"/>
                </a:solidFill>
                <a:latin typeface="Courier New" pitchFamily="34" charset="0"/>
                <a:ea typeface="Courier New" pitchFamily="34" charset="-122"/>
                <a:cs typeface="Courier New" pitchFamily="34" charset="-120"/>
              </a:rPr>
              <a:t>// direction asked by the player</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output wire       refuse    </a:t>
            </a:r>
            <a:pPr indent="0" marL="0">
              <a:buNone/>
            </a:pPr>
            <a:r>
              <a:rPr lang="en-US" sz="1500" dirty="0">
                <a:solidFill>
                  <a:srgbClr val="8FB3A0"/>
                </a:solidFill>
                <a:latin typeface="Courier New" pitchFamily="34" charset="0"/>
                <a:ea typeface="Courier New" pitchFamily="34" charset="-122"/>
                <a:cs typeface="Courier New" pitchFamily="34" charset="-120"/>
              </a:rPr>
              <a:t>// 1 = this would be a U-turn</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assign refuse = (dir ^ want) == 2'b10;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endmodule</a:t>
            </a:r>
            <a:endParaRPr lang="en-US" sz="15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Verilog: a language that describes circuits, not steps</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assign is a wire, always true: there is no before and after</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Two XOR gates and an AND with one inverted input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On the kit this rule took three instructions and three cycles</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Emptying the map of Verm1: 960 cells</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852850"/>
                <a:gridCol w="5388716"/>
                <a:gridCol w="2852850"/>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Machine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How</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Steps in time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The kit: ESP32-C6</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one byte per turn, one instruction per cycle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3 840 cycles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Out-of-order RISC-V core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the same binary; several instructions per cycle, the branch predicted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 fraction of those cycles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RISC-V with vectors, 128 bits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16 bytes per turn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60 turns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GPU</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960 threads, one per cell</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one launch, plus two copies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FPGA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960 flip-flops with a common reset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one clock cycle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500" i="1" dirty="0">
                <a:solidFill>
                  <a:srgbClr val="5B6B78"/>
                </a:solidFill>
                <a:latin typeface="Calibri" pitchFamily="34" charset="0"/>
                <a:ea typeface="Calibri" pitchFamily="34" charset="-122"/>
                <a:cs typeface="Calibri" pitchFamily="34" charset="-120"/>
              </a:rPr>
              <a:t>The first three rows are the same instruction set. The first and the third were run for these slides.</a:t>
            </a:r>
            <a:endParaRPr lang="en-US" sz="15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l24.S (1 of 4)</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500" dirty="0">
                <a:solidFill>
                  <a:srgbClr val="8FB3A0"/>
                </a:solidFill>
                <a:latin typeface="Courier New" pitchFamily="34" charset="0"/>
                <a:ea typeface="Courier New" pitchFamily="34" charset="-122"/>
                <a:cs typeface="Courier New" pitchFamily="34" charset="-120"/>
              </a:rPr>
              <a:t># ARC12 Computer Architecture - Lecture 24: Beyond One Core</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l24.S: the loop that empties the map of Verm1, one byte at a time</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On the screen: a green square: the 960 bytes of the map, filled with ones by init,</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were all set to zero by the four-instruction loop of the lecture. A red square would</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mean that some byte survived.</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Build: python3 -m prg32 cartridge build l24.S --portable \</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--entry-prefix l24 --name l24 --out l24.prg32</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.option norelax</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.equ BLACK, 0x0000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.equ GREEN, 0x07e0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.equ RED,   0xf800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.equ CELLS, 960              </a:t>
            </a:r>
            <a:pPr indent="0" marL="0">
              <a:buNone/>
            </a:pPr>
            <a:r>
              <a:rPr lang="en-US" sz="1500" dirty="0">
                <a:solidFill>
                  <a:srgbClr val="8FB3A0"/>
                </a:solidFill>
                <a:latin typeface="Courier New" pitchFamily="34" charset="0"/>
                <a:ea typeface="Courier New" pitchFamily="34" charset="-122"/>
                <a:cs typeface="Courier New" pitchFamily="34" charset="-120"/>
              </a:rPr>
              <a:t># 40 columns by 24 rows</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.section .text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.global l24_init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.global l24_update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.global l24_draw</a:t>
            </a:r>
            <a:endParaRPr lang="en-US" sz="15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l24.S (2 of 4)</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650" dirty="0">
                <a:solidFill>
                  <a:srgbClr val="E6EDF2"/>
                </a:solidFill>
                <a:latin typeface="Courier New" pitchFamily="34" charset="0"/>
                <a:ea typeface="Courier New" pitchFamily="34" charset="-122"/>
                <a:cs typeface="Courier New" pitchFamily="34" charset="-120"/>
              </a:rPr>
              <a:t>l24_init:                    </a:t>
            </a:r>
            <a:pPr indent="0" marL="0">
              <a:buNone/>
            </a:pPr>
            <a:r>
              <a:rPr lang="en-US" sz="1650" dirty="0">
                <a:solidFill>
                  <a:srgbClr val="8FB3A0"/>
                </a:solidFill>
                <a:latin typeface="Courier New" pitchFamily="34" charset="0"/>
                <a:ea typeface="Courier New" pitchFamily="34" charset="-122"/>
                <a:cs typeface="Courier New" pitchFamily="34" charset="-120"/>
              </a:rPr>
              <a:t># fill the map with ones, so that there is work to do</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la   t0, grid</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li   t1, CELLS</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li   t2, 1</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1:  sb   t2, 0(t0)</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addi t0, t0, 1</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addi t1, t1, -1</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bnez t1, 1b</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ret</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l24_update:</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la   t0, grid            </a:t>
            </a:r>
            <a:pPr indent="0" marL="0">
              <a:buNone/>
            </a:pPr>
            <a:r>
              <a:rPr lang="en-US" sz="1650" dirty="0">
                <a:solidFill>
                  <a:srgbClr val="8FB3A0"/>
                </a:solidFill>
                <a:latin typeface="Courier New" pitchFamily="34" charset="0"/>
                <a:ea typeface="Courier New" pitchFamily="34" charset="-122"/>
                <a:cs typeface="Courier New" pitchFamily="34" charset="-120"/>
              </a:rPr>
              <a:t># the loop of the lecture</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li   t1, CELLS</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1:  sb   zero, 0(t0)         </a:t>
            </a:r>
            <a:pPr indent="0" marL="0">
              <a:buNone/>
            </a:pPr>
            <a:r>
              <a:rPr lang="en-US" sz="1650" dirty="0">
                <a:solidFill>
                  <a:srgbClr val="8FB3A0"/>
                </a:solidFill>
                <a:latin typeface="Courier New" pitchFamily="34" charset="0"/>
                <a:ea typeface="Courier New" pitchFamily="34" charset="-122"/>
                <a:cs typeface="Courier New" pitchFamily="34" charset="-120"/>
              </a:rPr>
              <a:t># one byte ...</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addi t0, t0, 1           </a:t>
            </a:r>
            <a:pPr indent="0" marL="0">
              <a:buNone/>
            </a:pPr>
            <a:r>
              <a:rPr lang="en-US" sz="1650" dirty="0">
                <a:solidFill>
                  <a:srgbClr val="8FB3A0"/>
                </a:solidFill>
                <a:latin typeface="Courier New" pitchFamily="34" charset="0"/>
                <a:ea typeface="Courier New" pitchFamily="34" charset="-122"/>
                <a:cs typeface="Courier New" pitchFamily="34" charset="-120"/>
              </a:rPr>
              <a:t># ... the next address ...</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addi t1, t1, -1          </a:t>
            </a:r>
            <a:pPr indent="0" marL="0">
              <a:buNone/>
            </a:pPr>
            <a:r>
              <a:rPr lang="en-US" sz="1650" dirty="0">
                <a:solidFill>
                  <a:srgbClr val="8FB3A0"/>
                </a:solidFill>
                <a:latin typeface="Courier New" pitchFamily="34" charset="0"/>
                <a:ea typeface="Courier New" pitchFamily="34" charset="-122"/>
                <a:cs typeface="Courier New" pitchFamily="34" charset="-120"/>
              </a:rPr>
              <a:t># ... one fewer to go ...</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bnez t1, 1b              </a:t>
            </a:r>
            <a:pPr indent="0" marL="0">
              <a:buNone/>
            </a:pPr>
            <a:r>
              <a:rPr lang="en-US" sz="1650" dirty="0">
                <a:solidFill>
                  <a:srgbClr val="8FB3A0"/>
                </a:solidFill>
                <a:latin typeface="Courier New" pitchFamily="34" charset="0"/>
                <a:ea typeface="Courier New" pitchFamily="34" charset="-122"/>
                <a:cs typeface="Courier New" pitchFamily="34" charset="-120"/>
              </a:rPr>
              <a:t># ... 960 times: 3840 instructions</a:t>
            </a:r>
            <a:endParaRPr lang="en-US" sz="165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l24.S (3 of 4)</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    la   t0, grid            </a:t>
            </a:r>
            <a:pPr indent="0" marL="0">
              <a:buNone/>
            </a:pPr>
            <a:r>
              <a:rPr lang="en-US" sz="1800" dirty="0">
                <a:solidFill>
                  <a:srgbClr val="8FB3A0"/>
                </a:solidFill>
                <a:latin typeface="Courier New" pitchFamily="34" charset="0"/>
                <a:ea typeface="Courier New" pitchFamily="34" charset="-122"/>
                <a:cs typeface="Courier New" pitchFamily="34" charset="-120"/>
              </a:rPr>
              <a:t># count the bytes that are not zero</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t1, CELLS</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t3, 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2:  lbu  t2, 0(t0)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  t3, t3, t2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t0, t0, 1</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t1, t1, -1</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bnez t1, 2b</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la   t0, left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sw   t3, 0(t0)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l24.S (4 of 4)</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300" dirty="0">
                <a:solidFill>
                  <a:srgbClr val="E6EDF2"/>
                </a:solidFill>
                <a:latin typeface="Courier New" pitchFamily="34" charset="0"/>
                <a:ea typeface="Courier New" pitchFamily="34" charset="-122"/>
                <a:cs typeface="Courier New" pitchFamily="34" charset="-120"/>
              </a:rPr>
              <a:t>l24_draw:</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sp, sp,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ra, 12(sp)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a0, BLACK</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call prg32_gfx_clear</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t0, left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t1, 0(t0)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a4, GREEN</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beqz t1, 1f</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a4, RED</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1:  li   a0, 136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a1, 76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a2, 48</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a3, 48</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call prg32_gfx_rect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ra, 12(sp)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sp, sp,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ret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.section .data</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left: .word 1</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grid: .space CELLS</a:t>
            </a:r>
            <a:endParaRPr lang="en-US" sz="13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what you should see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203530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On the screen</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a green square: the 960 bytes of the map, filled with ones by init, were all set to zero by the four-instruction loop of the lecture. A red square would mean that some byte survived.</a:t>
            </a:r>
            <a:endParaRPr lang="en-US" sz="2400" dirty="0"/>
          </a:p>
        </p:txBody>
      </p:sp>
      <p:sp>
        <p:nvSpPr>
          <p:cNvPr id="5" name="Shape 3"/>
          <p:cNvSpPr/>
          <p:nvPr/>
        </p:nvSpPr>
        <p:spPr>
          <a:xfrm>
            <a:off x="548640" y="421462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4092702"/>
            <a:ext cx="5468112" cy="73380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What to press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nothing: the program runs by itself</a:t>
            </a:r>
            <a:endParaRPr lang="en-US" sz="2400" dirty="0"/>
          </a:p>
        </p:txBody>
      </p:sp>
      <p:pic>
        <p:nvPicPr>
          <p:cNvPr id="7" name="Image 0" descr="/Users/raffaelemontella/devel/riscv-prg32/computer-architecture-with-prg32/tools/assets/lab_l24.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frame written by the automatic test on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~/arc12/code/l24.S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l24 --name l24 --out l24.prg32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l24.prg32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must be running: it answers on port 8080, like a board</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Build once, from the PRG32 folder, with ESP-IDF active in the terminal</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stores the cartridge in slot cart0 and starts it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Enable debug mode in Settings to stop the program and read registers and memory</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~/arc12/code/l24.S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l24 --name l24 --architecture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l24-qemu.prg32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l24-qemu.prg32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emulator runs the real firmware on an emulated chip: build it once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cartridge is built for the architecture qemu: the same source, another file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Stage the cartridge with QEMU closed, then start it and choose Run Cartridge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keys go to the terminal: arrows or WASD, Z or J for A, X or K for B</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the board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~/arc12/code/l24.S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l24 --name l24 --architecture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l24-esp32c6.prg32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l24-esp32c6.prg32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firmware is written once per board, through the USB cable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board creates the Wi-Fi network PRG32: join it with your computer</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same upload command as for PRG32-QT, with the address of the board</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black screen: check the wiring of the display against the firmware</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vector listings: test them on upstream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8FB3A0"/>
                </a:solidFill>
                <a:latin typeface="Courier New" pitchFamily="34" charset="0"/>
                <a:ea typeface="Courier New" pitchFamily="34" charset="-122"/>
                <a:cs typeface="Courier New" pitchFamily="34" charset="-120"/>
              </a:rPr>
              <a:t># from ~/arc12/tools/tests, with the RISC-V compiler on the PATH</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riscv32-esp-elf-gcc -march=rv32imv_zicsr -mabi=ilp32 -nostdlib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-nostartfiles -T link.ld -o v.elf vector_qemu.S</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the same binary, with vector registers of four different widths</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for n in 128 256 512 1024; do</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qemu-system-riscv32 -machine virt -cpu rv32,v=true,vlen=$n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-bios none -kernel v.elf -nographic -display none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echo "vlen=$n: exit code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done</a:t>
            </a:r>
            <a:endParaRPr lang="en-US" sz="15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kit has no vector extension: these listings run on a bare emulated RV32 with V</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Exit code 0: every check passed; any other value is the number of the failing check</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same binary passes with registers of 128, 256, 512 and 1024 bits</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Use upstream QEMU here, not the Espressif fork</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If it does not work</a:t>
            </a:r>
            <a:endParaRPr lang="en-US" sz="3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You see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It means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Do this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missing entry point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prefix is not the one in the source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l24; check the three .global lines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is not active in this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run export.sh, or open the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host is not listening at that address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start PRG32-QT; use the address on its Setup screen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a black screen, or the menu again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 function does not return, or ra was not saved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debug mode: step through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ignores the keys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keyboard goes to the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click the terminal that launched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Exercises: paper first, then the machine</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438912"/>
          </a:xfrm>
          <a:prstGeom prst="rect">
            <a:avLst/>
          </a:prstGeom>
          <a:noFill/>
          <a:ln/>
        </p:spPr>
        <p:txBody>
          <a:bodyPr wrap="square" lIns="0" tIns="0" rIns="0" bIns="0" rtlCol="0" anchor="ctr"/>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Fill in the Amdahl table for p = 0.95 and n = 10, 100, 1000</a:t>
            </a:r>
            <a:endParaRPr lang="en-US" sz="2000" dirty="0"/>
          </a:p>
        </p:txBody>
      </p:sp>
      <p:sp>
        <p:nvSpPr>
          <p:cNvPr id="6" name="Text 4"/>
          <p:cNvSpPr txBox="1"/>
          <p:nvPr/>
        </p:nvSpPr>
        <p:spPr>
          <a:xfrm>
            <a:off x="548640" y="201371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1995424"/>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Draw the pipeline diagram of a three-wide processor for nine independent instructions with five stages</a:t>
            </a:r>
            <a:endParaRPr lang="en-US" sz="2000" dirty="0"/>
          </a:p>
        </p:txBody>
      </p:sp>
      <p:sp>
        <p:nvSpPr>
          <p:cNvPr id="8" name="Text 6"/>
          <p:cNvSpPr txBox="1"/>
          <p:nvPr/>
        </p:nvSpPr>
        <p:spPr>
          <a:xfrm>
            <a:off x="548640" y="277266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754376"/>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Rename the registers of the step-wrap code of Verm1, Part 2: which instructions could run in the same cycle?</a:t>
            </a:r>
            <a:endParaRPr lang="en-US" sz="2000" dirty="0"/>
          </a:p>
        </p:txBody>
      </p:sp>
      <p:sp>
        <p:nvSpPr>
          <p:cNvPr id="10" name="Text 8"/>
          <p:cNvSpPr txBox="1"/>
          <p:nvPr/>
        </p:nvSpPr>
        <p:spPr>
          <a:xfrm>
            <a:off x="548640" y="35316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513328"/>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Write the truth table stored in a four-input look-up table for refuse = (dir xor want) == 2</a:t>
            </a:r>
            <a:endParaRPr lang="en-US" sz="2000" dirty="0"/>
          </a:p>
        </p:txBody>
      </p:sp>
      <p:sp>
        <p:nvSpPr>
          <p:cNvPr id="12" name="Text 10"/>
          <p:cNvSpPr txBox="1"/>
          <p:nvPr/>
        </p:nvSpPr>
        <p:spPr>
          <a:xfrm>
            <a:off x="548640" y="429056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272280"/>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Build tools/tests/vector_qemu.S and run it on QEMU with vlen=128 and vlen=512: why does the same binary work?</a:t>
            </a:r>
            <a:endParaRPr lang="en-US" sz="20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Amdahl, p = 0.95: 6.9, 16.8, 19.6. Nine instructions, three-wide: seven cycles. The look-up table has four ones out of sixteen entries.</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Beyond One Core: Superscalar RISC-V, HPC, GPUs and FPGAs: the code</dc:title>
  <dc:subject>Lecture 24</dc:subject>
  <dc:creator>Raffaele Montella</dc:creator>
  <cp:lastModifiedBy>Raffaele Montella</cp:lastModifiedBy>
  <cp:revision>1</cp:revision>
  <dcterms:created xsi:type="dcterms:W3CDTF">2026-10-13T08:56:24Z</dcterms:created>
  <dcterms:modified xsi:type="dcterms:W3CDTF">2026-10-13T08:56:24Z</dcterms:modified>
</cp:coreProperties>
</file>