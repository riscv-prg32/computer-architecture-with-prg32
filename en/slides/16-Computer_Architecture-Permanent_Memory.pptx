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b71083d-5ba8-3e3a-8fa3-e235bcab8cdb}">
          <p14:sldIdLst>
            <p14:sldId id="256"/>
            <p14:sldId id="257"/>
          </p14:sldIdLst>
        </p14:section>
        <p14:section name="The components of a computer" id="{94d0a210-37ce-034c-de90-a921680effb6}">
          <p14:sldIdLst>
            <p14:sldId id="258"/>
            <p14:sldId id="259"/>
          </p14:sldIdLst>
        </p14:section>
        <p14:section name="Non-volatile memories" id="{f7798c83-b951-c735-ec3f-fe8ff3e7f049}">
          <p14:sldIdLst>
            <p14:sldId id="260"/>
            <p14:sldId id="261"/>
          </p14:sldIdLst>
        </p14:section>
        <p14:section name="The cache" id="{552b4c52-50ad-8433-c423-370e46c253ca}">
          <p14:sldIdLst>
            <p14:sldId id="262"/>
            <p14:sldId id="263"/>
            <p14:sldId id="264"/>
          </p14:sldIdLst>
        </p14:section>
        <p14:section name="Secondary memory" id="{9941ff31-4b1f-01f7-ca73-256dc1bb67d2}">
          <p14:sldIdLst>
            <p14:sldId id="265"/>
            <p14:sldId id="266"/>
            <p14:sldId id="267"/>
            <p14:sldId id="268"/>
          </p14:sldIdLst>
        </p14:section>
        <p14:section name="Optical disks" id="{9dfba767-5767-c1db-c88a-da4f78192cc3}">
          <p14:sldIdLst>
            <p14:sldId id="269"/>
            <p14:sldId id="270"/>
          </p14:sldIdLst>
        </p14:section>
        <p14:section name="Storage on several levels" id="{37f0ee46-17b3-4d55-3143-b3a78d410659}">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treated the memory that forgets when power is removed. This one treats the memories that do not: the chips that hold the firmware, magnetic disks, optical media and tapes. Between the two it places the cache, a small fast memory that conceals the slowness of a large one, and the lecture's unifying idea is that this same strategy recurs at every scale. The epigraph is by a professor of numerical computing of this university, and every student eventually learns its truth: a datum does not exist until it has been saved.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ROM, flash, firmware; the von Neumann architecture; the cache; secondary memory. USE NOW: the complete program, the PRG32 tools (used, not studied, in this course). UNDERSTAND LATER: nothing. A slide without a badge is context: a story, an example, a question, an exercise.
For the lecturer: Spiral: a cartridge keeps its title string across a power cycle but loses its high score; the lecture explains where each lives, then covers ROM and flash, the cache, and mass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Naming the functional units of a computer and locating them on a motherboard and on the kit. Distinguishing ROM, PROM, EPROM, EEPROM and flash, and stating what firmware is. Explaining why a cache makes a computer faster, and what a miss is. Describing the tracks, sectors and blocks of a magnetic disk and the components of its access time. Explaining how an optical disk stores bits and how a compact disc is read. And placing flash, solid-state disks, hard disks and tapes within a multi-level storage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cards: the processor, the main memory, the secondary memory, the input and output devices, the communication lines, and a remark on physical integration. Each card names the unit and locates it on the kit: the RISC-V core, the 512 KB of SRAM, the flash chip, the display with its joystick and amplifier. The last card states the difference between a PC and a microcontroller: the former distributes the units across a motherboard, the latter integrates almost all of them in a single package.
UNDERSTAND NOW: the von Neumann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Firmware is the basic software held in non-volatile memory. In a PC it was called the BIOS and performed four tasks: testing the devices at power-on, configuring them, starting the operating system, and offering elementary services for keyboard and disks; its contemporary successor is UEFI. The kit has an analogous chain: a small program in ROM starts a bootloader in flash, which starts the PRG32 firmware, which loads the selected cartridge. Each stage locates, verifies and starts the next, a structure known as a boot chain.
UNDERSTAND NOW: ROM, flash, firmware.
For the lecturer: Each stage finds, checks and starts the next: a chain that ends with the first instruction of first_init.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read from top to bottom, is a history of increasing convenience. A ROM is written by the manufacturer once and for all. A PROM can be written by the user, once. An EPROM can be erased in its entirety by exposure to ultraviolet light through a small window, and then rewritten. An EEPROM is erased electrically, one byte at a time, in circuit. Flash is erased electrically in blocks: less flexible than EEPROM, but far cheaper per bit, and today ubiquitous.
UNDERSTAND NOW: ROM, flash, firmware.
For the lecturer: Read-only memory; programmable ROM; erasable PROM; electrically erasable PROM. Access time of the order of nanoseconds for reading. EEPROM and flash are slower and, per bit, once dearer than RAM; flash is today the cheapest semiconductor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properties of flash determine how it is used. It is erased by blocks, not by individual bytes: erasure sets every bit of a block to 1, and writing can only turn 1s into 0s. Each block tolerates a limited number of erasures, so a controller distributes writes evenly, a technique called wear levelling. And reading is fast, while writing, and above all erasing, are slow. This is why the best score of the warm-up is not simply written into the cartridge at every frame: flash is not a medium for variables.
UNDERSTAND NOW: ROM, flash, firmware.
For the lecturer: This is why the best score of the warm-up is not simply written back into the cartridge at every frame: flash is not a place for variables.
Pictures: Pair of BIOS chips.jpg, Jud McCranie,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memory is being read or written the processor waits, and the slower the memory, the more clock cycles are lost. Why not make all memory as fast as the registers? Because it would then have to reside on the same chip as the processor, which precludes making it large. The compromise is a small, fast memory on the processor chip and a larger, slower one reached through the bus, which is the memory hierarchy of Lecture 15 reduced to its two upper levels.
UNDERSTAND NOW: the cache.
For the lecturer: Perché non costruire memorie veloci quanto i registri della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cache is placed between the processor and main memory. At every access the processor looks first in the cache. If the content of the requested address is present, the access is a hit and the datum arrives at once. If it is not, the access is a miss: the datum is copied from main memory into the cache, together with a number of neighbouring locations, forming a cache line. The wager underlying the design is the principle of locality: a program that has just used an address is likely to use it, or its neighbours, again soon. Loops are the source of temporal locality, arrays of spatial locality.
UNDERSTAND NOW: the cache.
For the lecturer: The principle of locality: a program that has just used an address will probably use it again soon (temporal locality) and will probably use its neighbours (spatial locality). Loops and arrays are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Representative figures. A PC has several cache levels: a first level of tens of kilobytes inside each core, a second of hundreds of kilobytes, and a third of megabytes shared among the cores. The last column is the kit: no cache in front of its SRAM, which is already as fast as the core requires, and only the external flash is read through a small cache. Comparing the columns also shows how main memory and storage have grown over twenty years.
UNDERSTAND NOW: the cache.
For the lecturer: First level (internal): keeps a continuous flow inside the processor. Second level: limits the slowdown due to the main memory. Third level (8 to 32 MB and more): shared by the cores of the same processor. Caches are built with SRAM. On the ESP32-C6 the SRAM is already as fast as the core needs; only the external flash sits behind a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properties characterise secondary memories in relation to main memory. They are non-volatile. Their capacity is several orders of magnitude larger, and their cost per bit several orders of magnitude lower. Their access is some orders of magnitude slower. Two further facts concern their organisation: information is stored in blocks, not individual bytes, and some media permit direct access to any block while others, such as tape, permit only sequential access.
UNDERSTAND NOW: secondary memory.
For the lecturer: The secondary memory stores and keeps all the programs and data of the computer; the main memory holds the programs being executed and the data they need.
Pictures: Open hard-drive.jpg, Zzubnik, Public domain,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geometry of a magnetic disk. Platters coated with a magnetisable material rotate at constant speed, while heads read and write. The surface is divided into concentric tracks and into sectors, wedge-shaped regions. A sector divides each track into blocks, and the block, identified by its track and sector, is the smallest addressable unit. Formatting is the operation that establishes this division. Access is direct: the head can reach any block without traversing all those that precede it.
UNDERSTAND NOW: secondary memory.
For the lecturer: Dischi magnetici. Several sectors form a cluster; the tracks at the same radius on all the platters form a cylinder. The original picture had Italian labels and is redrawn.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access time of a disk is the sum of three components. Seek time: the time to move the head radially to the correct track. Rotational latency: the wait for the desired sector to arrive under the head, which depends on the rotation speed. Transfer time: the time for the block to pass under the head. The total is of the order of milliseconds, about a million times slower than RAM: during one disk access the processor of the kit could execute more than a hundred thousand instructions. The gap explains why operating systems work so hard to avoid disk accesses.
UNDERSTAND NOW: secondary memory.
For the lecturer: A millisecond is a million nanoseconds: during one disk access a 160 MHz processor could execute more than a hundred thousand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technologies serving the same purpose. A hard disk has magnetic platters and moving heads; its access time is dominated by mechanics, but its cost per terabyte is the lowest available, and it remains the choice for large archives and backups. A solid-state disk is flash memory with a controller and no moving parts; its access time is of the order of tens of microseconds, and it is the standard storage of laptops and phones. It uses the same technology as the flash chip of the kit.
UNDERSTAND NOW: secondary memory.
For the lecturer: New with respect to the original deck, which listed SSDs only among the storage levels. The parallel ATA bus of older PCs gave way to Serial ATA and then to NVMe.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optical disk is read by a laser beam whose reflection differs between the pits and the flat surface, the land. One point is invariably examined: 0 and 1 do not correspond to pit and land. A 1 is a transition, from pit to land or from land to pit; a 0 is the absence of a transition. Such disks are usually written once, because the physical modification is irreversible, which makes them suitable for distributing software and for archives that must not be altered.
UNDERSTAND NOW: secondary memory.
For the lecturer: Encoding a 1 as a transition is a self-clocking idea used in many serial links as well.
Pictures: CD-ROM pressed pits.jpg, Tycho, CC0,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compact disc the information lies on a single spiral track, with 1.6 micrometres between successive turns. The recording density is constant along the spiral, so to read at a constant rate the disc must rotate faster near the centre and more slowly near the edge: this is constant linear velocity. The alternative, constant angular velocity, keeps the rotation fixed and wastes capacity in the outer region. The original speed was dictated by the requirements of audio playback.
UNDERSTAND NOW: secondary memory.
For the lecturer: 1x = 1.2 m/s. CD-Recordable: two layers of polycarbonate enclose a thin reflective sheet covered by a translucent dye.
Pictures: CD Player focusing lens assembly.jpg, Zim 256,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levels of permanent memory, from the fastest to the cheapest: a RAM disk, a portion of main memory used as a disk; solid-state disks; hard disks; disk libraries, in which some disks are powered only when needed; and tape libraries, in which robots mount the tapes. The system migrates data automatically: frequently used data move towards the fast levels, the remainder sink towards the cheap ones. This is the principle of the cache, applied to storage, and the lecture thus closes on the idea with which it began.
UNDERSTAND NOW: secondary memory.
For the lecturer: The same idea as the cache, applied to storage. The department's HPC storage works this way (visit at the end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each entry of the table of non-volatile memories is examined with two questions: how is it erased, and in what quantity at a time? Only one is erased electrically and in blocks.
For the second: a miss is not an error. The program observes nothing beyond a longer access: the datum is fetched from main memory and retained in the cache together with its neighbours.
For the lecturer: 1. Answer: D. Flash is the block-erasable evolution of EEPROM. EPROM needs ultraviolet light; ROM and PROM cannot be erased.
2. Answer: B. The access is simply slower: the block containing the address is loaded into the cache, betting that nearby addresses will be needed 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asks which of the three components is a wait for the disk to rotate. The movement of the arm does not depend on rotation, and formatting and booting are not components of the access time.
For the second, the rule of optical disks applies: what matters is not the pit or the land but the transition between them.
For the lecturer: 1. Answer: B. Latency is the wait for the sector to arrive under the head; seek time depends on the movement of the arm.
2. Answer: C. A change of reflectivity, in either direction, is a 1; no change is a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The motherboard is the scheda madre. A cache hit and miss denote success and failure in finding the datum. Seek time and latency are two components of the access time of a disk. Mass storage denotes the secondary memory as a whole. A tape library is a storage system with robot-handled tapes.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Non-volatile memories typically hold the firmware, the basic software of a machine. The cache improves performance by keeping a copy of part of main memory close to the processor. The same idea, a small fast level in front of a large slow one, recurs in storage systems. Permanent memories may be semiconductor, magnetic or optical. And a modern system comprises several levels, managed automatically. Part 3 of Verm1 follows, and uses memory as the project has not used it before.
Learning status, recap. UNDERSTAND NOW: ROM, flash, firmware; the von Neumann architecture; the cache; secondary memory. USE NOW: the complete program, the PRG32 tools (used, not studied, in this course). UNDERSTAND LATER: nothing. A slide without a badge is context: a story, an example, a question, an exercise.
For the lecturer: Next: Verm1, part 3: a body, rules and states. Then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16: Permanent memory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Permanent Memory</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Non-volatile memories, the cache, and storage: magnetic, optical and solid-state</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 datum does not exist unless it has been saved...”</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Prof. Almerico Murli, 1990s</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16-Computer_Architecture-Permanent_Memory-Lab.pptx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platform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functional units of a computer and recognise them on a motherboard and on the PRG32 kit</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ROM, PROM, EPROM, EEPROM and flash, and say what firmware is</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a cache makes a computer faster, and what a cache miss is</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tracks, sectors and blocks of a magnetic disk and the components of its access time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an optical disk stores bits, and how a compact disc is read</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Place flash, solid-state disks, hard disks and tapes in a multi-level storage system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Functional units of a computer</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Processor</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Executes the instructions. On the kit: the RISC-V core of the ESP32-C6.</a:t>
            </a:r>
            <a:endParaRPr lang="en-US" sz="16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Main memory</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Holds running programs and their data. On the kit: 512 KB of SRAM inside the chip.</a:t>
            </a:r>
            <a:endParaRPr lang="en-US" sz="16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Secondary memory</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Keeps programs and data when the power is off. On the kit: the flash chip that holds firmware and cartridges.</a:t>
            </a:r>
            <a:endParaRPr lang="en-US" sz="16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Input/output devices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Video card and monitor, keyboard, mouse, printer, storage. On the kit: display, joystick, amplifier.</a:t>
            </a:r>
            <a:endParaRPr lang="en-US" sz="16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Communication lines</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The buses: data and address lines shared by all the units.</a:t>
            </a:r>
            <a:endParaRPr lang="en-US" sz="16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One chip or many</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A PC spreads these units over a motherboard; a microcontroller puts almost all of them in one package.</a:t>
            </a:r>
            <a:endParaRPr lang="en-US" sz="1600" dirty="0"/>
          </a:p>
        </p:txBody>
      </p:sp>
      <p:sp>
        <p:nvSpPr>
          <p:cNvPr id="27" name="Shape 25"/>
          <p:cNvSpPr/>
          <p:nvPr/>
        </p:nvSpPr>
        <p:spPr>
          <a:xfrm>
            <a:off x="7828102" y="91440"/>
            <a:ext cx="3814953" cy="274320"/>
          </a:xfrm>
          <a:prstGeom prst="rect">
            <a:avLst/>
          </a:prstGeom>
          <a:solidFill>
            <a:srgbClr val="E0F2FE"/>
          </a:solidFill>
          <a:ln w="12700">
            <a:solidFill>
              <a:srgbClr val="0369A1"/>
            </a:solidFill>
            <a:prstDash val="solid"/>
          </a:ln>
        </p:spPr>
      </p:sp>
      <p:sp>
        <p:nvSpPr>
          <p:cNvPr id="28" name="Shape 26"/>
          <p:cNvSpPr/>
          <p:nvPr/>
        </p:nvSpPr>
        <p:spPr>
          <a:xfrm>
            <a:off x="7828102"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30" name="Text 27"/>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Firmware: the BIOS and its heirs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BIOS is a program in a non-volatile chip specific to a given motherboard, used by the processor at power-on</a:t>
            </a:r>
            <a:endParaRPr lang="en-US" sz="2000" dirty="0"/>
          </a:p>
        </p:txBody>
      </p:sp>
      <p:sp>
        <p:nvSpPr>
          <p:cNvPr id="5" name="Shape 3"/>
          <p:cNvSpPr/>
          <p:nvPr/>
        </p:nvSpPr>
        <p:spPr>
          <a:xfrm>
            <a:off x="548640" y="26054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14515"/>
            <a:ext cx="6565392" cy="177317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Its instructions and data can be divided into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POST, power-on self test: checks that the devices work</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SETUP: configuration of the devices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BOOT: starts the operating system</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DRIVERS: basic low-level functions for keyboard, disks and other devices</a:t>
            </a:r>
            <a:endParaRPr lang="en-US" sz="2000" dirty="0"/>
          </a:p>
        </p:txBody>
      </p:sp>
      <p:sp>
        <p:nvSpPr>
          <p:cNvPr id="7" name="Shape 5"/>
          <p:cNvSpPr/>
          <p:nvPr/>
        </p:nvSpPr>
        <p:spPr>
          <a:xfrm>
            <a:off x="548640" y="4546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455245"/>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Today's PCs use UEFI firmware, which does the same jobs</a:t>
            </a:r>
            <a:endParaRPr lang="en-US" sz="2000" dirty="0"/>
          </a:p>
        </p:txBody>
      </p:sp>
      <p:sp>
        <p:nvSpPr>
          <p:cNvPr id="9" name="Shape 7"/>
          <p:cNvSpPr/>
          <p:nvPr/>
        </p:nvSpPr>
        <p:spPr>
          <a:xfrm>
            <a:off x="548640" y="533349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the ESP32-C6: a boot program in ROM starts a bootloader in flash, which starts the PRG32 firmware, which loads the cartridge you choose</a:t>
            </a:r>
            <a:endParaRPr lang="en-US" sz="20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boot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from the first instruction after reset to your program, through layers of permanent memory</a:t>
            </a:r>
            <a:endParaRPr lang="en-US" sz="1900" dirty="0"/>
          </a:p>
        </p:txBody>
      </p:sp>
      <p:sp>
        <p:nvSpPr>
          <p:cNvPr id="14"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5"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7"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ROM to flash</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2819073"/>
                <a:gridCol w="3819389"/>
                <a:gridCol w="3000948"/>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Memory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Written by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Erased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Typical use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manufacturer, once and for all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never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start-up code, old game cartridges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once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never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small production runs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many times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all at once, with ultraviolet light through a quartz window (about 15 minutes)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development, BIOS of early PCs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EEPROM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in place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electrically, one byte at a time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configuration data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Flash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in place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electrically, in blocks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firmware, USB keys, memory cards, solid-state disks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Flash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most recent kind of EEPROM: it can be reprogrammed in place, without removing it</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Erased by blocks of bytes, not one byte at a time: erasing sets all the bits of a block to 1, writing can only turn 1s into 0s</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block survives a limited number of erase cycles: the controller spreads the writes evenly</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 is fast; writing and above all erasing are slow</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flash of the kit holds the firmware and your cartridges: uploading a cartridge erases and rewrites some of its blocks</a:t>
            </a:r>
            <a:endParaRPr lang="en-US" sz="2100" dirty="0"/>
          </a:p>
        </p:txBody>
      </p:sp>
      <p:pic>
        <p:nvPicPr>
          <p:cNvPr id="13" name="Image 0" descr="/Users/raffaelemontella/devel/riscv-prg32/computer-architecture-with-prg32/tools/assets/eprom.jpg">    </p:cNvPr>
          <p:cNvPicPr>
            <a:picLocks noChangeAspect="1"/>
          </p:cNvPicPr>
          <p:nvPr/>
        </p:nvPicPr>
        <p:blipFill>
          <a:blip r:embed="rId1"/>
          <a:stretch>
            <a:fillRect/>
          </a:stretch>
        </p:blipFill>
        <p:spPr>
          <a:xfrm>
            <a:off x="7863840" y="1890610"/>
            <a:ext cx="3779215" cy="335110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EPROM: the quartz window lets ultraviolet light erase the chip</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a cache?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During the clock cycles needed to read or write the memory the processor waits</a:t>
            </a:r>
            <a:endParaRPr lang="en-US" sz="2200" dirty="0"/>
          </a:p>
        </p:txBody>
      </p:sp>
      <p:sp>
        <p:nvSpPr>
          <p:cNvPr id="5" name="Shape 3"/>
          <p:cNvSpPr/>
          <p:nvPr/>
        </p:nvSpPr>
        <p:spPr>
          <a:xfrm>
            <a:off x="548640" y="23509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51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slower the memory, the more cycles are lost</a:t>
            </a:r>
            <a:endParaRPr lang="en-US" sz="2200" dirty="0"/>
          </a:p>
        </p:txBody>
      </p:sp>
      <p:sp>
        <p:nvSpPr>
          <p:cNvPr id="7" name="Shape 5"/>
          <p:cNvSpPr/>
          <p:nvPr/>
        </p:nvSpPr>
        <p:spPr>
          <a:xfrm>
            <a:off x="548640" y="31781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1707"/>
            <a:ext cx="656539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Why not build memories as fast as the registers of the processor?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they would have to be on the same chip: a connection through a bus is slower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they could not be very large, and the chip would grow in size and cost</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compromise: a small, fast memory on the processor chip, and one or more larger, slower memories reached through the bus</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wait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what a processor does, for most of its time, when its memory is slower than it is</a:t>
            </a:r>
            <a:endParaRPr lang="en-US" sz="1900" dirty="0"/>
          </a:p>
        </p:txBody>
      </p:sp>
      <p:sp>
        <p:nvSpPr>
          <p:cNvPr id="14" name="Shape 12"/>
          <p:cNvSpPr/>
          <p:nvPr/>
        </p:nvSpPr>
        <p:spPr>
          <a:xfrm>
            <a:off x="9075623" y="91440"/>
            <a:ext cx="2567432" cy="274320"/>
          </a:xfrm>
          <a:prstGeom prst="rect">
            <a:avLst/>
          </a:prstGeom>
          <a:solidFill>
            <a:srgbClr val="E0F2FE"/>
          </a:solidFill>
          <a:ln w="12700">
            <a:solidFill>
              <a:srgbClr val="0369A1"/>
            </a:solidFill>
            <a:prstDash val="solid"/>
          </a:ln>
        </p:spPr>
      </p:sp>
      <p:sp>
        <p:nvSpPr>
          <p:cNvPr id="15" name="Shape 13"/>
          <p:cNvSpPr/>
          <p:nvPr/>
        </p:nvSpPr>
        <p:spPr>
          <a:xfrm>
            <a:off x="9075623"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17" name="Text 14"/>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a cache works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Cache, from the French cacher, to hide: a memory of small capacity but fast, placed between the processor and the RAM</a:t>
            </a:r>
            <a:endParaRPr lang="en-US" sz="2100" dirty="0"/>
          </a:p>
        </p:txBody>
      </p:sp>
      <p:sp>
        <p:nvSpPr>
          <p:cNvPr id="5" name="Shape 3"/>
          <p:cNvSpPr/>
          <p:nvPr/>
        </p:nvSpPr>
        <p:spPr>
          <a:xfrm>
            <a:off x="548640" y="26490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0414"/>
            <a:ext cx="601675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processor looks in the cache first</a:t>
            </a:r>
            <a:endParaRPr lang="en-US" sz="2100" dirty="0"/>
          </a:p>
        </p:txBody>
      </p:sp>
      <p:sp>
        <p:nvSpPr>
          <p:cNvPr id="7" name="Shape 5"/>
          <p:cNvSpPr/>
          <p:nvPr/>
        </p:nvSpPr>
        <p:spPr>
          <a:xfrm>
            <a:off x="548640" y="31314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2760"/>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Hit: the content of the requested address is there, and arrives at once</a:t>
            </a:r>
            <a:endParaRPr lang="en-US" sz="2100" dirty="0"/>
          </a:p>
        </p:txBody>
      </p:sp>
      <p:sp>
        <p:nvSpPr>
          <p:cNvPr id="9" name="Shape 7"/>
          <p:cNvSpPr/>
          <p:nvPr/>
        </p:nvSpPr>
        <p:spPr>
          <a:xfrm>
            <a:off x="548640" y="39391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40480"/>
            <a:ext cx="6016752" cy="152400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Miss: it is not there, and must be copied from the RAM into the cache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fixed number of neighbouring locations is copied with it, because programs tend to use nearby addresses next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more hits, the shorter the average access time</a:t>
            </a:r>
            <a:endParaRPr lang="en-US" sz="2100" dirty="0"/>
          </a:p>
        </p:txBody>
      </p:sp>
      <p:sp>
        <p:nvSpPr>
          <p:cNvPr id="13" name="Text 11"/>
          <p:cNvSpPr txBox="1"/>
          <p:nvPr/>
        </p:nvSpPr>
        <p:spPr>
          <a:xfrm>
            <a:off x="7863840" y="1691640"/>
            <a:ext cx="292608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a:t>
            </a:r>
            <a:endParaRPr lang="en-US" sz="1600" dirty="0"/>
          </a:p>
        </p:txBody>
      </p:sp>
      <p:sp>
        <p:nvSpPr>
          <p:cNvPr id="14" name="Text 12"/>
          <p:cNvSpPr txBox="1"/>
          <p:nvPr/>
        </p:nvSpPr>
        <p:spPr>
          <a:xfrm>
            <a:off x="7863840" y="3154680"/>
            <a:ext cx="292608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cache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small, fast</a:t>
            </a:r>
            <a:endParaRPr lang="en-US" sz="1600" dirty="0"/>
          </a:p>
        </p:txBody>
      </p:sp>
      <p:sp>
        <p:nvSpPr>
          <p:cNvPr id="15" name="Text 13"/>
          <p:cNvSpPr txBox="1"/>
          <p:nvPr/>
        </p:nvSpPr>
        <p:spPr>
          <a:xfrm>
            <a:off x="7863840" y="4800600"/>
            <a:ext cx="2926080" cy="1097280"/>
          </a:xfrm>
          <a:prstGeom prst="roundRect">
            <a:avLst>
              <a:gd name="adj" fmla="val 5000"/>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main memory</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large, slow</a:t>
            </a:r>
            <a:endParaRPr lang="en-US" sz="1600" dirty="0"/>
          </a:p>
        </p:txBody>
      </p:sp>
      <p:sp>
        <p:nvSpPr>
          <p:cNvPr id="16" name="Shape 14"/>
          <p:cNvSpPr/>
          <p:nvPr/>
        </p:nvSpPr>
        <p:spPr>
          <a:xfrm>
            <a:off x="9326880" y="2450592"/>
            <a:ext cx="0" cy="676656"/>
          </a:xfrm>
          <a:prstGeom prst="line">
            <a:avLst/>
          </a:prstGeom>
          <a:noFill/>
          <a:ln w="31750">
            <a:solidFill>
              <a:srgbClr val="5B6B78"/>
            </a:solidFill>
            <a:prstDash val="solid"/>
            <a:tailEnd type="triangle"/>
          </a:ln>
        </p:spPr>
      </p:sp>
      <p:sp>
        <p:nvSpPr>
          <p:cNvPr id="17" name="Shape 15"/>
          <p:cNvSpPr/>
          <p:nvPr/>
        </p:nvSpPr>
        <p:spPr>
          <a:xfrm>
            <a:off x="9326880" y="4096512"/>
            <a:ext cx="0" cy="676656"/>
          </a:xfrm>
          <a:prstGeom prst="line">
            <a:avLst/>
          </a:prstGeom>
          <a:noFill/>
          <a:ln w="31750">
            <a:solidFill>
              <a:srgbClr val="5B6B78"/>
            </a:solidFill>
            <a:prstDash val="solid"/>
            <a:tailEnd type="triangle"/>
          </a:ln>
        </p:spPr>
      </p:sp>
      <p:sp>
        <p:nvSpPr>
          <p:cNvPr id="18" name="Text 16"/>
          <p:cNvSpPr txBox="1"/>
          <p:nvPr/>
        </p:nvSpPr>
        <p:spPr>
          <a:xfrm>
            <a:off x="9464040" y="260604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every access</a:t>
            </a:r>
            <a:endParaRPr lang="en-US" sz="1250" dirty="0"/>
          </a:p>
        </p:txBody>
      </p:sp>
      <p:sp>
        <p:nvSpPr>
          <p:cNvPr id="19" name="Text 17"/>
          <p:cNvSpPr txBox="1"/>
          <p:nvPr/>
        </p:nvSpPr>
        <p:spPr>
          <a:xfrm>
            <a:off x="9464040" y="425196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only on a miss</a:t>
            </a:r>
            <a:endParaRPr lang="en-US" sz="1250" dirty="0"/>
          </a:p>
        </p:txBody>
      </p:sp>
      <p:sp>
        <p:nvSpPr>
          <p:cNvPr id="20" name="Shape 18"/>
          <p:cNvSpPr/>
          <p:nvPr/>
        </p:nvSpPr>
        <p:spPr>
          <a:xfrm>
            <a:off x="9075623" y="91440"/>
            <a:ext cx="2567432" cy="274320"/>
          </a:xfrm>
          <a:prstGeom prst="rect">
            <a:avLst/>
          </a:prstGeom>
          <a:solidFill>
            <a:srgbClr val="E0F2FE"/>
          </a:solidFill>
          <a:ln w="12700">
            <a:solidFill>
              <a:srgbClr val="0369A1"/>
            </a:solidFill>
            <a:prstDash val="solid"/>
          </a:ln>
        </p:spPr>
      </p:sp>
      <p:sp>
        <p:nvSpPr>
          <p:cNvPr id="21" name="Shape 19"/>
          <p:cNvSpPr/>
          <p:nvPr/>
        </p:nvSpPr>
        <p:spPr>
          <a:xfrm>
            <a:off x="9075623"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3" name="Text 20"/>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Cache levels and typical machines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of 2002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of 2020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RISC-V core, 160 MHz</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 for the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MB, shared by the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of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 GB hard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TB + 1 TB, mirrored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few MB of flash, read through a small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9075623" y="91440"/>
            <a:ext cx="2567432" cy="274320"/>
          </a:xfrm>
          <a:prstGeom prst="rect">
            <a:avLst/>
          </a:prstGeom>
          <a:solidFill>
            <a:srgbClr val="E0F2FE"/>
          </a:solidFill>
          <a:ln w="12700">
            <a:solidFill>
              <a:srgbClr val="0369A1"/>
            </a:solidFill>
            <a:prstDash val="solid"/>
          </a:ln>
        </p:spPr>
      </p:sp>
      <p:sp>
        <p:nvSpPr>
          <p:cNvPr id="5" name="Shape 2"/>
          <p:cNvSpPr/>
          <p:nvPr/>
        </p:nvSpPr>
        <p:spPr>
          <a:xfrm>
            <a:off x="907562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7" name="Text 3"/>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Characteristics of secondary memories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Non-volatile: the data are not lost when the computer is switched off</a:t>
            </a:r>
            <a:endParaRPr lang="en-US" sz="2200" dirty="0"/>
          </a:p>
        </p:txBody>
      </p:sp>
      <p:sp>
        <p:nvSpPr>
          <p:cNvPr id="5" name="Shape 3"/>
          <p:cNvSpPr/>
          <p:nvPr/>
        </p:nvSpPr>
        <p:spPr>
          <a:xfrm>
            <a:off x="548640" y="2338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194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Large capacity: several orders of magnitude more than the main memory</a:t>
            </a:r>
            <a:endParaRPr lang="en-US" sz="2200" dirty="0"/>
          </a:p>
        </p:txBody>
      </p:sp>
      <p:sp>
        <p:nvSpPr>
          <p:cNvPr id="7" name="Shape 5"/>
          <p:cNvSpPr/>
          <p:nvPr/>
        </p:nvSpPr>
        <p:spPr>
          <a:xfrm>
            <a:off x="548640" y="31530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465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Low cost per bit: several orders of magnitude less than the main memory</a:t>
            </a:r>
            <a:endParaRPr lang="en-US" sz="2200" dirty="0"/>
          </a:p>
        </p:txBody>
      </p:sp>
      <p:sp>
        <p:nvSpPr>
          <p:cNvPr id="9" name="Shape 7"/>
          <p:cNvSpPr/>
          <p:nvPr/>
        </p:nvSpPr>
        <p:spPr>
          <a:xfrm>
            <a:off x="548640" y="396763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612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Slower access: some orders of magnitude slower than the main memory</a:t>
            </a:r>
            <a:endParaRPr lang="en-US" sz="2200" dirty="0"/>
          </a:p>
        </p:txBody>
      </p:sp>
      <p:sp>
        <p:nvSpPr>
          <p:cNvPr id="11" name="Shape 9"/>
          <p:cNvSpPr/>
          <p:nvPr/>
        </p:nvSpPr>
        <p:spPr>
          <a:xfrm>
            <a:off x="548640" y="478226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67583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Information is organised in blocks, usually of a kilobyte or more, not in single bytes</a:t>
            </a:r>
            <a:endParaRPr lang="en-US" sz="2200" dirty="0"/>
          </a:p>
        </p:txBody>
      </p:sp>
      <p:sp>
        <p:nvSpPr>
          <p:cNvPr id="13" name="Shape 11"/>
          <p:cNvSpPr/>
          <p:nvPr/>
        </p:nvSpPr>
        <p:spPr>
          <a:xfrm>
            <a:off x="548640" y="559689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Some media allow direct access to any block; others only sequential access</a:t>
            </a:r>
            <a:endParaRPr lang="en-US" sz="2200" dirty="0"/>
          </a:p>
        </p:txBody>
      </p:sp>
      <p:pic>
        <p:nvPicPr>
          <p:cNvPr id="15" name="Image 0" descr="/Users/raffaelemontella/devel/riscv-prg32/computer-architecture-with-prg32/tools/assets/hard_disk.jpg">    </p:cNvPr>
          <p:cNvPicPr>
            <a:picLocks noChangeAspect="1"/>
          </p:cNvPicPr>
          <p:nvPr/>
        </p:nvPicPr>
        <p:blipFill>
          <a:blip r:embed="rId1"/>
          <a:stretch>
            <a:fillRect/>
          </a:stretch>
        </p:blipFill>
        <p:spPr>
          <a:xfrm>
            <a:off x="7863840" y="1918658"/>
            <a:ext cx="3779215" cy="3295003"/>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open hard disk: platter, arm and head</a:t>
            </a:r>
            <a:endParaRPr lang="en-US" sz="1200" dirty="0"/>
          </a:p>
        </p:txBody>
      </p:sp>
      <p:sp>
        <p:nvSpPr>
          <p:cNvPr id="17"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8744026" y="128016"/>
            <a:ext cx="201168" cy="201168"/>
          </a:xfrm>
          <a:prstGeom prst="rect">
            <a:avLst/>
          </a:prstGeom>
        </p:spPr>
      </p:pic>
      <p:sp>
        <p:nvSpPr>
          <p:cNvPr id="20"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Magnetic disks: tracks, sectors, blocks</a:t>
            </a:r>
            <a:endParaRPr lang="en-US" sz="3200" dirty="0"/>
          </a:p>
        </p:txBody>
      </p:sp>
      <p:sp>
        <p:nvSpPr>
          <p:cNvPr id="3" name="Shape 1"/>
          <p:cNvSpPr/>
          <p:nvPr/>
        </p:nvSpPr>
        <p:spPr>
          <a:xfrm>
            <a:off x="548640" y="1417320"/>
            <a:ext cx="502920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616010" y="91440"/>
            <a:ext cx="3027045" cy="274320"/>
          </a:xfrm>
          <a:prstGeom prst="rect">
            <a:avLst/>
          </a:prstGeom>
          <a:solidFill>
            <a:srgbClr val="E0F2FE"/>
          </a:solidFill>
          <a:ln w="12700">
            <a:solidFill>
              <a:srgbClr val="0369A1"/>
            </a:solidFill>
            <a:prstDash val="solid"/>
          </a:ln>
        </p:spPr>
      </p:sp>
      <p:sp>
        <p:nvSpPr>
          <p:cNvPr id="5" name="Shape 3"/>
          <p:cNvSpPr/>
          <p:nvPr/>
        </p:nvSpPr>
        <p:spPr>
          <a:xfrm>
            <a:off x="861601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7" name="Text 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pic>
        <p:nvPicPr>
          <p:cNvPr id="9" name="Image 1" descr="preencoded.png">    </p:cNvPr>
          <p:cNvPicPr>
            <a:picLocks noChangeAspect="1"/>
          </p:cNvPicPr>
          <p:nvPr/>
        </p:nvPicPr>
        <p:blipFill>
          <a:blip r:embed="rId2"/>
          <a:stretch>
            <a:fillRect/>
          </a:stretch>
        </p:blipFill>
        <p:spPr>
          <a:xfrm>
            <a:off x="685800" y="1872610"/>
            <a:ext cx="4754880" cy="3844301"/>
          </a:xfrm>
          <a:prstGeom prst="rect">
            <a:avLst/>
          </a:prstGeom>
        </p:spPr>
      </p:pic>
      <p:sp>
        <p:nvSpPr>
          <p:cNvPr id="10" name="Shape 5"/>
          <p:cNvSpPr/>
          <p:nvPr/>
        </p:nvSpPr>
        <p:spPr>
          <a:xfrm>
            <a:off x="6035040" y="1500505"/>
            <a:ext cx="146304" cy="146304"/>
          </a:xfrm>
          <a:prstGeom prst="rect">
            <a:avLst/>
          </a:prstGeom>
          <a:solidFill>
            <a:srgbClr val="0E7C86"/>
          </a:solidFill>
          <a:ln w="12700">
            <a:solidFill>
              <a:srgbClr val="0E7C86"/>
            </a:solidFill>
            <a:prstDash val="solid"/>
          </a:ln>
        </p:spPr>
      </p:sp>
      <p:sp>
        <p:nvSpPr>
          <p:cNvPr id="11" name="Text 6"/>
          <p:cNvSpPr txBox="1"/>
          <p:nvPr/>
        </p:nvSpPr>
        <p:spPr>
          <a:xfrm>
            <a:off x="6419088" y="1417320"/>
            <a:ext cx="52239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Platters coated with a magnetisable material, kept spinning at constant speed; heads read and write the information</a:t>
            </a:r>
            <a:endParaRPr lang="en-US" sz="1900" dirty="0"/>
          </a:p>
        </p:txBody>
      </p:sp>
      <p:sp>
        <p:nvSpPr>
          <p:cNvPr id="12" name="Shape 7"/>
          <p:cNvSpPr/>
          <p:nvPr/>
        </p:nvSpPr>
        <p:spPr>
          <a:xfrm>
            <a:off x="6035040" y="2542032"/>
            <a:ext cx="146304" cy="146304"/>
          </a:xfrm>
          <a:prstGeom prst="rect">
            <a:avLst/>
          </a:prstGeom>
          <a:solidFill>
            <a:srgbClr val="C7791B"/>
          </a:solidFill>
          <a:ln w="12700">
            <a:solidFill>
              <a:srgbClr val="C7791B"/>
            </a:solidFill>
            <a:prstDash val="solid"/>
          </a:ln>
        </p:spPr>
      </p:sp>
      <p:sp>
        <p:nvSpPr>
          <p:cNvPr id="13" name="Text 8"/>
          <p:cNvSpPr txBox="1"/>
          <p:nvPr/>
        </p:nvSpPr>
        <p:spPr>
          <a:xfrm>
            <a:off x="6419088" y="2458847"/>
            <a:ext cx="52239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surface is divided into concentric tracks and into sectors, slices of the disk</a:t>
            </a:r>
            <a:endParaRPr lang="en-US" sz="1900" dirty="0"/>
          </a:p>
        </p:txBody>
      </p:sp>
      <p:sp>
        <p:nvSpPr>
          <p:cNvPr id="14" name="Shape 9"/>
          <p:cNvSpPr/>
          <p:nvPr/>
        </p:nvSpPr>
        <p:spPr>
          <a:xfrm>
            <a:off x="6035040" y="3289173"/>
            <a:ext cx="146304" cy="146304"/>
          </a:xfrm>
          <a:prstGeom prst="rect">
            <a:avLst/>
          </a:prstGeom>
          <a:solidFill>
            <a:srgbClr val="0E7C86"/>
          </a:solidFill>
          <a:ln w="12700">
            <a:solidFill>
              <a:srgbClr val="0E7C86"/>
            </a:solidFill>
            <a:prstDash val="solid"/>
          </a:ln>
        </p:spPr>
      </p:sp>
      <p:sp>
        <p:nvSpPr>
          <p:cNvPr id="15" name="Text 10"/>
          <p:cNvSpPr txBox="1"/>
          <p:nvPr/>
        </p:nvSpPr>
        <p:spPr>
          <a:xfrm>
            <a:off x="6419088" y="3205988"/>
            <a:ext cx="5223967"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sector cuts each track into blocks: the block is the smallest addressable unit, identified by track number and sector number</a:t>
            </a:r>
            <a:endParaRPr lang="en-US" sz="1900" dirty="0"/>
          </a:p>
        </p:txBody>
      </p:sp>
      <p:sp>
        <p:nvSpPr>
          <p:cNvPr id="16" name="Shape 11"/>
          <p:cNvSpPr/>
          <p:nvPr/>
        </p:nvSpPr>
        <p:spPr>
          <a:xfrm>
            <a:off x="6035040" y="4625086"/>
            <a:ext cx="146304" cy="146304"/>
          </a:xfrm>
          <a:prstGeom prst="rect">
            <a:avLst/>
          </a:prstGeom>
          <a:solidFill>
            <a:srgbClr val="C7791B"/>
          </a:solidFill>
          <a:ln w="12700">
            <a:solidFill>
              <a:srgbClr val="C7791B"/>
            </a:solidFill>
            <a:prstDash val="solid"/>
          </a:ln>
        </p:spPr>
      </p:sp>
      <p:sp>
        <p:nvSpPr>
          <p:cNvPr id="17" name="Text 12"/>
          <p:cNvSpPr txBox="1"/>
          <p:nvPr/>
        </p:nvSpPr>
        <p:spPr>
          <a:xfrm>
            <a:off x="6419088" y="4541901"/>
            <a:ext cx="52239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Formatting: dividing the surface into tracks and sectors</a:t>
            </a:r>
            <a:endParaRPr lang="en-US" sz="1900" dirty="0"/>
          </a:p>
        </p:txBody>
      </p:sp>
      <p:sp>
        <p:nvSpPr>
          <p:cNvPr id="18" name="Shape 13"/>
          <p:cNvSpPr/>
          <p:nvPr/>
        </p:nvSpPr>
        <p:spPr>
          <a:xfrm>
            <a:off x="6035040" y="5372227"/>
            <a:ext cx="146304" cy="146304"/>
          </a:xfrm>
          <a:prstGeom prst="rect">
            <a:avLst/>
          </a:prstGeom>
          <a:solidFill>
            <a:srgbClr val="0E7C86"/>
          </a:solidFill>
          <a:ln w="12700">
            <a:solidFill>
              <a:srgbClr val="0E7C86"/>
            </a:solidFill>
            <a:prstDash val="solid"/>
          </a:ln>
        </p:spPr>
      </p:sp>
      <p:sp>
        <p:nvSpPr>
          <p:cNvPr id="19" name="Text 14"/>
          <p:cNvSpPr txBox="1"/>
          <p:nvPr/>
        </p:nvSpPr>
        <p:spPr>
          <a:xfrm>
            <a:off x="6419088" y="5289042"/>
            <a:ext cx="52239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Direct access: the head can be positioned on any block without passing over all the previous ones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Access time of a magnetic disk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read or write a block the head must be brought to the right address; during the transfer the head is still and the disk moves</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move the head radially to the right cylinder, and so to the right track</a:t>
            </a:r>
            <a:endParaRPr lang="en-US" sz="2100" dirty="0"/>
          </a:p>
        </p:txBody>
      </p:sp>
      <p:sp>
        <p:nvSpPr>
          <p:cNvPr id="7" name="Shape 5"/>
          <p:cNvSpPr/>
          <p:nvPr/>
        </p:nvSpPr>
        <p:spPr>
          <a:xfrm>
            <a:off x="548640" y="37357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70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Latency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wait for the desired sector to pass under the head</a:t>
            </a:r>
            <a:endParaRPr lang="en-US" sz="2100" dirty="0"/>
          </a:p>
        </p:txBody>
      </p:sp>
      <p:sp>
        <p:nvSpPr>
          <p:cNvPr id="9" name="Shape 7"/>
          <p:cNvSpPr/>
          <p:nvPr/>
        </p:nvSpPr>
        <p:spPr>
          <a:xfrm>
            <a:off x="548640" y="48173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18685"/>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Transfer time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for the block to pass under the head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Hard disks: sealed against dust, capacities of terabytes, access times of milliseconds</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ms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milliseconds: the access time of a hard disk, a million times slower than RAM</a:t>
            </a:r>
            <a:endParaRPr lang="en-US" sz="1900" dirty="0"/>
          </a:p>
        </p:txBody>
      </p:sp>
      <p:sp>
        <p:nvSpPr>
          <p:cNvPr id="16"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7"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9"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Hard disks and solid-state disks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Hard disk drive (HDD)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Magnetic platters and moving heads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Access time of milliseconds, dominated by mechanics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lowest cost per terabyte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Still the choice for large archives and backups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Solid-state disk (SSD)</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Flash memory and a controller: no moving parts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Access time of tens of microseconds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Connected through SATA or, faster, NVMe on PCI Express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standard storage of laptops and phones; the same technology as the flash chip of the kit</a:t>
            </a:r>
            <a:endParaRPr lang="en-US" sz="2100" dirty="0"/>
          </a:p>
        </p:txBody>
      </p:sp>
      <p:sp>
        <p:nvSpPr>
          <p:cNvPr id="9" name="Shape 7"/>
          <p:cNvSpPr/>
          <p:nvPr/>
        </p:nvSpPr>
        <p:spPr>
          <a:xfrm>
            <a:off x="8616010" y="91440"/>
            <a:ext cx="3027045" cy="274320"/>
          </a:xfrm>
          <a:prstGeom prst="rect">
            <a:avLst/>
          </a:prstGeom>
          <a:solidFill>
            <a:srgbClr val="E0F2FE"/>
          </a:solidFill>
          <a:ln w="12700">
            <a:solidFill>
              <a:srgbClr val="0369A1"/>
            </a:solidFill>
            <a:prstDash val="solid"/>
          </a:ln>
        </p:spPr>
      </p:sp>
      <p:sp>
        <p:nvSpPr>
          <p:cNvPr id="10" name="Shape 8"/>
          <p:cNvSpPr/>
          <p:nvPr/>
        </p:nvSpPr>
        <p:spPr>
          <a:xfrm>
            <a:off x="8616010"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2" name="Text 9"/>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Optical disks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rigid disk on which a laser beam of a few milliwatts is projected; the reflection changes between the pits and the surface, the land</a:t>
            </a:r>
            <a:endParaRPr lang="en-US" sz="2100" dirty="0"/>
          </a:p>
        </p:txBody>
      </p:sp>
      <p:sp>
        <p:nvSpPr>
          <p:cNvPr id="5" name="Shape 3"/>
          <p:cNvSpPr/>
          <p:nvPr/>
        </p:nvSpPr>
        <p:spPr>
          <a:xfrm>
            <a:off x="548640" y="26737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75052"/>
            <a:ext cx="6565392"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0 and 1 are not pit and land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 is a change, from pit to land or from land to pit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0 is no change</a:t>
            </a:r>
            <a:endParaRPr lang="en-US" sz="2100" dirty="0"/>
          </a:p>
        </p:txBody>
      </p:sp>
      <p:sp>
        <p:nvSpPr>
          <p:cNvPr id="7" name="Shape 5"/>
          <p:cNvSpPr/>
          <p:nvPr/>
        </p:nvSpPr>
        <p:spPr>
          <a:xfrm>
            <a:off x="548640" y="381165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2972"/>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Usually written once, because the physical changes are irreversible: used to distribute programs and as archives that must not be modified</a:t>
            </a:r>
            <a:endParaRPr lang="en-US" sz="2100" dirty="0"/>
          </a:p>
        </p:txBody>
      </p:sp>
      <p:sp>
        <p:nvSpPr>
          <p:cNvPr id="9" name="Shape 7"/>
          <p:cNvSpPr/>
          <p:nvPr/>
        </p:nvSpPr>
        <p:spPr>
          <a:xfrm>
            <a:off x="548640" y="52947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CD-Recordable: recording burns points in a dye layer; rewritable disks use a material that can change back</a:t>
            </a:r>
            <a:endParaRPr lang="en-US" sz="2100" dirty="0"/>
          </a:p>
        </p:txBody>
      </p:sp>
      <p:pic>
        <p:nvPicPr>
          <p:cNvPr id="11" name="Image 0" descr="/Users/raffaelemontella/devel/riscv-prg32/computer-architecture-with-prg32/tools/assets/pit_land.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Pits and lands of a pressed CD-ROM, under an electron microscope</a:t>
            </a:r>
            <a:endParaRPr lang="en-US" sz="1200" dirty="0"/>
          </a:p>
        </p:txBody>
      </p:sp>
      <p:sp>
        <p:nvSpPr>
          <p:cNvPr id="13" name="Shape 10"/>
          <p:cNvSpPr/>
          <p:nvPr/>
        </p:nvSpPr>
        <p:spPr>
          <a:xfrm>
            <a:off x="8616010" y="91440"/>
            <a:ext cx="3027045" cy="274320"/>
          </a:xfrm>
          <a:prstGeom prst="rect">
            <a:avLst/>
          </a:prstGeom>
          <a:solidFill>
            <a:srgbClr val="E0F2FE"/>
          </a:solidFill>
          <a:ln w="12700">
            <a:solidFill>
              <a:srgbClr val="0369A1"/>
            </a:solidFill>
            <a:prstDash val="solid"/>
          </a:ln>
        </p:spPr>
      </p:sp>
      <p:sp>
        <p:nvSpPr>
          <p:cNvPr id="14" name="Shape 11"/>
          <p:cNvSpPr/>
          <p:nvPr/>
        </p:nvSpPr>
        <p:spPr>
          <a:xfrm>
            <a:off x="8616010" y="91440"/>
            <a:ext cx="73152" cy="274320"/>
          </a:xfrm>
          <a:prstGeom prst="rect">
            <a:avLst/>
          </a:prstGeom>
          <a:solidFill>
            <a:srgbClr val="0369A1"/>
          </a:solidFill>
          <a:ln w="12700">
            <a:solidFill>
              <a:srgbClr val="0369A1"/>
            </a:solidFill>
            <a:prstDash val="solid"/>
          </a:ln>
        </p:spPr>
      </p:sp>
      <p:pic>
        <p:nvPicPr>
          <p:cNvPr id="15" name="Image 1" descr="preencoded.png">    </p:cNvPr>
          <p:cNvPicPr>
            <a:picLocks noChangeAspect="1"/>
          </p:cNvPicPr>
          <p:nvPr/>
        </p:nvPicPr>
        <p:blipFill>
          <a:blip r:embed="rId2"/>
          <a:stretch>
            <a:fillRect/>
          </a:stretch>
        </p:blipFill>
        <p:spPr>
          <a:xfrm>
            <a:off x="8744026" y="128016"/>
            <a:ext cx="201168" cy="201168"/>
          </a:xfrm>
          <a:prstGeom prst="rect">
            <a:avLst/>
          </a:prstGeom>
        </p:spPr>
      </p:pic>
      <p:sp>
        <p:nvSpPr>
          <p:cNvPr id="16" name="Text 12"/>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compact disc</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information is stored on a single spiral track, with constant recording density</a:t>
            </a:r>
            <a:endParaRPr lang="en-US" sz="2100" dirty="0"/>
          </a:p>
        </p:txBody>
      </p:sp>
      <p:sp>
        <p:nvSpPr>
          <p:cNvPr id="5" name="Shape 3"/>
          <p:cNvSpPr/>
          <p:nvPr/>
        </p:nvSpPr>
        <p:spPr>
          <a:xfrm>
            <a:off x="548640" y="24075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86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distance between two successive turns of the spiral, the track pitch, is 1.6 micrometres</a:t>
            </a:r>
            <a:endParaRPr lang="en-US" sz="2100" dirty="0"/>
          </a:p>
        </p:txBody>
      </p:sp>
      <p:sp>
        <p:nvSpPr>
          <p:cNvPr id="7" name="Shape 5"/>
          <p:cNvSpPr/>
          <p:nvPr/>
        </p:nvSpPr>
        <p:spPr>
          <a:xfrm>
            <a:off x="548640" y="32990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0400"/>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CLV, constant linear velocity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disk turns faster when reading near the centre: from 200 to 500 revolutions per minute</a:t>
            </a:r>
            <a:endParaRPr lang="en-US" sz="2100" dirty="0"/>
          </a:p>
        </p:txBody>
      </p:sp>
      <p:sp>
        <p:nvSpPr>
          <p:cNvPr id="9" name="Shape 7"/>
          <p:cNvSpPr/>
          <p:nvPr/>
        </p:nvSpPr>
        <p:spPr>
          <a:xfrm>
            <a:off x="548640" y="445960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09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CAV, constant angular velocity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constant revolutions; the number of bits per sector is constant, so the outer surface is under-used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speed was set by the bit rate needed to play music</a:t>
            </a:r>
            <a:endParaRPr lang="en-US" sz="2100" dirty="0"/>
          </a:p>
        </p:txBody>
      </p:sp>
      <p:pic>
        <p:nvPicPr>
          <p:cNvPr id="13" name="Image 0" descr="/Users/raffaelemontella/devel/riscv-prg32/computer-architecture-with-prg32/tools/assets/cdrom_drive.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Inside a CD-ROM drive</a:t>
            </a:r>
            <a:endParaRPr lang="en-US" sz="1200" dirty="0"/>
          </a:p>
        </p:txBody>
      </p:sp>
      <p:sp>
        <p:nvSpPr>
          <p:cNvPr id="15" name="Shape 12"/>
          <p:cNvSpPr/>
          <p:nvPr/>
        </p:nvSpPr>
        <p:spPr>
          <a:xfrm>
            <a:off x="8616010" y="91440"/>
            <a:ext cx="3027045" cy="274320"/>
          </a:xfrm>
          <a:prstGeom prst="rect">
            <a:avLst/>
          </a:prstGeom>
          <a:solidFill>
            <a:srgbClr val="E0F2FE"/>
          </a:solidFill>
          <a:ln w="12700">
            <a:solidFill>
              <a:srgbClr val="0369A1"/>
            </a:solidFill>
            <a:prstDash val="solid"/>
          </a:ln>
        </p:spPr>
      </p:sp>
      <p:sp>
        <p:nvSpPr>
          <p:cNvPr id="16" name="Shape 13"/>
          <p:cNvSpPr/>
          <p:nvPr/>
        </p:nvSpPr>
        <p:spPr>
          <a:xfrm>
            <a:off x="8616010"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744026" y="128016"/>
            <a:ext cx="201168" cy="201168"/>
          </a:xfrm>
          <a:prstGeom prst="rect">
            <a:avLst/>
          </a:prstGeom>
        </p:spPr>
      </p:pic>
      <p:sp>
        <p:nvSpPr>
          <p:cNvPr id="18" name="Text 1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multi-level permanent memory</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RAM disk</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piece of main memory used as a disk: fastest, volatile</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Solid-state disk</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flash: fast, the working storage</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Hard disk</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magnetic: large and cheap</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Disk library</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many disks, some switched on only when needed</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Tape library</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robots that mount tapes: the cheapest per byte, for archives</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 modern computing system has several levels of permanent memory, often managed automatically: data that are used often migrate towards the fast levels, the rest sinks towards the cheap ones.</a:t>
            </a:r>
            <a:endParaRPr lang="en-US" sz="2000" dirty="0"/>
          </a:p>
        </p:txBody>
      </p:sp>
      <p:sp>
        <p:nvSpPr>
          <p:cNvPr id="24" name="Shape 22"/>
          <p:cNvSpPr/>
          <p:nvPr/>
        </p:nvSpPr>
        <p:spPr>
          <a:xfrm>
            <a:off x="8616010" y="91440"/>
            <a:ext cx="3027045" cy="274320"/>
          </a:xfrm>
          <a:prstGeom prst="rect">
            <a:avLst/>
          </a:prstGeom>
          <a:solidFill>
            <a:srgbClr val="E0F2FE"/>
          </a:solidFill>
          <a:ln w="12700">
            <a:solidFill>
              <a:srgbClr val="0369A1"/>
            </a:solidFill>
            <a:prstDash val="solid"/>
          </a:ln>
        </p:spPr>
      </p:sp>
      <p:sp>
        <p:nvSpPr>
          <p:cNvPr id="25" name="Shape 23"/>
          <p:cNvSpPr/>
          <p:nvPr/>
        </p:nvSpPr>
        <p:spPr>
          <a:xfrm>
            <a:off x="8616010"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7" name="Text 2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memory can be erased electrically, in blocks, without removing it from the board?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ROM</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PROM</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EPROM</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Flash</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happens on a cache miss?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program stops with an error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datum is fetched from main memory and copied into the cache, with its neighbours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cache is erased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processor skips the instruction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component of the access time of a hard disk depends on the rotation speed?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Seek time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Latency</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Formatting time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Boot time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an optical disk, a 1 is encoded as: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pit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land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transition between pit and land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double pit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94695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motherboard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madre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track / sector / block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traccia / settore / blocco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posizionamento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non-volatile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latency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latenza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hit / miss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successo / fallimento di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solid-state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a stato solido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mass 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tape library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libreria a nastri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Non-volatile memories usually hold the basic software of a machine: the firmware</a:t>
            </a:r>
            <a:endParaRPr lang="en-US" sz="2100" dirty="0"/>
          </a:p>
        </p:txBody>
      </p:sp>
      <p:sp>
        <p:nvSpPr>
          <p:cNvPr id="5" name="Shape 3"/>
          <p:cNvSpPr/>
          <p:nvPr/>
        </p:nvSpPr>
        <p:spPr>
          <a:xfrm>
            <a:off x="548640" y="20173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1871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cache improves performance by keeping a copy of part of the main memory close to the processor</a:t>
            </a:r>
            <a:endParaRPr lang="en-US" sz="2100" dirty="0"/>
          </a:p>
        </p:txBody>
      </p:sp>
      <p:sp>
        <p:nvSpPr>
          <p:cNvPr id="7" name="Shape 5"/>
          <p:cNvSpPr/>
          <p:nvPr/>
        </p:nvSpPr>
        <p:spPr>
          <a:xfrm>
            <a:off x="548640" y="28441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454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same idea, a small fast level in front of a large slow one, is used again in storage systems</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Permanent memories can be semiconductor (flash), magnetic or optical</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modern system has several levels of permanent memory, often managed automatically</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sections 5.1-5.4</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Stallings: Computer Organization and Architecture, chapters on cache and external memory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Tanenbaum, Austin: Structured Computer Organization, chapter 2</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Permanent Memory</dc:title>
  <dc:subject>Lecture 16</dc:subject>
  <dc:creator>Raffaele Montella</dc:creator>
  <cp:lastModifiedBy>Raffaele Montella</cp:lastModifiedBy>
  <cp:revision>1</cp:revision>
  <dcterms:created xsi:type="dcterms:W3CDTF">2026-10-16T20:22:24Z</dcterms:created>
  <dcterms:modified xsi:type="dcterms:W3CDTF">2026-10-16T20:22:24Z</dcterms:modified>
</cp:coreProperties>
</file>