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23b3d2e-9e00-5343-6b48-92ba55de665b}">
          <p14:sldIdLst>
            <p14:sldId id="256"/>
            <p14:sldId id="257"/>
          </p14:sldIdLst>
        </p14:section>
        <p14:section name="The listings" id="{5ee9a509-a9bb-d0ec-b930-5e0cac57a6dd}">
          <p14:sldIdLst>
            <p14:sldId id="258"/>
          </p14:sldIdLst>
        </p14:section>
        <p14:section name="Step 1: names for bits" id="{8deea992-4e7f-0d4e-005a-44ebc6891147}">
          <p14:sldIdLst>
            <p14:sldId id="259"/>
            <p14:sldId id="260"/>
          </p14:sldIdLst>
        </p14:section>
        <p14:section name="Step 2: steering" id="{55071041-7cee-ec67-07bc-72839e3d3f36}">
          <p14:sldIdLst>
            <p14:sldId id="261"/>
            <p14:sldId id="262"/>
            <p14:sldId id="263"/>
            <p14:sldId id="264"/>
            <p14:sldId id="265"/>
            <p14:sldId id="266"/>
          </p14:sldIdLst>
        </p14:section>
        <p14:section name="Step 3: food, a score, a sound" id="{bcbfeadd-6f1f-00ae-944f-4e5a9287c33f}">
          <p14:sldIdLst>
            <p14:sldId id="267"/>
            <p14:sldId id="268"/>
            <p14:sldId id="269"/>
            <p14:sldId id="270"/>
            <p14:sldId id="271"/>
            <p14:sldId id="272"/>
            <p14:sldId id="273"/>
            <p14:sldId id="274"/>
          </p14:sldIdLst>
        </p14:section>
        <p14:section name="Run it and test it" id="{094bbc90-6021-148e-b80d-8555647a9bea}">
          <p14:sldIdLst>
            <p14:sldId id="275"/>
            <p14:sldId id="276"/>
            <p14:sldId id="277"/>
            <p14:sldId id="278"/>
            <p14:sldId id="279"/>
          </p14:sldIdLst>
        </p14:section>
        <p14:section name="Exercises" id="{9ea9e0d5-40d8-d689-4dc0-4ca9801ad30b}">
          <p14:sldIdLst>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12. Where the lecture deck develops the concepts, this deck contains everything that is written and executed: each listing with its commentary, the complete program of the lecture, the output it is expected to produce, and the procedure for testing it on each of the three hosts. The two decks are meant to be read together: the concepts explain the code, and the code gives the concepts an observable consequence.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bit masks; codes; arrays in memory; pull-up inputs; Boolean algebra; fixed point; multiplexers; signed or unsigned instructions; comparators and parity; arguments in a0 to a7. USE NOW: the calling convention (Lecture 18) and, used without being studied in this course, the PRG32 tools, the PRG32 runtime calls, the PRG32-QT debugger. UNDERSTAND LATER: nothing. A slide without a badge is context: a story, an example, a question, an exercise.
Roadmap. Today's outcomes: (1) read the buttons with masks and refuse a U-turn with one XOR; (2) compare positions with XOR and OR to detect food; (3) keep and show a score. Builds on: bit masks (Lecture 08); codes (Lecture 11); arrays in memory (Lecture 04); pull-up inputs (Lecture 10); Boolean algebra (Lecture 08). Next: Lecture 13, Sequential Machines.
Bridge. In Lecture 07 a function that calls another saved ra in a frame of 16 bytes. Today the functions of Verm1 call each other more deeply: each saves ra once, on entry, and restores it before ret. Lecture 18 states the rules: which registers a call may change and which it must preserve. Recall: A function calls two other functions. How many times must it save ra, and 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contents of the deck, in the order of the slides. The program of the lecture is a complete source file that can be built and executed as it stands. The recommended approach is to run it first, observe its behaviour, and then return to the individual listings to understand how each part contributes to that behaviour. The reference program is ~/arc12/verm1/verm1_part2.S; tools/tests/verm1_check.py builds it and plays it with a scripted player, and verm1_steps.py runs the intermediate checkpoints.
For the lecturer: Get the code once: git clone https://github.com/riscv-prg32/computer-architecture-with-prg32 ~/arc12. The reference program is ~/arc12/verm1/verm1_part2.S; tools/tests/verm1_check.py builds it and plays it with a scripted player, and verm1_steps.py runs the intermediate checkpoints.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two commands as in Part 1: build the cartridge, then upload it to PRG32-QT and run it. PRG32-QT should remain open throughout the session, with debug mode enabled so that the debugger is at hand; step 4 relies on it.
USE NOW: the PRG32 tools (used, not studied, in this course).
For the lecturer: The same two commands of Part 1. PRG32-QT must be running, with Run cartridges in RISC-V debug mode enabled in Settings if you want the debugger.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lines are added to the constants of Part 1. RED is the colour of the food. The four BTN_ constants are masks, each with a single bit set, the bit of that button in the word returned by the runtime. The four DIR_ constants are the codes of the directions, numbers from 0 to 3, hence two bits. The comments state the meaning of each of the two bits, and the lecture deck, in the slide "A code chosen with care", justifies the choice of codes.
UNDERSTAND NOW: bit masks.
For the lecturer: Add the lines from RED and from BTN_LEFT to DIR_UP to the constants of Part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lines replace the data of Part 1. The .rodata section holds two tables of four words, dx and dy: for each direction code, the change of column and the change of row. Being constant, they reside with the other read-only data; they are in effect a small ROM, in the sense of Lecture 11. The .data section holds five new variables: dir, the direction of the last step; want, the direction requested by the player; and score, food_x and food_y, used in step 3.
UNDERSTAND NOW: arrays in memory.
For the lecturer: Replace the data of Part 1 with this. The initial values are enough for step 2: init is completed in step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replaces the beginning of verm1_update. After the call to prg32_input_read, t1 receives the current direction and t2 the current request. Four identical blocks follow: andi isolates one button; if the result is zero the next instruction is skipped; otherwise the request in t2 is overwritten with that direction. Finally the rule: the XOR of request and direction is compared with 2, and if they are equal the request is a U-turn and the sw is skipped, so the previous request survives. Since update now makes a call, it requires a stack frame.
UNDERSTAND NOW: bit masks.
For the lecturer: This replaces the beginning of verm1_update. update now calls a function, so it needs a stack frame. With two buttons pressed the last test wins: UP beats LEFT beats DOWN beats RIGHT. The player's wish is stored in want and becomes the direction only at the next step: so two quick presses cannot fold the worm onto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remainder of verm1_update is the fixed-point timer of Part 1, unchanged: the speed is added, and when a whole cell has accumulated 256 is subtracted. The only difference is what happens next: instead of updating head_x directly, the code calls a new function, step. Separating "when to move" from "how to move" is a first exercise in decomposition. The local labels here are 6 and 7 because 1 to 5 are already in use in the first half of the function.
UNDERSTAND NOW: fixed point.
For the lecturer: This is the rest of verm1_update. The lines that moved head_x in Part 1 are gone: they become the function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half of step. The request becomes the direction once per step rather than once per frame, so that two rapid presses cannot fold the worm back on itself. Then the lookup: the direction code is shifted left by 2, because each table entry is a four-byte word, and added to the address of dx; the word loaded is the change of column, -1, 0 or +1. The same offset serves for dy. No branch is involved: the code selects the value, exactly as a multiplexer does, and changing the rules of movement means changing data rather than code.
UNDERSTAND NOW: multiplexers.
For the lecturer: A table in read-only memory addressed by a code is a ROM: Lecture 11. The alternative is four branches; the table is shorter, and changing the rules means changing data, not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moves the head and handles the edges in both directions. Column plus dx may now be -1: bgez tests the sign, and a negative column is replaced by the last one; if instead it has reached COLS, it becomes 0. The row is treated likewise with ROWS. Both tests interpret the value as signed, as Lecture 05 requires. The last callout notes that t4 and t6 still hold the new column and row, which the next fragment uses.
UNDERSTAND NOW: signed or unsigned instructions.
For the lecturer: In Part 1 only the right edge existed. A negative column is a signed number: bgez and blt are the signed comparisons of Lecture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provisional lines restore ra, release the frame and return, completing step so that the program can be run immediately. This is a recurring practice of the tutorials: a function to be finished later is closed provisionally, and what exists is tested. In step 3 the test for the food is inserted before these lines.
For the lecturer: A temporary ending, so that the program can run now. This intermediate program is built and run by tests/verm1_steps.py.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the student now steers. The head starts moving right as before. Holding DOWN makes it turn at its next step. While it moves right, holding LEFT has no effect, because the U-turn is refused; reaching the left requires two turns, DOWN and then LEFT. The green box gives a precise acceptance test: holding DOWN from the start for 64 frames brings the head to column 5 of row 22, ten steps down. A quantitative prediction verified against the machine is the standard of correctness throughout the course.
For the lecturer: Checked on the PRG32-QT headless runner: DOWN held 64 frames gives (5, 22); LEFT held 64 frames gives (15, 12), as if nothing had been pressed.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verm1_init is replaced by a complete version in which every variable receives its initial value, the direction, the request and the score included, and the first food is placed by calling place_food. Since it now makes a call, init too requires a stack frame that saves ra.
For the lecturer: Replace verm1_init.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place_food requests two random numbers from the runtime. The contract of prg32_random_number is: minimum in a0, maximum in a1, both inclusive, result in a0. The first call yields a column from 0 to 39, the second a row from 0 to 23, and each is stored in its variable. One defect is left deliberately: the food may fall on the head. Part 3, once the worm has a body, corrects it. Acknowledging a known limitation explicitly is part of sound engineering practice.
USE NOW: the PRG32 runtime calls (used, not studied, in this course).
For the lecturer: The random numbers come from the runtime: on the board from the hardware generator of the ESP32-C6. Two runs of the game are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replaces the provisional ending of step. It is a comparator built from instructions: the xor of the food's column and the head's column is 0 when they are equal; likewise for the rows; the or of the two results is 0 only if both pairs are equal. If the result is non-zero, the function returns. Otherwise the worm has eaten: the score is incremented, new food is placed, and a sound is played. It is the AND of XNORs of Lecture 11, written as two xor and one or, with the logic inverted by De Morgan.
UNDERSTAND NOW: comparators and parity.
For the lecturer: A comparator for equality is a row of XOR gates followed by an OR: Lecture 11. Here it is two xor and one or. The registers t4 and t6 still hold the new column and row; after the calls they are no longer needed, which is why it is safe to keep them in temporaries.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eat_sound plays a single note. prg32_audio_note takes five arguments in a0 to a4: channel, instrument, note, volume and duration in milliseconds. Note 72 is C in the fifth octave of MIDI numbering. The last callout restates a principle of PRG32 development: sound comes last. The game functioned without it, and it is added only once everything else is sound.
USE NOW: the PRG32 runtime calls (used, not studied, in this course).
For the lecturer: prg32_audio_note(channel, instrument, note, volume, milliseconds). On PRG32-QT the note is played by the computer; on the board by the amplifier and its speaker.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beginning of the new verm1_draw: after the title, a loop draws one small rectangle per point of the score, 4 pixels apart. The loop counter is held in s0 rather than in a t register, because it must survive the calls to prg32_gfx_rect: a callee may destroy the temporaries but must preserve the s registers. In return, the function must itself save s0 in its frame and restore it on exit. The convention is used here as a rule and studied formally in Lecture 18.
USE NOW: the calling convention (studied in Lecture 18).
For the lecturer: Replace the beginning of verm1_draw. A t register may be destroyed by any call; an s register is preserved, provided that we save and restore it ourselves: the convention, met in Lecture 02, is studied in Lecture 18. Digits arrive in Part 4, when division is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remainder of verm1_draw: the same three lines twice, first for the food and then for the head, loading the column, the row and the colour, and calling draw_cell. The order is significant: the head is drawn last, so that it covers the food when both occupy the same cell. s0 and ra are then restored and the function returns.
UNDERSTAND NOW: arguments in a0 to a7.
For the lecturer: This is the rest of verm1_draw: it replaces the rectangle of Part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draw_cell gathers into one function the arithmetic that Part 1 placed inside draw: column times 8, row times 8 plus TOP. Its contract is written in the comment on its first line: column in a0, row in a1, colour in a2. One subtlety deserves attention: prg32_gfx_rect expects the colour in a4, and a2 is about to be overwritten with the width, so the colour must be moved first. Documenting the contract of a function in a comment is an integral part of writing it.
UNDERSTAND NOW: arguments in a0 to a7.
For the lecturer: A function with a contract: a0 = column, a1 = row, a2 = colour. Writing the contract in a comment is part of the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A red cell appears somewhere on the grid. When the head is steered onto it, a note sounds, a mark appears beside the title, and the food moves to another cell. The screenshot shows the game after two bites, with two marks; it was produced by the automatic test, in which a scripted player steers the head to the food twice.
For the lecturer: Screenshot produced by tools/tests/verm1_check.py: a scripted player steers the head to the food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behaviour of the program, and the input it requires. The outcome should be predicted before the program is run: any discrepancy between prediction and screen is information about one's model of the machine, and is worth explaining before it is corrected. The image was produced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direct route: PRG32-QT on one's own computer, in four steps, each with its command. PRG32-QT presents itself to the tools as a board listening on port 8080, which is why the upload command names the esp32c6. With debug mode enabled, execution can be halted at any instruction and the registers and memory inspected.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executes the actual firmware on an emulated chip, so the cartridge must be built for the qemu architecture and staged while QEMU is not running. The firmware starts on its Setup menu, from which Run Cartridge and the slot are selected. Keyboard input is read by the terminal from which QEMU was launched, not by the window that displays the image.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physical kit. The firmware is written once, over USB; thereafter cartridges are transferred over Wi-Fi with the same upload command used for PRG32-QT, addressed to the board. This is the only host not exercised by the automatic tests, so observations made on the board are particularly valuable and should be reported.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frequent symptoms, their meaning, and the corrective action. The error message should be read in full before anything is changed: in nearly every case it names the cause. When asking for help, the command and the complete message should be reported verbatim.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modifications of the student's own devising. Make button A a brake that suspends the timer while held. Award two points for food eaten in the top row. Draw the head in a different colour for each direction, using a third table indexed like dx. And change the encoding of the directions: with RIGHT 0, LEFT 1, DOWN 2 and UP 3, what does the U-turn rule become? The last question tests whether the role of the encoding has been understood. A copy of the working Part 2 should be kept before experimenting.
For the lecturer: Brake: andi with BTN_A (0x10) at the start of the timer, branch to the exit. Colour table: four .word in .rodata, indexed like dx. New encoding: opposites differ in bit 0, so the test is XOR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12: Verm1, part 2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12</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Verm1, Part 2: Steering, Food and a Score: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548640" y="6419088"/>
            <a:ext cx="8229600" cy="274320"/>
          </a:xfrm>
          <a:prstGeom prst="rect">
            <a:avLst/>
          </a:prstGeom>
          <a:noFill/>
          <a:ln/>
        </p:spPr>
        <p:txBody>
          <a:bodyPr wrap="square" lIns="0" tIns="0" rIns="0" bIns="0" rtlCol="0" anchor="t"/>
          <a:lstStyle/>
          <a:p>
            <a:pPr indent="0" marL="0">
              <a:buNone/>
            </a:pPr>
            <a:r>
              <a:rPr lang="en-US" sz="1200" i="1" dirty="0">
                <a:solidFill>
                  <a:srgbClr val="CFE3EA"/>
                </a:solidFill>
                <a:latin typeface="Calibri" pitchFamily="34" charset="0"/>
                <a:ea typeface="Calibri" pitchFamily="34" charset="-122"/>
                <a:cs typeface="Calibri" pitchFamily="34" charset="-120"/>
              </a:rPr>
              <a:t>Verm1 reference implementation contributed by Giuseppe Coviello</a:t>
            </a:r>
            <a:endParaRPr lang="en-US" sz="12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12-Computer_Architecture-Verm1_Part_2.pptx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verm1_p2.png">    </p:cNvPr>
          <p:cNvPicPr>
            <a:picLocks noChangeAspect="1"/>
          </p:cNvPicPr>
          <p:nvPr/>
        </p:nvPicPr>
        <p:blipFill>
          <a:blip r:embed="rId1"/>
          <a:stretch>
            <a:fillRect/>
          </a:stretch>
        </p:blipFill>
        <p:spPr>
          <a:xfrm>
            <a:off x="8716975" y="4280535"/>
            <a:ext cx="2834640" cy="1771650"/>
          </a:xfrm>
          <a:prstGeom prst="rect">
            <a:avLst/>
          </a:prstGeom>
        </p:spPr>
      </p:pic>
      <p:sp>
        <p:nvSpPr>
          <p:cNvPr id="15" name="Shape 12"/>
          <p:cNvSpPr/>
          <p:nvPr/>
        </p:nvSpPr>
        <p:spPr>
          <a:xfrm>
            <a:off x="9690303" y="91440"/>
            <a:ext cx="1952752" cy="274320"/>
          </a:xfrm>
          <a:prstGeom prst="rect">
            <a:avLst/>
          </a:prstGeom>
          <a:solidFill>
            <a:srgbClr val="F3E8FF"/>
          </a:solidFill>
          <a:ln w="12700">
            <a:solidFill>
              <a:srgbClr val="7E22CE"/>
            </a:solidFill>
            <a:prstDash val="dash"/>
          </a:ln>
        </p:spPr>
      </p:sp>
      <p:sp>
        <p:nvSpPr>
          <p:cNvPr id="16" name="Shape 13"/>
          <p:cNvSpPr/>
          <p:nvPr/>
        </p:nvSpPr>
        <p:spPr>
          <a:xfrm>
            <a:off x="9717735" y="128016"/>
            <a:ext cx="45720" cy="45720"/>
          </a:xfrm>
          <a:prstGeom prst="rect">
            <a:avLst/>
          </a:prstGeom>
          <a:solidFill>
            <a:srgbClr val="7E22CE"/>
          </a:solidFill>
          <a:ln w="12700">
            <a:solidFill>
              <a:srgbClr val="7E22CE"/>
            </a:solidFill>
            <a:prstDash val="solid"/>
          </a:ln>
        </p:spPr>
      </p:sp>
      <p:sp>
        <p:nvSpPr>
          <p:cNvPr id="17" name="Shape 14"/>
          <p:cNvSpPr/>
          <p:nvPr/>
        </p:nvSpPr>
        <p:spPr>
          <a:xfrm>
            <a:off x="9717735" y="205740"/>
            <a:ext cx="45720" cy="45720"/>
          </a:xfrm>
          <a:prstGeom prst="rect">
            <a:avLst/>
          </a:prstGeom>
          <a:solidFill>
            <a:srgbClr val="7E22CE"/>
          </a:solidFill>
          <a:ln w="12700">
            <a:solidFill>
              <a:srgbClr val="7E22CE"/>
            </a:solidFill>
            <a:prstDash val="solid"/>
          </a:ln>
        </p:spPr>
      </p:sp>
      <p:sp>
        <p:nvSpPr>
          <p:cNvPr id="18" name="Shape 15"/>
          <p:cNvSpPr/>
          <p:nvPr/>
        </p:nvSpPr>
        <p:spPr>
          <a:xfrm>
            <a:off x="9717735"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20" name="Text 16"/>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1" name="Shape 17"/>
          <p:cNvSpPr/>
          <p:nvPr/>
        </p:nvSpPr>
        <p:spPr>
          <a:xfrm>
            <a:off x="8407349" y="91440"/>
            <a:ext cx="1173226" cy="274320"/>
          </a:xfrm>
          <a:prstGeom prst="rect">
            <a:avLst/>
          </a:prstGeom>
          <a:solidFill>
            <a:srgbClr val="FEF3C7"/>
          </a:solidFill>
          <a:ln w="12700">
            <a:solidFill>
              <a:srgbClr val="B45309"/>
            </a:solidFill>
            <a:prstDash val="solid"/>
          </a:ln>
        </p:spPr>
      </p:sp>
      <p:sp>
        <p:nvSpPr>
          <p:cNvPr id="22" name="Shape 18"/>
          <p:cNvSpPr/>
          <p:nvPr/>
        </p:nvSpPr>
        <p:spPr>
          <a:xfrm>
            <a:off x="8407349" y="91440"/>
            <a:ext cx="27432" cy="274320"/>
          </a:xfrm>
          <a:prstGeom prst="rect">
            <a:avLst/>
          </a:prstGeom>
          <a:solidFill>
            <a:srgbClr val="B45309"/>
          </a:solidFill>
          <a:ln w="12700">
            <a:solidFill>
              <a:srgbClr val="B45309"/>
            </a:solidFill>
            <a:prstDash val="solid"/>
          </a:ln>
        </p:spPr>
      </p:sp>
      <p:sp>
        <p:nvSpPr>
          <p:cNvPr id="23" name="Shape 19"/>
          <p:cNvSpPr/>
          <p:nvPr/>
        </p:nvSpPr>
        <p:spPr>
          <a:xfrm>
            <a:off x="8462213" y="91440"/>
            <a:ext cx="27432" cy="274320"/>
          </a:xfrm>
          <a:prstGeom prst="rect">
            <a:avLst/>
          </a:prstGeom>
          <a:solidFill>
            <a:srgbClr val="B45309"/>
          </a:solidFill>
          <a:ln w="12700">
            <a:solidFill>
              <a:srgbClr val="B45309"/>
            </a:solidFill>
            <a:prstDash val="solid"/>
          </a:ln>
        </p:spPr>
      </p:sp>
      <p:pic>
        <p:nvPicPr>
          <p:cNvPr id="24"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5" name="Text 20"/>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6" name="Shape 21"/>
          <p:cNvSpPr/>
          <p:nvPr/>
        </p:nvSpPr>
        <p:spPr>
          <a:xfrm>
            <a:off x="6518097" y="91440"/>
            <a:ext cx="1779524" cy="274320"/>
          </a:xfrm>
          <a:prstGeom prst="rect">
            <a:avLst/>
          </a:prstGeom>
          <a:solidFill>
            <a:srgbClr val="E0F2FE"/>
          </a:solidFill>
          <a:ln w="12700">
            <a:solidFill>
              <a:srgbClr val="0369A1"/>
            </a:solidFill>
            <a:prstDash val="solid"/>
          </a:ln>
        </p:spPr>
      </p:sp>
      <p:sp>
        <p:nvSpPr>
          <p:cNvPr id="27" name="Shape 22"/>
          <p:cNvSpPr/>
          <p:nvPr/>
        </p:nvSpPr>
        <p:spPr>
          <a:xfrm>
            <a:off x="6518097" y="91440"/>
            <a:ext cx="73152" cy="274320"/>
          </a:xfrm>
          <a:prstGeom prst="rect">
            <a:avLst/>
          </a:prstGeom>
          <a:solidFill>
            <a:srgbClr val="0369A1"/>
          </a:solidFill>
          <a:ln w="12700">
            <a:solidFill>
              <a:srgbClr val="0369A1"/>
            </a:solidFill>
            <a:prstDash val="solid"/>
          </a:ln>
        </p:spPr>
      </p:sp>
      <p:pic>
        <p:nvPicPr>
          <p:cNvPr id="28"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9" name="Text 23"/>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558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54025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15 listings of Lecture 12, one per slide: read the code, then the numbered remarks beside it</a:t>
            </a:r>
            <a:endParaRPr lang="en-US" sz="2200" dirty="0"/>
          </a:p>
        </p:txBody>
      </p:sp>
      <p:sp>
        <p:nvSpPr>
          <p:cNvPr id="5" name="Text 3"/>
          <p:cNvSpPr txBox="1"/>
          <p:nvPr/>
        </p:nvSpPr>
        <p:spPr>
          <a:xfrm>
            <a:off x="548640" y="26974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67919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program is your verm1.S; the reference is verm1/verm1_part2.S, 231 lines, shown here region by region</a:t>
            </a:r>
            <a:endParaRPr lang="en-US" sz="2200" dirty="0"/>
          </a:p>
        </p:txBody>
      </p:sp>
      <p:sp>
        <p:nvSpPr>
          <p:cNvPr id="7" name="Text 5"/>
          <p:cNvSpPr txBox="1"/>
          <p:nvPr/>
        </p:nvSpPr>
        <p:spPr>
          <a:xfrm>
            <a:off x="548640" y="3836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81812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73252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71424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62864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61035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working loop, again</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8FB3A0"/>
                </a:solidFill>
                <a:latin typeface="Courier New" pitchFamily="34" charset="0"/>
                <a:ea typeface="Courier New" pitchFamily="34" charset="-122"/>
                <a:cs typeface="Courier New" pitchFamily="34" charset="-120"/>
              </a:rPr>
              <a:t># 1. build the cartridge (from your PRG32 folder, toolchain active)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--entry-prefix verm1 --name verm1 --out ~/verm1/verm1.prg32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2. send it to PRG32-QT, running on the same computer</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esp32c6 upload-and-run ~/verm1/verm1.prg32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--url http://localhost:8080 --slot cart0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or: in PRG32-QT, import the file verm1.prg32 and choose Run Cartridge</a:t>
            </a:r>
            <a:endParaRPr lang="en-US" sz="1800" dirty="0"/>
          </a:p>
        </p:txBody>
      </p:sp>
      <p:sp>
        <p:nvSpPr>
          <p:cNvPr id="5" name="Shape 3"/>
          <p:cNvSpPr/>
          <p:nvPr/>
        </p:nvSpPr>
        <p:spPr>
          <a:xfrm>
            <a:off x="9287967" y="91440"/>
            <a:ext cx="2355088" cy="274320"/>
          </a:xfrm>
          <a:prstGeom prst="rect">
            <a:avLst/>
          </a:prstGeom>
          <a:solidFill>
            <a:srgbClr val="FEF3C7"/>
          </a:solidFill>
          <a:ln w="12700">
            <a:solidFill>
              <a:srgbClr val="B45309"/>
            </a:solidFill>
            <a:prstDash val="solid"/>
          </a:ln>
        </p:spPr>
      </p:sp>
      <p:sp>
        <p:nvSpPr>
          <p:cNvPr id="6" name="Shape 4"/>
          <p:cNvSpPr/>
          <p:nvPr/>
        </p:nvSpPr>
        <p:spPr>
          <a:xfrm>
            <a:off x="9287967" y="91440"/>
            <a:ext cx="27432" cy="274320"/>
          </a:xfrm>
          <a:prstGeom prst="rect">
            <a:avLst/>
          </a:prstGeom>
          <a:solidFill>
            <a:srgbClr val="B45309"/>
          </a:solidFill>
          <a:ln w="12700">
            <a:solidFill>
              <a:srgbClr val="B45309"/>
            </a:solidFill>
            <a:prstDash val="solid"/>
          </a:ln>
        </p:spPr>
      </p:sp>
      <p:sp>
        <p:nvSpPr>
          <p:cNvPr id="7" name="Shape 5"/>
          <p:cNvSpPr/>
          <p:nvPr/>
        </p:nvSpPr>
        <p:spPr>
          <a:xfrm>
            <a:off x="9342831"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9" name="Text 6"/>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Constants: buttons and directions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50" dirty="0">
                <a:solidFill>
                  <a:srgbClr val="E6EDF2"/>
                </a:solidFill>
                <a:latin typeface="Courier New" pitchFamily="34" charset="0"/>
                <a:ea typeface="Courier New" pitchFamily="34" charset="-122"/>
                <a:cs typeface="Courier New" pitchFamily="34" charset="-120"/>
              </a:rPr>
              <a:t>.option norelax</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BLACK, 0x0000          </a:t>
            </a:r>
            <a:pPr indent="0" marL="0">
              <a:buNone/>
            </a:pPr>
            <a:r>
              <a:rPr lang="en-US" sz="1250" dirty="0">
                <a:solidFill>
                  <a:srgbClr val="8FB3A0"/>
                </a:solidFill>
                <a:latin typeface="Courier New" pitchFamily="34" charset="0"/>
                <a:ea typeface="Courier New" pitchFamily="34" charset="-122"/>
                <a:cs typeface="Courier New" pitchFamily="34" charset="-120"/>
              </a:rPr>
              <a:t># RGB565 colours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WHITE, 0xffff</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GREEN, 0x07e0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RED,   0xf800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CELL,  8               </a:t>
            </a:r>
            <a:pPr indent="0" marL="0">
              <a:buNone/>
            </a:pPr>
            <a:r>
              <a:rPr lang="en-US" sz="1250" dirty="0">
                <a:solidFill>
                  <a:srgbClr val="8FB3A0"/>
                </a:solidFill>
                <a:latin typeface="Courier New" pitchFamily="34" charset="0"/>
                <a:ea typeface="Courier New" pitchFamily="34" charset="-122"/>
                <a:cs typeface="Courier New" pitchFamily="34" charset="-120"/>
              </a:rPr>
              <a:t># a cell is 8 x 8 pixels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COLS,  40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ROWS,  24</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TOP,   8</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SPEED_Q8, 40           </a:t>
            </a:r>
            <a:pPr indent="0" marL="0">
              <a:buNone/>
            </a:pPr>
            <a:r>
              <a:rPr lang="en-US" sz="1250" dirty="0">
                <a:solidFill>
                  <a:srgbClr val="8FB3A0"/>
                </a:solidFill>
                <a:latin typeface="Courier New" pitchFamily="34" charset="0"/>
                <a:ea typeface="Courier New" pitchFamily="34" charset="-122"/>
                <a:cs typeface="Courier New" pitchFamily="34" charset="-120"/>
              </a:rPr>
              <a:t># 40/256 of a cell per frame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BTN_LEFT,  0x01        </a:t>
            </a:r>
            <a:pPr indent="0" marL="0">
              <a:buNone/>
            </a:pPr>
            <a:r>
              <a:rPr lang="en-US" sz="1250" dirty="0">
                <a:solidFill>
                  <a:srgbClr val="8FB3A0"/>
                </a:solidFill>
                <a:latin typeface="Courier New" pitchFamily="34" charset="0"/>
                <a:ea typeface="Courier New" pitchFamily="34" charset="-122"/>
                <a:cs typeface="Courier New" pitchFamily="34" charset="-120"/>
              </a:rPr>
              <a:t># one bit per button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BTN_RIGHT, 0x02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BTN_UP,    0x04</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BTN_DOWN,  0x08</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DIR_RIGHT, 0           </a:t>
            </a:r>
            <a:pPr indent="0" marL="0">
              <a:buNone/>
            </a:pPr>
            <a:r>
              <a:rPr lang="en-US" sz="1250" dirty="0">
                <a:solidFill>
                  <a:srgbClr val="8FB3A0"/>
                </a:solidFill>
                <a:latin typeface="Courier New" pitchFamily="34" charset="0"/>
                <a:ea typeface="Courier New" pitchFamily="34" charset="-122"/>
                <a:cs typeface="Courier New" pitchFamily="34" charset="-120"/>
              </a:rPr>
              <a:t># a direction is a 2-bit code: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DIR_DOWN,  1           </a:t>
            </a:r>
            <a:pPr indent="0" marL="0">
              <a:buNone/>
            </a:pPr>
            <a:r>
              <a:rPr lang="en-US" sz="1250" dirty="0">
                <a:solidFill>
                  <a:srgbClr val="8FB3A0"/>
                </a:solidFill>
                <a:latin typeface="Courier New" pitchFamily="34" charset="0"/>
                <a:ea typeface="Courier New" pitchFamily="34" charset="-122"/>
                <a:cs typeface="Courier New" pitchFamily="34" charset="-120"/>
              </a:rPr>
              <a:t>#   bit 0 = vertical</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DIR_LEFT,  2           </a:t>
            </a:r>
            <a:pPr indent="0" marL="0">
              <a:buNone/>
            </a:pPr>
            <a:r>
              <a:rPr lang="en-US" sz="1250" dirty="0">
                <a:solidFill>
                  <a:srgbClr val="8FB3A0"/>
                </a:solidFill>
                <a:latin typeface="Courier New" pitchFamily="34" charset="0"/>
                <a:ea typeface="Courier New" pitchFamily="34" charset="-122"/>
                <a:cs typeface="Courier New" pitchFamily="34" charset="-120"/>
              </a:rPr>
              <a:t>#   bit 1 = backwards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DIR_UP,    3</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.section .text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verm1_init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verm1_update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verm1_draw</a:t>
            </a:r>
            <a:endParaRPr lang="en-US" sz="12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New colour: RED, for the food</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Each button is one bit of a word: a mask selects it</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A direction is a number from 0 to 3: two bits</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 codes are not arbitrary: see the lecture deck</a:t>
            </a:r>
            <a:endParaRPr lang="en-US" sz="1500" dirty="0"/>
          </a:p>
        </p:txBody>
      </p:sp>
      <p:sp>
        <p:nvSpPr>
          <p:cNvPr id="17" name="Shape 15"/>
          <p:cNvSpPr/>
          <p:nvPr/>
        </p:nvSpPr>
        <p:spPr>
          <a:xfrm>
            <a:off x="9075623" y="91440"/>
            <a:ext cx="2567432" cy="274320"/>
          </a:xfrm>
          <a:prstGeom prst="rect">
            <a:avLst/>
          </a:prstGeom>
          <a:solidFill>
            <a:srgbClr val="E0F2FE"/>
          </a:solidFill>
          <a:ln w="12700">
            <a:solidFill>
              <a:srgbClr val="0369A1"/>
            </a:solidFill>
            <a:prstDash val="solid"/>
          </a:ln>
        </p:spPr>
      </p:sp>
      <p:sp>
        <p:nvSpPr>
          <p:cNvPr id="18" name="Shape 16"/>
          <p:cNvSpPr/>
          <p:nvPr/>
        </p:nvSpPr>
        <p:spPr>
          <a:xfrm>
            <a:off x="9075623"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9203639" y="128016"/>
            <a:ext cx="201168" cy="201168"/>
          </a:xfrm>
          <a:prstGeom prst="rect">
            <a:avLst/>
          </a:prstGeom>
        </p:spPr>
      </p:pic>
      <p:sp>
        <p:nvSpPr>
          <p:cNvPr id="20" name="Text 17"/>
          <p:cNvSpPr txBox="1"/>
          <p:nvPr/>
        </p:nvSpPr>
        <p:spPr>
          <a:xfrm>
            <a:off x="9459671" y="91440"/>
            <a:ext cx="214680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bit masks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Data: two tables and five new variables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50" dirty="0">
                <a:solidFill>
                  <a:srgbClr val="E6EDF2"/>
                </a:solidFill>
                <a:latin typeface="Courier New" pitchFamily="34" charset="0"/>
                <a:ea typeface="Courier New" pitchFamily="34" charset="-122"/>
                <a:cs typeface="Courier New" pitchFamily="34" charset="-120"/>
              </a:rPr>
              <a:t>.section .rodata</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title:   .asciz "VERM1"</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dx:      .word  1, 0, -1,  0    </a:t>
            </a:r>
            <a:pPr indent="0" marL="0">
              <a:buNone/>
            </a:pPr>
            <a:r>
              <a:rPr lang="en-US" sz="1550" dirty="0">
                <a:solidFill>
                  <a:srgbClr val="8FB3A0"/>
                </a:solidFill>
                <a:latin typeface="Courier New" pitchFamily="34" charset="0"/>
                <a:ea typeface="Courier New" pitchFamily="34" charset="-122"/>
                <a:cs typeface="Courier New" pitchFamily="34" charset="-120"/>
              </a:rPr>
              <a:t># right, down, left, up</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dy:      .word  0, 1,  0, -1</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.section .data</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head_x:  .word 5</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head_y:  .word 12</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dir:     .word 0                </a:t>
            </a:r>
            <a:pPr indent="0" marL="0">
              <a:buNone/>
            </a:pPr>
            <a:r>
              <a:rPr lang="en-US" sz="1550" dirty="0">
                <a:solidFill>
                  <a:srgbClr val="8FB3A0"/>
                </a:solidFill>
                <a:latin typeface="Courier New" pitchFamily="34" charset="0"/>
                <a:ea typeface="Courier New" pitchFamily="34" charset="-122"/>
                <a:cs typeface="Courier New" pitchFamily="34" charset="-120"/>
              </a:rPr>
              <a:t># direction of the last step</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want:    .word 0                </a:t>
            </a:r>
            <a:pPr indent="0" marL="0">
              <a:buNone/>
            </a:pPr>
            <a:r>
              <a:rPr lang="en-US" sz="1550" dirty="0">
                <a:solidFill>
                  <a:srgbClr val="8FB3A0"/>
                </a:solidFill>
                <a:latin typeface="Courier New" pitchFamily="34" charset="0"/>
                <a:ea typeface="Courier New" pitchFamily="34" charset="-122"/>
                <a:cs typeface="Courier New" pitchFamily="34" charset="-120"/>
              </a:rPr>
              <a:t># direction asked by the player</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step_q8: .word 0</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score:   .word 0</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food_x:  .word 20</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food_y:  .word 12</a:t>
            </a:r>
            <a:endParaRPr lang="en-US" sz="15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dx and dy: four words each, one per direction</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They are constants, so they live in .rodata</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dir is the direction of the last step, want the one asked for</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score, food_x, food_y: used in step 3</a:t>
            </a:r>
            <a:endParaRPr lang="en-US" sz="1200" dirty="0"/>
          </a:p>
        </p:txBody>
      </p:sp>
      <p:sp>
        <p:nvSpPr>
          <p:cNvPr id="17" name="Shape 15"/>
          <p:cNvSpPr/>
          <p:nvPr/>
        </p:nvSpPr>
        <p:spPr>
          <a:xfrm>
            <a:off x="8616010" y="91440"/>
            <a:ext cx="3027045" cy="274320"/>
          </a:xfrm>
          <a:prstGeom prst="rect">
            <a:avLst/>
          </a:prstGeom>
          <a:solidFill>
            <a:srgbClr val="E0F2FE"/>
          </a:solidFill>
          <a:ln w="12700">
            <a:solidFill>
              <a:srgbClr val="0369A1"/>
            </a:solidFill>
            <a:prstDash val="solid"/>
          </a:ln>
        </p:spPr>
      </p:sp>
      <p:sp>
        <p:nvSpPr>
          <p:cNvPr id="18" name="Shape 16"/>
          <p:cNvSpPr/>
          <p:nvPr/>
        </p:nvSpPr>
        <p:spPr>
          <a:xfrm>
            <a:off x="8616010"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20" name="Text 17"/>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arrays in memory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update: from buttons to a wish</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50" dirty="0">
                <a:solidFill>
                  <a:srgbClr val="E6EDF2"/>
                </a:solidFill>
                <a:latin typeface="Courier New" pitchFamily="34" charset="0"/>
                <a:ea typeface="Courier New" pitchFamily="34" charset="-122"/>
                <a:cs typeface="Courier New" pitchFamily="34" charset="-120"/>
              </a:rPr>
              <a:t>verm1_update: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sp, sp, -16</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sw   ra, 12(sp)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call prg32_input_read       </a:t>
            </a:r>
            <a:pPr indent="0" marL="0">
              <a:buNone/>
            </a:pPr>
            <a:r>
              <a:rPr lang="en-US" sz="1150" dirty="0">
                <a:solidFill>
                  <a:srgbClr val="8FB3A0"/>
                </a:solidFill>
                <a:latin typeface="Courier New" pitchFamily="34" charset="0"/>
                <a:ea typeface="Courier New" pitchFamily="34" charset="-122"/>
                <a:cs typeface="Courier New" pitchFamily="34" charset="-120"/>
              </a:rPr>
              <a:t># a0 = one bit per button</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dir</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t1, 0(t0)              </a:t>
            </a:r>
            <a:pPr indent="0" marL="0">
              <a:buNone/>
            </a:pPr>
            <a:r>
              <a:rPr lang="en-US" sz="1150" dirty="0">
                <a:solidFill>
                  <a:srgbClr val="8FB3A0"/>
                </a:solidFill>
                <a:latin typeface="Courier New" pitchFamily="34" charset="0"/>
                <a:ea typeface="Courier New" pitchFamily="34" charset="-122"/>
                <a:cs typeface="Courier New" pitchFamily="34" charset="-120"/>
              </a:rPr>
              <a:t># t1 = direction of the last step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want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t2, 0(t0)              </a:t>
            </a:r>
            <a:pPr indent="0" marL="0">
              <a:buNone/>
            </a:pPr>
            <a:r>
              <a:rPr lang="en-US" sz="1150" dirty="0">
                <a:solidFill>
                  <a:srgbClr val="8FB3A0"/>
                </a:solidFill>
                <a:latin typeface="Courier New" pitchFamily="34" charset="0"/>
                <a:ea typeface="Courier New" pitchFamily="34" charset="-122"/>
                <a:cs typeface="Courier New" pitchFamily="34" charset="-120"/>
              </a:rPr>
              <a:t># t2 = wanted direction, so far</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andi t3, a0, BTN_RIGHT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beqz t3, 1f</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t2, DIR_RIGHT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1:  andi t3, a0, BTN_DOWN</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beqz t3, 2f</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t2, DIR_DOWN</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2:  andi t3, a0, BTN_LEFT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beqz t3, 3f</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t2, DIR_LEFT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3:  andi t3, a0, BTN_UP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beqz t3, 4f</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t2, DIR_UP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4:  xor  t3, t2, t1             </a:t>
            </a:r>
            <a:pPr indent="0" marL="0">
              <a:buNone/>
            </a:pPr>
            <a:r>
              <a:rPr lang="en-US" sz="1150" dirty="0">
                <a:solidFill>
                  <a:srgbClr val="8FB3A0"/>
                </a:solidFill>
                <a:latin typeface="Courier New" pitchFamily="34" charset="0"/>
                <a:ea typeface="Courier New" pitchFamily="34" charset="-122"/>
                <a:cs typeface="Courier New" pitchFamily="34" charset="-120"/>
              </a:rPr>
              <a:t># opposite directions differ in bit 1 only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t4, 2</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beq  t3, t4, 5f             </a:t>
            </a:r>
            <a:pPr indent="0" marL="0">
              <a:buNone/>
            </a:pPr>
            <a:r>
              <a:rPr lang="en-US" sz="1150" dirty="0">
                <a:solidFill>
                  <a:srgbClr val="8FB3A0"/>
                </a:solidFill>
                <a:latin typeface="Courier New" pitchFamily="34" charset="0"/>
                <a:ea typeface="Courier New" pitchFamily="34" charset="-122"/>
                <a:cs typeface="Courier New" pitchFamily="34" charset="-120"/>
              </a:rPr>
              <a:t># a U-turn: ignore the request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sw   t2, 0(t0)              </a:t>
            </a:r>
            <a:pPr indent="0" marL="0">
              <a:buNone/>
            </a:pPr>
            <a:r>
              <a:rPr lang="en-US" sz="1150" dirty="0">
                <a:solidFill>
                  <a:srgbClr val="8FB3A0"/>
                </a:solidFill>
                <a:latin typeface="Courier New" pitchFamily="34" charset="0"/>
                <a:ea typeface="Courier New" pitchFamily="34" charset="-122"/>
                <a:cs typeface="Courier New" pitchFamily="34" charset="-120"/>
              </a:rPr>
              <a:t># remember it for the next step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5:</a:t>
            </a:r>
            <a:endParaRPr lang="en-US" sz="11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andi keeps one bit: zero means not pressed</a:t>
            </a:r>
            <a:endParaRPr lang="en-US" sz="16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Each pressed button overwrites the wish in t2</a:t>
            </a:r>
            <a:endParaRPr lang="en-US" sz="16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xor of wish and direction: 2 means opposite</a:t>
            </a:r>
            <a:endParaRPr lang="en-US" sz="16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A U-turn is not stored: the old wish survives</a:t>
            </a:r>
            <a:endParaRPr lang="en-US" sz="1600" dirty="0"/>
          </a:p>
        </p:txBody>
      </p:sp>
      <p:sp>
        <p:nvSpPr>
          <p:cNvPr id="17" name="Shape 15"/>
          <p:cNvSpPr/>
          <p:nvPr/>
        </p:nvSpPr>
        <p:spPr>
          <a:xfrm>
            <a:off x="9075623" y="91440"/>
            <a:ext cx="2567432" cy="274320"/>
          </a:xfrm>
          <a:prstGeom prst="rect">
            <a:avLst/>
          </a:prstGeom>
          <a:solidFill>
            <a:srgbClr val="E0F2FE"/>
          </a:solidFill>
          <a:ln w="12700">
            <a:solidFill>
              <a:srgbClr val="0369A1"/>
            </a:solidFill>
            <a:prstDash val="solid"/>
          </a:ln>
        </p:spPr>
      </p:sp>
      <p:sp>
        <p:nvSpPr>
          <p:cNvPr id="18" name="Shape 16"/>
          <p:cNvSpPr/>
          <p:nvPr/>
        </p:nvSpPr>
        <p:spPr>
          <a:xfrm>
            <a:off x="9075623"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9203639" y="128016"/>
            <a:ext cx="201168" cy="201168"/>
          </a:xfrm>
          <a:prstGeom prst="rect">
            <a:avLst/>
          </a:prstGeom>
        </p:spPr>
      </p:pic>
      <p:sp>
        <p:nvSpPr>
          <p:cNvPr id="20" name="Text 17"/>
          <p:cNvSpPr txBox="1"/>
          <p:nvPr/>
        </p:nvSpPr>
        <p:spPr>
          <a:xfrm>
            <a:off x="9459671" y="91440"/>
            <a:ext cx="214680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bit masks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update: the timer calls step</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    la   t0, step_q8</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t1,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t1, t1, SPEED_Q8       </a:t>
            </a:r>
            <a:pPr indent="0" marL="0">
              <a:buNone/>
            </a:pPr>
            <a:r>
              <a:rPr lang="en-US" sz="1500" dirty="0">
                <a:solidFill>
                  <a:srgbClr val="8FB3A0"/>
                </a:solidFill>
                <a:latin typeface="Courier New" pitchFamily="34" charset="0"/>
                <a:ea typeface="Courier New" pitchFamily="34" charset="-122"/>
                <a:cs typeface="Courier New" pitchFamily="34" charset="-120"/>
              </a:rPr>
              <a:t># add a fraction of a cell</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t2, 256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blt  t1, t2, 6f             </a:t>
            </a:r>
            <a:pPr indent="0" marL="0">
              <a:buNone/>
            </a:pPr>
            <a:r>
              <a:rPr lang="en-US" sz="1500" dirty="0">
                <a:solidFill>
                  <a:srgbClr val="8FB3A0"/>
                </a:solidFill>
                <a:latin typeface="Courier New" pitchFamily="34" charset="0"/>
                <a:ea typeface="Courier New" pitchFamily="34" charset="-122"/>
                <a:cs typeface="Courier New" pitchFamily="34" charset="-120"/>
              </a:rPr>
              <a:t># less than one whole cell: wait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sub  t1, t1, t2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t1,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step                   </a:t>
            </a:r>
            <a:pPr indent="0" marL="0">
              <a:buNone/>
            </a:pPr>
            <a:r>
              <a:rPr lang="en-US" sz="1500" dirty="0">
                <a:solidFill>
                  <a:srgbClr val="8FB3A0"/>
                </a:solidFill>
                <a:latin typeface="Courier New" pitchFamily="34" charset="0"/>
                <a:ea typeface="Courier New" pitchFamily="34" charset="-122"/>
                <a:cs typeface="Courier New" pitchFamily="34" charset="-120"/>
              </a:rPr>
              <a:t># one whole cell: move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j    7f</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6:  sw   t1,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7:  lw   ra, 12(sp)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sp, sp, 16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ret</a:t>
            </a:r>
            <a:endParaRPr lang="en-US" sz="150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fixed-point timer of Part 1, unchanged</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Moving is now a function of its own: step</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Labels 6 and 7: numbers 1 to 5 are used above</a:t>
            </a:r>
            <a:endParaRPr lang="en-US" sz="1700" dirty="0"/>
          </a:p>
        </p:txBody>
      </p:sp>
      <p:sp>
        <p:nvSpPr>
          <p:cNvPr id="14" name="Shape 12"/>
          <p:cNvSpPr/>
          <p:nvPr/>
        </p:nvSpPr>
        <p:spPr>
          <a:xfrm>
            <a:off x="8944305" y="91440"/>
            <a:ext cx="2698750" cy="274320"/>
          </a:xfrm>
          <a:prstGeom prst="rect">
            <a:avLst/>
          </a:prstGeom>
          <a:solidFill>
            <a:srgbClr val="E0F2FE"/>
          </a:solidFill>
          <a:ln w="12700">
            <a:solidFill>
              <a:srgbClr val="0369A1"/>
            </a:solidFill>
            <a:prstDash val="solid"/>
          </a:ln>
        </p:spPr>
      </p:sp>
      <p:sp>
        <p:nvSpPr>
          <p:cNvPr id="15" name="Shape 13"/>
          <p:cNvSpPr/>
          <p:nvPr/>
        </p:nvSpPr>
        <p:spPr>
          <a:xfrm>
            <a:off x="8944305"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9072321" y="128016"/>
            <a:ext cx="201168" cy="201168"/>
          </a:xfrm>
          <a:prstGeom prst="rect">
            <a:avLst/>
          </a:prstGeom>
        </p:spPr>
      </p:pic>
      <p:sp>
        <p:nvSpPr>
          <p:cNvPr id="17" name="Text 14"/>
          <p:cNvSpPr txBox="1"/>
          <p:nvPr/>
        </p:nvSpPr>
        <p:spPr>
          <a:xfrm>
            <a:off x="9328353" y="91440"/>
            <a:ext cx="227812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fixed point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step: look the movement up</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step: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want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t1,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dir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t1, 0(t0)              </a:t>
            </a:r>
            <a:pPr indent="0" marL="0">
              <a:buNone/>
            </a:pPr>
            <a:r>
              <a:rPr lang="en-US" sz="1300" dirty="0">
                <a:solidFill>
                  <a:srgbClr val="8FB3A0"/>
                </a:solidFill>
                <a:latin typeface="Courier New" pitchFamily="34" charset="0"/>
                <a:ea typeface="Courier New" pitchFamily="34" charset="-122"/>
                <a:cs typeface="Courier New" pitchFamily="34" charset="-120"/>
              </a:rPr>
              <a:t># the wanted direction is now the direction</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slli t1, t1, 2              </a:t>
            </a:r>
            <a:pPr indent="0" marL="0">
              <a:buNone/>
            </a:pPr>
            <a:r>
              <a:rPr lang="en-US" sz="1300" dirty="0">
                <a:solidFill>
                  <a:srgbClr val="8FB3A0"/>
                </a:solidFill>
                <a:latin typeface="Courier New" pitchFamily="34" charset="0"/>
                <a:ea typeface="Courier New" pitchFamily="34" charset="-122"/>
                <a:cs typeface="Courier New" pitchFamily="34" charset="-120"/>
              </a:rPr>
              <a:t># table offset = direction * 4 bytes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dx</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  t0, t0, t1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t2, 0(t0)              </a:t>
            </a:r>
            <a:pPr indent="0" marL="0">
              <a:buNone/>
            </a:pPr>
            <a:r>
              <a:rPr lang="en-US" sz="1300" dirty="0">
                <a:solidFill>
                  <a:srgbClr val="8FB3A0"/>
                </a:solidFill>
                <a:latin typeface="Courier New" pitchFamily="34" charset="0"/>
                <a:ea typeface="Courier New" pitchFamily="34" charset="-122"/>
                <a:cs typeface="Courier New" pitchFamily="34" charset="-120"/>
              </a:rPr>
              <a:t># t2 = dx[direction]: -1, 0 or +1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dy</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  t0, t0, t1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t3, 0(t0)              </a:t>
            </a:r>
            <a:pPr indent="0" marL="0">
              <a:buNone/>
            </a:pPr>
            <a:r>
              <a:rPr lang="en-US" sz="1300" dirty="0">
                <a:solidFill>
                  <a:srgbClr val="8FB3A0"/>
                </a:solidFill>
                <a:latin typeface="Courier New" pitchFamily="34" charset="0"/>
                <a:ea typeface="Courier New" pitchFamily="34" charset="-122"/>
                <a:cs typeface="Courier New" pitchFamily="34" charset="-120"/>
              </a:rPr>
              <a:t># t3 = dy[direction]</a:t>
            </a:r>
            <a:endParaRPr lang="en-US" sz="13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 wish becomes the direction, once per step</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A word is 4 bytes: offset = code shifted left by 2</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address of table + offset: the word to load</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No branch: the code selects, like a multiplexer</a:t>
            </a:r>
            <a:endParaRPr lang="en-US" sz="1500" dirty="0"/>
          </a:p>
        </p:txBody>
      </p:sp>
      <p:sp>
        <p:nvSpPr>
          <p:cNvPr id="17" name="Shape 15"/>
          <p:cNvSpPr/>
          <p:nvPr/>
        </p:nvSpPr>
        <p:spPr>
          <a:xfrm>
            <a:off x="8878646" y="91440"/>
            <a:ext cx="2764409" cy="274320"/>
          </a:xfrm>
          <a:prstGeom prst="rect">
            <a:avLst/>
          </a:prstGeom>
          <a:solidFill>
            <a:srgbClr val="E0F2FE"/>
          </a:solidFill>
          <a:ln w="12700">
            <a:solidFill>
              <a:srgbClr val="0369A1"/>
            </a:solidFill>
            <a:prstDash val="solid"/>
          </a:ln>
        </p:spPr>
      </p:sp>
      <p:sp>
        <p:nvSpPr>
          <p:cNvPr id="18" name="Shape 16"/>
          <p:cNvSpPr/>
          <p:nvPr/>
        </p:nvSpPr>
        <p:spPr>
          <a:xfrm>
            <a:off x="8878646"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9006662" y="128016"/>
            <a:ext cx="201168" cy="201168"/>
          </a:xfrm>
          <a:prstGeom prst="rect">
            <a:avLst/>
          </a:prstGeom>
        </p:spPr>
      </p:pic>
      <p:sp>
        <p:nvSpPr>
          <p:cNvPr id="20" name="Text 17"/>
          <p:cNvSpPr txBox="1"/>
          <p:nvPr/>
        </p:nvSpPr>
        <p:spPr>
          <a:xfrm>
            <a:off x="9262694" y="91440"/>
            <a:ext cx="234378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multiplexers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step: move and wrap, both ways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600" dirty="0">
                <a:solidFill>
                  <a:srgbClr val="E6EDF2"/>
                </a:solidFill>
                <a:latin typeface="Courier New" pitchFamily="34" charset="0"/>
                <a:ea typeface="Courier New" pitchFamily="34" charset="-122"/>
                <a:cs typeface="Courier New" pitchFamily="34" charset="-120"/>
              </a:rPr>
              <a:t>    la   t0, head_x</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lw   t4, 0(t0)</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add  t4, t4, t2</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bgez t4, 1f</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li   t4, COLS-1             </a:t>
            </a:r>
            <a:pPr indent="0" marL="0">
              <a:buNone/>
            </a:pPr>
            <a:r>
              <a:rPr lang="en-US" sz="1600" dirty="0">
                <a:solidFill>
                  <a:srgbClr val="8FB3A0"/>
                </a:solidFill>
                <a:latin typeface="Courier New" pitchFamily="34" charset="0"/>
                <a:ea typeface="Courier New" pitchFamily="34" charset="-122"/>
                <a:cs typeface="Courier New" pitchFamily="34" charset="-120"/>
              </a:rPr>
              <a:t># off the left edge: wrap</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1:  li   t5, COLS</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blt  t4, t5, 2f</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li   t4, 0                  </a:t>
            </a:r>
            <a:pPr indent="0" marL="0">
              <a:buNone/>
            </a:pPr>
            <a:r>
              <a:rPr lang="en-US" sz="1600" dirty="0">
                <a:solidFill>
                  <a:srgbClr val="8FB3A0"/>
                </a:solidFill>
                <a:latin typeface="Courier New" pitchFamily="34" charset="0"/>
                <a:ea typeface="Courier New" pitchFamily="34" charset="-122"/>
                <a:cs typeface="Courier New" pitchFamily="34" charset="-120"/>
              </a:rPr>
              <a:t># off the right edge: wrap</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2:  sw   t4, 0(t0)              </a:t>
            </a:r>
            <a:pPr indent="0" marL="0">
              <a:buNone/>
            </a:pPr>
            <a:r>
              <a:rPr lang="en-US" sz="1600" dirty="0">
                <a:solidFill>
                  <a:srgbClr val="8FB3A0"/>
                </a:solidFill>
                <a:latin typeface="Courier New" pitchFamily="34" charset="0"/>
                <a:ea typeface="Courier New" pitchFamily="34" charset="-122"/>
                <a:cs typeface="Courier New" pitchFamily="34" charset="-120"/>
              </a:rPr>
              <a:t># t4 = new column</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la   t0, head_y</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lw   t6, 0(t0)</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add  t6, t6, t3</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bgez t6, 3f</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li   t6, ROWS-1</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3:  li   t5, ROWS</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blt  t6, t5, 4f</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li   t6, 0</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4:  sw   t6, 0(t0)              </a:t>
            </a:r>
            <a:pPr indent="0" marL="0">
              <a:buNone/>
            </a:pPr>
            <a:r>
              <a:rPr lang="en-US" sz="1600" dirty="0">
                <a:solidFill>
                  <a:srgbClr val="8FB3A0"/>
                </a:solidFill>
                <a:latin typeface="Courier New" pitchFamily="34" charset="0"/>
                <a:ea typeface="Courier New" pitchFamily="34" charset="-122"/>
                <a:cs typeface="Courier New" pitchFamily="34" charset="-120"/>
              </a:rPr>
              <a:t># t6 = new row</a:t>
            </a:r>
            <a:endParaRPr lang="en-US" sz="16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Add dx: the column can now go below 0</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bgez tests the sign: negative means off the left</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 same for the row, with ROWS</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t4 and t6 keep the new cell for the next slide</a:t>
            </a:r>
            <a:endParaRPr lang="en-US" sz="1500" dirty="0"/>
          </a:p>
        </p:txBody>
      </p:sp>
      <p:sp>
        <p:nvSpPr>
          <p:cNvPr id="17" name="Shape 15"/>
          <p:cNvSpPr/>
          <p:nvPr/>
        </p:nvSpPr>
        <p:spPr>
          <a:xfrm>
            <a:off x="7631125" y="91440"/>
            <a:ext cx="4011930" cy="274320"/>
          </a:xfrm>
          <a:prstGeom prst="rect">
            <a:avLst/>
          </a:prstGeom>
          <a:solidFill>
            <a:srgbClr val="E0F2FE"/>
          </a:solidFill>
          <a:ln w="12700">
            <a:solidFill>
              <a:srgbClr val="0369A1"/>
            </a:solidFill>
            <a:prstDash val="solid"/>
          </a:ln>
        </p:spPr>
      </p:sp>
      <p:sp>
        <p:nvSpPr>
          <p:cNvPr id="18" name="Shape 16"/>
          <p:cNvSpPr/>
          <p:nvPr/>
        </p:nvSpPr>
        <p:spPr>
          <a:xfrm>
            <a:off x="7631125"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7759141" y="128016"/>
            <a:ext cx="201168" cy="201168"/>
          </a:xfrm>
          <a:prstGeom prst="rect">
            <a:avLst/>
          </a:prstGeom>
        </p:spPr>
      </p:pic>
      <p:sp>
        <p:nvSpPr>
          <p:cNvPr id="20" name="Text 17"/>
          <p:cNvSpPr txBox="1"/>
          <p:nvPr/>
        </p:nvSpPr>
        <p:spPr>
          <a:xfrm>
            <a:off x="8015173" y="91440"/>
            <a:ext cx="359130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signed or unsigned instructions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For now: close the function</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    lw   ra, 12(sp)             </a:t>
            </a:r>
            <a:pPr indent="0" marL="0">
              <a:buNone/>
            </a:pPr>
            <a:r>
              <a:rPr lang="en-US" sz="1350" dirty="0">
                <a:solidFill>
                  <a:srgbClr val="8FB3A0"/>
                </a:solidFill>
                <a:latin typeface="Courier New" pitchFamily="34" charset="0"/>
                <a:ea typeface="Courier New" pitchFamily="34" charset="-122"/>
                <a:cs typeface="Courier New" pitchFamily="34" charset="-120"/>
              </a:rPr>
              <a:t># temporary end of step: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             </a:t>
            </a:r>
            <a:pPr indent="0" marL="0">
              <a:buNone/>
            </a:pPr>
            <a:r>
              <a:rPr lang="en-US" sz="1350" dirty="0">
                <a:solidFill>
                  <a:srgbClr val="8FB3A0"/>
                </a:solidFill>
                <a:latin typeface="Courier New" pitchFamily="34" charset="0"/>
                <a:ea typeface="Courier New" pitchFamily="34" charset="-122"/>
                <a:cs typeface="Courier New" pitchFamily="34" charset="-120"/>
              </a:rPr>
              <a:t># Step 3 will replace these three lines</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Type these three lines after the wrap</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They restore ra and return: step is complete</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Step 3 puts the food test before them</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you are driving</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Build and run: the head still starts to the right, from column 5 of row 12</a:t>
            </a:r>
            <a:endParaRPr lang="en-US" sz="2400" dirty="0"/>
          </a:p>
        </p:txBody>
      </p:sp>
      <p:sp>
        <p:nvSpPr>
          <p:cNvPr id="6" name="Text 4"/>
          <p:cNvSpPr txBox="1"/>
          <p:nvPr/>
        </p:nvSpPr>
        <p:spPr>
          <a:xfrm>
            <a:off x="548640" y="2447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429256"/>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Hold DOWN: the head turns at its next step and goes down, wrapping from row 23 to row 0</a:t>
            </a:r>
            <a:endParaRPr lang="en-US" sz="2400" dirty="0"/>
          </a:p>
        </p:txBody>
      </p:sp>
      <p:sp>
        <p:nvSpPr>
          <p:cNvPr id="8" name="Text 6"/>
          <p:cNvSpPr txBox="1"/>
          <p:nvPr/>
        </p:nvSpPr>
        <p:spPr>
          <a:xfrm>
            <a:off x="548640" y="34594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441192"/>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While it goes right, hold LEFT: nothing happens. The U-turn is refused</a:t>
            </a:r>
            <a:endParaRPr lang="en-US" sz="2400" dirty="0"/>
          </a:p>
        </p:txBody>
      </p:sp>
      <p:sp>
        <p:nvSpPr>
          <p:cNvPr id="10" name="Text 8"/>
          <p:cNvSpPr txBox="1"/>
          <p:nvPr/>
        </p:nvSpPr>
        <p:spPr>
          <a:xfrm>
            <a:off x="548640" y="4471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453128"/>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Hold DOWN and then LEFT: two turns, and now the head goes left</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Holding DOWN from the start for 64 frames brings the head to column 5, row 22: ten steps, all downwards.</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init: a complete start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verm1_init: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ra, 12(sp)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head_x</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t1, 5</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head_y</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t1, 12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dir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zero, 0(t0)            </a:t>
            </a:r>
            <a:pPr indent="0" marL="0">
              <a:buNone/>
            </a:pPr>
            <a:r>
              <a:rPr lang="en-US" sz="1350" dirty="0">
                <a:solidFill>
                  <a:srgbClr val="8FB3A0"/>
                </a:solidFill>
                <a:latin typeface="Courier New" pitchFamily="34" charset="0"/>
                <a:ea typeface="Courier New" pitchFamily="34" charset="-122"/>
                <a:cs typeface="Courier New" pitchFamily="34" charset="-120"/>
              </a:rPr>
              <a:t># moving right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want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zero,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step_q8</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zero,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score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zero,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place_food</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ra, 12(sp)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Every variable gets its starting value</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init now calls a function: it needs a stack frame</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first food is placed here</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place_food: a random cell</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750" dirty="0">
                <a:solidFill>
                  <a:srgbClr val="E6EDF2"/>
                </a:solidFill>
                <a:latin typeface="Courier New" pitchFamily="34" charset="0"/>
                <a:ea typeface="Courier New" pitchFamily="34" charset="-122"/>
                <a:cs typeface="Courier New" pitchFamily="34" charset="-120"/>
              </a:rPr>
              <a:t>place_food:</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addi sp, sp, -16</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sw   ra, 12(sp)</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li   a0, 0</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li   a1, COLS-1</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call prg32_random_number    </a:t>
            </a:r>
            <a:pPr indent="0" marL="0">
              <a:buNone/>
            </a:pPr>
            <a:r>
              <a:rPr lang="en-US" sz="1750" dirty="0">
                <a:solidFill>
                  <a:srgbClr val="8FB3A0"/>
                </a:solidFill>
                <a:latin typeface="Courier New" pitchFamily="34" charset="0"/>
                <a:ea typeface="Courier New" pitchFamily="34" charset="-122"/>
                <a:cs typeface="Courier New" pitchFamily="34" charset="-120"/>
              </a:rPr>
              <a:t># a0 = a column, 0 .. 39</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la   t0, food_x</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sw   a0, 0(t0)</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li   a0, 0</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li   a1, ROWS-1</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call prg32_random_number    </a:t>
            </a:r>
            <a:pPr indent="0" marL="0">
              <a:buNone/>
            </a:pPr>
            <a:r>
              <a:rPr lang="en-US" sz="1750" dirty="0">
                <a:solidFill>
                  <a:srgbClr val="8FB3A0"/>
                </a:solidFill>
                <a:latin typeface="Courier New" pitchFamily="34" charset="0"/>
                <a:ea typeface="Courier New" pitchFamily="34" charset="-122"/>
                <a:cs typeface="Courier New" pitchFamily="34" charset="-120"/>
              </a:rPr>
              <a:t># a0 = a row, 0 .. 23</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la   t0, food_y</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sw   a0, 0(t0)</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lw   ra, 12(sp)</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addi sp, sp, 16</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ret</a:t>
            </a:r>
            <a:endParaRPr lang="en-US" sz="17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prg32_random_number(min, max): both included</a:t>
            </a:r>
            <a:endParaRPr lang="en-US" sz="16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Arguments in a0 and a1, result in a0</a:t>
            </a:r>
            <a:endParaRPr lang="en-US" sz="16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A column from 0 to 39, a row from 0 to 23</a:t>
            </a:r>
            <a:endParaRPr lang="en-US" sz="16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The food may fall on the head: Part 3 fixes it</a:t>
            </a:r>
            <a:endParaRPr lang="en-US" sz="1600" dirty="0"/>
          </a:p>
        </p:txBody>
      </p:sp>
      <p:sp>
        <p:nvSpPr>
          <p:cNvPr id="17" name="Shape 15"/>
          <p:cNvSpPr/>
          <p:nvPr/>
        </p:nvSpPr>
        <p:spPr>
          <a:xfrm>
            <a:off x="8762695" y="91440"/>
            <a:ext cx="2880360" cy="274320"/>
          </a:xfrm>
          <a:prstGeom prst="rect">
            <a:avLst/>
          </a:prstGeom>
          <a:solidFill>
            <a:srgbClr val="FEF3C7"/>
          </a:solidFill>
          <a:ln w="12700">
            <a:solidFill>
              <a:srgbClr val="B45309"/>
            </a:solidFill>
            <a:prstDash val="solid"/>
          </a:ln>
        </p:spPr>
      </p:sp>
      <p:sp>
        <p:nvSpPr>
          <p:cNvPr id="18" name="Shape 16"/>
          <p:cNvSpPr/>
          <p:nvPr/>
        </p:nvSpPr>
        <p:spPr>
          <a:xfrm>
            <a:off x="8762695" y="91440"/>
            <a:ext cx="27432" cy="274320"/>
          </a:xfrm>
          <a:prstGeom prst="rect">
            <a:avLst/>
          </a:prstGeom>
          <a:solidFill>
            <a:srgbClr val="B45309"/>
          </a:solidFill>
          <a:ln w="12700">
            <a:solidFill>
              <a:srgbClr val="B45309"/>
            </a:solidFill>
            <a:prstDash val="solid"/>
          </a:ln>
        </p:spPr>
      </p:sp>
      <p:sp>
        <p:nvSpPr>
          <p:cNvPr id="19" name="Shape 17"/>
          <p:cNvSpPr/>
          <p:nvPr/>
        </p:nvSpPr>
        <p:spPr>
          <a:xfrm>
            <a:off x="8817559"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890711" y="128016"/>
            <a:ext cx="201168" cy="201168"/>
          </a:xfrm>
          <a:prstGeom prst="rect">
            <a:avLst/>
          </a:prstGeom>
        </p:spPr>
      </p:pic>
      <p:sp>
        <p:nvSpPr>
          <p:cNvPr id="21" name="Text 18"/>
          <p:cNvSpPr txBox="1"/>
          <p:nvPr/>
        </p:nvSpPr>
        <p:spPr>
          <a:xfrm>
            <a:off x="9146743" y="91440"/>
            <a:ext cx="2459736"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runtime calls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step: is the head on the food?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650" dirty="0">
                <a:solidFill>
                  <a:srgbClr val="E6EDF2"/>
                </a:solidFill>
                <a:latin typeface="Courier New" pitchFamily="34" charset="0"/>
                <a:ea typeface="Courier New" pitchFamily="34" charset="-122"/>
                <a:cs typeface="Courier New" pitchFamily="34" charset="-120"/>
              </a:rPr>
              <a:t>    la   t0, food_x</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lw   t1, 0(t0)</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xor  t1, t1, t4             </a:t>
            </a:r>
            <a:pPr indent="0" marL="0">
              <a:buNone/>
            </a:pPr>
            <a:r>
              <a:rPr lang="en-US" sz="1650" dirty="0">
                <a:solidFill>
                  <a:srgbClr val="8FB3A0"/>
                </a:solidFill>
                <a:latin typeface="Courier New" pitchFamily="34" charset="0"/>
                <a:ea typeface="Courier New" pitchFamily="34" charset="-122"/>
                <a:cs typeface="Courier New" pitchFamily="34" charset="-120"/>
              </a:rPr>
              <a:t># 0 if same column</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la   t0, food_y</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lw   t2, 0(t0)</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xor  t2, t2, t6             </a:t>
            </a:r>
            <a:pPr indent="0" marL="0">
              <a:buNone/>
            </a:pPr>
            <a:r>
              <a:rPr lang="en-US" sz="1650" dirty="0">
                <a:solidFill>
                  <a:srgbClr val="8FB3A0"/>
                </a:solidFill>
                <a:latin typeface="Courier New" pitchFamily="34" charset="0"/>
                <a:ea typeface="Courier New" pitchFamily="34" charset="-122"/>
                <a:cs typeface="Courier New" pitchFamily="34" charset="-120"/>
              </a:rPr>
              <a:t># 0 if same row</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or   t1, t1, t2             </a:t>
            </a:r>
            <a:pPr indent="0" marL="0">
              <a:buNone/>
            </a:pPr>
            <a:r>
              <a:rPr lang="en-US" sz="1650" dirty="0">
                <a:solidFill>
                  <a:srgbClr val="8FB3A0"/>
                </a:solidFill>
                <a:latin typeface="Courier New" pitchFamily="34" charset="0"/>
                <a:ea typeface="Courier New" pitchFamily="34" charset="-122"/>
                <a:cs typeface="Courier New" pitchFamily="34" charset="-120"/>
              </a:rPr>
              <a:t># 0 only if both are equal</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bnez t1, 5f                 </a:t>
            </a:r>
            <a:pPr indent="0" marL="0">
              <a:buNone/>
            </a:pPr>
            <a:r>
              <a:rPr lang="en-US" sz="1650" dirty="0">
                <a:solidFill>
                  <a:srgbClr val="8FB3A0"/>
                </a:solidFill>
                <a:latin typeface="Courier New" pitchFamily="34" charset="0"/>
                <a:ea typeface="Courier New" pitchFamily="34" charset="-122"/>
                <a:cs typeface="Courier New" pitchFamily="34" charset="-120"/>
              </a:rPr>
              <a:t># not on the food</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la   t0, score</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lw   t1, 0(t0)</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addi t1, t1, 1</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sw   t1, 0(t0)</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call place_food</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call eat_sound</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5:  lw   ra, 12(sp)</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addi sp, sp, 16</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ret</a:t>
            </a:r>
            <a:endParaRPr lang="en-US" sz="16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Replace the temporary ending with this</a:t>
            </a:r>
            <a:endParaRPr lang="en-US" sz="16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xor is 0 when two numbers are equal</a:t>
            </a:r>
            <a:endParaRPr lang="en-US" sz="16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or of the two results: 0 only if both are equal</a:t>
            </a:r>
            <a:endParaRPr lang="en-US" sz="16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Eating: one more point, new food, a sound</a:t>
            </a:r>
            <a:endParaRPr lang="en-US" sz="1600" dirty="0"/>
          </a:p>
        </p:txBody>
      </p:sp>
      <p:sp>
        <p:nvSpPr>
          <p:cNvPr id="17" name="Shape 15"/>
          <p:cNvSpPr/>
          <p:nvPr/>
        </p:nvSpPr>
        <p:spPr>
          <a:xfrm>
            <a:off x="8222056" y="91440"/>
            <a:ext cx="3420999" cy="274320"/>
          </a:xfrm>
          <a:prstGeom prst="rect">
            <a:avLst/>
          </a:prstGeom>
          <a:solidFill>
            <a:srgbClr val="E0F2FE"/>
          </a:solidFill>
          <a:ln w="12700">
            <a:solidFill>
              <a:srgbClr val="0369A1"/>
            </a:solidFill>
            <a:prstDash val="solid"/>
          </a:ln>
        </p:spPr>
      </p:sp>
      <p:sp>
        <p:nvSpPr>
          <p:cNvPr id="18" name="Shape 16"/>
          <p:cNvSpPr/>
          <p:nvPr/>
        </p:nvSpPr>
        <p:spPr>
          <a:xfrm>
            <a:off x="8222056"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350072" y="128016"/>
            <a:ext cx="201168" cy="201168"/>
          </a:xfrm>
          <a:prstGeom prst="rect">
            <a:avLst/>
          </a:prstGeom>
        </p:spPr>
      </p:pic>
      <p:sp>
        <p:nvSpPr>
          <p:cNvPr id="20" name="Text 17"/>
          <p:cNvSpPr txBox="1"/>
          <p:nvPr/>
        </p:nvSpPr>
        <p:spPr>
          <a:xfrm>
            <a:off x="8606104"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comparators and parity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eat_sound: one note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eat_sound: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a0, 0                  </a:t>
            </a:r>
            <a:pPr indent="0" marL="0">
              <a:buNone/>
            </a:pPr>
            <a:r>
              <a:rPr lang="en-US" sz="1800" dirty="0">
                <a:solidFill>
                  <a:srgbClr val="8FB3A0"/>
                </a:solidFill>
                <a:latin typeface="Courier New" pitchFamily="34" charset="0"/>
                <a:ea typeface="Courier New" pitchFamily="34" charset="-122"/>
                <a:cs typeface="Courier New" pitchFamily="34" charset="-120"/>
              </a:rPr>
              <a:t># channel</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a1, 0                  </a:t>
            </a:r>
            <a:pPr indent="0" marL="0">
              <a:buNone/>
            </a:pPr>
            <a:r>
              <a:rPr lang="en-US" sz="1800" dirty="0">
                <a:solidFill>
                  <a:srgbClr val="8FB3A0"/>
                </a:solidFill>
                <a:latin typeface="Courier New" pitchFamily="34" charset="0"/>
                <a:ea typeface="Courier New" pitchFamily="34" charset="-122"/>
                <a:cs typeface="Courier New" pitchFamily="34" charset="-120"/>
              </a:rPr>
              <a:t># instrument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a2, 72                 </a:t>
            </a:r>
            <a:pPr indent="0" marL="0">
              <a:buNone/>
            </a:pPr>
            <a:r>
              <a:rPr lang="en-US" sz="1800" dirty="0">
                <a:solidFill>
                  <a:srgbClr val="8FB3A0"/>
                </a:solidFill>
                <a:latin typeface="Courier New" pitchFamily="34" charset="0"/>
                <a:ea typeface="Courier New" pitchFamily="34" charset="-122"/>
                <a:cs typeface="Courier New" pitchFamily="34" charset="-120"/>
              </a:rPr>
              <a:t># note: C5</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a3, 255                </a:t>
            </a:r>
            <a:pPr indent="0" marL="0">
              <a:buNone/>
            </a:pPr>
            <a:r>
              <a:rPr lang="en-US" sz="1800" dirty="0">
                <a:solidFill>
                  <a:srgbClr val="8FB3A0"/>
                </a:solidFill>
                <a:latin typeface="Courier New" pitchFamily="34" charset="0"/>
                <a:ea typeface="Courier New" pitchFamily="34" charset="-122"/>
                <a:cs typeface="Courier New" pitchFamily="34" charset="-120"/>
              </a:rPr>
              <a:t># volume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a4, 60                 </a:t>
            </a:r>
            <a:pPr indent="0" marL="0">
              <a:buNone/>
            </a:pPr>
            <a:r>
              <a:rPr lang="en-US" sz="1800" dirty="0">
                <a:solidFill>
                  <a:srgbClr val="8FB3A0"/>
                </a:solidFill>
                <a:latin typeface="Courier New" pitchFamily="34" charset="0"/>
                <a:ea typeface="Courier New" pitchFamily="34" charset="-122"/>
                <a:cs typeface="Courier New" pitchFamily="34" charset="-120"/>
              </a:rPr>
              <a:t># milliseconds</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prg32_audio_note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Five arguments, a0 to a4, then the call</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Note 72 is C5 in MIDI numbering</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Sound comes last: the game worked without it</a:t>
            </a:r>
            <a:endParaRPr lang="en-US" sz="1700" dirty="0"/>
          </a:p>
        </p:txBody>
      </p:sp>
      <p:sp>
        <p:nvSpPr>
          <p:cNvPr id="14" name="Shape 12"/>
          <p:cNvSpPr/>
          <p:nvPr/>
        </p:nvSpPr>
        <p:spPr>
          <a:xfrm>
            <a:off x="8762695" y="91440"/>
            <a:ext cx="2880360" cy="274320"/>
          </a:xfrm>
          <a:prstGeom prst="rect">
            <a:avLst/>
          </a:prstGeom>
          <a:solidFill>
            <a:srgbClr val="FEF3C7"/>
          </a:solidFill>
          <a:ln w="12700">
            <a:solidFill>
              <a:srgbClr val="B45309"/>
            </a:solidFill>
            <a:prstDash val="solid"/>
          </a:ln>
        </p:spPr>
      </p:sp>
      <p:sp>
        <p:nvSpPr>
          <p:cNvPr id="15" name="Shape 13"/>
          <p:cNvSpPr/>
          <p:nvPr/>
        </p:nvSpPr>
        <p:spPr>
          <a:xfrm>
            <a:off x="8762695" y="91440"/>
            <a:ext cx="27432" cy="274320"/>
          </a:xfrm>
          <a:prstGeom prst="rect">
            <a:avLst/>
          </a:prstGeom>
          <a:solidFill>
            <a:srgbClr val="B45309"/>
          </a:solidFill>
          <a:ln w="12700">
            <a:solidFill>
              <a:srgbClr val="B45309"/>
            </a:solidFill>
            <a:prstDash val="solid"/>
          </a:ln>
        </p:spPr>
      </p:sp>
      <p:sp>
        <p:nvSpPr>
          <p:cNvPr id="16" name="Shape 14"/>
          <p:cNvSpPr/>
          <p:nvPr/>
        </p:nvSpPr>
        <p:spPr>
          <a:xfrm>
            <a:off x="8817559" y="91440"/>
            <a:ext cx="27432" cy="274320"/>
          </a:xfrm>
          <a:prstGeom prst="rect">
            <a:avLst/>
          </a:prstGeom>
          <a:solidFill>
            <a:srgbClr val="B45309"/>
          </a:solidFill>
          <a:ln w="12700">
            <a:solidFill>
              <a:srgbClr val="B45309"/>
            </a:solidFill>
            <a:prstDash val="solid"/>
          </a:ln>
        </p:spPr>
      </p:sp>
      <p:pic>
        <p:nvPicPr>
          <p:cNvPr id="17" name="Image 0" descr="preencoded.png">    </p:cNvPr>
          <p:cNvPicPr>
            <a:picLocks noChangeAspect="1"/>
          </p:cNvPicPr>
          <p:nvPr/>
        </p:nvPicPr>
        <p:blipFill>
          <a:blip r:embed="rId1"/>
          <a:stretch>
            <a:fillRect/>
          </a:stretch>
        </p:blipFill>
        <p:spPr>
          <a:xfrm>
            <a:off x="8890711" y="128016"/>
            <a:ext cx="201168" cy="201168"/>
          </a:xfrm>
          <a:prstGeom prst="rect">
            <a:avLst/>
          </a:prstGeom>
        </p:spPr>
      </p:pic>
      <p:sp>
        <p:nvSpPr>
          <p:cNvPr id="18" name="Text 15"/>
          <p:cNvSpPr txBox="1"/>
          <p:nvPr/>
        </p:nvSpPr>
        <p:spPr>
          <a:xfrm>
            <a:off x="9146743" y="91440"/>
            <a:ext cx="2459736"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runtime calls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draw: the score as marks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00" dirty="0">
                <a:solidFill>
                  <a:srgbClr val="E6EDF2"/>
                </a:solidFill>
                <a:latin typeface="Courier New" pitchFamily="34" charset="0"/>
                <a:ea typeface="Courier New" pitchFamily="34" charset="-122"/>
                <a:cs typeface="Courier New" pitchFamily="34" charset="-120"/>
              </a:rPr>
              <a:t>verm1_draw:</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sp, sp, -16</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ra, 12(sp)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s0, 8(sp)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a0, BLACK</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prg32_gfx_clear</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a0, 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a1, 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a2, title</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a3, WHITE</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a4, BLACK</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prg32_gfx_text8</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s0, 0                  </a:t>
            </a:r>
            <a:pPr indent="0" marL="0">
              <a:buNone/>
            </a:pPr>
            <a:r>
              <a:rPr lang="en-US" sz="1100" dirty="0">
                <a:solidFill>
                  <a:srgbClr val="8FB3A0"/>
                </a:solidFill>
                <a:latin typeface="Courier New" pitchFamily="34" charset="0"/>
                <a:ea typeface="Courier New" pitchFamily="34" charset="-122"/>
                <a:cs typeface="Courier New" pitchFamily="34" charset="-120"/>
              </a:rPr>
              <a:t># s0 = i: one mark per point</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1:  la   t0, score</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t1,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bge  s0, t1, 2f</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slli a0, s0, 2</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a0, a0, 56             </a:t>
            </a:r>
            <a:pPr indent="0" marL="0">
              <a:buNone/>
            </a:pPr>
            <a:r>
              <a:rPr lang="en-US" sz="1100" dirty="0">
                <a:solidFill>
                  <a:srgbClr val="8FB3A0"/>
                </a:solidFill>
                <a:latin typeface="Courier New" pitchFamily="34" charset="0"/>
                <a:ea typeface="Courier New" pitchFamily="34" charset="-122"/>
                <a:cs typeface="Courier New" pitchFamily="34" charset="-120"/>
              </a:rPr>
              <a:t># x = 56 + 4 * i</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a1, 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a2, 3</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a3, 6</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a4, WHITE</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prg32_gfx_rect</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s0, s0, 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j    1b</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2:</a:t>
            </a:r>
            <a:endParaRPr lang="en-US" sz="11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s0 counts the marks: it must survive the calls</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So s0 is saved in the frame, with ra</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One small rectangle per point, 4 pixels apart</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 loop ends when s0 reaches the score</a:t>
            </a:r>
            <a:endParaRPr lang="en-US" sz="1500" dirty="0"/>
          </a:p>
        </p:txBody>
      </p:sp>
      <p:sp>
        <p:nvSpPr>
          <p:cNvPr id="17" name="Shape 15"/>
          <p:cNvSpPr/>
          <p:nvPr/>
        </p:nvSpPr>
        <p:spPr>
          <a:xfrm>
            <a:off x="7865821" y="91440"/>
            <a:ext cx="3777234" cy="274320"/>
          </a:xfrm>
          <a:prstGeom prst="rect">
            <a:avLst/>
          </a:prstGeom>
          <a:solidFill>
            <a:srgbClr val="FEF3C7"/>
          </a:solidFill>
          <a:ln w="12700">
            <a:solidFill>
              <a:srgbClr val="B45309"/>
            </a:solidFill>
            <a:prstDash val="solid"/>
          </a:ln>
        </p:spPr>
      </p:sp>
      <p:sp>
        <p:nvSpPr>
          <p:cNvPr id="18" name="Shape 16"/>
          <p:cNvSpPr/>
          <p:nvPr/>
        </p:nvSpPr>
        <p:spPr>
          <a:xfrm>
            <a:off x="7865821" y="91440"/>
            <a:ext cx="27432" cy="274320"/>
          </a:xfrm>
          <a:prstGeom prst="rect">
            <a:avLst/>
          </a:prstGeom>
          <a:solidFill>
            <a:srgbClr val="B45309"/>
          </a:solidFill>
          <a:ln w="12700">
            <a:solidFill>
              <a:srgbClr val="B45309"/>
            </a:solidFill>
            <a:prstDash val="solid"/>
          </a:ln>
        </p:spPr>
      </p:sp>
      <p:sp>
        <p:nvSpPr>
          <p:cNvPr id="19" name="Shape 17"/>
          <p:cNvSpPr/>
          <p:nvPr/>
        </p:nvSpPr>
        <p:spPr>
          <a:xfrm>
            <a:off x="7920685"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7993837" y="128016"/>
            <a:ext cx="201168" cy="201168"/>
          </a:xfrm>
          <a:prstGeom prst="rect">
            <a:avLst/>
          </a:prstGeom>
        </p:spPr>
      </p:pic>
      <p:sp>
        <p:nvSpPr>
          <p:cNvPr id="21" name="Text 18"/>
          <p:cNvSpPr txBox="1"/>
          <p:nvPr/>
        </p:nvSpPr>
        <p:spPr>
          <a:xfrm>
            <a:off x="8249869" y="91440"/>
            <a:ext cx="3356610"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calling convention</a:t>
            </a:r>
            <a:pPr indent="0" marL="0">
              <a:buNone/>
            </a:pPr>
            <a:r>
              <a:rPr lang="en-US" sz="1100" b="1" dirty="0">
                <a:solidFill>
                  <a:srgbClr val="92400E"/>
                </a:solidFill>
                <a:latin typeface="Calibri" pitchFamily="34" charset="0"/>
                <a:ea typeface="Calibri" pitchFamily="34" charset="-122"/>
                <a:cs typeface="Calibri" pitchFamily="34" charset="-120"/>
              </a:rPr>
              <a:t> → Lecture 18</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draw: food and head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la   t0, food_x</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a0,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food_y</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a1,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a2, RED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draw_cell</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head_x</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a0,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head_y</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a1,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a2, GREEN</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draw_cell</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s0, 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same three lines twice: column, row, colour</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draw_cell does the conversion to pixels</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head is drawn last: it covers the food</a:t>
            </a:r>
            <a:endParaRPr lang="en-US" sz="1700" dirty="0"/>
          </a:p>
        </p:txBody>
      </p:sp>
      <p:sp>
        <p:nvSpPr>
          <p:cNvPr id="14" name="Shape 12"/>
          <p:cNvSpPr/>
          <p:nvPr/>
        </p:nvSpPr>
        <p:spPr>
          <a:xfrm>
            <a:off x="8287715" y="91440"/>
            <a:ext cx="3355340" cy="274320"/>
          </a:xfrm>
          <a:prstGeom prst="rect">
            <a:avLst/>
          </a:prstGeom>
          <a:solidFill>
            <a:srgbClr val="E0F2FE"/>
          </a:solidFill>
          <a:ln w="12700">
            <a:solidFill>
              <a:srgbClr val="0369A1"/>
            </a:solidFill>
            <a:prstDash val="solid"/>
          </a:ln>
        </p:spPr>
      </p:sp>
      <p:sp>
        <p:nvSpPr>
          <p:cNvPr id="15" name="Shape 13"/>
          <p:cNvSpPr/>
          <p:nvPr/>
        </p:nvSpPr>
        <p:spPr>
          <a:xfrm>
            <a:off x="8287715"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17" name="Text 14"/>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arguments in a0 to a7</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draw_cell: from cells to pixels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draw_cell:                      </a:t>
            </a:r>
            <a:pPr indent="0" marL="0">
              <a:buNone/>
            </a:pPr>
            <a:r>
              <a:rPr lang="en-US" sz="1450" dirty="0">
                <a:solidFill>
                  <a:srgbClr val="8FB3A0"/>
                </a:solidFill>
                <a:latin typeface="Courier New" pitchFamily="34" charset="0"/>
                <a:ea typeface="Courier New" pitchFamily="34" charset="-122"/>
                <a:cs typeface="Courier New" pitchFamily="34" charset="-120"/>
              </a:rPr>
              <a:t># a0 = column, a1 = row, a2 = colour</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sp, sp, -16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ra, 12(sp)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slli a0, a0, 3              </a:t>
            </a:r>
            <a:pPr indent="0" marL="0">
              <a:buNone/>
            </a:pPr>
            <a:r>
              <a:rPr lang="en-US" sz="1450" dirty="0">
                <a:solidFill>
                  <a:srgbClr val="8FB3A0"/>
                </a:solidFill>
                <a:latin typeface="Courier New" pitchFamily="34" charset="0"/>
                <a:ea typeface="Courier New" pitchFamily="34" charset="-122"/>
                <a:cs typeface="Courier New" pitchFamily="34" charset="-120"/>
              </a:rPr>
              <a:t># x = column * 8</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slli a1, a1, 3</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a1, a1, TOP            </a:t>
            </a:r>
            <a:pPr indent="0" marL="0">
              <a:buNone/>
            </a:pPr>
            <a:r>
              <a:rPr lang="en-US" sz="1450" dirty="0">
                <a:solidFill>
                  <a:srgbClr val="8FB3A0"/>
                </a:solidFill>
                <a:latin typeface="Courier New" pitchFamily="34" charset="0"/>
                <a:ea typeface="Courier New" pitchFamily="34" charset="-122"/>
                <a:cs typeface="Courier New" pitchFamily="34" charset="-120"/>
              </a:rPr>
              <a:t># y = row * 8 + 8</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mv   a4, a2                 </a:t>
            </a:r>
            <a:pPr indent="0" marL="0">
              <a:buNone/>
            </a:pPr>
            <a:r>
              <a:rPr lang="en-US" sz="1450" dirty="0">
                <a:solidFill>
                  <a:srgbClr val="8FB3A0"/>
                </a:solidFill>
                <a:latin typeface="Courier New" pitchFamily="34" charset="0"/>
                <a:ea typeface="Courier New" pitchFamily="34" charset="-122"/>
                <a:cs typeface="Courier New" pitchFamily="34" charset="-120"/>
              </a:rPr>
              <a:t># the colour is the fifth argument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a2, CELL</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a3, CELL</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call prg32_gfx_rect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lw   ra, 12(sp)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sp, sp, 16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ret</a:t>
            </a:r>
            <a:endParaRPr lang="en-US" sz="14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arithmetic of Part 1, written once</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colour arrives in a2 and must leave in a4</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Move it first: a2 is about to be overwritten</a:t>
            </a:r>
            <a:endParaRPr lang="en-US" sz="1700" dirty="0"/>
          </a:p>
        </p:txBody>
      </p:sp>
      <p:sp>
        <p:nvSpPr>
          <p:cNvPr id="14" name="Shape 12"/>
          <p:cNvSpPr/>
          <p:nvPr/>
        </p:nvSpPr>
        <p:spPr>
          <a:xfrm>
            <a:off x="8287715" y="91440"/>
            <a:ext cx="3355340" cy="274320"/>
          </a:xfrm>
          <a:prstGeom prst="rect">
            <a:avLst/>
          </a:prstGeom>
          <a:solidFill>
            <a:srgbClr val="E0F2FE"/>
          </a:solidFill>
          <a:ln w="12700">
            <a:solidFill>
              <a:srgbClr val="0369A1"/>
            </a:solidFill>
            <a:prstDash val="solid"/>
          </a:ln>
        </p:spPr>
      </p:sp>
      <p:sp>
        <p:nvSpPr>
          <p:cNvPr id="15" name="Shape 13"/>
          <p:cNvSpPr/>
          <p:nvPr/>
        </p:nvSpPr>
        <p:spPr>
          <a:xfrm>
            <a:off x="8287715"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17" name="Text 14"/>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arguments in a0 to a7</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Verm1, Part 2</a:t>
            </a:r>
            <a:endParaRPr lang="en-US" sz="3200" dirty="0"/>
          </a:p>
        </p:txBody>
      </p:sp>
      <p:sp>
        <p:nvSpPr>
          <p:cNvPr id="3" name="Shape 1"/>
          <p:cNvSpPr/>
          <p:nvPr/>
        </p:nvSpPr>
        <p:spPr>
          <a:xfrm>
            <a:off x="548640" y="1417320"/>
            <a:ext cx="11094415" cy="3931920"/>
          </a:xfrm>
          <a:prstGeom prst="roundRect">
            <a:avLst>
              <a:gd name="adj" fmla="val 1860"/>
            </a:avLst>
          </a:prstGeom>
          <a:solidFill>
            <a:srgbClr val="EEF2F4"/>
          </a:solidFill>
          <a:ln w="12700">
            <a:solidFill>
              <a:srgbClr val="EEF2F4"/>
            </a:solidFill>
            <a:prstDash val="solid"/>
          </a:ln>
        </p:spPr>
      </p:sp>
      <p:pic>
        <p:nvPicPr>
          <p:cNvPr id="4" name="Image 0" descr="/Users/raffaelemontella/devel/riscv-prg32/computer-architecture-with-prg32/tools/assets/verm1_p2.png">    </p:cNvPr>
          <p:cNvPicPr>
            <a:picLocks noChangeAspect="1"/>
          </p:cNvPicPr>
          <p:nvPr/>
        </p:nvPicPr>
        <p:blipFill>
          <a:blip r:embed="rId1"/>
          <a:stretch>
            <a:fillRect/>
          </a:stretch>
        </p:blipFill>
        <p:spPr>
          <a:xfrm>
            <a:off x="3645256" y="1554480"/>
            <a:ext cx="4901184" cy="3063240"/>
          </a:xfrm>
          <a:prstGeom prst="rect">
            <a:avLst/>
          </a:prstGeom>
        </p:spPr>
      </p:pic>
      <p:sp>
        <p:nvSpPr>
          <p:cNvPr id="5" name="Text 2"/>
          <p:cNvSpPr txBox="1"/>
          <p:nvPr/>
        </p:nvSpPr>
        <p:spPr>
          <a:xfrm>
            <a:off x="685800" y="4663440"/>
            <a:ext cx="10820095"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The head, the food, and two marks after the title: two points</a:t>
            </a:r>
            <a:endParaRPr lang="en-US" sz="1500" dirty="0"/>
          </a:p>
        </p:txBody>
      </p:sp>
      <p:sp>
        <p:nvSpPr>
          <p:cNvPr id="6" name="Text 3"/>
          <p:cNvSpPr txBox="1"/>
          <p:nvPr/>
        </p:nvSpPr>
        <p:spPr>
          <a:xfrm>
            <a:off x="548640" y="5486400"/>
            <a:ext cx="11094415" cy="685800"/>
          </a:xfrm>
          <a:prstGeom prst="rect">
            <a:avLst/>
          </a:prstGeom>
          <a:noFill/>
          <a:ln/>
        </p:spPr>
        <p:txBody>
          <a:bodyPr wrap="square" lIns="0" tIns="0" rIns="0" bIns="0" rtlCol="0" anchor="ctr"/>
          <a:lstStyle/>
          <a:p>
            <a:pPr indent="0" marL="0">
              <a:buNone/>
            </a:pPr>
            <a:r>
              <a:rPr lang="en-US" sz="1900" dirty="0">
                <a:solidFill>
                  <a:srgbClr val="1B2530"/>
                </a:solidFill>
                <a:latin typeface="Calibri" pitchFamily="34" charset="0"/>
                <a:ea typeface="Calibri" pitchFamily="34" charset="-122"/>
                <a:cs typeface="Calibri" pitchFamily="34" charset="-120"/>
              </a:rPr>
              <a:t>Expected: a red cell somewhere; steer the head onto it; a note sounds, a mark appears next to VERM1, the food moves.</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70992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 head that you steer, a red cell of food that moves when it is eaten, a note, and one mark per point next to VERM1.</a:t>
            </a:r>
            <a:endParaRPr lang="en-US" sz="2400" dirty="0"/>
          </a:p>
        </p:txBody>
      </p:sp>
      <p:sp>
        <p:nvSpPr>
          <p:cNvPr id="5" name="Shape 3"/>
          <p:cNvSpPr/>
          <p:nvPr/>
        </p:nvSpPr>
        <p:spPr>
          <a:xfrm>
            <a:off x="548640" y="388924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767328"/>
            <a:ext cx="5468112" cy="105918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steer with the joystick; a U-turn is refused</a:t>
            </a:r>
            <a:endParaRPr lang="en-US" sz="2400" dirty="0"/>
          </a:p>
        </p:txBody>
      </p:sp>
      <p:pic>
        <p:nvPicPr>
          <p:cNvPr id="7" name="Image 0" descr="/Users/raffaelemontella/devel/riscv-prg32/computer-architecture-with-prg32/tools/assets/verm1_p2.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verm1 --out verm1.prg32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verm1.prg32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verm1-qemu.prg32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verm1-qemu.prg32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verm1-esp32c6.prg32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verm1-esp32c6.prg32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verm1;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Make it yours</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Make button A a brake: while it is held, the timer does not advance</a:t>
            </a:r>
            <a:endParaRPr lang="en-US" sz="2400" dirty="0"/>
          </a:p>
        </p:txBody>
      </p:sp>
      <p:sp>
        <p:nvSpPr>
          <p:cNvPr id="6" name="Text 4"/>
          <p:cNvSpPr txBox="1"/>
          <p:nvPr/>
        </p:nvSpPr>
        <p:spPr>
          <a:xfrm>
            <a:off x="548640" y="22443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226056"/>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Give two points for a piece of food eaten in the top row</a:t>
            </a:r>
            <a:endParaRPr lang="en-US" sz="2400" dirty="0"/>
          </a:p>
        </p:txBody>
      </p:sp>
      <p:sp>
        <p:nvSpPr>
          <p:cNvPr id="8" name="Text 6"/>
          <p:cNvSpPr txBox="1"/>
          <p:nvPr/>
        </p:nvSpPr>
        <p:spPr>
          <a:xfrm>
            <a:off x="548640" y="30530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034792"/>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Draw the head in a different colour for each direction, using a third table of four colours</a:t>
            </a:r>
            <a:endParaRPr lang="en-US" sz="2400" dirty="0"/>
          </a:p>
        </p:txBody>
      </p:sp>
      <p:sp>
        <p:nvSpPr>
          <p:cNvPr id="10" name="Text 8"/>
          <p:cNvSpPr txBox="1"/>
          <p:nvPr/>
        </p:nvSpPr>
        <p:spPr>
          <a:xfrm>
            <a:off x="548640" y="4166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148328"/>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Change the encoding so that RIGHT = 0, LEFT = 1, DOWN = 2, UP = 3: what does the U-turn rule become?</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Each change is a few lines. Keep a copy of the working Part 2 before you experiment: Part 3 starts from it.</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Verm1, Part 2: Steering, Food and a Score: the code</dc:title>
  <dc:subject>Lecture 12</dc:subject>
  <dc:creator>Raffaele Montella</dc:creator>
  <cp:lastModifiedBy>Raffaele Montella</cp:lastModifiedBy>
  <cp:revision>1</cp:revision>
  <dcterms:created xsi:type="dcterms:W3CDTF">2026-10-17T07:16:48Z</dcterms:created>
  <dcterms:modified xsi:type="dcterms:W3CDTF">2026-10-17T07:16:48Z</dcterms:modified>
</cp:coreProperties>
</file>