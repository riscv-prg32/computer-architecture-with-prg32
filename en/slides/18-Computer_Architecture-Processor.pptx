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6ea04c-3690-e925-138a-b2a7550e21e1}">
          <p14:sldIdLst>
            <p14:sldId id="256"/>
            <p14:sldId id="257"/>
          </p14:sldIdLst>
        </p14:section>
        <p14:section name="The processor" id="{bc7e9608-51b8-b5a1-de19-2ffce04120c1}">
          <p14:sldIdLst>
            <p14:sldId id="258"/>
            <p14:sldId id="259"/>
            <p14:sldId id="260"/>
            <p14:sldId id="261"/>
            <p14:sldId id="262"/>
          </p14:sldIdLst>
        </p14:section>
        <p14:section name="Registers" id="{aa3327e0-6855-bb07-4f61-30e1f8c8ff46}">
          <p14:sldIdLst>
            <p14:sldId id="263"/>
            <p14:sldId id="264"/>
            <p14:sldId id="265"/>
            <p14:sldId id="266"/>
          </p14:sldIdLst>
        </p14:section>
        <p14:section name="The stack" id="{2b80df95-07e0-f5b2-484e-e22def0b325c}">
          <p14:sldIdLst>
            <p14:sldId id="267"/>
          </p14:sldIdLst>
        </p14:section>
        <p14:section name="Processor models" id="{d0ff31fb-c547-a56d-bb04-9132a7acfe6c}">
          <p14:sldIdLst>
            <p14:sldId id="268"/>
            <p14:sldId id="269"/>
          </p14:sldIdLst>
        </p14:section>
        <p14:section name="The ALU and the whole picture" id="{bce8b891-d0e5-5cea-08d1-c096764db47f}">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block of the course opens the machine that has been running your programs. This lecture presents the processor twice: first as a general model, valid for every processor, with its control unit, registers, stack and arithmetic unit; then as RISC-V, the processor you have programmed since the first days. Each abstract element of the model already has, for you, a familiar name. The ring of the quotation is the processor itself: the one component that commands all the others.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
For the lecturer: The original deck presented a general processor model and ended with the architecture of the Motorola MC68000. Here the general model is kept and RISC-V (RV32IMAC, as on the ESP32-C6 of the PRG32 kit) is the reference: the students have programmed it since the first days, so every abstract element has a name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Name the components of a processor. Distinguish internal registers from machine registers, and general registers from special ones. Explain how a stack works and how RISC-V implements push and pop. Compare three models of processor, accumulator, stack and general registers, on the same computation. Describe RISC-V as a load-store, general-register processor and read the name RV32IMAC. And map every element of the model onto the processor of the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reminder and a definition. A computer has three subsystems, processor, main memory and input/output, connected by buses. The processor can execute only a fixed set of instructions, from a few tens to a few hundred, and machine language is the set of strings of bits that encode them. Instructions request two kinds of things: transfers of information and arithmetic or logic operations. Both programs and data are in the main memory.
UNDERSTAND NOW: the processor model.
For the lecturer: RV32I, the base of RISC-V, has about forty instructions; with the M, A and C extensions of the kit, about a hundred encodings. The Motorola 68000 had fifty-six instruction types with many variants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model. The control unit contains the program counter, which holds the address of the next instruction, a decoding register, which holds the instruction being executed, and the network that issues the commands. The machine registers R0 to Rn-1 are those the programmer uses. The arithmetic logic unit has two operand registers and a result register. Two pairs of registers link the processor to the outside: MA and MB towards memory, RI and RU towards input and output. An internal bus connects everything.
UNDERSTAND NOW: the processor model.
For the lecturer: Modello di riferimento. Although based on the same logical scheme, and so made of rather similar components, the processors on the market can be very different from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element of the model, and what it is in RISC-V. The program counter is pc. The machine registers are x0 to x31, with the names you know. The registers of the ALU and those towards memory exist in the hardware but are invisible to the programmer. Two rows say "absent", and they are deliberate choices: there are no registers for input and output, because devices are memory-mapped, and there is no status register with flags. The special registers are the CSRs, reserved for privileged software.
UNDERSTAND NOW: the processor model.
For the lecturer: The two 'absent' rows are deliberate simplifications of RISC-V, explained later in this lecture and in Lecture 15. The MC68000 of the original deck had all the elements of the model: eight data and eight address registers, a status register with condition codes, and separate interrupt circuitry.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classes of registers. Internal registers are necessary for the processor to work but are not visible to the programmer: the program counter, the registers towards memory, those of the ALU. Machine registers define the programming model: they are the ones named in instructions. The processor handles three kinds of information, instructions, addresses and data, and each could have its own size. In RV32 all three are 32 bits wide, which makes the machine very regular.
UNDERSTAND NOW: the processor model.
For the lecturer: Tipi di dato del processore. The '32' of RV32 is the width of the registers; RV64 has 64-bit registers and addresses and the same 32-bit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processor has at least two states of operation. In supervisor state it runs the operating system and may execute every instruction. In user state it runs an ordinary program and may execute everything except the privileged instructions, those that could compromise the system. RISC-V calls them modes: machine mode, the most privileged and the only mandatory one, supervisor mode and user mode. The chip of the kit has machine and user. Passing from one to the other happens through the traps of the next lecture.
UNDERSTAND NOW: the processor model. UNDERSTAND LATER: interrupts and traps (studied in Lecture 19).
For the lecturer: Stato utente o stato supervisore. RISC-V defines three privilege modes: M, the most privileged and the only mandatory one, runs firmware; S runs the kernel of an operating system such as Linux; U runs applications. The ESP32-C6 implements M and U. Changing mode happens through traps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functions of registers. Transit: carrying data between memory and registers. Accumulation: holding the operands and the results of arithmetic. Addressing: holding an address or part of one, as base and index registers do. Stack pointer: indicating the top of a stack in memory. Flags: single bits that record events such as zero, sign, overflow and carry, to condition later instructions. In RISC-V the general registers serve the first four functions; the fifth does not exist as a register.
UNDERSTAND NOW: the registers of RISC-V.
For the lecturer: Funzione dei registri. In RISC-V the first four functions are all served by the general registers; the fifth does not exist as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complete table of the registers of RISC-V, with numbers, names and roles. You have used most of them: zero, ra, sp, the temporaries t0 to t6, the arguments a0 to a7, the saved registers s0 to s11. Two are new: gp and tp, used by compilers and operating systems. The hardware treats x1 to x31 identically; only x0 is special. The roles come from the calling convention. The program counter is not in the bank.
UNDERSTAND NOW: the registers of RISC-V; the calling convention.
For the lecturer: The hardware treats x1 to x31 identically; only x0 is special. The roles come from the calling convention (Lecture 02). The MC68000 instead separated data registers D0-D7 from address registers A0-A7, with A7 as stack pointer.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have a status register whose bits, the flags, record the outcome of the last operation: zero, negative, overflow, carry. An instruction sets them, and a later conditional branch tests them. RISC-V has none. A branch compares two registers and jumps, all in one instruction; slt writes the result of a comparison in an ordinary register; carry and overflow are computed when needed, as in Lecture 05. Less hidden state means a simpler processor and simpler interrupts.
UNDERSTAND NOW: the registers of RISC-V.
For the lecturer: Registro di stato. The original deck listed Z, N, P (positive), V, C and a parity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registers of RISC-V are the control and status registers, CSRs: a separate bank, read and written only by privileged code with dedicated instructions. Five are worth knowing by name: mstatus, with the global interrupt enable; mtvec, the address of the routine that handles traps; mepc, the address of the interrupted instruction; mcause, the reason for the trap; and the pair mie and mip, with one bit per source of interrupt. The next lecture uses them all.
UNDERSTAND NOW: the registers of RISC-V. UNDERSTAND LATER: interrupts and traps (studied in Lecture 19).
For the lecturer: Control and status registers: a separate bank of up to 4,096 registers, read and written only with the instructions csrrw, csrrs and csrrc, and only by privileged code. They are the 'registers of the interrupts' of the general model, and the subject of Lecture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stack has two operations: push stores an element on top of the pile, pop removes the element on top. It always works on the top, so there is no need to say where: last in, first out. It is used to set aside the contents of registers that must be freed for a task and to restore them afterwards. It is implemented with a pointer that indicates the last element. Careful programs check for overflow on a push and for an empty stack on a pop.
UNDERSTAND NOW: the stack; the calling convention.
For the lecturer: LIFO, last in, first out. You have used it since Lecture 02 to save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architectures. With general registers the processor has a set of interchangeable registers. With an accumulator, arithmetic instructions have an implicit operand, one special register. In a stack machine there are neither, only a stack pointer, and instructions work on the top of the stack. An orthogonal architecture has a single bank of general registers, some of which also serve as stack pointer or in other special roles. RISC-V is of this last kind.
UNDERSTAND NOW: accumulator, stack, registers.
For the lecturer: Modello a registri generici, ad accumulatore, a stack; architetture ortogonali. The original definition of orthogonal mentions a status register too; RISC-V is orthogonal and has not even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is a load-store processor with general registers. Only loads and stores touch memory; every other instruction works from register to register, which is faster. Instructions have three operands, two sources and a destination, so that no value is destroyed unless you want it to be. Each instruction does one simple thing and has a fixed size, which makes it easy to decode and to execute in a pipeline. This is what RISC means. The seven lines of the warm-up are the price, and the simplicity of each line is the gain.
UNDERSTAND NOW: accumulator, stack, registers.
For the lecturer: Register-to-register: [REGX] + [REGY] gives [REGZ]. The memory-to-register and register-to-memory forms of the original deck exist in CISC processors and are exactly what RISC gives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 diagram of an RV32 processor, from left to right. The PC gives the address of the instruction. The instruction is fetched from memory. The decoder separates its fields and the control unit issues the commands. The register file provides the operands. The ALU computes, or forms an address. The data memory is read or written by loads and stores. Two paths go back: the result returns to the register named by rd, and the next value of the PC is PC plus 4 or the target of a branch. Every instruction you write travels along this path.
UNDERSTAND NOW: the RV32 processor.
For the lecturer: The classic single-cycle RISC-V datapath of Patterson and Hennessy, reduced to its blocks; instruction memory and data memory are the same address space, drawn twice for clarity. It replaces the slide 'Architettura del processore MC68000'.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processor of the kit, in numbers: instruction set RV32IMAC; one main core at up to 160 MHz with a four-stage pipeline, and a second low-power core; machine and user modes; no floating point; 512 KB of SRAM, 320 KB of ROM and an external flash; radios and peripherals on the same chip. A complete computer in a few square millimetres, for about two euros: processor, memory and input/output are all there, as in the model.
UNDERSTAND NOW: the RV32 processor.
For the lecturer: From the Espressif ESP32-C6 datasheet. A complete computer on a chip of a few square millimetres that costs about two euros: processor, memory and input/output are all there, as in the model of the first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back to the table that puts the model beside RISC-V and look for the rows marked "absent". One of them is among the options.
Remember the warm-up: which instructions touched memory, and which only registers? That is the definition of a load-store architecture.
For the lecturer: 1. Answer: B. RISC-V has no condition codes: branches compare registers directly.
2. Answer: C. It is a load-store architecture: lw, lh, lb, sw, sh, sb and their unsigned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two instructions: the pointer moves down by one word, then a value is stored at the address it now holds. A value has been added on top of the stack.
In an accumulator machine the accumulator is the implicit operand: it is one of the two addends and it receives the result. The operand written in the instruction is only read.
For the lecturer: 1. Answer: B. The pointer moves down by one word and the value is stored on the new top: a push.
2. Answer: B. The accumulator is the implicit operand and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control unit is the unità di controllo. A machine register is one visible to the programmer. Flags are also called indicatori in Italian. Supervisor and user state are the two levels of privilege. A privileged instruction can be executed only in supervisor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The processor commands and controls, relying on memory and on input/output. Registers are storage locations, inside or outside the processor. The kinds of registers and their use determine the model: accumulator, stack, general registers. The ALU carries out the operations. And RISC-V is a load-store processor with general registers, no flags and no I/O instructions: few elements, each one simple. The next lecture follows an instruction through its whole life.
Learning status, recap. UNDERSTAND NOW: accumulator, stack, registers; the processor model; the registers of RISC-V; the calling convention; the stack; the RV32 processor. USE NOW: the complete program, the PRG32 tools (used, not studied, in this course). UNDERSTAND LATER: interrupts and traps (Lecture 19). A slide without a badge is context: a story, an example, a question, an exercise.
For the lecturer: Next lecture: instructions and interrupts.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18: The processor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Processor</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Control unit, registers, stack and ALU: the general model, and RISC-V as the reference processor</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“One Ring to rule them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J. R. R. Tolkien, The Lord of the Rings, 1954-1955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18-Computer_Architecture-Processor-Code.pptx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components of a processor: control unit, ALU, registers, links to memory and to input/output</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internal registers from machine registers, and general registers from special ones</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 stack works and how RISC-V implements push and pop</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Compare the accumulator, stack and general-register models on the same computation</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RISC-V as a load-store, general-register processor, and read the name RV32IMAC</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Map every element of the general model onto the processor of the PRG32 kit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computer and its processor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electronic computer is a numeric, automatic, stored-program system built with electronic circuits</a:t>
            </a:r>
            <a:endParaRPr lang="en-US" sz="1900" dirty="0"/>
          </a:p>
        </p:txBody>
      </p:sp>
      <p:sp>
        <p:nvSpPr>
          <p:cNvPr id="5" name="Shape 3"/>
          <p:cNvSpPr/>
          <p:nvPr/>
        </p:nvSpPr>
        <p:spPr>
          <a:xfrm>
            <a:off x="548640" y="22292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6046"/>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subsystems: processor (CPU), main memory, input/output, connected by buses</a:t>
            </a:r>
            <a:endParaRPr lang="en-US" sz="1900" dirty="0"/>
          </a:p>
        </p:txBody>
      </p:sp>
      <p:sp>
        <p:nvSpPr>
          <p:cNvPr id="7" name="Shape 5"/>
          <p:cNvSpPr/>
          <p:nvPr/>
        </p:nvSpPr>
        <p:spPr>
          <a:xfrm>
            <a:off x="548640" y="29579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74772"/>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processor can execute only a set of instructions, from some tens to a few hundred, more or less complex</a:t>
            </a:r>
            <a:endParaRPr lang="en-US" sz="1900" dirty="0"/>
          </a:p>
        </p:txBody>
      </p:sp>
      <p:sp>
        <p:nvSpPr>
          <p:cNvPr id="9" name="Shape 7"/>
          <p:cNvSpPr/>
          <p:nvPr/>
        </p:nvSpPr>
        <p:spPr>
          <a:xfrm>
            <a:off x="548640" y="36866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0349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Machine language: the strings of bits that encode the instructions the circuits of a processor can execute</a:t>
            </a:r>
            <a:endParaRPr lang="en-US" sz="1900" dirty="0"/>
          </a:p>
        </p:txBody>
      </p:sp>
      <p:sp>
        <p:nvSpPr>
          <p:cNvPr id="11" name="Shape 9"/>
          <p:cNvSpPr/>
          <p:nvPr/>
        </p:nvSpPr>
        <p:spPr>
          <a:xfrm>
            <a:off x="548640" y="44154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32224"/>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Instructions request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transfers of information, inside the computer and to or from the I/O devices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arithmetic and logic operations</a:t>
            </a:r>
            <a:endParaRPr lang="en-US" sz="1900" dirty="0"/>
          </a:p>
        </p:txBody>
      </p:sp>
      <p:sp>
        <p:nvSpPr>
          <p:cNvPr id="13" name="Shape 11"/>
          <p:cNvSpPr/>
          <p:nvPr/>
        </p:nvSpPr>
        <p:spPr>
          <a:xfrm>
            <a:off x="548640" y="5666613"/>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Data and instructions of a program are stored in the main memory</a:t>
            </a:r>
            <a:endParaRPr lang="en-US" sz="1900" dirty="0"/>
          </a:p>
        </p:txBody>
      </p:sp>
      <p:sp>
        <p:nvSpPr>
          <p:cNvPr id="15" name="Shape 13"/>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6" name="Text 14"/>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CPU</a:t>
            </a:r>
            <a:endParaRPr lang="en-US" sz="6000" dirty="0"/>
          </a:p>
        </p:txBody>
      </p:sp>
      <p:sp>
        <p:nvSpPr>
          <p:cNvPr id="17" name="Text 15"/>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central processing unit: the one ring that rules memory and input/output</a:t>
            </a:r>
            <a:endParaRPr lang="en-US" sz="1900" dirty="0"/>
          </a:p>
        </p:txBody>
      </p:sp>
      <p:sp>
        <p:nvSpPr>
          <p:cNvPr id="18" name="Shape 16"/>
          <p:cNvSpPr/>
          <p:nvPr/>
        </p:nvSpPr>
        <p:spPr>
          <a:xfrm>
            <a:off x="8419033" y="91440"/>
            <a:ext cx="3224022" cy="274320"/>
          </a:xfrm>
          <a:prstGeom prst="rect">
            <a:avLst/>
          </a:prstGeom>
          <a:solidFill>
            <a:srgbClr val="E0F2FE"/>
          </a:solidFill>
          <a:ln w="12700">
            <a:solidFill>
              <a:srgbClr val="0369A1"/>
            </a:solidFill>
            <a:prstDash val="solid"/>
          </a:ln>
        </p:spPr>
      </p:sp>
      <p:sp>
        <p:nvSpPr>
          <p:cNvPr id="19" name="Shape 17"/>
          <p:cNvSpPr/>
          <p:nvPr/>
        </p:nvSpPr>
        <p:spPr>
          <a:xfrm>
            <a:off x="8419033" y="91440"/>
            <a:ext cx="73152" cy="274320"/>
          </a:xfrm>
          <a:prstGeom prst="rect">
            <a:avLst/>
          </a:prstGeom>
          <a:solidFill>
            <a:srgbClr val="0369A1"/>
          </a:solidFill>
          <a:ln w="12700">
            <a:solidFill>
              <a:srgbClr val="0369A1"/>
            </a:solidFill>
            <a:prstDash val="solid"/>
          </a:ln>
        </p:spPr>
      </p:sp>
      <p:pic>
        <p:nvPicPr>
          <p:cNvPr id="20"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1" name="Text 18"/>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a reference model</a:t>
            </a:r>
            <a:endParaRPr lang="en-US" sz="3200" dirty="0"/>
          </a:p>
        </p:txBody>
      </p:sp>
      <p:sp>
        <p:nvSpPr>
          <p:cNvPr id="3" name="Shape 1"/>
          <p:cNvSpPr/>
          <p:nvPr/>
        </p:nvSpPr>
        <p:spPr>
          <a:xfrm>
            <a:off x="548640" y="1463040"/>
            <a:ext cx="6675120" cy="4251960"/>
          </a:xfrm>
          <a:prstGeom prst="roundRect">
            <a:avLst>
              <a:gd name="adj" fmla="val 1720"/>
            </a:avLst>
          </a:prstGeom>
          <a:solidFill>
            <a:srgbClr val="EEF2F4"/>
          </a:solidFill>
          <a:ln w="12700">
            <a:solidFill>
              <a:srgbClr val="EEF2F4"/>
            </a:solidFill>
            <a:prstDash val="solid"/>
          </a:ln>
        </p:spPr>
      </p:sp>
      <p:sp>
        <p:nvSpPr>
          <p:cNvPr id="4" name="Text 2"/>
          <p:cNvSpPr txBox="1"/>
          <p:nvPr/>
        </p:nvSpPr>
        <p:spPr>
          <a:xfrm>
            <a:off x="685800" y="1508760"/>
            <a:ext cx="914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CPU</a:t>
            </a:r>
            <a:endParaRPr lang="en-US" sz="1400" dirty="0"/>
          </a:p>
        </p:txBody>
      </p:sp>
      <p:sp>
        <p:nvSpPr>
          <p:cNvPr id="5" name="Text 3"/>
          <p:cNvSpPr txBox="1"/>
          <p:nvPr/>
        </p:nvSpPr>
        <p:spPr>
          <a:xfrm>
            <a:off x="822960" y="1920240"/>
            <a:ext cx="1554480" cy="1371600"/>
          </a:xfrm>
          <a:prstGeom prst="roundRect">
            <a:avLst>
              <a:gd name="adj" fmla="val 40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control</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network</a:t>
            </a:r>
            <a:endParaRPr lang="en-US" sz="1500" dirty="0"/>
          </a:p>
        </p:txBody>
      </p:sp>
      <p:sp>
        <p:nvSpPr>
          <p:cNvPr id="6" name="Text 4"/>
          <p:cNvSpPr txBox="1"/>
          <p:nvPr/>
        </p:nvSpPr>
        <p:spPr>
          <a:xfrm>
            <a:off x="82296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p:txBody>
      </p:sp>
      <p:sp>
        <p:nvSpPr>
          <p:cNvPr id="7" name="Text 5"/>
          <p:cNvSpPr txBox="1"/>
          <p:nvPr/>
        </p:nvSpPr>
        <p:spPr>
          <a:xfrm>
            <a:off x="1645920" y="3520440"/>
            <a:ext cx="731520" cy="548640"/>
          </a:xfrm>
          <a:prstGeom prst="roundRect">
            <a:avLst>
              <a:gd name="adj" fmla="val 10000"/>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8" name="Text 6"/>
          <p:cNvSpPr txBox="1"/>
          <p:nvPr/>
        </p:nvSpPr>
        <p:spPr>
          <a:xfrm>
            <a:off x="2834640" y="192024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R0</a:t>
            </a:r>
            <a:endParaRPr lang="en-US" sz="1400" dirty="0"/>
          </a:p>
        </p:txBody>
      </p:sp>
      <p:sp>
        <p:nvSpPr>
          <p:cNvPr id="9" name="Text 7"/>
          <p:cNvSpPr txBox="1"/>
          <p:nvPr/>
        </p:nvSpPr>
        <p:spPr>
          <a:xfrm>
            <a:off x="2834640" y="246888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R1</a:t>
            </a:r>
            <a:endParaRPr lang="en-US" sz="1400" dirty="0"/>
          </a:p>
        </p:txBody>
      </p:sp>
      <p:sp>
        <p:nvSpPr>
          <p:cNvPr id="10" name="Text 8"/>
          <p:cNvSpPr txBox="1"/>
          <p:nvPr/>
        </p:nvSpPr>
        <p:spPr>
          <a:xfrm>
            <a:off x="2834640" y="301752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 . .</a:t>
            </a:r>
            <a:endParaRPr lang="en-US" sz="1400" dirty="0"/>
          </a:p>
        </p:txBody>
      </p:sp>
      <p:sp>
        <p:nvSpPr>
          <p:cNvPr id="11" name="Text 9"/>
          <p:cNvSpPr txBox="1"/>
          <p:nvPr/>
        </p:nvSpPr>
        <p:spPr>
          <a:xfrm>
            <a:off x="2834640" y="3566160"/>
            <a:ext cx="1463040" cy="457200"/>
          </a:xfrm>
          <a:prstGeom prst="roundRect">
            <a:avLst>
              <a:gd name="adj" fmla="val 120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Rn-1</a:t>
            </a:r>
            <a:endParaRPr lang="en-US" sz="1400" dirty="0"/>
          </a:p>
        </p:txBody>
      </p:sp>
      <p:sp>
        <p:nvSpPr>
          <p:cNvPr id="12" name="Text 10"/>
          <p:cNvSpPr txBox="1"/>
          <p:nvPr/>
        </p:nvSpPr>
        <p:spPr>
          <a:xfrm>
            <a:off x="484632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O1</a:t>
            </a:r>
            <a:endParaRPr lang="en-US" sz="1400" dirty="0"/>
          </a:p>
        </p:txBody>
      </p:sp>
      <p:sp>
        <p:nvSpPr>
          <p:cNvPr id="13" name="Text 11"/>
          <p:cNvSpPr txBox="1"/>
          <p:nvPr/>
        </p:nvSpPr>
        <p:spPr>
          <a:xfrm>
            <a:off x="5943600" y="192024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O2</a:t>
            </a:r>
            <a:endParaRPr lang="en-US" sz="1400" dirty="0"/>
          </a:p>
        </p:txBody>
      </p:sp>
      <p:sp>
        <p:nvSpPr>
          <p:cNvPr id="14" name="Text 12"/>
          <p:cNvSpPr txBox="1"/>
          <p:nvPr/>
        </p:nvSpPr>
        <p:spPr>
          <a:xfrm>
            <a:off x="4846320" y="251460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ALU</a:t>
            </a:r>
            <a:endParaRPr lang="en-US" sz="1800" dirty="0"/>
          </a:p>
        </p:txBody>
      </p:sp>
      <p:sp>
        <p:nvSpPr>
          <p:cNvPr id="15" name="Text 13"/>
          <p:cNvSpPr txBox="1"/>
          <p:nvPr/>
        </p:nvSpPr>
        <p:spPr>
          <a:xfrm>
            <a:off x="5394960" y="3474720"/>
            <a:ext cx="91440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a:t>
            </a:r>
            <a:endParaRPr lang="en-US" sz="1400" dirty="0"/>
          </a:p>
        </p:txBody>
      </p:sp>
      <p:sp>
        <p:nvSpPr>
          <p:cNvPr id="16" name="Shape 14"/>
          <p:cNvSpPr/>
          <p:nvPr/>
        </p:nvSpPr>
        <p:spPr>
          <a:xfrm>
            <a:off x="822960" y="4343400"/>
            <a:ext cx="6126480" cy="0"/>
          </a:xfrm>
          <a:prstGeom prst="line">
            <a:avLst/>
          </a:prstGeom>
          <a:noFill/>
          <a:ln w="63500">
            <a:solidFill>
              <a:srgbClr val="C7791B"/>
            </a:solidFill>
            <a:prstDash val="solid"/>
          </a:ln>
        </p:spPr>
      </p:sp>
      <p:sp>
        <p:nvSpPr>
          <p:cNvPr id="17" name="Text 15"/>
          <p:cNvSpPr txBox="1"/>
          <p:nvPr/>
        </p:nvSpPr>
        <p:spPr>
          <a:xfrm>
            <a:off x="5394960" y="4023360"/>
            <a:ext cx="1645920" cy="274320"/>
          </a:xfrm>
          <a:prstGeom prst="rect">
            <a:avLst/>
          </a:prstGeom>
          <a:noFill/>
          <a:ln/>
        </p:spPr>
        <p:txBody>
          <a:bodyPr wrap="square" lIns="0" tIns="0" rIns="0" bIns="0" rtlCol="0" anchor="t"/>
          <a:lstStyle/>
          <a:p>
            <a:pPr indent="0" marL="0">
              <a:buNone/>
            </a:pPr>
            <a:r>
              <a:rPr lang="en-US" sz="1200" b="1" dirty="0">
                <a:solidFill>
                  <a:srgbClr val="C7791B"/>
                </a:solidFill>
                <a:latin typeface="Calibri" pitchFamily="34" charset="0"/>
                <a:ea typeface="Calibri" pitchFamily="34" charset="-122"/>
                <a:cs typeface="Calibri" pitchFamily="34" charset="-120"/>
              </a:rPr>
              <a:t>internal bus</a:t>
            </a:r>
            <a:endParaRPr lang="en-US" sz="1200" dirty="0"/>
          </a:p>
        </p:txBody>
      </p:sp>
      <p:sp>
        <p:nvSpPr>
          <p:cNvPr id="18" name="Text 16"/>
          <p:cNvSpPr txBox="1"/>
          <p:nvPr/>
        </p:nvSpPr>
        <p:spPr>
          <a:xfrm>
            <a:off x="1005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a:t>
            </a:r>
            <a:endParaRPr lang="en-US" sz="1500" dirty="0"/>
          </a:p>
        </p:txBody>
      </p:sp>
      <p:sp>
        <p:nvSpPr>
          <p:cNvPr id="19" name="Text 17"/>
          <p:cNvSpPr txBox="1"/>
          <p:nvPr/>
        </p:nvSpPr>
        <p:spPr>
          <a:xfrm>
            <a:off x="210312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MB</a:t>
            </a:r>
            <a:endParaRPr lang="en-US" sz="1500" dirty="0"/>
          </a:p>
        </p:txBody>
      </p:sp>
      <p:sp>
        <p:nvSpPr>
          <p:cNvPr id="20" name="Text 18"/>
          <p:cNvSpPr txBox="1"/>
          <p:nvPr/>
        </p:nvSpPr>
        <p:spPr>
          <a:xfrm>
            <a:off x="448056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RI</a:t>
            </a:r>
            <a:endParaRPr lang="en-US" sz="1500" dirty="0"/>
          </a:p>
        </p:txBody>
      </p:sp>
      <p:sp>
        <p:nvSpPr>
          <p:cNvPr id="21" name="Text 19"/>
          <p:cNvSpPr txBox="1"/>
          <p:nvPr/>
        </p:nvSpPr>
        <p:spPr>
          <a:xfrm>
            <a:off x="5577840" y="4754880"/>
            <a:ext cx="914400" cy="548640"/>
          </a:xfrm>
          <a:prstGeom prst="roundRect">
            <a:avLst>
              <a:gd name="adj" fmla="val 10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a:t>
            </a:r>
            <a:endParaRPr lang="en-US" sz="1500" dirty="0"/>
          </a:p>
        </p:txBody>
      </p:sp>
      <p:sp>
        <p:nvSpPr>
          <p:cNvPr id="22" name="Text 20"/>
          <p:cNvSpPr txBox="1"/>
          <p:nvPr/>
        </p:nvSpPr>
        <p:spPr>
          <a:xfrm>
            <a:off x="914400" y="5349240"/>
            <a:ext cx="219456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memory</a:t>
            </a:r>
            <a:endParaRPr lang="en-US" sz="1200" dirty="0"/>
          </a:p>
        </p:txBody>
      </p:sp>
      <p:sp>
        <p:nvSpPr>
          <p:cNvPr id="23" name="Text 21"/>
          <p:cNvSpPr txBox="1"/>
          <p:nvPr/>
        </p:nvSpPr>
        <p:spPr>
          <a:xfrm>
            <a:off x="4297680" y="5349240"/>
            <a:ext cx="2377440" cy="274320"/>
          </a:xfrm>
          <a:prstGeom prst="rect">
            <a:avLst/>
          </a:prstGeom>
          <a:noFill/>
          <a:ln/>
        </p:spPr>
        <p:txBody>
          <a:bodyPr wrap="square" lIns="0" tIns="0" rIns="0" bIns="0" rtlCol="0" anchor="t"/>
          <a:lstStyle/>
          <a:p>
            <a:pPr algn="ctr" indent="0" marL="0">
              <a:buNone/>
            </a:pPr>
            <a:r>
              <a:rPr lang="en-US" sz="1200" i="1" dirty="0">
                <a:solidFill>
                  <a:srgbClr val="5B6B78"/>
                </a:solidFill>
                <a:latin typeface="Calibri" pitchFamily="34" charset="0"/>
                <a:ea typeface="Calibri" pitchFamily="34" charset="-122"/>
                <a:cs typeface="Calibri" pitchFamily="34" charset="-120"/>
              </a:rPr>
              <a:t>link to input/output</a:t>
            </a:r>
            <a:endParaRPr lang="en-US" sz="1200" dirty="0"/>
          </a:p>
        </p:txBody>
      </p:sp>
      <p:sp>
        <p:nvSpPr>
          <p:cNvPr id="24" name="Shape 22"/>
          <p:cNvSpPr/>
          <p:nvPr/>
        </p:nvSpPr>
        <p:spPr>
          <a:xfrm>
            <a:off x="7680960" y="1492758"/>
            <a:ext cx="146304" cy="146304"/>
          </a:xfrm>
          <a:prstGeom prst="rect">
            <a:avLst/>
          </a:prstGeom>
          <a:solidFill>
            <a:srgbClr val="0E7C86"/>
          </a:solidFill>
          <a:ln w="12700">
            <a:solidFill>
              <a:srgbClr val="0E7C86"/>
            </a:solidFill>
            <a:prstDash val="solid"/>
          </a:ln>
        </p:spPr>
      </p:sp>
      <p:sp>
        <p:nvSpPr>
          <p:cNvPr id="25" name="Text 23"/>
          <p:cNvSpPr txBox="1"/>
          <p:nvPr/>
        </p:nvSpPr>
        <p:spPr>
          <a:xfrm>
            <a:off x="8065008" y="1417320"/>
            <a:ext cx="3578047" cy="17830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Control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program counter (PC): the next instruction</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decoding register (D): the instruction being executed</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the control network that issues the commands</a:t>
            </a:r>
            <a:endParaRPr lang="en-US" sz="1800" dirty="0"/>
          </a:p>
        </p:txBody>
      </p:sp>
      <p:sp>
        <p:nvSpPr>
          <p:cNvPr id="26" name="Shape 24"/>
          <p:cNvSpPr/>
          <p:nvPr/>
        </p:nvSpPr>
        <p:spPr>
          <a:xfrm>
            <a:off x="7680960" y="3421952"/>
            <a:ext cx="146304" cy="146304"/>
          </a:xfrm>
          <a:prstGeom prst="rect">
            <a:avLst/>
          </a:prstGeom>
          <a:solidFill>
            <a:srgbClr val="C7791B"/>
          </a:solidFill>
          <a:ln w="12700">
            <a:solidFill>
              <a:srgbClr val="C7791B"/>
            </a:solidFill>
            <a:prstDash val="solid"/>
          </a:ln>
        </p:spPr>
      </p:sp>
      <p:sp>
        <p:nvSpPr>
          <p:cNvPr id="27" name="Text 25"/>
          <p:cNvSpPr txBox="1"/>
          <p:nvPr/>
        </p:nvSpPr>
        <p:spPr>
          <a:xfrm>
            <a:off x="8065008" y="3346514"/>
            <a:ext cx="357804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Machine registers R0 ... Rn-1</a:t>
            </a:r>
            <a:endParaRPr lang="en-US" sz="1800" dirty="0"/>
          </a:p>
        </p:txBody>
      </p:sp>
      <p:sp>
        <p:nvSpPr>
          <p:cNvPr id="28" name="Shape 26"/>
          <p:cNvSpPr/>
          <p:nvPr/>
        </p:nvSpPr>
        <p:spPr>
          <a:xfrm>
            <a:off x="7680960" y="3846957"/>
            <a:ext cx="146304" cy="146304"/>
          </a:xfrm>
          <a:prstGeom prst="rect">
            <a:avLst/>
          </a:prstGeom>
          <a:solidFill>
            <a:srgbClr val="0E7C86"/>
          </a:solidFill>
          <a:ln w="12700">
            <a:solidFill>
              <a:srgbClr val="0E7C86"/>
            </a:solidFill>
            <a:prstDash val="solid"/>
          </a:ln>
        </p:spPr>
      </p:sp>
      <p:sp>
        <p:nvSpPr>
          <p:cNvPr id="29" name="Text 27"/>
          <p:cNvSpPr txBox="1"/>
          <p:nvPr/>
        </p:nvSpPr>
        <p:spPr>
          <a:xfrm>
            <a:off x="8065008" y="3771519"/>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Arithmetic logic unit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two operand registers O1 and O2, a result register U</a:t>
            </a:r>
            <a:endParaRPr lang="en-US" sz="1800" dirty="0"/>
          </a:p>
        </p:txBody>
      </p:sp>
      <p:sp>
        <p:nvSpPr>
          <p:cNvPr id="30" name="Shape 28"/>
          <p:cNvSpPr/>
          <p:nvPr/>
        </p:nvSpPr>
        <p:spPr>
          <a:xfrm>
            <a:off x="7680960" y="4773359"/>
            <a:ext cx="146304" cy="146304"/>
          </a:xfrm>
          <a:prstGeom prst="rect">
            <a:avLst/>
          </a:prstGeom>
          <a:solidFill>
            <a:srgbClr val="C7791B"/>
          </a:solidFill>
          <a:ln w="12700">
            <a:solidFill>
              <a:srgbClr val="C7791B"/>
            </a:solidFill>
            <a:prstDash val="solid"/>
          </a:ln>
        </p:spPr>
      </p:sp>
      <p:sp>
        <p:nvSpPr>
          <p:cNvPr id="31" name="Text 29"/>
          <p:cNvSpPr txBox="1"/>
          <p:nvPr/>
        </p:nvSpPr>
        <p:spPr>
          <a:xfrm>
            <a:off x="8065008" y="4697921"/>
            <a:ext cx="35780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memory</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memory address (MA) and memory buffer (MB)</a:t>
            </a:r>
            <a:endParaRPr lang="en-US" sz="1800" dirty="0"/>
          </a:p>
        </p:txBody>
      </p:sp>
      <p:sp>
        <p:nvSpPr>
          <p:cNvPr id="32" name="Shape 30"/>
          <p:cNvSpPr/>
          <p:nvPr/>
        </p:nvSpPr>
        <p:spPr>
          <a:xfrm>
            <a:off x="7680960" y="5699760"/>
            <a:ext cx="146304" cy="146304"/>
          </a:xfrm>
          <a:prstGeom prst="rect">
            <a:avLst/>
          </a:prstGeom>
          <a:solidFill>
            <a:srgbClr val="0E7C86"/>
          </a:solidFill>
          <a:ln w="12700">
            <a:solidFill>
              <a:srgbClr val="0E7C86"/>
            </a:solidFill>
            <a:prstDash val="solid"/>
          </a:ln>
        </p:spPr>
      </p:sp>
      <p:sp>
        <p:nvSpPr>
          <p:cNvPr id="33" name="Text 31"/>
          <p:cNvSpPr txBox="1"/>
          <p:nvPr/>
        </p:nvSpPr>
        <p:spPr>
          <a:xfrm>
            <a:off x="8065008" y="5624322"/>
            <a:ext cx="3578047" cy="54787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Link to input/output</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I/O buffer registers RI and RU</a:t>
            </a:r>
            <a:endParaRPr lang="en-US" sz="1800" dirty="0"/>
          </a:p>
        </p:txBody>
      </p:sp>
      <p:sp>
        <p:nvSpPr>
          <p:cNvPr id="34" name="Shape 32"/>
          <p:cNvSpPr/>
          <p:nvPr/>
        </p:nvSpPr>
        <p:spPr>
          <a:xfrm>
            <a:off x="8419033" y="91440"/>
            <a:ext cx="3224022" cy="274320"/>
          </a:xfrm>
          <a:prstGeom prst="rect">
            <a:avLst/>
          </a:prstGeom>
          <a:solidFill>
            <a:srgbClr val="E0F2FE"/>
          </a:solidFill>
          <a:ln w="12700">
            <a:solidFill>
              <a:srgbClr val="0369A1"/>
            </a:solidFill>
            <a:prstDash val="solid"/>
          </a:ln>
        </p:spPr>
      </p:sp>
      <p:sp>
        <p:nvSpPr>
          <p:cNvPr id="35" name="Shape 33"/>
          <p:cNvSpPr/>
          <p:nvPr/>
        </p:nvSpPr>
        <p:spPr>
          <a:xfrm>
            <a:off x="8419033" y="91440"/>
            <a:ext cx="73152" cy="274320"/>
          </a:xfrm>
          <a:prstGeom prst="rect">
            <a:avLst/>
          </a:prstGeom>
          <a:solidFill>
            <a:srgbClr val="0369A1"/>
          </a:solidFill>
          <a:ln w="12700">
            <a:solidFill>
              <a:srgbClr val="0369A1"/>
            </a:solidFill>
            <a:prstDash val="solid"/>
          </a:ln>
        </p:spPr>
      </p:sp>
      <p:pic>
        <p:nvPicPr>
          <p:cNvPr id="3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37" name="Text 3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model and RISC-V, side by side</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73762"/>
                <a:gridCol w="4183140"/>
                <a:gridCol w="3637513"/>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Element of the model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In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Seen by the programmer?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 program counter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pc,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indirectly: branches, jumps and auipc use 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D, decoding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instruction register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R0 ... Rn-1, machine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x0 ... x31, thirty-two registers of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yes: zero, ra, sp, t0, a0, s0, ...</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O1, O2, U, registers of the ALU</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ALU inputs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MA, MB, link to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address and data of a load or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RI, RU, link to input/output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devices are memory-mapped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status register with flags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absent: no condition codes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special registers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control and status registers (CSR)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only by privileged software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Internal registers and machine registers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Internal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not directly visible to the programmer, and necessary for the processor to work: PC, MA, MB, D, O1, O2, U, ...</a:t>
            </a:r>
            <a:endParaRPr lang="en-US" sz="2000" dirty="0"/>
          </a:p>
        </p:txBody>
      </p:sp>
      <p:sp>
        <p:nvSpPr>
          <p:cNvPr id="5" name="Shape 3"/>
          <p:cNvSpPr/>
          <p:nvPr/>
        </p:nvSpPr>
        <p:spPr>
          <a:xfrm>
            <a:off x="548640" y="259554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4609"/>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Machine registers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they define the programming model; further divided into general registers and special registers</a:t>
            </a:r>
            <a:endParaRPr lang="en-US" sz="2000" dirty="0"/>
          </a:p>
        </p:txBody>
      </p:sp>
      <p:sp>
        <p:nvSpPr>
          <p:cNvPr id="7" name="Shape 5"/>
          <p:cNvSpPr/>
          <p:nvPr/>
        </p:nvSpPr>
        <p:spPr>
          <a:xfrm>
            <a:off x="548640" y="36828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1899"/>
            <a:ext cx="6565392" cy="174650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handles three kinds of information: instructions, memory addresses and data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MA and PC depends on the size of the addresses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size of the ALU registers depends on the size of the data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RV32 all three are 32 bits wide: one size for registers, addresses and instructions</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RV32</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registers of 32 bits, addresses of 32 bits, instructions of 32 bits</a:t>
            </a:r>
            <a:endParaRPr lang="en-US" sz="1900" dirty="0"/>
          </a:p>
        </p:txBody>
      </p:sp>
      <p:sp>
        <p:nvSpPr>
          <p:cNvPr id="14" name="Shape 12"/>
          <p:cNvSpPr/>
          <p:nvPr/>
        </p:nvSpPr>
        <p:spPr>
          <a:xfrm>
            <a:off x="8419033" y="91440"/>
            <a:ext cx="3224022" cy="274320"/>
          </a:xfrm>
          <a:prstGeom prst="rect">
            <a:avLst/>
          </a:prstGeom>
          <a:solidFill>
            <a:srgbClr val="E0F2FE"/>
          </a:solidFill>
          <a:ln w="12700">
            <a:solidFill>
              <a:srgbClr val="0369A1"/>
            </a:solidFill>
            <a:prstDash val="solid"/>
          </a:ln>
        </p:spPr>
      </p:sp>
      <p:sp>
        <p:nvSpPr>
          <p:cNvPr id="15" name="Shape 13"/>
          <p:cNvSpPr/>
          <p:nvPr/>
        </p:nvSpPr>
        <p:spPr>
          <a:xfrm>
            <a:off x="841903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7" name="Text 1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User state and supervisor state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364384"/>
                <a:gridCol w="3273762"/>
                <a:gridCol w="3819389"/>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State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Who runs in 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What it may do</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RISC-V 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supervisor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the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 instruction of the instruction set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machine mode (M); supervisor mode (S) where there is a full operating system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user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 user program</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everything except the privileged instructions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user mode (U)</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The processor is in supervisor state when it executes the operating system, in user state when it executes a user program.</a:t>
            </a:r>
            <a:endParaRPr lang="en-US" sz="1400" dirty="0"/>
          </a:p>
        </p:txBody>
      </p:sp>
      <p:sp>
        <p:nvSpPr>
          <p:cNvPr id="5" name="Shape 2"/>
          <p:cNvSpPr/>
          <p:nvPr/>
        </p:nvSpPr>
        <p:spPr>
          <a:xfrm>
            <a:off x="7217613" y="91440"/>
            <a:ext cx="4425442" cy="274320"/>
          </a:xfrm>
          <a:prstGeom prst="rect">
            <a:avLst/>
          </a:prstGeom>
          <a:solidFill>
            <a:srgbClr val="F3E8FF"/>
          </a:solidFill>
          <a:ln w="12700">
            <a:solidFill>
              <a:srgbClr val="7E22CE"/>
            </a:solidFill>
            <a:prstDash val="dash"/>
          </a:ln>
        </p:spPr>
      </p:sp>
      <p:sp>
        <p:nvSpPr>
          <p:cNvPr id="6" name="Shape 3"/>
          <p:cNvSpPr/>
          <p:nvPr/>
        </p:nvSpPr>
        <p:spPr>
          <a:xfrm>
            <a:off x="7245045" y="128016"/>
            <a:ext cx="45720" cy="45720"/>
          </a:xfrm>
          <a:prstGeom prst="rect">
            <a:avLst/>
          </a:prstGeom>
          <a:solidFill>
            <a:srgbClr val="7E22CE"/>
          </a:solidFill>
          <a:ln w="12700">
            <a:solidFill>
              <a:srgbClr val="7E22CE"/>
            </a:solidFill>
            <a:prstDash val="solid"/>
          </a:ln>
        </p:spPr>
      </p:sp>
      <p:sp>
        <p:nvSpPr>
          <p:cNvPr id="7" name="Shape 4"/>
          <p:cNvSpPr/>
          <p:nvPr/>
        </p:nvSpPr>
        <p:spPr>
          <a:xfrm>
            <a:off x="7245045" y="205740"/>
            <a:ext cx="45720" cy="45720"/>
          </a:xfrm>
          <a:prstGeom prst="rect">
            <a:avLst/>
          </a:prstGeom>
          <a:solidFill>
            <a:srgbClr val="7E22CE"/>
          </a:solidFill>
          <a:ln w="12700">
            <a:solidFill>
              <a:srgbClr val="7E22CE"/>
            </a:solidFill>
            <a:prstDash val="solid"/>
          </a:ln>
        </p:spPr>
      </p:sp>
      <p:sp>
        <p:nvSpPr>
          <p:cNvPr id="8" name="Shape 5"/>
          <p:cNvSpPr/>
          <p:nvPr/>
        </p:nvSpPr>
        <p:spPr>
          <a:xfrm>
            <a:off x="7245045" y="283464"/>
            <a:ext cx="45720" cy="45720"/>
          </a:xfrm>
          <a:prstGeom prst="rect">
            <a:avLst/>
          </a:prstGeom>
          <a:solidFill>
            <a:srgbClr val="7E22CE"/>
          </a:solidFill>
          <a:ln w="12700">
            <a:solidFill>
              <a:srgbClr val="7E22CE"/>
            </a:solidFill>
            <a:prstDash val="solid"/>
          </a:ln>
        </p:spPr>
      </p:sp>
      <p:pic>
        <p:nvPicPr>
          <p:cNvPr id="9"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10" name="Text 6"/>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interrupts and traps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11" name="Shape 7"/>
          <p:cNvSpPr/>
          <p:nvPr/>
        </p:nvSpPr>
        <p:spPr>
          <a:xfrm>
            <a:off x="3883863" y="91440"/>
            <a:ext cx="3224022" cy="274320"/>
          </a:xfrm>
          <a:prstGeom prst="rect">
            <a:avLst/>
          </a:prstGeom>
          <a:solidFill>
            <a:srgbClr val="E0F2FE"/>
          </a:solidFill>
          <a:ln w="12700">
            <a:solidFill>
              <a:srgbClr val="0369A1"/>
            </a:solidFill>
            <a:prstDash val="solid"/>
          </a:ln>
        </p:spPr>
      </p:sp>
      <p:sp>
        <p:nvSpPr>
          <p:cNvPr id="12" name="Shape 8"/>
          <p:cNvSpPr/>
          <p:nvPr/>
        </p:nvSpPr>
        <p:spPr>
          <a:xfrm>
            <a:off x="3883863" y="91440"/>
            <a:ext cx="73152" cy="274320"/>
          </a:xfrm>
          <a:prstGeom prst="rect">
            <a:avLst/>
          </a:prstGeom>
          <a:solidFill>
            <a:srgbClr val="0369A1"/>
          </a:solidFill>
          <a:ln w="12700">
            <a:solidFill>
              <a:srgbClr val="0369A1"/>
            </a:solidFill>
            <a:prstDash val="solid"/>
          </a:ln>
        </p:spPr>
      </p:sp>
      <p:pic>
        <p:nvPicPr>
          <p:cNvPr id="13" name="Image 1" descr="preencoded.png">    </p:cNvPr>
          <p:cNvPicPr>
            <a:picLocks noChangeAspect="1"/>
          </p:cNvPicPr>
          <p:nvPr/>
        </p:nvPicPr>
        <p:blipFill>
          <a:blip r:embed="rId2"/>
          <a:stretch>
            <a:fillRect/>
          </a:stretch>
        </p:blipFill>
        <p:spPr>
          <a:xfrm>
            <a:off x="4011879" y="128016"/>
            <a:ext cx="201168" cy="201168"/>
          </a:xfrm>
          <a:prstGeom prst="rect">
            <a:avLst/>
          </a:prstGeom>
        </p:spPr>
      </p:pic>
      <p:sp>
        <p:nvSpPr>
          <p:cNvPr id="14" name="Text 9"/>
          <p:cNvSpPr txBox="1"/>
          <p:nvPr/>
        </p:nvSpPr>
        <p:spPr>
          <a:xfrm>
            <a:off x="426791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model</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functions of registers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Transit of data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memory to register, register to register, register to memory: load, move, store</a:t>
            </a:r>
            <a:endParaRPr lang="en-US" sz="2100" dirty="0"/>
          </a:p>
        </p:txBody>
      </p:sp>
      <p:sp>
        <p:nvSpPr>
          <p:cNvPr id="5" name="Shape 3"/>
          <p:cNvSpPr/>
          <p:nvPr/>
        </p:nvSpPr>
        <p:spPr>
          <a:xfrm>
            <a:off x="548640" y="246564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6963"/>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Accumulation of results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needed for arithmetic and logic: R := (op) R, or R := R (op) X</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Addressing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finding the address of an operand: index registers, base registers</a:t>
            </a:r>
            <a:endParaRPr lang="en-US" sz="2100" dirty="0"/>
          </a:p>
        </p:txBody>
      </p:sp>
      <p:sp>
        <p:nvSpPr>
          <p:cNvPr id="9" name="Shape 7"/>
          <p:cNvSpPr/>
          <p:nvPr/>
        </p:nvSpPr>
        <p:spPr>
          <a:xfrm>
            <a:off x="548640" y="43649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66248"/>
            <a:ext cx="10710367"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Stack pointers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managing a stack implemented in memory</a:t>
            </a:r>
            <a:endParaRPr lang="en-US" sz="2100" dirty="0"/>
          </a:p>
        </p:txBody>
      </p:sp>
      <p:sp>
        <p:nvSpPr>
          <p:cNvPr id="11" name="Shape 9"/>
          <p:cNvSpPr/>
          <p:nvPr/>
        </p:nvSpPr>
        <p:spPr>
          <a:xfrm>
            <a:off x="548640" y="531456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15890"/>
            <a:ext cx="10710367"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Indicators, or flags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binary information about events: zero, sign, overflow, carry, illegal addresses or codes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produced during the execution of an instruction, they can condition the following ones</a:t>
            </a:r>
            <a:endParaRPr lang="en-US" sz="2100" dirty="0"/>
          </a:p>
        </p:txBody>
      </p:sp>
      <p:sp>
        <p:nvSpPr>
          <p:cNvPr id="13" name="Shape 11"/>
          <p:cNvSpPr/>
          <p:nvPr/>
        </p:nvSpPr>
        <p:spPr>
          <a:xfrm>
            <a:off x="8156397" y="91440"/>
            <a:ext cx="3486658" cy="274320"/>
          </a:xfrm>
          <a:prstGeom prst="rect">
            <a:avLst/>
          </a:prstGeom>
          <a:solidFill>
            <a:srgbClr val="E0F2FE"/>
          </a:solidFill>
          <a:ln w="12700">
            <a:solidFill>
              <a:srgbClr val="0369A1"/>
            </a:solidFill>
            <a:prstDash val="solid"/>
          </a:ln>
        </p:spPr>
      </p:sp>
      <p:sp>
        <p:nvSpPr>
          <p:cNvPr id="14" name="Shape 12"/>
          <p:cNvSpPr/>
          <p:nvPr/>
        </p:nvSpPr>
        <p:spPr>
          <a:xfrm>
            <a:off x="8156397"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6" name="Text 1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thirty-two registers of RISC-V</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1182192"/>
                <a:gridCol w="2910011"/>
                <a:gridCol w="1364067"/>
                <a:gridCol w="1273130"/>
                <a:gridCol w="3182824"/>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Register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Function, by convention</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Register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Name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Function, by convention</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x0</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zero</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always 0</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x8 - x9</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s0 - s1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saved</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ra</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return address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x10 - x11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a0 - a1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arguments, results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x2</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stack pointer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x12 - x17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a2 - a7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arguments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x3</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gp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global pointer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x18 - x27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s2 - s11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saved</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x4</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tp</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thread pointer</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x28 - x31</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t3 - t6</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temporaries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x5 - x7</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t0 - t2</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temporaries</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pc</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ourier New" pitchFamily="34" charset="0"/>
                          <a:ea typeface="Courier New" pitchFamily="34" charset="-122"/>
                          <a:cs typeface="Courier New" pitchFamily="34" charset="-120"/>
                        </a:rPr>
                        <a:t>-</a:t>
                      </a:r>
                      <a:endParaRPr lang="en-US" sz="17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program counter (not in the bank)</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156397" y="91440"/>
            <a:ext cx="3486658" cy="274320"/>
          </a:xfrm>
          <a:prstGeom prst="rect">
            <a:avLst/>
          </a:prstGeom>
          <a:solidFill>
            <a:srgbClr val="E0F2FE"/>
          </a:solidFill>
          <a:ln w="12700">
            <a:solidFill>
              <a:srgbClr val="0369A1"/>
            </a:solidFill>
            <a:prstDash val="solid"/>
          </a:ln>
        </p:spPr>
      </p:sp>
      <p:sp>
        <p:nvSpPr>
          <p:cNvPr id="5" name="Shape 2"/>
          <p:cNvSpPr/>
          <p:nvPr/>
        </p:nvSpPr>
        <p:spPr>
          <a:xfrm>
            <a:off x="815639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7" name="Text 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Flags: the status register, and its absence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Processors with a status register</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Bit flags accessible from the program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Z zero, N negative, V overflow, C carry, sometimes parity</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An instruction sets them; a later conditional branch tests them</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MC68000: the condition code register; x86: the flags register</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no flags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A branch compares two registers and jumps, in one instruction: beq, bne, blt, bge, bltu, bgeu</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slt and sltu write the result of a comparison in a general register</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Carry and overflow are computed when needed (Lecture 05)</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Less hidden state: simpler pipelines, simpler interrupts</a:t>
            </a:r>
            <a:endParaRPr lang="en-US" sz="2000" dirty="0"/>
          </a:p>
        </p:txBody>
      </p:sp>
      <p:sp>
        <p:nvSpPr>
          <p:cNvPr id="9" name="Shape 7"/>
          <p:cNvSpPr/>
          <p:nvPr/>
        </p:nvSpPr>
        <p:spPr>
          <a:xfrm>
            <a:off x="8156397" y="91440"/>
            <a:ext cx="3486658" cy="274320"/>
          </a:xfrm>
          <a:prstGeom prst="rect">
            <a:avLst/>
          </a:prstGeom>
          <a:solidFill>
            <a:srgbClr val="E0F2FE"/>
          </a:solidFill>
          <a:ln w="12700">
            <a:solidFill>
              <a:srgbClr val="0369A1"/>
            </a:solidFill>
            <a:prstDash val="solid"/>
          </a:ln>
        </p:spPr>
      </p:sp>
      <p:sp>
        <p:nvSpPr>
          <p:cNvPr id="10" name="Shape 8"/>
          <p:cNvSpPr/>
          <p:nvPr/>
        </p:nvSpPr>
        <p:spPr>
          <a:xfrm>
            <a:off x="815639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2" name="Text 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Special registers of RISC-V: the CSRs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3273762"/>
                <a:gridCol w="618377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What it holds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mstatus</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status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global interrupt enable and the previous privilege mode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mtvec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vector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routine that handles interrupts and exceptions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mepc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exception 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address of the instruction that was interrupted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mcause</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trap cause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code that says why the trap happened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mie, mip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interrupt enable, interrupt pending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bit per source of interrupt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217613" y="91440"/>
            <a:ext cx="4425442" cy="274320"/>
          </a:xfrm>
          <a:prstGeom prst="rect">
            <a:avLst/>
          </a:prstGeom>
          <a:solidFill>
            <a:srgbClr val="F3E8FF"/>
          </a:solidFill>
          <a:ln w="12700">
            <a:solidFill>
              <a:srgbClr val="7E22CE"/>
            </a:solidFill>
            <a:prstDash val="dash"/>
          </a:ln>
        </p:spPr>
      </p:sp>
      <p:sp>
        <p:nvSpPr>
          <p:cNvPr id="5" name="Shape 2"/>
          <p:cNvSpPr/>
          <p:nvPr/>
        </p:nvSpPr>
        <p:spPr>
          <a:xfrm>
            <a:off x="7245045" y="128016"/>
            <a:ext cx="45720" cy="45720"/>
          </a:xfrm>
          <a:prstGeom prst="rect">
            <a:avLst/>
          </a:prstGeom>
          <a:solidFill>
            <a:srgbClr val="7E22CE"/>
          </a:solidFill>
          <a:ln w="12700">
            <a:solidFill>
              <a:srgbClr val="7E22CE"/>
            </a:solidFill>
            <a:prstDash val="solid"/>
          </a:ln>
        </p:spPr>
      </p:sp>
      <p:sp>
        <p:nvSpPr>
          <p:cNvPr id="6" name="Shape 3"/>
          <p:cNvSpPr/>
          <p:nvPr/>
        </p:nvSpPr>
        <p:spPr>
          <a:xfrm>
            <a:off x="7245045" y="205740"/>
            <a:ext cx="45720" cy="45720"/>
          </a:xfrm>
          <a:prstGeom prst="rect">
            <a:avLst/>
          </a:prstGeom>
          <a:solidFill>
            <a:srgbClr val="7E22CE"/>
          </a:solidFill>
          <a:ln w="12700">
            <a:solidFill>
              <a:srgbClr val="7E22CE"/>
            </a:solidFill>
            <a:prstDash val="solid"/>
          </a:ln>
        </p:spPr>
      </p:sp>
      <p:sp>
        <p:nvSpPr>
          <p:cNvPr id="7" name="Shape 4"/>
          <p:cNvSpPr/>
          <p:nvPr/>
        </p:nvSpPr>
        <p:spPr>
          <a:xfrm>
            <a:off x="7245045" y="283464"/>
            <a:ext cx="45720" cy="45720"/>
          </a:xfrm>
          <a:prstGeom prst="rect">
            <a:avLst/>
          </a:prstGeom>
          <a:solidFill>
            <a:srgbClr val="7E22CE"/>
          </a:solidFill>
          <a:ln w="12700">
            <a:solidFill>
              <a:srgbClr val="7E22CE"/>
            </a:solidFill>
            <a:prstDash val="solid"/>
          </a:ln>
        </p:spPr>
      </p:sp>
      <p:pic>
        <p:nvPicPr>
          <p:cNvPr id="8" name="Image 0" descr="preencoded.png">    </p:cNvPr>
          <p:cNvPicPr>
            <a:picLocks noChangeAspect="1"/>
          </p:cNvPicPr>
          <p:nvPr/>
        </p:nvPicPr>
        <p:blipFill>
          <a:blip r:embed="rId1"/>
          <a:stretch>
            <a:fillRect/>
          </a:stretch>
        </p:blipFill>
        <p:spPr>
          <a:xfrm>
            <a:off x="7345629" y="128016"/>
            <a:ext cx="201168" cy="201168"/>
          </a:xfrm>
          <a:prstGeom prst="rect">
            <a:avLst/>
          </a:prstGeom>
        </p:spPr>
      </p:pic>
      <p:sp>
        <p:nvSpPr>
          <p:cNvPr id="9" name="Text 5"/>
          <p:cNvSpPr txBox="1"/>
          <p:nvPr/>
        </p:nvSpPr>
        <p:spPr>
          <a:xfrm>
            <a:off x="7601661" y="91440"/>
            <a:ext cx="400481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interrupts and traps</a:t>
            </a:r>
            <a:pPr indent="0" marL="0">
              <a:buNone/>
            </a:pPr>
            <a:r>
              <a:rPr lang="en-US" sz="1100" b="1" dirty="0">
                <a:solidFill>
                  <a:srgbClr val="6B21A8"/>
                </a:solidFill>
                <a:latin typeface="Calibri" pitchFamily="34" charset="0"/>
                <a:ea typeface="Calibri" pitchFamily="34" charset="-122"/>
                <a:cs typeface="Calibri" pitchFamily="34" charset="-120"/>
              </a:rPr>
              <a:t> → Lecture 19</a:t>
            </a:r>
            <a:endParaRPr lang="en-US" sz="1100" dirty="0"/>
          </a:p>
        </p:txBody>
      </p:sp>
      <p:sp>
        <p:nvSpPr>
          <p:cNvPr id="10" name="Shape 6"/>
          <p:cNvSpPr/>
          <p:nvPr/>
        </p:nvSpPr>
        <p:spPr>
          <a:xfrm>
            <a:off x="3621227" y="91440"/>
            <a:ext cx="3486658" cy="274320"/>
          </a:xfrm>
          <a:prstGeom prst="rect">
            <a:avLst/>
          </a:prstGeom>
          <a:solidFill>
            <a:srgbClr val="E0F2FE"/>
          </a:solidFill>
          <a:ln w="12700">
            <a:solidFill>
              <a:srgbClr val="0369A1"/>
            </a:solidFill>
            <a:prstDash val="solid"/>
          </a:ln>
        </p:spPr>
      </p:sp>
      <p:sp>
        <p:nvSpPr>
          <p:cNvPr id="11" name="Shape 7"/>
          <p:cNvSpPr/>
          <p:nvPr/>
        </p:nvSpPr>
        <p:spPr>
          <a:xfrm>
            <a:off x="3621227" y="91440"/>
            <a:ext cx="73152" cy="274320"/>
          </a:xfrm>
          <a:prstGeom prst="rect">
            <a:avLst/>
          </a:prstGeom>
          <a:solidFill>
            <a:srgbClr val="0369A1"/>
          </a:solidFill>
          <a:ln w="12700">
            <a:solidFill>
              <a:srgbClr val="0369A1"/>
            </a:solidFill>
            <a:prstDash val="solid"/>
          </a:ln>
        </p:spPr>
      </p:sp>
      <p:pic>
        <p:nvPicPr>
          <p:cNvPr id="12"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13" name="Text 8"/>
          <p:cNvSpPr txBox="1"/>
          <p:nvPr/>
        </p:nvSpPr>
        <p:spPr>
          <a:xfrm>
            <a:off x="400527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registers of RISC-V</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stack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abstract data structure with two operations: push stores an element as the last of the pile, pop takes the last element away</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works always and only on the top: there is no need to say where to store or to fetch</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used to set aside the contents of registers that must be freed to carry out a task, and to restore them afterwards: subprograms, interrupts</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Implemented with a pointer, in memory or in a dedicated register, that indicates the position of the last element at every instant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Operations on the stack should check for overflow on a push and for an empty stack on a pop</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LIFO</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last value pushed is the first one popped</a:t>
            </a:r>
            <a:endParaRPr lang="en-US" sz="1900" dirty="0"/>
          </a:p>
        </p:txBody>
      </p:sp>
      <p:sp>
        <p:nvSpPr>
          <p:cNvPr id="16" name="Shape 14"/>
          <p:cNvSpPr/>
          <p:nvPr/>
        </p:nvSpPr>
        <p:spPr>
          <a:xfrm>
            <a:off x="9075623" y="91440"/>
            <a:ext cx="2567432" cy="274320"/>
          </a:xfrm>
          <a:prstGeom prst="rect">
            <a:avLst/>
          </a:prstGeom>
          <a:solidFill>
            <a:srgbClr val="E0F2FE"/>
          </a:solidFill>
          <a:ln w="12700">
            <a:solidFill>
              <a:srgbClr val="0369A1"/>
            </a:solidFill>
            <a:prstDash val="solid"/>
          </a:ln>
        </p:spPr>
      </p:sp>
      <p:sp>
        <p:nvSpPr>
          <p:cNvPr id="17" name="Shape 15"/>
          <p:cNvSpPr/>
          <p:nvPr/>
        </p:nvSpPr>
        <p:spPr>
          <a:xfrm>
            <a:off x="907562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9" name="Text 16"/>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stack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architectures of the processor</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General registers</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processor has a set of registers REG0, REG1, ..., REGN-1 that can be used interchangeably.</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Accumulator</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All arithmetic, logic and comparison instructions have an implicit operand: one special register, the accumulator.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Stack</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There are neither accumulators nor general registers, only the stack pointer; instructions work on the data on top of the stack.</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Orthogonal</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single bank of general registers, some of which serve, when needed, as stack pointer or other special registers.</a:t>
            </a:r>
            <a:endParaRPr lang="en-US" sz="1900" dirty="0"/>
          </a:p>
        </p:txBody>
      </p:sp>
      <p:sp>
        <p:nvSpPr>
          <p:cNvPr id="19" name="Shape 17"/>
          <p:cNvSpPr/>
          <p:nvPr/>
        </p:nvSpPr>
        <p:spPr>
          <a:xfrm>
            <a:off x="7762443" y="91440"/>
            <a:ext cx="3880612" cy="274320"/>
          </a:xfrm>
          <a:prstGeom prst="rect">
            <a:avLst/>
          </a:prstGeom>
          <a:solidFill>
            <a:srgbClr val="E0F2FE"/>
          </a:solidFill>
          <a:ln w="12700">
            <a:solidFill>
              <a:srgbClr val="0369A1"/>
            </a:solidFill>
            <a:prstDash val="solid"/>
          </a:ln>
        </p:spPr>
      </p:sp>
      <p:sp>
        <p:nvSpPr>
          <p:cNvPr id="20" name="Shape 18"/>
          <p:cNvSpPr/>
          <p:nvPr/>
        </p:nvSpPr>
        <p:spPr>
          <a:xfrm>
            <a:off x="7762443"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2" name="Text 19"/>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RISC-V: a load-store, general-register processor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Instructions that work on registers are faster than those that work on memory locations: the most used data are kept in registers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Only loads and stores touch memory; every other instruction works register to register</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operands: two sources and a destination, so that no value is destroyed unless you want it to be</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instruction does one simple thing and has a fixed size: easy to decode, easy to execute in a pipeline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This is the meaning of RISC: reduced instruction set computer</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load, compute, store</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rhythm of every RISC-V program, from the first counter to the last game</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accumulator, stack,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architecture of an RV32 processor</a:t>
            </a:r>
            <a:endParaRPr lang="en-US" sz="3200" dirty="0"/>
          </a:p>
        </p:txBody>
      </p:sp>
      <p:sp>
        <p:nvSpPr>
          <p:cNvPr id="3" name="Text 1"/>
          <p:cNvSpPr txBox="1"/>
          <p:nvPr/>
        </p:nvSpPr>
        <p:spPr>
          <a:xfrm>
            <a:off x="548640" y="2240280"/>
            <a:ext cx="1188720" cy="1463040"/>
          </a:xfrm>
          <a:prstGeom prst="roundRect">
            <a:avLst>
              <a:gd name="adj" fmla="val 4615"/>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address of the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instruction</a:t>
            </a:r>
            <a:endParaRPr lang="en-US" sz="1500" dirty="0"/>
          </a:p>
        </p:txBody>
      </p:sp>
      <p:sp>
        <p:nvSpPr>
          <p:cNvPr id="4" name="Shape 2"/>
          <p:cNvSpPr/>
          <p:nvPr/>
        </p:nvSpPr>
        <p:spPr>
          <a:xfrm>
            <a:off x="1773936" y="2971800"/>
            <a:ext cx="371795" cy="0"/>
          </a:xfrm>
          <a:prstGeom prst="line">
            <a:avLst/>
          </a:prstGeom>
          <a:noFill/>
          <a:ln w="31750">
            <a:solidFill>
              <a:srgbClr val="5B6B78"/>
            </a:solidFill>
            <a:prstDash val="solid"/>
            <a:tailEnd type="triangle"/>
          </a:ln>
        </p:spPr>
      </p:sp>
      <p:sp>
        <p:nvSpPr>
          <p:cNvPr id="5" name="Text 3"/>
          <p:cNvSpPr txBox="1"/>
          <p:nvPr/>
        </p:nvSpPr>
        <p:spPr>
          <a:xfrm>
            <a:off x="2182307" y="2240280"/>
            <a:ext cx="1554480" cy="1463040"/>
          </a:xfrm>
          <a:prstGeom prst="roundRect">
            <a:avLst>
              <a:gd name="adj" fmla="val 375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instruction</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fetch</a:t>
            </a:r>
            <a:endParaRPr lang="en-US" sz="1500" dirty="0"/>
          </a:p>
        </p:txBody>
      </p:sp>
      <p:sp>
        <p:nvSpPr>
          <p:cNvPr id="6" name="Shape 4"/>
          <p:cNvSpPr/>
          <p:nvPr/>
        </p:nvSpPr>
        <p:spPr>
          <a:xfrm>
            <a:off x="3773363" y="2971800"/>
            <a:ext cx="371795" cy="0"/>
          </a:xfrm>
          <a:prstGeom prst="line">
            <a:avLst/>
          </a:prstGeom>
          <a:noFill/>
          <a:ln w="31750">
            <a:solidFill>
              <a:srgbClr val="5B6B78"/>
            </a:solidFill>
            <a:prstDash val="solid"/>
            <a:tailEnd type="triangle"/>
          </a:ln>
        </p:spPr>
      </p:sp>
      <p:sp>
        <p:nvSpPr>
          <p:cNvPr id="7" name="Text 5"/>
          <p:cNvSpPr txBox="1"/>
          <p:nvPr/>
        </p:nvSpPr>
        <p:spPr>
          <a:xfrm>
            <a:off x="4181734" y="2240280"/>
            <a:ext cx="1737360" cy="1463040"/>
          </a:xfrm>
          <a:prstGeom prst="roundRect">
            <a:avLst>
              <a:gd name="adj" fmla="val 375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decoder and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control unit</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fields and</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commands</a:t>
            </a:r>
            <a:endParaRPr lang="en-US" sz="1500" dirty="0"/>
          </a:p>
        </p:txBody>
      </p:sp>
      <p:sp>
        <p:nvSpPr>
          <p:cNvPr id="8" name="Shape 6"/>
          <p:cNvSpPr/>
          <p:nvPr/>
        </p:nvSpPr>
        <p:spPr>
          <a:xfrm>
            <a:off x="5955670" y="2971800"/>
            <a:ext cx="371795" cy="0"/>
          </a:xfrm>
          <a:prstGeom prst="line">
            <a:avLst/>
          </a:prstGeom>
          <a:noFill/>
          <a:ln w="31750">
            <a:solidFill>
              <a:srgbClr val="5B6B78"/>
            </a:solidFill>
            <a:prstDash val="solid"/>
            <a:tailEnd type="triangle"/>
          </a:ln>
        </p:spPr>
      </p:sp>
      <p:sp>
        <p:nvSpPr>
          <p:cNvPr id="9" name="Text 7"/>
          <p:cNvSpPr txBox="1"/>
          <p:nvPr/>
        </p:nvSpPr>
        <p:spPr>
          <a:xfrm>
            <a:off x="6364041" y="2240280"/>
            <a:ext cx="1645920" cy="1463040"/>
          </a:xfrm>
          <a:prstGeom prst="roundRect">
            <a:avLst>
              <a:gd name="adj" fmla="val 375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register file</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x0 - x31</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32 x 32 bits</a:t>
            </a:r>
            <a:endParaRPr lang="en-US" sz="1500" dirty="0"/>
          </a:p>
        </p:txBody>
      </p:sp>
      <p:sp>
        <p:nvSpPr>
          <p:cNvPr id="10" name="Shape 8"/>
          <p:cNvSpPr/>
          <p:nvPr/>
        </p:nvSpPr>
        <p:spPr>
          <a:xfrm>
            <a:off x="8046537" y="2971800"/>
            <a:ext cx="371795" cy="0"/>
          </a:xfrm>
          <a:prstGeom prst="line">
            <a:avLst/>
          </a:prstGeom>
          <a:noFill/>
          <a:ln w="31750">
            <a:solidFill>
              <a:srgbClr val="5B6B78"/>
            </a:solidFill>
            <a:prstDash val="solid"/>
            <a:tailEnd type="triangle"/>
          </a:ln>
        </p:spPr>
      </p:sp>
      <p:sp>
        <p:nvSpPr>
          <p:cNvPr id="11" name="Text 9"/>
          <p:cNvSpPr txBox="1"/>
          <p:nvPr/>
        </p:nvSpPr>
        <p:spPr>
          <a:xfrm>
            <a:off x="8454908" y="2240280"/>
            <a:ext cx="1371600" cy="146304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ALU</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compute, or</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form an address</a:t>
            </a:r>
            <a:endParaRPr lang="en-US" sz="1500" dirty="0"/>
          </a:p>
        </p:txBody>
      </p:sp>
      <p:sp>
        <p:nvSpPr>
          <p:cNvPr id="12" name="Shape 10"/>
          <p:cNvSpPr/>
          <p:nvPr/>
        </p:nvSpPr>
        <p:spPr>
          <a:xfrm>
            <a:off x="9863084" y="2971800"/>
            <a:ext cx="371795" cy="0"/>
          </a:xfrm>
          <a:prstGeom prst="line">
            <a:avLst/>
          </a:prstGeom>
          <a:noFill/>
          <a:ln w="31750">
            <a:solidFill>
              <a:srgbClr val="5B6B78"/>
            </a:solidFill>
            <a:prstDash val="solid"/>
            <a:tailEnd type="triangle"/>
          </a:ln>
        </p:spPr>
      </p:sp>
      <p:sp>
        <p:nvSpPr>
          <p:cNvPr id="13" name="Text 11"/>
          <p:cNvSpPr txBox="1"/>
          <p:nvPr/>
        </p:nvSpPr>
        <p:spPr>
          <a:xfrm>
            <a:off x="10271455" y="2240280"/>
            <a:ext cx="1371600" cy="1463040"/>
          </a:xfrm>
          <a:prstGeom prst="roundRect">
            <a:avLst>
              <a:gd name="adj" fmla="val 4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data</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memory</a:t>
            </a:r>
            <a:endParaRPr lang="en-US" sz="1500" dirty="0"/>
          </a:p>
          <a:p>
            <a:pPr algn="ctr" indent="0" marL="0">
              <a:buNone/>
            </a:pPr>
            <a:r>
              <a:rPr lang="en-US" sz="1150" dirty="0">
                <a:solidFill>
                  <a:srgbClr val="FFFFFF"/>
                </a:solidFill>
                <a:latin typeface="Calibri" pitchFamily="34" charset="0"/>
                <a:ea typeface="Calibri" pitchFamily="34" charset="-122"/>
                <a:cs typeface="Calibri" pitchFamily="34" charset="-120"/>
              </a:rPr>
              <a:t>load, store</a:t>
            </a:r>
            <a:endParaRPr lang="en-US" sz="1500" dirty="0"/>
          </a:p>
        </p:txBody>
      </p:sp>
      <p:sp>
        <p:nvSpPr>
          <p:cNvPr id="14" name="Shape 12"/>
          <p:cNvSpPr/>
          <p:nvPr/>
        </p:nvSpPr>
        <p:spPr>
          <a:xfrm>
            <a:off x="10957255" y="3730752"/>
            <a:ext cx="0" cy="612648"/>
          </a:xfrm>
          <a:prstGeom prst="line">
            <a:avLst/>
          </a:prstGeom>
          <a:noFill/>
          <a:ln w="31750">
            <a:solidFill>
              <a:srgbClr val="2F7D4F"/>
            </a:solidFill>
            <a:prstDash val="solid"/>
          </a:ln>
        </p:spPr>
      </p:sp>
      <p:sp>
        <p:nvSpPr>
          <p:cNvPr id="15" name="Shape 13"/>
          <p:cNvSpPr/>
          <p:nvPr/>
        </p:nvSpPr>
        <p:spPr>
          <a:xfrm flipH="1">
            <a:off x="7187001" y="4343400"/>
            <a:ext cx="3770254" cy="0"/>
          </a:xfrm>
          <a:prstGeom prst="line">
            <a:avLst/>
          </a:prstGeom>
          <a:noFill/>
          <a:ln w="31750">
            <a:solidFill>
              <a:srgbClr val="2F7D4F"/>
            </a:solidFill>
            <a:prstDash val="solid"/>
          </a:ln>
        </p:spPr>
      </p:sp>
      <p:sp>
        <p:nvSpPr>
          <p:cNvPr id="16" name="Shape 14"/>
          <p:cNvSpPr/>
          <p:nvPr/>
        </p:nvSpPr>
        <p:spPr>
          <a:xfrm flipV="1">
            <a:off x="7187001" y="3730752"/>
            <a:ext cx="0" cy="612648"/>
          </a:xfrm>
          <a:prstGeom prst="line">
            <a:avLst/>
          </a:prstGeom>
          <a:noFill/>
          <a:ln w="31750">
            <a:solidFill>
              <a:srgbClr val="2F7D4F"/>
            </a:solidFill>
            <a:prstDash val="solid"/>
            <a:tailEnd type="triangle"/>
          </a:ln>
        </p:spPr>
      </p:sp>
      <p:sp>
        <p:nvSpPr>
          <p:cNvPr id="17" name="Text 15"/>
          <p:cNvSpPr txBox="1"/>
          <p:nvPr/>
        </p:nvSpPr>
        <p:spPr>
          <a:xfrm>
            <a:off x="7187001" y="4389120"/>
            <a:ext cx="3770254" cy="274320"/>
          </a:xfrm>
          <a:prstGeom prst="rect">
            <a:avLst/>
          </a:prstGeom>
          <a:noFill/>
          <a:ln/>
        </p:spPr>
        <p:txBody>
          <a:bodyPr wrap="square" lIns="0" tIns="0" rIns="0" bIns="0" rtlCol="0" anchor="t"/>
          <a:lstStyle/>
          <a:p>
            <a:pPr algn="ctr" indent="0" marL="0">
              <a:buNone/>
            </a:pPr>
            <a:r>
              <a:rPr lang="en-US" sz="1250" b="1" dirty="0">
                <a:solidFill>
                  <a:srgbClr val="2F7D4F"/>
                </a:solidFill>
                <a:latin typeface="Calibri" pitchFamily="34" charset="0"/>
                <a:ea typeface="Calibri" pitchFamily="34" charset="-122"/>
                <a:cs typeface="Calibri" pitchFamily="34" charset="-120"/>
              </a:rPr>
              <a:t>write back: the result returns to the register named by rd</a:t>
            </a:r>
            <a:endParaRPr lang="en-US" sz="1250" dirty="0"/>
          </a:p>
        </p:txBody>
      </p:sp>
      <p:sp>
        <p:nvSpPr>
          <p:cNvPr id="18" name="Shape 16"/>
          <p:cNvSpPr/>
          <p:nvPr/>
        </p:nvSpPr>
        <p:spPr>
          <a:xfrm>
            <a:off x="1143000" y="1691640"/>
            <a:ext cx="0" cy="521208"/>
          </a:xfrm>
          <a:prstGeom prst="line">
            <a:avLst/>
          </a:prstGeom>
          <a:noFill/>
          <a:ln w="31750">
            <a:solidFill>
              <a:srgbClr val="B23A48"/>
            </a:solidFill>
            <a:prstDash val="solid"/>
            <a:tailEnd type="triangle"/>
          </a:ln>
        </p:spPr>
      </p:sp>
      <p:sp>
        <p:nvSpPr>
          <p:cNvPr id="19" name="Shape 17"/>
          <p:cNvSpPr/>
          <p:nvPr/>
        </p:nvSpPr>
        <p:spPr>
          <a:xfrm>
            <a:off x="1143000" y="1691640"/>
            <a:ext cx="7997708" cy="0"/>
          </a:xfrm>
          <a:prstGeom prst="line">
            <a:avLst/>
          </a:prstGeom>
          <a:noFill/>
          <a:ln w="31750">
            <a:solidFill>
              <a:srgbClr val="B23A48"/>
            </a:solidFill>
            <a:prstDash val="solid"/>
          </a:ln>
        </p:spPr>
      </p:sp>
      <p:sp>
        <p:nvSpPr>
          <p:cNvPr id="20" name="Shape 18"/>
          <p:cNvSpPr/>
          <p:nvPr/>
        </p:nvSpPr>
        <p:spPr>
          <a:xfrm>
            <a:off x="9140708" y="1691640"/>
            <a:ext cx="0" cy="521208"/>
          </a:xfrm>
          <a:prstGeom prst="line">
            <a:avLst/>
          </a:prstGeom>
          <a:noFill/>
          <a:ln w="31750">
            <a:solidFill>
              <a:srgbClr val="B23A48"/>
            </a:solidFill>
            <a:prstDash val="solid"/>
          </a:ln>
        </p:spPr>
      </p:sp>
      <p:sp>
        <p:nvSpPr>
          <p:cNvPr id="21" name="Text 19"/>
          <p:cNvSpPr txBox="1"/>
          <p:nvPr/>
        </p:nvSpPr>
        <p:spPr>
          <a:xfrm>
            <a:off x="1325880" y="1371600"/>
            <a:ext cx="5486400" cy="274320"/>
          </a:xfrm>
          <a:prstGeom prst="rect">
            <a:avLst/>
          </a:prstGeom>
          <a:noFill/>
          <a:ln/>
        </p:spPr>
        <p:txBody>
          <a:bodyPr wrap="square" lIns="0" tIns="0" rIns="0" bIns="0" rtlCol="0" anchor="t"/>
          <a:lstStyle/>
          <a:p>
            <a:pPr indent="0" marL="0">
              <a:buNone/>
            </a:pPr>
            <a:r>
              <a:rPr lang="en-US" sz="1250" b="1" dirty="0">
                <a:solidFill>
                  <a:srgbClr val="B23A48"/>
                </a:solidFill>
                <a:latin typeface="Calibri" pitchFamily="34" charset="0"/>
                <a:ea typeface="Calibri" pitchFamily="34" charset="-122"/>
                <a:cs typeface="Calibri" pitchFamily="34" charset="-120"/>
              </a:rPr>
              <a:t>next PC: PC + 4, or the branch target</a:t>
            </a:r>
            <a:endParaRPr lang="en-US" sz="1250" dirty="0"/>
          </a:p>
        </p:txBody>
      </p:sp>
      <p:sp>
        <p:nvSpPr>
          <p:cNvPr id="22" name="Text 20"/>
          <p:cNvSpPr txBox="1"/>
          <p:nvPr/>
        </p:nvSpPr>
        <p:spPr>
          <a:xfrm>
            <a:off x="548640" y="5120640"/>
            <a:ext cx="11094415" cy="1051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Next to them, out of the main path: the bank of control and status registers, and the trap logic of Lecture 19. Compared with the MC68000 of the original deck there are no separate data and address registers, no condition code register and no effective-address register.</a:t>
            </a:r>
            <a:endParaRPr lang="en-US" sz="1450" dirty="0"/>
          </a:p>
        </p:txBody>
      </p:sp>
      <p:sp>
        <p:nvSpPr>
          <p:cNvPr id="23" name="Shape 21"/>
          <p:cNvSpPr/>
          <p:nvPr/>
        </p:nvSpPr>
        <p:spPr>
          <a:xfrm>
            <a:off x="8484692" y="91440"/>
            <a:ext cx="3158363" cy="274320"/>
          </a:xfrm>
          <a:prstGeom prst="rect">
            <a:avLst/>
          </a:prstGeom>
          <a:solidFill>
            <a:srgbClr val="E0F2FE"/>
          </a:solidFill>
          <a:ln w="12700">
            <a:solidFill>
              <a:srgbClr val="0369A1"/>
            </a:solidFill>
            <a:prstDash val="solid"/>
          </a:ln>
        </p:spPr>
      </p:sp>
      <p:sp>
        <p:nvSpPr>
          <p:cNvPr id="24" name="Shape 22"/>
          <p:cNvSpPr/>
          <p:nvPr/>
        </p:nvSpPr>
        <p:spPr>
          <a:xfrm>
            <a:off x="8484692"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26" name="Text 2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RV32 processor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of the PRG32 kit</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854815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Feature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RV32IMAC: base integer set, multiply and divide, atomics, compressed instructions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32-bit RISC-V core, up to 160 MHz, four-stage pipeline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Second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low-power RISC-V core, up to 20 MHz, for tasks that run while the main core sleeps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Privilege modes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and user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no F or D extension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 320 KB of ROM, external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 the same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Wi-Fi 6, Bluetooth, Thread and Zigbee radios; SPI, I2S, GPIO and timer peripherals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84692" y="91440"/>
            <a:ext cx="3158363" cy="274320"/>
          </a:xfrm>
          <a:prstGeom prst="rect">
            <a:avLst/>
          </a:prstGeom>
          <a:solidFill>
            <a:srgbClr val="E0F2FE"/>
          </a:solidFill>
          <a:ln w="12700">
            <a:solidFill>
              <a:srgbClr val="0369A1"/>
            </a:solidFill>
            <a:prstDash val="solid"/>
          </a:ln>
        </p:spPr>
      </p:sp>
      <p:sp>
        <p:nvSpPr>
          <p:cNvPr id="5" name="Shape 2"/>
          <p:cNvSpPr/>
          <p:nvPr/>
        </p:nvSpPr>
        <p:spPr>
          <a:xfrm>
            <a:off x="848469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7" name="Text 3"/>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RV32 processor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register of the general model has no counterpart in RISC-V?</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counter</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status register with the flags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pointer</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instruction register</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RISC-V, which instructions can read or write the main memory?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all of them</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 and sub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loads and stores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only jumps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After addi sp, sp, -4 and sw t0, 0(sp), what has happened?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popped from the stack</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t0 was pushed on the stack</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stack was emptied</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 was saved in t0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accumulator machine, the instruction ADD y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y + accumulator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accumulator := accumulator + [y]</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push y, then add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y := accumulator</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accumulatore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program counter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contatore di programma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 pointer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puntatore allo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machine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macchina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status register, flags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di stato, indicatori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general / special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generico / speciale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supervisor / user 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stato supervisore / utente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privileged instruction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istruzione privilegiata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processor commands and controls, relying on the memory and on the input/output systems</a:t>
            </a:r>
            <a:endParaRPr lang="en-US" sz="2000" dirty="0"/>
          </a:p>
        </p:txBody>
      </p:sp>
      <p:sp>
        <p:nvSpPr>
          <p:cNvPr id="5" name="Shape 3"/>
          <p:cNvSpPr/>
          <p:nvPr/>
        </p:nvSpPr>
        <p:spPr>
          <a:xfrm>
            <a:off x="548640" y="22792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8831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Registers are storage locations that may be physically inside or outside the processor</a:t>
            </a:r>
            <a:endParaRPr lang="en-US" sz="2000" dirty="0"/>
          </a:p>
        </p:txBody>
      </p:sp>
      <p:sp>
        <p:nvSpPr>
          <p:cNvPr id="7" name="Shape 5"/>
          <p:cNvSpPr/>
          <p:nvPr/>
        </p:nvSpPr>
        <p:spPr>
          <a:xfrm>
            <a:off x="548640" y="305023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5930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kinds of registers and the way they are used determine the model of processor: accumulator, stack, general registers</a:t>
            </a:r>
            <a:endParaRPr lang="en-US" sz="2000" dirty="0"/>
          </a:p>
        </p:txBody>
      </p:sp>
      <p:sp>
        <p:nvSpPr>
          <p:cNvPr id="9" name="Shape 7"/>
          <p:cNvSpPr/>
          <p:nvPr/>
        </p:nvSpPr>
        <p:spPr>
          <a:xfrm>
            <a:off x="548640" y="382122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73029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ALU carries out the operations between operands</a:t>
            </a:r>
            <a:endParaRPr lang="en-US" sz="2000" dirty="0"/>
          </a:p>
        </p:txBody>
      </p:sp>
      <p:sp>
        <p:nvSpPr>
          <p:cNvPr id="11" name="Shape 9"/>
          <p:cNvSpPr/>
          <p:nvPr/>
        </p:nvSpPr>
        <p:spPr>
          <a:xfrm>
            <a:off x="548640" y="428233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91406"/>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RISC-V is a load-store, general-register processor with no flags and no I/O instructions: few elements, each one simple</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Reading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 chapters 2 and 4</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RISC-V Instruction Set Manual, volume I: Unprivileged Architecture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Stallings: Computer Organization and Architecture, chapters on processor structure and function</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The Processor</dc:title>
  <dc:subject>Lecture 18</dc:subject>
  <dc:creator>Raffaele Montella</dc:creator>
  <cp:lastModifiedBy>Raffaele Montella</cp:lastModifiedBy>
  <cp:revision>1</cp:revision>
  <dcterms:created xsi:type="dcterms:W3CDTF">2026-10-16T15:51:38Z</dcterms:created>
  <dcterms:modified xsi:type="dcterms:W3CDTF">2026-10-16T15:51:38Z</dcterms:modified>
</cp:coreProperties>
</file>