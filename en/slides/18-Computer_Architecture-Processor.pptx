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Lst>
  <p:notesMasterIdLst>
    <p:notesMasterId r:id="rId38"/>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724391d-a187-ab34-d64e-e18261ec5404}">
          <p14:sldIdLst>
            <p14:sldId id="256"/>
            <p14:sldId id="257"/>
          </p14:sldIdLst>
        </p14:section>
        <p14:section name="Warm-up on the machine" id="{c97ca99f-5093-d6ea-d170-c0aaf9cf8b72}">
          <p14:sldIdLst>
            <p14:sldId id="258"/>
            <p14:sldId id="259"/>
          </p14:sldIdLst>
        </p14:section>
        <p14:section name="The processor" id="{d2ac9cbb-d532-2e3b-a322-f3c6cc0e16e1}">
          <p14:sldIdLst>
            <p14:sldId id="260"/>
            <p14:sldId id="261"/>
            <p14:sldId id="262"/>
            <p14:sldId id="263"/>
            <p14:sldId id="264"/>
            <p14:sldId id="265"/>
            <p14:sldId id="266"/>
            <p14:sldId id="267"/>
          </p14:sldIdLst>
        </p14:section>
        <p14:section name="Registers" id="{a01da5fd-8349-e13c-4feb-926393efb7c9}">
          <p14:sldIdLst>
            <p14:sldId id="268"/>
            <p14:sldId id="269"/>
            <p14:sldId id="270"/>
            <p14:sldId id="271"/>
            <p14:sldId id="272"/>
            <p14:sldId id="273"/>
          </p14:sldIdLst>
        </p14:section>
        <p14:section name="The stack" id="{049630b2-8663-bb07-a907-5e85e00e256b}">
          <p14:sldIdLst>
            <p14:sldId id="274"/>
            <p14:sldId id="275"/>
            <p14:sldId id="276"/>
          </p14:sldIdLst>
        </p14:section>
        <p14:section name="Processor models" id="{837fb0d9-eb86-dd27-77cb-d7e908b1ed77}">
          <p14:sldIdLst>
            <p14:sldId id="277"/>
            <p14:sldId id="278"/>
            <p14:sldId id="279"/>
            <p14:sldId id="280"/>
          </p14:sldIdLst>
        </p14:section>
        <p14:section name="The ALU and the whole picture" id="{8d452de5-be8e-ca91-7bfd-319ff6e26b32}">
          <p14:sldIdLst>
            <p14:sldId id="281"/>
            <p14:sldId id="282"/>
            <p14:sldId id="283"/>
            <p14:sldId id="284"/>
            <p14:sldId id="285"/>
            <p14:sldId id="286"/>
            <p14:sldId id="287"/>
            <p14:sldId id="288"/>
            <p14:sldId id="289"/>
            <p14:sldId id="290"/>
            <p14:sldId id="29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notesMaster" Target="notesMasters/notesMaster1.xml"/><Relationship Id="rId39" Type="http://schemas.openxmlformats.org/officeDocument/2006/relationships/presProps" Target="presProps.xml"/><Relationship Id="rId40" Type="http://schemas.openxmlformats.org/officeDocument/2006/relationships/viewProps" Target="viewProps.xml"/><Relationship Id="rId41" Type="http://schemas.openxmlformats.org/officeDocument/2006/relationships/theme" Target="theme/theme1.xml"/><Relationship Id="rId4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block of the course opens the machine that has been running your programs. This lecture presents the processor twice: first as a general model, valid for every processor, with its control unit, registers, stack and arithmetic unit; then as RISC-V, the processor you have programmed since the first days. Each abstract element of the model already has, for you, a familiar name. The ring of the quotation is the processor itself: the one component that commands all the others.
For the lecturer: The original deck presented a general processor model and ended with the architecture of the Motorola MC68000. Here the general model is kept and RISC-V (RV32IMAC, as on the ESP32-C6 of the PRG32 kit) is the reference: the students have programmed it since the first days, so every abstract element has a name they already know.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objectives. Name the components of a processor. Distinguish internal registers from machine registers, and general registers from special ones. Explain how a stack works and how RISC-V implements push and pop. Compare three models of processor, accumulator, stack and general registers, on the same computation. Describe RISC-V as a load-store, general-register processor and read the name RV32IMAC. And map every element of the model onto the processor of the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warm-up takes one line of a high-level language, a sum of two variables, and writes it in RISC-V. Count the instructions, and notice which ones touch memory.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compute z = x + y the program loads x into a register, loads y into another, adds the two registers into a third, and stores the result in z. Seven lines for one sum. Memory is touched only by lw and sw; the arithmetic happens only between registers. Other processors do the same job with three instructions, or with one. Why is RISC-V made like this? To answer we need a model of what a processor is, and then a comparison between different ways of building one.
For the lecturer: The load-modify-store cycle of Lecture 02, now seen as a design choice. Keep the three addresses in mind: the same computation returns in the comparison of the processor models.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the anatomy: what a processor is made of, in general, and what corresponds to each part in RISC-V.</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reminder and a definition. A computer has three subsystems, processor, main memory and input/output, connected by buses. The processor can execute only a fixed set of instructions, from a few tens to a few hundred, and machine language is the set of strings of bits that encode them. Instructions request two kinds of things: transfers of information and arithmetic or logic operations. Both programs and data are in the main memory.
For the lecturer: RV32I, the base of RISC-V, has about forty instructions; with the M, A and C extensions of the kit, about a hundred encodings. The Motorola 68000 had fifty-six instruction types with many variants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reference model. The control unit contains the program counter, which holds the address of the next instruction, a decoding register, which holds the instruction being executed, and the network that issues the commands. The machine registers R0 to Rn-1 are those the programmer uses. The arithmetic logic unit has two operand registers and a result register. Two pairs of registers link the processor to the outside: MA and MB towards memory, RI and RU towards input and output. An internal bus connects everything.
For the lecturer: Modello di riferimento. Although based on the same logical scheme, and so made of rather similar components, the processors on the market can be very different from one another.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element of the model, and what it is in RISC-V. The program counter is pc. The machine registers are x0 to x31, with the names you know. The registers of the ALU and those towards memory exist in the hardware but are invisible to the programmer. Two rows say "absent", and they are deliberate choices: there are no registers for input and output, because devices are memory-mapped, and there is no status register with flags. The special registers are the CSRs, reserved for privileged software.
For the lecturer: The two 'absent' rows are deliberate simplifications of RISC-V, explained later in this lecture and in Lecture 15. The MC68000 of the original deck had all the elements of the model: eight data and eight address registers, a status register with condition codes, and separate interrupt circuitry.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classes of registers. Internal registers are necessary for the processor to work but are not visible to the programmer: the program counter, the registers towards memory, those of the ALU. Machine registers define the programming model: they are the ones named in instructions. The processor handles three kinds of information, instructions, addresses and data, and each could have its own size. In RV32 all three are 32 bits wide, which makes the machine very regular.
For the lecturer: Tipi di dato del processore. The '32' of RV32 is the width of the registers; RV64 has 64-bit registers and addresses and the same 32-bit instructions.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Real processors differ from the model in several ways: more or fewer general registers, registers that are really memory locations, an input/output section that is missing and delegated to other chips, a simple arithmetic unit extended by dedicated chips. The right column says how RISC-V on the kit resolves each point: thirty-two registers in a bank, no I/O section, optional extensions instead of extra chips. The M extension adds multiplication and division; the floating-point extension is absent on the kit.
For the lecturer: Il modello di processore. Historic example of a dedicated arithmetic chip: the 68881 floating-point coprocessor for the 68000 family, the 8087 for the 8086.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long is a machine word? In word processors all instructions have the same length, sized on the longest piece of information: RISC-V instructions are all 32 bits, or 16 in the compressed form. In character processors the length varies in multiples of a byte: x86 instructions go from 1 to 15 bytes. A fixed length wastes some space but makes decoding simple, which matters for speed.
For the lecturer: Processore a voce o a caratteri. A characteristic parameter of a processor is the number of bits of its registers: the parallelism of internal transfers, 8, 16, 32 or 64 bits.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processor has at least two states of operation. In supervisor state it runs the operating system and may execute every instruction. In user state it runs an ordinary program and may execute everything except the privileged instructions, those that could compromise the system. RISC-V calls them modes: machine mode, the most privileged and the only mandatory one, supervisor mode and user mode. The chip of the kit has machine and user. Passing from one to the other happens through the traps of the next lecture.
For the lecturer: Stato utente o stato supervisore. RISC-V defines three privilege modes: M, the most privileged and the only mandatory one, runs firmware; S runs the kernel of an operating system such as Linux; U runs applications. The ESP32-C6 implements M and U. Changing mode happens through traps (Lecture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Registers deserve a closer look: how they are organised, what they are used for, which ones RISC-V has, and what replaces the flags that RISC-V does not have.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Registers can be specialised or general. Specialised registers need different instructions for the same operation on different banks; general registers give more flexibility. They can be organised as a small addressable memory, a bank in which register number i is selected, or as separate registers with their own names. RISC-V chooses a single bank of thirty-two registers, each selected by five bits inside the instruction. The names t0, a0, sp are only conventions.
For the lecturer: Tipologia dei registri. Special registers are used exclusively by the operating system: addressing aids, interrupt registers, memory limits. General addressable registers were, in some processors, the first locations of memory: the 'page zero' of the 6502.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functions of registers. Transit: carrying data between memory and registers. Accumulation: holding the operands and the results of arithmetic. Addressing: holding an address or part of one, as base and index registers do. Stack pointer: indicating the top of a stack in memory. Flags: single bits that record events such as zero, sign, overflow and carry, to condition later instructions. In RISC-V the general registers serve the first four functions; the fifth does not exist as a register.
For the lecturer: Funzione dei registri. In RISC-V the first four functions are all served by the general registers; the fifth does not exist as a register.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complete table of the registers of RISC-V, with numbers, names and roles. You have used most of them: zero, ra, sp, the temporaries t0 to t6, the arguments a0 to a7, the saved registers s0 to s11. Two are new: gp and tp, used by compilers and operating systems. The hardware treats x1 to x31 identically; only x0 is special. The roles come from the calling convention. The program counter is not in the bank.
For the lecturer: The hardware treats x1 to x31 identically; only x0 is special. The roles come from the calling convention (Lecture 02). The MC68000 instead separated data registers D0-D7 from address registers A0-A7, with A7 as stack pointer.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Many processors have a status register whose bits, the flags, record the outcome of the last operation: zero, negative, overflow, carry. An instruction sets them, and a later conditional branch tests them. RISC-V has none. A branch compares two registers and jumps, all in one instruction; slt writes the result of a comparison in an ordinary register; carry and overflow are computed when needed, as in Lecture 05. Less hidden state means a simpler processor and simpler interrupts.
For the lecturer: Registro di stato. The original deck listed Z, N, P (positive), V, C and a parity bit.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special registers of RISC-V are the control and status registers, CSRs: a separate bank, read and written only by privileged code with dedicated instructions. Five are worth knowing by name: mstatus, with the global interrupt enable; mtvec, the address of the routine that handles traps; mepc, the address of the interrupted instruction; mcause, the reason for the trap; and the pair mie and mip, with one bit per source of interrupt. The next lecture uses them all.
For the lecturer: Control and status registers: a separate bank of up to 4,096 registers, read and written only with the instructions csrrw, csrrs and csrrc, and only by privileged code. They are the 'registers of the interrupts' of the general model, and the subject of Lecture 19.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stack is the data structure that makes subprograms and interrupts possible. You have used it since Lecture 02; here it is defined and compared across processors.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stack has two operations: push stores an element on top of the pile, pop removes the element on top. It always works on the top, so there is no need to say where: last in, first out. It is used to set aside the contents of registers that must be freed for a task and to restore them afterwards. It is implemented with a pointer that indicates the last element. Careful programs check for overflow on a push and for an empty stack on a pop.
For the lecturer: LIFO, last in, first out. You have used it since Lecture 02 to save 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RISC-V the stack pointer sp holds the address of the last occupied location, and the stack grows towards low addresses. A push is two instructions: subtract 4 from sp, then store on the new top. A pop is the reverse: load from the top, then add 4. The table compares three processors: RISC-V needs two instructions, the 68000 one instruction with a special addressing mode, x86 a dedicated instruction. In practice a RISC-V function allocates its whole frame once, as you have done since Lecture 02.
For the lecturer: The values are those drawn in the original deck. RISC-V has no push and pop: a stack frame is allocated once per function, sixteen bytes at a time, and filled with ordinary stores (Lecture 02). The 68000 form MOVE (SP)+, D0 pops with a post-increment.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Where do the operands of an operation live? The answer distinguishes the great families of processors, and explains the seven lines of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architectures. With general registers the processor has a set of interchangeable registers. With an accumulator, arithmetic instructions have an implicit operand, one special register. In a stack machine there are neither, only a stack pointer, and instructions work on the top of the stack. An orthogonal architecture has a single bank of general registers, some of which also serve as stack pointer or in other special roles. RISC-V is of this last kind.
For the lecturer: Modello a registri generici, ad accumulatore, a stack; architetture ortogonali. The original definition of orthogonal mentions a status register too; RISC-V is orthogonal and has not even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sum of the warm-up in four machines. The accumulator machine: load x, add y, store z. The stack machine: push x, push y, add, pop z. A register machine with memory operands: move x into a register, add y to it, move the register into z. RISC-V: two loads, an add between registers, a store. The memory accesses are three in every case. What changes is the number of instructions and how much each one does: in RISC-V each does one thing only.
For the lecturer: The same three accesses to memory everywhere: what changes is how many instructions there are and how complex each one is. In the register-memory model an instruction such as ADD y, D0 reads memory and computes; in the load-store model every instruction does one thing. Stack machines with the stack in memory are generally slower than general-register machines. lw t1, x is a shorthand the assembler accepts for the la and lw pair of the warm-up.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RISC-V is a load-store processor with general registers. Only loads and stores touch memory; every other instruction works from register to register, which is faster. Instructions have three operands, two sources and a destination, so that no value is destroyed unless you want it to be. Each instruction does one simple thing and has a fixed size, which makes it easy to decode and to execute in a pipeline. This is what RISC means. The seven lines of the warm-up are the price, and the simplicity of each line is the gain.
For the lecturer: Register-to-register: [REGX] + [REGY] gives [REGZ]. The memory-to-register and register-to-memory forms of the original deck exist in CISC processors and are exactly what RISC gives up.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last part puts the pieces together: the arithmetic unit seen from the processor, the block diagram of an RV32 processor, and the numbers of the chip of the kit.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ALU carries out the arithmetic and logic operations between operands: it is the combinational machine of Lecture 11, with two inputs and one output. In simple architectures it is entirely inside the processor; in complex ones the most sophisticated operations are delegated to separate units. In RISC-V these units are the extensions: M for multiplication and division, F and D for floating point.
For the lecturer: The ALU of Lecture 11, seen from the processor. In RISC-V the 'independent apparatus' are the extensions: M for multiplication and division, F and D for floating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block diagram of an RV32 processor, from left to right. The PC gives the address of the instruction. The instruction is fetched from memory. The decoder separates its fields and the control unit issues the commands. The register file provides the operands. The ALU computes, or forms an address. The data memory is read or written by loads and stores. Two paths go back: the result returns to the register named by rd, and the next value of the PC is PC plus 4 or the target of a branch. Every instruction you write travels along this path.
For the lecturer: The classic single-cycle RISC-V datapath of Patterson and Hennessy, reduced to its blocks; instruction memory and data memory are the same address space, drawn twice for clarity. It replaces the slide 'Architettura del processore MC68000'.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processor of the kit, in numbers: instruction set RV32IMAC; one main core at up to 160 MHz with a four-stage pipeline, and a second low-power core; machine and user modes; no floating point; 512 KB of SRAM, 320 KB of ROM and an external flash; radios and peripherals on the same chip. A complete computer in a few square millimetres, for about two euros: processor, memory and input/output are all there, as in the model.
For the lecturer: From the Espressif ESP32-C6 datasheet. A complete computer on a chip of a few square millimetres that costs about two euros: processor, memory and input/output are all there, as in the model of the first slides.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back to the table that puts the model beside RISC-V and look for the rows marked "absent". One of them is among the options.
For the lecturer: Answer: B. RISC-V has no condition codes: branches compare registers directly.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Remember the warm-up: which instructions touched memory, and which only registers? That is the definition of a load-store architecture.
For the lecturer: Answer: C. It is a load-store architecture: lw, lh, lb, sw, sh, sb and their unsigned forms.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Follow the two instructions: the pointer moves down by one word, then a value is stored at the address it now holds. A value has been added on top of the stack.
For the lecturer: Answer: B. The pointer moves down by one word and the value is stored on the new top: a push.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an accumulator machine the accumulator is the implicit operand: it is one of the two addends and it receives the result. The operand written in the instruction is only read.
For the lecturer: Answer: B. The accumulator is the implicit operand and the destination.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exercises. Write the expression z = (a + b) - (c + d) for an accumulator machine, a stack machine and RISC-V, counting instructions and memory accesses. Write push and pop of two registers keeping sp a multiple of 16. Classify the registers of your last program by function. Single-step a call and its return in PRG32-QT, watching pc, ra and sp. And look up the processor of your phone or laptop.
For the lecturer: Accumulator: LDA a; ADD b; STA tmp; LDA c; ADD d; STA tmp2; LDA tmp; SUB tmp2; STA z. Stack: PUSH a; PUSH b; ADD; PUSH c; PUSH d; ADD; SUB; POP z. RISC-V: four loads, two adds, one sub, one store.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terms. The control unit is the unità di controllo. A machine register is one visible to the programmer. Flags are also called indicatori in Italian. Supervisor and user state are the two levels of privilege. A privileged instruction can be executed only in supervisor state.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conclusions. The processor commands and controls, relying on memory and on input/output. Registers are storage locations, inside or outside the processor. The kinds of registers and their use determine the model: accumulator, stack, general registers. The ALU carries out the operations. And RISC-V is a load-store processor with general registers, no flags and no I/O instructions: few elements, each one simple. The next lecture follows an instruction through its whole life.
For the lecturer: Next lecture: instructions and interrupts.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419088"/>
            <a:ext cx="9601200" cy="274320"/>
          </a:xfrm>
          <a:prstGeom prst="rect">
            <a:avLst/>
          </a:prstGeom>
          <a:noFill/>
          <a:ln/>
        </p:spPr>
        <p:txBody>
          <a:bodyPr wrap="square" lIns="0" tIns="0" rIns="0" bIns="0" rtlCol="0" anchor="ctr"/>
          <a:lstStyle/>
          <a:p>
            <a:pPr indent="0" marL="0">
              <a:buNone/>
            </a:pPr>
            <a:r>
              <a:rPr lang="en-US" sz="1000" dirty="0">
                <a:solidFill>
                  <a:srgbClr val="5B6B78"/>
                </a:solidFill>
                <a:latin typeface="Calibri" pitchFamily="34" charset="0"/>
                <a:ea typeface="Calibri" pitchFamily="34" charset="-122"/>
                <a:cs typeface="Calibri" pitchFamily="34" charset="-120"/>
              </a:rPr>
              <a:t>ARC12 Computer Architecture  |  Lecture 18: The processor  |  A.Y. 2026/27</a:t>
            </a:r>
            <a:endParaRPr lang="en-US" sz="1000" dirty="0"/>
          </a:p>
        </p:txBody>
      </p:sp>
      <p:sp>
        <p:nvSpPr>
          <p:cNvPr id="3" name="Text 1"/>
          <p:cNvSpPr/>
          <p:nvPr>
            <p:ph idx="101" type="title" hasCustomPrompt="1"/>
          </p:nvPr>
        </p:nvSpPr>
        <p:spPr>
          <a:xfrm>
            <a:off x="548640" y="365760"/>
            <a:ext cx="11094415" cy="868680"/>
          </a:xfrm>
          <a:prstGeom prst="rect">
            <a:avLst/>
          </a:prstGeom>
          <a:noFill/>
          <a:ln/>
        </p:spPr>
        <p:txBody>
          <a:bodyPr wrap="square" rtlCol="0"/>
          <a:lstStyle>
            <a:lvl1pPr algn="l" indent="0" marL="0">
              <a:buNone/>
              <a:defRPr lang="en-US" sz="3200" b="1" dirty="0">
                <a:solidFill>
                  <a:srgbClr val="2E4A62"/>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1B2530"/>
        </a:solidFill>
      </p:bgPr>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548640" y="640080"/>
            <a:ext cx="201900" cy="201900"/>
          </a:xfrm>
          <a:prstGeom prst="rect">
            <a:avLst/>
          </a:prstGeom>
          <a:solidFill>
            <a:srgbClr val="0E7C86"/>
          </a:solidFill>
          <a:ln w="12700">
            <a:solidFill>
              <a:srgbClr val="0E7C86"/>
            </a:solidFill>
            <a:prstDash val="solid"/>
          </a:ln>
        </p:spPr>
      </p:sp>
      <p:sp>
        <p:nvSpPr>
          <p:cNvPr id="3" name="Shape 1"/>
          <p:cNvSpPr/>
          <p:nvPr/>
        </p:nvSpPr>
        <p:spPr>
          <a:xfrm>
            <a:off x="768096" y="640080"/>
            <a:ext cx="201900" cy="201900"/>
          </a:xfrm>
          <a:prstGeom prst="rect">
            <a:avLst/>
          </a:prstGeom>
          <a:solidFill>
            <a:srgbClr val="C7791B"/>
          </a:solidFill>
          <a:ln w="12700">
            <a:solidFill>
              <a:srgbClr val="C7791B"/>
            </a:solidFill>
            <a:prstDash val="solid"/>
          </a:ln>
        </p:spPr>
      </p:sp>
      <p:sp>
        <p:nvSpPr>
          <p:cNvPr id="4" name="Shape 2"/>
          <p:cNvSpPr/>
          <p:nvPr/>
        </p:nvSpPr>
        <p:spPr>
          <a:xfrm>
            <a:off x="768096" y="859536"/>
            <a:ext cx="201900" cy="201900"/>
          </a:xfrm>
          <a:prstGeom prst="rect">
            <a:avLst/>
          </a:prstGeom>
          <a:solidFill>
            <a:srgbClr val="0E7C86"/>
          </a:solidFill>
          <a:ln w="12700">
            <a:solidFill>
              <a:srgbClr val="0E7C86"/>
            </a:solidFill>
            <a:prstDash val="solid"/>
          </a:ln>
        </p:spPr>
      </p:sp>
      <p:sp>
        <p:nvSpPr>
          <p:cNvPr id="5" name="Shape 3"/>
          <p:cNvSpPr/>
          <p:nvPr/>
        </p:nvSpPr>
        <p:spPr>
          <a:xfrm>
            <a:off x="987552" y="859536"/>
            <a:ext cx="201900" cy="201900"/>
          </a:xfrm>
          <a:prstGeom prst="rect">
            <a:avLst/>
          </a:prstGeom>
          <a:solidFill>
            <a:srgbClr val="C7791B"/>
          </a:solidFill>
          <a:ln w="12700">
            <a:solidFill>
              <a:srgbClr val="C7791B"/>
            </a:solidFill>
            <a:prstDash val="solid"/>
          </a:ln>
        </p:spPr>
      </p:sp>
      <p:sp>
        <p:nvSpPr>
          <p:cNvPr id="6" name="Shape 4"/>
          <p:cNvSpPr/>
          <p:nvPr/>
        </p:nvSpPr>
        <p:spPr>
          <a:xfrm>
            <a:off x="548640" y="1078992"/>
            <a:ext cx="201900" cy="201900"/>
          </a:xfrm>
          <a:prstGeom prst="rect">
            <a:avLst/>
          </a:prstGeom>
          <a:solidFill>
            <a:srgbClr val="0E7C86"/>
          </a:solidFill>
          <a:ln w="12700">
            <a:solidFill>
              <a:srgbClr val="0E7C86"/>
            </a:solidFill>
            <a:prstDash val="solid"/>
          </a:ln>
        </p:spPr>
      </p:sp>
      <p:sp>
        <p:nvSpPr>
          <p:cNvPr id="7" name="Text 5"/>
          <p:cNvSpPr txBox="1"/>
          <p:nvPr/>
        </p:nvSpPr>
        <p:spPr>
          <a:xfrm>
            <a:off x="548640" y="1600200"/>
            <a:ext cx="11094415" cy="365760"/>
          </a:xfrm>
          <a:prstGeom prst="rect">
            <a:avLst/>
          </a:prstGeom>
          <a:noFill/>
          <a:ln/>
        </p:spPr>
        <p:txBody>
          <a:bodyPr wrap="square" lIns="0" tIns="0" rIns="0" bIns="0" rtlCol="0" anchor="t"/>
          <a:lstStyle/>
          <a:p>
            <a:pPr indent="0" marL="0">
              <a:buNone/>
            </a:pPr>
            <a:r>
              <a:rPr lang="en-US" sz="1600" b="1" spc="300" kern="0" dirty="0">
                <a:solidFill>
                  <a:srgbClr val="C7791B"/>
                </a:solidFill>
                <a:latin typeface="Calibri" pitchFamily="34" charset="0"/>
                <a:ea typeface="Calibri" pitchFamily="34" charset="-122"/>
                <a:cs typeface="Calibri" pitchFamily="34" charset="-120"/>
              </a:rPr>
              <a:t>ARC12 COMPUTER ARCHITECTURE  ·  LECTURE 18</a:t>
            </a:r>
            <a:endParaRPr lang="en-US" sz="1600" dirty="0"/>
          </a:p>
        </p:txBody>
      </p:sp>
      <p:sp>
        <p:nvSpPr>
          <p:cNvPr id="8" name="Text 6"/>
          <p:cNvSpPr txBox="1"/>
          <p:nvPr/>
        </p:nvSpPr>
        <p:spPr>
          <a:xfrm>
            <a:off x="548640" y="2011680"/>
            <a:ext cx="9722815" cy="1554480"/>
          </a:xfrm>
          <a:prstGeom prst="rect">
            <a:avLst/>
          </a:prstGeom>
          <a:noFill/>
          <a:ln/>
        </p:spPr>
        <p:txBody>
          <a:bodyPr wrap="square" lIns="0" tIns="0" rIns="0" bIns="0" rtlCol="0" anchor="ctr"/>
          <a:lstStyle/>
          <a:p>
            <a:pPr indent="0" marL="0">
              <a:buNone/>
            </a:pPr>
            <a:r>
              <a:rPr lang="en-US" sz="4800" b="1" dirty="0">
                <a:solidFill>
                  <a:srgbClr val="FFFFFF"/>
                </a:solidFill>
                <a:latin typeface="Cambria" pitchFamily="34" charset="0"/>
                <a:ea typeface="Cambria" pitchFamily="34" charset="-122"/>
                <a:cs typeface="Cambria" pitchFamily="34" charset="-120"/>
              </a:rPr>
              <a:t>The Processor</a:t>
            </a:r>
            <a:endParaRPr lang="en-US" sz="4800" dirty="0"/>
          </a:p>
        </p:txBody>
      </p:sp>
      <p:sp>
        <p:nvSpPr>
          <p:cNvPr id="9" name="Text 7"/>
          <p:cNvSpPr txBox="1"/>
          <p:nvPr/>
        </p:nvSpPr>
        <p:spPr>
          <a:xfrm>
            <a:off x="548640" y="3611880"/>
            <a:ext cx="9722815" cy="548640"/>
          </a:xfrm>
          <a:prstGeom prst="rect">
            <a:avLst/>
          </a:prstGeom>
          <a:noFill/>
          <a:ln/>
        </p:spPr>
        <p:txBody>
          <a:bodyPr wrap="square" lIns="0" tIns="0" rIns="0" bIns="0" rtlCol="0" anchor="ctr"/>
          <a:lstStyle/>
          <a:p>
            <a:pPr indent="0" marL="0">
              <a:buNone/>
            </a:pPr>
            <a:r>
              <a:rPr lang="en-US" sz="1700" dirty="0">
                <a:solidFill>
                  <a:srgbClr val="CFE3EA"/>
                </a:solidFill>
                <a:latin typeface="Calibri" pitchFamily="34" charset="0"/>
                <a:ea typeface="Calibri" pitchFamily="34" charset="-122"/>
                <a:cs typeface="Calibri" pitchFamily="34" charset="-120"/>
              </a:rPr>
              <a:t>Control unit, registers, stack and ALU: the general model, and RISC-V as the reference processor</a:t>
            </a:r>
            <a:endParaRPr lang="en-US" sz="1700" dirty="0"/>
          </a:p>
        </p:txBody>
      </p:sp>
      <p:sp>
        <p:nvSpPr>
          <p:cNvPr id="10" name="Text 8"/>
          <p:cNvSpPr txBox="1"/>
          <p:nvPr/>
        </p:nvSpPr>
        <p:spPr>
          <a:xfrm>
            <a:off x="548640" y="4343400"/>
            <a:ext cx="8046720" cy="1097280"/>
          </a:xfrm>
          <a:prstGeom prst="rect">
            <a:avLst/>
          </a:prstGeom>
          <a:noFill/>
          <a:ln/>
        </p:spPr>
        <p:txBody>
          <a:bodyPr wrap="square" lIns="0" tIns="0" rIns="0" bIns="0" rtlCol="0" anchor="t"/>
          <a:lstStyle/>
          <a:p>
            <a:pPr indent="0" marL="0">
              <a:buNone/>
            </a:pPr>
            <a:r>
              <a:rPr lang="en-US" sz="1900" i="1" dirty="0">
                <a:solidFill>
                  <a:srgbClr val="FFFFFF"/>
                </a:solidFill>
                <a:latin typeface="Calibri" pitchFamily="34" charset="0"/>
                <a:ea typeface="Calibri" pitchFamily="34" charset="-122"/>
                <a:cs typeface="Calibri" pitchFamily="34" charset="-120"/>
              </a:rPr>
              <a:t>“One Ring to rule them all...”</a:t>
            </a:r>
            <a:endParaRPr lang="en-US" sz="1900" dirty="0"/>
          </a:p>
          <a:p>
            <a:pPr indent="0" marL="0">
              <a:buNone/>
            </a:pPr>
            <a:r>
              <a:rPr lang="en-US" sz="1200" dirty="0">
                <a:solidFill>
                  <a:srgbClr val="CFE3EA"/>
                </a:solidFill>
                <a:latin typeface="Calibri" pitchFamily="34" charset="0"/>
                <a:ea typeface="Calibri" pitchFamily="34" charset="-122"/>
                <a:cs typeface="Calibri" pitchFamily="34" charset="-120"/>
              </a:rPr>
              <a:t>J. R. R. Tolkien, The Lord of the Rings, 1954-1955</a:t>
            </a:r>
            <a:endParaRPr lang="en-US" sz="1900" dirty="0"/>
          </a:p>
        </p:txBody>
      </p:sp>
      <p:sp>
        <p:nvSpPr>
          <p:cNvPr id="11" name="Text 9"/>
          <p:cNvSpPr txBox="1"/>
          <p:nvPr/>
        </p:nvSpPr>
        <p:spPr>
          <a:xfrm>
            <a:off x="548640" y="5486400"/>
            <a:ext cx="8229600" cy="914400"/>
          </a:xfrm>
          <a:prstGeom prst="rect">
            <a:avLst/>
          </a:prstGeom>
          <a:noFill/>
          <a:ln/>
        </p:spPr>
        <p:txBody>
          <a:bodyPr wrap="square" lIns="0" tIns="0" rIns="0" bIns="0" rtlCol="0" anchor="t"/>
          <a:lstStyle/>
          <a:p>
            <a:pPr indent="0" marL="0">
              <a:buNone/>
            </a:pPr>
            <a:r>
              <a:rPr lang="en-US" sz="1700" b="1" dirty="0">
                <a:solidFill>
                  <a:srgbClr val="FFFFFF"/>
                </a:solidFill>
                <a:latin typeface="Calibri" pitchFamily="34" charset="0"/>
                <a:ea typeface="Calibri" pitchFamily="34" charset="-122"/>
                <a:cs typeface="Calibri" pitchFamily="34" charset="-120"/>
              </a:rPr>
              <a:t>Prof. Raffaele Montella, PhD</a:t>
            </a:r>
            <a:endParaRPr lang="en-US" sz="1700" dirty="0"/>
          </a:p>
          <a:p>
            <a:pPr indent="0" marL="0">
              <a:buNone/>
            </a:pPr>
            <a:r>
              <a:rPr lang="en-US" sz="1400" dirty="0">
                <a:solidFill>
                  <a:srgbClr val="CFE3EA"/>
                </a:solidFill>
                <a:latin typeface="Calibri" pitchFamily="34" charset="0"/>
                <a:ea typeface="Calibri" pitchFamily="34" charset="-122"/>
                <a:cs typeface="Calibri" pitchFamily="34" charset="-120"/>
              </a:rPr>
              <a:t>University of Naples “Parthenope”  ·  A.Y. 2026/27</a:t>
            </a:r>
            <a:endParaRPr lang="en-US" sz="1700" dirty="0"/>
          </a:p>
          <a:p>
            <a:pPr indent="0" marL="0">
              <a:buNone/>
            </a:pPr>
            <a:r>
              <a:rPr lang="en-US" sz="1300" dirty="0">
                <a:solidFill>
                  <a:srgbClr val="CFE3EA"/>
                </a:solidFill>
                <a:latin typeface="Calibri" pitchFamily="34" charset="0"/>
                <a:ea typeface="Calibri" pitchFamily="34" charset="-122"/>
                <a:cs typeface="Calibri" pitchFamily="34" charset="-120"/>
              </a:rPr>
              <a:t>raffaelemontella.it  ·  raffaele.montella@uniparthenope.it</a:t>
            </a:r>
            <a:endParaRPr lang="en-US" sz="1700" dirty="0"/>
          </a:p>
        </p:txBody>
      </p:sp>
      <p:sp>
        <p:nvSpPr>
          <p:cNvPr id="12" name="Shape 10"/>
          <p:cNvSpPr/>
          <p:nvPr/>
        </p:nvSpPr>
        <p:spPr>
          <a:xfrm>
            <a:off x="8625535" y="4160520"/>
            <a:ext cx="3017520" cy="2011680"/>
          </a:xfrm>
          <a:prstGeom prst="roundRect">
            <a:avLst>
              <a:gd name="adj" fmla="val 3636"/>
            </a:avLst>
          </a:prstGeom>
          <a:solidFill>
            <a:srgbClr val="000000"/>
          </a:solidFill>
          <a:ln w="12700">
            <a:solidFill>
              <a:srgbClr val="000000"/>
            </a:solidFill>
            <a:prstDash val="solid"/>
          </a:ln>
        </p:spPr>
      </p:sp>
      <p:pic>
        <p:nvPicPr>
          <p:cNvPr id="13" name="Image 0" descr="/Users/raffaelemontella/devel/riscv-prg32/computer-architecture-with-prg32/tools/assets/prg32qt_debugger.png">    </p:cNvPr>
          <p:cNvPicPr>
            <a:picLocks noChangeAspect="1"/>
          </p:cNvPicPr>
          <p:nvPr/>
        </p:nvPicPr>
        <p:blipFill>
          <a:blip r:embed="rId1"/>
          <a:stretch>
            <a:fillRect/>
          </a:stretch>
        </p:blipFill>
        <p:spPr>
          <a:xfrm>
            <a:off x="8810277" y="4251960"/>
            <a:ext cx="2648036" cy="1828800"/>
          </a:xfrm>
          <a:prstGeom prst="rect">
            <a:avLst/>
          </a:prstGeom>
        </p:spPr>
      </p:pic>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What you will be able to do by the end</a:t>
            </a:r>
            <a:endParaRPr lang="en-US" sz="3200" dirty="0"/>
          </a:p>
        </p:txBody>
      </p:sp>
      <p:sp>
        <p:nvSpPr>
          <p:cNvPr id="3" name="Text 1"/>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207008" y="141732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Name the components of a processor: control unit, ALU, registers, links to memory and to input/output</a:t>
            </a:r>
            <a:endParaRPr lang="en-US" sz="2200" dirty="0"/>
          </a:p>
        </p:txBody>
      </p:sp>
      <p:sp>
        <p:nvSpPr>
          <p:cNvPr id="5" name="Text 3"/>
          <p:cNvSpPr txBox="1"/>
          <p:nvPr/>
        </p:nvSpPr>
        <p:spPr>
          <a:xfrm>
            <a:off x="548640" y="234736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6" name="Text 4"/>
          <p:cNvSpPr txBox="1"/>
          <p:nvPr/>
        </p:nvSpPr>
        <p:spPr>
          <a:xfrm>
            <a:off x="1207008" y="2329078"/>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Distinguish internal registers from machine registers, and general registers from special ones</a:t>
            </a:r>
            <a:endParaRPr lang="en-US" sz="2200" dirty="0"/>
          </a:p>
        </p:txBody>
      </p:sp>
      <p:sp>
        <p:nvSpPr>
          <p:cNvPr id="7" name="Text 5"/>
          <p:cNvSpPr txBox="1"/>
          <p:nvPr/>
        </p:nvSpPr>
        <p:spPr>
          <a:xfrm>
            <a:off x="548640" y="325912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8" name="Text 6"/>
          <p:cNvSpPr txBox="1"/>
          <p:nvPr/>
        </p:nvSpPr>
        <p:spPr>
          <a:xfrm>
            <a:off x="1207008" y="3240837"/>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Explain how a stack works and how RISC-V implements push and pop</a:t>
            </a:r>
            <a:endParaRPr lang="en-US" sz="2200" dirty="0"/>
          </a:p>
        </p:txBody>
      </p:sp>
      <p:sp>
        <p:nvSpPr>
          <p:cNvPr id="9" name="Text 7"/>
          <p:cNvSpPr txBox="1"/>
          <p:nvPr/>
        </p:nvSpPr>
        <p:spPr>
          <a:xfrm>
            <a:off x="548640" y="392805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0" name="Text 8"/>
          <p:cNvSpPr txBox="1"/>
          <p:nvPr/>
        </p:nvSpPr>
        <p:spPr>
          <a:xfrm>
            <a:off x="1207008" y="3909771"/>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Compare the accumulator, stack and general-register models on the same computation</a:t>
            </a:r>
            <a:endParaRPr lang="en-US" sz="2200" dirty="0"/>
          </a:p>
        </p:txBody>
      </p:sp>
      <p:sp>
        <p:nvSpPr>
          <p:cNvPr id="11" name="Text 9"/>
          <p:cNvSpPr txBox="1"/>
          <p:nvPr/>
        </p:nvSpPr>
        <p:spPr>
          <a:xfrm>
            <a:off x="548640" y="483981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2" name="Text 10"/>
          <p:cNvSpPr txBox="1"/>
          <p:nvPr/>
        </p:nvSpPr>
        <p:spPr>
          <a:xfrm>
            <a:off x="1207008" y="4821530"/>
            <a:ext cx="1043604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Describe RISC-V as a load-store, general-register processor, and read the name RV32IMAC</a:t>
            </a:r>
            <a:endParaRPr lang="en-US" sz="2200" dirty="0"/>
          </a:p>
        </p:txBody>
      </p:sp>
      <p:sp>
        <p:nvSpPr>
          <p:cNvPr id="13" name="Text 11"/>
          <p:cNvSpPr txBox="1"/>
          <p:nvPr/>
        </p:nvSpPr>
        <p:spPr>
          <a:xfrm>
            <a:off x="548640" y="575157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6</a:t>
            </a:r>
            <a:endParaRPr lang="en-US" sz="1500" dirty="0"/>
          </a:p>
        </p:txBody>
      </p:sp>
      <p:sp>
        <p:nvSpPr>
          <p:cNvPr id="14" name="Text 12"/>
          <p:cNvSpPr txBox="1"/>
          <p:nvPr/>
        </p:nvSpPr>
        <p:spPr>
          <a:xfrm>
            <a:off x="1207008" y="5733288"/>
            <a:ext cx="10436047" cy="438912"/>
          </a:xfrm>
          <a:prstGeom prst="rect">
            <a:avLst/>
          </a:prstGeom>
          <a:noFill/>
          <a:ln/>
        </p:spPr>
        <p:txBody>
          <a:bodyPr wrap="square" lIns="0" tIns="0" rIns="0" bIns="0" rtlCol="0" anchor="ctr"/>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Map every element of the general model onto the processor of the PRG32 kit</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01</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Warm-up on the machine</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One line of a high-level language.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z = x + y</a:t>
            </a:r>
            <a:endParaRPr lang="en-US" sz="3200" dirty="0"/>
          </a:p>
        </p:txBody>
      </p:sp>
      <p:sp>
        <p:nvSpPr>
          <p:cNvPr id="3" name="Shape 1"/>
          <p:cNvSpPr/>
          <p:nvPr/>
        </p:nvSpPr>
        <p:spPr>
          <a:xfrm>
            <a:off x="548640" y="1417320"/>
            <a:ext cx="7406640" cy="4754880"/>
          </a:xfrm>
          <a:prstGeom prst="roundRect">
            <a:avLst>
              <a:gd name="adj" fmla="val 1538"/>
            </a:avLst>
          </a:prstGeom>
          <a:solidFill>
            <a:srgbClr val="12202B"/>
          </a:solidFill>
          <a:ln w="12700">
            <a:solidFill>
              <a:srgbClr val="12202B"/>
            </a:solidFill>
            <a:prstDash val="solid"/>
          </a:ln>
        </p:spPr>
      </p:sp>
      <p:sp>
        <p:nvSpPr>
          <p:cNvPr id="4" name="Text 2"/>
          <p:cNvSpPr txBox="1"/>
          <p:nvPr/>
        </p:nvSpPr>
        <p:spPr>
          <a:xfrm>
            <a:off x="777240" y="1600200"/>
            <a:ext cx="6949440" cy="4389120"/>
          </a:xfrm>
          <a:prstGeom prst="rect">
            <a:avLst/>
          </a:prstGeom>
          <a:noFill/>
          <a:ln/>
        </p:spPr>
        <p:txBody>
          <a:bodyPr wrap="square" lIns="0" tIns="0" rIns="0" bIns="0" rtlCol="0" anchor="t"/>
          <a:lstStyle/>
          <a:p>
            <a:pPr indent="0" marL="0">
              <a:buNone/>
            </a:pPr>
            <a:r>
              <a:rPr lang="en-US" sz="1550" dirty="0">
                <a:solidFill>
                  <a:srgbClr val="E6EDF2"/>
                </a:solidFill>
                <a:latin typeface="Courier New" pitchFamily="34" charset="0"/>
                <a:ea typeface="Courier New" pitchFamily="34" charset="-122"/>
                <a:cs typeface="Courier New" pitchFamily="34" charset="-120"/>
              </a:rPr>
              <a:t>    la   t0, x</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lw   t1, 0(t0)       </a:t>
            </a:r>
            <a:pPr indent="0" marL="0">
              <a:buNone/>
            </a:pPr>
            <a:r>
              <a:rPr lang="en-US" sz="1550" dirty="0">
                <a:solidFill>
                  <a:srgbClr val="8FB3A0"/>
                </a:solidFill>
                <a:latin typeface="Courier New" pitchFamily="34" charset="0"/>
                <a:ea typeface="Courier New" pitchFamily="34" charset="-122"/>
                <a:cs typeface="Courier New" pitchFamily="34" charset="-120"/>
              </a:rPr>
              <a:t># bring x into a register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la   t0, y</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lw   t2, 0(t0)       </a:t>
            </a:r>
            <a:pPr indent="0" marL="0">
              <a:buNone/>
            </a:pPr>
            <a:r>
              <a:rPr lang="en-US" sz="1550" dirty="0">
                <a:solidFill>
                  <a:srgbClr val="8FB3A0"/>
                </a:solidFill>
                <a:latin typeface="Courier New" pitchFamily="34" charset="0"/>
                <a:ea typeface="Courier New" pitchFamily="34" charset="-122"/>
                <a:cs typeface="Courier New" pitchFamily="34" charset="-120"/>
              </a:rPr>
              <a:t># bring y into a register</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add  t3, t1, t2      </a:t>
            </a:r>
            <a:pPr indent="0" marL="0">
              <a:buNone/>
            </a:pPr>
            <a:r>
              <a:rPr lang="en-US" sz="1550" dirty="0">
                <a:solidFill>
                  <a:srgbClr val="8FB3A0"/>
                </a:solidFill>
                <a:latin typeface="Courier New" pitchFamily="34" charset="0"/>
                <a:ea typeface="Courier New" pitchFamily="34" charset="-122"/>
                <a:cs typeface="Courier New" pitchFamily="34" charset="-120"/>
              </a:rPr>
              <a:t># compute, between registers</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la   t0, z</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sw   t3, 0(t0)       </a:t>
            </a:r>
            <a:pPr indent="0" marL="0">
              <a:buNone/>
            </a:pPr>
            <a:r>
              <a:rPr lang="en-US" sz="1550" dirty="0">
                <a:solidFill>
                  <a:srgbClr val="8FB3A0"/>
                </a:solidFill>
                <a:latin typeface="Courier New" pitchFamily="34" charset="0"/>
                <a:ea typeface="Courier New" pitchFamily="34" charset="-122"/>
                <a:cs typeface="Courier New" pitchFamily="34" charset="-120"/>
              </a:rPr>
              <a:t># take the result back to memory</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 </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.section .data</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x: .word 5</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y: .word 7</a:t>
            </a:r>
            <a:endParaRPr lang="en-US" sz="1550" dirty="0"/>
          </a:p>
          <a:p>
            <a:pPr indent="0" marL="0">
              <a:buNone/>
            </a:pPr>
            <a:r>
              <a:rPr lang="en-US" sz="1550" dirty="0">
                <a:solidFill>
                  <a:srgbClr val="E6EDF2"/>
                </a:solidFill>
                <a:latin typeface="Courier New" pitchFamily="34" charset="0"/>
                <a:ea typeface="Courier New" pitchFamily="34" charset="-122"/>
                <a:cs typeface="Courier New" pitchFamily="34" charset="-120"/>
              </a:rPr>
              <a:t>z: .word 0</a:t>
            </a:r>
            <a:endParaRPr lang="en-US" sz="1550" dirty="0"/>
          </a:p>
        </p:txBody>
      </p:sp>
      <p:sp>
        <p:nvSpPr>
          <p:cNvPr id="5" name="Shape 3"/>
          <p:cNvSpPr/>
          <p:nvPr/>
        </p:nvSpPr>
        <p:spPr>
          <a:xfrm>
            <a:off x="8229600" y="1417320"/>
            <a:ext cx="3413455" cy="1037844"/>
          </a:xfrm>
          <a:prstGeom prst="roundRect">
            <a:avLst>
              <a:gd name="adj" fmla="val 7048"/>
            </a:avLst>
          </a:prstGeom>
          <a:solidFill>
            <a:srgbClr val="EEF2F4"/>
          </a:solidFill>
          <a:ln w="12700">
            <a:solidFill>
              <a:srgbClr val="EEF2F4"/>
            </a:solidFill>
            <a:prstDash val="solid"/>
          </a:ln>
        </p:spPr>
      </p:sp>
      <p:sp>
        <p:nvSpPr>
          <p:cNvPr id="6" name="Text 4"/>
          <p:cNvSpPr txBox="1"/>
          <p:nvPr/>
        </p:nvSpPr>
        <p:spPr>
          <a:xfrm>
            <a:off x="8394192" y="1581912"/>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7" name="Text 5"/>
          <p:cNvSpPr txBox="1"/>
          <p:nvPr/>
        </p:nvSpPr>
        <p:spPr>
          <a:xfrm>
            <a:off x="8915400" y="1554480"/>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Seven lines for one sum: memory is touched only by lw and sw</a:t>
            </a:r>
            <a:endParaRPr lang="en-US" sz="1600" dirty="0"/>
          </a:p>
        </p:txBody>
      </p:sp>
      <p:sp>
        <p:nvSpPr>
          <p:cNvPr id="8" name="Shape 6"/>
          <p:cNvSpPr/>
          <p:nvPr/>
        </p:nvSpPr>
        <p:spPr>
          <a:xfrm>
            <a:off x="8229600" y="2656332"/>
            <a:ext cx="3413455" cy="1037844"/>
          </a:xfrm>
          <a:prstGeom prst="roundRect">
            <a:avLst>
              <a:gd name="adj" fmla="val 7048"/>
            </a:avLst>
          </a:prstGeom>
          <a:solidFill>
            <a:srgbClr val="EEF2F4"/>
          </a:solidFill>
          <a:ln w="12700">
            <a:solidFill>
              <a:srgbClr val="EEF2F4"/>
            </a:solidFill>
            <a:prstDash val="solid"/>
          </a:ln>
        </p:spPr>
      </p:sp>
      <p:sp>
        <p:nvSpPr>
          <p:cNvPr id="9" name="Text 7"/>
          <p:cNvSpPr txBox="1"/>
          <p:nvPr/>
        </p:nvSpPr>
        <p:spPr>
          <a:xfrm>
            <a:off x="8394192" y="2820924"/>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0" name="Text 8"/>
          <p:cNvSpPr txBox="1"/>
          <p:nvPr/>
        </p:nvSpPr>
        <p:spPr>
          <a:xfrm>
            <a:off x="8915400" y="2793492"/>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The arithmetic happens only between registers</a:t>
            </a:r>
            <a:endParaRPr lang="en-US" sz="1600" dirty="0"/>
          </a:p>
        </p:txBody>
      </p:sp>
      <p:sp>
        <p:nvSpPr>
          <p:cNvPr id="11" name="Shape 9"/>
          <p:cNvSpPr/>
          <p:nvPr/>
        </p:nvSpPr>
        <p:spPr>
          <a:xfrm>
            <a:off x="8229600" y="3895344"/>
            <a:ext cx="3413455" cy="1037844"/>
          </a:xfrm>
          <a:prstGeom prst="roundRect">
            <a:avLst>
              <a:gd name="adj" fmla="val 7048"/>
            </a:avLst>
          </a:prstGeom>
          <a:solidFill>
            <a:srgbClr val="EEF2F4"/>
          </a:solidFill>
          <a:ln w="12700">
            <a:solidFill>
              <a:srgbClr val="EEF2F4"/>
            </a:solidFill>
            <a:prstDash val="solid"/>
          </a:ln>
        </p:spPr>
      </p:sp>
      <p:sp>
        <p:nvSpPr>
          <p:cNvPr id="12" name="Text 10"/>
          <p:cNvSpPr txBox="1"/>
          <p:nvPr/>
        </p:nvSpPr>
        <p:spPr>
          <a:xfrm>
            <a:off x="8394192" y="4059936"/>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8915400" y="4032504"/>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Other processors do the same job with three instructions, or with one</a:t>
            </a:r>
            <a:endParaRPr lang="en-US" sz="1600" dirty="0"/>
          </a:p>
        </p:txBody>
      </p:sp>
      <p:sp>
        <p:nvSpPr>
          <p:cNvPr id="14" name="Shape 12"/>
          <p:cNvSpPr/>
          <p:nvPr/>
        </p:nvSpPr>
        <p:spPr>
          <a:xfrm>
            <a:off x="8229600" y="5134356"/>
            <a:ext cx="3413455" cy="1037844"/>
          </a:xfrm>
          <a:prstGeom prst="roundRect">
            <a:avLst>
              <a:gd name="adj" fmla="val 7048"/>
            </a:avLst>
          </a:prstGeom>
          <a:solidFill>
            <a:srgbClr val="EEF2F4"/>
          </a:solidFill>
          <a:ln w="12700">
            <a:solidFill>
              <a:srgbClr val="EEF2F4"/>
            </a:solidFill>
            <a:prstDash val="solid"/>
          </a:ln>
        </p:spPr>
      </p:sp>
      <p:sp>
        <p:nvSpPr>
          <p:cNvPr id="15" name="Text 13"/>
          <p:cNvSpPr txBox="1"/>
          <p:nvPr/>
        </p:nvSpPr>
        <p:spPr>
          <a:xfrm>
            <a:off x="8394192" y="5298948"/>
            <a:ext cx="365760" cy="365760"/>
          </a:xfrm>
          <a:prstGeom prst="roundRect">
            <a:avLst>
              <a:gd name="adj" fmla="val 20000"/>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6" name="Text 14"/>
          <p:cNvSpPr txBox="1"/>
          <p:nvPr/>
        </p:nvSpPr>
        <p:spPr>
          <a:xfrm>
            <a:off x="8915400" y="5271516"/>
            <a:ext cx="2544775" cy="763524"/>
          </a:xfrm>
          <a:prstGeom prst="rect">
            <a:avLst/>
          </a:prstGeom>
          <a:noFill/>
          <a:ln/>
        </p:spPr>
        <p:txBody>
          <a:bodyPr wrap="square" lIns="0" tIns="0" rIns="0" bIns="0" rtlCol="0" anchor="ctr"/>
          <a:lstStyle/>
          <a:p>
            <a:pPr indent="0" marL="0">
              <a:buNone/>
            </a:pPr>
            <a:r>
              <a:rPr lang="en-US" sz="1600" dirty="0">
                <a:solidFill>
                  <a:srgbClr val="1B2530"/>
                </a:solidFill>
                <a:latin typeface="Calibri" pitchFamily="34" charset="0"/>
                <a:ea typeface="Calibri" pitchFamily="34" charset="-122"/>
                <a:cs typeface="Calibri" pitchFamily="34" charset="-120"/>
              </a:rPr>
              <a:t>Why is RISC-V made this way? To answer we need a model of the processor</a:t>
            </a:r>
            <a:endParaRPr lang="en-US" sz="16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02</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processor</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What it is made of.</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computer and its processor</a:t>
            </a:r>
            <a:endParaRPr lang="en-US" sz="3200" dirty="0"/>
          </a:p>
        </p:txBody>
      </p:sp>
      <p:sp>
        <p:nvSpPr>
          <p:cNvPr id="3" name="Shape 1"/>
          <p:cNvSpPr/>
          <p:nvPr/>
        </p:nvSpPr>
        <p:spPr>
          <a:xfrm>
            <a:off x="548640" y="1500505"/>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An electronic computer is a numeric, automatic, stored-program system built with electronic circuits</a:t>
            </a:r>
            <a:endParaRPr lang="en-US" sz="1900" dirty="0"/>
          </a:p>
        </p:txBody>
      </p:sp>
      <p:sp>
        <p:nvSpPr>
          <p:cNvPr id="5" name="Shape 3"/>
          <p:cNvSpPr/>
          <p:nvPr/>
        </p:nvSpPr>
        <p:spPr>
          <a:xfrm>
            <a:off x="548640" y="222923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46046"/>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Three subsystems: processor (CPU), main memory, input/output, connected by buses</a:t>
            </a:r>
            <a:endParaRPr lang="en-US" sz="1900" dirty="0"/>
          </a:p>
        </p:txBody>
      </p:sp>
      <p:sp>
        <p:nvSpPr>
          <p:cNvPr id="7" name="Shape 5"/>
          <p:cNvSpPr/>
          <p:nvPr/>
        </p:nvSpPr>
        <p:spPr>
          <a:xfrm>
            <a:off x="548640" y="2957957"/>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874772"/>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The processor can execute only a set of instructions, from some tens to a few hundred, more or less complex</a:t>
            </a:r>
            <a:endParaRPr lang="en-US" sz="1900" dirty="0"/>
          </a:p>
        </p:txBody>
      </p:sp>
      <p:sp>
        <p:nvSpPr>
          <p:cNvPr id="9" name="Shape 7"/>
          <p:cNvSpPr/>
          <p:nvPr/>
        </p:nvSpPr>
        <p:spPr>
          <a:xfrm>
            <a:off x="548640" y="3686683"/>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60349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Machine language: the strings of bits that encode the instructions the circuits of a processor can execute</a:t>
            </a:r>
            <a:endParaRPr lang="en-US" sz="1900" dirty="0"/>
          </a:p>
        </p:txBody>
      </p:sp>
      <p:sp>
        <p:nvSpPr>
          <p:cNvPr id="11" name="Shape 9"/>
          <p:cNvSpPr/>
          <p:nvPr/>
        </p:nvSpPr>
        <p:spPr>
          <a:xfrm>
            <a:off x="548640" y="4415409"/>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332224"/>
            <a:ext cx="6565392" cy="1111250"/>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Instructions request</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transfers of information, inside the computer and to or from the I/O devices</a:t>
            </a:r>
            <a:endParaRPr lang="en-US" sz="1900" dirty="0"/>
          </a:p>
          <a:p>
            <a:pPr indent="0" marL="0">
              <a:spcAft>
                <a:spcPts val="200"/>
              </a:spcAft>
              <a:buNone/>
            </a:pPr>
            <a:r>
              <a:rPr lang="en-US" sz="1600" dirty="0">
                <a:solidFill>
                  <a:srgbClr val="5B6B78"/>
                </a:solidFill>
                <a:latin typeface="Calibri" pitchFamily="34" charset="0"/>
                <a:ea typeface="Calibri" pitchFamily="34" charset="-122"/>
                <a:cs typeface="Calibri" pitchFamily="34" charset="-120"/>
              </a:rPr>
              <a:t>– arithmetic and logic operations</a:t>
            </a:r>
            <a:endParaRPr lang="en-US" sz="1900" dirty="0"/>
          </a:p>
        </p:txBody>
      </p:sp>
      <p:sp>
        <p:nvSpPr>
          <p:cNvPr id="13" name="Shape 11"/>
          <p:cNvSpPr/>
          <p:nvPr/>
        </p:nvSpPr>
        <p:spPr>
          <a:xfrm>
            <a:off x="548640" y="5666613"/>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5583428"/>
            <a:ext cx="6565392"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Data and instructions of a program are stored in the main memory</a:t>
            </a:r>
            <a:endParaRPr lang="en-US" sz="1900" dirty="0"/>
          </a:p>
        </p:txBody>
      </p:sp>
      <p:sp>
        <p:nvSpPr>
          <p:cNvPr id="15" name="Shape 13"/>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6" name="Text 14"/>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CPU</a:t>
            </a:r>
            <a:endParaRPr lang="en-US" sz="6000" dirty="0"/>
          </a:p>
        </p:txBody>
      </p:sp>
      <p:sp>
        <p:nvSpPr>
          <p:cNvPr id="17" name="Text 15"/>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central processing unit: the one ring that rules memory and input/output</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processor: a reference model</a:t>
            </a:r>
            <a:endParaRPr lang="en-US" sz="3200" dirty="0"/>
          </a:p>
        </p:txBody>
      </p:sp>
      <p:sp>
        <p:nvSpPr>
          <p:cNvPr id="3" name="Shape 1"/>
          <p:cNvSpPr/>
          <p:nvPr/>
        </p:nvSpPr>
        <p:spPr>
          <a:xfrm>
            <a:off x="548640" y="1463040"/>
            <a:ext cx="6675120" cy="4251960"/>
          </a:xfrm>
          <a:prstGeom prst="roundRect">
            <a:avLst>
              <a:gd name="adj" fmla="val 1720"/>
            </a:avLst>
          </a:prstGeom>
          <a:solidFill>
            <a:srgbClr val="EEF2F4"/>
          </a:solidFill>
          <a:ln w="12700">
            <a:solidFill>
              <a:srgbClr val="EEF2F4"/>
            </a:solidFill>
            <a:prstDash val="solid"/>
          </a:ln>
        </p:spPr>
      </p:sp>
      <p:sp>
        <p:nvSpPr>
          <p:cNvPr id="4" name="Text 2"/>
          <p:cNvSpPr txBox="1"/>
          <p:nvPr/>
        </p:nvSpPr>
        <p:spPr>
          <a:xfrm>
            <a:off x="685800" y="1508760"/>
            <a:ext cx="914400" cy="274320"/>
          </a:xfrm>
          <a:prstGeom prst="rect">
            <a:avLst/>
          </a:prstGeom>
          <a:noFill/>
          <a:ln/>
        </p:spPr>
        <p:txBody>
          <a:bodyPr wrap="square" lIns="0" tIns="0" rIns="0" bIns="0" rtlCol="0" anchor="t"/>
          <a:lstStyle/>
          <a:p>
            <a:pPr indent="0" marL="0">
              <a:buNone/>
            </a:pPr>
            <a:r>
              <a:rPr lang="en-US" sz="1400" b="1" dirty="0">
                <a:solidFill>
                  <a:srgbClr val="2E4A62"/>
                </a:solidFill>
                <a:latin typeface="Calibri" pitchFamily="34" charset="0"/>
                <a:ea typeface="Calibri" pitchFamily="34" charset="-122"/>
                <a:cs typeface="Calibri" pitchFamily="34" charset="-120"/>
              </a:rPr>
              <a:t>CPU</a:t>
            </a:r>
            <a:endParaRPr lang="en-US" sz="1400" dirty="0"/>
          </a:p>
        </p:txBody>
      </p:sp>
      <p:sp>
        <p:nvSpPr>
          <p:cNvPr id="5" name="Text 3"/>
          <p:cNvSpPr txBox="1"/>
          <p:nvPr/>
        </p:nvSpPr>
        <p:spPr>
          <a:xfrm>
            <a:off x="822960" y="1920240"/>
            <a:ext cx="1554480" cy="1371600"/>
          </a:xfrm>
          <a:prstGeom prst="roundRect">
            <a:avLst>
              <a:gd name="adj" fmla="val 4000"/>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control</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network</a:t>
            </a:r>
            <a:endParaRPr lang="en-US" sz="1500" dirty="0"/>
          </a:p>
        </p:txBody>
      </p:sp>
      <p:sp>
        <p:nvSpPr>
          <p:cNvPr id="6" name="Text 4"/>
          <p:cNvSpPr txBox="1"/>
          <p:nvPr/>
        </p:nvSpPr>
        <p:spPr>
          <a:xfrm>
            <a:off x="822960" y="3520440"/>
            <a:ext cx="731520" cy="548640"/>
          </a:xfrm>
          <a:prstGeom prst="roundRect">
            <a:avLst>
              <a:gd name="adj" fmla="val 10000"/>
            </a:avLst>
          </a:prstGeom>
          <a:solidFill>
            <a:srgbClr val="B23A48"/>
          </a:solidFill>
          <a:ln>
            <a:solidFill>
              <a:srgbClr val="B23A48"/>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PC</a:t>
            </a:r>
            <a:endParaRPr lang="en-US" sz="1500" dirty="0"/>
          </a:p>
        </p:txBody>
      </p:sp>
      <p:sp>
        <p:nvSpPr>
          <p:cNvPr id="7" name="Text 5"/>
          <p:cNvSpPr txBox="1"/>
          <p:nvPr/>
        </p:nvSpPr>
        <p:spPr>
          <a:xfrm>
            <a:off x="1645920" y="3520440"/>
            <a:ext cx="731520" cy="548640"/>
          </a:xfrm>
          <a:prstGeom prst="roundRect">
            <a:avLst>
              <a:gd name="adj" fmla="val 10000"/>
            </a:avLst>
          </a:prstGeom>
          <a:solidFill>
            <a:srgbClr val="B23A48"/>
          </a:solidFill>
          <a:ln>
            <a:solidFill>
              <a:srgbClr val="B23A48"/>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
            </a:r>
            <a:endParaRPr lang="en-US" sz="1500" dirty="0"/>
          </a:p>
        </p:txBody>
      </p:sp>
      <p:sp>
        <p:nvSpPr>
          <p:cNvPr id="8" name="Text 6"/>
          <p:cNvSpPr txBox="1"/>
          <p:nvPr/>
        </p:nvSpPr>
        <p:spPr>
          <a:xfrm>
            <a:off x="2834640" y="1920240"/>
            <a:ext cx="1463040" cy="457200"/>
          </a:xfrm>
          <a:prstGeom prst="roundRect">
            <a:avLst>
              <a:gd name="adj" fmla="val 120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R0</a:t>
            </a:r>
            <a:endParaRPr lang="en-US" sz="1400" dirty="0"/>
          </a:p>
        </p:txBody>
      </p:sp>
      <p:sp>
        <p:nvSpPr>
          <p:cNvPr id="9" name="Text 7"/>
          <p:cNvSpPr txBox="1"/>
          <p:nvPr/>
        </p:nvSpPr>
        <p:spPr>
          <a:xfrm>
            <a:off x="2834640" y="2468880"/>
            <a:ext cx="1463040" cy="457200"/>
          </a:xfrm>
          <a:prstGeom prst="roundRect">
            <a:avLst>
              <a:gd name="adj" fmla="val 120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R1</a:t>
            </a:r>
            <a:endParaRPr lang="en-US" sz="1400" dirty="0"/>
          </a:p>
        </p:txBody>
      </p:sp>
      <p:sp>
        <p:nvSpPr>
          <p:cNvPr id="10" name="Text 8"/>
          <p:cNvSpPr txBox="1"/>
          <p:nvPr/>
        </p:nvSpPr>
        <p:spPr>
          <a:xfrm>
            <a:off x="2834640" y="3017520"/>
            <a:ext cx="1463040" cy="457200"/>
          </a:xfrm>
          <a:prstGeom prst="roundRect">
            <a:avLst>
              <a:gd name="adj" fmla="val 120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 . .</a:t>
            </a:r>
            <a:endParaRPr lang="en-US" sz="1400" dirty="0"/>
          </a:p>
        </p:txBody>
      </p:sp>
      <p:sp>
        <p:nvSpPr>
          <p:cNvPr id="11" name="Text 9"/>
          <p:cNvSpPr txBox="1"/>
          <p:nvPr/>
        </p:nvSpPr>
        <p:spPr>
          <a:xfrm>
            <a:off x="2834640" y="3566160"/>
            <a:ext cx="1463040" cy="457200"/>
          </a:xfrm>
          <a:prstGeom prst="roundRect">
            <a:avLst>
              <a:gd name="adj" fmla="val 12000"/>
            </a:avLst>
          </a:prstGeom>
          <a:solidFill>
            <a:srgbClr val="0E7C86"/>
          </a:solidFill>
          <a:ln>
            <a:solidFill>
              <a:srgbClr val="0E7C86"/>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Rn-1</a:t>
            </a:r>
            <a:endParaRPr lang="en-US" sz="1400" dirty="0"/>
          </a:p>
        </p:txBody>
      </p:sp>
      <p:sp>
        <p:nvSpPr>
          <p:cNvPr id="12" name="Text 10"/>
          <p:cNvSpPr txBox="1"/>
          <p:nvPr/>
        </p:nvSpPr>
        <p:spPr>
          <a:xfrm>
            <a:off x="4846320" y="1920240"/>
            <a:ext cx="91440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O1</a:t>
            </a:r>
            <a:endParaRPr lang="en-US" sz="1400" dirty="0"/>
          </a:p>
        </p:txBody>
      </p:sp>
      <p:sp>
        <p:nvSpPr>
          <p:cNvPr id="13" name="Text 11"/>
          <p:cNvSpPr txBox="1"/>
          <p:nvPr/>
        </p:nvSpPr>
        <p:spPr>
          <a:xfrm>
            <a:off x="5943600" y="1920240"/>
            <a:ext cx="91440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O2</a:t>
            </a:r>
            <a:endParaRPr lang="en-US" sz="1400" dirty="0"/>
          </a:p>
        </p:txBody>
      </p:sp>
      <p:sp>
        <p:nvSpPr>
          <p:cNvPr id="14" name="Text 12"/>
          <p:cNvSpPr txBox="1"/>
          <p:nvPr/>
        </p:nvSpPr>
        <p:spPr>
          <a:xfrm>
            <a:off x="4846320" y="2514600"/>
            <a:ext cx="2011680" cy="822960"/>
          </a:xfrm>
          <a:prstGeom prst="roundRect">
            <a:avLst>
              <a:gd name="adj" fmla="val 6667"/>
            </a:avLst>
          </a:prstGeom>
          <a:solidFill>
            <a:srgbClr val="6B4FA0"/>
          </a:solidFill>
          <a:ln>
            <a:solidFill>
              <a:srgbClr val="6B4FA0"/>
            </a:solidFill>
          </a:ln>
        </p:spPr>
        <p:txBody>
          <a:bodyPr wrap="square" lIns="38100" tIns="38100" rIns="38100" bIns="3810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ALU</a:t>
            </a:r>
            <a:endParaRPr lang="en-US" sz="1800" dirty="0"/>
          </a:p>
        </p:txBody>
      </p:sp>
      <p:sp>
        <p:nvSpPr>
          <p:cNvPr id="15" name="Text 13"/>
          <p:cNvSpPr txBox="1"/>
          <p:nvPr/>
        </p:nvSpPr>
        <p:spPr>
          <a:xfrm>
            <a:off x="5394960" y="3474720"/>
            <a:ext cx="914400" cy="457200"/>
          </a:xfrm>
          <a:prstGeom prst="roundRect">
            <a:avLst>
              <a:gd name="adj" fmla="val 12000"/>
            </a:avLst>
          </a:prstGeom>
          <a:solidFill>
            <a:srgbClr val="6B4FA0"/>
          </a:solidFill>
          <a:ln>
            <a:solidFill>
              <a:srgbClr val="6B4FA0"/>
            </a:solidFill>
          </a:ln>
        </p:spPr>
        <p:txBody>
          <a:bodyPr wrap="square" lIns="38100" tIns="38100" rIns="38100" bIns="3810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U</a:t>
            </a:r>
            <a:endParaRPr lang="en-US" sz="1400" dirty="0"/>
          </a:p>
        </p:txBody>
      </p:sp>
      <p:sp>
        <p:nvSpPr>
          <p:cNvPr id="16" name="Shape 14"/>
          <p:cNvSpPr/>
          <p:nvPr/>
        </p:nvSpPr>
        <p:spPr>
          <a:xfrm>
            <a:off x="822960" y="4343400"/>
            <a:ext cx="6126480" cy="0"/>
          </a:xfrm>
          <a:prstGeom prst="line">
            <a:avLst/>
          </a:prstGeom>
          <a:noFill/>
          <a:ln w="63500">
            <a:solidFill>
              <a:srgbClr val="C7791B"/>
            </a:solidFill>
            <a:prstDash val="solid"/>
          </a:ln>
        </p:spPr>
      </p:sp>
      <p:sp>
        <p:nvSpPr>
          <p:cNvPr id="17" name="Text 15"/>
          <p:cNvSpPr txBox="1"/>
          <p:nvPr/>
        </p:nvSpPr>
        <p:spPr>
          <a:xfrm>
            <a:off x="5394960" y="4023360"/>
            <a:ext cx="1645920" cy="274320"/>
          </a:xfrm>
          <a:prstGeom prst="rect">
            <a:avLst/>
          </a:prstGeom>
          <a:noFill/>
          <a:ln/>
        </p:spPr>
        <p:txBody>
          <a:bodyPr wrap="square" lIns="0" tIns="0" rIns="0" bIns="0" rtlCol="0" anchor="t"/>
          <a:lstStyle/>
          <a:p>
            <a:pPr indent="0" marL="0">
              <a:buNone/>
            </a:pPr>
            <a:r>
              <a:rPr lang="en-US" sz="1200" b="1" dirty="0">
                <a:solidFill>
                  <a:srgbClr val="C7791B"/>
                </a:solidFill>
                <a:latin typeface="Calibri" pitchFamily="34" charset="0"/>
                <a:ea typeface="Calibri" pitchFamily="34" charset="-122"/>
                <a:cs typeface="Calibri" pitchFamily="34" charset="-120"/>
              </a:rPr>
              <a:t>internal bus</a:t>
            </a:r>
            <a:endParaRPr lang="en-US" sz="1200" dirty="0"/>
          </a:p>
        </p:txBody>
      </p:sp>
      <p:sp>
        <p:nvSpPr>
          <p:cNvPr id="18" name="Text 16"/>
          <p:cNvSpPr txBox="1"/>
          <p:nvPr/>
        </p:nvSpPr>
        <p:spPr>
          <a:xfrm>
            <a:off x="1005840" y="4754880"/>
            <a:ext cx="914400" cy="548640"/>
          </a:xfrm>
          <a:prstGeom prst="roundRect">
            <a:avLst>
              <a:gd name="adj" fmla="val 10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MA</a:t>
            </a:r>
            <a:endParaRPr lang="en-US" sz="1500" dirty="0"/>
          </a:p>
        </p:txBody>
      </p:sp>
      <p:sp>
        <p:nvSpPr>
          <p:cNvPr id="19" name="Text 17"/>
          <p:cNvSpPr txBox="1"/>
          <p:nvPr/>
        </p:nvSpPr>
        <p:spPr>
          <a:xfrm>
            <a:off x="2103120" y="4754880"/>
            <a:ext cx="914400" cy="548640"/>
          </a:xfrm>
          <a:prstGeom prst="roundRect">
            <a:avLst>
              <a:gd name="adj" fmla="val 10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MB</a:t>
            </a:r>
            <a:endParaRPr lang="en-US" sz="1500" dirty="0"/>
          </a:p>
        </p:txBody>
      </p:sp>
      <p:sp>
        <p:nvSpPr>
          <p:cNvPr id="20" name="Text 18"/>
          <p:cNvSpPr txBox="1"/>
          <p:nvPr/>
        </p:nvSpPr>
        <p:spPr>
          <a:xfrm>
            <a:off x="4480560" y="4754880"/>
            <a:ext cx="914400" cy="548640"/>
          </a:xfrm>
          <a:prstGeom prst="roundRect">
            <a:avLst>
              <a:gd name="adj" fmla="val 10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RI</a:t>
            </a:r>
            <a:endParaRPr lang="en-US" sz="1500" dirty="0"/>
          </a:p>
        </p:txBody>
      </p:sp>
      <p:sp>
        <p:nvSpPr>
          <p:cNvPr id="21" name="Text 19"/>
          <p:cNvSpPr txBox="1"/>
          <p:nvPr/>
        </p:nvSpPr>
        <p:spPr>
          <a:xfrm>
            <a:off x="5577840" y="4754880"/>
            <a:ext cx="914400" cy="548640"/>
          </a:xfrm>
          <a:prstGeom prst="roundRect">
            <a:avLst>
              <a:gd name="adj" fmla="val 10000"/>
            </a:avLst>
          </a:prstGeom>
          <a:solidFill>
            <a:srgbClr val="2F7D4F"/>
          </a:solidFill>
          <a:ln>
            <a:solidFill>
              <a:srgbClr val="2F7D4F"/>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RU</a:t>
            </a:r>
            <a:endParaRPr lang="en-US" sz="1500" dirty="0"/>
          </a:p>
        </p:txBody>
      </p:sp>
      <p:sp>
        <p:nvSpPr>
          <p:cNvPr id="22" name="Text 20"/>
          <p:cNvSpPr txBox="1"/>
          <p:nvPr/>
        </p:nvSpPr>
        <p:spPr>
          <a:xfrm>
            <a:off x="914400" y="5349240"/>
            <a:ext cx="2194560" cy="274320"/>
          </a:xfrm>
          <a:prstGeom prst="rect">
            <a:avLst/>
          </a:prstGeom>
          <a:noFill/>
          <a:ln/>
        </p:spPr>
        <p:txBody>
          <a:bodyPr wrap="square" lIns="0" tIns="0" rIns="0" bIns="0" rtlCol="0" anchor="t"/>
          <a:lstStyle/>
          <a:p>
            <a:pPr algn="ctr" indent="0" marL="0">
              <a:buNone/>
            </a:pPr>
            <a:r>
              <a:rPr lang="en-US" sz="1200" i="1" dirty="0">
                <a:solidFill>
                  <a:srgbClr val="5B6B78"/>
                </a:solidFill>
                <a:latin typeface="Calibri" pitchFamily="34" charset="0"/>
                <a:ea typeface="Calibri" pitchFamily="34" charset="-122"/>
                <a:cs typeface="Calibri" pitchFamily="34" charset="-120"/>
              </a:rPr>
              <a:t>link to memory</a:t>
            </a:r>
            <a:endParaRPr lang="en-US" sz="1200" dirty="0"/>
          </a:p>
        </p:txBody>
      </p:sp>
      <p:sp>
        <p:nvSpPr>
          <p:cNvPr id="23" name="Text 21"/>
          <p:cNvSpPr txBox="1"/>
          <p:nvPr/>
        </p:nvSpPr>
        <p:spPr>
          <a:xfrm>
            <a:off x="4297680" y="5349240"/>
            <a:ext cx="2377440" cy="274320"/>
          </a:xfrm>
          <a:prstGeom prst="rect">
            <a:avLst/>
          </a:prstGeom>
          <a:noFill/>
          <a:ln/>
        </p:spPr>
        <p:txBody>
          <a:bodyPr wrap="square" lIns="0" tIns="0" rIns="0" bIns="0" rtlCol="0" anchor="t"/>
          <a:lstStyle/>
          <a:p>
            <a:pPr algn="ctr" indent="0" marL="0">
              <a:buNone/>
            </a:pPr>
            <a:r>
              <a:rPr lang="en-US" sz="1200" i="1" dirty="0">
                <a:solidFill>
                  <a:srgbClr val="5B6B78"/>
                </a:solidFill>
                <a:latin typeface="Calibri" pitchFamily="34" charset="0"/>
                <a:ea typeface="Calibri" pitchFamily="34" charset="-122"/>
                <a:cs typeface="Calibri" pitchFamily="34" charset="-120"/>
              </a:rPr>
              <a:t>link to input/output</a:t>
            </a:r>
            <a:endParaRPr lang="en-US" sz="1200" dirty="0"/>
          </a:p>
        </p:txBody>
      </p:sp>
      <p:sp>
        <p:nvSpPr>
          <p:cNvPr id="24" name="Shape 22"/>
          <p:cNvSpPr/>
          <p:nvPr/>
        </p:nvSpPr>
        <p:spPr>
          <a:xfrm>
            <a:off x="7680960" y="1492758"/>
            <a:ext cx="146304" cy="146304"/>
          </a:xfrm>
          <a:prstGeom prst="rect">
            <a:avLst/>
          </a:prstGeom>
          <a:solidFill>
            <a:srgbClr val="0E7C86"/>
          </a:solidFill>
          <a:ln w="12700">
            <a:solidFill>
              <a:srgbClr val="0E7C86"/>
            </a:solidFill>
            <a:prstDash val="solid"/>
          </a:ln>
        </p:spPr>
      </p:sp>
      <p:sp>
        <p:nvSpPr>
          <p:cNvPr id="25" name="Text 23"/>
          <p:cNvSpPr txBox="1"/>
          <p:nvPr/>
        </p:nvSpPr>
        <p:spPr>
          <a:xfrm>
            <a:off x="8065008" y="1417320"/>
            <a:ext cx="3578047" cy="1783080"/>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Control unit</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program counter (PC): the next instruction</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decoding register (D): the instruction being executed</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the control network that issues the commands</a:t>
            </a:r>
            <a:endParaRPr lang="en-US" sz="1800" dirty="0"/>
          </a:p>
        </p:txBody>
      </p:sp>
      <p:sp>
        <p:nvSpPr>
          <p:cNvPr id="26" name="Shape 24"/>
          <p:cNvSpPr/>
          <p:nvPr/>
        </p:nvSpPr>
        <p:spPr>
          <a:xfrm>
            <a:off x="7680960" y="3421952"/>
            <a:ext cx="146304" cy="146304"/>
          </a:xfrm>
          <a:prstGeom prst="rect">
            <a:avLst/>
          </a:prstGeom>
          <a:solidFill>
            <a:srgbClr val="C7791B"/>
          </a:solidFill>
          <a:ln w="12700">
            <a:solidFill>
              <a:srgbClr val="C7791B"/>
            </a:solidFill>
            <a:prstDash val="solid"/>
          </a:ln>
        </p:spPr>
      </p:sp>
      <p:sp>
        <p:nvSpPr>
          <p:cNvPr id="27" name="Text 25"/>
          <p:cNvSpPr txBox="1"/>
          <p:nvPr/>
        </p:nvSpPr>
        <p:spPr>
          <a:xfrm>
            <a:off x="8065008" y="3346514"/>
            <a:ext cx="3578047" cy="278892"/>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Machine registers R0 ... Rn-1</a:t>
            </a:r>
            <a:endParaRPr lang="en-US" sz="1800" dirty="0"/>
          </a:p>
        </p:txBody>
      </p:sp>
      <p:sp>
        <p:nvSpPr>
          <p:cNvPr id="28" name="Shape 26"/>
          <p:cNvSpPr/>
          <p:nvPr/>
        </p:nvSpPr>
        <p:spPr>
          <a:xfrm>
            <a:off x="7680960" y="3846957"/>
            <a:ext cx="146304" cy="146304"/>
          </a:xfrm>
          <a:prstGeom prst="rect">
            <a:avLst/>
          </a:prstGeom>
          <a:solidFill>
            <a:srgbClr val="0E7C86"/>
          </a:solidFill>
          <a:ln w="12700">
            <a:solidFill>
              <a:srgbClr val="0E7C86"/>
            </a:solidFill>
            <a:prstDash val="solid"/>
          </a:ln>
        </p:spPr>
      </p:sp>
      <p:sp>
        <p:nvSpPr>
          <p:cNvPr id="29" name="Text 27"/>
          <p:cNvSpPr txBox="1"/>
          <p:nvPr/>
        </p:nvSpPr>
        <p:spPr>
          <a:xfrm>
            <a:off x="8065008" y="3771519"/>
            <a:ext cx="3578047" cy="78028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Arithmetic logic unit</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two operand registers O1 and O2, a result register U</a:t>
            </a:r>
            <a:endParaRPr lang="en-US" sz="1800" dirty="0"/>
          </a:p>
        </p:txBody>
      </p:sp>
      <p:sp>
        <p:nvSpPr>
          <p:cNvPr id="30" name="Shape 28"/>
          <p:cNvSpPr/>
          <p:nvPr/>
        </p:nvSpPr>
        <p:spPr>
          <a:xfrm>
            <a:off x="7680960" y="4773359"/>
            <a:ext cx="146304" cy="146304"/>
          </a:xfrm>
          <a:prstGeom prst="rect">
            <a:avLst/>
          </a:prstGeom>
          <a:solidFill>
            <a:srgbClr val="C7791B"/>
          </a:solidFill>
          <a:ln w="12700">
            <a:solidFill>
              <a:srgbClr val="C7791B"/>
            </a:solidFill>
            <a:prstDash val="solid"/>
          </a:ln>
        </p:spPr>
      </p:sp>
      <p:sp>
        <p:nvSpPr>
          <p:cNvPr id="31" name="Text 29"/>
          <p:cNvSpPr txBox="1"/>
          <p:nvPr/>
        </p:nvSpPr>
        <p:spPr>
          <a:xfrm>
            <a:off x="8065008" y="4697921"/>
            <a:ext cx="3578047" cy="78028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Link to memory</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memory address (MA) and memory buffer (MB)</a:t>
            </a:r>
            <a:endParaRPr lang="en-US" sz="1800" dirty="0"/>
          </a:p>
        </p:txBody>
      </p:sp>
      <p:sp>
        <p:nvSpPr>
          <p:cNvPr id="32" name="Shape 30"/>
          <p:cNvSpPr/>
          <p:nvPr/>
        </p:nvSpPr>
        <p:spPr>
          <a:xfrm>
            <a:off x="7680960" y="5699760"/>
            <a:ext cx="146304" cy="146304"/>
          </a:xfrm>
          <a:prstGeom prst="rect">
            <a:avLst/>
          </a:prstGeom>
          <a:solidFill>
            <a:srgbClr val="0E7C86"/>
          </a:solidFill>
          <a:ln w="12700">
            <a:solidFill>
              <a:srgbClr val="0E7C86"/>
            </a:solidFill>
            <a:prstDash val="solid"/>
          </a:ln>
        </p:spPr>
      </p:sp>
      <p:sp>
        <p:nvSpPr>
          <p:cNvPr id="33" name="Text 31"/>
          <p:cNvSpPr txBox="1"/>
          <p:nvPr/>
        </p:nvSpPr>
        <p:spPr>
          <a:xfrm>
            <a:off x="8065008" y="5624322"/>
            <a:ext cx="3578047" cy="547878"/>
          </a:xfrm>
          <a:prstGeom prst="rect">
            <a:avLst/>
          </a:prstGeom>
          <a:noFill/>
          <a:ln/>
        </p:spPr>
        <p:txBody>
          <a:bodyPr wrap="square" lIns="0" tIns="0" rIns="0" bIns="0" rtlCol="0" anchor="t"/>
          <a:lstStyle/>
          <a:p>
            <a:pPr indent="0" marL="0">
              <a:spcAft>
                <a:spcPts val="200"/>
              </a:spcAft>
              <a:buNone/>
            </a:pPr>
            <a:r>
              <a:rPr lang="en-US" sz="1800" dirty="0">
                <a:solidFill>
                  <a:srgbClr val="1B2530"/>
                </a:solidFill>
                <a:latin typeface="Calibri" pitchFamily="34" charset="0"/>
                <a:ea typeface="Calibri" pitchFamily="34" charset="-122"/>
                <a:cs typeface="Calibri" pitchFamily="34" charset="-120"/>
              </a:rPr>
              <a:t>Link to input/output</a:t>
            </a:r>
            <a:endParaRPr lang="en-US" sz="1800" dirty="0"/>
          </a:p>
          <a:p>
            <a:pPr indent="0" marL="0">
              <a:spcAft>
                <a:spcPts val="200"/>
              </a:spcAft>
              <a:buNone/>
            </a:pPr>
            <a:r>
              <a:rPr lang="en-US" sz="1500" dirty="0">
                <a:solidFill>
                  <a:srgbClr val="5B6B78"/>
                </a:solidFill>
                <a:latin typeface="Calibri" pitchFamily="34" charset="0"/>
                <a:ea typeface="Calibri" pitchFamily="34" charset="-122"/>
                <a:cs typeface="Calibri" pitchFamily="34" charset="-120"/>
              </a:rPr>
              <a:t>– I/O buffer registers RI and RU</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model and RISC-V, side by side</a:t>
            </a:r>
            <a:endParaRPr lang="en-US" sz="3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3273762"/>
                <a:gridCol w="4183140"/>
                <a:gridCol w="3637513"/>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Element of the model</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In RISC-V</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Seen by the programmer?</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PC, program counter</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pc, 32 bits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indirectly: branches, jumps and auipc use it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D, decoding register</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the instruction register</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R0 ... Rn-1, machine registers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x0 ... x31, thirty-two registers of 32 bits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yes: zero, ra, sp, t0, a0, s0, ...</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O1, O2, U, registers of the ALU</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the ALU inputs and output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MA, MB, link to memory</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the address and data of a load or store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no</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RI, RU, link to input/output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absent: devices are memory-mapped</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status register with flags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absent: no condition codes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600" b="1" dirty="0">
                          <a:solidFill>
                            <a:srgbClr val="1B2530"/>
                          </a:solidFill>
                          <a:latin typeface="Calibri" pitchFamily="34" charset="0"/>
                          <a:ea typeface="Calibri" pitchFamily="34" charset="-122"/>
                          <a:cs typeface="Calibri" pitchFamily="34" charset="-120"/>
                        </a:rPr>
                        <a:t>special registers</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the control and status registers (CSR)</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600" dirty="0">
                          <a:solidFill>
                            <a:srgbClr val="1B2530"/>
                          </a:solidFill>
                          <a:latin typeface="Calibri" pitchFamily="34" charset="0"/>
                          <a:ea typeface="Calibri" pitchFamily="34" charset="-122"/>
                          <a:cs typeface="Calibri" pitchFamily="34" charset="-120"/>
                        </a:rPr>
                        <a:t>only by privileged software</a:t>
                      </a:r>
                      <a:endParaRPr lang="en-US" sz="16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Internal registers and machine registers</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Internal registers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not directly visible to the programmer, and necessary for the processor to work: PC, MA, MB, D, O1, O2, U, ...</a:t>
            </a:r>
            <a:endParaRPr lang="en-US" sz="2000" dirty="0"/>
          </a:p>
        </p:txBody>
      </p:sp>
      <p:sp>
        <p:nvSpPr>
          <p:cNvPr id="5" name="Shape 3"/>
          <p:cNvSpPr/>
          <p:nvPr/>
        </p:nvSpPr>
        <p:spPr>
          <a:xfrm>
            <a:off x="548640" y="259554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04609"/>
            <a:ext cx="6565392" cy="87325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Machine registers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they define the programming model; further divided into general registers and special registers</a:t>
            </a:r>
            <a:endParaRPr lang="en-US" sz="2000" dirty="0"/>
          </a:p>
        </p:txBody>
      </p:sp>
      <p:sp>
        <p:nvSpPr>
          <p:cNvPr id="7" name="Shape 5"/>
          <p:cNvSpPr/>
          <p:nvPr/>
        </p:nvSpPr>
        <p:spPr>
          <a:xfrm>
            <a:off x="548640" y="3682831"/>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591899"/>
            <a:ext cx="6565392" cy="1746504"/>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processor handles three kinds of information: instructions, memory addresses and data</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the size of MA and PC depends on the size of the addresses</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the size of the ALU registers depends on the size of the data</a:t>
            </a:r>
            <a:endParaRPr lang="en-US" sz="2000" dirty="0"/>
          </a:p>
        </p:txBody>
      </p:sp>
      <p:sp>
        <p:nvSpPr>
          <p:cNvPr id="9" name="Shape 7"/>
          <p:cNvSpPr/>
          <p:nvPr/>
        </p:nvSpPr>
        <p:spPr>
          <a:xfrm>
            <a:off x="548640" y="5643372"/>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5552440"/>
            <a:ext cx="6565392"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In RV32 all three are 32 bits wide: one size for registers, addresses and instructions</a:t>
            </a:r>
            <a:endParaRPr lang="en-US" sz="2000" dirty="0"/>
          </a:p>
        </p:txBody>
      </p:sp>
      <p:sp>
        <p:nvSpPr>
          <p:cNvPr id="11" name="Shape 9"/>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2" name="Text 10"/>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RV32</a:t>
            </a:r>
            <a:endParaRPr lang="en-US" sz="6000" dirty="0"/>
          </a:p>
        </p:txBody>
      </p:sp>
      <p:sp>
        <p:nvSpPr>
          <p:cNvPr id="13" name="Text 11"/>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registers of 32 bits, addresses of 32 bits, instructions of 32 bits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How real processors differ from the model</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In general</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They may have a different, usually richer, set of general registers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machine registers may be specific memory locations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The I/O section may be missing altogether, and be implemented by dedicated chips</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Very simple arithmetic units can be extended by dedicated chips that improve the ALU</a:t>
            </a:r>
            <a:endParaRPr lang="en-US" sz="19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RISC-V on the PRG32 kit</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Thirty-two general registers, in a bank inside the processor</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No I/O section: peripheral controllers on the same chip, reached as memory</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Optional extensions instead of extra chips: M adds multiply and divide</a:t>
            </a:r>
            <a:endParaRPr lang="en-US" sz="1900" dirty="0"/>
          </a:p>
          <a:p>
            <a:pPr marL="203200" indent="-203200">
              <a:spcAft>
                <a:spcPts val="800"/>
              </a:spcAft>
              <a:buSzPct val="100000"/>
              <a:buChar char="•"/>
            </a:pPr>
            <a:r>
              <a:rPr lang="en-US" sz="1900" dirty="0">
                <a:solidFill>
                  <a:srgbClr val="1B2530"/>
                </a:solidFill>
                <a:latin typeface="Calibri" pitchFamily="34" charset="0"/>
                <a:ea typeface="Calibri" pitchFamily="34" charset="-122"/>
                <a:cs typeface="Calibri" pitchFamily="34" charset="-120"/>
              </a:rPr>
              <a:t>No F extension on the ESP32-C6: floating point would be done in software (Lecture 06)</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Words or bytes: the length of machine words</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Word processors</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All the machine words have the same length</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Sized on the longest piece of information</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Awkward with data of intrinsically variable nature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RISC-V: every instruction is 32 bits (16 in the compressed form)</a:t>
            </a:r>
            <a:endParaRPr lang="en-US" sz="21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Character (byte) processors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The length of machine words is variable, a multiple of a byte</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Well suited to the treatment of strings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Intel x86: instructions from 1 to 15 bytes</a:t>
            </a:r>
            <a:endParaRPr lang="en-US" sz="2100" dirty="0"/>
          </a:p>
          <a:p>
            <a:pPr marL="203200" indent="-203200">
              <a:spcAft>
                <a:spcPts val="800"/>
              </a:spcAft>
              <a:buSzPct val="100000"/>
              <a:buChar char="•"/>
            </a:pPr>
            <a:r>
              <a:rPr lang="en-US" sz="2100" dirty="0">
                <a:solidFill>
                  <a:srgbClr val="1B2530"/>
                </a:solidFill>
                <a:latin typeface="Calibri" pitchFamily="34" charset="0"/>
                <a:ea typeface="Calibri" pitchFamily="34" charset="-122"/>
                <a:cs typeface="Calibri" pitchFamily="34" charset="-120"/>
              </a:rPr>
              <a:t>MC68000: instructions of one to five 16-bit words</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User state and supervisor state</a:t>
            </a:r>
            <a:endParaRPr lang="en-US" sz="32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2364384"/>
                <a:gridCol w="3273762"/>
                <a:gridCol w="3819389"/>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State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Who runs in it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What it may do</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RISC-V name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supervisor</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the operating system</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every instruction of the instruction set</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machine mode (M); supervisor mode (S) where there is a full operating system</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b="1" dirty="0">
                          <a:solidFill>
                            <a:srgbClr val="1B2530"/>
                          </a:solidFill>
                          <a:latin typeface="Calibri" pitchFamily="34" charset="0"/>
                          <a:ea typeface="Calibri" pitchFamily="34" charset="-122"/>
                          <a:cs typeface="Calibri" pitchFamily="34" charset="-120"/>
                        </a:rPr>
                        <a:t>user</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a user program</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everything except the privileged instructions</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user mode (U)</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4" name="Text 1"/>
          <p:cNvSpPr txBox="1"/>
          <p:nvPr/>
        </p:nvSpPr>
        <p:spPr>
          <a:xfrm>
            <a:off x="548640" y="5760720"/>
            <a:ext cx="11094415" cy="411480"/>
          </a:xfrm>
          <a:prstGeom prst="rect">
            <a:avLst/>
          </a:prstGeom>
          <a:noFill/>
          <a:ln/>
        </p:spPr>
        <p:txBody>
          <a:bodyPr wrap="square" lIns="0" tIns="0" rIns="0" bIns="0" rtlCol="0" anchor="ctr"/>
          <a:lstStyle/>
          <a:p>
            <a:pPr indent="0" marL="0">
              <a:buNone/>
            </a:pPr>
            <a:r>
              <a:rPr lang="en-US" sz="1400" i="1" dirty="0">
                <a:solidFill>
                  <a:srgbClr val="5B6B78"/>
                </a:solidFill>
                <a:latin typeface="Calibri" pitchFamily="34" charset="0"/>
                <a:ea typeface="Calibri" pitchFamily="34" charset="-122"/>
                <a:cs typeface="Calibri" pitchFamily="34" charset="-120"/>
              </a:rPr>
              <a:t>The processor is in supervisor state when it executes the operating system, in user state when it executes a user program.</a:t>
            </a:r>
            <a:endParaRPr lang="en-US" sz="1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03</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Registers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What they are for.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Kinds of registers</a:t>
            </a:r>
            <a:endParaRPr lang="en-US" sz="3200" dirty="0"/>
          </a:p>
        </p:txBody>
      </p:sp>
      <p:sp>
        <p:nvSpPr>
          <p:cNvPr id="3" name="Shape 1"/>
          <p:cNvSpPr/>
          <p:nvPr/>
        </p:nvSpPr>
        <p:spPr>
          <a:xfrm>
            <a:off x="548640" y="1539240"/>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1746504"/>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A register can be specialised, or do several jobs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specialised registers need specialised operation codes for the same operation on different banks</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concentrating several functions gives more internal complexity and more flexibility of use</a:t>
            </a:r>
            <a:endParaRPr lang="en-US" sz="2400" dirty="0"/>
          </a:p>
        </p:txBody>
      </p:sp>
      <p:sp>
        <p:nvSpPr>
          <p:cNvPr id="5" name="Shape 3"/>
          <p:cNvSpPr/>
          <p:nvPr/>
        </p:nvSpPr>
        <p:spPr>
          <a:xfrm>
            <a:off x="548640" y="3684270"/>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3562350"/>
            <a:ext cx="10710367" cy="14676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Machine registers, different in number and often grouped in banks, can be organised</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as an addressable memory: a bank R, the register Ri</a:t>
            </a:r>
            <a:endParaRPr lang="en-US" sz="2400" dirty="0"/>
          </a:p>
          <a:p>
            <a:pPr indent="0" marL="0">
              <a:spcAft>
                <a:spcPts val="200"/>
              </a:spcAft>
              <a:buNone/>
            </a:pPr>
            <a:r>
              <a:rPr lang="en-US" sz="2100" dirty="0">
                <a:solidFill>
                  <a:srgbClr val="5B6B78"/>
                </a:solidFill>
                <a:latin typeface="Calibri" pitchFamily="34" charset="0"/>
                <a:ea typeface="Calibri" pitchFamily="34" charset="-122"/>
                <a:cs typeface="Calibri" pitchFamily="34" charset="-120"/>
              </a:rPr>
              <a:t>– as autonomous registers, each with its own name</a:t>
            </a:r>
            <a:endParaRPr lang="en-US" sz="2400" dirty="0"/>
          </a:p>
        </p:txBody>
      </p:sp>
      <p:sp>
        <p:nvSpPr>
          <p:cNvPr id="7" name="Shape 5"/>
          <p:cNvSpPr/>
          <p:nvPr/>
        </p:nvSpPr>
        <p:spPr>
          <a:xfrm>
            <a:off x="548640" y="555040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5428488"/>
            <a:ext cx="10710367" cy="743712"/>
          </a:xfrm>
          <a:prstGeom prst="rect">
            <a:avLst/>
          </a:prstGeom>
          <a:noFill/>
          <a:ln/>
        </p:spPr>
        <p:txBody>
          <a:bodyPr wrap="square" lIns="0" tIns="0" rIns="0" bIns="0" rtlCol="0" anchor="t"/>
          <a:lstStyle/>
          <a:p>
            <a:pPr indent="0" marL="0">
              <a:spcAft>
                <a:spcPts val="200"/>
              </a:spcAft>
              <a:buNone/>
            </a:pPr>
            <a:r>
              <a:rPr lang="en-US" sz="2400" dirty="0">
                <a:solidFill>
                  <a:srgbClr val="1B2530"/>
                </a:solidFill>
                <a:latin typeface="Calibri" pitchFamily="34" charset="0"/>
                <a:ea typeface="Calibri" pitchFamily="34" charset="-122"/>
                <a:cs typeface="Calibri" pitchFamily="34" charset="-120"/>
              </a:rPr>
              <a:t>RISC-V: one bank of thirty-two registers, addressed by 5 bits inside the instruction; the names t0, a0, sp are only conventions</a:t>
            </a:r>
            <a:endParaRPr lang="en-US" sz="2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functions of registers</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Transit of data</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memory to register, register to register, register to memory: load, move, store</a:t>
            </a:r>
            <a:endParaRPr lang="en-US" sz="2100" dirty="0"/>
          </a:p>
        </p:txBody>
      </p:sp>
      <p:sp>
        <p:nvSpPr>
          <p:cNvPr id="5" name="Shape 3"/>
          <p:cNvSpPr/>
          <p:nvPr/>
        </p:nvSpPr>
        <p:spPr>
          <a:xfrm>
            <a:off x="548640" y="2465642"/>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366963"/>
            <a:ext cx="10710367"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Accumulation of results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needed for arithmetic and logic: R := (op) R, or R := R (op) X</a:t>
            </a:r>
            <a:endParaRPr lang="en-US" sz="2100" dirty="0"/>
          </a:p>
        </p:txBody>
      </p:sp>
      <p:sp>
        <p:nvSpPr>
          <p:cNvPr id="7" name="Shape 5"/>
          <p:cNvSpPr/>
          <p:nvPr/>
        </p:nvSpPr>
        <p:spPr>
          <a:xfrm>
            <a:off x="548640" y="341528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16605"/>
            <a:ext cx="10710367"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Addressing</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finding the address of an operand: index registers, base registers</a:t>
            </a:r>
            <a:endParaRPr lang="en-US" sz="2100" dirty="0"/>
          </a:p>
        </p:txBody>
      </p:sp>
      <p:sp>
        <p:nvSpPr>
          <p:cNvPr id="9" name="Shape 7"/>
          <p:cNvSpPr/>
          <p:nvPr/>
        </p:nvSpPr>
        <p:spPr>
          <a:xfrm>
            <a:off x="548640" y="43649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266248"/>
            <a:ext cx="10710367" cy="64084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Stack pointers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managing a stack implemented in memory</a:t>
            </a:r>
            <a:endParaRPr lang="en-US" sz="2100" dirty="0"/>
          </a:p>
        </p:txBody>
      </p:sp>
      <p:sp>
        <p:nvSpPr>
          <p:cNvPr id="11" name="Shape 9"/>
          <p:cNvSpPr/>
          <p:nvPr/>
        </p:nvSpPr>
        <p:spPr>
          <a:xfrm>
            <a:off x="548640" y="5314569"/>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15890"/>
            <a:ext cx="10710367" cy="956310"/>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Indicators, or flags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binary information about events: zero, sign, overflow, carry, illegal addresses or codes</a:t>
            </a:r>
            <a:endParaRPr lang="en-US" sz="2100" dirty="0"/>
          </a:p>
          <a:p>
            <a:pPr indent="0" marL="0">
              <a:spcAft>
                <a:spcPts val="200"/>
              </a:spcAft>
              <a:buNone/>
            </a:pPr>
            <a:r>
              <a:rPr lang="en-US" sz="1800" dirty="0">
                <a:solidFill>
                  <a:srgbClr val="5B6B78"/>
                </a:solidFill>
                <a:latin typeface="Calibri" pitchFamily="34" charset="0"/>
                <a:ea typeface="Calibri" pitchFamily="34" charset="-122"/>
                <a:cs typeface="Calibri" pitchFamily="34" charset="-120"/>
              </a:rPr>
              <a:t>– produced during the execution of an instruction, they can condition the following ones</a:t>
            </a:r>
            <a:endParaRPr lang="en-US" sz="21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thirty-two registers of RISC-V</a:t>
            </a:r>
            <a:endParaRPr lang="en-US" sz="3200" dirty="0"/>
          </a:p>
        </p:txBody>
      </p:sp>
      <p:graphicFrame>
        <p:nvGraphicFramePr>
          <p:cNvPr id="17"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182192"/>
                <a:gridCol w="1182192"/>
                <a:gridCol w="2910011"/>
                <a:gridCol w="1364067"/>
                <a:gridCol w="1273130"/>
                <a:gridCol w="3182824"/>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Register</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Name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Function, by convention</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Register</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Name</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Function, by convention</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x0</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zero</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always 0</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x8 - x9</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s0 - s1</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saved</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x1</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ra</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return address</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x10 - x11</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a0 - a1</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arguments, results</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x2</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sp</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stack pointer</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x12 - x17</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a2 - a7</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arguments</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x3</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gp</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global pointer</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x18 - x27</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s2 - s11</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saved</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x4</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tp</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thread pointer</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x28 - x31</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t3 - t6</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temporaries</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x5 - x7</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t0 - t2</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temporaries</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pc</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ourier New" pitchFamily="34" charset="0"/>
                          <a:ea typeface="Courier New" pitchFamily="34" charset="-122"/>
                          <a:cs typeface="Courier New" pitchFamily="34" charset="-120"/>
                        </a:rPr>
                        <a:t>-</a:t>
                      </a:r>
                      <a:endParaRPr lang="en-US" sz="17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700" dirty="0">
                          <a:solidFill>
                            <a:srgbClr val="1B2530"/>
                          </a:solidFill>
                          <a:latin typeface="Calibri" pitchFamily="34" charset="0"/>
                          <a:ea typeface="Calibri" pitchFamily="34" charset="-122"/>
                          <a:cs typeface="Calibri" pitchFamily="34" charset="-120"/>
                        </a:rPr>
                        <a:t>program counter (not in the bank)</a:t>
                      </a:r>
                      <a:endParaRPr lang="en-US" sz="17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Flags: the status register, and its absence</a:t>
            </a:r>
            <a:endParaRPr lang="en-US" sz="3200" dirty="0"/>
          </a:p>
        </p:txBody>
      </p:sp>
      <p:sp>
        <p:nvSpPr>
          <p:cNvPr id="3" name="Shape 1"/>
          <p:cNvSpPr/>
          <p:nvPr/>
        </p:nvSpPr>
        <p:spPr>
          <a:xfrm>
            <a:off x="548640" y="1417320"/>
            <a:ext cx="5364328" cy="4754880"/>
          </a:xfrm>
          <a:prstGeom prst="roundRect">
            <a:avLst>
              <a:gd name="adj" fmla="val 1538"/>
            </a:avLst>
          </a:prstGeom>
          <a:solidFill>
            <a:srgbClr val="EEF2F4"/>
          </a:solidFill>
          <a:ln w="12700">
            <a:solidFill>
              <a:srgbClr val="EEF2F4"/>
            </a:solidFill>
            <a:prstDash val="solid"/>
          </a:ln>
        </p:spPr>
      </p:sp>
      <p:sp>
        <p:nvSpPr>
          <p:cNvPr id="4" name="Text 2"/>
          <p:cNvSpPr txBox="1"/>
          <p:nvPr/>
        </p:nvSpPr>
        <p:spPr>
          <a:xfrm>
            <a:off x="822960" y="1645920"/>
            <a:ext cx="4815688" cy="548640"/>
          </a:xfrm>
          <a:prstGeom prst="roundRect">
            <a:avLst>
              <a:gd name="adj" fmla="val 13333"/>
            </a:avLst>
          </a:prstGeom>
          <a:solidFill>
            <a:srgbClr val="0E7C86"/>
          </a:solidFill>
          <a:ln>
            <a:solidFill>
              <a:srgbClr val="0E7C86"/>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Processors with a status register</a:t>
            </a:r>
            <a:endParaRPr lang="en-US" sz="1900" dirty="0"/>
          </a:p>
        </p:txBody>
      </p:sp>
      <p:sp>
        <p:nvSpPr>
          <p:cNvPr id="5" name="Text 3"/>
          <p:cNvSpPr txBox="1"/>
          <p:nvPr/>
        </p:nvSpPr>
        <p:spPr>
          <a:xfrm>
            <a:off x="868680"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Bit flags accessible from the program</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Z zero, N negative, V overflow, C carry, sometimes parity</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An instruction sets them; a later conditional branch tests them</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MC68000: the condition code register; x86: the flags register</a:t>
            </a:r>
            <a:endParaRPr lang="en-US" sz="2000" dirty="0"/>
          </a:p>
        </p:txBody>
      </p:sp>
      <p:sp>
        <p:nvSpPr>
          <p:cNvPr id="6" name="Shape 4"/>
          <p:cNvSpPr/>
          <p:nvPr/>
        </p:nvSpPr>
        <p:spPr>
          <a:xfrm>
            <a:off x="6278728" y="1417320"/>
            <a:ext cx="5364328" cy="4754880"/>
          </a:xfrm>
          <a:prstGeom prst="roundRect">
            <a:avLst>
              <a:gd name="adj" fmla="val 1538"/>
            </a:avLst>
          </a:prstGeom>
          <a:solidFill>
            <a:srgbClr val="EEF2F4"/>
          </a:solidFill>
          <a:ln w="12700">
            <a:solidFill>
              <a:srgbClr val="EEF2F4"/>
            </a:solidFill>
            <a:prstDash val="solid"/>
          </a:ln>
        </p:spPr>
      </p:sp>
      <p:sp>
        <p:nvSpPr>
          <p:cNvPr id="7" name="Text 5"/>
          <p:cNvSpPr txBox="1"/>
          <p:nvPr/>
        </p:nvSpPr>
        <p:spPr>
          <a:xfrm>
            <a:off x="6553048" y="1645920"/>
            <a:ext cx="4815688" cy="548640"/>
          </a:xfrm>
          <a:prstGeom prst="roundRect">
            <a:avLst>
              <a:gd name="adj" fmla="val 13333"/>
            </a:avLst>
          </a:prstGeom>
          <a:solidFill>
            <a:srgbClr val="C7791B"/>
          </a:solidFill>
          <a:ln>
            <a:solidFill>
              <a:srgbClr val="C7791B"/>
            </a:solidFill>
          </a:ln>
        </p:spPr>
        <p:txBody>
          <a:bodyPr wrap="square" lIns="0" tIns="0" rIns="0" bIns="0" rtlCol="0" anchor="ctr"/>
          <a:lstStyle/>
          <a:p>
            <a:pPr algn="ctr" indent="0" marL="0">
              <a:buNone/>
            </a:pPr>
            <a:r>
              <a:rPr lang="en-US" sz="1900" b="1" dirty="0">
                <a:solidFill>
                  <a:srgbClr val="FFFFFF"/>
                </a:solidFill>
                <a:latin typeface="Calibri" pitchFamily="34" charset="0"/>
                <a:ea typeface="Calibri" pitchFamily="34" charset="-122"/>
                <a:cs typeface="Calibri" pitchFamily="34" charset="-120"/>
              </a:rPr>
              <a:t>RISC-V: no flags</a:t>
            </a:r>
            <a:endParaRPr lang="en-US" sz="1900" dirty="0"/>
          </a:p>
        </p:txBody>
      </p:sp>
      <p:sp>
        <p:nvSpPr>
          <p:cNvPr id="8" name="Text 6"/>
          <p:cNvSpPr txBox="1"/>
          <p:nvPr/>
        </p:nvSpPr>
        <p:spPr>
          <a:xfrm>
            <a:off x="6598768" y="2423160"/>
            <a:ext cx="4724248" cy="3566160"/>
          </a:xfrm>
          <a:prstGeom prst="rect">
            <a:avLst/>
          </a:prstGeom>
          <a:noFill/>
          <a:ln/>
        </p:spPr>
        <p:txBody>
          <a:bodyPr wrap="square" lIns="0" tIns="0" rIns="0" bIns="0" rtlCol="0" anchor="t"/>
          <a:lstStyle/>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A branch compares two registers and jumps, in one instruction: beq, bne, blt, bge, bltu, bgeu</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slt and sltu write the result of a comparison in a general register</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Carry and overflow are computed when needed (Lecture 05)</a:t>
            </a:r>
            <a:endParaRPr lang="en-US" sz="2000" dirty="0"/>
          </a:p>
          <a:p>
            <a:pPr marL="203200" indent="-203200">
              <a:spcAft>
                <a:spcPts val="800"/>
              </a:spcAft>
              <a:buSzPct val="100000"/>
              <a:buChar char="•"/>
            </a:pPr>
            <a:r>
              <a:rPr lang="en-US" sz="2000" dirty="0">
                <a:solidFill>
                  <a:srgbClr val="1B2530"/>
                </a:solidFill>
                <a:latin typeface="Calibri" pitchFamily="34" charset="0"/>
                <a:ea typeface="Calibri" pitchFamily="34" charset="-122"/>
                <a:cs typeface="Calibri" pitchFamily="34" charset="-120"/>
              </a:rPr>
              <a:t>Less hidden state: simpler pipelines, simpler interrupts</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Special registers of RISC-V: the CSRs</a:t>
            </a:r>
            <a:endParaRPr lang="en-US" sz="32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1636881"/>
                <a:gridCol w="3273762"/>
                <a:gridCol w="6183772"/>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Name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What it holds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mstatus</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status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global interrupt enable and the previous privilege mode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mtvec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trap vector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address of the routine that handles interrupts and exceptions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mepc</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exception program counter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the address of the instruction that was interrupted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mcause</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trap cause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code that says why the trap happened</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dirty="0">
                          <a:solidFill>
                            <a:srgbClr val="1B2530"/>
                          </a:solidFill>
                          <a:latin typeface="Courier New" pitchFamily="34" charset="0"/>
                          <a:ea typeface="Courier New" pitchFamily="34" charset="-122"/>
                          <a:cs typeface="Courier New" pitchFamily="34" charset="-120"/>
                        </a:rPr>
                        <a:t>mie, mip</a:t>
                      </a:r>
                      <a:endParaRPr lang="en-US" sz="21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interrupt enable, interrupt pending</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bit per source of interrupt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04</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stack</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Last in, first out.</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stack</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An abstract data structure with two operations: push stores an element as the last of the pile, pop takes the last element away</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It works always and only on the top: there is no need to say where to store or to fetch</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It is used to set aside the contents of registers that must be freed to carry out a task, and to restore them afterwards: subprograms, interrupts</a:t>
            </a:r>
            <a:endParaRPr lang="en-US" sz="2100" dirty="0"/>
          </a:p>
        </p:txBody>
      </p:sp>
      <p:sp>
        <p:nvSpPr>
          <p:cNvPr id="9" name="Shape 7"/>
          <p:cNvSpPr/>
          <p:nvPr/>
        </p:nvSpPr>
        <p:spPr>
          <a:xfrm>
            <a:off x="548640" y="451275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Implemented with a pointer, in memory or in a dedicated register, that indicates the position of the last element at every instant</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Operations on the stack should check for overflow on a push and for an empty stack on a pop</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6000" b="1" dirty="0">
                <a:solidFill>
                  <a:srgbClr val="FFFFFF"/>
                </a:solidFill>
                <a:latin typeface="Cambria" pitchFamily="34" charset="0"/>
                <a:ea typeface="Cambria" pitchFamily="34" charset="-122"/>
                <a:cs typeface="Cambria" pitchFamily="34" charset="-120"/>
              </a:rPr>
              <a:t>LIFO</a:t>
            </a:r>
            <a:endParaRPr lang="en-US" sz="60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last value pushed is the first one popped</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Push and pop in RISC-V</a:t>
            </a:r>
            <a:endParaRPr lang="en-US" sz="3200" dirty="0"/>
          </a:p>
        </p:txBody>
      </p:sp>
      <p:sp>
        <p:nvSpPr>
          <p:cNvPr id="3" name="Text 1"/>
          <p:cNvSpPr txBox="1"/>
          <p:nvPr/>
        </p:nvSpPr>
        <p:spPr>
          <a:xfrm>
            <a:off x="1920240" y="1399032"/>
            <a:ext cx="2194560" cy="274320"/>
          </a:xfrm>
          <a:prstGeom prst="rect">
            <a:avLst/>
          </a:prstGeom>
          <a:noFill/>
          <a:ln/>
        </p:spPr>
        <p:txBody>
          <a:bodyPr wrap="square" lIns="0" tIns="0" rIns="0" bIns="0" rtlCol="0" anchor="t"/>
          <a:lstStyle/>
          <a:p>
            <a:pPr algn="ctr" indent="0" marL="0">
              <a:buNone/>
            </a:pPr>
            <a:r>
              <a:rPr lang="en-US" sz="1300" b="1" dirty="0">
                <a:solidFill>
                  <a:srgbClr val="2E4A62"/>
                </a:solidFill>
                <a:latin typeface="Calibri" pitchFamily="34" charset="0"/>
                <a:ea typeface="Calibri" pitchFamily="34" charset="-122"/>
                <a:cs typeface="Calibri" pitchFamily="34" charset="-120"/>
              </a:rPr>
              <a:t>memory</a:t>
            </a:r>
            <a:endParaRPr lang="en-US" sz="1300" dirty="0"/>
          </a:p>
        </p:txBody>
      </p:sp>
      <p:sp>
        <p:nvSpPr>
          <p:cNvPr id="4" name="Text 2"/>
          <p:cNvSpPr txBox="1"/>
          <p:nvPr/>
        </p:nvSpPr>
        <p:spPr>
          <a:xfrm>
            <a:off x="4251960" y="1828800"/>
            <a:ext cx="1463040" cy="530352"/>
          </a:xfrm>
          <a:prstGeom prst="rect">
            <a:avLst/>
          </a:prstGeom>
          <a:noFill/>
          <a:ln/>
        </p:spPr>
        <p:txBody>
          <a:bodyPr wrap="square" lIns="0" tIns="0" rIns="0" bIns="0"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low addresses</a:t>
            </a:r>
            <a:endParaRPr lang="en-US" sz="1150" dirty="0"/>
          </a:p>
        </p:txBody>
      </p:sp>
      <p:sp>
        <p:nvSpPr>
          <p:cNvPr id="5" name="Text 3"/>
          <p:cNvSpPr txBox="1"/>
          <p:nvPr/>
        </p:nvSpPr>
        <p:spPr>
          <a:xfrm>
            <a:off x="1920240" y="1828800"/>
            <a:ext cx="2194560" cy="530352"/>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500" b="1" dirty="0">
                <a:solidFill>
                  <a:srgbClr val="5B6B78"/>
                </a:solidFill>
                <a:latin typeface="Courier New" pitchFamily="34" charset="0"/>
                <a:ea typeface="Courier New" pitchFamily="34" charset="-122"/>
                <a:cs typeface="Courier New" pitchFamily="34" charset="-120"/>
              </a:rPr>
              <a:t>(free)</a:t>
            </a:r>
            <a:endParaRPr lang="en-US" sz="1500" dirty="0"/>
          </a:p>
        </p:txBody>
      </p:sp>
      <p:sp>
        <p:nvSpPr>
          <p:cNvPr id="6" name="Text 4"/>
          <p:cNvSpPr txBox="1"/>
          <p:nvPr/>
        </p:nvSpPr>
        <p:spPr>
          <a:xfrm>
            <a:off x="1920240" y="2359152"/>
            <a:ext cx="2194560" cy="530352"/>
          </a:xfrm>
          <a:prstGeom prst="rect">
            <a:avLst/>
          </a:prstGeom>
          <a:solidFill>
            <a:srgbClr val="EEF2F4"/>
          </a:solidFill>
          <a:ln w="12700">
            <a:solidFill>
              <a:srgbClr val="2E4A62"/>
            </a:solidFill>
          </a:ln>
        </p:spPr>
        <p:txBody>
          <a:bodyPr wrap="square" lIns="0" tIns="0" rIns="0" bIns="0" rtlCol="0" anchor="ctr"/>
          <a:lstStyle/>
          <a:p>
            <a:pPr algn="ctr" indent="0" marL="0">
              <a:buNone/>
            </a:pPr>
            <a:r>
              <a:rPr lang="en-US" sz="1500" b="1" dirty="0">
                <a:solidFill>
                  <a:srgbClr val="5B6B78"/>
                </a:solidFill>
                <a:latin typeface="Courier New" pitchFamily="34" charset="0"/>
                <a:ea typeface="Courier New" pitchFamily="34" charset="-122"/>
                <a:cs typeface="Courier New" pitchFamily="34" charset="-120"/>
              </a:rPr>
              <a:t>(free)</a:t>
            </a:r>
            <a:endParaRPr lang="en-US" sz="1500" dirty="0"/>
          </a:p>
        </p:txBody>
      </p:sp>
      <p:sp>
        <p:nvSpPr>
          <p:cNvPr id="7" name="Text 5"/>
          <p:cNvSpPr txBox="1"/>
          <p:nvPr/>
        </p:nvSpPr>
        <p:spPr>
          <a:xfrm>
            <a:off x="1920240" y="2889504"/>
            <a:ext cx="2194560" cy="530352"/>
          </a:xfrm>
          <a:prstGeom prst="rect">
            <a:avLst/>
          </a:prstGeom>
          <a:solidFill>
            <a:srgbClr val="C7791B"/>
          </a:solidFill>
          <a:ln w="12700">
            <a:solidFill>
              <a:srgbClr val="2E4A62"/>
            </a:solidFill>
          </a:ln>
        </p:spPr>
        <p:txBody>
          <a:bodyPr wrap="square" lIns="0" tIns="0" rIns="0" bIns="0" rtlCol="0" anchor="ctr"/>
          <a:lstStyle/>
          <a:p>
            <a:pPr algn="ctr" indent="0" marL="0">
              <a:buNone/>
            </a:pPr>
            <a:r>
              <a:rPr lang="en-US" sz="1500" b="1" dirty="0">
                <a:solidFill>
                  <a:srgbClr val="FFFFFF"/>
                </a:solidFill>
                <a:latin typeface="Courier New" pitchFamily="34" charset="0"/>
                <a:ea typeface="Courier New" pitchFamily="34" charset="-122"/>
                <a:cs typeface="Courier New" pitchFamily="34" charset="-120"/>
              </a:rPr>
              <a:t>-28</a:t>
            </a:r>
            <a:endParaRPr lang="en-US" sz="1500" dirty="0"/>
          </a:p>
        </p:txBody>
      </p:sp>
      <p:sp>
        <p:nvSpPr>
          <p:cNvPr id="8" name="Text 6"/>
          <p:cNvSpPr txBox="1"/>
          <p:nvPr/>
        </p:nvSpPr>
        <p:spPr>
          <a:xfrm>
            <a:off x="1920240" y="3419856"/>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-17</a:t>
            </a:r>
            <a:endParaRPr lang="en-US" sz="1500" dirty="0"/>
          </a:p>
        </p:txBody>
      </p:sp>
      <p:sp>
        <p:nvSpPr>
          <p:cNvPr id="9" name="Text 7"/>
          <p:cNvSpPr txBox="1"/>
          <p:nvPr/>
        </p:nvSpPr>
        <p:spPr>
          <a:xfrm>
            <a:off x="1920240" y="3950208"/>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739</a:t>
            </a:r>
            <a:endParaRPr lang="en-US" sz="1500" dirty="0"/>
          </a:p>
        </p:txBody>
      </p:sp>
      <p:sp>
        <p:nvSpPr>
          <p:cNvPr id="10" name="Text 8"/>
          <p:cNvSpPr txBox="1"/>
          <p:nvPr/>
        </p:nvSpPr>
        <p:spPr>
          <a:xfrm>
            <a:off x="1920240" y="4480560"/>
            <a:ext cx="2194560" cy="530352"/>
          </a:xfrm>
          <a:prstGeom prst="rect">
            <a:avLst/>
          </a:prstGeom>
          <a:solidFill>
            <a:srgbClr val="D8ECEE"/>
          </a:solidFill>
          <a:ln w="12700">
            <a:solidFill>
              <a:srgbClr val="2E4A62"/>
            </a:solidFill>
          </a:ln>
        </p:spPr>
        <p:txBody>
          <a:bodyPr wrap="square" lIns="0" tIns="0" rIns="0" bIns="0" rtlCol="0" anchor="ctr"/>
          <a:lstStyle/>
          <a:p>
            <a:pPr algn="ctr" indent="0" marL="0">
              <a:buNone/>
            </a:pPr>
            <a:r>
              <a:rPr lang="en-US" sz="1500" b="1" dirty="0">
                <a:solidFill>
                  <a:srgbClr val="1B2530"/>
                </a:solidFill>
                <a:latin typeface="Courier New" pitchFamily="34" charset="0"/>
                <a:ea typeface="Courier New" pitchFamily="34" charset="-122"/>
                <a:cs typeface="Courier New" pitchFamily="34" charset="-120"/>
              </a:rPr>
              <a:t>43</a:t>
            </a:r>
            <a:endParaRPr lang="en-US" sz="1500" dirty="0"/>
          </a:p>
        </p:txBody>
      </p:sp>
      <p:sp>
        <p:nvSpPr>
          <p:cNvPr id="11" name="Text 9"/>
          <p:cNvSpPr txBox="1"/>
          <p:nvPr/>
        </p:nvSpPr>
        <p:spPr>
          <a:xfrm>
            <a:off x="4251960" y="4480560"/>
            <a:ext cx="1828800" cy="530352"/>
          </a:xfrm>
          <a:prstGeom prst="rect">
            <a:avLst/>
          </a:prstGeom>
          <a:noFill/>
          <a:ln/>
        </p:spPr>
        <p:txBody>
          <a:bodyPr wrap="square" lIns="0" tIns="0" rIns="0" bIns="0" rtlCol="0" anchor="ctr"/>
          <a:lstStyle/>
          <a:p>
            <a:pPr indent="0" marL="0">
              <a:buNone/>
            </a:pPr>
            <a:r>
              <a:rPr lang="en-US" sz="1150" i="1" dirty="0">
                <a:solidFill>
                  <a:srgbClr val="5B6B78"/>
                </a:solidFill>
                <a:latin typeface="Calibri" pitchFamily="34" charset="0"/>
                <a:ea typeface="Calibri" pitchFamily="34" charset="-122"/>
                <a:cs typeface="Calibri" pitchFamily="34" charset="-120"/>
              </a:rPr>
              <a:t>bottom of the stack</a:t>
            </a:r>
            <a:endParaRPr lang="en-US" sz="1150" dirty="0"/>
          </a:p>
        </p:txBody>
      </p:sp>
      <p:sp>
        <p:nvSpPr>
          <p:cNvPr id="12" name="Shape 10"/>
          <p:cNvSpPr/>
          <p:nvPr/>
        </p:nvSpPr>
        <p:spPr>
          <a:xfrm>
            <a:off x="1097280" y="3154680"/>
            <a:ext cx="777240" cy="0"/>
          </a:xfrm>
          <a:prstGeom prst="line">
            <a:avLst/>
          </a:prstGeom>
          <a:noFill/>
          <a:ln w="28575">
            <a:solidFill>
              <a:srgbClr val="B23A48"/>
            </a:solidFill>
            <a:prstDash val="solid"/>
            <a:tailEnd type="triangle"/>
          </a:ln>
        </p:spPr>
      </p:sp>
      <p:sp>
        <p:nvSpPr>
          <p:cNvPr id="13" name="Text 11"/>
          <p:cNvSpPr txBox="1"/>
          <p:nvPr/>
        </p:nvSpPr>
        <p:spPr>
          <a:xfrm>
            <a:off x="548640" y="2889504"/>
            <a:ext cx="502920" cy="530352"/>
          </a:xfrm>
          <a:prstGeom prst="rect">
            <a:avLst/>
          </a:prstGeom>
          <a:noFill/>
          <a:ln/>
        </p:spPr>
        <p:txBody>
          <a:bodyPr wrap="square" lIns="0" tIns="0" rIns="0" bIns="0" rtlCol="0" anchor="ctr"/>
          <a:lstStyle/>
          <a:p>
            <a:pPr algn="r" indent="0" marL="0">
              <a:buNone/>
            </a:pPr>
            <a:r>
              <a:rPr lang="en-US" sz="1800" b="1" dirty="0">
                <a:solidFill>
                  <a:srgbClr val="B23A48"/>
                </a:solidFill>
                <a:latin typeface="Courier New" pitchFamily="34" charset="0"/>
                <a:ea typeface="Courier New" pitchFamily="34" charset="-122"/>
                <a:cs typeface="Courier New" pitchFamily="34" charset="-120"/>
              </a:rPr>
              <a:t>sp</a:t>
            </a:r>
            <a:endParaRPr lang="en-US" sz="1800" dirty="0"/>
          </a:p>
        </p:txBody>
      </p:sp>
      <p:sp>
        <p:nvSpPr>
          <p:cNvPr id="14" name="Text 12"/>
          <p:cNvSpPr txBox="1"/>
          <p:nvPr/>
        </p:nvSpPr>
        <p:spPr>
          <a:xfrm>
            <a:off x="548640" y="5148072"/>
            <a:ext cx="5120640" cy="640080"/>
          </a:xfrm>
          <a:prstGeom prst="rect">
            <a:avLst/>
          </a:prstGeom>
          <a:noFill/>
          <a:ln/>
        </p:spPr>
        <p:txBody>
          <a:bodyPr wrap="square" lIns="0" tIns="0" rIns="0" bIns="0" rtlCol="0" anchor="t"/>
          <a:lstStyle/>
          <a:p>
            <a:pPr indent="0" marL="0">
              <a:buNone/>
            </a:pPr>
            <a:r>
              <a:rPr lang="en-US" sz="1400" dirty="0">
                <a:solidFill>
                  <a:srgbClr val="1B2530"/>
                </a:solidFill>
                <a:latin typeface="Calibri" pitchFamily="34" charset="0"/>
                <a:ea typeface="Calibri" pitchFamily="34" charset="-122"/>
                <a:cs typeface="Calibri" pitchFamily="34" charset="-120"/>
              </a:rPr>
              <a:t>sp points to the last occupied location; the stack grows towards low addresses.</a:t>
            </a:r>
            <a:endParaRPr lang="en-US" sz="1400" dirty="0"/>
          </a:p>
        </p:txBody>
      </p:sp>
      <p:sp>
        <p:nvSpPr>
          <p:cNvPr id="15" name="Shape 13"/>
          <p:cNvSpPr/>
          <p:nvPr/>
        </p:nvSpPr>
        <p:spPr>
          <a:xfrm>
            <a:off x="6035040" y="1417320"/>
            <a:ext cx="5608015" cy="2743200"/>
          </a:xfrm>
          <a:prstGeom prst="roundRect">
            <a:avLst>
              <a:gd name="adj" fmla="val 2667"/>
            </a:avLst>
          </a:prstGeom>
          <a:solidFill>
            <a:srgbClr val="12202B"/>
          </a:solidFill>
          <a:ln w="12700">
            <a:solidFill>
              <a:srgbClr val="12202B"/>
            </a:solidFill>
            <a:prstDash val="solid"/>
          </a:ln>
        </p:spPr>
      </p:sp>
      <p:sp>
        <p:nvSpPr>
          <p:cNvPr id="16" name="Text 14"/>
          <p:cNvSpPr txBox="1"/>
          <p:nvPr/>
        </p:nvSpPr>
        <p:spPr>
          <a:xfrm>
            <a:off x="6263640" y="1600200"/>
            <a:ext cx="5150815" cy="2377440"/>
          </a:xfrm>
          <a:prstGeom prst="rect">
            <a:avLst/>
          </a:prstGeom>
          <a:noFill/>
          <a:ln/>
        </p:spPr>
        <p:txBody>
          <a:bodyPr wrap="square" lIns="0" tIns="0" rIns="0" bIns="0" rtlCol="0" anchor="t"/>
          <a:lstStyle/>
          <a:p>
            <a:pPr indent="0" marL="0">
              <a:buNone/>
            </a:pPr>
            <a:r>
              <a:rPr lang="en-US" sz="1600" dirty="0">
                <a:solidFill>
                  <a:srgbClr val="8FB3A0"/>
                </a:solidFill>
                <a:latin typeface="Courier New" pitchFamily="34" charset="0"/>
                <a:ea typeface="Courier New" pitchFamily="34" charset="-122"/>
                <a:cs typeface="Courier New" pitchFamily="34" charset="-120"/>
              </a:rPr>
              <a:t># push 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addi sp, sp, -4      </a:t>
            </a:r>
            <a:pPr indent="0" marL="0">
              <a:buNone/>
            </a:pPr>
            <a:r>
              <a:rPr lang="en-US" sz="1600" dirty="0">
                <a:solidFill>
                  <a:srgbClr val="8FB3A0"/>
                </a:solidFill>
                <a:latin typeface="Courier New" pitchFamily="34" charset="0"/>
                <a:ea typeface="Courier New" pitchFamily="34" charset="-122"/>
                <a:cs typeface="Courier New" pitchFamily="34" charset="-120"/>
              </a:rPr>
              <a:t># make room</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sw   t0, 0(sp)       </a:t>
            </a:r>
            <a:pPr indent="0" marL="0">
              <a:buNone/>
            </a:pPr>
            <a:r>
              <a:rPr lang="en-US" sz="1600" dirty="0">
                <a:solidFill>
                  <a:srgbClr val="8FB3A0"/>
                </a:solidFill>
                <a:latin typeface="Courier New" pitchFamily="34" charset="0"/>
                <a:ea typeface="Courier New" pitchFamily="34" charset="-122"/>
                <a:cs typeface="Courier New" pitchFamily="34" charset="-120"/>
              </a:rPr>
              <a:t># store on top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 </a:t>
            </a:r>
            <a:endParaRPr lang="en-US" sz="1600" dirty="0"/>
          </a:p>
          <a:p>
            <a:pPr indent="0" marL="0">
              <a:buNone/>
            </a:pPr>
            <a:r>
              <a:rPr lang="en-US" sz="1600" dirty="0">
                <a:solidFill>
                  <a:srgbClr val="8FB3A0"/>
                </a:solidFill>
                <a:latin typeface="Courier New" pitchFamily="34" charset="0"/>
                <a:ea typeface="Courier New" pitchFamily="34" charset="-122"/>
                <a:cs typeface="Courier New" pitchFamily="34" charset="-120"/>
              </a:rPr>
              <a:t># pop t0</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lw   t0, 0(sp)       </a:t>
            </a:r>
            <a:pPr indent="0" marL="0">
              <a:buNone/>
            </a:pPr>
            <a:r>
              <a:rPr lang="en-US" sz="1600" dirty="0">
                <a:solidFill>
                  <a:srgbClr val="8FB3A0"/>
                </a:solidFill>
                <a:latin typeface="Courier New" pitchFamily="34" charset="0"/>
                <a:ea typeface="Courier New" pitchFamily="34" charset="-122"/>
                <a:cs typeface="Courier New" pitchFamily="34" charset="-120"/>
              </a:rPr>
              <a:t># fetch the top</a:t>
            </a:r>
            <a:endParaRPr lang="en-US" sz="1600" dirty="0"/>
          </a:p>
          <a:p>
            <a:pPr indent="0" marL="0">
              <a:buNone/>
            </a:pPr>
            <a:r>
              <a:rPr lang="en-US" sz="1600" dirty="0">
                <a:solidFill>
                  <a:srgbClr val="E6EDF2"/>
                </a:solidFill>
                <a:latin typeface="Courier New" pitchFamily="34" charset="0"/>
                <a:ea typeface="Courier New" pitchFamily="34" charset="-122"/>
                <a:cs typeface="Courier New" pitchFamily="34" charset="-120"/>
              </a:rPr>
              <a:t>addi sp, sp, 4       </a:t>
            </a:r>
            <a:pPr indent="0" marL="0">
              <a:buNone/>
            </a:pPr>
            <a:r>
              <a:rPr lang="en-US" sz="1600" dirty="0">
                <a:solidFill>
                  <a:srgbClr val="8FB3A0"/>
                </a:solidFill>
                <a:latin typeface="Courier New" pitchFamily="34" charset="0"/>
                <a:ea typeface="Courier New" pitchFamily="34" charset="-122"/>
                <a:cs typeface="Courier New" pitchFamily="34" charset="-120"/>
              </a:rPr>
              <a:t># release it</a:t>
            </a:r>
            <a:endParaRPr lang="en-US" sz="16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6035040" y="4389120"/>
          <a:ext cx="5605272" cy="914400"/>
        </p:xfrm>
        <a:graphic>
          <a:graphicData uri="http://schemas.openxmlformats.org/drawingml/2006/table">
            <a:tbl>
              <a:tblPr/>
              <a:tblGrid>
                <a:gridCol w="2011680"/>
                <a:gridCol w="3593592"/>
              </a:tblGrid>
              <a:tr h="0">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Processor</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350" b="1" dirty="0">
                          <a:solidFill>
                            <a:srgbClr val="FFFFFF"/>
                          </a:solidFill>
                          <a:latin typeface="Calibri" pitchFamily="34" charset="0"/>
                          <a:ea typeface="Calibri" pitchFamily="34" charset="-122"/>
                          <a:cs typeface="Calibri" pitchFamily="34" charset="-120"/>
                        </a:rPr>
                        <a:t>Push</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RISC-V</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addi sp, sp, -4 and sw: two instructions</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MC68000</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MOVE D0, -(SP): a pre-decrement addressing mode</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350" b="1" dirty="0">
                          <a:solidFill>
                            <a:srgbClr val="1B2530"/>
                          </a:solidFill>
                          <a:latin typeface="Calibri" pitchFamily="34" charset="0"/>
                          <a:ea typeface="Calibri" pitchFamily="34" charset="-122"/>
                          <a:cs typeface="Calibri" pitchFamily="34" charset="-120"/>
                        </a:rPr>
                        <a:t>Intel x86</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350" dirty="0">
                          <a:solidFill>
                            <a:srgbClr val="1B2530"/>
                          </a:solidFill>
                          <a:latin typeface="Calibri" pitchFamily="34" charset="0"/>
                          <a:ea typeface="Calibri" pitchFamily="34" charset="-122"/>
                          <a:cs typeface="Calibri" pitchFamily="34" charset="-120"/>
                        </a:rPr>
                        <a:t>PUSH: a dedicated instruction</a:t>
                      </a:r>
                      <a:endParaRPr lang="en-US" sz="1350" dirty="0">
                        <a:latin typeface="Calibri" charset="0"/>
                        <a:ea typeface="Calibri" charset="0"/>
                        <a:cs typeface="Calibri" charset="0"/>
                      </a:endParaRPr>
                    </a:p>
                  </a:txBody>
                  <a:tcPr marL="88900" marR="88900" marT="38100" marB="381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05</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Processor models</a:t>
            </a:r>
            <a:endParaRPr lang="en-US" sz="4400" dirty="0"/>
          </a:p>
        </p:txBody>
      </p:sp>
      <p:sp>
        <p:nvSpPr>
          <p:cNvPr id="7" name="Text 5"/>
          <p:cNvSpPr txBox="1"/>
          <p:nvPr/>
        </p:nvSpPr>
        <p:spPr>
          <a:xfrm>
            <a:off x="548640" y="4343400"/>
            <a:ext cx="11094415" cy="1097280"/>
          </a:xfrm>
          <a:prstGeom prst="rect">
            <a:avLst/>
          </a:prstGeom>
          <a:noFill/>
          <a:ln/>
        </p:spPr>
        <p:txBody>
          <a:bodyPr wrap="square" lIns="0" tIns="0" rIns="0" bIns="0" rtlCol="0" anchor="t"/>
          <a:lstStyle/>
          <a:p>
            <a:pPr indent="0" marL="0">
              <a:buNone/>
            </a:pPr>
            <a:r>
              <a:rPr lang="en-US" sz="2200" dirty="0">
                <a:solidFill>
                  <a:srgbClr val="CFE3EA"/>
                </a:solidFill>
                <a:latin typeface="Calibri" pitchFamily="34" charset="0"/>
                <a:ea typeface="Calibri" pitchFamily="34" charset="-122"/>
                <a:cs typeface="Calibri" pitchFamily="34" charset="-120"/>
              </a:rPr>
              <a:t>Where the operands live.</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Four architectures of the processor</a:t>
            </a:r>
            <a:endParaRPr lang="en-US" sz="3200" dirty="0"/>
          </a:p>
        </p:txBody>
      </p:sp>
      <p:sp>
        <p:nvSpPr>
          <p:cNvPr id="3" name="Shape 1"/>
          <p:cNvSpPr/>
          <p:nvPr/>
        </p:nvSpPr>
        <p:spPr>
          <a:xfrm>
            <a:off x="548640" y="1417320"/>
            <a:ext cx="5410048" cy="2240280"/>
          </a:xfrm>
          <a:prstGeom prst="roundRect">
            <a:avLst>
              <a:gd name="adj" fmla="val 3265"/>
            </a:avLst>
          </a:prstGeom>
          <a:solidFill>
            <a:srgbClr val="EEF2F4"/>
          </a:solidFill>
          <a:ln w="12700">
            <a:solidFill>
              <a:srgbClr val="EEF2F4"/>
            </a:solidFill>
            <a:prstDash val="solid"/>
          </a:ln>
        </p:spPr>
      </p:sp>
      <p:sp>
        <p:nvSpPr>
          <p:cNvPr id="4" name="Text 2"/>
          <p:cNvSpPr txBox="1"/>
          <p:nvPr/>
        </p:nvSpPr>
        <p:spPr>
          <a:xfrm>
            <a:off x="777240" y="1645920"/>
            <a:ext cx="384048" cy="384048"/>
          </a:xfrm>
          <a:prstGeom prst="roundRect">
            <a:avLst>
              <a:gd name="adj" fmla="val 19048"/>
            </a:avLst>
          </a:prstGeom>
          <a:solidFill>
            <a:srgbClr val="0E7C86"/>
          </a:solidFill>
          <a:ln>
            <a:solidFill>
              <a:srgbClr val="0E7C86"/>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5" name="Text 3"/>
          <p:cNvSpPr txBox="1"/>
          <p:nvPr/>
        </p:nvSpPr>
        <p:spPr>
          <a:xfrm>
            <a:off x="1325880"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General registers</a:t>
            </a:r>
            <a:endParaRPr lang="en-US" sz="2000" dirty="0"/>
          </a:p>
        </p:txBody>
      </p:sp>
      <p:sp>
        <p:nvSpPr>
          <p:cNvPr id="6" name="Text 4"/>
          <p:cNvSpPr txBox="1"/>
          <p:nvPr/>
        </p:nvSpPr>
        <p:spPr>
          <a:xfrm>
            <a:off x="822960"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 processor has a set of registers REG0, REG1, ..., REGN-1 that can be used interchangeably.</a:t>
            </a:r>
            <a:endParaRPr lang="en-US" sz="1900" dirty="0"/>
          </a:p>
        </p:txBody>
      </p:sp>
      <p:sp>
        <p:nvSpPr>
          <p:cNvPr id="7" name="Shape 5"/>
          <p:cNvSpPr/>
          <p:nvPr/>
        </p:nvSpPr>
        <p:spPr>
          <a:xfrm>
            <a:off x="6233008" y="1417320"/>
            <a:ext cx="5410048" cy="2240280"/>
          </a:xfrm>
          <a:prstGeom prst="roundRect">
            <a:avLst>
              <a:gd name="adj" fmla="val 3265"/>
            </a:avLst>
          </a:prstGeom>
          <a:solidFill>
            <a:srgbClr val="EEF2F4"/>
          </a:solidFill>
          <a:ln w="12700">
            <a:solidFill>
              <a:srgbClr val="EEF2F4"/>
            </a:solidFill>
            <a:prstDash val="solid"/>
          </a:ln>
        </p:spPr>
      </p:sp>
      <p:sp>
        <p:nvSpPr>
          <p:cNvPr id="8" name="Text 6"/>
          <p:cNvSpPr txBox="1"/>
          <p:nvPr/>
        </p:nvSpPr>
        <p:spPr>
          <a:xfrm>
            <a:off x="6461608" y="1645920"/>
            <a:ext cx="384048" cy="384048"/>
          </a:xfrm>
          <a:prstGeom prst="roundRect">
            <a:avLst>
              <a:gd name="adj" fmla="val 19048"/>
            </a:avLst>
          </a:prstGeom>
          <a:solidFill>
            <a:srgbClr val="C7791B"/>
          </a:solidFill>
          <a:ln>
            <a:solidFill>
              <a:srgbClr val="C7791B"/>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9" name="Text 7"/>
          <p:cNvSpPr txBox="1"/>
          <p:nvPr/>
        </p:nvSpPr>
        <p:spPr>
          <a:xfrm>
            <a:off x="7010248" y="16002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Accumulator</a:t>
            </a:r>
            <a:endParaRPr lang="en-US" sz="2000" dirty="0"/>
          </a:p>
        </p:txBody>
      </p:sp>
      <p:sp>
        <p:nvSpPr>
          <p:cNvPr id="10" name="Text 8"/>
          <p:cNvSpPr txBox="1"/>
          <p:nvPr/>
        </p:nvSpPr>
        <p:spPr>
          <a:xfrm>
            <a:off x="6507328" y="23317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All arithmetic, logic and comparison instructions have an implicit operand: one special register, the accumulator.</a:t>
            </a:r>
            <a:endParaRPr lang="en-US" sz="1900" dirty="0"/>
          </a:p>
        </p:txBody>
      </p:sp>
      <p:sp>
        <p:nvSpPr>
          <p:cNvPr id="11" name="Shape 9"/>
          <p:cNvSpPr/>
          <p:nvPr/>
        </p:nvSpPr>
        <p:spPr>
          <a:xfrm>
            <a:off x="548640" y="3931920"/>
            <a:ext cx="5410048" cy="2240280"/>
          </a:xfrm>
          <a:prstGeom prst="roundRect">
            <a:avLst>
              <a:gd name="adj" fmla="val 3265"/>
            </a:avLst>
          </a:prstGeom>
          <a:solidFill>
            <a:srgbClr val="EEF2F4"/>
          </a:solidFill>
          <a:ln w="12700">
            <a:solidFill>
              <a:srgbClr val="EEF2F4"/>
            </a:solidFill>
            <a:prstDash val="solid"/>
          </a:ln>
        </p:spPr>
      </p:sp>
      <p:sp>
        <p:nvSpPr>
          <p:cNvPr id="12" name="Text 10"/>
          <p:cNvSpPr txBox="1"/>
          <p:nvPr/>
        </p:nvSpPr>
        <p:spPr>
          <a:xfrm>
            <a:off x="777240" y="4160520"/>
            <a:ext cx="384048" cy="384048"/>
          </a:xfrm>
          <a:prstGeom prst="roundRect">
            <a:avLst>
              <a:gd name="adj" fmla="val 19048"/>
            </a:avLst>
          </a:prstGeom>
          <a:solidFill>
            <a:srgbClr val="6B4FA0"/>
          </a:solidFill>
          <a:ln>
            <a:solidFill>
              <a:srgbClr val="6B4FA0"/>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3" name="Text 11"/>
          <p:cNvSpPr txBox="1"/>
          <p:nvPr/>
        </p:nvSpPr>
        <p:spPr>
          <a:xfrm>
            <a:off x="1325880"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Stack</a:t>
            </a:r>
            <a:endParaRPr lang="en-US" sz="2000" dirty="0"/>
          </a:p>
        </p:txBody>
      </p:sp>
      <p:sp>
        <p:nvSpPr>
          <p:cNvPr id="14" name="Text 12"/>
          <p:cNvSpPr txBox="1"/>
          <p:nvPr/>
        </p:nvSpPr>
        <p:spPr>
          <a:xfrm>
            <a:off x="822960"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There are neither accumulators nor general registers, only the stack pointer; instructions work on the data on top of the stack.</a:t>
            </a:r>
            <a:endParaRPr lang="en-US" sz="1900" dirty="0"/>
          </a:p>
        </p:txBody>
      </p:sp>
      <p:sp>
        <p:nvSpPr>
          <p:cNvPr id="15" name="Shape 13"/>
          <p:cNvSpPr/>
          <p:nvPr/>
        </p:nvSpPr>
        <p:spPr>
          <a:xfrm>
            <a:off x="6233008" y="3931920"/>
            <a:ext cx="5410048" cy="2240280"/>
          </a:xfrm>
          <a:prstGeom prst="roundRect">
            <a:avLst>
              <a:gd name="adj" fmla="val 3265"/>
            </a:avLst>
          </a:prstGeom>
          <a:solidFill>
            <a:srgbClr val="EEF2F4"/>
          </a:solidFill>
          <a:ln w="12700">
            <a:solidFill>
              <a:srgbClr val="EEF2F4"/>
            </a:solidFill>
            <a:prstDash val="solid"/>
          </a:ln>
        </p:spPr>
      </p:sp>
      <p:sp>
        <p:nvSpPr>
          <p:cNvPr id="16" name="Text 14"/>
          <p:cNvSpPr txBox="1"/>
          <p:nvPr/>
        </p:nvSpPr>
        <p:spPr>
          <a:xfrm>
            <a:off x="6461608" y="4160520"/>
            <a:ext cx="384048" cy="384048"/>
          </a:xfrm>
          <a:prstGeom prst="roundRect">
            <a:avLst>
              <a:gd name="adj" fmla="val 19048"/>
            </a:avLst>
          </a:prstGeom>
          <a:solidFill>
            <a:srgbClr val="2F7D4F"/>
          </a:solidFill>
          <a:ln>
            <a:solidFill>
              <a:srgbClr val="2F7D4F"/>
            </a:solid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7" name="Text 15"/>
          <p:cNvSpPr txBox="1"/>
          <p:nvPr/>
        </p:nvSpPr>
        <p:spPr>
          <a:xfrm>
            <a:off x="7010248" y="4114800"/>
            <a:ext cx="4404208" cy="685800"/>
          </a:xfrm>
          <a:prstGeom prst="rect">
            <a:avLst/>
          </a:prstGeom>
          <a:noFill/>
          <a:ln/>
        </p:spPr>
        <p:txBody>
          <a:bodyPr wrap="square" lIns="0" tIns="0" rIns="0" bIns="0" rtlCol="0" anchor="ctr"/>
          <a:lstStyle/>
          <a:p>
            <a:pPr indent="0" marL="0">
              <a:buNone/>
            </a:pPr>
            <a:r>
              <a:rPr lang="en-US" sz="2000" b="1" dirty="0">
                <a:solidFill>
                  <a:srgbClr val="2E4A62"/>
                </a:solidFill>
                <a:latin typeface="Calibri" pitchFamily="34" charset="0"/>
                <a:ea typeface="Calibri" pitchFamily="34" charset="-122"/>
                <a:cs typeface="Calibri" pitchFamily="34" charset="-120"/>
              </a:rPr>
              <a:t>Orthogonal</a:t>
            </a:r>
            <a:endParaRPr lang="en-US" sz="2000" dirty="0"/>
          </a:p>
        </p:txBody>
      </p:sp>
      <p:sp>
        <p:nvSpPr>
          <p:cNvPr id="18" name="Text 16"/>
          <p:cNvSpPr txBox="1"/>
          <p:nvPr/>
        </p:nvSpPr>
        <p:spPr>
          <a:xfrm>
            <a:off x="6507328" y="4846320"/>
            <a:ext cx="4861408" cy="1188720"/>
          </a:xfrm>
          <a:prstGeom prst="rect">
            <a:avLst/>
          </a:prstGeom>
          <a:noFill/>
          <a:ln/>
        </p:spPr>
        <p:txBody>
          <a:bodyPr wrap="square" lIns="0" tIns="0" rIns="0" bIns="0" rtlCol="0" anchor="t"/>
          <a:lstStyle/>
          <a:p>
            <a:pPr indent="0" marL="0">
              <a:buNone/>
            </a:pPr>
            <a:r>
              <a:rPr lang="en-US" sz="1900" dirty="0">
                <a:solidFill>
                  <a:srgbClr val="1B2530"/>
                </a:solidFill>
                <a:latin typeface="Calibri" pitchFamily="34" charset="0"/>
                <a:ea typeface="Calibri" pitchFamily="34" charset="-122"/>
                <a:cs typeface="Calibri" pitchFamily="34" charset="-120"/>
              </a:rPr>
              <a:t>A single bank of general registers, some of which serve, when needed, as stack pointer or other special registers.</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z = x + y in four processors</a:t>
            </a:r>
            <a:endParaRPr lang="en-US" sz="32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326248"/>
                <a:gridCol w="2326248"/>
                <a:gridCol w="5278794"/>
                <a:gridCol w="1163124"/>
              </a:tblGrid>
              <a:tr h="0">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Model</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Example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Program</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1500" b="1" dirty="0">
                          <a:solidFill>
                            <a:srgbClr val="FFFFFF"/>
                          </a:solidFill>
                          <a:latin typeface="Calibri" pitchFamily="34" charset="0"/>
                          <a:ea typeface="Calibri" pitchFamily="34" charset="-122"/>
                          <a:cs typeface="Calibri" pitchFamily="34" charset="-120"/>
                        </a:rPr>
                        <a:t>Memory accesses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accumulator</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Motorola 6809, MOS 6502</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LDA x ;  ADD y ;  STA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stack</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Java virtual machine, WebAssembly</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PUSH x ;  PUSH y ;  ADD ;  POP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 plus the stack itself</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general registers, memory operands</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MC68000, Intel x86</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MOVE x, D0 ;  ADD y, D0 ;  MOVE D0,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1500" b="1" dirty="0">
                          <a:solidFill>
                            <a:srgbClr val="1B2530"/>
                          </a:solidFill>
                          <a:latin typeface="Calibri" pitchFamily="34" charset="0"/>
                          <a:ea typeface="Calibri" pitchFamily="34" charset="-122"/>
                          <a:cs typeface="Calibri" pitchFamily="34" charset="-120"/>
                        </a:rPr>
                        <a:t>general registers, load-store</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RISC-V</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ourier New" pitchFamily="34" charset="0"/>
                          <a:ea typeface="Courier New" pitchFamily="34" charset="-122"/>
                          <a:cs typeface="Courier New" pitchFamily="34" charset="-120"/>
                        </a:rPr>
                        <a:t>lw t1, x ;  lw t2, y ;  add t3, t1, t2 ;  sw t3, z</a:t>
                      </a:r>
                      <a:endParaRPr lang="en-US" sz="1500" dirty="0">
                        <a:latin typeface="Courier New" charset="0"/>
                        <a:ea typeface="Courier New" charset="0"/>
                        <a:cs typeface="Courier New"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1500" dirty="0">
                          <a:solidFill>
                            <a:srgbClr val="1B2530"/>
                          </a:solidFill>
                          <a:latin typeface="Calibri" pitchFamily="34" charset="0"/>
                          <a:ea typeface="Calibri" pitchFamily="34" charset="-122"/>
                          <a:cs typeface="Calibri" pitchFamily="34" charset="-120"/>
                        </a:rPr>
                        <a:t>3</a:t>
                      </a:r>
                      <a:endParaRPr lang="en-US" sz="15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RISC-V: a load-store, general-register processor</a:t>
            </a:r>
            <a:endParaRPr lang="en-US" sz="3200" dirty="0"/>
          </a:p>
        </p:txBody>
      </p:sp>
      <p:sp>
        <p:nvSpPr>
          <p:cNvPr id="3" name="Shape 1"/>
          <p:cNvSpPr/>
          <p:nvPr/>
        </p:nvSpPr>
        <p:spPr>
          <a:xfrm>
            <a:off x="548640" y="1515999"/>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Instructions that work on registers are faster than those that work on memory locations: the most used data are kept in registers</a:t>
            </a:r>
            <a:endParaRPr lang="en-US" sz="2100" dirty="0"/>
          </a:p>
        </p:txBody>
      </p:sp>
      <p:sp>
        <p:nvSpPr>
          <p:cNvPr id="5" name="Shape 3"/>
          <p:cNvSpPr/>
          <p:nvPr/>
        </p:nvSpPr>
        <p:spPr>
          <a:xfrm>
            <a:off x="548640" y="2623375"/>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524697"/>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Only loads and stores touch memory; every other instruction works register to register</a:t>
            </a:r>
            <a:endParaRPr lang="en-US" sz="2100" dirty="0"/>
          </a:p>
        </p:txBody>
      </p:sp>
      <p:sp>
        <p:nvSpPr>
          <p:cNvPr id="7" name="Shape 5"/>
          <p:cNvSpPr/>
          <p:nvPr/>
        </p:nvSpPr>
        <p:spPr>
          <a:xfrm>
            <a:off x="548640" y="3405378"/>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306699"/>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Three operands: two sources and a destination, so that no value is destroyed unless you want it to be</a:t>
            </a:r>
            <a:endParaRPr lang="en-US" sz="2100" dirty="0"/>
          </a:p>
        </p:txBody>
      </p:sp>
      <p:sp>
        <p:nvSpPr>
          <p:cNvPr id="9" name="Shape 7"/>
          <p:cNvSpPr/>
          <p:nvPr/>
        </p:nvSpPr>
        <p:spPr>
          <a:xfrm>
            <a:off x="548640" y="4512755"/>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414076"/>
            <a:ext cx="6565392" cy="976122"/>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Each instruction does one simple thing and has a fixed size: easy to decode, easy to execute in a pipeline</a:t>
            </a:r>
            <a:endParaRPr lang="en-US" sz="2100" dirty="0"/>
          </a:p>
        </p:txBody>
      </p:sp>
      <p:sp>
        <p:nvSpPr>
          <p:cNvPr id="11" name="Shape 9"/>
          <p:cNvSpPr/>
          <p:nvPr/>
        </p:nvSpPr>
        <p:spPr>
          <a:xfrm>
            <a:off x="548640" y="5620131"/>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521452"/>
            <a:ext cx="6565392" cy="650748"/>
          </a:xfrm>
          <a:prstGeom prst="rect">
            <a:avLst/>
          </a:prstGeom>
          <a:noFill/>
          <a:ln/>
        </p:spPr>
        <p:txBody>
          <a:bodyPr wrap="square" lIns="0" tIns="0" rIns="0" bIns="0" rtlCol="0" anchor="t"/>
          <a:lstStyle/>
          <a:p>
            <a:pPr indent="0" marL="0">
              <a:spcAft>
                <a:spcPts val="200"/>
              </a:spcAft>
              <a:buNone/>
            </a:pPr>
            <a:r>
              <a:rPr lang="en-US" sz="2100" dirty="0">
                <a:solidFill>
                  <a:srgbClr val="1B2530"/>
                </a:solidFill>
                <a:latin typeface="Calibri" pitchFamily="34" charset="0"/>
                <a:ea typeface="Calibri" pitchFamily="34" charset="-122"/>
                <a:cs typeface="Calibri" pitchFamily="34" charset="-120"/>
              </a:rPr>
              <a:t>This is the meaning of RISC: reduced instruction set computer</a:t>
            </a:r>
            <a:endParaRPr lang="en-US" sz="2100" dirty="0"/>
          </a:p>
        </p:txBody>
      </p:sp>
      <p:sp>
        <p:nvSpPr>
          <p:cNvPr id="13" name="Shape 11"/>
          <p:cNvSpPr/>
          <p:nvPr/>
        </p:nvSpPr>
        <p:spPr>
          <a:xfrm>
            <a:off x="7863840" y="1417320"/>
            <a:ext cx="3779215" cy="4754880"/>
          </a:xfrm>
          <a:prstGeom prst="roundRect">
            <a:avLst>
              <a:gd name="adj" fmla="val 1936"/>
            </a:avLst>
          </a:prstGeom>
          <a:solidFill>
            <a:srgbClr val="1B2530"/>
          </a:solidFill>
          <a:ln w="12700">
            <a:solidFill>
              <a:srgbClr val="1B2530"/>
            </a:solidFill>
            <a:prstDash val="solid"/>
          </a:ln>
        </p:spPr>
      </p:sp>
      <p:sp>
        <p:nvSpPr>
          <p:cNvPr id="14" name="Text 12"/>
          <p:cNvSpPr txBox="1"/>
          <p:nvPr/>
        </p:nvSpPr>
        <p:spPr>
          <a:xfrm>
            <a:off x="8046720" y="2148840"/>
            <a:ext cx="3413455" cy="1828800"/>
          </a:xfrm>
          <a:prstGeom prst="rect">
            <a:avLst/>
          </a:prstGeom>
          <a:noFill/>
          <a:ln/>
        </p:spPr>
        <p:txBody>
          <a:bodyPr wrap="square" lIns="0" tIns="0" rIns="0" bIns="0" rtlCol="0" anchor="ctr"/>
          <a:lstStyle/>
          <a:p>
            <a:pPr algn="ctr" indent="0" marL="0">
              <a:buNone/>
            </a:pPr>
            <a:r>
              <a:rPr lang="en-US" sz="3900" b="1" dirty="0">
                <a:solidFill>
                  <a:srgbClr val="FFFFFF"/>
                </a:solidFill>
                <a:latin typeface="Cambria" pitchFamily="34" charset="0"/>
                <a:ea typeface="Cambria" pitchFamily="34" charset="-122"/>
                <a:cs typeface="Cambria" pitchFamily="34" charset="-120"/>
              </a:rPr>
              <a:t>load, compute, store</a:t>
            </a:r>
            <a:endParaRPr lang="en-US" sz="3900" dirty="0"/>
          </a:p>
        </p:txBody>
      </p:sp>
      <p:sp>
        <p:nvSpPr>
          <p:cNvPr id="15" name="Text 13"/>
          <p:cNvSpPr txBox="1"/>
          <p:nvPr/>
        </p:nvSpPr>
        <p:spPr>
          <a:xfrm>
            <a:off x="8138160" y="4160520"/>
            <a:ext cx="3230575" cy="1554480"/>
          </a:xfrm>
          <a:prstGeom prst="rect">
            <a:avLst/>
          </a:prstGeom>
          <a:noFill/>
          <a:ln/>
        </p:spPr>
        <p:txBody>
          <a:bodyPr wrap="square" lIns="0" tIns="0" rIns="0" bIns="0" rtlCol="0" anchor="t"/>
          <a:lstStyle/>
          <a:p>
            <a:pPr algn="ctr" indent="0" marL="0">
              <a:buNone/>
            </a:pPr>
            <a:r>
              <a:rPr lang="en-US" sz="1900" dirty="0">
                <a:solidFill>
                  <a:srgbClr val="CFE3EA"/>
                </a:solidFill>
                <a:latin typeface="Calibri" pitchFamily="34" charset="0"/>
                <a:ea typeface="Calibri" pitchFamily="34" charset="-122"/>
                <a:cs typeface="Calibri" pitchFamily="34" charset="-120"/>
              </a:rPr>
              <a:t>the rhythm of every RISC-V program, from the first counter to the last game</a:t>
            </a:r>
            <a:endParaRPr lang="en-US" sz="19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Shape 0"/>
          <p:cNvSpPr/>
          <p:nvPr/>
        </p:nvSpPr>
        <p:spPr>
          <a:xfrm>
            <a:off x="548640" y="640080"/>
            <a:ext cx="168250" cy="168250"/>
          </a:xfrm>
          <a:prstGeom prst="rect">
            <a:avLst/>
          </a:prstGeom>
          <a:solidFill>
            <a:srgbClr val="0E7C86"/>
          </a:solidFill>
          <a:ln w="12700">
            <a:solidFill>
              <a:srgbClr val="0E7C86"/>
            </a:solidFill>
            <a:prstDash val="solid"/>
          </a:ln>
        </p:spPr>
      </p:sp>
      <p:sp>
        <p:nvSpPr>
          <p:cNvPr id="3" name="Shape 1"/>
          <p:cNvSpPr/>
          <p:nvPr/>
        </p:nvSpPr>
        <p:spPr>
          <a:xfrm>
            <a:off x="731520" y="640080"/>
            <a:ext cx="168250" cy="168250"/>
          </a:xfrm>
          <a:prstGeom prst="rect">
            <a:avLst/>
          </a:prstGeom>
          <a:solidFill>
            <a:srgbClr val="C7791B"/>
          </a:solidFill>
          <a:ln w="12700">
            <a:solidFill>
              <a:srgbClr val="C7791B"/>
            </a:solidFill>
            <a:prstDash val="solid"/>
          </a:ln>
        </p:spPr>
      </p:sp>
      <p:sp>
        <p:nvSpPr>
          <p:cNvPr id="4" name="Shape 2"/>
          <p:cNvSpPr/>
          <p:nvPr/>
        </p:nvSpPr>
        <p:spPr>
          <a:xfrm>
            <a:off x="731520" y="822960"/>
            <a:ext cx="168250" cy="168250"/>
          </a:xfrm>
          <a:prstGeom prst="rect">
            <a:avLst/>
          </a:prstGeom>
          <a:solidFill>
            <a:srgbClr val="0E7C86"/>
          </a:solidFill>
          <a:ln w="12700">
            <a:solidFill>
              <a:srgbClr val="0E7C86"/>
            </a:solidFill>
            <a:prstDash val="solid"/>
          </a:ln>
        </p:spPr>
      </p:sp>
      <p:sp>
        <p:nvSpPr>
          <p:cNvPr id="5" name="Text 3"/>
          <p:cNvSpPr txBox="1"/>
          <p:nvPr/>
        </p:nvSpPr>
        <p:spPr>
          <a:xfrm>
            <a:off x="548640" y="1828800"/>
            <a:ext cx="2743200" cy="1097280"/>
          </a:xfrm>
          <a:prstGeom prst="rect">
            <a:avLst/>
          </a:prstGeom>
          <a:noFill/>
          <a:ln/>
        </p:spPr>
        <p:txBody>
          <a:bodyPr wrap="square" lIns="0" tIns="0" rIns="0" bIns="0" rtlCol="0" anchor="ctr"/>
          <a:lstStyle/>
          <a:p>
            <a:pPr indent="0" marL="0">
              <a:buNone/>
            </a:pPr>
            <a:r>
              <a:rPr lang="en-US" sz="7200" b="1" dirty="0">
                <a:solidFill>
                  <a:srgbClr val="C7791B"/>
                </a:solidFill>
                <a:latin typeface="Cambria" pitchFamily="34" charset="0"/>
                <a:ea typeface="Cambria" pitchFamily="34" charset="-122"/>
                <a:cs typeface="Cambria" pitchFamily="34" charset="-120"/>
              </a:rPr>
              <a:t>06</a:t>
            </a:r>
            <a:endParaRPr lang="en-US" sz="7200" dirty="0"/>
          </a:p>
        </p:txBody>
      </p:sp>
      <p:sp>
        <p:nvSpPr>
          <p:cNvPr id="6" name="Text 4"/>
          <p:cNvSpPr txBox="1"/>
          <p:nvPr/>
        </p:nvSpPr>
        <p:spPr>
          <a:xfrm>
            <a:off x="548640" y="3017520"/>
            <a:ext cx="11094415" cy="118872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The ALU and the whole picture</a:t>
            </a:r>
            <a:endParaRPr lang="en-US" sz="44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CFE3EA"/>
                </a:solidFill>
                <a:latin typeface="Calibri"/>
                <a:ea typeface="Calibri"/>
                <a:cs typeface="Calibri"/>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arithmetic logic unit</a:t>
            </a:r>
            <a:endParaRPr lang="en-US" sz="3200" dirty="0"/>
          </a:p>
        </p:txBody>
      </p:sp>
      <p:sp>
        <p:nvSpPr>
          <p:cNvPr id="3" name="Shape 1"/>
          <p:cNvSpPr/>
          <p:nvPr/>
        </p:nvSpPr>
        <p:spPr>
          <a:xfrm>
            <a:off x="548640" y="1523746"/>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340868"/>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It supervises the arithmetic and logic operations between operands</a:t>
            </a:r>
            <a:endParaRPr lang="en-US" sz="2200" dirty="0"/>
          </a:p>
        </p:txBody>
      </p:sp>
      <p:sp>
        <p:nvSpPr>
          <p:cNvPr id="5" name="Shape 3"/>
          <p:cNvSpPr/>
          <p:nvPr/>
        </p:nvSpPr>
        <p:spPr>
          <a:xfrm>
            <a:off x="548640" y="2215261"/>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08835"/>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Physically included in the processor in elementary architectures; an independent apparatus in more complex ones</a:t>
            </a:r>
            <a:endParaRPr lang="en-US" sz="2200" dirty="0"/>
          </a:p>
        </p:txBody>
      </p:sp>
      <p:sp>
        <p:nvSpPr>
          <p:cNvPr id="7" name="Shape 5"/>
          <p:cNvSpPr/>
          <p:nvPr/>
        </p:nvSpPr>
        <p:spPr>
          <a:xfrm>
            <a:off x="548640" y="3247644"/>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3141218"/>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A widespread solution: a reduced arithmetic unit inside the processor, and independent apparatus for more sophisticated operations</a:t>
            </a:r>
            <a:endParaRPr lang="en-US" sz="2200" dirty="0"/>
          </a:p>
        </p:txBody>
      </p:sp>
      <p:sp>
        <p:nvSpPr>
          <p:cNvPr id="9" name="Shape 7"/>
          <p:cNvSpPr/>
          <p:nvPr/>
        </p:nvSpPr>
        <p:spPr>
          <a:xfrm>
            <a:off x="548640" y="42800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4173601"/>
            <a:ext cx="10710367" cy="68173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Scheme: two input registers O1 and O2 for the operands, an output register U for the result</a:t>
            </a:r>
            <a:endParaRPr lang="en-US" sz="2200" dirty="0"/>
          </a:p>
        </p:txBody>
      </p:sp>
      <p:sp>
        <p:nvSpPr>
          <p:cNvPr id="11" name="Shape 9"/>
          <p:cNvSpPr/>
          <p:nvPr/>
        </p:nvSpPr>
        <p:spPr>
          <a:xfrm>
            <a:off x="548640" y="5312410"/>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5205984"/>
            <a:ext cx="10710367" cy="966216"/>
          </a:xfrm>
          <a:prstGeom prst="rect">
            <a:avLst/>
          </a:prstGeom>
          <a:noFill/>
          <a:ln/>
        </p:spPr>
        <p:txBody>
          <a:bodyPr wrap="square" lIns="0" tIns="0" rIns="0" bIns="0" rtlCol="0" anchor="t"/>
          <a:lstStyle/>
          <a:p>
            <a:pPr indent="0" marL="0">
              <a:spcAft>
                <a:spcPts val="200"/>
              </a:spcAft>
              <a:buNone/>
            </a:pPr>
            <a:r>
              <a:rPr lang="en-US" sz="2200" dirty="0">
                <a:solidFill>
                  <a:srgbClr val="1B2530"/>
                </a:solidFill>
                <a:latin typeface="Calibri" pitchFamily="34" charset="0"/>
                <a:ea typeface="Calibri" pitchFamily="34" charset="-122"/>
                <a:cs typeface="Calibri" pitchFamily="34" charset="-120"/>
              </a:rPr>
              <a:t>The operations depend on the data types and on their representation</a:t>
            </a:r>
            <a:endParaRPr lang="en-US" sz="2200" dirty="0"/>
          </a:p>
          <a:p>
            <a:pPr indent="0" marL="0">
              <a:spcAft>
                <a:spcPts val="200"/>
              </a:spcAft>
              <a:buNone/>
            </a:pPr>
            <a:r>
              <a:rPr lang="en-US" sz="1900" dirty="0">
                <a:solidFill>
                  <a:srgbClr val="5B6B78"/>
                </a:solidFill>
                <a:latin typeface="Calibri" pitchFamily="34" charset="0"/>
                <a:ea typeface="Calibri" pitchFamily="34" charset="-122"/>
                <a:cs typeface="Calibri" pitchFamily="34" charset="-120"/>
              </a:rPr>
              <a:t>– logical type, strings of characters, pointers, numbers in the various encodings of Lectures 05 and 06</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architecture of an RV32 processor</a:t>
            </a:r>
            <a:endParaRPr lang="en-US" sz="3200" dirty="0"/>
          </a:p>
        </p:txBody>
      </p:sp>
      <p:sp>
        <p:nvSpPr>
          <p:cNvPr id="3" name="Text 1"/>
          <p:cNvSpPr txBox="1"/>
          <p:nvPr/>
        </p:nvSpPr>
        <p:spPr>
          <a:xfrm>
            <a:off x="548640" y="2240280"/>
            <a:ext cx="1188720" cy="1463040"/>
          </a:xfrm>
          <a:prstGeom prst="roundRect">
            <a:avLst>
              <a:gd name="adj" fmla="val 4615"/>
            </a:avLst>
          </a:prstGeom>
          <a:solidFill>
            <a:srgbClr val="B23A48"/>
          </a:solidFill>
          <a:ln>
            <a:solidFill>
              <a:srgbClr val="B23A48"/>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PC</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address of the</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instruction</a:t>
            </a:r>
            <a:endParaRPr lang="en-US" sz="1500" dirty="0"/>
          </a:p>
        </p:txBody>
      </p:sp>
      <p:sp>
        <p:nvSpPr>
          <p:cNvPr id="4" name="Shape 2"/>
          <p:cNvSpPr/>
          <p:nvPr/>
        </p:nvSpPr>
        <p:spPr>
          <a:xfrm>
            <a:off x="1773936" y="2971800"/>
            <a:ext cx="371795" cy="0"/>
          </a:xfrm>
          <a:prstGeom prst="line">
            <a:avLst/>
          </a:prstGeom>
          <a:noFill/>
          <a:ln w="31750">
            <a:solidFill>
              <a:srgbClr val="5B6B78"/>
            </a:solidFill>
            <a:prstDash val="solid"/>
            <a:tailEnd type="triangle"/>
          </a:ln>
        </p:spPr>
      </p:sp>
      <p:sp>
        <p:nvSpPr>
          <p:cNvPr id="5" name="Text 3"/>
          <p:cNvSpPr txBox="1"/>
          <p:nvPr/>
        </p:nvSpPr>
        <p:spPr>
          <a:xfrm>
            <a:off x="2182307" y="2240280"/>
            <a:ext cx="1554480" cy="1463040"/>
          </a:xfrm>
          <a:prstGeom prst="roundRect">
            <a:avLst>
              <a:gd name="adj" fmla="val 375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instruction</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memory</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fetch</a:t>
            </a:r>
            <a:endParaRPr lang="en-US" sz="1500" dirty="0"/>
          </a:p>
        </p:txBody>
      </p:sp>
      <p:sp>
        <p:nvSpPr>
          <p:cNvPr id="6" name="Shape 4"/>
          <p:cNvSpPr/>
          <p:nvPr/>
        </p:nvSpPr>
        <p:spPr>
          <a:xfrm>
            <a:off x="3773363" y="2971800"/>
            <a:ext cx="371795" cy="0"/>
          </a:xfrm>
          <a:prstGeom prst="line">
            <a:avLst/>
          </a:prstGeom>
          <a:noFill/>
          <a:ln w="31750">
            <a:solidFill>
              <a:srgbClr val="5B6B78"/>
            </a:solidFill>
            <a:prstDash val="solid"/>
            <a:tailEnd type="triangle"/>
          </a:ln>
        </p:spPr>
      </p:sp>
      <p:sp>
        <p:nvSpPr>
          <p:cNvPr id="7" name="Text 5"/>
          <p:cNvSpPr txBox="1"/>
          <p:nvPr/>
        </p:nvSpPr>
        <p:spPr>
          <a:xfrm>
            <a:off x="4181734" y="2240280"/>
            <a:ext cx="1737360" cy="1463040"/>
          </a:xfrm>
          <a:prstGeom prst="roundRect">
            <a:avLst>
              <a:gd name="adj" fmla="val 3750"/>
            </a:avLst>
          </a:prstGeom>
          <a:solidFill>
            <a:srgbClr val="2E4A62"/>
          </a:solidFill>
          <a:ln>
            <a:solidFill>
              <a:srgbClr val="2E4A62"/>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decoder and</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control unit</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fields and</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commands</a:t>
            </a:r>
            <a:endParaRPr lang="en-US" sz="1500" dirty="0"/>
          </a:p>
        </p:txBody>
      </p:sp>
      <p:sp>
        <p:nvSpPr>
          <p:cNvPr id="8" name="Shape 6"/>
          <p:cNvSpPr/>
          <p:nvPr/>
        </p:nvSpPr>
        <p:spPr>
          <a:xfrm>
            <a:off x="5955670" y="2971800"/>
            <a:ext cx="371795" cy="0"/>
          </a:xfrm>
          <a:prstGeom prst="line">
            <a:avLst/>
          </a:prstGeom>
          <a:noFill/>
          <a:ln w="31750">
            <a:solidFill>
              <a:srgbClr val="5B6B78"/>
            </a:solidFill>
            <a:prstDash val="solid"/>
            <a:tailEnd type="triangle"/>
          </a:ln>
        </p:spPr>
      </p:sp>
      <p:sp>
        <p:nvSpPr>
          <p:cNvPr id="9" name="Text 7"/>
          <p:cNvSpPr txBox="1"/>
          <p:nvPr/>
        </p:nvSpPr>
        <p:spPr>
          <a:xfrm>
            <a:off x="6364041" y="2240280"/>
            <a:ext cx="1645920" cy="1463040"/>
          </a:xfrm>
          <a:prstGeom prst="roundRect">
            <a:avLst>
              <a:gd name="adj" fmla="val 3750"/>
            </a:avLst>
          </a:prstGeom>
          <a:solidFill>
            <a:srgbClr val="0E7C86"/>
          </a:solidFill>
          <a:ln>
            <a:solidFill>
              <a:srgbClr val="0E7C86"/>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register file</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x0 - x31</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32 x 32 bits</a:t>
            </a:r>
            <a:endParaRPr lang="en-US" sz="1500" dirty="0"/>
          </a:p>
        </p:txBody>
      </p:sp>
      <p:sp>
        <p:nvSpPr>
          <p:cNvPr id="10" name="Shape 8"/>
          <p:cNvSpPr/>
          <p:nvPr/>
        </p:nvSpPr>
        <p:spPr>
          <a:xfrm>
            <a:off x="8046537" y="2971800"/>
            <a:ext cx="371795" cy="0"/>
          </a:xfrm>
          <a:prstGeom prst="line">
            <a:avLst/>
          </a:prstGeom>
          <a:noFill/>
          <a:ln w="31750">
            <a:solidFill>
              <a:srgbClr val="5B6B78"/>
            </a:solidFill>
            <a:prstDash val="solid"/>
            <a:tailEnd type="triangle"/>
          </a:ln>
        </p:spPr>
      </p:sp>
      <p:sp>
        <p:nvSpPr>
          <p:cNvPr id="11" name="Text 9"/>
          <p:cNvSpPr txBox="1"/>
          <p:nvPr/>
        </p:nvSpPr>
        <p:spPr>
          <a:xfrm>
            <a:off x="8454908" y="2240280"/>
            <a:ext cx="1371600" cy="1463040"/>
          </a:xfrm>
          <a:prstGeom prst="roundRect">
            <a:avLst>
              <a:gd name="adj" fmla="val 4000"/>
            </a:avLst>
          </a:prstGeom>
          <a:solidFill>
            <a:srgbClr val="C7791B"/>
          </a:solidFill>
          <a:ln>
            <a:solidFill>
              <a:srgbClr val="C7791B"/>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ALU</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compute, or</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form an address</a:t>
            </a:r>
            <a:endParaRPr lang="en-US" sz="1500" dirty="0"/>
          </a:p>
        </p:txBody>
      </p:sp>
      <p:sp>
        <p:nvSpPr>
          <p:cNvPr id="12" name="Shape 10"/>
          <p:cNvSpPr/>
          <p:nvPr/>
        </p:nvSpPr>
        <p:spPr>
          <a:xfrm>
            <a:off x="9863084" y="2971800"/>
            <a:ext cx="371795" cy="0"/>
          </a:xfrm>
          <a:prstGeom prst="line">
            <a:avLst/>
          </a:prstGeom>
          <a:noFill/>
          <a:ln w="31750">
            <a:solidFill>
              <a:srgbClr val="5B6B78"/>
            </a:solidFill>
            <a:prstDash val="solid"/>
            <a:tailEnd type="triangle"/>
          </a:ln>
        </p:spPr>
      </p:sp>
      <p:sp>
        <p:nvSpPr>
          <p:cNvPr id="13" name="Text 11"/>
          <p:cNvSpPr txBox="1"/>
          <p:nvPr/>
        </p:nvSpPr>
        <p:spPr>
          <a:xfrm>
            <a:off x="10271455" y="2240280"/>
            <a:ext cx="1371600" cy="1463040"/>
          </a:xfrm>
          <a:prstGeom prst="roundRect">
            <a:avLst>
              <a:gd name="adj" fmla="val 4000"/>
            </a:avLst>
          </a:prstGeom>
          <a:solidFill>
            <a:srgbClr val="6B4FA0"/>
          </a:solidFill>
          <a:ln>
            <a:solidFill>
              <a:srgbClr val="6B4FA0"/>
            </a:solidFill>
          </a:ln>
        </p:spPr>
        <p:txBody>
          <a:bodyPr wrap="square" lIns="38100" tIns="38100" rIns="38100" bIns="3810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data</a:t>
            </a:r>
            <a:endParaRPr lang="en-US" sz="1500" dirty="0"/>
          </a:p>
          <a:p>
            <a:pPr algn="ctr" indent="0" marL="0">
              <a:buNone/>
            </a:pPr>
            <a:r>
              <a:rPr lang="en-US" sz="1500" b="1" dirty="0">
                <a:solidFill>
                  <a:srgbClr val="FFFFFF"/>
                </a:solidFill>
                <a:latin typeface="Calibri" pitchFamily="34" charset="0"/>
                <a:ea typeface="Calibri" pitchFamily="34" charset="-122"/>
                <a:cs typeface="Calibri" pitchFamily="34" charset="-120"/>
              </a:rPr>
              <a:t>memory</a:t>
            </a:r>
            <a:endParaRPr lang="en-US" sz="1500" dirty="0"/>
          </a:p>
          <a:p>
            <a:pPr algn="ctr" indent="0" marL="0">
              <a:buNone/>
            </a:pPr>
            <a:r>
              <a:rPr lang="en-US" sz="1150" dirty="0">
                <a:solidFill>
                  <a:srgbClr val="FFFFFF"/>
                </a:solidFill>
                <a:latin typeface="Calibri" pitchFamily="34" charset="0"/>
                <a:ea typeface="Calibri" pitchFamily="34" charset="-122"/>
                <a:cs typeface="Calibri" pitchFamily="34" charset="-120"/>
              </a:rPr>
              <a:t>load, store</a:t>
            </a:r>
            <a:endParaRPr lang="en-US" sz="1500" dirty="0"/>
          </a:p>
        </p:txBody>
      </p:sp>
      <p:sp>
        <p:nvSpPr>
          <p:cNvPr id="14" name="Shape 12"/>
          <p:cNvSpPr/>
          <p:nvPr/>
        </p:nvSpPr>
        <p:spPr>
          <a:xfrm>
            <a:off x="10957255" y="3730752"/>
            <a:ext cx="0" cy="612648"/>
          </a:xfrm>
          <a:prstGeom prst="line">
            <a:avLst/>
          </a:prstGeom>
          <a:noFill/>
          <a:ln w="31750">
            <a:solidFill>
              <a:srgbClr val="2F7D4F"/>
            </a:solidFill>
            <a:prstDash val="solid"/>
          </a:ln>
        </p:spPr>
      </p:sp>
      <p:sp>
        <p:nvSpPr>
          <p:cNvPr id="15" name="Shape 13"/>
          <p:cNvSpPr/>
          <p:nvPr/>
        </p:nvSpPr>
        <p:spPr>
          <a:xfrm flipH="1">
            <a:off x="7187001" y="4343400"/>
            <a:ext cx="3770254" cy="0"/>
          </a:xfrm>
          <a:prstGeom prst="line">
            <a:avLst/>
          </a:prstGeom>
          <a:noFill/>
          <a:ln w="31750">
            <a:solidFill>
              <a:srgbClr val="2F7D4F"/>
            </a:solidFill>
            <a:prstDash val="solid"/>
          </a:ln>
        </p:spPr>
      </p:sp>
      <p:sp>
        <p:nvSpPr>
          <p:cNvPr id="16" name="Shape 14"/>
          <p:cNvSpPr/>
          <p:nvPr/>
        </p:nvSpPr>
        <p:spPr>
          <a:xfrm flipV="1">
            <a:off x="7187001" y="3730752"/>
            <a:ext cx="0" cy="612648"/>
          </a:xfrm>
          <a:prstGeom prst="line">
            <a:avLst/>
          </a:prstGeom>
          <a:noFill/>
          <a:ln w="31750">
            <a:solidFill>
              <a:srgbClr val="2F7D4F"/>
            </a:solidFill>
            <a:prstDash val="solid"/>
            <a:tailEnd type="triangle"/>
          </a:ln>
        </p:spPr>
      </p:sp>
      <p:sp>
        <p:nvSpPr>
          <p:cNvPr id="17" name="Text 15"/>
          <p:cNvSpPr txBox="1"/>
          <p:nvPr/>
        </p:nvSpPr>
        <p:spPr>
          <a:xfrm>
            <a:off x="7187001" y="4389120"/>
            <a:ext cx="3770254" cy="274320"/>
          </a:xfrm>
          <a:prstGeom prst="rect">
            <a:avLst/>
          </a:prstGeom>
          <a:noFill/>
          <a:ln/>
        </p:spPr>
        <p:txBody>
          <a:bodyPr wrap="square" lIns="0" tIns="0" rIns="0" bIns="0" rtlCol="0" anchor="t"/>
          <a:lstStyle/>
          <a:p>
            <a:pPr algn="ctr" indent="0" marL="0">
              <a:buNone/>
            </a:pPr>
            <a:r>
              <a:rPr lang="en-US" sz="1250" b="1" dirty="0">
                <a:solidFill>
                  <a:srgbClr val="2F7D4F"/>
                </a:solidFill>
                <a:latin typeface="Calibri" pitchFamily="34" charset="0"/>
                <a:ea typeface="Calibri" pitchFamily="34" charset="-122"/>
                <a:cs typeface="Calibri" pitchFamily="34" charset="-120"/>
              </a:rPr>
              <a:t>write back: the result returns to the register named by rd</a:t>
            </a:r>
            <a:endParaRPr lang="en-US" sz="1250" dirty="0"/>
          </a:p>
        </p:txBody>
      </p:sp>
      <p:sp>
        <p:nvSpPr>
          <p:cNvPr id="18" name="Shape 16"/>
          <p:cNvSpPr/>
          <p:nvPr/>
        </p:nvSpPr>
        <p:spPr>
          <a:xfrm>
            <a:off x="1143000" y="1691640"/>
            <a:ext cx="0" cy="521208"/>
          </a:xfrm>
          <a:prstGeom prst="line">
            <a:avLst/>
          </a:prstGeom>
          <a:noFill/>
          <a:ln w="31750">
            <a:solidFill>
              <a:srgbClr val="B23A48"/>
            </a:solidFill>
            <a:prstDash val="solid"/>
            <a:tailEnd type="triangle"/>
          </a:ln>
        </p:spPr>
      </p:sp>
      <p:sp>
        <p:nvSpPr>
          <p:cNvPr id="19" name="Shape 17"/>
          <p:cNvSpPr/>
          <p:nvPr/>
        </p:nvSpPr>
        <p:spPr>
          <a:xfrm>
            <a:off x="1143000" y="1691640"/>
            <a:ext cx="7997708" cy="0"/>
          </a:xfrm>
          <a:prstGeom prst="line">
            <a:avLst/>
          </a:prstGeom>
          <a:noFill/>
          <a:ln w="31750">
            <a:solidFill>
              <a:srgbClr val="B23A48"/>
            </a:solidFill>
            <a:prstDash val="solid"/>
          </a:ln>
        </p:spPr>
      </p:sp>
      <p:sp>
        <p:nvSpPr>
          <p:cNvPr id="20" name="Shape 18"/>
          <p:cNvSpPr/>
          <p:nvPr/>
        </p:nvSpPr>
        <p:spPr>
          <a:xfrm>
            <a:off x="9140708" y="1691640"/>
            <a:ext cx="0" cy="521208"/>
          </a:xfrm>
          <a:prstGeom prst="line">
            <a:avLst/>
          </a:prstGeom>
          <a:noFill/>
          <a:ln w="31750">
            <a:solidFill>
              <a:srgbClr val="B23A48"/>
            </a:solidFill>
            <a:prstDash val="solid"/>
          </a:ln>
        </p:spPr>
      </p:sp>
      <p:sp>
        <p:nvSpPr>
          <p:cNvPr id="21" name="Text 19"/>
          <p:cNvSpPr txBox="1"/>
          <p:nvPr/>
        </p:nvSpPr>
        <p:spPr>
          <a:xfrm>
            <a:off x="1325880" y="1371600"/>
            <a:ext cx="5486400" cy="274320"/>
          </a:xfrm>
          <a:prstGeom prst="rect">
            <a:avLst/>
          </a:prstGeom>
          <a:noFill/>
          <a:ln/>
        </p:spPr>
        <p:txBody>
          <a:bodyPr wrap="square" lIns="0" tIns="0" rIns="0" bIns="0" rtlCol="0" anchor="t"/>
          <a:lstStyle/>
          <a:p>
            <a:pPr indent="0" marL="0">
              <a:buNone/>
            </a:pPr>
            <a:r>
              <a:rPr lang="en-US" sz="1250" b="1" dirty="0">
                <a:solidFill>
                  <a:srgbClr val="B23A48"/>
                </a:solidFill>
                <a:latin typeface="Calibri" pitchFamily="34" charset="0"/>
                <a:ea typeface="Calibri" pitchFamily="34" charset="-122"/>
                <a:cs typeface="Calibri" pitchFamily="34" charset="-120"/>
              </a:rPr>
              <a:t>next PC: PC + 4, or the branch target</a:t>
            </a:r>
            <a:endParaRPr lang="en-US" sz="1250" dirty="0"/>
          </a:p>
        </p:txBody>
      </p:sp>
      <p:sp>
        <p:nvSpPr>
          <p:cNvPr id="22" name="Text 20"/>
          <p:cNvSpPr txBox="1"/>
          <p:nvPr/>
        </p:nvSpPr>
        <p:spPr>
          <a:xfrm>
            <a:off x="548640" y="5120640"/>
            <a:ext cx="11094415" cy="1051560"/>
          </a:xfrm>
          <a:prstGeom prst="rect">
            <a:avLst/>
          </a:prstGeom>
          <a:noFill/>
          <a:ln/>
        </p:spPr>
        <p:txBody>
          <a:bodyPr wrap="square" lIns="0" tIns="0" rIns="0" bIns="0" rtlCol="0" anchor="ctr"/>
          <a:lstStyle/>
          <a:p>
            <a:pPr indent="0" marL="0">
              <a:buNone/>
            </a:pPr>
            <a:r>
              <a:rPr lang="en-US" sz="1450" dirty="0">
                <a:solidFill>
                  <a:srgbClr val="1B2530"/>
                </a:solidFill>
                <a:latin typeface="Calibri" pitchFamily="34" charset="0"/>
                <a:ea typeface="Calibri" pitchFamily="34" charset="-122"/>
                <a:cs typeface="Calibri" pitchFamily="34" charset="-120"/>
              </a:rPr>
              <a:t>Next to them, out of the main path: the bank of control and status registers, and the trap logic of Lecture 19. Compared with the MC68000 of the original deck there are no separate data and address registers, no condition code register and no effective-address register.</a:t>
            </a:r>
            <a:endParaRPr lang="en-US" sz="145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The processor of the PRG32 kit</a:t>
            </a:r>
            <a:endParaRPr lang="en-US" sz="3200" dirty="0"/>
          </a:p>
        </p:txBody>
      </p:sp>
      <p:graphicFrame>
        <p:nvGraphicFramePr>
          <p:cNvPr id="30"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546259"/>
                <a:gridCol w="8548156"/>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Feature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ESP32-C6</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Instruction set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RV32IMAC: base integer set, multiply and divide, atomics, compressed instructions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Main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one 32-bit RISC-V core, up to 160 MHz, four-stage pipeline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Second core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 low-power RISC-V core, up to 20 MHz, for tasks that run while the main core sleeps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Privilege modes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machine and user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Floating point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none: no F or D extension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Memory</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512 KB of SRAM, 320 KB of ROM, external flash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On the same chip</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Wi-Fi 6, Bluetooth, Thread and Zigbee radios; SPI, I2S, GPIO and timer peripherals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Which register of the general model has no counterpart in RISC-V?</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program counter</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status register with the flags</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stack pointer</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instruction register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In RISC-V, which instructions can read or write the main memory?</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all of them</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add and sub</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only loads and stores</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only jumps</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After addi sp, sp, -4 and sw t0, 0(sp), what has happened?</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t0 was popped from the stack</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t0 was pushed on the stack</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the stack was emptied</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sp was saved in t0</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Check your understanding</a:t>
            </a:r>
            <a:endParaRPr lang="en-US" sz="3200" dirty="0"/>
          </a:p>
        </p:txBody>
      </p:sp>
      <p:sp>
        <p:nvSpPr>
          <p:cNvPr id="3" name="Text 1"/>
          <p:cNvSpPr txBox="1"/>
          <p:nvPr/>
        </p:nvSpPr>
        <p:spPr>
          <a:xfrm>
            <a:off x="548640" y="1417320"/>
            <a:ext cx="11094415" cy="1143000"/>
          </a:xfrm>
          <a:prstGeom prst="rect">
            <a:avLst/>
          </a:prstGeom>
          <a:noFill/>
          <a:ln/>
        </p:spPr>
        <p:txBody>
          <a:bodyPr wrap="square" lIns="0" tIns="0" rIns="0" bIns="0" rtlCol="0" anchor="ctr"/>
          <a:lstStyle/>
          <a:p>
            <a:pPr indent="0" marL="0">
              <a:buNone/>
            </a:pPr>
            <a:r>
              <a:rPr lang="en-US" sz="2600" b="1" dirty="0">
                <a:solidFill>
                  <a:srgbClr val="1B2530"/>
                </a:solidFill>
                <a:latin typeface="Cambria" pitchFamily="34" charset="0"/>
                <a:ea typeface="Cambria" pitchFamily="34" charset="-122"/>
                <a:cs typeface="Cambria" pitchFamily="34" charset="-120"/>
              </a:rPr>
              <a:t>In an accumulator machine, the instruction ADD y means:</a:t>
            </a:r>
            <a:endParaRPr lang="en-US" sz="2600" dirty="0"/>
          </a:p>
        </p:txBody>
      </p:sp>
      <p:sp>
        <p:nvSpPr>
          <p:cNvPr id="4" name="Shape 2"/>
          <p:cNvSpPr/>
          <p:nvPr/>
        </p:nvSpPr>
        <p:spPr>
          <a:xfrm>
            <a:off x="548640" y="2834640"/>
            <a:ext cx="5410048" cy="1531620"/>
          </a:xfrm>
          <a:prstGeom prst="roundRect">
            <a:avLst>
              <a:gd name="adj" fmla="val 4776"/>
            </a:avLst>
          </a:prstGeom>
          <a:solidFill>
            <a:srgbClr val="EEF2F4"/>
          </a:solidFill>
          <a:ln w="12700">
            <a:solidFill>
              <a:srgbClr val="EEF2F4"/>
            </a:solidFill>
            <a:prstDash val="solid"/>
          </a:ln>
        </p:spPr>
      </p:sp>
      <p:sp>
        <p:nvSpPr>
          <p:cNvPr id="5" name="Text 3"/>
          <p:cNvSpPr txBox="1"/>
          <p:nvPr/>
        </p:nvSpPr>
        <p:spPr>
          <a:xfrm>
            <a:off x="777240"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a:t>
            </a:r>
            <a:endParaRPr lang="en-US" sz="1800" dirty="0"/>
          </a:p>
        </p:txBody>
      </p:sp>
      <p:sp>
        <p:nvSpPr>
          <p:cNvPr id="6" name="Text 4"/>
          <p:cNvSpPr txBox="1"/>
          <p:nvPr/>
        </p:nvSpPr>
        <p:spPr>
          <a:xfrm>
            <a:off x="1508760"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y := y + accumulator</a:t>
            </a:r>
            <a:endParaRPr lang="en-US" sz="2200" dirty="0"/>
          </a:p>
        </p:txBody>
      </p:sp>
      <p:sp>
        <p:nvSpPr>
          <p:cNvPr id="7" name="Shape 5"/>
          <p:cNvSpPr/>
          <p:nvPr/>
        </p:nvSpPr>
        <p:spPr>
          <a:xfrm>
            <a:off x="6233008" y="2834640"/>
            <a:ext cx="5410048" cy="1531620"/>
          </a:xfrm>
          <a:prstGeom prst="roundRect">
            <a:avLst>
              <a:gd name="adj" fmla="val 4776"/>
            </a:avLst>
          </a:prstGeom>
          <a:solidFill>
            <a:srgbClr val="EEF2F4"/>
          </a:solidFill>
          <a:ln w="12700">
            <a:solidFill>
              <a:srgbClr val="EEF2F4"/>
            </a:solidFill>
            <a:prstDash val="solid"/>
          </a:ln>
        </p:spPr>
      </p:sp>
      <p:sp>
        <p:nvSpPr>
          <p:cNvPr id="8" name="Text 6"/>
          <p:cNvSpPr txBox="1"/>
          <p:nvPr/>
        </p:nvSpPr>
        <p:spPr>
          <a:xfrm>
            <a:off x="6461608" y="335356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B</a:t>
            </a:r>
            <a:endParaRPr lang="en-US" sz="1800" dirty="0"/>
          </a:p>
        </p:txBody>
      </p:sp>
      <p:sp>
        <p:nvSpPr>
          <p:cNvPr id="9" name="Text 7"/>
          <p:cNvSpPr txBox="1"/>
          <p:nvPr/>
        </p:nvSpPr>
        <p:spPr>
          <a:xfrm>
            <a:off x="7193128" y="297180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accumulator := accumulator + [y]</a:t>
            </a:r>
            <a:endParaRPr lang="en-US" sz="2200" dirty="0"/>
          </a:p>
        </p:txBody>
      </p:sp>
      <p:sp>
        <p:nvSpPr>
          <p:cNvPr id="10" name="Shape 8"/>
          <p:cNvSpPr/>
          <p:nvPr/>
        </p:nvSpPr>
        <p:spPr>
          <a:xfrm>
            <a:off x="548640" y="4640580"/>
            <a:ext cx="5410048" cy="1531620"/>
          </a:xfrm>
          <a:prstGeom prst="roundRect">
            <a:avLst>
              <a:gd name="adj" fmla="val 4776"/>
            </a:avLst>
          </a:prstGeom>
          <a:solidFill>
            <a:srgbClr val="EEF2F4"/>
          </a:solidFill>
          <a:ln w="12700">
            <a:solidFill>
              <a:srgbClr val="EEF2F4"/>
            </a:solidFill>
            <a:prstDash val="solid"/>
          </a:ln>
        </p:spPr>
      </p:sp>
      <p:sp>
        <p:nvSpPr>
          <p:cNvPr id="11" name="Text 9"/>
          <p:cNvSpPr txBox="1"/>
          <p:nvPr/>
        </p:nvSpPr>
        <p:spPr>
          <a:xfrm>
            <a:off x="777240"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C</a:t>
            </a:r>
            <a:endParaRPr lang="en-US" sz="1800" dirty="0"/>
          </a:p>
        </p:txBody>
      </p:sp>
      <p:sp>
        <p:nvSpPr>
          <p:cNvPr id="12" name="Text 10"/>
          <p:cNvSpPr txBox="1"/>
          <p:nvPr/>
        </p:nvSpPr>
        <p:spPr>
          <a:xfrm>
            <a:off x="1508760"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push y, then add</a:t>
            </a:r>
            <a:endParaRPr lang="en-US" sz="2200" dirty="0"/>
          </a:p>
        </p:txBody>
      </p:sp>
      <p:sp>
        <p:nvSpPr>
          <p:cNvPr id="13" name="Shape 11"/>
          <p:cNvSpPr/>
          <p:nvPr/>
        </p:nvSpPr>
        <p:spPr>
          <a:xfrm>
            <a:off x="6233008" y="4640580"/>
            <a:ext cx="5410048" cy="1531620"/>
          </a:xfrm>
          <a:prstGeom prst="roundRect">
            <a:avLst>
              <a:gd name="adj" fmla="val 4776"/>
            </a:avLst>
          </a:prstGeom>
          <a:solidFill>
            <a:srgbClr val="EEF2F4"/>
          </a:solidFill>
          <a:ln w="12700">
            <a:solidFill>
              <a:srgbClr val="EEF2F4"/>
            </a:solidFill>
            <a:prstDash val="solid"/>
          </a:ln>
        </p:spPr>
      </p:sp>
      <p:sp>
        <p:nvSpPr>
          <p:cNvPr id="14" name="Text 12"/>
          <p:cNvSpPr txBox="1"/>
          <p:nvPr/>
        </p:nvSpPr>
        <p:spPr>
          <a:xfrm>
            <a:off x="6461608" y="5159502"/>
            <a:ext cx="493776" cy="493776"/>
          </a:xfrm>
          <a:prstGeom prst="roundRect">
            <a:avLst>
              <a:gd name="adj" fmla="val 14815"/>
            </a:avLst>
          </a:prstGeom>
          <a:solidFill>
            <a:srgbClr val="2E4A62"/>
          </a:solidFill>
          <a:ln>
            <a:solidFill>
              <a:srgbClr val="2E4A62"/>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a:t>
            </a:r>
            <a:endParaRPr lang="en-US" sz="1800" dirty="0"/>
          </a:p>
        </p:txBody>
      </p:sp>
      <p:sp>
        <p:nvSpPr>
          <p:cNvPr id="15" name="Text 13"/>
          <p:cNvSpPr txBox="1"/>
          <p:nvPr/>
        </p:nvSpPr>
        <p:spPr>
          <a:xfrm>
            <a:off x="7193128" y="4777740"/>
            <a:ext cx="4221328" cy="1257300"/>
          </a:xfrm>
          <a:prstGeom prst="rect">
            <a:avLst/>
          </a:prstGeom>
          <a:noFill/>
          <a:ln/>
        </p:spPr>
        <p:txBody>
          <a:bodyPr wrap="square" lIns="0" tIns="0" rIns="0" bIns="0" rtlCol="0" anchor="ctr"/>
          <a:lstStyle/>
          <a:p>
            <a:pPr indent="0" marL="0">
              <a:buNone/>
            </a:pPr>
            <a:r>
              <a:rPr lang="en-US" sz="2200" dirty="0">
                <a:solidFill>
                  <a:srgbClr val="1B2530"/>
                </a:solidFill>
                <a:latin typeface="Calibri" pitchFamily="34" charset="0"/>
                <a:ea typeface="Calibri" pitchFamily="34" charset="-122"/>
                <a:cs typeface="Calibri" pitchFamily="34" charset="-120"/>
              </a:rPr>
              <a:t>y := accumulator</a:t>
            </a:r>
            <a:endParaRPr lang="en-US" sz="22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Exercises: paper first, then PRG32</a:t>
            </a:r>
            <a:endParaRPr lang="en-US" sz="3200" dirty="0"/>
          </a:p>
        </p:txBody>
      </p:sp>
      <p:sp>
        <p:nvSpPr>
          <p:cNvPr id="3" name="Text 1"/>
          <p:cNvSpPr txBox="1"/>
          <p:nvPr/>
        </p:nvSpPr>
        <p:spPr>
          <a:xfrm>
            <a:off x="10088575" y="566928"/>
            <a:ext cx="1554480" cy="457200"/>
          </a:xfrm>
          <a:prstGeom prst="roundRect">
            <a:avLst>
              <a:gd name="adj" fmla="val 16000"/>
            </a:avLst>
          </a:prstGeom>
          <a:solidFill>
            <a:srgbClr val="2F7D4F"/>
          </a:solidFill>
          <a:ln>
            <a:solidFill>
              <a:srgbClr val="2F7D4F"/>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TRY IT</a:t>
            </a:r>
            <a:endParaRPr lang="en-US" sz="1500" dirty="0"/>
          </a:p>
        </p:txBody>
      </p:sp>
      <p:sp>
        <p:nvSpPr>
          <p:cNvPr id="4" name="Text 2"/>
          <p:cNvSpPr txBox="1"/>
          <p:nvPr/>
        </p:nvSpPr>
        <p:spPr>
          <a:xfrm>
            <a:off x="548640" y="1435608"/>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1</a:t>
            </a:r>
            <a:endParaRPr lang="en-US" sz="1500" dirty="0"/>
          </a:p>
        </p:txBody>
      </p:sp>
      <p:sp>
        <p:nvSpPr>
          <p:cNvPr id="5" name="Text 3"/>
          <p:cNvSpPr txBox="1"/>
          <p:nvPr/>
        </p:nvSpPr>
        <p:spPr>
          <a:xfrm>
            <a:off x="1207008" y="1417320"/>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Write z = (a + b) - (c + d) for an accumulator machine, a stack machine and RISC-V; count instructions and memory accesses</a:t>
            </a:r>
            <a:endParaRPr lang="en-US" sz="1900" dirty="0"/>
          </a:p>
        </p:txBody>
      </p:sp>
      <p:sp>
        <p:nvSpPr>
          <p:cNvPr id="6" name="Text 4"/>
          <p:cNvSpPr txBox="1"/>
          <p:nvPr/>
        </p:nvSpPr>
        <p:spPr>
          <a:xfrm>
            <a:off x="548640" y="2157095"/>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2</a:t>
            </a:r>
            <a:endParaRPr lang="en-US" sz="1500" dirty="0"/>
          </a:p>
        </p:txBody>
      </p:sp>
      <p:sp>
        <p:nvSpPr>
          <p:cNvPr id="7" name="Text 5"/>
          <p:cNvSpPr txBox="1"/>
          <p:nvPr/>
        </p:nvSpPr>
        <p:spPr>
          <a:xfrm>
            <a:off x="1207008" y="2138807"/>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Write push and pop of two registers, t0 and t1, keeping sp a multiple of 16 as the calling convention requires</a:t>
            </a:r>
            <a:endParaRPr lang="en-US" sz="1900" dirty="0"/>
          </a:p>
        </p:txBody>
      </p:sp>
      <p:sp>
        <p:nvSpPr>
          <p:cNvPr id="8" name="Text 6"/>
          <p:cNvSpPr txBox="1"/>
          <p:nvPr/>
        </p:nvSpPr>
        <p:spPr>
          <a:xfrm>
            <a:off x="548640" y="2878582"/>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3</a:t>
            </a:r>
            <a:endParaRPr lang="en-US" sz="1500" dirty="0"/>
          </a:p>
        </p:txBody>
      </p:sp>
      <p:sp>
        <p:nvSpPr>
          <p:cNvPr id="9" name="Text 7"/>
          <p:cNvSpPr txBox="1"/>
          <p:nvPr/>
        </p:nvSpPr>
        <p:spPr>
          <a:xfrm>
            <a:off x="1207008" y="2860294"/>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For each register used in your last PRG32 program, say which function it serves: transit, accumulation, addressing, stack</a:t>
            </a:r>
            <a:endParaRPr lang="en-US" sz="1900" dirty="0"/>
          </a:p>
        </p:txBody>
      </p:sp>
      <p:sp>
        <p:nvSpPr>
          <p:cNvPr id="10" name="Text 8"/>
          <p:cNvSpPr txBox="1"/>
          <p:nvPr/>
        </p:nvSpPr>
        <p:spPr>
          <a:xfrm>
            <a:off x="548640" y="3600069"/>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4</a:t>
            </a:r>
            <a:endParaRPr lang="en-US" sz="1500" dirty="0"/>
          </a:p>
        </p:txBody>
      </p:sp>
      <p:sp>
        <p:nvSpPr>
          <p:cNvPr id="11" name="Text 9"/>
          <p:cNvSpPr txBox="1"/>
          <p:nvPr/>
        </p:nvSpPr>
        <p:spPr>
          <a:xfrm>
            <a:off x="1207008" y="3581781"/>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In PRG32-QT, single-step a call and its return: watch pc, ra and sp, and the word saved on the stack</a:t>
            </a:r>
            <a:endParaRPr lang="en-US" sz="1900" dirty="0"/>
          </a:p>
        </p:txBody>
      </p:sp>
      <p:sp>
        <p:nvSpPr>
          <p:cNvPr id="12" name="Text 10"/>
          <p:cNvSpPr txBox="1"/>
          <p:nvPr/>
        </p:nvSpPr>
        <p:spPr>
          <a:xfrm>
            <a:off x="548640" y="4321556"/>
            <a:ext cx="402336" cy="402336"/>
          </a:xfrm>
          <a:prstGeom prst="roundRect">
            <a:avLst>
              <a:gd name="adj" fmla="val 18182"/>
            </a:avLst>
          </a:prstGeom>
          <a:solidFill>
            <a:srgbClr val="0E7C86"/>
          </a:solidFill>
          <a:ln>
            <a:solidFill>
              <a:srgbClr val="0E7C86"/>
            </a:solid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5</a:t>
            </a:r>
            <a:endParaRPr lang="en-US" sz="1500" dirty="0"/>
          </a:p>
        </p:txBody>
      </p:sp>
      <p:sp>
        <p:nvSpPr>
          <p:cNvPr id="13" name="Text 11"/>
          <p:cNvSpPr txBox="1"/>
          <p:nvPr/>
        </p:nvSpPr>
        <p:spPr>
          <a:xfrm>
            <a:off x="1207008" y="4303268"/>
            <a:ext cx="10436047" cy="588772"/>
          </a:xfrm>
          <a:prstGeom prst="rect">
            <a:avLst/>
          </a:prstGeom>
          <a:noFill/>
          <a:ln/>
        </p:spPr>
        <p:txBody>
          <a:bodyPr wrap="square" lIns="0" tIns="0" rIns="0" bIns="0" rtlCol="0" anchor="t"/>
          <a:lstStyle/>
          <a:p>
            <a:pPr indent="0" marL="0">
              <a:spcAft>
                <a:spcPts val="200"/>
              </a:spcAft>
              <a:buNone/>
            </a:pPr>
            <a:r>
              <a:rPr lang="en-US" sz="1900" dirty="0">
                <a:solidFill>
                  <a:srgbClr val="1B2530"/>
                </a:solidFill>
                <a:latin typeface="Calibri" pitchFamily="34" charset="0"/>
                <a:ea typeface="Calibri" pitchFamily="34" charset="-122"/>
                <a:cs typeface="Calibri" pitchFamily="34" charset="-120"/>
              </a:rPr>
              <a:t>Find in the datasheet of the processor of your phone or laptop: instruction set, number of cores, clock, privilege levels</a:t>
            </a:r>
            <a:endParaRPr lang="en-US" sz="1900" dirty="0"/>
          </a:p>
        </p:txBody>
      </p:sp>
      <p:sp>
        <p:nvSpPr>
          <p:cNvPr id="14" name="Shape 12"/>
          <p:cNvSpPr/>
          <p:nvPr/>
        </p:nvSpPr>
        <p:spPr>
          <a:xfrm>
            <a:off x="548640" y="5120640"/>
            <a:ext cx="11094415" cy="1051560"/>
          </a:xfrm>
          <a:prstGeom prst="roundRect">
            <a:avLst>
              <a:gd name="adj" fmla="val 6957"/>
            </a:avLst>
          </a:prstGeom>
          <a:solidFill>
            <a:srgbClr val="DCEEE3"/>
          </a:solidFill>
          <a:ln w="12700">
            <a:solidFill>
              <a:srgbClr val="DCEEE3"/>
            </a:solidFill>
            <a:prstDash val="solid"/>
          </a:ln>
        </p:spPr>
      </p:sp>
      <p:sp>
        <p:nvSpPr>
          <p:cNvPr id="15" name="Text 13"/>
          <p:cNvSpPr txBox="1"/>
          <p:nvPr/>
        </p:nvSpPr>
        <p:spPr>
          <a:xfrm>
            <a:off x="822960" y="5212080"/>
            <a:ext cx="2743200" cy="274320"/>
          </a:xfrm>
          <a:prstGeom prst="rect">
            <a:avLst/>
          </a:prstGeom>
          <a:noFill/>
          <a:ln/>
        </p:spPr>
        <p:txBody>
          <a:bodyPr wrap="square" lIns="0" tIns="0" rIns="0" bIns="0" rtlCol="0" anchor="t"/>
          <a:lstStyle/>
          <a:p>
            <a:pPr indent="0" marL="0">
              <a:buNone/>
            </a:pPr>
            <a:r>
              <a:rPr lang="en-US" sz="1300" b="1" dirty="0">
                <a:solidFill>
                  <a:srgbClr val="2F7D4F"/>
                </a:solidFill>
                <a:latin typeface="Calibri" pitchFamily="34" charset="0"/>
                <a:ea typeface="Calibri" pitchFamily="34" charset="-122"/>
                <a:cs typeface="Calibri" pitchFamily="34" charset="-120"/>
              </a:rPr>
              <a:t>Expected result</a:t>
            </a:r>
            <a:endParaRPr lang="en-US" sz="1300" dirty="0"/>
          </a:p>
        </p:txBody>
      </p:sp>
      <p:sp>
        <p:nvSpPr>
          <p:cNvPr id="16" name="Text 14"/>
          <p:cNvSpPr txBox="1"/>
          <p:nvPr/>
        </p:nvSpPr>
        <p:spPr>
          <a:xfrm>
            <a:off x="822960" y="5504688"/>
            <a:ext cx="10545775" cy="594360"/>
          </a:xfrm>
          <a:prstGeom prst="rect">
            <a:avLst/>
          </a:prstGeom>
          <a:noFill/>
          <a:ln/>
        </p:spPr>
        <p:txBody>
          <a:bodyPr wrap="square" lIns="0" tIns="0" rIns="0" bIns="0" rtlCol="0" anchor="ctr"/>
          <a:lstStyle/>
          <a:p>
            <a:pPr indent="0" marL="0">
              <a:buNone/>
            </a:pPr>
            <a:r>
              <a:rPr lang="en-US" sz="1800" dirty="0">
                <a:solidFill>
                  <a:srgbClr val="1B2530"/>
                </a:solidFill>
                <a:latin typeface="Calibri" pitchFamily="34" charset="0"/>
                <a:ea typeface="Calibri" pitchFamily="34" charset="-122"/>
                <a:cs typeface="Calibri" pitchFamily="34" charset="-120"/>
              </a:rPr>
              <a:t>On PRG32-QT: sp drops by 16 at the prologue and returns at the epilogue; ra holds the address after the call.</a:t>
            </a:r>
            <a:endParaRPr lang="en-US" sz="18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Glossary: English and Italian</a:t>
            </a:r>
            <a:endParaRPr lang="en-US" sz="3200" dirty="0"/>
          </a:p>
        </p:txBody>
      </p:sp>
      <p:graphicFrame>
        <p:nvGraphicFramePr>
          <p:cNvPr id="36" name="Table 0"/>
          <p:cNvGraphicFramePr>
            <a:graphicFrameLocks noGrp="1"/>
          </p:cNvGraphicFramePr>
          <p:nvPr>
            <p:extLst>
              <p:ext uri="{D42A27DB-BD31-4B8C-83A1-F6EECF244321}">
                <p14:modId xmlns:p14="http://schemas.microsoft.com/office/powerpoint/2010/main" val="1579011935"/>
              </p:ext>
            </p:extLst>
          </p:nvPr>
        </p:nvGraphicFramePr>
        <p:xfrm>
          <a:off x="548640" y="1417320"/>
          <a:ext cx="11094415" cy="914400"/>
        </p:xfrm>
        <a:graphic>
          <a:graphicData uri="http://schemas.openxmlformats.org/drawingml/2006/table">
            <a:tbl>
              <a:tblPr/>
              <a:tblGrid>
                <a:gridCol w="2600254"/>
                <a:gridCol w="2773604"/>
                <a:gridCol w="2773604"/>
                <a:gridCol w="2946954"/>
              </a:tblGrid>
              <a:tr h="0">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English</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c>
                  <a:txBody>
                    <a:bodyPr/>
                    <a:lstStyle/>
                    <a:p>
                      <a:pPr algn="l" indent="0" marL="0">
                        <a:buNone/>
                      </a:pPr>
                      <a:r>
                        <a:rPr lang="en-US" sz="2100" b="1" dirty="0">
                          <a:solidFill>
                            <a:srgbClr val="FFFFFF"/>
                          </a:solidFill>
                          <a:latin typeface="Calibri" pitchFamily="34" charset="0"/>
                          <a:ea typeface="Calibri" pitchFamily="34" charset="-122"/>
                          <a:cs typeface="Calibri" pitchFamily="34" charset="-120"/>
                        </a:rPr>
                        <a:t>Italiano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2E4A62"/>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control unit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unità di controllo</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accumulator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accumulatore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program counter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contatore di programma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stack pointer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puntatore allo stack</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machine 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 di macchina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status register, flags</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 di stato, indicatori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general / special register</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registro generico / speciale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supervisor / user state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stato supervisore / utente</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FFFFFF"/>
                    </a:solidFill>
                  </a:tcPr>
                </a:tc>
              </a:tr>
              <a:tr h="0">
                <a:tc>
                  <a:txBody>
                    <a:bodyPr/>
                    <a:lstStyle/>
                    <a:p>
                      <a:pPr algn="l" indent="0" marL="0">
                        <a:buNone/>
                      </a:pPr>
                      <a:r>
                        <a:rPr lang="en-US" sz="2100" b="1" dirty="0">
                          <a:solidFill>
                            <a:srgbClr val="1B2530"/>
                          </a:solidFill>
                          <a:latin typeface="Calibri" pitchFamily="34" charset="0"/>
                          <a:ea typeface="Calibri" pitchFamily="34" charset="-122"/>
                          <a:cs typeface="Calibri" pitchFamily="34" charset="-120"/>
                        </a:rPr>
                        <a:t>instruction set</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insieme (set) di istruzioni</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privileged instruction</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c>
                  <a:txBody>
                    <a:bodyPr/>
                    <a:lstStyle/>
                    <a:p>
                      <a:pPr algn="l" indent="0" marL="0">
                        <a:buNone/>
                      </a:pPr>
                      <a:r>
                        <a:rPr lang="en-US" sz="2100" dirty="0">
                          <a:solidFill>
                            <a:srgbClr val="1B2530"/>
                          </a:solidFill>
                          <a:latin typeface="Calibri" pitchFamily="34" charset="0"/>
                          <a:ea typeface="Calibri" pitchFamily="34" charset="-122"/>
                          <a:cs typeface="Calibri" pitchFamily="34" charset="-120"/>
                        </a:rPr>
                        <a:t>istruzione privilegiata</a:t>
                      </a:r>
                      <a:endParaRPr lang="en-US" sz="2100" dirty="0">
                        <a:latin typeface="Calibri" charset="0"/>
                        <a:ea typeface="Calibri" charset="0"/>
                        <a:cs typeface="Calibri" charset="0"/>
                      </a:endParaRPr>
                    </a:p>
                  </a:txBody>
                  <a:tcPr marL="101600" marR="101600" marT="50800" marB="50800" anchor="ctr">
                    <a:lnL w="6350" cap="flat" cmpd="sng" algn="ctr">
                      <a:solidFill>
                        <a:srgbClr val="C9D2D8"/>
                      </a:solidFill>
                      <a:prstDash val="solid"/>
                      <a:round/>
                      <a:headEnd type="none" w="med" len="med"/>
                      <a:tailEnd type="none" w="med" len="med"/>
                    </a:lnL>
                    <a:lnR w="6350" cap="flat" cmpd="sng" algn="ctr">
                      <a:solidFill>
                        <a:srgbClr val="C9D2D8"/>
                      </a:solidFill>
                      <a:prstDash val="solid"/>
                      <a:round/>
                      <a:headEnd type="none" w="med" len="med"/>
                      <a:tailEnd type="none" w="med" len="med"/>
                    </a:lnR>
                    <a:lnT w="6350" cap="flat" cmpd="sng" algn="ctr">
                      <a:solidFill>
                        <a:srgbClr val="C9D2D8"/>
                      </a:solidFill>
                      <a:prstDash val="solid"/>
                      <a:round/>
                      <a:headEnd type="none" w="med" len="med"/>
                      <a:tailEnd type="none" w="med" len="med"/>
                    </a:lnT>
                    <a:lnB w="6350" cap="flat" cmpd="sng" algn="ctr">
                      <a:solidFill>
                        <a:srgbClr val="C9D2D8"/>
                      </a:solidFill>
                      <a:prstDash val="solid"/>
                      <a:round/>
                      <a:headEnd type="none" w="med" len="med"/>
                      <a:tailEnd type="none" w="med" len="med"/>
                    </a:lnB>
                    <a:solidFill>
                      <a:srgbClr val="EEF2F4"/>
                    </a:solidFill>
                  </a:tcPr>
                </a:tc>
              </a:tr>
            </a:tbl>
          </a:graphicData>
        </a:graphic>
      </p:graphicFrame>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1"/>
          <p:cNvSpPr/>
          <p:nvPr>
            <p:ph idx="101" type="title" hasCustomPrompt="1"/>
          </p:nvPr>
        </p:nvSpPr>
        <p:spPr>
          <a:xfrm>
            <a:off x="548640" y="365760"/>
            <a:ext cx="11094415" cy="868680"/>
          </a:xfrm>
          <a:prstGeom prst="rect">
            <a:avLst/>
          </a:prstGeom>
          <a:noFill/>
          <a:ln/>
        </p:spPr>
        <p:txBody>
          <a:bodyPr wrap="square" lIns="0" tIns="0" rIns="0" bIns="0" rtlCol="0" anchor="ctr"/>
          <a:lstStyle/>
          <a:p>
            <a:pPr algn="l" indent="0" marL="0">
              <a:buNone/>
            </a:pPr>
            <a:r>
              <a:rPr lang="en-US" sz="3200" b="1" dirty="0">
                <a:solidFill>
                  <a:srgbClr val="2E4A62"/>
                </a:solidFill>
                <a:latin typeface="Cambria" pitchFamily="34" charset="0"/>
                <a:ea typeface="Cambria" pitchFamily="34" charset="-122"/>
                <a:cs typeface="Cambria" pitchFamily="34" charset="-120"/>
              </a:rPr>
              <a:t>Conclusions and reading</a:t>
            </a:r>
            <a:endParaRPr lang="en-US" sz="3200" dirty="0"/>
          </a:p>
        </p:txBody>
      </p:sp>
      <p:sp>
        <p:nvSpPr>
          <p:cNvPr id="3" name="Shape 1"/>
          <p:cNvSpPr/>
          <p:nvPr/>
        </p:nvSpPr>
        <p:spPr>
          <a:xfrm>
            <a:off x="548640" y="1508252"/>
            <a:ext cx="146304" cy="146304"/>
          </a:xfrm>
          <a:prstGeom prst="rect">
            <a:avLst/>
          </a:prstGeom>
          <a:solidFill>
            <a:srgbClr val="0E7C86"/>
          </a:solidFill>
          <a:ln w="12700">
            <a:solidFill>
              <a:srgbClr val="0E7C86"/>
            </a:solidFill>
            <a:prstDash val="solid"/>
          </a:ln>
        </p:spPr>
      </p:sp>
      <p:sp>
        <p:nvSpPr>
          <p:cNvPr id="4" name="Text 2"/>
          <p:cNvSpPr txBox="1"/>
          <p:nvPr/>
        </p:nvSpPr>
        <p:spPr>
          <a:xfrm>
            <a:off x="932688" y="1417320"/>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processor commands and controls, relying on the memory and on the input/output systems</a:t>
            </a:r>
            <a:endParaRPr lang="en-US" sz="2000" dirty="0"/>
          </a:p>
        </p:txBody>
      </p:sp>
      <p:sp>
        <p:nvSpPr>
          <p:cNvPr id="5" name="Shape 3"/>
          <p:cNvSpPr/>
          <p:nvPr/>
        </p:nvSpPr>
        <p:spPr>
          <a:xfrm>
            <a:off x="548640" y="2279244"/>
            <a:ext cx="146304" cy="146304"/>
          </a:xfrm>
          <a:prstGeom prst="rect">
            <a:avLst/>
          </a:prstGeom>
          <a:solidFill>
            <a:srgbClr val="C7791B"/>
          </a:solidFill>
          <a:ln w="12700">
            <a:solidFill>
              <a:srgbClr val="C7791B"/>
            </a:solidFill>
            <a:prstDash val="solid"/>
          </a:ln>
        </p:spPr>
      </p:sp>
      <p:sp>
        <p:nvSpPr>
          <p:cNvPr id="6" name="Text 4"/>
          <p:cNvSpPr txBox="1"/>
          <p:nvPr/>
        </p:nvSpPr>
        <p:spPr>
          <a:xfrm>
            <a:off x="932688" y="2188312"/>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Registers are storage locations that may be physically inside or outside the processor</a:t>
            </a:r>
            <a:endParaRPr lang="en-US" sz="2000" dirty="0"/>
          </a:p>
        </p:txBody>
      </p:sp>
      <p:sp>
        <p:nvSpPr>
          <p:cNvPr id="7" name="Shape 5"/>
          <p:cNvSpPr/>
          <p:nvPr/>
        </p:nvSpPr>
        <p:spPr>
          <a:xfrm>
            <a:off x="548640" y="3050235"/>
            <a:ext cx="146304" cy="146304"/>
          </a:xfrm>
          <a:prstGeom prst="rect">
            <a:avLst/>
          </a:prstGeom>
          <a:solidFill>
            <a:srgbClr val="0E7C86"/>
          </a:solidFill>
          <a:ln w="12700">
            <a:solidFill>
              <a:srgbClr val="0E7C86"/>
            </a:solidFill>
            <a:prstDash val="solid"/>
          </a:ln>
        </p:spPr>
      </p:sp>
      <p:sp>
        <p:nvSpPr>
          <p:cNvPr id="8" name="Text 6"/>
          <p:cNvSpPr txBox="1"/>
          <p:nvPr/>
        </p:nvSpPr>
        <p:spPr>
          <a:xfrm>
            <a:off x="932688" y="2959303"/>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kinds of registers and the way they are used determine the model of processor: accumulator, stack, general registers</a:t>
            </a:r>
            <a:endParaRPr lang="en-US" sz="2000" dirty="0"/>
          </a:p>
        </p:txBody>
      </p:sp>
      <p:sp>
        <p:nvSpPr>
          <p:cNvPr id="9" name="Shape 7"/>
          <p:cNvSpPr/>
          <p:nvPr/>
        </p:nvSpPr>
        <p:spPr>
          <a:xfrm>
            <a:off x="548640" y="3821227"/>
            <a:ext cx="146304" cy="146304"/>
          </a:xfrm>
          <a:prstGeom prst="rect">
            <a:avLst/>
          </a:prstGeom>
          <a:solidFill>
            <a:srgbClr val="C7791B"/>
          </a:solidFill>
          <a:ln w="12700">
            <a:solidFill>
              <a:srgbClr val="C7791B"/>
            </a:solidFill>
            <a:prstDash val="solid"/>
          </a:ln>
        </p:spPr>
      </p:sp>
      <p:sp>
        <p:nvSpPr>
          <p:cNvPr id="10" name="Text 8"/>
          <p:cNvSpPr txBox="1"/>
          <p:nvPr/>
        </p:nvSpPr>
        <p:spPr>
          <a:xfrm>
            <a:off x="932688" y="3730295"/>
            <a:ext cx="10710367" cy="30988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The ALU carries out the operations between operands</a:t>
            </a:r>
            <a:endParaRPr lang="en-US" sz="2000" dirty="0"/>
          </a:p>
        </p:txBody>
      </p:sp>
      <p:sp>
        <p:nvSpPr>
          <p:cNvPr id="11" name="Shape 9"/>
          <p:cNvSpPr/>
          <p:nvPr/>
        </p:nvSpPr>
        <p:spPr>
          <a:xfrm>
            <a:off x="548640" y="4282338"/>
            <a:ext cx="146304" cy="146304"/>
          </a:xfrm>
          <a:prstGeom prst="rect">
            <a:avLst/>
          </a:prstGeom>
          <a:solidFill>
            <a:srgbClr val="0E7C86"/>
          </a:solidFill>
          <a:ln w="12700">
            <a:solidFill>
              <a:srgbClr val="0E7C86"/>
            </a:solidFill>
            <a:prstDash val="solid"/>
          </a:ln>
        </p:spPr>
      </p:sp>
      <p:sp>
        <p:nvSpPr>
          <p:cNvPr id="12" name="Text 10"/>
          <p:cNvSpPr txBox="1"/>
          <p:nvPr/>
        </p:nvSpPr>
        <p:spPr>
          <a:xfrm>
            <a:off x="932688" y="4191406"/>
            <a:ext cx="10710367" cy="619760"/>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RISC-V is a load-store, general-register processor with no flags and no I/O instructions: few elements, each one simple</a:t>
            </a:r>
            <a:endParaRPr lang="en-US" sz="2000" dirty="0"/>
          </a:p>
        </p:txBody>
      </p:sp>
      <p:sp>
        <p:nvSpPr>
          <p:cNvPr id="13" name="Shape 11"/>
          <p:cNvSpPr/>
          <p:nvPr/>
        </p:nvSpPr>
        <p:spPr>
          <a:xfrm>
            <a:off x="548640" y="5053330"/>
            <a:ext cx="146304" cy="146304"/>
          </a:xfrm>
          <a:prstGeom prst="rect">
            <a:avLst/>
          </a:prstGeom>
          <a:solidFill>
            <a:srgbClr val="C7791B"/>
          </a:solidFill>
          <a:ln w="12700">
            <a:solidFill>
              <a:srgbClr val="C7791B"/>
            </a:solidFill>
            <a:prstDash val="solid"/>
          </a:ln>
        </p:spPr>
      </p:sp>
      <p:sp>
        <p:nvSpPr>
          <p:cNvPr id="14" name="Text 12"/>
          <p:cNvSpPr txBox="1"/>
          <p:nvPr/>
        </p:nvSpPr>
        <p:spPr>
          <a:xfrm>
            <a:off x="932688" y="4962398"/>
            <a:ext cx="10710367" cy="1209802"/>
          </a:xfrm>
          <a:prstGeom prst="rect">
            <a:avLst/>
          </a:prstGeom>
          <a:noFill/>
          <a:ln/>
        </p:spPr>
        <p:txBody>
          <a:bodyPr wrap="square" lIns="0" tIns="0" rIns="0" bIns="0" rtlCol="0" anchor="t"/>
          <a:lstStyle/>
          <a:p>
            <a:pPr indent="0" marL="0">
              <a:spcAft>
                <a:spcPts val="200"/>
              </a:spcAft>
              <a:buNone/>
            </a:pPr>
            <a:r>
              <a:rPr lang="en-US" sz="2000" dirty="0">
                <a:solidFill>
                  <a:srgbClr val="1B2530"/>
                </a:solidFill>
                <a:latin typeface="Calibri" pitchFamily="34" charset="0"/>
                <a:ea typeface="Calibri" pitchFamily="34" charset="-122"/>
                <a:cs typeface="Calibri" pitchFamily="34" charset="-120"/>
              </a:rPr>
              <a:t>Reading</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Patterson, Hennessy: Computer Organization and Design, RISC-V Edition, chapters 2 and 4</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The RISC-V Instruction Set Manual, volume I: Unprivileged Architecture</a:t>
            </a:r>
            <a:endParaRPr lang="en-US" sz="2000" dirty="0"/>
          </a:p>
          <a:p>
            <a:pPr indent="0" marL="0">
              <a:spcAft>
                <a:spcPts val="200"/>
              </a:spcAft>
              <a:buNone/>
            </a:pPr>
            <a:r>
              <a:rPr lang="en-US" sz="1700" dirty="0">
                <a:solidFill>
                  <a:srgbClr val="5B6B78"/>
                </a:solidFill>
                <a:latin typeface="Calibri" pitchFamily="34" charset="0"/>
                <a:ea typeface="Calibri" pitchFamily="34" charset="-122"/>
                <a:cs typeface="Calibri" pitchFamily="34" charset="-120"/>
              </a:rPr>
              <a:t>– Stallings: Computer Organization and Architecture, chapters on processor structure and function</a:t>
            </a:r>
            <a:endParaRPr lang="en-US" sz="2000" dirty="0"/>
          </a:p>
        </p:txBody>
      </p:sp>
      <p:sp>
        <p:nvSpPr>
          <p:cNvPr id="25" name="Slide Number Placeholder 0"/>
          <p:cNvSpPr>
            <a:spLocks noGrp="1"/>
          </p:cNvSpPr>
          <p:nvPr>
            <p:ph type="sldNum" sz="quarter" idx="4294967295"/>
          </p:nvPr>
        </p:nvSpPr>
        <p:spPr>
          <a:xfrm>
            <a:off x="11002975" y="6419088"/>
            <a:ext cx="64008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8"/>
                </a:solidFill>
                <a:latin typeface="Calibri"/>
                <a:ea typeface="Calibri"/>
                <a:cs typeface="Calibri"/>
              </a:defRPr>
            </a:lvl1pPr>
          </a:lstStyle>
          <a:p>
            <a:pPr algn="r"/>
            <a:fld id="{F7021451-1387-4CA6-816F-3879F97B5CBC}" type="slidenum">
              <a:rPr b="0" lang="en-US"/>
              <a:t>36</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vector>
  </TitlesOfParts>
  <Company>University of Naples Parthenope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ARC12 Computer Architecture - The Processor</dc:title>
  <dc:subject>Lecture 18</dc:subject>
  <dc:creator>Raffaele Montella</dc:creator>
  <cp:lastModifiedBy>Raffaele Montella</cp:lastModifiedBy>
  <cp:revision>1</cp:revision>
  <dcterms:created xsi:type="dcterms:W3CDTF">2026-10-12T11:28:39Z</dcterms:created>
  <dcterms:modified xsi:type="dcterms:W3CDTF">2026-10-12T11:28:39Z</dcterms:modified>
</cp:coreProperties>
</file>