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199afdb-3485-5a6c-1f97-8fcb745ed7b0}">
          <p14:sldIdLst>
            <p14:sldId id="256"/>
            <p14:sldId id="257"/>
          </p14:sldIdLst>
        </p14:section>
        <p14:section name="The processor" id="{c9fad747-b66e-9c52-a8c3-be758d42027e}">
          <p14:sldIdLst>
            <p14:sldId id="258"/>
            <p14:sldId id="259"/>
            <p14:sldId id="260"/>
            <p14:sldId id="261"/>
            <p14:sldId id="262"/>
          </p14:sldIdLst>
        </p14:section>
        <p14:section name="Registers" id="{6d2c8995-eafb-4788-10d6-2eb21cc4167d}">
          <p14:sldIdLst>
            <p14:sldId id="263"/>
            <p14:sldId id="264"/>
            <p14:sldId id="265"/>
            <p14:sldId id="266"/>
          </p14:sldIdLst>
        </p14:section>
        <p14:section name="The stack" id="{c8e92082-9980-8a58-e68d-beaff93bb438}">
          <p14:sldIdLst>
            <p14:sldId id="267"/>
          </p14:sldIdLst>
        </p14:section>
        <p14:section name="Processor models" id="{88ab57d6-946c-dda9-c3b7-6c092eb3f078}">
          <p14:sldIdLst>
            <p14:sldId id="268"/>
            <p14:sldId id="269"/>
          </p14:sldIdLst>
        </p14:section>
        <p14:section name="The ALU and the whole picture" id="{359963eb-6be8-1852-398c-1cc018e2ece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block of the course opens the machine that has been executing every program written so far. This lecture presents the processor twice: first as a general reference model, valid for any processor, with its control unit, registers, stack and arithmetic unit; then as RISC-V, the processor programmed since the first weeks. Every abstract element of the model already has, for the student, a familiar name, and the lecture's method is to make that correspondence explicit. The ring of the epigraph is the processor itself: the one component that commands all the others.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Roadmap. Today's outcomes: (1) follow an instruction through the blocks of an RV32 processor; (2) use the stack and the calling convention correctly; (3) compare accumulator, stack and register machines. Builds on: only what Lecture 01 set up. Next: Lecture 19, Instructions and Interrupts.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components of a processor. Distinguishing internal registers from machine registers, and general-purpose from special registers. Explaining how a stack works and how RISC-V implements push and pop. Comparing three processor models, accumulator, stack and general registers, on the same computation. Describing RISC-V as a load-store, general-register architecture and reading the name RV32IMAC. And mapping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comprises three subsystems, processor, main memory and input/output, connected by buses. The processor can execute only a fixed set of instructions, from a few tens to a few hundred, and machine language is the set of bit strings that encode them. Instructions request two kinds of action: transfers of information, and arithmetic or logical operations. Programs and data both reside in main memory, as the von Neumann model of Lecture 03 prescribes.
UNDERSTAND NOW: the processor model.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control signals. The machine registers R0 to Rn-1 are those used by the programmer. The arithmetic logic unit has two operand registers and a result register. Two pairs of registers link the processor to the outside world: MA and MB towards memory, RI and RU towards input and output. An internal bus connects them all, in the manner of the common bus of Lecture 14.
UNDERSTAND NOW: the processor model.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its counterpart in RISC-V. The program counter is pc. The machine registers are x0 to x31, with their familiar names. The ALU registers and the memory interface registers exist in the hardware but are invisible to the programmer. Two rows read "absent", and both are deliberate design choices: there are no registers for input and output, because devices are memory-mapped, and there is no status register with flags. The special registers are the CSRs, reserved for privileged software and treated in Lecture 19.
UNDERSTAND NOW: the processor model.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operation of the processor but invisible to the programmer: the program counter, the memory interface registers, those of the ALU. Machine registers define the programming model, being those named in instructions. The processor handles three kinds of information, instructions, addresses and data, each of which could in principle have its own width. In RV32 all three are 32 bits wide, which gives the machine a marked regularity.
UNDERSTAND NOW: the processor model.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whose misuse could compromise the system. RISC-V calls these states modes: machine mode, the most privileged and the only mandatory one, supervisor mode and user mode. The chip of the kit implements machine and user modes. Transitions between them occur through the traps of the next lecture.
UNDERSTAND NOW: the processor model. UNDERSTAND LATER: interrupts and traps (studied in Lecture 19).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results of arithmetic. Addressing: holding an address or part of one, as base and index registers do. Stack pointer: indicating the top of a stack in memory. Flags: single bits recording events such as zero, sign, overflow and carry, which condition subsequent instructions. In RISC-V the general registers serve the first four functions; the fifth does not exist as a register at all.
UNDERSTAND NOW: the registers of RISC-V.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RISC-V registers, with numbers, names and roles. Most have been in use for weeks: zero, ra, sp, the temporaries t0 to t6, the arguments a0 to a7, the saved registers s0 to s11; gp and tp are new, used by compilers and operating systems. The hardware treats x1 to x31 identically and only x0 is special; the roles derive from the calling convention, met in Lecture 02 and stated here as a rule. A call may overwrite ra and the t and a registers, which are caller-saved: a caller that still needs one saves it before the call. A call must return the s registers and sp unchanged, which are callee-saved: a function that uses one saves it in its frame and restores it before ret. The program counter is not part of the register bank.
UNDERSTAND NOW: the registers of RISC-V; the calling convention.
For the lecturer: The hardware treats x1 to x31 identically; only x0 is special. The roles come from the calling convention, met in Lecture 02 and stated here as a rule: a call may destroy ra, t and a registers (caller-saved: save them before the call if you still need them); it must return s registers and sp unchanged (callee-saved: a function that uses them saves them in its frame and restores them before ret).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One instruction sets them and a later conditional branch tests them. RISC-V has none. A branch compares two registers and jumps, in a single instruction; slt writes the result of a comparison into an ordinary register; carry and overflow are computed when required, as in Lecture 05. Less hidden state means a simpler processor, simpler pipelining (overlapping the steps of successive instructions, as on an assembly line) and simpler interrupt handling, since there is no implicit state to save.
UNDERSTAND NOW: the registers of RISC-V.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through dedicated instructions. Five are worth knowing by name: mstatus, holding the global interrupt enable; mtvec, the address of the trap-handling routine; mepc, the address of the interrupted instruction; mcause, the reason for the trap; and the pair mie and mip, with one bit per interrupt source. The next lecture uses every one of them.
UNDERSTAND NOW: the registers of RISC-V. UNDERSTAND LATER: interrupts and traps (studied in Lecture 19).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supports two operations: push places an element on top, pop removes the topmost element. It always operates at the top, so no location need be specified: last in, first out. It serves to set aside the contents of registers that must be freed for a task and to restore them afterwards, in subroutine calls and in interrupts alike. It is implemented by a pointer indicating the last element stored. Careful programs check for overflow on a push and for an empty stack on a pop. The stack frame of Lecture 02 is now seen in its general form.
UNDERSTAND NOW: the stack; the calling convention.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processor architectures. With general registers the processor has a set of interchangeable registers. With an accumulator, arithmetic instructions have an implicit operand, one special register. In a stack machine there is neither, only a stack pointer, and instructions operate on the top of the stack. An orthogonal architecture has a single bank of general registers, some of which may also serve as stack pointer or in other special roles. RISC-V belongs to this last class.
UNDERSTAND NOW: accumulator, stack, registers.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access memory; every other instruction operates from register to register, which is faster. Instructions have three operands, two sources and a destination, so that no value is destroyed unless the programmer so chooses. Each instruction performs one simple operation and has a fixed size, which makes it easy to decode and to execute in a pipeline. This is what RISC means. The seven lines of the warm-up are the price of the design, and the simplicity of each line is its return.
UNDERSTAND NOW: accumulator, stack, registers.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read from left to right. The PC supplies the address of the instruction, which is fetched from memory. The decoder separates its fields and the control unit issues the corresponding signals. The register file provides the operands. The ALU computes a result or forms an address. The data memory is read or written by loads and stores. Two paths return: the result goes back to the register named by rd, and the next PC is either PC + 4 or the branch target. Every instruction written in the course travels along this path, and the machines of Lectures 11, 13 and 14 can all be located on it.
UNDERSTAND NOW: the RV32 processor.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figures: instruction set RV32IMAC; one main core at up to 160 MHz with a four-stage pipeline, and a second low-power core; machine and user modes; no floating point; 512 KB of SRAM, 320 KB of ROM and an external flash; radios and peripherals on the same die. A complete computer in a few square millimetres, at a cost of about two euros, in which processor, memory and input/output are all present exactly as in the model.
UNDERSTAND NOW: the RV32 processor.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returns to the table placing the model beside RISC-V and looks for the rows marked "absent"; one of them is among the options.
For the second, one recalls the warm-up: which instructions accessed memory, and which only registers? The answer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two instructions are followed in turn: the pointer moves down by one word, and a value is then stored at the address it now holds. A value has been pushed onto the stack.
For the second: in an accumulator machine the accumulator is the implicit operand, serving as one of the two addends and receiving the result, while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privilege levels. A privileged instruction may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internal or visible to the programmer. The kinds of registers and their use determine the processor model: accumulator, stack or general registers. The ALU performs the operations. And RISC-V is a load-store processor with general registers, no flags and no I/O instructions: few elements, each of them simple. The next lecture follows an instruction through its entire life.
Learning status, recap.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Closing thread: The ra saved in Lecture 02 is now explained: the stack and the calling convention are rules that let functions written by different people call each other. Next: how an instruction is encoded and executed, and how the processor is interrupted. Exit ticket (two to four minutes, alone, on paper): 1. Follow add t2, t0, t1 through the block diagram of an RV32 processor: name, in order, the blocks it uses and what each does. Which block does it not use? 2. A function begins with addi sp, sp, -16 and sw ra, 12(sp). Where is ra now, and what must the function do before ret?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18" name="Shape 16"/>
          <p:cNvSpPr/>
          <p:nvPr/>
        </p:nvSpPr>
        <p:spPr>
          <a:xfrm>
            <a:off x="8419033" y="91440"/>
            <a:ext cx="3224022" cy="274320"/>
          </a:xfrm>
          <a:prstGeom prst="rect">
            <a:avLst/>
          </a:prstGeom>
          <a:solidFill>
            <a:srgbClr val="E0F2FE"/>
          </a:solidFill>
          <a:ln w="12700">
            <a:solidFill>
              <a:srgbClr val="0369A1"/>
            </a:solidFill>
            <a:prstDash val="solid"/>
          </a:ln>
        </p:spPr>
      </p:sp>
      <p:sp>
        <p:nvSpPr>
          <p:cNvPr id="19" name="Shape 17"/>
          <p:cNvSpPr/>
          <p:nvPr/>
        </p:nvSpPr>
        <p:spPr>
          <a:xfrm>
            <a:off x="841903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1" name="Text 18"/>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34" name="Shape 32"/>
          <p:cNvSpPr/>
          <p:nvPr/>
        </p:nvSpPr>
        <p:spPr>
          <a:xfrm>
            <a:off x="8419033" y="91440"/>
            <a:ext cx="3224022" cy="274320"/>
          </a:xfrm>
          <a:prstGeom prst="rect">
            <a:avLst/>
          </a:prstGeom>
          <a:solidFill>
            <a:srgbClr val="E0F2FE"/>
          </a:solidFill>
          <a:ln w="12700">
            <a:solidFill>
              <a:srgbClr val="0369A1"/>
            </a:solidFill>
            <a:prstDash val="solid"/>
          </a:ln>
        </p:spPr>
      </p:sp>
      <p:sp>
        <p:nvSpPr>
          <p:cNvPr id="35" name="Shape 33"/>
          <p:cNvSpPr/>
          <p:nvPr/>
        </p:nvSpPr>
        <p:spPr>
          <a:xfrm>
            <a:off x="8419033"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7" name="Text 3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14"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5"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7"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5" name="Shape 2"/>
          <p:cNvSpPr/>
          <p:nvPr/>
        </p:nvSpPr>
        <p:spPr>
          <a:xfrm>
            <a:off x="7217613" y="91440"/>
            <a:ext cx="4425442" cy="274320"/>
          </a:xfrm>
          <a:prstGeom prst="rect">
            <a:avLst/>
          </a:prstGeom>
          <a:solidFill>
            <a:srgbClr val="F3E8FF"/>
          </a:solidFill>
          <a:ln w="12700">
            <a:solidFill>
              <a:srgbClr val="7E22CE"/>
            </a:solidFill>
            <a:prstDash val="dash"/>
          </a:ln>
        </p:spPr>
      </p:sp>
      <p:sp>
        <p:nvSpPr>
          <p:cNvPr id="6" name="Shape 3"/>
          <p:cNvSpPr/>
          <p:nvPr/>
        </p:nvSpPr>
        <p:spPr>
          <a:xfrm>
            <a:off x="7245045" y="128016"/>
            <a:ext cx="45720" cy="45720"/>
          </a:xfrm>
          <a:prstGeom prst="rect">
            <a:avLst/>
          </a:prstGeom>
          <a:solidFill>
            <a:srgbClr val="7E22CE"/>
          </a:solidFill>
          <a:ln w="12700">
            <a:solidFill>
              <a:srgbClr val="7E22CE"/>
            </a:solidFill>
            <a:prstDash val="solid"/>
          </a:ln>
        </p:spPr>
      </p:sp>
      <p:sp>
        <p:nvSpPr>
          <p:cNvPr id="7" name="Shape 4"/>
          <p:cNvSpPr/>
          <p:nvPr/>
        </p:nvSpPr>
        <p:spPr>
          <a:xfrm>
            <a:off x="7245045" y="205740"/>
            <a:ext cx="45720" cy="45720"/>
          </a:xfrm>
          <a:prstGeom prst="rect">
            <a:avLst/>
          </a:prstGeom>
          <a:solidFill>
            <a:srgbClr val="7E22CE"/>
          </a:solidFill>
          <a:ln w="12700">
            <a:solidFill>
              <a:srgbClr val="7E22CE"/>
            </a:solidFill>
            <a:prstDash val="solid"/>
          </a:ln>
        </p:spPr>
      </p:sp>
      <p:sp>
        <p:nvSpPr>
          <p:cNvPr id="8" name="Shape 5"/>
          <p:cNvSpPr/>
          <p:nvPr/>
        </p:nvSpPr>
        <p:spPr>
          <a:xfrm>
            <a:off x="7245045"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10" name="Text 6"/>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1" name="Shape 7"/>
          <p:cNvSpPr/>
          <p:nvPr/>
        </p:nvSpPr>
        <p:spPr>
          <a:xfrm>
            <a:off x="3883863" y="91440"/>
            <a:ext cx="3224022" cy="274320"/>
          </a:xfrm>
          <a:prstGeom prst="rect">
            <a:avLst/>
          </a:prstGeom>
          <a:solidFill>
            <a:srgbClr val="E0F2FE"/>
          </a:solidFill>
          <a:ln w="12700">
            <a:solidFill>
              <a:srgbClr val="0369A1"/>
            </a:solidFill>
            <a:prstDash val="solid"/>
          </a:ln>
        </p:spPr>
      </p:sp>
      <p:sp>
        <p:nvSpPr>
          <p:cNvPr id="12" name="Shape 8"/>
          <p:cNvSpPr/>
          <p:nvPr/>
        </p:nvSpPr>
        <p:spPr>
          <a:xfrm>
            <a:off x="3883863"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4011879" y="128016"/>
            <a:ext cx="201168" cy="201168"/>
          </a:xfrm>
          <a:prstGeom prst="rect">
            <a:avLst/>
          </a:prstGeom>
        </p:spPr>
      </p:pic>
      <p:sp>
        <p:nvSpPr>
          <p:cNvPr id="14" name="Text 9"/>
          <p:cNvSpPr txBox="1"/>
          <p:nvPr/>
        </p:nvSpPr>
        <p:spPr>
          <a:xfrm>
            <a:off x="42679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always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return address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 results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stack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global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thread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(not in the bank)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rule of the convention: a call may destroy ra, t and a (caller-saved); s and sp come back unchanged (callee-saved).</a:t>
            </a:r>
            <a:endParaRPr lang="en-US" sz="14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217613" y="91440"/>
            <a:ext cx="4425442" cy="274320"/>
          </a:xfrm>
          <a:prstGeom prst="rect">
            <a:avLst/>
          </a:prstGeom>
          <a:solidFill>
            <a:srgbClr val="F3E8FF"/>
          </a:solidFill>
          <a:ln w="12700">
            <a:solidFill>
              <a:srgbClr val="7E22CE"/>
            </a:solidFill>
            <a:prstDash val="dash"/>
          </a:ln>
        </p:spPr>
      </p:sp>
      <p:sp>
        <p:nvSpPr>
          <p:cNvPr id="5" name="Shape 2"/>
          <p:cNvSpPr/>
          <p:nvPr/>
        </p:nvSpPr>
        <p:spPr>
          <a:xfrm>
            <a:off x="7245045" y="128016"/>
            <a:ext cx="45720" cy="45720"/>
          </a:xfrm>
          <a:prstGeom prst="rect">
            <a:avLst/>
          </a:prstGeom>
          <a:solidFill>
            <a:srgbClr val="7E22CE"/>
          </a:solidFill>
          <a:ln w="12700">
            <a:solidFill>
              <a:srgbClr val="7E22CE"/>
            </a:solidFill>
            <a:prstDash val="solid"/>
          </a:ln>
        </p:spPr>
      </p:sp>
      <p:sp>
        <p:nvSpPr>
          <p:cNvPr id="6" name="Shape 3"/>
          <p:cNvSpPr/>
          <p:nvPr/>
        </p:nvSpPr>
        <p:spPr>
          <a:xfrm>
            <a:off x="7245045" y="205740"/>
            <a:ext cx="45720" cy="45720"/>
          </a:xfrm>
          <a:prstGeom prst="rect">
            <a:avLst/>
          </a:prstGeom>
          <a:solidFill>
            <a:srgbClr val="7E22CE"/>
          </a:solidFill>
          <a:ln w="12700">
            <a:solidFill>
              <a:srgbClr val="7E22CE"/>
            </a:solidFill>
            <a:prstDash val="solid"/>
          </a:ln>
        </p:spPr>
      </p:sp>
      <p:sp>
        <p:nvSpPr>
          <p:cNvPr id="7" name="Shape 4"/>
          <p:cNvSpPr/>
          <p:nvPr/>
        </p:nvSpPr>
        <p:spPr>
          <a:xfrm>
            <a:off x="7245045"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9" name="Text 5"/>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0" name="Shape 6"/>
          <p:cNvSpPr/>
          <p:nvPr/>
        </p:nvSpPr>
        <p:spPr>
          <a:xfrm>
            <a:off x="3621227" y="91440"/>
            <a:ext cx="3486658" cy="274320"/>
          </a:xfrm>
          <a:prstGeom prst="rect">
            <a:avLst/>
          </a:prstGeom>
          <a:solidFill>
            <a:srgbClr val="E0F2FE"/>
          </a:solidFill>
          <a:ln w="12700">
            <a:solidFill>
              <a:srgbClr val="0369A1"/>
            </a:solidFill>
            <a:prstDash val="solid"/>
          </a:ln>
        </p:spPr>
      </p:sp>
      <p:sp>
        <p:nvSpPr>
          <p:cNvPr id="11" name="Shape 7"/>
          <p:cNvSpPr/>
          <p:nvPr/>
        </p:nvSpPr>
        <p:spPr>
          <a:xfrm>
            <a:off x="362122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3" name="Text 8"/>
          <p:cNvSpPr txBox="1"/>
          <p:nvPr/>
        </p:nvSpPr>
        <p:spPr>
          <a:xfrm>
            <a:off x="400527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16" name="Shape 14"/>
          <p:cNvSpPr/>
          <p:nvPr/>
        </p:nvSpPr>
        <p:spPr>
          <a:xfrm>
            <a:off x="9075623" y="91440"/>
            <a:ext cx="2567432" cy="274320"/>
          </a:xfrm>
          <a:prstGeom prst="rect">
            <a:avLst/>
          </a:prstGeom>
          <a:solidFill>
            <a:srgbClr val="E0F2FE"/>
          </a:solidFill>
          <a:ln w="12700">
            <a:solidFill>
              <a:srgbClr val="0369A1"/>
            </a:solidFill>
            <a:prstDash val="solid"/>
          </a:ln>
        </p:spPr>
      </p:sp>
      <p:sp>
        <p:nvSpPr>
          <p:cNvPr id="17" name="Shape 15"/>
          <p:cNvSpPr/>
          <p:nvPr/>
        </p:nvSpPr>
        <p:spPr>
          <a:xfrm>
            <a:off x="907562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9" name="Text 16"/>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19" name="Shape 17"/>
          <p:cNvSpPr/>
          <p:nvPr/>
        </p:nvSpPr>
        <p:spPr>
          <a:xfrm>
            <a:off x="7762443" y="91440"/>
            <a:ext cx="3880612" cy="274320"/>
          </a:xfrm>
          <a:prstGeom prst="rect">
            <a:avLst/>
          </a:prstGeom>
          <a:solidFill>
            <a:srgbClr val="E0F2FE"/>
          </a:solidFill>
          <a:ln w="12700">
            <a:solidFill>
              <a:srgbClr val="0369A1"/>
            </a:solidFill>
            <a:prstDash val="solid"/>
          </a:ln>
        </p:spPr>
      </p:sp>
      <p:sp>
        <p:nvSpPr>
          <p:cNvPr id="20" name="Shape 18"/>
          <p:cNvSpPr/>
          <p:nvPr/>
        </p:nvSpPr>
        <p:spPr>
          <a:xfrm>
            <a:off x="776244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2" name="Text 1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3" name="Shape 21"/>
          <p:cNvSpPr/>
          <p:nvPr/>
        </p:nvSpPr>
        <p:spPr>
          <a:xfrm>
            <a:off x="8484692" y="91440"/>
            <a:ext cx="3158363" cy="274320"/>
          </a:xfrm>
          <a:prstGeom prst="rect">
            <a:avLst/>
          </a:prstGeom>
          <a:solidFill>
            <a:srgbClr val="E0F2FE"/>
          </a:solidFill>
          <a:ln w="12700">
            <a:solidFill>
              <a:srgbClr val="0369A1"/>
            </a:solidFill>
            <a:prstDash val="solid"/>
          </a:ln>
        </p:spPr>
      </p:sp>
      <p:sp>
        <p:nvSpPr>
          <p:cNvPr id="24" name="Shape 22"/>
          <p:cNvSpPr/>
          <p:nvPr/>
        </p:nvSpPr>
        <p:spPr>
          <a:xfrm>
            <a:off x="848469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6" name="Text 2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2"/>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2026-10-17T07:16:49Z</dcterms:created>
  <dcterms:modified xsi:type="dcterms:W3CDTF">2026-10-17T07:16:49Z</dcterms:modified>
</cp:coreProperties>
</file>