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fac30c6-1899-1a68-0d41-2491e2747a91}">
          <p14:sldIdLst>
            <p14:sldId id="256"/>
            <p14:sldId id="257"/>
          </p14:sldIdLst>
        </p14:section>
        <p14:section name="The processor" id="{725b57d8-1311-cba2-59d9-32b28760cff3}">
          <p14:sldIdLst>
            <p14:sldId id="258"/>
            <p14:sldId id="259"/>
            <p14:sldId id="260"/>
            <p14:sldId id="261"/>
            <p14:sldId id="262"/>
          </p14:sldIdLst>
        </p14:section>
        <p14:section name="Registers" id="{93ceafe0-07ce-d9fd-9f54-d8815ac22f9a}">
          <p14:sldIdLst>
            <p14:sldId id="263"/>
            <p14:sldId id="264"/>
            <p14:sldId id="265"/>
            <p14:sldId id="266"/>
          </p14:sldIdLst>
        </p14:section>
        <p14:section name="The stack" id="{23d65db0-320f-b958-5eda-d5d545c5c14d}">
          <p14:sldIdLst>
            <p14:sldId id="267"/>
          </p14:sldIdLst>
        </p14:section>
        <p14:section name="Processor models" id="{c1e26560-ae66-668b-98a8-263b17ef1a04}">
          <p14:sldIdLst>
            <p14:sldId id="268"/>
            <p14:sldId id="269"/>
          </p14:sldIdLst>
        </p14:section>
        <p14:section name="The ALU and the whole picture" id="{9cf4024a-d5b8-578d-563a-80fd733f5fea}">
          <p14:sldIdLst>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block of the course opens the machine that has been executing every program written so far. This lecture presents the processor twice: first as a general reference model, valid for any processor, with its control unit, registers, stack and arithmetic unit; then as RISC-V, the processor programmed since the first weeks. Every abstract element of the model already has, for the student, a familiar name, and the lecture's method is to make that correspondence explicit. The ring of the epigraph is the processor itself: the one component that commands all the others.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accumulator, stack, registers; the processor model; the registers of RISC-V; the calling convention; the stack; the RV32 processor. USE NOW: the complete program, the PRG32 tools (used, not studied, in this course). UNDERSTAND LATER: interrupts and traps (Lecture 19). A slide without a badge is context: a story, an example, a question, an exercise.
For the lecturer: The original deck presented a general processor model and ended with the architecture of the Motorola MC68000. Here the general model is kept and RISC-V (RV32IMAC, as on the ESP32-C6 of the PRG32 kit) is the reference: the students have programmed it since the first days, so every abstract element has a name they already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learning outcomes. Naming the components of a processor. Distinguishing internal registers from machine registers, and general-purpose from special registers. Explaining how a stack works and how RISC-V implements push and pop. Comparing three processor models, accumulator, stack and general registers, on the same computation. Describing RISC-V as a load-store, general-register architecture and reading the name RV32IMAC. And mapping every element of the model onto the processor of the kit.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reminder and a definition. A computer comprises three subsystems, processor, main memory and input/output, connected by buses. The processor can execute only a fixed set of instructions, from a few tens to a few hundred, and machine language is the set of bit strings that encode them. Instructions request two kinds of action: transfers of information, and arithmetic or logical operations. Programs and data both reside in main memory, as the von Neumann model of Lecture 03 prescribes.
UNDERSTAND NOW: the processor model.
For the lecturer: RV32I, the base of RISC-V, has about forty instructions; with the M, A and C extensions of the kit, about a hundred encodings. The Motorola 68000 had fifty-six instruction types with many variants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reference model. The control unit contains the program counter, which holds the address of the next instruction; a decoding register, which holds the instruction being executed; and the network that issues the control signals. The machine registers R0 to Rn-1 are those used by the programmer. The arithmetic logic unit has two operand registers and a result register. Two pairs of registers link the processor to the outside world: MA and MB towards memory, RI and RU towards input and output. An internal bus connects them all, in the manner of the common bus of Lecture 14.
UNDERSTAND NOW: the processor model.
For the lecturer: Modello di riferimento. Although based on the same logical scheme, and so made of rather similar components, the processors on the market can be very different from one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element of the model, and its counterpart in RISC-V. The program counter is pc. The machine registers are x0 to x31, with their familiar names. The ALU registers and the memory interface registers exist in the hardware but are invisible to the programmer. Two rows read "absent", and both are deliberate design choices: there are no registers for input and output, because devices are memory-mapped, and there is no status register with flags. The special registers are the CSRs, reserved for privileged software and treated in Lecture 19.
UNDERSTAND NOW: the processor model.
For the lecturer: The two 'absent' rows are deliberate simplifications of RISC-V, explained later in this lecture and in Lecture 15. The MC68000 of the original deck had all the elements of the model: eight data and eight address registers, a status register with condition codes, and separate interrupt circuitry.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classes of registers. Internal registers are necessary for the operation of the processor but invisible to the programmer: the program counter, the memory interface registers, those of the ALU. Machine registers define the programming model, being those named in instructions. The processor handles three kinds of information, instructions, addresses and data, each of which could in principle have its own width. In RV32 all three are 32 bits wide, which gives the machine a marked regularity.
UNDERSTAND NOW: the processor model.
For the lecturer: Tipi di dato del processore. The '32' of RV32 is the width of the registers; RV64 has 64-bit registers and addresses and the same 32-bit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processor has at least two states of operation. In supervisor state it runs the operating system and may execute every instruction. In user state it runs an ordinary program and may execute everything except the privileged instructions, those whose misuse could compromise the system. RISC-V calls these states modes: machine mode, the most privileged and the only mandatory one, supervisor mode and user mode. The chip of the kit implements machine and user modes. Transitions between them occur through the traps of the next lecture.
UNDERSTAND NOW: the processor model. UNDERSTAND LATER: interrupts and traps (studied in Lecture 19).
For the lecturer: Stato utente o stato supervisore. RISC-V defines three privilege modes: M, the most privileged and the only mandatory one, runs firmware; S runs the kernel of an operating system such as Linux; U runs applications. The ESP32-C6 implements M and U. Changing mode happens through traps (Lecture 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functions of registers. Transit: carrying data between memory and registers. Accumulation: holding the operands and results of arithmetic. Addressing: holding an address or part of one, as base and index registers do. Stack pointer: indicating the top of a stack in memory. Flags: single bits recording events such as zero, sign, overflow and carry, which condition subsequent instructions. In RISC-V the general registers serve the first four functions; the fifth does not exist as a register at all.
UNDERSTAND NOW: the registers of RISC-V.
For the lecturer: Funzione dei registri. In RISC-V the first four functions are all served by the general registers; the fifth does not exist as a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complete table of the RISC-V registers, with numbers, names and roles. Most have been in use for weeks: zero, ra, sp, the temporaries t0 to t6, the arguments a0 to a7, the saved registers s0 to s11; gp and tp are new, used by compilers and operating systems. The hardware treats x1 to x31 identically and only x0 is special; the roles derive from the calling convention, met in Lecture 02 and stated here as a rule. A call may overwrite ra and the t and a registers, which are caller-saved: a caller that still needs one saves it before the call. A call must return the s registers and sp unchanged, which are callee-saved: a function that uses one saves it in its frame and restores it before ret. The program counter is not part of the register bank.
UNDERSTAND NOW: the registers of RISC-V; the calling convention.
For the lecturer: The hardware treats x1 to x31 identically; only x0 is special. The roles come from the calling convention, met in Lecture 02 and stated here as a rule: a call may destroy ra, t and a registers (caller-saved: save them before the call if you still need them); it must return s registers and sp unchanged (callee-saved: a function that uses them saves them in its frame and restores them before ret). The MC68000 instead separated data registers D0-D7 from address registers A0-A7, with A7 as stack pointer.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 processors have a status register whose bits, the flags, record the outcome of the last operation: zero, negative, overflow, carry. One instruction sets them and a later conditional branch tests them. RISC-V has none. A branch compares two registers and jumps, in a single instruction; slt writes the result of a comparison into an ordinary register; carry and overflow are computed when required, as in Lecture 05. Less hidden state means a simpler processor, simpler pipelining and simpler interrupt handling, since there is no implicit state to save.
UNDERSTAND NOW: the registers of RISC-V.
For the lecturer: Registro di stato. The original deck listed Z, N, P (positive), V, C and a parity 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registers of RISC-V are the control and status registers, CSRs: a separate bank, read and written only by privileged code through dedicated instructions. Five are worth knowing by name: mstatus, holding the global interrupt enable; mtvec, the address of the trap-handling routine; mepc, the address of the interrupted instruction; mcause, the reason for the trap; and the pair mie and mip, with one bit per interrupt source. The next lecture uses every one of them.
UNDERSTAND NOW: the registers of RISC-V. UNDERSTAND LATER: interrupts and traps (studied in Lecture 19).
For the lecturer: Control and status registers: a separate bank of up to 4,096 registers, read and written only with the instructions csrrw, csrrs and csrrc, and only by privileged code. They are the 'registers of the interrupts' of the general model, and the subject of Lecture 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stack supports two operations: push places an element on top, pop removes the topmost element. It always operates at the top, so no location need be specified: last in, first out. It serves to set aside the contents of registers that must be freed for a task and to restore them afterwards, in subroutine calls and in interrupts alike. It is implemented by a pointer indicating the last element stored. Careful programs check for overflow on a push and for an empty stack on a pop. The stack frame of Lecture 02 is now seen in its general form.
UNDERSTAND NOW: the stack; the calling convention.
For the lecturer: LIFO, last in, first out. You have used it since Lecture 02 to save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processor architectures. With general registers the processor has a set of interchangeable registers. With an accumulator, arithmetic instructions have an implicit operand, one special register. In a stack machine there is neither, only a stack pointer, and instructions operate on the top of the stack. An orthogonal architecture has a single bank of general registers, some of which may also serve as stack pointer or in other special roles. RISC-V belongs to this last class.
UNDERSTAND NOW: accumulator, stack, registers.
For the lecturer: Modello a registri generici, ad accumulatore, a stack; architetture ortogonali. The original definition of orthogonal mentions a status register too; RISC-V is orthogonal and has not even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RISC-V is a load-store processor with general registers. Only loads and stores access memory; every other instruction operates from register to register, which is faster. Instructions have three operands, two sources and a destination, so that no value is destroyed unless the programmer so chooses. Each instruction performs one simple operation and has a fixed size, which makes it easy to decode and to execute in a pipeline. This is what RISC means. The seven lines of the warm-up are the price of the design, and the simplicity of each line is its return.
UNDERSTAND NOW: accumulator, stack, registers.
For the lecturer: Register-to-register: [REGX] + [REGY] gives [REGZ]. The memory-to-register and register-to-memory forms of the original deck exist in CISC processors and are exactly what RISC gives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block diagram of an RV32 processor, read from left to right. The PC supplies the address of the instruction, which is fetched from memory. The decoder separates its fields and the control unit issues the corresponding signals. The register file provides the operands. The ALU computes a result or forms an address. The data memory is read or written by loads and stores. Two paths return: the result goes back to the register named by rd, and the next PC is either PC + 4 or the branch target. Every instruction written in the course travels along this path, and the machines of Lectures 11, 13 and 14 can all be located on it.
UNDERSTAND NOW: the RV32 processor.
For the lecturer: The classic single-cycle RISC-V datapath of Patterson and Hennessy, reduced to its blocks; instruction memory and data memory are the same address space, drawn twice for clarity. It replaces the slide 'Architettura del processore MC68000'.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processor of the kit, in figures: instruction set RV32IMAC; one main core at up to 160 MHz with a four-stage pipeline, and a second low-power core; machine and user modes; no floating point; 512 KB of SRAM, 320 KB of ROM and an external flash; radios and peripherals on the same die. A complete computer in a few square millimetres, at a cost of about two euros, in which processor, memory and input/output are all present exactly as in the model.
UNDERSTAND NOW: the RV32 processor.
For the lecturer: From the Espressif ESP32-C6 datasheet. A complete computer on a chip of a few square millimetres that costs about two euros: processor, memory and input/output are all there, as in the model of the first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one returns to the table placing the model beside RISC-V and looks for the rows marked "absent"; one of them is among the options.
For the second, one recalls the warm-up: which instructions accessed memory, and which only registers? The answer is the definition of a load-store architecture.
For the lecturer: 1. Answer: B. RISC-V has no condition codes: branches compare registers directly.
2. Answer: C. It is a load-store architecture: lw, lh, lb, sw, sh, sb and their unsigned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the two instructions are followed in turn: the pointer moves down by one word, and a value is then stored at the address it now holds. A value has been pushed onto the stack.
For the second: in an accumulator machine the accumulator is the implicit operand, serving as one of the two addends and receiving the result, while the operand written in the instruction is only read.
For the lecturer: 1. Answer: B. The pointer moves down by one word and the value is stored on the new top: a push.
2. Answer: B. The accumulator is the implicit operand and the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terms. The control unit is the unità di controllo. A machine register is one visible to the programmer. Flags are also called indicatori in Italian. Supervisor and user state are the two privilege levels. A privileged instruction may be executed only in supervisor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The processor commands and controls, relying on memory and on input/output. Registers are storage locations, internal or visible to the programmer. The kinds of registers and their use determine the processor model: accumulator, stack or general registers. The ALU performs the operations. And RISC-V is a load-store processor with general registers, no flags and no I/O instructions: few elements, each of them simple. The next lecture follows an instruction through its entire life.
Learning status, recap. UNDERSTAND NOW: accumulator, stack, registers; the processor model; the registers of RISC-V; the calling convention; the stack; the RV32 processor. USE NOW: the complete program, the PRG32 tools (used, not studied, in this course). UNDERSTAND LATER: interrupts and traps (Lecture 19). A slide without a badge is context: a story, an example, a question, an exercise.
For the lecturer: Next lecture: instructions and interrupts.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18: The processor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18</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The Processor</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Control unit, registers, stack and ALU: the general model, and RISC-V as the reference processor</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“One Ring to rule them all...”</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J. R. R. Tolkien, The Lord of the Rings, 1954-1955</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18-Computer_Architecture-Processor-Lab.pptx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prg32qt_debugger.png">    </p:cNvPr>
          <p:cNvPicPr>
            <a:picLocks noChangeAspect="1"/>
          </p:cNvPicPr>
          <p:nvPr/>
        </p:nvPicPr>
        <p:blipFill>
          <a:blip r:embed="rId1"/>
          <a:stretch>
            <a:fillRect/>
          </a:stretch>
        </p:blipFill>
        <p:spPr>
          <a:xfrm>
            <a:off x="8810277" y="4251960"/>
            <a:ext cx="2648036" cy="182880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Name the components of a processor: control unit, ALU, registers, links to memory and to input/output</a:t>
            </a:r>
            <a:endParaRPr lang="en-US" sz="2200" dirty="0"/>
          </a:p>
        </p:txBody>
      </p:sp>
      <p:sp>
        <p:nvSpPr>
          <p:cNvPr id="5" name="Text 3"/>
          <p:cNvSpPr txBox="1"/>
          <p:nvPr/>
        </p:nvSpPr>
        <p:spPr>
          <a:xfrm>
            <a:off x="548640" y="23473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2907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Distinguish internal registers from machine registers, and general registers from special ones</a:t>
            </a:r>
            <a:endParaRPr lang="en-US" sz="2200" dirty="0"/>
          </a:p>
        </p:txBody>
      </p:sp>
      <p:sp>
        <p:nvSpPr>
          <p:cNvPr id="7" name="Text 5"/>
          <p:cNvSpPr txBox="1"/>
          <p:nvPr/>
        </p:nvSpPr>
        <p:spPr>
          <a:xfrm>
            <a:off x="548640" y="3259125"/>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240837"/>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how a stack works and how RISC-V implements push and pop</a:t>
            </a:r>
            <a:endParaRPr lang="en-US" sz="2200" dirty="0"/>
          </a:p>
        </p:txBody>
      </p:sp>
      <p:sp>
        <p:nvSpPr>
          <p:cNvPr id="9" name="Text 7"/>
          <p:cNvSpPr txBox="1"/>
          <p:nvPr/>
        </p:nvSpPr>
        <p:spPr>
          <a:xfrm>
            <a:off x="548640" y="392805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909771"/>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Compare the accumulator, stack and general-register models on the same computation</a:t>
            </a:r>
            <a:endParaRPr lang="en-US" sz="2200" dirty="0"/>
          </a:p>
        </p:txBody>
      </p:sp>
      <p:sp>
        <p:nvSpPr>
          <p:cNvPr id="11" name="Text 9"/>
          <p:cNvSpPr txBox="1"/>
          <p:nvPr/>
        </p:nvSpPr>
        <p:spPr>
          <a:xfrm>
            <a:off x="548640" y="483981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82153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RISC-V as a load-store, general-register processor, and read the name RV32IMAC</a:t>
            </a:r>
            <a:endParaRPr lang="en-US" sz="2200" dirty="0"/>
          </a:p>
        </p:txBody>
      </p:sp>
      <p:sp>
        <p:nvSpPr>
          <p:cNvPr id="13" name="Text 11"/>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Map every element of the general model onto the processor of the PRG32 kit</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computer and its processor</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An electronic computer is a numeric, automatic, stored-program system built with electronic circuits</a:t>
            </a:r>
            <a:endParaRPr lang="en-US" sz="1900" dirty="0"/>
          </a:p>
        </p:txBody>
      </p:sp>
      <p:sp>
        <p:nvSpPr>
          <p:cNvPr id="5" name="Shape 3"/>
          <p:cNvSpPr/>
          <p:nvPr/>
        </p:nvSpPr>
        <p:spPr>
          <a:xfrm>
            <a:off x="548640" y="222923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46046"/>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Three subsystems: processor (CPU), main memory, input/output, connected by buses</a:t>
            </a:r>
            <a:endParaRPr lang="en-US" sz="1900" dirty="0"/>
          </a:p>
        </p:txBody>
      </p:sp>
      <p:sp>
        <p:nvSpPr>
          <p:cNvPr id="7" name="Shape 5"/>
          <p:cNvSpPr/>
          <p:nvPr/>
        </p:nvSpPr>
        <p:spPr>
          <a:xfrm>
            <a:off x="548640" y="295795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874772"/>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processor can execute only a set of instructions, from some tens to a few hundred, more or less complex</a:t>
            </a:r>
            <a:endParaRPr lang="en-US" sz="1900" dirty="0"/>
          </a:p>
        </p:txBody>
      </p:sp>
      <p:sp>
        <p:nvSpPr>
          <p:cNvPr id="9" name="Shape 7"/>
          <p:cNvSpPr/>
          <p:nvPr/>
        </p:nvSpPr>
        <p:spPr>
          <a:xfrm>
            <a:off x="548640" y="368668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60349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Machine language: the strings of bits that encode the instructions the circuits of a processor can execute</a:t>
            </a:r>
            <a:endParaRPr lang="en-US" sz="1900" dirty="0"/>
          </a:p>
        </p:txBody>
      </p:sp>
      <p:sp>
        <p:nvSpPr>
          <p:cNvPr id="11" name="Shape 9"/>
          <p:cNvSpPr/>
          <p:nvPr/>
        </p:nvSpPr>
        <p:spPr>
          <a:xfrm>
            <a:off x="548640" y="4415409"/>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332224"/>
            <a:ext cx="6565392" cy="111125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Instructions request</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transfers of information, inside the computer and to or from the I/O devices</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arithmetic and logic operations</a:t>
            </a:r>
            <a:endParaRPr lang="en-US" sz="1900" dirty="0"/>
          </a:p>
        </p:txBody>
      </p:sp>
      <p:sp>
        <p:nvSpPr>
          <p:cNvPr id="13" name="Shape 11"/>
          <p:cNvSpPr/>
          <p:nvPr/>
        </p:nvSpPr>
        <p:spPr>
          <a:xfrm>
            <a:off x="548640" y="5666613"/>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58342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Data and instructions of a program are stored in the main memory</a:t>
            </a:r>
            <a:endParaRPr lang="en-US" sz="1900" dirty="0"/>
          </a:p>
        </p:txBody>
      </p:sp>
      <p:sp>
        <p:nvSpPr>
          <p:cNvPr id="15" name="Shape 13"/>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6" name="Text 14"/>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CPU</a:t>
            </a:r>
            <a:endParaRPr lang="en-US" sz="6000" dirty="0"/>
          </a:p>
        </p:txBody>
      </p:sp>
      <p:sp>
        <p:nvSpPr>
          <p:cNvPr id="17" name="Text 15"/>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central processing unit: the one ring that rules memory and input/output</a:t>
            </a:r>
            <a:endParaRPr lang="en-US" sz="1900" dirty="0"/>
          </a:p>
        </p:txBody>
      </p:sp>
      <p:sp>
        <p:nvSpPr>
          <p:cNvPr id="18" name="Shape 16"/>
          <p:cNvSpPr/>
          <p:nvPr/>
        </p:nvSpPr>
        <p:spPr>
          <a:xfrm>
            <a:off x="8419033" y="91440"/>
            <a:ext cx="3224022" cy="274320"/>
          </a:xfrm>
          <a:prstGeom prst="rect">
            <a:avLst/>
          </a:prstGeom>
          <a:solidFill>
            <a:srgbClr val="E0F2FE"/>
          </a:solidFill>
          <a:ln w="12700">
            <a:solidFill>
              <a:srgbClr val="0369A1"/>
            </a:solidFill>
            <a:prstDash val="solid"/>
          </a:ln>
        </p:spPr>
      </p:sp>
      <p:sp>
        <p:nvSpPr>
          <p:cNvPr id="19" name="Shape 17"/>
          <p:cNvSpPr/>
          <p:nvPr/>
        </p:nvSpPr>
        <p:spPr>
          <a:xfrm>
            <a:off x="8419033" y="91440"/>
            <a:ext cx="73152" cy="274320"/>
          </a:xfrm>
          <a:prstGeom prst="rect">
            <a:avLst/>
          </a:prstGeom>
          <a:solidFill>
            <a:srgbClr val="0369A1"/>
          </a:solidFill>
          <a:ln w="12700">
            <a:solidFill>
              <a:srgbClr val="0369A1"/>
            </a:solidFill>
            <a:prstDash val="solid"/>
          </a:ln>
        </p:spPr>
      </p:sp>
      <p:pic>
        <p:nvPicPr>
          <p:cNvPr id="20"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21" name="Text 18"/>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processor model</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processor: a reference model</a:t>
            </a:r>
            <a:endParaRPr lang="en-US" sz="3200" dirty="0"/>
          </a:p>
        </p:txBody>
      </p:sp>
      <p:sp>
        <p:nvSpPr>
          <p:cNvPr id="3" name="Shape 1"/>
          <p:cNvSpPr/>
          <p:nvPr/>
        </p:nvSpPr>
        <p:spPr>
          <a:xfrm>
            <a:off x="548640" y="1463040"/>
            <a:ext cx="6675120" cy="4251960"/>
          </a:xfrm>
          <a:prstGeom prst="roundRect">
            <a:avLst>
              <a:gd name="adj" fmla="val 1720"/>
            </a:avLst>
          </a:prstGeom>
          <a:solidFill>
            <a:srgbClr val="EEF2F4"/>
          </a:solidFill>
          <a:ln w="12700">
            <a:solidFill>
              <a:srgbClr val="EEF2F4"/>
            </a:solidFill>
            <a:prstDash val="solid"/>
          </a:ln>
        </p:spPr>
      </p:sp>
      <p:sp>
        <p:nvSpPr>
          <p:cNvPr id="4" name="Text 2"/>
          <p:cNvSpPr txBox="1"/>
          <p:nvPr/>
        </p:nvSpPr>
        <p:spPr>
          <a:xfrm>
            <a:off x="685800" y="1508760"/>
            <a:ext cx="914400"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CPU</a:t>
            </a:r>
            <a:endParaRPr lang="en-US" sz="1400" dirty="0"/>
          </a:p>
        </p:txBody>
      </p:sp>
      <p:sp>
        <p:nvSpPr>
          <p:cNvPr id="5" name="Text 3"/>
          <p:cNvSpPr txBox="1"/>
          <p:nvPr/>
        </p:nvSpPr>
        <p:spPr>
          <a:xfrm>
            <a:off x="822960" y="1920240"/>
            <a:ext cx="1554480" cy="1371600"/>
          </a:xfrm>
          <a:prstGeom prst="roundRect">
            <a:avLst>
              <a:gd name="adj" fmla="val 4000"/>
            </a:avLst>
          </a:prstGeom>
          <a:solidFill>
            <a:srgbClr val="2E4A62"/>
          </a:solidFill>
          <a:ln>
            <a:solidFill>
              <a:srgbClr val="2E4A62"/>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control</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network</a:t>
            </a:r>
            <a:endParaRPr lang="en-US" sz="1500" dirty="0"/>
          </a:p>
        </p:txBody>
      </p:sp>
      <p:sp>
        <p:nvSpPr>
          <p:cNvPr id="6" name="Text 4"/>
          <p:cNvSpPr txBox="1"/>
          <p:nvPr/>
        </p:nvSpPr>
        <p:spPr>
          <a:xfrm>
            <a:off x="822960" y="3520440"/>
            <a:ext cx="731520" cy="548640"/>
          </a:xfrm>
          <a:prstGeom prst="roundRect">
            <a:avLst>
              <a:gd name="adj" fmla="val 10000"/>
            </a:avLst>
          </a:prstGeom>
          <a:solidFill>
            <a:srgbClr val="B23A48"/>
          </a:solidFill>
          <a:ln>
            <a:solidFill>
              <a:srgbClr val="B23A48"/>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PC</a:t>
            </a:r>
            <a:endParaRPr lang="en-US" sz="1500" dirty="0"/>
          </a:p>
        </p:txBody>
      </p:sp>
      <p:sp>
        <p:nvSpPr>
          <p:cNvPr id="7" name="Text 5"/>
          <p:cNvSpPr txBox="1"/>
          <p:nvPr/>
        </p:nvSpPr>
        <p:spPr>
          <a:xfrm>
            <a:off x="1645920" y="3520440"/>
            <a:ext cx="731520" cy="548640"/>
          </a:xfrm>
          <a:prstGeom prst="roundRect">
            <a:avLst>
              <a:gd name="adj" fmla="val 10000"/>
            </a:avLst>
          </a:prstGeom>
          <a:solidFill>
            <a:srgbClr val="B23A48"/>
          </a:solidFill>
          <a:ln>
            <a:solidFill>
              <a:srgbClr val="B23A48"/>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8" name="Text 6"/>
          <p:cNvSpPr txBox="1"/>
          <p:nvPr/>
        </p:nvSpPr>
        <p:spPr>
          <a:xfrm>
            <a:off x="2834640" y="1920240"/>
            <a:ext cx="1463040" cy="457200"/>
          </a:xfrm>
          <a:prstGeom prst="roundRect">
            <a:avLst>
              <a:gd name="adj" fmla="val 120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R0</a:t>
            </a:r>
            <a:endParaRPr lang="en-US" sz="1400" dirty="0"/>
          </a:p>
        </p:txBody>
      </p:sp>
      <p:sp>
        <p:nvSpPr>
          <p:cNvPr id="9" name="Text 7"/>
          <p:cNvSpPr txBox="1"/>
          <p:nvPr/>
        </p:nvSpPr>
        <p:spPr>
          <a:xfrm>
            <a:off x="2834640" y="2468880"/>
            <a:ext cx="1463040" cy="457200"/>
          </a:xfrm>
          <a:prstGeom prst="roundRect">
            <a:avLst>
              <a:gd name="adj" fmla="val 120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R1</a:t>
            </a:r>
            <a:endParaRPr lang="en-US" sz="1400" dirty="0"/>
          </a:p>
        </p:txBody>
      </p:sp>
      <p:sp>
        <p:nvSpPr>
          <p:cNvPr id="10" name="Text 8"/>
          <p:cNvSpPr txBox="1"/>
          <p:nvPr/>
        </p:nvSpPr>
        <p:spPr>
          <a:xfrm>
            <a:off x="2834640" y="3017520"/>
            <a:ext cx="1463040" cy="457200"/>
          </a:xfrm>
          <a:prstGeom prst="roundRect">
            <a:avLst>
              <a:gd name="adj" fmla="val 120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 . .</a:t>
            </a:r>
            <a:endParaRPr lang="en-US" sz="1400" dirty="0"/>
          </a:p>
        </p:txBody>
      </p:sp>
      <p:sp>
        <p:nvSpPr>
          <p:cNvPr id="11" name="Text 9"/>
          <p:cNvSpPr txBox="1"/>
          <p:nvPr/>
        </p:nvSpPr>
        <p:spPr>
          <a:xfrm>
            <a:off x="2834640" y="3566160"/>
            <a:ext cx="1463040" cy="457200"/>
          </a:xfrm>
          <a:prstGeom prst="roundRect">
            <a:avLst>
              <a:gd name="adj" fmla="val 120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Rn-1</a:t>
            </a:r>
            <a:endParaRPr lang="en-US" sz="1400" dirty="0"/>
          </a:p>
        </p:txBody>
      </p:sp>
      <p:sp>
        <p:nvSpPr>
          <p:cNvPr id="12" name="Text 10"/>
          <p:cNvSpPr txBox="1"/>
          <p:nvPr/>
        </p:nvSpPr>
        <p:spPr>
          <a:xfrm>
            <a:off x="4846320" y="1920240"/>
            <a:ext cx="91440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O1</a:t>
            </a:r>
            <a:endParaRPr lang="en-US" sz="1400" dirty="0"/>
          </a:p>
        </p:txBody>
      </p:sp>
      <p:sp>
        <p:nvSpPr>
          <p:cNvPr id="13" name="Text 11"/>
          <p:cNvSpPr txBox="1"/>
          <p:nvPr/>
        </p:nvSpPr>
        <p:spPr>
          <a:xfrm>
            <a:off x="5943600" y="1920240"/>
            <a:ext cx="91440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O2</a:t>
            </a:r>
            <a:endParaRPr lang="en-US" sz="1400" dirty="0"/>
          </a:p>
        </p:txBody>
      </p:sp>
      <p:sp>
        <p:nvSpPr>
          <p:cNvPr id="14" name="Text 12"/>
          <p:cNvSpPr txBox="1"/>
          <p:nvPr/>
        </p:nvSpPr>
        <p:spPr>
          <a:xfrm>
            <a:off x="4846320" y="2514600"/>
            <a:ext cx="2011680" cy="822960"/>
          </a:xfrm>
          <a:prstGeom prst="roundRect">
            <a:avLst>
              <a:gd name="adj" fmla="val 6667"/>
            </a:avLst>
          </a:prstGeom>
          <a:solidFill>
            <a:srgbClr val="6B4FA0"/>
          </a:solidFill>
          <a:ln>
            <a:solidFill>
              <a:srgbClr val="6B4FA0"/>
            </a:solidFill>
          </a:ln>
        </p:spPr>
        <p:txBody>
          <a:bodyPr wrap="square" lIns="38100" tIns="38100" rIns="38100" bIns="381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ALU</a:t>
            </a:r>
            <a:endParaRPr lang="en-US" sz="1800" dirty="0"/>
          </a:p>
        </p:txBody>
      </p:sp>
      <p:sp>
        <p:nvSpPr>
          <p:cNvPr id="15" name="Text 13"/>
          <p:cNvSpPr txBox="1"/>
          <p:nvPr/>
        </p:nvSpPr>
        <p:spPr>
          <a:xfrm>
            <a:off x="5394960" y="3474720"/>
            <a:ext cx="91440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U</a:t>
            </a:r>
            <a:endParaRPr lang="en-US" sz="1400" dirty="0"/>
          </a:p>
        </p:txBody>
      </p:sp>
      <p:sp>
        <p:nvSpPr>
          <p:cNvPr id="16" name="Shape 14"/>
          <p:cNvSpPr/>
          <p:nvPr/>
        </p:nvSpPr>
        <p:spPr>
          <a:xfrm>
            <a:off x="822960" y="4343400"/>
            <a:ext cx="6126480" cy="0"/>
          </a:xfrm>
          <a:prstGeom prst="line">
            <a:avLst/>
          </a:prstGeom>
          <a:noFill/>
          <a:ln w="63500">
            <a:solidFill>
              <a:srgbClr val="C7791B"/>
            </a:solidFill>
            <a:prstDash val="solid"/>
          </a:ln>
        </p:spPr>
      </p:sp>
      <p:sp>
        <p:nvSpPr>
          <p:cNvPr id="17" name="Text 15"/>
          <p:cNvSpPr txBox="1"/>
          <p:nvPr/>
        </p:nvSpPr>
        <p:spPr>
          <a:xfrm>
            <a:off x="5394960" y="4023360"/>
            <a:ext cx="1645920" cy="274320"/>
          </a:xfrm>
          <a:prstGeom prst="rect">
            <a:avLst/>
          </a:prstGeom>
          <a:noFill/>
          <a:ln/>
        </p:spPr>
        <p:txBody>
          <a:bodyPr wrap="square" lIns="0" tIns="0" rIns="0" bIns="0" rtlCol="0" anchor="t"/>
          <a:lstStyle/>
          <a:p>
            <a:pPr indent="0" marL="0">
              <a:buNone/>
            </a:pPr>
            <a:r>
              <a:rPr lang="en-US" sz="1200" b="1" dirty="0">
                <a:solidFill>
                  <a:srgbClr val="C7791B"/>
                </a:solidFill>
                <a:latin typeface="Calibri" pitchFamily="34" charset="0"/>
                <a:ea typeface="Calibri" pitchFamily="34" charset="-122"/>
                <a:cs typeface="Calibri" pitchFamily="34" charset="-120"/>
              </a:rPr>
              <a:t>internal bus</a:t>
            </a:r>
            <a:endParaRPr lang="en-US" sz="1200" dirty="0"/>
          </a:p>
        </p:txBody>
      </p:sp>
      <p:sp>
        <p:nvSpPr>
          <p:cNvPr id="18" name="Text 16"/>
          <p:cNvSpPr txBox="1"/>
          <p:nvPr/>
        </p:nvSpPr>
        <p:spPr>
          <a:xfrm>
            <a:off x="1005840" y="4754880"/>
            <a:ext cx="914400" cy="548640"/>
          </a:xfrm>
          <a:prstGeom prst="roundRect">
            <a:avLst>
              <a:gd name="adj" fmla="val 10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MA</a:t>
            </a:r>
            <a:endParaRPr lang="en-US" sz="1500" dirty="0"/>
          </a:p>
        </p:txBody>
      </p:sp>
      <p:sp>
        <p:nvSpPr>
          <p:cNvPr id="19" name="Text 17"/>
          <p:cNvSpPr txBox="1"/>
          <p:nvPr/>
        </p:nvSpPr>
        <p:spPr>
          <a:xfrm>
            <a:off x="2103120" y="4754880"/>
            <a:ext cx="914400" cy="548640"/>
          </a:xfrm>
          <a:prstGeom prst="roundRect">
            <a:avLst>
              <a:gd name="adj" fmla="val 10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MB</a:t>
            </a:r>
            <a:endParaRPr lang="en-US" sz="1500" dirty="0"/>
          </a:p>
        </p:txBody>
      </p:sp>
      <p:sp>
        <p:nvSpPr>
          <p:cNvPr id="20" name="Text 18"/>
          <p:cNvSpPr txBox="1"/>
          <p:nvPr/>
        </p:nvSpPr>
        <p:spPr>
          <a:xfrm>
            <a:off x="4480560" y="4754880"/>
            <a:ext cx="914400" cy="548640"/>
          </a:xfrm>
          <a:prstGeom prst="roundRect">
            <a:avLst>
              <a:gd name="adj" fmla="val 10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RI</a:t>
            </a:r>
            <a:endParaRPr lang="en-US" sz="1500" dirty="0"/>
          </a:p>
        </p:txBody>
      </p:sp>
      <p:sp>
        <p:nvSpPr>
          <p:cNvPr id="21" name="Text 19"/>
          <p:cNvSpPr txBox="1"/>
          <p:nvPr/>
        </p:nvSpPr>
        <p:spPr>
          <a:xfrm>
            <a:off x="5577840" y="4754880"/>
            <a:ext cx="914400" cy="548640"/>
          </a:xfrm>
          <a:prstGeom prst="roundRect">
            <a:avLst>
              <a:gd name="adj" fmla="val 10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RU</a:t>
            </a:r>
            <a:endParaRPr lang="en-US" sz="1500" dirty="0"/>
          </a:p>
        </p:txBody>
      </p:sp>
      <p:sp>
        <p:nvSpPr>
          <p:cNvPr id="22" name="Text 20"/>
          <p:cNvSpPr txBox="1"/>
          <p:nvPr/>
        </p:nvSpPr>
        <p:spPr>
          <a:xfrm>
            <a:off x="914400" y="5349240"/>
            <a:ext cx="2194560" cy="274320"/>
          </a:xfrm>
          <a:prstGeom prst="rect">
            <a:avLst/>
          </a:prstGeom>
          <a:noFill/>
          <a:ln/>
        </p:spPr>
        <p:txBody>
          <a:bodyPr wrap="square" lIns="0" tIns="0" rIns="0" bIns="0" rtlCol="0" anchor="t"/>
          <a:lstStyle/>
          <a:p>
            <a:pPr algn="ctr" indent="0" marL="0">
              <a:buNone/>
            </a:pPr>
            <a:r>
              <a:rPr lang="en-US" sz="1200" i="1" dirty="0">
                <a:solidFill>
                  <a:srgbClr val="5B6B78"/>
                </a:solidFill>
                <a:latin typeface="Calibri" pitchFamily="34" charset="0"/>
                <a:ea typeface="Calibri" pitchFamily="34" charset="-122"/>
                <a:cs typeface="Calibri" pitchFamily="34" charset="-120"/>
              </a:rPr>
              <a:t>link to memory</a:t>
            </a:r>
            <a:endParaRPr lang="en-US" sz="1200" dirty="0"/>
          </a:p>
        </p:txBody>
      </p:sp>
      <p:sp>
        <p:nvSpPr>
          <p:cNvPr id="23" name="Text 21"/>
          <p:cNvSpPr txBox="1"/>
          <p:nvPr/>
        </p:nvSpPr>
        <p:spPr>
          <a:xfrm>
            <a:off x="4297680" y="5349240"/>
            <a:ext cx="2377440" cy="274320"/>
          </a:xfrm>
          <a:prstGeom prst="rect">
            <a:avLst/>
          </a:prstGeom>
          <a:noFill/>
          <a:ln/>
        </p:spPr>
        <p:txBody>
          <a:bodyPr wrap="square" lIns="0" tIns="0" rIns="0" bIns="0" rtlCol="0" anchor="t"/>
          <a:lstStyle/>
          <a:p>
            <a:pPr algn="ctr" indent="0" marL="0">
              <a:buNone/>
            </a:pPr>
            <a:r>
              <a:rPr lang="en-US" sz="1200" i="1" dirty="0">
                <a:solidFill>
                  <a:srgbClr val="5B6B78"/>
                </a:solidFill>
                <a:latin typeface="Calibri" pitchFamily="34" charset="0"/>
                <a:ea typeface="Calibri" pitchFamily="34" charset="-122"/>
                <a:cs typeface="Calibri" pitchFamily="34" charset="-120"/>
              </a:rPr>
              <a:t>link to input/output</a:t>
            </a:r>
            <a:endParaRPr lang="en-US" sz="1200" dirty="0"/>
          </a:p>
        </p:txBody>
      </p:sp>
      <p:sp>
        <p:nvSpPr>
          <p:cNvPr id="24" name="Shape 22"/>
          <p:cNvSpPr/>
          <p:nvPr/>
        </p:nvSpPr>
        <p:spPr>
          <a:xfrm>
            <a:off x="7680960" y="1492758"/>
            <a:ext cx="146304" cy="146304"/>
          </a:xfrm>
          <a:prstGeom prst="rect">
            <a:avLst/>
          </a:prstGeom>
          <a:solidFill>
            <a:srgbClr val="0E7C86"/>
          </a:solidFill>
          <a:ln w="12700">
            <a:solidFill>
              <a:srgbClr val="0E7C86"/>
            </a:solidFill>
            <a:prstDash val="solid"/>
          </a:ln>
        </p:spPr>
      </p:sp>
      <p:sp>
        <p:nvSpPr>
          <p:cNvPr id="25" name="Text 23"/>
          <p:cNvSpPr txBox="1"/>
          <p:nvPr/>
        </p:nvSpPr>
        <p:spPr>
          <a:xfrm>
            <a:off x="8065008" y="1417320"/>
            <a:ext cx="3578047" cy="1783080"/>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Control unit</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program counter (PC): the next instruction</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decoding register (D): the instruction being executed</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the control network that issues the commands</a:t>
            </a:r>
            <a:endParaRPr lang="en-US" sz="1800" dirty="0"/>
          </a:p>
        </p:txBody>
      </p:sp>
      <p:sp>
        <p:nvSpPr>
          <p:cNvPr id="26" name="Shape 24"/>
          <p:cNvSpPr/>
          <p:nvPr/>
        </p:nvSpPr>
        <p:spPr>
          <a:xfrm>
            <a:off x="7680960" y="3421952"/>
            <a:ext cx="146304" cy="146304"/>
          </a:xfrm>
          <a:prstGeom prst="rect">
            <a:avLst/>
          </a:prstGeom>
          <a:solidFill>
            <a:srgbClr val="C7791B"/>
          </a:solidFill>
          <a:ln w="12700">
            <a:solidFill>
              <a:srgbClr val="C7791B"/>
            </a:solidFill>
            <a:prstDash val="solid"/>
          </a:ln>
        </p:spPr>
      </p:sp>
      <p:sp>
        <p:nvSpPr>
          <p:cNvPr id="27" name="Text 25"/>
          <p:cNvSpPr txBox="1"/>
          <p:nvPr/>
        </p:nvSpPr>
        <p:spPr>
          <a:xfrm>
            <a:off x="8065008" y="3346514"/>
            <a:ext cx="357804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Machine registers R0 ... Rn-1</a:t>
            </a:r>
            <a:endParaRPr lang="en-US" sz="1800" dirty="0"/>
          </a:p>
        </p:txBody>
      </p:sp>
      <p:sp>
        <p:nvSpPr>
          <p:cNvPr id="28" name="Shape 26"/>
          <p:cNvSpPr/>
          <p:nvPr/>
        </p:nvSpPr>
        <p:spPr>
          <a:xfrm>
            <a:off x="7680960" y="3846957"/>
            <a:ext cx="146304" cy="146304"/>
          </a:xfrm>
          <a:prstGeom prst="rect">
            <a:avLst/>
          </a:prstGeom>
          <a:solidFill>
            <a:srgbClr val="0E7C86"/>
          </a:solidFill>
          <a:ln w="12700">
            <a:solidFill>
              <a:srgbClr val="0E7C86"/>
            </a:solidFill>
            <a:prstDash val="solid"/>
          </a:ln>
        </p:spPr>
      </p:sp>
      <p:sp>
        <p:nvSpPr>
          <p:cNvPr id="29" name="Text 27"/>
          <p:cNvSpPr txBox="1"/>
          <p:nvPr/>
        </p:nvSpPr>
        <p:spPr>
          <a:xfrm>
            <a:off x="8065008" y="3771519"/>
            <a:ext cx="3578047" cy="78028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Arithmetic logic unit</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two operand registers O1 and O2, a result register U</a:t>
            </a:r>
            <a:endParaRPr lang="en-US" sz="1800" dirty="0"/>
          </a:p>
        </p:txBody>
      </p:sp>
      <p:sp>
        <p:nvSpPr>
          <p:cNvPr id="30" name="Shape 28"/>
          <p:cNvSpPr/>
          <p:nvPr/>
        </p:nvSpPr>
        <p:spPr>
          <a:xfrm>
            <a:off x="7680960" y="4773359"/>
            <a:ext cx="146304" cy="146304"/>
          </a:xfrm>
          <a:prstGeom prst="rect">
            <a:avLst/>
          </a:prstGeom>
          <a:solidFill>
            <a:srgbClr val="C7791B"/>
          </a:solidFill>
          <a:ln w="12700">
            <a:solidFill>
              <a:srgbClr val="C7791B"/>
            </a:solidFill>
            <a:prstDash val="solid"/>
          </a:ln>
        </p:spPr>
      </p:sp>
      <p:sp>
        <p:nvSpPr>
          <p:cNvPr id="31" name="Text 29"/>
          <p:cNvSpPr txBox="1"/>
          <p:nvPr/>
        </p:nvSpPr>
        <p:spPr>
          <a:xfrm>
            <a:off x="8065008" y="4697921"/>
            <a:ext cx="3578047" cy="78028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Link to memory</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memory address (MA) and memory buffer (MB)</a:t>
            </a:r>
            <a:endParaRPr lang="en-US" sz="1800" dirty="0"/>
          </a:p>
        </p:txBody>
      </p:sp>
      <p:sp>
        <p:nvSpPr>
          <p:cNvPr id="32" name="Shape 30"/>
          <p:cNvSpPr/>
          <p:nvPr/>
        </p:nvSpPr>
        <p:spPr>
          <a:xfrm>
            <a:off x="7680960" y="5699760"/>
            <a:ext cx="146304" cy="146304"/>
          </a:xfrm>
          <a:prstGeom prst="rect">
            <a:avLst/>
          </a:prstGeom>
          <a:solidFill>
            <a:srgbClr val="0E7C86"/>
          </a:solidFill>
          <a:ln w="12700">
            <a:solidFill>
              <a:srgbClr val="0E7C86"/>
            </a:solidFill>
            <a:prstDash val="solid"/>
          </a:ln>
        </p:spPr>
      </p:sp>
      <p:sp>
        <p:nvSpPr>
          <p:cNvPr id="33" name="Text 31"/>
          <p:cNvSpPr txBox="1"/>
          <p:nvPr/>
        </p:nvSpPr>
        <p:spPr>
          <a:xfrm>
            <a:off x="8065008" y="5624322"/>
            <a:ext cx="3578047" cy="54787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Link to input/output</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I/O buffer registers RI and RU</a:t>
            </a:r>
            <a:endParaRPr lang="en-US" sz="1800" dirty="0"/>
          </a:p>
        </p:txBody>
      </p:sp>
      <p:sp>
        <p:nvSpPr>
          <p:cNvPr id="34" name="Shape 32"/>
          <p:cNvSpPr/>
          <p:nvPr/>
        </p:nvSpPr>
        <p:spPr>
          <a:xfrm>
            <a:off x="8419033" y="91440"/>
            <a:ext cx="3224022" cy="274320"/>
          </a:xfrm>
          <a:prstGeom prst="rect">
            <a:avLst/>
          </a:prstGeom>
          <a:solidFill>
            <a:srgbClr val="E0F2FE"/>
          </a:solidFill>
          <a:ln w="12700">
            <a:solidFill>
              <a:srgbClr val="0369A1"/>
            </a:solidFill>
            <a:prstDash val="solid"/>
          </a:ln>
        </p:spPr>
      </p:sp>
      <p:sp>
        <p:nvSpPr>
          <p:cNvPr id="35" name="Shape 33"/>
          <p:cNvSpPr/>
          <p:nvPr/>
        </p:nvSpPr>
        <p:spPr>
          <a:xfrm>
            <a:off x="8419033" y="91440"/>
            <a:ext cx="73152" cy="274320"/>
          </a:xfrm>
          <a:prstGeom prst="rect">
            <a:avLst/>
          </a:prstGeom>
          <a:solidFill>
            <a:srgbClr val="0369A1"/>
          </a:solidFill>
          <a:ln w="12700">
            <a:solidFill>
              <a:srgbClr val="0369A1"/>
            </a:solidFill>
            <a:prstDash val="solid"/>
          </a:ln>
        </p:spPr>
      </p:sp>
      <p:pic>
        <p:nvPicPr>
          <p:cNvPr id="36"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37" name="Text 34"/>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processor model</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model and RISC-V, side by side</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273762"/>
                <a:gridCol w="4183140"/>
                <a:gridCol w="3637513"/>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Element of the model</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In RISC-V</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Seen by the programmer?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PC, program counter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pc, 32 bits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indirectly: branches, jumps and auipc use it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D, decoding register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the instruction register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R0 ... Rn-1, machine registers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x0 ... x31, thirty-two registers of 32 bits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yes: zero, ra, sp, t0, a0, s0, ...</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O1, O2, U, registers of the ALU</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the ALU inputs and output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MA, MB, link to memory</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the address and data of a load or store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RI, RU, link to input/output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absent: devices are memory-mapped</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status register with flags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absent: no condition codes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special registers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the control and status registers (CSR)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only by privileged software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419033" y="91440"/>
            <a:ext cx="3224022" cy="274320"/>
          </a:xfrm>
          <a:prstGeom prst="rect">
            <a:avLst/>
          </a:prstGeom>
          <a:solidFill>
            <a:srgbClr val="E0F2FE"/>
          </a:solidFill>
          <a:ln w="12700">
            <a:solidFill>
              <a:srgbClr val="0369A1"/>
            </a:solidFill>
            <a:prstDash val="solid"/>
          </a:ln>
        </p:spPr>
      </p:sp>
      <p:sp>
        <p:nvSpPr>
          <p:cNvPr id="5" name="Shape 2"/>
          <p:cNvSpPr/>
          <p:nvPr/>
        </p:nvSpPr>
        <p:spPr>
          <a:xfrm>
            <a:off x="8419033"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7" name="Text 3"/>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processor model</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Internal registers and machine registers</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7325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Internal registers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not directly visible to the programmer, and necessary for the processor to work: PC, MA, MB, D, O1, O2, U, ...</a:t>
            </a:r>
            <a:endParaRPr lang="en-US" sz="2000" dirty="0"/>
          </a:p>
        </p:txBody>
      </p:sp>
      <p:sp>
        <p:nvSpPr>
          <p:cNvPr id="5" name="Shape 3"/>
          <p:cNvSpPr/>
          <p:nvPr/>
        </p:nvSpPr>
        <p:spPr>
          <a:xfrm>
            <a:off x="548640" y="259554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04609"/>
            <a:ext cx="6565392" cy="87325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Machine registers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they define the programming model; further divided into general registers and special registers</a:t>
            </a:r>
            <a:endParaRPr lang="en-US" sz="2000" dirty="0"/>
          </a:p>
        </p:txBody>
      </p:sp>
      <p:sp>
        <p:nvSpPr>
          <p:cNvPr id="7" name="Shape 5"/>
          <p:cNvSpPr/>
          <p:nvPr/>
        </p:nvSpPr>
        <p:spPr>
          <a:xfrm>
            <a:off x="548640" y="368283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591899"/>
            <a:ext cx="6565392" cy="1746504"/>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processor handles three kinds of information: instructions, memory addresses and data</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the size of MA and PC depends on the size of the addresses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the size of the ALU registers depends on the size of the data</a:t>
            </a:r>
            <a:endParaRPr lang="en-US" sz="2000" dirty="0"/>
          </a:p>
        </p:txBody>
      </p:sp>
      <p:sp>
        <p:nvSpPr>
          <p:cNvPr id="9" name="Shape 7"/>
          <p:cNvSpPr/>
          <p:nvPr/>
        </p:nvSpPr>
        <p:spPr>
          <a:xfrm>
            <a:off x="548640" y="564337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RV32 all three are 32 bits wide: one size for registers, addresses and instructions</a:t>
            </a:r>
            <a:endParaRPr lang="en-US" sz="20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RV32</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registers of 32 bits, addresses of 32 bits, instructions of 32 bits</a:t>
            </a:r>
            <a:endParaRPr lang="en-US" sz="1900" dirty="0"/>
          </a:p>
        </p:txBody>
      </p:sp>
      <p:sp>
        <p:nvSpPr>
          <p:cNvPr id="14" name="Shape 12"/>
          <p:cNvSpPr/>
          <p:nvPr/>
        </p:nvSpPr>
        <p:spPr>
          <a:xfrm>
            <a:off x="8419033" y="91440"/>
            <a:ext cx="3224022" cy="274320"/>
          </a:xfrm>
          <a:prstGeom prst="rect">
            <a:avLst/>
          </a:prstGeom>
          <a:solidFill>
            <a:srgbClr val="E0F2FE"/>
          </a:solidFill>
          <a:ln w="12700">
            <a:solidFill>
              <a:srgbClr val="0369A1"/>
            </a:solidFill>
            <a:prstDash val="solid"/>
          </a:ln>
        </p:spPr>
      </p:sp>
      <p:sp>
        <p:nvSpPr>
          <p:cNvPr id="15" name="Shape 13"/>
          <p:cNvSpPr/>
          <p:nvPr/>
        </p:nvSpPr>
        <p:spPr>
          <a:xfrm>
            <a:off x="8419033"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17" name="Text 14"/>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processor model</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User state and supervisor state</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2364384"/>
                <a:gridCol w="3273762"/>
                <a:gridCol w="3819389"/>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State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Who runs in it</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What it may do</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RISC-V name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supervisor</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the operating system</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every instruction of the instruction set</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machine mode (M); supervisor mode (S) where there is a full operating system</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user</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a user program</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everything except the privileged instructions</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user mode (U)</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400" i="1" dirty="0">
                <a:solidFill>
                  <a:srgbClr val="5B6B78"/>
                </a:solidFill>
                <a:latin typeface="Calibri" pitchFamily="34" charset="0"/>
                <a:ea typeface="Calibri" pitchFamily="34" charset="-122"/>
                <a:cs typeface="Calibri" pitchFamily="34" charset="-120"/>
              </a:rPr>
              <a:t>The processor is in supervisor state when it executes the operating system, in user state when it executes a user program.</a:t>
            </a:r>
            <a:endParaRPr lang="en-US" sz="1400" dirty="0"/>
          </a:p>
        </p:txBody>
      </p:sp>
      <p:sp>
        <p:nvSpPr>
          <p:cNvPr id="5" name="Shape 2"/>
          <p:cNvSpPr/>
          <p:nvPr/>
        </p:nvSpPr>
        <p:spPr>
          <a:xfrm>
            <a:off x="7217613" y="91440"/>
            <a:ext cx="4425442" cy="274320"/>
          </a:xfrm>
          <a:prstGeom prst="rect">
            <a:avLst/>
          </a:prstGeom>
          <a:solidFill>
            <a:srgbClr val="F3E8FF"/>
          </a:solidFill>
          <a:ln w="12700">
            <a:solidFill>
              <a:srgbClr val="7E22CE"/>
            </a:solidFill>
            <a:prstDash val="dash"/>
          </a:ln>
        </p:spPr>
      </p:sp>
      <p:sp>
        <p:nvSpPr>
          <p:cNvPr id="6" name="Shape 3"/>
          <p:cNvSpPr/>
          <p:nvPr/>
        </p:nvSpPr>
        <p:spPr>
          <a:xfrm>
            <a:off x="7245045" y="128016"/>
            <a:ext cx="45720" cy="45720"/>
          </a:xfrm>
          <a:prstGeom prst="rect">
            <a:avLst/>
          </a:prstGeom>
          <a:solidFill>
            <a:srgbClr val="7E22CE"/>
          </a:solidFill>
          <a:ln w="12700">
            <a:solidFill>
              <a:srgbClr val="7E22CE"/>
            </a:solidFill>
            <a:prstDash val="solid"/>
          </a:ln>
        </p:spPr>
      </p:sp>
      <p:sp>
        <p:nvSpPr>
          <p:cNvPr id="7" name="Shape 4"/>
          <p:cNvSpPr/>
          <p:nvPr/>
        </p:nvSpPr>
        <p:spPr>
          <a:xfrm>
            <a:off x="7245045" y="205740"/>
            <a:ext cx="45720" cy="45720"/>
          </a:xfrm>
          <a:prstGeom prst="rect">
            <a:avLst/>
          </a:prstGeom>
          <a:solidFill>
            <a:srgbClr val="7E22CE"/>
          </a:solidFill>
          <a:ln w="12700">
            <a:solidFill>
              <a:srgbClr val="7E22CE"/>
            </a:solidFill>
            <a:prstDash val="solid"/>
          </a:ln>
        </p:spPr>
      </p:sp>
      <p:sp>
        <p:nvSpPr>
          <p:cNvPr id="8" name="Shape 5"/>
          <p:cNvSpPr/>
          <p:nvPr/>
        </p:nvSpPr>
        <p:spPr>
          <a:xfrm>
            <a:off x="7245045" y="283464"/>
            <a:ext cx="45720" cy="45720"/>
          </a:xfrm>
          <a:prstGeom prst="rect">
            <a:avLst/>
          </a:prstGeom>
          <a:solidFill>
            <a:srgbClr val="7E22CE"/>
          </a:solidFill>
          <a:ln w="12700">
            <a:solidFill>
              <a:srgbClr val="7E22CE"/>
            </a:solidFill>
            <a:prstDash val="solid"/>
          </a:ln>
        </p:spPr>
      </p:sp>
      <p:pic>
        <p:nvPicPr>
          <p:cNvPr id="9" name="Image 0" descr="preencoded.png">    </p:cNvPr>
          <p:cNvPicPr>
            <a:picLocks noChangeAspect="1"/>
          </p:cNvPicPr>
          <p:nvPr/>
        </p:nvPicPr>
        <p:blipFill>
          <a:blip r:embed="rId1"/>
          <a:stretch>
            <a:fillRect/>
          </a:stretch>
        </p:blipFill>
        <p:spPr>
          <a:xfrm>
            <a:off x="7345629" y="128016"/>
            <a:ext cx="201168" cy="201168"/>
          </a:xfrm>
          <a:prstGeom prst="rect">
            <a:avLst/>
          </a:prstGeom>
        </p:spPr>
      </p:pic>
      <p:sp>
        <p:nvSpPr>
          <p:cNvPr id="10" name="Text 6"/>
          <p:cNvSpPr txBox="1"/>
          <p:nvPr/>
        </p:nvSpPr>
        <p:spPr>
          <a:xfrm>
            <a:off x="7601661" y="91440"/>
            <a:ext cx="400481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interrupts and traps</a:t>
            </a:r>
            <a:pPr indent="0" marL="0">
              <a:buNone/>
            </a:pPr>
            <a:r>
              <a:rPr lang="en-US" sz="1100" b="1" dirty="0">
                <a:solidFill>
                  <a:srgbClr val="6B21A8"/>
                </a:solidFill>
                <a:latin typeface="Calibri" pitchFamily="34" charset="0"/>
                <a:ea typeface="Calibri" pitchFamily="34" charset="-122"/>
                <a:cs typeface="Calibri" pitchFamily="34" charset="-120"/>
              </a:rPr>
              <a:t> → Lecture 19</a:t>
            </a:r>
            <a:endParaRPr lang="en-US" sz="1100" dirty="0"/>
          </a:p>
        </p:txBody>
      </p:sp>
      <p:sp>
        <p:nvSpPr>
          <p:cNvPr id="11" name="Shape 7"/>
          <p:cNvSpPr/>
          <p:nvPr/>
        </p:nvSpPr>
        <p:spPr>
          <a:xfrm>
            <a:off x="3883863" y="91440"/>
            <a:ext cx="3224022" cy="274320"/>
          </a:xfrm>
          <a:prstGeom prst="rect">
            <a:avLst/>
          </a:prstGeom>
          <a:solidFill>
            <a:srgbClr val="E0F2FE"/>
          </a:solidFill>
          <a:ln w="12700">
            <a:solidFill>
              <a:srgbClr val="0369A1"/>
            </a:solidFill>
            <a:prstDash val="solid"/>
          </a:ln>
        </p:spPr>
      </p:sp>
      <p:sp>
        <p:nvSpPr>
          <p:cNvPr id="12" name="Shape 8"/>
          <p:cNvSpPr/>
          <p:nvPr/>
        </p:nvSpPr>
        <p:spPr>
          <a:xfrm>
            <a:off x="3883863" y="91440"/>
            <a:ext cx="73152" cy="274320"/>
          </a:xfrm>
          <a:prstGeom prst="rect">
            <a:avLst/>
          </a:prstGeom>
          <a:solidFill>
            <a:srgbClr val="0369A1"/>
          </a:solidFill>
          <a:ln w="12700">
            <a:solidFill>
              <a:srgbClr val="0369A1"/>
            </a:solidFill>
            <a:prstDash val="solid"/>
          </a:ln>
        </p:spPr>
      </p:sp>
      <p:pic>
        <p:nvPicPr>
          <p:cNvPr id="13" name="Image 1" descr="preencoded.png">    </p:cNvPr>
          <p:cNvPicPr>
            <a:picLocks noChangeAspect="1"/>
          </p:cNvPicPr>
          <p:nvPr/>
        </p:nvPicPr>
        <p:blipFill>
          <a:blip r:embed="rId2"/>
          <a:stretch>
            <a:fillRect/>
          </a:stretch>
        </p:blipFill>
        <p:spPr>
          <a:xfrm>
            <a:off x="4011879" y="128016"/>
            <a:ext cx="201168" cy="201168"/>
          </a:xfrm>
          <a:prstGeom prst="rect">
            <a:avLst/>
          </a:prstGeom>
        </p:spPr>
      </p:pic>
      <p:sp>
        <p:nvSpPr>
          <p:cNvPr id="14" name="Text 9"/>
          <p:cNvSpPr txBox="1"/>
          <p:nvPr/>
        </p:nvSpPr>
        <p:spPr>
          <a:xfrm>
            <a:off x="426791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processor model</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functions of registers</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Transit of data</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memory to register, register to register, register to memory: load, move, store</a:t>
            </a:r>
            <a:endParaRPr lang="en-US" sz="2100" dirty="0"/>
          </a:p>
        </p:txBody>
      </p:sp>
      <p:sp>
        <p:nvSpPr>
          <p:cNvPr id="5" name="Shape 3"/>
          <p:cNvSpPr/>
          <p:nvPr/>
        </p:nvSpPr>
        <p:spPr>
          <a:xfrm>
            <a:off x="548640" y="246564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66963"/>
            <a:ext cx="10710367"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Accumulation of results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needed for arithmetic and logic: R := (op) R, or R := R (op) X</a:t>
            </a:r>
            <a:endParaRPr lang="en-US" sz="2100" dirty="0"/>
          </a:p>
        </p:txBody>
      </p:sp>
      <p:sp>
        <p:nvSpPr>
          <p:cNvPr id="7" name="Shape 5"/>
          <p:cNvSpPr/>
          <p:nvPr/>
        </p:nvSpPr>
        <p:spPr>
          <a:xfrm>
            <a:off x="548640" y="341528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16605"/>
            <a:ext cx="10710367"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Addressing</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finding the address of an operand: index registers, base registers</a:t>
            </a:r>
            <a:endParaRPr lang="en-US" sz="2100" dirty="0"/>
          </a:p>
        </p:txBody>
      </p:sp>
      <p:sp>
        <p:nvSpPr>
          <p:cNvPr id="9" name="Shape 7"/>
          <p:cNvSpPr/>
          <p:nvPr/>
        </p:nvSpPr>
        <p:spPr>
          <a:xfrm>
            <a:off x="548640" y="436492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266248"/>
            <a:ext cx="10710367"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Stack pointers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managing a stack implemented in memory</a:t>
            </a:r>
            <a:endParaRPr lang="en-US" sz="2100" dirty="0"/>
          </a:p>
        </p:txBody>
      </p:sp>
      <p:sp>
        <p:nvSpPr>
          <p:cNvPr id="11" name="Shape 9"/>
          <p:cNvSpPr/>
          <p:nvPr/>
        </p:nvSpPr>
        <p:spPr>
          <a:xfrm>
            <a:off x="548640" y="5314569"/>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215890"/>
            <a:ext cx="10710367" cy="956310"/>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Indicators, or flags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binary information about events: zero, sign, overflow, carry, illegal addresses or codes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produced during the execution of an instruction, they can condition the following ones</a:t>
            </a:r>
            <a:endParaRPr lang="en-US" sz="2100" dirty="0"/>
          </a:p>
        </p:txBody>
      </p:sp>
      <p:sp>
        <p:nvSpPr>
          <p:cNvPr id="13" name="Shape 11"/>
          <p:cNvSpPr/>
          <p:nvPr/>
        </p:nvSpPr>
        <p:spPr>
          <a:xfrm>
            <a:off x="8156397" y="91440"/>
            <a:ext cx="3486658" cy="274320"/>
          </a:xfrm>
          <a:prstGeom prst="rect">
            <a:avLst/>
          </a:prstGeom>
          <a:solidFill>
            <a:srgbClr val="E0F2FE"/>
          </a:solidFill>
          <a:ln w="12700">
            <a:solidFill>
              <a:srgbClr val="0369A1"/>
            </a:solidFill>
            <a:prstDash val="solid"/>
          </a:ln>
        </p:spPr>
      </p:sp>
      <p:sp>
        <p:nvSpPr>
          <p:cNvPr id="14" name="Shape 12"/>
          <p:cNvSpPr/>
          <p:nvPr/>
        </p:nvSpPr>
        <p:spPr>
          <a:xfrm>
            <a:off x="8156397"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16" name="Text 13"/>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registers of RISC-V</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thirty-two registers of RISC-V</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182192"/>
                <a:gridCol w="1182192"/>
                <a:gridCol w="2910011"/>
                <a:gridCol w="1364067"/>
                <a:gridCol w="1273130"/>
                <a:gridCol w="3182824"/>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Register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Name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Function, by convention</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Register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Name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Function, by convention</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x0</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zero</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always 0</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x8 - x9</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s0 - s1</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saved</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x1</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ra</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return address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x10 - x11</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a0 - a1</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arguments, results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x2</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sp</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stack pointer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x12 - x17</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a2 - a7</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arguments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x3</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gp</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global pointer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x18 - x27</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s2 - s11</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saved</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x4</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tp</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thread pointer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x28 - x31</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t3 - t6</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temporaries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x5 - x7</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t0 - t2</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temporaries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pc</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program counter (not in the bank)</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400" i="1" dirty="0">
                <a:solidFill>
                  <a:srgbClr val="5B6B78"/>
                </a:solidFill>
                <a:latin typeface="Calibri" pitchFamily="34" charset="0"/>
                <a:ea typeface="Calibri" pitchFamily="34" charset="-122"/>
                <a:cs typeface="Calibri" pitchFamily="34" charset="-120"/>
              </a:rPr>
              <a:t>The rule of the convention: a call may destroy ra, t and a (caller-saved); s and sp come back unchanged (callee-saved).</a:t>
            </a:r>
            <a:endParaRPr lang="en-US" sz="1400" dirty="0"/>
          </a:p>
        </p:txBody>
      </p:sp>
      <p:sp>
        <p:nvSpPr>
          <p:cNvPr id="5" name="Shape 2"/>
          <p:cNvSpPr/>
          <p:nvPr/>
        </p:nvSpPr>
        <p:spPr>
          <a:xfrm>
            <a:off x="8156397" y="91440"/>
            <a:ext cx="3486658" cy="274320"/>
          </a:xfrm>
          <a:prstGeom prst="rect">
            <a:avLst/>
          </a:prstGeom>
          <a:solidFill>
            <a:srgbClr val="E0F2FE"/>
          </a:solidFill>
          <a:ln w="12700">
            <a:solidFill>
              <a:srgbClr val="0369A1"/>
            </a:solidFill>
            <a:prstDash val="solid"/>
          </a:ln>
        </p:spPr>
      </p:sp>
      <p:sp>
        <p:nvSpPr>
          <p:cNvPr id="6" name="Shape 3"/>
          <p:cNvSpPr/>
          <p:nvPr/>
        </p:nvSpPr>
        <p:spPr>
          <a:xfrm>
            <a:off x="8156397"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8" name="Text 4"/>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registers of RISC-V</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Flags: the status register, and its absence</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Processors with a status register</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Bit flags accessible from the program</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Z zero, N negative, V overflow, C carry, sometimes parity</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An instruction sets them; a later conditional branch tests them</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MC68000: the condition code register; x86: the flags register</a:t>
            </a:r>
            <a:endParaRPr lang="en-US" sz="20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RISC-V: no flags</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A branch compares two registers and jumps, in one instruction: beq, bne, blt, bge, bltu, bgeu</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slt and sltu write the result of a comparison in a general register</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Carry and overflow are computed when needed (Lecture 05)</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Less hidden state: simpler pipelines, simpler interrupts</a:t>
            </a:r>
            <a:endParaRPr lang="en-US" sz="2000" dirty="0"/>
          </a:p>
        </p:txBody>
      </p:sp>
      <p:sp>
        <p:nvSpPr>
          <p:cNvPr id="9" name="Shape 7"/>
          <p:cNvSpPr/>
          <p:nvPr/>
        </p:nvSpPr>
        <p:spPr>
          <a:xfrm>
            <a:off x="8156397" y="91440"/>
            <a:ext cx="3486658" cy="274320"/>
          </a:xfrm>
          <a:prstGeom prst="rect">
            <a:avLst/>
          </a:prstGeom>
          <a:solidFill>
            <a:srgbClr val="E0F2FE"/>
          </a:solidFill>
          <a:ln w="12700">
            <a:solidFill>
              <a:srgbClr val="0369A1"/>
            </a:solidFill>
            <a:prstDash val="solid"/>
          </a:ln>
        </p:spPr>
      </p:sp>
      <p:sp>
        <p:nvSpPr>
          <p:cNvPr id="10" name="Shape 8"/>
          <p:cNvSpPr/>
          <p:nvPr/>
        </p:nvSpPr>
        <p:spPr>
          <a:xfrm>
            <a:off x="8156397"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12" name="Text 9"/>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registers of RISC-V</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Special registers of RISC-V: the CSRs</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3273762"/>
                <a:gridCol w="6183772"/>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Name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What it holds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mstatus</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machine status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global interrupt enable and the previous privilege mode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mtvec</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trap vector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address of the routine that handles interrupts and exceptions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mepc</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exception program counter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address of the instruction that was interrupted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mcause</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trap cause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code that says why the trap happened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mie, mip</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interrupt enable, interrupt pending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bit per source of interrupt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7217613" y="91440"/>
            <a:ext cx="4425442" cy="274320"/>
          </a:xfrm>
          <a:prstGeom prst="rect">
            <a:avLst/>
          </a:prstGeom>
          <a:solidFill>
            <a:srgbClr val="F3E8FF"/>
          </a:solidFill>
          <a:ln w="12700">
            <a:solidFill>
              <a:srgbClr val="7E22CE"/>
            </a:solidFill>
            <a:prstDash val="dash"/>
          </a:ln>
        </p:spPr>
      </p:sp>
      <p:sp>
        <p:nvSpPr>
          <p:cNvPr id="5" name="Shape 2"/>
          <p:cNvSpPr/>
          <p:nvPr/>
        </p:nvSpPr>
        <p:spPr>
          <a:xfrm>
            <a:off x="7245045" y="128016"/>
            <a:ext cx="45720" cy="45720"/>
          </a:xfrm>
          <a:prstGeom prst="rect">
            <a:avLst/>
          </a:prstGeom>
          <a:solidFill>
            <a:srgbClr val="7E22CE"/>
          </a:solidFill>
          <a:ln w="12700">
            <a:solidFill>
              <a:srgbClr val="7E22CE"/>
            </a:solidFill>
            <a:prstDash val="solid"/>
          </a:ln>
        </p:spPr>
      </p:sp>
      <p:sp>
        <p:nvSpPr>
          <p:cNvPr id="6" name="Shape 3"/>
          <p:cNvSpPr/>
          <p:nvPr/>
        </p:nvSpPr>
        <p:spPr>
          <a:xfrm>
            <a:off x="7245045" y="205740"/>
            <a:ext cx="45720" cy="45720"/>
          </a:xfrm>
          <a:prstGeom prst="rect">
            <a:avLst/>
          </a:prstGeom>
          <a:solidFill>
            <a:srgbClr val="7E22CE"/>
          </a:solidFill>
          <a:ln w="12700">
            <a:solidFill>
              <a:srgbClr val="7E22CE"/>
            </a:solidFill>
            <a:prstDash val="solid"/>
          </a:ln>
        </p:spPr>
      </p:sp>
      <p:sp>
        <p:nvSpPr>
          <p:cNvPr id="7" name="Shape 4"/>
          <p:cNvSpPr/>
          <p:nvPr/>
        </p:nvSpPr>
        <p:spPr>
          <a:xfrm>
            <a:off x="7245045" y="283464"/>
            <a:ext cx="45720" cy="45720"/>
          </a:xfrm>
          <a:prstGeom prst="rect">
            <a:avLst/>
          </a:prstGeom>
          <a:solidFill>
            <a:srgbClr val="7E22CE"/>
          </a:solidFill>
          <a:ln w="12700">
            <a:solidFill>
              <a:srgbClr val="7E22CE"/>
            </a:solidFill>
            <a:prstDash val="solid"/>
          </a:ln>
        </p:spPr>
      </p:sp>
      <p:pic>
        <p:nvPicPr>
          <p:cNvPr id="8" name="Image 0" descr="preencoded.png">    </p:cNvPr>
          <p:cNvPicPr>
            <a:picLocks noChangeAspect="1"/>
          </p:cNvPicPr>
          <p:nvPr/>
        </p:nvPicPr>
        <p:blipFill>
          <a:blip r:embed="rId1"/>
          <a:stretch>
            <a:fillRect/>
          </a:stretch>
        </p:blipFill>
        <p:spPr>
          <a:xfrm>
            <a:off x="7345629" y="128016"/>
            <a:ext cx="201168" cy="201168"/>
          </a:xfrm>
          <a:prstGeom prst="rect">
            <a:avLst/>
          </a:prstGeom>
        </p:spPr>
      </p:pic>
      <p:sp>
        <p:nvSpPr>
          <p:cNvPr id="9" name="Text 5"/>
          <p:cNvSpPr txBox="1"/>
          <p:nvPr/>
        </p:nvSpPr>
        <p:spPr>
          <a:xfrm>
            <a:off x="7601661" y="91440"/>
            <a:ext cx="400481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interrupts and traps</a:t>
            </a:r>
            <a:pPr indent="0" marL="0">
              <a:buNone/>
            </a:pPr>
            <a:r>
              <a:rPr lang="en-US" sz="1100" b="1" dirty="0">
                <a:solidFill>
                  <a:srgbClr val="6B21A8"/>
                </a:solidFill>
                <a:latin typeface="Calibri" pitchFamily="34" charset="0"/>
                <a:ea typeface="Calibri" pitchFamily="34" charset="-122"/>
                <a:cs typeface="Calibri" pitchFamily="34" charset="-120"/>
              </a:rPr>
              <a:t> → Lecture 19</a:t>
            </a:r>
            <a:endParaRPr lang="en-US" sz="1100" dirty="0"/>
          </a:p>
        </p:txBody>
      </p:sp>
      <p:sp>
        <p:nvSpPr>
          <p:cNvPr id="10" name="Shape 6"/>
          <p:cNvSpPr/>
          <p:nvPr/>
        </p:nvSpPr>
        <p:spPr>
          <a:xfrm>
            <a:off x="3621227" y="91440"/>
            <a:ext cx="3486658" cy="274320"/>
          </a:xfrm>
          <a:prstGeom prst="rect">
            <a:avLst/>
          </a:prstGeom>
          <a:solidFill>
            <a:srgbClr val="E0F2FE"/>
          </a:solidFill>
          <a:ln w="12700">
            <a:solidFill>
              <a:srgbClr val="0369A1"/>
            </a:solidFill>
            <a:prstDash val="solid"/>
          </a:ln>
        </p:spPr>
      </p:sp>
      <p:sp>
        <p:nvSpPr>
          <p:cNvPr id="11" name="Shape 7"/>
          <p:cNvSpPr/>
          <p:nvPr/>
        </p:nvSpPr>
        <p:spPr>
          <a:xfrm>
            <a:off x="3621227" y="91440"/>
            <a:ext cx="73152" cy="274320"/>
          </a:xfrm>
          <a:prstGeom prst="rect">
            <a:avLst/>
          </a:prstGeom>
          <a:solidFill>
            <a:srgbClr val="0369A1"/>
          </a:solidFill>
          <a:ln w="12700">
            <a:solidFill>
              <a:srgbClr val="0369A1"/>
            </a:solidFill>
            <a:prstDash val="solid"/>
          </a:ln>
        </p:spPr>
      </p:sp>
      <p:pic>
        <p:nvPicPr>
          <p:cNvPr id="12" name="Image 1" descr="preencoded.png">    </p:cNvPr>
          <p:cNvPicPr>
            <a:picLocks noChangeAspect="1"/>
          </p:cNvPicPr>
          <p:nvPr/>
        </p:nvPicPr>
        <p:blipFill>
          <a:blip r:embed="rId2"/>
          <a:stretch>
            <a:fillRect/>
          </a:stretch>
        </p:blipFill>
        <p:spPr>
          <a:xfrm>
            <a:off x="3749243" y="128016"/>
            <a:ext cx="201168" cy="201168"/>
          </a:xfrm>
          <a:prstGeom prst="rect">
            <a:avLst/>
          </a:prstGeom>
        </p:spPr>
      </p:pic>
      <p:sp>
        <p:nvSpPr>
          <p:cNvPr id="13" name="Text 8"/>
          <p:cNvSpPr txBox="1"/>
          <p:nvPr/>
        </p:nvSpPr>
        <p:spPr>
          <a:xfrm>
            <a:off x="400527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registers of RISC-V</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stack</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An abstract data structure with two operations: push stores an element as the last of the pile, pop takes the last element away</a:t>
            </a:r>
            <a:endParaRPr lang="en-US" sz="2100" dirty="0"/>
          </a:p>
        </p:txBody>
      </p:sp>
      <p:sp>
        <p:nvSpPr>
          <p:cNvPr id="5" name="Shape 3"/>
          <p:cNvSpPr/>
          <p:nvPr/>
        </p:nvSpPr>
        <p:spPr>
          <a:xfrm>
            <a:off x="548640" y="2623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4697"/>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It works always and only on the top: there is no need to say where to store or to fetch</a:t>
            </a:r>
            <a:endParaRPr lang="en-US" sz="2100" dirty="0"/>
          </a:p>
        </p:txBody>
      </p:sp>
      <p:sp>
        <p:nvSpPr>
          <p:cNvPr id="7" name="Shape 5"/>
          <p:cNvSpPr/>
          <p:nvPr/>
        </p:nvSpPr>
        <p:spPr>
          <a:xfrm>
            <a:off x="548640" y="340537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06699"/>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It is used to set aside the contents of registers that must be freed to carry out a task, and to restore them afterwards: subprograms, interrupts</a:t>
            </a:r>
            <a:endParaRPr lang="en-US" sz="2100" dirty="0"/>
          </a:p>
        </p:txBody>
      </p:sp>
      <p:sp>
        <p:nvSpPr>
          <p:cNvPr id="9" name="Shape 7"/>
          <p:cNvSpPr/>
          <p:nvPr/>
        </p:nvSpPr>
        <p:spPr>
          <a:xfrm>
            <a:off x="548640" y="451275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4076"/>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Implemented with a pointer, in memory or in a dedicated register, that indicates the position of the last element at every instant</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Operations on the stack should check for overflow on a push and for an empty stack on a pop</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LIFO</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last value pushed is the first one popped</a:t>
            </a:r>
            <a:endParaRPr lang="en-US" sz="1900" dirty="0"/>
          </a:p>
        </p:txBody>
      </p:sp>
      <p:sp>
        <p:nvSpPr>
          <p:cNvPr id="16" name="Shape 14"/>
          <p:cNvSpPr/>
          <p:nvPr/>
        </p:nvSpPr>
        <p:spPr>
          <a:xfrm>
            <a:off x="9075623" y="91440"/>
            <a:ext cx="2567432" cy="274320"/>
          </a:xfrm>
          <a:prstGeom prst="rect">
            <a:avLst/>
          </a:prstGeom>
          <a:solidFill>
            <a:srgbClr val="E0F2FE"/>
          </a:solidFill>
          <a:ln w="12700">
            <a:solidFill>
              <a:srgbClr val="0369A1"/>
            </a:solidFill>
            <a:prstDash val="solid"/>
          </a:ln>
        </p:spPr>
      </p:sp>
      <p:sp>
        <p:nvSpPr>
          <p:cNvPr id="17" name="Shape 15"/>
          <p:cNvSpPr/>
          <p:nvPr/>
        </p:nvSpPr>
        <p:spPr>
          <a:xfrm>
            <a:off x="9075623"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9203639" y="128016"/>
            <a:ext cx="201168" cy="201168"/>
          </a:xfrm>
          <a:prstGeom prst="rect">
            <a:avLst/>
          </a:prstGeom>
        </p:spPr>
      </p:pic>
      <p:sp>
        <p:nvSpPr>
          <p:cNvPr id="19" name="Text 16"/>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stack</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Four architectures of the processor</a:t>
            </a:r>
            <a:endParaRPr lang="en-US" sz="3200" dirty="0"/>
          </a:p>
        </p:txBody>
      </p:sp>
      <p:sp>
        <p:nvSpPr>
          <p:cNvPr id="3" name="Shape 1"/>
          <p:cNvSpPr/>
          <p:nvPr/>
        </p:nvSpPr>
        <p:spPr>
          <a:xfrm>
            <a:off x="548640" y="1417320"/>
            <a:ext cx="541004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General registers</a:t>
            </a:r>
            <a:endParaRPr lang="en-US" sz="2000" dirty="0"/>
          </a:p>
        </p:txBody>
      </p:sp>
      <p:sp>
        <p:nvSpPr>
          <p:cNvPr id="6" name="Text 4"/>
          <p:cNvSpPr txBox="1"/>
          <p:nvPr/>
        </p:nvSpPr>
        <p:spPr>
          <a:xfrm>
            <a:off x="822960" y="23317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The processor has a set of registers REG0, REG1, ..., REGN-1 that can be used interchangeably.</a:t>
            </a:r>
            <a:endParaRPr lang="en-US" sz="1900" dirty="0"/>
          </a:p>
        </p:txBody>
      </p:sp>
      <p:sp>
        <p:nvSpPr>
          <p:cNvPr id="7" name="Shape 5"/>
          <p:cNvSpPr/>
          <p:nvPr/>
        </p:nvSpPr>
        <p:spPr>
          <a:xfrm>
            <a:off x="6233008" y="1417320"/>
            <a:ext cx="541004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646160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7010248"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Accumulator</a:t>
            </a:r>
            <a:endParaRPr lang="en-US" sz="2000" dirty="0"/>
          </a:p>
        </p:txBody>
      </p:sp>
      <p:sp>
        <p:nvSpPr>
          <p:cNvPr id="10" name="Text 8"/>
          <p:cNvSpPr txBox="1"/>
          <p:nvPr/>
        </p:nvSpPr>
        <p:spPr>
          <a:xfrm>
            <a:off x="6507328" y="23317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All arithmetic, logic and comparison instructions have an implicit operand: one special register, the accumulator.</a:t>
            </a:r>
            <a:endParaRPr lang="en-US" sz="1900" dirty="0"/>
          </a:p>
        </p:txBody>
      </p:sp>
      <p:sp>
        <p:nvSpPr>
          <p:cNvPr id="11" name="Shape 9"/>
          <p:cNvSpPr/>
          <p:nvPr/>
        </p:nvSpPr>
        <p:spPr>
          <a:xfrm>
            <a:off x="548640" y="3931920"/>
            <a:ext cx="541004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777240" y="41605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1325880"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Stack</a:t>
            </a:r>
            <a:endParaRPr lang="en-US" sz="2000" dirty="0"/>
          </a:p>
        </p:txBody>
      </p:sp>
      <p:sp>
        <p:nvSpPr>
          <p:cNvPr id="14" name="Text 12"/>
          <p:cNvSpPr txBox="1"/>
          <p:nvPr/>
        </p:nvSpPr>
        <p:spPr>
          <a:xfrm>
            <a:off x="822960" y="48463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There are neither accumulators nor general registers, only the stack pointer; instructions work on the data on top of the stack.</a:t>
            </a:r>
            <a:endParaRPr lang="en-US" sz="1900" dirty="0"/>
          </a:p>
        </p:txBody>
      </p:sp>
      <p:sp>
        <p:nvSpPr>
          <p:cNvPr id="15" name="Shape 13"/>
          <p:cNvSpPr/>
          <p:nvPr/>
        </p:nvSpPr>
        <p:spPr>
          <a:xfrm>
            <a:off x="6233008" y="3931920"/>
            <a:ext cx="541004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6461608"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7010248"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Orthogonal</a:t>
            </a:r>
            <a:endParaRPr lang="en-US" sz="2000" dirty="0"/>
          </a:p>
        </p:txBody>
      </p:sp>
      <p:sp>
        <p:nvSpPr>
          <p:cNvPr id="18" name="Text 16"/>
          <p:cNvSpPr txBox="1"/>
          <p:nvPr/>
        </p:nvSpPr>
        <p:spPr>
          <a:xfrm>
            <a:off x="6507328" y="48463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 single bank of general registers, some of which serve, when needed, as stack pointer or other special registers.</a:t>
            </a:r>
            <a:endParaRPr lang="en-US" sz="1900" dirty="0"/>
          </a:p>
        </p:txBody>
      </p:sp>
      <p:sp>
        <p:nvSpPr>
          <p:cNvPr id="19" name="Shape 17"/>
          <p:cNvSpPr/>
          <p:nvPr/>
        </p:nvSpPr>
        <p:spPr>
          <a:xfrm>
            <a:off x="7762443" y="91440"/>
            <a:ext cx="3880612" cy="274320"/>
          </a:xfrm>
          <a:prstGeom prst="rect">
            <a:avLst/>
          </a:prstGeom>
          <a:solidFill>
            <a:srgbClr val="E0F2FE"/>
          </a:solidFill>
          <a:ln w="12700">
            <a:solidFill>
              <a:srgbClr val="0369A1"/>
            </a:solidFill>
            <a:prstDash val="solid"/>
          </a:ln>
        </p:spPr>
      </p:sp>
      <p:sp>
        <p:nvSpPr>
          <p:cNvPr id="20" name="Shape 18"/>
          <p:cNvSpPr/>
          <p:nvPr/>
        </p:nvSpPr>
        <p:spPr>
          <a:xfrm>
            <a:off x="7762443" y="91440"/>
            <a:ext cx="73152" cy="274320"/>
          </a:xfrm>
          <a:prstGeom prst="rect">
            <a:avLst/>
          </a:prstGeom>
          <a:solidFill>
            <a:srgbClr val="0369A1"/>
          </a:solidFill>
          <a:ln w="12700">
            <a:solidFill>
              <a:srgbClr val="0369A1"/>
            </a:solidFill>
            <a:prstDash val="solid"/>
          </a:ln>
        </p:spPr>
      </p:sp>
      <p:pic>
        <p:nvPicPr>
          <p:cNvPr id="21" name="Image 0" descr="preencoded.png">    </p:cNvPr>
          <p:cNvPicPr>
            <a:picLocks noChangeAspect="1"/>
          </p:cNvPicPr>
          <p:nvPr/>
        </p:nvPicPr>
        <p:blipFill>
          <a:blip r:embed="rId1"/>
          <a:stretch>
            <a:fillRect/>
          </a:stretch>
        </p:blipFill>
        <p:spPr>
          <a:xfrm>
            <a:off x="7890459" y="128016"/>
            <a:ext cx="201168" cy="201168"/>
          </a:xfrm>
          <a:prstGeom prst="rect">
            <a:avLst/>
          </a:prstGeom>
        </p:spPr>
      </p:pic>
      <p:sp>
        <p:nvSpPr>
          <p:cNvPr id="22" name="Text 19"/>
          <p:cNvSpPr txBox="1"/>
          <p:nvPr/>
        </p:nvSpPr>
        <p:spPr>
          <a:xfrm>
            <a:off x="8146491" y="91440"/>
            <a:ext cx="345998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accumulator, stack, registers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RISC-V: a load-store, general-register processor</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Instructions that work on registers are faster than those that work on memory locations: the most used data are kept in registers</a:t>
            </a:r>
            <a:endParaRPr lang="en-US" sz="2100" dirty="0"/>
          </a:p>
        </p:txBody>
      </p:sp>
      <p:sp>
        <p:nvSpPr>
          <p:cNvPr id="5" name="Shape 3"/>
          <p:cNvSpPr/>
          <p:nvPr/>
        </p:nvSpPr>
        <p:spPr>
          <a:xfrm>
            <a:off x="548640" y="2623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4697"/>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Only loads and stores touch memory; every other instruction works register to register</a:t>
            </a:r>
            <a:endParaRPr lang="en-US" sz="2100" dirty="0"/>
          </a:p>
        </p:txBody>
      </p:sp>
      <p:sp>
        <p:nvSpPr>
          <p:cNvPr id="7" name="Shape 5"/>
          <p:cNvSpPr/>
          <p:nvPr/>
        </p:nvSpPr>
        <p:spPr>
          <a:xfrm>
            <a:off x="548640" y="340537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06699"/>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Three operands: two sources and a destination, so that no value is destroyed unless you want it to be</a:t>
            </a:r>
            <a:endParaRPr lang="en-US" sz="2100" dirty="0"/>
          </a:p>
        </p:txBody>
      </p:sp>
      <p:sp>
        <p:nvSpPr>
          <p:cNvPr id="9" name="Shape 7"/>
          <p:cNvSpPr/>
          <p:nvPr/>
        </p:nvSpPr>
        <p:spPr>
          <a:xfrm>
            <a:off x="548640" y="451275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4076"/>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Each instruction does one simple thing and has a fixed size: easy to decode, easy to execute in a pipeline</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This is the meaning of RISC: reduced instruction set computer</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3900" b="1" dirty="0">
                <a:solidFill>
                  <a:srgbClr val="FFFFFF"/>
                </a:solidFill>
                <a:latin typeface="Cambria" pitchFamily="34" charset="0"/>
                <a:ea typeface="Cambria" pitchFamily="34" charset="-122"/>
                <a:cs typeface="Cambria" pitchFamily="34" charset="-120"/>
              </a:rPr>
              <a:t>load, compute, store</a:t>
            </a:r>
            <a:endParaRPr lang="en-US" sz="3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rhythm of every RISC-V program, from the first counter to the last game</a:t>
            </a:r>
            <a:endParaRPr lang="en-US" sz="1900" dirty="0"/>
          </a:p>
        </p:txBody>
      </p:sp>
      <p:sp>
        <p:nvSpPr>
          <p:cNvPr id="16" name="Shape 14"/>
          <p:cNvSpPr/>
          <p:nvPr/>
        </p:nvSpPr>
        <p:spPr>
          <a:xfrm>
            <a:off x="7762443" y="91440"/>
            <a:ext cx="3880612" cy="274320"/>
          </a:xfrm>
          <a:prstGeom prst="rect">
            <a:avLst/>
          </a:prstGeom>
          <a:solidFill>
            <a:srgbClr val="E0F2FE"/>
          </a:solidFill>
          <a:ln w="12700">
            <a:solidFill>
              <a:srgbClr val="0369A1"/>
            </a:solidFill>
            <a:prstDash val="solid"/>
          </a:ln>
        </p:spPr>
      </p:sp>
      <p:sp>
        <p:nvSpPr>
          <p:cNvPr id="17" name="Shape 15"/>
          <p:cNvSpPr/>
          <p:nvPr/>
        </p:nvSpPr>
        <p:spPr>
          <a:xfrm>
            <a:off x="7762443"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890459" y="128016"/>
            <a:ext cx="201168" cy="201168"/>
          </a:xfrm>
          <a:prstGeom prst="rect">
            <a:avLst/>
          </a:prstGeom>
        </p:spPr>
      </p:pic>
      <p:sp>
        <p:nvSpPr>
          <p:cNvPr id="19" name="Text 16"/>
          <p:cNvSpPr txBox="1"/>
          <p:nvPr/>
        </p:nvSpPr>
        <p:spPr>
          <a:xfrm>
            <a:off x="8146491" y="91440"/>
            <a:ext cx="345998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accumulator, stack, registers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architecture of an RV32 processor</a:t>
            </a:r>
            <a:endParaRPr lang="en-US" sz="3200" dirty="0"/>
          </a:p>
        </p:txBody>
      </p:sp>
      <p:sp>
        <p:nvSpPr>
          <p:cNvPr id="3" name="Text 1"/>
          <p:cNvSpPr txBox="1"/>
          <p:nvPr/>
        </p:nvSpPr>
        <p:spPr>
          <a:xfrm>
            <a:off x="548640" y="2240280"/>
            <a:ext cx="1188720" cy="1463040"/>
          </a:xfrm>
          <a:prstGeom prst="roundRect">
            <a:avLst>
              <a:gd name="adj" fmla="val 4615"/>
            </a:avLst>
          </a:prstGeom>
          <a:solidFill>
            <a:srgbClr val="B23A48"/>
          </a:solidFill>
          <a:ln>
            <a:solidFill>
              <a:srgbClr val="B23A48"/>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PC</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address of the</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instruction</a:t>
            </a:r>
            <a:endParaRPr lang="en-US" sz="1500" dirty="0"/>
          </a:p>
        </p:txBody>
      </p:sp>
      <p:sp>
        <p:nvSpPr>
          <p:cNvPr id="4" name="Shape 2"/>
          <p:cNvSpPr/>
          <p:nvPr/>
        </p:nvSpPr>
        <p:spPr>
          <a:xfrm>
            <a:off x="1773936" y="2971800"/>
            <a:ext cx="371795" cy="0"/>
          </a:xfrm>
          <a:prstGeom prst="line">
            <a:avLst/>
          </a:prstGeom>
          <a:noFill/>
          <a:ln w="31750">
            <a:solidFill>
              <a:srgbClr val="5B6B78"/>
            </a:solidFill>
            <a:prstDash val="solid"/>
            <a:tailEnd type="triangle"/>
          </a:ln>
        </p:spPr>
      </p:sp>
      <p:sp>
        <p:nvSpPr>
          <p:cNvPr id="5" name="Text 3"/>
          <p:cNvSpPr txBox="1"/>
          <p:nvPr/>
        </p:nvSpPr>
        <p:spPr>
          <a:xfrm>
            <a:off x="2182307" y="2240280"/>
            <a:ext cx="1554480" cy="1463040"/>
          </a:xfrm>
          <a:prstGeom prst="roundRect">
            <a:avLst>
              <a:gd name="adj" fmla="val 375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instruction</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memory</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fetch</a:t>
            </a:r>
            <a:endParaRPr lang="en-US" sz="1500" dirty="0"/>
          </a:p>
        </p:txBody>
      </p:sp>
      <p:sp>
        <p:nvSpPr>
          <p:cNvPr id="6" name="Shape 4"/>
          <p:cNvSpPr/>
          <p:nvPr/>
        </p:nvSpPr>
        <p:spPr>
          <a:xfrm>
            <a:off x="3773363" y="2971800"/>
            <a:ext cx="371795" cy="0"/>
          </a:xfrm>
          <a:prstGeom prst="line">
            <a:avLst/>
          </a:prstGeom>
          <a:noFill/>
          <a:ln w="31750">
            <a:solidFill>
              <a:srgbClr val="5B6B78"/>
            </a:solidFill>
            <a:prstDash val="solid"/>
            <a:tailEnd type="triangle"/>
          </a:ln>
        </p:spPr>
      </p:sp>
      <p:sp>
        <p:nvSpPr>
          <p:cNvPr id="7" name="Text 5"/>
          <p:cNvSpPr txBox="1"/>
          <p:nvPr/>
        </p:nvSpPr>
        <p:spPr>
          <a:xfrm>
            <a:off x="4181734" y="2240280"/>
            <a:ext cx="1737360" cy="1463040"/>
          </a:xfrm>
          <a:prstGeom prst="roundRect">
            <a:avLst>
              <a:gd name="adj" fmla="val 3750"/>
            </a:avLst>
          </a:prstGeom>
          <a:solidFill>
            <a:srgbClr val="2E4A62"/>
          </a:solidFill>
          <a:ln>
            <a:solidFill>
              <a:srgbClr val="2E4A62"/>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decoder and</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control unit</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fields and</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commands</a:t>
            </a:r>
            <a:endParaRPr lang="en-US" sz="1500" dirty="0"/>
          </a:p>
        </p:txBody>
      </p:sp>
      <p:sp>
        <p:nvSpPr>
          <p:cNvPr id="8" name="Shape 6"/>
          <p:cNvSpPr/>
          <p:nvPr/>
        </p:nvSpPr>
        <p:spPr>
          <a:xfrm>
            <a:off x="5955670" y="2971800"/>
            <a:ext cx="371795" cy="0"/>
          </a:xfrm>
          <a:prstGeom prst="line">
            <a:avLst/>
          </a:prstGeom>
          <a:noFill/>
          <a:ln w="31750">
            <a:solidFill>
              <a:srgbClr val="5B6B78"/>
            </a:solidFill>
            <a:prstDash val="solid"/>
            <a:tailEnd type="triangle"/>
          </a:ln>
        </p:spPr>
      </p:sp>
      <p:sp>
        <p:nvSpPr>
          <p:cNvPr id="9" name="Text 7"/>
          <p:cNvSpPr txBox="1"/>
          <p:nvPr/>
        </p:nvSpPr>
        <p:spPr>
          <a:xfrm>
            <a:off x="6364041" y="2240280"/>
            <a:ext cx="1645920" cy="1463040"/>
          </a:xfrm>
          <a:prstGeom prst="roundRect">
            <a:avLst>
              <a:gd name="adj" fmla="val 375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register file</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x0 - x31</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32 x 32 bits</a:t>
            </a:r>
            <a:endParaRPr lang="en-US" sz="1500" dirty="0"/>
          </a:p>
        </p:txBody>
      </p:sp>
      <p:sp>
        <p:nvSpPr>
          <p:cNvPr id="10" name="Shape 8"/>
          <p:cNvSpPr/>
          <p:nvPr/>
        </p:nvSpPr>
        <p:spPr>
          <a:xfrm>
            <a:off x="8046537" y="2971800"/>
            <a:ext cx="371795" cy="0"/>
          </a:xfrm>
          <a:prstGeom prst="line">
            <a:avLst/>
          </a:prstGeom>
          <a:noFill/>
          <a:ln w="31750">
            <a:solidFill>
              <a:srgbClr val="5B6B78"/>
            </a:solidFill>
            <a:prstDash val="solid"/>
            <a:tailEnd type="triangle"/>
          </a:ln>
        </p:spPr>
      </p:sp>
      <p:sp>
        <p:nvSpPr>
          <p:cNvPr id="11" name="Text 9"/>
          <p:cNvSpPr txBox="1"/>
          <p:nvPr/>
        </p:nvSpPr>
        <p:spPr>
          <a:xfrm>
            <a:off x="8454908" y="2240280"/>
            <a:ext cx="1371600" cy="1463040"/>
          </a:xfrm>
          <a:prstGeom prst="roundRect">
            <a:avLst>
              <a:gd name="adj" fmla="val 4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ALU</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compute, or</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form an address</a:t>
            </a:r>
            <a:endParaRPr lang="en-US" sz="1500" dirty="0"/>
          </a:p>
        </p:txBody>
      </p:sp>
      <p:sp>
        <p:nvSpPr>
          <p:cNvPr id="12" name="Shape 10"/>
          <p:cNvSpPr/>
          <p:nvPr/>
        </p:nvSpPr>
        <p:spPr>
          <a:xfrm>
            <a:off x="9863084" y="2971800"/>
            <a:ext cx="371795" cy="0"/>
          </a:xfrm>
          <a:prstGeom prst="line">
            <a:avLst/>
          </a:prstGeom>
          <a:noFill/>
          <a:ln w="31750">
            <a:solidFill>
              <a:srgbClr val="5B6B78"/>
            </a:solidFill>
            <a:prstDash val="solid"/>
            <a:tailEnd type="triangle"/>
          </a:ln>
        </p:spPr>
      </p:sp>
      <p:sp>
        <p:nvSpPr>
          <p:cNvPr id="13" name="Text 11"/>
          <p:cNvSpPr txBox="1"/>
          <p:nvPr/>
        </p:nvSpPr>
        <p:spPr>
          <a:xfrm>
            <a:off x="10271455" y="2240280"/>
            <a:ext cx="1371600" cy="1463040"/>
          </a:xfrm>
          <a:prstGeom prst="roundRect">
            <a:avLst>
              <a:gd name="adj" fmla="val 4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data</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memory</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load, store</a:t>
            </a:r>
            <a:endParaRPr lang="en-US" sz="1500" dirty="0"/>
          </a:p>
        </p:txBody>
      </p:sp>
      <p:sp>
        <p:nvSpPr>
          <p:cNvPr id="14" name="Shape 12"/>
          <p:cNvSpPr/>
          <p:nvPr/>
        </p:nvSpPr>
        <p:spPr>
          <a:xfrm>
            <a:off x="10957255" y="3730752"/>
            <a:ext cx="0" cy="612648"/>
          </a:xfrm>
          <a:prstGeom prst="line">
            <a:avLst/>
          </a:prstGeom>
          <a:noFill/>
          <a:ln w="31750">
            <a:solidFill>
              <a:srgbClr val="2F7D4F"/>
            </a:solidFill>
            <a:prstDash val="solid"/>
          </a:ln>
        </p:spPr>
      </p:sp>
      <p:sp>
        <p:nvSpPr>
          <p:cNvPr id="15" name="Shape 13"/>
          <p:cNvSpPr/>
          <p:nvPr/>
        </p:nvSpPr>
        <p:spPr>
          <a:xfrm flipH="1">
            <a:off x="7187001" y="4343400"/>
            <a:ext cx="3770254" cy="0"/>
          </a:xfrm>
          <a:prstGeom prst="line">
            <a:avLst/>
          </a:prstGeom>
          <a:noFill/>
          <a:ln w="31750">
            <a:solidFill>
              <a:srgbClr val="2F7D4F"/>
            </a:solidFill>
            <a:prstDash val="solid"/>
          </a:ln>
        </p:spPr>
      </p:sp>
      <p:sp>
        <p:nvSpPr>
          <p:cNvPr id="16" name="Shape 14"/>
          <p:cNvSpPr/>
          <p:nvPr/>
        </p:nvSpPr>
        <p:spPr>
          <a:xfrm flipV="1">
            <a:off x="7187001" y="3730752"/>
            <a:ext cx="0" cy="612648"/>
          </a:xfrm>
          <a:prstGeom prst="line">
            <a:avLst/>
          </a:prstGeom>
          <a:noFill/>
          <a:ln w="31750">
            <a:solidFill>
              <a:srgbClr val="2F7D4F"/>
            </a:solidFill>
            <a:prstDash val="solid"/>
            <a:tailEnd type="triangle"/>
          </a:ln>
        </p:spPr>
      </p:sp>
      <p:sp>
        <p:nvSpPr>
          <p:cNvPr id="17" name="Text 15"/>
          <p:cNvSpPr txBox="1"/>
          <p:nvPr/>
        </p:nvSpPr>
        <p:spPr>
          <a:xfrm>
            <a:off x="7187001" y="4389120"/>
            <a:ext cx="3770254" cy="274320"/>
          </a:xfrm>
          <a:prstGeom prst="rect">
            <a:avLst/>
          </a:prstGeom>
          <a:noFill/>
          <a:ln/>
        </p:spPr>
        <p:txBody>
          <a:bodyPr wrap="square" lIns="0" tIns="0" rIns="0" bIns="0" rtlCol="0" anchor="t"/>
          <a:lstStyle/>
          <a:p>
            <a:pPr algn="ctr" indent="0" marL="0">
              <a:buNone/>
            </a:pPr>
            <a:r>
              <a:rPr lang="en-US" sz="1250" b="1" dirty="0">
                <a:solidFill>
                  <a:srgbClr val="2F7D4F"/>
                </a:solidFill>
                <a:latin typeface="Calibri" pitchFamily="34" charset="0"/>
                <a:ea typeface="Calibri" pitchFamily="34" charset="-122"/>
                <a:cs typeface="Calibri" pitchFamily="34" charset="-120"/>
              </a:rPr>
              <a:t>write back: the result returns to the register named by rd</a:t>
            </a:r>
            <a:endParaRPr lang="en-US" sz="1250" dirty="0"/>
          </a:p>
        </p:txBody>
      </p:sp>
      <p:sp>
        <p:nvSpPr>
          <p:cNvPr id="18" name="Shape 16"/>
          <p:cNvSpPr/>
          <p:nvPr/>
        </p:nvSpPr>
        <p:spPr>
          <a:xfrm>
            <a:off x="1143000" y="1691640"/>
            <a:ext cx="0" cy="521208"/>
          </a:xfrm>
          <a:prstGeom prst="line">
            <a:avLst/>
          </a:prstGeom>
          <a:noFill/>
          <a:ln w="31750">
            <a:solidFill>
              <a:srgbClr val="B23A48"/>
            </a:solidFill>
            <a:prstDash val="solid"/>
            <a:tailEnd type="triangle"/>
          </a:ln>
        </p:spPr>
      </p:sp>
      <p:sp>
        <p:nvSpPr>
          <p:cNvPr id="19" name="Shape 17"/>
          <p:cNvSpPr/>
          <p:nvPr/>
        </p:nvSpPr>
        <p:spPr>
          <a:xfrm>
            <a:off x="1143000" y="1691640"/>
            <a:ext cx="7997708" cy="0"/>
          </a:xfrm>
          <a:prstGeom prst="line">
            <a:avLst/>
          </a:prstGeom>
          <a:noFill/>
          <a:ln w="31750">
            <a:solidFill>
              <a:srgbClr val="B23A48"/>
            </a:solidFill>
            <a:prstDash val="solid"/>
          </a:ln>
        </p:spPr>
      </p:sp>
      <p:sp>
        <p:nvSpPr>
          <p:cNvPr id="20" name="Shape 18"/>
          <p:cNvSpPr/>
          <p:nvPr/>
        </p:nvSpPr>
        <p:spPr>
          <a:xfrm>
            <a:off x="9140708" y="1691640"/>
            <a:ext cx="0" cy="521208"/>
          </a:xfrm>
          <a:prstGeom prst="line">
            <a:avLst/>
          </a:prstGeom>
          <a:noFill/>
          <a:ln w="31750">
            <a:solidFill>
              <a:srgbClr val="B23A48"/>
            </a:solidFill>
            <a:prstDash val="solid"/>
          </a:ln>
        </p:spPr>
      </p:sp>
      <p:sp>
        <p:nvSpPr>
          <p:cNvPr id="21" name="Text 19"/>
          <p:cNvSpPr txBox="1"/>
          <p:nvPr/>
        </p:nvSpPr>
        <p:spPr>
          <a:xfrm>
            <a:off x="1325880" y="1371600"/>
            <a:ext cx="5486400" cy="274320"/>
          </a:xfrm>
          <a:prstGeom prst="rect">
            <a:avLst/>
          </a:prstGeom>
          <a:noFill/>
          <a:ln/>
        </p:spPr>
        <p:txBody>
          <a:bodyPr wrap="square" lIns="0" tIns="0" rIns="0" bIns="0" rtlCol="0" anchor="t"/>
          <a:lstStyle/>
          <a:p>
            <a:pPr indent="0" marL="0">
              <a:buNone/>
            </a:pPr>
            <a:r>
              <a:rPr lang="en-US" sz="1250" b="1" dirty="0">
                <a:solidFill>
                  <a:srgbClr val="B23A48"/>
                </a:solidFill>
                <a:latin typeface="Calibri" pitchFamily="34" charset="0"/>
                <a:ea typeface="Calibri" pitchFamily="34" charset="-122"/>
                <a:cs typeface="Calibri" pitchFamily="34" charset="-120"/>
              </a:rPr>
              <a:t>next PC: PC + 4, or the branch target</a:t>
            </a:r>
            <a:endParaRPr lang="en-US" sz="1250" dirty="0"/>
          </a:p>
        </p:txBody>
      </p:sp>
      <p:sp>
        <p:nvSpPr>
          <p:cNvPr id="22" name="Text 20"/>
          <p:cNvSpPr txBox="1"/>
          <p:nvPr/>
        </p:nvSpPr>
        <p:spPr>
          <a:xfrm>
            <a:off x="548640" y="5120640"/>
            <a:ext cx="11094415" cy="1051560"/>
          </a:xfrm>
          <a:prstGeom prst="rect">
            <a:avLst/>
          </a:prstGeom>
          <a:noFill/>
          <a:ln/>
        </p:spPr>
        <p:txBody>
          <a:bodyPr wrap="square" lIns="0" tIns="0" rIns="0" bIns="0" rtlCol="0" anchor="ctr"/>
          <a:lstStyle/>
          <a:p>
            <a:pPr indent="0" marL="0">
              <a:buNone/>
            </a:pPr>
            <a:r>
              <a:rPr lang="en-US" sz="1450" dirty="0">
                <a:solidFill>
                  <a:srgbClr val="1B2530"/>
                </a:solidFill>
                <a:latin typeface="Calibri" pitchFamily="34" charset="0"/>
                <a:ea typeface="Calibri" pitchFamily="34" charset="-122"/>
                <a:cs typeface="Calibri" pitchFamily="34" charset="-120"/>
              </a:rPr>
              <a:t>Next to them, out of the main path: the bank of control and status registers, and the trap logic of Lecture 19. Compared with the MC68000 of the original deck there are no separate data and address registers, no condition code register and no effective-address register.</a:t>
            </a:r>
            <a:endParaRPr lang="en-US" sz="1450" dirty="0"/>
          </a:p>
        </p:txBody>
      </p:sp>
      <p:sp>
        <p:nvSpPr>
          <p:cNvPr id="23" name="Shape 21"/>
          <p:cNvSpPr/>
          <p:nvPr/>
        </p:nvSpPr>
        <p:spPr>
          <a:xfrm>
            <a:off x="8484692" y="91440"/>
            <a:ext cx="3158363" cy="274320"/>
          </a:xfrm>
          <a:prstGeom prst="rect">
            <a:avLst/>
          </a:prstGeom>
          <a:solidFill>
            <a:srgbClr val="E0F2FE"/>
          </a:solidFill>
          <a:ln w="12700">
            <a:solidFill>
              <a:srgbClr val="0369A1"/>
            </a:solidFill>
            <a:prstDash val="solid"/>
          </a:ln>
        </p:spPr>
      </p:sp>
      <p:sp>
        <p:nvSpPr>
          <p:cNvPr id="24" name="Shape 22"/>
          <p:cNvSpPr/>
          <p:nvPr/>
        </p:nvSpPr>
        <p:spPr>
          <a:xfrm>
            <a:off x="8484692" y="91440"/>
            <a:ext cx="73152" cy="274320"/>
          </a:xfrm>
          <a:prstGeom prst="rect">
            <a:avLst/>
          </a:prstGeom>
          <a:solidFill>
            <a:srgbClr val="0369A1"/>
          </a:solidFill>
          <a:ln w="12700">
            <a:solidFill>
              <a:srgbClr val="0369A1"/>
            </a:solidFill>
            <a:prstDash val="solid"/>
          </a:ln>
        </p:spPr>
      </p:sp>
      <p:pic>
        <p:nvPicPr>
          <p:cNvPr id="25" name="Image 0" descr="preencoded.png">    </p:cNvPr>
          <p:cNvPicPr>
            <a:picLocks noChangeAspect="1"/>
          </p:cNvPicPr>
          <p:nvPr/>
        </p:nvPicPr>
        <p:blipFill>
          <a:blip r:embed="rId1"/>
          <a:stretch>
            <a:fillRect/>
          </a:stretch>
        </p:blipFill>
        <p:spPr>
          <a:xfrm>
            <a:off x="8612708" y="128016"/>
            <a:ext cx="201168" cy="201168"/>
          </a:xfrm>
          <a:prstGeom prst="rect">
            <a:avLst/>
          </a:prstGeom>
        </p:spPr>
      </p:pic>
      <p:sp>
        <p:nvSpPr>
          <p:cNvPr id="26" name="Text 23"/>
          <p:cNvSpPr txBox="1"/>
          <p:nvPr/>
        </p:nvSpPr>
        <p:spPr>
          <a:xfrm>
            <a:off x="8868740" y="91440"/>
            <a:ext cx="273773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RV32 processor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processor of the PRG32 kit</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546259"/>
                <a:gridCol w="8548156"/>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Feature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ESP32-C6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Instruction set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RV32IMAC: base integer set, multiply and divide, atomics, compressed instructions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Main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32-bit RISC-V core, up to 160 MHz, four-stage pipeline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Second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low-power RISC-V core, up to 20 MHz, for tasks that run while the main core sleeps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Privilege modes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machine and user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Floating point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none: no F or D extension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Memory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512 KB of SRAM, 320 KB of ROM, external flash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On the same chip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Wi-Fi 6, Bluetooth, Thread and Zigbee radios; SPI, I2S, GPIO and timer peripherals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484692" y="91440"/>
            <a:ext cx="3158363" cy="274320"/>
          </a:xfrm>
          <a:prstGeom prst="rect">
            <a:avLst/>
          </a:prstGeom>
          <a:solidFill>
            <a:srgbClr val="E0F2FE"/>
          </a:solidFill>
          <a:ln w="12700">
            <a:solidFill>
              <a:srgbClr val="0369A1"/>
            </a:solidFill>
            <a:prstDash val="solid"/>
          </a:ln>
        </p:spPr>
      </p:sp>
      <p:sp>
        <p:nvSpPr>
          <p:cNvPr id="5" name="Shape 2"/>
          <p:cNvSpPr/>
          <p:nvPr/>
        </p:nvSpPr>
        <p:spPr>
          <a:xfrm>
            <a:off x="8484692"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612708" y="128016"/>
            <a:ext cx="201168" cy="201168"/>
          </a:xfrm>
          <a:prstGeom prst="rect">
            <a:avLst/>
          </a:prstGeom>
        </p:spPr>
      </p:pic>
      <p:sp>
        <p:nvSpPr>
          <p:cNvPr id="7" name="Text 3"/>
          <p:cNvSpPr txBox="1"/>
          <p:nvPr/>
        </p:nvSpPr>
        <p:spPr>
          <a:xfrm>
            <a:off x="8868740" y="91440"/>
            <a:ext cx="273773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RV32 processor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register of the general model has no counterpart in RISC-V?</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program counter</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status register with the flags</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stack pointer</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instruction register</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RISC-V, which instructions can read or write the main memory?</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all of them</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add and sub</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only loads and stores</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only jumps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After addi sp, sp, -4 and sw t0, 0(sp), what has happened?</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t0 was popped from the stack</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t0 was pushed on the stack</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stack was emptied</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sp was saved in t0</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an accumulator machine, the instruction ADD y means:</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y := y + accumulator</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accumulator := accumulator + [y]</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push y, then add</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y := accumulator</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00254"/>
                <a:gridCol w="2773604"/>
                <a:gridCol w="2773604"/>
                <a:gridCol w="294695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control unit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unità di controllo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accumulator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accumulatore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program counter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contatore di programma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stack pointer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puntatore allo stack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machine 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 di macchina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status register, flags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 di stato, indicatori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general / special 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 generico / speciale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supervisor / user state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stato supervisore / utente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instruction set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insieme (set) di istruzioni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privileged instruction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istruzione privilegiata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processor commands and controls, relying on the memory and on the input/output systems</a:t>
            </a:r>
            <a:endParaRPr lang="en-US" sz="2000" dirty="0"/>
          </a:p>
        </p:txBody>
      </p:sp>
      <p:sp>
        <p:nvSpPr>
          <p:cNvPr id="5" name="Shape 3"/>
          <p:cNvSpPr/>
          <p:nvPr/>
        </p:nvSpPr>
        <p:spPr>
          <a:xfrm>
            <a:off x="548640" y="227924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88312"/>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Registers are storage locations that may be physically inside or outside the processor</a:t>
            </a:r>
            <a:endParaRPr lang="en-US" sz="2000" dirty="0"/>
          </a:p>
        </p:txBody>
      </p:sp>
      <p:sp>
        <p:nvSpPr>
          <p:cNvPr id="7" name="Shape 5"/>
          <p:cNvSpPr/>
          <p:nvPr/>
        </p:nvSpPr>
        <p:spPr>
          <a:xfrm>
            <a:off x="548640" y="305023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59303"/>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kinds of registers and the way they are used determine the model of processor: accumulator, stack, general registers</a:t>
            </a:r>
            <a:endParaRPr lang="en-US" sz="2000" dirty="0"/>
          </a:p>
        </p:txBody>
      </p:sp>
      <p:sp>
        <p:nvSpPr>
          <p:cNvPr id="9" name="Shape 7"/>
          <p:cNvSpPr/>
          <p:nvPr/>
        </p:nvSpPr>
        <p:spPr>
          <a:xfrm>
            <a:off x="548640" y="382122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730295"/>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ALU carries out the operations between operands</a:t>
            </a:r>
            <a:endParaRPr lang="en-US" sz="2000" dirty="0"/>
          </a:p>
        </p:txBody>
      </p:sp>
      <p:sp>
        <p:nvSpPr>
          <p:cNvPr id="11" name="Shape 9"/>
          <p:cNvSpPr/>
          <p:nvPr/>
        </p:nvSpPr>
        <p:spPr>
          <a:xfrm>
            <a:off x="548640" y="428233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191406"/>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RISC-V is a load-store, general-register processor with no flags and no I/O instructions: few elements, each one simple</a:t>
            </a:r>
            <a:endParaRPr lang="en-US" sz="2000" dirty="0"/>
          </a:p>
        </p:txBody>
      </p:sp>
      <p:sp>
        <p:nvSpPr>
          <p:cNvPr id="13" name="Shape 11"/>
          <p:cNvSpPr/>
          <p:nvPr/>
        </p:nvSpPr>
        <p:spPr>
          <a:xfrm>
            <a:off x="548640" y="5053330"/>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62398"/>
            <a:ext cx="10710367" cy="120980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Reading</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Patterson, Hennessy: Computer Organization and Design, RISC-V Edition, chapters 2 and 4</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The RISC-V Instruction Set Manual, volume I: Unprivileged Architecture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Stallings: Computer Organization and Architecture, chapters on processor structure and function</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The Processor</dc:title>
  <dc:subject>Lecture 18</dc:subject>
  <dc:creator>Raffaele Montella</dc:creator>
  <cp:lastModifiedBy>Raffaele Montella</cp:lastModifiedBy>
  <cp:revision>1</cp:revision>
  <dcterms:created xsi:type="dcterms:W3CDTF">2026-10-16T20:22:25Z</dcterms:created>
  <dcterms:modified xsi:type="dcterms:W3CDTF">2026-10-16T20:22:25Z</dcterms:modified>
</cp:coreProperties>
</file>