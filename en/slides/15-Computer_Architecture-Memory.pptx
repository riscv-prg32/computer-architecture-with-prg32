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c386ef6-c373-d4b9-e4d0-176f5047e674}">
          <p14:sldIdLst>
            <p14:sldId id="256"/>
            <p14:sldId id="257"/>
          </p14:sldIdLst>
        </p14:section>
        <p14:section name="What is a memory?" id="{5a968151-379a-7aa0-2b92-981c16d96916}">
          <p14:sldIdLst>
            <p14:sldId id="258"/>
            <p14:sldId id="259"/>
          </p14:sldIdLst>
        </p14:section>
        <p14:section name="A little history" id="{f285cb49-f79e-1500-b456-27687fd5cd6c}">
          <p14:sldIdLst>
            <p14:sldId id="260"/>
            <p14:sldId id="261"/>
          </p14:sldIdLst>
        </p14:section>
        <p14:section name="Memory today" id="{4d32450f-30a8-b18d-72b2-ce3ce47e4fcb}">
          <p14:sldIdLst>
            <p14:sldId id="262"/>
            <p14:sldId id="263"/>
          </p14:sldIdLst>
        </p14:section>
        <p14:section name="The main memory" id="{ccf5a06c-fe3b-4c86-1db9-4e4b0e3c3331}">
          <p14:sldIdLst>
            <p14:sldId id="264"/>
            <p14:sldId id="265"/>
            <p14:sldId id="266"/>
            <p14:sldId id="267"/>
          </p14:sldIdLst>
        </p14:section>
        <p14:section name="Processor and memory" id="{45fc9fbc-5b26-f9d8-e4f8-4592e3ffe471}">
          <p14:sldIdLst>
            <p14:sldId id="268"/>
            <p14:sldId id="269"/>
          </p14:sldIdLst>
        </p14:section>
        <p14:section name="Memory and input/output" id="{fd50d3b3-04fa-5cb2-fc51-cb8acef25790}">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used memory since the second lecture: every lw and sw reads or writes it. This lecture explains what a memory is, how it is organised, and what actually happens between the processor and the memory when a load is executed. The picture on the cover is the debugger of PRG32-QT, whose memory view will serve as your microscope. The quotation from Tron is a joke with a serious side: a machine with memory can keep a state, and with a state it can do almost anything.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memories and addresses; little-endian byte order; processor and memory; memory-mapped I/O. USE NOW: the complete program, the PRG32 tools (used, not studied, in this course). UNDERSTAND LATER: nothing. A slide without a badge is context: a story, an example, a question, an exercise.
For the lecturer: Spiral: lw and lbu on the same word show byte addresses and byte order on a real RISC-V machine; the lecture then explains what a memory is, how it is organised and how the processor talks to it. The original deck used the MC68000 (big-endian, no misaligned words) as its example: RISC-V takes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Classify memories as volatile or persistent, on-line or off-line, and place them in a hierarchy. Describe how SRAM and DRAM store a bit and why they have different uses. Explain words, addresses and byte-addressable memory. Tell little-endian from big-endian order. Describe step by step how the processor reads and writes a word. And explain what memory-mapped input/output and DMA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the part of a computer dedicated to keeping data and the instructions of programs. Two distinctions classify it. Volatile memories keep the information only while the machine is powered; persistent ones keep it when it is switched off. On-line means that the data are always accessible; off-line means that a medium must first be mounted, like a tape taken from a shelf.
UNDERSTAND NOW: memories and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hierarchy. At the top the registers, inside the processor; then the cache, the main memory, solid-state and magnetic disks, and finally tapes and removable media. Going up, memories are faster and more expensive per bit; going down, larger and cheaper. The upper levels are volatile, the lower ones persistent. The last line explains why the hierarchy exists: no single technology is fast, large and cheap at once, so a computer combines several.
UNDERSTAND NOW: memories and addresses.
For the lecturer: Tipologie di memoria. Typical access times: registers and cache below a nanosecond to a few nanoseconds; DRAM tens of nanoseconds; SSD tens of microseconds; magnetic disks milliseconds; tape seconds to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magnetic-core memory each bit is a small ring of ferrite, and its value is the direction of the magnetic field in the ring. It was the main memory of the computers of the 1950s and 1960s, and it kept its content without power. The research began with An Wang at Harvard in 1949; Jay Forrester at MIT made it practical for the Whirlwind computer. Look at the photograph: every ring is threaded by wires, and one ring is one bit.
For the lecturer: Memorie a nuclei di ferrite. Wang's pulse transfer controlling device used a magnetic field to control an electromechanical system.
Pictures: HP 9101A extended memory unit.- magnetic core memory module - macro detail.jpg, Mister rf,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 core is read and written. Two wires, X and Y, select one ring. Reading sets the selected bit to 0: if it contained a 1 a pulse appears on the sense wire, otherwise nothing. So reading destroys the content, and every read is followed by a write that stores the datum again. Writing sets the selected core to 1, unless an inhibit wire prevents it. Keep the idea of the destructive read followed by a rewrite: it returns in today's DRAM.
For the lecturer: Sense and inhibit share one wire (S|I). Destructive read followed by rewrite returns today in DRAM.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RAM. In static RAM each bit is held by a bistable circuit like those of Lecture 13: it keeps its value as long as there is power, it is fast, and it needs several transistors per bit, so it is expensive: it is used for caches. In dynamic RAM each bit is a charge in a tiny capacitor behind one transistor: it is dense and cheap, but the charge leaks away, so the content must be refreshed periodically: it is the main memory of laptops and phones. The chip of the kit has only SRAM.
UNDERSTAND NOW: memories and addresses.
For the lecturer: DDR4 and DDR5 are generations of SDRAM. The ESP32-C6 has 512 KB of SRAM and no DRAM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technologies. Ferroelectric RAM keeps its state without power. Flash memory is persistent and is erased in blocks: it is the memory of USB keys, phones and solid-state disks. One line concerns your kit directly: in a microcontroller the program lives in flash and the variables in SRAM. That is why your cartridges have a section of constants and a section of variables. The memory modules of a PC have gone, over the years, from a few megabytes to tens of gigabytes each.
UNDERSTAND NOW: memories and addresses.
For the lecturer: The module pictures of the original deck (SIMM EDO, SDRAM PC100 32 MB, PC133 64 MB, Rambus PC800 128 MB, DDR PC2100, ECC registered 256 MB) are summarised here. Flash and solid-state disks are treated in the next lecture.
Pictures: Platinen-001 hg.jpg, Hannes Grobe,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memory is an array of words, each a string of m bits that the processor reads or writes in a single operation. Each word has an address, a number from 0 to N minus 1 written on n bits, with N equal to 2 to the n. The address is a code word, and the memory decodes it. Random access means that the access time does not depend on the position: every word is reached equally fast. Thirty-two address bits give four gibibytes of addresses.
UNDERSTAND NOW: memories and addresses.
For the lecturer: Thirty-two address bits give 2^32 addresses: 4 GiB. The decoder of Lecture 11 and the small memory of Lecture 14, scaled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byte-addressable memory the smallest unit with an address is the byte. A word of 32 bits therefore occupies four consecutive addresses, and its address is that of its first byte. The strip shows the word of the warm-up followed by three characters. Two consequences that you have already met: the program counter advances by 4 from one instruction to the next, and the index of an array of words is multiplied by 4. RISC-V has loads and stores for each size: bytes, halfwords and words.
UNDERSTAND NOW: memories and addresses.
For the lecturer: Each cell is one byte of eight bits, from the most significant (bit 7) to the least significant (bit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orders of the bytes of a word. Little-endian: the least significant byte at the lowest address. Big-endian: the most significant byte first. The same word, 0x10A3E6FF, is shown stored in the two ways. RISC-V is little-endian, like almost every processor in use today; network protocols, for historical reasons, send data big-endian. You notice the difference when you look at memory byte by byte, or when two different machines exchange binary data.
UNDERSTAND NOW: little-endian byte order.
For the lecturer: The original deck contrasted the MC68000 (big-endian) with Intel x86 (little-endian); the example values are the same. Also called diretto (little) and inverso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parameters describe a memory: the capacity, the number of locations and the bits of each, and the access time. The numbers of the kit are worth remembering: 512 KB of SRAM, 320 KB of ROM, and an external flash of a few megabytes. Of these, the PRG32 menu tells you what is left for your programs: about 98 KB of RAM and 509 KB of flash for cartridges. It is eight times a Commodore 64, and a tiny fraction of a laptop.
UNDERSTAND NOW: memories and addresses.
For the lecturer: Values from the ESP32-C6 datasheet and from the PRG32 setup screen (RAM 98K, CART FLASH 509K, CART RAM 32K). A Commodore 64 had 64 KB in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Inside the processor two registers face the memory: MA, the memory address register, and MB, the memory buffer register. Three groups of lines connect them to the memory: the address bus, which goes one way, from the processor to the memory; the data bus, which goes both ways; and the control lines, read enable and write enable, which say what is being requested. MA and MB belong to the model of the processor: they are not among the registers you use in assembly.
UNDERSTAND NOW: processor and memory.
For the lecturer: MA and MB are internal registers of the textbook processor model (Lecture 18): they are not among the thirty-two registers a RISC-V programmer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the processor and the memory agree on when the datum is ready? In the asynchronous technique the memory signals with a line when it has finished, and the processor waits: more complex, but the two can be designed independently. In the synchronous technique a clock paces the operation, which completes within a cycle whose length is chosen according to the speed of the memory: simpler, and the rule inside a single chip.
UNDERSTAND NOW: processor and memory.
For the lecturer: The read/write operation itself can be coded in different ways, for example a single R/W line qualified by an enable.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input and output. With a single bus, memory-mapped I/O, memory and devices share the same address space: a register of a device is read and written like a memory location, with no special instructions. With separate buses, isolated I/O, there are two address spaces and dedicated instructions. RISC-V follows the first way: it has no input or output instructions at all, only loads and stores.
UNDERSTAND NOW: memory-mapped I/O.
For the lecturer: The I/O subsystem lets the processor interact with input devices (keyboard, mouse), output devices (screen, printer) and input/output devices (mass storage, network cards, serial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 is in fact three buses: data, address and control. One more mechanism completes the picture. With direct memory access, DMA, a device exchanges whole blocks of data with the memory directly: the processor starts the transfer and is told when it is over, without copying each word itself. The display of the kit receives every frame in this way, and so does the audio amplifier.
UNDERSTAND NOW: memory-mapped I/O.
For the lecturer: If several units share the bus and can access the memory directly, a DMA controller arbitrates. On the ESP32-C6 the SPI and I2S peripherals use DMA to stream the frame buffer and the audio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address lines select 2 to the 16 locations, and each location is one byte. Remember that 2 to the 10 is 1,024, a kibibyte.
Little-endian: which byte of 0xCAFE0001 is the least significant? That byte is at the lowest address, and lbu with offset 0 reads it.
For the lecturer: 1. Answer: C. 2^16 = 65,536 locations of one byte: 64 KiB, the address space of a Commodore 64.
2. Answer: D. Little-endian: the least significant byte, 0x01, is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how DRAM stores a bit: a charge in a tiny capacitor. What happens to a charge left alone? The refresh has nothing to do with speed or with random access.
RISC-V has no out instruction and no thirty-third register. Devices have addresses, and a program reaches them with the instructions it uses for memory.
For the lecturer: 1. Answer: A. Each bit is a charge in a capacitor that leaks away; a circuit inside the memory rewrites every cell periodically.
2. Answer: B. RISC-V has no I/O instructions: devices are memory-mapped and reached with ordinary loads and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Main memory is memoria centrale. Access time is tempo di accesso. A magnetic core is a nucleo di ferrite. Refresh is the periodic rewriting of a DRAM. Memory-mapped I/O is input/output reached through memory addresses. The address bus and the data bus are the two main groups of lines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Memory is the component that keeps the state of data. Different kinds serve different purposes, because none is fast, large and cheap together. Data are stored as words with addresses; RISC-V addresses bytes and orders them little-endian. Access happens by selection on the address bus, transfer on the data bus and control lines. And in RISC-V devices are reached like memory. The next lecture treats the memory that survives when the power is off, and the cache.
Learning status, recap. UNDERSTAND NOW: memories and addresses; little-endian byte order; processor and memory; memory-mapped I/O. USE NOW: the complete program, the PRG32 tools (used, not studied, in this course). UNDERSTAND LATER: nothing. A slide without a badge is context: a story, an example, a question, an exercise.
For the lecturer: Next lecture: permanent memory and the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15: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magnetic cores to RAM: words, addresses, byte order and the dialogue between processor and memory</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“...computers and the programs will start thinking and the people will stop.”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Walter Gibbs, Tron, Steven Lisberger, 1982</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15-Computer_Architecture-Memory-Code.pptx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Classify memories: volatile or persistent, on-line or off-line, and place them in the memory hierarchy</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SRAM and DRAM store a bit, and why they are used for different jobs</a:t>
            </a:r>
            <a:endParaRPr lang="en-US" sz="2200" dirty="0"/>
          </a:p>
        </p:txBody>
      </p:sp>
      <p:sp>
        <p:nvSpPr>
          <p:cNvPr id="7" name="Text 5"/>
          <p:cNvSpPr txBox="1"/>
          <p:nvPr/>
        </p:nvSpPr>
        <p:spPr>
          <a:xfrm>
            <a:off x="548640" y="34533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3509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words, addresses and byte-addressable memory are</a:t>
            </a:r>
            <a:endParaRPr lang="en-US" sz="2200" dirty="0"/>
          </a:p>
        </p:txBody>
      </p:sp>
      <p:sp>
        <p:nvSpPr>
          <p:cNvPr id="9" name="Text 7"/>
          <p:cNvSpPr txBox="1"/>
          <p:nvPr/>
        </p:nvSpPr>
        <p:spPr>
          <a:xfrm>
            <a:off x="548640" y="42194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011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little-endian from big-endian order, and say which one RISC-V uses</a:t>
            </a:r>
            <a:endParaRPr lang="en-US" sz="2200" dirty="0"/>
          </a:p>
        </p:txBody>
      </p:sp>
      <p:sp>
        <p:nvSpPr>
          <p:cNvPr id="11" name="Text 9"/>
          <p:cNvSpPr txBox="1"/>
          <p:nvPr/>
        </p:nvSpPr>
        <p:spPr>
          <a:xfrm>
            <a:off x="548640" y="4985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67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step by step how the processor reads and writes a word</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memory-mapped input/output and what DMA is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memory is the element of a computer, or of one of its subsystems, dedicated to the persistence of data and of the instructions of programs.</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Memories are the components of a computer able to store information: data, programs and results</a:t>
            </a:r>
            <a:endParaRPr lang="en-US" sz="2200" dirty="0"/>
          </a:p>
        </p:txBody>
      </p:sp>
      <p:sp>
        <p:nvSpPr>
          <p:cNvPr id="8" name="Shape 6"/>
          <p:cNvSpPr/>
          <p:nvPr/>
        </p:nvSpPr>
        <p:spPr>
          <a:xfrm>
            <a:off x="548640" y="4386157"/>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27973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Volatile: the information is kept only as long as the computer is powered</a:t>
            </a:r>
            <a:endParaRPr lang="en-US" sz="2200" dirty="0"/>
          </a:p>
        </p:txBody>
      </p:sp>
      <p:sp>
        <p:nvSpPr>
          <p:cNvPr id="10" name="Shape 8"/>
          <p:cNvSpPr/>
          <p:nvPr/>
        </p:nvSpPr>
        <p:spPr>
          <a:xfrm>
            <a:off x="548640" y="499152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88509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Persistent: the information is kept even when the computer is switched off</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On-line: the data are always accessible. Off-line: the medium must be mounted before the data can be reached</a:t>
            </a:r>
            <a:endParaRPr lang="en-US" sz="22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memory hierarchy</a:t>
            </a:r>
            <a:endParaRPr lang="en-US" sz="3200" dirty="0"/>
          </a:p>
        </p:txBody>
      </p:sp>
      <p:sp>
        <p:nvSpPr>
          <p:cNvPr id="3" name="Text 1"/>
          <p:cNvSpPr txBox="1"/>
          <p:nvPr/>
        </p:nvSpPr>
        <p:spPr>
          <a:xfrm>
            <a:off x="2560320" y="1463040"/>
            <a:ext cx="2011680" cy="786384"/>
          </a:xfrm>
          <a:prstGeom prst="roundRect">
            <a:avLst>
              <a:gd name="adj" fmla="val 6977"/>
            </a:avLst>
          </a:prstGeom>
          <a:solidFill>
            <a:srgbClr val="B23A48"/>
          </a:solidFill>
          <a:ln>
            <a:solidFill>
              <a:srgbClr val="B23A48"/>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inside the processor</a:t>
            </a:r>
            <a:endParaRPr lang="en-US" sz="1500" dirty="0"/>
          </a:p>
        </p:txBody>
      </p:sp>
      <p:sp>
        <p:nvSpPr>
          <p:cNvPr id="4" name="Text 2"/>
          <p:cNvSpPr txBox="1"/>
          <p:nvPr/>
        </p:nvSpPr>
        <p:spPr>
          <a:xfrm>
            <a:off x="2080260" y="2359152"/>
            <a:ext cx="2971800" cy="786384"/>
          </a:xfrm>
          <a:prstGeom prst="roundRect">
            <a:avLst>
              <a:gd name="adj" fmla="val 6977"/>
            </a:avLst>
          </a:prstGeom>
          <a:solidFill>
            <a:srgbClr val="C7791B"/>
          </a:solidFill>
          <a:ln>
            <a:solidFill>
              <a:srgbClr val="C7791B"/>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cache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SRAM, on the processor chip</a:t>
            </a:r>
            <a:endParaRPr lang="en-US" sz="1500" dirty="0"/>
          </a:p>
        </p:txBody>
      </p:sp>
      <p:sp>
        <p:nvSpPr>
          <p:cNvPr id="5" name="Text 3"/>
          <p:cNvSpPr txBox="1"/>
          <p:nvPr/>
        </p:nvSpPr>
        <p:spPr>
          <a:xfrm>
            <a:off x="1600200" y="3255264"/>
            <a:ext cx="3931920" cy="786384"/>
          </a:xfrm>
          <a:prstGeom prst="roundRect">
            <a:avLst>
              <a:gd name="adj" fmla="val 6977"/>
            </a:avLst>
          </a:prstGeom>
          <a:solidFill>
            <a:srgbClr val="0E7C86"/>
          </a:solidFill>
          <a:ln>
            <a:solidFill>
              <a:srgbClr val="0E7C86"/>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main memory</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DRAM</a:t>
            </a:r>
            <a:endParaRPr lang="en-US" sz="1500" dirty="0"/>
          </a:p>
        </p:txBody>
      </p:sp>
      <p:sp>
        <p:nvSpPr>
          <p:cNvPr id="6" name="Text 4"/>
          <p:cNvSpPr txBox="1"/>
          <p:nvPr/>
        </p:nvSpPr>
        <p:spPr>
          <a:xfrm>
            <a:off x="1120140" y="4151376"/>
            <a:ext cx="4892040" cy="786384"/>
          </a:xfrm>
          <a:prstGeom prst="roundRect">
            <a:avLst>
              <a:gd name="adj" fmla="val 6977"/>
            </a:avLst>
          </a:prstGeom>
          <a:solidFill>
            <a:srgbClr val="2E4A62"/>
          </a:solidFill>
          <a:ln>
            <a:solidFill>
              <a:srgbClr val="2E4A62"/>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solid-state and magnetic disks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on-line</a:t>
            </a:r>
            <a:endParaRPr lang="en-US" sz="1500" dirty="0"/>
          </a:p>
        </p:txBody>
      </p:sp>
      <p:sp>
        <p:nvSpPr>
          <p:cNvPr id="7" name="Text 5"/>
          <p:cNvSpPr txBox="1"/>
          <p:nvPr/>
        </p:nvSpPr>
        <p:spPr>
          <a:xfrm>
            <a:off x="640080" y="5047488"/>
            <a:ext cx="5852160" cy="786384"/>
          </a:xfrm>
          <a:prstGeom prst="roundRect">
            <a:avLst>
              <a:gd name="adj" fmla="val 6977"/>
            </a:avLst>
          </a:prstGeom>
          <a:solidFill>
            <a:srgbClr val="6B4FA0"/>
          </a:solidFill>
          <a:ln>
            <a:solidFill>
              <a:srgbClr val="6B4FA0"/>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tapes and removable media</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off-line</a:t>
            </a:r>
            <a:endParaRPr lang="en-US" sz="1500" dirty="0"/>
          </a:p>
        </p:txBody>
      </p:sp>
      <p:sp>
        <p:nvSpPr>
          <p:cNvPr id="8" name="Shape 6"/>
          <p:cNvSpPr/>
          <p:nvPr/>
        </p:nvSpPr>
        <p:spPr>
          <a:xfrm flipV="1">
            <a:off x="6675120" y="1554480"/>
            <a:ext cx="0" cy="4206240"/>
          </a:xfrm>
          <a:prstGeom prst="line">
            <a:avLst/>
          </a:prstGeom>
          <a:noFill/>
          <a:ln w="31750">
            <a:solidFill>
              <a:srgbClr val="5B6B78"/>
            </a:solidFill>
            <a:prstDash val="solid"/>
            <a:tailEnd type="triangle"/>
          </a:ln>
        </p:spPr>
      </p:sp>
      <p:sp>
        <p:nvSpPr>
          <p:cNvPr id="9" name="Text 7"/>
          <p:cNvSpPr txBox="1"/>
          <p:nvPr/>
        </p:nvSpPr>
        <p:spPr>
          <a:xfrm>
            <a:off x="6812280" y="150876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faster,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more expensive</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0" name="Text 8"/>
          <p:cNvSpPr txBox="1"/>
          <p:nvPr/>
        </p:nvSpPr>
        <p:spPr>
          <a:xfrm>
            <a:off x="6812280" y="502920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larger,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cheaper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1" name="Shape 9"/>
          <p:cNvSpPr/>
          <p:nvPr/>
        </p:nvSpPr>
        <p:spPr>
          <a:xfrm>
            <a:off x="8412480" y="1515999"/>
            <a:ext cx="146304" cy="146304"/>
          </a:xfrm>
          <a:prstGeom prst="rect">
            <a:avLst/>
          </a:prstGeom>
          <a:solidFill>
            <a:srgbClr val="0E7C86"/>
          </a:solidFill>
          <a:ln w="12700">
            <a:solidFill>
              <a:srgbClr val="0E7C86"/>
            </a:solidFill>
            <a:prstDash val="solid"/>
          </a:ln>
        </p:spPr>
      </p:sp>
      <p:sp>
        <p:nvSpPr>
          <p:cNvPr id="12" name="Text 10"/>
          <p:cNvSpPr txBox="1"/>
          <p:nvPr/>
        </p:nvSpPr>
        <p:spPr>
          <a:xfrm>
            <a:off x="8796528" y="1417320"/>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the same size, cost decreases from top to bottom</a:t>
            </a:r>
            <a:endParaRPr lang="en-US" sz="2100" dirty="0"/>
          </a:p>
        </p:txBody>
      </p:sp>
      <p:sp>
        <p:nvSpPr>
          <p:cNvPr id="13" name="Shape 11"/>
          <p:cNvSpPr/>
          <p:nvPr/>
        </p:nvSpPr>
        <p:spPr>
          <a:xfrm>
            <a:off x="8412480" y="2667127"/>
            <a:ext cx="146304" cy="146304"/>
          </a:xfrm>
          <a:prstGeom prst="rect">
            <a:avLst/>
          </a:prstGeom>
          <a:solidFill>
            <a:srgbClr val="C7791B"/>
          </a:solidFill>
          <a:ln w="12700">
            <a:solidFill>
              <a:srgbClr val="C7791B"/>
            </a:solidFill>
            <a:prstDash val="solid"/>
          </a:ln>
        </p:spPr>
      </p:sp>
      <p:sp>
        <p:nvSpPr>
          <p:cNvPr id="14" name="Text 12"/>
          <p:cNvSpPr txBox="1"/>
          <p:nvPr/>
        </p:nvSpPr>
        <p:spPr>
          <a:xfrm>
            <a:off x="8796528" y="2568448"/>
            <a:ext cx="284652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increases from bottom to top</a:t>
            </a:r>
            <a:endParaRPr lang="en-US" sz="2100" dirty="0"/>
          </a:p>
        </p:txBody>
      </p:sp>
      <p:sp>
        <p:nvSpPr>
          <p:cNvPr id="15" name="Shape 13"/>
          <p:cNvSpPr/>
          <p:nvPr/>
        </p:nvSpPr>
        <p:spPr>
          <a:xfrm>
            <a:off x="8412480" y="3492881"/>
            <a:ext cx="146304" cy="146304"/>
          </a:xfrm>
          <a:prstGeom prst="rect">
            <a:avLst/>
          </a:prstGeom>
          <a:solidFill>
            <a:srgbClr val="0E7C86"/>
          </a:solidFill>
          <a:ln w="12700">
            <a:solidFill>
              <a:srgbClr val="0E7C86"/>
            </a:solidFill>
            <a:prstDash val="solid"/>
          </a:ln>
        </p:spPr>
      </p:sp>
      <p:sp>
        <p:nvSpPr>
          <p:cNvPr id="16" name="Text 14"/>
          <p:cNvSpPr txBox="1"/>
          <p:nvPr/>
        </p:nvSpPr>
        <p:spPr>
          <a:xfrm>
            <a:off x="8796528" y="3394202"/>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upper levels are volatile; the lower ones are persistent</a:t>
            </a:r>
            <a:endParaRPr lang="en-US" sz="2100" dirty="0"/>
          </a:p>
        </p:txBody>
      </p:sp>
      <p:sp>
        <p:nvSpPr>
          <p:cNvPr id="17" name="Shape 15"/>
          <p:cNvSpPr/>
          <p:nvPr/>
        </p:nvSpPr>
        <p:spPr>
          <a:xfrm>
            <a:off x="8412480" y="4644009"/>
            <a:ext cx="146304" cy="146304"/>
          </a:xfrm>
          <a:prstGeom prst="rect">
            <a:avLst/>
          </a:prstGeom>
          <a:solidFill>
            <a:srgbClr val="C7791B"/>
          </a:solidFill>
          <a:ln w="12700">
            <a:solidFill>
              <a:srgbClr val="C7791B"/>
            </a:solidFill>
            <a:prstDash val="solid"/>
          </a:ln>
        </p:spPr>
      </p:sp>
      <p:sp>
        <p:nvSpPr>
          <p:cNvPr id="18" name="Text 16"/>
          <p:cNvSpPr txBox="1"/>
          <p:nvPr/>
        </p:nvSpPr>
        <p:spPr>
          <a:xfrm>
            <a:off x="8796528" y="4545330"/>
            <a:ext cx="2846527" cy="16268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 single technology is fast, large and cheap at once: a computer combines several</a:t>
            </a:r>
            <a:endParaRPr lang="en-US" sz="2100" dirty="0"/>
          </a:p>
        </p:txBody>
      </p:sp>
      <p:sp>
        <p:nvSpPr>
          <p:cNvPr id="19" name="Shape 17"/>
          <p:cNvSpPr/>
          <p:nvPr/>
        </p:nvSpPr>
        <p:spPr>
          <a:xfrm>
            <a:off x="8222056" y="91440"/>
            <a:ext cx="3420999" cy="274320"/>
          </a:xfrm>
          <a:prstGeom prst="rect">
            <a:avLst/>
          </a:prstGeom>
          <a:solidFill>
            <a:srgbClr val="E0F2FE"/>
          </a:solidFill>
          <a:ln w="12700">
            <a:solidFill>
              <a:srgbClr val="0369A1"/>
            </a:solidFill>
            <a:prstDash val="solid"/>
          </a:ln>
        </p:spPr>
      </p:sp>
      <p:sp>
        <p:nvSpPr>
          <p:cNvPr id="20" name="Shape 18"/>
          <p:cNvSpPr/>
          <p:nvPr/>
        </p:nvSpPr>
        <p:spPr>
          <a:xfrm>
            <a:off x="8222056"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2" name="Text 19"/>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Magnetic-core memory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magnetic rings of ceramic store the digital information: a bit is the direction of the magnetic field of a ring</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static memory: it keeps its contents without power</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Used in the first computers, before semiconductor memories became widespread</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First research by An Wang and Way-Dong Woo at Harvard, 1949</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Jay Forrester at MIT, early 1950s: the Whirlwind computer, a flight simulator</a:t>
            </a:r>
            <a:endParaRPr lang="en-US" sz="2200" dirty="0"/>
          </a:p>
        </p:txBody>
      </p:sp>
      <p:pic>
        <p:nvPicPr>
          <p:cNvPr id="13" name="Image 0" descr="/Users/raffaelemontella/devel/riscv-prg32/computer-architecture-with-prg32/tools/assets/core_memory.jpg">    </p:cNvPr>
          <p:cNvPicPr>
            <a:picLocks noChangeAspect="1"/>
          </p:cNvPicPr>
          <p:nvPr/>
        </p:nvPicPr>
        <p:blipFill>
          <a:blip r:embed="rId1"/>
          <a:stretch>
            <a:fillRect/>
          </a:stretch>
        </p:blipFill>
        <p:spPr>
          <a:xfrm>
            <a:off x="7863840" y="2030365"/>
            <a:ext cx="3779215" cy="307159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Ferrite cores threaded by the X, Y and sense wires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and writing a core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Reading is destructive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Two address lines, X and Y, select one core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selected bit is set to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it contained 1, a pulse appears on the sense line; otherwise nothing</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Wang's solution: every read is followed by a write that stores the datum again</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Writing</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the bits start at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X and Y select the core, which is set to 1</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the bit must be 0, the inhibit line prevents the change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Forrester's contribution: fewer connections to manage a large number of cores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SRAM and DRAM</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SRAM: static RAM</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held by a bistable circuit, as in a D flip-flop</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cells are arranged in a matrix and reached by row and column</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Keeps its contents as long as it is powered</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Fast and expensive: used for cache memories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main memory of a microcontroller such as the ESP32-C6 is SRAM</a:t>
            </a:r>
            <a:endParaRPr lang="en-US" sz="18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DRAM: dynamic RAM</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a charge in a tiny capacitor, behind one transistor</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capacitor discharges: the contents must be refreshed periodically, by a circuit inside the memory</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Cheap and dense: used for the main memory of laptops, phones and servers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SDRAM: synchronous DRAM, whose access is governed by a clock</a:t>
            </a:r>
            <a:endParaRPr lang="en-US" sz="1800" dirty="0"/>
          </a:p>
        </p:txBody>
      </p:sp>
      <p:sp>
        <p:nvSpPr>
          <p:cNvPr id="9" name="Shape 7"/>
          <p:cNvSpPr/>
          <p:nvPr/>
        </p:nvSpPr>
        <p:spPr>
          <a:xfrm>
            <a:off x="8222056" y="91440"/>
            <a:ext cx="3420999" cy="274320"/>
          </a:xfrm>
          <a:prstGeom prst="rect">
            <a:avLst/>
          </a:prstGeom>
          <a:solidFill>
            <a:srgbClr val="E0F2FE"/>
          </a:solidFill>
          <a:ln w="12700">
            <a:solidFill>
              <a:srgbClr val="0369A1"/>
            </a:solidFill>
            <a:prstDash val="solid"/>
          </a:ln>
        </p:spPr>
      </p:sp>
      <p:sp>
        <p:nvSpPr>
          <p:cNvPr id="10" name="Shape 8"/>
          <p:cNvSpPr/>
          <p:nvPr/>
        </p:nvSpPr>
        <p:spPr>
          <a:xfrm>
            <a:off x="8222056"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2" name="Text 9"/>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Other memories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FeRAM, ferroelectric RAM: keeps its state without power</a:t>
            </a:r>
            <a:endParaRPr lang="en-US" sz="2400" dirty="0"/>
          </a:p>
        </p:txBody>
      </p:sp>
      <p:sp>
        <p:nvSpPr>
          <p:cNvPr id="5" name="Shape 3"/>
          <p:cNvSpPr/>
          <p:nvPr/>
        </p:nvSpPr>
        <p:spPr>
          <a:xfrm>
            <a:off x="548640" y="25265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04618"/>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Flash: persistent, erased in blocks; the memory of USB keys, phones and solid-state disks</a:t>
            </a:r>
            <a:endParaRPr lang="en-US" sz="2400" dirty="0"/>
          </a:p>
        </p:txBody>
      </p:sp>
      <p:sp>
        <p:nvSpPr>
          <p:cNvPr id="7" name="Shape 5"/>
          <p:cNvSpPr/>
          <p:nvPr/>
        </p:nvSpPr>
        <p:spPr>
          <a:xfrm>
            <a:off x="548640" y="38856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37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program of a microcontroller lives in flash and its variables in SRAM</a:t>
            </a:r>
            <a:endParaRPr lang="en-US" sz="2400" dirty="0"/>
          </a:p>
        </p:txBody>
      </p:sp>
      <p:sp>
        <p:nvSpPr>
          <p:cNvPr id="9" name="Shape 7"/>
          <p:cNvSpPr/>
          <p:nvPr/>
        </p:nvSpPr>
        <p:spPr>
          <a:xfrm>
            <a:off x="548640" y="48729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1070"/>
            <a:ext cx="6565392"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Memory modules through the years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SIMM, SDRAM PC100 and PC133, Rambus, DDR: tens to hundreds of megabytes each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today: DDR5 modules of 16 to 64 GB</a:t>
            </a:r>
            <a:endParaRPr lang="en-US" sz="2400" dirty="0"/>
          </a:p>
        </p:txBody>
      </p:sp>
      <p:pic>
        <p:nvPicPr>
          <p:cNvPr id="11" name="Image 0" descr="/Users/raffaelemontella/devel/riscv-prg32/computer-architecture-with-prg32/tools/assets/ram_modules.jpg">    </p:cNvPr>
          <p:cNvPicPr>
            <a:picLocks noChangeAspect="1"/>
          </p:cNvPicPr>
          <p:nvPr/>
        </p:nvPicPr>
        <p:blipFill>
          <a:blip r:embed="rId1"/>
          <a:stretch>
            <a:fillRect/>
          </a:stretch>
        </p:blipFill>
        <p:spPr>
          <a:xfrm>
            <a:off x="7863840" y="2323153"/>
            <a:ext cx="3779215" cy="2486015"/>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Memory modules of different generations</a:t>
            </a:r>
            <a:endParaRPr lang="en-US" sz="1200" dirty="0"/>
          </a:p>
        </p:txBody>
      </p:sp>
      <p:sp>
        <p:nvSpPr>
          <p:cNvPr id="13" name="Shape 10"/>
          <p:cNvSpPr/>
          <p:nvPr/>
        </p:nvSpPr>
        <p:spPr>
          <a:xfrm>
            <a:off x="8222056" y="91440"/>
            <a:ext cx="3420999" cy="274320"/>
          </a:xfrm>
          <a:prstGeom prst="rect">
            <a:avLst/>
          </a:prstGeom>
          <a:solidFill>
            <a:srgbClr val="E0F2FE"/>
          </a:solidFill>
          <a:ln w="12700">
            <a:solidFill>
              <a:srgbClr val="0369A1"/>
            </a:solidFill>
            <a:prstDash val="solid"/>
          </a:ln>
        </p:spPr>
      </p:sp>
      <p:sp>
        <p:nvSpPr>
          <p:cNvPr id="14" name="Shape 11"/>
          <p:cNvSpPr/>
          <p:nvPr/>
        </p:nvSpPr>
        <p:spPr>
          <a:xfrm>
            <a:off x="8222056"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350072" y="128016"/>
            <a:ext cx="201168" cy="201168"/>
          </a:xfrm>
          <a:prstGeom prst="rect">
            <a:avLst/>
          </a:prstGeom>
        </p:spPr>
      </p:pic>
      <p:sp>
        <p:nvSpPr>
          <p:cNvPr id="16" name="Text 1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Words and addresses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main memory is an array of words; a word is a string of m bits</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accesses the m bits of a word with a single read or write operation</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word is identified by an address: an integer between 0 and N - 1, represented on n bits, with N = 2^n</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Random access memory, RAM: the access time does not depend on the position of the datum</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Word processors access memory with a parallelism equal to the word length: 16, 32 or 64 bits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 2^n</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address bits select one of N locations: the address is a code word, the memory decodes it</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Byte-addressable memory</a:t>
            </a:r>
            <a:endParaRPr lang="en-US" sz="3200" dirty="0"/>
          </a:p>
        </p:txBody>
      </p:sp>
      <p:sp>
        <p:nvSpPr>
          <p:cNvPr id="3" name="Text 1"/>
          <p:cNvSpPr txBox="1"/>
          <p:nvPr/>
        </p:nvSpPr>
        <p:spPr>
          <a:xfrm>
            <a:off x="548640" y="1828800"/>
            <a:ext cx="2377440"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address</a:t>
            </a:r>
            <a:endParaRPr lang="en-US" sz="1300" dirty="0"/>
          </a:p>
        </p:txBody>
      </p:sp>
      <p:sp>
        <p:nvSpPr>
          <p:cNvPr id="4" name="Text 2"/>
          <p:cNvSpPr txBox="1"/>
          <p:nvPr/>
        </p:nvSpPr>
        <p:spPr>
          <a:xfrm>
            <a:off x="310896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78</a:t>
            </a:r>
            <a:endParaRPr lang="en-US" sz="2200" dirty="0"/>
          </a:p>
        </p:txBody>
      </p:sp>
      <p:sp>
        <p:nvSpPr>
          <p:cNvPr id="5" name="Text 3"/>
          <p:cNvSpPr txBox="1"/>
          <p:nvPr/>
        </p:nvSpPr>
        <p:spPr>
          <a:xfrm>
            <a:off x="31089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A+0</a:t>
            </a:r>
            <a:endParaRPr lang="en-US" sz="1050" dirty="0"/>
          </a:p>
        </p:txBody>
      </p:sp>
      <p:sp>
        <p:nvSpPr>
          <p:cNvPr id="6" name="Text 4"/>
          <p:cNvSpPr txBox="1"/>
          <p:nvPr/>
        </p:nvSpPr>
        <p:spPr>
          <a:xfrm>
            <a:off x="416052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56</a:t>
            </a:r>
            <a:endParaRPr lang="en-US" sz="2200" dirty="0"/>
          </a:p>
        </p:txBody>
      </p:sp>
      <p:sp>
        <p:nvSpPr>
          <p:cNvPr id="7" name="Text 5"/>
          <p:cNvSpPr txBox="1"/>
          <p:nvPr/>
        </p:nvSpPr>
        <p:spPr>
          <a:xfrm>
            <a:off x="41605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A+1</a:t>
            </a:r>
            <a:endParaRPr lang="en-US" sz="1050" dirty="0"/>
          </a:p>
        </p:txBody>
      </p:sp>
      <p:sp>
        <p:nvSpPr>
          <p:cNvPr id="8" name="Text 6"/>
          <p:cNvSpPr txBox="1"/>
          <p:nvPr/>
        </p:nvSpPr>
        <p:spPr>
          <a:xfrm>
            <a:off x="521208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34</a:t>
            </a:r>
            <a:endParaRPr lang="en-US" sz="2200" dirty="0"/>
          </a:p>
        </p:txBody>
      </p:sp>
      <p:sp>
        <p:nvSpPr>
          <p:cNvPr id="9" name="Text 7"/>
          <p:cNvSpPr txBox="1"/>
          <p:nvPr/>
        </p:nvSpPr>
        <p:spPr>
          <a:xfrm>
            <a:off x="521208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A+2</a:t>
            </a:r>
            <a:endParaRPr lang="en-US" sz="1050" dirty="0"/>
          </a:p>
        </p:txBody>
      </p:sp>
      <p:sp>
        <p:nvSpPr>
          <p:cNvPr id="10" name="Text 8"/>
          <p:cNvSpPr txBox="1"/>
          <p:nvPr/>
        </p:nvSpPr>
        <p:spPr>
          <a:xfrm>
            <a:off x="626364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12</a:t>
            </a:r>
            <a:endParaRPr lang="en-US" sz="2200" dirty="0"/>
          </a:p>
        </p:txBody>
      </p:sp>
      <p:sp>
        <p:nvSpPr>
          <p:cNvPr id="11" name="Text 9"/>
          <p:cNvSpPr txBox="1"/>
          <p:nvPr/>
        </p:nvSpPr>
        <p:spPr>
          <a:xfrm>
            <a:off x="626364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A+3</a:t>
            </a:r>
            <a:endParaRPr lang="en-US" sz="1050" dirty="0"/>
          </a:p>
        </p:txBody>
      </p:sp>
      <p:sp>
        <p:nvSpPr>
          <p:cNvPr id="12" name="Text 10"/>
          <p:cNvSpPr txBox="1"/>
          <p:nvPr/>
        </p:nvSpPr>
        <p:spPr>
          <a:xfrm>
            <a:off x="731520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48</a:t>
            </a:r>
            <a:endParaRPr lang="en-US" sz="2200" dirty="0"/>
          </a:p>
        </p:txBody>
      </p:sp>
      <p:sp>
        <p:nvSpPr>
          <p:cNvPr id="13" name="Text 11"/>
          <p:cNvSpPr txBox="1"/>
          <p:nvPr/>
        </p:nvSpPr>
        <p:spPr>
          <a:xfrm>
            <a:off x="731520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A+4</a:t>
            </a:r>
            <a:endParaRPr lang="en-US" sz="1050" dirty="0"/>
          </a:p>
        </p:txBody>
      </p:sp>
      <p:sp>
        <p:nvSpPr>
          <p:cNvPr id="14" name="Text 12"/>
          <p:cNvSpPr txBox="1"/>
          <p:nvPr/>
        </p:nvSpPr>
        <p:spPr>
          <a:xfrm>
            <a:off x="836676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45</a:t>
            </a:r>
            <a:endParaRPr lang="en-US" sz="2200" dirty="0"/>
          </a:p>
        </p:txBody>
      </p:sp>
      <p:sp>
        <p:nvSpPr>
          <p:cNvPr id="15" name="Text 13"/>
          <p:cNvSpPr txBox="1"/>
          <p:nvPr/>
        </p:nvSpPr>
        <p:spPr>
          <a:xfrm>
            <a:off x="83667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A+5</a:t>
            </a:r>
            <a:endParaRPr lang="en-US" sz="1050" dirty="0"/>
          </a:p>
        </p:txBody>
      </p:sp>
      <p:sp>
        <p:nvSpPr>
          <p:cNvPr id="16" name="Text 14"/>
          <p:cNvSpPr txBox="1"/>
          <p:nvPr/>
        </p:nvSpPr>
        <p:spPr>
          <a:xfrm>
            <a:off x="941832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4C</a:t>
            </a:r>
            <a:endParaRPr lang="en-US" sz="2200" dirty="0"/>
          </a:p>
        </p:txBody>
      </p:sp>
      <p:sp>
        <p:nvSpPr>
          <p:cNvPr id="17" name="Text 15"/>
          <p:cNvSpPr txBox="1"/>
          <p:nvPr/>
        </p:nvSpPr>
        <p:spPr>
          <a:xfrm>
            <a:off x="94183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A+6</a:t>
            </a:r>
            <a:endParaRPr lang="en-US" sz="1050" dirty="0"/>
          </a:p>
        </p:txBody>
      </p:sp>
      <p:sp>
        <p:nvSpPr>
          <p:cNvPr id="18" name="Text 16"/>
          <p:cNvSpPr txBox="1"/>
          <p:nvPr/>
        </p:nvSpPr>
        <p:spPr>
          <a:xfrm>
            <a:off x="10469880" y="2103120"/>
            <a:ext cx="105156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a:t>
            </a:r>
            <a:endParaRPr lang="en-US" sz="2200" dirty="0"/>
          </a:p>
        </p:txBody>
      </p:sp>
      <p:sp>
        <p:nvSpPr>
          <p:cNvPr id="19" name="Text 17"/>
          <p:cNvSpPr txBox="1"/>
          <p:nvPr/>
        </p:nvSpPr>
        <p:spPr>
          <a:xfrm>
            <a:off x="10469880" y="1856232"/>
            <a:ext cx="1051560" cy="228600"/>
          </a:xfrm>
          <a:prstGeom prst="rect">
            <a:avLst/>
          </a:prstGeom>
          <a:noFill/>
          <a:ln/>
        </p:spPr>
        <p:txBody>
          <a:bodyPr wrap="square" lIns="0" tIns="0" rIns="0" bIns="0" rtlCol="0" anchor="t"/>
          <a:lstStyle/>
          <a:p>
            <a:pPr algn="ctr" indent="0" marL="0">
              <a:buNone/>
            </a:pPr>
            <a:endParaRPr lang="en-US" sz="1050" dirty="0"/>
          </a:p>
        </p:txBody>
      </p:sp>
      <p:sp>
        <p:nvSpPr>
          <p:cNvPr id="20" name="Text 18"/>
          <p:cNvSpPr txBox="1"/>
          <p:nvPr/>
        </p:nvSpPr>
        <p:spPr>
          <a:xfrm>
            <a:off x="3108960" y="2926080"/>
            <a:ext cx="4206240" cy="32004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one word: .word 0x12345678</a:t>
            </a:r>
            <a:endParaRPr lang="en-US" sz="1400" dirty="0"/>
          </a:p>
        </p:txBody>
      </p:sp>
      <p:sp>
        <p:nvSpPr>
          <p:cNvPr id="21" name="Text 19"/>
          <p:cNvSpPr txBox="1"/>
          <p:nvPr/>
        </p:nvSpPr>
        <p:spPr>
          <a:xfrm>
            <a:off x="7315200" y="2926080"/>
            <a:ext cx="3154680" cy="32004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three bytes: "HEL..."</a:t>
            </a:r>
            <a:endParaRPr lang="en-US" sz="1400" dirty="0"/>
          </a:p>
        </p:txBody>
      </p:sp>
      <p:sp>
        <p:nvSpPr>
          <p:cNvPr id="22" name="Shape 20"/>
          <p:cNvSpPr/>
          <p:nvPr/>
        </p:nvSpPr>
        <p:spPr>
          <a:xfrm>
            <a:off x="548640" y="3740785"/>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36576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byte-addressable memory the byte is the smallest unit that has an address</a:t>
            </a:r>
            <a:endParaRPr lang="en-US" sz="1900" dirty="0"/>
          </a:p>
        </p:txBody>
      </p:sp>
      <p:sp>
        <p:nvSpPr>
          <p:cNvPr id="24" name="Shape 22"/>
          <p:cNvSpPr/>
          <p:nvPr/>
        </p:nvSpPr>
        <p:spPr>
          <a:xfrm>
            <a:off x="548640" y="4186470"/>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103285"/>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of 32 bits occupies four consecutive addresses; its address is that of its first byte</a:t>
            </a:r>
            <a:endParaRPr lang="en-US" sz="1900" dirty="0"/>
          </a:p>
        </p:txBody>
      </p:sp>
      <p:sp>
        <p:nvSpPr>
          <p:cNvPr id="26" name="Shape 24"/>
          <p:cNvSpPr/>
          <p:nvPr/>
        </p:nvSpPr>
        <p:spPr>
          <a:xfrm>
            <a:off x="548640" y="4926542"/>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484335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Consecutive words are 4 addresses apart: this is why the program counter advances by 4, and why an array index is multiplied by 4 (Lecture 04)</a:t>
            </a:r>
            <a:endParaRPr lang="en-US" sz="1900" dirty="0"/>
          </a:p>
        </p:txBody>
      </p:sp>
      <p:sp>
        <p:nvSpPr>
          <p:cNvPr id="28" name="Shape 26"/>
          <p:cNvSpPr/>
          <p:nvPr/>
        </p:nvSpPr>
        <p:spPr>
          <a:xfrm>
            <a:off x="548640" y="5666613"/>
            <a:ext cx="146304" cy="146304"/>
          </a:xfrm>
          <a:prstGeom prst="rect">
            <a:avLst/>
          </a:prstGeom>
          <a:solidFill>
            <a:srgbClr val="C7791B"/>
          </a:solidFill>
          <a:ln w="12700">
            <a:solidFill>
              <a:srgbClr val="C7791B"/>
            </a:solidFill>
            <a:prstDash val="solid"/>
          </a:ln>
        </p:spPr>
      </p:sp>
      <p:sp>
        <p:nvSpPr>
          <p:cNvPr id="29" name="Text 27"/>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has separate instructions for each size: lb and sb for bytes, lh and sh for halfwords, lw and sw for words</a:t>
            </a:r>
            <a:endParaRPr lang="en-US" sz="1900" dirty="0"/>
          </a:p>
        </p:txBody>
      </p:sp>
      <p:sp>
        <p:nvSpPr>
          <p:cNvPr id="30" name="Shape 28"/>
          <p:cNvSpPr/>
          <p:nvPr/>
        </p:nvSpPr>
        <p:spPr>
          <a:xfrm>
            <a:off x="8222056" y="91440"/>
            <a:ext cx="3420999" cy="274320"/>
          </a:xfrm>
          <a:prstGeom prst="rect">
            <a:avLst/>
          </a:prstGeom>
          <a:solidFill>
            <a:srgbClr val="E0F2FE"/>
          </a:solidFill>
          <a:ln w="12700">
            <a:solidFill>
              <a:srgbClr val="0369A1"/>
            </a:solidFill>
            <a:prstDash val="solid"/>
          </a:ln>
        </p:spPr>
      </p:sp>
      <p:sp>
        <p:nvSpPr>
          <p:cNvPr id="31" name="Shape 29"/>
          <p:cNvSpPr/>
          <p:nvPr/>
        </p:nvSpPr>
        <p:spPr>
          <a:xfrm>
            <a:off x="8222056"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33" name="Text 30"/>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Big-endian and little-endian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000" b="1" dirty="0">
                <a:solidFill>
                  <a:srgbClr val="2E4A62"/>
                </a:solidFill>
                <a:latin typeface="Courier New" pitchFamily="34" charset="0"/>
                <a:ea typeface="Courier New" pitchFamily="34" charset="-122"/>
                <a:cs typeface="Courier New" pitchFamily="34" charset="-120"/>
              </a:rPr>
              <a:t>the word 0x10A3E6FF stored at address 1000</a:t>
            </a:r>
            <a:endParaRPr lang="en-US" sz="2000" dirty="0"/>
          </a:p>
        </p:txBody>
      </p:sp>
      <p:sp>
        <p:nvSpPr>
          <p:cNvPr id="4" name="Text 2"/>
          <p:cNvSpPr txBox="1"/>
          <p:nvPr/>
        </p:nvSpPr>
        <p:spPr>
          <a:xfrm>
            <a:off x="548640" y="228600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754880" y="228600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6" name="Text 4"/>
          <p:cNvSpPr txBox="1"/>
          <p:nvPr/>
        </p:nvSpPr>
        <p:spPr>
          <a:xfrm>
            <a:off x="475488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7" name="Text 5"/>
          <p:cNvSpPr txBox="1"/>
          <p:nvPr/>
        </p:nvSpPr>
        <p:spPr>
          <a:xfrm>
            <a:off x="6035040" y="228600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8" name="Text 6"/>
          <p:cNvSpPr txBox="1"/>
          <p:nvPr/>
        </p:nvSpPr>
        <p:spPr>
          <a:xfrm>
            <a:off x="603504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9" name="Text 7"/>
          <p:cNvSpPr txBox="1"/>
          <p:nvPr/>
        </p:nvSpPr>
        <p:spPr>
          <a:xfrm>
            <a:off x="7315200" y="228600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0" name="Text 8"/>
          <p:cNvSpPr txBox="1"/>
          <p:nvPr/>
        </p:nvSpPr>
        <p:spPr>
          <a:xfrm>
            <a:off x="731520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11" name="Text 9"/>
          <p:cNvSpPr txBox="1"/>
          <p:nvPr/>
        </p:nvSpPr>
        <p:spPr>
          <a:xfrm>
            <a:off x="8595360" y="228600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2" name="Text 10"/>
          <p:cNvSpPr txBox="1"/>
          <p:nvPr/>
        </p:nvSpPr>
        <p:spPr>
          <a:xfrm>
            <a:off x="859536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13" name="Text 11"/>
          <p:cNvSpPr txBox="1"/>
          <p:nvPr/>
        </p:nvSpPr>
        <p:spPr>
          <a:xfrm>
            <a:off x="548640" y="361188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Motorola 68000, network order</a:t>
            </a:r>
            <a:endParaRPr lang="en-US" sz="1600" dirty="0"/>
          </a:p>
        </p:txBody>
      </p:sp>
      <p:sp>
        <p:nvSpPr>
          <p:cNvPr id="14" name="Text 12"/>
          <p:cNvSpPr txBox="1"/>
          <p:nvPr/>
        </p:nvSpPr>
        <p:spPr>
          <a:xfrm>
            <a:off x="4754880" y="361188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5" name="Text 13"/>
          <p:cNvSpPr txBox="1"/>
          <p:nvPr/>
        </p:nvSpPr>
        <p:spPr>
          <a:xfrm>
            <a:off x="475488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16" name="Text 14"/>
          <p:cNvSpPr txBox="1"/>
          <p:nvPr/>
        </p:nvSpPr>
        <p:spPr>
          <a:xfrm>
            <a:off x="6035040" y="361188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7" name="Text 15"/>
          <p:cNvSpPr txBox="1"/>
          <p:nvPr/>
        </p:nvSpPr>
        <p:spPr>
          <a:xfrm>
            <a:off x="603504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18" name="Text 16"/>
          <p:cNvSpPr txBox="1"/>
          <p:nvPr/>
        </p:nvSpPr>
        <p:spPr>
          <a:xfrm>
            <a:off x="7315200" y="361188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19" name="Text 17"/>
          <p:cNvSpPr txBox="1"/>
          <p:nvPr/>
        </p:nvSpPr>
        <p:spPr>
          <a:xfrm>
            <a:off x="731520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20" name="Text 18"/>
          <p:cNvSpPr txBox="1"/>
          <p:nvPr/>
        </p:nvSpPr>
        <p:spPr>
          <a:xfrm>
            <a:off x="8595360" y="361188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21" name="Text 19"/>
          <p:cNvSpPr txBox="1"/>
          <p:nvPr/>
        </p:nvSpPr>
        <p:spPr>
          <a:xfrm>
            <a:off x="859536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22" name="Shape 20"/>
          <p:cNvSpPr/>
          <p:nvPr/>
        </p:nvSpPr>
        <p:spPr>
          <a:xfrm>
            <a:off x="548640" y="459397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262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two names indicate how the bytes of a word are arranged in memory</a:t>
            </a:r>
            <a:endParaRPr lang="en-US" sz="1700" dirty="0"/>
          </a:p>
        </p:txBody>
      </p:sp>
      <p:sp>
        <p:nvSpPr>
          <p:cNvPr id="24" name="Shape 22"/>
          <p:cNvSpPr/>
          <p:nvPr/>
        </p:nvSpPr>
        <p:spPr>
          <a:xfrm>
            <a:off x="548640" y="5021834"/>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95414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Little-endian: the least significant byte at the lowest address. Big-endian: the most significant byte first</a:t>
            </a:r>
            <a:endParaRPr lang="en-US" sz="1700" dirty="0"/>
          </a:p>
        </p:txBody>
      </p:sp>
      <p:sp>
        <p:nvSpPr>
          <p:cNvPr id="26" name="Shape 24"/>
          <p:cNvSpPr/>
          <p:nvPr/>
        </p:nvSpPr>
        <p:spPr>
          <a:xfrm>
            <a:off x="548640" y="5713095"/>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RISC-V is little-endian, like almost every processor in use today; data that cross a network are still sent big-endian</a:t>
            </a:r>
            <a:endParaRPr lang="en-US" sz="17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Parameters of a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Capacity: the number N of registers and the length in bits of each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MB = 2^20 registers of 8 bits; 16 kW of 32 bits = 16 x 2^10 registers of 32 bits</a:t>
            </a:r>
            <a:endParaRPr lang="en-US" sz="2100" dirty="0"/>
          </a:p>
        </p:txBody>
      </p:sp>
      <p:sp>
        <p:nvSpPr>
          <p:cNvPr id="5" name="Shape 3"/>
          <p:cNvSpPr/>
          <p:nvPr/>
        </p:nvSpPr>
        <p:spPr>
          <a:xfrm>
            <a:off x="548640" y="29737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502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Access time: the time to carry out a read or a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select the location, plus the time for the read or write itself</a:t>
            </a:r>
            <a:endParaRPr lang="en-US" sz="2100" dirty="0"/>
          </a:p>
        </p:txBody>
      </p:sp>
      <p:sp>
        <p:nvSpPr>
          <p:cNvPr id="7" name="Shape 5"/>
          <p:cNvSpPr/>
          <p:nvPr/>
        </p:nvSpPr>
        <p:spPr>
          <a:xfrm>
            <a:off x="548640" y="443141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ESP32-C6: 512 KB of SRAM for data, 320 KB of ROM, and an external flash of some megabytes for programs</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PRG32 menu shows what is left for you: about 98 KB of RAM and 509 KB of flash for cartridges</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512 KB</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main memory of the ESP32-C6: eight Commodore 64s, or one thirty-thousandth of a laptop</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interface between processor and memory</a:t>
            </a:r>
            <a:endParaRPr lang="en-US" sz="3200" dirty="0"/>
          </a:p>
        </p:txBody>
      </p:sp>
      <p:sp>
        <p:nvSpPr>
          <p:cNvPr id="3" name="Shape 1"/>
          <p:cNvSpPr/>
          <p:nvPr/>
        </p:nvSpPr>
        <p:spPr>
          <a:xfrm>
            <a:off x="548640" y="1508760"/>
            <a:ext cx="3566160" cy="3931920"/>
          </a:xfrm>
          <a:prstGeom prst="roundRect">
            <a:avLst>
              <a:gd name="adj" fmla="val 2051"/>
            </a:avLst>
          </a:prstGeom>
          <a:solidFill>
            <a:srgbClr val="EEF2F4"/>
          </a:solidFill>
          <a:ln w="12700">
            <a:solidFill>
              <a:srgbClr val="EEF2F4"/>
            </a:solidFill>
            <a:prstDash val="solid"/>
          </a:ln>
        </p:spPr>
      </p:sp>
      <p:sp>
        <p:nvSpPr>
          <p:cNvPr id="4" name="Text 2"/>
          <p:cNvSpPr txBox="1"/>
          <p:nvPr/>
        </p:nvSpPr>
        <p:spPr>
          <a:xfrm>
            <a:off x="731520" y="1600200"/>
            <a:ext cx="27432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Processor</a:t>
            </a:r>
            <a:endParaRPr lang="en-US" sz="1500" dirty="0"/>
          </a:p>
        </p:txBody>
      </p:sp>
      <p:sp>
        <p:nvSpPr>
          <p:cNvPr id="5" name="Text 3"/>
          <p:cNvSpPr txBox="1"/>
          <p:nvPr/>
        </p:nvSpPr>
        <p:spPr>
          <a:xfrm>
            <a:off x="914400" y="2148840"/>
            <a:ext cx="283464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address register</a:t>
            </a:r>
            <a:endParaRPr lang="en-US" sz="1400" dirty="0"/>
          </a:p>
        </p:txBody>
      </p:sp>
      <p:sp>
        <p:nvSpPr>
          <p:cNvPr id="6" name="Text 4"/>
          <p:cNvSpPr txBox="1"/>
          <p:nvPr/>
        </p:nvSpPr>
        <p:spPr>
          <a:xfrm>
            <a:off x="914400" y="3291840"/>
            <a:ext cx="28346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buffer register</a:t>
            </a:r>
            <a:endParaRPr lang="en-US" sz="1400" dirty="0"/>
          </a:p>
        </p:txBody>
      </p:sp>
      <p:sp>
        <p:nvSpPr>
          <p:cNvPr id="7" name="Text 5"/>
          <p:cNvSpPr txBox="1"/>
          <p:nvPr/>
        </p:nvSpPr>
        <p:spPr>
          <a:xfrm>
            <a:off x="914400" y="4434840"/>
            <a:ext cx="2834640" cy="685800"/>
          </a:xfrm>
          <a:prstGeom prst="roundRect">
            <a:avLst>
              <a:gd name="adj" fmla="val 8000"/>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 unit</a:t>
            </a:r>
            <a:endParaRPr lang="en-US" sz="1400" dirty="0"/>
          </a:p>
        </p:txBody>
      </p:sp>
      <p:sp>
        <p:nvSpPr>
          <p:cNvPr id="8" name="Text 6"/>
          <p:cNvSpPr txBox="1"/>
          <p:nvPr/>
        </p:nvSpPr>
        <p:spPr>
          <a:xfrm>
            <a:off x="7589520" y="1965960"/>
            <a:ext cx="2377440" cy="3291840"/>
          </a:xfrm>
          <a:prstGeom prst="roundRect">
            <a:avLst>
              <a:gd name="adj" fmla="val 2308"/>
            </a:avLst>
          </a:prstGeom>
          <a:solidFill>
            <a:srgbClr val="6B4FA0"/>
          </a:solidFill>
          <a:ln>
            <a:solidFill>
              <a:srgbClr val="6B4FA0"/>
            </a:solidFill>
          </a:ln>
        </p:spPr>
        <p:txBody>
          <a:bodyPr wrap="square" lIns="38100" tIns="38100" rIns="38100" bIns="381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Memory</a:t>
            </a:r>
            <a:endParaRPr lang="en-US" sz="2000" dirty="0"/>
          </a:p>
        </p:txBody>
      </p:sp>
      <p:sp>
        <p:nvSpPr>
          <p:cNvPr id="9" name="Shape 7"/>
          <p:cNvSpPr/>
          <p:nvPr/>
        </p:nvSpPr>
        <p:spPr>
          <a:xfrm>
            <a:off x="3776472" y="2560320"/>
            <a:ext cx="3785616" cy="0"/>
          </a:xfrm>
          <a:prstGeom prst="line">
            <a:avLst/>
          </a:prstGeom>
          <a:noFill/>
          <a:ln w="38100">
            <a:solidFill>
              <a:srgbClr val="0E7C86"/>
            </a:solidFill>
            <a:prstDash val="solid"/>
            <a:tailEnd type="triangle"/>
          </a:ln>
        </p:spPr>
      </p:sp>
      <p:sp>
        <p:nvSpPr>
          <p:cNvPr id="10" name="Text 8"/>
          <p:cNvSpPr txBox="1"/>
          <p:nvPr/>
        </p:nvSpPr>
        <p:spPr>
          <a:xfrm>
            <a:off x="4572000" y="2194560"/>
            <a:ext cx="2743200" cy="27432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address bus</a:t>
            </a:r>
            <a:endParaRPr lang="en-US" sz="1400" dirty="0"/>
          </a:p>
        </p:txBody>
      </p:sp>
      <p:sp>
        <p:nvSpPr>
          <p:cNvPr id="11" name="Shape 9"/>
          <p:cNvSpPr/>
          <p:nvPr/>
        </p:nvSpPr>
        <p:spPr>
          <a:xfrm>
            <a:off x="3776472" y="3703320"/>
            <a:ext cx="3785616" cy="0"/>
          </a:xfrm>
          <a:prstGeom prst="line">
            <a:avLst/>
          </a:prstGeom>
          <a:noFill/>
          <a:ln w="38100">
            <a:solidFill>
              <a:srgbClr val="C7791B"/>
            </a:solidFill>
            <a:prstDash val="solid"/>
            <a:tailEnd type="triangle"/>
          </a:ln>
        </p:spPr>
      </p:sp>
      <p:sp>
        <p:nvSpPr>
          <p:cNvPr id="12" name="Shape 10"/>
          <p:cNvSpPr/>
          <p:nvPr/>
        </p:nvSpPr>
        <p:spPr>
          <a:xfrm flipH="1">
            <a:off x="3776472" y="3703320"/>
            <a:ext cx="3785616" cy="0"/>
          </a:xfrm>
          <a:prstGeom prst="line">
            <a:avLst/>
          </a:prstGeom>
          <a:noFill/>
          <a:ln w="38100">
            <a:solidFill>
              <a:srgbClr val="C7791B"/>
            </a:solidFill>
            <a:prstDash val="solid"/>
            <a:tailEnd type="triangle"/>
          </a:ln>
        </p:spPr>
      </p:sp>
      <p:sp>
        <p:nvSpPr>
          <p:cNvPr id="13" name="Text 11"/>
          <p:cNvSpPr txBox="1"/>
          <p:nvPr/>
        </p:nvSpPr>
        <p:spPr>
          <a:xfrm>
            <a:off x="4572000" y="3337560"/>
            <a:ext cx="2743200" cy="27432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data bus</a:t>
            </a:r>
            <a:endParaRPr lang="en-US" sz="1400" dirty="0"/>
          </a:p>
        </p:txBody>
      </p:sp>
      <p:sp>
        <p:nvSpPr>
          <p:cNvPr id="14" name="Shape 12"/>
          <p:cNvSpPr/>
          <p:nvPr/>
        </p:nvSpPr>
        <p:spPr>
          <a:xfrm>
            <a:off x="3776472" y="4663440"/>
            <a:ext cx="3785616" cy="0"/>
          </a:xfrm>
          <a:prstGeom prst="line">
            <a:avLst/>
          </a:prstGeom>
          <a:noFill/>
          <a:ln w="25400">
            <a:solidFill>
              <a:srgbClr val="B23A48"/>
            </a:solidFill>
            <a:prstDash val="solid"/>
            <a:tailEnd type="triangle"/>
          </a:ln>
        </p:spPr>
      </p:sp>
      <p:sp>
        <p:nvSpPr>
          <p:cNvPr id="15" name="Shape 13"/>
          <p:cNvSpPr/>
          <p:nvPr/>
        </p:nvSpPr>
        <p:spPr>
          <a:xfrm>
            <a:off x="3776472" y="4937760"/>
            <a:ext cx="3785616" cy="0"/>
          </a:xfrm>
          <a:prstGeom prst="line">
            <a:avLst/>
          </a:prstGeom>
          <a:noFill/>
          <a:ln w="25400">
            <a:solidFill>
              <a:srgbClr val="B23A48"/>
            </a:solidFill>
            <a:prstDash val="solid"/>
            <a:tailEnd type="triangle"/>
          </a:ln>
        </p:spPr>
      </p:sp>
      <p:sp>
        <p:nvSpPr>
          <p:cNvPr id="16" name="Text 14"/>
          <p:cNvSpPr txBox="1"/>
          <p:nvPr/>
        </p:nvSpPr>
        <p:spPr>
          <a:xfrm>
            <a:off x="4572000" y="4069080"/>
            <a:ext cx="2743200" cy="548640"/>
          </a:xfrm>
          <a:prstGeom prst="rect">
            <a:avLst/>
          </a:prstGeom>
          <a:noFill/>
          <a:ln/>
        </p:spPr>
        <p:txBody>
          <a:bodyPr wrap="square" lIns="0" tIns="0" rIns="0" bIns="0" rtlCol="0" anchor="t"/>
          <a:lstStyle/>
          <a:p>
            <a:pPr algn="ctr" indent="0" marL="0">
              <a:buNone/>
            </a:pPr>
            <a:r>
              <a:rPr lang="en-US" sz="1300" b="1" dirty="0">
                <a:solidFill>
                  <a:srgbClr val="B23A48"/>
                </a:solidFill>
                <a:latin typeface="Calibri" pitchFamily="34" charset="0"/>
                <a:ea typeface="Calibri" pitchFamily="34" charset="-122"/>
                <a:cs typeface="Calibri" pitchFamily="34" charset="-120"/>
              </a:rPr>
              <a:t>read enable (RE)</a:t>
            </a:r>
            <a:endParaRPr lang="en-US" sz="1300" dirty="0"/>
          </a:p>
          <a:p>
            <a:pPr algn="ctr" indent="0" marL="0">
              <a:buNone/>
            </a:pPr>
            <a:r>
              <a:rPr lang="en-US" sz="1300" b="1" dirty="0">
                <a:solidFill>
                  <a:srgbClr val="B23A48"/>
                </a:solidFill>
                <a:latin typeface="Calibri" pitchFamily="34" charset="0"/>
                <a:ea typeface="Calibri" pitchFamily="34" charset="-122"/>
                <a:cs typeface="Calibri" pitchFamily="34" charset="-120"/>
              </a:rPr>
              <a:t>write enable (WE)</a:t>
            </a:r>
            <a:endParaRPr lang="en-US" sz="1300" dirty="0"/>
          </a:p>
        </p:txBody>
      </p:sp>
      <p:sp>
        <p:nvSpPr>
          <p:cNvPr id="17" name="Text 15"/>
          <p:cNvSpPr txBox="1"/>
          <p:nvPr/>
        </p:nvSpPr>
        <p:spPr>
          <a:xfrm>
            <a:off x="548640" y="5486400"/>
            <a:ext cx="9509760" cy="64008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address travels one way; the data travel in both directions; the control lines say which operation is requested.</a:t>
            </a:r>
            <a:endParaRPr lang="en-US" sz="1500" dirty="0"/>
          </a:p>
        </p:txBody>
      </p:sp>
      <p:sp>
        <p:nvSpPr>
          <p:cNvPr id="18" name="Shape 16"/>
          <p:cNvSpPr/>
          <p:nvPr/>
        </p:nvSpPr>
        <p:spPr>
          <a:xfrm>
            <a:off x="8353374" y="91440"/>
            <a:ext cx="3289681" cy="274320"/>
          </a:xfrm>
          <a:prstGeom prst="rect">
            <a:avLst/>
          </a:prstGeom>
          <a:solidFill>
            <a:srgbClr val="E0F2FE"/>
          </a:solidFill>
          <a:ln w="12700">
            <a:solidFill>
              <a:srgbClr val="0369A1"/>
            </a:solidFill>
            <a:prstDash val="solid"/>
          </a:ln>
        </p:spPr>
      </p:sp>
      <p:sp>
        <p:nvSpPr>
          <p:cNvPr id="19" name="Shape 17"/>
          <p:cNvSpPr/>
          <p:nvPr/>
        </p:nvSpPr>
        <p:spPr>
          <a:xfrm>
            <a:off x="8353374"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1" name="Text 18"/>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Synchronising processor and memory</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Asynchronous technique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waits until the memory signals, with an acknowledge line, that the operation is complete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adapts to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More complex, but it makes the design of the memory independent of that of the processor</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Synchronous technique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One of the control lines carries pulses from a clock of fixed frequency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read or a write completes within one clock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clock cycle must be sized on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Simpler, and the rule inside a single chip such as a microcontroller</a:t>
            </a:r>
            <a:endParaRPr lang="en-US" sz="19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processor, memory and I/O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Single bus: memory-mapped I/O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Memory and I/O devices share the same bus and the same address space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device register is read and written like a memory location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No special instructions are needed</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This is the RISC-V way: there are no input/output instructions at all</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Separate buses: isolated I/O</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physical buses, or two address spaces: one for memory, one for I/O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Dedicated instructions reach the devices</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Intel x86 family has both: in and out instructions besides memory-mapped devices</a:t>
            </a:r>
            <a:endParaRPr lang="en-US" sz="2000" dirty="0"/>
          </a:p>
        </p:txBody>
      </p:sp>
      <p:sp>
        <p:nvSpPr>
          <p:cNvPr id="9" name="Shape 7"/>
          <p:cNvSpPr/>
          <p:nvPr/>
        </p:nvSpPr>
        <p:spPr>
          <a:xfrm>
            <a:off x="8550351" y="91440"/>
            <a:ext cx="3092704" cy="274320"/>
          </a:xfrm>
          <a:prstGeom prst="rect">
            <a:avLst/>
          </a:prstGeom>
          <a:solidFill>
            <a:srgbClr val="E0F2FE"/>
          </a:solidFill>
          <a:ln w="12700">
            <a:solidFill>
              <a:srgbClr val="0369A1"/>
            </a:solidFill>
            <a:prstDash val="solid"/>
          </a:ln>
        </p:spPr>
      </p:sp>
      <p:sp>
        <p:nvSpPr>
          <p:cNvPr id="10" name="Shape 8"/>
          <p:cNvSpPr/>
          <p:nvPr/>
        </p:nvSpPr>
        <p:spPr>
          <a:xfrm>
            <a:off x="855035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2" name="Text 9"/>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component buses, and DMA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bus that connects processor, memory and I/O is made of three buses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data bus: carries the data</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address bus: carries the address, of memory or of I/O, from or to which the datum is directed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control lines: read and write enable, acknowledge, ...</a:t>
            </a:r>
            <a:endParaRPr lang="en-US" sz="2400" dirty="0"/>
          </a:p>
        </p:txBody>
      </p:sp>
      <p:sp>
        <p:nvSpPr>
          <p:cNvPr id="5" name="Shape 3"/>
          <p:cNvSpPr/>
          <p:nvPr/>
        </p:nvSpPr>
        <p:spPr>
          <a:xfrm>
            <a:off x="548640" y="37257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03879"/>
            <a:ext cx="10710367"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DMA, direct memory access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where I/O interfaces are physically connected to the memory, blocks of data can go directly between a device and the memory</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processor starts the transfer and is told when it is over</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display of the kit receives each frame this way: the processor does not copy the pixels one by one</a:t>
            </a:r>
            <a:endParaRPr lang="en-US" sz="2400" dirty="0"/>
          </a:p>
        </p:txBody>
      </p:sp>
      <p:sp>
        <p:nvSpPr>
          <p:cNvPr id="9" name="Shape 7"/>
          <p:cNvSpPr/>
          <p:nvPr/>
        </p:nvSpPr>
        <p:spPr>
          <a:xfrm>
            <a:off x="8550351" y="91440"/>
            <a:ext cx="3092704" cy="274320"/>
          </a:xfrm>
          <a:prstGeom prst="rect">
            <a:avLst/>
          </a:prstGeom>
          <a:solidFill>
            <a:srgbClr val="E0F2FE"/>
          </a:solidFill>
          <a:ln w="12700">
            <a:solidFill>
              <a:srgbClr val="0369A1"/>
            </a:solidFill>
            <a:prstDash val="solid"/>
          </a:ln>
        </p:spPr>
      </p:sp>
      <p:sp>
        <p:nvSpPr>
          <p:cNvPr id="10" name="Shape 8"/>
          <p:cNvSpPr/>
          <p:nvPr/>
        </p:nvSpPr>
        <p:spPr>
          <a:xfrm>
            <a:off x="855035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2" name="Text 9"/>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memory has 16 address lines and is byte-addressable. How large is it?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 bytes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KiB</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 KiB</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 MiB</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RISC-V, value: .word 0xCAFE0001 is at address A. What does lbu t0, 0(t0) read if t0 =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0xFE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must DRAM be refreshed?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its capacitors lose their charge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reading is slow</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it is not random access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the clock is too fast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does a RISC-V program write to an output device?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the out instruction</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sw to the address of a device register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a special register x32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cannot: only the firmware can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86929"/>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access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accesso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volatile / persistent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volatile / persistente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aligned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allineata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magnetic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nucleo magnetico (di ferrite)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indirizzi / bus dati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rinfresco (refresh)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read / write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 lettura / scrittura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memory-mapped 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I/O mappato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Memory is a fundamental component of a computer: a device able to keep the state of data</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Different kinds of memory serve different purposes: no technology is fast, large and cheap together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stored as words of bits, each with an address; RISC-V addresses bytes and orders them little-endian</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 happens through selection (address bus), reading or writing (data bus) and control lines</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input/output devices are reached exactly like memory</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2.3 and 5.1-5.2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internal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ESP32-C6 Technical Reference Manual: system and memory</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Memory</dc:title>
  <dc:subject>Lecture 15</dc:subject>
  <dc:creator>Raffaele Montella</dc:creator>
  <cp:lastModifiedBy>Raffaele Montella</cp:lastModifiedBy>
  <cp:revision>1</cp:revision>
  <dcterms:created xsi:type="dcterms:W3CDTF">2026-10-16T15:51:38Z</dcterms:created>
  <dcterms:modified xsi:type="dcterms:W3CDTF">2026-10-16T15:51:38Z</dcterms:modified>
</cp:coreProperties>
</file>