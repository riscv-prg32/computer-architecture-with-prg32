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2aa8d70-076f-661f-8a25-a6b4b06192e6}">
          <p14:sldIdLst>
            <p14:sldId id="256"/>
            <p14:sldId id="257"/>
          </p14:sldIdLst>
        </p14:section>
        <p14:section name="What is a memory?" id="{14e9fb25-ae4a-649b-d30a-07575e5019d7}">
          <p14:sldIdLst>
            <p14:sldId id="258"/>
            <p14:sldId id="259"/>
          </p14:sldIdLst>
        </p14:section>
        <p14:section name="A little history" id="{00554074-7be7-6695-0309-e40803d4a0b8}">
          <p14:sldIdLst>
            <p14:sldId id="260"/>
            <p14:sldId id="261"/>
          </p14:sldIdLst>
        </p14:section>
        <p14:section name="Memory today" id="{0946af72-d955-83a2-9113-ff9821d7aad9}">
          <p14:sldIdLst>
            <p14:sldId id="262"/>
            <p14:sldId id="263"/>
          </p14:sldIdLst>
        </p14:section>
        <p14:section name="The main memory" id="{24686066-cc85-4005-7de7-572837a8f249}">
          <p14:sldIdLst>
            <p14:sldId id="264"/>
            <p14:sldId id="265"/>
            <p14:sldId id="266"/>
            <p14:sldId id="267"/>
          </p14:sldIdLst>
        </p14:section>
        <p14:section name="Processor and memory" id="{04282c35-6055-955c-8db2-96283280a423}">
          <p14:sldIdLst>
            <p14:sldId id="268"/>
            <p14:sldId id="269"/>
          </p14:sldIdLst>
        </p14:section>
        <p14:section name="Memory and input/output" id="{512de281-598a-e8ec-c8ba-15e604c013b1}">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has been in use since the second lecture: every lw and sw reads or writes it. This lecture explains what a memory is, how it is organised, and what actually takes place between processor and memory when a load executes. The cover shows the PRG32-QT debugger, whose memory view serves as the instrument of observation throughout. The epigraph from Tron is playful but makes a serious point: a machine with memory can retain a state, and with state it can do almost anything, as the previous two lectures established.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memories and addresses; little-endian byte order; processor and memory; memory-mapped I/O. USE NOW: the complete program, the PRG32 tools (used, not studied, in this course). UNDERSTAND LATER: nothing. A slide without a badge is context: a story, an example, a question, an exercise.
For the lecturer: Spiral: lw and lbu on the same word show byte addresses and byte order on a real RISC-V machine; the lecture then explains what a memory is, how it is organised and how the processor talks to it. The original deck used the MC68000 (big-endian, no misaligned words) as its example: RISC-V takes its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Classifying memories as volatile or persistent, on-line or off-line, and placing them in a hierarchy. Describing how SRAM and DRAM store a bit and why they serve different purposes. Explaining words, addresses and byte-addressable memory. Distinguishing little-endian from big-endian ordering. Describing step by step how the processor reads and writes a word. And explaining memory-mapped input/output and DMA.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is the part of a computer dedicated to retaining data and the instructions of programs. Two distinctions classify it. Volatile memories retain information only while powered; persistent ones retain it when power is removed. On-line means that the data are always accessible; off-line means that a medium must first be mounted, as a tape taken from a shelf.
UNDERSTAND NOW: memories and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hierarchy. At the top are the registers, within the processor; then the cache, main memory, solid-state and magnetic disks, and finally tapes and removable media. Moving upwards, memories become faster and more expensive per bit; moving downwards, larger and cheaper. The upper levels are volatile, the lower ones persistent. The last line states the reason for the hierarchy: no single technology is simultaneously fast, large and inexpensive, so a computer combines several and exploits the locality of programs to make the combination behave almost as well as the fastest level.
UNDERSTAND NOW: memories and addresses.
For the lecturer: Tipologie di memoria. Typical access times: registers and cache below a nanosecond to a few nanoseconds; DRAM tens of nanoseconds; SSD tens of microseconds; magnetic disks milliseconds; tape seconds to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magnetic-core memory each bit is a small ferrite ring, and its value is the direction of magnetisation of the ring. It was the main memory of the computers of the 1950s and 1960s, and it retained its content without power. The research began with An Wang at Harvard in 1949; Jay Forrester at MIT made it practical for the Whirlwind computer. In the photograph each ring is threaded by wires, and each ring is one bit.
For the lecturer: Memorie a nuclei di ferrite. Wang's pulse transfer controlling device used a magnetic field to control an electromechanical system.
Pictures: HP 9101A extended memory unit.- magnetic core memory module - macro detail.jpg, Mister rf,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 core is read and written. Two wires, X and Y, select one ring. Reading drives the selected core to 0: if it held a 1, a pulse appears on the sense wire, otherwise nothing does. Reading is therefore destructive, and every read must be followed by a write that restores the datum. Writing drives the selected core to 1 unless an inhibit wire prevents it. The pattern of destructive read followed by rewrite deserves to be remembered, because it recurs in contemporary DRAM.
For the lecturer: Sense and inhibit share one wire (S|I). Destructive read followed by rewrite returns today in DRAM.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families of random-access memory. In static RAM each bit is held by a bistable circuit of the kind studied in Lecture 13: it retains its value as long as power is present, it is fast, and it requires several transistors per bit, which makes it costly; it is used for caches. In dynamic RAM each bit is a charge stored in a tiny capacitor behind a single transistor: it is dense and inexpensive, but the charge leaks away, so the content must be refreshed periodically; it is the main memory of laptops and phones. The chip of the kit contains only SRAM.
UNDERSTAND NOW: memories and addresses.
For the lecturer: DDR4 and DDR5 are generations of SDRAM. The ESP32-C6 has 512 KB of SRAM and no DRAM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technologies. Ferroelectric RAM retains its state without power. Flash memory is persistent and is erased in blocks; it is the memory of USB keys, phones and solid-state disks, studied in Lecture 16. One line concerns the kit directly: in a microcontroller the program resides in flash and the variables in SRAM, which is why cartridges distinguish a section of constants from a section of variables. The memory modules of a PC have grown, over the decades, from a few megabytes to tens of gigabytes each.
UNDERSTAND NOW: memories and addresses.
For the lecturer: The module pictures of the original deck (SIMM EDO, SDRAM PC100 32 MB, PC133 64 MB, Rambus PC800 128 MB, DDR PC2100, ECC registered 256 MB) are summarised here. Flash and solid-state disks are treated in the next lecture.
Pictures: Platinen-001 hg.jpg, Hannes Grobe,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memory is an array of words, each a string of m bits that the processor reads or writes in a single operation. Each word has an address, a number from 0 to N - 1 written on n bits, with N = 2^n. The address is a code word, and the memory decodes it exactly as the small memory of Lecture 14 did. Random access means that the access time does not depend on the position: every word is reached equally fast. Thirty-two address bits yield four gibibytes of addresses.
UNDERSTAND NOW: memories and addresses.
For the lecturer: Thirty-two address bits give 2^32 addresses: 4 GiB. The decoder of Lecture 11 and the small memory of Lecture 14, scaled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byte-addressable memory the smallest addressable unit is the byte. A 32-bit word therefore occupies four consecutive addresses, and its address is that of its first byte. The strip shows the word of the warm-up followed by three characters. Two consequences have already been encountered: the program counter advances by 4 from one instruction to the next, and the index into an array of words is multiplied by 4. RISC-V provides loads and stores for each size: bytes, halfwords and words.
UNDERSTAND NOW: memories and addresses.
For the lecturer: Each cell is one byte of eight bits, from the most significant (bit 7) to the least significant (bit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orderings of the bytes of a word. Little-endian: the least significant byte at the lowest address. Big-endian: the most significant byte first. The same word, 0x10A3E6FF, is shown stored both ways. RISC-V is little-endian, like nearly every processor in current use; network protocols, for historical reasons, transmit data big-endian. The distinction becomes visible when memory is inspected byte by byte, or when two machines of different convention exchange binary data. The byte-order slide of Lecture 04 is here completed and turned into an experiment.
UNDERSTAND NOW: little-endian byte order.
For the lecturer: The original deck contrasted the MC68000 (big-endian) with Intel x86 (little-endian); the example values are the same. Also called diretto (little) and inverso (big).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parameters characterise a memory: its capacity, the number of locations and the number of bits in each, and its access time. The figures for the kit are worth retaining: 512 KB of SRAM, 320 KB of ROM, and an external flash of a few megabytes. Of these, the PRG32 menu reports what remains available to programs: about 98 KB of RAM and 509 KB of flash for cartridges. This is eight times the memory of a Commodore 64, and a minute fraction of a laptop's.
UNDERSTAND NOW: memories and addresses.
For the lecturer: Values from the ESP32-C6 datasheet and from the PRG32 setup screen (RAM 98K, CART FLASH 509K, CART RAM 32K). A Commodore 64 had 64 KB in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Within the processor two registers face the memory: MA, the memory address register, and MB, the memory buffer register. Three groups of lines connect them to the memory: the address bus, unidirectional, from processor to memory; the data bus, bidirectional; and the control lines, read enable and write enable, which specify the operation requested. MA and MB belong to the reference model of the processor of Lecture 18; they are internal and do not appear among the registers available in assembly.
UNDERSTAND NOW: processor and memory.
For the lecturer: MA and MB are internal registers of the textbook processor model (Lecture 18): they are not among the thirty-two registers a RISC-V programmer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processor and memory agree on when the datum is ready? In the asynchronous technique the memory signals completion on a dedicated line and the processor waits; the scheme is more complex, but the two can be designed independently. In the synchronous technique a clock paces the operation, which completes within a cycle whose length is chosen according to the speed of the memory; the scheme is simpler, and it is the rule within a single chip.
UNDERSTAND NOW: processor and memory.
For the lecturer: The read/write operation itself can be coded in different ways, for example a single R/W line qualified by an enable.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attaching input and output. With a single bus, memory-mapped I/O, memory and devices share one address space, and a device register is read and written like any memory location, with no special instructions. With separate buses, isolated I/O, there are two address spaces and dedicated instructions. RISC-V adopts the first approach: it has no input or output instructions whatever, only loads and stores. The uniformity simplifies the instruction set at the cost of reserving part of the address space.
UNDERSTAND NOW: memory-mapped I/O.
For the lecturer: The I/O subsystem lets the processor interact with input devices (keyboard, mouse), output devices (screen, printer) and input/output devices (mass storage, network cards, serial 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 is in fact three buses: data, address and control. One further mechanism completes the picture. With direct memory access, DMA, a device exchanges entire blocks of data with memory directly: the processor initiates the transfer and is notified on completion, without copying each word itself. The display of the kit receives every frame in this way, and so does the audio amplifier. Lecture 21 places DMA among the three ways of dealing with a device.
UNDERSTAND NOW: memory-mapped I/O.
For the lecturer: If several units share the bus and can access the memory directly, a DMA controller arbitrates. On the ESP32-C6 the SPI and I2S peripherals use DMA to stream the frame buffer and the audio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sixteen address lines select 2^16 locations, each of one byte, and 2^10 = 1,024 bytes is one kibibyte.
For the second: in little-endian order the question is which byte of 0xCAFE0001 is the least significant. That byte occupies the lowest address, and lbu with offset 0 reads it.
For the lecturer: 1. Answer: C. 2^16 = 65,536 locations of one byte: 64 KiB, the address space of a Commodore 64.
2. Answer: D. Little-endian: the least significant byte, 0x01, is at the lowest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recalls how DRAM stores a bit, as a charge in a tiny capacitor, and asks what becomes of a charge left to itself. Refresh concerns neither speed nor random access.
For the second: RISC-V has no out instruction and no thirty-third register. Devices have addresses, and a program reaches them with the same instructions it uses for memory.
For the lecturer: 1. Answer: A. Each bit is a charge in a capacitor that leaks away; a circuit inside the memory rewrites every cell periodically.
2. Answer: B. RISC-V has no I/O instructions: devices are memory-mapped and reached with ordinary loads and stores.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Main memory is memoria centrale. Access time is tempo di accesso. A magnetic core is a nucleo di ferrite. Refresh is the periodic rewriting of a DRAM. Memory-mapped I/O is input/output accessed through memory addresses. The address bus and the data bus are the two principal groups of lines of the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Memory is the component that retains the state of data. Different kinds serve different purposes, because none is fast, large and cheap at once. Data are stored as addressed words; RISC-V addresses individual bytes and orders them little-endian. An access proceeds by selection on the address bus, transfer on the data bus, and coordination through the control lines. And in RISC-V devices are reached exactly as memory is. The next lecture treats memory that survives the removal of power, together with the cache.
Learning status, recap. UNDERSTAND NOW: memories and addresses; little-endian byte order; processor and memory; memory-mapped I/O. USE NOW: the complete program, the PRG32 tools (used, not studied, in this course). UNDERSTAND LATER: nothing. A slide without a badge is context: a story, an example, a question, an exercise.
For the lecturer: Next lecture: permanent memory and the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15: Memory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Memory</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From magnetic cores to RAM: words, addresses, byte order and the dialogue between processor and memory</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“...computers and the programs will start thinking and the people will stop.”</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Dr. Walter Gibbs, Tron, Steven Lisberger, 1982</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15-Computer_Architecture-Memory-Lab.pptx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Classify memories: volatile or persistent, on-line or off-line, and place them in the memory hierarchy</a:t>
            </a:r>
            <a:endParaRPr lang="en-US" sz="2200" dirty="0"/>
          </a:p>
        </p:txBody>
      </p:sp>
      <p:sp>
        <p:nvSpPr>
          <p:cNvPr id="5" name="Text 3"/>
          <p:cNvSpPr txBox="1"/>
          <p:nvPr/>
        </p:nvSpPr>
        <p:spPr>
          <a:xfrm>
            <a:off x="548640" y="24444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2620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how SRAM and DRAM store a bit, and why they are used for different jobs</a:t>
            </a:r>
            <a:endParaRPr lang="en-US" sz="2200" dirty="0"/>
          </a:p>
        </p:txBody>
      </p:sp>
      <p:sp>
        <p:nvSpPr>
          <p:cNvPr id="7" name="Text 5"/>
          <p:cNvSpPr txBox="1"/>
          <p:nvPr/>
        </p:nvSpPr>
        <p:spPr>
          <a:xfrm>
            <a:off x="548640" y="34533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3509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words, addresses and byte-addressable memory are</a:t>
            </a:r>
            <a:endParaRPr lang="en-US" sz="2200" dirty="0"/>
          </a:p>
        </p:txBody>
      </p:sp>
      <p:sp>
        <p:nvSpPr>
          <p:cNvPr id="9" name="Text 7"/>
          <p:cNvSpPr txBox="1"/>
          <p:nvPr/>
        </p:nvSpPr>
        <p:spPr>
          <a:xfrm>
            <a:off x="548640" y="42194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011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Tell little-endian from big-endian order, and say which one RISC-V uses</a:t>
            </a:r>
            <a:endParaRPr lang="en-US" sz="2200" dirty="0"/>
          </a:p>
        </p:txBody>
      </p:sp>
      <p:sp>
        <p:nvSpPr>
          <p:cNvPr id="11" name="Text 9"/>
          <p:cNvSpPr txBox="1"/>
          <p:nvPr/>
        </p:nvSpPr>
        <p:spPr>
          <a:xfrm>
            <a:off x="548640" y="4985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967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step by step how the processor reads and writes a word</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memory-mapped input/output and what DMA is for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Memory</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The memory is the element of a computer, or of one of its subsystems, dedicated to the persistence of data and of the instructions of programs.</a:t>
            </a:r>
            <a:endParaRPr lang="en-US" sz="2200" dirty="0"/>
          </a:p>
        </p:txBody>
      </p:sp>
      <p:sp>
        <p:nvSpPr>
          <p:cNvPr id="6" name="Shape 4"/>
          <p:cNvSpPr/>
          <p:nvPr/>
        </p:nvSpPr>
        <p:spPr>
          <a:xfrm>
            <a:off x="548640" y="3439922"/>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Memories are the components of a computer able to store information: data, programs and results</a:t>
            </a:r>
            <a:endParaRPr lang="en-US" sz="2200" dirty="0"/>
          </a:p>
        </p:txBody>
      </p:sp>
      <p:sp>
        <p:nvSpPr>
          <p:cNvPr id="8" name="Shape 6"/>
          <p:cNvSpPr/>
          <p:nvPr/>
        </p:nvSpPr>
        <p:spPr>
          <a:xfrm>
            <a:off x="548640" y="4386157"/>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27973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Volatile: the information is kept only as long as the computer is powered</a:t>
            </a:r>
            <a:endParaRPr lang="en-US" sz="2200" dirty="0"/>
          </a:p>
        </p:txBody>
      </p:sp>
      <p:sp>
        <p:nvSpPr>
          <p:cNvPr id="10" name="Shape 8"/>
          <p:cNvSpPr/>
          <p:nvPr/>
        </p:nvSpPr>
        <p:spPr>
          <a:xfrm>
            <a:off x="548640" y="499152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885097"/>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Persistent: the information is kept even when the computer is switched off</a:t>
            </a:r>
            <a:endParaRPr lang="en-US" sz="2200" dirty="0"/>
          </a:p>
        </p:txBody>
      </p:sp>
      <p:sp>
        <p:nvSpPr>
          <p:cNvPr id="12" name="Shape 10"/>
          <p:cNvSpPr/>
          <p:nvPr/>
        </p:nvSpPr>
        <p:spPr>
          <a:xfrm>
            <a:off x="548640" y="5596890"/>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On-line: the data are always accessible. Off-line: the medium must be mounted before the data can be reached</a:t>
            </a:r>
            <a:endParaRPr lang="en-US" sz="22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memory hierarchy</a:t>
            </a:r>
            <a:endParaRPr lang="en-US" sz="3200" dirty="0"/>
          </a:p>
        </p:txBody>
      </p:sp>
      <p:sp>
        <p:nvSpPr>
          <p:cNvPr id="3" name="Text 1"/>
          <p:cNvSpPr txBox="1"/>
          <p:nvPr/>
        </p:nvSpPr>
        <p:spPr>
          <a:xfrm>
            <a:off x="2560320" y="1463040"/>
            <a:ext cx="2011680" cy="786384"/>
          </a:xfrm>
          <a:prstGeom prst="roundRect">
            <a:avLst>
              <a:gd name="adj" fmla="val 6977"/>
            </a:avLst>
          </a:prstGeom>
          <a:solidFill>
            <a:srgbClr val="B23A48"/>
          </a:solidFill>
          <a:ln>
            <a:solidFill>
              <a:srgbClr val="B23A48"/>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registers</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inside the processor</a:t>
            </a:r>
            <a:endParaRPr lang="en-US" sz="1500" dirty="0"/>
          </a:p>
        </p:txBody>
      </p:sp>
      <p:sp>
        <p:nvSpPr>
          <p:cNvPr id="4" name="Text 2"/>
          <p:cNvSpPr txBox="1"/>
          <p:nvPr/>
        </p:nvSpPr>
        <p:spPr>
          <a:xfrm>
            <a:off x="2080260" y="2359152"/>
            <a:ext cx="2971800" cy="786384"/>
          </a:xfrm>
          <a:prstGeom prst="roundRect">
            <a:avLst>
              <a:gd name="adj" fmla="val 6977"/>
            </a:avLst>
          </a:prstGeom>
          <a:solidFill>
            <a:srgbClr val="C7791B"/>
          </a:solidFill>
          <a:ln>
            <a:solidFill>
              <a:srgbClr val="C7791B"/>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cache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SRAM, on the processor chip</a:t>
            </a:r>
            <a:endParaRPr lang="en-US" sz="1500" dirty="0"/>
          </a:p>
        </p:txBody>
      </p:sp>
      <p:sp>
        <p:nvSpPr>
          <p:cNvPr id="5" name="Text 3"/>
          <p:cNvSpPr txBox="1"/>
          <p:nvPr/>
        </p:nvSpPr>
        <p:spPr>
          <a:xfrm>
            <a:off x="1600200" y="3255264"/>
            <a:ext cx="3931920" cy="786384"/>
          </a:xfrm>
          <a:prstGeom prst="roundRect">
            <a:avLst>
              <a:gd name="adj" fmla="val 6977"/>
            </a:avLst>
          </a:prstGeom>
          <a:solidFill>
            <a:srgbClr val="0E7C86"/>
          </a:solidFill>
          <a:ln>
            <a:solidFill>
              <a:srgbClr val="0E7C86"/>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main memory</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DRAM</a:t>
            </a:r>
            <a:endParaRPr lang="en-US" sz="1500" dirty="0"/>
          </a:p>
        </p:txBody>
      </p:sp>
      <p:sp>
        <p:nvSpPr>
          <p:cNvPr id="6" name="Text 4"/>
          <p:cNvSpPr txBox="1"/>
          <p:nvPr/>
        </p:nvSpPr>
        <p:spPr>
          <a:xfrm>
            <a:off x="1120140" y="4151376"/>
            <a:ext cx="4892040" cy="786384"/>
          </a:xfrm>
          <a:prstGeom prst="roundRect">
            <a:avLst>
              <a:gd name="adj" fmla="val 6977"/>
            </a:avLst>
          </a:prstGeom>
          <a:solidFill>
            <a:srgbClr val="2E4A62"/>
          </a:solidFill>
          <a:ln>
            <a:solidFill>
              <a:srgbClr val="2E4A62"/>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solid-state and magnetic disks</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persistent, on-line</a:t>
            </a:r>
            <a:endParaRPr lang="en-US" sz="1500" dirty="0"/>
          </a:p>
        </p:txBody>
      </p:sp>
      <p:sp>
        <p:nvSpPr>
          <p:cNvPr id="7" name="Text 5"/>
          <p:cNvSpPr txBox="1"/>
          <p:nvPr/>
        </p:nvSpPr>
        <p:spPr>
          <a:xfrm>
            <a:off x="640080" y="5047488"/>
            <a:ext cx="5852160" cy="786384"/>
          </a:xfrm>
          <a:prstGeom prst="roundRect">
            <a:avLst>
              <a:gd name="adj" fmla="val 6977"/>
            </a:avLst>
          </a:prstGeom>
          <a:solidFill>
            <a:srgbClr val="6B4FA0"/>
          </a:solidFill>
          <a:ln>
            <a:solidFill>
              <a:srgbClr val="6B4FA0"/>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tapes and removable media</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persistent, off-line</a:t>
            </a:r>
            <a:endParaRPr lang="en-US" sz="1500" dirty="0"/>
          </a:p>
        </p:txBody>
      </p:sp>
      <p:sp>
        <p:nvSpPr>
          <p:cNvPr id="8" name="Shape 6"/>
          <p:cNvSpPr/>
          <p:nvPr/>
        </p:nvSpPr>
        <p:spPr>
          <a:xfrm flipV="1">
            <a:off x="6675120" y="1554480"/>
            <a:ext cx="0" cy="4206240"/>
          </a:xfrm>
          <a:prstGeom prst="line">
            <a:avLst/>
          </a:prstGeom>
          <a:noFill/>
          <a:ln w="31750">
            <a:solidFill>
              <a:srgbClr val="5B6B78"/>
            </a:solidFill>
            <a:prstDash val="solid"/>
            <a:tailEnd type="triangle"/>
          </a:ln>
        </p:spPr>
      </p:sp>
      <p:sp>
        <p:nvSpPr>
          <p:cNvPr id="9" name="Text 7"/>
          <p:cNvSpPr txBox="1"/>
          <p:nvPr/>
        </p:nvSpPr>
        <p:spPr>
          <a:xfrm>
            <a:off x="6812280" y="1508760"/>
            <a:ext cx="1463040" cy="82296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faster,</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more expensive</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per bit</a:t>
            </a:r>
            <a:endParaRPr lang="en-US" sz="1250" dirty="0"/>
          </a:p>
        </p:txBody>
      </p:sp>
      <p:sp>
        <p:nvSpPr>
          <p:cNvPr id="10" name="Text 8"/>
          <p:cNvSpPr txBox="1"/>
          <p:nvPr/>
        </p:nvSpPr>
        <p:spPr>
          <a:xfrm>
            <a:off x="6812280" y="5029200"/>
            <a:ext cx="1463040" cy="82296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larger,</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cheaper</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per bit</a:t>
            </a:r>
            <a:endParaRPr lang="en-US" sz="1250" dirty="0"/>
          </a:p>
        </p:txBody>
      </p:sp>
      <p:sp>
        <p:nvSpPr>
          <p:cNvPr id="11" name="Shape 9"/>
          <p:cNvSpPr/>
          <p:nvPr/>
        </p:nvSpPr>
        <p:spPr>
          <a:xfrm>
            <a:off x="8412480" y="1515999"/>
            <a:ext cx="146304" cy="146304"/>
          </a:xfrm>
          <a:prstGeom prst="rect">
            <a:avLst/>
          </a:prstGeom>
          <a:solidFill>
            <a:srgbClr val="0E7C86"/>
          </a:solidFill>
          <a:ln w="12700">
            <a:solidFill>
              <a:srgbClr val="0E7C86"/>
            </a:solidFill>
            <a:prstDash val="solid"/>
          </a:ln>
        </p:spPr>
      </p:sp>
      <p:sp>
        <p:nvSpPr>
          <p:cNvPr id="12" name="Text 10"/>
          <p:cNvSpPr txBox="1"/>
          <p:nvPr/>
        </p:nvSpPr>
        <p:spPr>
          <a:xfrm>
            <a:off x="8796528" y="1417320"/>
            <a:ext cx="284652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 the same size, cost decreases from top to bottom</a:t>
            </a:r>
            <a:endParaRPr lang="en-US" sz="2100" dirty="0"/>
          </a:p>
        </p:txBody>
      </p:sp>
      <p:sp>
        <p:nvSpPr>
          <p:cNvPr id="13" name="Shape 11"/>
          <p:cNvSpPr/>
          <p:nvPr/>
        </p:nvSpPr>
        <p:spPr>
          <a:xfrm>
            <a:off x="8412480" y="2667127"/>
            <a:ext cx="146304" cy="146304"/>
          </a:xfrm>
          <a:prstGeom prst="rect">
            <a:avLst/>
          </a:prstGeom>
          <a:solidFill>
            <a:srgbClr val="C7791B"/>
          </a:solidFill>
          <a:ln w="12700">
            <a:solidFill>
              <a:srgbClr val="C7791B"/>
            </a:solidFill>
            <a:prstDash val="solid"/>
          </a:ln>
        </p:spPr>
      </p:sp>
      <p:sp>
        <p:nvSpPr>
          <p:cNvPr id="14" name="Text 12"/>
          <p:cNvSpPr txBox="1"/>
          <p:nvPr/>
        </p:nvSpPr>
        <p:spPr>
          <a:xfrm>
            <a:off x="8796528" y="2568448"/>
            <a:ext cx="284652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Performance increases from bottom to top</a:t>
            </a:r>
            <a:endParaRPr lang="en-US" sz="2100" dirty="0"/>
          </a:p>
        </p:txBody>
      </p:sp>
      <p:sp>
        <p:nvSpPr>
          <p:cNvPr id="15" name="Shape 13"/>
          <p:cNvSpPr/>
          <p:nvPr/>
        </p:nvSpPr>
        <p:spPr>
          <a:xfrm>
            <a:off x="8412480" y="3492881"/>
            <a:ext cx="146304" cy="146304"/>
          </a:xfrm>
          <a:prstGeom prst="rect">
            <a:avLst/>
          </a:prstGeom>
          <a:solidFill>
            <a:srgbClr val="0E7C86"/>
          </a:solidFill>
          <a:ln w="12700">
            <a:solidFill>
              <a:srgbClr val="0E7C86"/>
            </a:solidFill>
            <a:prstDash val="solid"/>
          </a:ln>
        </p:spPr>
      </p:sp>
      <p:sp>
        <p:nvSpPr>
          <p:cNvPr id="16" name="Text 14"/>
          <p:cNvSpPr txBox="1"/>
          <p:nvPr/>
        </p:nvSpPr>
        <p:spPr>
          <a:xfrm>
            <a:off x="8796528" y="3394202"/>
            <a:ext cx="284652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upper levels are volatile; the lower ones are persistent</a:t>
            </a:r>
            <a:endParaRPr lang="en-US" sz="2100" dirty="0"/>
          </a:p>
        </p:txBody>
      </p:sp>
      <p:sp>
        <p:nvSpPr>
          <p:cNvPr id="17" name="Shape 15"/>
          <p:cNvSpPr/>
          <p:nvPr/>
        </p:nvSpPr>
        <p:spPr>
          <a:xfrm>
            <a:off x="8412480" y="4644009"/>
            <a:ext cx="146304" cy="146304"/>
          </a:xfrm>
          <a:prstGeom prst="rect">
            <a:avLst/>
          </a:prstGeom>
          <a:solidFill>
            <a:srgbClr val="C7791B"/>
          </a:solidFill>
          <a:ln w="12700">
            <a:solidFill>
              <a:srgbClr val="C7791B"/>
            </a:solidFill>
            <a:prstDash val="solid"/>
          </a:ln>
        </p:spPr>
      </p:sp>
      <p:sp>
        <p:nvSpPr>
          <p:cNvPr id="18" name="Text 16"/>
          <p:cNvSpPr txBox="1"/>
          <p:nvPr/>
        </p:nvSpPr>
        <p:spPr>
          <a:xfrm>
            <a:off x="8796528" y="4545330"/>
            <a:ext cx="2846527" cy="162687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 single technology is fast, large and cheap at once: a computer combines several</a:t>
            </a:r>
            <a:endParaRPr lang="en-US" sz="2100" dirty="0"/>
          </a:p>
        </p:txBody>
      </p:sp>
      <p:sp>
        <p:nvSpPr>
          <p:cNvPr id="19" name="Shape 17"/>
          <p:cNvSpPr/>
          <p:nvPr/>
        </p:nvSpPr>
        <p:spPr>
          <a:xfrm>
            <a:off x="8222056" y="91440"/>
            <a:ext cx="3420999" cy="274320"/>
          </a:xfrm>
          <a:prstGeom prst="rect">
            <a:avLst/>
          </a:prstGeom>
          <a:solidFill>
            <a:srgbClr val="E0F2FE"/>
          </a:solidFill>
          <a:ln w="12700">
            <a:solidFill>
              <a:srgbClr val="0369A1"/>
            </a:solidFill>
            <a:prstDash val="solid"/>
          </a:ln>
        </p:spPr>
      </p:sp>
      <p:sp>
        <p:nvSpPr>
          <p:cNvPr id="20" name="Shape 18"/>
          <p:cNvSpPr/>
          <p:nvPr/>
        </p:nvSpPr>
        <p:spPr>
          <a:xfrm>
            <a:off x="8222056"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2" name="Text 19"/>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Magnetic-core memory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Small magnetic rings of ceramic store the digital information: a bit is the direction of the magnetic field of a ring</a:t>
            </a:r>
            <a:endParaRPr lang="en-US" sz="2200" dirty="0"/>
          </a:p>
        </p:txBody>
      </p:sp>
      <p:sp>
        <p:nvSpPr>
          <p:cNvPr id="5" name="Shape 3"/>
          <p:cNvSpPr/>
          <p:nvPr/>
        </p:nvSpPr>
        <p:spPr>
          <a:xfrm>
            <a:off x="548640" y="27976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125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static memory: it keeps its contents without power</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Used in the first computers, before semiconductor memories became widespread</a:t>
            </a:r>
            <a:endParaRPr lang="en-US" sz="2200" dirty="0"/>
          </a:p>
        </p:txBody>
      </p:sp>
      <p:sp>
        <p:nvSpPr>
          <p:cNvPr id="9" name="Shape 7"/>
          <p:cNvSpPr/>
          <p:nvPr/>
        </p:nvSpPr>
        <p:spPr>
          <a:xfrm>
            <a:off x="548640" y="466382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739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First research by An Wang and Way-Dong Woo at Harvard, 1949</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Jay Forrester at MIT, early 1950s: the Whirlwind computer, a flight simulator</a:t>
            </a:r>
            <a:endParaRPr lang="en-US" sz="2200" dirty="0"/>
          </a:p>
        </p:txBody>
      </p:sp>
      <p:pic>
        <p:nvPicPr>
          <p:cNvPr id="13" name="Image 0" descr="/Users/raffaelemontella/devel/riscv-prg32/computer-architecture-with-prg32/tools/assets/core_memory.jpg">    </p:cNvPr>
          <p:cNvPicPr>
            <a:picLocks noChangeAspect="1"/>
          </p:cNvPicPr>
          <p:nvPr/>
        </p:nvPicPr>
        <p:blipFill>
          <a:blip r:embed="rId1"/>
          <a:stretch>
            <a:fillRect/>
          </a:stretch>
        </p:blipFill>
        <p:spPr>
          <a:xfrm>
            <a:off x="7863840" y="2030365"/>
            <a:ext cx="3779215" cy="307159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Ferrite cores threaded by the X, Y and sense wires</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Reading and writing a core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Reading is destructive</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Two address lines, X and Y, select one core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selected bit is set to 0</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If it contained 1, a pulse appears on the sense line; otherwise nothing</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Wang's solution: every read is followed by a write that stores the datum again</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Writing</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All the bits start at 0</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X and Y select the core, which is set to 1</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If the bit must be 0, the inhibit line prevents the change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Forrester's contribution: fewer connections to manage a large number of cores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SRAM and DRAM</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SRAM: static RAM</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Each bit is held by a bistable circuit, as in a D flip-flop</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The cells are arranged in a matrix and reached by row and column</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Keeps its contents as long as it is powered</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Fast and expensive: used for cache memories</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The main memory of a microcontroller such as the ESP32-C6 is SRAM</a:t>
            </a:r>
            <a:endParaRPr lang="en-US" sz="18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DRAM: dynamic RAM</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Each bit is a charge in a tiny capacitor, behind one transistor</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The capacitor discharges: the contents must be refreshed periodically, by a circuit inside the memory</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Cheap and dense: used for the main memory of laptops, phones and servers</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SDRAM: synchronous DRAM, whose access is governed by a clock</a:t>
            </a:r>
            <a:endParaRPr lang="en-US" sz="1800" dirty="0"/>
          </a:p>
        </p:txBody>
      </p:sp>
      <p:sp>
        <p:nvSpPr>
          <p:cNvPr id="9" name="Shape 7"/>
          <p:cNvSpPr/>
          <p:nvPr/>
        </p:nvSpPr>
        <p:spPr>
          <a:xfrm>
            <a:off x="8222056" y="91440"/>
            <a:ext cx="3420999" cy="274320"/>
          </a:xfrm>
          <a:prstGeom prst="rect">
            <a:avLst/>
          </a:prstGeom>
          <a:solidFill>
            <a:srgbClr val="E0F2FE"/>
          </a:solidFill>
          <a:ln w="12700">
            <a:solidFill>
              <a:srgbClr val="0369A1"/>
            </a:solidFill>
            <a:prstDash val="solid"/>
          </a:ln>
        </p:spPr>
      </p:sp>
      <p:sp>
        <p:nvSpPr>
          <p:cNvPr id="10" name="Shape 8"/>
          <p:cNvSpPr/>
          <p:nvPr/>
        </p:nvSpPr>
        <p:spPr>
          <a:xfrm>
            <a:off x="8222056"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2" name="Text 9"/>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Other memories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FeRAM, ferroelectric RAM: keeps its state without power</a:t>
            </a:r>
            <a:endParaRPr lang="en-US" sz="2400" dirty="0"/>
          </a:p>
        </p:txBody>
      </p:sp>
      <p:sp>
        <p:nvSpPr>
          <p:cNvPr id="5" name="Shape 3"/>
          <p:cNvSpPr/>
          <p:nvPr/>
        </p:nvSpPr>
        <p:spPr>
          <a:xfrm>
            <a:off x="548640" y="252653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04618"/>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Flash: persistent, erased in blocks; the memory of USB keys, phones and solid-state disks</a:t>
            </a:r>
            <a:endParaRPr lang="en-US" sz="2400" dirty="0"/>
          </a:p>
        </p:txBody>
      </p:sp>
      <p:sp>
        <p:nvSpPr>
          <p:cNvPr id="7" name="Shape 5"/>
          <p:cNvSpPr/>
          <p:nvPr/>
        </p:nvSpPr>
        <p:spPr>
          <a:xfrm>
            <a:off x="548640" y="38856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63772"/>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program of a microcontroller lives in flash and its variables in SRAM</a:t>
            </a:r>
            <a:endParaRPr lang="en-US" sz="2400" dirty="0"/>
          </a:p>
        </p:txBody>
      </p:sp>
      <p:sp>
        <p:nvSpPr>
          <p:cNvPr id="9" name="Shape 7"/>
          <p:cNvSpPr/>
          <p:nvPr/>
        </p:nvSpPr>
        <p:spPr>
          <a:xfrm>
            <a:off x="548640" y="48729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51070"/>
            <a:ext cx="6565392" cy="142113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Memory modules through the years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SIMM, SDRAM PC100 and PC133, Rambus, DDR: tens to hundreds of megabytes each</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today: DDR5 modules of 16 to 64 GB</a:t>
            </a:r>
            <a:endParaRPr lang="en-US" sz="2400" dirty="0"/>
          </a:p>
        </p:txBody>
      </p:sp>
      <p:pic>
        <p:nvPicPr>
          <p:cNvPr id="11" name="Image 0" descr="/Users/raffaelemontella/devel/riscv-prg32/computer-architecture-with-prg32/tools/assets/ram_modules.jpg">    </p:cNvPr>
          <p:cNvPicPr>
            <a:picLocks noChangeAspect="1"/>
          </p:cNvPicPr>
          <p:nvPr/>
        </p:nvPicPr>
        <p:blipFill>
          <a:blip r:embed="rId1"/>
          <a:stretch>
            <a:fillRect/>
          </a:stretch>
        </p:blipFill>
        <p:spPr>
          <a:xfrm>
            <a:off x="7863840" y="2323153"/>
            <a:ext cx="3779215" cy="2486015"/>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Memory modules of different generations</a:t>
            </a:r>
            <a:endParaRPr lang="en-US" sz="1200" dirty="0"/>
          </a:p>
        </p:txBody>
      </p:sp>
      <p:sp>
        <p:nvSpPr>
          <p:cNvPr id="13" name="Shape 10"/>
          <p:cNvSpPr/>
          <p:nvPr/>
        </p:nvSpPr>
        <p:spPr>
          <a:xfrm>
            <a:off x="8222056" y="91440"/>
            <a:ext cx="3420999" cy="274320"/>
          </a:xfrm>
          <a:prstGeom prst="rect">
            <a:avLst/>
          </a:prstGeom>
          <a:solidFill>
            <a:srgbClr val="E0F2FE"/>
          </a:solidFill>
          <a:ln w="12700">
            <a:solidFill>
              <a:srgbClr val="0369A1"/>
            </a:solidFill>
            <a:prstDash val="solid"/>
          </a:ln>
        </p:spPr>
      </p:sp>
      <p:sp>
        <p:nvSpPr>
          <p:cNvPr id="14" name="Shape 11"/>
          <p:cNvSpPr/>
          <p:nvPr/>
        </p:nvSpPr>
        <p:spPr>
          <a:xfrm>
            <a:off x="8222056" y="91440"/>
            <a:ext cx="73152" cy="274320"/>
          </a:xfrm>
          <a:prstGeom prst="rect">
            <a:avLst/>
          </a:prstGeom>
          <a:solidFill>
            <a:srgbClr val="0369A1"/>
          </a:solidFill>
          <a:ln w="12700">
            <a:solidFill>
              <a:srgbClr val="0369A1"/>
            </a:solidFill>
            <a:prstDash val="solid"/>
          </a:ln>
        </p:spPr>
      </p:sp>
      <p:pic>
        <p:nvPicPr>
          <p:cNvPr id="15" name="Image 1" descr="preencoded.png">    </p:cNvPr>
          <p:cNvPicPr>
            <a:picLocks noChangeAspect="1"/>
          </p:cNvPicPr>
          <p:nvPr/>
        </p:nvPicPr>
        <p:blipFill>
          <a:blip r:embed="rId2"/>
          <a:stretch>
            <a:fillRect/>
          </a:stretch>
        </p:blipFill>
        <p:spPr>
          <a:xfrm>
            <a:off x="8350072" y="128016"/>
            <a:ext cx="201168" cy="201168"/>
          </a:xfrm>
          <a:prstGeom prst="rect">
            <a:avLst/>
          </a:prstGeom>
        </p:spPr>
      </p:pic>
      <p:sp>
        <p:nvSpPr>
          <p:cNvPr id="16" name="Text 12"/>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Words and addresses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main memory is an array of words; a word is a string of m bits</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processor accesses the m bits of a word with a single read or write operation</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word is identified by an address: an integer between 0 and N - 1, represented on n bits, with N = 2^n</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Random access memory, RAM: the access time does not depend on the position of the datum</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Word processors access memory with a parallelism equal to the word length: 16, 32 or 64 bits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 2^n</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 address bits select one of N locations: the address is a code word, the memory decodes it</a:t>
            </a:r>
            <a:endParaRPr lang="en-US" sz="1900" dirty="0"/>
          </a:p>
        </p:txBody>
      </p:sp>
      <p:sp>
        <p:nvSpPr>
          <p:cNvPr id="16" name="Shape 14"/>
          <p:cNvSpPr/>
          <p:nvPr/>
        </p:nvSpPr>
        <p:spPr>
          <a:xfrm>
            <a:off x="8222056" y="91440"/>
            <a:ext cx="3420999" cy="274320"/>
          </a:xfrm>
          <a:prstGeom prst="rect">
            <a:avLst/>
          </a:prstGeom>
          <a:solidFill>
            <a:srgbClr val="E0F2FE"/>
          </a:solidFill>
          <a:ln w="12700">
            <a:solidFill>
              <a:srgbClr val="0369A1"/>
            </a:solidFill>
            <a:prstDash val="solid"/>
          </a:ln>
        </p:spPr>
      </p:sp>
      <p:sp>
        <p:nvSpPr>
          <p:cNvPr id="17" name="Shape 15"/>
          <p:cNvSpPr/>
          <p:nvPr/>
        </p:nvSpPr>
        <p:spPr>
          <a:xfrm>
            <a:off x="822205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9" name="Text 16"/>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Byte-addressable memory</a:t>
            </a:r>
            <a:endParaRPr lang="en-US" sz="3200" dirty="0"/>
          </a:p>
        </p:txBody>
      </p:sp>
      <p:sp>
        <p:nvSpPr>
          <p:cNvPr id="3" name="Text 1"/>
          <p:cNvSpPr txBox="1"/>
          <p:nvPr/>
        </p:nvSpPr>
        <p:spPr>
          <a:xfrm>
            <a:off x="548640" y="1828800"/>
            <a:ext cx="2377440"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address</a:t>
            </a:r>
            <a:endParaRPr lang="en-US" sz="1300" dirty="0"/>
          </a:p>
        </p:txBody>
      </p:sp>
      <p:sp>
        <p:nvSpPr>
          <p:cNvPr id="4" name="Text 2"/>
          <p:cNvSpPr txBox="1"/>
          <p:nvPr/>
        </p:nvSpPr>
        <p:spPr>
          <a:xfrm>
            <a:off x="310896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78</a:t>
            </a:r>
            <a:endParaRPr lang="en-US" sz="2200" dirty="0"/>
          </a:p>
        </p:txBody>
      </p:sp>
      <p:sp>
        <p:nvSpPr>
          <p:cNvPr id="5" name="Text 3"/>
          <p:cNvSpPr txBox="1"/>
          <p:nvPr/>
        </p:nvSpPr>
        <p:spPr>
          <a:xfrm>
            <a:off x="310896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A+0</a:t>
            </a:r>
            <a:endParaRPr lang="en-US" sz="1050" dirty="0"/>
          </a:p>
        </p:txBody>
      </p:sp>
      <p:sp>
        <p:nvSpPr>
          <p:cNvPr id="6" name="Text 4"/>
          <p:cNvSpPr txBox="1"/>
          <p:nvPr/>
        </p:nvSpPr>
        <p:spPr>
          <a:xfrm>
            <a:off x="416052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56</a:t>
            </a:r>
            <a:endParaRPr lang="en-US" sz="2200" dirty="0"/>
          </a:p>
        </p:txBody>
      </p:sp>
      <p:sp>
        <p:nvSpPr>
          <p:cNvPr id="7" name="Text 5"/>
          <p:cNvSpPr txBox="1"/>
          <p:nvPr/>
        </p:nvSpPr>
        <p:spPr>
          <a:xfrm>
            <a:off x="416052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A+1</a:t>
            </a:r>
            <a:endParaRPr lang="en-US" sz="1050" dirty="0"/>
          </a:p>
        </p:txBody>
      </p:sp>
      <p:sp>
        <p:nvSpPr>
          <p:cNvPr id="8" name="Text 6"/>
          <p:cNvSpPr txBox="1"/>
          <p:nvPr/>
        </p:nvSpPr>
        <p:spPr>
          <a:xfrm>
            <a:off x="521208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34</a:t>
            </a:r>
            <a:endParaRPr lang="en-US" sz="2200" dirty="0"/>
          </a:p>
        </p:txBody>
      </p:sp>
      <p:sp>
        <p:nvSpPr>
          <p:cNvPr id="9" name="Text 7"/>
          <p:cNvSpPr txBox="1"/>
          <p:nvPr/>
        </p:nvSpPr>
        <p:spPr>
          <a:xfrm>
            <a:off x="521208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A+2</a:t>
            </a:r>
            <a:endParaRPr lang="en-US" sz="1050" dirty="0"/>
          </a:p>
        </p:txBody>
      </p:sp>
      <p:sp>
        <p:nvSpPr>
          <p:cNvPr id="10" name="Text 8"/>
          <p:cNvSpPr txBox="1"/>
          <p:nvPr/>
        </p:nvSpPr>
        <p:spPr>
          <a:xfrm>
            <a:off x="626364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12</a:t>
            </a:r>
            <a:endParaRPr lang="en-US" sz="2200" dirty="0"/>
          </a:p>
        </p:txBody>
      </p:sp>
      <p:sp>
        <p:nvSpPr>
          <p:cNvPr id="11" name="Text 9"/>
          <p:cNvSpPr txBox="1"/>
          <p:nvPr/>
        </p:nvSpPr>
        <p:spPr>
          <a:xfrm>
            <a:off x="626364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A+3</a:t>
            </a:r>
            <a:endParaRPr lang="en-US" sz="1050" dirty="0"/>
          </a:p>
        </p:txBody>
      </p:sp>
      <p:sp>
        <p:nvSpPr>
          <p:cNvPr id="12" name="Text 10"/>
          <p:cNvSpPr txBox="1"/>
          <p:nvPr/>
        </p:nvSpPr>
        <p:spPr>
          <a:xfrm>
            <a:off x="7315200" y="2103120"/>
            <a:ext cx="10515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48</a:t>
            </a:r>
            <a:endParaRPr lang="en-US" sz="2200" dirty="0"/>
          </a:p>
        </p:txBody>
      </p:sp>
      <p:sp>
        <p:nvSpPr>
          <p:cNvPr id="13" name="Text 11"/>
          <p:cNvSpPr txBox="1"/>
          <p:nvPr/>
        </p:nvSpPr>
        <p:spPr>
          <a:xfrm>
            <a:off x="731520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A+4</a:t>
            </a:r>
            <a:endParaRPr lang="en-US" sz="1050" dirty="0"/>
          </a:p>
        </p:txBody>
      </p:sp>
      <p:sp>
        <p:nvSpPr>
          <p:cNvPr id="14" name="Text 12"/>
          <p:cNvSpPr txBox="1"/>
          <p:nvPr/>
        </p:nvSpPr>
        <p:spPr>
          <a:xfrm>
            <a:off x="8366760" y="2103120"/>
            <a:ext cx="10515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45</a:t>
            </a:r>
            <a:endParaRPr lang="en-US" sz="2200" dirty="0"/>
          </a:p>
        </p:txBody>
      </p:sp>
      <p:sp>
        <p:nvSpPr>
          <p:cNvPr id="15" name="Text 13"/>
          <p:cNvSpPr txBox="1"/>
          <p:nvPr/>
        </p:nvSpPr>
        <p:spPr>
          <a:xfrm>
            <a:off x="836676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A+5</a:t>
            </a:r>
            <a:endParaRPr lang="en-US" sz="1050" dirty="0"/>
          </a:p>
        </p:txBody>
      </p:sp>
      <p:sp>
        <p:nvSpPr>
          <p:cNvPr id="16" name="Text 14"/>
          <p:cNvSpPr txBox="1"/>
          <p:nvPr/>
        </p:nvSpPr>
        <p:spPr>
          <a:xfrm>
            <a:off x="9418320" y="2103120"/>
            <a:ext cx="10515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4C</a:t>
            </a:r>
            <a:endParaRPr lang="en-US" sz="2200" dirty="0"/>
          </a:p>
        </p:txBody>
      </p:sp>
      <p:sp>
        <p:nvSpPr>
          <p:cNvPr id="17" name="Text 15"/>
          <p:cNvSpPr txBox="1"/>
          <p:nvPr/>
        </p:nvSpPr>
        <p:spPr>
          <a:xfrm>
            <a:off x="941832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A+6</a:t>
            </a:r>
            <a:endParaRPr lang="en-US" sz="1050" dirty="0"/>
          </a:p>
        </p:txBody>
      </p:sp>
      <p:sp>
        <p:nvSpPr>
          <p:cNvPr id="18" name="Text 16"/>
          <p:cNvSpPr txBox="1"/>
          <p:nvPr/>
        </p:nvSpPr>
        <p:spPr>
          <a:xfrm>
            <a:off x="10469880" y="2103120"/>
            <a:ext cx="105156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a:t>
            </a:r>
            <a:endParaRPr lang="en-US" sz="2200" dirty="0"/>
          </a:p>
        </p:txBody>
      </p:sp>
      <p:sp>
        <p:nvSpPr>
          <p:cNvPr id="19" name="Text 17"/>
          <p:cNvSpPr txBox="1"/>
          <p:nvPr/>
        </p:nvSpPr>
        <p:spPr>
          <a:xfrm>
            <a:off x="10469880" y="1856232"/>
            <a:ext cx="1051560" cy="228600"/>
          </a:xfrm>
          <a:prstGeom prst="rect">
            <a:avLst/>
          </a:prstGeom>
          <a:noFill/>
          <a:ln/>
        </p:spPr>
        <p:txBody>
          <a:bodyPr wrap="square" lIns="0" tIns="0" rIns="0" bIns="0" rtlCol="0" anchor="t"/>
          <a:lstStyle/>
          <a:p>
            <a:pPr algn="ctr" indent="0" marL="0">
              <a:buNone/>
            </a:pPr>
            <a:endParaRPr lang="en-US" sz="1050" dirty="0"/>
          </a:p>
        </p:txBody>
      </p:sp>
      <p:sp>
        <p:nvSpPr>
          <p:cNvPr id="20" name="Text 18"/>
          <p:cNvSpPr txBox="1"/>
          <p:nvPr/>
        </p:nvSpPr>
        <p:spPr>
          <a:xfrm>
            <a:off x="3108960" y="2926080"/>
            <a:ext cx="4206240" cy="320040"/>
          </a:xfrm>
          <a:prstGeom prst="rect">
            <a:avLst/>
          </a:prstGeom>
          <a:noFill/>
          <a:ln/>
        </p:spPr>
        <p:txBody>
          <a:bodyPr wrap="square" lIns="0" tIns="0" rIns="0" bIns="0" rtlCol="0" anchor="t"/>
          <a:lstStyle/>
          <a:p>
            <a:pPr algn="ctr" indent="0" marL="0">
              <a:buNone/>
            </a:pPr>
            <a:r>
              <a:rPr lang="en-US" sz="1400" b="1" dirty="0">
                <a:solidFill>
                  <a:srgbClr val="0E7C86"/>
                </a:solidFill>
                <a:latin typeface="Calibri" pitchFamily="34" charset="0"/>
                <a:ea typeface="Calibri" pitchFamily="34" charset="-122"/>
                <a:cs typeface="Calibri" pitchFamily="34" charset="-120"/>
              </a:rPr>
              <a:t>one word: .word 0x12345678</a:t>
            </a:r>
            <a:endParaRPr lang="en-US" sz="1400" dirty="0"/>
          </a:p>
        </p:txBody>
      </p:sp>
      <p:sp>
        <p:nvSpPr>
          <p:cNvPr id="21" name="Text 19"/>
          <p:cNvSpPr txBox="1"/>
          <p:nvPr/>
        </p:nvSpPr>
        <p:spPr>
          <a:xfrm>
            <a:off x="7315200" y="2926080"/>
            <a:ext cx="3154680" cy="320040"/>
          </a:xfrm>
          <a:prstGeom prst="rect">
            <a:avLst/>
          </a:prstGeom>
          <a:noFill/>
          <a:ln/>
        </p:spPr>
        <p:txBody>
          <a:bodyPr wrap="square" lIns="0" tIns="0" rIns="0" bIns="0" rtlCol="0" anchor="t"/>
          <a:lstStyle/>
          <a:p>
            <a:pPr algn="ctr" indent="0" marL="0">
              <a:buNone/>
            </a:pPr>
            <a:r>
              <a:rPr lang="en-US" sz="1400" b="1" dirty="0">
                <a:solidFill>
                  <a:srgbClr val="C7791B"/>
                </a:solidFill>
                <a:latin typeface="Calibri" pitchFamily="34" charset="0"/>
                <a:ea typeface="Calibri" pitchFamily="34" charset="-122"/>
                <a:cs typeface="Calibri" pitchFamily="34" charset="-120"/>
              </a:rPr>
              <a:t>three bytes: "HEL..."</a:t>
            </a:r>
            <a:endParaRPr lang="en-US" sz="1400" dirty="0"/>
          </a:p>
        </p:txBody>
      </p:sp>
      <p:sp>
        <p:nvSpPr>
          <p:cNvPr id="22" name="Shape 20"/>
          <p:cNvSpPr/>
          <p:nvPr/>
        </p:nvSpPr>
        <p:spPr>
          <a:xfrm>
            <a:off x="548640" y="3740785"/>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365760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a byte-addressable memory the byte is the smallest unit that has an address</a:t>
            </a:r>
            <a:endParaRPr lang="en-US" sz="1900" dirty="0"/>
          </a:p>
        </p:txBody>
      </p:sp>
      <p:sp>
        <p:nvSpPr>
          <p:cNvPr id="24" name="Shape 22"/>
          <p:cNvSpPr/>
          <p:nvPr/>
        </p:nvSpPr>
        <p:spPr>
          <a:xfrm>
            <a:off x="548640" y="4186470"/>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4103285"/>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word of 32 bits occupies four consecutive addresses; its address is that of its first byte</a:t>
            </a:r>
            <a:endParaRPr lang="en-US" sz="1900" dirty="0"/>
          </a:p>
        </p:txBody>
      </p:sp>
      <p:sp>
        <p:nvSpPr>
          <p:cNvPr id="26" name="Shape 24"/>
          <p:cNvSpPr/>
          <p:nvPr/>
        </p:nvSpPr>
        <p:spPr>
          <a:xfrm>
            <a:off x="548640" y="4926542"/>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4843357"/>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Consecutive words are 4 addresses apart: this is why the program counter advances by 4, and why an array index is multiplied by 4 (Lecture 04)</a:t>
            </a:r>
            <a:endParaRPr lang="en-US" sz="1900" dirty="0"/>
          </a:p>
        </p:txBody>
      </p:sp>
      <p:sp>
        <p:nvSpPr>
          <p:cNvPr id="28" name="Shape 26"/>
          <p:cNvSpPr/>
          <p:nvPr/>
        </p:nvSpPr>
        <p:spPr>
          <a:xfrm>
            <a:off x="548640" y="5666613"/>
            <a:ext cx="146304" cy="146304"/>
          </a:xfrm>
          <a:prstGeom prst="rect">
            <a:avLst/>
          </a:prstGeom>
          <a:solidFill>
            <a:srgbClr val="C7791B"/>
          </a:solidFill>
          <a:ln w="12700">
            <a:solidFill>
              <a:srgbClr val="C7791B"/>
            </a:solidFill>
            <a:prstDash val="solid"/>
          </a:ln>
        </p:spPr>
      </p:sp>
      <p:sp>
        <p:nvSpPr>
          <p:cNvPr id="29" name="Text 27"/>
          <p:cNvSpPr txBox="1"/>
          <p:nvPr/>
        </p:nvSpPr>
        <p:spPr>
          <a:xfrm>
            <a:off x="932688" y="558342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RISC-V has separate instructions for each size: lb and sb for bytes, lh and sh for halfwords, lw and sw for words</a:t>
            </a:r>
            <a:endParaRPr lang="en-US" sz="1900" dirty="0"/>
          </a:p>
        </p:txBody>
      </p:sp>
      <p:sp>
        <p:nvSpPr>
          <p:cNvPr id="30" name="Shape 28"/>
          <p:cNvSpPr/>
          <p:nvPr/>
        </p:nvSpPr>
        <p:spPr>
          <a:xfrm>
            <a:off x="8222056" y="91440"/>
            <a:ext cx="3420999" cy="274320"/>
          </a:xfrm>
          <a:prstGeom prst="rect">
            <a:avLst/>
          </a:prstGeom>
          <a:solidFill>
            <a:srgbClr val="E0F2FE"/>
          </a:solidFill>
          <a:ln w="12700">
            <a:solidFill>
              <a:srgbClr val="0369A1"/>
            </a:solidFill>
            <a:prstDash val="solid"/>
          </a:ln>
        </p:spPr>
      </p:sp>
      <p:sp>
        <p:nvSpPr>
          <p:cNvPr id="31" name="Shape 29"/>
          <p:cNvSpPr/>
          <p:nvPr/>
        </p:nvSpPr>
        <p:spPr>
          <a:xfrm>
            <a:off x="8222056" y="91440"/>
            <a:ext cx="73152" cy="274320"/>
          </a:xfrm>
          <a:prstGeom prst="rect">
            <a:avLst/>
          </a:prstGeom>
          <a:solidFill>
            <a:srgbClr val="0369A1"/>
          </a:solidFill>
          <a:ln w="12700">
            <a:solidFill>
              <a:srgbClr val="0369A1"/>
            </a:solidFill>
            <a:prstDash val="solid"/>
          </a:ln>
        </p:spPr>
      </p:sp>
      <p:pic>
        <p:nvPicPr>
          <p:cNvPr id="32"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33" name="Text 30"/>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Big-endian and little-endian</a:t>
            </a:r>
            <a:endParaRPr lang="en-US" sz="3200" dirty="0"/>
          </a:p>
        </p:txBody>
      </p:sp>
      <p:sp>
        <p:nvSpPr>
          <p:cNvPr id="3" name="Text 1"/>
          <p:cNvSpPr txBox="1"/>
          <p:nvPr/>
        </p:nvSpPr>
        <p:spPr>
          <a:xfrm>
            <a:off x="548640" y="1325880"/>
            <a:ext cx="11094415" cy="411480"/>
          </a:xfrm>
          <a:prstGeom prst="rect">
            <a:avLst/>
          </a:prstGeom>
          <a:noFill/>
          <a:ln/>
        </p:spPr>
        <p:txBody>
          <a:bodyPr wrap="square" lIns="0" tIns="0" rIns="0" bIns="0" rtlCol="0" anchor="t"/>
          <a:lstStyle/>
          <a:p>
            <a:pPr algn="ctr" indent="0" marL="0">
              <a:buNone/>
            </a:pPr>
            <a:r>
              <a:rPr lang="en-US" sz="2000" b="1" dirty="0">
                <a:solidFill>
                  <a:srgbClr val="2E4A62"/>
                </a:solidFill>
                <a:latin typeface="Courier New" pitchFamily="34" charset="0"/>
                <a:ea typeface="Courier New" pitchFamily="34" charset="-122"/>
                <a:cs typeface="Courier New" pitchFamily="34" charset="-120"/>
              </a:rPr>
              <a:t>the word 0x10A3E6FF stored at address 1000</a:t>
            </a:r>
            <a:endParaRPr lang="en-US" sz="2000" dirty="0"/>
          </a:p>
        </p:txBody>
      </p:sp>
      <p:sp>
        <p:nvSpPr>
          <p:cNvPr id="4" name="Text 2"/>
          <p:cNvSpPr txBox="1"/>
          <p:nvPr/>
        </p:nvSpPr>
        <p:spPr>
          <a:xfrm>
            <a:off x="548640" y="2286000"/>
            <a:ext cx="393192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little-endian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RISC-V, x86, ARM</a:t>
            </a:r>
            <a:endParaRPr lang="en-US" sz="1600" dirty="0"/>
          </a:p>
        </p:txBody>
      </p:sp>
      <p:sp>
        <p:nvSpPr>
          <p:cNvPr id="5" name="Text 3"/>
          <p:cNvSpPr txBox="1"/>
          <p:nvPr/>
        </p:nvSpPr>
        <p:spPr>
          <a:xfrm>
            <a:off x="4754880" y="2286000"/>
            <a:ext cx="128016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FF</a:t>
            </a:r>
            <a:endParaRPr lang="en-US" sz="2400" dirty="0"/>
          </a:p>
        </p:txBody>
      </p:sp>
      <p:sp>
        <p:nvSpPr>
          <p:cNvPr id="6" name="Text 4"/>
          <p:cNvSpPr txBox="1"/>
          <p:nvPr/>
        </p:nvSpPr>
        <p:spPr>
          <a:xfrm>
            <a:off x="475488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1000</a:t>
            </a:r>
            <a:endParaRPr lang="en-US" sz="1050" dirty="0"/>
          </a:p>
        </p:txBody>
      </p:sp>
      <p:sp>
        <p:nvSpPr>
          <p:cNvPr id="7" name="Text 5"/>
          <p:cNvSpPr txBox="1"/>
          <p:nvPr/>
        </p:nvSpPr>
        <p:spPr>
          <a:xfrm>
            <a:off x="6035040" y="2286000"/>
            <a:ext cx="128016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E6</a:t>
            </a:r>
            <a:endParaRPr lang="en-US" sz="2400" dirty="0"/>
          </a:p>
        </p:txBody>
      </p:sp>
      <p:sp>
        <p:nvSpPr>
          <p:cNvPr id="8" name="Text 6"/>
          <p:cNvSpPr txBox="1"/>
          <p:nvPr/>
        </p:nvSpPr>
        <p:spPr>
          <a:xfrm>
            <a:off x="603504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1001</a:t>
            </a:r>
            <a:endParaRPr lang="en-US" sz="1050" dirty="0"/>
          </a:p>
        </p:txBody>
      </p:sp>
      <p:sp>
        <p:nvSpPr>
          <p:cNvPr id="9" name="Text 7"/>
          <p:cNvSpPr txBox="1"/>
          <p:nvPr/>
        </p:nvSpPr>
        <p:spPr>
          <a:xfrm>
            <a:off x="7315200" y="2286000"/>
            <a:ext cx="12801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A3</a:t>
            </a:r>
            <a:endParaRPr lang="en-US" sz="2400" dirty="0"/>
          </a:p>
        </p:txBody>
      </p:sp>
      <p:sp>
        <p:nvSpPr>
          <p:cNvPr id="10" name="Text 8"/>
          <p:cNvSpPr txBox="1"/>
          <p:nvPr/>
        </p:nvSpPr>
        <p:spPr>
          <a:xfrm>
            <a:off x="731520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1002</a:t>
            </a:r>
            <a:endParaRPr lang="en-US" sz="1050" dirty="0"/>
          </a:p>
        </p:txBody>
      </p:sp>
      <p:sp>
        <p:nvSpPr>
          <p:cNvPr id="11" name="Text 9"/>
          <p:cNvSpPr txBox="1"/>
          <p:nvPr/>
        </p:nvSpPr>
        <p:spPr>
          <a:xfrm>
            <a:off x="8595360" y="2286000"/>
            <a:ext cx="12801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10</a:t>
            </a:r>
            <a:endParaRPr lang="en-US" sz="2400" dirty="0"/>
          </a:p>
        </p:txBody>
      </p:sp>
      <p:sp>
        <p:nvSpPr>
          <p:cNvPr id="12" name="Text 10"/>
          <p:cNvSpPr txBox="1"/>
          <p:nvPr/>
        </p:nvSpPr>
        <p:spPr>
          <a:xfrm>
            <a:off x="859536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1003</a:t>
            </a:r>
            <a:endParaRPr lang="en-US" sz="1050" dirty="0"/>
          </a:p>
        </p:txBody>
      </p:sp>
      <p:sp>
        <p:nvSpPr>
          <p:cNvPr id="13" name="Text 11"/>
          <p:cNvSpPr txBox="1"/>
          <p:nvPr/>
        </p:nvSpPr>
        <p:spPr>
          <a:xfrm>
            <a:off x="548640" y="3611880"/>
            <a:ext cx="393192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big-endian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Motorola 68000, network order</a:t>
            </a:r>
            <a:endParaRPr lang="en-US" sz="1600" dirty="0"/>
          </a:p>
        </p:txBody>
      </p:sp>
      <p:sp>
        <p:nvSpPr>
          <p:cNvPr id="14" name="Text 12"/>
          <p:cNvSpPr txBox="1"/>
          <p:nvPr/>
        </p:nvSpPr>
        <p:spPr>
          <a:xfrm>
            <a:off x="4754880" y="3611880"/>
            <a:ext cx="12801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10</a:t>
            </a:r>
            <a:endParaRPr lang="en-US" sz="2400" dirty="0"/>
          </a:p>
        </p:txBody>
      </p:sp>
      <p:sp>
        <p:nvSpPr>
          <p:cNvPr id="15" name="Text 13"/>
          <p:cNvSpPr txBox="1"/>
          <p:nvPr/>
        </p:nvSpPr>
        <p:spPr>
          <a:xfrm>
            <a:off x="475488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1000</a:t>
            </a:r>
            <a:endParaRPr lang="en-US" sz="1050" dirty="0"/>
          </a:p>
        </p:txBody>
      </p:sp>
      <p:sp>
        <p:nvSpPr>
          <p:cNvPr id="16" name="Text 14"/>
          <p:cNvSpPr txBox="1"/>
          <p:nvPr/>
        </p:nvSpPr>
        <p:spPr>
          <a:xfrm>
            <a:off x="6035040" y="3611880"/>
            <a:ext cx="12801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A3</a:t>
            </a:r>
            <a:endParaRPr lang="en-US" sz="2400" dirty="0"/>
          </a:p>
        </p:txBody>
      </p:sp>
      <p:sp>
        <p:nvSpPr>
          <p:cNvPr id="17" name="Text 15"/>
          <p:cNvSpPr txBox="1"/>
          <p:nvPr/>
        </p:nvSpPr>
        <p:spPr>
          <a:xfrm>
            <a:off x="603504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1001</a:t>
            </a:r>
            <a:endParaRPr lang="en-US" sz="1050" dirty="0"/>
          </a:p>
        </p:txBody>
      </p:sp>
      <p:sp>
        <p:nvSpPr>
          <p:cNvPr id="18" name="Text 16"/>
          <p:cNvSpPr txBox="1"/>
          <p:nvPr/>
        </p:nvSpPr>
        <p:spPr>
          <a:xfrm>
            <a:off x="7315200" y="3611880"/>
            <a:ext cx="128016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E6</a:t>
            </a:r>
            <a:endParaRPr lang="en-US" sz="2400" dirty="0"/>
          </a:p>
        </p:txBody>
      </p:sp>
      <p:sp>
        <p:nvSpPr>
          <p:cNvPr id="19" name="Text 17"/>
          <p:cNvSpPr txBox="1"/>
          <p:nvPr/>
        </p:nvSpPr>
        <p:spPr>
          <a:xfrm>
            <a:off x="731520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1002</a:t>
            </a:r>
            <a:endParaRPr lang="en-US" sz="1050" dirty="0"/>
          </a:p>
        </p:txBody>
      </p:sp>
      <p:sp>
        <p:nvSpPr>
          <p:cNvPr id="20" name="Text 18"/>
          <p:cNvSpPr txBox="1"/>
          <p:nvPr/>
        </p:nvSpPr>
        <p:spPr>
          <a:xfrm>
            <a:off x="8595360" y="3611880"/>
            <a:ext cx="128016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FF</a:t>
            </a:r>
            <a:endParaRPr lang="en-US" sz="2400" dirty="0"/>
          </a:p>
        </p:txBody>
      </p:sp>
      <p:sp>
        <p:nvSpPr>
          <p:cNvPr id="21" name="Text 19"/>
          <p:cNvSpPr txBox="1"/>
          <p:nvPr/>
        </p:nvSpPr>
        <p:spPr>
          <a:xfrm>
            <a:off x="859536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1003</a:t>
            </a:r>
            <a:endParaRPr lang="en-US" sz="1050" dirty="0"/>
          </a:p>
        </p:txBody>
      </p:sp>
      <p:sp>
        <p:nvSpPr>
          <p:cNvPr id="22" name="Shape 20"/>
          <p:cNvSpPr/>
          <p:nvPr/>
        </p:nvSpPr>
        <p:spPr>
          <a:xfrm>
            <a:off x="548640" y="4593971"/>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452628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two names indicate how the bytes of a word are arranged in memory</a:t>
            </a:r>
            <a:endParaRPr lang="en-US" sz="1700" dirty="0"/>
          </a:p>
        </p:txBody>
      </p:sp>
      <p:sp>
        <p:nvSpPr>
          <p:cNvPr id="24" name="Shape 22"/>
          <p:cNvSpPr/>
          <p:nvPr/>
        </p:nvSpPr>
        <p:spPr>
          <a:xfrm>
            <a:off x="548640" y="5021834"/>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4954143"/>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Little-endian: the least significant byte at the lowest address. Big-endian: the most significant byte first</a:t>
            </a:r>
            <a:endParaRPr lang="en-US" sz="1700" dirty="0"/>
          </a:p>
        </p:txBody>
      </p:sp>
      <p:sp>
        <p:nvSpPr>
          <p:cNvPr id="26" name="Shape 24"/>
          <p:cNvSpPr/>
          <p:nvPr/>
        </p:nvSpPr>
        <p:spPr>
          <a:xfrm>
            <a:off x="548640" y="5713095"/>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5645404"/>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RISC-V is little-endian, like almost every processor in use today; data that cross a network are still sent big-endian</a:t>
            </a:r>
            <a:endParaRPr lang="en-US" sz="1700" dirty="0"/>
          </a:p>
        </p:txBody>
      </p:sp>
      <p:sp>
        <p:nvSpPr>
          <p:cNvPr id="28" name="Shape 26"/>
          <p:cNvSpPr/>
          <p:nvPr/>
        </p:nvSpPr>
        <p:spPr>
          <a:xfrm>
            <a:off x="8090738" y="91440"/>
            <a:ext cx="3552317" cy="274320"/>
          </a:xfrm>
          <a:prstGeom prst="rect">
            <a:avLst/>
          </a:prstGeom>
          <a:solidFill>
            <a:srgbClr val="E0F2FE"/>
          </a:solidFill>
          <a:ln w="12700">
            <a:solidFill>
              <a:srgbClr val="0369A1"/>
            </a:solidFill>
            <a:prstDash val="solid"/>
          </a:ln>
        </p:spPr>
      </p:sp>
      <p:sp>
        <p:nvSpPr>
          <p:cNvPr id="29" name="Shape 27"/>
          <p:cNvSpPr/>
          <p:nvPr/>
        </p:nvSpPr>
        <p:spPr>
          <a:xfrm>
            <a:off x="8090738"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31" name="Text 28"/>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little-endian byte order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Parameters of a memory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Capacity: the number N of registers and the length in bits of each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 MB = 2^20 registers of 8 bits; 16 kW of 32 bits = 16 x 2^10 registers of 32 bits</a:t>
            </a:r>
            <a:endParaRPr lang="en-US" sz="2100" dirty="0"/>
          </a:p>
        </p:txBody>
      </p:sp>
      <p:sp>
        <p:nvSpPr>
          <p:cNvPr id="5" name="Shape 3"/>
          <p:cNvSpPr/>
          <p:nvPr/>
        </p:nvSpPr>
        <p:spPr>
          <a:xfrm>
            <a:off x="548640" y="29737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875026"/>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Access time: the time to carry out a read or a write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to select the location, plus the time for the read or write itself</a:t>
            </a:r>
            <a:endParaRPr lang="en-US" sz="2100" dirty="0"/>
          </a:p>
        </p:txBody>
      </p:sp>
      <p:sp>
        <p:nvSpPr>
          <p:cNvPr id="7" name="Shape 5"/>
          <p:cNvSpPr/>
          <p:nvPr/>
        </p:nvSpPr>
        <p:spPr>
          <a:xfrm>
            <a:off x="548640" y="443141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332732"/>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ESP32-C6: 512 KB of SRAM for data, 320 KB of ROM, and an external flash of some megabytes for programs</a:t>
            </a:r>
            <a:endParaRPr lang="en-US" sz="2100" dirty="0"/>
          </a:p>
        </p:txBody>
      </p:sp>
      <p:sp>
        <p:nvSpPr>
          <p:cNvPr id="9" name="Shape 7"/>
          <p:cNvSpPr/>
          <p:nvPr/>
        </p:nvSpPr>
        <p:spPr>
          <a:xfrm>
            <a:off x="548640" y="56201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PRG32 menu shows what is left for you: about 98 KB of RAM and 509 KB of flash for cartridges</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512 KB</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main memory of the ESP32-C6: eight Commodore 64s, or one thirty-thousandth of a laptop</a:t>
            </a:r>
            <a:endParaRPr lang="en-US" sz="19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memories and addresses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interface between processor and memory</a:t>
            </a:r>
            <a:endParaRPr lang="en-US" sz="3200" dirty="0"/>
          </a:p>
        </p:txBody>
      </p:sp>
      <p:sp>
        <p:nvSpPr>
          <p:cNvPr id="3" name="Shape 1"/>
          <p:cNvSpPr/>
          <p:nvPr/>
        </p:nvSpPr>
        <p:spPr>
          <a:xfrm>
            <a:off x="548640" y="1508760"/>
            <a:ext cx="3566160" cy="3931920"/>
          </a:xfrm>
          <a:prstGeom prst="roundRect">
            <a:avLst>
              <a:gd name="adj" fmla="val 2051"/>
            </a:avLst>
          </a:prstGeom>
          <a:solidFill>
            <a:srgbClr val="EEF2F4"/>
          </a:solidFill>
          <a:ln w="12700">
            <a:solidFill>
              <a:srgbClr val="EEF2F4"/>
            </a:solidFill>
            <a:prstDash val="solid"/>
          </a:ln>
        </p:spPr>
      </p:sp>
      <p:sp>
        <p:nvSpPr>
          <p:cNvPr id="4" name="Text 2"/>
          <p:cNvSpPr txBox="1"/>
          <p:nvPr/>
        </p:nvSpPr>
        <p:spPr>
          <a:xfrm>
            <a:off x="731520" y="1600200"/>
            <a:ext cx="27432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Processor</a:t>
            </a:r>
            <a:endParaRPr lang="en-US" sz="1500" dirty="0"/>
          </a:p>
        </p:txBody>
      </p:sp>
      <p:sp>
        <p:nvSpPr>
          <p:cNvPr id="5" name="Text 3"/>
          <p:cNvSpPr txBox="1"/>
          <p:nvPr/>
        </p:nvSpPr>
        <p:spPr>
          <a:xfrm>
            <a:off x="914400" y="2148840"/>
            <a:ext cx="283464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memory address register</a:t>
            </a:r>
            <a:endParaRPr lang="en-US" sz="1400" dirty="0"/>
          </a:p>
        </p:txBody>
      </p:sp>
      <p:sp>
        <p:nvSpPr>
          <p:cNvPr id="6" name="Text 4"/>
          <p:cNvSpPr txBox="1"/>
          <p:nvPr/>
        </p:nvSpPr>
        <p:spPr>
          <a:xfrm>
            <a:off x="914400" y="3291840"/>
            <a:ext cx="2834640" cy="822960"/>
          </a:xfrm>
          <a:prstGeom prst="roundRect">
            <a:avLst>
              <a:gd name="adj" fmla="val 6667"/>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MB</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memory buffer register</a:t>
            </a:r>
            <a:endParaRPr lang="en-US" sz="1400" dirty="0"/>
          </a:p>
        </p:txBody>
      </p:sp>
      <p:sp>
        <p:nvSpPr>
          <p:cNvPr id="7" name="Text 5"/>
          <p:cNvSpPr txBox="1"/>
          <p:nvPr/>
        </p:nvSpPr>
        <p:spPr>
          <a:xfrm>
            <a:off x="914400" y="4434840"/>
            <a:ext cx="2834640" cy="685800"/>
          </a:xfrm>
          <a:prstGeom prst="roundRect">
            <a:avLst>
              <a:gd name="adj" fmla="val 8000"/>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 unit</a:t>
            </a:r>
            <a:endParaRPr lang="en-US" sz="1400" dirty="0"/>
          </a:p>
        </p:txBody>
      </p:sp>
      <p:sp>
        <p:nvSpPr>
          <p:cNvPr id="8" name="Text 6"/>
          <p:cNvSpPr txBox="1"/>
          <p:nvPr/>
        </p:nvSpPr>
        <p:spPr>
          <a:xfrm>
            <a:off x="7589520" y="1965960"/>
            <a:ext cx="2377440" cy="3291840"/>
          </a:xfrm>
          <a:prstGeom prst="roundRect">
            <a:avLst>
              <a:gd name="adj" fmla="val 2308"/>
            </a:avLst>
          </a:prstGeom>
          <a:solidFill>
            <a:srgbClr val="6B4FA0"/>
          </a:solidFill>
          <a:ln>
            <a:solidFill>
              <a:srgbClr val="6B4FA0"/>
            </a:solidFill>
          </a:ln>
        </p:spPr>
        <p:txBody>
          <a:bodyPr wrap="square" lIns="38100" tIns="38100" rIns="38100" bIns="381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Memory</a:t>
            </a:r>
            <a:endParaRPr lang="en-US" sz="2000" dirty="0"/>
          </a:p>
        </p:txBody>
      </p:sp>
      <p:sp>
        <p:nvSpPr>
          <p:cNvPr id="9" name="Shape 7"/>
          <p:cNvSpPr/>
          <p:nvPr/>
        </p:nvSpPr>
        <p:spPr>
          <a:xfrm>
            <a:off x="3776472" y="2560320"/>
            <a:ext cx="3785616" cy="0"/>
          </a:xfrm>
          <a:prstGeom prst="line">
            <a:avLst/>
          </a:prstGeom>
          <a:noFill/>
          <a:ln w="38100">
            <a:solidFill>
              <a:srgbClr val="0E7C86"/>
            </a:solidFill>
            <a:prstDash val="solid"/>
            <a:tailEnd type="triangle"/>
          </a:ln>
        </p:spPr>
      </p:sp>
      <p:sp>
        <p:nvSpPr>
          <p:cNvPr id="10" name="Text 8"/>
          <p:cNvSpPr txBox="1"/>
          <p:nvPr/>
        </p:nvSpPr>
        <p:spPr>
          <a:xfrm>
            <a:off x="4572000" y="2194560"/>
            <a:ext cx="2743200" cy="274320"/>
          </a:xfrm>
          <a:prstGeom prst="rect">
            <a:avLst/>
          </a:prstGeom>
          <a:noFill/>
          <a:ln/>
        </p:spPr>
        <p:txBody>
          <a:bodyPr wrap="square" lIns="0" tIns="0" rIns="0" bIns="0" rtlCol="0" anchor="t"/>
          <a:lstStyle/>
          <a:p>
            <a:pPr algn="ctr" indent="0" marL="0">
              <a:buNone/>
            </a:pPr>
            <a:r>
              <a:rPr lang="en-US" sz="1400" b="1" dirty="0">
                <a:solidFill>
                  <a:srgbClr val="0E7C86"/>
                </a:solidFill>
                <a:latin typeface="Calibri" pitchFamily="34" charset="0"/>
                <a:ea typeface="Calibri" pitchFamily="34" charset="-122"/>
                <a:cs typeface="Calibri" pitchFamily="34" charset="-120"/>
              </a:rPr>
              <a:t>address bus</a:t>
            </a:r>
            <a:endParaRPr lang="en-US" sz="1400" dirty="0"/>
          </a:p>
        </p:txBody>
      </p:sp>
      <p:sp>
        <p:nvSpPr>
          <p:cNvPr id="11" name="Shape 9"/>
          <p:cNvSpPr/>
          <p:nvPr/>
        </p:nvSpPr>
        <p:spPr>
          <a:xfrm>
            <a:off x="3776472" y="3703320"/>
            <a:ext cx="3785616" cy="0"/>
          </a:xfrm>
          <a:prstGeom prst="line">
            <a:avLst/>
          </a:prstGeom>
          <a:noFill/>
          <a:ln w="38100">
            <a:solidFill>
              <a:srgbClr val="C7791B"/>
            </a:solidFill>
            <a:prstDash val="solid"/>
            <a:tailEnd type="triangle"/>
          </a:ln>
        </p:spPr>
      </p:sp>
      <p:sp>
        <p:nvSpPr>
          <p:cNvPr id="12" name="Shape 10"/>
          <p:cNvSpPr/>
          <p:nvPr/>
        </p:nvSpPr>
        <p:spPr>
          <a:xfrm flipH="1">
            <a:off x="3776472" y="3703320"/>
            <a:ext cx="3785616" cy="0"/>
          </a:xfrm>
          <a:prstGeom prst="line">
            <a:avLst/>
          </a:prstGeom>
          <a:noFill/>
          <a:ln w="38100">
            <a:solidFill>
              <a:srgbClr val="C7791B"/>
            </a:solidFill>
            <a:prstDash val="solid"/>
            <a:tailEnd type="triangle"/>
          </a:ln>
        </p:spPr>
      </p:sp>
      <p:sp>
        <p:nvSpPr>
          <p:cNvPr id="13" name="Text 11"/>
          <p:cNvSpPr txBox="1"/>
          <p:nvPr/>
        </p:nvSpPr>
        <p:spPr>
          <a:xfrm>
            <a:off x="4572000" y="3337560"/>
            <a:ext cx="2743200" cy="274320"/>
          </a:xfrm>
          <a:prstGeom prst="rect">
            <a:avLst/>
          </a:prstGeom>
          <a:noFill/>
          <a:ln/>
        </p:spPr>
        <p:txBody>
          <a:bodyPr wrap="square" lIns="0" tIns="0" rIns="0" bIns="0" rtlCol="0" anchor="t"/>
          <a:lstStyle/>
          <a:p>
            <a:pPr algn="ctr" indent="0" marL="0">
              <a:buNone/>
            </a:pPr>
            <a:r>
              <a:rPr lang="en-US" sz="1400" b="1" dirty="0">
                <a:solidFill>
                  <a:srgbClr val="C7791B"/>
                </a:solidFill>
                <a:latin typeface="Calibri" pitchFamily="34" charset="0"/>
                <a:ea typeface="Calibri" pitchFamily="34" charset="-122"/>
                <a:cs typeface="Calibri" pitchFamily="34" charset="-120"/>
              </a:rPr>
              <a:t>data bus</a:t>
            </a:r>
            <a:endParaRPr lang="en-US" sz="1400" dirty="0"/>
          </a:p>
        </p:txBody>
      </p:sp>
      <p:sp>
        <p:nvSpPr>
          <p:cNvPr id="14" name="Shape 12"/>
          <p:cNvSpPr/>
          <p:nvPr/>
        </p:nvSpPr>
        <p:spPr>
          <a:xfrm>
            <a:off x="3776472" y="4663440"/>
            <a:ext cx="3785616" cy="0"/>
          </a:xfrm>
          <a:prstGeom prst="line">
            <a:avLst/>
          </a:prstGeom>
          <a:noFill/>
          <a:ln w="25400">
            <a:solidFill>
              <a:srgbClr val="B23A48"/>
            </a:solidFill>
            <a:prstDash val="solid"/>
            <a:tailEnd type="triangle"/>
          </a:ln>
        </p:spPr>
      </p:sp>
      <p:sp>
        <p:nvSpPr>
          <p:cNvPr id="15" name="Shape 13"/>
          <p:cNvSpPr/>
          <p:nvPr/>
        </p:nvSpPr>
        <p:spPr>
          <a:xfrm>
            <a:off x="3776472" y="4937760"/>
            <a:ext cx="3785616" cy="0"/>
          </a:xfrm>
          <a:prstGeom prst="line">
            <a:avLst/>
          </a:prstGeom>
          <a:noFill/>
          <a:ln w="25400">
            <a:solidFill>
              <a:srgbClr val="B23A48"/>
            </a:solidFill>
            <a:prstDash val="solid"/>
            <a:tailEnd type="triangle"/>
          </a:ln>
        </p:spPr>
      </p:sp>
      <p:sp>
        <p:nvSpPr>
          <p:cNvPr id="16" name="Text 14"/>
          <p:cNvSpPr txBox="1"/>
          <p:nvPr/>
        </p:nvSpPr>
        <p:spPr>
          <a:xfrm>
            <a:off x="4572000" y="4069080"/>
            <a:ext cx="2743200" cy="548640"/>
          </a:xfrm>
          <a:prstGeom prst="rect">
            <a:avLst/>
          </a:prstGeom>
          <a:noFill/>
          <a:ln/>
        </p:spPr>
        <p:txBody>
          <a:bodyPr wrap="square" lIns="0" tIns="0" rIns="0" bIns="0" rtlCol="0" anchor="t"/>
          <a:lstStyle/>
          <a:p>
            <a:pPr algn="ctr" indent="0" marL="0">
              <a:buNone/>
            </a:pPr>
            <a:r>
              <a:rPr lang="en-US" sz="1300" b="1" dirty="0">
                <a:solidFill>
                  <a:srgbClr val="B23A48"/>
                </a:solidFill>
                <a:latin typeface="Calibri" pitchFamily="34" charset="0"/>
                <a:ea typeface="Calibri" pitchFamily="34" charset="-122"/>
                <a:cs typeface="Calibri" pitchFamily="34" charset="-120"/>
              </a:rPr>
              <a:t>read enable (RE)</a:t>
            </a:r>
            <a:endParaRPr lang="en-US" sz="1300" dirty="0"/>
          </a:p>
          <a:p>
            <a:pPr algn="ctr" indent="0" marL="0">
              <a:buNone/>
            </a:pPr>
            <a:r>
              <a:rPr lang="en-US" sz="1300" b="1" dirty="0">
                <a:solidFill>
                  <a:srgbClr val="B23A48"/>
                </a:solidFill>
                <a:latin typeface="Calibri" pitchFamily="34" charset="0"/>
                <a:ea typeface="Calibri" pitchFamily="34" charset="-122"/>
                <a:cs typeface="Calibri" pitchFamily="34" charset="-120"/>
              </a:rPr>
              <a:t>write enable (WE)</a:t>
            </a:r>
            <a:endParaRPr lang="en-US" sz="1300" dirty="0"/>
          </a:p>
        </p:txBody>
      </p:sp>
      <p:sp>
        <p:nvSpPr>
          <p:cNvPr id="17" name="Text 15"/>
          <p:cNvSpPr txBox="1"/>
          <p:nvPr/>
        </p:nvSpPr>
        <p:spPr>
          <a:xfrm>
            <a:off x="548640" y="5486400"/>
            <a:ext cx="9509760" cy="64008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address travels one way; the data travel in both directions; the control lines say which operation is requested.</a:t>
            </a:r>
            <a:endParaRPr lang="en-US" sz="1500" dirty="0"/>
          </a:p>
        </p:txBody>
      </p:sp>
      <p:sp>
        <p:nvSpPr>
          <p:cNvPr id="18" name="Shape 16"/>
          <p:cNvSpPr/>
          <p:nvPr/>
        </p:nvSpPr>
        <p:spPr>
          <a:xfrm>
            <a:off x="8353374" y="91440"/>
            <a:ext cx="3289681" cy="274320"/>
          </a:xfrm>
          <a:prstGeom prst="rect">
            <a:avLst/>
          </a:prstGeom>
          <a:solidFill>
            <a:srgbClr val="E0F2FE"/>
          </a:solidFill>
          <a:ln w="12700">
            <a:solidFill>
              <a:srgbClr val="0369A1"/>
            </a:solidFill>
            <a:prstDash val="solid"/>
          </a:ln>
        </p:spPr>
      </p:sp>
      <p:sp>
        <p:nvSpPr>
          <p:cNvPr id="19" name="Shape 17"/>
          <p:cNvSpPr/>
          <p:nvPr/>
        </p:nvSpPr>
        <p:spPr>
          <a:xfrm>
            <a:off x="8353374" y="91440"/>
            <a:ext cx="73152" cy="274320"/>
          </a:xfrm>
          <a:prstGeom prst="rect">
            <a:avLst/>
          </a:prstGeom>
          <a:solidFill>
            <a:srgbClr val="0369A1"/>
          </a:solidFill>
          <a:ln w="12700">
            <a:solidFill>
              <a:srgbClr val="0369A1"/>
            </a:solidFill>
            <a:prstDash val="solid"/>
          </a:ln>
        </p:spPr>
      </p:sp>
      <p:pic>
        <p:nvPicPr>
          <p:cNvPr id="20"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21" name="Text 18"/>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processor and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Synchronising processor and memory</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Asynchronous technique</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processor waits until the memory signals, with an acknowledge line, that the operation is complete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processor adapts to the speed of the memory</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More complex, but it makes the design of the memory independent of that of the processor</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Synchronous technique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One of the control lines carries pulses from a clock of fixed frequency</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 read or a write completes within one clock cycle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clock cycle must be sized on the speed of the memory</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Simpler, and the rule inside a single chip such as a microcontroller</a:t>
            </a:r>
            <a:endParaRPr lang="en-US" sz="1900" dirty="0"/>
          </a:p>
        </p:txBody>
      </p:sp>
      <p:sp>
        <p:nvSpPr>
          <p:cNvPr id="9" name="Shape 7"/>
          <p:cNvSpPr/>
          <p:nvPr/>
        </p:nvSpPr>
        <p:spPr>
          <a:xfrm>
            <a:off x="8353374" y="91440"/>
            <a:ext cx="3289681" cy="274320"/>
          </a:xfrm>
          <a:prstGeom prst="rect">
            <a:avLst/>
          </a:prstGeom>
          <a:solidFill>
            <a:srgbClr val="E0F2FE"/>
          </a:solidFill>
          <a:ln w="12700">
            <a:solidFill>
              <a:srgbClr val="0369A1"/>
            </a:solidFill>
            <a:prstDash val="solid"/>
          </a:ln>
        </p:spPr>
      </p:sp>
      <p:sp>
        <p:nvSpPr>
          <p:cNvPr id="10" name="Shape 8"/>
          <p:cNvSpPr/>
          <p:nvPr/>
        </p:nvSpPr>
        <p:spPr>
          <a:xfrm>
            <a:off x="835337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2" name="Text 9"/>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processor and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Connecting processor, memory and I/O</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Single bus: memory-mapped I/O</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Memory and I/O devices share the same bus and the same address space</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A device register is read and written like a memory location</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No special instructions are needed</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This is the RISC-V way: there are no input/output instructions at all</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Separate buses: isolated I/O</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Two physical buses, or two address spaces: one for memory, one for I/O</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Dedicated instructions reach the devices</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The Intel x86 family has both: in and out instructions besides memory-mapped devices</a:t>
            </a:r>
            <a:endParaRPr lang="en-US" sz="2000" dirty="0"/>
          </a:p>
        </p:txBody>
      </p:sp>
      <p:sp>
        <p:nvSpPr>
          <p:cNvPr id="9" name="Shape 7"/>
          <p:cNvSpPr/>
          <p:nvPr/>
        </p:nvSpPr>
        <p:spPr>
          <a:xfrm>
            <a:off x="8550351" y="91440"/>
            <a:ext cx="3092704" cy="274320"/>
          </a:xfrm>
          <a:prstGeom prst="rect">
            <a:avLst/>
          </a:prstGeom>
          <a:solidFill>
            <a:srgbClr val="E0F2FE"/>
          </a:solidFill>
          <a:ln w="12700">
            <a:solidFill>
              <a:srgbClr val="0369A1"/>
            </a:solidFill>
            <a:prstDash val="solid"/>
          </a:ln>
        </p:spPr>
      </p:sp>
      <p:sp>
        <p:nvSpPr>
          <p:cNvPr id="10" name="Shape 8"/>
          <p:cNvSpPr/>
          <p:nvPr/>
        </p:nvSpPr>
        <p:spPr>
          <a:xfrm>
            <a:off x="8550351"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2" name="Text 9"/>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memory-mapped I/O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three component buses, and DMA</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7830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bus that connects processor, memory and I/O is made of three buses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data bus: carries the data</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address bus: carries the address, of memory or of I/O, from or to which the datum is directed</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control lines: read and write enable, acknowledge, ...</a:t>
            </a:r>
            <a:endParaRPr lang="en-US" sz="2400" dirty="0"/>
          </a:p>
        </p:txBody>
      </p:sp>
      <p:sp>
        <p:nvSpPr>
          <p:cNvPr id="5" name="Shape 3"/>
          <p:cNvSpPr/>
          <p:nvPr/>
        </p:nvSpPr>
        <p:spPr>
          <a:xfrm>
            <a:off x="548640" y="37257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603879"/>
            <a:ext cx="10710367" cy="142113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DMA, direct memory access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where I/O interfaces are physically connected to the memory, blocks of data can go directly between a device and the memory</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processor starts the transfer and is told when it is over</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display of the kit receives each frame this way: the processor does not copy the pixels one by one</a:t>
            </a:r>
            <a:endParaRPr lang="en-US" sz="2400" dirty="0"/>
          </a:p>
        </p:txBody>
      </p:sp>
      <p:sp>
        <p:nvSpPr>
          <p:cNvPr id="9" name="Shape 7"/>
          <p:cNvSpPr/>
          <p:nvPr/>
        </p:nvSpPr>
        <p:spPr>
          <a:xfrm>
            <a:off x="8550351" y="91440"/>
            <a:ext cx="3092704" cy="274320"/>
          </a:xfrm>
          <a:prstGeom prst="rect">
            <a:avLst/>
          </a:prstGeom>
          <a:solidFill>
            <a:srgbClr val="E0F2FE"/>
          </a:solidFill>
          <a:ln w="12700">
            <a:solidFill>
              <a:srgbClr val="0369A1"/>
            </a:solidFill>
            <a:prstDash val="solid"/>
          </a:ln>
        </p:spPr>
      </p:sp>
      <p:sp>
        <p:nvSpPr>
          <p:cNvPr id="10" name="Shape 8"/>
          <p:cNvSpPr/>
          <p:nvPr/>
        </p:nvSpPr>
        <p:spPr>
          <a:xfrm>
            <a:off x="8550351"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2" name="Text 9"/>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memory-mapped I/O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memory has 16 address lines and is byte-addressable. How large is it?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 bytes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 KiB</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 KiB</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 MiB</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RISC-V, value: .word 0xCAFE0001 is at address A. What does lbu t0, 0(t0) read if t0 = 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0xCA</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0xFE</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must DRAM be refreshed?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its capacitors lose their charge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reading is slow</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it is not random access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the clock is too fast</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does a RISC-V program write to an output device?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With the out instruction</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With sw to the address of a device register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With a special register x32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cannot: only the firmware can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860279"/>
                <a:gridCol w="2686929"/>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centrale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access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accesso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volatile / persistent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volatile / persistente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aligned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parola allineata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magnetic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nucleo magnetico (di ferrite)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address / data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 indirizzi / bus dati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refresh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rinfresco (refresh)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read / write 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abilitazione lettura / scrittura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 order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ordinamento dei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memory-mapped 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I/O mappato in memoria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Memory is a fundamental component of a computer: a device able to keep the state of data</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Different kinds of memory serve different purposes: no technology is fast, large and cheap together</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Data are stored as words of bits, each with an address; RISC-V addresses bytes and orders them little-endian</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Access happens through selection (address bus), reading or writing (data bus) and control lines</a:t>
            </a:r>
            <a:endParaRPr lang="en-US" sz="2000" dirty="0"/>
          </a:p>
        </p:txBody>
      </p:sp>
      <p:sp>
        <p:nvSpPr>
          <p:cNvPr id="11" name="Shape 9"/>
          <p:cNvSpPr/>
          <p:nvPr/>
        </p:nvSpPr>
        <p:spPr>
          <a:xfrm>
            <a:off x="548640" y="459221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01286"/>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RISC-V input/output devices are reached exactly like memory</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 sections 2.3 and 5.1-5.2</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chapter on internal memory</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ESP32-C6 Technical Reference Manual: system and memory</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Memory</dc:title>
  <dc:subject>Lecture 15</dc:subject>
  <dc:creator>Raffaele Montella</dc:creator>
  <cp:lastModifiedBy>Raffaele Montella</cp:lastModifiedBy>
  <cp:revision>1</cp:revision>
  <dcterms:created xsi:type="dcterms:W3CDTF">2026-10-16T20:22:24Z</dcterms:created>
  <dcterms:modified xsi:type="dcterms:W3CDTF">2026-10-16T20:22:24Z</dcterms:modified>
</cp:coreProperties>
</file>