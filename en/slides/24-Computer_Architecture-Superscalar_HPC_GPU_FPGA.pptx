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e00601-12c4-089f-91a1-63e12791a14d}">
          <p14:sldIdLst>
            <p14:sldId id="256"/>
            <p14:sldId id="257"/>
          </p14:sldIdLst>
        </p14:section>
        <p14:section name="Warm-up on the machine" id="{ac6b4e8f-27f8-c04f-3ee5-b1d911eca46d}">
          <p14:sldIdLst>
            <p14:sldId id="258"/>
            <p14:sldId id="259"/>
          </p14:sldIdLst>
        </p14:section>
        <p14:section name="Superscalar processors" id="{2cad46d3-36e5-91ef-bb2f-8e7f606ce234}">
          <p14:sldIdLst>
            <p14:sldId id="260"/>
            <p14:sldId id="261"/>
            <p14:sldId id="262"/>
            <p14:sldId id="263"/>
            <p14:sldId id="264"/>
          </p14:sldIdLst>
        </p14:section>
        <p14:section name="High-performance computing" id="{d2a25613-75ad-f6df-a98a-84480d134f54}">
          <p14:sldIdLst>
            <p14:sldId id="265"/>
            <p14:sldId id="266"/>
            <p14:sldId id="267"/>
            <p14:sldId id="268"/>
          </p14:sldIdLst>
        </p14:section>
        <p14:section name="GPU accelerators" id="{2ec45db1-15d3-4efe-701f-77996b23811f}">
          <p14:sldIdLst>
            <p14:sldId id="269"/>
          </p14:sldIdLst>
        </p14:section>
        <p14:section name="FPGA accelerators" id="{960049bc-7182-c8df-3352-1631f8691630}">
          <p14:sldIdLst>
            <p14:sldId id="270"/>
            <p14:sldId id="271"/>
          </p14:sldIdLst>
        </p14:section>
        <p14:section name="Back to the machine" id="{a44d17b7-9369-93d8-8234-d859f727b417}">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lecture looks beyond the kit. Everything learned so far was learned on a small processor that executes one instruction at a time. The machines that forecast the weather or train a neural network execute instructions of the same kind, in vast numbers at once. The lecture takes one small loop of Verm1 and follows it onto four classes of machine, so that the whole landscape of high-performance computing is seen through a single, familiar example. Seymour Cray's question about oxen and chickens will recur, and it has no single answer. This lecture is an outlook and is not part of the midterm test.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Roadmap. Today's outcomes: (1) use the performance equation to say where time goes; (2) explain superscalar execution, vectors, GPUs and FPGAs as answers to it; (3) bound a parallel speed-up with Amdahl's law. Builds on: only what Lecture 01 set up. This is the last lecture of the course.
For the lecturer: Closing lecture and outlook, new in 2026/27: it has no Italian source. It starts from one loop of Verm1 and follows it onto four kinds of machine. It prepares the visit to the supercomputing systems of the Department. Not part of the midterm test. The RISC-V vector listings are tested on QEMU (tools/tests/vector_qemu.S); the CUDA and Verilog fragments are standard textbook forms that were not compiled for these slides. Figures for supercomputers are rounded and date from the TOP500 lists of 2022 to 2025: check the current list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Stating the performance equation and identifying which of its factors each technique addresses. Explaining how a superscalar, out-of-order processor executes several instructions per cycle. Reading a loop written with the RISC-V vector extension. Describing a supercomputer, computing a speed-up with Amdahl's law, and explaining why energy is the binding constraint. And stating what a GPU and an FPGA are suited for, and what each demands of the 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execution time of a program is the product of three quantities: the number of instructions executed, the average number of clock cycles each requires, and the duration of a cycle. Each factor can be reduced. Fewer instructions: better algorithms, richer instructions, vectors. Fewer cycles per instruction: pipelining and superscalar execution. A shorter cycle: faster transistors. And when one processor no longer suffices, more processors. This equation organises the lecture: every machine presented is a different answer to it.
UNDERSTAND NOW: the performance equation.
For the lecturer: The performance equation of Patterson and Hennessy. For the loop of the warm-up (code deck) on the kit: 3 840 instructions, about 1 cycle each, 6.25 nanoseconds per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simply raise the clock frequency? For three decades each generation of transistors was smaller and faster without dissipating more heat per unit area. Around 2005 this scaling ended: a faster clock now produces more heat than a chip can shed. Frequencies have remained at a few gigahertz, and the additional transistors have been spent differently: wider processors, more cores, vector units and accelerators. Performance now comes from parallelism, from doing many things at once, which is why the remainder of the lecture is about parallel machines.
UNDERSTAND NOW: the performance equation.
For the lecturer: Moore's law (more transistors) went on; Dennard scaling (constant power density) ended. The 160 MHz of the kit is slow by choice: it costs milliwatts.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processor, in order of ambition. The multi-cycle processor completes one instruction before starting the next. The pipelined processor has several instructions in flight, each in a different stage, and completes at most one per cycle; this is the kit. The in-order superscalar processor has two or more pipelines side by side. The out-of-order superscalar processor starts each instruction as soon as its operands are ready and sustains four, six or eight instructions per cycle; it is the processor of laptops and phones.
UNDERSTAND NOW: superscalar processors.
For the lecturer: Lecture 19 introduced the pipeline and named superscalar processors in one line: this section opens that line. Width is the number of instructions the processor can start in one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Out-of-order execution in four stages. Instructions are fetched and decoded in program order, several per cycle, into a window of tens or hundreds. Each result is assigned a fresh physical register: renaming, which removes false dependences between unrelated uses of the same register name. Each instruction executes as soon as its operands are available, wherever it lies in the program. Finally results are committed in program order, so that from outside nothing appears to have overtaken anything. The sequential model of execution learned in the course is preserved exactly; only the timing differs.
UNDERSTAND NOW: superscalar processors.
For the lecturer: The algorithm is Tomasulo's, designed for the floating-point unit of the IBM System/360 Model 91 in 1967; the reorder buffer that commits in order came in the 1980s. The programmer's model, the one you learned, is preserved exactly: this is the contract of the instruction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wide processor encounters a branch every few instructions and cannot wait to learn its outcome. It therefore predicts: it infers the likely direction from the history of that branch and continues speculatively along the prediction. If the prediction was correct nothing is lost; if not, the speculative work is discarded. The loop of the warm-up jumps backwards 959 times and falls through once, a pattern any predictor learns immediately. Modern predictors are correct far more than nine times in ten, and their accuracy is a principal determinant of performance.
UNDERSTAND NOW: superscalar processors.
For the lecturer: Speculative execution has a dark side: in 2018 the Spectre and Meltdown attacks showed that work thrown away can still leave traces in the cache that reveal secrets. Performance tricks are also security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processors of this class exist. The first row is the core of the kit: in order, one instruction per cycle. The others are out-of-order cores: BOOM from Berkeley and XiangShan from the Chinese Academy of Sciences, both open source; and the C910, the P550 and Veyron, from industry. Because the instruction set is open, anyone may build such a core, and some are published as source code that a student could read.
UNDERSTAND NOW: superscalar processors.
For the lecturer: BOOM is the Berkeley Out-of-Order Machine. Because the instruction set is open, anyone may build such a core, and several are published as source code that a student can read: this has no precedent among commercial architectures. The list ages quickly: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distinction that organises the whole course. The architecture is the contract: the instructions, the registers, and the effect of each instruction. The microarchitecture is one particular way of honouring that contract: pipeline stages, width, predictors, caches. The add written for a microcontroller is the same add on a server core, and Verm1 would run unchanged on any core of the previous slide. This separation is why an instruction set, once learned, is durable knowledge, and why the course could teach architecture on a small machine without loss of generality.
UNDERSTAND NOW: superscalar processors.
For the lecturer: The distinction that organises the whole course: Lectures 02 to 22 taught the architecture; the kit is one small microarchitecture.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supercomputer is not one enormous processor but thousands of ordinary computers, the nodes, working on the same problem. Each node has one or two processors with tens of cores, often several GPUs, and abundant memory. A very fast network connects the nodes, and a parallel file system serves them all. Performance is measured in floating-point operations per second on a standard benchmark, and the TOP500 list has ranked the fastest machines since 1993. The picture shows racks of nodes of the University's Research Computing Facilities, met in Lecture 03.
UNDERSTAND NOW: HPC and Amdahl's law.
For the lecturer: The benchmark is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Amdahl's law states how much parallelism can deliver. If a fraction p of the work can be parallelised and the remainder cannot, the speed-up with n processors is 1 / ((1 - p) + p / n). The serial part does not shrink however many processors are added, so the speed-up is bounded by 1 / (1 - p): with p = 0.9 it can never exceed 10. The practical lesson is to measure p before acquiring processors, and to recognise that reducing the serial fraction is often worth more than adding hardware.
UNDERSTAND NOW: HPC and Amdahl's law.
For the lecturer: Gene Amdahl, 1967. The same law holds for any improvement that applies to only a part of the work: a faster GPU does not help the part that runs on the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models for sharing work. With shared memory, several cores of the same node see the same memory, and the program runs as threads that read and write common variables; it is easy to begin with, and its characteristic hazard is two threads writing the same variable. With distributed memory each node has its own memory, and the program runs as processes that exchange messages, under the MPI standard; it scales to a million cores, at the cost of greater effort from the programmer. Real applications combine both.
UNDERSTAND NOW: HPC and Amdahl's law.
For the lecturer: Real applications use both: MPI between the nodes, threads and GPUs inside each node. The weather and marine models of the Department work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binding constraint is energy. An exascale machine draws about twenty megawatts, the consumption of a small town, and the electricity used over its lifetime costs as much as the machine itself. The figure that matters is therefore operations per watt, which has its own ranking, the Green500. Specialised hardware leads it, because it accomplishes more with each joule. The same reasoning, at the opposite end of the scale, places a small RISC-V core in the kit.
UNDERSTAND NOW: HPC and Amdahl's law.
For the lecturer: Frontier reached its exaflop at about 21 megawatts. Energy efficiency is the thread that ties a microcontroller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spending the same transistors. A CPU has a few large cores, each out of order, with predictors and large caches; it is designed to complete a single task as quickly as possible, and handles branches and irregular data well. A GPU has thousands of small, simple cores executing the same code on different data; it is designed to complete a very large number of tasks per second, and excels on regular arrays. Oxen and chickens: which is preferable depends on the field to be ploughed.
UNDERSTAND NOW: GPU and FPGA accelerators.
For the lecturer: Lecture 20 told the story from the video card to GPGPU. Cray's oxen and chickens: the answer depends on the field. The GPU is not faster at any single thing; it does more things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FPGA, a field-programmable gate array, is a chip that becomes the circuit one describes. Internally it is a sea of small blocks: look-up tables, each able to implement any function of a few inputs, which is to say a truth table held in memory; a flip-flop beside each table; and wires with switches able to connect any block to any other. A configuration file, the bitstream, sets every table and switch. Loading another bitstream turns the same chip into a different circuit. It does not execute a program: it is a circuit, which unites the combinational and sequential machines of the course in one reconfigurable device.
UNDERSTAND NOW: GPU and FPGA accelerators.
For the lecturer: The Xilinx XC2064, 1985. An FPGA does not execute a program: it becomes a circuit. Nothing is fetched or decoded; all the gates work at the same time.
Pictures: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compute, compared row by row. A CPU consists of a few complex cores, programmable in any language, competent at everything in moderation. A GPU consists of thousands of simple cores for regular data in bulk. An FPGA is a configurable circuit, suited to data streams and low latency. An ASIC is a circuit made for a single task. From left to right the work done per joule increases, and so does the design effort required. Generality is paid for in energy, efficiency in effort; this is the central trade-off of contemporary computer architecture.
UNDERSTAND NOW: GPU and FPGA accelerators.
For the lecturer: Generality is paid in energy; efficiency is paid in effort. A modern system on a chip has all four: your phone holds CPU cores, a GPU, and fixed circuits for video and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last column of the table of Amdahl's law applies: with unlimited processors only the serial fraction remains.
For the second, one recalls the example with two halves that both used t0: what prevented them from executing together, and what renaming changed.
For the lecturer: 1. Answer: B. With n unlimited, S = 1 / (1 - p) = 1 / 0.2 = 5.
2. Answer: C. Two unrelated values that share a name get different physical registers and can be computed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256 bits are 32 bytes, and the 960 bytes are divided by that number.
For the second, the four stored bits are written as a truth table with inputs a and b, and the function recognised.
For the lecturer: 1. Answer: B. 256 bits are 32 bytes per turn: 960 / 32 = 30. The code does not change.
2. Answer: B. The output is 1 whenever at least one input is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of this lecture. Out-of-order execution is esecuzione fuori ordine; register renaming is ridenominazione dei registri; branch prediction is predizione dei salti. Shared memory and message passing are the two models of parallel programming. Several terms, kernel, bitstream, soft core, are used in Italian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A single equation with three factors: every fast machine reduces one of them, or multiplies the processors. Out-of-order superscalar cores honour the contract of the instruction set while executing many instructions at once. Vectors, GPUs and clusters exploit data that can be processed independently, and Amdahl's law bounds how far that goes. FPGAs turn a description into a circuit. The course ends here: from a single bit to a supercomputer, with one instruction set throughout.
Learning status, recap.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 Closing thread: The loop that empties Verm1's map can be made faster in five ways, and each is a machine of its own. The question an engineer asks is not which machine is fastest, but which is sufficient. Exit ticket (two to four minutes, alone, on paper): 1. The loop that empties Verm1's map executes 3,840 instructions at about one cycle each on a 160 MHz clock. How long does it take? Name one way to reduce each of the three factors. 2. A program is 80% parallel. With as many processors as you like, what is the largest speed-up, and why?
For the lecturer: The course ends here: from a bit to a supercomputer, with one instruction set. Next: the visit to the Department's computing systems, and the presentation of the students'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Beyond One Core: Superscalar RISC‑V, HPC, GPUs and FPGAs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same instructions, on machines that execute many of them at once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“If you were plowing a field, which would you rather use: two strong oxen or 1024 chickens?”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performance equation and say which factor each technique attacks</a:t>
            </a:r>
            <a:endParaRPr lang="en-US" sz="2200" dirty="0"/>
          </a:p>
        </p:txBody>
      </p:sp>
      <p:sp>
        <p:nvSpPr>
          <p:cNvPr id="5" name="Text 3"/>
          <p:cNvSpPr txBox="1"/>
          <p:nvPr/>
        </p:nvSpPr>
        <p:spPr>
          <a:xfrm>
            <a:off x="548640" y="24546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636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superscalar, out-of-order processor executes several instructions per cycle, and name RISC-V cores that do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loop written with the RISC-V vector extension</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supercomputer, compute a speed-up with Amdahl's law, and say why energy is the limit</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GPU and an FPGA are good at, and what each costs the programmer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 = instructions x cycles per instruction x clock period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time a program takes is the product of three numbers</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can be attacked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instructions: better algorithms, richer instructions, vectors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fewer cycles per instruction: pipelines, superscalar execution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shorter cycle: faster transistors, deeper pipelines</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when one processor is not enough: more processors working together</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machine of this lecture is a different answer to the same equation</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instructions, CPI cycles per instruction, t seconds per cycle</a:t>
            </a:r>
            <a:endParaRPr lang="en-US" sz="1900" dirty="0"/>
          </a:p>
        </p:txBody>
      </p:sp>
      <p:sp>
        <p:nvSpPr>
          <p:cNvPr id="14"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5"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7"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not simply a faster clock?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 thirty years each new generation of transistors was smaller, faster and no hotter per square millimetre</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Around 2005 that stopped: smaller transistors still arrive, but a faster clock means more heat than a chip can shed</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Clock frequencies have stayed at a few gigahertz ever since</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extra transistors went elsewhere: wider processors, more cores, vector units, accelerators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Performance now comes from doing many things at once: from parallelism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end of the free lunch: clocks stop at a few gigahertz, cores multiply</a:t>
            </a:r>
            <a:endParaRPr lang="en-US" sz="1900" dirty="0"/>
          </a:p>
        </p:txBody>
      </p:sp>
      <p:sp>
        <p:nvSpPr>
          <p:cNvPr id="16" name="Shape 14"/>
          <p:cNvSpPr/>
          <p:nvPr/>
        </p:nvSpPr>
        <p:spPr>
          <a:xfrm>
            <a:off x="8090738" y="91440"/>
            <a:ext cx="3552317" cy="274320"/>
          </a:xfrm>
          <a:prstGeom prst="rect">
            <a:avLst/>
          </a:prstGeom>
          <a:solidFill>
            <a:srgbClr val="E0F2FE"/>
          </a:solidFill>
          <a:ln w="12700">
            <a:solidFill>
              <a:srgbClr val="0369A1"/>
            </a:solidFill>
            <a:prstDash val="solid"/>
          </a:ln>
        </p:spPr>
      </p:sp>
      <p:sp>
        <p:nvSpPr>
          <p:cNvPr id="17" name="Shape 15"/>
          <p:cNvSpPr/>
          <p:nvPr/>
        </p:nvSpPr>
        <p:spPr>
          <a:xfrm>
            <a:off x="809073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9" name="Text 16"/>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one at a time to many at once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 it works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Instructions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instruction completes before the next begins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less than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machine of 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Pipelined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several instructions in flight, each in a different stage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ESP32-C6 of the kit: four stages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in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or more pipelines side by side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2 or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application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 out of order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instructions run as soon as their operands are ready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to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laptops, phones, servers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Out-of-order execution</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Fetch and decode, in order</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Several instructions per cycle enter a window of tens or hundreds of instructions</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Rename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result gets a fresh physical register, so that two uses of the name t0 no longer collide</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Execute when ready</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instruction starts as soon as its operands exist, whatever its position in the program</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order</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Results become official in program order: seen from outside, nothing ever overtook</a:t>
            </a:r>
            <a:endParaRPr lang="en-US" sz="1900" dirty="0"/>
          </a:p>
        </p:txBody>
      </p:sp>
      <p:sp>
        <p:nvSpPr>
          <p:cNvPr id="22" name="Shape 20"/>
          <p:cNvSpPr/>
          <p:nvPr/>
        </p:nvSpPr>
        <p:spPr>
          <a:xfrm>
            <a:off x="8222056" y="91440"/>
            <a:ext cx="3420999" cy="274320"/>
          </a:xfrm>
          <a:prstGeom prst="rect">
            <a:avLst/>
          </a:prstGeom>
          <a:solidFill>
            <a:srgbClr val="E0F2FE"/>
          </a:solidFill>
          <a:ln w="12700">
            <a:solidFill>
              <a:srgbClr val="0369A1"/>
            </a:solidFill>
            <a:prstDash val="solid"/>
          </a:ln>
        </p:spPr>
      </p:sp>
      <p:sp>
        <p:nvSpPr>
          <p:cNvPr id="23" name="Shape 21"/>
          <p:cNvSpPr/>
          <p:nvPr/>
        </p:nvSpPr>
        <p:spPr>
          <a:xfrm>
            <a:off x="8222056"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5" name="Text 2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Guessing the future: branch prediction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wide processor meets a branch every few instructions: it cannot wait to know the outcome</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predicts the direction from the history of that branch, and goes on executing along the guess</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right guess costs nothing; a wrong one throws away the speculative work and starts again</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of the warm-up branches back 959 times and falls through once: easy to predict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Modern predictors are right far more than nine times out of ten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is taken 959 times and not taken once: a predictor learns it in the first turns</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goes superscalar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From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HP core of the 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order, four stages, one instruction per cycle: your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University of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for research and teaching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Chinese Academy of Sciences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open source, high performance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released as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three-wide, thirteen stages; sold as a design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out of order, for data centres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architecture, many microarchitectures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Architecture and microarchitecture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architecture is the contract: instructions, registers, what each instruction does. The microarchitecture is one way to honour it: stages, width, predictors, caches.</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add you wrote for a 160 MHz microcontroller is the add of a server core</a:t>
            </a:r>
            <a:endParaRPr lang="en-US" sz="2400" dirty="0"/>
          </a:p>
        </p:txBody>
      </p:sp>
      <p:sp>
        <p:nvSpPr>
          <p:cNvPr id="8" name="Shape 6"/>
          <p:cNvSpPr/>
          <p:nvPr/>
        </p:nvSpPr>
        <p:spPr>
          <a:xfrm>
            <a:off x="548640" y="4859274"/>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73735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would run unchanged on any of the cores of the previous slide, given a screen</a:t>
            </a:r>
            <a:endParaRPr lang="en-US" sz="2400" dirty="0"/>
          </a:p>
        </p:txBody>
      </p:sp>
      <p:sp>
        <p:nvSpPr>
          <p:cNvPr id="10" name="Shape 8"/>
          <p:cNvSpPr/>
          <p:nvPr/>
        </p:nvSpPr>
        <p:spPr>
          <a:xfrm>
            <a:off x="548640" y="5922264"/>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This is why an instruction set learned once is knowledge that lasts</a:t>
            </a:r>
            <a:endParaRPr lang="en-US" sz="2400" dirty="0"/>
          </a:p>
        </p:txBody>
      </p:sp>
      <p:sp>
        <p:nvSpPr>
          <p:cNvPr id="12" name="Shape 10"/>
          <p:cNvSpPr/>
          <p:nvPr/>
        </p:nvSpPr>
        <p:spPr>
          <a:xfrm>
            <a:off x="8222056" y="91440"/>
            <a:ext cx="3420999" cy="274320"/>
          </a:xfrm>
          <a:prstGeom prst="rect">
            <a:avLst/>
          </a:prstGeom>
          <a:solidFill>
            <a:srgbClr val="E0F2FE"/>
          </a:solidFill>
          <a:ln w="12700">
            <a:solidFill>
              <a:srgbClr val="0369A1"/>
            </a:solidFill>
            <a:prstDash val="solid"/>
          </a:ln>
        </p:spPr>
      </p:sp>
      <p:sp>
        <p:nvSpPr>
          <p:cNvPr id="13" name="Shape 11"/>
          <p:cNvSpPr/>
          <p:nvPr/>
        </p:nvSpPr>
        <p:spPr>
          <a:xfrm>
            <a:off x="8222056"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5" name="Text 12"/>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is a supercomputer?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Not one enormous processor: thousands of ordinary computers, the nodes, working on the same problem</a:t>
            </a:r>
            <a:endParaRPr lang="en-US" sz="2100" dirty="0"/>
          </a:p>
        </p:txBody>
      </p:sp>
      <p:sp>
        <p:nvSpPr>
          <p:cNvPr id="5" name="Shape 3"/>
          <p:cNvSpPr/>
          <p:nvPr/>
        </p:nvSpPr>
        <p:spPr>
          <a:xfrm>
            <a:off x="548640" y="23054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752"/>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node has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one or two processors with tens of cores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often several GPUs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great deal of memory</a:t>
            </a:r>
            <a:endParaRPr lang="en-US" sz="2100" dirty="0"/>
          </a:p>
        </p:txBody>
      </p:sp>
      <p:sp>
        <p:nvSpPr>
          <p:cNvPr id="7" name="Shape 5"/>
          <p:cNvSpPr/>
          <p:nvPr/>
        </p:nvSpPr>
        <p:spPr>
          <a:xfrm>
            <a:off x="548640" y="371589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721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very fast network joins the nodes, and a parallel file system serves them all</a:t>
            </a:r>
            <a:endParaRPr lang="en-US" sz="2100" dirty="0"/>
          </a:p>
        </p:txBody>
      </p:sp>
      <p:sp>
        <p:nvSpPr>
          <p:cNvPr id="9" name="Shape 7"/>
          <p:cNvSpPr/>
          <p:nvPr/>
        </p:nvSpPr>
        <p:spPr>
          <a:xfrm>
            <a:off x="548640" y="45053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664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 is measured in floating-point operations per second, FLOPS, on a standard problem: a huge system of linear equations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TOP500 list has ranked the fastest machines twice a year since 1993</a:t>
            </a:r>
            <a:endParaRPr lang="en-US" sz="21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Racks of nodes: the Research Computing Facilities of the University</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Amdahl's law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with n processors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where p is the fraction of the work that can be done in parallel.</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serial fraction, 1 - p, does not shrink however many processors you add</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p = 0.9 the speed-up can never exceed 10, even with a million processors</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Before buying processors, measure p</a:t>
            </a:r>
            <a:endParaRPr lang="en-US" sz="2400" dirty="0"/>
          </a:p>
        </p:txBody>
      </p:sp>
      <p:sp>
        <p:nvSpPr>
          <p:cNvPr id="12" name="Shape 10"/>
          <p:cNvSpPr/>
          <p:nvPr/>
        </p:nvSpPr>
        <p:spPr>
          <a:xfrm>
            <a:off x="8353374" y="91440"/>
            <a:ext cx="3289681" cy="274320"/>
          </a:xfrm>
          <a:prstGeom prst="rect">
            <a:avLst/>
          </a:prstGeom>
          <a:solidFill>
            <a:srgbClr val="E0F2FE"/>
          </a:solidFill>
          <a:ln w="12700">
            <a:solidFill>
              <a:srgbClr val="0369A1"/>
            </a:solidFill>
            <a:prstDash val="solid"/>
          </a:ln>
        </p:spPr>
      </p:sp>
      <p:sp>
        <p:nvSpPr>
          <p:cNvPr id="13" name="Shape 11"/>
          <p:cNvSpPr/>
          <p:nvPr/>
        </p:nvSpPr>
        <p:spPr>
          <a:xfrm>
            <a:off x="8353374"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5" name="Text 12"/>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share the work</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Shared memory</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cores of one node see the same memory</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threads that read and write the same variables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Easy to start: OpenMP adds one line above a loop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danger: two threads writing the same variable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Distributed memory</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node has its own memory; nothing is shared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program runs as processes that send each other messages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the Message Passing Interface, is the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It scales to a million cores, and the programmer pays for it</a:t>
            </a:r>
            <a:endParaRPr lang="en-US" sz="2100" dirty="0"/>
          </a:p>
        </p:txBody>
      </p:sp>
      <p:sp>
        <p:nvSpPr>
          <p:cNvPr id="9" name="Shape 7"/>
          <p:cNvSpPr/>
          <p:nvPr/>
        </p:nvSpPr>
        <p:spPr>
          <a:xfrm>
            <a:off x="8353374" y="91440"/>
            <a:ext cx="3289681" cy="274320"/>
          </a:xfrm>
          <a:prstGeom prst="rect">
            <a:avLst/>
          </a:prstGeom>
          <a:solidFill>
            <a:srgbClr val="E0F2FE"/>
          </a:solidFill>
          <a:ln w="12700">
            <a:solidFill>
              <a:srgbClr val="0369A1"/>
            </a:solidFill>
            <a:prstDash val="solid"/>
          </a:ln>
        </p:spPr>
      </p:sp>
      <p:sp>
        <p:nvSpPr>
          <p:cNvPr id="10" name="Shape 8"/>
          <p:cNvSpPr/>
          <p:nvPr/>
        </p:nvSpPr>
        <p:spPr>
          <a:xfrm>
            <a:off x="835337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2" name="Text 9"/>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limit is energy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exascale machine draws about twenty megawatts: the consumption of a small town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electricity of its lifetime costs as much as the machine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the figure that matters is operations per watt, and it has its own ranking: the Green500</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GPUs and other accelerators lead it: specialised hardware does more with each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reason puts a small RISC-V core in your kit: milliwatts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for 10^18 operations per second: about 50 billion operations per joule</a:t>
            </a:r>
            <a:endParaRPr lang="en-US" sz="1900" dirty="0"/>
          </a:p>
        </p:txBody>
      </p:sp>
      <p:sp>
        <p:nvSpPr>
          <p:cNvPr id="16" name="Shape 14"/>
          <p:cNvSpPr/>
          <p:nvPr/>
        </p:nvSpPr>
        <p:spPr>
          <a:xfrm>
            <a:off x="8353374" y="91440"/>
            <a:ext cx="3289681" cy="274320"/>
          </a:xfrm>
          <a:prstGeom prst="rect">
            <a:avLst/>
          </a:prstGeom>
          <a:solidFill>
            <a:srgbClr val="E0F2FE"/>
          </a:solidFill>
          <a:ln w="12700">
            <a:solidFill>
              <a:srgbClr val="0369A1"/>
            </a:solidFill>
            <a:prstDash val="solid"/>
          </a:ln>
        </p:spPr>
      </p:sp>
      <p:sp>
        <p:nvSpPr>
          <p:cNvPr id="17" name="Shape 15"/>
          <p:cNvSpPr/>
          <p:nvPr/>
        </p:nvSpPr>
        <p:spPr>
          <a:xfrm>
            <a:off x="835337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9" name="Text 16"/>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HPC and Amdahl's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ways to spend transistors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few large cores: tens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one out of order, with predictors and big caches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one task as soon as possible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branches and irregular data</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Thousands of small, simple cores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All executing the same code on different data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Built to finish a million tasks per second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At ease with regular arrays: pixels, matrices, grids</a:t>
            </a:r>
            <a:endParaRPr lang="en-US" sz="2100" dirty="0"/>
          </a:p>
        </p:txBody>
      </p:sp>
      <p:sp>
        <p:nvSpPr>
          <p:cNvPr id="9" name="Shape 7"/>
          <p:cNvSpPr/>
          <p:nvPr/>
        </p:nvSpPr>
        <p:spPr>
          <a:xfrm>
            <a:off x="8025079" y="91440"/>
            <a:ext cx="3617976" cy="274320"/>
          </a:xfrm>
          <a:prstGeom prst="rect">
            <a:avLst/>
          </a:prstGeom>
          <a:solidFill>
            <a:srgbClr val="E0F2FE"/>
          </a:solidFill>
          <a:ln w="12700">
            <a:solidFill>
              <a:srgbClr val="0369A1"/>
            </a:solidFill>
            <a:prstDash val="solid"/>
          </a:ln>
        </p:spPr>
      </p:sp>
      <p:sp>
        <p:nvSpPr>
          <p:cNvPr id="10" name="Shape 8"/>
          <p:cNvSpPr/>
          <p:nvPr/>
        </p:nvSpPr>
        <p:spPr>
          <a:xfrm>
            <a:off x="802507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12" name="Text 9"/>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chip that becomes the circuit you describe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Inside: a sea of small programmable blocks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look-up tables, each able to be any function of a few inputs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flip-flops, one beside each table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wires and switches that can join any block to any other</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configuration file, the bitstream, sets every table and every switch</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 another bitstream and the same chip is another circuit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First sold in 1985; today from a few euros to boards for data centres</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FPGA development board: the large chip is the FPGA</a:t>
            </a:r>
            <a:endParaRPr lang="en-US" sz="1200" dirty="0"/>
          </a:p>
        </p:txBody>
      </p:sp>
      <p:sp>
        <p:nvSpPr>
          <p:cNvPr id="15" name="Shape 12"/>
          <p:cNvSpPr/>
          <p:nvPr/>
        </p:nvSpPr>
        <p:spPr>
          <a:xfrm>
            <a:off x="8025079" y="91440"/>
            <a:ext cx="3617976" cy="274320"/>
          </a:xfrm>
          <a:prstGeom prst="rect">
            <a:avLst/>
          </a:prstGeom>
          <a:solidFill>
            <a:srgbClr val="E0F2FE"/>
          </a:solidFill>
          <a:ln w="12700">
            <a:solidFill>
              <a:srgbClr val="0369A1"/>
            </a:solidFill>
            <a:prstDash val="solid"/>
          </a:ln>
        </p:spPr>
      </p:sp>
      <p:sp>
        <p:nvSpPr>
          <p:cNvPr id="16" name="Shape 13"/>
          <p:cNvSpPr/>
          <p:nvPr/>
        </p:nvSpPr>
        <p:spPr>
          <a:xfrm>
            <a:off x="802507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153095" y="128016"/>
            <a:ext cx="201168" cy="201168"/>
          </a:xfrm>
          <a:prstGeom prst="rect">
            <a:avLst/>
          </a:prstGeom>
        </p:spPr>
      </p:pic>
      <p:sp>
        <p:nvSpPr>
          <p:cNvPr id="18" name="Text 14"/>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ways to compute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GPU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FPGA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ASIC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What it 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few complex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thousands of simple cores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you configure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circuit made for one job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Programmed 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any language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kernels: CUDA, OpenCL, SYCL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Verilog, VHDL, HLS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same, then a factory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Strong at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everything, moderately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regular data in bulk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streams, low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thing, perfectly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Work per joule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Effort to 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medium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very high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Change of mind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recompile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bitstream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new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025079" y="91440"/>
            <a:ext cx="3617976" cy="274320"/>
          </a:xfrm>
          <a:prstGeom prst="rect">
            <a:avLst/>
          </a:prstGeom>
          <a:solidFill>
            <a:srgbClr val="E0F2FE"/>
          </a:solidFill>
          <a:ln w="12700">
            <a:solidFill>
              <a:srgbClr val="0369A1"/>
            </a:solidFill>
            <a:prstDash val="solid"/>
          </a:ln>
        </p:spPr>
      </p:sp>
      <p:sp>
        <p:nvSpPr>
          <p:cNvPr id="5" name="Shape 2"/>
          <p:cNvSpPr/>
          <p:nvPr/>
        </p:nvSpPr>
        <p:spPr>
          <a:xfrm>
            <a:off x="802507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7" name="Text 3"/>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program is 80% parallel. What is the largest speed-up that any number of processors can give?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does register renaming remove?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branches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need for a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false dependences between uses of the same register name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cache misses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256-bit vector registers, how many turns does the vector loop need for the 960 bytes?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two-input look-up table stores, for inputs 00, 01, 10, 11, the bits 0, 1, 1, 1. Which gate is 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equation, three factors: every fast machine attacks one of them, or multiplies processors</a:t>
            </a:r>
            <a:endParaRPr lang="en-US" sz="2200" dirty="0"/>
          </a:p>
        </p:txBody>
      </p:sp>
      <p:sp>
        <p:nvSpPr>
          <p:cNvPr id="5" name="Shape 3"/>
          <p:cNvSpPr/>
          <p:nvPr/>
        </p:nvSpPr>
        <p:spPr>
          <a:xfrm>
            <a:off x="548640" y="23906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42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Superscalar, out-of-order cores keep the contract of the instruction set and execute many instructions at once</a:t>
            </a:r>
            <a:endParaRPr lang="en-US" sz="22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11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Vectors, GPUs and clusters exploit data that can be processed independently; Amdahl's law says how far that goes</a:t>
            </a:r>
            <a:endParaRPr lang="en-US" sz="2200" dirty="0"/>
          </a:p>
        </p:txBody>
      </p:sp>
      <p:sp>
        <p:nvSpPr>
          <p:cNvPr id="9" name="Shape 7"/>
          <p:cNvSpPr/>
          <p:nvPr/>
        </p:nvSpPr>
        <p:spPr>
          <a:xfrm>
            <a:off x="548640" y="41244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1802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FPGAs turn a description into a circuit: the logic of this course, at scale</a:t>
            </a:r>
            <a:endParaRPr lang="en-US" sz="2200" dirty="0"/>
          </a:p>
        </p:txBody>
      </p:sp>
      <p:sp>
        <p:nvSpPr>
          <p:cNvPr id="11" name="Shape 9"/>
          <p:cNvSpPr/>
          <p:nvPr/>
        </p:nvSpPr>
        <p:spPr>
          <a:xfrm>
            <a:off x="548640" y="4650486"/>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chapters 4 and 6</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top500.org; the RISC-V vector specification at riscv.org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dc:title>
  <dc:subject>Lecture 24</dc:subject>
  <dc:creator>Raffaele Montella</dc:creator>
  <cp:lastModifiedBy>Raffaele Montella</cp:lastModifiedBy>
  <cp:revision>1</cp:revision>
  <dcterms:created xsi:type="dcterms:W3CDTF">2026-10-17T07:16:49Z</dcterms:created>
  <dcterms:modified xsi:type="dcterms:W3CDTF">2026-10-17T07:16:49Z</dcterms:modified>
</cp:coreProperties>
</file>