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531bbe7-6fea-5ea8-ec97-80c643610b53}">
          <p14:sldIdLst>
            <p14:sldId id="256"/>
            <p14:sldId id="257"/>
          </p14:sldIdLst>
        </p14:section>
        <p14:section name="Warm-up on the machine" id="{e0c70802-68b8-dca5-ec1d-ca3a968c8de9}">
          <p14:sldIdLst>
            <p14:sldId id="258"/>
            <p14:sldId id="259"/>
            <p14:sldId id="260"/>
            <p14:sldId id="261"/>
          </p14:sldIdLst>
        </p14:section>
        <p14:section name="Superscalar processors" id="{a5cb27e5-e802-c682-c01f-4ef392afa7a9}">
          <p14:sldIdLst>
            <p14:sldId id="262"/>
            <p14:sldId id="263"/>
            <p14:sldId id="264"/>
            <p14:sldId id="265"/>
            <p14:sldId id="266"/>
            <p14:sldId id="267"/>
            <p14:sldId id="268"/>
            <p14:sldId id="269"/>
            <p14:sldId id="270"/>
          </p14:sldIdLst>
        </p14:section>
        <p14:section name="Vectors: one instruction, many data" id="{aa4dfd77-cea4-3b4c-f404-5ad344cbc255}">
          <p14:sldIdLst>
            <p14:sldId id="271"/>
            <p14:sldId id="272"/>
            <p14:sldId id="273"/>
            <p14:sldId id="274"/>
          </p14:sldIdLst>
        </p14:section>
        <p14:section name="High-performance computing" id="{b1bcdfeb-8634-ccc5-c725-37587400e927}">
          <p14:sldIdLst>
            <p14:sldId id="275"/>
            <p14:sldId id="276"/>
            <p14:sldId id="277"/>
            <p14:sldId id="278"/>
            <p14:sldId id="279"/>
            <p14:sldId id="280"/>
            <p14:sldId id="281"/>
            <p14:sldId id="282"/>
          </p14:sldIdLst>
        </p14:section>
        <p14:section name="GPU accelerators" id="{e6a450d2-82cb-1ec8-88cc-e2e815915b82}">
          <p14:sldIdLst>
            <p14:sldId id="283"/>
            <p14:sldId id="284"/>
            <p14:sldId id="285"/>
            <p14:sldId id="286"/>
            <p14:sldId id="287"/>
          </p14:sldIdLst>
        </p14:section>
        <p14:section name="FPGA accelerators" id="{3c089c43-5a6c-5c16-3cf9-ee602461e1f8}">
          <p14:sldIdLst>
            <p14:sldId id="288"/>
            <p14:sldId id="289"/>
            <p14:sldId id="290"/>
            <p14:sldId id="291"/>
            <p14:sldId id="292"/>
            <p14:sldId id="293"/>
            <p14:sldId id="294"/>
          </p14:sldIdLst>
        </p14:section>
        <p14:section name="Back to the machine" id="{5c555104-27bb-c212-f627-8d1d6e6de73f}">
          <p14:sldIdLst>
            <p14:sldId id="295"/>
            <p14:sldId id="296"/>
            <p14:sldId id="297"/>
            <p14:sldId id="298"/>
            <p14:sldId id="299"/>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lecture looks beyond the kit. Everything you have learned was learned on a small processor that executes one instruction at a time. The machines that forecast the weather or train a neural network execute the same kind of instructions, in very large numbers at once. The lecture takes one small loop of Verm1 and follows it onto four kinds of machine. Cray's question about oxen and chickens will come back: it has no single answer. This lecture is an outlook, and is not part of the midterm test.
For the lecturer: Closing lecture and outlook, new in 2026/27: it has no Italian source. It starts from one loop of Verm1 and follows it onto four kinds of machine. It prepares the visit to the supercomputing systems of the Department. Not part of the midterm test. The RISC-V vector listings are tested on QEMU (tools/tests/vector_qemu.S); the CUDA and Verilog fragments are standard textbook forms that were not compiled for these slides. Figures for supercomputers are rounded and date from the TOP500 lists of 2022 to 2025: check the current list before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Write the performance equation and say which of its factors each technique attacks. Explain how a superscalar, out-of-order processor executes several instructions per cycle. Read a loop written with the RISC-V vector extension. Describe a supercomputer, compute a speed-up with Amdahl's law and say why energy is the limit. And say what a GPU and an FPGA are good at, and what each costs the programmer.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is a loop you already wrote, and a question: how fast could it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that empties the map in new_game: 960 bytes set to zero. Four instructions per turn: a store of one byte, the increment of the address, the decrement of the counter, the branch back. In all 3,840 instructions, one byte at a time, one instruction at a time. On the kit it takes about 24 microseconds, and nobody needs it faster. It is chosen because it is small enough to be followed onto every machine of today. In how many ways can it be made faster?
For the lecturer: The processor cycle of Lecture 19. At best one instruction per clock cycle, and 160 million cycles per second on the kit: about 24 microseconds. Nobody needs this loop to be faster; it is small enough to follow onto every machine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a program takes is the product of three numbers: the instructions executed, the clock cycles each needs on average, and the duration of a cycle. Each factor can be attacked. Fewer instructions: better algorithms, richer instructions, vectors. Fewer cycles per instruction: pipelines and superscalar execution. A shorter cycle: faster transistors. And when one processor is not enough, more processors. Keep this equation in view: every machine of the lecture is a different answer to it.
For the lecturer: The performance equation of Patterson and Hennessy. For the loop of the previous slide on the kit: 3 840 instructions, about 1 cycle each, 6.25 nanoseconds per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simply raise the clock frequency? For thirty years each generation of transistors was smaller and faster without being hotter per unit of area. Around 2005 this stopped: a faster clock now means more heat than a chip can shed. Frequencies have stayed at a few gigahertz, and the additional transistors have been spent otherwise: wider processors, more cores, vector units, accelerators. Performance now comes from parallelism, from doing many things at once.
For the lecturer: Moore's law (more transistors) went on; Dennard scaling (constant power density) ended. The 160 MHz of the kit is slow by choice: it costs milliwatts.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answer acts on the second factor of the equation: more than one instruction per clock cycle, inside a single processor.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kinds of processor, in order of ambition. The multi-cycle processor completes one instruction before starting the next. The pipelined one has several instructions in flight, each in a different stage, and completes at most one per cycle: this is your kit. The superscalar in-order processor has two or more pipelines side by side. The superscalar out-of-order processor starts each instruction as soon as its operands are ready, and reaches four, six, eight instructions per cycle: it is in your laptop and in your phone.
For the lecturer: Lecture 19 introduced the pipeline and named superscalar processors in one line: this section opens that line. Width is the number of instructions the processor can start in one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pipelines side by side. Read the table by rows: each row is an instruction, each column a cycle. Instructions enter in pairs: i1 and i2 are fetched together, then i3 and i4, then i5 and i6. Six instructions finish in seven cycles; a single pipeline would need ten. This is the ideal case, in which the instructions do not depend on each other.
For the lecturer: A two-wide processor with the five classic stages: six instructions complete in seven cycles; a single pipeline needs ten, and a processor without pipeline thirty. This is the ideal case: the next slide says why it is 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gets in the way. The second instruction uses t0, which the first is still computing: it cannot run beside it. This is a data dependence. The third depends on nobody, and yet in an in-order processor it waits behind the second. The fourth is a branch: until it is resolved the processor does not know whether the fifth must be executed. This is a control dependence. Real programs are full of such chains, so width alone is not enough.
For the lecturer: Data dependences, control dependences. An in-order superscalar stalls at i2 and everything behind it waits. The remedy is to let i3 overtake.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Out-of-order execution, in four stages. Instructions are fetched and decoded in order, several per cycle, into a window of tens or hundreds. Each result is given a fresh physical register: renaming. Each instruction executes as soon as its operands exist, wherever it is in the program. Finally the results are committed in program order, so that, seen from outside, nothing ever overtook. The model you learned, one instruction after another, is preserved exactly: only the timing changes.
For the lecturer: The algorithm is Tomasulo's, designed for the floating-point unit of the IBM System/360 Model 91 in 1967; the reorder buffer that commits in order came in the 1980s. The programmer's model, the one you learned, is preserved exactly: this is the contract of the instruction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renaming on an example. On the left the code as written: two halves, each loading a word, incrementing it and storing it back, and both using t0. The second half reuses the name, not the value: it is a false dependence. On the right, after renaming, each new value has its own physical register, and the two halves share nothing, so they can execute at the same time. The thirty-two registers you know are names; the chip has a few hundred registers.
For the lecturer: A false dependence: the same name for two unrelated values. p41 to p44 are invented numbers of physical registers. A big core has a few hundred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wide processor meets a branch every few instructions and cannot wait to know its outcome. So it predicts: it guesses the direction from the history of that branch and continues along the guess. If the guess was right, nothing is lost; if it was wrong, the speculative work is thrown away. The loop of the warm-up jumps back 959 times and falls through once: a predictor learns it at once. Modern predictors are right far more than nine times out of ten.
For the lecturer: Speculative execution has a dark side: in 2018 the Spectre and Meltdown attacks showed that work thrown away can still leave traces in the cache that reveal secrets. Performance tricks are also security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RISC-V processors of this kind exist. The first row is the core of your kit: in order, one instruction per cycle. The others are out-of-order cores: BOOM from Berkeley and XiangShan from the Chinese Academy of Sciences, both open source; the C910, the P550, Veyron, from companies. Because the instruction set is open, anyone may build such a core, and some are published as source code that you could read.
For the lecturer: BOOM is the Berkeley Out-of-Order Machine. Because the instruction set is open, anyone may build such a core, and several are published as source code that a student can read: this has no precedent among commercial architectures. The list ages quickly: update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distinction that organises the whole course. The architecture is the contract: the instructions, the registers, what each instruction does. The microarchitecture is one way of honouring the contract: stages, width, predictors, caches. The add you wrote for a microcontroller is the same add on a server core. Verm1 would run unchanged on any core of the previous slide. This is why an instruction set, once learned, is knowledge that lasts.
For the lecturer: The distinction that organises the whole course: Lectures 02 to 22 taught the architecture; the kit is one small microarchitecture.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answer acts on the first factor: fewer instructions, because each instruction works on many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Flynn's taxonomy classifies machines by two questions: one stream of instructions or many, one stream of data or many. SISD is the kit: one core, one datum at a time. SIMD is one instruction applied to many data at once: vector instructions and, roughly, GPUs. MISD is rare. MIMD is many processors each with its own data: multicore chips, clusters, supercomputers.
For the lecturer: Michael Flynn, 1966. Crude, and still the first vocabulary of parallel computing.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loop with the vector extension. v0 is a vector register, many bytes wide, filled with zeros. In each turn vsetvli asks: of the bytes still to do, how many fit in a register? The answer goes in t2. vse8.v stores that many bytes with a single instruction, and the address and the counter advance by t2. With 128-bit registers a turn handles 16 bytes: 60 turns instead of 960. The code never states the width of the registers, so the same program works with any width.
For the lecturer: The V extension, ratified in 2021. Not on the kit: the ESP32-C6 is RV32IMAC. The code never says how wide the registers are: it is vector-length agnostic, and the same binary uses 128, 256 or 1024 bits. Tested on QEMU at 128, 256, 512 and 1024 bits by tools/tests/vector_qemu.S.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sum, lane by lane. A vector register holds several words, each in its own lane. vle32.v loads several words at once; vadd.vv adds two registers lane by lane, so that v1 accumulates as many partial sums as there are lanes. At the end vredsum adds the lanes together into one number. With the sixteen numbers from 1 to 16 the result is 136. It is the parallel sum you saw as a picture in Lecture 04, now as instructions.
For the lecturer: The parallel sum of Lectures 04 and 20, in RISC-V. tu, tail undisturbed, keeps the partial sums of the lanes that the last turn does not use. Tested on QEMU together with the previous 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answer leaves the single processor: thousands of processors on one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supercomputer is not one enormous processor: it is thousands of ordinary computers, the nodes, working on the same problem. Each node has one or two processors with tens of cores, often several GPUs, and much memory. A very fast network joins the nodes, and a parallel file system serves them all. Speed is measured in floating-point operations per second on a standard problem, and the TOP500 list has ranked the fastest machines since 1993. The picture is a small cluster with the same structure.
For the lecturer: The benchmark is HPL, High-Performance Linpack. The picture is the teaching cluster shown in Lecture 03: the same structure, in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 of magnitude. The kit has no floating-point unit at all. A laptop performs about a hundred billion operations per second. Leonardo, in Bologna, about two hundred and forty million billion. Frontier, El Capitan and JUPITER exceed a billion billion, ten to the eighteenth: this is the exascale. Seven orders of magnitude separate a laptop from these machines, and they were obtained with parallelism, not with faster clocks.
For the lecturer: Rounded HPL figures from the TOP500 lists; the laptop figure is an order of magnitude. Exa is 10^18. Seven orders of magnitude separate a laptop from an exascale machine: about fifty years of Moore's law, bought with parallelism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Amdahl's law says how much parallelism can give. If a fraction p of the work can be done in parallel and the rest cannot, with n processors the speed-up is 1 divided by the serial part plus the parallel part divided by n. The serial part does not shrink however many processors are added. With p equal to 0.9 the speed-up can never exceed 10. The practical lesson: before buying processors, measure p.
For the lecturer: Gene Amdahl, 1967. The same law holds for any improvement that applies to only a part of the work: a faster GPU does not help the part that runs on the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law in numbers. Read the second row: a program that is 90% parallel goes 5.3 times faster with ten processors, 9.2 with a hundred, 9.9 with a thousand, and never more than 10. Now compare the rows: only when the parallel fraction approaches 1 do many processors pay off. Compute one cell yourselves, for example p = 0.9 and n = 100.
For the lecturer: Ask the students to compute one cell: p = 0.9, n = 100 gives 1 / (0.1 + 0.009) = 9.17. Gustafson's answer, 1988: with more processors people solve bigger problems, and in a bigger problem the parallel part usually grows faster than the serial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share the work. With shared memory, several cores of the same node see the same memory, and the program runs as threads that read and write the same variables; it is easy to start, and the danger is two threads writing the same variable. With distributed memory each node has its own memory, and the program runs as processes that exchange messages, with the MPI standard; it scales to a million cores, at the programmer's expense. Real applications use both.
For the lecturer: Real applications use both: MPI between the nodes, threads and GPUs inside each node. The weather and marine models of the Department work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 is energy. An exascale machine draws about twenty megawatts, the consumption of a small town, and the electricity of its lifetime costs as much as the machine. So the figure that matters is operations per watt, which has its own ranking, the Green500. Specialised hardware leads it, because it does more with each joule. The same reason, at the other end of the scale, puts a small RISC-V core in your kit.
For the lecturer: Frontier reached its exaflop at about 21 megawatts. Energy efficiency is the thread that ties a microcontroller to a supercomputer.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RISC-V and European supercomputing. The largest machines of today use x86 or Arm processors with GPUs. Europe is designing processors and accelerators of its own on RISC-V, with the European Processor Initiative and with DARE, the project named in the first lecture. Monte Cimone, in Bologna, is a complete cluster built on RISC-V processors. An open instruction set lets a continent build what it would otherwise have to buy. The page shown is that of the computing facilities of the Department.
For the lecturer: DARE: Digital Autonomy with RISC-V in Europe. The Department's Research Computing Facilities are at rcf.uniparthenope.it: after the lecture, the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answer: accelerators. First the GPU, thousands of small cores for work that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of spending the same transistors. A CPU has a few large cores, each out of order, with predictors and big caches: it is built to finish one task as soon as possible, and is at ease with branches and irregular data. A GPU has thousands of small simple cores that execute the same code on different data: it is built to finish a great many tasks per second, and is at ease with regular arrays. Oxen and chickens: the answer depends on the field.
For the lecturer: Lecture 20 told the story from the video card to GPGPU. Cray's oxen and chickens: the answer depends on the field. The GPU is not faster at any single thing; it does more things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 program uses a GPU, in four steps. The program on the CPU, the host, prepares its arrays in main memory. The data are copied to the memory of the GPU, which costs time. A small function, the kernel, is launched in thousands of threads, one per element. The results are copied back. The GPU is a device like those of Lecture 21: the processor sends it data and commands.
For the lecturer: The GPU is a device, like those of Lecture 21: the CPU sends it data and commands through a driver. Programming models: CUDA, OpenCL, SYCL, and directives such as OpenACC and OpenMP offload.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Verm1 on a GPU. The function marked as kernel runs once in every thread. Each thread first computes who it is, its index i, from the number of its block and its position in the block; then, if the index is inside the map, it clears its own cell. There is no loop: there are 960 threads. The last line, on the host, launches four blocks of 256 threads. For 960 bytes the two copies cost far more than the work: this example shows the form, not a gain.
For the lecturer: CUDA C, in its usual textbook form; not compiled for these slides. The point of the last callout is serious: a GPU pays off when the data are large and the work per element is real. Ask: for which size of map would it be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does a GPU pay off? When the same operation applies to very many data independently: images, matrices, the grids of a simulation, neural networks. When the data can stay on the GPU for many steps instead of travelling each time. Not when the work is a chain of decisions, each depending on the previous one. And Amdahl applies again: what remains on the CPU sets the limit.
For the lecturer: A weather simulation updates every cell of a three-dimensional grid from its neighbours, millions of times: the same shape as the map of Verm1, a little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machine is the strangest: hardware that can be rewritten.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FPGA, field-programmable gate array, is a chip that becomes the circuit you describe. Inside there is a sea of small blocks: look-up tables, each able to be any function of a few inputs; a flip-flop beside each table; and wires with switches that can connect any block to any other. A configuration file, the bitstream, sets every table and every switch. Load another bitstream and the same chip is a different circuit. It does not execute a program: it is a circuit.
For the lecturer: The Xilinx XC2064, 1985. An FPGA does not execute a program: it becomes a circuit. Nothing is fetched or decoded; all the gates work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look-up table is a truth table kept in memory. The inputs a and b are the address; the stored bits are the outputs. Read the three columns on the right: with the bits 0, 0, 0, 1 the table is an AND; with 0, 1, 1, 0 an XOR; with 1, 1, 0, 0 it is NOT a. Changing the stored bits changes the gate. It is the ROM that implements any function, from Lecture 11, in miniature.
For the lecturer: Lecture 08 said that a truth table defines a function; Lecture 11 that a ROM addressed by the inputs implements any function. A LUT is that ROM, with four to six inputs, sixteen to sixty-four bits. The flip-flop next to it is that of Lecture 13. An FPGA is this course, repeated a hundred thousand times on one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of Verm1 that forbids the U-turn, written as hardware. Verilog is a language that describes circuits, not sequences of steps. The module has two inputs of two bits, the current direction and the one requested, and one output. The line with assign is a wire that is always true: the output is 1 when the XOR of the two directions equals binary 10. There is no before and after. On the kit the same rule took three instructions.
For the lecturer: A hardware description language: Verilog, or VHDL. Not synthesised for these slides. The xor, li, beq of Part 2 become gates that answer in a fraction of a nanosecond, continuously. Ask the students to draw the circuit: refuse = (d1 xor w1) and not (d0 xor w0).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description to circuit in five stages. Describe, in Verilog or VHDL. Simulate, observing waveforms like those of Lecture 13. Synthesise: the description becomes tables and flip-flops. Place and route: each element gets a position on the chip and the connections are drawn. Configure: the bitstream is loaded. Each attempt takes from minutes to hours: slower than building a cartridge, much faster than manufacturing a chip.
For the lecturer: The same flow, with a factory at the end instead of a bitstream, produces an ASIC: a chip made for one purpose. FPGAs are where chips are tried before they are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processor is a circuit too. A RISC-V core is a description in a hardware language, and it can be loaded on an FPGA: such soft cores are free to read and to use. A core of the class of your kit's fits in a small FPGA. Beside it you can place a circuit of your own, for the operation your program repeats most. Here the circle of the course closes: from the gates to a processor, and back.
For the lecturer: This closes the circle of the course: the gates of Lecture 08 build the adder of Lecture 09, the registers of Lecture 14, the processor of Lecture 18, and that processor is a file you can read. Networks, signal processing, finance and the first stages of AI inference use FPGAs where latency and energy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compute, compared. Read the table by rows. A CPU is a few complex cores, programmed in any language, good at everything in moderation. A GPU is thousands of simple cores for regular data in bulk. An FPGA is a circuit you configure, for streams and low latency. An ASIC is a circuit made for one job. From left to right the work done per joule grows, and so does the effort required. Generality is paid in energy, efficiency in effort.
For the lecturer: Generality is paid in energy; efficiency is paid in effort. A modern system on a chip has all four: your phone holds CPU cores, a GPU, and fixed circuits for video and radio.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loop of the warm-up, now seen on five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Emptying the 960 cells of the map. On the kit: one byte per turn, 3,840 cycles. On an out-of-order RISC-V core: the same binary, in a fraction of those cycles. With 128-bit vectors: 60 turns. On a GPU: one launch of 960 threads, plus two copies. On an FPGA: 960 flip-flops with a common reset, one clock cycle. The work is the same; what changes is how much of it happens at the same time, and what it costs to obtain it. The engineer's question is not which is fastest, but which is enough.
For the lecturer: The work is the same; what changes is how much of it happens at the same time. And the costs: the first row needs a two-euro chip and four lines of assembly; the last needs a hardware design. The engineer's question is never which is fastest, but which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last column of the table of Amdahl's law: with unlimited processors only the serial part remains.
For the lecturer: Answer: B. With n unlimited, S = 1 / (1 - p) = 1 / 0.2 =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 example with the two halves that both used t0: what prevented them from running together, and what did renaming change?
For the lecturer: Answer: C. Two unrelated values that share a name get different physical registers and can be computed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bytes are 256 bits? Divide the 960 bytes by that number.
For the lecturer: Answer: B. 256 bits are 32 bytes per turn: 960 / 32 = 30. The code does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four stored bits as a truth table with inputs a and b, and recognise the function.
For the lecturer: Answer: B. The output is 1 whenever at least one input is 1: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Fill in the Amdahl table for p = 0.95. Draw the pipeline diagram of a three-wide processor for nine independent instructions. Rename the registers of a fragment of Verm1 and say which instructions could run in the same cycle. Write the truth table of a four-input look-up table for the U-turn rule. And build the vector test and run it on QEMU with two different widths: why does the same binary work?
For the lecturer: QEMU: qemu-system-riscv32 -machine virt -cpu rv32,v=true,vlen=128; the build command is in tools/tests/README.md. The four ones of the table: (dir, want) = (0,2), (1,3), (2,0),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terms of this lecture. Out-of-order execution is esecuzione fuori ordine; register renaming is ridenominazione dei registri; branch prediction is predizione dei salti. Shared memory and message passing are the two models of parallel programming. Several words, kernel, bitstream, soft core, are used in Italian as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conclusions. One equation with three factors: every fast machine attacks one of them, or multiplies the processors. Superscalar out-of-order cores respect the contract of the instruction set and execute many instructions at once. Vectors, GPUs and clusters exploit data that can be processed independently, and Amdahl's law says how far that goes. FPGAs turn a description into a circuit. The course ends here: from a bit to a supercomputer, with a single instruction set.
For the lecturer: The course ends here: from a bit to a supercomputer, with one instruction set. Next: the visit to the Department's computing systems, and the presentation of the students'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24: Beyond one core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Beyond One Core: Superscalar RISC-V, HPC, GPUs and FPGAs</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200" dirty="0">
                <a:solidFill>
                  <a:srgbClr val="CFE3EA"/>
                </a:solidFill>
                <a:latin typeface="Calibri" pitchFamily="34" charset="0"/>
                <a:ea typeface="Calibri" pitchFamily="34" charset="-122"/>
                <a:cs typeface="Calibri" pitchFamily="34" charset="-120"/>
              </a:rPr>
              <a:t>The same instructions, on machines that execute many of them at once</a:t>
            </a:r>
            <a:endParaRPr lang="en-US" sz="22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“If you were plowing a field, which would you rather use: two strong oxen or 1024 chickens?”</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attributed to Seymour Cray</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cluster_1.jp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Write the performance equation and say which factor each technique attacks</a:t>
            </a:r>
            <a:endParaRPr lang="en-US" sz="2200" dirty="0"/>
          </a:p>
        </p:txBody>
      </p:sp>
      <p:sp>
        <p:nvSpPr>
          <p:cNvPr id="5" name="Text 3"/>
          <p:cNvSpPr txBox="1"/>
          <p:nvPr/>
        </p:nvSpPr>
        <p:spPr>
          <a:xfrm>
            <a:off x="548640" y="24546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3636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how a superscalar, out-of-order processor executes several instructions per cycle, and name RISC-V cores that do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 a loop written with the RISC-V vector extension</a:t>
            </a:r>
            <a:endParaRPr lang="en-US" sz="2200" dirty="0"/>
          </a:p>
        </p:txBody>
      </p:sp>
      <p:sp>
        <p:nvSpPr>
          <p:cNvPr id="9" name="Text 7"/>
          <p:cNvSpPr txBox="1"/>
          <p:nvPr/>
        </p:nvSpPr>
        <p:spPr>
          <a:xfrm>
            <a:off x="548640" y="44897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47141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a supercomputer, compute a speed-up with Amdahl's law, and say why energy is the limit</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Say what a GPU and an FPGA are good at, and what each costs the programmer</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01</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Warm-up on the machine</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One loop of Verm1, and the question of how fast it could go.</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loop that empties the map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sb   zero, 0(t0)            </a:t>
            </a:r>
            <a:pPr indent="0" marL="0">
              <a:buNone/>
            </a:pPr>
            <a:r>
              <a:rPr lang="en-US" sz="1550" dirty="0">
                <a:solidFill>
                  <a:srgbClr val="8FB3A0"/>
                </a:solidFill>
                <a:latin typeface="Courier New" pitchFamily="34" charset="0"/>
                <a:ea typeface="Courier New" pitchFamily="34" charset="-122"/>
                <a:cs typeface="Courier New" pitchFamily="34" charset="-120"/>
              </a:rPr>
              <a:t># one byte per turn of the loop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t0, t0,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t1, t1,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From new_game of Verm1: 960 bytes set to zero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Four instructions per byte: 3 840 instructions in all</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One byte at a time, one instruction at a time</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How many ways are there to make this faster?</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Time = instructions x cycles per instruction x clock period</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time a program takes is the product of three numbers</a:t>
            </a:r>
            <a:endParaRPr lang="en-US" sz="2200" dirty="0"/>
          </a:p>
        </p:txBody>
      </p:sp>
      <p:sp>
        <p:nvSpPr>
          <p:cNvPr id="5" name="Shape 3"/>
          <p:cNvSpPr/>
          <p:nvPr/>
        </p:nvSpPr>
        <p:spPr>
          <a:xfrm>
            <a:off x="548640" y="236973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3309"/>
            <a:ext cx="6565392" cy="221691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Each can be attacked</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fewer instructions: better algorithms, richer instructions, vectors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fewer cycles per instruction: pipelines, superscalar execution</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a shorter cycle: faster transistors, deeper pipelines</a:t>
            </a:r>
            <a:endParaRPr lang="en-US" sz="2200" dirty="0"/>
          </a:p>
        </p:txBody>
      </p:sp>
      <p:sp>
        <p:nvSpPr>
          <p:cNvPr id="7" name="Shape 5"/>
          <p:cNvSpPr/>
          <p:nvPr/>
        </p:nvSpPr>
        <p:spPr>
          <a:xfrm>
            <a:off x="548640" y="475090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644475"/>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And when one processor is not enough: more processors working together</a:t>
            </a:r>
            <a:endParaRPr lang="en-US" sz="2200" dirty="0"/>
          </a:p>
        </p:txBody>
      </p:sp>
      <p:sp>
        <p:nvSpPr>
          <p:cNvPr id="9" name="Shape 7"/>
          <p:cNvSpPr/>
          <p:nvPr/>
        </p:nvSpPr>
        <p:spPr>
          <a:xfrm>
            <a:off x="548640" y="559689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Every machine of this lecture is a different answer to the same equation</a:t>
            </a:r>
            <a:endParaRPr lang="en-US" sz="22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T = N x CPI x t</a:t>
            </a:r>
            <a:endParaRPr lang="en-US" sz="59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N instructions, CPI cycles per instruction, t seconds per cycle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Why not simply a faster clock?</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For thirty years each new generation of transistors was smaller, faster and no hotter per square millimetre</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Around 2005 that stopped: smaller transistors still arrive, but a faster clock means more heat than a chip can shed</a:t>
            </a:r>
            <a:endParaRPr lang="en-US" sz="21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207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Clock frequencies have stayed at a few gigahertz ever since</a:t>
            </a:r>
            <a:endParaRPr lang="en-US" sz="2100" dirty="0"/>
          </a:p>
        </p:txBody>
      </p:sp>
      <p:sp>
        <p:nvSpPr>
          <p:cNvPr id="9" name="Shape 7"/>
          <p:cNvSpPr/>
          <p:nvPr/>
        </p:nvSpPr>
        <p:spPr>
          <a:xfrm>
            <a:off x="548640" y="45127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14076"/>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extra transistors went elsewhere: wider processors, more cores, vector units, accelerators</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Performance now comes from doing many things at once: from parallelism</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~2005</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end of the free lunch: clocks stop at a few gigahertz, cores multiply</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02</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Superscalar processors</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More than one instruction per clock cycle.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From one at a time to many at once</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1830"/>
                <a:gridCol w="4170241"/>
                <a:gridCol w="1967095"/>
                <a:gridCol w="267524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Processor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How it works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Instructions per cycle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Example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Multi-cycle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instruction completes before the next begins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less than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machine of Lecture 18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Pipelined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several instructions in flight, each in a different stage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most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ESP32-C6 of the kit: four stages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Superscalar, in order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two or more pipelines side by side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up to 2 or more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small application cores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Superscalar, out of order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instructions run as soon as their operands are ready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up to 4, 6, 8 ...</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laptops, phones, servers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Two pipelines side by side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056611"/>
                <a:gridCol w="1584916"/>
                <a:gridCol w="1408815"/>
                <a:gridCol w="1408815"/>
                <a:gridCol w="1408815"/>
                <a:gridCol w="1408815"/>
                <a:gridCol w="1408815"/>
                <a:gridCol w="1408815"/>
              </a:tblGrid>
              <a:tr h="0">
                <a:tc>
                  <a:txBody>
                    <a:bodyPr/>
                    <a:lstStyle/>
                    <a:p>
                      <a:pPr algn="l" indent="0" marL="0">
                        <a:buNone/>
                      </a:pP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Cycle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IF</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ID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MEM</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WB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Six instructions in seven cycles, if nothing gets in the way.</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gets in the way: dependences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add  t0, t1, t2        </a:t>
            </a:r>
            <a:pPr indent="0" marL="0">
              <a:buNone/>
            </a:pPr>
            <a:r>
              <a:rPr lang="en-US" sz="1500" dirty="0">
                <a:solidFill>
                  <a:srgbClr val="8FB3A0"/>
                </a:solidFill>
                <a:latin typeface="Courier New" pitchFamily="34" charset="0"/>
                <a:ea typeface="Courier New" pitchFamily="34" charset="-122"/>
                <a:cs typeface="Courier New" pitchFamily="34" charset="-120"/>
              </a:rPr>
              <a:t># i1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t3, t0, t4        </a:t>
            </a:r>
            <a:pPr indent="0" marL="0">
              <a:buNone/>
            </a:pPr>
            <a:r>
              <a:rPr lang="en-US" sz="1500" dirty="0">
                <a:solidFill>
                  <a:srgbClr val="8FB3A0"/>
                </a:solidFill>
                <a:latin typeface="Courier New" pitchFamily="34" charset="0"/>
                <a:ea typeface="Courier New" pitchFamily="34" charset="-122"/>
                <a:cs typeface="Courier New" pitchFamily="34" charset="-120"/>
              </a:rPr>
              <a:t># i2 needs the t0 of i1: it must wait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t5, 0(t6)         </a:t>
            </a:r>
            <a:pPr indent="0" marL="0">
              <a:buNone/>
            </a:pPr>
            <a:r>
              <a:rPr lang="en-US" sz="1500" dirty="0">
                <a:solidFill>
                  <a:srgbClr val="8FB3A0"/>
                </a:solidFill>
                <a:latin typeface="Courier New" pitchFamily="34" charset="0"/>
                <a:ea typeface="Courier New" pitchFamily="34" charset="-122"/>
                <a:cs typeface="Courier New" pitchFamily="34" charset="-120"/>
              </a:rPr>
              <a:t># i3 is independent: it could go now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beqz t3, skip          </a:t>
            </a:r>
            <a:pPr indent="0" marL="0">
              <a:buNone/>
            </a:pPr>
            <a:r>
              <a:rPr lang="en-US" sz="1500" dirty="0">
                <a:solidFill>
                  <a:srgbClr val="8FB3A0"/>
                </a:solidFill>
                <a:latin typeface="Courier New" pitchFamily="34" charset="0"/>
                <a:ea typeface="Courier New" pitchFamily="34" charset="-122"/>
                <a:cs typeface="Courier New" pitchFamily="34" charset="-120"/>
              </a:rPr>
              <a:t># i4: which way? known only after i2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t5, t5, 1         </a:t>
            </a:r>
            <a:pPr indent="0" marL="0">
              <a:buNone/>
            </a:pPr>
            <a:r>
              <a:rPr lang="en-US" sz="1500" dirty="0">
                <a:solidFill>
                  <a:srgbClr val="8FB3A0"/>
                </a:solidFill>
                <a:latin typeface="Courier New" pitchFamily="34" charset="0"/>
                <a:ea typeface="Courier New" pitchFamily="34" charset="-122"/>
                <a:cs typeface="Courier New" pitchFamily="34" charset="-120"/>
              </a:rPr>
              <a:t># i5: executed, or not?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skip:</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i2 cannot run beside i1: it uses its result</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i3 depends on nobody: why should it wait?</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After a branch the processor does not know what comes next</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Real code is full of such chains: width alone is not enough</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Out-of-order execution</a:t>
            </a:r>
            <a:endParaRPr lang="en-US" sz="3200" dirty="0"/>
          </a:p>
        </p:txBody>
      </p:sp>
      <p:sp>
        <p:nvSpPr>
          <p:cNvPr id="3" name="Shape 1"/>
          <p:cNvSpPr/>
          <p:nvPr/>
        </p:nvSpPr>
        <p:spPr>
          <a:xfrm>
            <a:off x="548640" y="1828800"/>
            <a:ext cx="2464994" cy="4251960"/>
          </a:xfrm>
          <a:prstGeom prst="roundRect">
            <a:avLst>
              <a:gd name="adj" fmla="val 2968"/>
            </a:avLst>
          </a:prstGeom>
          <a:solidFill>
            <a:srgbClr val="EEF2F4"/>
          </a:solidFill>
          <a:ln w="12700">
            <a:solidFill>
              <a:srgbClr val="EEF2F4"/>
            </a:solidFill>
            <a:prstDash val="solid"/>
          </a:ln>
        </p:spPr>
      </p:sp>
      <p:sp>
        <p:nvSpPr>
          <p:cNvPr id="4" name="Text 2"/>
          <p:cNvSpPr txBox="1"/>
          <p:nvPr/>
        </p:nvSpPr>
        <p:spPr>
          <a:xfrm>
            <a:off x="1506817"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731520"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Fetch and decode, in order</a:t>
            </a:r>
            <a:endParaRPr lang="en-US" sz="1900" dirty="0"/>
          </a:p>
        </p:txBody>
      </p:sp>
      <p:sp>
        <p:nvSpPr>
          <p:cNvPr id="6" name="Text 4"/>
          <p:cNvSpPr txBox="1"/>
          <p:nvPr/>
        </p:nvSpPr>
        <p:spPr>
          <a:xfrm>
            <a:off x="731520"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Several instructions per cycle enter a window of tens or hundreds of instructions</a:t>
            </a:r>
            <a:endParaRPr lang="en-US" sz="1900" dirty="0"/>
          </a:p>
        </p:txBody>
      </p:sp>
      <p:sp>
        <p:nvSpPr>
          <p:cNvPr id="7" name="Shape 5"/>
          <p:cNvSpPr/>
          <p:nvPr/>
        </p:nvSpPr>
        <p:spPr>
          <a:xfrm>
            <a:off x="3077642" y="3808476"/>
            <a:ext cx="283464" cy="292608"/>
          </a:xfrm>
          <a:prstGeom prst="rightArrow">
            <a:avLst/>
          </a:prstGeom>
          <a:solidFill>
            <a:srgbClr val="C9D2D8"/>
          </a:solidFill>
          <a:ln w="12700">
            <a:solidFill>
              <a:srgbClr val="C9D2D8"/>
            </a:solidFill>
            <a:prstDash val="solid"/>
          </a:ln>
        </p:spPr>
      </p:sp>
      <p:sp>
        <p:nvSpPr>
          <p:cNvPr id="8" name="Shape 6"/>
          <p:cNvSpPr/>
          <p:nvPr/>
        </p:nvSpPr>
        <p:spPr>
          <a:xfrm>
            <a:off x="3425114" y="1828800"/>
            <a:ext cx="2464994" cy="4251960"/>
          </a:xfrm>
          <a:prstGeom prst="roundRect">
            <a:avLst>
              <a:gd name="adj" fmla="val 2968"/>
            </a:avLst>
          </a:prstGeom>
          <a:solidFill>
            <a:srgbClr val="EEF2F4"/>
          </a:solidFill>
          <a:ln w="12700">
            <a:solidFill>
              <a:srgbClr val="EEF2F4"/>
            </a:solidFill>
            <a:prstDash val="solid"/>
          </a:ln>
        </p:spPr>
      </p:sp>
      <p:sp>
        <p:nvSpPr>
          <p:cNvPr id="9" name="Text 7"/>
          <p:cNvSpPr txBox="1"/>
          <p:nvPr/>
        </p:nvSpPr>
        <p:spPr>
          <a:xfrm>
            <a:off x="4383291"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607994"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Rename</a:t>
            </a:r>
            <a:endParaRPr lang="en-US" sz="1900" dirty="0"/>
          </a:p>
        </p:txBody>
      </p:sp>
      <p:sp>
        <p:nvSpPr>
          <p:cNvPr id="11" name="Text 9"/>
          <p:cNvSpPr txBox="1"/>
          <p:nvPr/>
        </p:nvSpPr>
        <p:spPr>
          <a:xfrm>
            <a:off x="3607994"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Each result gets a fresh physical register, so that two uses of the name t0 no longer collide</a:t>
            </a:r>
            <a:endParaRPr lang="en-US" sz="1900" dirty="0"/>
          </a:p>
        </p:txBody>
      </p:sp>
      <p:sp>
        <p:nvSpPr>
          <p:cNvPr id="12" name="Shape 10"/>
          <p:cNvSpPr/>
          <p:nvPr/>
        </p:nvSpPr>
        <p:spPr>
          <a:xfrm>
            <a:off x="5954116" y="3808476"/>
            <a:ext cx="283464" cy="292608"/>
          </a:xfrm>
          <a:prstGeom prst="rightArrow">
            <a:avLst/>
          </a:prstGeom>
          <a:solidFill>
            <a:srgbClr val="C9D2D8"/>
          </a:solidFill>
          <a:ln w="12700">
            <a:solidFill>
              <a:srgbClr val="C9D2D8"/>
            </a:solidFill>
            <a:prstDash val="solid"/>
          </a:ln>
        </p:spPr>
      </p:sp>
      <p:sp>
        <p:nvSpPr>
          <p:cNvPr id="13" name="Shape 11"/>
          <p:cNvSpPr/>
          <p:nvPr/>
        </p:nvSpPr>
        <p:spPr>
          <a:xfrm>
            <a:off x="6301588" y="1828800"/>
            <a:ext cx="2464994" cy="4251960"/>
          </a:xfrm>
          <a:prstGeom prst="roundRect">
            <a:avLst>
              <a:gd name="adj" fmla="val 2968"/>
            </a:avLst>
          </a:prstGeom>
          <a:solidFill>
            <a:srgbClr val="EEF2F4"/>
          </a:solidFill>
          <a:ln w="12700">
            <a:solidFill>
              <a:srgbClr val="EEF2F4"/>
            </a:solidFill>
            <a:prstDash val="solid"/>
          </a:ln>
        </p:spPr>
      </p:sp>
      <p:sp>
        <p:nvSpPr>
          <p:cNvPr id="14" name="Text 12"/>
          <p:cNvSpPr txBox="1"/>
          <p:nvPr/>
        </p:nvSpPr>
        <p:spPr>
          <a:xfrm>
            <a:off x="7259765"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6484468"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Execute when ready</a:t>
            </a:r>
            <a:endParaRPr lang="en-US" sz="1900" dirty="0"/>
          </a:p>
        </p:txBody>
      </p:sp>
      <p:sp>
        <p:nvSpPr>
          <p:cNvPr id="16" name="Text 14"/>
          <p:cNvSpPr txBox="1"/>
          <p:nvPr/>
        </p:nvSpPr>
        <p:spPr>
          <a:xfrm>
            <a:off x="6484468"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An instruction starts as soon as its operands exist, whatever its position in the program</a:t>
            </a:r>
            <a:endParaRPr lang="en-US" sz="1900" dirty="0"/>
          </a:p>
        </p:txBody>
      </p:sp>
      <p:sp>
        <p:nvSpPr>
          <p:cNvPr id="17" name="Shape 15"/>
          <p:cNvSpPr/>
          <p:nvPr/>
        </p:nvSpPr>
        <p:spPr>
          <a:xfrm>
            <a:off x="8830589" y="3808476"/>
            <a:ext cx="283464" cy="292608"/>
          </a:xfrm>
          <a:prstGeom prst="rightArrow">
            <a:avLst/>
          </a:prstGeom>
          <a:solidFill>
            <a:srgbClr val="C9D2D8"/>
          </a:solidFill>
          <a:ln w="12700">
            <a:solidFill>
              <a:srgbClr val="C9D2D8"/>
            </a:solidFill>
            <a:prstDash val="solid"/>
          </a:ln>
        </p:spPr>
      </p:sp>
      <p:sp>
        <p:nvSpPr>
          <p:cNvPr id="18" name="Shape 16"/>
          <p:cNvSpPr/>
          <p:nvPr/>
        </p:nvSpPr>
        <p:spPr>
          <a:xfrm>
            <a:off x="9178061" y="1828800"/>
            <a:ext cx="2464994" cy="4251960"/>
          </a:xfrm>
          <a:prstGeom prst="roundRect">
            <a:avLst>
              <a:gd name="adj" fmla="val 2968"/>
            </a:avLst>
          </a:prstGeom>
          <a:solidFill>
            <a:srgbClr val="EEF2F4"/>
          </a:solidFill>
          <a:ln w="12700">
            <a:solidFill>
              <a:srgbClr val="EEF2F4"/>
            </a:solidFill>
            <a:prstDash val="solid"/>
          </a:ln>
        </p:spPr>
      </p:sp>
      <p:sp>
        <p:nvSpPr>
          <p:cNvPr id="19" name="Text 17"/>
          <p:cNvSpPr txBox="1"/>
          <p:nvPr/>
        </p:nvSpPr>
        <p:spPr>
          <a:xfrm>
            <a:off x="10136238"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9360941"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Commit, in order</a:t>
            </a:r>
            <a:endParaRPr lang="en-US" sz="1900" dirty="0"/>
          </a:p>
        </p:txBody>
      </p:sp>
      <p:sp>
        <p:nvSpPr>
          <p:cNvPr id="21" name="Text 19"/>
          <p:cNvSpPr txBox="1"/>
          <p:nvPr/>
        </p:nvSpPr>
        <p:spPr>
          <a:xfrm>
            <a:off x="9360941"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Results become official in program order: seen from outside, nothing ever overtook</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Register renaming: thirty-two names, many registers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as written                 # as executed, after renaming</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0(a0)                lw   p41,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p42, p41,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0(a0)                sw   p42,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4(a0)                lw   p43, 4(a0)      </a:t>
            </a:r>
            <a:pPr indent="0" marL="0">
              <a:buNone/>
            </a:pPr>
            <a:r>
              <a:rPr lang="en-US" sz="1500" dirty="0">
                <a:solidFill>
                  <a:srgbClr val="8FB3A0"/>
                </a:solidFill>
                <a:latin typeface="Courier New" pitchFamily="34" charset="0"/>
                <a:ea typeface="Courier New" pitchFamily="34" charset="-122"/>
                <a:cs typeface="Courier New" pitchFamily="34" charset="-120"/>
              </a:rPr>
              <a:t># a new 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p44, p43,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4(a0)                sw   p44, 4(a0)</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The second half reuses the name t0, not its value</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Renamed, the two halves share nothing</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They can run at the same time, on different registers</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The 32 registers you know are names; the chip has many more</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Guessing the future: branch prediction</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wide processor meets a branch every few instructions: it cannot wait to know the outcome</a:t>
            </a:r>
            <a:endParaRPr lang="en-US" sz="2100" dirty="0"/>
          </a:p>
        </p:txBody>
      </p:sp>
      <p:sp>
        <p:nvSpPr>
          <p:cNvPr id="5" name="Shape 3"/>
          <p:cNvSpPr/>
          <p:nvPr/>
        </p:nvSpPr>
        <p:spPr>
          <a:xfrm>
            <a:off x="548640" y="246068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6201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It predicts the direction from the history of that branch, and goes on executing along the guess</a:t>
            </a:r>
            <a:endParaRPr lang="en-US" sz="21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207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right guess costs nothing; a wrong one throws away the speculative work and starts again</a:t>
            </a:r>
            <a:endParaRPr lang="en-US" sz="2100" dirty="0"/>
          </a:p>
        </p:txBody>
      </p:sp>
      <p:sp>
        <p:nvSpPr>
          <p:cNvPr id="9" name="Shape 7"/>
          <p:cNvSpPr/>
          <p:nvPr/>
        </p:nvSpPr>
        <p:spPr>
          <a:xfrm>
            <a:off x="548640" y="467544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7676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loop of the warm-up branches back 959 times and falls through once: easy to predict</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Modern predictors are right far more than nine times out of ten</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959 : 1</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bnez t1, 1b is taken 959 times and not taken once: a predictor learns it in the first turns</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RISC-V goes superscalar</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94358"/>
                <a:gridCol w="3328325"/>
                <a:gridCol w="5071733"/>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Core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From</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Kind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HP core of the ESP32-C6</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Espressif</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 order, four stages, one instruction per cycle: your kit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BOOM</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University of California, Berkeley</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out of order, open source, for research and teaching</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XiangShan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Chinese Academy of Sciences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out of order, open source, high performance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XuanTie C910</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T-Head (Alibaba)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out of order, three-wide; released as open source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Performance P550</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SiFive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out of order, three-wide, thirteen stages; sold as a design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Veyron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Ventana Micro Systems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out of order, for data centres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architecture, many microarchitectures</a:t>
            </a:r>
            <a:endParaRPr lang="en-US" sz="3200" dirty="0"/>
          </a:p>
        </p:txBody>
      </p:sp>
      <p:sp>
        <p:nvSpPr>
          <p:cNvPr id="3" name="Shape 1"/>
          <p:cNvSpPr/>
          <p:nvPr/>
        </p:nvSpPr>
        <p:spPr>
          <a:xfrm>
            <a:off x="548640" y="1417320"/>
            <a:ext cx="11094415" cy="1937004"/>
          </a:xfrm>
          <a:prstGeom prst="roundRect">
            <a:avLst>
              <a:gd name="adj" fmla="val 3777"/>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Architecture and microarchitecture</a:t>
            </a:r>
            <a:endParaRPr lang="en-US" sz="1600" dirty="0"/>
          </a:p>
        </p:txBody>
      </p:sp>
      <p:sp>
        <p:nvSpPr>
          <p:cNvPr id="5" name="Text 3"/>
          <p:cNvSpPr txBox="1"/>
          <p:nvPr/>
        </p:nvSpPr>
        <p:spPr>
          <a:xfrm>
            <a:off x="914400" y="2057400"/>
            <a:ext cx="10362895" cy="1114044"/>
          </a:xfrm>
          <a:prstGeom prst="rect">
            <a:avLst/>
          </a:prstGeom>
          <a:noFill/>
          <a:ln/>
        </p:spPr>
        <p:txBody>
          <a:bodyPr wrap="square" lIns="0" tIns="0" rIns="0" bIns="0" rtlCol="0" anchor="ctr"/>
          <a:lstStyle/>
          <a:p>
            <a:pPr indent="0" marL="0">
              <a:buNone/>
            </a:pPr>
            <a:r>
              <a:rPr lang="en-US" sz="2300" i="1" dirty="0">
                <a:solidFill>
                  <a:srgbClr val="1B2530"/>
                </a:solidFill>
                <a:latin typeface="Cambria" pitchFamily="34" charset="0"/>
                <a:ea typeface="Cambria" pitchFamily="34" charset="-122"/>
                <a:cs typeface="Cambria" pitchFamily="34" charset="-120"/>
              </a:rPr>
              <a:t>The architecture is the contract: instructions, registers, what each instruction does. The microarchitecture is one way to honour it: stages, width, predictors, caches.</a:t>
            </a:r>
            <a:endParaRPr lang="en-US" sz="2300" dirty="0"/>
          </a:p>
        </p:txBody>
      </p:sp>
      <p:sp>
        <p:nvSpPr>
          <p:cNvPr id="6" name="Shape 4"/>
          <p:cNvSpPr/>
          <p:nvPr/>
        </p:nvSpPr>
        <p:spPr>
          <a:xfrm>
            <a:off x="548640" y="3796284"/>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674364"/>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add you wrote for a 160 MHz microcontroller is the add of a server core</a:t>
            </a:r>
            <a:endParaRPr lang="en-US" sz="2400" dirty="0"/>
          </a:p>
        </p:txBody>
      </p:sp>
      <p:sp>
        <p:nvSpPr>
          <p:cNvPr id="8" name="Shape 6"/>
          <p:cNvSpPr/>
          <p:nvPr/>
        </p:nvSpPr>
        <p:spPr>
          <a:xfrm>
            <a:off x="548640" y="4859274"/>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737354"/>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Verm1 would run unchanged on any of the cores of the previous slide, given a screen</a:t>
            </a:r>
            <a:endParaRPr lang="en-US" sz="2400" dirty="0"/>
          </a:p>
        </p:txBody>
      </p:sp>
      <p:sp>
        <p:nvSpPr>
          <p:cNvPr id="10" name="Shape 8"/>
          <p:cNvSpPr/>
          <p:nvPr/>
        </p:nvSpPr>
        <p:spPr>
          <a:xfrm>
            <a:off x="548640" y="5922264"/>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800344"/>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This is why an instruction set learned once is knowledge that lasts</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03</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Vectors: one instruction, many data</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The RISC-V vector extension.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Flynn's taxonomy</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267933"/>
                <a:gridCol w="2060391"/>
                <a:gridCol w="2060391"/>
                <a:gridCol w="570569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Class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Instructions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Example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SISD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stream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stream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kit: one core, one datum at a time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SIMD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stream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many at once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vector instructions; a GPU, to a first approximation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MISD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many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stream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rare: redundant systems that vote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MIMD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many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many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multicore processors, clusters, supercomputers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same loop, with vectors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elements are bytes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vmv.v.i v0, 0                   </a:t>
            </a:r>
            <a:pPr indent="0" marL="0">
              <a:buNone/>
            </a:pPr>
            <a:r>
              <a:rPr lang="en-US" sz="1550" dirty="0">
                <a:solidFill>
                  <a:srgbClr val="8FB3A0"/>
                </a:solidFill>
                <a:latin typeface="Courier New" pitchFamily="34" charset="0"/>
                <a:ea typeface="Courier New" pitchFamily="34" charset="-122"/>
                <a:cs typeface="Courier New" pitchFamily="34" charset="-120"/>
              </a:rPr>
              <a:t># a register full of zeros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t2 = bytes of this turn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vse8.v  v0, (t0)                </a:t>
            </a:r>
            <a:pPr indent="0" marL="0">
              <a:buNone/>
            </a:pPr>
            <a:r>
              <a:rPr lang="en-US" sz="1550" dirty="0">
                <a:solidFill>
                  <a:srgbClr val="8FB3A0"/>
                </a:solidFill>
                <a:latin typeface="Courier New" pitchFamily="34" charset="0"/>
                <a:ea typeface="Courier New" pitchFamily="34" charset="-122"/>
                <a:cs typeface="Courier New" pitchFamily="34" charset="-120"/>
              </a:rPr>
              <a:t># store t2 bytes at once</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  t0, t0,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sub  t1, t1,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v0 is a vector register: many bytes wide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vsetvli asks: how many of the bytes left fit? The answer is in t2</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vse8.v stores t2 bytes with one instruction</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With 128-bit registers: 16 bytes per turn, 60 turns instead of 960</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sum, lane by lane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numbers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16                 </a:t>
            </a:r>
            <a:pPr indent="0" marL="0">
              <a:buNone/>
            </a:pPr>
            <a:r>
              <a:rPr lang="en-US" sz="1500" dirty="0">
                <a:solidFill>
                  <a:srgbClr val="8FB3A0"/>
                </a:solidFill>
                <a:latin typeface="Courier New" pitchFamily="34" charset="0"/>
                <a:ea typeface="Courier New" pitchFamily="34" charset="-122"/>
                <a:cs typeface="Courier New" pitchFamily="34" charset="-120"/>
              </a:rPr>
              <a:t># sixteen words to add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vmv.v.i v1, 0               </a:t>
            </a:r>
            <a:pPr indent="0" marL="0">
              <a:buNone/>
            </a:pPr>
            <a:r>
              <a:rPr lang="en-US" sz="1500" dirty="0">
                <a:solidFill>
                  <a:srgbClr val="8FB3A0"/>
                </a:solidFill>
                <a:latin typeface="Courier New" pitchFamily="34" charset="0"/>
                <a:ea typeface="Courier New" pitchFamily="34" charset="-122"/>
                <a:cs typeface="Courier New" pitchFamily="34" charset="-120"/>
              </a:rPr>
              <a:t># v1 = partial sums, one per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1:  vsetvli t2, t1, e32, m1, tu,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vle32.v v2, (t0)            </a:t>
            </a:r>
            <a:pPr indent="0" marL="0">
              <a:buNone/>
            </a:pPr>
            <a:r>
              <a:rPr lang="en-US" sz="1500" dirty="0">
                <a:solidFill>
                  <a:srgbClr val="8FB3A0"/>
                </a:solidFill>
                <a:latin typeface="Courier New" pitchFamily="34" charset="0"/>
                <a:ea typeface="Courier New" pitchFamily="34" charset="-122"/>
                <a:cs typeface="Courier New" pitchFamily="34" charset="-120"/>
              </a:rPr>
              <a:t># load t2 words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vadd.vv v1, v1, v2          </a:t>
            </a:r>
            <a:pPr indent="0" marL="0">
              <a:buNone/>
            </a:pPr>
            <a:r>
              <a:rPr lang="en-US" sz="1500" dirty="0">
                <a:solidFill>
                  <a:srgbClr val="8FB3A0"/>
                </a:solidFill>
                <a:latin typeface="Courier New" pitchFamily="34" charset="0"/>
                <a:ea typeface="Courier New" pitchFamily="34" charset="-122"/>
                <a:cs typeface="Courier New" pitchFamily="34" charset="-120"/>
              </a:rPr>
              <a:t># add them, lane by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slli t3, t2, 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t0, t0, t3</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sub  t1, t1, t2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bnez t1, 1b</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vmv.s.x v3, zero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vredsum.vs v3, v1, v3       </a:t>
            </a:r>
            <a:pPr indent="0" marL="0">
              <a:buNone/>
            </a:pPr>
            <a:r>
              <a:rPr lang="en-US" sz="1500" dirty="0">
                <a:solidFill>
                  <a:srgbClr val="8FB3A0"/>
                </a:solidFill>
                <a:latin typeface="Courier New" pitchFamily="34" charset="0"/>
                <a:ea typeface="Courier New" pitchFamily="34" charset="-122"/>
                <a:cs typeface="Courier New" pitchFamily="34" charset="-120"/>
              </a:rPr>
              <a:t># add the lanes together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vmv.x.s a0, v3</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vle32.v loads several words at once</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vadd.vv adds register to register, lane by lane</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At the end vredsum adds the lanes together</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Sixteen numbers, 1 to 16: the result is 136</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04</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High-performance computing</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Thousands of processors on one problem.</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is a supercomputer?</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Not one enormous processor: thousands of ordinary computers, the nodes, working on the same problem</a:t>
            </a:r>
            <a:endParaRPr lang="en-US" sz="2100" dirty="0"/>
          </a:p>
        </p:txBody>
      </p:sp>
      <p:sp>
        <p:nvSpPr>
          <p:cNvPr id="5" name="Shape 3"/>
          <p:cNvSpPr/>
          <p:nvPr/>
        </p:nvSpPr>
        <p:spPr>
          <a:xfrm>
            <a:off x="548640" y="230543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06752"/>
            <a:ext cx="6565392" cy="127177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Each node has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one or two processors with tens of cores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often several GPUs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a great deal of memory</a:t>
            </a:r>
            <a:endParaRPr lang="en-US" sz="2100" dirty="0"/>
          </a:p>
        </p:txBody>
      </p:sp>
      <p:sp>
        <p:nvSpPr>
          <p:cNvPr id="7" name="Shape 5"/>
          <p:cNvSpPr/>
          <p:nvPr/>
        </p:nvSpPr>
        <p:spPr>
          <a:xfrm>
            <a:off x="548640" y="371589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17214"/>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very fast network joins the nodes, and a parallel file system serves them all</a:t>
            </a:r>
            <a:endParaRPr lang="en-US" sz="2100" dirty="0"/>
          </a:p>
        </p:txBody>
      </p:sp>
      <p:sp>
        <p:nvSpPr>
          <p:cNvPr id="9" name="Shape 7"/>
          <p:cNvSpPr/>
          <p:nvPr/>
        </p:nvSpPr>
        <p:spPr>
          <a:xfrm>
            <a:off x="548640" y="450532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06646"/>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Speed is measured in floating-point operations per second, FLOPS, on a standard problem: a huge system of linear equations</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TOP500 list has ranked the fastest machines twice a year since 1993</a:t>
            </a:r>
            <a:endParaRPr lang="en-US" sz="2100" dirty="0"/>
          </a:p>
        </p:txBody>
      </p:sp>
      <p:pic>
        <p:nvPicPr>
          <p:cNvPr id="13" name="Image 0" descr="/Users/raffaelemontella/devel/riscv-prg32/computer-architecture-with-prg32/tools/assets/cluster_1.jpg">    </p:cNvPr>
          <p:cNvPicPr>
            <a:picLocks noChangeAspect="1"/>
          </p:cNvPicPr>
          <p:nvPr/>
        </p:nvPicPr>
        <p:blipFill>
          <a:blip r:embed="rId1"/>
          <a:stretch>
            <a:fillRect/>
          </a:stretch>
        </p:blipFill>
        <p:spPr>
          <a:xfrm>
            <a:off x="7863840" y="2148954"/>
            <a:ext cx="3779215" cy="283441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A small cluster: nodes, GPUs, a fast network</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Orders of magnitude</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35866"/>
                <a:gridCol w="2852850"/>
                <a:gridCol w="570569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Machine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Where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Floating-point operations per second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ESP32-C6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your kit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 floating-point unit: fixed point, as in Verm1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 laptop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your bag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about a hundred billion: 10^11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Leonardo (2022)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CINECA, Bologna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about 240 million billion: 2.4 x 10^17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Frontier (2022)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Oak Ridge, USA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over 10^18: the first exascale machine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El Capitan (2024)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Livermore, USA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about 1.7 x 10^18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JUPITER (2025)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Jülich, Germany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about 10^18: the first European exascale machine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Amdahl's law</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Speed-up with n processors</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400" i="1" dirty="0">
                <a:solidFill>
                  <a:srgbClr val="1B2530"/>
                </a:solidFill>
                <a:latin typeface="Cambria" pitchFamily="34" charset="0"/>
                <a:ea typeface="Cambria" pitchFamily="34" charset="-122"/>
                <a:cs typeface="Cambria" pitchFamily="34" charset="-120"/>
              </a:rPr>
              <a:t>S = 1 / ((1 - p) + p / n), where p is the fraction of the work that can be done in parallel.</a:t>
            </a:r>
            <a:endParaRPr lang="en-US" sz="2400" dirty="0"/>
          </a:p>
        </p:txBody>
      </p:sp>
      <p:sp>
        <p:nvSpPr>
          <p:cNvPr id="6" name="Shape 4"/>
          <p:cNvSpPr/>
          <p:nvPr/>
        </p:nvSpPr>
        <p:spPr>
          <a:xfrm>
            <a:off x="548640" y="3487928"/>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6600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serial fraction, 1 - p, does not shrink however many processors you add</a:t>
            </a:r>
            <a:endParaRPr lang="en-US" sz="2400" dirty="0"/>
          </a:p>
        </p:txBody>
      </p:sp>
      <p:sp>
        <p:nvSpPr>
          <p:cNvPr id="8" name="Shape 6"/>
          <p:cNvSpPr/>
          <p:nvPr/>
        </p:nvSpPr>
        <p:spPr>
          <a:xfrm>
            <a:off x="548640" y="4688840"/>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566920"/>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With p = 0.9 the speed-up can never exceed 10, even with a million processors</a:t>
            </a:r>
            <a:endParaRPr lang="en-US" sz="2400" dirty="0"/>
          </a:p>
        </p:txBody>
      </p:sp>
      <p:sp>
        <p:nvSpPr>
          <p:cNvPr id="10" name="Shape 8"/>
          <p:cNvSpPr/>
          <p:nvPr/>
        </p:nvSpPr>
        <p:spPr>
          <a:xfrm>
            <a:off x="548640" y="5889752"/>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767832"/>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Before buying processors, measure p</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Amdahl's law in numbers</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815001"/>
                <a:gridCol w="1987059"/>
                <a:gridCol w="1987059"/>
                <a:gridCol w="1987059"/>
                <a:gridCol w="231823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Parallel fraction 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 = 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 = 100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 = 1000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 unlimited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0.50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0.90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0.99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0.999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Speed-up. A thousand processors on a program that is 90% parallel: less than ten times faster.</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Two ways to share the work</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Shared memory</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Several cores of one node see the same memory</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program runs as threads that read and write the same variables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Easy to start: OpenMP adds one line above a loop</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danger: two threads writing the same variable</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Distributed memory</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Each node has its own memory; nothing is shared</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program runs as processes that send each other messages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MPI, the Message Passing Interface, is the standard</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It scales to a million cores, and the programmer pays for it</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limit is energy</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An exascale machine draws about twenty megawatts: the consumption of a small town</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electricity of its lifetime costs as much as the machine</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So the figure that matters is operations per watt, and it has its own ranking: the Green500</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GPUs and other accelerators lead it: specialised hardware does more with each joule</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same reason puts a small RISC-V core in your kit: milliwatts</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~20 MW</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for 10^18 operations per second: about 50 billion operations per joule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RISC-V and European supercomputing</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Today's largest machines use x86 or Arm processors with GPU accelerators</a:t>
            </a:r>
            <a:endParaRPr lang="en-US" sz="2100" dirty="0"/>
          </a:p>
        </p:txBody>
      </p:sp>
      <p:sp>
        <p:nvSpPr>
          <p:cNvPr id="5" name="Shape 3"/>
          <p:cNvSpPr/>
          <p:nvPr/>
        </p:nvSpPr>
        <p:spPr>
          <a:xfrm>
            <a:off x="548640" y="229800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99323"/>
            <a:ext cx="6565392" cy="130149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Europe designs its own processors and accelerators on RISC-V: the European Processor Initiative, and DARE, the project named in the first lecture</a:t>
            </a:r>
            <a:endParaRPr lang="en-US" sz="21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2073"/>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Monte Cimone, at the University of Bologna with CINECA, 2022: a complete HPC cluster built on RISC-V processors</a:t>
            </a:r>
            <a:endParaRPr lang="en-US" sz="2100" dirty="0"/>
          </a:p>
        </p:txBody>
      </p:sp>
      <p:sp>
        <p:nvSpPr>
          <p:cNvPr id="9" name="Shape 7"/>
          <p:cNvSpPr/>
          <p:nvPr/>
        </p:nvSpPr>
        <p:spPr>
          <a:xfrm>
            <a:off x="548640" y="483812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3945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Barcelona Supercomputing Center designs and fabricates RISC-V cores of its own</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An open instruction set lets a continent build what it would otherwise have to buy</a:t>
            </a:r>
            <a:endParaRPr lang="en-US" sz="2100" dirty="0"/>
          </a:p>
        </p:txBody>
      </p:sp>
      <p:pic>
        <p:nvPicPr>
          <p:cNvPr id="13" name="Image 0" descr="/Users/raffaelemontella/devel/riscv-prg32/computer-architecture-with-prg32/tools/assets/rcf_page.png">    </p:cNvPr>
          <p:cNvPicPr>
            <a:picLocks noChangeAspect="1"/>
          </p:cNvPicPr>
          <p:nvPr/>
        </p:nvPicPr>
        <p:blipFill>
          <a:blip r:embed="rId1"/>
          <a:stretch>
            <a:fillRect/>
          </a:stretch>
        </p:blipFill>
        <p:spPr>
          <a:xfrm>
            <a:off x="7916189" y="1417320"/>
            <a:ext cx="3674516" cy="429768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Research Computing Facilities of the Department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05</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GPU accelerators</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Thousands of small cores for work that repeats.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Two ways to spend transistors</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 CPU</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 few large cores: tens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Each one out of order, with predictors and big caches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Built to finish one task as soon as possible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At ease with branches and irregular data</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 GPU</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Thousands of small, simple cores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All executing the same code on different data</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Built to finish a million tasks per second</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At ease with regular arrays: pixels, matrices, grids</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How a program uses a GPU</a:t>
            </a:r>
            <a:endParaRPr lang="en-US" sz="3200" dirty="0"/>
          </a:p>
        </p:txBody>
      </p:sp>
      <p:sp>
        <p:nvSpPr>
          <p:cNvPr id="3" name="Shape 1"/>
          <p:cNvSpPr/>
          <p:nvPr/>
        </p:nvSpPr>
        <p:spPr>
          <a:xfrm>
            <a:off x="548640" y="1828800"/>
            <a:ext cx="2464994" cy="4251960"/>
          </a:xfrm>
          <a:prstGeom prst="roundRect">
            <a:avLst>
              <a:gd name="adj" fmla="val 2968"/>
            </a:avLst>
          </a:prstGeom>
          <a:solidFill>
            <a:srgbClr val="EEF2F4"/>
          </a:solidFill>
          <a:ln w="12700">
            <a:solidFill>
              <a:srgbClr val="EEF2F4"/>
            </a:solidFill>
            <a:prstDash val="solid"/>
          </a:ln>
        </p:spPr>
      </p:sp>
      <p:sp>
        <p:nvSpPr>
          <p:cNvPr id="4" name="Text 2"/>
          <p:cNvSpPr txBox="1"/>
          <p:nvPr/>
        </p:nvSpPr>
        <p:spPr>
          <a:xfrm>
            <a:off x="1506817"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731520"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Prepare</a:t>
            </a:r>
            <a:endParaRPr lang="en-US" sz="1900" dirty="0"/>
          </a:p>
        </p:txBody>
      </p:sp>
      <p:sp>
        <p:nvSpPr>
          <p:cNvPr id="6" name="Text 4"/>
          <p:cNvSpPr txBox="1"/>
          <p:nvPr/>
        </p:nvSpPr>
        <p:spPr>
          <a:xfrm>
            <a:off x="731520"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The program on the CPU, the host, builds its arrays in main memory</a:t>
            </a:r>
            <a:endParaRPr lang="en-US" sz="1900" dirty="0"/>
          </a:p>
        </p:txBody>
      </p:sp>
      <p:sp>
        <p:nvSpPr>
          <p:cNvPr id="7" name="Shape 5"/>
          <p:cNvSpPr/>
          <p:nvPr/>
        </p:nvSpPr>
        <p:spPr>
          <a:xfrm>
            <a:off x="3077642" y="3808476"/>
            <a:ext cx="283464" cy="292608"/>
          </a:xfrm>
          <a:prstGeom prst="rightArrow">
            <a:avLst/>
          </a:prstGeom>
          <a:solidFill>
            <a:srgbClr val="C9D2D8"/>
          </a:solidFill>
          <a:ln w="12700">
            <a:solidFill>
              <a:srgbClr val="C9D2D8"/>
            </a:solidFill>
            <a:prstDash val="solid"/>
          </a:ln>
        </p:spPr>
      </p:sp>
      <p:sp>
        <p:nvSpPr>
          <p:cNvPr id="8" name="Shape 6"/>
          <p:cNvSpPr/>
          <p:nvPr/>
        </p:nvSpPr>
        <p:spPr>
          <a:xfrm>
            <a:off x="3425114" y="1828800"/>
            <a:ext cx="2464994" cy="4251960"/>
          </a:xfrm>
          <a:prstGeom prst="roundRect">
            <a:avLst>
              <a:gd name="adj" fmla="val 2968"/>
            </a:avLst>
          </a:prstGeom>
          <a:solidFill>
            <a:srgbClr val="EEF2F4"/>
          </a:solidFill>
          <a:ln w="12700">
            <a:solidFill>
              <a:srgbClr val="EEF2F4"/>
            </a:solidFill>
            <a:prstDash val="solid"/>
          </a:ln>
        </p:spPr>
      </p:sp>
      <p:sp>
        <p:nvSpPr>
          <p:cNvPr id="9" name="Text 7"/>
          <p:cNvSpPr txBox="1"/>
          <p:nvPr/>
        </p:nvSpPr>
        <p:spPr>
          <a:xfrm>
            <a:off x="4383291"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607994"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Copy in</a:t>
            </a:r>
            <a:endParaRPr lang="en-US" sz="1900" dirty="0"/>
          </a:p>
        </p:txBody>
      </p:sp>
      <p:sp>
        <p:nvSpPr>
          <p:cNvPr id="11" name="Text 9"/>
          <p:cNvSpPr txBox="1"/>
          <p:nvPr/>
        </p:nvSpPr>
        <p:spPr>
          <a:xfrm>
            <a:off x="3607994"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The data travel to the memory of the GPU: a real cost, in time</a:t>
            </a:r>
            <a:endParaRPr lang="en-US" sz="1900" dirty="0"/>
          </a:p>
        </p:txBody>
      </p:sp>
      <p:sp>
        <p:nvSpPr>
          <p:cNvPr id="12" name="Shape 10"/>
          <p:cNvSpPr/>
          <p:nvPr/>
        </p:nvSpPr>
        <p:spPr>
          <a:xfrm>
            <a:off x="5954116" y="3808476"/>
            <a:ext cx="283464" cy="292608"/>
          </a:xfrm>
          <a:prstGeom prst="rightArrow">
            <a:avLst/>
          </a:prstGeom>
          <a:solidFill>
            <a:srgbClr val="C9D2D8"/>
          </a:solidFill>
          <a:ln w="12700">
            <a:solidFill>
              <a:srgbClr val="C9D2D8"/>
            </a:solidFill>
            <a:prstDash val="solid"/>
          </a:ln>
        </p:spPr>
      </p:sp>
      <p:sp>
        <p:nvSpPr>
          <p:cNvPr id="13" name="Shape 11"/>
          <p:cNvSpPr/>
          <p:nvPr/>
        </p:nvSpPr>
        <p:spPr>
          <a:xfrm>
            <a:off x="6301588" y="1828800"/>
            <a:ext cx="2464994" cy="4251960"/>
          </a:xfrm>
          <a:prstGeom prst="roundRect">
            <a:avLst>
              <a:gd name="adj" fmla="val 2968"/>
            </a:avLst>
          </a:prstGeom>
          <a:solidFill>
            <a:srgbClr val="EEF2F4"/>
          </a:solidFill>
          <a:ln w="12700">
            <a:solidFill>
              <a:srgbClr val="EEF2F4"/>
            </a:solidFill>
            <a:prstDash val="solid"/>
          </a:ln>
        </p:spPr>
      </p:sp>
      <p:sp>
        <p:nvSpPr>
          <p:cNvPr id="14" name="Text 12"/>
          <p:cNvSpPr txBox="1"/>
          <p:nvPr/>
        </p:nvSpPr>
        <p:spPr>
          <a:xfrm>
            <a:off x="7259765"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6484468"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Launch</a:t>
            </a:r>
            <a:endParaRPr lang="en-US" sz="1900" dirty="0"/>
          </a:p>
        </p:txBody>
      </p:sp>
      <p:sp>
        <p:nvSpPr>
          <p:cNvPr id="16" name="Text 14"/>
          <p:cNvSpPr txBox="1"/>
          <p:nvPr/>
        </p:nvSpPr>
        <p:spPr>
          <a:xfrm>
            <a:off x="6484468"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One small function, the kernel, runs in thousands of threads, one per element of the data</a:t>
            </a:r>
            <a:endParaRPr lang="en-US" sz="1900" dirty="0"/>
          </a:p>
        </p:txBody>
      </p:sp>
      <p:sp>
        <p:nvSpPr>
          <p:cNvPr id="17" name="Shape 15"/>
          <p:cNvSpPr/>
          <p:nvPr/>
        </p:nvSpPr>
        <p:spPr>
          <a:xfrm>
            <a:off x="8830589" y="3808476"/>
            <a:ext cx="283464" cy="292608"/>
          </a:xfrm>
          <a:prstGeom prst="rightArrow">
            <a:avLst/>
          </a:prstGeom>
          <a:solidFill>
            <a:srgbClr val="C9D2D8"/>
          </a:solidFill>
          <a:ln w="12700">
            <a:solidFill>
              <a:srgbClr val="C9D2D8"/>
            </a:solidFill>
            <a:prstDash val="solid"/>
          </a:ln>
        </p:spPr>
      </p:sp>
      <p:sp>
        <p:nvSpPr>
          <p:cNvPr id="18" name="Shape 16"/>
          <p:cNvSpPr/>
          <p:nvPr/>
        </p:nvSpPr>
        <p:spPr>
          <a:xfrm>
            <a:off x="9178061" y="1828800"/>
            <a:ext cx="2464994" cy="4251960"/>
          </a:xfrm>
          <a:prstGeom prst="roundRect">
            <a:avLst>
              <a:gd name="adj" fmla="val 2968"/>
            </a:avLst>
          </a:prstGeom>
          <a:solidFill>
            <a:srgbClr val="EEF2F4"/>
          </a:solidFill>
          <a:ln w="12700">
            <a:solidFill>
              <a:srgbClr val="EEF2F4"/>
            </a:solidFill>
            <a:prstDash val="solid"/>
          </a:ln>
        </p:spPr>
      </p:sp>
      <p:sp>
        <p:nvSpPr>
          <p:cNvPr id="19" name="Text 17"/>
          <p:cNvSpPr txBox="1"/>
          <p:nvPr/>
        </p:nvSpPr>
        <p:spPr>
          <a:xfrm>
            <a:off x="10136238"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9360941"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Copy out</a:t>
            </a:r>
            <a:endParaRPr lang="en-US" sz="1900" dirty="0"/>
          </a:p>
        </p:txBody>
      </p:sp>
      <p:sp>
        <p:nvSpPr>
          <p:cNvPr id="21" name="Text 19"/>
          <p:cNvSpPr txBox="1"/>
          <p:nvPr/>
        </p:nvSpPr>
        <p:spPr>
          <a:xfrm>
            <a:off x="9360941"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The results travel back, and the host goes on</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map of Verm1, one thread per cell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the kernel: this function runs once in every thread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__global__ void clear(unsigned char *grid, int n)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int i = blockIdx.x * blockDim.x + threadIdx.x;   </a:t>
            </a:r>
            <a:pPr indent="0" marL="0">
              <a:buNone/>
            </a:pPr>
            <a:r>
              <a:rPr lang="en-US" sz="1250" dirty="0">
                <a:solidFill>
                  <a:srgbClr val="8FB3A0"/>
                </a:solidFill>
                <a:latin typeface="Courier New" pitchFamily="34" charset="0"/>
                <a:ea typeface="Courier New" pitchFamily="34" charset="-122"/>
                <a:cs typeface="Courier New" pitchFamily="34" charset="-120"/>
              </a:rPr>
              <a:t>// who am I?</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if (i &lt; 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grid[i] = 0;                                 </a:t>
            </a:r>
            <a:pPr indent="0" marL="0">
              <a:buNone/>
            </a:pPr>
            <a:r>
              <a:rPr lang="en-US" sz="1250" dirty="0">
                <a:solidFill>
                  <a:srgbClr val="8FB3A0"/>
                </a:solidFill>
                <a:latin typeface="Courier New" pitchFamily="34" charset="0"/>
                <a:ea typeface="Courier New" pitchFamily="34" charset="-122"/>
                <a:cs typeface="Courier New" pitchFamily="34" charset="-120"/>
              </a:rPr>
              <a:t>// my cell, and only mine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host: 4 blocks of 256 threads cover the 960 cells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clear&lt;&lt;&lt;(960 + 255) / 256, 256&gt;&gt;&gt;(grid, 960);</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There is no loop: there are 960 threads</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Each thread computes its own index and does one store</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Threads come in blocks; the last ones find nothing to do</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For 960 bytes the copies cost far more than the work</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When does a GPU pay off?</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When the same operation applies to very many data, independently: images, matrices, grids of a simulation, neural networks</a:t>
            </a:r>
            <a:endParaRPr lang="en-US" sz="2000" dirty="0"/>
          </a:p>
        </p:txBody>
      </p:sp>
      <p:sp>
        <p:nvSpPr>
          <p:cNvPr id="5" name="Shape 3"/>
          <p:cNvSpPr/>
          <p:nvPr/>
        </p:nvSpPr>
        <p:spPr>
          <a:xfrm>
            <a:off x="548640" y="277444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83510"/>
            <a:ext cx="546811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When the data can stay on the GPU for many steps, instead of travelling at every one</a:t>
            </a:r>
            <a:endParaRPr lang="en-US" sz="20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9820"/>
            <a:ext cx="546811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Not when the work is a chain of decisions, each depending on the one before</a:t>
            </a:r>
            <a:endParaRPr lang="en-US" sz="2000" dirty="0"/>
          </a:p>
        </p:txBody>
      </p:sp>
      <p:sp>
        <p:nvSpPr>
          <p:cNvPr id="9" name="Shape 7"/>
          <p:cNvSpPr/>
          <p:nvPr/>
        </p:nvSpPr>
        <p:spPr>
          <a:xfrm>
            <a:off x="548640" y="468706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96130"/>
            <a:ext cx="546811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Amdahl again: what stays on the CPU sets the limit</a:t>
            </a:r>
            <a:endParaRPr lang="en-US" sz="2000" dirty="0"/>
          </a:p>
        </p:txBody>
      </p:sp>
      <p:sp>
        <p:nvSpPr>
          <p:cNvPr id="11"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52440"/>
            <a:ext cx="546811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training of today's neural networks is, almost entirely, matrix arithmetic on GPUs</a:t>
            </a:r>
            <a:endParaRPr lang="en-US" sz="2000" dirty="0"/>
          </a:p>
        </p:txBody>
      </p:sp>
      <p:pic>
        <p:nvPicPr>
          <p:cNvPr id="13" name="Image 0" descr="/Users/raffaelemontella/devel/riscv-prg32/computer-architecture-with-prg32/tools/assets/gpgpu_sum.png">    </p:cNvPr>
          <p:cNvPicPr>
            <a:picLocks noChangeAspect="1"/>
          </p:cNvPicPr>
          <p:nvPr/>
        </p:nvPicPr>
        <p:blipFill>
          <a:blip r:embed="rId1"/>
          <a:stretch>
            <a:fillRect/>
          </a:stretch>
        </p:blipFill>
        <p:spPr>
          <a:xfrm>
            <a:off x="6766560" y="2048154"/>
            <a:ext cx="4876495" cy="3036012"/>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A parallel sum: log2 N steps instead of N</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06</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FPGA accelerators</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Hardware that you can rewrite.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chip that becomes the circuit you describe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FPGA: field-programmable gate array</a:t>
            </a:r>
            <a:endParaRPr lang="en-US" sz="2100" dirty="0"/>
          </a:p>
        </p:txBody>
      </p:sp>
      <p:sp>
        <p:nvSpPr>
          <p:cNvPr id="5" name="Shape 3"/>
          <p:cNvSpPr/>
          <p:nvPr/>
        </p:nvSpPr>
        <p:spPr>
          <a:xfrm>
            <a:off x="548640" y="200329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904619"/>
            <a:ext cx="6565392" cy="182956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Inside: a sea of small programmable blocks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look-up tables, each able to be any function of a few inputs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flip-flops, one beside each table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wires and switches that can join any block to any other</a:t>
            </a:r>
            <a:endParaRPr lang="en-US" sz="2100" dirty="0"/>
          </a:p>
        </p:txBody>
      </p:sp>
      <p:sp>
        <p:nvSpPr>
          <p:cNvPr id="7" name="Shape 5"/>
          <p:cNvSpPr/>
          <p:nvPr/>
        </p:nvSpPr>
        <p:spPr>
          <a:xfrm>
            <a:off x="548640" y="399478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89610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configuration file, the bitstream, sets every table and every switch</a:t>
            </a:r>
            <a:endParaRPr lang="en-US" sz="2100" dirty="0"/>
          </a:p>
        </p:txBody>
      </p:sp>
      <p:sp>
        <p:nvSpPr>
          <p:cNvPr id="9" name="Shape 7"/>
          <p:cNvSpPr/>
          <p:nvPr/>
        </p:nvSpPr>
        <p:spPr>
          <a:xfrm>
            <a:off x="548640" y="480745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08779"/>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Load another bitstream and the same chip is another circuit</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First sold in 1985; today from a few euros to boards for data centres</a:t>
            </a:r>
            <a:endParaRPr lang="en-US" sz="2100" dirty="0"/>
          </a:p>
        </p:txBody>
      </p:sp>
      <p:pic>
        <p:nvPicPr>
          <p:cNvPr id="13" name="Image 0" descr="/Users/raffaelemontella/devel/riscv-prg32/computer-architecture-with-prg32/tools/assets/pcb.jpg">    </p:cNvPr>
          <p:cNvPicPr>
            <a:picLocks noChangeAspect="1"/>
          </p:cNvPicPr>
          <p:nvPr/>
        </p:nvPicPr>
        <p:blipFill>
          <a:blip r:embed="rId1"/>
          <a:stretch>
            <a:fillRect/>
          </a:stretch>
        </p:blipFill>
        <p:spPr>
          <a:xfrm>
            <a:off x="7863840" y="2230837"/>
            <a:ext cx="3779215" cy="2670645"/>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Programmable logic sits on boards like any other chip</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look-up table is a truth table in memory</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194783"/>
                <a:gridCol w="1194783"/>
                <a:gridCol w="2901616"/>
                <a:gridCol w="2901616"/>
                <a:gridCol w="290161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stored for AND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stored for XOR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stored for NOT 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The inputs are the address; four stored bits choose the function. Changing the bits changes the gate.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U-turn rule of Verm1, as hardware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Lecture 12: opposite directions differ in bit 1 only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module uturn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dir,      </a:t>
            </a:r>
            <a:pPr indent="0" marL="0">
              <a:buNone/>
            </a:pPr>
            <a:r>
              <a:rPr lang="en-US" sz="1500" dirty="0">
                <a:solidFill>
                  <a:srgbClr val="8FB3A0"/>
                </a:solidFill>
                <a:latin typeface="Courier New" pitchFamily="34" charset="0"/>
                <a:ea typeface="Courier New" pitchFamily="34" charset="-122"/>
                <a:cs typeface="Courier New" pitchFamily="34" charset="-120"/>
              </a:rPr>
              <a:t>// direction of the last step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want,     </a:t>
            </a:r>
            <a:pPr indent="0" marL="0">
              <a:buNone/>
            </a:pPr>
            <a:r>
              <a:rPr lang="en-US" sz="1500" dirty="0">
                <a:solidFill>
                  <a:srgbClr val="8FB3A0"/>
                </a:solidFill>
                <a:latin typeface="Courier New" pitchFamily="34" charset="0"/>
                <a:ea typeface="Courier New" pitchFamily="34" charset="-122"/>
                <a:cs typeface="Courier New" pitchFamily="34" charset="-120"/>
              </a:rPr>
              <a:t>// direction asked by the player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output wire       refuse    </a:t>
            </a:r>
            <a:pPr indent="0" marL="0">
              <a:buNone/>
            </a:pPr>
            <a:r>
              <a:rPr lang="en-US" sz="1500" dirty="0">
                <a:solidFill>
                  <a:srgbClr val="8FB3A0"/>
                </a:solidFill>
                <a:latin typeface="Courier New" pitchFamily="34" charset="0"/>
                <a:ea typeface="Courier New" pitchFamily="34" charset="-122"/>
                <a:cs typeface="Courier New" pitchFamily="34" charset="-120"/>
              </a:rPr>
              <a:t>// 1 = this would be a U-turn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assign refuse = (dir ^ want) == 2'b10;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endmodule</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Verilog: a language that describes circuits, not steps</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assign is a wire, always true: there is no before and after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Two XOR gates and an AND with one inverted input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On the kit this rule took three instructions and three cycles</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From description to circuit</a:t>
            </a:r>
            <a:endParaRPr lang="en-US" sz="3200" dirty="0"/>
          </a:p>
        </p:txBody>
      </p:sp>
      <p:sp>
        <p:nvSpPr>
          <p:cNvPr id="3" name="Shape 1"/>
          <p:cNvSpPr/>
          <p:nvPr/>
        </p:nvSpPr>
        <p:spPr>
          <a:xfrm>
            <a:off x="548640" y="1874520"/>
            <a:ext cx="1926275" cy="2468880"/>
          </a:xfrm>
          <a:prstGeom prst="roundRect">
            <a:avLst>
              <a:gd name="adj" fmla="val 3798"/>
            </a:avLst>
          </a:prstGeom>
          <a:solidFill>
            <a:srgbClr val="EEF2F4"/>
          </a:solidFill>
          <a:ln w="12700">
            <a:solidFill>
              <a:srgbClr val="EEF2F4"/>
            </a:solidFill>
            <a:prstDash val="solid"/>
          </a:ln>
        </p:spPr>
      </p:sp>
      <p:sp>
        <p:nvSpPr>
          <p:cNvPr id="4" name="Text 2"/>
          <p:cNvSpPr txBox="1"/>
          <p:nvPr/>
        </p:nvSpPr>
        <p:spPr>
          <a:xfrm>
            <a:off x="685800" y="2057400"/>
            <a:ext cx="1651955"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Describe</a:t>
            </a:r>
            <a:endParaRPr lang="en-US" sz="1900" dirty="0"/>
          </a:p>
        </p:txBody>
      </p:sp>
      <p:sp>
        <p:nvSpPr>
          <p:cNvPr id="5" name="Text 3"/>
          <p:cNvSpPr txBox="1"/>
          <p:nvPr/>
        </p:nvSpPr>
        <p:spPr>
          <a:xfrm>
            <a:off x="68580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Verilog or VHDL; or C, with high-level synthesis</a:t>
            </a:r>
            <a:endParaRPr lang="en-US" sz="1700" dirty="0"/>
          </a:p>
        </p:txBody>
      </p:sp>
      <p:sp>
        <p:nvSpPr>
          <p:cNvPr id="6" name="Shape 4"/>
          <p:cNvSpPr/>
          <p:nvPr/>
        </p:nvSpPr>
        <p:spPr>
          <a:xfrm>
            <a:off x="2520635"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840675" y="1874520"/>
            <a:ext cx="1926275" cy="2468880"/>
          </a:xfrm>
          <a:prstGeom prst="roundRect">
            <a:avLst>
              <a:gd name="adj" fmla="val 3798"/>
            </a:avLst>
          </a:prstGeom>
          <a:solidFill>
            <a:srgbClr val="EEF2F4"/>
          </a:solidFill>
          <a:ln w="12700">
            <a:solidFill>
              <a:srgbClr val="EEF2F4"/>
            </a:solidFill>
            <a:prstDash val="solid"/>
          </a:ln>
        </p:spPr>
      </p:sp>
      <p:sp>
        <p:nvSpPr>
          <p:cNvPr id="8" name="Text 6"/>
          <p:cNvSpPr txBox="1"/>
          <p:nvPr/>
        </p:nvSpPr>
        <p:spPr>
          <a:xfrm>
            <a:off x="2977835" y="2057400"/>
            <a:ext cx="1651955"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Simulate</a:t>
            </a:r>
            <a:endParaRPr lang="en-US" sz="1900" dirty="0"/>
          </a:p>
        </p:txBody>
      </p:sp>
      <p:sp>
        <p:nvSpPr>
          <p:cNvPr id="9" name="Text 7"/>
          <p:cNvSpPr txBox="1"/>
          <p:nvPr/>
        </p:nvSpPr>
        <p:spPr>
          <a:xfrm>
            <a:off x="297783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waveforms, as in Lecture 13</a:t>
            </a:r>
            <a:endParaRPr lang="en-US" sz="1700" dirty="0"/>
          </a:p>
        </p:txBody>
      </p:sp>
      <p:sp>
        <p:nvSpPr>
          <p:cNvPr id="10" name="Shape 8"/>
          <p:cNvSpPr/>
          <p:nvPr/>
        </p:nvSpPr>
        <p:spPr>
          <a:xfrm>
            <a:off x="4812670"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5132710" y="1874520"/>
            <a:ext cx="1926275" cy="2468880"/>
          </a:xfrm>
          <a:prstGeom prst="roundRect">
            <a:avLst>
              <a:gd name="adj" fmla="val 3798"/>
            </a:avLst>
          </a:prstGeom>
          <a:solidFill>
            <a:srgbClr val="EEF2F4"/>
          </a:solidFill>
          <a:ln w="12700">
            <a:solidFill>
              <a:srgbClr val="EEF2F4"/>
            </a:solidFill>
            <a:prstDash val="solid"/>
          </a:ln>
        </p:spPr>
      </p:sp>
      <p:sp>
        <p:nvSpPr>
          <p:cNvPr id="12" name="Text 10"/>
          <p:cNvSpPr txBox="1"/>
          <p:nvPr/>
        </p:nvSpPr>
        <p:spPr>
          <a:xfrm>
            <a:off x="5269870" y="2057400"/>
            <a:ext cx="1651955"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Synthesise</a:t>
            </a:r>
            <a:endParaRPr lang="en-US" sz="1900" dirty="0"/>
          </a:p>
        </p:txBody>
      </p:sp>
      <p:sp>
        <p:nvSpPr>
          <p:cNvPr id="13" name="Text 11"/>
          <p:cNvSpPr txBox="1"/>
          <p:nvPr/>
        </p:nvSpPr>
        <p:spPr>
          <a:xfrm>
            <a:off x="526987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the description becomes tables and flip-flops</a:t>
            </a:r>
            <a:endParaRPr lang="en-US" sz="1700" dirty="0"/>
          </a:p>
        </p:txBody>
      </p:sp>
      <p:sp>
        <p:nvSpPr>
          <p:cNvPr id="14" name="Shape 12"/>
          <p:cNvSpPr/>
          <p:nvPr/>
        </p:nvSpPr>
        <p:spPr>
          <a:xfrm>
            <a:off x="7104705"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7424745" y="1874520"/>
            <a:ext cx="1926275" cy="2468880"/>
          </a:xfrm>
          <a:prstGeom prst="roundRect">
            <a:avLst>
              <a:gd name="adj" fmla="val 3798"/>
            </a:avLst>
          </a:prstGeom>
          <a:solidFill>
            <a:srgbClr val="EEF2F4"/>
          </a:solidFill>
          <a:ln w="12700">
            <a:solidFill>
              <a:srgbClr val="EEF2F4"/>
            </a:solidFill>
            <a:prstDash val="solid"/>
          </a:ln>
        </p:spPr>
      </p:sp>
      <p:sp>
        <p:nvSpPr>
          <p:cNvPr id="16" name="Text 14"/>
          <p:cNvSpPr txBox="1"/>
          <p:nvPr/>
        </p:nvSpPr>
        <p:spPr>
          <a:xfrm>
            <a:off x="7561905" y="2057400"/>
            <a:ext cx="1651955"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Place and route</a:t>
            </a:r>
            <a:endParaRPr lang="en-US" sz="1900" dirty="0"/>
          </a:p>
        </p:txBody>
      </p:sp>
      <p:sp>
        <p:nvSpPr>
          <p:cNvPr id="17" name="Text 15"/>
          <p:cNvSpPr txBox="1"/>
          <p:nvPr/>
        </p:nvSpPr>
        <p:spPr>
          <a:xfrm>
            <a:off x="756190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each one gets a place on the chip</a:t>
            </a:r>
            <a:endParaRPr lang="en-US" sz="1700" dirty="0"/>
          </a:p>
        </p:txBody>
      </p:sp>
      <p:sp>
        <p:nvSpPr>
          <p:cNvPr id="18" name="Shape 16"/>
          <p:cNvSpPr/>
          <p:nvPr/>
        </p:nvSpPr>
        <p:spPr>
          <a:xfrm>
            <a:off x="9396740"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9716780" y="1874520"/>
            <a:ext cx="1926275" cy="2468880"/>
          </a:xfrm>
          <a:prstGeom prst="roundRect">
            <a:avLst>
              <a:gd name="adj" fmla="val 3798"/>
            </a:avLst>
          </a:prstGeom>
          <a:solidFill>
            <a:srgbClr val="EEF2F4"/>
          </a:solidFill>
          <a:ln w="12700">
            <a:solidFill>
              <a:srgbClr val="EEF2F4"/>
            </a:solidFill>
            <a:prstDash val="solid"/>
          </a:ln>
        </p:spPr>
      </p:sp>
      <p:sp>
        <p:nvSpPr>
          <p:cNvPr id="20" name="Text 18"/>
          <p:cNvSpPr txBox="1"/>
          <p:nvPr/>
        </p:nvSpPr>
        <p:spPr>
          <a:xfrm>
            <a:off x="9853940" y="2057400"/>
            <a:ext cx="1651955"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Configure</a:t>
            </a:r>
            <a:endParaRPr lang="en-US" sz="1900" dirty="0"/>
          </a:p>
        </p:txBody>
      </p:sp>
      <p:sp>
        <p:nvSpPr>
          <p:cNvPr id="21" name="Text 19"/>
          <p:cNvSpPr txBox="1"/>
          <p:nvPr/>
        </p:nvSpPr>
        <p:spPr>
          <a:xfrm>
            <a:off x="985394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the bitstream is loaded</a:t>
            </a:r>
            <a:endParaRPr lang="en-US" sz="1700" dirty="0"/>
          </a:p>
        </p:txBody>
      </p:sp>
      <p:sp>
        <p:nvSpPr>
          <p:cNvPr id="22" name="Shape 20"/>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3" name="Text 21"/>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Minutes to hours for each attempt: slower than building a cartridge, far faster than making a chip.</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processor is a circuit too</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RISC-V core is a description in a hardware language: it can be loaded on an FPGA</a:t>
            </a:r>
            <a:endParaRPr lang="en-US" sz="2200" dirty="0"/>
          </a:p>
        </p:txBody>
      </p:sp>
      <p:sp>
        <p:nvSpPr>
          <p:cNvPr id="5" name="Shape 3"/>
          <p:cNvSpPr/>
          <p:nvPr/>
        </p:nvSpPr>
        <p:spPr>
          <a:xfrm>
            <a:off x="548640" y="245681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5038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Such soft cores are free to read and use: PicoRV32, VexRiscv, NEORV32, Rocket</a:t>
            </a:r>
            <a:endParaRPr lang="en-US" sz="2200" dirty="0"/>
          </a:p>
        </p:txBody>
      </p:sp>
      <p:sp>
        <p:nvSpPr>
          <p:cNvPr id="7" name="Shape 5"/>
          <p:cNvSpPr/>
          <p:nvPr/>
        </p:nvSpPr>
        <p:spPr>
          <a:xfrm>
            <a:off x="548640" y="338988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8345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core of the class of your kit's fits in a small, cheap FPGA</a:t>
            </a:r>
            <a:endParaRPr lang="en-US" sz="2200" dirty="0"/>
          </a:p>
        </p:txBody>
      </p:sp>
      <p:sp>
        <p:nvSpPr>
          <p:cNvPr id="9" name="Shape 7"/>
          <p:cNvSpPr/>
          <p:nvPr/>
        </p:nvSpPr>
        <p:spPr>
          <a:xfrm>
            <a:off x="548640" y="432295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16527"/>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And beside it you can put a circuit of your own, for the one operation your program repeats most: a custom accelerator</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RISC-V reserves room in its encoding for custom instructions, to reach such circuits</a:t>
            </a:r>
            <a:endParaRPr lang="en-US" sz="2200" dirty="0"/>
          </a:p>
        </p:txBody>
      </p:sp>
      <p:sp>
        <p:nvSpPr>
          <p:cNvPr id="13" name="Shape 11"/>
          <p:cNvSpPr/>
          <p:nvPr/>
        </p:nvSpPr>
        <p:spPr>
          <a:xfrm>
            <a:off x="7863840" y="1417320"/>
            <a:ext cx="3779215" cy="4754880"/>
          </a:xfrm>
          <a:prstGeom prst="roundRect">
            <a:avLst>
              <a:gd name="adj" fmla="val 1936"/>
            </a:avLst>
          </a:prstGeom>
          <a:solidFill>
            <a:srgbClr val="D8ECEE"/>
          </a:solidFill>
          <a:ln w="12700">
            <a:solidFill>
              <a:srgbClr val="D8ECEE"/>
            </a:solidFill>
            <a:prstDash val="solid"/>
          </a:ln>
        </p:spPr>
      </p:sp>
      <p:sp>
        <p:nvSpPr>
          <p:cNvPr id="14" name="Text 12"/>
          <p:cNvSpPr txBox="1"/>
          <p:nvPr/>
        </p:nvSpPr>
        <p:spPr>
          <a:xfrm>
            <a:off x="8138160" y="1645920"/>
            <a:ext cx="3230575" cy="548640"/>
          </a:xfrm>
          <a:prstGeom prst="rect">
            <a:avLst/>
          </a:prstGeom>
          <a:noFill/>
          <a:ln/>
        </p:spPr>
        <p:txBody>
          <a:bodyPr wrap="square" lIns="0" tIns="0" rIns="0" bIns="0" rtlCol="0" anchor="ctr"/>
          <a:lstStyle/>
          <a:p>
            <a:pPr indent="0" marL="0">
              <a:buNone/>
            </a:pPr>
            <a:r>
              <a:rPr lang="en-US" sz="1800" b="1" dirty="0">
                <a:solidFill>
                  <a:srgbClr val="2E4A62"/>
                </a:solidFill>
                <a:latin typeface="Calibri" pitchFamily="34" charset="0"/>
                <a:ea typeface="Calibri" pitchFamily="34" charset="-122"/>
                <a:cs typeface="Calibri" pitchFamily="34" charset="-120"/>
              </a:rPr>
              <a:t>The circle closes</a:t>
            </a:r>
            <a:endParaRPr lang="en-US" sz="1800" dirty="0"/>
          </a:p>
        </p:txBody>
      </p:sp>
      <p:sp>
        <p:nvSpPr>
          <p:cNvPr id="15" name="Text 13"/>
          <p:cNvSpPr txBox="1"/>
          <p:nvPr/>
        </p:nvSpPr>
        <p:spPr>
          <a:xfrm>
            <a:off x="8138160" y="2286000"/>
            <a:ext cx="3230575" cy="365760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From gates to a processor, and back: you now know every layer in between.</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ways to compute</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901900"/>
                <a:gridCol w="2060391"/>
                <a:gridCol w="2456621"/>
                <a:gridCol w="2218883"/>
                <a:gridCol w="2456621"/>
              </a:tblGrid>
              <a:tr h="0">
                <a:tc>
                  <a:txBody>
                    <a:bodyPr/>
                    <a:lstStyle/>
                    <a:p>
                      <a:pPr algn="l" indent="0" marL="0">
                        <a:buNone/>
                      </a:pP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CPU</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GPU</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FPGA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ASIC</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What it is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a few complex cores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thousands of simple cores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a circuit you configure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a circuit made for one job</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Programmed in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any language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kernels: CUDA, OpenCL, SYCL</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Verilog, VHDL, HLS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the same, then a factory</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Strong at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everything, moderately</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regular data in bulk</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streams, low latency</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one thing, perfectly</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Work per joule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high</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high</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highest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Effort to use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medium</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high</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very high</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Change of mind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recompile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recompile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a new bitstream</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a new chip</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07</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Back to the machine</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One loop, five machines.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Emptying the map of Verm1: 960 cells</a:t>
            </a:r>
            <a:endParaRPr lang="en-US" sz="3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852850"/>
                <a:gridCol w="5388716"/>
                <a:gridCol w="2852850"/>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Machine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How</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Steps in time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The kit: ESP32-C6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byte per turn, one instruction per cycle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3 840 cycles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Out-of-order RISC-V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same binary; several instructions per cycle, the branch predicted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fraction of those cycles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RISC-V with vectors, 128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 bytes per turn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60 turns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GPU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threads, one per cell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launch, plus two copies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FPGA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flip-flops with a common reset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clock cycle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The first three rows are the same instruction set. The first and the third were run for these slides.</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A program is 80% parallel. What is the largest speed-up that any number of processors can give?</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4</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5</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8</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80</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What does register renaming remove?</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branches</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the need for a stack</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false dependences between uses of the same register name</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cache misses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With 256-bit vector registers, how many turns does the vector loop need for the 960 bytes?</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4</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30</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60</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960</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A two-input look-up table stores, for inputs 00, 01, 10, 11, the bits 0, 1, 1, 1. Which gate is it?</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AND</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OR</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XOR</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NAND</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the machine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Fill in the Amdahl table for p = 0.95 and n = 10, 100, 1000</a:t>
            </a:r>
            <a:endParaRPr lang="en-US" sz="2000" dirty="0"/>
          </a:p>
        </p:txBody>
      </p:sp>
      <p:sp>
        <p:nvSpPr>
          <p:cNvPr id="6" name="Text 4"/>
          <p:cNvSpPr txBox="1"/>
          <p:nvPr/>
        </p:nvSpPr>
        <p:spPr>
          <a:xfrm>
            <a:off x="548640" y="2013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54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Draw the pipeline diagram of a three-wide processor for nine independent instructions with five stages</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Rename the registers of the step-wrap code of Verm1, Part 2: which instructions could run in the same cycle?</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the truth table stored in a four-input look-up table for refuse = (dir xor want) == 2</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Build tools/tests/vector_qemu.S and run it on QEMU with vlen=128 and vlen=512: why does the same binary work?</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Amdahl, p = 0.95: 6.9, 16.8, 19.6. Nine instructions, three-wide: seven cycles. The look-up table has four ones out of sixteen entries.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a:t>
            </a:r>
            <a:endParaRPr lang="en-US" sz="3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94358"/>
                <a:gridCol w="3011341"/>
                <a:gridCol w="2535866"/>
                <a:gridCol w="2852850"/>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Italian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Italian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superscalar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superscalare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out-of-order execution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esecuzione fuori ordine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register renaming</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ridenominazione dei registri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branch prediction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predizione dei salti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speed-up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accelerazione (speed-up)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node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nodo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shared memory</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memoria condivisa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message passing</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scambio di messaggi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accelerator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acceleratore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kernel (GPU)</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kernel</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look-up table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tabella di look-up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bitstream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bitstream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hardware description language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linguaggio di descrizione dell'hardware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soft core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soft core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492758"/>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One equation, three factors: every fast machine attacks one of them, or multiplies processors</a:t>
            </a:r>
            <a:endParaRPr lang="en-US" sz="1800" dirty="0"/>
          </a:p>
        </p:txBody>
      </p:sp>
      <p:sp>
        <p:nvSpPr>
          <p:cNvPr id="5" name="Shape 3"/>
          <p:cNvSpPr/>
          <p:nvPr/>
        </p:nvSpPr>
        <p:spPr>
          <a:xfrm>
            <a:off x="548640" y="222408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48650"/>
            <a:ext cx="6565392"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Superscalar, out-of-order cores keep the contract of the instruction set and execute many instructions at once</a:t>
            </a:r>
            <a:endParaRPr lang="en-US" sz="1800" dirty="0"/>
          </a:p>
        </p:txBody>
      </p:sp>
      <p:sp>
        <p:nvSpPr>
          <p:cNvPr id="7" name="Shape 5"/>
          <p:cNvSpPr/>
          <p:nvPr/>
        </p:nvSpPr>
        <p:spPr>
          <a:xfrm>
            <a:off x="548640" y="295541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879979"/>
            <a:ext cx="6565392"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Vectors, GPUs and clusters exploit data that can be processed independently; Amdahl's law says how far that goes</a:t>
            </a:r>
            <a:endParaRPr lang="en-US" sz="1800" dirty="0"/>
          </a:p>
        </p:txBody>
      </p:sp>
      <p:sp>
        <p:nvSpPr>
          <p:cNvPr id="9" name="Shape 7"/>
          <p:cNvSpPr/>
          <p:nvPr/>
        </p:nvSpPr>
        <p:spPr>
          <a:xfrm>
            <a:off x="548640" y="396563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890201"/>
            <a:ext cx="6565392"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FPGAs turn a description into a circuit: the logic of this course, at scale</a:t>
            </a:r>
            <a:endParaRPr lang="en-US" sz="1800" dirty="0"/>
          </a:p>
        </p:txBody>
      </p:sp>
      <p:sp>
        <p:nvSpPr>
          <p:cNvPr id="11" name="Shape 9"/>
          <p:cNvSpPr/>
          <p:nvPr/>
        </p:nvSpPr>
        <p:spPr>
          <a:xfrm>
            <a:off x="548640" y="469696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621530"/>
            <a:ext cx="6565392" cy="1550670"/>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Reading</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Patterson, Hennessy: Computer Organization and Design, RISC-V Edition, chapters 4 and 6</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Hennessy, Patterson: Computer Architecture, A Quantitative Approach</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top500.org; the RISC-V vector specification at riscv.org</a:t>
            </a:r>
            <a:endParaRPr lang="en-US" sz="1800" dirty="0"/>
          </a:p>
        </p:txBody>
      </p:sp>
      <p:pic>
        <p:nvPicPr>
          <p:cNvPr id="13" name="Image 0" descr="/Users/raffaelemontella/devel/riscv-prg32/computer-architecture-with-prg32/tools/assets/book_patterson.jpg">    </p:cNvPr>
          <p:cNvPicPr>
            <a:picLocks noChangeAspect="1"/>
          </p:cNvPicPr>
          <p:nvPr/>
        </p:nvPicPr>
        <p:blipFill>
          <a:blip r:embed="rId1"/>
          <a:stretch>
            <a:fillRect/>
          </a:stretch>
        </p:blipFill>
        <p:spPr>
          <a:xfrm>
            <a:off x="8192838" y="1417320"/>
            <a:ext cx="3121220" cy="429768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Patterson, Hennessy: RISC-V edition</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Beyond One Core: Superscalar RISC-V, HPC, GPUs and FPGAs</dc:title>
  <dc:subject>Lecture 24</dc:subject>
  <dc:creator>Raffaele Montella</dc:creator>
  <cp:lastModifiedBy>Raffaele Montella</cp:lastModifiedBy>
  <cp:revision>1</cp:revision>
  <dcterms:created xsi:type="dcterms:W3CDTF">2026-10-12T11:28:39Z</dcterms:created>
  <dcterms:modified xsi:type="dcterms:W3CDTF">2026-10-12T11:28:39Z</dcterms:modified>
</cp:coreProperties>
</file>