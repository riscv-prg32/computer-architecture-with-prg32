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d8ca24-2930-1937-5835-d4afa3e86e9f}">
          <p14:sldIdLst>
            <p14:sldId id="256"/>
            <p14:sldId id="257"/>
          </p14:sldIdLst>
        </p14:section>
        <p14:section name="Warm-up on the machine" id="{09c2e155-6349-6596-367f-12987ed1d99f}">
          <p14:sldIdLst>
            <p14:sldId id="258"/>
            <p14:sldId id="259"/>
          </p14:sldIdLst>
        </p14:section>
        <p14:section name="Superscalar processors" id="{7c5847db-abcc-ed38-8817-c199268519be}">
          <p14:sldIdLst>
            <p14:sldId id="260"/>
            <p14:sldId id="261"/>
            <p14:sldId id="262"/>
            <p14:sldId id="263"/>
            <p14:sldId id="264"/>
          </p14:sldIdLst>
        </p14:section>
        <p14:section name="High-performance computing" id="{04b89d49-e670-4cd9-9ed8-f86fa9eb9d36}">
          <p14:sldIdLst>
            <p14:sldId id="265"/>
            <p14:sldId id="266"/>
            <p14:sldId id="267"/>
            <p14:sldId id="268"/>
          </p14:sldIdLst>
        </p14:section>
        <p14:section name="GPU accelerators" id="{e048133d-256e-0382-bcab-8a5a32e251ab}">
          <p14:sldIdLst>
            <p14:sldId id="269"/>
          </p14:sldIdLst>
        </p14:section>
        <p14:section name="FPGA accelerators" id="{ac3994f5-b21f-2163-ab10-9adf98b7bf4e}">
          <p14:sldIdLst>
            <p14:sldId id="270"/>
            <p14:sldId id="271"/>
          </p14:sldIdLst>
        </p14:section>
        <p14:section name="Back to the machine" id="{fb05ca97-f86f-0127-32cf-ca59e332e450}">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lecture looks beyond the kit. Everything learned so far was learned on a small processor that executes one instruction at a time. The machines that forecast the weather or train a neural network execute instructions of the same kind, in vast numbers at once. The lecture takes one small loop of Verm1 and follows it onto four classes of machine, so that the whole landscape of high-performance computing is seen through a single, familiar example. Seymour Cray's question about oxen and chickens will recur, and it has no single answer. This lecture is an outlook and is not part of the midterm test.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Stating the performance equation and identifying which of its factors each technique addresses. Explaining how a superscalar, out-of-order processor executes several instructions per cycle. Reading a loop written with the RISC-V vector extension. Describing a supercomputer, computing a speed-up with Amdahl's law, and explaining why energy is the binding constraint. And stating what a GPU and an FPGA are suited for, and what each demands of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time of a program is the product of three quantities: the number of instructions executed, the average number of clock cycles each requires, and the duration of a cycle. Each factor can be reduced. Fewer instructions: better algorithms, richer instructions, vectors. Fewer cycles per instruction: pipelining and superscalar execution. A shorter cycle: faster transistors. And when one processor no longer suffices, more processors. This equation organises the lecture: every machine presented is a different answer to it.
UNDERSTAND NOW: the performance equation.
For the lecturer: The performance equation of Patterson and Hennessy. For the loop of the warm-up (code deck)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three decades each generation of transistors was smaller and faster without dissipating more heat per unit area. Around 2005 this scaling ended: a faster clock now produces more heat than a chip can shed. Frequencies have remained at a few gigahertz, and the additional transistors have been spent differently: wider processors, more cores, vector units and accelerators. Performance now comes from parallelism, from doing many things at once, which is why the remainder of the lecture is about parallel machines.
UNDERSTAND NOW: the performance equation.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processor has several instructions in flight, each in a different stage, and completes at most one per cycle; this is the kit. The in-order superscalar processor has two or more pipelines side by side. The out-of-order superscalar processor starts each instruction as soon as its operands are ready and sustains four, six or eight instructions per cycle; it is the processor of laptops and phones.
UNDERSTAND NOW: superscalar processors.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program order, several per cycle, into a window of tens or hundreds. Each result is assigned a fresh physical register: renaming, which removes false dependences between unrelated uses of the same register name. Each instruction executes as soon as its operands are available, wherever it lies in the program. Finally results are committed in program order, so that from outside nothing appears to have overtaken anything. The sequential model of execution learned in the course is preserved exactly; only the timing differs.
UNDERSTAND NOW: superscalar processors.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encounters a branch every few instructions and cannot wait to learn its outcome. It therefore predicts: it infers the likely direction from the history of that branch and continues speculatively along the prediction. If the prediction was correct nothing is lost; if not, the speculative work is discarded. The loop of the warm-up jumps backwards 959 times and falls through once, a pattern any predictor learns immediately. Modern predictors are correct far more than nine times in ten, and their accuracy is a principal determinant of performance.
UNDERSTAND NOW: superscalar processors.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processors of this class exist. The first row is the core of the kit: in order, one instruction per cycle. The others are out-of-order cores: BOOM from Berkeley and XiangShan from the Chinese Academy of Sciences, both open source; and the C910, the P550 and Veyron, from industry. Because the instruction set is open, anyone may build such a core, and some are published as source code that a student could read.
UNDERSTAND NOW: superscalar processors.
For the lecturer: BOOM is the Berkeley Out-of-Order Machine. Because the instruction set is open, anyone may build such a core, and several are published as source code that a student can read: this has no precedent among commercial architectures. The list ages quickly: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and the effect of each instruction. The microarchitecture is one particular way of honouring that contract: pipeline stages, width, predictors, caches. The add written for a microcontroller is the same add on a server core, and Verm1 would run unchanged on any core of the previous slide. This separation is why an instruction set, once learned, is durable knowledge, and why the course could teach architecture on a small machine without loss of generality.
UNDERSTAND NOW: superscalar processors.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but thousands of ordinary computers, the nodes, working on the same problem. Each node has one or two processors with tens of cores, often several GPUs, and abundant memory. A very fast network connects the nodes, and a parallel file system serves them all. Performance is measured in floating-point operations per second on a standard benchmark, and the TOP500 list has ranked the fastest machines since 1993. The picture shows racks of nodes of the University's Research Computing Facilities, met in Lecture 03.
UNDERSTAND NOW: HPC and Amdahl's law.
For the lecturer: The benchmark is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states how much parallelism can deliver. If a fraction p of the work can be parallelised and the remainder cannot, the speed-up with n processors is 1 / ((1 - p) + p / n). The serial part does not shrink however many processors are added, so the speed-up is bounded by 1 / (1 - p): with p = 0.9 it can never exceed 10. The practical lesson is to measure p before acquiring processors, and to recognise that reducing the serial fraction is often worth more than adding hardware.
UNDERSTAND NOW: HPC and Amdahl's law.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models for sharing work. With shared memory, several cores of the same node see the same memory, and the program runs as threads that read and write common variables; it is easy to begin with, and its characteristic hazard is two threads writing the same variable. With distributed memory each node has its own memory, and the program runs as processes that exchange messages, under the MPI standard; it scales to a million cores, at the cost of greater effort from the programmer. Real applications combine both.
UNDERSTAND NOW: HPC and Amdahl's law.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binding constraint is energy. An exascale machine draws about twenty megawatts, the consumption of a small town, and the electricity used over its lifetime costs as much as the machine itself. The figure that matters is therefore operations per watt, which has its own ranking, the Green500. Specialised hardware leads it, because it accomplishes more with each joule. The same reasoning, at the opposite end of the scale, places a small RISC-V core in the kit.
UNDERSTAND NOW: HPC and Amdahl's law.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large caches; it is designed to complete a single task as quickly as possible, and handles branches and irregular data well. A GPU has thousands of small, simple cores executing the same code on different data; it is designed to complete a very large number of tasks per second, and excels on regular arrays. Oxen and chickens: which is preferable depends on the field to be ploughed.
UNDERSTAND NOW: GPU and FPGA accelerators.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a field-programmable gate array, is a chip that becomes the circuit one describes. Internally it is a sea of small blocks: look-up tables, each able to implement any function of a few inputs, which is to say a truth table held in memory; a flip-flop beside each table; and wires with switches able to connect any block to any other. A configuration file, the bitstream, sets every table and switch. Loading another bitstream turns the same chip into a different circuit. It does not execute a program: it is a circuit, which unites the combinational and sequential machines of the course in one reconfigurable device.
UNDERSTAND NOW: GPU and FPGA accelerators.
For the lecturer: The Xilinx XC2064, 1985. An FPGA does not execute a program: it becomes a circuit. Nothing is fetched or decoded; all the gates work at the same time.
Pictures: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row by row. A CPU consists of a few complex cores, programmable in any language, competent at everything in moderation. A GPU consists of thousands of simple cores for regular data in bulk. An FPGA is a configurable circuit, suited to data streams and low latency. An ASIC is a circuit made for a single task. From left to right the work done per joule increases, and so does the design effort required. Generality is paid for in energy, efficiency in effort; this is the central trade-off of contemporary computer architecture.
UNDERSTAND NOW: GPU and FPGA accelerators.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last column of the table of Amdahl's law applies: with unlimited processors only the serial fraction remains.
For the second, one recalls the example with two halves that both used t0: what prevented them from executing together, and what renaming changed.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256 bits are 32 bytes, and the 960 bytes are divided by that number.
For the second, the four stored bits are written as a truth table with inputs a and b, and the function recognised.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terms, kernel, bitstream, soft core, are used in Italian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A single equation with three factors: every fast machine reduces one of them, or multiplies the processors. Out-of-order superscalar cores honour the contract of the instruction set while executing many instructions at once. Vectors, GPUs and clusters exploit data that can be processed independently, and Amdahl's law bounds how far that goes. FPGAs turn a description into a circuit. The course ends here: from a single bit to a supercomputer, with one instruction set throughout.
Learning status, recap.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14"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5"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7"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2" name="Shape 20"/>
          <p:cNvSpPr/>
          <p:nvPr/>
        </p:nvSpPr>
        <p:spPr>
          <a:xfrm>
            <a:off x="8222056" y="91440"/>
            <a:ext cx="3420999" cy="274320"/>
          </a:xfrm>
          <a:prstGeom prst="rect">
            <a:avLst/>
          </a:prstGeom>
          <a:solidFill>
            <a:srgbClr val="E0F2FE"/>
          </a:solidFill>
          <a:ln w="12700">
            <a:solidFill>
              <a:srgbClr val="0369A1"/>
            </a:solidFill>
            <a:prstDash val="solid"/>
          </a:ln>
        </p:spPr>
      </p:sp>
      <p:sp>
        <p:nvSpPr>
          <p:cNvPr id="23" name="Shape 21"/>
          <p:cNvSpPr/>
          <p:nvPr/>
        </p:nvSpPr>
        <p:spPr>
          <a:xfrm>
            <a:off x="8222056"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5" name="Text 2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goes superscalar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From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HP core of the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order, four stages, one instruction per cycle: your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University of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for research and teaching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Chinese Academy of Sciences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high performance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released as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thirteen stages; sold as a design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for data centres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12"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3"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5"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Racks of nodes: the Research Computing Facilities of the University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16"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7"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9"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9" name="Shape 7"/>
          <p:cNvSpPr/>
          <p:nvPr/>
        </p:nvSpPr>
        <p:spPr>
          <a:xfrm>
            <a:off x="8025079" y="91440"/>
            <a:ext cx="3617976" cy="274320"/>
          </a:xfrm>
          <a:prstGeom prst="rect">
            <a:avLst/>
          </a:prstGeom>
          <a:solidFill>
            <a:srgbClr val="E0F2FE"/>
          </a:solidFill>
          <a:ln w="12700">
            <a:solidFill>
              <a:srgbClr val="0369A1"/>
            </a:solidFill>
            <a:prstDash val="solid"/>
          </a:ln>
        </p:spPr>
      </p:sp>
      <p:sp>
        <p:nvSpPr>
          <p:cNvPr id="10" name="Shape 8"/>
          <p:cNvSpPr/>
          <p:nvPr/>
        </p:nvSpPr>
        <p:spPr>
          <a:xfrm>
            <a:off x="802507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2" name="Text 9"/>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FPGA development board: the large chip is the FPGA</a:t>
            </a:r>
            <a:endParaRPr lang="en-US" sz="1200" dirty="0"/>
          </a:p>
        </p:txBody>
      </p:sp>
      <p:sp>
        <p:nvSpPr>
          <p:cNvPr id="15" name="Shape 12"/>
          <p:cNvSpPr/>
          <p:nvPr/>
        </p:nvSpPr>
        <p:spPr>
          <a:xfrm>
            <a:off x="8025079" y="91440"/>
            <a:ext cx="3617976" cy="274320"/>
          </a:xfrm>
          <a:prstGeom prst="rect">
            <a:avLst/>
          </a:prstGeom>
          <a:solidFill>
            <a:srgbClr val="E0F2FE"/>
          </a:solidFill>
          <a:ln w="12700">
            <a:solidFill>
              <a:srgbClr val="0369A1"/>
            </a:solidFill>
            <a:prstDash val="solid"/>
          </a:ln>
        </p:spPr>
      </p:sp>
      <p:sp>
        <p:nvSpPr>
          <p:cNvPr id="16" name="Shape 13"/>
          <p:cNvSpPr/>
          <p:nvPr/>
        </p:nvSpPr>
        <p:spPr>
          <a:xfrm>
            <a:off x="802507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53095" y="128016"/>
            <a:ext cx="201168" cy="201168"/>
          </a:xfrm>
          <a:prstGeom prst="rect">
            <a:avLst/>
          </a:prstGeom>
        </p:spPr>
      </p:pic>
      <p:sp>
        <p:nvSpPr>
          <p:cNvPr id="18" name="Text 1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25079" y="91440"/>
            <a:ext cx="3617976" cy="274320"/>
          </a:xfrm>
          <a:prstGeom prst="rect">
            <a:avLst/>
          </a:prstGeom>
          <a:solidFill>
            <a:srgbClr val="E0F2FE"/>
          </a:solidFill>
          <a:ln w="12700">
            <a:solidFill>
              <a:srgbClr val="0369A1"/>
            </a:solidFill>
            <a:prstDash val="solid"/>
          </a:ln>
        </p:spPr>
      </p:sp>
      <p:sp>
        <p:nvSpPr>
          <p:cNvPr id="5" name="Shape 2"/>
          <p:cNvSpPr/>
          <p:nvPr/>
        </p:nvSpPr>
        <p:spPr>
          <a:xfrm>
            <a:off x="802507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7" name="Text 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2200" dirty="0"/>
          </a:p>
        </p:txBody>
      </p:sp>
      <p:sp>
        <p:nvSpPr>
          <p:cNvPr id="9" name="Shape 7"/>
          <p:cNvSpPr/>
          <p:nvPr/>
        </p:nvSpPr>
        <p:spPr>
          <a:xfrm>
            <a:off x="548640" y="41244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1802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top500.org; the RISC-V vector specification at riscv.org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2026-10-16T20:22:25Z</dcterms:created>
  <dcterms:modified xsi:type="dcterms:W3CDTF">2026-10-16T20:22:25Z</dcterms:modified>
</cp:coreProperties>
</file>