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0d3521f-4034-67b2-d266-cc63f2faaf93}">
          <p14:sldIdLst>
            <p14:sldId id="256"/>
            <p14:sldId id="257"/>
          </p14:sldIdLst>
        </p14:section>
        <p14:section name="Warm-up on the machine" id="{860f94f0-b3f2-455f-f89a-ce5c13a0a636}">
          <p14:sldIdLst>
            <p14:sldId id="258"/>
          </p14:sldIdLst>
        </p14:section>
        <p14:section name="Back to the machine" id="{b350dfce-b112-2059-ab18-8946480910c4}">
          <p14:sldIdLst>
            <p14:sldId id="259"/>
          </p14:sldIdLst>
        </p14:section>
        <p14:section name="The complete program" id="{e5667d2f-0dbf-96a0-56ef-999661156e57}">
          <p14:sldIdLst>
            <p14:sldId id="260"/>
            <p14:sldId id="261"/>
            <p14:sldId id="262"/>
            <p14:sldId id="263"/>
            <p14:sldId id="264"/>
            <p14:sldId id="265"/>
          </p14:sldIdLst>
        </p14:section>
        <p14:section name="Run it and test it" id="{e8aa2860-1195-ab28-9c0c-587a6cbda6fd}">
          <p14:sldIdLst>
            <p14:sldId id="266"/>
            <p14:sldId id="267"/>
            <p14:sldId id="268"/>
            <p14:sldId id="269"/>
            <p14:sldId id="270"/>
          </p14:sldIdLst>
        </p14:section>
        <p14:section name="Exercises" id="{ed77b2df-c3a1-f06b-4d48-0c98d128b03d}">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code deck of Lecture 09. Where the lecture deck develops the concepts, this deck contains everything that is written and executed: each listing with its commentary, the complete program of the lecture, the output it is expected to produce, and the procedure for testing it on each of the three hosts. The two decks are meant to be read together: the concepts explain the code, and the code gives the concepts an observable consequence.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adder; Boolean functions; canonical forms; minimisation, Karnaugh maps. USE NOW: the complete program, the PRG32 tools (used, not studied, in this course). UNDERSTAND LATER: nothing. A slide without a badge is context: a story, an example, a question, an exercise.
Roadmap. Today's outcomes: (1) write a function in canonical form from its truth table; (2) minimise a function of up to four variables with a Karnaugh map; (3) build a full adder and chain it into an n-bit adder. Builds on: only what Lecture 01 set up. Next: Lecture 10, Introduction to Electronics and Digital Electronics.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contents of the deck, in the order of the slides. The program of the lecture is a complete source file that can be built and executed as it stands. The recommended approach is to run it first, observe its behaviour, and then return to the individual listings to understand how each part contributes to that behaviour. The program of this lecture is ~/arc12/code/l09.S; tools/tests/cartridges/run.py builds it, runs it on PRG32-QT with scripted input and checks the pixels of the frame.
For the lecturer: Get the code once: git clone https://github.com/riscv-prg32/computer-architecture-with-prg32 ~/arc12. The program of this lecture is ~/arc12/code/l09.S; tools/tests/cartridges/run.py builds it, runs it on PRG32-QT with scripted input and checks the pixels of the frame. Every listing on these slides is read by the build from a tested file, or checked by tools/tests: see its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The sum of two bits can be 0, 1 or 2, so the result requires two bits. xor produces the low bit, which is 1 when the inputs differ; and produces the high bit, the carry, which is 1 only when both inputs are 1. The comment beneath the code is a truth table with two outputs, whose four rows should be verified. This pair of gates has a name, the half adder. The final callout states the problem of the lecture: here the gates were supplied; how are they found when only the table is known?
UNDERSTAND NOW: the adder.
For the lecturer: Run it in PRG32-QT with the four input pairs. Lecture 05 said that an adder is all a processor needs for arithmetic; this is its first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adder written as five instructions, one per gate: two xor for the sum, two and and one or for the outgoing carry. The program is the schematic, read from left to right, and it allows both problems of Lecture 08 to be practised. Analysis: single-step it in PRG32-QT for the eight input combinations and fill in the truth table. Synthesis: derive these gates from the table with the method of the lecture. With whole registers as inputs, the same five lines operate on all thirty-two bit positions at once, though without propagating carries between them; propagation is what the ripple-carry chain adds.
UNDERSTAND NOW: the adder.
For the lecturer: Suggested laboratory activity: loop over the eight input combinations and draw the two output bits as lamps, as in lab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page of the complete program, reproduced exactly as it appears in the repository. It should be read from the top. The header states what the program displays and how it is built; the three entry points, init, update and draw, follow, and the data sections close the file. Lines already met in the listings of the lecture carry the same comments here, so that each fragment can be located within the whole.
USE NOW: the complete program (used, not studied, in this course).
For the lecturer: code/l09.S, as built and run by the tests. The comments are part of the program: read them with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behaviour of the program, and the input it requires. The outcome should be predicted before the program is run: any discrepancy between prediction and screen is information about one's model of the machine, and is worth explaining before it is corrected. The image was produced by the automatic test, not drawn by hand.
For the lecturer: The picture is the frame that the headless runner of PRG32-QT produced in the test of this program. On QEMU and on the board the game area is the same 320 by 200 pixels, between the two status bands.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direct route: PRG32-QT on one's own computer, in four steps, each with its command. PRG32-QT presents itself to the tools as a board listening on port 8080, which is why the upload command names the esp32c6. With debug mode enabled, execution can be halted at any instruction and the registers and memory inspected.
USE NOW: the PRG32 tools (used, not studied, in this course).
For the lecturer: Run by the tests: the cartridge of this slide is built with this command and executed on the headless runner of PRG32-QT. Without the toolchain: import the .prg32 file in PRG32-QT and choose Run Cartridge. Keys: arrows or WASD for the joystick, Z or J for A, X or K for B, Enter for Start, Escape to go back to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emulator. QEMU executes the actual firmware on an emulated chip, so the cartridge must be built for the qemu architecture and staged while QEMU is not running. The firmware starts on its Setup menu, from which Run Cartridge and the slot are selected. Keyboard input is read by the terminal from which QEMU was launched, not by the window that displays the image.
USE NOW: the PRG32 tools (used, not studied, in this course).
For the lecturer: Checked by the tests up to the staging: the cartridge is built for the architecture qemu and accepted into the flash image of the emulator. What the emulator then shows is not checked automatically: Espressif QEMU needs its window. Since October 2026 the firmware starts on Setup: choose Run Cartridge, then cart0.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program on the physical kit. The firmware is written once, over USB; thereafter cartridges are transferred over Wi-Fi with the same upload command used for PRG32-QT, addressed to the board. This is the only host not exercised by the automatic tests, so observations made on the board are particularly valuable and should be reported.
USE NOW: the PRG32 tools (used, not studied, in this course).
For the lecturer: Not run by the tests: there is no board on the test machine. The cartridge for the architecture esp32c6 is built by the tests; the steps are those of the PRG32 documentation. If the serial port is not found pass it explicitly. To use the Wi-Fi of the classroom: python3 -m prg32 wifi set --ssid NAME --password PASSWORD --mode 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most frequent symptoms, their meaning, and the corrective action. The error message should be read in full before anything is changed: in nearly every case it names the cause. When asking for help, the command and the complete message should be reported verbatim.
USE NOW: the PRG32 tools (used, not studied, in this course).
For the lecturer: The first three rows cover most cases. When asking for help, paste the command and the whole message as text. docs/usage/troubleshooting.md of the PRG32 repository has the complete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Write the canonical forms of the two outputs of the full adder. Minimise the outgoing carry with a three-variable map and count the gates saved. Minimise a four-variable function given as a list of minterms, remembering that the corners are adjacent. Construct NOT, AND and OR from NAND gates alone, verifying each by its truth table, which demonstrates functional completeness constructively. Then program the full adder on PRG32 and display its outputs as lamps for the eight input combinations.
For the lecturer: Exercise 3: F = B'D' + B'C' + A'C'D (corners; top-left and bottom-left pairs with their neighbours; m1 with m5). Exercise 2: the canonical form of Cout has four minterms (3, 5, 6, 7); the map gives three clauses of two literals.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09: Boolean algebra (2) (code)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09</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Elements of Boolean Algebra: the code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Code deck: every listing explained, the complete program, and how to test it on PRG32-QT, on QEMU and on the board</a:t>
            </a:r>
            <a:endParaRPr lang="en-US" sz="1700" dirty="0"/>
          </a:p>
        </p:txBody>
      </p:sp>
      <p:sp>
        <p:nvSpPr>
          <p:cNvPr id="10" name="Text 8"/>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1" name="Text 9"/>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Code deck. The concepts, the figures and the questions are in the lecture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09-Computer_Architecture-Boolean_Algebra_2.pptx</a:t>
            </a:r>
            <a:endParaRPr lang="en-US" sz="13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game_tetris.png">    </p:cNvPr>
          <p:cNvPicPr>
            <a:picLocks noChangeAspect="1"/>
          </p:cNvPicPr>
          <p:nvPr/>
        </p:nvPicPr>
        <p:blipFill>
          <a:blip r:embed="rId1"/>
          <a:stretch>
            <a:fillRect/>
          </a:stretch>
        </p:blipFill>
        <p:spPr>
          <a:xfrm>
            <a:off x="8915095" y="4251960"/>
            <a:ext cx="2438400" cy="1828800"/>
          </a:xfrm>
          <a:prstGeom prst="rect">
            <a:avLst/>
          </a:prstGeom>
        </p:spPr>
      </p:pic>
      <p:sp>
        <p:nvSpPr>
          <p:cNvPr id="14" name="Shape 11"/>
          <p:cNvSpPr/>
          <p:nvPr/>
        </p:nvSpPr>
        <p:spPr>
          <a:xfrm>
            <a:off x="9690303" y="91440"/>
            <a:ext cx="1952752" cy="274320"/>
          </a:xfrm>
          <a:prstGeom prst="rect">
            <a:avLst/>
          </a:prstGeom>
          <a:solidFill>
            <a:srgbClr val="F3E8FF"/>
          </a:solidFill>
          <a:ln w="12700">
            <a:solidFill>
              <a:srgbClr val="7E22CE"/>
            </a:solidFill>
            <a:prstDash val="dash"/>
          </a:ln>
        </p:spPr>
      </p:sp>
      <p:sp>
        <p:nvSpPr>
          <p:cNvPr id="15" name="Shape 12"/>
          <p:cNvSpPr/>
          <p:nvPr/>
        </p:nvSpPr>
        <p:spPr>
          <a:xfrm>
            <a:off x="9717735" y="128016"/>
            <a:ext cx="45720" cy="45720"/>
          </a:xfrm>
          <a:prstGeom prst="rect">
            <a:avLst/>
          </a:prstGeom>
          <a:solidFill>
            <a:srgbClr val="7E22CE"/>
          </a:solidFill>
          <a:ln w="12700">
            <a:solidFill>
              <a:srgbClr val="7E22CE"/>
            </a:solidFill>
            <a:prstDash val="solid"/>
          </a:ln>
        </p:spPr>
      </p:sp>
      <p:sp>
        <p:nvSpPr>
          <p:cNvPr id="16" name="Shape 13"/>
          <p:cNvSpPr/>
          <p:nvPr/>
        </p:nvSpPr>
        <p:spPr>
          <a:xfrm>
            <a:off x="9717735" y="205740"/>
            <a:ext cx="45720" cy="45720"/>
          </a:xfrm>
          <a:prstGeom prst="rect">
            <a:avLst/>
          </a:prstGeom>
          <a:solidFill>
            <a:srgbClr val="7E22CE"/>
          </a:solidFill>
          <a:ln w="12700">
            <a:solidFill>
              <a:srgbClr val="7E22CE"/>
            </a:solidFill>
            <a:prstDash val="solid"/>
          </a:ln>
        </p:spPr>
      </p:sp>
      <p:sp>
        <p:nvSpPr>
          <p:cNvPr id="17" name="Shape 14"/>
          <p:cNvSpPr/>
          <p:nvPr/>
        </p:nvSpPr>
        <p:spPr>
          <a:xfrm>
            <a:off x="9717735" y="283464"/>
            <a:ext cx="45720" cy="45720"/>
          </a:xfrm>
          <a:prstGeom prst="rect">
            <a:avLst/>
          </a:prstGeom>
          <a:solidFill>
            <a:srgbClr val="7E22CE"/>
          </a:solidFill>
          <a:ln w="12700">
            <a:solidFill>
              <a:srgbClr val="7E22CE"/>
            </a:solidFill>
            <a:prstDash val="solid"/>
          </a:ln>
        </p:spPr>
      </p:sp>
      <p:pic>
        <p:nvPicPr>
          <p:cNvPr id="18"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19" name="Text 15"/>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0" name="Shape 16"/>
          <p:cNvSpPr/>
          <p:nvPr/>
        </p:nvSpPr>
        <p:spPr>
          <a:xfrm>
            <a:off x="8407349" y="91440"/>
            <a:ext cx="1173226" cy="274320"/>
          </a:xfrm>
          <a:prstGeom prst="rect">
            <a:avLst/>
          </a:prstGeom>
          <a:solidFill>
            <a:srgbClr val="FEF3C7"/>
          </a:solidFill>
          <a:ln w="12700">
            <a:solidFill>
              <a:srgbClr val="B45309"/>
            </a:solidFill>
            <a:prstDash val="solid"/>
          </a:ln>
        </p:spPr>
      </p:sp>
      <p:sp>
        <p:nvSpPr>
          <p:cNvPr id="21" name="Shape 17"/>
          <p:cNvSpPr/>
          <p:nvPr/>
        </p:nvSpPr>
        <p:spPr>
          <a:xfrm>
            <a:off x="8407349" y="91440"/>
            <a:ext cx="27432" cy="274320"/>
          </a:xfrm>
          <a:prstGeom prst="rect">
            <a:avLst/>
          </a:prstGeom>
          <a:solidFill>
            <a:srgbClr val="B45309"/>
          </a:solidFill>
          <a:ln w="12700">
            <a:solidFill>
              <a:srgbClr val="B45309"/>
            </a:solidFill>
            <a:prstDash val="solid"/>
          </a:ln>
        </p:spPr>
      </p:sp>
      <p:sp>
        <p:nvSpPr>
          <p:cNvPr id="22" name="Shape 18"/>
          <p:cNvSpPr/>
          <p:nvPr/>
        </p:nvSpPr>
        <p:spPr>
          <a:xfrm>
            <a:off x="8462213" y="91440"/>
            <a:ext cx="27432" cy="274320"/>
          </a:xfrm>
          <a:prstGeom prst="rect">
            <a:avLst/>
          </a:prstGeom>
          <a:solidFill>
            <a:srgbClr val="B45309"/>
          </a:solidFill>
          <a:ln w="12700">
            <a:solidFill>
              <a:srgbClr val="B45309"/>
            </a:solidFill>
            <a:prstDash val="solid"/>
          </a:ln>
        </p:spPr>
      </p:sp>
      <p:pic>
        <p:nvPicPr>
          <p:cNvPr id="23"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4" name="Text 19"/>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5" name="Shape 20"/>
          <p:cNvSpPr/>
          <p:nvPr/>
        </p:nvSpPr>
        <p:spPr>
          <a:xfrm>
            <a:off x="6518097" y="91440"/>
            <a:ext cx="1779524" cy="274320"/>
          </a:xfrm>
          <a:prstGeom prst="rect">
            <a:avLst/>
          </a:prstGeom>
          <a:solidFill>
            <a:srgbClr val="E0F2FE"/>
          </a:solidFill>
          <a:ln w="12700">
            <a:solidFill>
              <a:srgbClr val="0369A1"/>
            </a:solidFill>
            <a:prstDash val="solid"/>
          </a:ln>
        </p:spPr>
      </p:sp>
      <p:sp>
        <p:nvSpPr>
          <p:cNvPr id="26" name="Shape 21"/>
          <p:cNvSpPr/>
          <p:nvPr/>
        </p:nvSpPr>
        <p:spPr>
          <a:xfrm>
            <a:off x="6518097" y="91440"/>
            <a:ext cx="73152" cy="274320"/>
          </a:xfrm>
          <a:prstGeom prst="rect">
            <a:avLst/>
          </a:prstGeom>
          <a:solidFill>
            <a:srgbClr val="0369A1"/>
          </a:solidFill>
          <a:ln w="12700">
            <a:solidFill>
              <a:srgbClr val="0369A1"/>
            </a:solidFill>
            <a:prstDash val="solid"/>
          </a:ln>
        </p:spPr>
      </p:sp>
      <p:pic>
        <p:nvPicPr>
          <p:cNvPr id="27"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8" name="Text 22"/>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 this deck</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2 listings of Lecture 09, one per slide: read the code, then the numbered remarks beside it</a:t>
            </a:r>
            <a:endParaRPr lang="en-US" sz="2200" dirty="0"/>
          </a:p>
        </p:txBody>
      </p:sp>
      <p:sp>
        <p:nvSpPr>
          <p:cNvPr id="5" name="Text 3"/>
          <p:cNvSpPr txBox="1"/>
          <p:nvPr/>
        </p:nvSpPr>
        <p:spPr>
          <a:xfrm>
            <a:off x="548640" y="27574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7391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complete program: code/l09.S, 107 lines, printed in full</a:t>
            </a:r>
            <a:endParaRPr lang="en-US" sz="2200" dirty="0"/>
          </a:p>
        </p:txBody>
      </p:sp>
      <p:sp>
        <p:nvSpPr>
          <p:cNvPr id="7" name="Text 5"/>
          <p:cNvSpPr txBox="1"/>
          <p:nvPr/>
        </p:nvSpPr>
        <p:spPr>
          <a:xfrm>
            <a:off x="548640" y="36535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6352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What you should see when it runs, checked on the PRG32-QT headless runner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How to test it, step by step: on PRG32-QT, on QEMU, on the board</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exercises: change the program, predict, run</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One-bit addition without add</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250" dirty="0">
                <a:solidFill>
                  <a:srgbClr val="8FB3A0"/>
                </a:solidFill>
                <a:latin typeface="Courier New" pitchFamily="34" charset="0"/>
                <a:ea typeface="Courier New" pitchFamily="34" charset="-122"/>
                <a:cs typeface="Courier New" pitchFamily="34" charset="-120"/>
              </a:rPr>
              <a:t># a0 and a1 hold one bit each: 0 or 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goal: compute a0 + a1, which needs two bits (0, 1 or 2)</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xor  t0, a0, a1      </a:t>
            </a:r>
            <a:pPr indent="0" marL="0">
              <a:buNone/>
            </a:pPr>
            <a:r>
              <a:rPr lang="en-US" sz="1250" dirty="0">
                <a:solidFill>
                  <a:srgbClr val="8FB3A0"/>
                </a:solidFill>
                <a:latin typeface="Courier New" pitchFamily="34" charset="0"/>
                <a:ea typeface="Courier New" pitchFamily="34" charset="-122"/>
                <a:cs typeface="Courier New" pitchFamily="34" charset="-120"/>
              </a:rPr>
              <a:t># low bit of the sum:  1 when the bits differ</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and  t1, a0, a1      </a:t>
            </a:r>
            <a:pPr indent="0" marL="0">
              <a:buNone/>
            </a:pPr>
            <a:r>
              <a:rPr lang="en-US" sz="1250" dirty="0">
                <a:solidFill>
                  <a:srgbClr val="8FB3A0"/>
                </a:solidFill>
                <a:latin typeface="Courier New" pitchFamily="34" charset="0"/>
                <a:ea typeface="Courier New" pitchFamily="34" charset="-122"/>
                <a:cs typeface="Courier New" pitchFamily="34" charset="-120"/>
              </a:rPr>
              <a:t># high bit, the carry: 1 when both are 1</a:t>
            </a:r>
            <a:endParaRPr lang="en-US" sz="1250" dirty="0"/>
          </a:p>
          <a:p>
            <a:pPr indent="0" marL="0">
              <a:buNone/>
            </a:pPr>
            <a:r>
              <a:rPr lang="en-US" sz="1250" dirty="0">
                <a:solidFill>
                  <a:srgbClr val="E6EDF2"/>
                </a:solidFill>
                <a:latin typeface="Courier New" pitchFamily="34" charset="0"/>
                <a:ea typeface="Courier New" pitchFamily="34" charset="-122"/>
                <a:cs typeface="Courier New" pitchFamily="34" charset="-120"/>
              </a:rPr>
              <a:t> </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a0 a1 | t1 t0</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0  0 |  0  0        0 + 0 = 0</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0  1 |  0  1        0 + 1 = 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1  0 |  0  1        1 + 0 = 1</a:t>
            </a:r>
            <a:endParaRPr lang="en-US" sz="1250" dirty="0"/>
          </a:p>
          <a:p>
            <a:pPr indent="0" marL="0">
              <a:buNone/>
            </a:pPr>
            <a:r>
              <a:rPr lang="en-US" sz="1250" dirty="0">
                <a:solidFill>
                  <a:srgbClr val="8FB3A0"/>
                </a:solidFill>
                <a:latin typeface="Courier New" pitchFamily="34" charset="0"/>
                <a:ea typeface="Courier New" pitchFamily="34" charset="-122"/>
                <a:cs typeface="Courier New" pitchFamily="34" charset="-120"/>
              </a:rPr>
              <a:t>#    1  1 |  1  0        1 + 1 = 2  (binary 10)</a:t>
            </a:r>
            <a:endParaRPr lang="en-US" sz="12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Two logic instructions add two bits: no arithmetic involved</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comment is a truth table with two outputs</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This pair of gates is called a half adder</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How do you find the gates when the table is given? That is today's method</a:t>
            </a:r>
            <a:endParaRPr lang="en-US" sz="1600" dirty="0"/>
          </a:p>
        </p:txBody>
      </p:sp>
      <p:sp>
        <p:nvSpPr>
          <p:cNvPr id="17"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8"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0"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adder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full adder, one gate per instruction</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50" dirty="0">
                <a:solidFill>
                  <a:srgbClr val="8FB3A0"/>
                </a:solidFill>
                <a:latin typeface="Courier New" pitchFamily="34" charset="0"/>
                <a:ea typeface="Courier New" pitchFamily="34" charset="-122"/>
                <a:cs typeface="Courier New" pitchFamily="34" charset="-120"/>
              </a:rPr>
              <a:t># a0 = A, a1 = B, a2 = Cin   (each 0 or 1)</a:t>
            </a:r>
            <a:endParaRPr lang="en-US" sz="1550" dirty="0"/>
          </a:p>
          <a:p>
            <a:pPr indent="0" marL="0">
              <a:buNone/>
            </a:pPr>
            <a:r>
              <a:rPr lang="en-US" sz="1550" dirty="0">
                <a:solidFill>
                  <a:srgbClr val="8FB3A0"/>
                </a:solidFill>
                <a:latin typeface="Courier New" pitchFamily="34" charset="0"/>
                <a:ea typeface="Courier New" pitchFamily="34" charset="-122"/>
                <a:cs typeface="Courier New" pitchFamily="34" charset="-120"/>
              </a:rPr>
              <a:t># result: a3 = S, a4 = Cout</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xor  t0, a0, a1      </a:t>
            </a:r>
            <a:pPr indent="0" marL="0">
              <a:buNone/>
            </a:pPr>
            <a:r>
              <a:rPr lang="en-US" sz="1550" dirty="0">
                <a:solidFill>
                  <a:srgbClr val="8FB3A0"/>
                </a:solidFill>
                <a:latin typeface="Courier New" pitchFamily="34" charset="0"/>
                <a:ea typeface="Courier New" pitchFamily="34" charset="-122"/>
                <a:cs typeface="Courier New" pitchFamily="34" charset="-120"/>
              </a:rPr>
              <a:t># t0   = A xor B</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xor  a3, t0, a2      </a:t>
            </a:r>
            <a:pPr indent="0" marL="0">
              <a:buNone/>
            </a:pPr>
            <a:r>
              <a:rPr lang="en-US" sz="1550" dirty="0">
                <a:solidFill>
                  <a:srgbClr val="8FB3A0"/>
                </a:solidFill>
                <a:latin typeface="Courier New" pitchFamily="34" charset="0"/>
                <a:ea typeface="Courier New" pitchFamily="34" charset="-122"/>
                <a:cs typeface="Courier New" pitchFamily="34" charset="-120"/>
              </a:rPr>
              <a:t># S    = A xor B xor Cin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and  t1, a0, a1      </a:t>
            </a:r>
            <a:pPr indent="0" marL="0">
              <a:buNone/>
            </a:pPr>
            <a:r>
              <a:rPr lang="en-US" sz="1550" dirty="0">
                <a:solidFill>
                  <a:srgbClr val="8FB3A0"/>
                </a:solidFill>
                <a:latin typeface="Courier New" pitchFamily="34" charset="0"/>
                <a:ea typeface="Courier New" pitchFamily="34" charset="-122"/>
                <a:cs typeface="Courier New" pitchFamily="34" charset="-120"/>
              </a:rPr>
              <a:t># t1   = A . B</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and  t2, t0, a2      </a:t>
            </a:r>
            <a:pPr indent="0" marL="0">
              <a:buNone/>
            </a:pPr>
            <a:r>
              <a:rPr lang="en-US" sz="1550" dirty="0">
                <a:solidFill>
                  <a:srgbClr val="8FB3A0"/>
                </a:solidFill>
                <a:latin typeface="Courier New" pitchFamily="34" charset="0"/>
                <a:ea typeface="Courier New" pitchFamily="34" charset="-122"/>
                <a:cs typeface="Courier New" pitchFamily="34" charset="-120"/>
              </a:rPr>
              <a:t># t2   = (A xor B) . Cin</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or   a4, t1, t2      </a:t>
            </a:r>
            <a:pPr indent="0" marL="0">
              <a:buNone/>
            </a:pPr>
            <a:r>
              <a:rPr lang="en-US" sz="1550" dirty="0">
                <a:solidFill>
                  <a:srgbClr val="8FB3A0"/>
                </a:solidFill>
                <a:latin typeface="Courier New" pitchFamily="34" charset="0"/>
                <a:ea typeface="Courier New" pitchFamily="34" charset="-122"/>
                <a:cs typeface="Courier New" pitchFamily="34" charset="-120"/>
              </a:rPr>
              <a:t># Cout = A . B + (A xor B) . Cin</a:t>
            </a:r>
            <a:endParaRPr lang="en-US" sz="15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Five instructions, five gates: the program is the schematic, read from left to right</a:t>
            </a:r>
            <a:endParaRPr lang="en-US" sz="12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Analysis: single-step it in PRG32-QT and fill in the truth table</a:t>
            </a:r>
            <a:endParaRPr lang="en-US" sz="12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Synthesis: you derived these gates from the table with the method of this lecture</a:t>
            </a:r>
            <a:endParaRPr lang="en-US" sz="12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With whole registers as inputs, the same lines work on all thirty-two bit positions at once</a:t>
            </a:r>
            <a:endParaRPr lang="en-US" sz="1200" dirty="0"/>
          </a:p>
        </p:txBody>
      </p:sp>
      <p:sp>
        <p:nvSpPr>
          <p:cNvPr id="17" name="Shape 15"/>
          <p:cNvSpPr/>
          <p:nvPr/>
        </p:nvSpPr>
        <p:spPr>
          <a:xfrm>
            <a:off x="9075623" y="91440"/>
            <a:ext cx="2567432" cy="274320"/>
          </a:xfrm>
          <a:prstGeom prst="rect">
            <a:avLst/>
          </a:prstGeom>
          <a:solidFill>
            <a:srgbClr val="E0F2FE"/>
          </a:solidFill>
          <a:ln w="12700">
            <a:solidFill>
              <a:srgbClr val="0369A1"/>
            </a:solidFill>
            <a:prstDash val="solid"/>
          </a:ln>
        </p:spPr>
      </p:sp>
      <p:sp>
        <p:nvSpPr>
          <p:cNvPr id="18" name="Shape 16"/>
          <p:cNvSpPr/>
          <p:nvPr/>
        </p:nvSpPr>
        <p:spPr>
          <a:xfrm>
            <a:off x="9075623" y="91440"/>
            <a:ext cx="73152" cy="274320"/>
          </a:xfrm>
          <a:prstGeom prst="rect">
            <a:avLst/>
          </a:prstGeom>
          <a:solidFill>
            <a:srgbClr val="0369A1"/>
          </a:solidFill>
          <a:ln w="12700">
            <a:solidFill>
              <a:srgbClr val="0369A1"/>
            </a:solidFill>
            <a:prstDash val="solid"/>
          </a:ln>
        </p:spPr>
      </p:sp>
      <p:pic>
        <p:nvPicPr>
          <p:cNvPr id="19"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0" name="Text 17"/>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adder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(1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300" dirty="0">
                <a:solidFill>
                  <a:srgbClr val="8FB3A0"/>
                </a:solidFill>
                <a:latin typeface="Courier New" pitchFamily="34" charset="0"/>
                <a:ea typeface="Courier New" pitchFamily="34" charset="-122"/>
                <a:cs typeface="Courier New" pitchFamily="34" charset="-120"/>
              </a:rPr>
              <a:t># ARC12 Computer Architecture - Lecture 09: Elements of Boolean Algebra</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l09.S: a full adder, one gate per instruction, on its eight input combinations</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On the screen: eight rows, one per combination of A, B and Cin (000 at the top):</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three lamps for the inputs on the left, then S and Cout on the right. It is the</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truth table of the full adder.</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Build: python3 -m prg32 cartridge build l09.S --portable \</a:t>
            </a:r>
            <a:endParaRPr lang="en-US" sz="1300" dirty="0"/>
          </a:p>
          <a:p>
            <a:pPr indent="0" marL="0">
              <a:buNone/>
            </a:pPr>
            <a:r>
              <a:rPr lang="en-US" sz="1300" dirty="0">
                <a:solidFill>
                  <a:srgbClr val="8FB3A0"/>
                </a:solidFill>
                <a:latin typeface="Courier New" pitchFamily="34" charset="0"/>
                <a:ea typeface="Courier New" pitchFamily="34" charset="-122"/>
                <a:cs typeface="Courier New" pitchFamily="34" charset="-120"/>
              </a:rPr>
              <a:t>#            --entry-prefix l09 --name l09 --out l09.prg32</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.option norelax</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BLACK,  0x0000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GREY,   0x4208</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YELLOW, 0xffe0</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.equ CYAN,   0x07ff</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.section .text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l09_init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l09_update</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.global l09_draw</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l09_init:</a:t>
            </a:r>
            <a:endParaRPr lang="en-US" sz="1300" dirty="0"/>
          </a:p>
          <a:p>
            <a:pPr indent="0" marL="0">
              <a:buNone/>
            </a:pPr>
            <a:r>
              <a:rPr lang="en-US" sz="1300" dirty="0">
                <a:solidFill>
                  <a:srgbClr val="E6EDF2"/>
                </a:solidFill>
                <a:latin typeface="Courier New" pitchFamily="34" charset="0"/>
                <a:ea typeface="Courier New" pitchFamily="34" charset="-122"/>
                <a:cs typeface="Courier New" pitchFamily="34" charset="-120"/>
              </a:rPr>
              <a:t>    ret</a:t>
            </a:r>
            <a:endParaRPr lang="en-US" sz="13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(2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700" dirty="0">
                <a:solidFill>
                  <a:srgbClr val="E6EDF2"/>
                </a:solidFill>
                <a:latin typeface="Courier New" pitchFamily="34" charset="0"/>
                <a:ea typeface="Courier New" pitchFamily="34" charset="-122"/>
                <a:cs typeface="Courier New" pitchFamily="34" charset="-120"/>
              </a:rPr>
              <a:t>l09_update:</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ret</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t>
            </a:r>
            <a:endParaRPr lang="en-US" sz="1700" dirty="0"/>
          </a:p>
          <a:p>
            <a:pPr indent="0" marL="0">
              <a:buNone/>
            </a:pPr>
            <a:r>
              <a:rPr lang="en-US" sz="1700" dirty="0">
                <a:solidFill>
                  <a:srgbClr val="8FB3A0"/>
                </a:solidFill>
                <a:latin typeface="Courier New" pitchFamily="34" charset="0"/>
                <a:ea typeface="Courier New" pitchFamily="34" charset="-122"/>
                <a:cs typeface="Courier New" pitchFamily="34" charset="-120"/>
              </a:rPr>
              <a:t># full_adder: a0 = A, a1 = B, a2 = Cin (each 0 or 1); result: a3 = S, a4 = Cout</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full_adder:</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xor  t0, a0, a1      </a:t>
            </a:r>
            <a:pPr indent="0" marL="0">
              <a:buNone/>
            </a:pPr>
            <a:r>
              <a:rPr lang="en-US" sz="1700" dirty="0">
                <a:solidFill>
                  <a:srgbClr val="8FB3A0"/>
                </a:solidFill>
                <a:latin typeface="Courier New" pitchFamily="34" charset="0"/>
                <a:ea typeface="Courier New" pitchFamily="34" charset="-122"/>
                <a:cs typeface="Courier New" pitchFamily="34" charset="-120"/>
              </a:rPr>
              <a:t># t0   = A xor B</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xor  a3, t0, a2      </a:t>
            </a:r>
            <a:pPr indent="0" marL="0">
              <a:buNone/>
            </a:pPr>
            <a:r>
              <a:rPr lang="en-US" sz="1700" dirty="0">
                <a:solidFill>
                  <a:srgbClr val="8FB3A0"/>
                </a:solidFill>
                <a:latin typeface="Courier New" pitchFamily="34" charset="0"/>
                <a:ea typeface="Courier New" pitchFamily="34" charset="-122"/>
                <a:cs typeface="Courier New" pitchFamily="34" charset="-120"/>
              </a:rPr>
              <a:t># S    = A xor B xor Cin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and  t1, a0, a1      </a:t>
            </a:r>
            <a:pPr indent="0" marL="0">
              <a:buNone/>
            </a:pPr>
            <a:r>
              <a:rPr lang="en-US" sz="1700" dirty="0">
                <a:solidFill>
                  <a:srgbClr val="8FB3A0"/>
                </a:solidFill>
                <a:latin typeface="Courier New" pitchFamily="34" charset="0"/>
                <a:ea typeface="Courier New" pitchFamily="34" charset="-122"/>
                <a:cs typeface="Courier New" pitchFamily="34" charset="-120"/>
              </a:rPr>
              <a:t># t1   = A . B</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and  t2, t0, a2      </a:t>
            </a:r>
            <a:pPr indent="0" marL="0">
              <a:buNone/>
            </a:pPr>
            <a:r>
              <a:rPr lang="en-US" sz="1700" dirty="0">
                <a:solidFill>
                  <a:srgbClr val="8FB3A0"/>
                </a:solidFill>
                <a:latin typeface="Courier New" pitchFamily="34" charset="0"/>
                <a:ea typeface="Courier New" pitchFamily="34" charset="-122"/>
                <a:cs typeface="Courier New" pitchFamily="34" charset="-120"/>
              </a:rPr>
              <a:t># t2   = (A xor B) . Cin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or   a4, t1, t2      </a:t>
            </a:r>
            <a:pPr indent="0" marL="0">
              <a:buNone/>
            </a:pPr>
            <a:r>
              <a:rPr lang="en-US" sz="1700" dirty="0">
                <a:solidFill>
                  <a:srgbClr val="8FB3A0"/>
                </a:solidFill>
                <a:latin typeface="Courier New" pitchFamily="34" charset="0"/>
                <a:ea typeface="Courier New" pitchFamily="34" charset="-122"/>
                <a:cs typeface="Courier New" pitchFamily="34" charset="-120"/>
              </a:rPr>
              <a:t># Cout = A . B + (A xor B) . Cin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ret</a:t>
            </a:r>
            <a:endParaRPr lang="en-US" sz="17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(3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700" dirty="0">
                <a:solidFill>
                  <a:srgbClr val="8FB3A0"/>
                </a:solidFill>
                <a:latin typeface="Courier New" pitchFamily="34" charset="0"/>
                <a:ea typeface="Courier New" pitchFamily="34" charset="-122"/>
                <a:cs typeface="Courier New" pitchFamily="34" charset="-120"/>
              </a:rPr>
              <a:t># lamp: a0 = column, a1 = row, a2 = bit (0 or 1), a3 = colour when the bit is 1</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lamp:</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li   a4, GREY</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beqz a2, 1f</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mv   a4, a3</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1:  slli a0, a0, 5</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addi a0, a0, 60          </a:t>
            </a:r>
            <a:pPr indent="0" marL="0">
              <a:buNone/>
            </a:pPr>
            <a:r>
              <a:rPr lang="en-US" sz="1700" dirty="0">
                <a:solidFill>
                  <a:srgbClr val="8FB3A0"/>
                </a:solidFill>
                <a:latin typeface="Courier New" pitchFamily="34" charset="0"/>
                <a:ea typeface="Courier New" pitchFamily="34" charset="-122"/>
                <a:cs typeface="Courier New" pitchFamily="34" charset="-120"/>
              </a:rPr>
              <a:t># x = 60 + 32 * column</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slli a1, a1, 4</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slli t0, a1, 1</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srli a1, a1, 1</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add  a1, a1, t0          </a:t>
            </a:r>
            <a:pPr indent="0" marL="0">
              <a:buNone/>
            </a:pPr>
            <a:r>
              <a:rPr lang="en-US" sz="1700" dirty="0">
                <a:solidFill>
                  <a:srgbClr val="8FB3A0"/>
                </a:solidFill>
                <a:latin typeface="Courier New" pitchFamily="34" charset="0"/>
                <a:ea typeface="Courier New" pitchFamily="34" charset="-122"/>
                <a:cs typeface="Courier New" pitchFamily="34" charset="-120"/>
              </a:rPr>
              <a:t># 40 * row ...</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srli a1, a1, 1           </a:t>
            </a:r>
            <a:pPr indent="0" marL="0">
              <a:buNone/>
            </a:pPr>
            <a:r>
              <a:rPr lang="en-US" sz="1700" dirty="0">
                <a:solidFill>
                  <a:srgbClr val="8FB3A0"/>
                </a:solidFill>
                <a:latin typeface="Courier New" pitchFamily="34" charset="0"/>
                <a:ea typeface="Courier New" pitchFamily="34" charset="-122"/>
                <a:cs typeface="Courier New" pitchFamily="34" charset="-120"/>
              </a:rPr>
              <a:t># ... / 2 = 20 * row</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addi a1, a1, 20          </a:t>
            </a:r>
            <a:pPr indent="0" marL="0">
              <a:buNone/>
            </a:pPr>
            <a:r>
              <a:rPr lang="en-US" sz="1700" dirty="0">
                <a:solidFill>
                  <a:srgbClr val="8FB3A0"/>
                </a:solidFill>
                <a:latin typeface="Courier New" pitchFamily="34" charset="0"/>
                <a:ea typeface="Courier New" pitchFamily="34" charset="-122"/>
                <a:cs typeface="Courier New" pitchFamily="34" charset="-120"/>
              </a:rPr>
              <a:t># y = 20 + 20 * row</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li   a2, 24</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li   a3, 14</a:t>
            </a:r>
            <a:endParaRPr lang="en-US" sz="1700" dirty="0"/>
          </a:p>
          <a:p>
            <a:pPr indent="0" marL="0">
              <a:buNone/>
            </a:pPr>
            <a:r>
              <a:rPr lang="en-US" sz="1700" dirty="0">
                <a:solidFill>
                  <a:srgbClr val="E6EDF2"/>
                </a:solidFill>
                <a:latin typeface="Courier New" pitchFamily="34" charset="0"/>
                <a:ea typeface="Courier New" pitchFamily="34" charset="-122"/>
                <a:cs typeface="Courier New" pitchFamily="34" charset="-120"/>
              </a:rPr>
              <a:t>    tail prg32_gfx_rect      </a:t>
            </a:r>
            <a:pPr indent="0" marL="0">
              <a:buNone/>
            </a:pPr>
            <a:r>
              <a:rPr lang="en-US" sz="1700" dirty="0">
                <a:solidFill>
                  <a:srgbClr val="8FB3A0"/>
                </a:solidFill>
                <a:latin typeface="Courier New" pitchFamily="34" charset="0"/>
                <a:ea typeface="Courier New" pitchFamily="34" charset="-122"/>
                <a:cs typeface="Courier New" pitchFamily="34" charset="-120"/>
              </a:rPr>
              <a:t># a tail call: rect returns to our caller</a:t>
            </a:r>
            <a:endParaRPr lang="en-US" sz="17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(4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650" dirty="0">
                <a:solidFill>
                  <a:srgbClr val="E6EDF2"/>
                </a:solidFill>
                <a:latin typeface="Courier New" pitchFamily="34" charset="0"/>
                <a:ea typeface="Courier New" pitchFamily="34" charset="-122"/>
                <a:cs typeface="Courier New" pitchFamily="34" charset="-120"/>
              </a:rPr>
              <a:t>l09_draw: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addi sp, sp, -32</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ra, 28(sp)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s0, 24(sp)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s1, 20(sp)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sw   s2, 16(sp)</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a0, BLACK</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prg32_gfx_clear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li   s0, 0               </a:t>
            </a:r>
            <a:pPr indent="0" marL="0">
              <a:buNone/>
            </a:pPr>
            <a:r>
              <a:rPr lang="en-US" sz="1650" dirty="0">
                <a:solidFill>
                  <a:srgbClr val="8FB3A0"/>
                </a:solidFill>
                <a:latin typeface="Courier New" pitchFamily="34" charset="0"/>
                <a:ea typeface="Courier New" pitchFamily="34" charset="-122"/>
                <a:cs typeface="Courier New" pitchFamily="34" charset="-120"/>
              </a:rPr>
              <a:t># row = the three inputs as a number, 0 to 7</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1:  srli a0, s0, 2</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a0, a0, 1           </a:t>
            </a:r>
            <a:pPr indent="0" marL="0">
              <a:buNone/>
            </a:pPr>
            <a:r>
              <a:rPr lang="en-US" sz="1650" dirty="0">
                <a:solidFill>
                  <a:srgbClr val="8FB3A0"/>
                </a:solidFill>
                <a:latin typeface="Courier New" pitchFamily="34" charset="0"/>
                <a:ea typeface="Courier New" pitchFamily="34" charset="-122"/>
                <a:cs typeface="Courier New" pitchFamily="34" charset="-120"/>
              </a:rPr>
              <a:t># A   = bit 2 of the row</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srli a1, s0,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a1, a1, 1           </a:t>
            </a:r>
            <a:pPr indent="0" marL="0">
              <a:buNone/>
            </a:pPr>
            <a:r>
              <a:rPr lang="en-US" sz="1650" dirty="0">
                <a:solidFill>
                  <a:srgbClr val="8FB3A0"/>
                </a:solidFill>
                <a:latin typeface="Courier New" pitchFamily="34" charset="0"/>
                <a:ea typeface="Courier New" pitchFamily="34" charset="-122"/>
                <a:cs typeface="Courier New" pitchFamily="34" charset="-120"/>
              </a:rPr>
              <a:t># B   = bit 1</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andi a2, s0, 1           </a:t>
            </a:r>
            <a:pPr indent="0" marL="0">
              <a:buNone/>
            </a:pPr>
            <a:r>
              <a:rPr lang="en-US" sz="1650" dirty="0">
                <a:solidFill>
                  <a:srgbClr val="8FB3A0"/>
                </a:solidFill>
                <a:latin typeface="Courier New" pitchFamily="34" charset="0"/>
                <a:ea typeface="Courier New" pitchFamily="34" charset="-122"/>
                <a:cs typeface="Courier New" pitchFamily="34" charset="-120"/>
              </a:rPr>
              <a:t># Cin = bit 0</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call full_adder</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mv   s1, a3              </a:t>
            </a:r>
            <a:pPr indent="0" marL="0">
              <a:buNone/>
            </a:pPr>
            <a:r>
              <a:rPr lang="en-US" sz="1650" dirty="0">
                <a:solidFill>
                  <a:srgbClr val="8FB3A0"/>
                </a:solidFill>
                <a:latin typeface="Courier New" pitchFamily="34" charset="0"/>
                <a:ea typeface="Courier New" pitchFamily="34" charset="-122"/>
                <a:cs typeface="Courier New" pitchFamily="34" charset="-120"/>
              </a:rPr>
              <a:t># keep S and Cout: they are in a registers,</a:t>
            </a:r>
            <a:endParaRPr lang="en-US" sz="1650" dirty="0"/>
          </a:p>
          <a:p>
            <a:pPr indent="0" marL="0">
              <a:buNone/>
            </a:pPr>
            <a:r>
              <a:rPr lang="en-US" sz="1650" dirty="0">
                <a:solidFill>
                  <a:srgbClr val="E6EDF2"/>
                </a:solidFill>
                <a:latin typeface="Courier New" pitchFamily="34" charset="0"/>
                <a:ea typeface="Courier New" pitchFamily="34" charset="-122"/>
                <a:cs typeface="Courier New" pitchFamily="34" charset="-120"/>
              </a:rPr>
              <a:t>    mv   s2, a4              </a:t>
            </a:r>
            <a:pPr indent="0" marL="0">
              <a:buNone/>
            </a:pPr>
            <a:r>
              <a:rPr lang="en-US" sz="1650" dirty="0">
                <a:solidFill>
                  <a:srgbClr val="8FB3A0"/>
                </a:solidFill>
                <a:latin typeface="Courier New" pitchFamily="34" charset="0"/>
                <a:ea typeface="Courier New" pitchFamily="34" charset="-122"/>
                <a:cs typeface="Courier New" pitchFamily="34" charset="-120"/>
              </a:rPr>
              <a:t># which the next calls destroy</a:t>
            </a:r>
            <a:endParaRPr lang="en-US" sz="165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(5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200" dirty="0">
                <a:solidFill>
                  <a:srgbClr val="E6EDF2"/>
                </a:solidFill>
                <a:latin typeface="Courier New" pitchFamily="34" charset="0"/>
                <a:ea typeface="Courier New" pitchFamily="34" charset="-122"/>
                <a:cs typeface="Courier New" pitchFamily="34" charset="-120"/>
              </a:rPr>
              <a:t>    li   a0, 0               </a:t>
            </a:r>
            <a:pPr indent="0" marL="0">
              <a:buNone/>
            </a:pPr>
            <a:r>
              <a:rPr lang="en-US" sz="1200" dirty="0">
                <a:solidFill>
                  <a:srgbClr val="8FB3A0"/>
                </a:solidFill>
                <a:latin typeface="Courier New" pitchFamily="34" charset="0"/>
                <a:ea typeface="Courier New" pitchFamily="34" charset="-122"/>
                <a:cs typeface="Courier New" pitchFamily="34" charset="-120"/>
              </a:rPr>
              <a:t># column 0: A</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srli a2, s0, 2</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YELLOW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1               </a:t>
            </a:r>
            <a:pPr indent="0" marL="0">
              <a:buNone/>
            </a:pPr>
            <a:r>
              <a:rPr lang="en-US" sz="1200" dirty="0">
                <a:solidFill>
                  <a:srgbClr val="8FB3A0"/>
                </a:solidFill>
                <a:latin typeface="Courier New" pitchFamily="34" charset="0"/>
                <a:ea typeface="Courier New" pitchFamily="34" charset="-122"/>
                <a:cs typeface="Courier New" pitchFamily="34" charset="-120"/>
              </a:rPr>
              <a:t># column 1: B</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srli a2,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a2,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YELLOW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2               </a:t>
            </a:r>
            <a:pPr indent="0" marL="0">
              <a:buNone/>
            </a:pPr>
            <a:r>
              <a:rPr lang="en-US" sz="1200" dirty="0">
                <a:solidFill>
                  <a:srgbClr val="8FB3A0"/>
                </a:solidFill>
                <a:latin typeface="Courier New" pitchFamily="34" charset="0"/>
                <a:ea typeface="Courier New" pitchFamily="34" charset="-122"/>
                <a:cs typeface="Courier New" pitchFamily="34" charset="-120"/>
              </a:rPr>
              <a:t># column 2: Cin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andi a2, s0, 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YELLOW</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4               </a:t>
            </a:r>
            <a:pPr indent="0" marL="0">
              <a:buNone/>
            </a:pPr>
            <a:r>
              <a:rPr lang="en-US" sz="1200" dirty="0">
                <a:solidFill>
                  <a:srgbClr val="8FB3A0"/>
                </a:solidFill>
                <a:latin typeface="Courier New" pitchFamily="34" charset="0"/>
                <a:ea typeface="Courier New" pitchFamily="34" charset="-122"/>
                <a:cs typeface="Courier New" pitchFamily="34" charset="-120"/>
              </a:rPr>
              <a:t># column 4: S</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a2, s1</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a3, CYAN</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call lamp</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li   a0, 5               </a:t>
            </a:r>
            <a:pPr indent="0" marL="0">
              <a:buNone/>
            </a:pPr>
            <a:r>
              <a:rPr lang="en-US" sz="1200" dirty="0">
                <a:solidFill>
                  <a:srgbClr val="8FB3A0"/>
                </a:solidFill>
                <a:latin typeface="Courier New" pitchFamily="34" charset="0"/>
                <a:ea typeface="Courier New" pitchFamily="34" charset="-122"/>
                <a:cs typeface="Courier New" pitchFamily="34" charset="-120"/>
              </a:rPr>
              <a:t># column 5: Cout</a:t>
            </a:r>
            <a:endParaRPr lang="en-US" sz="1200" dirty="0"/>
          </a:p>
          <a:p>
            <a:pPr indent="0" marL="0">
              <a:buNone/>
            </a:pPr>
            <a:r>
              <a:rPr lang="en-US" sz="1200" dirty="0">
                <a:solidFill>
                  <a:srgbClr val="E6EDF2"/>
                </a:solidFill>
                <a:latin typeface="Courier New" pitchFamily="34" charset="0"/>
                <a:ea typeface="Courier New" pitchFamily="34" charset="-122"/>
                <a:cs typeface="Courier New" pitchFamily="34" charset="-120"/>
              </a:rPr>
              <a:t>    mv   a1, s0</a:t>
            </a:r>
            <a:endParaRPr lang="en-US" sz="12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complete program: l09.S (6 of 6)</a:t>
            </a:r>
            <a:endParaRPr lang="en-US" sz="3200" dirty="0"/>
          </a:p>
        </p:txBody>
      </p:sp>
      <p:sp>
        <p:nvSpPr>
          <p:cNvPr id="3" name="Shape 1"/>
          <p:cNvSpPr/>
          <p:nvPr/>
        </p:nvSpPr>
        <p:spPr>
          <a:xfrm>
            <a:off x="548640" y="1417320"/>
            <a:ext cx="11094415"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10637215" cy="4389120"/>
          </a:xfrm>
          <a:prstGeom prst="rect">
            <a:avLst/>
          </a:prstGeom>
          <a:noFill/>
          <a:ln/>
        </p:spPr>
        <p:txBody>
          <a:bodyPr wrap="square" lIns="0" tIns="0" rIns="0" bIns="0" rtlCol="0" anchor="t"/>
          <a:lstStyle/>
          <a:p>
            <a:pPr indent="0" marL="0">
              <a:buNone/>
            </a:pPr>
            <a:r>
              <a:rPr lang="en-US" sz="1800" dirty="0">
                <a:solidFill>
                  <a:srgbClr val="E6EDF2"/>
                </a:solidFill>
                <a:latin typeface="Courier New" pitchFamily="34" charset="0"/>
                <a:ea typeface="Courier New" pitchFamily="34" charset="-122"/>
                <a:cs typeface="Courier New" pitchFamily="34" charset="-120"/>
              </a:rPr>
              <a:t>    mv   a2, s2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a3, CYAN</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call lamp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s0, s0, 1</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li   t0, 8</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blt  s0, t0, 1b</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s2, 16(sp)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s1, 20(sp)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s0, 24(sp)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lw   ra, 28(sp)</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addi sp, sp, 32</a:t>
            </a:r>
            <a:endParaRPr lang="en-US" sz="1800" dirty="0"/>
          </a:p>
          <a:p>
            <a:pPr indent="0" marL="0">
              <a:buNone/>
            </a:pPr>
            <a:r>
              <a:rPr lang="en-US" sz="1800" dirty="0">
                <a:solidFill>
                  <a:srgbClr val="E6EDF2"/>
                </a:solidFill>
                <a:latin typeface="Courier New" pitchFamily="34" charset="0"/>
                <a:ea typeface="Courier New" pitchFamily="34" charset="-122"/>
                <a:cs typeface="Courier New" pitchFamily="34" charset="-120"/>
              </a:rPr>
              <a:t>    ret</a:t>
            </a:r>
            <a:endParaRPr lang="en-US" sz="1800" dirty="0"/>
          </a:p>
        </p:txBody>
      </p:sp>
      <p:sp>
        <p:nvSpPr>
          <p:cNvPr id="5" name="Shape 3"/>
          <p:cNvSpPr/>
          <p:nvPr/>
        </p:nvSpPr>
        <p:spPr>
          <a:xfrm>
            <a:off x="8959672" y="91440"/>
            <a:ext cx="2683383" cy="274320"/>
          </a:xfrm>
          <a:prstGeom prst="rect">
            <a:avLst/>
          </a:prstGeom>
          <a:solidFill>
            <a:srgbClr val="FEF3C7"/>
          </a:solidFill>
          <a:ln w="12700">
            <a:solidFill>
              <a:srgbClr val="B45309"/>
            </a:solidFill>
            <a:prstDash val="solid"/>
          </a:ln>
        </p:spPr>
      </p:sp>
      <p:sp>
        <p:nvSpPr>
          <p:cNvPr id="6" name="Shape 4"/>
          <p:cNvSpPr/>
          <p:nvPr/>
        </p:nvSpPr>
        <p:spPr>
          <a:xfrm>
            <a:off x="8959672" y="91440"/>
            <a:ext cx="27432" cy="274320"/>
          </a:xfrm>
          <a:prstGeom prst="rect">
            <a:avLst/>
          </a:prstGeom>
          <a:solidFill>
            <a:srgbClr val="B45309"/>
          </a:solidFill>
          <a:ln w="12700">
            <a:solidFill>
              <a:srgbClr val="B45309"/>
            </a:solidFill>
            <a:prstDash val="solid"/>
          </a:ln>
        </p:spPr>
      </p:sp>
      <p:sp>
        <p:nvSpPr>
          <p:cNvPr id="7" name="Shape 5"/>
          <p:cNvSpPr/>
          <p:nvPr/>
        </p:nvSpPr>
        <p:spPr>
          <a:xfrm>
            <a:off x="9014536" y="91440"/>
            <a:ext cx="27432" cy="274320"/>
          </a:xfrm>
          <a:prstGeom prst="rect">
            <a:avLst/>
          </a:prstGeom>
          <a:solidFill>
            <a:srgbClr val="B45309"/>
          </a:solidFill>
          <a:ln w="12700">
            <a:solidFill>
              <a:srgbClr val="B45309"/>
            </a:solidFill>
            <a:prstDash val="solid"/>
          </a:ln>
        </p:spPr>
      </p:sp>
      <p:pic>
        <p:nvPicPr>
          <p:cNvPr id="8" name="Image 0" descr="preencoded.png">    </p:cNvPr>
          <p:cNvPicPr>
            <a:picLocks noChangeAspect="1"/>
          </p:cNvPicPr>
          <p:nvPr/>
        </p:nvPicPr>
        <p:blipFill>
          <a:blip r:embed="rId1"/>
          <a:stretch>
            <a:fillRect/>
          </a:stretch>
        </p:blipFill>
        <p:spPr>
          <a:xfrm>
            <a:off x="9087688" y="128016"/>
            <a:ext cx="201168" cy="201168"/>
          </a:xfrm>
          <a:prstGeom prst="rect">
            <a:avLst/>
          </a:prstGeom>
        </p:spPr>
      </p:pic>
      <p:sp>
        <p:nvSpPr>
          <p:cNvPr id="9" name="Text 6"/>
          <p:cNvSpPr txBox="1"/>
          <p:nvPr/>
        </p:nvSpPr>
        <p:spPr>
          <a:xfrm>
            <a:off x="9343720" y="91440"/>
            <a:ext cx="2262759"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complete program</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Run it: what you should see</a:t>
            </a:r>
            <a:endParaRPr lang="en-US" sz="3200" dirty="0"/>
          </a:p>
        </p:txBody>
      </p:sp>
      <p:sp>
        <p:nvSpPr>
          <p:cNvPr id="3" name="Shape 1"/>
          <p:cNvSpPr/>
          <p:nvPr/>
        </p:nvSpPr>
        <p:spPr>
          <a:xfrm>
            <a:off x="548640" y="172212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5468112" cy="203530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On the screen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eight rows, one per combination of A, B and Cin (000 at the top): three lamps for the inputs on the left, then S and Cout on the right. It is the truth table of the full adder.</a:t>
            </a:r>
            <a:endParaRPr lang="en-US" sz="2400" dirty="0"/>
          </a:p>
        </p:txBody>
      </p:sp>
      <p:sp>
        <p:nvSpPr>
          <p:cNvPr id="5" name="Shape 3"/>
          <p:cNvSpPr/>
          <p:nvPr/>
        </p:nvSpPr>
        <p:spPr>
          <a:xfrm>
            <a:off x="548640" y="421462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092702"/>
            <a:ext cx="5468112" cy="73380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What to press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nothing: the program runs by itself</a:t>
            </a:r>
            <a:endParaRPr lang="en-US" sz="2400" dirty="0"/>
          </a:p>
        </p:txBody>
      </p:sp>
      <p:pic>
        <p:nvPicPr>
          <p:cNvPr id="7" name="Image 0" descr="/Users/raffaelemontella/devel/riscv-prg32/computer-architecture-with-prg32/tools/assets/lab_l09.png">    </p:cNvPr>
          <p:cNvPicPr>
            <a:picLocks noChangeAspect="1"/>
          </p:cNvPicPr>
          <p:nvPr/>
        </p:nvPicPr>
        <p:blipFill>
          <a:blip r:embed="rId1"/>
          <a:stretch>
            <a:fillRect/>
          </a:stretch>
        </p:blipFill>
        <p:spPr>
          <a:xfrm>
            <a:off x="6766560" y="2042255"/>
            <a:ext cx="4876495" cy="3047810"/>
          </a:xfrm>
          <a:prstGeom prst="rect">
            <a:avLst/>
          </a:prstGeom>
        </p:spPr>
      </p:pic>
      <p:sp>
        <p:nvSpPr>
          <p:cNvPr id="8" name="Text 5"/>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frame written by the automatic test on PRG32-QT</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PRG32-QT</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start PRG32-QT on this computer (it listens on port 8080)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in the PRG32 folder, with ESP-IDF active: build the cartridge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l09 --name l09 --out l09.prg32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send it to PRG32-QT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l09.prg32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http://localhost:8080 --slot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look, press, compare with the previous slide</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PRG32-QT must be running: it answers on port 8080, like a board</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Build once, from the PRG32 folder, with ESP-IDF active in the terminal</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upload-and-run stores the cartridge in slot cart0 and starts it</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Enable debug mode in Settings to stop the program and read registers and memory</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QEMU</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build the firmware for QEMU (several minutes)</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build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build the cartridge for the emulated chip</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l09 --name l09 --architecture qemu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with QEMU closed, stage the cartridge into its flash image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upload l09-qemu.prg32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start the emulator; on Setup choose Run Cartridge, then cart0</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qemu run</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emulator runs the real firmware on an emulated chip: build it once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cartridge is built for the architecture qemu: the same source, another file</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Stage the cartridge with QEMU closed, then start it and choose Run Cartridge</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keys go to the terminal: arrows or WASD, Z or J for A, X or K for B</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Test it on the board</a:t>
            </a:r>
            <a:endParaRPr lang="en-US" sz="3200" dirty="0"/>
          </a:p>
        </p:txBody>
      </p:sp>
      <p:sp>
        <p:nvSpPr>
          <p:cNvPr id="3" name="Shape 1"/>
          <p:cNvSpPr/>
          <p:nvPr/>
        </p:nvSpPr>
        <p:spPr>
          <a:xfrm>
            <a:off x="548640" y="1417320"/>
            <a:ext cx="813816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7680960" cy="4389120"/>
          </a:xfrm>
          <a:prstGeom prst="rect">
            <a:avLst/>
          </a:prstGeom>
          <a:noFill/>
          <a:ln/>
        </p:spPr>
        <p:txBody>
          <a:bodyPr wrap="square" lIns="0" tIns="0" rIns="0" bIns="0" rtlCol="0" anchor="t"/>
          <a:lstStyle/>
          <a:p>
            <a:pPr indent="0" marL="0">
              <a:buNone/>
            </a:pPr>
            <a:r>
              <a:rPr lang="en-US" sz="1450" dirty="0">
                <a:solidFill>
                  <a:srgbClr val="8FB3A0"/>
                </a:solidFill>
                <a:latin typeface="Courier New" pitchFamily="34" charset="0"/>
                <a:ea typeface="Courier New" pitchFamily="34" charset="-122"/>
                <a:cs typeface="Courier New" pitchFamily="34" charset="-120"/>
              </a:rPr>
              <a:t># 1. once per board: write the firmware through the USB cable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build-and-flash</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2. join the Wi-Fi network of the board: PRG32, password prg32game</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3. build the cartridge for the board</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cartridge build ~/arc12/code/l09.S --portable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--entry-prefix l09 --name l09 --architecture esp32c6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--out l09-esp32c6.prg32</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a:t>
            </a:r>
            <a:endParaRPr lang="en-US" sz="1450" dirty="0"/>
          </a:p>
          <a:p>
            <a:pPr indent="0" marL="0">
              <a:buNone/>
            </a:pPr>
            <a:r>
              <a:rPr lang="en-US" sz="1450" dirty="0">
                <a:solidFill>
                  <a:srgbClr val="8FB3A0"/>
                </a:solidFill>
                <a:latin typeface="Courier New" pitchFamily="34" charset="0"/>
                <a:ea typeface="Courier New" pitchFamily="34" charset="-122"/>
                <a:cs typeface="Courier New" pitchFamily="34" charset="-120"/>
              </a:rPr>
              <a:t># 4. send it over Wi-Fi and start it</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python3 -m prg32 esp32c6 upload-and-run l09-esp32c6.prg32 \</a:t>
            </a:r>
            <a:endParaRPr lang="en-US" sz="1450" dirty="0"/>
          </a:p>
          <a:p>
            <a:pPr indent="0" marL="0">
              <a:buNone/>
            </a:pPr>
            <a:r>
              <a:rPr lang="en-US" sz="1450" dirty="0">
                <a:solidFill>
                  <a:srgbClr val="E6EDF2"/>
                </a:solidFill>
                <a:latin typeface="Courier New" pitchFamily="34" charset="0"/>
                <a:ea typeface="Courier New" pitchFamily="34" charset="-122"/>
                <a:cs typeface="Courier New" pitchFamily="34" charset="-120"/>
              </a:rPr>
              <a:t>    --url http://192.168.4.1 --slot cart0</a:t>
            </a:r>
            <a:endParaRPr lang="en-US" sz="1450" dirty="0"/>
          </a:p>
        </p:txBody>
      </p:sp>
      <p:sp>
        <p:nvSpPr>
          <p:cNvPr id="5" name="Shape 3"/>
          <p:cNvSpPr/>
          <p:nvPr/>
        </p:nvSpPr>
        <p:spPr>
          <a:xfrm>
            <a:off x="8961120" y="1417320"/>
            <a:ext cx="268193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912571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9646920" y="1554480"/>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firmware is written once per board, through the USB cable</a:t>
            </a:r>
            <a:endParaRPr lang="en-US" sz="1200" dirty="0"/>
          </a:p>
        </p:txBody>
      </p:sp>
      <p:sp>
        <p:nvSpPr>
          <p:cNvPr id="8" name="Shape 6"/>
          <p:cNvSpPr/>
          <p:nvPr/>
        </p:nvSpPr>
        <p:spPr>
          <a:xfrm>
            <a:off x="8961120" y="2656332"/>
            <a:ext cx="268193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912571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9646920" y="2793492"/>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board creates the Wi-Fi network PRG32: join it with your computer</a:t>
            </a:r>
            <a:endParaRPr lang="en-US" sz="1200" dirty="0"/>
          </a:p>
        </p:txBody>
      </p:sp>
      <p:sp>
        <p:nvSpPr>
          <p:cNvPr id="11" name="Shape 9"/>
          <p:cNvSpPr/>
          <p:nvPr/>
        </p:nvSpPr>
        <p:spPr>
          <a:xfrm>
            <a:off x="8961120" y="3895344"/>
            <a:ext cx="268193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912571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9646920" y="4032504"/>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The same upload command as for PRG32-QT, with the address of the board</a:t>
            </a:r>
            <a:endParaRPr lang="en-US" sz="1200" dirty="0"/>
          </a:p>
        </p:txBody>
      </p:sp>
      <p:sp>
        <p:nvSpPr>
          <p:cNvPr id="14" name="Shape 12"/>
          <p:cNvSpPr/>
          <p:nvPr/>
        </p:nvSpPr>
        <p:spPr>
          <a:xfrm>
            <a:off x="8961120" y="5134356"/>
            <a:ext cx="268193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912571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9646920" y="5271516"/>
            <a:ext cx="1813255" cy="763524"/>
          </a:xfrm>
          <a:prstGeom prst="rect">
            <a:avLst/>
          </a:prstGeom>
          <a:noFill/>
          <a:ln/>
        </p:spPr>
        <p:txBody>
          <a:bodyPr wrap="square" lIns="0" tIns="0" rIns="0" bIns="0" rtlCol="0" anchor="ctr"/>
          <a:lstStyle/>
          <a:p>
            <a:pPr indent="0" marL="0">
              <a:buNone/>
            </a:pPr>
            <a:r>
              <a:rPr lang="en-US" sz="1200" dirty="0">
                <a:solidFill>
                  <a:srgbClr val="1B2530"/>
                </a:solidFill>
                <a:latin typeface="Calibri" pitchFamily="34" charset="0"/>
                <a:ea typeface="Calibri" pitchFamily="34" charset="-122"/>
                <a:cs typeface="Calibri" pitchFamily="34" charset="-120"/>
              </a:rPr>
              <a:t>A black screen: check the wiring of the display against the firmware</a:t>
            </a:r>
            <a:endParaRPr lang="en-US" sz="1200" dirty="0"/>
          </a:p>
        </p:txBody>
      </p:sp>
      <p:sp>
        <p:nvSpPr>
          <p:cNvPr id="17" name="Shape 15"/>
          <p:cNvSpPr/>
          <p:nvPr/>
        </p:nvSpPr>
        <p:spPr>
          <a:xfrm>
            <a:off x="9287967" y="91440"/>
            <a:ext cx="2355088" cy="274320"/>
          </a:xfrm>
          <a:prstGeom prst="rect">
            <a:avLst/>
          </a:prstGeom>
          <a:solidFill>
            <a:srgbClr val="FEF3C7"/>
          </a:solidFill>
          <a:ln w="12700">
            <a:solidFill>
              <a:srgbClr val="B45309"/>
            </a:solidFill>
            <a:prstDash val="solid"/>
          </a:ln>
        </p:spPr>
      </p:sp>
      <p:sp>
        <p:nvSpPr>
          <p:cNvPr id="18" name="Shape 16"/>
          <p:cNvSpPr/>
          <p:nvPr/>
        </p:nvSpPr>
        <p:spPr>
          <a:xfrm>
            <a:off x="9287967" y="91440"/>
            <a:ext cx="27432" cy="274320"/>
          </a:xfrm>
          <a:prstGeom prst="rect">
            <a:avLst/>
          </a:prstGeom>
          <a:solidFill>
            <a:srgbClr val="B45309"/>
          </a:solidFill>
          <a:ln w="12700">
            <a:solidFill>
              <a:srgbClr val="B45309"/>
            </a:solidFill>
            <a:prstDash val="solid"/>
          </a:ln>
        </p:spPr>
      </p:sp>
      <p:sp>
        <p:nvSpPr>
          <p:cNvPr id="19" name="Shape 17"/>
          <p:cNvSpPr/>
          <p:nvPr/>
        </p:nvSpPr>
        <p:spPr>
          <a:xfrm>
            <a:off x="9342831" y="91440"/>
            <a:ext cx="27432" cy="274320"/>
          </a:xfrm>
          <a:prstGeom prst="rect">
            <a:avLst/>
          </a:prstGeom>
          <a:solidFill>
            <a:srgbClr val="B45309"/>
          </a:solidFill>
          <a:ln w="12700">
            <a:solidFill>
              <a:srgbClr val="B45309"/>
            </a:solidFill>
            <a:prstDash val="solid"/>
          </a:ln>
        </p:spPr>
      </p:sp>
      <p:pic>
        <p:nvPicPr>
          <p:cNvPr id="20"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21" name="Text 18"/>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If it does not work</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025750"/>
                <a:gridCol w="3866236"/>
                <a:gridCol w="4202430"/>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You see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It means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Do this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missing entry point</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prefix is not the one in the source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--entry-prefix l09; check the three .global lines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idf.py: command not found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ESP-IDF is not active in this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run export.sh, or open the ESP-IDF PowerShell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upload: connection refused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host is not listening at that address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start PRG32-QT; use the address on its Setup screen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 black screen, or the menu again</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a function does not return, or ra was not saved</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debug mode: step through init, update, draw</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QEMU ignores the keys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the keyboard goes to the terminal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click the terminal that launched QEMU</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9287967" y="91440"/>
            <a:ext cx="2355088" cy="274320"/>
          </a:xfrm>
          <a:prstGeom prst="rect">
            <a:avLst/>
          </a:prstGeom>
          <a:solidFill>
            <a:srgbClr val="FEF3C7"/>
          </a:solidFill>
          <a:ln w="12700">
            <a:solidFill>
              <a:srgbClr val="B45309"/>
            </a:solidFill>
            <a:prstDash val="solid"/>
          </a:ln>
        </p:spPr>
      </p:sp>
      <p:sp>
        <p:nvSpPr>
          <p:cNvPr id="5" name="Shape 2"/>
          <p:cNvSpPr/>
          <p:nvPr/>
        </p:nvSpPr>
        <p:spPr>
          <a:xfrm>
            <a:off x="9287967" y="91440"/>
            <a:ext cx="27432" cy="274320"/>
          </a:xfrm>
          <a:prstGeom prst="rect">
            <a:avLst/>
          </a:prstGeom>
          <a:solidFill>
            <a:srgbClr val="B45309"/>
          </a:solidFill>
          <a:ln w="12700">
            <a:solidFill>
              <a:srgbClr val="B45309"/>
            </a:solidFill>
            <a:prstDash val="solid"/>
          </a:ln>
        </p:spPr>
      </p:sp>
      <p:sp>
        <p:nvSpPr>
          <p:cNvPr id="6" name="Shape 3"/>
          <p:cNvSpPr/>
          <p:nvPr/>
        </p:nvSpPr>
        <p:spPr>
          <a:xfrm>
            <a:off x="9342831"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415983" y="128016"/>
            <a:ext cx="201168" cy="201168"/>
          </a:xfrm>
          <a:prstGeom prst="rect">
            <a:avLst/>
          </a:prstGeom>
        </p:spPr>
      </p:pic>
      <p:sp>
        <p:nvSpPr>
          <p:cNvPr id="8" name="Text 4"/>
          <p:cNvSpPr txBox="1"/>
          <p:nvPr/>
        </p:nvSpPr>
        <p:spPr>
          <a:xfrm>
            <a:off x="9672015" y="91440"/>
            <a:ext cx="1934464"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 tools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Write the canonical forms P and S of the full adder outputs S and Cout</a:t>
            </a:r>
            <a:endParaRPr lang="en-US" sz="2200" dirty="0"/>
          </a:p>
        </p:txBody>
      </p:sp>
      <p:sp>
        <p:nvSpPr>
          <p:cNvPr id="6" name="Text 4"/>
          <p:cNvSpPr txBox="1"/>
          <p:nvPr/>
        </p:nvSpPr>
        <p:spPr>
          <a:xfrm>
            <a:off x="548640" y="20731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05486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Minimise Cout with a Karnaugh map of three variables. How many gates do you save?</a:t>
            </a:r>
            <a:endParaRPr lang="en-US" sz="2200" dirty="0"/>
          </a:p>
        </p:txBody>
      </p:sp>
      <p:sp>
        <p:nvSpPr>
          <p:cNvPr id="8" name="Text 6"/>
          <p:cNvSpPr txBox="1"/>
          <p:nvPr/>
        </p:nvSpPr>
        <p:spPr>
          <a:xfrm>
            <a:off x="548640" y="29535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9352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Minimise F = sum of m(0, 1, 2, 5, 8, 9, 10) with a map of four variables</a:t>
            </a:r>
            <a:endParaRPr lang="en-US" sz="2200" dirty="0"/>
          </a:p>
        </p:txBody>
      </p:sp>
      <p:sp>
        <p:nvSpPr>
          <p:cNvPr id="10" name="Text 8"/>
          <p:cNvSpPr txBox="1"/>
          <p:nvPr/>
        </p:nvSpPr>
        <p:spPr>
          <a:xfrm>
            <a:off x="548640" y="35910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7276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Build NOT, AND and OR using NAND only, and check each with a truth table</a:t>
            </a:r>
            <a:endParaRPr lang="en-US" sz="2200" dirty="0"/>
          </a:p>
        </p:txBody>
      </p:sp>
      <p:sp>
        <p:nvSpPr>
          <p:cNvPr id="12" name="Text 10"/>
          <p:cNvSpPr txBox="1"/>
          <p:nvPr/>
        </p:nvSpPr>
        <p:spPr>
          <a:xfrm>
            <a:off x="548640" y="422859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21030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Program the full adder on PRG32 and display S and Cout as lamps for the eight input combinations</a:t>
            </a:r>
            <a:endParaRPr lang="en-US" sz="22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paper: Cout = AB + ACin + BCin. On PRG32: eight pairs of lamps that reproduce the truth table of the full adder.</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Elements of Boolean Algebra: the code</dc:title>
  <dc:subject>Lecture 09</dc:subject>
  <dc:creator>Raffaele Montella</dc:creator>
  <cp:lastModifiedBy>Raffaele Montella</cp:lastModifiedBy>
  <cp:revision>1</cp:revision>
  <dcterms:created xsi:type="dcterms:W3CDTF">2026-10-17T07:16:48Z</dcterms:created>
  <dcterms:modified xsi:type="dcterms:W3CDTF">2026-10-17T07:16:48Z</dcterms:modified>
</cp:coreProperties>
</file>