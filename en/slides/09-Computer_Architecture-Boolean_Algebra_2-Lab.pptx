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bf29ab1-76ac-7f5f-56b2-893bd21af67b}">
          <p14:sldIdLst>
            <p14:sldId id="256"/>
            <p14:sldId id="257"/>
          </p14:sldIdLst>
        </p14:section>
        <p14:section name="Warm-up on the machine" id="{60095716-fc91-6574-6d39-441a08d0130c}">
          <p14:sldIdLst>
            <p14:sldId id="258"/>
          </p14:sldIdLst>
        </p14:section>
        <p14:section name="Back to the machine" id="{733904cb-0e3c-0e67-c4f2-afdb236f862a}">
          <p14:sldIdLst>
            <p14:sldId id="259"/>
          </p14:sldIdLst>
        </p14:section>
        <p14:section name="The complete program" id="{bba2497e-ba88-31d1-54a8-36ef85c93f18}">
          <p14:sldIdLst>
            <p14:sldId id="260"/>
            <p14:sldId id="261"/>
            <p14:sldId id="262"/>
            <p14:sldId id="263"/>
            <p14:sldId id="264"/>
            <p14:sldId id="265"/>
          </p14:sldIdLst>
        </p14:section>
        <p14:section name="Run it and test it" id="{76da7de1-5ab8-eb3e-4101-cba055ea1d18}">
          <p14:sldIdLst>
            <p14:sldId id="266"/>
            <p14:sldId id="267"/>
            <p14:sldId id="268"/>
            <p14:sldId id="269"/>
            <p14:sldId id="270"/>
          </p14:sldIdLst>
        </p14:section>
        <p14:section name="Exercises" id="{966f30eb-04a4-72fe-0765-4317a964bbfe}">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09.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adder; Boolean functions; canonical forms; minimisation, Karnaugh maps.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~/arc12/code/l09.S; tools/tests/cartridges/run.py builds it, runs it on PRG32-QT with scripted input and checks the pixels of the frame.
For the lecturer: Get the code once: git clone https://github.com/riscv-prg32/computer-architecture-with-prg32 ~/arc12. The program of this lecture is ~/arc12/code/l09.S;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The sum of two bits can be 0, 1 or 2, so the result requires two bits. xor produces the low bit, which is 1 when the inputs differ; and produces the high bit, the carry, which is 1 only when both inputs are 1. The comment beneath the code is a truth table with two outputs, whose four rows should be verified. This pair of gates has a name, the half adder. The final callout states the problem of the lecture: here the gates were supplied; how are they found when only the table is known?
UNDERSTAND NOW: the adder.
For the lecturer: Run it in PRG32-QT with the four input pairs. Lecture 05 said that an adder is all a processor needs for arithmetic; this is its first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written as five instructions, one per gate: two xor for the sum, two and and one or for the outgoing carry. The program is the schematic, read from left to right, and it allows both problems of Lecture 08 to be practised. Analysis: single-step it in PRG32-QT for the eight input combinations and fill in the truth table. Synthesis: derive these gates from the table with the method of the lecture. With whole registers as inputs, the same five lines operate on all thirty-two bit positions at once, though without propagating carries between them; propagation is what the ripple-carry chain adds.
UNDERSTAND NOW: the adder.
For the lecturer: Suggested laboratory activity: loop over the eight input combinations and draw the two output bits as lamps, as in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the canonical forms of the two outputs of the full adder. Minimise the outgoing carry with a three-variable map and count the gates saved. Minimise a four-variable function given as a list of minterms, remembering that the corners are adjacent. Construct NOT, AND and OR from NAND gates alone, verifying each by its truth table, which demonstrates functional completeness constructively. Then program the full adder on PRG32 and display its outputs as lamps for the eight input combinations.
For the lecturer: Exercise 3: F = B'D' + B'C' + A'C'D (corners; top-left and bottom-left pairs with their neighbours; m1 with m5). Exercise 2: the canonical form of Cout has four minterms (3, 5, 6, 7); the map gives three clauses of two literals.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09-Computer_Architecture-Boolean_Algebra_2.pptx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09,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code/l09.S, 107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One-bit addition without add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a0 and a1 hold one bit each: 0 or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goal: compute a0 + a1, which needs two bits (0, 1 or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xor  t0, a0, a1      </a:t>
            </a:r>
            <a:pPr indent="0" marL="0">
              <a:buNone/>
            </a:pPr>
            <a:r>
              <a:rPr lang="en-US" sz="1250" dirty="0">
                <a:solidFill>
                  <a:srgbClr val="8FB3A0"/>
                </a:solidFill>
                <a:latin typeface="Courier New" pitchFamily="34" charset="0"/>
                <a:ea typeface="Courier New" pitchFamily="34" charset="-122"/>
                <a:cs typeface="Courier New" pitchFamily="34" charset="-120"/>
              </a:rPr>
              <a:t># low bit of the sum:  1 when the bits differ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  t1, a0, a1      </a:t>
            </a:r>
            <a:pPr indent="0" marL="0">
              <a:buNone/>
            </a:pPr>
            <a:r>
              <a:rPr lang="en-US" sz="1250" dirty="0">
                <a:solidFill>
                  <a:srgbClr val="8FB3A0"/>
                </a:solidFill>
                <a:latin typeface="Courier New" pitchFamily="34" charset="0"/>
                <a:ea typeface="Courier New" pitchFamily="34" charset="-122"/>
                <a:cs typeface="Courier New" pitchFamily="34" charset="-120"/>
              </a:rPr>
              <a:t># high bit, the carry: 1 when both are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a0 a1 | t1 t0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0 |  0  0        0 + 0 = 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1 |  0  1        0 + 1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0 |  0  1        1 + 0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1 |  1  0        1 + 1 = 2  (binary 10)</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Two logic instructions add two bits: no arithmetic involved</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comment is a truth table with two outputs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This pair of gates is called a half adder</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How do you find the gates when the table is given? That is today's method</a:t>
            </a:r>
            <a:endParaRPr lang="en-US" sz="16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full adder, one gate per instruction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a0 = A, a1 = B, a2 = Cin   (each 0 or 1)</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result: a3 = S, a4 = Cout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t0, a0, a1      </a:t>
            </a:r>
            <a:pPr indent="0" marL="0">
              <a:buNone/>
            </a:pPr>
            <a:r>
              <a:rPr lang="en-US" sz="1550" dirty="0">
                <a:solidFill>
                  <a:srgbClr val="8FB3A0"/>
                </a:solidFill>
                <a:latin typeface="Courier New" pitchFamily="34" charset="0"/>
                <a:ea typeface="Courier New" pitchFamily="34" charset="-122"/>
                <a:cs typeface="Courier New" pitchFamily="34" charset="-120"/>
              </a:rPr>
              <a:t># t0   = A xor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a3, t0, a2      </a:t>
            </a:r>
            <a:pPr indent="0" marL="0">
              <a:buNone/>
            </a:pPr>
            <a:r>
              <a:rPr lang="en-US" sz="1550" dirty="0">
                <a:solidFill>
                  <a:srgbClr val="8FB3A0"/>
                </a:solidFill>
                <a:latin typeface="Courier New" pitchFamily="34" charset="0"/>
                <a:ea typeface="Courier New" pitchFamily="34" charset="-122"/>
                <a:cs typeface="Courier New" pitchFamily="34" charset="-120"/>
              </a:rPr>
              <a:t># S    = A xor B xor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t1, a0, a1      </a:t>
            </a:r>
            <a:pPr indent="0" marL="0">
              <a:buNone/>
            </a:pPr>
            <a:r>
              <a:rPr lang="en-US" sz="1550" dirty="0">
                <a:solidFill>
                  <a:srgbClr val="8FB3A0"/>
                </a:solidFill>
                <a:latin typeface="Courier New" pitchFamily="34" charset="0"/>
                <a:ea typeface="Courier New" pitchFamily="34" charset="-122"/>
                <a:cs typeface="Courier New" pitchFamily="34" charset="-120"/>
              </a:rPr>
              <a:t># t1   = A .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t2, t0, a2      </a:t>
            </a:r>
            <a:pPr indent="0" marL="0">
              <a:buNone/>
            </a:pPr>
            <a:r>
              <a:rPr lang="en-US" sz="1550" dirty="0">
                <a:solidFill>
                  <a:srgbClr val="8FB3A0"/>
                </a:solidFill>
                <a:latin typeface="Courier New" pitchFamily="34" charset="0"/>
                <a:ea typeface="Courier New" pitchFamily="34" charset="-122"/>
                <a:cs typeface="Courier New" pitchFamily="34" charset="-120"/>
              </a:rPr>
              <a:t># t2   = (A xor B) .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or   a4, t1, t2      </a:t>
            </a:r>
            <a:pPr indent="0" marL="0">
              <a:buNone/>
            </a:pPr>
            <a:r>
              <a:rPr lang="en-US" sz="1550" dirty="0">
                <a:solidFill>
                  <a:srgbClr val="8FB3A0"/>
                </a:solidFill>
                <a:latin typeface="Courier New" pitchFamily="34" charset="0"/>
                <a:ea typeface="Courier New" pitchFamily="34" charset="-122"/>
                <a:cs typeface="Courier New" pitchFamily="34" charset="-120"/>
              </a:rPr>
              <a:t># Cout = A . B + (A xor B) . Cin</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Five instructions, five gates: the program is the schematic, read from left to right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Analysis: single-step it in PRG32-QT and fill in the truth table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Synthesis: you derived these gates from the table with the method of this lecture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whole registers as inputs, the same lines work on all thirty-two bit positions at once</a:t>
            </a:r>
            <a:endParaRPr lang="en-US" sz="12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09: Elements of Boolean Algebra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l09.S: a full adder, one gate per instruction, on its eight input combinations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eight rows, one per combination of A, B and Cin (000 at the top):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three lamps for the inputs on the left, then S and Cout on the right. It is the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truth table of the full adder.</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l09.S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l09 --name l09 --out l09.prg32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CYAN,   0x07ff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l09_init: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00" dirty="0">
                <a:solidFill>
                  <a:srgbClr val="E6EDF2"/>
                </a:solidFill>
                <a:latin typeface="Courier New" pitchFamily="34" charset="0"/>
                <a:ea typeface="Courier New" pitchFamily="34" charset="-122"/>
                <a:cs typeface="Courier New" pitchFamily="34" charset="-120"/>
              </a:rPr>
              <a:t>l09_update:</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ret</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8FB3A0"/>
                </a:solidFill>
                <a:latin typeface="Courier New" pitchFamily="34" charset="0"/>
                <a:ea typeface="Courier New" pitchFamily="34" charset="-122"/>
                <a:cs typeface="Courier New" pitchFamily="34" charset="-120"/>
              </a:rPr>
              <a:t># full_adder: a0 = A, a1 = B, a2 = Cin (each 0 or 1); result: a3 = S, a4 = Cout</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full_adder:</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xor  t0, a0, a1      </a:t>
            </a:r>
            <a:pPr indent="0" marL="0">
              <a:buNone/>
            </a:pPr>
            <a:r>
              <a:rPr lang="en-US" sz="1700" dirty="0">
                <a:solidFill>
                  <a:srgbClr val="8FB3A0"/>
                </a:solidFill>
                <a:latin typeface="Courier New" pitchFamily="34" charset="0"/>
                <a:ea typeface="Courier New" pitchFamily="34" charset="-122"/>
                <a:cs typeface="Courier New" pitchFamily="34" charset="-120"/>
              </a:rPr>
              <a:t># t0   = A xor B</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xor  a3, t0, a2      </a:t>
            </a:r>
            <a:pPr indent="0" marL="0">
              <a:buNone/>
            </a:pPr>
            <a:r>
              <a:rPr lang="en-US" sz="1700" dirty="0">
                <a:solidFill>
                  <a:srgbClr val="8FB3A0"/>
                </a:solidFill>
                <a:latin typeface="Courier New" pitchFamily="34" charset="0"/>
                <a:ea typeface="Courier New" pitchFamily="34" charset="-122"/>
                <a:cs typeface="Courier New" pitchFamily="34" charset="-120"/>
              </a:rPr>
              <a:t># S    = A xor B xor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and  t1, a0, a1      </a:t>
            </a:r>
            <a:pPr indent="0" marL="0">
              <a:buNone/>
            </a:pPr>
            <a:r>
              <a:rPr lang="en-US" sz="1700" dirty="0">
                <a:solidFill>
                  <a:srgbClr val="8FB3A0"/>
                </a:solidFill>
                <a:latin typeface="Courier New" pitchFamily="34" charset="0"/>
                <a:ea typeface="Courier New" pitchFamily="34" charset="-122"/>
                <a:cs typeface="Courier New" pitchFamily="34" charset="-120"/>
              </a:rPr>
              <a:t># t1   = A . B</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and  t2, t0, a2      </a:t>
            </a:r>
            <a:pPr indent="0" marL="0">
              <a:buNone/>
            </a:pPr>
            <a:r>
              <a:rPr lang="en-US" sz="1700" dirty="0">
                <a:solidFill>
                  <a:srgbClr val="8FB3A0"/>
                </a:solidFill>
                <a:latin typeface="Courier New" pitchFamily="34" charset="0"/>
                <a:ea typeface="Courier New" pitchFamily="34" charset="-122"/>
                <a:cs typeface="Courier New" pitchFamily="34" charset="-120"/>
              </a:rPr>
              <a:t># t2   = (A xor B) .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or   a4, t1, t2      </a:t>
            </a:r>
            <a:pPr indent="0" marL="0">
              <a:buNone/>
            </a:pPr>
            <a:r>
              <a:rPr lang="en-US" sz="1700" dirty="0">
                <a:solidFill>
                  <a:srgbClr val="8FB3A0"/>
                </a:solidFill>
                <a:latin typeface="Courier New" pitchFamily="34" charset="0"/>
                <a:ea typeface="Courier New" pitchFamily="34" charset="-122"/>
                <a:cs typeface="Courier New" pitchFamily="34" charset="-120"/>
              </a:rPr>
              <a:t># Cout = A . B + (A xor B) .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ret</a:t>
            </a:r>
            <a:endParaRPr lang="en-US" sz="17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00" dirty="0">
                <a:solidFill>
                  <a:srgbClr val="8FB3A0"/>
                </a:solidFill>
                <a:latin typeface="Courier New" pitchFamily="34" charset="0"/>
                <a:ea typeface="Courier New" pitchFamily="34" charset="-122"/>
                <a:cs typeface="Courier New" pitchFamily="34" charset="-120"/>
              </a:rPr>
              <a:t># lamp: a0 = column, a1 = row, a2 = bit (0 or 1), a3 = colour when the bit is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lamp:</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a4, GREY</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beqz a2, 1f</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mv   a4, a3</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1:  slli a0, a0, 5</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addi a0, a0, 60          </a:t>
            </a:r>
            <a:pPr indent="0" marL="0">
              <a:buNone/>
            </a:pPr>
            <a:r>
              <a:rPr lang="en-US" sz="1700" dirty="0">
                <a:solidFill>
                  <a:srgbClr val="8FB3A0"/>
                </a:solidFill>
                <a:latin typeface="Courier New" pitchFamily="34" charset="0"/>
                <a:ea typeface="Courier New" pitchFamily="34" charset="-122"/>
                <a:cs typeface="Courier New" pitchFamily="34" charset="-120"/>
              </a:rPr>
              <a:t># x = 60 + 32 * column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slli a1, a1, 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slli t0, a1,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srli a1, a1,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  a1, a1, t0          </a:t>
            </a:r>
            <a:pPr indent="0" marL="0">
              <a:buNone/>
            </a:pPr>
            <a:r>
              <a:rPr lang="en-US" sz="1700" dirty="0">
                <a:solidFill>
                  <a:srgbClr val="8FB3A0"/>
                </a:solidFill>
                <a:latin typeface="Courier New" pitchFamily="34" charset="0"/>
                <a:ea typeface="Courier New" pitchFamily="34" charset="-122"/>
                <a:cs typeface="Courier New" pitchFamily="34" charset="-120"/>
              </a:rPr>
              <a:t># 40 * row ...</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srli a1, a1, 1           </a:t>
            </a:r>
            <a:pPr indent="0" marL="0">
              <a:buNone/>
            </a:pPr>
            <a:r>
              <a:rPr lang="en-US" sz="1700" dirty="0">
                <a:solidFill>
                  <a:srgbClr val="8FB3A0"/>
                </a:solidFill>
                <a:latin typeface="Courier New" pitchFamily="34" charset="0"/>
                <a:ea typeface="Courier New" pitchFamily="34" charset="-122"/>
                <a:cs typeface="Courier New" pitchFamily="34" charset="-120"/>
              </a:rPr>
              <a:t># ... / 2 = 20 * row</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addi a1, a1, 20          </a:t>
            </a:r>
            <a:pPr indent="0" marL="0">
              <a:buNone/>
            </a:pPr>
            <a:r>
              <a:rPr lang="en-US" sz="1700" dirty="0">
                <a:solidFill>
                  <a:srgbClr val="8FB3A0"/>
                </a:solidFill>
                <a:latin typeface="Courier New" pitchFamily="34" charset="0"/>
                <a:ea typeface="Courier New" pitchFamily="34" charset="-122"/>
                <a:cs typeface="Courier New" pitchFamily="34" charset="-120"/>
              </a:rPr>
              <a:t># y = 20 + 20 * row</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a2, 24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a3, 14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tail prg32_gfx_rect      </a:t>
            </a:r>
            <a:pPr indent="0" marL="0">
              <a:buNone/>
            </a:pPr>
            <a:r>
              <a:rPr lang="en-US" sz="1700" dirty="0">
                <a:solidFill>
                  <a:srgbClr val="8FB3A0"/>
                </a:solidFill>
                <a:latin typeface="Courier New" pitchFamily="34" charset="0"/>
                <a:ea typeface="Courier New" pitchFamily="34" charset="-122"/>
                <a:cs typeface="Courier New" pitchFamily="34" charset="-120"/>
              </a:rPr>
              <a:t># a tail call: rect returns to our caller</a:t>
            </a:r>
            <a:endParaRPr lang="en-US" sz="17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l09_draw: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-32</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ra, 28(sp)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s0, 24(sp)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s1, 20(sp)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s2, 16(sp)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a0, BLACK</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prg32_gfx_clear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s0, 0               </a:t>
            </a:r>
            <a:pPr indent="0" marL="0">
              <a:buNone/>
            </a:pPr>
            <a:r>
              <a:rPr lang="en-US" sz="1650" dirty="0">
                <a:solidFill>
                  <a:srgbClr val="8FB3A0"/>
                </a:solidFill>
                <a:latin typeface="Courier New" pitchFamily="34" charset="0"/>
                <a:ea typeface="Courier New" pitchFamily="34" charset="-122"/>
                <a:cs typeface="Courier New" pitchFamily="34" charset="-120"/>
              </a:rPr>
              <a:t># row = the three inputs as a number, 0 to 7</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srli a0, s0, 2</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a0, a0, 1           </a:t>
            </a:r>
            <a:pPr indent="0" marL="0">
              <a:buNone/>
            </a:pPr>
            <a:r>
              <a:rPr lang="en-US" sz="1650" dirty="0">
                <a:solidFill>
                  <a:srgbClr val="8FB3A0"/>
                </a:solidFill>
                <a:latin typeface="Courier New" pitchFamily="34" charset="0"/>
                <a:ea typeface="Courier New" pitchFamily="34" charset="-122"/>
                <a:cs typeface="Courier New" pitchFamily="34" charset="-120"/>
              </a:rPr>
              <a:t># A   = bit 2 of the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srli a1, s0,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a1, a1, 1           </a:t>
            </a:r>
            <a:pPr indent="0" marL="0">
              <a:buNone/>
            </a:pPr>
            <a:r>
              <a:rPr lang="en-US" sz="1650" dirty="0">
                <a:solidFill>
                  <a:srgbClr val="8FB3A0"/>
                </a:solidFill>
                <a:latin typeface="Courier New" pitchFamily="34" charset="0"/>
                <a:ea typeface="Courier New" pitchFamily="34" charset="-122"/>
                <a:cs typeface="Courier New" pitchFamily="34" charset="-120"/>
              </a:rPr>
              <a:t># B   = bit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a2, s0, 1           </a:t>
            </a:r>
            <a:pPr indent="0" marL="0">
              <a:buNone/>
            </a:pPr>
            <a:r>
              <a:rPr lang="en-US" sz="1650" dirty="0">
                <a:solidFill>
                  <a:srgbClr val="8FB3A0"/>
                </a:solidFill>
                <a:latin typeface="Courier New" pitchFamily="34" charset="0"/>
                <a:ea typeface="Courier New" pitchFamily="34" charset="-122"/>
                <a:cs typeface="Courier New" pitchFamily="34" charset="-120"/>
              </a:rPr>
              <a:t># Cin = bit 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full_adder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mv   s1, a3              </a:t>
            </a:r>
            <a:pPr indent="0" marL="0">
              <a:buNone/>
            </a:pPr>
            <a:r>
              <a:rPr lang="en-US" sz="1650" dirty="0">
                <a:solidFill>
                  <a:srgbClr val="8FB3A0"/>
                </a:solidFill>
                <a:latin typeface="Courier New" pitchFamily="34" charset="0"/>
                <a:ea typeface="Courier New" pitchFamily="34" charset="-122"/>
                <a:cs typeface="Courier New" pitchFamily="34" charset="-120"/>
              </a:rPr>
              <a:t># keep S and Cout: they are in a registers,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mv   s2, a4              </a:t>
            </a:r>
            <a:pPr indent="0" marL="0">
              <a:buNone/>
            </a:pPr>
            <a:r>
              <a:rPr lang="en-US" sz="1650" dirty="0">
                <a:solidFill>
                  <a:srgbClr val="8FB3A0"/>
                </a:solidFill>
                <a:latin typeface="Courier New" pitchFamily="34" charset="0"/>
                <a:ea typeface="Courier New" pitchFamily="34" charset="-122"/>
                <a:cs typeface="Courier New" pitchFamily="34" charset="-120"/>
              </a:rPr>
              <a:t># which the next calls destroy</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li   a0, 0               </a:t>
            </a:r>
            <a:pPr indent="0" marL="0">
              <a:buNone/>
            </a:pPr>
            <a:r>
              <a:rPr lang="en-US" sz="1200" dirty="0">
                <a:solidFill>
                  <a:srgbClr val="8FB3A0"/>
                </a:solidFill>
                <a:latin typeface="Courier New" pitchFamily="34" charset="0"/>
                <a:ea typeface="Courier New" pitchFamily="34" charset="-122"/>
                <a:cs typeface="Courier New" pitchFamily="34" charset="-120"/>
              </a:rPr>
              <a:t># column 0: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srli a2,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               </a:t>
            </a:r>
            <a:pPr indent="0" marL="0">
              <a:buNone/>
            </a:pPr>
            <a:r>
              <a:rPr lang="en-US" sz="1200" dirty="0">
                <a:solidFill>
                  <a:srgbClr val="8FB3A0"/>
                </a:solidFill>
                <a:latin typeface="Courier New" pitchFamily="34" charset="0"/>
                <a:ea typeface="Courier New" pitchFamily="34" charset="-122"/>
                <a:cs typeface="Courier New" pitchFamily="34" charset="-120"/>
              </a:rPr>
              <a:t># column 1: 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srli a2,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               </a:t>
            </a:r>
            <a:pPr indent="0" marL="0">
              <a:buNone/>
            </a:pPr>
            <a:r>
              <a:rPr lang="en-US" sz="1200" dirty="0">
                <a:solidFill>
                  <a:srgbClr val="8FB3A0"/>
                </a:solidFill>
                <a:latin typeface="Courier New" pitchFamily="34" charset="0"/>
                <a:ea typeface="Courier New" pitchFamily="34" charset="-122"/>
                <a:cs typeface="Courier New" pitchFamily="34" charset="-120"/>
              </a:rPr>
              <a:t># column 2: Cin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4               </a:t>
            </a:r>
            <a:pPr indent="0" marL="0">
              <a:buNone/>
            </a:pPr>
            <a:r>
              <a:rPr lang="en-US" sz="1200" dirty="0">
                <a:solidFill>
                  <a:srgbClr val="8FB3A0"/>
                </a:solidFill>
                <a:latin typeface="Courier New" pitchFamily="34" charset="0"/>
                <a:ea typeface="Courier New" pitchFamily="34" charset="-122"/>
                <a:cs typeface="Courier New" pitchFamily="34" charset="-120"/>
              </a:rPr>
              <a:t># column 4: 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a2,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CYAN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5               </a:t>
            </a:r>
            <a:pPr indent="0" marL="0">
              <a:buNone/>
            </a:pPr>
            <a:r>
              <a:rPr lang="en-US" sz="1200" dirty="0">
                <a:solidFill>
                  <a:srgbClr val="8FB3A0"/>
                </a:solidFill>
                <a:latin typeface="Courier New" pitchFamily="34" charset="0"/>
                <a:ea typeface="Courier New" pitchFamily="34" charset="-122"/>
                <a:cs typeface="Courier New" pitchFamily="34" charset="-120"/>
              </a:rPr>
              <a:t># column 5: Cout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mv   a2,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CYAN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eight rows, one per combination of A, B and Cin (000 at the top): three lamps for the inputs on the left, then S and Cout on the right. It is the truth table of the full adder.</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l09 --out l09.prg32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l09;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canonical forms P and S of the full adder outputs S and Cout</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Cout with a Karnaugh map of three variables. How many gates do you save?</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F = sum of m(0, 1, 2, 5, 8, 9, 10) with a map of four variables</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NOT, AND and OR using NAND only, and check each with a truth table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the full adder on PRG32 and display S and Cout as lamps for the eight input combinations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Cout = AB + ACin + BCin. On PRG32: eight pairs of lamps that reproduce the truth table of the full adder.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 the code</dc:title>
  <dc:subject>Lecture 09</dc:subject>
  <dc:creator>Raffaele Montella</dc:creator>
  <cp:lastModifiedBy>Raffaele Montella</cp:lastModifiedBy>
  <cp:revision>1</cp:revision>
  <dcterms:created xsi:type="dcterms:W3CDTF">2026-10-16T20:22:24Z</dcterms:created>
  <dcterms:modified xsi:type="dcterms:W3CDTF">2026-10-16T20:22:24Z</dcterms:modified>
</cp:coreProperties>
</file>