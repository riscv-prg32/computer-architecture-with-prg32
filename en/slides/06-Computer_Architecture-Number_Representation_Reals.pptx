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cbb08d6-a9ac-05ce-f1b1-952c985e64a2}">
          <p14:sldIdLst>
            <p14:sldId id="256"/>
            <p14:sldId id="257"/>
          </p14:sldIdLst>
        </p14:section>
        <p14:section name="More encodings for signed integers" id="{7cb7e069-ba5b-9ab6-69e1-a5554dc04523}">
          <p14:sldIdLst>
            <p14:sldId id="258"/>
            <p14:sldId id="259"/>
            <p14:sldId id="260"/>
            <p14:sldId id="261"/>
          </p14:sldIdLst>
        </p14:section>
        <p14:section name="Fixed point" id="{cf97521d-a1fa-c328-d4bb-8bf43b808a81}">
          <p14:sldIdLst>
            <p14:sldId id="262"/>
            <p14:sldId id="263"/>
          </p14:sldIdLst>
        </p14:section>
        <p14:section name="Floating point" id="{c538a583-b572-c93c-de63-e34f6f10e022}">
          <p14:sldIdLst>
            <p14:sldId id="264"/>
            <p14:sldId id="265"/>
            <p14:sldId id="266"/>
            <p14:sldId id="267"/>
            <p14:sldId id="268"/>
            <p14:sldId id="269"/>
          </p14:sldIdLst>
        </p14:section>
        <p14:section name="Back to the machine" id="{d4f13044-3a9c-24c0-174e-cee7508ea1a3}">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lecture treated integers; this one treats numbers with a fractional part. It begins from a concrete engineering problem: a ball must move by less than one pixel per frame, on a processor with no instructions for real numbers. The first solution, fixed point, uses nothing beyond integer arithmetic already understood. Floating point then emerges as the general solution, together with the standard to which essentially every computer conforms, IEEE 754. The lecture is thus organised as a progression from a specific constraint to a general theory, and back to the constraint.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fixed point; one's complement and excess-k; IEEE 754 floating point; the name RV32IMAC. USE NOW: the complete program, the PRG32 tools (used, not studied, in this course). UNDERSTAND LATER: nothing. A slide without a badge is context: a story, an example, a question, an exercise.
Roadmap. Today's outcomes: (1) represent a real number in fixed point and compute with it using integer instructions; (2) decode an IEEE 754 single-precision number; (3) read the name RV32IMAC and say what the kit can and cannot compute in hardware. Builds on: only what Lecture 01 set up. Next: Lecture 07, Verm1, Part 1: A Head That Crosses the World.
For the lecturer: Spiral: the lecture opens with a ball that must move less than one pixel per frame on a processor with no floating-point unit. Fixed point solves it; floating point is then presented as the general answer, with IEEE 754.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outcomes. Two further encodings of signed integers, one's complement and excess-k, complete the previous lecture and are prerequisites for floating point. Fixed-point representation follows, which the course project will use. Then floating point: mantissa, exponent and normalisation, encoding and decoding in single precision, and the special patterns. The final outcome concerns the student's own kit: its processor has no floating-point instructions, and the student should be able to explain what programs do instead,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one's complement a negative number is obtained by inverting every bit of its positive counterpart: 6 is 0110, -6 is 1001. Negation could not be simpler. The cost is that already paid by sign and magnitude: zero has two representations, 0000 and 1111, and the range is symmetric, from -7 to +7 on four bits. The RISC-V instruction not computes precisely the one's complement of a register, and the previous lecture showed that adding 1 to it yields the two's complement.
UNDERSTAND NOW: one's complement and excess-k.
For the lecturer: Also called diminished radix complement (complemento alla base diminuita). The bitwise not of RISC-V computes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 in one's complement uses an ordinary binary adder with one correction: when a carry leaves the most significant position, 1 must be added to the result, an operation known as the end-around carry. The first example requires no correction; in the second and third the outgoing carry is brought round and added. This extra step, together with the double zero, explains why two's complement, in which the outgoing carry is simply discarded, prevailed in the design of arithmetic units.
UNDERSTAND NOW: one's complement and excess-k.
For the lecturer: The source slides call the carry an 'overflow in the arithmetic of positive integers': it is the carry out of the natural-number adder, reinterpreted as the need for a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excess-k representation every number is displaced upwards by a constant: X = x + k. With four bits and k = 8, the pattern 0000 denotes -8, 1000 denotes zero and 1111 denotes +7. Its valuable property is order preservation: a larger number always has a larger pattern, so two signed values can be compared as though they were natural numbers. Arithmetic is less convenient, since every sum must be corrected by subtracting k. This is precisely the encoding of the exponent in floating-point formats, where fast comparison matters more than convenient addition.
UNDERSTAND NOW: one's complement and excess-k.
For the lecturer: Excess-8 on four bits: 0000 = -8, 1000 = 0, 1111 = +7. Compare with two's complement: the same range, with the most significant bit inverted.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of Lecture 05, extended by two columns: the same sixteen patterns read as unsigned, sign and magnitude, one's complement, two's complement and excess-8. Three observations. Sign and magnitude and one's complement each have two zeros, highlighted. Two's complement and excess-8 cover the same range, -8 to +7, and differ only in the leftmost bit. And excess-8 is the only column in which values increase monotonically from the top of the table to the bottom, which is the order-preservation property in visual form.
UNDERSTAND NOW: one's complement and excess-k.
For the lecturer: This table replaces the comparison picture of the source deck ('Numeri relativi: complementi').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fixed point the integer and fractional parts occupy adjacent positions within one word, and the position of the binary point is fixed. It is stored nowhere: it is a convention known to the program. If f bits are reserved for the fraction, the word contains the number multiplied by 2^f, and the smallest representable increment, the resolution, is 2^-f. The notation Qm.f specifies the division of the bits: Q24.8 denotes 24 integer bits and 8 fractional bits. Arithmetic is ordinary integer arithmetic, with rescaling only where a product or quotient requires it.
UNDERSTAND NOW: fixed point.
For the lecturer: Fixed point is how games, audio and control software handle fractions on processors without a floating-point unit. It is also how money should be stored: integer cents.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numbers are dense: between any two there are infinitely many others, so with a finite number of bits most of them cannot be represented, and each is replaced by its nearest representable neighbour. In Q24.8 the number 0.1 becomes 26/256, approximately 0.1016. The error never exceeds half the resolution. A value sufficiently close to zero rounds to zero, which is underflow, and which is why a speed of 0.001 pixels per frame would leave the ball motionless. In fixed point the absolute error bound is the same across the whole range.
UNDERSTAND NOW: fixed point.
For the lecturer: 0.1 x 256 = 25.6, rounded to 26. With SPEED_Q8 = 1 the ball moves 1/256 pixel per frame; a speed of 0.001 pixel per frame underflows to zero and the ball never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number is represented as a pair: a mantissa m and an exponent e, such that x equals m multiplied by the base raised to e. This is the scientific notation of the physics laboratory, and the point "floats" because the exponent determines its position. Since the same number admits infinitely many such pairs, a canonical one is selected by normalisation: the point is placed immediately after the first significant digit, so 346.09801 becomes 3.4609801 with exponent 2. Normalisation guarantees uniqueness and maximises the number of significant digits retained.
UNDERSTAND NOW: IEEE 754 floating point.
For the lecturer: Scientific notation, in other words. Fixed point spends its bits on a fixed range; floating point spends some bits to say where the range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floating point the spacing between consecutive representable numbers is not uniform: it is very fine near zero and coarse near the upper limit of the range. The absolute error therefore grows with the magnitude of the number. What remains approximately constant is the relative error, because every number carries the same number of significant digits, four in this example. Fixed point exhibits the opposite behaviour: constant absolute error, with relative error that becomes large near zero. The choice between the two is a choice of which error matters for the application.
UNDERSTAND NOW: IEEE 754 floating point.
For the lecturer: This is the opposite of fixed point, where the absolute error is constant and the relative error explodes near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IEEE 754 single-precision format divides 32 bits into three fields: one sign bit, eight exponent bits and twenty-three fraction bits, with the value given by the formula in the centre. Two design decisions deserve attention. A normalised binary mantissa always begins with 1, so that bit need not be stored: it is the hidden bit, which yields one additional bit of precision at no cost. And the exponent is stored in excess-127, the encoding of the previous section, so that floating-point numbers of the same sign can be compared as natural numbers.
UNDERSTAND NOW: IEEE 754 floating point.
For the lecturer: IEEE 754 dates from 1985 (revised 2008 and 2019). Before it, every manufacturer had its own format and programs gave different results on different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complete worked example: -5.125. The integer and fractional parts are converted separately: 5 is 101 and 0.125 is 0.001, so the number is 101.001. Normalisation moves the point two places: 1.01001 times 2^2. The sign bit is 1. The exponent field is 2 + 127 = 129, that is, 1000 0001. The fraction field is 01001 followed by zeros, without the leading 1. Concatenating the three fields and regrouping by four bits gives 0xC0A40000. The example should be reproduced on paper and then repeated with a number of one's own choosing.
UNDERSTAND NOW: IEEE 754 floating point.
For the lecturer: Check the regrouping in nibbles: 1100 = C, 0000 = 0, 1010 = A, 0100 = 4, then zeros. Three slides of the source deck are merged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and double precision compared. Double precision uses 64 bits, with 11 exponent bits in excess-1023 and 52 fraction bits. Two rows are worth retaining as orders of magnitude: single precision provides about 7 significant decimal digits and a range reaching about 10^38; double precision about 16 digits and a range reaching about 10^308. The C types float and double correspond to these two formats on essentially every modern platform.
UNDERSTAND NOW: IEEE 754 floating point.
For the lecturer: Corrections to the source table: the double-precision exponent is in excess-1023 (not 1024), and the decimal ranges are about 10^38 and 10^308.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pattern encodes an ordinary number. An exponent field strictly between its extremes denotes a normalised number. An exponent of all zeros denotes zero, if the fraction is also zero, or a denormalised number, which fills the gap around zero with gradually decreasing precision. An exponent of all ones denotes infinity, if the fraction is zero, or NaN, "not a number", the result of an invalid operation such as zero divided by zero. Two consequences are counter-intuitive and worth noting: there are two zeros, positive and negative, and NaN compares unequal to everything, itself included.
UNDERSTAND NOW: IEEE 754 floating point.
For the lecturer: Denormalised (subnormal) numbers fill the underflow gap around zero with gradually decreasing precision. 1/0 gives infinity; 0/0 and the square root of -1 give NaN. NaN is not equal to anything, itself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RISC-V supports floating point through two optional extensions, F for single precision and D for double, which add thirty-two registers, f0 to f31, and instructions such as fadd.s. The processor of the kit, RV32IMAC, implements neither. A C program may still use float, but each operation is then compiled into a call to a software routine costing tens or hundreds of integer instructions. This is why PRG32 games use integers and fixed point: they are fast, sufficiently precise for the purpose, and transparent in the debugger.
UNDERSTAND NOW: IEEE 754 floating point.
For the lecturer: The software routines implement exactly the algorithm of this lecture with shifts, masks and integer additions: a good reading exercise for the end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name RV32IMAC can now be read letter by letter. RV32I is the base: 32-bit registers and the integer instructions. M adds multiplication and division. A adds atomic instructions, for safe sharing of data among concurrent tasks. C adds compressed, 16-bit encodings of the most frequent instructions. F and D, the floating-point extensions, are absent. This modularity is a central design principle of RISC-V: a small mandatory base and optional extensions, so that the same architecture can serve an inexpensive microcontroller and a supercomputer.
UNDERSTAND NOW: the name RV32IMAC.
For the lecturer: RISC-V is modular: a small mandatory base plus optional extensions. A microcontroller picks what it needs; this is one reason the same architecture scales from a two-euro chip to a supercomputer.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one should consider what each encoding does to ordering. In sign and magnitude and in both complements, negative numbers have a leftmost 1 and therefore, read as patterns, follow the positive ones. Only an encoding that adds a constant to every number preserves the order.
For the second, Q24.8 means that the word contains the number multiplied by 256. 0x180 is read as an integer and divided by 256; alternatively it is split directly into integer part 0x01 and fraction 0x80, that is, 128/256.
For the lecturer: 1. Answer: D. In excess-k, X = x + k: a larger number always has a larger pattern. This is why it encodes floating-point exponents, which must be compared quickly.
2. Answer: B. 0x180 = 384; 384 / 256 = 1.5. Integer part 0x01, fraction 0x80 = 128/256 =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the leading hexadecimal digits are written in binary and the fields separated: one sign bit, eight exponent bits, then the fraction. The bias of 127 is subtracted from the exponent, and the hidden 1 restored in front of the fraction.
For the second, the table of special patterns should be consulted. An exponent of all ones is reserved; the question is which of its two cases has a fraction of all zeros.
For the lecturer: 1. Answer: B. 0100 0000 0100 0000 ...: S = 0, E = 1000 0000 = 128, F = 100...: 1.1 (binary) x 2^(128-127) = 1.5 x 2 = 3.0.
2. Answer: C. All ones in the exponent: infinity if the fraction is zero, NaN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terms. In Italian the decimal separator is the comma, so fixed point and floating point become virgola fissa and virgola mobile. Mantissa is the traditional term for the significant digits; the standard calls the stored part the fraction. The hidden bit is the leading 1 that is not stored. Denormalised numbers are also termed subnormal.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Integers admit several representations, chosen according to use. Fixed point stores a fraction as a scaled integer, with constant absolute error and the speed of integer arithmetic. Floating point stores mantissa and exponent, with an enormous range and approximately constant relative error. IEEE 754 is the universal standard, with special patterns for zero, infinity and NaN. On a processor lacking the F extension, fixed point is the natural choice. The next lecture is the first part of Verm1, in which the content of the last four lectures is put to work.
Learning status, recap. UNDERSTAND NOW: fixed point; one's complement and excess-k; IEEE 754 floating point; the name RV32IMAC. USE NOW: the complete program, the PRG32 tools (used, not studied, in this course). UNDERSTAND LATER: nothing. A slide without a badge is context: a story, an example, a question, an exercise. Closing thread: Without an F extension, fractions are integers with an agreed scale: Verm1 will move its head by fractions of a cell exactly this way. Next: the first part of the project. Exit ticket (two to four minutes, alone, on paper): 1. Read RV32IMAC letter by letter. A student writes fmul.s in a cartridge for the kit: what happens, and why does Verm1 move with fixed-point numbers? 2. In Q24.8, which real number does the word 0x00000180 represent? How do you add two Q24.8 numbers, and how do you multiply them?
For the lecturer: Next: Verm1, part 1, where the first four lectures go to work in a real program. Then Boolean algebra.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06: Number representation (reals)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06</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Number Representation: Real Numbers</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200" dirty="0">
                <a:solidFill>
                  <a:srgbClr val="CFE3EA"/>
                </a:solidFill>
                <a:latin typeface="Calibri" pitchFamily="34" charset="0"/>
                <a:ea typeface="Calibri" pitchFamily="34" charset="-122"/>
                <a:cs typeface="Calibri" pitchFamily="34" charset="-120"/>
              </a:rPr>
              <a:t>One's complement, excess-k, fixed point and IEEE 754 floating point</a:t>
            </a:r>
            <a:endParaRPr lang="en-US" sz="22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“I may count for little, it's true, said the One to the Zero, but what are you worth? Nothing: nothing at all.”</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Trilussa, Nummeri, 1944</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06-Computer_Architecture-Number_Representation_Reals-Lab.pptx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raycaster.png">    </p:cNvPr>
          <p:cNvPicPr>
            <a:picLocks noChangeAspect="1"/>
          </p:cNvPicPr>
          <p:nvPr/>
        </p:nvPicPr>
        <p:blipFill>
          <a:blip r:embed="rId1"/>
          <a:stretch>
            <a:fillRect/>
          </a:stretch>
        </p:blipFill>
        <p:spPr>
          <a:xfrm>
            <a:off x="8915095" y="4251960"/>
            <a:ext cx="2438400" cy="182880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Encode signed integers in one's complement and in excess-k, and say what each is good for</a:t>
            </a:r>
            <a:endParaRPr lang="en-US" sz="2200" dirty="0"/>
          </a:p>
        </p:txBody>
      </p:sp>
      <p:sp>
        <p:nvSpPr>
          <p:cNvPr id="5" name="Text 3"/>
          <p:cNvSpPr txBox="1"/>
          <p:nvPr/>
        </p:nvSpPr>
        <p:spPr>
          <a:xfrm>
            <a:off x="548640" y="2395931"/>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77643"/>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Represent a fractional quantity in fixed point and compute with it using integer instructions</a:t>
            </a:r>
            <a:endParaRPr lang="en-US" sz="2200" dirty="0"/>
          </a:p>
        </p:txBody>
      </p:sp>
      <p:sp>
        <p:nvSpPr>
          <p:cNvPr id="7" name="Text 5"/>
          <p:cNvSpPr txBox="1"/>
          <p:nvPr/>
        </p:nvSpPr>
        <p:spPr>
          <a:xfrm>
            <a:off x="548640" y="335625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33796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mantissa, exponent and normalisation in floating point</a:t>
            </a:r>
            <a:endParaRPr lang="en-US" sz="2200" dirty="0"/>
          </a:p>
        </p:txBody>
      </p:sp>
      <p:sp>
        <p:nvSpPr>
          <p:cNvPr id="9" name="Text 7"/>
          <p:cNvSpPr txBox="1"/>
          <p:nvPr/>
        </p:nvSpPr>
        <p:spPr>
          <a:xfrm>
            <a:off x="548640" y="407375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05546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Encode and decode a number in IEEE 754 single precision</a:t>
            </a:r>
            <a:endParaRPr lang="en-US" sz="2200" dirty="0"/>
          </a:p>
        </p:txBody>
      </p:sp>
      <p:sp>
        <p:nvSpPr>
          <p:cNvPr id="11" name="Text 9"/>
          <p:cNvSpPr txBox="1"/>
          <p:nvPr/>
        </p:nvSpPr>
        <p:spPr>
          <a:xfrm>
            <a:off x="548640" y="479125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772965"/>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Recognise zero, denormalised numbers, infinity and NaN</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Say why the ESP32-C6 has no floating-point instructions and what PRG32 games do instead</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One's complement</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Non-negative numbers, 0 &lt;= x &lt; 2^(n-1), are represented by themselves: X = x</a:t>
            </a:r>
            <a:endParaRPr lang="en-US" sz="2200" dirty="0"/>
          </a:p>
        </p:txBody>
      </p:sp>
      <p:sp>
        <p:nvSpPr>
          <p:cNvPr id="5" name="Shape 3"/>
          <p:cNvSpPr/>
          <p:nvPr/>
        </p:nvSpPr>
        <p:spPr>
          <a:xfrm>
            <a:off x="548640" y="238569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7926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Negative numbers are represented by X = 2^n - 1 - |x|</a:t>
            </a:r>
            <a:endParaRPr lang="en-US" sz="2200" dirty="0"/>
          </a:p>
        </p:txBody>
      </p:sp>
      <p:sp>
        <p:nvSpPr>
          <p:cNvPr id="7" name="Shape 5"/>
          <p:cNvSpPr/>
          <p:nvPr/>
        </p:nvSpPr>
        <p:spPr>
          <a:xfrm>
            <a:off x="548640" y="324764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41218"/>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Range: from -(2^(n-1) - 1) to +(2^(n-1) - 1)</a:t>
            </a:r>
            <a:endParaRPr lang="en-US" sz="2200" dirty="0"/>
          </a:p>
        </p:txBody>
      </p:sp>
      <p:sp>
        <p:nvSpPr>
          <p:cNvPr id="9" name="Shape 7"/>
          <p:cNvSpPr/>
          <p:nvPr/>
        </p:nvSpPr>
        <p:spPr>
          <a:xfrm>
            <a:off x="548640" y="376872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662299"/>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Zero has two representations, 0000 and 1111: 2^n - 1 numbers are represented, as in sign and magnitude</a:t>
            </a:r>
            <a:endParaRPr lang="en-US" sz="2200" dirty="0"/>
          </a:p>
        </p:txBody>
      </p:sp>
      <p:sp>
        <p:nvSpPr>
          <p:cNvPr id="11" name="Shape 9"/>
          <p:cNvSpPr/>
          <p:nvPr/>
        </p:nvSpPr>
        <p:spPr>
          <a:xfrm>
            <a:off x="548640" y="497154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865116"/>
            <a:ext cx="656539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Why use it? Negating is trivial: complement every bit</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6 = 0110 and -6 = 1001; 5 = 0101 and -5 = 1010; 1 = 0001 and -1 = 1110</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-x = not x</a:t>
            </a:r>
            <a:endParaRPr lang="en-US" sz="5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one's complement of a number is obtained by inverting all its bits</a:t>
            </a:r>
            <a:endParaRPr lang="en-US" sz="1900" dirty="0"/>
          </a:p>
        </p:txBody>
      </p:sp>
      <p:sp>
        <p:nvSpPr>
          <p:cNvPr id="16" name="Shape 14"/>
          <p:cNvSpPr/>
          <p:nvPr/>
        </p:nvSpPr>
        <p:spPr>
          <a:xfrm>
            <a:off x="7762443" y="91440"/>
            <a:ext cx="3880612" cy="274320"/>
          </a:xfrm>
          <a:prstGeom prst="rect">
            <a:avLst/>
          </a:prstGeom>
          <a:solidFill>
            <a:srgbClr val="E0F2FE"/>
          </a:solidFill>
          <a:ln w="12700">
            <a:solidFill>
              <a:srgbClr val="0369A1"/>
            </a:solidFill>
            <a:prstDash val="solid"/>
          </a:ln>
        </p:spPr>
      </p:sp>
      <p:sp>
        <p:nvSpPr>
          <p:cNvPr id="17" name="Shape 15"/>
          <p:cNvSpPr/>
          <p:nvPr/>
        </p:nvSpPr>
        <p:spPr>
          <a:xfrm>
            <a:off x="7762443"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7890459" y="128016"/>
            <a:ext cx="201168" cy="201168"/>
          </a:xfrm>
          <a:prstGeom prst="rect">
            <a:avLst/>
          </a:prstGeom>
        </p:spPr>
      </p:pic>
      <p:sp>
        <p:nvSpPr>
          <p:cNvPr id="19" name="Text 16"/>
          <p:cNvSpPr txBox="1"/>
          <p:nvPr/>
        </p:nvSpPr>
        <p:spPr>
          <a:xfrm>
            <a:off x="8146491" y="91440"/>
            <a:ext cx="345998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one's complement and excess-k</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Arithmetic in one's complement</a:t>
            </a:r>
            <a:endParaRPr lang="en-US" sz="3200" dirty="0"/>
          </a:p>
        </p:txBody>
      </p:sp>
      <p:sp>
        <p:nvSpPr>
          <p:cNvPr id="3" name="Shape 1"/>
          <p:cNvSpPr/>
          <p:nvPr/>
        </p:nvSpPr>
        <p:spPr>
          <a:xfrm>
            <a:off x="548640" y="1463040"/>
            <a:ext cx="351525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31520" y="1554480"/>
            <a:ext cx="3149498" cy="32004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No correction</a:t>
            </a:r>
            <a:endParaRPr lang="en-US" sz="1400" dirty="0"/>
          </a:p>
        </p:txBody>
      </p:sp>
      <p:sp>
        <p:nvSpPr>
          <p:cNvPr id="5" name="Text 3"/>
          <p:cNvSpPr txBox="1"/>
          <p:nvPr/>
        </p:nvSpPr>
        <p:spPr>
          <a:xfrm>
            <a:off x="731520" y="1920240"/>
            <a:ext cx="1054578" cy="1280160"/>
          </a:xfrm>
          <a:prstGeom prst="rect">
            <a:avLst/>
          </a:prstGeom>
          <a:noFill/>
          <a:ln/>
        </p:spPr>
        <p:txBody>
          <a:bodyPr wrap="square" lIns="0" tIns="0" rIns="0" bIns="0" rtlCol="0" anchor="t"/>
          <a:lstStyle/>
          <a:p>
            <a:pPr algn="r" indent="0" marL="0">
              <a:buNone/>
            </a:pPr>
            <a:r>
              <a:rPr lang="en-US" sz="1500" dirty="0">
                <a:solidFill>
                  <a:srgbClr val="5B6B78"/>
                </a:solidFill>
                <a:latin typeface="Courier New" pitchFamily="34" charset="0"/>
                <a:ea typeface="Courier New" pitchFamily="34" charset="-122"/>
                <a:cs typeface="Courier New" pitchFamily="34" charset="-120"/>
              </a:rPr>
              <a:t>3 +</a:t>
            </a:r>
            <a:endParaRPr lang="en-US" sz="1500" dirty="0"/>
          </a:p>
          <a:p>
            <a:pPr algn="r" indent="0" marL="0">
              <a:buNone/>
            </a:pPr>
            <a:r>
              <a:rPr lang="en-US" sz="1500" dirty="0">
                <a:solidFill>
                  <a:srgbClr val="5B6B78"/>
                </a:solidFill>
                <a:latin typeface="Courier New" pitchFamily="34" charset="0"/>
                <a:ea typeface="Courier New" pitchFamily="34" charset="-122"/>
                <a:cs typeface="Courier New" pitchFamily="34" charset="-120"/>
              </a:rPr>
              <a:t>-4 =</a:t>
            </a:r>
            <a:endParaRPr lang="en-US" sz="1500" dirty="0"/>
          </a:p>
          <a:p>
            <a:pPr algn="r" indent="0" marL="0">
              <a:buNone/>
            </a:pPr>
            <a:r>
              <a:rPr lang="en-US" sz="1500" dirty="0">
                <a:solidFill>
                  <a:srgbClr val="5B6B78"/>
                </a:solidFill>
                <a:latin typeface="Courier New" pitchFamily="34" charset="0"/>
                <a:ea typeface="Courier New" pitchFamily="34" charset="-122"/>
                <a:cs typeface="Courier New" pitchFamily="34" charset="-120"/>
              </a:rPr>
              <a:t>-1</a:t>
            </a:r>
            <a:endParaRPr lang="en-US" sz="1500" dirty="0"/>
          </a:p>
        </p:txBody>
      </p:sp>
      <p:sp>
        <p:nvSpPr>
          <p:cNvPr id="6" name="Text 4"/>
          <p:cNvSpPr txBox="1"/>
          <p:nvPr/>
        </p:nvSpPr>
        <p:spPr>
          <a:xfrm>
            <a:off x="1814133" y="1920240"/>
            <a:ext cx="2021165" cy="1280160"/>
          </a:xfrm>
          <a:prstGeom prst="rect">
            <a:avLst/>
          </a:prstGeom>
          <a:noFill/>
          <a:ln/>
        </p:spPr>
        <p:txBody>
          <a:bodyPr wrap="square" lIns="0" tIns="0" rIns="0" bIns="0" rtlCol="0" anchor="t"/>
          <a:lstStyle/>
          <a:p>
            <a:pPr algn="r" indent="0" marL="0">
              <a:buNone/>
            </a:pPr>
            <a:r>
              <a:rPr lang="en-US" sz="1500" b="1" dirty="0">
                <a:solidFill>
                  <a:srgbClr val="1B2530"/>
                </a:solidFill>
                <a:latin typeface="Courier New" pitchFamily="34" charset="0"/>
                <a:ea typeface="Courier New" pitchFamily="34" charset="-122"/>
                <a:cs typeface="Courier New" pitchFamily="34" charset="-120"/>
              </a:rPr>
              <a:t>0011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1011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1110</a:t>
            </a:r>
            <a:endParaRPr lang="en-US" sz="1500" dirty="0"/>
          </a:p>
        </p:txBody>
      </p:sp>
      <p:sp>
        <p:nvSpPr>
          <p:cNvPr id="7" name="Text 5"/>
          <p:cNvSpPr txBox="1"/>
          <p:nvPr/>
        </p:nvSpPr>
        <p:spPr>
          <a:xfrm>
            <a:off x="731520" y="3246120"/>
            <a:ext cx="3149498" cy="411480"/>
          </a:xfrm>
          <a:prstGeom prst="rect">
            <a:avLst/>
          </a:prstGeom>
          <a:noFill/>
          <a:ln/>
        </p:spPr>
        <p:txBody>
          <a:bodyPr wrap="square" lIns="0" tIns="0" rIns="0" bIns="0" rtlCol="0" anchor="ctr"/>
          <a:lstStyle/>
          <a:p>
            <a:pPr indent="0" marL="0">
              <a:buNone/>
            </a:pPr>
            <a:r>
              <a:rPr lang="en-US" sz="1250" i="1" dirty="0">
                <a:solidFill>
                  <a:srgbClr val="5B6B78"/>
                </a:solidFill>
                <a:latin typeface="Calibri" pitchFamily="34" charset="0"/>
                <a:ea typeface="Calibri" pitchFamily="34" charset="-122"/>
                <a:cs typeface="Calibri" pitchFamily="34" charset="-120"/>
              </a:rPr>
              <a:t>no carry out: the result is right</a:t>
            </a:r>
            <a:endParaRPr lang="en-US" sz="1250" dirty="0"/>
          </a:p>
        </p:txBody>
      </p:sp>
      <p:sp>
        <p:nvSpPr>
          <p:cNvPr id="8" name="Shape 6"/>
          <p:cNvSpPr/>
          <p:nvPr/>
        </p:nvSpPr>
        <p:spPr>
          <a:xfrm>
            <a:off x="4338218" y="1463040"/>
            <a:ext cx="3515258" cy="2240280"/>
          </a:xfrm>
          <a:prstGeom prst="roundRect">
            <a:avLst>
              <a:gd name="adj" fmla="val 3265"/>
            </a:avLst>
          </a:prstGeom>
          <a:solidFill>
            <a:srgbClr val="EEF2F4"/>
          </a:solidFill>
          <a:ln w="12700">
            <a:solidFill>
              <a:srgbClr val="EEF2F4"/>
            </a:solidFill>
            <a:prstDash val="solid"/>
          </a:ln>
        </p:spPr>
      </p:sp>
      <p:sp>
        <p:nvSpPr>
          <p:cNvPr id="9" name="Text 7"/>
          <p:cNvSpPr txBox="1"/>
          <p:nvPr/>
        </p:nvSpPr>
        <p:spPr>
          <a:xfrm>
            <a:off x="4521098" y="1554480"/>
            <a:ext cx="3149498" cy="32004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Two negatives</a:t>
            </a:r>
            <a:endParaRPr lang="en-US" sz="1400" dirty="0"/>
          </a:p>
        </p:txBody>
      </p:sp>
      <p:sp>
        <p:nvSpPr>
          <p:cNvPr id="10" name="Text 8"/>
          <p:cNvSpPr txBox="1"/>
          <p:nvPr/>
        </p:nvSpPr>
        <p:spPr>
          <a:xfrm>
            <a:off x="4521098" y="1920240"/>
            <a:ext cx="1054578" cy="1280160"/>
          </a:xfrm>
          <a:prstGeom prst="rect">
            <a:avLst/>
          </a:prstGeom>
          <a:noFill/>
          <a:ln/>
        </p:spPr>
        <p:txBody>
          <a:bodyPr wrap="square" lIns="0" tIns="0" rIns="0" bIns="0" rtlCol="0" anchor="t"/>
          <a:lstStyle/>
          <a:p>
            <a:pPr algn="r" indent="0" marL="0">
              <a:buNone/>
            </a:pPr>
            <a:r>
              <a:rPr lang="en-US" sz="1500" dirty="0">
                <a:solidFill>
                  <a:srgbClr val="5B6B78"/>
                </a:solidFill>
                <a:latin typeface="Courier New" pitchFamily="34" charset="0"/>
                <a:ea typeface="Courier New" pitchFamily="34" charset="-122"/>
                <a:cs typeface="Courier New" pitchFamily="34" charset="-120"/>
              </a:rPr>
              <a:t>-2 +</a:t>
            </a:r>
            <a:endParaRPr lang="en-US" sz="1500" dirty="0"/>
          </a:p>
          <a:p>
            <a:pPr algn="r" indent="0" marL="0">
              <a:buNone/>
            </a:pPr>
            <a:r>
              <a:rPr lang="en-US" sz="1500" dirty="0">
                <a:solidFill>
                  <a:srgbClr val="5B6B78"/>
                </a:solidFill>
                <a:latin typeface="Courier New" pitchFamily="34" charset="0"/>
                <a:ea typeface="Courier New" pitchFamily="34" charset="-122"/>
                <a:cs typeface="Courier New" pitchFamily="34" charset="-120"/>
              </a:rPr>
              <a:t>-3 =</a:t>
            </a:r>
            <a:endParaRPr lang="en-US" sz="1500" dirty="0"/>
          </a:p>
          <a:p>
            <a:pPr algn="r" indent="0" marL="0">
              <a:buNone/>
            </a:pPr>
            <a:endParaRPr lang="en-US" sz="1500" dirty="0"/>
          </a:p>
          <a:p>
            <a:pPr algn="r" indent="0" marL="0">
              <a:buNone/>
            </a:pPr>
            <a:r>
              <a:rPr lang="en-US" sz="1500" dirty="0">
                <a:solidFill>
                  <a:srgbClr val="5B6B78"/>
                </a:solidFill>
                <a:latin typeface="Courier New" pitchFamily="34" charset="0"/>
                <a:ea typeface="Courier New" pitchFamily="34" charset="-122"/>
                <a:cs typeface="Courier New" pitchFamily="34" charset="-120"/>
              </a:rPr>
              <a:t>-5</a:t>
            </a:r>
            <a:endParaRPr lang="en-US" sz="1500" dirty="0"/>
          </a:p>
        </p:txBody>
      </p:sp>
      <p:sp>
        <p:nvSpPr>
          <p:cNvPr id="11" name="Text 9"/>
          <p:cNvSpPr txBox="1"/>
          <p:nvPr/>
        </p:nvSpPr>
        <p:spPr>
          <a:xfrm>
            <a:off x="5603711" y="1920240"/>
            <a:ext cx="2021165" cy="1280160"/>
          </a:xfrm>
          <a:prstGeom prst="rect">
            <a:avLst/>
          </a:prstGeom>
          <a:noFill/>
          <a:ln/>
        </p:spPr>
        <p:txBody>
          <a:bodyPr wrap="square" lIns="0" tIns="0" rIns="0" bIns="0" rtlCol="0" anchor="t"/>
          <a:lstStyle/>
          <a:p>
            <a:pPr algn="r" indent="0" marL="0">
              <a:buNone/>
            </a:pPr>
            <a:r>
              <a:rPr lang="en-US" sz="1500" b="1" dirty="0">
                <a:solidFill>
                  <a:srgbClr val="1B2530"/>
                </a:solidFill>
                <a:latin typeface="Courier New" pitchFamily="34" charset="0"/>
                <a:ea typeface="Courier New" pitchFamily="34" charset="-122"/>
                <a:cs typeface="Courier New" pitchFamily="34" charset="-120"/>
              </a:rPr>
              <a:t>1101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1100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 1001 + 1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1010</a:t>
            </a:r>
            <a:endParaRPr lang="en-US" sz="1500" dirty="0"/>
          </a:p>
        </p:txBody>
      </p:sp>
      <p:sp>
        <p:nvSpPr>
          <p:cNvPr id="12" name="Text 10"/>
          <p:cNvSpPr txBox="1"/>
          <p:nvPr/>
        </p:nvSpPr>
        <p:spPr>
          <a:xfrm>
            <a:off x="4521098" y="3246120"/>
            <a:ext cx="3149498" cy="411480"/>
          </a:xfrm>
          <a:prstGeom prst="rect">
            <a:avLst/>
          </a:prstGeom>
          <a:noFill/>
          <a:ln/>
        </p:spPr>
        <p:txBody>
          <a:bodyPr wrap="square" lIns="0" tIns="0" rIns="0" bIns="0" rtlCol="0" anchor="ctr"/>
          <a:lstStyle/>
          <a:p>
            <a:pPr indent="0" marL="0">
              <a:buNone/>
            </a:pPr>
            <a:r>
              <a:rPr lang="en-US" sz="1250" i="1" dirty="0">
                <a:solidFill>
                  <a:srgbClr val="B23A48"/>
                </a:solidFill>
                <a:latin typeface="Calibri" pitchFamily="34" charset="0"/>
                <a:ea typeface="Calibri" pitchFamily="34" charset="-122"/>
                <a:cs typeface="Calibri" pitchFamily="34" charset="-120"/>
              </a:rPr>
              <a:t>carry out: add it back</a:t>
            </a:r>
            <a:endParaRPr lang="en-US" sz="1250" dirty="0"/>
          </a:p>
        </p:txBody>
      </p:sp>
      <p:sp>
        <p:nvSpPr>
          <p:cNvPr id="13" name="Shape 11"/>
          <p:cNvSpPr/>
          <p:nvPr/>
        </p:nvSpPr>
        <p:spPr>
          <a:xfrm>
            <a:off x="8127797" y="1463040"/>
            <a:ext cx="3515258" cy="2240280"/>
          </a:xfrm>
          <a:prstGeom prst="roundRect">
            <a:avLst>
              <a:gd name="adj" fmla="val 3265"/>
            </a:avLst>
          </a:prstGeom>
          <a:solidFill>
            <a:srgbClr val="EEF2F4"/>
          </a:solidFill>
          <a:ln w="12700">
            <a:solidFill>
              <a:srgbClr val="EEF2F4"/>
            </a:solidFill>
            <a:prstDash val="solid"/>
          </a:ln>
        </p:spPr>
      </p:sp>
      <p:sp>
        <p:nvSpPr>
          <p:cNvPr id="14" name="Text 12"/>
          <p:cNvSpPr txBox="1"/>
          <p:nvPr/>
        </p:nvSpPr>
        <p:spPr>
          <a:xfrm>
            <a:off x="8310677" y="1554480"/>
            <a:ext cx="3149498" cy="320040"/>
          </a:xfrm>
          <a:prstGeom prst="rect">
            <a:avLst/>
          </a:prstGeom>
          <a:noFill/>
          <a:ln/>
        </p:spPr>
        <p:txBody>
          <a:bodyPr wrap="square" lIns="0" tIns="0" rIns="0" bIns="0" rtlCol="0" anchor="t"/>
          <a:lstStyle/>
          <a:p>
            <a:pPr indent="0" marL="0">
              <a:buNone/>
            </a:pPr>
            <a:r>
              <a:rPr lang="en-US" sz="1400" b="1" dirty="0">
                <a:solidFill>
                  <a:srgbClr val="B23A48"/>
                </a:solidFill>
                <a:latin typeface="Calibri" pitchFamily="34" charset="0"/>
                <a:ea typeface="Calibri" pitchFamily="34" charset="-122"/>
                <a:cs typeface="Calibri" pitchFamily="34" charset="-120"/>
              </a:rPr>
              <a:t>Positive result</a:t>
            </a:r>
            <a:endParaRPr lang="en-US" sz="1400" dirty="0"/>
          </a:p>
        </p:txBody>
      </p:sp>
      <p:sp>
        <p:nvSpPr>
          <p:cNvPr id="15" name="Text 13"/>
          <p:cNvSpPr txBox="1"/>
          <p:nvPr/>
        </p:nvSpPr>
        <p:spPr>
          <a:xfrm>
            <a:off x="8310677" y="1920240"/>
            <a:ext cx="1054578" cy="1280160"/>
          </a:xfrm>
          <a:prstGeom prst="rect">
            <a:avLst/>
          </a:prstGeom>
          <a:noFill/>
          <a:ln/>
        </p:spPr>
        <p:txBody>
          <a:bodyPr wrap="square" lIns="0" tIns="0" rIns="0" bIns="0" rtlCol="0" anchor="t"/>
          <a:lstStyle/>
          <a:p>
            <a:pPr algn="r" indent="0" marL="0">
              <a:buNone/>
            </a:pPr>
            <a:r>
              <a:rPr lang="en-US" sz="1500" dirty="0">
                <a:solidFill>
                  <a:srgbClr val="5B6B78"/>
                </a:solidFill>
                <a:latin typeface="Courier New" pitchFamily="34" charset="0"/>
                <a:ea typeface="Courier New" pitchFamily="34" charset="-122"/>
                <a:cs typeface="Courier New" pitchFamily="34" charset="-120"/>
              </a:rPr>
              <a:t>5 +</a:t>
            </a:r>
            <a:endParaRPr lang="en-US" sz="1500" dirty="0"/>
          </a:p>
          <a:p>
            <a:pPr algn="r" indent="0" marL="0">
              <a:buNone/>
            </a:pPr>
            <a:r>
              <a:rPr lang="en-US" sz="1500" dirty="0">
                <a:solidFill>
                  <a:srgbClr val="5B6B78"/>
                </a:solidFill>
                <a:latin typeface="Courier New" pitchFamily="34" charset="0"/>
                <a:ea typeface="Courier New" pitchFamily="34" charset="-122"/>
                <a:cs typeface="Courier New" pitchFamily="34" charset="-120"/>
              </a:rPr>
              <a:t>-2 =</a:t>
            </a:r>
            <a:endParaRPr lang="en-US" sz="1500" dirty="0"/>
          </a:p>
          <a:p>
            <a:pPr algn="r" indent="0" marL="0">
              <a:buNone/>
            </a:pPr>
            <a:endParaRPr lang="en-US" sz="1500" dirty="0"/>
          </a:p>
          <a:p>
            <a:pPr algn="r" indent="0" marL="0">
              <a:buNone/>
            </a:pPr>
            <a:r>
              <a:rPr lang="en-US" sz="1500" dirty="0">
                <a:solidFill>
                  <a:srgbClr val="5B6B78"/>
                </a:solidFill>
                <a:latin typeface="Courier New" pitchFamily="34" charset="0"/>
                <a:ea typeface="Courier New" pitchFamily="34" charset="-122"/>
                <a:cs typeface="Courier New" pitchFamily="34" charset="-120"/>
              </a:rPr>
              <a:t>3</a:t>
            </a:r>
            <a:endParaRPr lang="en-US" sz="1500" dirty="0"/>
          </a:p>
        </p:txBody>
      </p:sp>
      <p:sp>
        <p:nvSpPr>
          <p:cNvPr id="16" name="Text 14"/>
          <p:cNvSpPr txBox="1"/>
          <p:nvPr/>
        </p:nvSpPr>
        <p:spPr>
          <a:xfrm>
            <a:off x="9393290" y="1920240"/>
            <a:ext cx="2021165" cy="1280160"/>
          </a:xfrm>
          <a:prstGeom prst="rect">
            <a:avLst/>
          </a:prstGeom>
          <a:noFill/>
          <a:ln/>
        </p:spPr>
        <p:txBody>
          <a:bodyPr wrap="square" lIns="0" tIns="0" rIns="0" bIns="0" rtlCol="0" anchor="t"/>
          <a:lstStyle/>
          <a:p>
            <a:pPr algn="r" indent="0" marL="0">
              <a:buNone/>
            </a:pPr>
            <a:r>
              <a:rPr lang="en-US" sz="1500" b="1" dirty="0">
                <a:solidFill>
                  <a:srgbClr val="1B2530"/>
                </a:solidFill>
                <a:latin typeface="Courier New" pitchFamily="34" charset="0"/>
                <a:ea typeface="Courier New" pitchFamily="34" charset="-122"/>
                <a:cs typeface="Courier New" pitchFamily="34" charset="-120"/>
              </a:rPr>
              <a:t>0101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1101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1 0010 + 1 =</a:t>
            </a:r>
            <a:endParaRPr lang="en-US" sz="1500" dirty="0"/>
          </a:p>
          <a:p>
            <a:pPr algn="r" indent="0" marL="0">
              <a:buNone/>
            </a:pPr>
            <a:r>
              <a:rPr lang="en-US" sz="1500" b="1" dirty="0">
                <a:solidFill>
                  <a:srgbClr val="1B2530"/>
                </a:solidFill>
                <a:latin typeface="Courier New" pitchFamily="34" charset="0"/>
                <a:ea typeface="Courier New" pitchFamily="34" charset="-122"/>
                <a:cs typeface="Courier New" pitchFamily="34" charset="-120"/>
              </a:rPr>
              <a:t>0011</a:t>
            </a:r>
            <a:endParaRPr lang="en-US" sz="1500" dirty="0"/>
          </a:p>
        </p:txBody>
      </p:sp>
      <p:sp>
        <p:nvSpPr>
          <p:cNvPr id="17" name="Text 15"/>
          <p:cNvSpPr txBox="1"/>
          <p:nvPr/>
        </p:nvSpPr>
        <p:spPr>
          <a:xfrm>
            <a:off x="8310677" y="3246120"/>
            <a:ext cx="3149498" cy="411480"/>
          </a:xfrm>
          <a:prstGeom prst="rect">
            <a:avLst/>
          </a:prstGeom>
          <a:noFill/>
          <a:ln/>
        </p:spPr>
        <p:txBody>
          <a:bodyPr wrap="square" lIns="0" tIns="0" rIns="0" bIns="0" rtlCol="0" anchor="ctr"/>
          <a:lstStyle/>
          <a:p>
            <a:pPr indent="0" marL="0">
              <a:buNone/>
            </a:pPr>
            <a:r>
              <a:rPr lang="en-US" sz="1250" i="1" dirty="0">
                <a:solidFill>
                  <a:srgbClr val="B23A48"/>
                </a:solidFill>
                <a:latin typeface="Calibri" pitchFamily="34" charset="0"/>
                <a:ea typeface="Calibri" pitchFamily="34" charset="-122"/>
                <a:cs typeface="Calibri" pitchFamily="34" charset="-120"/>
              </a:rPr>
              <a:t>carry out: add it back</a:t>
            </a:r>
            <a:endParaRPr lang="en-US" sz="1250" dirty="0"/>
          </a:p>
        </p:txBody>
      </p:sp>
      <p:sp>
        <p:nvSpPr>
          <p:cNvPr id="18" name="Shape 16"/>
          <p:cNvSpPr/>
          <p:nvPr/>
        </p:nvSpPr>
        <p:spPr>
          <a:xfrm>
            <a:off x="548640" y="4030599"/>
            <a:ext cx="146304" cy="146304"/>
          </a:xfrm>
          <a:prstGeom prst="rect">
            <a:avLst/>
          </a:prstGeom>
          <a:solidFill>
            <a:srgbClr val="0E7C86"/>
          </a:solidFill>
          <a:ln w="12700">
            <a:solidFill>
              <a:srgbClr val="0E7C86"/>
            </a:solidFill>
            <a:prstDash val="solid"/>
          </a:ln>
        </p:spPr>
      </p:sp>
      <p:sp>
        <p:nvSpPr>
          <p:cNvPr id="19" name="Text 17"/>
          <p:cNvSpPr txBox="1"/>
          <p:nvPr/>
        </p:nvSpPr>
        <p:spPr>
          <a:xfrm>
            <a:off x="932688" y="3931920"/>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adder works modulo 2^n - 1: whenever there is a carry out of the most significant bit, 1 must be added to the result (end-around carry)</a:t>
            </a:r>
            <a:endParaRPr lang="en-US" sz="2100" dirty="0"/>
          </a:p>
        </p:txBody>
      </p:sp>
      <p:sp>
        <p:nvSpPr>
          <p:cNvPr id="20" name="Shape 18"/>
          <p:cNvSpPr/>
          <p:nvPr/>
        </p:nvSpPr>
        <p:spPr>
          <a:xfrm>
            <a:off x="548640" y="4825365"/>
            <a:ext cx="146304" cy="146304"/>
          </a:xfrm>
          <a:prstGeom prst="rect">
            <a:avLst/>
          </a:prstGeom>
          <a:solidFill>
            <a:srgbClr val="C7791B"/>
          </a:solidFill>
          <a:ln w="12700">
            <a:solidFill>
              <a:srgbClr val="C7791B"/>
            </a:solidFill>
            <a:prstDash val="solid"/>
          </a:ln>
        </p:spPr>
      </p:sp>
      <p:sp>
        <p:nvSpPr>
          <p:cNvPr id="21" name="Text 19"/>
          <p:cNvSpPr txBox="1"/>
          <p:nvPr/>
        </p:nvSpPr>
        <p:spPr>
          <a:xfrm>
            <a:off x="932688" y="4726686"/>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correction is needed when both operands are negative, or when the operands have opposite signs and the sum is positive</a:t>
            </a:r>
            <a:endParaRPr lang="en-US" sz="2100" dirty="0"/>
          </a:p>
        </p:txBody>
      </p:sp>
      <p:sp>
        <p:nvSpPr>
          <p:cNvPr id="22" name="Shape 20"/>
          <p:cNvSpPr/>
          <p:nvPr/>
        </p:nvSpPr>
        <p:spPr>
          <a:xfrm>
            <a:off x="548640" y="5620131"/>
            <a:ext cx="146304" cy="146304"/>
          </a:xfrm>
          <a:prstGeom prst="rect">
            <a:avLst/>
          </a:prstGeom>
          <a:solidFill>
            <a:srgbClr val="0E7C86"/>
          </a:solidFill>
          <a:ln w="12700">
            <a:solidFill>
              <a:srgbClr val="0E7C86"/>
            </a:solidFill>
            <a:prstDash val="solid"/>
          </a:ln>
        </p:spPr>
      </p:sp>
      <p:sp>
        <p:nvSpPr>
          <p:cNvPr id="23" name="Text 21"/>
          <p:cNvSpPr txBox="1"/>
          <p:nvPr/>
        </p:nvSpPr>
        <p:spPr>
          <a:xfrm>
            <a:off x="932688" y="5521452"/>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An adder and a complementer are still enough, but the extra step and the double zero made two's complement win</a:t>
            </a:r>
            <a:endParaRPr lang="en-US" sz="2100" dirty="0"/>
          </a:p>
        </p:txBody>
      </p:sp>
      <p:sp>
        <p:nvSpPr>
          <p:cNvPr id="24" name="Shape 22"/>
          <p:cNvSpPr/>
          <p:nvPr/>
        </p:nvSpPr>
        <p:spPr>
          <a:xfrm>
            <a:off x="7762443" y="91440"/>
            <a:ext cx="3880612" cy="274320"/>
          </a:xfrm>
          <a:prstGeom prst="rect">
            <a:avLst/>
          </a:prstGeom>
          <a:solidFill>
            <a:srgbClr val="E0F2FE"/>
          </a:solidFill>
          <a:ln w="12700">
            <a:solidFill>
              <a:srgbClr val="0369A1"/>
            </a:solidFill>
            <a:prstDash val="solid"/>
          </a:ln>
        </p:spPr>
      </p:sp>
      <p:sp>
        <p:nvSpPr>
          <p:cNvPr id="25" name="Shape 23"/>
          <p:cNvSpPr/>
          <p:nvPr/>
        </p:nvSpPr>
        <p:spPr>
          <a:xfrm>
            <a:off x="7762443" y="91440"/>
            <a:ext cx="73152" cy="274320"/>
          </a:xfrm>
          <a:prstGeom prst="rect">
            <a:avLst/>
          </a:prstGeom>
          <a:solidFill>
            <a:srgbClr val="0369A1"/>
          </a:solidFill>
          <a:ln w="12700">
            <a:solidFill>
              <a:srgbClr val="0369A1"/>
            </a:solidFill>
            <a:prstDash val="solid"/>
          </a:ln>
        </p:spPr>
      </p:sp>
      <p:pic>
        <p:nvPicPr>
          <p:cNvPr id="26" name="Image 0" descr="preencoded.png">    </p:cNvPr>
          <p:cNvPicPr>
            <a:picLocks noChangeAspect="1"/>
          </p:cNvPicPr>
          <p:nvPr/>
        </p:nvPicPr>
        <p:blipFill>
          <a:blip r:embed="rId1"/>
          <a:stretch>
            <a:fillRect/>
          </a:stretch>
        </p:blipFill>
        <p:spPr>
          <a:xfrm>
            <a:off x="7890459" y="128016"/>
            <a:ext cx="201168" cy="201168"/>
          </a:xfrm>
          <a:prstGeom prst="rect">
            <a:avLst/>
          </a:prstGeom>
        </p:spPr>
      </p:pic>
      <p:sp>
        <p:nvSpPr>
          <p:cNvPr id="27" name="Text 24"/>
          <p:cNvSpPr txBox="1"/>
          <p:nvPr/>
        </p:nvSpPr>
        <p:spPr>
          <a:xfrm>
            <a:off x="8146491" y="91440"/>
            <a:ext cx="345998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one's complement and excess-k</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Excess-k (biased) representation</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Every number is shifted upward by a constant k: X = x + k, typically k = 2^(n-1)</a:t>
            </a:r>
            <a:endParaRPr lang="en-US" sz="2200" dirty="0"/>
          </a:p>
        </p:txBody>
      </p:sp>
      <p:sp>
        <p:nvSpPr>
          <p:cNvPr id="5" name="Shape 3"/>
          <p:cNvSpPr/>
          <p:nvPr/>
        </p:nvSpPr>
        <p:spPr>
          <a:xfrm>
            <a:off x="548640" y="245681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5038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order is preserved: if x1 &gt; x2 then X1 &gt; X2, so signed numbers compare as naturals</a:t>
            </a:r>
            <a:endParaRPr lang="en-US" sz="2200" dirty="0"/>
          </a:p>
        </p:txBody>
      </p:sp>
      <p:sp>
        <p:nvSpPr>
          <p:cNvPr id="7" name="Shape 5"/>
          <p:cNvSpPr/>
          <p:nvPr/>
        </p:nvSpPr>
        <p:spPr>
          <a:xfrm>
            <a:off x="548640" y="338988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83458"/>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sum must be corrected by subtracting k; multiplication and division are much more awkward than with complements</a:t>
            </a:r>
            <a:endParaRPr lang="en-US" sz="2200" dirty="0"/>
          </a:p>
        </p:txBody>
      </p:sp>
      <p:sp>
        <p:nvSpPr>
          <p:cNvPr id="9" name="Shape 7"/>
          <p:cNvSpPr/>
          <p:nvPr/>
        </p:nvSpPr>
        <p:spPr>
          <a:xfrm>
            <a:off x="548640" y="466382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57395"/>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Preferred where only additions and comparisons are needed</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It is the encoding of the exponent in floating-point numbers</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X = x + k</a:t>
            </a:r>
            <a:endParaRPr lang="en-US" sz="5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on four bits with k = 8: the pattern 0000 means -8, 1000 means 0, 1111 means +7</a:t>
            </a:r>
            <a:endParaRPr lang="en-US" sz="1900" dirty="0"/>
          </a:p>
        </p:txBody>
      </p:sp>
      <p:sp>
        <p:nvSpPr>
          <p:cNvPr id="16" name="Shape 14"/>
          <p:cNvSpPr/>
          <p:nvPr/>
        </p:nvSpPr>
        <p:spPr>
          <a:xfrm>
            <a:off x="7762443" y="91440"/>
            <a:ext cx="3880612" cy="274320"/>
          </a:xfrm>
          <a:prstGeom prst="rect">
            <a:avLst/>
          </a:prstGeom>
          <a:solidFill>
            <a:srgbClr val="E0F2FE"/>
          </a:solidFill>
          <a:ln w="12700">
            <a:solidFill>
              <a:srgbClr val="0369A1"/>
            </a:solidFill>
            <a:prstDash val="solid"/>
          </a:ln>
        </p:spPr>
      </p:sp>
      <p:sp>
        <p:nvSpPr>
          <p:cNvPr id="17" name="Shape 15"/>
          <p:cNvSpPr/>
          <p:nvPr/>
        </p:nvSpPr>
        <p:spPr>
          <a:xfrm>
            <a:off x="7762443"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7890459" y="128016"/>
            <a:ext cx="201168" cy="201168"/>
          </a:xfrm>
          <a:prstGeom prst="rect">
            <a:avLst/>
          </a:prstGeom>
        </p:spPr>
      </p:pic>
      <p:sp>
        <p:nvSpPr>
          <p:cNvPr id="19" name="Text 16"/>
          <p:cNvSpPr txBox="1"/>
          <p:nvPr/>
        </p:nvSpPr>
        <p:spPr>
          <a:xfrm>
            <a:off x="8146491" y="91440"/>
            <a:ext cx="345998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one's complement and excess-k</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Four bits, five readings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49240" cy="914400"/>
        </p:xfrm>
        <a:graphic>
          <a:graphicData uri="http://schemas.openxmlformats.org/drawingml/2006/table">
            <a:tbl>
              <a:tblPr/>
              <a:tblGrid>
                <a:gridCol w="822960"/>
                <a:gridCol w="868680"/>
                <a:gridCol w="960120"/>
                <a:gridCol w="868680"/>
                <a:gridCol w="868680"/>
                <a:gridCol w="960120"/>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Bits</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Unsig.</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Sign-m.</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1's c.</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2's c.</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Exc.-8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0000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0001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0010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0011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0100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0101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0110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0111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293815" y="1417320"/>
          <a:ext cx="5349240" cy="914400"/>
        </p:xfrm>
        <a:graphic>
          <a:graphicData uri="http://schemas.openxmlformats.org/drawingml/2006/table">
            <a:tbl>
              <a:tblPr/>
              <a:tblGrid>
                <a:gridCol w="822960"/>
                <a:gridCol w="868680"/>
                <a:gridCol w="960120"/>
                <a:gridCol w="868680"/>
                <a:gridCol w="868680"/>
                <a:gridCol w="960120"/>
              </a:tblGrid>
              <a:tr h="38404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Bits</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Unsig.</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Sign-m.</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1's c.</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2's c.</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Exc.-8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1000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-8</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D8ECEE"/>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1001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1010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1011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1100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1101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1110</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14</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384048">
                <a:tc>
                  <a:txBody>
                    <a:bodyPr/>
                    <a:lstStyle/>
                    <a:p>
                      <a:pPr algn="ctr" indent="0" marL="0">
                        <a:buNone/>
                      </a:pPr>
                      <a:r>
                        <a:rPr lang="en-US" sz="1500" dirty="0">
                          <a:solidFill>
                            <a:srgbClr val="1B2530"/>
                          </a:solidFill>
                          <a:latin typeface="Courier New" pitchFamily="34" charset="0"/>
                          <a:ea typeface="Courier New" pitchFamily="34" charset="-122"/>
                          <a:cs typeface="Courier New" pitchFamily="34" charset="-120"/>
                        </a:rPr>
                        <a:t>1111</a:t>
                      </a:r>
                      <a:endParaRPr lang="en-US" sz="1500" dirty="0">
                        <a:latin typeface="Courier New" charset="0"/>
                        <a:ea typeface="Courier New" charset="0"/>
                        <a:cs typeface="Courier New"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15</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6E7D2"/>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B2530"/>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5" name="Shape 1"/>
          <p:cNvSpPr/>
          <p:nvPr/>
        </p:nvSpPr>
        <p:spPr>
          <a:xfrm>
            <a:off x="548640" y="5089144"/>
            <a:ext cx="146304" cy="146304"/>
          </a:xfrm>
          <a:prstGeom prst="rect">
            <a:avLst/>
          </a:prstGeom>
          <a:solidFill>
            <a:srgbClr val="0E7C86"/>
          </a:solidFill>
          <a:ln w="12700">
            <a:solidFill>
              <a:srgbClr val="0E7C86"/>
            </a:solidFill>
            <a:prstDash val="solid"/>
          </a:ln>
        </p:spPr>
      </p:sp>
      <p:sp>
        <p:nvSpPr>
          <p:cNvPr id="6" name="Text 2"/>
          <p:cNvSpPr txBox="1"/>
          <p:nvPr/>
        </p:nvSpPr>
        <p:spPr>
          <a:xfrm>
            <a:off x="932688" y="5029200"/>
            <a:ext cx="10710367" cy="247904"/>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Sign and magnitude and one's complement have two zeros (highlighted): 0000 and 1000, or 0000 and 1111</a:t>
            </a:r>
            <a:endParaRPr lang="en-US" sz="1600" dirty="0"/>
          </a:p>
        </p:txBody>
      </p:sp>
      <p:sp>
        <p:nvSpPr>
          <p:cNvPr id="7" name="Shape 3"/>
          <p:cNvSpPr/>
          <p:nvPr/>
        </p:nvSpPr>
        <p:spPr>
          <a:xfrm>
            <a:off x="548640" y="5536692"/>
            <a:ext cx="146304" cy="146304"/>
          </a:xfrm>
          <a:prstGeom prst="rect">
            <a:avLst/>
          </a:prstGeom>
          <a:solidFill>
            <a:srgbClr val="C7791B"/>
          </a:solidFill>
          <a:ln w="12700">
            <a:solidFill>
              <a:srgbClr val="C7791B"/>
            </a:solidFill>
            <a:prstDash val="solid"/>
          </a:ln>
        </p:spPr>
      </p:sp>
      <p:sp>
        <p:nvSpPr>
          <p:cNvPr id="8" name="Text 4"/>
          <p:cNvSpPr txBox="1"/>
          <p:nvPr/>
        </p:nvSpPr>
        <p:spPr>
          <a:xfrm>
            <a:off x="932688" y="5476748"/>
            <a:ext cx="10710367" cy="247904"/>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Two's complement and excess-8 cover the same range, -8 to +7, with a single zero</a:t>
            </a:r>
            <a:endParaRPr lang="en-US" sz="1600" dirty="0"/>
          </a:p>
        </p:txBody>
      </p:sp>
      <p:sp>
        <p:nvSpPr>
          <p:cNvPr id="9" name="Shape 5"/>
          <p:cNvSpPr/>
          <p:nvPr/>
        </p:nvSpPr>
        <p:spPr>
          <a:xfrm>
            <a:off x="548640" y="5984240"/>
            <a:ext cx="146304" cy="146304"/>
          </a:xfrm>
          <a:prstGeom prst="rect">
            <a:avLst/>
          </a:prstGeom>
          <a:solidFill>
            <a:srgbClr val="0E7C86"/>
          </a:solidFill>
          <a:ln w="12700">
            <a:solidFill>
              <a:srgbClr val="0E7C86"/>
            </a:solidFill>
            <a:prstDash val="solid"/>
          </a:ln>
        </p:spPr>
      </p:sp>
      <p:sp>
        <p:nvSpPr>
          <p:cNvPr id="10" name="Text 6"/>
          <p:cNvSpPr txBox="1"/>
          <p:nvPr/>
        </p:nvSpPr>
        <p:spPr>
          <a:xfrm>
            <a:off x="932688" y="5924296"/>
            <a:ext cx="10710367" cy="247904"/>
          </a:xfrm>
          <a:prstGeom prst="rect">
            <a:avLst/>
          </a:prstGeom>
          <a:noFill/>
          <a:ln/>
        </p:spPr>
        <p:txBody>
          <a:bodyPr wrap="square" lIns="0" tIns="0" rIns="0" bIns="0" rtlCol="0" anchor="t"/>
          <a:lstStyle/>
          <a:p>
            <a:pPr indent="0" marL="0">
              <a:spcAft>
                <a:spcPts val="200"/>
              </a:spcAft>
              <a:buNone/>
            </a:pPr>
            <a:r>
              <a:rPr lang="en-US" sz="1600" dirty="0">
                <a:solidFill>
                  <a:srgbClr val="1B2530"/>
                </a:solidFill>
                <a:latin typeface="Calibri" pitchFamily="34" charset="0"/>
                <a:ea typeface="Calibri" pitchFamily="34" charset="-122"/>
                <a:cs typeface="Calibri" pitchFamily="34" charset="-120"/>
              </a:rPr>
              <a:t>Only excess-k keeps the patterns in the same order as the numbers</a:t>
            </a:r>
            <a:endParaRPr lang="en-US" sz="1600" dirty="0"/>
          </a:p>
        </p:txBody>
      </p:sp>
      <p:sp>
        <p:nvSpPr>
          <p:cNvPr id="11" name="Shape 7"/>
          <p:cNvSpPr/>
          <p:nvPr/>
        </p:nvSpPr>
        <p:spPr>
          <a:xfrm>
            <a:off x="7762443" y="91440"/>
            <a:ext cx="3880612" cy="274320"/>
          </a:xfrm>
          <a:prstGeom prst="rect">
            <a:avLst/>
          </a:prstGeom>
          <a:solidFill>
            <a:srgbClr val="E0F2FE"/>
          </a:solidFill>
          <a:ln w="12700">
            <a:solidFill>
              <a:srgbClr val="0369A1"/>
            </a:solidFill>
            <a:prstDash val="solid"/>
          </a:ln>
        </p:spPr>
      </p:sp>
      <p:sp>
        <p:nvSpPr>
          <p:cNvPr id="12" name="Shape 8"/>
          <p:cNvSpPr/>
          <p:nvPr/>
        </p:nvSpPr>
        <p:spPr>
          <a:xfrm>
            <a:off x="7762443" y="91440"/>
            <a:ext cx="73152" cy="274320"/>
          </a:xfrm>
          <a:prstGeom prst="rect">
            <a:avLst/>
          </a:prstGeom>
          <a:solidFill>
            <a:srgbClr val="0369A1"/>
          </a:solidFill>
          <a:ln w="12700">
            <a:solidFill>
              <a:srgbClr val="0369A1"/>
            </a:solidFill>
            <a:prstDash val="solid"/>
          </a:ln>
        </p:spPr>
      </p:sp>
      <p:pic>
        <p:nvPicPr>
          <p:cNvPr id="13" name="Image 0" descr="preencoded.png">    </p:cNvPr>
          <p:cNvPicPr>
            <a:picLocks noChangeAspect="1"/>
          </p:cNvPicPr>
          <p:nvPr/>
        </p:nvPicPr>
        <p:blipFill>
          <a:blip r:embed="rId1"/>
          <a:stretch>
            <a:fillRect/>
          </a:stretch>
        </p:blipFill>
        <p:spPr>
          <a:xfrm>
            <a:off x="7890459" y="128016"/>
            <a:ext cx="201168" cy="201168"/>
          </a:xfrm>
          <a:prstGeom prst="rect">
            <a:avLst/>
          </a:prstGeom>
        </p:spPr>
      </p:pic>
      <p:sp>
        <p:nvSpPr>
          <p:cNvPr id="14" name="Text 9"/>
          <p:cNvSpPr txBox="1"/>
          <p:nvPr/>
        </p:nvSpPr>
        <p:spPr>
          <a:xfrm>
            <a:off x="8146491" y="91440"/>
            <a:ext cx="345998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one's complement and excess-k</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Numbers in fixed point</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integer part and the fractional part are stored side by side in one word</a:t>
            </a:r>
            <a:endParaRPr lang="en-US" sz="2200" dirty="0"/>
          </a:p>
        </p:txBody>
      </p:sp>
      <p:sp>
        <p:nvSpPr>
          <p:cNvPr id="5" name="Shape 3"/>
          <p:cNvSpPr/>
          <p:nvPr/>
        </p:nvSpPr>
        <p:spPr>
          <a:xfrm>
            <a:off x="548640" y="237159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65172"/>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position of the point is fixed and implicit: it is not stored, the program knows it</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With f fractional bits the stored integer is X = x times 2^f, and the resolution is 2^-f</a:t>
            </a:r>
            <a:endParaRPr lang="en-US" sz="2200" dirty="0"/>
          </a:p>
        </p:txBody>
      </p:sp>
      <p:sp>
        <p:nvSpPr>
          <p:cNvPr id="9" name="Shape 7"/>
          <p:cNvSpPr/>
          <p:nvPr/>
        </p:nvSpPr>
        <p:spPr>
          <a:xfrm>
            <a:off x="548640" y="440817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01744"/>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Each part uses one of the representations already seen: usually the whole word is two's complement</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Notation Qm.f: m integer bits and f fractional bits, for example Q24.8</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X = x 2^f</a:t>
            </a:r>
            <a:endParaRPr lang="en-US" sz="5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store the number multiplied by a power of two; shift right by f bits to get back the integer part</a:t>
            </a:r>
            <a:endParaRPr lang="en-US" sz="1900" dirty="0"/>
          </a:p>
        </p:txBody>
      </p:sp>
      <p:sp>
        <p:nvSpPr>
          <p:cNvPr id="16" name="Shape 14"/>
          <p:cNvSpPr/>
          <p:nvPr/>
        </p:nvSpPr>
        <p:spPr>
          <a:xfrm>
            <a:off x="8944305" y="91440"/>
            <a:ext cx="2698750" cy="274320"/>
          </a:xfrm>
          <a:prstGeom prst="rect">
            <a:avLst/>
          </a:prstGeom>
          <a:solidFill>
            <a:srgbClr val="E0F2FE"/>
          </a:solidFill>
          <a:ln w="12700">
            <a:solidFill>
              <a:srgbClr val="0369A1"/>
            </a:solidFill>
            <a:prstDash val="solid"/>
          </a:ln>
        </p:spPr>
      </p:sp>
      <p:sp>
        <p:nvSpPr>
          <p:cNvPr id="17" name="Shape 15"/>
          <p:cNvSpPr/>
          <p:nvPr/>
        </p:nvSpPr>
        <p:spPr>
          <a:xfrm>
            <a:off x="8944305"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19" name="Text 16"/>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Rational numbers: the approximation error</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reals are dense: even in a limited interval, not every number can be represented</a:t>
            </a:r>
            <a:endParaRPr lang="en-US" sz="2200" dirty="0"/>
          </a:p>
        </p:txBody>
      </p:sp>
      <p:sp>
        <p:nvSpPr>
          <p:cNvPr id="5" name="Shape 3"/>
          <p:cNvSpPr/>
          <p:nvPr/>
        </p:nvSpPr>
        <p:spPr>
          <a:xfrm>
            <a:off x="548640" y="238569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79269"/>
            <a:ext cx="656539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Approximation: each number is associated with the nearest representable one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in Q24.8, 0.1 becomes 26/256 = 0.1015625: an error of about 1.6%</a:t>
            </a:r>
            <a:endParaRPr lang="en-US" sz="2200" dirty="0"/>
          </a:p>
        </p:txBody>
      </p:sp>
      <p:sp>
        <p:nvSpPr>
          <p:cNvPr id="7" name="Shape 5"/>
          <p:cNvSpPr/>
          <p:nvPr/>
        </p:nvSpPr>
        <p:spPr>
          <a:xfrm>
            <a:off x="548640" y="387299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66566"/>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approximation error is at most half of the resolution: 1/512 for eight fractional bits</a:t>
            </a:r>
            <a:endParaRPr lang="en-US" sz="2200" dirty="0"/>
          </a:p>
        </p:txBody>
      </p:sp>
      <p:sp>
        <p:nvSpPr>
          <p:cNvPr id="9" name="Shape 7"/>
          <p:cNvSpPr/>
          <p:nvPr/>
        </p:nvSpPr>
        <p:spPr>
          <a:xfrm>
            <a:off x="548640" y="473494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28515"/>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Underflow: a number close to zero, but not zero, is represented by zero</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 fixed point the absolute error is the same everywhere on the number line</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1/256</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resolution of eight fractional bits: nothing smaller can be told apart from zero</a:t>
            </a:r>
            <a:endParaRPr lang="en-US" sz="1900" dirty="0"/>
          </a:p>
        </p:txBody>
      </p:sp>
      <p:sp>
        <p:nvSpPr>
          <p:cNvPr id="16" name="Shape 14"/>
          <p:cNvSpPr/>
          <p:nvPr/>
        </p:nvSpPr>
        <p:spPr>
          <a:xfrm>
            <a:off x="8944305" y="91440"/>
            <a:ext cx="2698750" cy="274320"/>
          </a:xfrm>
          <a:prstGeom prst="rect">
            <a:avLst/>
          </a:prstGeom>
          <a:solidFill>
            <a:srgbClr val="E0F2FE"/>
          </a:solidFill>
          <a:ln w="12700">
            <a:solidFill>
              <a:srgbClr val="0369A1"/>
            </a:solidFill>
            <a:prstDash val="solid"/>
          </a:ln>
        </p:spPr>
      </p:sp>
      <p:sp>
        <p:nvSpPr>
          <p:cNvPr id="17" name="Shape 15"/>
          <p:cNvSpPr/>
          <p:nvPr/>
        </p:nvSpPr>
        <p:spPr>
          <a:xfrm>
            <a:off x="8944305"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9072321" y="128016"/>
            <a:ext cx="201168" cy="201168"/>
          </a:xfrm>
          <a:prstGeom prst="rect">
            <a:avLst/>
          </a:prstGeom>
        </p:spPr>
      </p:pic>
      <p:sp>
        <p:nvSpPr>
          <p:cNvPr id="19" name="Text 16"/>
          <p:cNvSpPr txBox="1"/>
          <p:nvPr/>
        </p:nvSpPr>
        <p:spPr>
          <a:xfrm>
            <a:off x="9328353" y="91440"/>
            <a:ext cx="2278126"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fixed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Real numbers in floating point</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real number x is represented by a pair (m, e) such that x = m times b^e</a:t>
            </a:r>
            <a:endParaRPr lang="en-US" sz="2200" dirty="0"/>
          </a:p>
        </p:txBody>
      </p:sp>
      <p:sp>
        <p:nvSpPr>
          <p:cNvPr id="5" name="Shape 3"/>
          <p:cNvSpPr/>
          <p:nvPr/>
        </p:nvSpPr>
        <p:spPr>
          <a:xfrm>
            <a:off x="548640" y="2581487"/>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75061"/>
            <a:ext cx="6565392" cy="671830"/>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 is the mantissa, e the exponent, b the base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point floats: the exponent says where it is</a:t>
            </a:r>
            <a:endParaRPr lang="en-US" sz="2200" dirty="0"/>
          </a:p>
        </p:txBody>
      </p:sp>
      <p:sp>
        <p:nvSpPr>
          <p:cNvPr id="7" name="Shape 5"/>
          <p:cNvSpPr/>
          <p:nvPr/>
        </p:nvSpPr>
        <p:spPr>
          <a:xfrm>
            <a:off x="548640" y="362932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522895"/>
            <a:ext cx="6565392" cy="130708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Infinitely many pairs represent the same number</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346.09801 = (346.09801, 0) = (346098.01, -3) = (0.034609801, 4)</a:t>
            </a:r>
            <a:endParaRPr lang="en-US" sz="2200" dirty="0"/>
          </a:p>
        </p:txBody>
      </p:sp>
      <p:sp>
        <p:nvSpPr>
          <p:cNvPr id="9" name="Shape 7"/>
          <p:cNvSpPr/>
          <p:nvPr/>
        </p:nvSpPr>
        <p:spPr>
          <a:xfrm>
            <a:off x="548640" y="531241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205984"/>
            <a:ext cx="6565392" cy="96621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Normalisation chooses a single representative</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point goes right after the first significant digit: (3.4609801, 2)</a:t>
            </a:r>
            <a:endParaRPr lang="en-US" sz="22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5900" b="1" dirty="0">
                <a:solidFill>
                  <a:srgbClr val="FFFFFF"/>
                </a:solidFill>
                <a:latin typeface="Cambria" pitchFamily="34" charset="0"/>
                <a:ea typeface="Cambria" pitchFamily="34" charset="-122"/>
                <a:cs typeface="Cambria" pitchFamily="34" charset="-120"/>
              </a:rPr>
              <a:t>x = m b^e</a:t>
            </a:r>
            <a:endParaRPr lang="en-US" sz="59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mantissa, base and exponent: the scientific notation of the laboratory, in binary</a:t>
            </a:r>
            <a:endParaRPr lang="en-US" sz="1900" dirty="0"/>
          </a:p>
        </p:txBody>
      </p:sp>
      <p:sp>
        <p:nvSpPr>
          <p:cNvPr id="14" name="Shape 12"/>
          <p:cNvSpPr/>
          <p:nvPr/>
        </p:nvSpPr>
        <p:spPr>
          <a:xfrm>
            <a:off x="8156397" y="91440"/>
            <a:ext cx="3486658" cy="274320"/>
          </a:xfrm>
          <a:prstGeom prst="rect">
            <a:avLst/>
          </a:prstGeom>
          <a:solidFill>
            <a:srgbClr val="E0F2FE"/>
          </a:solidFill>
          <a:ln w="12700">
            <a:solidFill>
              <a:srgbClr val="0369A1"/>
            </a:solidFill>
            <a:prstDash val="solid"/>
          </a:ln>
        </p:spPr>
      </p:sp>
      <p:sp>
        <p:nvSpPr>
          <p:cNvPr id="15" name="Shape 13"/>
          <p:cNvSpPr/>
          <p:nvPr/>
        </p:nvSpPr>
        <p:spPr>
          <a:xfrm>
            <a:off x="8156397"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17" name="Text 14"/>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IEEE 754 floating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Approximation: absolute and relative error</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absolute error is not constant: precision is very fine near zero and decreases as numbers grow</a:t>
            </a:r>
            <a:endParaRPr lang="en-US" sz="2200" dirty="0"/>
          </a:p>
        </p:txBody>
      </p:sp>
      <p:sp>
        <p:nvSpPr>
          <p:cNvPr id="5" name="Shape 3"/>
          <p:cNvSpPr/>
          <p:nvPr/>
        </p:nvSpPr>
        <p:spPr>
          <a:xfrm>
            <a:off x="548640" y="280263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96210"/>
            <a:ext cx="6565392" cy="671830"/>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Near zero the maximum error is 0.001 x 10^-99</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1.001 x 10^-99 minus 1.000 x 10^-99</a:t>
            </a:r>
            <a:endParaRPr lang="en-US" sz="22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24326"/>
            <a:ext cx="6565392" cy="101269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Near the upper limit the maximum error is 0.001 x 10^99</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9.999 x 10^99 minus 9.998 x 10^99</a:t>
            </a:r>
            <a:endParaRPr lang="en-US" sz="2200" dirty="0"/>
          </a:p>
        </p:txBody>
      </p:sp>
      <p:sp>
        <p:nvSpPr>
          <p:cNvPr id="9" name="Shape 7"/>
          <p:cNvSpPr/>
          <p:nvPr/>
        </p:nvSpPr>
        <p:spPr>
          <a:xfrm>
            <a:off x="548640" y="499973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89331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Absolute error: small on small numbers, large on large numbers</a:t>
            </a:r>
            <a:endParaRPr lang="en-US" sz="2200" dirty="0"/>
          </a:p>
        </p:txBody>
      </p:sp>
      <p:sp>
        <p:nvSpPr>
          <p:cNvPr id="11" name="Shape 9"/>
          <p:cNvSpPr/>
          <p:nvPr/>
        </p:nvSpPr>
        <p:spPr>
          <a:xfrm>
            <a:off x="548640" y="593775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831332"/>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Relative error: constant along the whole axis</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4 digits</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same number of significant digits everywhere: constant relative error, whatever the size of the number</a:t>
            </a:r>
            <a:endParaRPr lang="en-US" sz="1900" dirty="0"/>
          </a:p>
        </p:txBody>
      </p:sp>
      <p:sp>
        <p:nvSpPr>
          <p:cNvPr id="16" name="Shape 14"/>
          <p:cNvSpPr/>
          <p:nvPr/>
        </p:nvSpPr>
        <p:spPr>
          <a:xfrm>
            <a:off x="8156397" y="91440"/>
            <a:ext cx="3486658" cy="274320"/>
          </a:xfrm>
          <a:prstGeom prst="rect">
            <a:avLst/>
          </a:prstGeom>
          <a:solidFill>
            <a:srgbClr val="E0F2FE"/>
          </a:solidFill>
          <a:ln w="12700">
            <a:solidFill>
              <a:srgbClr val="0369A1"/>
            </a:solidFill>
            <a:prstDash val="solid"/>
          </a:ln>
        </p:spPr>
      </p:sp>
      <p:sp>
        <p:nvSpPr>
          <p:cNvPr id="17" name="Shape 15"/>
          <p:cNvSpPr/>
          <p:nvPr/>
        </p:nvSpPr>
        <p:spPr>
          <a:xfrm>
            <a:off x="8156397"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19" name="Text 16"/>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IEEE 754 floating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IEEE 754 single precision: 32 bits</a:t>
            </a:r>
            <a:endParaRPr lang="en-US" sz="3200" dirty="0"/>
          </a:p>
        </p:txBody>
      </p:sp>
      <p:sp>
        <p:nvSpPr>
          <p:cNvPr id="3" name="Text 1"/>
          <p:cNvSpPr txBox="1"/>
          <p:nvPr/>
        </p:nvSpPr>
        <p:spPr>
          <a:xfrm>
            <a:off x="548640" y="1737360"/>
            <a:ext cx="1027749" cy="685800"/>
          </a:xfrm>
          <a:prstGeom prst="rect">
            <a:avLst/>
          </a:prstGeom>
          <a:solidFill>
            <a:srgbClr val="B23A48"/>
          </a:solidFill>
          <a:ln w="19050">
            <a:solidFill>
              <a:srgbClr val="FFFFFF"/>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S</a:t>
            </a:r>
            <a:endParaRPr lang="en-US" sz="2200" dirty="0"/>
          </a:p>
        </p:txBody>
      </p:sp>
      <p:sp>
        <p:nvSpPr>
          <p:cNvPr id="4" name="Text 2"/>
          <p:cNvSpPr txBox="1"/>
          <p:nvPr/>
        </p:nvSpPr>
        <p:spPr>
          <a:xfrm>
            <a:off x="548640" y="2478024"/>
            <a:ext cx="1027749"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sign</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1 = negative</a:t>
            </a:r>
            <a:endParaRPr lang="en-US" sz="1500" dirty="0"/>
          </a:p>
        </p:txBody>
      </p:sp>
      <p:sp>
        <p:nvSpPr>
          <p:cNvPr id="5" name="Text 3"/>
          <p:cNvSpPr txBox="1"/>
          <p:nvPr/>
        </p:nvSpPr>
        <p:spPr>
          <a:xfrm>
            <a:off x="585216" y="1499616"/>
            <a:ext cx="51387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6" name="Text 4"/>
          <p:cNvSpPr txBox="1"/>
          <p:nvPr/>
        </p:nvSpPr>
        <p:spPr>
          <a:xfrm>
            <a:off x="1576389" y="1737360"/>
            <a:ext cx="2597849" cy="68580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E</a:t>
            </a:r>
            <a:endParaRPr lang="en-US" sz="2200" dirty="0"/>
          </a:p>
        </p:txBody>
      </p:sp>
      <p:sp>
        <p:nvSpPr>
          <p:cNvPr id="7" name="Text 5"/>
          <p:cNvSpPr txBox="1"/>
          <p:nvPr/>
        </p:nvSpPr>
        <p:spPr>
          <a:xfrm>
            <a:off x="1576389" y="2478024"/>
            <a:ext cx="2597849"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exponent: 8 bits</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excess-127</a:t>
            </a:r>
            <a:endParaRPr lang="en-US" sz="1500" dirty="0"/>
          </a:p>
        </p:txBody>
      </p:sp>
      <p:sp>
        <p:nvSpPr>
          <p:cNvPr id="8" name="Text 6"/>
          <p:cNvSpPr txBox="1"/>
          <p:nvPr/>
        </p:nvSpPr>
        <p:spPr>
          <a:xfrm>
            <a:off x="1612965" y="1499616"/>
            <a:ext cx="1298925"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30</a:t>
            </a:r>
            <a:endParaRPr lang="en-US" sz="1050" dirty="0"/>
          </a:p>
        </p:txBody>
      </p:sp>
      <p:sp>
        <p:nvSpPr>
          <p:cNvPr id="9" name="Text 7"/>
          <p:cNvSpPr txBox="1"/>
          <p:nvPr/>
        </p:nvSpPr>
        <p:spPr>
          <a:xfrm>
            <a:off x="2875314" y="1499616"/>
            <a:ext cx="1262349"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23</a:t>
            </a:r>
            <a:endParaRPr lang="en-US" sz="1050" dirty="0"/>
          </a:p>
        </p:txBody>
      </p:sp>
      <p:sp>
        <p:nvSpPr>
          <p:cNvPr id="10" name="Text 8"/>
          <p:cNvSpPr txBox="1"/>
          <p:nvPr/>
        </p:nvSpPr>
        <p:spPr>
          <a:xfrm>
            <a:off x="4174238" y="1737360"/>
            <a:ext cx="7468817" cy="68580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F</a:t>
            </a:r>
            <a:endParaRPr lang="en-US" sz="2200" dirty="0"/>
          </a:p>
        </p:txBody>
      </p:sp>
      <p:sp>
        <p:nvSpPr>
          <p:cNvPr id="11" name="Text 9"/>
          <p:cNvSpPr txBox="1"/>
          <p:nvPr/>
        </p:nvSpPr>
        <p:spPr>
          <a:xfrm>
            <a:off x="4174238" y="2478024"/>
            <a:ext cx="7468817" cy="502920"/>
          </a:xfrm>
          <a:prstGeom prst="rect">
            <a:avLst/>
          </a:prstGeom>
          <a:noFill/>
          <a:ln/>
        </p:spPr>
        <p:txBody>
          <a:bodyPr wrap="square" lIns="0" tIns="0" rIns="0" bIns="0" rtlCol="0" anchor="t"/>
          <a:lstStyle/>
          <a:p>
            <a:pPr algn="ctr" indent="0" marL="0">
              <a:buNone/>
            </a:pPr>
            <a:r>
              <a:rPr lang="en-US" sz="1500" dirty="0">
                <a:solidFill>
                  <a:srgbClr val="1B2530"/>
                </a:solidFill>
                <a:latin typeface="Calibri" pitchFamily="34" charset="0"/>
                <a:ea typeface="Calibri" pitchFamily="34" charset="-122"/>
                <a:cs typeface="Calibri" pitchFamily="34" charset="-120"/>
              </a:rPr>
              <a:t>fraction: 23 bits</a:t>
            </a:r>
            <a:endParaRPr lang="en-US" sz="1500" dirty="0"/>
          </a:p>
          <a:p>
            <a:pPr algn="ctr" indent="0" marL="0">
              <a:buNone/>
            </a:pPr>
            <a:r>
              <a:rPr lang="en-US" sz="1500" dirty="0">
                <a:solidFill>
                  <a:srgbClr val="1B2530"/>
                </a:solidFill>
                <a:latin typeface="Calibri" pitchFamily="34" charset="0"/>
                <a:ea typeface="Calibri" pitchFamily="34" charset="-122"/>
                <a:cs typeface="Calibri" pitchFamily="34" charset="-120"/>
              </a:rPr>
              <a:t>magnitude, after the hidden 1</a:t>
            </a:r>
            <a:endParaRPr lang="en-US" sz="1500" dirty="0"/>
          </a:p>
        </p:txBody>
      </p:sp>
      <p:sp>
        <p:nvSpPr>
          <p:cNvPr id="12" name="Text 10"/>
          <p:cNvSpPr txBox="1"/>
          <p:nvPr/>
        </p:nvSpPr>
        <p:spPr>
          <a:xfrm>
            <a:off x="4210814" y="1499616"/>
            <a:ext cx="3734408"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22</a:t>
            </a:r>
            <a:endParaRPr lang="en-US" sz="1050" dirty="0"/>
          </a:p>
        </p:txBody>
      </p:sp>
      <p:sp>
        <p:nvSpPr>
          <p:cNvPr id="13" name="Text 11"/>
          <p:cNvSpPr txBox="1"/>
          <p:nvPr/>
        </p:nvSpPr>
        <p:spPr>
          <a:xfrm>
            <a:off x="7908647" y="1499616"/>
            <a:ext cx="3697832"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14" name="Text 12"/>
          <p:cNvSpPr txBox="1"/>
          <p:nvPr/>
        </p:nvSpPr>
        <p:spPr>
          <a:xfrm>
            <a:off x="548640" y="3246120"/>
            <a:ext cx="11094415" cy="548640"/>
          </a:xfrm>
          <a:prstGeom prst="rect">
            <a:avLst/>
          </a:prstGeom>
          <a:noFill/>
          <a:ln/>
        </p:spPr>
        <p:txBody>
          <a:bodyPr wrap="square" lIns="0" tIns="0" rIns="0" bIns="0" rtlCol="0" anchor="ctr"/>
          <a:lstStyle/>
          <a:p>
            <a:pPr algn="ctr" indent="0" marL="0">
              <a:buNone/>
            </a:pPr>
            <a:r>
              <a:rPr lang="en-US" sz="2600" b="1" dirty="0">
                <a:solidFill>
                  <a:srgbClr val="1B2530"/>
                </a:solidFill>
                <a:latin typeface="Courier New" pitchFamily="34" charset="0"/>
                <a:ea typeface="Courier New" pitchFamily="34" charset="-122"/>
                <a:cs typeface="Courier New" pitchFamily="34" charset="-120"/>
              </a:rPr>
              <a:t>value = (-1)^S  x  1.F  x  2^(E - 127)</a:t>
            </a:r>
            <a:endParaRPr lang="en-US" sz="2600" dirty="0"/>
          </a:p>
        </p:txBody>
      </p:sp>
      <p:sp>
        <p:nvSpPr>
          <p:cNvPr id="15" name="Shape 13"/>
          <p:cNvSpPr/>
          <p:nvPr/>
        </p:nvSpPr>
        <p:spPr>
          <a:xfrm>
            <a:off x="548640" y="4144518"/>
            <a:ext cx="146304" cy="146304"/>
          </a:xfrm>
          <a:prstGeom prst="rect">
            <a:avLst/>
          </a:prstGeom>
          <a:solidFill>
            <a:srgbClr val="0E7C86"/>
          </a:solidFill>
          <a:ln w="12700">
            <a:solidFill>
              <a:srgbClr val="0E7C86"/>
            </a:solidFill>
            <a:prstDash val="solid"/>
          </a:ln>
        </p:spPr>
      </p:sp>
      <p:sp>
        <p:nvSpPr>
          <p:cNvPr id="16" name="Text 14"/>
          <p:cNvSpPr txBox="1"/>
          <p:nvPr/>
        </p:nvSpPr>
        <p:spPr>
          <a:xfrm>
            <a:off x="932688" y="4069080"/>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The mantissa is in sign and magnitude: one sign bit and 23 bits of magnitude</a:t>
            </a:r>
            <a:endParaRPr lang="en-US" sz="1800" dirty="0"/>
          </a:p>
        </p:txBody>
      </p:sp>
      <p:sp>
        <p:nvSpPr>
          <p:cNvPr id="17" name="Shape 15"/>
          <p:cNvSpPr/>
          <p:nvPr/>
        </p:nvSpPr>
        <p:spPr>
          <a:xfrm>
            <a:off x="548640" y="4659630"/>
            <a:ext cx="146304" cy="146304"/>
          </a:xfrm>
          <a:prstGeom prst="rect">
            <a:avLst/>
          </a:prstGeom>
          <a:solidFill>
            <a:srgbClr val="C7791B"/>
          </a:solidFill>
          <a:ln w="12700">
            <a:solidFill>
              <a:srgbClr val="C7791B"/>
            </a:solidFill>
            <a:prstDash val="solid"/>
          </a:ln>
        </p:spPr>
      </p:sp>
      <p:sp>
        <p:nvSpPr>
          <p:cNvPr id="18" name="Text 16"/>
          <p:cNvSpPr txBox="1"/>
          <p:nvPr/>
        </p:nvSpPr>
        <p:spPr>
          <a:xfrm>
            <a:off x="932688" y="4584192"/>
            <a:ext cx="10710367"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A normalised binary mantissa always starts with 1: that bit is hidden, not stored, and one bit of precision is gained</a:t>
            </a:r>
            <a:endParaRPr lang="en-US" sz="1800" dirty="0"/>
          </a:p>
        </p:txBody>
      </p:sp>
      <p:sp>
        <p:nvSpPr>
          <p:cNvPr id="19" name="Shape 17"/>
          <p:cNvSpPr/>
          <p:nvPr/>
        </p:nvSpPr>
        <p:spPr>
          <a:xfrm>
            <a:off x="548640" y="5453634"/>
            <a:ext cx="146304" cy="146304"/>
          </a:xfrm>
          <a:prstGeom prst="rect">
            <a:avLst/>
          </a:prstGeom>
          <a:solidFill>
            <a:srgbClr val="0E7C86"/>
          </a:solidFill>
          <a:ln w="12700">
            <a:solidFill>
              <a:srgbClr val="0E7C86"/>
            </a:solidFill>
            <a:prstDash val="solid"/>
          </a:ln>
        </p:spPr>
      </p:sp>
      <p:sp>
        <p:nvSpPr>
          <p:cNvPr id="20" name="Text 18"/>
          <p:cNvSpPr txBox="1"/>
          <p:nvPr/>
        </p:nvSpPr>
        <p:spPr>
          <a:xfrm>
            <a:off x="932688" y="5378196"/>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The exponent is in excess-127, not 128: the true exponents go from -126 to +127</a:t>
            </a:r>
            <a:endParaRPr lang="en-US" sz="1800" dirty="0"/>
          </a:p>
        </p:txBody>
      </p:sp>
      <p:sp>
        <p:nvSpPr>
          <p:cNvPr id="21" name="Shape 19"/>
          <p:cNvSpPr/>
          <p:nvPr/>
        </p:nvSpPr>
        <p:spPr>
          <a:xfrm>
            <a:off x="548640" y="5968746"/>
            <a:ext cx="146304" cy="146304"/>
          </a:xfrm>
          <a:prstGeom prst="rect">
            <a:avLst/>
          </a:prstGeom>
          <a:solidFill>
            <a:srgbClr val="C7791B"/>
          </a:solidFill>
          <a:ln w="12700">
            <a:solidFill>
              <a:srgbClr val="C7791B"/>
            </a:solidFill>
            <a:prstDash val="solid"/>
          </a:ln>
        </p:spPr>
      </p:sp>
      <p:sp>
        <p:nvSpPr>
          <p:cNvPr id="22" name="Text 20"/>
          <p:cNvSpPr txBox="1"/>
          <p:nvPr/>
        </p:nvSpPr>
        <p:spPr>
          <a:xfrm>
            <a:off x="932688" y="5893308"/>
            <a:ext cx="1071036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The patterns E = 0 and E = 255 are reserved: zero and denormalised numbers, infinity and NaN</a:t>
            </a:r>
            <a:endParaRPr lang="en-US" sz="1800" dirty="0"/>
          </a:p>
        </p:txBody>
      </p:sp>
      <p:sp>
        <p:nvSpPr>
          <p:cNvPr id="23" name="Shape 21"/>
          <p:cNvSpPr/>
          <p:nvPr/>
        </p:nvSpPr>
        <p:spPr>
          <a:xfrm>
            <a:off x="8156397" y="91440"/>
            <a:ext cx="3486658" cy="274320"/>
          </a:xfrm>
          <a:prstGeom prst="rect">
            <a:avLst/>
          </a:prstGeom>
          <a:solidFill>
            <a:srgbClr val="E0F2FE"/>
          </a:solidFill>
          <a:ln w="12700">
            <a:solidFill>
              <a:srgbClr val="0369A1"/>
            </a:solidFill>
            <a:prstDash val="solid"/>
          </a:ln>
        </p:spPr>
      </p:sp>
      <p:sp>
        <p:nvSpPr>
          <p:cNvPr id="24" name="Shape 22"/>
          <p:cNvSpPr/>
          <p:nvPr/>
        </p:nvSpPr>
        <p:spPr>
          <a:xfrm>
            <a:off x="8156397" y="91440"/>
            <a:ext cx="73152" cy="274320"/>
          </a:xfrm>
          <a:prstGeom prst="rect">
            <a:avLst/>
          </a:prstGeom>
          <a:solidFill>
            <a:srgbClr val="0369A1"/>
          </a:solidFill>
          <a:ln w="12700">
            <a:solidFill>
              <a:srgbClr val="0369A1"/>
            </a:solidFill>
            <a:prstDash val="solid"/>
          </a:ln>
        </p:spPr>
      </p:sp>
      <p:pic>
        <p:nvPicPr>
          <p:cNvPr id="25"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26" name="Text 23"/>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IEEE 754 floating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Worked example: -5.125 in IEEE 754</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Convert the two parts: 5 = 101 and 0.125 = 1/8 = 0.001, so 5.125 = 101.001</a:t>
            </a:r>
            <a:endParaRPr lang="en-US" sz="2400" dirty="0"/>
          </a:p>
        </p:txBody>
      </p:sp>
      <p:sp>
        <p:nvSpPr>
          <p:cNvPr id="5" name="Text 3"/>
          <p:cNvSpPr txBox="1"/>
          <p:nvPr/>
        </p:nvSpPr>
        <p:spPr>
          <a:xfrm>
            <a:off x="548640" y="24069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88616"/>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Normalise: 101.001 = 1.01001 x 2^2</a:t>
            </a:r>
            <a:endParaRPr lang="en-US" sz="2400" dirty="0"/>
          </a:p>
        </p:txBody>
      </p:sp>
      <p:sp>
        <p:nvSpPr>
          <p:cNvPr id="7" name="Text 5"/>
          <p:cNvSpPr txBox="1"/>
          <p:nvPr/>
        </p:nvSpPr>
        <p:spPr>
          <a:xfrm>
            <a:off x="548640" y="30734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55112"/>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Sign S = 1; exponent E = 2 + 127 = 129 = 1000 0001</a:t>
            </a:r>
            <a:endParaRPr lang="en-US" sz="2400" dirty="0"/>
          </a:p>
        </p:txBody>
      </p:sp>
      <p:sp>
        <p:nvSpPr>
          <p:cNvPr id="9" name="Text 7"/>
          <p:cNvSpPr txBox="1"/>
          <p:nvPr/>
        </p:nvSpPr>
        <p:spPr>
          <a:xfrm>
            <a:off x="548640" y="373989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721608"/>
            <a:ext cx="10436047" cy="438912"/>
          </a:xfrm>
          <a:prstGeom prst="rect">
            <a:avLst/>
          </a:prstGeom>
          <a:noFill/>
          <a:ln/>
        </p:spPr>
        <p:txBody>
          <a:bodyPr wrap="square" lIns="0" tIns="0" rIns="0" bIns="0" rtlCol="0" anchor="ctr"/>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Fraction F = 01001 followed by zeros: the leading 1 is hidden</a:t>
            </a:r>
            <a:endParaRPr lang="en-US" sz="2400" dirty="0"/>
          </a:p>
        </p:txBody>
      </p:sp>
      <p:sp>
        <p:nvSpPr>
          <p:cNvPr id="11" name="Text 9"/>
          <p:cNvSpPr txBox="1"/>
          <p:nvPr/>
        </p:nvSpPr>
        <p:spPr>
          <a:xfrm>
            <a:off x="548640" y="4526280"/>
            <a:ext cx="623590" cy="594360"/>
          </a:xfrm>
          <a:prstGeom prst="rect">
            <a:avLst/>
          </a:prstGeom>
          <a:solidFill>
            <a:srgbClr val="B23A48"/>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1</a:t>
            </a:r>
            <a:endParaRPr lang="en-US" sz="1700" dirty="0"/>
          </a:p>
        </p:txBody>
      </p:sp>
      <p:sp>
        <p:nvSpPr>
          <p:cNvPr id="12" name="Text 10"/>
          <p:cNvSpPr txBox="1"/>
          <p:nvPr/>
        </p:nvSpPr>
        <p:spPr>
          <a:xfrm>
            <a:off x="585216" y="4288536"/>
            <a:ext cx="311795"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31</a:t>
            </a:r>
            <a:endParaRPr lang="en-US" sz="1050" dirty="0"/>
          </a:p>
        </p:txBody>
      </p:sp>
      <p:sp>
        <p:nvSpPr>
          <p:cNvPr id="13" name="Text 11"/>
          <p:cNvSpPr txBox="1"/>
          <p:nvPr/>
        </p:nvSpPr>
        <p:spPr>
          <a:xfrm>
            <a:off x="1172230" y="4526280"/>
            <a:ext cx="2702148" cy="594360"/>
          </a:xfrm>
          <a:prstGeom prst="rect">
            <a:avLst/>
          </a:prstGeom>
          <a:solidFill>
            <a:srgbClr val="C7791B"/>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1000 0001</a:t>
            </a:r>
            <a:endParaRPr lang="en-US" sz="1700" dirty="0"/>
          </a:p>
        </p:txBody>
      </p:sp>
      <p:sp>
        <p:nvSpPr>
          <p:cNvPr id="14" name="Text 12"/>
          <p:cNvSpPr txBox="1"/>
          <p:nvPr/>
        </p:nvSpPr>
        <p:spPr>
          <a:xfrm>
            <a:off x="1208806" y="4288536"/>
            <a:ext cx="1351074"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30</a:t>
            </a:r>
            <a:endParaRPr lang="en-US" sz="1050" dirty="0"/>
          </a:p>
        </p:txBody>
      </p:sp>
      <p:sp>
        <p:nvSpPr>
          <p:cNvPr id="15" name="Text 13"/>
          <p:cNvSpPr txBox="1"/>
          <p:nvPr/>
        </p:nvSpPr>
        <p:spPr>
          <a:xfrm>
            <a:off x="2523304" y="4288536"/>
            <a:ext cx="1314498"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23</a:t>
            </a:r>
            <a:endParaRPr lang="en-US" sz="1050" dirty="0"/>
          </a:p>
        </p:txBody>
      </p:sp>
      <p:sp>
        <p:nvSpPr>
          <p:cNvPr id="16" name="Text 14"/>
          <p:cNvSpPr txBox="1"/>
          <p:nvPr/>
        </p:nvSpPr>
        <p:spPr>
          <a:xfrm>
            <a:off x="3874378" y="4526280"/>
            <a:ext cx="7768677" cy="594360"/>
          </a:xfrm>
          <a:prstGeom prst="rect">
            <a:avLst/>
          </a:prstGeom>
          <a:solidFill>
            <a:srgbClr val="0E7C86"/>
          </a:solidFill>
          <a:ln w="19050">
            <a:solidFill>
              <a:srgbClr val="FFFFFF"/>
            </a:solid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0100 1000 0000 0000 0000 000</a:t>
            </a:r>
            <a:endParaRPr lang="en-US" sz="1700" dirty="0"/>
          </a:p>
        </p:txBody>
      </p:sp>
      <p:sp>
        <p:nvSpPr>
          <p:cNvPr id="17" name="Text 15"/>
          <p:cNvSpPr txBox="1"/>
          <p:nvPr/>
        </p:nvSpPr>
        <p:spPr>
          <a:xfrm>
            <a:off x="3910954" y="4288536"/>
            <a:ext cx="3884338" cy="219456"/>
          </a:xfrm>
          <a:prstGeom prst="rect">
            <a:avLst/>
          </a:prstGeom>
          <a:noFill/>
          <a:ln/>
        </p:spPr>
        <p:txBody>
          <a:bodyPr wrap="square" lIns="0" tIns="0" rIns="0" bIns="0" rtlCol="0" anchor="t"/>
          <a:lstStyle/>
          <a:p>
            <a:pPr indent="0" marL="0">
              <a:buNone/>
            </a:pPr>
            <a:r>
              <a:rPr lang="en-US" sz="1050" dirty="0">
                <a:solidFill>
                  <a:srgbClr val="5B6B78"/>
                </a:solidFill>
                <a:latin typeface="Courier New" pitchFamily="34" charset="0"/>
                <a:ea typeface="Courier New" pitchFamily="34" charset="-122"/>
                <a:cs typeface="Courier New" pitchFamily="34" charset="-120"/>
              </a:rPr>
              <a:t>22</a:t>
            </a:r>
            <a:endParaRPr lang="en-US" sz="1050" dirty="0"/>
          </a:p>
        </p:txBody>
      </p:sp>
      <p:sp>
        <p:nvSpPr>
          <p:cNvPr id="18" name="Text 16"/>
          <p:cNvSpPr txBox="1"/>
          <p:nvPr/>
        </p:nvSpPr>
        <p:spPr>
          <a:xfrm>
            <a:off x="7758717" y="4288536"/>
            <a:ext cx="3847762" cy="219456"/>
          </a:xfrm>
          <a:prstGeom prst="rect">
            <a:avLst/>
          </a:prstGeom>
          <a:noFill/>
          <a:ln/>
        </p:spPr>
        <p:txBody>
          <a:bodyPr wrap="square" lIns="0" tIns="0" rIns="0" bIns="0" rtlCol="0" anchor="t"/>
          <a:lstStyle/>
          <a:p>
            <a:pPr algn="r" indent="0" marL="0">
              <a:buNone/>
            </a:pPr>
            <a:r>
              <a:rPr lang="en-US" sz="1050" dirty="0">
                <a:solidFill>
                  <a:srgbClr val="5B6B78"/>
                </a:solidFill>
                <a:latin typeface="Courier New" pitchFamily="34" charset="0"/>
                <a:ea typeface="Courier New" pitchFamily="34" charset="-122"/>
                <a:cs typeface="Courier New" pitchFamily="34" charset="-120"/>
              </a:rPr>
              <a:t>0</a:t>
            </a:r>
            <a:endParaRPr lang="en-US" sz="1050" dirty="0"/>
          </a:p>
        </p:txBody>
      </p:sp>
      <p:sp>
        <p:nvSpPr>
          <p:cNvPr id="19" name="Text 17"/>
          <p:cNvSpPr txBox="1"/>
          <p:nvPr/>
        </p:nvSpPr>
        <p:spPr>
          <a:xfrm>
            <a:off x="548640" y="5440680"/>
            <a:ext cx="11094415" cy="548640"/>
          </a:xfrm>
          <a:prstGeom prst="rect">
            <a:avLst/>
          </a:prstGeom>
          <a:noFill/>
          <a:ln/>
        </p:spPr>
        <p:txBody>
          <a:bodyPr wrap="square" lIns="0" tIns="0" rIns="0" bIns="0" rtlCol="0" anchor="ctr"/>
          <a:lstStyle/>
          <a:p>
            <a:pPr algn="ctr" indent="0" marL="0">
              <a:buNone/>
            </a:pPr>
            <a:r>
              <a:rPr lang="en-US" sz="2100" b="1" dirty="0">
                <a:solidFill>
                  <a:srgbClr val="1B2530"/>
                </a:solidFill>
                <a:latin typeface="Courier New" pitchFamily="34" charset="0"/>
                <a:ea typeface="Courier New" pitchFamily="34" charset="-122"/>
                <a:cs typeface="Courier New" pitchFamily="34" charset="-120"/>
              </a:rPr>
              <a:t>1100 0000 1010 0100 0000 0000 0000 0000  =  0xC0A40000</a:t>
            </a:r>
            <a:endParaRPr lang="en-US" sz="2100" dirty="0"/>
          </a:p>
        </p:txBody>
      </p:sp>
      <p:sp>
        <p:nvSpPr>
          <p:cNvPr id="20" name="Shape 18"/>
          <p:cNvSpPr/>
          <p:nvPr/>
        </p:nvSpPr>
        <p:spPr>
          <a:xfrm>
            <a:off x="8156397" y="91440"/>
            <a:ext cx="3486658" cy="274320"/>
          </a:xfrm>
          <a:prstGeom prst="rect">
            <a:avLst/>
          </a:prstGeom>
          <a:solidFill>
            <a:srgbClr val="E0F2FE"/>
          </a:solidFill>
          <a:ln w="12700">
            <a:solidFill>
              <a:srgbClr val="0369A1"/>
            </a:solidFill>
            <a:prstDash val="solid"/>
          </a:ln>
        </p:spPr>
      </p:sp>
      <p:sp>
        <p:nvSpPr>
          <p:cNvPr id="21" name="Shape 19"/>
          <p:cNvSpPr/>
          <p:nvPr/>
        </p:nvSpPr>
        <p:spPr>
          <a:xfrm>
            <a:off x="8156397" y="91440"/>
            <a:ext cx="73152" cy="274320"/>
          </a:xfrm>
          <a:prstGeom prst="rect">
            <a:avLst/>
          </a:prstGeom>
          <a:solidFill>
            <a:srgbClr val="0369A1"/>
          </a:solidFill>
          <a:ln w="12700">
            <a:solidFill>
              <a:srgbClr val="0369A1"/>
            </a:solidFill>
            <a:prstDash val="solid"/>
          </a:ln>
        </p:spPr>
      </p:sp>
      <p:pic>
        <p:nvPicPr>
          <p:cNvPr id="22"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23" name="Text 20"/>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IEEE 754 floating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IEEE 754 at a glance</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10011"/>
                <a:gridCol w="4092202"/>
                <a:gridCol w="4092202"/>
              </a:tblGrid>
              <a:tr h="0">
                <a:tc>
                  <a:txBody>
                    <a:bodyPr/>
                    <a:lstStyle/>
                    <a:p>
                      <a:pPr algn="l" indent="0" marL="0">
                        <a:buNone/>
                      </a:pP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Single precision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Double precision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Total bits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32</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64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Sign bits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Exponent bits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8</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Fraction bits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23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52</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Exponent encoding</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excess-127</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excess-1023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Exponent range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-126 ... +127</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-1022 ... +1023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Smallest normalised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2^-126, about 1.2 x 10^-38</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2^-1022, about 2.2 x 10^-308</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Largest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about 2^128, 3.4 x 10^38</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about 2^1024, 1.8 x 10^308</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Smallest denormalised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about 1.4 x 10^-45</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about 4.9 x 10^-324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Decimal digits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about 7</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about 16</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8156397" y="91440"/>
            <a:ext cx="3486658" cy="274320"/>
          </a:xfrm>
          <a:prstGeom prst="rect">
            <a:avLst/>
          </a:prstGeom>
          <a:solidFill>
            <a:srgbClr val="E0F2FE"/>
          </a:solidFill>
          <a:ln w="12700">
            <a:solidFill>
              <a:srgbClr val="0369A1"/>
            </a:solidFill>
            <a:prstDash val="solid"/>
          </a:ln>
        </p:spPr>
      </p:sp>
      <p:sp>
        <p:nvSpPr>
          <p:cNvPr id="5" name="Shape 2"/>
          <p:cNvSpPr/>
          <p:nvPr/>
        </p:nvSpPr>
        <p:spPr>
          <a:xfrm>
            <a:off x="8156397"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7" name="Text 3"/>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IEEE 754 floating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IEEE 754: what the patterns mean</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00632"/>
                <a:gridCol w="1091254"/>
                <a:gridCol w="1727819"/>
                <a:gridCol w="1727819"/>
                <a:gridCol w="4546891"/>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Kind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Sign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Exponent 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Fraction F</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Value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Normalised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 or 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 &lt; E &lt; max</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any pattern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(-1)^S x 1.F x 2^(E-bias)</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Denormalised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 or 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all zeros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not zero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(-1)^S x 0.F x 2^(1-bias)</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Zero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 or 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all zeros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all zeros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+0 or -0</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Infinity</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 or 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all ones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all zeros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+infinity or -infinity</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Not a Number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0 or 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all ones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not zero</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ourier New" pitchFamily="34" charset="0"/>
                          <a:ea typeface="Courier New" pitchFamily="34" charset="-122"/>
                          <a:cs typeface="Courier New" pitchFamily="34" charset="-120"/>
                        </a:rPr>
                        <a:t>NaN: an invalid result</a:t>
                      </a:r>
                      <a:endParaRPr lang="en-US" sz="18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156397" y="91440"/>
            <a:ext cx="3486658" cy="274320"/>
          </a:xfrm>
          <a:prstGeom prst="rect">
            <a:avLst/>
          </a:prstGeom>
          <a:solidFill>
            <a:srgbClr val="E0F2FE"/>
          </a:solidFill>
          <a:ln w="12700">
            <a:solidFill>
              <a:srgbClr val="0369A1"/>
            </a:solidFill>
            <a:prstDash val="solid"/>
          </a:ln>
        </p:spPr>
      </p:sp>
      <p:sp>
        <p:nvSpPr>
          <p:cNvPr id="5" name="Shape 2"/>
          <p:cNvSpPr/>
          <p:nvPr/>
        </p:nvSpPr>
        <p:spPr>
          <a:xfrm>
            <a:off x="8156397"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7" name="Text 3"/>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IEEE 754 floating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Floating point on RISC-V, and on your kit</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RISC-V with the F and D extensions</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Thirty-two more registers, f0 to f31, for floating-point values</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Instructions such as fadd.s, fmul.s, flw and fsw work on IEEE 754 numbers</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fcvt.w.s converts to an integer, fcvt.s.w from an integer</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Found on RISC-V processors for laptops, servers and supercomputers</a:t>
            </a:r>
            <a:endParaRPr lang="en-US" sz="19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The ESP32-C6: RV32IMAC</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No F and no D: there are no floating-point instructions at all</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A C program can still use float: the compiler calls software routines such as __addsf3</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Each call costs tens to hundreds of integer instructions</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PRG32 games use integers and fixed point: fast, exact enough, and visible in the debugger</a:t>
            </a:r>
            <a:endParaRPr lang="en-US" sz="1900" dirty="0"/>
          </a:p>
        </p:txBody>
      </p:sp>
      <p:sp>
        <p:nvSpPr>
          <p:cNvPr id="9" name="Shape 7"/>
          <p:cNvSpPr/>
          <p:nvPr/>
        </p:nvSpPr>
        <p:spPr>
          <a:xfrm>
            <a:off x="8156397" y="91440"/>
            <a:ext cx="3486658" cy="274320"/>
          </a:xfrm>
          <a:prstGeom prst="rect">
            <a:avLst/>
          </a:prstGeom>
          <a:solidFill>
            <a:srgbClr val="E0F2FE"/>
          </a:solidFill>
          <a:ln w="12700">
            <a:solidFill>
              <a:srgbClr val="0369A1"/>
            </a:solidFill>
            <a:prstDash val="solid"/>
          </a:ln>
        </p:spPr>
      </p:sp>
      <p:sp>
        <p:nvSpPr>
          <p:cNvPr id="10" name="Shape 8"/>
          <p:cNvSpPr/>
          <p:nvPr/>
        </p:nvSpPr>
        <p:spPr>
          <a:xfrm>
            <a:off x="8156397" y="91440"/>
            <a:ext cx="73152" cy="274320"/>
          </a:xfrm>
          <a:prstGeom prst="rect">
            <a:avLst/>
          </a:prstGeom>
          <a:solidFill>
            <a:srgbClr val="0369A1"/>
          </a:solidFill>
          <a:ln w="12700">
            <a:solidFill>
              <a:srgbClr val="0369A1"/>
            </a:solidFill>
            <a:prstDash val="solid"/>
          </a:ln>
        </p:spPr>
      </p:sp>
      <p:pic>
        <p:nvPicPr>
          <p:cNvPr id="11"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12" name="Text 9"/>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IEEE 754 floating point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Reading the name RV32IMAC</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273130"/>
                <a:gridCol w="2364384"/>
                <a:gridCol w="5456270"/>
                <a:gridCol w="2000632"/>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Letter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Extension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What it adds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On the ESP32-C6</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RV32I</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base integer set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32-bit registers, add, logic, load and store, branches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M</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multiply and divide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mul, mulh, div, rem and their unsigned forms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A</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atomic</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instructions for safe sharing between tasks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C</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compressed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16-bit encodings of the most common instructions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yes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F</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single precision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f0 to f31 and IEEE 754 single-precision instructions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dirty="0">
                          <a:solidFill>
                            <a:srgbClr val="1B2530"/>
                          </a:solidFill>
                          <a:latin typeface="Courier New" pitchFamily="34" charset="0"/>
                          <a:ea typeface="Courier New" pitchFamily="34" charset="-122"/>
                          <a:cs typeface="Courier New" pitchFamily="34" charset="-120"/>
                        </a:rPr>
                        <a:t>D</a:t>
                      </a:r>
                      <a:endParaRPr lang="en-US" sz="19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double precision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IEEE 754 double-precision instructions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no</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8550351" y="91440"/>
            <a:ext cx="3092704" cy="274320"/>
          </a:xfrm>
          <a:prstGeom prst="rect">
            <a:avLst/>
          </a:prstGeom>
          <a:solidFill>
            <a:srgbClr val="E0F2FE"/>
          </a:solidFill>
          <a:ln w="12700">
            <a:solidFill>
              <a:srgbClr val="0369A1"/>
            </a:solidFill>
            <a:prstDash val="solid"/>
          </a:ln>
        </p:spPr>
      </p:sp>
      <p:sp>
        <p:nvSpPr>
          <p:cNvPr id="5" name="Shape 2"/>
          <p:cNvSpPr/>
          <p:nvPr/>
        </p:nvSpPr>
        <p:spPr>
          <a:xfrm>
            <a:off x="8550351"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678367" y="128016"/>
            <a:ext cx="201168" cy="201168"/>
          </a:xfrm>
          <a:prstGeom prst="rect">
            <a:avLst/>
          </a:prstGeom>
        </p:spPr>
      </p:pic>
      <p:sp>
        <p:nvSpPr>
          <p:cNvPr id="7" name="Text 3"/>
          <p:cNvSpPr txBox="1"/>
          <p:nvPr/>
        </p:nvSpPr>
        <p:spPr>
          <a:xfrm>
            <a:off x="8934399" y="91440"/>
            <a:ext cx="267208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name RV32IMAC</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Which signed encoding keeps the bit patterns in the same order as the numbers?</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Sign and magnitude</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One's complement</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Two's complement</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Excess-k</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Q24.8 fixed point, which real number does the word 0x00000180 represent?</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384</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1.5</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1.8</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0.375</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Which real number is the IEEE 754 single-precision pattern 0x40400000?</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2.0</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3.0</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4.0</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0.75</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In IEEE 754, an exponent field of all ones with a fraction of all zeros means:</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zero</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denormalised number</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infinity</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NaN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10011"/>
                <a:gridCol w="3273762"/>
                <a:gridCol w="2546259"/>
                <a:gridCol w="236438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one's complement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complemento a uno (alla base diminuita)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mantissa / fraction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mantissa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excess-k (biased)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eccesso-k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exponent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esponente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fixed point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virgola fissa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normalisation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normalizzazione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floating point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virgola mobile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hidden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bit nascosto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single / double precision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singola / doppia precisione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denormalised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denormalizzato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rounding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arrotondamento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Not a Number (NaN)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non un numero (NaN)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Integers have several representations: 8, 16, 32 or 64 bits, signed or unsigned, complements or excess</a:t>
            </a:r>
            <a:endParaRPr lang="en-US" sz="2100" dirty="0"/>
          </a:p>
        </p:txBody>
      </p:sp>
      <p:sp>
        <p:nvSpPr>
          <p:cNvPr id="5" name="Shape 3"/>
          <p:cNvSpPr/>
          <p:nvPr/>
        </p:nvSpPr>
        <p:spPr>
          <a:xfrm>
            <a:off x="548640" y="234276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44090"/>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Fixed point stores a fraction as a scaled integer: constant absolute error, integer speed</a:t>
            </a:r>
            <a:endParaRPr lang="en-US" sz="2100" dirty="0"/>
          </a:p>
        </p:txBody>
      </p:sp>
      <p:sp>
        <p:nvSpPr>
          <p:cNvPr id="7" name="Shape 5"/>
          <p:cNvSpPr/>
          <p:nvPr/>
        </p:nvSpPr>
        <p:spPr>
          <a:xfrm>
            <a:off x="548640" y="316953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70860"/>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Floating point stores mantissa and exponent: huge range, constant relative error</a:t>
            </a:r>
            <a:endParaRPr lang="en-US" sz="2100" dirty="0"/>
          </a:p>
        </p:txBody>
      </p:sp>
      <p:sp>
        <p:nvSpPr>
          <p:cNvPr id="9" name="Shape 7"/>
          <p:cNvSpPr/>
          <p:nvPr/>
        </p:nvSpPr>
        <p:spPr>
          <a:xfrm>
            <a:off x="548640" y="367093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572256"/>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IEEE 754 is the universal standard for floating point, with special patterns for zero, infinity and NaN</a:t>
            </a:r>
            <a:endParaRPr lang="en-US" sz="2100" dirty="0"/>
          </a:p>
        </p:txBody>
      </p:sp>
      <p:sp>
        <p:nvSpPr>
          <p:cNvPr id="11" name="Shape 9"/>
          <p:cNvSpPr/>
          <p:nvPr/>
        </p:nvSpPr>
        <p:spPr>
          <a:xfrm>
            <a:off x="548640" y="4497705"/>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399026"/>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On a processor without the F extension, fixed point is the natural choice</a:t>
            </a:r>
            <a:endParaRPr lang="en-US" sz="2100" dirty="0"/>
          </a:p>
        </p:txBody>
      </p:sp>
      <p:sp>
        <p:nvSpPr>
          <p:cNvPr id="13" name="Shape 11"/>
          <p:cNvSpPr/>
          <p:nvPr/>
        </p:nvSpPr>
        <p:spPr>
          <a:xfrm>
            <a:off x="548640" y="4999101"/>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900422"/>
            <a:ext cx="10710367" cy="127177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Reading</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Patterson, Hennessy: Computer Organization and Design, RISC-V Edition, section 3.5</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David Goldberg: What Every Computer Scientist Should Know About Floating-Point Arithmetic</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Playing with RISC-V, appendix: The PRG32 Runtime Interface (playfields and parallax)</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Number Representation: Real Numbers</dc:title>
  <dc:subject>Lecture 06</dc:subject>
  <dc:creator>Raffaele Montella</dc:creator>
  <cp:lastModifiedBy>Raffaele Montella</cp:lastModifiedBy>
  <cp:revision>1</cp:revision>
  <dcterms:created xsi:type="dcterms:W3CDTF">2026-10-17T07:16:48Z</dcterms:created>
  <dcterms:modified xsi:type="dcterms:W3CDTF">2026-10-17T07:16:48Z</dcterms:modified>
</cp:coreProperties>
</file>