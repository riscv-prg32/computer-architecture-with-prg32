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cffda0-f76d-06dc-a987-7057ef12ac49}">
          <p14:sldIdLst>
            <p14:sldId id="256"/>
            <p14:sldId id="257"/>
          </p14:sldIdLst>
        </p14:section>
        <p14:section name="More encodings for signed integers" id="{98f21a5a-33a9-3d0c-b858-c4630b70dec4}">
          <p14:sldIdLst>
            <p14:sldId id="258"/>
            <p14:sldId id="259"/>
            <p14:sldId id="260"/>
            <p14:sldId id="261"/>
          </p14:sldIdLst>
        </p14:section>
        <p14:section name="Fixed point" id="{55ed587e-d625-6850-6e68-d060c23736ba}">
          <p14:sldIdLst>
            <p14:sldId id="262"/>
            <p14:sldId id="263"/>
          </p14:sldIdLst>
        </p14:section>
        <p14:section name="Floating point" id="{5169d299-71dd-4e03-2867-4f9bcdbeb138}">
          <p14:sldIdLst>
            <p14:sldId id="264"/>
            <p14:sldId id="265"/>
            <p14:sldId id="266"/>
            <p14:sldId id="267"/>
            <p14:sldId id="268"/>
            <p14:sldId id="269"/>
          </p14:sldIdLst>
        </p14:section>
        <p14:section name="Back to the machine" id="{415c41a1-ccdf-58f6-3304-678135d37c01}">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whole numbers. This one deals with numbers that have a fractional part, and it starts from a practical problem: a ball that must move by less than one pixel per frame, on a processor that has no instructions for real numbers. The solution, fixed point, uses only what you already know. Floating point then appears as the general answer, with the standard that every computer follows, IEEE 754.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Two encodings of signed integers that complete the previous lecture, one's complement and excess-k: they are needed to understand floating point. Then fixed point, which you will use in the project. Then floating point: mantissa, exponent, normalisation, encoding and decoding a number in single precision, and the special patterns. Finally a fact about your own kit: its processor has no floating-point instructions, and you will be able to say what programs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the positive one: 6 is 0110, minus 6 is 1001. Changing sign is as simple as it can be. The price is the same as for sign and magnitude: zero has two representations, 0000 and 1111, and the range is symmetric, from minus 7 to plus 7 on four bits. The instruction not of RISC-V computes exactly the one's complement of a register.
UNDERSTAND NOW: one's complement and excess-k.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works with the ordinary adder, with one correction: when there is a carry out of the leftmost bit, 1 must be added to the result. It is called the end-around carry. The first example needs no correction. In the second and third, the carry out is brought round and added. The extra step and the double zero are the reasons why two's complement, in which the carry is simply discarded, won.
UNDERSTAND NOW: one's complement and excess-k.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every number is shifted upward by a constant: X = x + k. With four bits and k = 8, the pattern 0000 means minus 8, 1000 means zero and 1111 means plus 7. The valuable property is that order is preserved: a larger number always has a larger pattern, so two signed numbers can be compared as if they were naturals. Arithmetic is less convenient, because every sum must be corrected. This is the encoding of the exponent in floating-point numbers.
UNDERSTAND NOW: one's complement and excess-k.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with two more columns: the same sixteen patterns read as unsigned, sign and magnitude, one's complement, two's complement and excess-8. Three observations. Sign and magnitude and one's complement have two zeros, highlighted. Two's complement and excess-8 cover the same range, minus 8 to plus 7, and differ only in the leftmost bit. And excess-8 is the only column in which the values grow steadily from the top to the bottom of the table.
UNDERSTAND NOW: one's complement and excess-k.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part and the fractional part sit side by side in one word, and the position of the point is fixed. It is not stored anywhere: it is an agreement that the program knows. If f bits are reserved for the fraction, the word contains the number multiplied by 2 to the f, and the smallest step that can be represented, the resolution, is 2 to the minus f. The notation Qm.f says how the bits are divided: Q24.8 means 24 integer bits and 8 fractional bits.
UNDERSTAND NOW: fixed point.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the nearest representable one. In Q24.8 the number 0.1 becomes 26/256, about 0.1016. The error is at most half the resolution. A number too close to zero becomes zero: this is underflow, and it is why a speed of 0.001 pixels per frame would leave the ball still. In fixed point the absolute error is the same everywhere.
UNDERSTAND NOW: fixed point.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written as a pair: a mantissa m and an exponent e, such that x is m times the base raised to e. It is the scientific notation of the physics laboratory. The point "floats" because the exponent says where it is. Since the same number has infinitely many such pairs, one is chosen by a rule, normalisation: the point is placed just after the first significant digit, so 346.09801 becomes 3.4609801 with exponent 2.
UNDERSTAND NOW: IEEE 754 floating point.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distance between two consecutive representable numbers is not constant. Near zero they are extremely close together; near the upper limit they are far apart. The absolute error therefore grows with the size of the number. What stays constant is the relative error, because every number has the same number of significant digits: four in this example. It is the opposite of fixed point, where the absolute error is constant and the relative error becomes large near zero.
UNDERSTAND NOW: IEEE 754 floating point.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single-precision format of IEEE 754 divides 32 bits into three fields: one bit of sign, eight of exponent, twenty-three of fraction. The value is given by the formula in the middle. Two details deserve attention. A normalised binary mantissa always begins with 1, so that bit is not stored: it is the hidden bit, and it gives one more bit of precision for free. And the exponent is stored in excess-127, the encoding of the previous section, so that exponents can be compared as natural numbers.
UNDERSTAND NOW: IEEE 754 floating point.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example: minus 5.125. Convert the two parts to binary: 5 is 101 and 0.125 is 0.001, so the number is 101.001. Normalise by moving the point two places: 1.01001 times 2 to the 2. The sign bit is 1. The exponent field is 2 plus 127, 129, that is 1000 0001. The fraction is 01001 followed by zeros, without the leading 1. Putting the three fields together and regrouping in fours gives 0xC0A40000. Redo it on paper, then try with another number.
UNDERSTAND NOW: IEEE 754 floating point.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side by side. Double precision has 64 bits, 11 of exponent in excess-1023 and 52 of fraction. Two rows are worth remembering as orders of magnitude: single precision gives about 7 significant decimal digits and reaches about 10 to the 38; double precision gives about 16 digits and reaches about 10 to the 308. The types float and double of the C language are these two formats.
UNDERSTAND NOW: IEEE 754 floating point.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the patterns are ordinary numbers. An exponent field between the two extremes is a normalised number. An exponent of all zeros means zero, if the fraction is zero too, or a denormalised number, which fills the gap around zero with decreasing precision. An exponent of all ones means infinity, if the fraction is zero, or NaN, "not a number", the result of an invalid operation such as zero divided by zero. Note that there are two zeros, plus and minus, and that NaN is not equal to anything, itself included.
UNDERSTAND NOW: IEEE 754 floating point.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handles floating point through two optional extensions, F for single precision and D for double: they add thirty-two registers, f0 to f31, and instructions such as fadd.s. The processor of the kit, RV32IMAC, has neither. A C program can still use float, but each operation becomes a call to a software routine that costs tens or hundreds of integer instructions. This is why PRG32 games use integers and fixed point: they are fast, exact enough, and visible in the debugger.
UNDERSTAND NOW: IEEE 754 floating point.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the atomic instructions for sharing data safely between tasks. C adds compressed, 16-bit encodings of the most common instructions. F and D, the floating-point extensions, are absent. This modularity is a design choice of RISC-V: a small mandatory base and optional extensions, so that the same architecture fits a cheap microcontroller and a supercomputer.
UNDERSTAND NOW: the name RV32IMAC.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what each encoding does to the order. In sign and magnitude and in the complements, negative numbers have the leftmost bit at 1, so as patterns they come after the positive ones. Only an encoding that adds a constant to every number keeps the order intact.
Q24.8 means that the word is the number multiplied by 256. Read 0x180 as an integer and divide by 256; or split it directly: integer part 0x01, fraction 0x80, which is 128/256.
For the lecturer: 1. Answer: D. In excess-k, X = x + k: a larger number always has a larger pattern. This is why it encodes floating-point exponents, which must be compared quickly.
2.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first hexadecimal digits in binary and cut the fields: one bit of sign, eight of exponent, then the fraction. Subtract 127 from the exponent, and do not forget the hidden 1 in front of the fraction.
Go back to the table of the special patterns. An exponent of all ones is reserved: which of its two cases has a fraction of all zeros?
For the lecturer: 1. Answer: B. 0100 0000 0100 0000 ...: S = 0, E = 1000 0000 = 128, F = 100...: 1.1 (binary) x 2^(128-127) = 1.5 x 2 = 3.0.
2.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a comma, so fixed point and floating point are virgola fissa and virgola mobile. Mantissa is the traditional word for the significant digits; the standard calls the stored part fraction. The hidden bit is the leading 1 that is not stored. Denormalised numbers are also called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have several representations, chosen according to use. Fixed point stores a fraction as a scaled integer: constant absolute error, the speed of integers. Floating point stores mantissa and exponent: an enormous range, constant relative error. IEEE 754 is the universal standard, with special patterns for zero, infinity and NaN. And on a processor without the F extension, fixed point is the natural choice. Next comes the first part of Verm1, where the last four lectures are put to work.
Learning status, recap.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4" name="Shape 22"/>
          <p:cNvSpPr/>
          <p:nvPr/>
        </p:nvSpPr>
        <p:spPr>
          <a:xfrm>
            <a:off x="7762443" y="91440"/>
            <a:ext cx="3880612" cy="274320"/>
          </a:xfrm>
          <a:prstGeom prst="rect">
            <a:avLst/>
          </a:prstGeom>
          <a:solidFill>
            <a:srgbClr val="E0F2FE"/>
          </a:solidFill>
          <a:ln w="12700">
            <a:solidFill>
              <a:srgbClr val="0369A1"/>
            </a:solidFill>
            <a:prstDash val="solid"/>
          </a:ln>
        </p:spPr>
      </p:sp>
      <p:sp>
        <p:nvSpPr>
          <p:cNvPr id="25" name="Shape 23"/>
          <p:cNvSpPr/>
          <p:nvPr/>
        </p:nvSpPr>
        <p:spPr>
          <a:xfrm>
            <a:off x="776244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7" name="Text 24"/>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11" name="Shape 7"/>
          <p:cNvSpPr/>
          <p:nvPr/>
        </p:nvSpPr>
        <p:spPr>
          <a:xfrm>
            <a:off x="7762443" y="91440"/>
            <a:ext cx="3880612" cy="274320"/>
          </a:xfrm>
          <a:prstGeom prst="rect">
            <a:avLst/>
          </a:prstGeom>
          <a:solidFill>
            <a:srgbClr val="E0F2FE"/>
          </a:solidFill>
          <a:ln w="12700">
            <a:solidFill>
              <a:srgbClr val="0369A1"/>
            </a:solidFill>
            <a:prstDash val="solid"/>
          </a:ln>
        </p:spPr>
      </p:sp>
      <p:sp>
        <p:nvSpPr>
          <p:cNvPr id="12" name="Shape 8"/>
          <p:cNvSpPr/>
          <p:nvPr/>
        </p:nvSpPr>
        <p:spPr>
          <a:xfrm>
            <a:off x="776244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4" name="Text 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14"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5"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7"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3" name="Shape 21"/>
          <p:cNvSpPr/>
          <p:nvPr/>
        </p:nvSpPr>
        <p:spPr>
          <a:xfrm>
            <a:off x="8156397" y="91440"/>
            <a:ext cx="3486658" cy="274320"/>
          </a:xfrm>
          <a:prstGeom prst="rect">
            <a:avLst/>
          </a:prstGeom>
          <a:solidFill>
            <a:srgbClr val="E0F2FE"/>
          </a:solidFill>
          <a:ln w="12700">
            <a:solidFill>
              <a:srgbClr val="0369A1"/>
            </a:solidFill>
            <a:prstDash val="solid"/>
          </a:ln>
        </p:spPr>
      </p:sp>
      <p:sp>
        <p:nvSpPr>
          <p:cNvPr id="24" name="Shape 22"/>
          <p:cNvSpPr/>
          <p:nvPr/>
        </p:nvSpPr>
        <p:spPr>
          <a:xfrm>
            <a:off x="8156397"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6" name="Text 2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8156397" y="91440"/>
            <a:ext cx="3486658" cy="274320"/>
          </a:xfrm>
          <a:prstGeom prst="rect">
            <a:avLst/>
          </a:prstGeom>
          <a:solidFill>
            <a:srgbClr val="E0F2FE"/>
          </a:solidFill>
          <a:ln w="12700">
            <a:solidFill>
              <a:srgbClr val="0369A1"/>
            </a:solidFill>
            <a:prstDash val="solid"/>
          </a:ln>
        </p:spPr>
      </p:sp>
      <p:sp>
        <p:nvSpPr>
          <p:cNvPr id="21" name="Shape 19"/>
          <p:cNvSpPr/>
          <p:nvPr/>
        </p:nvSpPr>
        <p:spPr>
          <a:xfrm>
            <a:off x="8156397"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3" name="Text 2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name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 and magnitude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One's complement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Two's complement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Excess-k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denormalised number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infinity</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2026-10-16T15:51:37Z</dcterms:created>
  <dcterms:modified xsi:type="dcterms:W3CDTF">2026-10-16T15:51:37Z</dcterms:modified>
</cp:coreProperties>
</file>