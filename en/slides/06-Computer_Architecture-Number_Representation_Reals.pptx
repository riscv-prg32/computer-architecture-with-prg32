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102faa4-139d-5f08-94ef-865c808c48d0}">
          <p14:sldIdLst>
            <p14:sldId id="256"/>
            <p14:sldId id="257"/>
          </p14:sldIdLst>
        </p14:section>
        <p14:section name="More encodings for signed integers" id="{038e3847-3459-9ae4-298d-849dd55af2fd}">
          <p14:sldIdLst>
            <p14:sldId id="258"/>
            <p14:sldId id="259"/>
            <p14:sldId id="260"/>
            <p14:sldId id="261"/>
          </p14:sldIdLst>
        </p14:section>
        <p14:section name="Fixed point" id="{7cfc25d0-71ad-fb9d-7a60-f57aeb82125c}">
          <p14:sldIdLst>
            <p14:sldId id="262"/>
            <p14:sldId id="263"/>
          </p14:sldIdLst>
        </p14:section>
        <p14:section name="Floating point" id="{b1eb87ae-6096-c95d-9b5b-ee263239830b}">
          <p14:sldIdLst>
            <p14:sldId id="264"/>
            <p14:sldId id="265"/>
            <p14:sldId id="266"/>
            <p14:sldId id="267"/>
            <p14:sldId id="268"/>
            <p14:sldId id="269"/>
          </p14:sldIdLst>
        </p14:section>
        <p14:section name="Back to the machine" id="{093cf1ed-02da-84b3-d91a-db7c8cf066d0}">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lecture dealt with whole numbers. This one deals with numbers that have a fractional part, and it starts from a practical problem: a ball that must move by less than one pixel per frame, on a processor that has no instructions for real numbers. The solution, fixed point, uses only what you already know. Floating point then appears as the general answer, with the standard that every computer follows, IEEE 754.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fixed point; one's complement and excess-k; IEEE 754 floating point; the name RV32IMAC. USE NOW: the complete program, the PRG32 tools (used, not studied, in this course). UNDERSTAND LATER: nothing. A slide without a badge is context: a story, an example, a question, an exercise.
For the lecturer: Spiral: the lecture opens with a ball that must move less than one pixel per frame on a processor with no floating-point unit. Fixed point solves it; floating point is then presented as the general answer, with IEEE 754.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Two encodings of signed integers that complete the previous lecture, one's complement and excess-k: they are needed to understand floating point. Then fixed point, which you will use in the project. Then floating point: mantissa, exponent, normalisation, encoding and decoding a number in single precision, and the special patterns. Finally a fact about your own kit: its processor has no floating-point instructions, and you will be able to say what programs do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one's complement a negative number is obtained by inverting every bit of the positive one: 6 is 0110, minus 6 is 1001. Changing sign is as simple as it can be. The price is the same as for sign and magnitude: zero has two representations, 0000 and 1111, and the range is symmetric, from minus 7 to plus 7 on four bits. The instruction not of RISC-V computes exactly the one's complement of a register.
UNDERSTAND NOW: one's complement and excess-k.
For the lecturer: Also called diminished radix complement (complemento alla base diminuita). The bitwise not of RISC-V computes exactly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Addition in one's complement works with the ordinary adder, with one correction: when there is a carry out of the leftmost bit, 1 must be added to the result. It is called the end-around carry. The first example needs no correction. In the second and third, the carry out is brought round and added. The extra step and the double zero are the reasons why two's complement, in which the carry is simply discarded, won.
UNDERSTAND NOW: one's complement and excess-k.
For the lecturer: The source slides call the carry an 'overflow in the arithmetic of positive integers': it is the carry out of the natural-number adder, reinterpreted as the need for a correction.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excess-k every number is shifted upward by a constant: X = x + k. With four bits and k = 8, the pattern 0000 means minus 8, 1000 means zero and 1111 means plus 7. The valuable property is that order is preserved: a larger number always has a larger pattern, so two signed numbers can be compared as if they were naturals. Arithmetic is less convenient, because every sum must be corrected. This is the encoding of the exponent in floating-point numbers.
UNDERSTAND NOW: one's complement and excess-k.
For the lecturer: Excess-8 on four bits: 0000 = -8, 1000 = 0, 1111 = +7. Compare with two's complement: the same range, with the most significant bit inverted.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of Lecture 05 with two more columns: the same sixteen patterns read as unsigned, sign and magnitude, one's complement, two's complement and excess-8. Three observations. Sign and magnitude and one's complement have two zeros, highlighted. Two's complement and excess-8 cover the same range, minus 8 to plus 7, and differ only in the leftmost bit. And excess-8 is the only column in which the values grow steadily from the top to the bottom of the table.
UNDERSTAND NOW: one's complement and excess-k.
For the lecturer: This table replaces the comparison picture of the source deck ('Numeri relativi: complementi').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fixed point the integer part and the fractional part sit side by side in one word, and the position of the point is fixed. It is not stored anywhere: it is an agreement that the program knows. If f bits are reserved for the fraction, the word contains the number multiplied by 2 to the f, and the smallest step that can be represented, the resolution, is 2 to the minus f. The notation Qm.f says how the bits are divided: Q24.8 means 24 integer bits and 8 fractional bits.
UNDERSTAND NOW: fixed point.
For the lecturer: Fixed point is how games, audio and control software handle fractions on processors without a floating-point unit. It is also how money should be stored: integer cents.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real numbers are dense: between any two there are infinitely many others, so with a finite number of bits most of them cannot be represented, and each is replaced by the nearest representable one. In Q24.8 the number 0.1 becomes 26/256, about 0.1016. The error is at most half the resolution. A number too close to zero becomes zero: this is underflow, and it is why a speed of 0.001 pixels per frame would leave the ball still. In fixed point the absolute error is the same everywhere.
UNDERSTAND NOW: fixed point.
For the lecturer: 0.1 x 256 = 25.6, rounded to 26. With SPEED_Q8 = 1 the ball moves 1/256 pixel per frame; a speed of 0.001 pixel per frame underflows to zero and the ball never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real number is written as a pair: a mantissa m and an exponent e, such that x is m times the base raised to e. It is the scientific notation of the physics laboratory. The point "floats" because the exponent says where it is. Since the same number has infinitely many such pairs, one is chosen by a rule, normalisation: the point is placed just after the first significant digit, so 346.09801 becomes 3.4609801 with exponent 2.
UNDERSTAND NOW: IEEE 754 floating point.
For the lecturer: Scientific notation, in other words. Fixed point spends its bits on a fixed range; floating point spends some bits to say where the range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floating point the distance between two consecutive representable numbers is not constant. Near zero they are extremely close together; near the upper limit they are far apart. The absolute error therefore grows with the size of the number. What stays constant is the relative error, because every number has the same number of significant digits: four in this example. It is the opposite of fixed point, where the absolute error is constant and the relative error becomes large near zero.
UNDERSTAND NOW: IEEE 754 floating point.
For the lecturer: This is the opposite of fixed point, where the absolute error is constant and the relative error explodes near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single-precision format of IEEE 754 divides 32 bits into three fields: one bit of sign, eight of exponent, twenty-three of fraction. The value is given by the formula in the middle. Two details deserve attention. A normalised binary mantissa always begins with 1, so that bit is not stored: it is the hidden bit, and it gives one more bit of precision for free. And the exponent is stored in excess-127, the encoding of the previous section, so that exponents can be compared as natural numbers.
UNDERSTAND NOW: IEEE 754 floating point.
For the lecturer: IEEE 754 dates from 1985 (revised 2008 and 2019). Before it, every manufacturer had its own format and programs gave different results on different machines.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complete example: minus 5.125. Convert the two parts to binary: 5 is 101 and 0.125 is 0.001, so the number is 101.001. Normalise by moving the point two places: 1.01001 times 2 to the 2. The sign bit is 1. The exponent field is 2 plus 127, 129, that is 1000 0001. The fraction is 01001 followed by zeros, without the leading 1. Putting the three fields together and regrouping in fours gives 0xC0A40000. Redo it on paper, then try with another number.
UNDERSTAND NOW: IEEE 754 floating point.
For the lecturer: Check the regrouping in nibbles: 1100 = C, 0000 = 0, 1010 = A, 0100 = 4, then zeros. Three slides of the source deck are merged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Single and double precision side by side. Double precision has 64 bits, 11 of exponent in excess-1023 and 52 of fraction. Two rows are worth remembering as orders of magnitude: single precision gives about 7 significant decimal digits and reaches about 10 to the 38; double precision gives about 16 digits and reaches about 10 to the 308. The types float and double of the C language are these two formats.
UNDERSTAND NOW: IEEE 754 floating point.
For the lecturer: Corrections to the source table: the double-precision exponent is in excess-1023 (not 1024), and the decimal ranges are about 10^38 and 10^308.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all the patterns are ordinary numbers. An exponent field between the two extremes is a normalised number. An exponent of all zeros means zero, if the fraction is zero too, or a denormalised number, which fills the gap around zero with decreasing precision. An exponent of all ones means infinity, if the fraction is zero, or NaN, "not a number", the result of an invalid operation such as zero divided by zero. Note that there are two zeros, plus and minus, and that NaN is not equal to anything, itself included.
UNDERSTAND NOW: IEEE 754 floating point.
For the lecturer: Denormalised (subnormal) numbers fill the underflow gap around zero with gradually decreasing precision. 1/0 gives infinity; 0/0 and the square root of -1 give NaN. NaN is not equal to anything, itself included.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RISC-V handles floating point through two optional extensions, F for single precision and D for double: they add thirty-two registers, f0 to f31, and instructions such as fadd.s. The processor of the kit, RV32IMAC, has neither. A C program can still use float, but each operation becomes a call to a software routine that costs tens or hundreds of integer instructions. This is why PRG32 games use integers and fixed point: they are fast, exact enough, and visible in the debugger.
UNDERSTAND NOW: IEEE 754 floating point.
For the lecturer: The software routines implement exactly the algorithm of this lecture with shifts, masks and integer additions: a good reading exercise for the end of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name RV32IMAC can now be read letter by letter. RV32I is the base: 32-bit registers and the integer instructions. M adds multiplication and division. A adds the atomic instructions for sharing data safely between tasks. C adds compressed, 16-bit encodings of the most common instructions. F and D, the floating-point extensions, are absent. This modularity is a design choice of RISC-V: a small mandatory base and optional extensions, so that the same architecture fits a cheap microcontroller and a supercomputer.
UNDERSTAND NOW: the name RV32IMAC.
For the lecturer: RISC-V is modular: a small mandatory base plus optional extensions. A microcontroller picks what it needs; this is one reason the same architecture scales from a two-euro chip to a supercomputer.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of what each encoding does to the order. In sign and magnitude and in the complements, negative numbers have the leftmost bit at 1, so as patterns they come after the positive ones. Only an encoding that adds a constant to every number keeps the order intact.
Q24.8 means that the word is the number multiplied by 256. Read 0x180 as an integer and divide by 256; or split it directly: integer part 0x01, fraction 0x80, which is 128/256.
For the lecturer: 1. Answer: D. In excess-k, X = x + k: a larger number always has a larger pattern. This is why it encodes floating-point exponents, which must be compared quickly.
2. Answer: B. 0x180 = 384; 384 / 256 = 1.5. Integer part 0x01, fraction 0x80 = 128/256 = 0.5.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first hexadecimal digits in binary and cut the fields: one bit of sign, eight of exponent, then the fraction. Subtract 127 from the exponent, and do not forget the hidden 1 in front of the fraction.
Go back to the table of the special patterns. An exponent of all ones is reserved: which of its two cases has a fraction of all zeros?
For the lecturer: 1. Answer: B. 0100 0000 0100 0000 ...: S = 0, E = 1000 0000 = 128, F = 100...: 1.1 (binary) x 2^(128-127) = 1.5 x 2 = 3.0.
2. Answer: C. All ones in the exponent: infinity if the fraction is zero, NaN otherwise.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In Italian the decimal separator is a comma, so fixed point and floating point are virgola fissa and virgola mobile. Mantissa is the traditional word for the significant digits; the standard calls the stored part fraction. The hidden bit is the leading 1 that is not stored. Denormalised numbers are also called subnormal.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Integers have several representations, chosen according to use. Fixed point stores a fraction as a scaled integer: constant absolute error, the speed of integers. Floating point stores mantissa and exponent: an enormous range, constant relative error. IEEE 754 is the universal standard, with special patterns for zero, infinity and NaN. And on a processor without the F extension, fixed point is the natural choice. Next comes the first part of Verm1, where the last four lectures are put to work.
Learning status, recap. UNDERSTAND NOW: fixed point; one's complement and excess-k; IEEE 754 floating point; the name RV32IMAC. USE NOW: the complete program, the PRG32 tools (used, not studied, in this course). UNDERSTAND LATER: nothing. A slide without a badge is context: a story, an example, a question, an exercise.
For the lecturer: Next: Verm1, part 1, where the first four lectures go to work in a real program. Then Boolean algebra.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06: Number representation (reals)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06</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Number Representation: Real Numbers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One's complement, excess-k, fixed point and IEEE 754 floating point</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“I may count for little, it's true, said the One to the Zero, but what are you worth? Nothing: nothing at all.”</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Trilussa, Nummeri, 1944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Lecture deck. The listings, the complete program and how to test it are in the code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06-Computer_Architecture-Number_Representation_Reals-Code.pptx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raycaster.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9690303" y="91440"/>
            <a:ext cx="1952752" cy="274320"/>
          </a:xfrm>
          <a:prstGeom prst="rect">
            <a:avLst/>
          </a:prstGeom>
          <a:solidFill>
            <a:srgbClr val="F3E8FF"/>
          </a:solidFill>
          <a:ln w="12700">
            <a:solidFill>
              <a:srgbClr val="7E22CE"/>
            </a:solidFill>
            <a:prstDash val="dash"/>
          </a:ln>
        </p:spPr>
      </p:sp>
      <p:sp>
        <p:nvSpPr>
          <p:cNvPr id="16" name="Shape 13"/>
          <p:cNvSpPr/>
          <p:nvPr/>
        </p:nvSpPr>
        <p:spPr>
          <a:xfrm>
            <a:off x="9717735" y="128016"/>
            <a:ext cx="45720" cy="45720"/>
          </a:xfrm>
          <a:prstGeom prst="rect">
            <a:avLst/>
          </a:prstGeom>
          <a:solidFill>
            <a:srgbClr val="7E22CE"/>
          </a:solidFill>
          <a:ln w="12700">
            <a:solidFill>
              <a:srgbClr val="7E22CE"/>
            </a:solidFill>
            <a:prstDash val="solid"/>
          </a:ln>
        </p:spPr>
      </p:sp>
      <p:sp>
        <p:nvSpPr>
          <p:cNvPr id="17" name="Shape 14"/>
          <p:cNvSpPr/>
          <p:nvPr/>
        </p:nvSpPr>
        <p:spPr>
          <a:xfrm>
            <a:off x="9717735" y="205740"/>
            <a:ext cx="45720" cy="45720"/>
          </a:xfrm>
          <a:prstGeom prst="rect">
            <a:avLst/>
          </a:prstGeom>
          <a:solidFill>
            <a:srgbClr val="7E22CE"/>
          </a:solidFill>
          <a:ln w="12700">
            <a:solidFill>
              <a:srgbClr val="7E22CE"/>
            </a:solidFill>
            <a:prstDash val="solid"/>
          </a:ln>
        </p:spPr>
      </p:sp>
      <p:sp>
        <p:nvSpPr>
          <p:cNvPr id="18" name="Shape 15"/>
          <p:cNvSpPr/>
          <p:nvPr/>
        </p:nvSpPr>
        <p:spPr>
          <a:xfrm>
            <a:off x="9717735"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20" name="Text 16"/>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1" name="Shape 17"/>
          <p:cNvSpPr/>
          <p:nvPr/>
        </p:nvSpPr>
        <p:spPr>
          <a:xfrm>
            <a:off x="8407349" y="91440"/>
            <a:ext cx="1173226" cy="274320"/>
          </a:xfrm>
          <a:prstGeom prst="rect">
            <a:avLst/>
          </a:prstGeom>
          <a:solidFill>
            <a:srgbClr val="FEF3C7"/>
          </a:solidFill>
          <a:ln w="12700">
            <a:solidFill>
              <a:srgbClr val="B45309"/>
            </a:solidFill>
            <a:prstDash val="solid"/>
          </a:ln>
        </p:spPr>
      </p:sp>
      <p:sp>
        <p:nvSpPr>
          <p:cNvPr id="22" name="Shape 18"/>
          <p:cNvSpPr/>
          <p:nvPr/>
        </p:nvSpPr>
        <p:spPr>
          <a:xfrm>
            <a:off x="8407349" y="91440"/>
            <a:ext cx="27432" cy="274320"/>
          </a:xfrm>
          <a:prstGeom prst="rect">
            <a:avLst/>
          </a:prstGeom>
          <a:solidFill>
            <a:srgbClr val="B45309"/>
          </a:solidFill>
          <a:ln w="12700">
            <a:solidFill>
              <a:srgbClr val="B45309"/>
            </a:solidFill>
            <a:prstDash val="solid"/>
          </a:ln>
        </p:spPr>
      </p:sp>
      <p:sp>
        <p:nvSpPr>
          <p:cNvPr id="23" name="Shape 19"/>
          <p:cNvSpPr/>
          <p:nvPr/>
        </p:nvSpPr>
        <p:spPr>
          <a:xfrm>
            <a:off x="846221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5" name="Text 20"/>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6" name="Shape 21"/>
          <p:cNvSpPr/>
          <p:nvPr/>
        </p:nvSpPr>
        <p:spPr>
          <a:xfrm>
            <a:off x="6518097" y="91440"/>
            <a:ext cx="1779524" cy="274320"/>
          </a:xfrm>
          <a:prstGeom prst="rect">
            <a:avLst/>
          </a:prstGeom>
          <a:solidFill>
            <a:srgbClr val="E0F2FE"/>
          </a:solidFill>
          <a:ln w="12700">
            <a:solidFill>
              <a:srgbClr val="0369A1"/>
            </a:solidFill>
            <a:prstDash val="solid"/>
          </a:ln>
        </p:spPr>
      </p:sp>
      <p:sp>
        <p:nvSpPr>
          <p:cNvPr id="27" name="Shape 22"/>
          <p:cNvSpPr/>
          <p:nvPr/>
        </p:nvSpPr>
        <p:spPr>
          <a:xfrm>
            <a:off x="651809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9" name="Text 23"/>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Encode signed integers in one's complement and in excess-k, and say what each is good for</a:t>
            </a:r>
            <a:endParaRPr lang="en-US" sz="2200" dirty="0"/>
          </a:p>
        </p:txBody>
      </p:sp>
      <p:sp>
        <p:nvSpPr>
          <p:cNvPr id="5" name="Text 3"/>
          <p:cNvSpPr txBox="1"/>
          <p:nvPr/>
        </p:nvSpPr>
        <p:spPr>
          <a:xfrm>
            <a:off x="548640" y="2395931"/>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77643"/>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Represent a fractional quantity in fixed point and compute with it using integer instructions</a:t>
            </a:r>
            <a:endParaRPr lang="en-US" sz="2200" dirty="0"/>
          </a:p>
        </p:txBody>
      </p:sp>
      <p:sp>
        <p:nvSpPr>
          <p:cNvPr id="7" name="Text 5"/>
          <p:cNvSpPr txBox="1"/>
          <p:nvPr/>
        </p:nvSpPr>
        <p:spPr>
          <a:xfrm>
            <a:off x="548640" y="33562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79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mantissa, exponent and normalisation in floating point</a:t>
            </a:r>
            <a:endParaRPr lang="en-US" sz="2200" dirty="0"/>
          </a:p>
        </p:txBody>
      </p:sp>
      <p:sp>
        <p:nvSpPr>
          <p:cNvPr id="9" name="Text 7"/>
          <p:cNvSpPr txBox="1"/>
          <p:nvPr/>
        </p:nvSpPr>
        <p:spPr>
          <a:xfrm>
            <a:off x="548640" y="407375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05546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Encode and decode a number in IEEE 754 single precision</a:t>
            </a:r>
            <a:endParaRPr lang="en-US" sz="2200" dirty="0"/>
          </a:p>
        </p:txBody>
      </p:sp>
      <p:sp>
        <p:nvSpPr>
          <p:cNvPr id="11" name="Text 9"/>
          <p:cNvSpPr txBox="1"/>
          <p:nvPr/>
        </p:nvSpPr>
        <p:spPr>
          <a:xfrm>
            <a:off x="548640" y="4791253"/>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772965"/>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Recognise zero, denormalised numbers, infinity and NaN</a:t>
            </a:r>
            <a:endParaRPr lang="en-US" sz="2200" dirty="0"/>
          </a:p>
        </p:txBody>
      </p:sp>
      <p:sp>
        <p:nvSpPr>
          <p:cNvPr id="13" name="Text 11"/>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why the ESP32-C6 has no floating-point instructions and what PRG32 games do instead</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One's complement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Non-negative numbers, 0 &lt;= x &lt; 2^(n-1), are represented by themselves: X = x</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Negative numbers are represented by X = 2^n - 1 - |x|</a:t>
            </a:r>
            <a:endParaRPr lang="en-US" sz="2200" dirty="0"/>
          </a:p>
        </p:txBody>
      </p:sp>
      <p:sp>
        <p:nvSpPr>
          <p:cNvPr id="7" name="Shape 5"/>
          <p:cNvSpPr/>
          <p:nvPr/>
        </p:nvSpPr>
        <p:spPr>
          <a:xfrm>
            <a:off x="548640" y="324764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41218"/>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Range: from -(2^(n-1) - 1) to +(2^(n-1) - 1)</a:t>
            </a:r>
            <a:endParaRPr lang="en-US" sz="2200" dirty="0"/>
          </a:p>
        </p:txBody>
      </p:sp>
      <p:sp>
        <p:nvSpPr>
          <p:cNvPr id="9" name="Shape 7"/>
          <p:cNvSpPr/>
          <p:nvPr/>
        </p:nvSpPr>
        <p:spPr>
          <a:xfrm>
            <a:off x="548640" y="376872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662299"/>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Zero has two representations, 0000 and 1111: 2^n - 1 numbers are represented, as in sign and magnitude</a:t>
            </a:r>
            <a:endParaRPr lang="en-US" sz="2200" dirty="0"/>
          </a:p>
        </p:txBody>
      </p:sp>
      <p:sp>
        <p:nvSpPr>
          <p:cNvPr id="11" name="Shape 9"/>
          <p:cNvSpPr/>
          <p:nvPr/>
        </p:nvSpPr>
        <p:spPr>
          <a:xfrm>
            <a:off x="548640" y="4971542"/>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865116"/>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Why use it? Negating is trivial: complement every bit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6 = 0110 and -6 = 1001; 5 = 0101 and -5 = 1010; 1 = 0001 and -1 = 1110</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not x</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one's complement of a number is obtained by inverting all its bits</a:t>
            </a:r>
            <a:endParaRPr lang="en-US" sz="1900" dirty="0"/>
          </a:p>
        </p:txBody>
      </p:sp>
      <p:sp>
        <p:nvSpPr>
          <p:cNvPr id="16" name="Shape 14"/>
          <p:cNvSpPr/>
          <p:nvPr/>
        </p:nvSpPr>
        <p:spPr>
          <a:xfrm>
            <a:off x="7762443" y="91440"/>
            <a:ext cx="3880612" cy="274320"/>
          </a:xfrm>
          <a:prstGeom prst="rect">
            <a:avLst/>
          </a:prstGeom>
          <a:solidFill>
            <a:srgbClr val="E0F2FE"/>
          </a:solidFill>
          <a:ln w="12700">
            <a:solidFill>
              <a:srgbClr val="0369A1"/>
            </a:solidFill>
            <a:prstDash val="solid"/>
          </a:ln>
        </p:spPr>
      </p:sp>
      <p:sp>
        <p:nvSpPr>
          <p:cNvPr id="17" name="Shape 15"/>
          <p:cNvSpPr/>
          <p:nvPr/>
        </p:nvSpPr>
        <p:spPr>
          <a:xfrm>
            <a:off x="776244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19" name="Text 16"/>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one's complement and excess-k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Arithmetic in one's complement</a:t>
            </a:r>
            <a:endParaRPr lang="en-US" sz="3200" dirty="0"/>
          </a:p>
        </p:txBody>
      </p:sp>
      <p:sp>
        <p:nvSpPr>
          <p:cNvPr id="3" name="Shape 1"/>
          <p:cNvSpPr/>
          <p:nvPr/>
        </p:nvSpPr>
        <p:spPr>
          <a:xfrm>
            <a:off x="548640" y="1463040"/>
            <a:ext cx="3515258" cy="2240280"/>
          </a:xfrm>
          <a:prstGeom prst="roundRect">
            <a:avLst>
              <a:gd name="adj" fmla="val 3265"/>
            </a:avLst>
          </a:prstGeom>
          <a:solidFill>
            <a:srgbClr val="EEF2F4"/>
          </a:solidFill>
          <a:ln w="12700">
            <a:solidFill>
              <a:srgbClr val="EEF2F4"/>
            </a:solidFill>
            <a:prstDash val="solid"/>
          </a:ln>
        </p:spPr>
      </p:sp>
      <p:sp>
        <p:nvSpPr>
          <p:cNvPr id="4" name="Text 2"/>
          <p:cNvSpPr txBox="1"/>
          <p:nvPr/>
        </p:nvSpPr>
        <p:spPr>
          <a:xfrm>
            <a:off x="731520"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No correction</a:t>
            </a:r>
            <a:endParaRPr lang="en-US" sz="1400" dirty="0"/>
          </a:p>
        </p:txBody>
      </p:sp>
      <p:sp>
        <p:nvSpPr>
          <p:cNvPr id="5" name="Text 3"/>
          <p:cNvSpPr txBox="1"/>
          <p:nvPr/>
        </p:nvSpPr>
        <p:spPr>
          <a:xfrm>
            <a:off x="731520"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3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-4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-1</a:t>
            </a:r>
            <a:endParaRPr lang="en-US" sz="1500" dirty="0"/>
          </a:p>
        </p:txBody>
      </p:sp>
      <p:sp>
        <p:nvSpPr>
          <p:cNvPr id="6" name="Text 4"/>
          <p:cNvSpPr txBox="1"/>
          <p:nvPr/>
        </p:nvSpPr>
        <p:spPr>
          <a:xfrm>
            <a:off x="1814133"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0011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1011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1110</a:t>
            </a:r>
            <a:endParaRPr lang="en-US" sz="1500" dirty="0"/>
          </a:p>
        </p:txBody>
      </p:sp>
      <p:sp>
        <p:nvSpPr>
          <p:cNvPr id="7" name="Text 5"/>
          <p:cNvSpPr txBox="1"/>
          <p:nvPr/>
        </p:nvSpPr>
        <p:spPr>
          <a:xfrm>
            <a:off x="731520" y="3246120"/>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no carry out: the result is right</a:t>
            </a:r>
            <a:endParaRPr lang="en-US" sz="1250" dirty="0"/>
          </a:p>
        </p:txBody>
      </p:sp>
      <p:sp>
        <p:nvSpPr>
          <p:cNvPr id="8" name="Shape 6"/>
          <p:cNvSpPr/>
          <p:nvPr/>
        </p:nvSpPr>
        <p:spPr>
          <a:xfrm>
            <a:off x="4338218" y="1463040"/>
            <a:ext cx="3515258" cy="2240280"/>
          </a:xfrm>
          <a:prstGeom prst="roundRect">
            <a:avLst>
              <a:gd name="adj" fmla="val 3265"/>
            </a:avLst>
          </a:prstGeom>
          <a:solidFill>
            <a:srgbClr val="EEF2F4"/>
          </a:solidFill>
          <a:ln w="12700">
            <a:solidFill>
              <a:srgbClr val="EEF2F4"/>
            </a:solidFill>
            <a:prstDash val="solid"/>
          </a:ln>
        </p:spPr>
      </p:sp>
      <p:sp>
        <p:nvSpPr>
          <p:cNvPr id="9" name="Text 7"/>
          <p:cNvSpPr txBox="1"/>
          <p:nvPr/>
        </p:nvSpPr>
        <p:spPr>
          <a:xfrm>
            <a:off x="4521098" y="1554480"/>
            <a:ext cx="314949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Two negatives</a:t>
            </a:r>
            <a:endParaRPr lang="en-US" sz="1400" dirty="0"/>
          </a:p>
        </p:txBody>
      </p:sp>
      <p:sp>
        <p:nvSpPr>
          <p:cNvPr id="10" name="Text 8"/>
          <p:cNvSpPr txBox="1"/>
          <p:nvPr/>
        </p:nvSpPr>
        <p:spPr>
          <a:xfrm>
            <a:off x="4521098"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-2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-3 =</a:t>
            </a:r>
            <a:endParaRPr lang="en-US" sz="1500" dirty="0"/>
          </a:p>
          <a:p>
            <a:pPr algn="r" indent="0" marL="0">
              <a:buNone/>
            </a:pP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-5</a:t>
            </a:r>
            <a:endParaRPr lang="en-US" sz="1500" dirty="0"/>
          </a:p>
        </p:txBody>
      </p:sp>
      <p:sp>
        <p:nvSpPr>
          <p:cNvPr id="11" name="Text 9"/>
          <p:cNvSpPr txBox="1"/>
          <p:nvPr/>
        </p:nvSpPr>
        <p:spPr>
          <a:xfrm>
            <a:off x="5603711"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1101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1100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 1001 + 1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1010</a:t>
            </a:r>
            <a:endParaRPr lang="en-US" sz="1500" dirty="0"/>
          </a:p>
        </p:txBody>
      </p:sp>
      <p:sp>
        <p:nvSpPr>
          <p:cNvPr id="12" name="Text 10"/>
          <p:cNvSpPr txBox="1"/>
          <p:nvPr/>
        </p:nvSpPr>
        <p:spPr>
          <a:xfrm>
            <a:off x="4521098" y="3246120"/>
            <a:ext cx="314949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carry out: add it back</a:t>
            </a:r>
            <a:endParaRPr lang="en-US" sz="1250" dirty="0"/>
          </a:p>
        </p:txBody>
      </p:sp>
      <p:sp>
        <p:nvSpPr>
          <p:cNvPr id="13" name="Shape 11"/>
          <p:cNvSpPr/>
          <p:nvPr/>
        </p:nvSpPr>
        <p:spPr>
          <a:xfrm>
            <a:off x="8127797" y="1463040"/>
            <a:ext cx="3515258" cy="2240280"/>
          </a:xfrm>
          <a:prstGeom prst="roundRect">
            <a:avLst>
              <a:gd name="adj" fmla="val 3265"/>
            </a:avLst>
          </a:prstGeom>
          <a:solidFill>
            <a:srgbClr val="EEF2F4"/>
          </a:solidFill>
          <a:ln w="12700">
            <a:solidFill>
              <a:srgbClr val="EEF2F4"/>
            </a:solidFill>
            <a:prstDash val="solid"/>
          </a:ln>
        </p:spPr>
      </p:sp>
      <p:sp>
        <p:nvSpPr>
          <p:cNvPr id="14" name="Text 12"/>
          <p:cNvSpPr txBox="1"/>
          <p:nvPr/>
        </p:nvSpPr>
        <p:spPr>
          <a:xfrm>
            <a:off x="8310677" y="1554480"/>
            <a:ext cx="314949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Positive result</a:t>
            </a:r>
            <a:endParaRPr lang="en-US" sz="1400" dirty="0"/>
          </a:p>
        </p:txBody>
      </p:sp>
      <p:sp>
        <p:nvSpPr>
          <p:cNvPr id="15" name="Text 13"/>
          <p:cNvSpPr txBox="1"/>
          <p:nvPr/>
        </p:nvSpPr>
        <p:spPr>
          <a:xfrm>
            <a:off x="8310677" y="1920240"/>
            <a:ext cx="1054578" cy="1280160"/>
          </a:xfrm>
          <a:prstGeom prst="rect">
            <a:avLst/>
          </a:prstGeom>
          <a:noFill/>
          <a:ln/>
        </p:spPr>
        <p:txBody>
          <a:bodyPr wrap="square" lIns="0" tIns="0" rIns="0" bIns="0" rtlCol="0" anchor="t"/>
          <a:lstStyle/>
          <a:p>
            <a:pPr algn="r" indent="0" marL="0">
              <a:buNone/>
            </a:pPr>
            <a:r>
              <a:rPr lang="en-US" sz="1500" dirty="0">
                <a:solidFill>
                  <a:srgbClr val="5B6B78"/>
                </a:solidFill>
                <a:latin typeface="Courier New" pitchFamily="34" charset="0"/>
                <a:ea typeface="Courier New" pitchFamily="34" charset="-122"/>
                <a:cs typeface="Courier New" pitchFamily="34" charset="-120"/>
              </a:rPr>
              <a:t>5 +</a:t>
            </a: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-2 =</a:t>
            </a:r>
            <a:endParaRPr lang="en-US" sz="1500" dirty="0"/>
          </a:p>
          <a:p>
            <a:pPr algn="r" indent="0" marL="0">
              <a:buNone/>
            </a:pPr>
            <a:endParaRPr lang="en-US" sz="1500" dirty="0"/>
          </a:p>
          <a:p>
            <a:pPr algn="r" indent="0" marL="0">
              <a:buNone/>
            </a:pPr>
            <a:r>
              <a:rPr lang="en-US" sz="1500" dirty="0">
                <a:solidFill>
                  <a:srgbClr val="5B6B78"/>
                </a:solidFill>
                <a:latin typeface="Courier New" pitchFamily="34" charset="0"/>
                <a:ea typeface="Courier New" pitchFamily="34" charset="-122"/>
                <a:cs typeface="Courier New" pitchFamily="34" charset="-120"/>
              </a:rPr>
              <a:t>3</a:t>
            </a:r>
            <a:endParaRPr lang="en-US" sz="1500" dirty="0"/>
          </a:p>
        </p:txBody>
      </p:sp>
      <p:sp>
        <p:nvSpPr>
          <p:cNvPr id="16" name="Text 14"/>
          <p:cNvSpPr txBox="1"/>
          <p:nvPr/>
        </p:nvSpPr>
        <p:spPr>
          <a:xfrm>
            <a:off x="9393290" y="1920240"/>
            <a:ext cx="2021165" cy="1280160"/>
          </a:xfrm>
          <a:prstGeom prst="rect">
            <a:avLst/>
          </a:prstGeom>
          <a:noFill/>
          <a:ln/>
        </p:spPr>
        <p:txBody>
          <a:bodyPr wrap="square" lIns="0" tIns="0" rIns="0" bIns="0" rtlCol="0" anchor="t"/>
          <a:lstStyle/>
          <a:p>
            <a:pPr algn="r" indent="0" marL="0">
              <a:buNone/>
            </a:pPr>
            <a:r>
              <a:rPr lang="en-US" sz="1500" b="1" dirty="0">
                <a:solidFill>
                  <a:srgbClr val="1B2530"/>
                </a:solidFill>
                <a:latin typeface="Courier New" pitchFamily="34" charset="0"/>
                <a:ea typeface="Courier New" pitchFamily="34" charset="-122"/>
                <a:cs typeface="Courier New" pitchFamily="34" charset="-120"/>
              </a:rPr>
              <a:t>0101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1101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1 0010 + 1 =</a:t>
            </a:r>
            <a:endParaRPr lang="en-US" sz="1500" dirty="0"/>
          </a:p>
          <a:p>
            <a:pPr algn="r" indent="0" marL="0">
              <a:buNone/>
            </a:pPr>
            <a:r>
              <a:rPr lang="en-US" sz="1500" b="1" dirty="0">
                <a:solidFill>
                  <a:srgbClr val="1B2530"/>
                </a:solidFill>
                <a:latin typeface="Courier New" pitchFamily="34" charset="0"/>
                <a:ea typeface="Courier New" pitchFamily="34" charset="-122"/>
                <a:cs typeface="Courier New" pitchFamily="34" charset="-120"/>
              </a:rPr>
              <a:t>0011</a:t>
            </a:r>
            <a:endParaRPr lang="en-US" sz="1500" dirty="0"/>
          </a:p>
        </p:txBody>
      </p:sp>
      <p:sp>
        <p:nvSpPr>
          <p:cNvPr id="17" name="Text 15"/>
          <p:cNvSpPr txBox="1"/>
          <p:nvPr/>
        </p:nvSpPr>
        <p:spPr>
          <a:xfrm>
            <a:off x="8310677" y="3246120"/>
            <a:ext cx="314949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carry out: add it back</a:t>
            </a:r>
            <a:endParaRPr lang="en-US" sz="1250" dirty="0"/>
          </a:p>
        </p:txBody>
      </p:sp>
      <p:sp>
        <p:nvSpPr>
          <p:cNvPr id="18" name="Shape 16"/>
          <p:cNvSpPr/>
          <p:nvPr/>
        </p:nvSpPr>
        <p:spPr>
          <a:xfrm>
            <a:off x="548640" y="4030599"/>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39319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adder works modulo 2^n - 1: whenever there is a carry out of the most significant bit, 1 must be added to the result (end-around carry)</a:t>
            </a:r>
            <a:endParaRPr lang="en-US" sz="2100" dirty="0"/>
          </a:p>
        </p:txBody>
      </p:sp>
      <p:sp>
        <p:nvSpPr>
          <p:cNvPr id="20" name="Shape 18"/>
          <p:cNvSpPr/>
          <p:nvPr/>
        </p:nvSpPr>
        <p:spPr>
          <a:xfrm>
            <a:off x="548640" y="4825365"/>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472668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correction is needed when both operands are negative, or when the operands have opposite signs and the sum is positive</a:t>
            </a:r>
            <a:endParaRPr lang="en-US" sz="2100" dirty="0"/>
          </a:p>
        </p:txBody>
      </p:sp>
      <p:sp>
        <p:nvSpPr>
          <p:cNvPr id="22" name="Shape 20"/>
          <p:cNvSpPr/>
          <p:nvPr/>
        </p:nvSpPr>
        <p:spPr>
          <a:xfrm>
            <a:off x="548640" y="5620131"/>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521452"/>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An adder and a complementer are still enough, but the extra step and the double zero made two's complement win</a:t>
            </a:r>
            <a:endParaRPr lang="en-US" sz="2100" dirty="0"/>
          </a:p>
        </p:txBody>
      </p:sp>
      <p:sp>
        <p:nvSpPr>
          <p:cNvPr id="24" name="Shape 22"/>
          <p:cNvSpPr/>
          <p:nvPr/>
        </p:nvSpPr>
        <p:spPr>
          <a:xfrm>
            <a:off x="7762443" y="91440"/>
            <a:ext cx="3880612" cy="274320"/>
          </a:xfrm>
          <a:prstGeom prst="rect">
            <a:avLst/>
          </a:prstGeom>
          <a:solidFill>
            <a:srgbClr val="E0F2FE"/>
          </a:solidFill>
          <a:ln w="12700">
            <a:solidFill>
              <a:srgbClr val="0369A1"/>
            </a:solidFill>
            <a:prstDash val="solid"/>
          </a:ln>
        </p:spPr>
      </p:sp>
      <p:sp>
        <p:nvSpPr>
          <p:cNvPr id="25" name="Shape 23"/>
          <p:cNvSpPr/>
          <p:nvPr/>
        </p:nvSpPr>
        <p:spPr>
          <a:xfrm>
            <a:off x="7762443" y="91440"/>
            <a:ext cx="73152" cy="274320"/>
          </a:xfrm>
          <a:prstGeom prst="rect">
            <a:avLst/>
          </a:prstGeom>
          <a:solidFill>
            <a:srgbClr val="0369A1"/>
          </a:solidFill>
          <a:ln w="12700">
            <a:solidFill>
              <a:srgbClr val="0369A1"/>
            </a:solidFill>
            <a:prstDash val="solid"/>
          </a:ln>
        </p:spPr>
      </p:sp>
      <p:pic>
        <p:nvPicPr>
          <p:cNvPr id="26"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27" name="Text 24"/>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one's complement and excess-k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Excess-k (biased) representation</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number is shifted upward by a constant k: X = x + k, typically k = 2^(n-1)</a:t>
            </a:r>
            <a:endParaRPr lang="en-US" sz="2200" dirty="0"/>
          </a:p>
        </p:txBody>
      </p:sp>
      <p:sp>
        <p:nvSpPr>
          <p:cNvPr id="5" name="Shape 3"/>
          <p:cNvSpPr/>
          <p:nvPr/>
        </p:nvSpPr>
        <p:spPr>
          <a:xfrm>
            <a:off x="548640" y="245681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50389"/>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order is preserved: if x1 &gt; x2 then X1 &gt; X2, so signed numbers compare as naturals</a:t>
            </a:r>
            <a:endParaRPr lang="en-US" sz="2200" dirty="0"/>
          </a:p>
        </p:txBody>
      </p:sp>
      <p:sp>
        <p:nvSpPr>
          <p:cNvPr id="7" name="Shape 5"/>
          <p:cNvSpPr/>
          <p:nvPr/>
        </p:nvSpPr>
        <p:spPr>
          <a:xfrm>
            <a:off x="548640" y="3389884"/>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83458"/>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sum must be corrected by subtracting k; multiplication and division are much more awkward than with complements</a:t>
            </a:r>
            <a:endParaRPr lang="en-US" sz="2200" dirty="0"/>
          </a:p>
        </p:txBody>
      </p:sp>
      <p:sp>
        <p:nvSpPr>
          <p:cNvPr id="9" name="Shape 7"/>
          <p:cNvSpPr/>
          <p:nvPr/>
        </p:nvSpPr>
        <p:spPr>
          <a:xfrm>
            <a:off x="548640" y="466382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55739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Preferred where only additions and comparisons are needed</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It is the encoding of the exponent in floating-point numbers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x + k</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on four bits with k = 8: the pattern 0000 means -8, 1000 means 0, 1111 means +7</a:t>
            </a:r>
            <a:endParaRPr lang="en-US" sz="1900" dirty="0"/>
          </a:p>
        </p:txBody>
      </p:sp>
      <p:sp>
        <p:nvSpPr>
          <p:cNvPr id="16" name="Shape 14"/>
          <p:cNvSpPr/>
          <p:nvPr/>
        </p:nvSpPr>
        <p:spPr>
          <a:xfrm>
            <a:off x="7762443" y="91440"/>
            <a:ext cx="3880612" cy="274320"/>
          </a:xfrm>
          <a:prstGeom prst="rect">
            <a:avLst/>
          </a:prstGeom>
          <a:solidFill>
            <a:srgbClr val="E0F2FE"/>
          </a:solidFill>
          <a:ln w="12700">
            <a:solidFill>
              <a:srgbClr val="0369A1"/>
            </a:solidFill>
            <a:prstDash val="solid"/>
          </a:ln>
        </p:spPr>
      </p:sp>
      <p:sp>
        <p:nvSpPr>
          <p:cNvPr id="17" name="Shape 15"/>
          <p:cNvSpPr/>
          <p:nvPr/>
        </p:nvSpPr>
        <p:spPr>
          <a:xfrm>
            <a:off x="7762443"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19" name="Text 16"/>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one's complement and excess-k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bits, five readings</a:t>
            </a:r>
            <a:endParaRPr lang="en-US" sz="3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349240" cy="914400"/>
        </p:xfrm>
        <a:graphic>
          <a:graphicData uri="http://schemas.openxmlformats.org/drawingml/2006/table">
            <a:tbl>
              <a:tblPr/>
              <a:tblGrid>
                <a:gridCol w="822960"/>
                <a:gridCol w="868680"/>
                <a:gridCol w="960120"/>
                <a:gridCol w="868680"/>
                <a:gridCol w="868680"/>
                <a:gridCol w="96012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Bits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Unsig.</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Sign-m.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1's 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2's 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Exc.-8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0011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0111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293815" y="1417320"/>
          <a:ext cx="5349240" cy="914400"/>
        </p:xfrm>
        <a:graphic>
          <a:graphicData uri="http://schemas.openxmlformats.org/drawingml/2006/table">
            <a:tbl>
              <a:tblPr/>
              <a:tblGrid>
                <a:gridCol w="822960"/>
                <a:gridCol w="868680"/>
                <a:gridCol w="960120"/>
                <a:gridCol w="868680"/>
                <a:gridCol w="868680"/>
                <a:gridCol w="960120"/>
              </a:tblGrid>
              <a:tr h="384048">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Bits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Unsig.</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Sign-m.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1's 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2's c.</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Exc.-8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9</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1011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1100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1101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-3</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1110</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14</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500" dirty="0">
                          <a:solidFill>
                            <a:srgbClr val="1B2530"/>
                          </a:solidFill>
                          <a:latin typeface="Courier New" pitchFamily="34" charset="0"/>
                          <a:ea typeface="Courier New" pitchFamily="34" charset="-122"/>
                          <a:cs typeface="Courier New" pitchFamily="34" charset="-120"/>
                        </a:rPr>
                        <a:t>1111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-0</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-1</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1B2530"/>
                          </a:solidFill>
                          <a:latin typeface="Calibri" pitchFamily="34" charset="0"/>
                          <a:ea typeface="Calibri" pitchFamily="34" charset="-122"/>
                          <a:cs typeface="Calibri" pitchFamily="34" charset="-120"/>
                        </a:rPr>
                        <a:t>+7</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5089144"/>
            <a:ext cx="146304" cy="146304"/>
          </a:xfrm>
          <a:prstGeom prst="rect">
            <a:avLst/>
          </a:prstGeom>
          <a:solidFill>
            <a:srgbClr val="0E7C86"/>
          </a:solidFill>
          <a:ln w="12700">
            <a:solidFill>
              <a:srgbClr val="0E7C86"/>
            </a:solidFill>
            <a:prstDash val="solid"/>
          </a:ln>
        </p:spPr>
      </p:sp>
      <p:sp>
        <p:nvSpPr>
          <p:cNvPr id="6" name="Text 2"/>
          <p:cNvSpPr txBox="1"/>
          <p:nvPr/>
        </p:nvSpPr>
        <p:spPr>
          <a:xfrm>
            <a:off x="932688" y="5029200"/>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Sign and magnitude and one's complement have two zeros (highlighted): 0000 and 1000, or 0000 and 1111</a:t>
            </a:r>
            <a:endParaRPr lang="en-US" sz="1600" dirty="0"/>
          </a:p>
        </p:txBody>
      </p:sp>
      <p:sp>
        <p:nvSpPr>
          <p:cNvPr id="7" name="Shape 3"/>
          <p:cNvSpPr/>
          <p:nvPr/>
        </p:nvSpPr>
        <p:spPr>
          <a:xfrm>
            <a:off x="548640" y="5536692"/>
            <a:ext cx="146304" cy="146304"/>
          </a:xfrm>
          <a:prstGeom prst="rect">
            <a:avLst/>
          </a:prstGeom>
          <a:solidFill>
            <a:srgbClr val="C7791B"/>
          </a:solidFill>
          <a:ln w="12700">
            <a:solidFill>
              <a:srgbClr val="C7791B"/>
            </a:solidFill>
            <a:prstDash val="solid"/>
          </a:ln>
        </p:spPr>
      </p:sp>
      <p:sp>
        <p:nvSpPr>
          <p:cNvPr id="8" name="Text 4"/>
          <p:cNvSpPr txBox="1"/>
          <p:nvPr/>
        </p:nvSpPr>
        <p:spPr>
          <a:xfrm>
            <a:off x="932688" y="5476748"/>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Two's complement and excess-8 cover the same range, -8 to +7, with a single zero</a:t>
            </a:r>
            <a:endParaRPr lang="en-US" sz="1600" dirty="0"/>
          </a:p>
        </p:txBody>
      </p:sp>
      <p:sp>
        <p:nvSpPr>
          <p:cNvPr id="9" name="Shape 5"/>
          <p:cNvSpPr/>
          <p:nvPr/>
        </p:nvSpPr>
        <p:spPr>
          <a:xfrm>
            <a:off x="548640" y="5984240"/>
            <a:ext cx="146304" cy="146304"/>
          </a:xfrm>
          <a:prstGeom prst="rect">
            <a:avLst/>
          </a:prstGeom>
          <a:solidFill>
            <a:srgbClr val="0E7C86"/>
          </a:solidFill>
          <a:ln w="12700">
            <a:solidFill>
              <a:srgbClr val="0E7C86"/>
            </a:solidFill>
            <a:prstDash val="solid"/>
          </a:ln>
        </p:spPr>
      </p:sp>
      <p:sp>
        <p:nvSpPr>
          <p:cNvPr id="10" name="Text 6"/>
          <p:cNvSpPr txBox="1"/>
          <p:nvPr/>
        </p:nvSpPr>
        <p:spPr>
          <a:xfrm>
            <a:off x="932688" y="5924296"/>
            <a:ext cx="10710367" cy="247904"/>
          </a:xfrm>
          <a:prstGeom prst="rect">
            <a:avLst/>
          </a:prstGeom>
          <a:noFill/>
          <a:ln/>
        </p:spPr>
        <p:txBody>
          <a:bodyPr wrap="square" lIns="0" tIns="0" rIns="0" bIns="0" rtlCol="0" anchor="t"/>
          <a:lstStyle/>
          <a:p>
            <a:pPr indent="0" marL="0">
              <a:spcAft>
                <a:spcPts val="200"/>
              </a:spcAft>
              <a:buNone/>
            </a:pPr>
            <a:r>
              <a:rPr lang="en-US" sz="1600" dirty="0">
                <a:solidFill>
                  <a:srgbClr val="1B2530"/>
                </a:solidFill>
                <a:latin typeface="Calibri" pitchFamily="34" charset="0"/>
                <a:ea typeface="Calibri" pitchFamily="34" charset="-122"/>
                <a:cs typeface="Calibri" pitchFamily="34" charset="-120"/>
              </a:rPr>
              <a:t>Only excess-k keeps the patterns in the same order as the numbers</a:t>
            </a:r>
            <a:endParaRPr lang="en-US" sz="1600" dirty="0"/>
          </a:p>
        </p:txBody>
      </p:sp>
      <p:sp>
        <p:nvSpPr>
          <p:cNvPr id="11" name="Shape 7"/>
          <p:cNvSpPr/>
          <p:nvPr/>
        </p:nvSpPr>
        <p:spPr>
          <a:xfrm>
            <a:off x="7762443" y="91440"/>
            <a:ext cx="3880612" cy="274320"/>
          </a:xfrm>
          <a:prstGeom prst="rect">
            <a:avLst/>
          </a:prstGeom>
          <a:solidFill>
            <a:srgbClr val="E0F2FE"/>
          </a:solidFill>
          <a:ln w="12700">
            <a:solidFill>
              <a:srgbClr val="0369A1"/>
            </a:solidFill>
            <a:prstDash val="solid"/>
          </a:ln>
        </p:spPr>
      </p:sp>
      <p:sp>
        <p:nvSpPr>
          <p:cNvPr id="12" name="Shape 8"/>
          <p:cNvSpPr/>
          <p:nvPr/>
        </p:nvSpPr>
        <p:spPr>
          <a:xfrm>
            <a:off x="7762443" y="91440"/>
            <a:ext cx="73152" cy="274320"/>
          </a:xfrm>
          <a:prstGeom prst="rect">
            <a:avLst/>
          </a:prstGeom>
          <a:solidFill>
            <a:srgbClr val="0369A1"/>
          </a:solidFill>
          <a:ln w="12700">
            <a:solidFill>
              <a:srgbClr val="0369A1"/>
            </a:solidFill>
            <a:prstDash val="solid"/>
          </a:ln>
        </p:spPr>
      </p:sp>
      <p:pic>
        <p:nvPicPr>
          <p:cNvPr id="13" name="Image 0" descr="preencoded.png">    </p:cNvPr>
          <p:cNvPicPr>
            <a:picLocks noChangeAspect="1"/>
          </p:cNvPicPr>
          <p:nvPr/>
        </p:nvPicPr>
        <p:blipFill>
          <a:blip r:embed="rId1"/>
          <a:stretch>
            <a:fillRect/>
          </a:stretch>
        </p:blipFill>
        <p:spPr>
          <a:xfrm>
            <a:off x="7890459" y="128016"/>
            <a:ext cx="201168" cy="201168"/>
          </a:xfrm>
          <a:prstGeom prst="rect">
            <a:avLst/>
          </a:prstGeom>
        </p:spPr>
      </p:pic>
      <p:sp>
        <p:nvSpPr>
          <p:cNvPr id="14" name="Text 9"/>
          <p:cNvSpPr txBox="1"/>
          <p:nvPr/>
        </p:nvSpPr>
        <p:spPr>
          <a:xfrm>
            <a:off x="8146491" y="91440"/>
            <a:ext cx="345998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one's complement and excess-k</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Numbers in fixed point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integer part and the fractional part are stored side by side in one word</a:t>
            </a:r>
            <a:endParaRPr lang="en-US" sz="2200" dirty="0"/>
          </a:p>
        </p:txBody>
      </p:sp>
      <p:sp>
        <p:nvSpPr>
          <p:cNvPr id="5" name="Shape 3"/>
          <p:cNvSpPr/>
          <p:nvPr/>
        </p:nvSpPr>
        <p:spPr>
          <a:xfrm>
            <a:off x="548640" y="237159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65172"/>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position of the point is fixed and implicit: it is not stored, the program knows it</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With f fractional bits the stored integer is X = x times 2^f, and the resolution is 2^-f</a:t>
            </a:r>
            <a:endParaRPr lang="en-US" sz="2200" dirty="0"/>
          </a:p>
        </p:txBody>
      </p:sp>
      <p:sp>
        <p:nvSpPr>
          <p:cNvPr id="9" name="Shape 7"/>
          <p:cNvSpPr/>
          <p:nvPr/>
        </p:nvSpPr>
        <p:spPr>
          <a:xfrm>
            <a:off x="548640" y="440817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301744"/>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Each part uses one of the representations already seen: usually the whole word is two's complement</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Notation Qm.f: m integer bits and f fractional bits, for example Q24.8</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x 2^f</a:t>
            </a:r>
            <a:endParaRPr lang="en-US" sz="59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store the number multiplied by a power of two; shift right by f bits to get back the integer part</a:t>
            </a:r>
            <a:endParaRPr lang="en-US" sz="1900" dirty="0"/>
          </a:p>
        </p:txBody>
      </p:sp>
      <p:sp>
        <p:nvSpPr>
          <p:cNvPr id="16" name="Shape 14"/>
          <p:cNvSpPr/>
          <p:nvPr/>
        </p:nvSpPr>
        <p:spPr>
          <a:xfrm>
            <a:off x="8944305" y="91440"/>
            <a:ext cx="2698750" cy="274320"/>
          </a:xfrm>
          <a:prstGeom prst="rect">
            <a:avLst/>
          </a:prstGeom>
          <a:solidFill>
            <a:srgbClr val="E0F2FE"/>
          </a:solidFill>
          <a:ln w="12700">
            <a:solidFill>
              <a:srgbClr val="0369A1"/>
            </a:solidFill>
            <a:prstDash val="solid"/>
          </a:ln>
        </p:spPr>
      </p:sp>
      <p:sp>
        <p:nvSpPr>
          <p:cNvPr id="17" name="Shape 15"/>
          <p:cNvSpPr/>
          <p:nvPr/>
        </p:nvSpPr>
        <p:spPr>
          <a:xfrm>
            <a:off x="894430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19" name="Text 16"/>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Rational numbers: the approximation error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reals are dense: even in a limited interval, not every number can be represented</a:t>
            </a:r>
            <a:endParaRPr lang="en-US" sz="2200" dirty="0"/>
          </a:p>
        </p:txBody>
      </p:sp>
      <p:sp>
        <p:nvSpPr>
          <p:cNvPr id="5" name="Shape 3"/>
          <p:cNvSpPr/>
          <p:nvPr/>
        </p:nvSpPr>
        <p:spPr>
          <a:xfrm>
            <a:off x="548640" y="238569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79269"/>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Approximation: each number is associated with the nearest representable one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in Q24.8, 0.1 becomes 26/256 = 0.1015625: an error of about 1.6%</a:t>
            </a:r>
            <a:endParaRPr lang="en-US" sz="2200" dirty="0"/>
          </a:p>
        </p:txBody>
      </p:sp>
      <p:sp>
        <p:nvSpPr>
          <p:cNvPr id="7" name="Shape 5"/>
          <p:cNvSpPr/>
          <p:nvPr/>
        </p:nvSpPr>
        <p:spPr>
          <a:xfrm>
            <a:off x="548640" y="387299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76656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approximation error is at most half of the resolution: 1/512 for eight fractional bits</a:t>
            </a:r>
            <a:endParaRPr lang="en-US" sz="2200" dirty="0"/>
          </a:p>
        </p:txBody>
      </p:sp>
      <p:sp>
        <p:nvSpPr>
          <p:cNvPr id="9" name="Shape 7"/>
          <p:cNvSpPr/>
          <p:nvPr/>
        </p:nvSpPr>
        <p:spPr>
          <a:xfrm>
            <a:off x="548640" y="473494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628515"/>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Underflow: a number close to zero, but not zero, is represented by zero</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fixed point the absolute error is the same everywhere on the number line</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1/256</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resolution of eight fractional bits: nothing smaller can be told apart from zero</a:t>
            </a:r>
            <a:endParaRPr lang="en-US" sz="1900" dirty="0"/>
          </a:p>
        </p:txBody>
      </p:sp>
      <p:sp>
        <p:nvSpPr>
          <p:cNvPr id="16" name="Shape 14"/>
          <p:cNvSpPr/>
          <p:nvPr/>
        </p:nvSpPr>
        <p:spPr>
          <a:xfrm>
            <a:off x="8944305" y="91440"/>
            <a:ext cx="2698750" cy="274320"/>
          </a:xfrm>
          <a:prstGeom prst="rect">
            <a:avLst/>
          </a:prstGeom>
          <a:solidFill>
            <a:srgbClr val="E0F2FE"/>
          </a:solidFill>
          <a:ln w="12700">
            <a:solidFill>
              <a:srgbClr val="0369A1"/>
            </a:solidFill>
            <a:prstDash val="solid"/>
          </a:ln>
        </p:spPr>
      </p:sp>
      <p:sp>
        <p:nvSpPr>
          <p:cNvPr id="17" name="Shape 15"/>
          <p:cNvSpPr/>
          <p:nvPr/>
        </p:nvSpPr>
        <p:spPr>
          <a:xfrm>
            <a:off x="8944305"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9072321" y="128016"/>
            <a:ext cx="201168" cy="201168"/>
          </a:xfrm>
          <a:prstGeom prst="rect">
            <a:avLst/>
          </a:prstGeom>
        </p:spPr>
      </p:pic>
      <p:sp>
        <p:nvSpPr>
          <p:cNvPr id="19" name="Text 16"/>
          <p:cNvSpPr txBox="1"/>
          <p:nvPr/>
        </p:nvSpPr>
        <p:spPr>
          <a:xfrm>
            <a:off x="9328353" y="91440"/>
            <a:ext cx="227812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fixed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Real numbers in floating point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real number x is represented by a pair (m, e) such that x = m times b^e</a:t>
            </a:r>
            <a:endParaRPr lang="en-US" sz="2200" dirty="0"/>
          </a:p>
        </p:txBody>
      </p:sp>
      <p:sp>
        <p:nvSpPr>
          <p:cNvPr id="5" name="Shape 3"/>
          <p:cNvSpPr/>
          <p:nvPr/>
        </p:nvSpPr>
        <p:spPr>
          <a:xfrm>
            <a:off x="548640" y="2581487"/>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75061"/>
            <a:ext cx="6565392" cy="67183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m is the mantissa, e the exponent, b the base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point floats: the exponent says where it is</a:t>
            </a:r>
            <a:endParaRPr lang="en-US" sz="2200" dirty="0"/>
          </a:p>
        </p:txBody>
      </p:sp>
      <p:sp>
        <p:nvSpPr>
          <p:cNvPr id="7" name="Shape 5"/>
          <p:cNvSpPr/>
          <p:nvPr/>
        </p:nvSpPr>
        <p:spPr>
          <a:xfrm>
            <a:off x="548640" y="3629321"/>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22895"/>
            <a:ext cx="6565392" cy="130708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Infinitely many pairs represent the same number</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346.09801 = (346.09801, 0) = (346098.01, -3) = (0.034609801, 4)</a:t>
            </a:r>
            <a:endParaRPr lang="en-US" sz="2200" dirty="0"/>
          </a:p>
        </p:txBody>
      </p:sp>
      <p:sp>
        <p:nvSpPr>
          <p:cNvPr id="9" name="Shape 7"/>
          <p:cNvSpPr/>
          <p:nvPr/>
        </p:nvSpPr>
        <p:spPr>
          <a:xfrm>
            <a:off x="548640" y="5312410"/>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205984"/>
            <a:ext cx="6565392" cy="96621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Normalisation chooses a single representative</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the point goes right after the first significant digit: (3.4609801, 2)</a:t>
            </a:r>
            <a:endParaRPr lang="en-US" sz="22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900" b="1" dirty="0">
                <a:solidFill>
                  <a:srgbClr val="FFFFFF"/>
                </a:solidFill>
                <a:latin typeface="Cambria" pitchFamily="34" charset="0"/>
                <a:ea typeface="Cambria" pitchFamily="34" charset="-122"/>
                <a:cs typeface="Cambria" pitchFamily="34" charset="-120"/>
              </a:rPr>
              <a:t>x = m b^e</a:t>
            </a:r>
            <a:endParaRPr lang="en-US" sz="59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mantissa, base and exponent: the scientific notation of the laboratory, in binary</a:t>
            </a:r>
            <a:endParaRPr lang="en-US" sz="1900" dirty="0"/>
          </a:p>
        </p:txBody>
      </p:sp>
      <p:sp>
        <p:nvSpPr>
          <p:cNvPr id="14" name="Shape 12"/>
          <p:cNvSpPr/>
          <p:nvPr/>
        </p:nvSpPr>
        <p:spPr>
          <a:xfrm>
            <a:off x="8156397" y="91440"/>
            <a:ext cx="3486658" cy="274320"/>
          </a:xfrm>
          <a:prstGeom prst="rect">
            <a:avLst/>
          </a:prstGeom>
          <a:solidFill>
            <a:srgbClr val="E0F2FE"/>
          </a:solidFill>
          <a:ln w="12700">
            <a:solidFill>
              <a:srgbClr val="0369A1"/>
            </a:solidFill>
            <a:prstDash val="solid"/>
          </a:ln>
        </p:spPr>
      </p:sp>
      <p:sp>
        <p:nvSpPr>
          <p:cNvPr id="15" name="Shape 13"/>
          <p:cNvSpPr/>
          <p:nvPr/>
        </p:nvSpPr>
        <p:spPr>
          <a:xfrm>
            <a:off x="8156397" y="91440"/>
            <a:ext cx="73152" cy="274320"/>
          </a:xfrm>
          <a:prstGeom prst="rect">
            <a:avLst/>
          </a:prstGeom>
          <a:solidFill>
            <a:srgbClr val="0369A1"/>
          </a:solidFill>
          <a:ln w="12700">
            <a:solidFill>
              <a:srgbClr val="0369A1"/>
            </a:solidFill>
            <a:prstDash val="solid"/>
          </a:ln>
        </p:spPr>
      </p:sp>
      <p:pic>
        <p:nvPicPr>
          <p:cNvPr id="16"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7" name="Text 14"/>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Approximation: absolute and relative error</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absolute error is not constant: precision is very fine near zero and decreases as numbers grow</a:t>
            </a:r>
            <a:endParaRPr lang="en-US" sz="2200" dirty="0"/>
          </a:p>
        </p:txBody>
      </p:sp>
      <p:sp>
        <p:nvSpPr>
          <p:cNvPr id="5" name="Shape 3"/>
          <p:cNvSpPr/>
          <p:nvPr/>
        </p:nvSpPr>
        <p:spPr>
          <a:xfrm>
            <a:off x="548640" y="280263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96210"/>
            <a:ext cx="6565392" cy="671830"/>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Near zero the maximum error is 0.001 x 10^-99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1.001 x 10^-99 minus 1.000 x 10^-99</a:t>
            </a:r>
            <a:endParaRPr lang="en-US" sz="2200" dirty="0"/>
          </a:p>
        </p:txBody>
      </p:sp>
      <p:sp>
        <p:nvSpPr>
          <p:cNvPr id="7" name="Shape 5"/>
          <p:cNvSpPr/>
          <p:nvPr/>
        </p:nvSpPr>
        <p:spPr>
          <a:xfrm>
            <a:off x="548640" y="373075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624326"/>
            <a:ext cx="6565392" cy="101269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Near the upper limit the maximum error is 0.001 x 10^99</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9.999 x 10^99 minus 9.998 x 10^99</a:t>
            </a:r>
            <a:endParaRPr lang="en-US" sz="2200" dirty="0"/>
          </a:p>
        </p:txBody>
      </p:sp>
      <p:sp>
        <p:nvSpPr>
          <p:cNvPr id="9" name="Shape 7"/>
          <p:cNvSpPr/>
          <p:nvPr/>
        </p:nvSpPr>
        <p:spPr>
          <a:xfrm>
            <a:off x="548640" y="4999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89331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Absolute error: small on small numbers, large on large numbers</a:t>
            </a:r>
            <a:endParaRPr lang="en-US" sz="2200" dirty="0"/>
          </a:p>
        </p:txBody>
      </p:sp>
      <p:sp>
        <p:nvSpPr>
          <p:cNvPr id="11" name="Shape 9"/>
          <p:cNvSpPr/>
          <p:nvPr/>
        </p:nvSpPr>
        <p:spPr>
          <a:xfrm>
            <a:off x="548640" y="5937758"/>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831332"/>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Relative error: constant along the whole axis</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4 digits</a:t>
            </a:r>
            <a:endParaRPr lang="en-US" sz="60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same number of significant digits everywhere: constant relative error, whatever the size of the number</a:t>
            </a:r>
            <a:endParaRPr lang="en-US" sz="1900" dirty="0"/>
          </a:p>
        </p:txBody>
      </p:sp>
      <p:sp>
        <p:nvSpPr>
          <p:cNvPr id="16" name="Shape 14"/>
          <p:cNvSpPr/>
          <p:nvPr/>
        </p:nvSpPr>
        <p:spPr>
          <a:xfrm>
            <a:off x="8156397" y="91440"/>
            <a:ext cx="3486658" cy="274320"/>
          </a:xfrm>
          <a:prstGeom prst="rect">
            <a:avLst/>
          </a:prstGeom>
          <a:solidFill>
            <a:srgbClr val="E0F2FE"/>
          </a:solidFill>
          <a:ln w="12700">
            <a:solidFill>
              <a:srgbClr val="0369A1"/>
            </a:solidFill>
            <a:prstDash val="solid"/>
          </a:ln>
        </p:spPr>
      </p:sp>
      <p:sp>
        <p:nvSpPr>
          <p:cNvPr id="17" name="Shape 15"/>
          <p:cNvSpPr/>
          <p:nvPr/>
        </p:nvSpPr>
        <p:spPr>
          <a:xfrm>
            <a:off x="8156397" y="91440"/>
            <a:ext cx="73152" cy="274320"/>
          </a:xfrm>
          <a:prstGeom prst="rect">
            <a:avLst/>
          </a:prstGeom>
          <a:solidFill>
            <a:srgbClr val="0369A1"/>
          </a:solidFill>
          <a:ln w="12700">
            <a:solidFill>
              <a:srgbClr val="0369A1"/>
            </a:solidFill>
            <a:prstDash val="solid"/>
          </a:ln>
        </p:spPr>
      </p:sp>
      <p:pic>
        <p:nvPicPr>
          <p:cNvPr id="18"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9" name="Text 16"/>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single precision: 32 bits</a:t>
            </a:r>
            <a:endParaRPr lang="en-US" sz="3200" dirty="0"/>
          </a:p>
        </p:txBody>
      </p:sp>
      <p:sp>
        <p:nvSpPr>
          <p:cNvPr id="3" name="Text 1"/>
          <p:cNvSpPr txBox="1"/>
          <p:nvPr/>
        </p:nvSpPr>
        <p:spPr>
          <a:xfrm>
            <a:off x="548640" y="1737360"/>
            <a:ext cx="1027749" cy="68580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S</a:t>
            </a:r>
            <a:endParaRPr lang="en-US" sz="2200" dirty="0"/>
          </a:p>
        </p:txBody>
      </p:sp>
      <p:sp>
        <p:nvSpPr>
          <p:cNvPr id="4" name="Text 2"/>
          <p:cNvSpPr txBox="1"/>
          <p:nvPr/>
        </p:nvSpPr>
        <p:spPr>
          <a:xfrm>
            <a:off x="548640" y="2478024"/>
            <a:ext cx="1027749"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sign</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1 = negative</a:t>
            </a:r>
            <a:endParaRPr lang="en-US" sz="1500" dirty="0"/>
          </a:p>
        </p:txBody>
      </p:sp>
      <p:sp>
        <p:nvSpPr>
          <p:cNvPr id="5" name="Text 3"/>
          <p:cNvSpPr txBox="1"/>
          <p:nvPr/>
        </p:nvSpPr>
        <p:spPr>
          <a:xfrm>
            <a:off x="585216" y="1499616"/>
            <a:ext cx="51387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6" name="Text 4"/>
          <p:cNvSpPr txBox="1"/>
          <p:nvPr/>
        </p:nvSpPr>
        <p:spPr>
          <a:xfrm>
            <a:off x="1576389" y="1737360"/>
            <a:ext cx="2597849" cy="68580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E</a:t>
            </a:r>
            <a:endParaRPr lang="en-US" sz="2200" dirty="0"/>
          </a:p>
        </p:txBody>
      </p:sp>
      <p:sp>
        <p:nvSpPr>
          <p:cNvPr id="7" name="Text 5"/>
          <p:cNvSpPr txBox="1"/>
          <p:nvPr/>
        </p:nvSpPr>
        <p:spPr>
          <a:xfrm>
            <a:off x="1576389" y="2478024"/>
            <a:ext cx="2597849"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exponent: 8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excess-127</a:t>
            </a:r>
            <a:endParaRPr lang="en-US" sz="1500" dirty="0"/>
          </a:p>
        </p:txBody>
      </p:sp>
      <p:sp>
        <p:nvSpPr>
          <p:cNvPr id="8" name="Text 6"/>
          <p:cNvSpPr txBox="1"/>
          <p:nvPr/>
        </p:nvSpPr>
        <p:spPr>
          <a:xfrm>
            <a:off x="1612965" y="1499616"/>
            <a:ext cx="129892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30</a:t>
            </a:r>
            <a:endParaRPr lang="en-US" sz="1050" dirty="0"/>
          </a:p>
        </p:txBody>
      </p:sp>
      <p:sp>
        <p:nvSpPr>
          <p:cNvPr id="9" name="Text 7"/>
          <p:cNvSpPr txBox="1"/>
          <p:nvPr/>
        </p:nvSpPr>
        <p:spPr>
          <a:xfrm>
            <a:off x="2875314" y="1499616"/>
            <a:ext cx="1262349"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23</a:t>
            </a:r>
            <a:endParaRPr lang="en-US" sz="1050" dirty="0"/>
          </a:p>
        </p:txBody>
      </p:sp>
      <p:sp>
        <p:nvSpPr>
          <p:cNvPr id="10" name="Text 8"/>
          <p:cNvSpPr txBox="1"/>
          <p:nvPr/>
        </p:nvSpPr>
        <p:spPr>
          <a:xfrm>
            <a:off x="4174238" y="1737360"/>
            <a:ext cx="7468817" cy="68580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2200" b="1" dirty="0">
                <a:solidFill>
                  <a:srgbClr val="FFFFFF"/>
                </a:solidFill>
                <a:latin typeface="Courier New" pitchFamily="34" charset="0"/>
                <a:ea typeface="Courier New" pitchFamily="34" charset="-122"/>
                <a:cs typeface="Courier New" pitchFamily="34" charset="-120"/>
              </a:rPr>
              <a:t>F</a:t>
            </a:r>
            <a:endParaRPr lang="en-US" sz="2200" dirty="0"/>
          </a:p>
        </p:txBody>
      </p:sp>
      <p:sp>
        <p:nvSpPr>
          <p:cNvPr id="11" name="Text 9"/>
          <p:cNvSpPr txBox="1"/>
          <p:nvPr/>
        </p:nvSpPr>
        <p:spPr>
          <a:xfrm>
            <a:off x="4174238" y="2478024"/>
            <a:ext cx="7468817" cy="502920"/>
          </a:xfrm>
          <a:prstGeom prst="rect">
            <a:avLst/>
          </a:prstGeom>
          <a:noFill/>
          <a:ln/>
        </p:spPr>
        <p:txBody>
          <a:bodyPr wrap="square" lIns="0" tIns="0" rIns="0" bIns="0" rtlCol="0" anchor="t"/>
          <a:lstStyle/>
          <a:p>
            <a:pPr algn="ctr" indent="0" marL="0">
              <a:buNone/>
            </a:pPr>
            <a:r>
              <a:rPr lang="en-US" sz="1500" dirty="0">
                <a:solidFill>
                  <a:srgbClr val="1B2530"/>
                </a:solidFill>
                <a:latin typeface="Calibri" pitchFamily="34" charset="0"/>
                <a:ea typeface="Calibri" pitchFamily="34" charset="-122"/>
                <a:cs typeface="Calibri" pitchFamily="34" charset="-120"/>
              </a:rPr>
              <a:t>fraction: 23 bits</a:t>
            </a:r>
            <a:endParaRPr lang="en-US" sz="1500" dirty="0"/>
          </a:p>
          <a:p>
            <a:pPr algn="ctr" indent="0" marL="0">
              <a:buNone/>
            </a:pPr>
            <a:r>
              <a:rPr lang="en-US" sz="1500" dirty="0">
                <a:solidFill>
                  <a:srgbClr val="1B2530"/>
                </a:solidFill>
                <a:latin typeface="Calibri" pitchFamily="34" charset="0"/>
                <a:ea typeface="Calibri" pitchFamily="34" charset="-122"/>
                <a:cs typeface="Calibri" pitchFamily="34" charset="-120"/>
              </a:rPr>
              <a:t>magnitude, after the hidden 1</a:t>
            </a:r>
            <a:endParaRPr lang="en-US" sz="1500" dirty="0"/>
          </a:p>
        </p:txBody>
      </p:sp>
      <p:sp>
        <p:nvSpPr>
          <p:cNvPr id="12" name="Text 10"/>
          <p:cNvSpPr txBox="1"/>
          <p:nvPr/>
        </p:nvSpPr>
        <p:spPr>
          <a:xfrm>
            <a:off x="4210814" y="1499616"/>
            <a:ext cx="373440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22</a:t>
            </a:r>
            <a:endParaRPr lang="en-US" sz="1050" dirty="0"/>
          </a:p>
        </p:txBody>
      </p:sp>
      <p:sp>
        <p:nvSpPr>
          <p:cNvPr id="13" name="Text 11"/>
          <p:cNvSpPr txBox="1"/>
          <p:nvPr/>
        </p:nvSpPr>
        <p:spPr>
          <a:xfrm>
            <a:off x="7908647" y="1499616"/>
            <a:ext cx="369783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4" name="Text 12"/>
          <p:cNvSpPr txBox="1"/>
          <p:nvPr/>
        </p:nvSpPr>
        <p:spPr>
          <a:xfrm>
            <a:off x="548640" y="3246120"/>
            <a:ext cx="11094415" cy="548640"/>
          </a:xfrm>
          <a:prstGeom prst="rect">
            <a:avLst/>
          </a:prstGeom>
          <a:noFill/>
          <a:ln/>
        </p:spPr>
        <p:txBody>
          <a:bodyPr wrap="square" lIns="0" tIns="0" rIns="0" bIns="0" rtlCol="0" anchor="ctr"/>
          <a:lstStyle/>
          <a:p>
            <a:pPr algn="ctr" indent="0" marL="0">
              <a:buNone/>
            </a:pPr>
            <a:r>
              <a:rPr lang="en-US" sz="2600" b="1" dirty="0">
                <a:solidFill>
                  <a:srgbClr val="1B2530"/>
                </a:solidFill>
                <a:latin typeface="Courier New" pitchFamily="34" charset="0"/>
                <a:ea typeface="Courier New" pitchFamily="34" charset="-122"/>
                <a:cs typeface="Courier New" pitchFamily="34" charset="-120"/>
              </a:rPr>
              <a:t>value = (-1)^S  x  1.F  x  2^(E - 127)</a:t>
            </a:r>
            <a:endParaRPr lang="en-US" sz="2600" dirty="0"/>
          </a:p>
        </p:txBody>
      </p:sp>
      <p:sp>
        <p:nvSpPr>
          <p:cNvPr id="15" name="Shape 13"/>
          <p:cNvSpPr/>
          <p:nvPr/>
        </p:nvSpPr>
        <p:spPr>
          <a:xfrm>
            <a:off x="548640" y="4144518"/>
            <a:ext cx="146304" cy="146304"/>
          </a:xfrm>
          <a:prstGeom prst="rect">
            <a:avLst/>
          </a:prstGeom>
          <a:solidFill>
            <a:srgbClr val="0E7C86"/>
          </a:solidFill>
          <a:ln w="12700">
            <a:solidFill>
              <a:srgbClr val="0E7C86"/>
            </a:solidFill>
            <a:prstDash val="solid"/>
          </a:ln>
        </p:spPr>
      </p:sp>
      <p:sp>
        <p:nvSpPr>
          <p:cNvPr id="16" name="Text 14"/>
          <p:cNvSpPr txBox="1"/>
          <p:nvPr/>
        </p:nvSpPr>
        <p:spPr>
          <a:xfrm>
            <a:off x="932688" y="4069080"/>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mantissa is in sign and magnitude: one sign bit and 23 bits of magnitude</a:t>
            </a:r>
            <a:endParaRPr lang="en-US" sz="1800" dirty="0"/>
          </a:p>
        </p:txBody>
      </p:sp>
      <p:sp>
        <p:nvSpPr>
          <p:cNvPr id="17" name="Shape 15"/>
          <p:cNvSpPr/>
          <p:nvPr/>
        </p:nvSpPr>
        <p:spPr>
          <a:xfrm>
            <a:off x="548640" y="4659630"/>
            <a:ext cx="146304" cy="146304"/>
          </a:xfrm>
          <a:prstGeom prst="rect">
            <a:avLst/>
          </a:prstGeom>
          <a:solidFill>
            <a:srgbClr val="C7791B"/>
          </a:solidFill>
          <a:ln w="12700">
            <a:solidFill>
              <a:srgbClr val="C7791B"/>
            </a:solidFill>
            <a:prstDash val="solid"/>
          </a:ln>
        </p:spPr>
      </p:sp>
      <p:sp>
        <p:nvSpPr>
          <p:cNvPr id="18" name="Text 16"/>
          <p:cNvSpPr txBox="1"/>
          <p:nvPr/>
        </p:nvSpPr>
        <p:spPr>
          <a:xfrm>
            <a:off x="932688" y="4584192"/>
            <a:ext cx="10710367" cy="557784"/>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A normalised binary mantissa always starts with 1: that bit is hidden, not stored, and one bit of precision is gained</a:t>
            </a:r>
            <a:endParaRPr lang="en-US" sz="1800" dirty="0"/>
          </a:p>
        </p:txBody>
      </p:sp>
      <p:sp>
        <p:nvSpPr>
          <p:cNvPr id="19" name="Shape 17"/>
          <p:cNvSpPr/>
          <p:nvPr/>
        </p:nvSpPr>
        <p:spPr>
          <a:xfrm>
            <a:off x="548640" y="5453634"/>
            <a:ext cx="146304" cy="146304"/>
          </a:xfrm>
          <a:prstGeom prst="rect">
            <a:avLst/>
          </a:prstGeom>
          <a:solidFill>
            <a:srgbClr val="0E7C86"/>
          </a:solidFill>
          <a:ln w="12700">
            <a:solidFill>
              <a:srgbClr val="0E7C86"/>
            </a:solidFill>
            <a:prstDash val="solid"/>
          </a:ln>
        </p:spPr>
      </p:sp>
      <p:sp>
        <p:nvSpPr>
          <p:cNvPr id="20" name="Text 18"/>
          <p:cNvSpPr txBox="1"/>
          <p:nvPr/>
        </p:nvSpPr>
        <p:spPr>
          <a:xfrm>
            <a:off x="932688" y="5378196"/>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exponent is in excess-127, not 128: the true exponents go from -126 to +127</a:t>
            </a:r>
            <a:endParaRPr lang="en-US" sz="1800" dirty="0"/>
          </a:p>
        </p:txBody>
      </p:sp>
      <p:sp>
        <p:nvSpPr>
          <p:cNvPr id="21" name="Shape 19"/>
          <p:cNvSpPr/>
          <p:nvPr/>
        </p:nvSpPr>
        <p:spPr>
          <a:xfrm>
            <a:off x="548640" y="5968746"/>
            <a:ext cx="146304" cy="146304"/>
          </a:xfrm>
          <a:prstGeom prst="rect">
            <a:avLst/>
          </a:prstGeom>
          <a:solidFill>
            <a:srgbClr val="C7791B"/>
          </a:solidFill>
          <a:ln w="12700">
            <a:solidFill>
              <a:srgbClr val="C7791B"/>
            </a:solidFill>
            <a:prstDash val="solid"/>
          </a:ln>
        </p:spPr>
      </p:sp>
      <p:sp>
        <p:nvSpPr>
          <p:cNvPr id="22" name="Text 20"/>
          <p:cNvSpPr txBox="1"/>
          <p:nvPr/>
        </p:nvSpPr>
        <p:spPr>
          <a:xfrm>
            <a:off x="932688" y="5893308"/>
            <a:ext cx="10710367" cy="278892"/>
          </a:xfrm>
          <a:prstGeom prst="rect">
            <a:avLst/>
          </a:prstGeom>
          <a:noFill/>
          <a:ln/>
        </p:spPr>
        <p:txBody>
          <a:bodyPr wrap="square" lIns="0" tIns="0" rIns="0" bIns="0" rtlCol="0" anchor="t"/>
          <a:lstStyle/>
          <a:p>
            <a:pPr indent="0" marL="0">
              <a:spcAft>
                <a:spcPts val="200"/>
              </a:spcAft>
              <a:buNone/>
            </a:pPr>
            <a:r>
              <a:rPr lang="en-US" sz="1800" dirty="0">
                <a:solidFill>
                  <a:srgbClr val="1B2530"/>
                </a:solidFill>
                <a:latin typeface="Calibri" pitchFamily="34" charset="0"/>
                <a:ea typeface="Calibri" pitchFamily="34" charset="-122"/>
                <a:cs typeface="Calibri" pitchFamily="34" charset="-120"/>
              </a:rPr>
              <a:t>The patterns E = 0 and E = 255 are reserved: zero and denormalised numbers, infinity and NaN</a:t>
            </a:r>
            <a:endParaRPr lang="en-US" sz="1800" dirty="0"/>
          </a:p>
        </p:txBody>
      </p:sp>
      <p:sp>
        <p:nvSpPr>
          <p:cNvPr id="23" name="Shape 21"/>
          <p:cNvSpPr/>
          <p:nvPr/>
        </p:nvSpPr>
        <p:spPr>
          <a:xfrm>
            <a:off x="8156397" y="91440"/>
            <a:ext cx="3486658" cy="274320"/>
          </a:xfrm>
          <a:prstGeom prst="rect">
            <a:avLst/>
          </a:prstGeom>
          <a:solidFill>
            <a:srgbClr val="E0F2FE"/>
          </a:solidFill>
          <a:ln w="12700">
            <a:solidFill>
              <a:srgbClr val="0369A1"/>
            </a:solidFill>
            <a:prstDash val="solid"/>
          </a:ln>
        </p:spPr>
      </p:sp>
      <p:sp>
        <p:nvSpPr>
          <p:cNvPr id="24" name="Shape 22"/>
          <p:cNvSpPr/>
          <p:nvPr/>
        </p:nvSpPr>
        <p:spPr>
          <a:xfrm>
            <a:off x="8156397" y="91440"/>
            <a:ext cx="73152" cy="274320"/>
          </a:xfrm>
          <a:prstGeom prst="rect">
            <a:avLst/>
          </a:prstGeom>
          <a:solidFill>
            <a:srgbClr val="0369A1"/>
          </a:solidFill>
          <a:ln w="12700">
            <a:solidFill>
              <a:srgbClr val="0369A1"/>
            </a:solidFill>
            <a:prstDash val="solid"/>
          </a:ln>
        </p:spPr>
      </p:sp>
      <p:pic>
        <p:nvPicPr>
          <p:cNvPr id="25"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26" name="Text 23"/>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Worked example: -5.125 in IEEE 754</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Convert the two parts: 5 = 101 and 0.125 = 1/8 = 0.001, so 5.125 = 101.001</a:t>
            </a:r>
            <a:endParaRPr lang="en-US" sz="2400" dirty="0"/>
          </a:p>
        </p:txBody>
      </p:sp>
      <p:sp>
        <p:nvSpPr>
          <p:cNvPr id="5" name="Text 3"/>
          <p:cNvSpPr txBox="1"/>
          <p:nvPr/>
        </p:nvSpPr>
        <p:spPr>
          <a:xfrm>
            <a:off x="548640" y="240690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388616"/>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Normalise: 101.001 = 1.01001 x 2^2</a:t>
            </a:r>
            <a:endParaRPr lang="en-US" sz="2400" dirty="0"/>
          </a:p>
        </p:txBody>
      </p:sp>
      <p:sp>
        <p:nvSpPr>
          <p:cNvPr id="7" name="Text 5"/>
          <p:cNvSpPr txBox="1"/>
          <p:nvPr/>
        </p:nvSpPr>
        <p:spPr>
          <a:xfrm>
            <a:off x="548640" y="30734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55112"/>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Sign S = 1; exponent E = 2 + 127 = 129 = 1000 0001</a:t>
            </a:r>
            <a:endParaRPr lang="en-US" sz="2400" dirty="0"/>
          </a:p>
        </p:txBody>
      </p:sp>
      <p:sp>
        <p:nvSpPr>
          <p:cNvPr id="9" name="Text 7"/>
          <p:cNvSpPr txBox="1"/>
          <p:nvPr/>
        </p:nvSpPr>
        <p:spPr>
          <a:xfrm>
            <a:off x="548640" y="373989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3721608"/>
            <a:ext cx="10436047" cy="438912"/>
          </a:xfrm>
          <a:prstGeom prst="rect">
            <a:avLst/>
          </a:prstGeom>
          <a:noFill/>
          <a:ln/>
        </p:spPr>
        <p:txBody>
          <a:bodyPr wrap="square" lIns="0" tIns="0" rIns="0" bIns="0" rtlCol="0" anchor="ctr"/>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Fraction F = 01001 followed by zeros: the leading 1 is hidden</a:t>
            </a:r>
            <a:endParaRPr lang="en-US" sz="2400" dirty="0"/>
          </a:p>
        </p:txBody>
      </p:sp>
      <p:sp>
        <p:nvSpPr>
          <p:cNvPr id="11" name="Text 9"/>
          <p:cNvSpPr txBox="1"/>
          <p:nvPr/>
        </p:nvSpPr>
        <p:spPr>
          <a:xfrm>
            <a:off x="548640" y="4526280"/>
            <a:ext cx="623590" cy="594360"/>
          </a:xfrm>
          <a:prstGeom prst="rect">
            <a:avLst/>
          </a:prstGeom>
          <a:solidFill>
            <a:srgbClr val="B23A48"/>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a:t>
            </a:r>
            <a:endParaRPr lang="en-US" sz="1700" dirty="0"/>
          </a:p>
        </p:txBody>
      </p:sp>
      <p:sp>
        <p:nvSpPr>
          <p:cNvPr id="12" name="Text 10"/>
          <p:cNvSpPr txBox="1"/>
          <p:nvPr/>
        </p:nvSpPr>
        <p:spPr>
          <a:xfrm>
            <a:off x="585216" y="4288536"/>
            <a:ext cx="311795"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31</a:t>
            </a:r>
            <a:endParaRPr lang="en-US" sz="1050" dirty="0"/>
          </a:p>
        </p:txBody>
      </p:sp>
      <p:sp>
        <p:nvSpPr>
          <p:cNvPr id="13" name="Text 11"/>
          <p:cNvSpPr txBox="1"/>
          <p:nvPr/>
        </p:nvSpPr>
        <p:spPr>
          <a:xfrm>
            <a:off x="1172230" y="4526280"/>
            <a:ext cx="2702148" cy="594360"/>
          </a:xfrm>
          <a:prstGeom prst="rect">
            <a:avLst/>
          </a:prstGeom>
          <a:solidFill>
            <a:srgbClr val="C7791B"/>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1000 0001</a:t>
            </a:r>
            <a:endParaRPr lang="en-US" sz="1700" dirty="0"/>
          </a:p>
        </p:txBody>
      </p:sp>
      <p:sp>
        <p:nvSpPr>
          <p:cNvPr id="14" name="Text 12"/>
          <p:cNvSpPr txBox="1"/>
          <p:nvPr/>
        </p:nvSpPr>
        <p:spPr>
          <a:xfrm>
            <a:off x="1208806" y="4288536"/>
            <a:ext cx="1351074"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30</a:t>
            </a:r>
            <a:endParaRPr lang="en-US" sz="1050" dirty="0"/>
          </a:p>
        </p:txBody>
      </p:sp>
      <p:sp>
        <p:nvSpPr>
          <p:cNvPr id="15" name="Text 13"/>
          <p:cNvSpPr txBox="1"/>
          <p:nvPr/>
        </p:nvSpPr>
        <p:spPr>
          <a:xfrm>
            <a:off x="2523304" y="4288536"/>
            <a:ext cx="1314498"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23</a:t>
            </a:r>
            <a:endParaRPr lang="en-US" sz="1050" dirty="0"/>
          </a:p>
        </p:txBody>
      </p:sp>
      <p:sp>
        <p:nvSpPr>
          <p:cNvPr id="16" name="Text 14"/>
          <p:cNvSpPr txBox="1"/>
          <p:nvPr/>
        </p:nvSpPr>
        <p:spPr>
          <a:xfrm>
            <a:off x="3874378" y="4526280"/>
            <a:ext cx="7768677" cy="594360"/>
          </a:xfrm>
          <a:prstGeom prst="rect">
            <a:avLst/>
          </a:prstGeom>
          <a:solidFill>
            <a:srgbClr val="0E7C86"/>
          </a:solidFill>
          <a:ln w="19050">
            <a:solidFill>
              <a:srgbClr val="FFFFFF"/>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0100 1000 0000 0000 0000 000</a:t>
            </a:r>
            <a:endParaRPr lang="en-US" sz="1700" dirty="0"/>
          </a:p>
        </p:txBody>
      </p:sp>
      <p:sp>
        <p:nvSpPr>
          <p:cNvPr id="17" name="Text 15"/>
          <p:cNvSpPr txBox="1"/>
          <p:nvPr/>
        </p:nvSpPr>
        <p:spPr>
          <a:xfrm>
            <a:off x="3910954" y="4288536"/>
            <a:ext cx="3884338" cy="219456"/>
          </a:xfrm>
          <a:prstGeom prst="rect">
            <a:avLst/>
          </a:prstGeom>
          <a:noFill/>
          <a:ln/>
        </p:spPr>
        <p:txBody>
          <a:bodyPr wrap="square" lIns="0" tIns="0" rIns="0" bIns="0" rtlCol="0" anchor="t"/>
          <a:lstStyle/>
          <a:p>
            <a:pPr indent="0" marL="0">
              <a:buNone/>
            </a:pPr>
            <a:r>
              <a:rPr lang="en-US" sz="1050" dirty="0">
                <a:solidFill>
                  <a:srgbClr val="5B6B78"/>
                </a:solidFill>
                <a:latin typeface="Courier New" pitchFamily="34" charset="0"/>
                <a:ea typeface="Courier New" pitchFamily="34" charset="-122"/>
                <a:cs typeface="Courier New" pitchFamily="34" charset="-120"/>
              </a:rPr>
              <a:t>22</a:t>
            </a:r>
            <a:endParaRPr lang="en-US" sz="1050" dirty="0"/>
          </a:p>
        </p:txBody>
      </p:sp>
      <p:sp>
        <p:nvSpPr>
          <p:cNvPr id="18" name="Text 16"/>
          <p:cNvSpPr txBox="1"/>
          <p:nvPr/>
        </p:nvSpPr>
        <p:spPr>
          <a:xfrm>
            <a:off x="7758717" y="4288536"/>
            <a:ext cx="3847762" cy="219456"/>
          </a:xfrm>
          <a:prstGeom prst="rect">
            <a:avLst/>
          </a:prstGeom>
          <a:noFill/>
          <a:ln/>
        </p:spPr>
        <p:txBody>
          <a:bodyPr wrap="square" lIns="0" tIns="0" rIns="0" bIns="0" rtlCol="0" anchor="t"/>
          <a:lstStyle/>
          <a:p>
            <a:pPr algn="r" indent="0" marL="0">
              <a:buNone/>
            </a:pPr>
            <a:r>
              <a:rPr lang="en-US" sz="1050" dirty="0">
                <a:solidFill>
                  <a:srgbClr val="5B6B78"/>
                </a:solidFill>
                <a:latin typeface="Courier New" pitchFamily="34" charset="0"/>
                <a:ea typeface="Courier New" pitchFamily="34" charset="-122"/>
                <a:cs typeface="Courier New" pitchFamily="34" charset="-120"/>
              </a:rPr>
              <a:t>0</a:t>
            </a:r>
            <a:endParaRPr lang="en-US" sz="1050" dirty="0"/>
          </a:p>
        </p:txBody>
      </p:sp>
      <p:sp>
        <p:nvSpPr>
          <p:cNvPr id="19" name="Text 17"/>
          <p:cNvSpPr txBox="1"/>
          <p:nvPr/>
        </p:nvSpPr>
        <p:spPr>
          <a:xfrm>
            <a:off x="548640" y="5440680"/>
            <a:ext cx="11094415" cy="548640"/>
          </a:xfrm>
          <a:prstGeom prst="rect">
            <a:avLst/>
          </a:prstGeom>
          <a:noFill/>
          <a:ln/>
        </p:spPr>
        <p:txBody>
          <a:bodyPr wrap="square" lIns="0" tIns="0" rIns="0" bIns="0" rtlCol="0" anchor="ctr"/>
          <a:lstStyle/>
          <a:p>
            <a:pPr algn="ctr" indent="0" marL="0">
              <a:buNone/>
            </a:pPr>
            <a:r>
              <a:rPr lang="en-US" sz="2100" b="1" dirty="0">
                <a:solidFill>
                  <a:srgbClr val="1B2530"/>
                </a:solidFill>
                <a:latin typeface="Courier New" pitchFamily="34" charset="0"/>
                <a:ea typeface="Courier New" pitchFamily="34" charset="-122"/>
                <a:cs typeface="Courier New" pitchFamily="34" charset="-120"/>
              </a:rPr>
              <a:t>1100 0000 1010 0100 0000 0000 0000 0000  =  0xC0A40000</a:t>
            </a:r>
            <a:endParaRPr lang="en-US" sz="2100" dirty="0"/>
          </a:p>
        </p:txBody>
      </p:sp>
      <p:sp>
        <p:nvSpPr>
          <p:cNvPr id="20" name="Shape 18"/>
          <p:cNvSpPr/>
          <p:nvPr/>
        </p:nvSpPr>
        <p:spPr>
          <a:xfrm>
            <a:off x="8156397" y="91440"/>
            <a:ext cx="3486658" cy="274320"/>
          </a:xfrm>
          <a:prstGeom prst="rect">
            <a:avLst/>
          </a:prstGeom>
          <a:solidFill>
            <a:srgbClr val="E0F2FE"/>
          </a:solidFill>
          <a:ln w="12700">
            <a:solidFill>
              <a:srgbClr val="0369A1"/>
            </a:solidFill>
            <a:prstDash val="solid"/>
          </a:ln>
        </p:spPr>
      </p:sp>
      <p:sp>
        <p:nvSpPr>
          <p:cNvPr id="21" name="Shape 19"/>
          <p:cNvSpPr/>
          <p:nvPr/>
        </p:nvSpPr>
        <p:spPr>
          <a:xfrm>
            <a:off x="8156397" y="91440"/>
            <a:ext cx="73152" cy="274320"/>
          </a:xfrm>
          <a:prstGeom prst="rect">
            <a:avLst/>
          </a:prstGeom>
          <a:solidFill>
            <a:srgbClr val="0369A1"/>
          </a:solidFill>
          <a:ln w="12700">
            <a:solidFill>
              <a:srgbClr val="0369A1"/>
            </a:solidFill>
            <a:prstDash val="solid"/>
          </a:ln>
        </p:spPr>
      </p:sp>
      <p:pic>
        <p:nvPicPr>
          <p:cNvPr id="22"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23" name="Text 20"/>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at a glance</a:t>
            </a:r>
            <a:endParaRPr lang="en-US" sz="3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10011"/>
                <a:gridCol w="4092202"/>
                <a:gridCol w="4092202"/>
              </a:tblGrid>
              <a:tr h="0">
                <a:tc>
                  <a:txBody>
                    <a:bodyPr/>
                    <a:lstStyle/>
                    <a:p>
                      <a:pPr algn="l" indent="0" marL="0">
                        <a:buNone/>
                      </a:pP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Single precision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Double precision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Total bits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32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64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Sign bits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Exponent bits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Fraction bits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23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52</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Exponent encoding</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excess-127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excess-1023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Exponent range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-126 ... +127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-1022 ... +1023</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Smallest normalised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2^-126, about 1.2 x 10^-38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2^-1022, about 2.2 x 10^-308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Largest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2^128, 3.4 x 10^38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2^1024, 1.8 x 10^308</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Smallest denormalised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1.4 x 10^-45</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4.9 x 10^-324</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Decimal digits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7</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about 16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156397" y="91440"/>
            <a:ext cx="3486658" cy="274320"/>
          </a:xfrm>
          <a:prstGeom prst="rect">
            <a:avLst/>
          </a:prstGeom>
          <a:solidFill>
            <a:srgbClr val="E0F2FE"/>
          </a:solidFill>
          <a:ln w="12700">
            <a:solidFill>
              <a:srgbClr val="0369A1"/>
            </a:solidFill>
            <a:prstDash val="solid"/>
          </a:ln>
        </p:spPr>
      </p:sp>
      <p:sp>
        <p:nvSpPr>
          <p:cNvPr id="5" name="Shape 2"/>
          <p:cNvSpPr/>
          <p:nvPr/>
        </p:nvSpPr>
        <p:spPr>
          <a:xfrm>
            <a:off x="815639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7" name="Text 3"/>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IEEE 754: what the patterns mean</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000632"/>
                <a:gridCol w="1091254"/>
                <a:gridCol w="1727819"/>
                <a:gridCol w="1727819"/>
                <a:gridCol w="4546891"/>
              </a:tblGrid>
              <a:tr h="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Kind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Sign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Exponent 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Fraction F</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Value</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Normalised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&lt; E &lt; max</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any pattern</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(-1)^S x 1.F x 2^(E-bias)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Denormalised</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zeros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not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(-1)^S x 0.F x 2^(1-bias)</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zeros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zeros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+0 or -0</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Infinity</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ones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zeros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+infinity or -infinity</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800" b="1" dirty="0">
                          <a:solidFill>
                            <a:srgbClr val="1B2530"/>
                          </a:solidFill>
                          <a:latin typeface="Calibri" pitchFamily="34" charset="0"/>
                          <a:ea typeface="Calibri" pitchFamily="34" charset="-122"/>
                          <a:cs typeface="Calibri" pitchFamily="34" charset="-120"/>
                        </a:rPr>
                        <a:t>Not a Number</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0 or 1</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all ones</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alibri" pitchFamily="34" charset="0"/>
                          <a:ea typeface="Calibri" pitchFamily="34" charset="-122"/>
                          <a:cs typeface="Calibri" pitchFamily="34" charset="-120"/>
                        </a:rPr>
                        <a:t>not zero</a:t>
                      </a:r>
                      <a:endParaRPr lang="en-US" sz="18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800" dirty="0">
                          <a:solidFill>
                            <a:srgbClr val="1B2530"/>
                          </a:solidFill>
                          <a:latin typeface="Courier New" pitchFamily="34" charset="0"/>
                          <a:ea typeface="Courier New" pitchFamily="34" charset="-122"/>
                          <a:cs typeface="Courier New" pitchFamily="34" charset="-120"/>
                        </a:rPr>
                        <a:t>NaN: an invalid result</a:t>
                      </a:r>
                      <a:endParaRPr lang="en-US" sz="18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8156397" y="91440"/>
            <a:ext cx="3486658" cy="274320"/>
          </a:xfrm>
          <a:prstGeom prst="rect">
            <a:avLst/>
          </a:prstGeom>
          <a:solidFill>
            <a:srgbClr val="E0F2FE"/>
          </a:solidFill>
          <a:ln w="12700">
            <a:solidFill>
              <a:srgbClr val="0369A1"/>
            </a:solidFill>
            <a:prstDash val="solid"/>
          </a:ln>
        </p:spPr>
      </p:sp>
      <p:sp>
        <p:nvSpPr>
          <p:cNvPr id="5" name="Shape 2"/>
          <p:cNvSpPr/>
          <p:nvPr/>
        </p:nvSpPr>
        <p:spPr>
          <a:xfrm>
            <a:off x="8156397"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7" name="Text 3"/>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Floating point on RISC-V, and on your kit</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RISC-V with the F and D extensions</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Thirty-two more registers, f0 to f31, for floating-point values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Instructions such as fadd.s, fmul.s, flw and fsw work on IEEE 754 numbers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fcvt.w.s converts to an integer, fcvt.s.w from an integer</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Found on RISC-V processors for laptops, servers and supercomputers</a:t>
            </a:r>
            <a:endParaRPr lang="en-US" sz="19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The ESP32-C6: RV32IMAC</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No F and no D: there are no floating-point instructions at all</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A C program can still use float: the compiler calls software routines such as __addsf3</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Each call costs tens to hundreds of integer instructions</a:t>
            </a:r>
            <a:endParaRPr lang="en-US" sz="1900" dirty="0"/>
          </a:p>
          <a:p>
            <a:pPr marL="203200" indent="-203200">
              <a:spcAft>
                <a:spcPts val="800"/>
              </a:spcAft>
              <a:buSzPct val="100000"/>
              <a:buChar char="•"/>
            </a:pPr>
            <a:r>
              <a:rPr lang="en-US" sz="1900" dirty="0">
                <a:solidFill>
                  <a:srgbClr val="1B2530"/>
                </a:solidFill>
                <a:latin typeface="Calibri" pitchFamily="34" charset="0"/>
                <a:ea typeface="Calibri" pitchFamily="34" charset="-122"/>
                <a:cs typeface="Calibri" pitchFamily="34" charset="-120"/>
              </a:rPr>
              <a:t>PRG32 games use integers and fixed point: fast, exact enough, and visible in the debugger</a:t>
            </a:r>
            <a:endParaRPr lang="en-US" sz="1900" dirty="0"/>
          </a:p>
        </p:txBody>
      </p:sp>
      <p:sp>
        <p:nvSpPr>
          <p:cNvPr id="9" name="Shape 7"/>
          <p:cNvSpPr/>
          <p:nvPr/>
        </p:nvSpPr>
        <p:spPr>
          <a:xfrm>
            <a:off x="8156397" y="91440"/>
            <a:ext cx="3486658" cy="274320"/>
          </a:xfrm>
          <a:prstGeom prst="rect">
            <a:avLst/>
          </a:prstGeom>
          <a:solidFill>
            <a:srgbClr val="E0F2FE"/>
          </a:solidFill>
          <a:ln w="12700">
            <a:solidFill>
              <a:srgbClr val="0369A1"/>
            </a:solidFill>
            <a:prstDash val="solid"/>
          </a:ln>
        </p:spPr>
      </p:sp>
      <p:sp>
        <p:nvSpPr>
          <p:cNvPr id="10" name="Shape 8"/>
          <p:cNvSpPr/>
          <p:nvPr/>
        </p:nvSpPr>
        <p:spPr>
          <a:xfrm>
            <a:off x="815639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12" name="Text 9"/>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IEEE 754 floating point</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Reading the name RV32IMAC</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273130"/>
                <a:gridCol w="2364384"/>
                <a:gridCol w="5456270"/>
                <a:gridCol w="2000632"/>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Letter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Extension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What it adds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On the ESP32-C6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RV32I</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base integer set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32-bit registers, add, logic, load and store, branches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M</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multiply and divide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mul, mulh, div, rem and their unsigned forms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A</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atomic</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instructions for safe sharing between tasks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C</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compressed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16-bit encodings of the most common instructions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yes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F</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single precision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f0 to f31 and IEEE 754 single-precision instructions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dirty="0">
                          <a:solidFill>
                            <a:srgbClr val="1B2530"/>
                          </a:solidFill>
                          <a:latin typeface="Courier New" pitchFamily="34" charset="0"/>
                          <a:ea typeface="Courier New" pitchFamily="34" charset="-122"/>
                          <a:cs typeface="Courier New" pitchFamily="34" charset="-120"/>
                        </a:rPr>
                        <a:t>D</a:t>
                      </a:r>
                      <a:endParaRPr lang="en-US" sz="19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double precision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IEEE 754 double-precision instructions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no</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8550351" y="91440"/>
            <a:ext cx="3092704" cy="274320"/>
          </a:xfrm>
          <a:prstGeom prst="rect">
            <a:avLst/>
          </a:prstGeom>
          <a:solidFill>
            <a:srgbClr val="E0F2FE"/>
          </a:solidFill>
          <a:ln w="12700">
            <a:solidFill>
              <a:srgbClr val="0369A1"/>
            </a:solidFill>
            <a:prstDash val="solid"/>
          </a:ln>
        </p:spPr>
      </p:sp>
      <p:sp>
        <p:nvSpPr>
          <p:cNvPr id="5" name="Shape 2"/>
          <p:cNvSpPr/>
          <p:nvPr/>
        </p:nvSpPr>
        <p:spPr>
          <a:xfrm>
            <a:off x="855035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678367" y="128016"/>
            <a:ext cx="201168" cy="201168"/>
          </a:xfrm>
          <a:prstGeom prst="rect">
            <a:avLst/>
          </a:prstGeom>
        </p:spPr>
      </p:pic>
      <p:sp>
        <p:nvSpPr>
          <p:cNvPr id="7" name="Text 3"/>
          <p:cNvSpPr txBox="1"/>
          <p:nvPr/>
        </p:nvSpPr>
        <p:spPr>
          <a:xfrm>
            <a:off x="8934399" y="91440"/>
            <a:ext cx="267208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the name RV32IMAC</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signed encoding keeps the bit patterns in the same order as the numbers?</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Sign and magnitude</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One's complement</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Two's complement</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Excess-k</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Q24.8 fixed point, which real number does the word 0x00000180 represent?</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384</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1.5</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1.8</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0.375</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real number is the IEEE 754 single-precision pattern 0x40400000?</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2.0</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0.75</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In IEEE 754, an exponent field of all ones with a fraction of all zeros means:</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zero</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a denormalised number</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infinity</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NaN</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10011"/>
                <a:gridCol w="3273762"/>
                <a:gridCol w="2546259"/>
                <a:gridCol w="2364384"/>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English</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one's complement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complemento a uno (alla base diminuita)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mantissa / fraction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mantissa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excess-k (biased)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eccesso-k</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exponent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esponente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fixed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virgola fissa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normalisation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normalizzazione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floating point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virgola mobile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hidden bit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bit nascosto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single / double precision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singola / doppia precisione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denormalised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denormalizzato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rounding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arrotondamento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Not a Number (NaN)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non un numero (NaN)</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Integers have several representations: 8, 16, 32 or 64 bits, signed or unsigned, complements or excess</a:t>
            </a:r>
            <a:endParaRPr lang="en-US" sz="2100" dirty="0"/>
          </a:p>
        </p:txBody>
      </p:sp>
      <p:sp>
        <p:nvSpPr>
          <p:cNvPr id="5" name="Shape 3"/>
          <p:cNvSpPr/>
          <p:nvPr/>
        </p:nvSpPr>
        <p:spPr>
          <a:xfrm>
            <a:off x="548640" y="234276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4409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Fixed point stores a fraction as a scaled integer: constant absolute error, integer speed</a:t>
            </a:r>
            <a:endParaRPr lang="en-US" sz="2100" dirty="0"/>
          </a:p>
        </p:txBody>
      </p:sp>
      <p:sp>
        <p:nvSpPr>
          <p:cNvPr id="7" name="Shape 5"/>
          <p:cNvSpPr/>
          <p:nvPr/>
        </p:nvSpPr>
        <p:spPr>
          <a:xfrm>
            <a:off x="548640" y="316953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070860"/>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Floating point stores mantissa and exponent: huge range, constant relative error</a:t>
            </a:r>
            <a:endParaRPr lang="en-US" sz="2100" dirty="0"/>
          </a:p>
        </p:txBody>
      </p:sp>
      <p:sp>
        <p:nvSpPr>
          <p:cNvPr id="9" name="Shape 7"/>
          <p:cNvSpPr/>
          <p:nvPr/>
        </p:nvSpPr>
        <p:spPr>
          <a:xfrm>
            <a:off x="548640" y="3670935"/>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57225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IEEE 754 is the universal standard for floating point, with special patterns for zero, infinity and NaN</a:t>
            </a:r>
            <a:endParaRPr lang="en-US" sz="2100" dirty="0"/>
          </a:p>
        </p:txBody>
      </p:sp>
      <p:sp>
        <p:nvSpPr>
          <p:cNvPr id="11" name="Shape 9"/>
          <p:cNvSpPr/>
          <p:nvPr/>
        </p:nvSpPr>
        <p:spPr>
          <a:xfrm>
            <a:off x="548640" y="4497705"/>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399026"/>
            <a:ext cx="10710367" cy="325374"/>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On a processor without the F extension, fixed point is the natural choice</a:t>
            </a:r>
            <a:endParaRPr lang="en-US" sz="2100" dirty="0"/>
          </a:p>
        </p:txBody>
      </p:sp>
      <p:sp>
        <p:nvSpPr>
          <p:cNvPr id="13" name="Shape 11"/>
          <p:cNvSpPr/>
          <p:nvPr/>
        </p:nvSpPr>
        <p:spPr>
          <a:xfrm>
            <a:off x="548640" y="4999101"/>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Reading</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Computer Organization and Design, RISC-V Edition, section 3.5</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David Goldberg: What Every Computer Scientist Should Know About Floating-Point Arithmetic</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Playing with RISC-V, appendix: The PRG32 Runtime Interface (playfields and parallax)</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Number Representation: Real Numbers</dc:title>
  <dc:subject>Lecture 06</dc:subject>
  <dc:creator>Raffaele Montella</dc:creator>
  <cp:lastModifiedBy>Raffaele Montella</cp:lastModifiedBy>
  <cp:revision>1</cp:revision>
  <dcterms:created xsi:type="dcterms:W3CDTF">2026-10-16T16:46:56Z</dcterms:created>
  <dcterms:modified xsi:type="dcterms:W3CDTF">2026-10-16T16:46:56Z</dcterms:modified>
</cp:coreProperties>
</file>