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6f0840a-5943-290b-4a21-85826d84832b}">
          <p14:sldIdLst>
            <p14:sldId id="256"/>
            <p14:sldId id="257"/>
          </p14:sldIdLst>
        </p14:section>
        <p14:section name="Boolean functions" id="{11ae3c01-8b89-355a-0001-03d0016096ae}">
          <p14:sldIdLst>
            <p14:sldId id="258"/>
            <p14:sldId id="259"/>
            <p14:sldId id="260"/>
            <p14:sldId id="261"/>
            <p14:sldId id="262"/>
            <p14:sldId id="263"/>
          </p14:sldIdLst>
        </p14:section>
        <p14:section name="Canonical forms" id="{0ce211f5-220a-57b6-0cbf-b121e1354a64}">
          <p14:sldIdLst>
            <p14:sldId id="264"/>
            <p14:sldId id="265"/>
            <p14:sldId id="266"/>
          </p14:sldIdLst>
        </p14:section>
        <p14:section name="Karnaugh maps" id="{74e1913a-1430-0718-a671-d9c9f4c0b858}">
          <p14:sldIdLst>
            <p14:sldId id="267"/>
            <p14:sldId id="268"/>
            <p14:sldId id="269"/>
            <p14:sldId id="270"/>
          </p14:sldIdLst>
        </p14:section>
        <p14:section name="Back to the machine" id="{5b37060a-ceec-7870-812a-561fa80474f6}">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lecture supplied operators and their properties. This one addresses the practical question that follows: given what a circuit must do, how are its gates found? The answer is a method in three steps, truth table, canonical form and minimisation, applied to the most important circuit of the course, the adder. The lecture opens with two instructions that add two bits, and closes with the thirty-two adders that execute every add written so far. It thus passes from the algebra as a calculus to the algebra as a design method.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adder; Boolean functions; canonical forms; minimisation, Karnaugh maps. USE NOW: the complete program, the PRG32 tools (used, not studied, in this course). UNDERSTAND LATER: nothing. A slide without a badge is context: a story, an example, a question, an exercise.
For the lecturer: Spiral: the lecture opens with two instructions that add two bits, shows that they are a half adder, then develops the method (truth table, canonical form, minimisation) that produces such circuits, and closes on the 32-bit adder behind the add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learning outcomes. Mastering the vocabulary: literal, clause, factor, minterm, maxterm. Stating how many Boolean functions of n variables exist. Writing a function in both canonical forms from its truth table. Minimising a function of up to four variables with a Karnaugh map, the skill most exercised by the midterm and the laboratory. And deriving the half adder and the full adder, then explaining how thirty-two of them perform an addition.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terms. A literal is a variable, or its complement, as it occurs in an expression: a, b', x. A clause, or product term, is a logical product of literals: a b' x. A factor, or sum term, is a logical sum of literals: (a + x'). The number of literals is a first measure of the cost of an expression, because each occurrence of a variable is an input to some gate; counting literals is how two forms of the same function will be compared.
UNDERSTAND NOW: Boolean functions.
For the lecturer: Letterale; clausola o termine elementare; fattore elementare. Each occurrence of a variable counts as a literal: the number of literals measures the cost of an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Boolean function assigns 0 or 1 to each combination of its n inputs. There are 2^n combinations, and for each of them two possible outputs, so the number of distinct functions is 2^(2^n): 4 for one variable, 16 for two, 256 for three, 65,536 for four. The number is finite but grows doubly exponentially. The last line states why the subject matters: every digital circuit can be written as a Boolean expression, and every Boolean expression can be built as a circuit. The correspondence between algebra and hardware is exact.
UNDERSTAND NOW: Boolean functions.
For the lecturer: f: B^n -&gt; B with B = {0, 1}. For n = 5 there are already more than four billion functions: 2^32.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sixteen functions of two variables. Each row is a function, the four central columns giving its outputs for the inputs 00, 01, 10 and 11; the index of the function is that column of outputs read as a binary number. The gates of Lecture 08 appear among them, highlighted: AND is f1, XOR is f6, OR is f7, NOR is f8, XNOR is f9, NAND is f14. The remainder comprise the two constants, the two inputs passed through unchanged, their negations, and four less common functions such as implication.
UNDERSTAND NOW: Boolean functions.
For the lecturer: f0 and f15: constants. f3, f5: identity (buffer). f12, f10: NOT. f1 AND, f7 OR, f6 XOR, f9 equivalence, f14 NAND, f8 NOR. f13 is the implication x -&gt; y, f11 is y -&gt; x; f2 and f4 are the inhibitions.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set of operators is functionally complete if every Boolean function can be expressed with it alone. AND, OR and NOT form a complete set. Since De Morgan's laws allow either AND or OR to be obtained from the other with the help of NOT, two operators suffice. The remarkable fact comes last: NAND alone is complete, and so is NOR alone. A single type of gate is sufficient to construct any digital circuit, an entire processor included, which is why NAND and NOR are called universal gates. Lecture 10 shows why this matters economically.
UNDERSTAND NOW: Boolean functions.
For the lecturer: NOT x = x NAND x; x AND y = (x NAND y) NAND (x NAND y); x OR y = (x NAND x) NAND (y NAND y). Real chips are largely built from NAND and NOR because they need the fewest transistors.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half adder adds two bits A and B and produces a sum bit S and a carry C. The truth table shows that S is 1 when the inputs differ, which is XOR, and that C is 1 when both are 1, which is AND. The circuit on the right corresponds exactly to the two instructions of the warm-up. It is called "half" because it has no input for a carry from a less significant position, so on its own it can add only the least significant bits of two numbers.
UNDERSTAND NOW: the adder.
For the lecturer: The circuit is exactly the two instructions of the warm-up. 'Half' because it has no carry input: it can only add the least significant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adder has three inputs, the two operand bits A and B and an incoming carry, and two outputs, a sum bit and an outgoing carry. From the table, S is 1 when an odd number of inputs is 1, and the carry out is 1 when at least two inputs are 1. The circuit consists of two half adders and an OR gate: the first adds A and B, the second adds the incoming carry to their partial sum, and the OR merges the two possible carries, which can never both be 1. In the drawing, wires that cross without a dot are not connected.
UNDERSTAND NOW: the adder.
For the lecturer: Two half adders and an OR. S is 1 when an odd number of inputs is 1; Cout is 1 when at least two inputs are 1. Wires that cross without a dot are not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minterm is a product containing every variable exactly once, complemented or not. Its defining property is that it equals 1 for exactly one row of the truth table: a'b'c is 1 only when a = 0, b = 0 and c = 1. A maxterm is a sum containing every variable exactly once, and it equals 0 for exactly one row. To write the minterm of a row, the variables that are 0 in that row are complemented; for the maxterm, those that are 1. Minterms and maxterms are the building blocks of the canonical forms.
UNDERSTAND NOW: canonical forms.
For the lecturer: Mintermine (termine prodotto P); maxtermine (fattore somma S). Minterm i corresponds to row i: a variable appears complemented where the row has a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applied to F. For each row in which F is 1 its minterm is written, and the OR of these minterms is the canonical form P: F is the sum of minterms 3, 4, 5, 6 and 7. For each row in which F is 0 its maxterm is written, and the AND of these maxterms is the canonical form S: the product of maxterms 0, 1 and 2. Both expressions are correct and unique, which is their theoretical value; neither is economical, since the first has five clauses and fifteen literals.
UNDERSTAND NOW: canonical forms.
For the lecturer: Every function has exactly one canonical form of each type (up to the order of the terms). This is synthesis by recipe: always possible, rarely economical.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form of F reduced step by step with the laws of Lecture 08. A is factored from four clauses; a second factoring takes place within the parenthesis; the complement law is applied twice; finally the simplification x + x'y = x + y. Fifteen literals become three: F = A + BC. The method works, but the caption identifies its weakness: at every step one had to see which law to apply. For larger functions this is impractical, and a method independent of insight is required.
UNDERSTAND NOW: canonical forms.
For the lecturer: From five AND gates with three inputs and a five-input OR, to one AND and one OR. The source deck called this an 'empirical' minimisation: it works, but which law to apply next is left to intuition. Karnaugh maps make it mechanical.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Karnaugh map is the truth table redrawn as a grid, one cell per row. Its essential feature is the ordering of the cells: any two neighbouring cells differ in the value of exactly one variable, which is why the columns are labelled 00, 01, 11, 10 (a Gray code) rather than in counting order. Consequently two adjacent 1s can be merged into a single clause with one literal fewer, by the law xy + xy' = x. The rule is to group the 1s into rectangles of 1, 2, 4 or 8 cells, each as large as possible, until every 1 is covered. The left and right edges are also adjacent.
UNDERSTAND NOW: minimisation, Karnaugh maps.
For the lecturer: The order 00, 01, 11, 10 is a Gray code. Maurice Karnaugh, 1953. An online tool was suggested in the source deck (edutecnica.it/apps/k/k.htm).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F placed on a three-variable map. 1s are written in the cells of minterms 3, 4, 5, 6 and 7. The red group covers the whole row A = 1, four cells in which both B and C vary, so the clause is A. The violet group covers the column BC = 11, in which A varies, so the clause is BC. Every 1 is covered and no group can be enlarged: F = A + BC. This is the result of the algebraic minimisation, obtained by inspection in a few seconds.
UNDERSTAND NOW: minimisation, Karnaugh maps.
For the lecturer: A group of 2^k cells eliminates k variables. Always take the largest groups first, then cover what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four variables the map has sixteen cells, and both sets of labels follow the order 00, 01, 11, 10. The central red group of four yields BD. The four corners also form a group, because the map wraps around in both directions, as if drawn on the surface of a torus. In the corners B and D are both 0, so the clause is B'D'. The result has four literals instead of thirty-two. Before concluding that a 1 is isolated, the edges and corners should always be examined.
UNDERSTAND NOW: minimisation, Karnaugh maps.
For the lecturer: New slide. Think of the map as drawn on a torus: the top edge touches the bottom edge and the left edge touches the right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input combinations can never occur, or their output is irrelevant when they do. A decimal digit encoded on four bits uses only ten of the sixteen patterns, and the other six never appear. Their cells are marked x, a don't care, and each x may be treated as 1 or as 0, whichever is more advantageous: as 1 when it enlarges a group, and otherwise ignored. Greater freedom yields larger groups and therefore a cheaper circuit. Lecture 11 meets this situation in binary-coded decimal and the seven-segment display.
UNDERSTAND NOW: minimisation, Karnaugh maps.
For the lecturer: New slide. Typical exam exercise: the seven-segment display decoder, where each segment is a function of four variables with six don't-cares.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Thirty-two full adders are placed in a row, one per bit position. Each receives one bit of A, one bit of B and the carry from the position to its right, and passes its own carry to the left: this is a ripple-carry adder, and it is what executes add t2, t0, t1. The first incoming carry is 0. Subtraction uses the same adder: the second operand is complemented and the first incoming carry set to 1, which is exactly the two's complement negation of Lecture 05. The carry out of the last position is discarded. The carry must traverse all thirty-two stages, a delay whose consequences Lecture 11 examines.
UNDERSTAND NOW: the adder.
For the lecturer: The carry out of bit 31 is the unsigned overflow of Lecture 05, which RISC-V simply drops. Real processors use faster carry schemes (carry look-ahead), but the function computed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the formula for the number of functions is applied with n = 3, evaluating the exponent first: 2^3 = 8 is the number of rows of the truth table, and the answer is 2^8.
For the second, 5 is written in binary on three bits, 101. In a minterm a variable appears uncomplemented where the row has 1 and complemented where it has 0. The option containing plus signs can be discarded at once: it is a sum and therefore cannot be a minterm.
For the lecturer: 1. Answer: D. 2^(2^3) = 2^8 = 256.
2. Answer: B. Row 5 is 101: A = 1, B = 0, C = 1, so the minterm is A B'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a group of 2^k cells eliminates k variables, and four is 2^2. The three-variable map confirms it: the row of four 1s lost both B and C.
For the second, the table of the full adder is consulted. The carry out is 1 in the rows with two or three 1s among the inputs: it is the majority function. "An odd number of 1s" describes the other output, the sum bit.
For the lecturer: 1. Answer: B. A group of 2^k cells eliminates k variables: four cells, two variables.
2. Answer: C. Cout is the majority function: AB + Cin(A xor B) = AB + ACin + BCin. An odd number of 1s describes the sum bit 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In Italian the canonical forms are designated P, for prodotti, and S, for somme; English texts use SOP and POS. The half adder is the semisommatore, the full adder the sommatore completo. A don't care is a condizione di indifferenza. The ripple-carry adder is the adder in which the carry propagates from each position 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Boolean function is a truth table, and a truth table always yields a canonical expression. Minimisation optimises the network and reduces its cost. Karnaugh maps turn the algebra into a visual procedure: group the 1s and read off the clauses. The half adder and the full adder are the first genuine circuits of the course. And thirty-two full adders in a row execute the add typed in the first programming lecture. The next lecture asks what the gates themselves are made of.
Learning status, recap. UNDERSTAND NOW: the adder; Boolean functions; canonical forms; minimisation, Karnaugh maps. USE NOW: the complete program, the PRG32 tools (used, not studied, in this course). UNDERSTAND LATER: nothing. A slide without a badge is context: a story, an example, a question, an exercise.
For the lecturer: Next lecture: electronics, to see what these gates are made of; then combinational and sequential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09: Boolean algebra (2)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Elements of Boolean Algebra</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100" dirty="0">
                <a:solidFill>
                  <a:srgbClr val="CFE3EA"/>
                </a:solidFill>
                <a:latin typeface="Calibri" pitchFamily="34" charset="0"/>
                <a:ea typeface="Calibri" pitchFamily="34" charset="-122"/>
                <a:cs typeface="Calibri" pitchFamily="34" charset="-120"/>
              </a:rPr>
              <a:t>Part 2: Boolean functions, canonical forms, minimisation and the adder</a:t>
            </a:r>
            <a:endParaRPr lang="en-US" sz="21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“Oh dear! Oh dear! I shall be too late!”</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Lewis Carroll, Alice's Adventures in Wonderland, 1865</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09-Computer_Architecture-Boolean_Algebra_2-Lab.pptx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tetris.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Define literal, clause, factor, minterm and maxterm</a:t>
            </a:r>
            <a:endParaRPr lang="en-US" sz="2200" dirty="0"/>
          </a:p>
        </p:txBody>
      </p:sp>
      <p:sp>
        <p:nvSpPr>
          <p:cNvPr id="5" name="Text 3"/>
          <p:cNvSpPr txBox="1"/>
          <p:nvPr/>
        </p:nvSpPr>
        <p:spPr>
          <a:xfrm>
            <a:off x="548640" y="23332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149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how many Boolean functions of n variables exist, and name those of two variables</a:t>
            </a:r>
            <a:endParaRPr lang="en-US" sz="2200" dirty="0"/>
          </a:p>
        </p:txBody>
      </p:sp>
      <p:sp>
        <p:nvSpPr>
          <p:cNvPr id="7" name="Text 5"/>
          <p:cNvSpPr txBox="1"/>
          <p:nvPr/>
        </p:nvSpPr>
        <p:spPr>
          <a:xfrm>
            <a:off x="548640" y="34721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4538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a function in canonical sum-of-products and product-of-sums form from its truth table</a:t>
            </a:r>
            <a:endParaRPr lang="en-US" sz="2200" dirty="0"/>
          </a:p>
        </p:txBody>
      </p:sp>
      <p:sp>
        <p:nvSpPr>
          <p:cNvPr id="9" name="Text 7"/>
          <p:cNvSpPr txBox="1"/>
          <p:nvPr/>
        </p:nvSpPr>
        <p:spPr>
          <a:xfrm>
            <a:off x="548640" y="46111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928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Minimise a function of up to four variables with a Karnaugh map</a:t>
            </a:r>
            <a:endParaRPr lang="en-US" sz="2200" dirty="0"/>
          </a:p>
        </p:txBody>
      </p:sp>
      <p:sp>
        <p:nvSpPr>
          <p:cNvPr id="11" name="Text 9"/>
          <p:cNvSpPr txBox="1"/>
          <p:nvPr/>
        </p:nvSpPr>
        <p:spPr>
          <a:xfrm>
            <a:off x="548640" y="55072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8894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Derive the half adder and the full adder, and explain how thirty-two of them execute add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Boolean expressions: the vocabulary</a:t>
            </a:r>
            <a:endParaRPr lang="en-US" sz="3200" dirty="0"/>
          </a:p>
        </p:txBody>
      </p:sp>
      <p:sp>
        <p:nvSpPr>
          <p:cNvPr id="3" name="Shape 1"/>
          <p:cNvSpPr/>
          <p:nvPr/>
        </p:nvSpPr>
        <p:spPr>
          <a:xfrm>
            <a:off x="548640" y="1572387"/>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50467"/>
            <a:ext cx="10710367" cy="110566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Literal: a Boolean variable, or its complement, as it appears in an expression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b', x</a:t>
            </a:r>
            <a:endParaRPr lang="en-US" sz="2400" dirty="0"/>
          </a:p>
        </p:txBody>
      </p:sp>
      <p:sp>
        <p:nvSpPr>
          <p:cNvPr id="5" name="Shape 3"/>
          <p:cNvSpPr/>
          <p:nvPr/>
        </p:nvSpPr>
        <p:spPr>
          <a:xfrm>
            <a:off x="548640" y="313524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013329"/>
            <a:ext cx="10710367"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Clause, or product term: the logical product of two or more literals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 b' . x</a:t>
            </a:r>
            <a:endParaRPr lang="en-US" sz="2400" dirty="0"/>
          </a:p>
        </p:txBody>
      </p:sp>
      <p:sp>
        <p:nvSpPr>
          <p:cNvPr id="7" name="Shape 5"/>
          <p:cNvSpPr/>
          <p:nvPr/>
        </p:nvSpPr>
        <p:spPr>
          <a:xfrm>
            <a:off x="548640" y="432625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204335"/>
            <a:ext cx="10710367"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Factor, or sum term: the logical sum of two or more literals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 x'), (b + c)</a:t>
            </a:r>
            <a:endParaRPr lang="en-US" sz="2400" dirty="0"/>
          </a:p>
        </p:txBody>
      </p:sp>
      <p:sp>
        <p:nvSpPr>
          <p:cNvPr id="9" name="Shape 7"/>
          <p:cNvSpPr/>
          <p:nvPr/>
        </p:nvSpPr>
        <p:spPr>
          <a:xfrm>
            <a:off x="548640" y="551726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395341"/>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Clauses and factors with more than one literal are functions of level 1: one layer of gates</a:t>
            </a:r>
            <a:endParaRPr lang="en-US" sz="2400" dirty="0"/>
          </a:p>
        </p:txBody>
      </p:sp>
      <p:sp>
        <p:nvSpPr>
          <p:cNvPr id="11" name="Shape 9"/>
          <p:cNvSpPr/>
          <p:nvPr/>
        </p:nvSpPr>
        <p:spPr>
          <a:xfrm>
            <a:off x="8550351" y="91440"/>
            <a:ext cx="3092704" cy="274320"/>
          </a:xfrm>
          <a:prstGeom prst="rect">
            <a:avLst/>
          </a:prstGeom>
          <a:solidFill>
            <a:srgbClr val="E0F2FE"/>
          </a:solidFill>
          <a:ln w="12700">
            <a:solidFill>
              <a:srgbClr val="0369A1"/>
            </a:solidFill>
            <a:prstDash val="solid"/>
          </a:ln>
        </p:spPr>
      </p:sp>
      <p:sp>
        <p:nvSpPr>
          <p:cNvPr id="12" name="Shape 10"/>
          <p:cNvSpPr/>
          <p:nvPr/>
        </p:nvSpPr>
        <p:spPr>
          <a:xfrm>
            <a:off x="8550351"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678367" y="128016"/>
            <a:ext cx="201168" cy="201168"/>
          </a:xfrm>
          <a:prstGeom prst="rect">
            <a:avLst/>
          </a:prstGeom>
        </p:spPr>
      </p:pic>
      <p:sp>
        <p:nvSpPr>
          <p:cNvPr id="14" name="Text 11"/>
          <p:cNvSpPr txBox="1"/>
          <p:nvPr/>
        </p:nvSpPr>
        <p:spPr>
          <a:xfrm>
            <a:off x="8934399" y="91440"/>
            <a:ext cx="267208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functions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How many functions of n variables?</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A Boolean function maps every combination of n binary inputs to one binary output</a:t>
            </a:r>
            <a:endParaRPr lang="en-US" sz="2300" dirty="0"/>
          </a:p>
        </p:txBody>
      </p:sp>
      <p:sp>
        <p:nvSpPr>
          <p:cNvPr id="5" name="Shape 3"/>
          <p:cNvSpPr/>
          <p:nvPr/>
        </p:nvSpPr>
        <p:spPr>
          <a:xfrm>
            <a:off x="548640" y="242252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08352"/>
            <a:ext cx="6565392" cy="71272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There are 2^n input combinations, and each can be mapped to 0 or to 1</a:t>
            </a:r>
            <a:endParaRPr lang="en-US" sz="2300" dirty="0"/>
          </a:p>
        </p:txBody>
      </p:sp>
      <p:sp>
        <p:nvSpPr>
          <p:cNvPr id="7" name="Shape 5"/>
          <p:cNvSpPr/>
          <p:nvPr/>
        </p:nvSpPr>
        <p:spPr>
          <a:xfrm>
            <a:off x="548640" y="331355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99384"/>
            <a:ext cx="6565392" cy="1369060"/>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So the distinct functions of n variables are 2^(2^n): a finite number</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1 variable: 4 functions; 2 variables: 16; 3 variables: 256; 4 variables: 65,536</a:t>
            </a:r>
            <a:endParaRPr lang="en-US" sz="2300" dirty="0"/>
          </a:p>
        </p:txBody>
      </p:sp>
      <p:sp>
        <p:nvSpPr>
          <p:cNvPr id="9" name="Shape 7"/>
          <p:cNvSpPr/>
          <p:nvPr/>
        </p:nvSpPr>
        <p:spPr>
          <a:xfrm>
            <a:off x="548640" y="48609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46752"/>
            <a:ext cx="6565392" cy="142544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Boolean functions are isomorphic to digital circuits: every circuit can be written as an expression, and every expression can be built as a circuit</a:t>
            </a:r>
            <a:endParaRPr lang="en-US" sz="23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2^(2^n)</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number of distinct Boolean functions of n variables</a:t>
            </a:r>
            <a:endParaRPr lang="en-US" sz="1900" dirty="0"/>
          </a:p>
        </p:txBody>
      </p:sp>
      <p:sp>
        <p:nvSpPr>
          <p:cNvPr id="14" name="Shape 12"/>
          <p:cNvSpPr/>
          <p:nvPr/>
        </p:nvSpPr>
        <p:spPr>
          <a:xfrm>
            <a:off x="8550351" y="91440"/>
            <a:ext cx="3092704" cy="274320"/>
          </a:xfrm>
          <a:prstGeom prst="rect">
            <a:avLst/>
          </a:prstGeom>
          <a:solidFill>
            <a:srgbClr val="E0F2FE"/>
          </a:solidFill>
          <a:ln w="12700">
            <a:solidFill>
              <a:srgbClr val="0369A1"/>
            </a:solidFill>
            <a:prstDash val="solid"/>
          </a:ln>
        </p:spPr>
      </p:sp>
      <p:sp>
        <p:nvSpPr>
          <p:cNvPr id="15" name="Shape 13"/>
          <p:cNvSpPr/>
          <p:nvPr/>
        </p:nvSpPr>
        <p:spPr>
          <a:xfrm>
            <a:off x="8550351"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678367" y="128016"/>
            <a:ext cx="201168" cy="201168"/>
          </a:xfrm>
          <a:prstGeom prst="rect">
            <a:avLst/>
          </a:prstGeom>
        </p:spPr>
      </p:pic>
      <p:sp>
        <p:nvSpPr>
          <p:cNvPr id="17" name="Text 14"/>
          <p:cNvSpPr txBox="1"/>
          <p:nvPr/>
        </p:nvSpPr>
        <p:spPr>
          <a:xfrm>
            <a:off x="8934399" y="91440"/>
            <a:ext cx="267208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functions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sixteen functions of two variables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349240" cy="914400"/>
        </p:xfrm>
        <a:graphic>
          <a:graphicData uri="http://schemas.openxmlformats.org/drawingml/2006/table">
            <a:tbl>
              <a:tblPr/>
              <a:tblGrid>
                <a:gridCol w="685800"/>
                <a:gridCol w="457200"/>
                <a:gridCol w="457200"/>
                <a:gridCol w="457200"/>
                <a:gridCol w="457200"/>
                <a:gridCol w="283464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name</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constant 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AND: 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f2</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f3</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(identity)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f4</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f5</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y (identity)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f6</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XOR</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f7</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OR: 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93815" y="1737360"/>
          <a:ext cx="5349240" cy="914400"/>
        </p:xfrm>
        <a:graphic>
          <a:graphicData uri="http://schemas.openxmlformats.org/drawingml/2006/table">
            <a:tbl>
              <a:tblPr/>
              <a:tblGrid>
                <a:gridCol w="685800"/>
                <a:gridCol w="457200"/>
                <a:gridCol w="457200"/>
                <a:gridCol w="457200"/>
                <a:gridCol w="457200"/>
                <a:gridCol w="283464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name</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f8</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NOR</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f9</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XNOR (equivalence)</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NOT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f12</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NOT x</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f13</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x' + y</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f14</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NAND</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f15</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constant 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1371600"/>
            <a:ext cx="11094415" cy="320040"/>
          </a:xfrm>
          <a:prstGeom prst="rect">
            <a:avLst/>
          </a:prstGeom>
          <a:noFill/>
          <a:ln/>
        </p:spPr>
        <p:txBody>
          <a:bodyPr wrap="square" lIns="0" tIns="0" rIns="0" bIns="0" rtlCol="0" anchor="t"/>
          <a:lstStyle/>
          <a:p>
            <a:pPr indent="0" marL="0">
              <a:buNone/>
            </a:pPr>
            <a:r>
              <a:rPr lang="en-US" sz="1400" i="1" dirty="0">
                <a:solidFill>
                  <a:srgbClr val="5B6B78"/>
                </a:solidFill>
                <a:latin typeface="Calibri" pitchFamily="34" charset="0"/>
                <a:ea typeface="Calibri" pitchFamily="34" charset="-122"/>
                <a:cs typeface="Calibri" pitchFamily="34" charset="-120"/>
              </a:rPr>
              <a:t>Columns 00, 01, 10, 11 give the output for each pair of inputs x y</a:t>
            </a:r>
            <a:endParaRPr lang="en-US" sz="1400" dirty="0"/>
          </a:p>
        </p:txBody>
      </p:sp>
      <p:sp>
        <p:nvSpPr>
          <p:cNvPr id="6" name="Text 2"/>
          <p:cNvSpPr txBox="1"/>
          <p:nvPr/>
        </p:nvSpPr>
        <p:spPr>
          <a:xfrm>
            <a:off x="548640" y="5440680"/>
            <a:ext cx="11094415" cy="731520"/>
          </a:xfrm>
          <a:prstGeom prst="rect">
            <a:avLst/>
          </a:prstGeom>
          <a:noFill/>
          <a:ln/>
        </p:spPr>
        <p:txBody>
          <a:bodyPr wrap="square" lIns="0" tIns="0" rIns="0" bIns="0" rtlCol="0" anchor="ctr"/>
          <a:lstStyle/>
          <a:p>
            <a:pPr indent="0" marL="0">
              <a:buNone/>
            </a:pPr>
            <a:r>
              <a:rPr lang="en-US" sz="1550" dirty="0">
                <a:solidFill>
                  <a:srgbClr val="1B2530"/>
                </a:solidFill>
                <a:latin typeface="Calibri" pitchFamily="34" charset="0"/>
                <a:ea typeface="Calibri" pitchFamily="34" charset="-122"/>
                <a:cs typeface="Calibri" pitchFamily="34" charset="-120"/>
              </a:rPr>
              <a:t>The index of each function is its output column read as a binary number. Highlighted: the gates of Lecture 08. With one variable the four functions are: constant 0, x, NOT x, constant 1.</a:t>
            </a:r>
            <a:endParaRPr lang="en-US" sz="1550" dirty="0"/>
          </a:p>
        </p:txBody>
      </p:sp>
      <p:sp>
        <p:nvSpPr>
          <p:cNvPr id="7" name="Shape 3"/>
          <p:cNvSpPr/>
          <p:nvPr/>
        </p:nvSpPr>
        <p:spPr>
          <a:xfrm>
            <a:off x="8550351" y="91440"/>
            <a:ext cx="3092704" cy="274320"/>
          </a:xfrm>
          <a:prstGeom prst="rect">
            <a:avLst/>
          </a:prstGeom>
          <a:solidFill>
            <a:srgbClr val="E0F2FE"/>
          </a:solidFill>
          <a:ln w="12700">
            <a:solidFill>
              <a:srgbClr val="0369A1"/>
            </a:solidFill>
            <a:prstDash val="solid"/>
          </a:ln>
        </p:spPr>
      </p:sp>
      <p:sp>
        <p:nvSpPr>
          <p:cNvPr id="8" name="Shape 4"/>
          <p:cNvSpPr/>
          <p:nvPr/>
        </p:nvSpPr>
        <p:spPr>
          <a:xfrm>
            <a:off x="8550351" y="91440"/>
            <a:ext cx="73152" cy="274320"/>
          </a:xfrm>
          <a:prstGeom prst="rect">
            <a:avLst/>
          </a:prstGeom>
          <a:solidFill>
            <a:srgbClr val="0369A1"/>
          </a:solidFill>
          <a:ln w="12700">
            <a:solidFill>
              <a:srgbClr val="0369A1"/>
            </a:solidFill>
            <a:prstDash val="solid"/>
          </a:ln>
        </p:spPr>
      </p:sp>
      <p:pic>
        <p:nvPicPr>
          <p:cNvPr id="9" name="Image 0" descr="preencoded.png">    </p:cNvPr>
          <p:cNvPicPr>
            <a:picLocks noChangeAspect="1"/>
          </p:cNvPicPr>
          <p:nvPr/>
        </p:nvPicPr>
        <p:blipFill>
          <a:blip r:embed="rId1"/>
          <a:stretch>
            <a:fillRect/>
          </a:stretch>
        </p:blipFill>
        <p:spPr>
          <a:xfrm>
            <a:off x="8678367" y="128016"/>
            <a:ext cx="201168" cy="201168"/>
          </a:xfrm>
          <a:prstGeom prst="rect">
            <a:avLst/>
          </a:prstGeom>
        </p:spPr>
      </p:pic>
      <p:sp>
        <p:nvSpPr>
          <p:cNvPr id="10" name="Text 5"/>
          <p:cNvSpPr txBox="1"/>
          <p:nvPr/>
        </p:nvSpPr>
        <p:spPr>
          <a:xfrm>
            <a:off x="8934399" y="91440"/>
            <a:ext cx="267208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functions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Functionally complete sets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Any Boolean function can be realised using only AND, OR and NOT</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Example: x XOR y = (x' AND y) OR (x AND y')</a:t>
            </a:r>
            <a:endParaRPr lang="en-US" sz="2200" dirty="0"/>
          </a:p>
        </p:txBody>
      </p:sp>
      <p:sp>
        <p:nvSpPr>
          <p:cNvPr id="7" name="Shape 5"/>
          <p:cNvSpPr/>
          <p:nvPr/>
        </p:nvSpPr>
        <p:spPr>
          <a:xfrm>
            <a:off x="548640" y="321945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1302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set {AND, OR, NOT} is called functionally complete</a:t>
            </a:r>
            <a:endParaRPr lang="en-US" sz="2200" dirty="0"/>
          </a:p>
        </p:txBody>
      </p:sp>
      <p:sp>
        <p:nvSpPr>
          <p:cNvPr id="9" name="Shape 7"/>
          <p:cNvSpPr/>
          <p:nvPr/>
        </p:nvSpPr>
        <p:spPr>
          <a:xfrm>
            <a:off x="548640" y="423773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3131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By De Morgan, AND can be built from OR and NOT, and OR from AND and NOT: {AND, NOT} and {OR, NOT} are complete too</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NAND alone is complete, and so is NOR alone: they are the universal gates</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NAND</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a single type of gate is enough to build any digital circuit, a whole processor included</a:t>
            </a:r>
            <a:endParaRPr lang="en-US" sz="1900" dirty="0"/>
          </a:p>
        </p:txBody>
      </p:sp>
      <p:sp>
        <p:nvSpPr>
          <p:cNvPr id="16" name="Shape 14"/>
          <p:cNvSpPr/>
          <p:nvPr/>
        </p:nvSpPr>
        <p:spPr>
          <a:xfrm>
            <a:off x="8550351" y="91440"/>
            <a:ext cx="3092704" cy="274320"/>
          </a:xfrm>
          <a:prstGeom prst="rect">
            <a:avLst/>
          </a:prstGeom>
          <a:solidFill>
            <a:srgbClr val="E0F2FE"/>
          </a:solidFill>
          <a:ln w="12700">
            <a:solidFill>
              <a:srgbClr val="0369A1"/>
            </a:solidFill>
            <a:prstDash val="solid"/>
          </a:ln>
        </p:spPr>
      </p:sp>
      <p:sp>
        <p:nvSpPr>
          <p:cNvPr id="17" name="Shape 15"/>
          <p:cNvSpPr/>
          <p:nvPr/>
        </p:nvSpPr>
        <p:spPr>
          <a:xfrm>
            <a:off x="8550351"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678367" y="128016"/>
            <a:ext cx="201168" cy="201168"/>
          </a:xfrm>
          <a:prstGeom prst="rect">
            <a:avLst/>
          </a:prstGeom>
        </p:spPr>
      </p:pic>
      <p:sp>
        <p:nvSpPr>
          <p:cNvPr id="19" name="Text 16"/>
          <p:cNvSpPr txBox="1"/>
          <p:nvPr/>
        </p:nvSpPr>
        <p:spPr>
          <a:xfrm>
            <a:off x="8934399" y="91440"/>
            <a:ext cx="267208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functions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half adder</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10235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Adds two bits A and B and produces a sum bit S and a carry C</a:t>
            </a:r>
            <a:endParaRPr lang="en-US" sz="2000" dirty="0"/>
          </a:p>
        </p:txBody>
      </p:sp>
      <p:sp>
        <p:nvSpPr>
          <p:cNvPr id="5" name="Shape 3"/>
          <p:cNvSpPr/>
          <p:nvPr/>
        </p:nvSpPr>
        <p:spPr>
          <a:xfrm>
            <a:off x="548640" y="240487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3940"/>
            <a:ext cx="5102352"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binary 1 + 1 gives sum 0 and carry 1</a:t>
            </a:r>
            <a:endParaRPr lang="en-US" sz="2000" dirty="0"/>
          </a:p>
        </p:txBody>
      </p:sp>
      <p:sp>
        <p:nvSpPr>
          <p:cNvPr id="7" name="Shape 5"/>
          <p:cNvSpPr/>
          <p:nvPr/>
        </p:nvSpPr>
        <p:spPr>
          <a:xfrm>
            <a:off x="548640" y="299161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00680"/>
            <a:ext cx="510235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From the table: S is 1 when the inputs differ, C is 1 when both are 1</a:t>
            </a:r>
            <a:endParaRPr lang="en-US" sz="2000" dirty="0"/>
          </a:p>
        </p:txBody>
      </p:sp>
      <p:sp>
        <p:nvSpPr>
          <p:cNvPr id="9" name="Text 7"/>
          <p:cNvSpPr txBox="1"/>
          <p:nvPr/>
        </p:nvSpPr>
        <p:spPr>
          <a:xfrm>
            <a:off x="548640" y="3703320"/>
            <a:ext cx="5486400" cy="457200"/>
          </a:xfrm>
          <a:prstGeom prst="rect">
            <a:avLst/>
          </a:prstGeom>
          <a:noFill/>
          <a:ln/>
        </p:spPr>
        <p:txBody>
          <a:bodyPr wrap="square" lIns="0" tIns="0" rIns="0" bIns="0" rtlCol="0" anchor="ctr"/>
          <a:lstStyle/>
          <a:p>
            <a:pPr indent="0" marL="0">
              <a:buNone/>
            </a:pPr>
            <a:r>
              <a:rPr lang="en-US" sz="2100" b="1" dirty="0">
                <a:solidFill>
                  <a:srgbClr val="2E4A62"/>
                </a:solidFill>
                <a:latin typeface="Courier New" pitchFamily="34" charset="0"/>
                <a:ea typeface="Courier New" pitchFamily="34" charset="-122"/>
                <a:cs typeface="Courier New" pitchFamily="34" charset="-120"/>
              </a:rPr>
              <a:t>S = A xor B        C = A . B</a:t>
            </a:r>
            <a:endParaRPr lang="en-US" sz="2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0" y="4343400"/>
          <a:ext cx="3657600" cy="914400"/>
        </p:xfrm>
        <a:graphic>
          <a:graphicData uri="http://schemas.openxmlformats.org/drawingml/2006/table">
            <a:tbl>
              <a:tblPr/>
              <a:tblGrid>
                <a:gridCol w="822960"/>
                <a:gridCol w="822960"/>
                <a:gridCol w="1005840"/>
                <a:gridCol w="1005840"/>
              </a:tblGrid>
              <a:tr h="365760">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S</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6576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6576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65760">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0</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B2530"/>
                          </a:solidFill>
                          <a:latin typeface="Courier New" pitchFamily="34" charset="0"/>
                          <a:ea typeface="Courier New" pitchFamily="34" charset="-122"/>
                          <a:cs typeface="Courier New" pitchFamily="34" charset="-120"/>
                        </a:rPr>
                        <a:t>1</a:t>
                      </a:r>
                      <a:endParaRPr lang="en-US" sz="16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11" name="Shape 8"/>
          <p:cNvSpPr/>
          <p:nvPr/>
        </p:nvSpPr>
        <p:spPr>
          <a:xfrm>
            <a:off x="6492240" y="1417320"/>
            <a:ext cx="5150815" cy="4754880"/>
          </a:xfrm>
          <a:prstGeom prst="roundRect">
            <a:avLst>
              <a:gd name="adj" fmla="val 1538"/>
            </a:avLst>
          </a:prstGeom>
          <a:solidFill>
            <a:srgbClr val="EEF2F4"/>
          </a:solidFill>
          <a:ln w="12700">
            <a:solidFill>
              <a:srgbClr val="EEF2F4"/>
            </a:solidFill>
            <a:prstDash val="solid"/>
          </a:ln>
        </p:spPr>
      </p:sp>
      <p:sp>
        <p:nvSpPr>
          <p:cNvPr id="12" name="Shape 9"/>
          <p:cNvSpPr/>
          <p:nvPr/>
        </p:nvSpPr>
        <p:spPr>
          <a:xfrm>
            <a:off x="9075623" y="91440"/>
            <a:ext cx="2567432" cy="274320"/>
          </a:xfrm>
          <a:prstGeom prst="rect">
            <a:avLst/>
          </a:prstGeom>
          <a:solidFill>
            <a:srgbClr val="E0F2FE"/>
          </a:solidFill>
          <a:ln w="12700">
            <a:solidFill>
              <a:srgbClr val="0369A1"/>
            </a:solidFill>
            <a:prstDash val="solid"/>
          </a:ln>
        </p:spPr>
      </p:sp>
      <p:sp>
        <p:nvSpPr>
          <p:cNvPr id="13" name="Shape 10"/>
          <p:cNvSpPr/>
          <p:nvPr/>
        </p:nvSpPr>
        <p:spPr>
          <a:xfrm>
            <a:off x="9075623"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15" name="Text 11"/>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adder</a:t>
            </a:r>
            <a:endParaRPr lang="en-US" sz="1100" dirty="0"/>
          </a:p>
        </p:txBody>
      </p:sp>
      <p:pic>
        <p:nvPicPr>
          <p:cNvPr id="17" name="Image 1" descr="preencoded.png">    </p:cNvPr>
          <p:cNvPicPr>
            <a:picLocks noChangeAspect="1"/>
          </p:cNvPicPr>
          <p:nvPr/>
        </p:nvPicPr>
        <p:blipFill>
          <a:blip r:embed="rId2"/>
          <a:stretch>
            <a:fillRect/>
          </a:stretch>
        </p:blipFill>
        <p:spPr>
          <a:xfrm>
            <a:off x="6675120" y="2456879"/>
            <a:ext cx="4785055" cy="2675762"/>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full adder</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3611880" cy="914400"/>
        </p:xfrm>
        <a:graphic>
          <a:graphicData uri="http://schemas.openxmlformats.org/drawingml/2006/table">
            <a:tbl>
              <a:tblPr/>
              <a:tblGrid>
                <a:gridCol w="640080"/>
                <a:gridCol w="640080"/>
                <a:gridCol w="731520"/>
                <a:gridCol w="731520"/>
                <a:gridCol w="868680"/>
              </a:tblGrid>
              <a:tr h="374904">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Cin</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Cout</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74904">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983480"/>
            <a:ext cx="4023360" cy="365760"/>
          </a:xfrm>
          <a:prstGeom prst="rect">
            <a:avLst/>
          </a:prstGeom>
          <a:noFill/>
          <a:ln/>
        </p:spPr>
        <p:txBody>
          <a:bodyPr wrap="square" lIns="0" tIns="0" rIns="0" bIns="0" rtlCol="0" anchor="t"/>
          <a:lstStyle/>
          <a:p>
            <a:pPr indent="0" marL="0">
              <a:buNone/>
            </a:pPr>
            <a:r>
              <a:rPr lang="en-US" sz="1700" b="1" dirty="0">
                <a:solidFill>
                  <a:srgbClr val="2E4A62"/>
                </a:solidFill>
                <a:latin typeface="Courier New" pitchFamily="34" charset="0"/>
                <a:ea typeface="Courier New" pitchFamily="34" charset="-122"/>
                <a:cs typeface="Courier New" pitchFamily="34" charset="-120"/>
              </a:rPr>
              <a:t>S = A xor B xor Cin</a:t>
            </a:r>
            <a:endParaRPr lang="en-US" sz="1700" dirty="0"/>
          </a:p>
        </p:txBody>
      </p:sp>
      <p:sp>
        <p:nvSpPr>
          <p:cNvPr id="5" name="Text 2"/>
          <p:cNvSpPr txBox="1"/>
          <p:nvPr/>
        </p:nvSpPr>
        <p:spPr>
          <a:xfrm>
            <a:off x="548640" y="5394960"/>
            <a:ext cx="4206240" cy="365760"/>
          </a:xfrm>
          <a:prstGeom prst="rect">
            <a:avLst/>
          </a:prstGeom>
          <a:noFill/>
          <a:ln/>
        </p:spPr>
        <p:txBody>
          <a:bodyPr wrap="square" lIns="0" tIns="0" rIns="0" bIns="0" rtlCol="0" anchor="t"/>
          <a:lstStyle/>
          <a:p>
            <a:pPr indent="0" marL="0">
              <a:buNone/>
            </a:pPr>
            <a:r>
              <a:rPr lang="en-US" sz="1700" b="1" dirty="0">
                <a:solidFill>
                  <a:srgbClr val="2E4A62"/>
                </a:solidFill>
                <a:latin typeface="Courier New" pitchFamily="34" charset="0"/>
                <a:ea typeface="Courier New" pitchFamily="34" charset="-122"/>
                <a:cs typeface="Courier New" pitchFamily="34" charset="-120"/>
              </a:rPr>
              <a:t>Cout = A . B + Cin . (A xor B)</a:t>
            </a:r>
            <a:endParaRPr lang="en-US" sz="1700" dirty="0"/>
          </a:p>
        </p:txBody>
      </p:sp>
      <p:sp>
        <p:nvSpPr>
          <p:cNvPr id="6" name="Text 3"/>
          <p:cNvSpPr txBox="1"/>
          <p:nvPr/>
        </p:nvSpPr>
        <p:spPr>
          <a:xfrm>
            <a:off x="548640" y="5806440"/>
            <a:ext cx="4206240" cy="365760"/>
          </a:xfrm>
          <a:prstGeom prst="rect">
            <a:avLst/>
          </a:prstGeom>
          <a:noFill/>
          <a:ln/>
        </p:spPr>
        <p:txBody>
          <a:bodyPr wrap="square" lIns="0" tIns="0" rIns="0" bIns="0" rtlCol="0" anchor="t"/>
          <a:lstStyle/>
          <a:p>
            <a:pPr indent="0" marL="0">
              <a:buNone/>
            </a:pPr>
            <a:r>
              <a:rPr lang="en-US" sz="1350" i="1" dirty="0">
                <a:solidFill>
                  <a:srgbClr val="5B6B78"/>
                </a:solidFill>
                <a:latin typeface="Calibri" pitchFamily="34" charset="0"/>
                <a:ea typeface="Calibri" pitchFamily="34" charset="-122"/>
                <a:cs typeface="Calibri" pitchFamily="34" charset="-120"/>
              </a:rPr>
              <a:t>Adds two bits and a carry in; produces a sum bit and a carry out.</a:t>
            </a:r>
            <a:endParaRPr lang="en-US" sz="1350" dirty="0"/>
          </a:p>
        </p:txBody>
      </p:sp>
      <p:sp>
        <p:nvSpPr>
          <p:cNvPr id="7" name="Shape 4"/>
          <p:cNvSpPr/>
          <p:nvPr/>
        </p:nvSpPr>
        <p:spPr>
          <a:xfrm>
            <a:off x="4937760" y="1417320"/>
            <a:ext cx="6705295" cy="4754880"/>
          </a:xfrm>
          <a:prstGeom prst="roundRect">
            <a:avLst>
              <a:gd name="adj" fmla="val 1538"/>
            </a:avLst>
          </a:prstGeom>
          <a:solidFill>
            <a:srgbClr val="EEF2F4"/>
          </a:solidFill>
          <a:ln w="12700">
            <a:solidFill>
              <a:srgbClr val="EEF2F4"/>
            </a:solidFill>
            <a:prstDash val="solid"/>
          </a:ln>
        </p:spPr>
      </p:sp>
      <p:sp>
        <p:nvSpPr>
          <p:cNvPr id="8" name="Shape 5"/>
          <p:cNvSpPr/>
          <p:nvPr/>
        </p:nvSpPr>
        <p:spPr>
          <a:xfrm>
            <a:off x="9075623" y="91440"/>
            <a:ext cx="2567432" cy="274320"/>
          </a:xfrm>
          <a:prstGeom prst="rect">
            <a:avLst/>
          </a:prstGeom>
          <a:solidFill>
            <a:srgbClr val="E0F2FE"/>
          </a:solidFill>
          <a:ln w="12700">
            <a:solidFill>
              <a:srgbClr val="0369A1"/>
            </a:solidFill>
            <a:prstDash val="solid"/>
          </a:ln>
        </p:spPr>
      </p:sp>
      <p:sp>
        <p:nvSpPr>
          <p:cNvPr id="9" name="Shape 6"/>
          <p:cNvSpPr/>
          <p:nvPr/>
        </p:nvSpPr>
        <p:spPr>
          <a:xfrm>
            <a:off x="9075623" y="91440"/>
            <a:ext cx="73152" cy="274320"/>
          </a:xfrm>
          <a:prstGeom prst="rect">
            <a:avLst/>
          </a:prstGeom>
          <a:solidFill>
            <a:srgbClr val="0369A1"/>
          </a:solidFill>
          <a:ln w="12700">
            <a:solidFill>
              <a:srgbClr val="0369A1"/>
            </a:solidFill>
            <a:prstDash val="solid"/>
          </a:ln>
        </p:spPr>
      </p:sp>
      <p:pic>
        <p:nvPicPr>
          <p:cNvPr id="10"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11" name="Text 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adder</a:t>
            </a:r>
            <a:endParaRPr lang="en-US" sz="1100" dirty="0"/>
          </a:p>
        </p:txBody>
      </p:sp>
      <p:pic>
        <p:nvPicPr>
          <p:cNvPr id="13" name="Image 1" descr="preencoded.png">    </p:cNvPr>
          <p:cNvPicPr>
            <a:picLocks noChangeAspect="1"/>
          </p:cNvPicPr>
          <p:nvPr/>
        </p:nvPicPr>
        <p:blipFill>
          <a:blip r:embed="rId2"/>
          <a:stretch>
            <a:fillRect/>
          </a:stretch>
        </p:blipFill>
        <p:spPr>
          <a:xfrm>
            <a:off x="5074920" y="2338256"/>
            <a:ext cx="6430975" cy="2913008"/>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Minterms and maxterms</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110566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Minterm: a clause of order n, that is, a product containing a literal of every variable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 = 2: a b;  n = 3: a' b' c;  n = 6: a b c' d e' f</a:t>
            </a:r>
            <a:endParaRPr lang="en-US" sz="2400" dirty="0"/>
          </a:p>
        </p:txBody>
      </p:sp>
      <p:sp>
        <p:nvSpPr>
          <p:cNvPr id="5" name="Shape 3"/>
          <p:cNvSpPr/>
          <p:nvPr/>
        </p:nvSpPr>
        <p:spPr>
          <a:xfrm>
            <a:off x="548640" y="328498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63062"/>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minterm is 1 for exactly one row of the truth table</a:t>
            </a:r>
            <a:endParaRPr lang="en-US" sz="2400" dirty="0"/>
          </a:p>
        </p:txBody>
      </p:sp>
      <p:sp>
        <p:nvSpPr>
          <p:cNvPr id="7" name="Shape 5"/>
          <p:cNvSpPr/>
          <p:nvPr/>
        </p:nvSpPr>
        <p:spPr>
          <a:xfrm>
            <a:off x="548640" y="411403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992118"/>
            <a:ext cx="10710367"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Maxterm: a sum of n literals, one for every variable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 = 2: (a' + b');  n = 3: (a + b + c');  n = 6: (a' + b' + c + d' + e' + f')</a:t>
            </a:r>
            <a:endParaRPr lang="en-US" sz="2400" dirty="0"/>
          </a:p>
        </p:txBody>
      </p:sp>
      <p:sp>
        <p:nvSpPr>
          <p:cNvPr id="9" name="Shape 7"/>
          <p:cNvSpPr/>
          <p:nvPr/>
        </p:nvSpPr>
        <p:spPr>
          <a:xfrm>
            <a:off x="548640" y="530504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83124"/>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maxterm is 0 for exactly one row of the truth table</a:t>
            </a:r>
            <a:endParaRPr lang="en-US" sz="2400" dirty="0"/>
          </a:p>
        </p:txBody>
      </p:sp>
      <p:sp>
        <p:nvSpPr>
          <p:cNvPr id="11" name="Shape 9"/>
          <p:cNvSpPr/>
          <p:nvPr/>
        </p:nvSpPr>
        <p:spPr>
          <a:xfrm>
            <a:off x="8681669" y="91440"/>
            <a:ext cx="2961386" cy="274320"/>
          </a:xfrm>
          <a:prstGeom prst="rect">
            <a:avLst/>
          </a:prstGeom>
          <a:solidFill>
            <a:srgbClr val="E0F2FE"/>
          </a:solidFill>
          <a:ln w="12700">
            <a:solidFill>
              <a:srgbClr val="0369A1"/>
            </a:solidFill>
            <a:prstDash val="solid"/>
          </a:ln>
        </p:spPr>
      </p:sp>
      <p:sp>
        <p:nvSpPr>
          <p:cNvPr id="12" name="Shape 10"/>
          <p:cNvSpPr/>
          <p:nvPr/>
        </p:nvSpPr>
        <p:spPr>
          <a:xfrm>
            <a:off x="8681669"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14" name="Text 11"/>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canonical forms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the truth table to the canonical forms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315200" cy="914400"/>
        </p:xfrm>
        <a:graphic>
          <a:graphicData uri="http://schemas.openxmlformats.org/drawingml/2006/table">
            <a:tbl>
              <a:tblPr/>
              <a:tblGrid>
                <a:gridCol w="548640"/>
                <a:gridCol w="548640"/>
                <a:gridCol w="548640"/>
                <a:gridCol w="640080"/>
                <a:gridCol w="2377440"/>
                <a:gridCol w="265176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minterm (F = 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maxterm (F = 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M0 = A + B +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M1 = A + B +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M2 = A + B' +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m3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m4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m5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m6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m7 = A B C</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c>
                  <a:txBody>
                    <a:bodyPr/>
                    <a:lstStyle/>
                    <a:p>
                      <a:pPr algn="ctr" indent="0" marL="0">
                        <a:buNone/>
                      </a:pP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bl>
          </a:graphicData>
        </a:graphic>
      </p:graphicFrame>
      <p:sp>
        <p:nvSpPr>
          <p:cNvPr id="4" name="Shape 1"/>
          <p:cNvSpPr/>
          <p:nvPr/>
        </p:nvSpPr>
        <p:spPr>
          <a:xfrm>
            <a:off x="8229600" y="1417320"/>
            <a:ext cx="3413455" cy="2240280"/>
          </a:xfrm>
          <a:prstGeom prst="roundRect">
            <a:avLst>
              <a:gd name="adj" fmla="val 3265"/>
            </a:avLst>
          </a:prstGeom>
          <a:solidFill>
            <a:srgbClr val="D8ECEE"/>
          </a:solidFill>
          <a:ln w="12700">
            <a:solidFill>
              <a:srgbClr val="D8ECEE"/>
            </a:solidFill>
            <a:prstDash val="solid"/>
          </a:ln>
        </p:spPr>
      </p:sp>
      <p:sp>
        <p:nvSpPr>
          <p:cNvPr id="5" name="Text 2"/>
          <p:cNvSpPr txBox="1"/>
          <p:nvPr/>
        </p:nvSpPr>
        <p:spPr>
          <a:xfrm>
            <a:off x="8412480" y="1508760"/>
            <a:ext cx="3047695" cy="685800"/>
          </a:xfrm>
          <a:prstGeom prst="rect">
            <a:avLst/>
          </a:prstGeom>
          <a:noFill/>
          <a:ln/>
        </p:spPr>
        <p:txBody>
          <a:bodyPr wrap="square" lIns="0" tIns="0" rIns="0" bIns="0" rtlCol="0" anchor="t"/>
          <a:lstStyle/>
          <a:p>
            <a:pPr indent="0" marL="0">
              <a:buNone/>
            </a:pPr>
            <a:r>
              <a:rPr lang="en-US" sz="1450" b="1" dirty="0">
                <a:solidFill>
                  <a:srgbClr val="0E7C86"/>
                </a:solidFill>
                <a:latin typeface="Calibri" pitchFamily="34" charset="0"/>
                <a:ea typeface="Calibri" pitchFamily="34" charset="-122"/>
                <a:cs typeface="Calibri" pitchFamily="34" charset="-120"/>
              </a:rPr>
              <a:t>Canonical form P: sum of the minterms of the rows where F = 1</a:t>
            </a:r>
            <a:endParaRPr lang="en-US" sz="1450" dirty="0"/>
          </a:p>
        </p:txBody>
      </p:sp>
      <p:sp>
        <p:nvSpPr>
          <p:cNvPr id="6" name="Text 3"/>
          <p:cNvSpPr txBox="1"/>
          <p:nvPr/>
        </p:nvSpPr>
        <p:spPr>
          <a:xfrm>
            <a:off x="8412480" y="2240280"/>
            <a:ext cx="3047695" cy="822960"/>
          </a:xfrm>
          <a:prstGeom prst="rect">
            <a:avLst/>
          </a:prstGeom>
          <a:noFill/>
          <a:ln/>
        </p:spPr>
        <p:txBody>
          <a:bodyPr wrap="square" lIns="0" tIns="0" rIns="0" bIns="0" rtlCol="0" anchor="ctr"/>
          <a:lstStyle/>
          <a:p>
            <a:pPr indent="0" marL="0">
              <a:buNone/>
            </a:pPr>
            <a:r>
              <a:rPr lang="en-US" sz="1500" b="1" dirty="0">
                <a:solidFill>
                  <a:srgbClr val="1B2530"/>
                </a:solidFill>
                <a:latin typeface="Courier New" pitchFamily="34" charset="0"/>
                <a:ea typeface="Courier New" pitchFamily="34" charset="-122"/>
                <a:cs typeface="Courier New" pitchFamily="34" charset="-120"/>
              </a:rPr>
              <a:t>F = A'BC + AB'C' + AB'C + ABC' + ABC</a:t>
            </a:r>
            <a:endParaRPr lang="en-US" sz="1500" dirty="0"/>
          </a:p>
        </p:txBody>
      </p:sp>
      <p:sp>
        <p:nvSpPr>
          <p:cNvPr id="7" name="Text 4"/>
          <p:cNvSpPr txBox="1"/>
          <p:nvPr/>
        </p:nvSpPr>
        <p:spPr>
          <a:xfrm>
            <a:off x="8412480" y="3108960"/>
            <a:ext cx="3047695" cy="41148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F = sum of m(3, 4, 5, 6, 7)</a:t>
            </a:r>
            <a:endParaRPr lang="en-US" sz="1400" dirty="0"/>
          </a:p>
        </p:txBody>
      </p:sp>
      <p:sp>
        <p:nvSpPr>
          <p:cNvPr id="8" name="Shape 5"/>
          <p:cNvSpPr/>
          <p:nvPr/>
        </p:nvSpPr>
        <p:spPr>
          <a:xfrm>
            <a:off x="8229600" y="3840480"/>
            <a:ext cx="3413455" cy="2331720"/>
          </a:xfrm>
          <a:prstGeom prst="roundRect">
            <a:avLst>
              <a:gd name="adj" fmla="val 3137"/>
            </a:avLst>
          </a:prstGeom>
          <a:solidFill>
            <a:srgbClr val="F6E7D2"/>
          </a:solidFill>
          <a:ln w="12700">
            <a:solidFill>
              <a:srgbClr val="F6E7D2"/>
            </a:solidFill>
            <a:prstDash val="solid"/>
          </a:ln>
        </p:spPr>
      </p:sp>
      <p:sp>
        <p:nvSpPr>
          <p:cNvPr id="9" name="Text 6"/>
          <p:cNvSpPr txBox="1"/>
          <p:nvPr/>
        </p:nvSpPr>
        <p:spPr>
          <a:xfrm>
            <a:off x="8412480" y="3931920"/>
            <a:ext cx="3047695" cy="685800"/>
          </a:xfrm>
          <a:prstGeom prst="rect">
            <a:avLst/>
          </a:prstGeom>
          <a:noFill/>
          <a:ln/>
        </p:spPr>
        <p:txBody>
          <a:bodyPr wrap="square" lIns="0" tIns="0" rIns="0" bIns="0" rtlCol="0" anchor="t"/>
          <a:lstStyle/>
          <a:p>
            <a:pPr indent="0" marL="0">
              <a:buNone/>
            </a:pPr>
            <a:r>
              <a:rPr lang="en-US" sz="1450" b="1" dirty="0">
                <a:solidFill>
                  <a:srgbClr val="C7791B"/>
                </a:solidFill>
                <a:latin typeface="Calibri" pitchFamily="34" charset="0"/>
                <a:ea typeface="Calibri" pitchFamily="34" charset="-122"/>
                <a:cs typeface="Calibri" pitchFamily="34" charset="-120"/>
              </a:rPr>
              <a:t>Canonical form S: product of the maxterms of the rows where F = 0</a:t>
            </a:r>
            <a:endParaRPr lang="en-US" sz="1450" dirty="0"/>
          </a:p>
        </p:txBody>
      </p:sp>
      <p:sp>
        <p:nvSpPr>
          <p:cNvPr id="10" name="Text 7"/>
          <p:cNvSpPr txBox="1"/>
          <p:nvPr/>
        </p:nvSpPr>
        <p:spPr>
          <a:xfrm>
            <a:off x="8412480" y="4663440"/>
            <a:ext cx="3047695" cy="822960"/>
          </a:xfrm>
          <a:prstGeom prst="rect">
            <a:avLst/>
          </a:prstGeom>
          <a:noFill/>
          <a:ln/>
        </p:spPr>
        <p:txBody>
          <a:bodyPr wrap="square" lIns="0" tIns="0" rIns="0" bIns="0" rtlCol="0" anchor="ctr"/>
          <a:lstStyle/>
          <a:p>
            <a:pPr indent="0" marL="0">
              <a:buNone/>
            </a:pPr>
            <a:r>
              <a:rPr lang="en-US" sz="1500" b="1" dirty="0">
                <a:solidFill>
                  <a:srgbClr val="1B2530"/>
                </a:solidFill>
                <a:latin typeface="Courier New" pitchFamily="34" charset="0"/>
                <a:ea typeface="Courier New" pitchFamily="34" charset="-122"/>
                <a:cs typeface="Courier New" pitchFamily="34" charset="-120"/>
              </a:rPr>
              <a:t>F = (A+B+C) (A+B+C') (A+B'+C)</a:t>
            </a:r>
            <a:endParaRPr lang="en-US" sz="1500" dirty="0"/>
          </a:p>
        </p:txBody>
      </p:sp>
      <p:sp>
        <p:nvSpPr>
          <p:cNvPr id="11" name="Text 8"/>
          <p:cNvSpPr txBox="1"/>
          <p:nvPr/>
        </p:nvSpPr>
        <p:spPr>
          <a:xfrm>
            <a:off x="8412480" y="5577840"/>
            <a:ext cx="3047695" cy="411480"/>
          </a:xfrm>
          <a:prstGeom prst="rect">
            <a:avLst/>
          </a:prstGeom>
          <a:noFill/>
          <a:ln/>
        </p:spPr>
        <p:txBody>
          <a:bodyPr wrap="square" lIns="0" tIns="0" rIns="0" bIns="0" rtlCol="0" anchor="t"/>
          <a:lstStyle/>
          <a:p>
            <a:pPr indent="0" marL="0">
              <a:buNone/>
            </a:pPr>
            <a:r>
              <a:rPr lang="en-US" sz="1400" dirty="0">
                <a:solidFill>
                  <a:srgbClr val="5B6B78"/>
                </a:solidFill>
                <a:latin typeface="Courier New" pitchFamily="34" charset="0"/>
                <a:ea typeface="Courier New" pitchFamily="34" charset="-122"/>
                <a:cs typeface="Courier New" pitchFamily="34" charset="-120"/>
              </a:rPr>
              <a:t>F = product of M(0, 1, 2)</a:t>
            </a:r>
            <a:endParaRPr lang="en-US" sz="1400" dirty="0"/>
          </a:p>
        </p:txBody>
      </p:sp>
      <p:sp>
        <p:nvSpPr>
          <p:cNvPr id="12" name="Shape 9"/>
          <p:cNvSpPr/>
          <p:nvPr/>
        </p:nvSpPr>
        <p:spPr>
          <a:xfrm>
            <a:off x="8681669" y="91440"/>
            <a:ext cx="2961386" cy="274320"/>
          </a:xfrm>
          <a:prstGeom prst="rect">
            <a:avLst/>
          </a:prstGeom>
          <a:solidFill>
            <a:srgbClr val="E0F2FE"/>
          </a:solidFill>
          <a:ln w="12700">
            <a:solidFill>
              <a:srgbClr val="0369A1"/>
            </a:solidFill>
            <a:prstDash val="solid"/>
          </a:ln>
        </p:spPr>
      </p:sp>
      <p:sp>
        <p:nvSpPr>
          <p:cNvPr id="13" name="Shape 10"/>
          <p:cNvSpPr/>
          <p:nvPr/>
        </p:nvSpPr>
        <p:spPr>
          <a:xfrm>
            <a:off x="8681669"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15" name="Text 11"/>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canonical forms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Algebraic minimisation of F</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6001897"/>
                <a:gridCol w="5092518"/>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Expression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Law applied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A'BC + AB'C' + AB'C + ABC' + ABC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canonical form P: 5 clauses, 15 literals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A'BC + A (B'C' + B'C + BC' + BC)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distributive: collect 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A'BC + A (B' (C' + C) + B (C' + 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distributive, twice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A'BC + A (B' + B)</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complement: C' + C = 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A'BC + 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complement: B' + B = 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 A + BC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simplification: x + x' y = x + 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Fifteen literals become three. It works, but each step needs an idea: we want a method.</a:t>
            </a:r>
            <a:endParaRPr lang="en-US" sz="1500" dirty="0"/>
          </a:p>
        </p:txBody>
      </p:sp>
      <p:sp>
        <p:nvSpPr>
          <p:cNvPr id="5" name="Shape 2"/>
          <p:cNvSpPr/>
          <p:nvPr/>
        </p:nvSpPr>
        <p:spPr>
          <a:xfrm>
            <a:off x="8681669" y="91440"/>
            <a:ext cx="2961386" cy="274320"/>
          </a:xfrm>
          <a:prstGeom prst="rect">
            <a:avLst/>
          </a:prstGeom>
          <a:solidFill>
            <a:srgbClr val="E0F2FE"/>
          </a:solidFill>
          <a:ln w="12700">
            <a:solidFill>
              <a:srgbClr val="0369A1"/>
            </a:solidFill>
            <a:prstDash val="solid"/>
          </a:ln>
        </p:spPr>
      </p:sp>
      <p:sp>
        <p:nvSpPr>
          <p:cNvPr id="6" name="Shape 3"/>
          <p:cNvSpPr/>
          <p:nvPr/>
        </p:nvSpPr>
        <p:spPr>
          <a:xfrm>
            <a:off x="8681669"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8" name="Text 4"/>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canonical forms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Karnaugh maps: the idea</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9253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graphical tool for simplifying Boolean functions</a:t>
            </a:r>
            <a:endParaRPr lang="en-US" sz="1900" dirty="0"/>
          </a:p>
        </p:txBody>
      </p:sp>
      <p:sp>
        <p:nvSpPr>
          <p:cNvPr id="5" name="Shape 3"/>
          <p:cNvSpPr/>
          <p:nvPr/>
        </p:nvSpPr>
        <p:spPr>
          <a:xfrm>
            <a:off x="548640" y="239731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4131"/>
            <a:ext cx="59253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function of n variables is drawn on a grid of 2^n cells: one cell per row of the truth table</a:t>
            </a:r>
            <a:endParaRPr lang="en-US" sz="1900" dirty="0"/>
          </a:p>
        </p:txBody>
      </p:sp>
      <p:sp>
        <p:nvSpPr>
          <p:cNvPr id="7" name="Shape 5"/>
          <p:cNvSpPr/>
          <p:nvPr/>
        </p:nvSpPr>
        <p:spPr>
          <a:xfrm>
            <a:off x="548640" y="329412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10941"/>
            <a:ext cx="5925312" cy="87325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Cells are ordered so that neighbours differ in one variable only</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hence the column order 00, 01, 11, 10</a:t>
            </a:r>
            <a:endParaRPr lang="en-US" sz="1900" dirty="0"/>
          </a:p>
        </p:txBody>
      </p:sp>
      <p:sp>
        <p:nvSpPr>
          <p:cNvPr id="9" name="Shape 7"/>
          <p:cNvSpPr/>
          <p:nvPr/>
        </p:nvSpPr>
        <p:spPr>
          <a:xfrm>
            <a:off x="548640" y="447541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92232"/>
            <a:ext cx="59253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Graphical adjacency is logical adjacency: two adjacent 1s merge into a clause with one literal less</a:t>
            </a:r>
            <a:endParaRPr lang="en-US" sz="1900" dirty="0"/>
          </a:p>
        </p:txBody>
      </p:sp>
      <p:sp>
        <p:nvSpPr>
          <p:cNvPr id="11" name="Shape 9"/>
          <p:cNvSpPr/>
          <p:nvPr/>
        </p:nvSpPr>
        <p:spPr>
          <a:xfrm>
            <a:off x="548640" y="5666613"/>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83428"/>
            <a:ext cx="59253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Group the 1s in rectangles of 1, 2, 4 or 8 cells, as large as possible, until every 1 is covered</a:t>
            </a:r>
            <a:endParaRPr lang="en-US" sz="1900" dirty="0"/>
          </a:p>
        </p:txBody>
      </p:sp>
      <p:sp>
        <p:nvSpPr>
          <p:cNvPr id="13" name="Shape 11"/>
          <p:cNvSpPr/>
          <p:nvPr/>
        </p:nvSpPr>
        <p:spPr>
          <a:xfrm>
            <a:off x="7223760" y="1417320"/>
            <a:ext cx="4419295" cy="4754880"/>
          </a:xfrm>
          <a:prstGeom prst="roundRect">
            <a:avLst>
              <a:gd name="adj" fmla="val 1655"/>
            </a:avLst>
          </a:prstGeom>
          <a:solidFill>
            <a:srgbClr val="EEF2F4"/>
          </a:solidFill>
          <a:ln w="12700">
            <a:solidFill>
              <a:srgbClr val="EEF2F4"/>
            </a:solidFill>
            <a:prstDash val="solid"/>
          </a:ln>
        </p:spPr>
      </p:sp>
      <p:sp>
        <p:nvSpPr>
          <p:cNvPr id="14" name="Text 12"/>
          <p:cNvSpPr txBox="1"/>
          <p:nvPr/>
        </p:nvSpPr>
        <p:spPr>
          <a:xfrm>
            <a:off x="8321040" y="2221992"/>
            <a:ext cx="3291840" cy="292608"/>
          </a:xfrm>
          <a:prstGeom prst="rect">
            <a:avLst/>
          </a:prstGeom>
          <a:noFill/>
          <a:ln/>
        </p:spPr>
        <p:txBody>
          <a:bodyPr wrap="square" lIns="0" tIns="0" rIns="0" bIns="0" rtlCol="0" anchor="t"/>
          <a:lstStyle/>
          <a:p>
            <a:pPr algn="ctr" indent="0" marL="0">
              <a:buNone/>
            </a:pPr>
            <a:r>
              <a:rPr lang="en-US" sz="1500" b="1" dirty="0">
                <a:solidFill>
                  <a:srgbClr val="2E4A62"/>
                </a:solidFill>
                <a:latin typeface="Calibri" pitchFamily="34" charset="0"/>
                <a:ea typeface="Calibri" pitchFamily="34" charset="-122"/>
                <a:cs typeface="Calibri" pitchFamily="34" charset="-120"/>
              </a:rPr>
              <a:t>B C</a:t>
            </a:r>
            <a:endParaRPr lang="en-US" sz="1500" dirty="0"/>
          </a:p>
        </p:txBody>
      </p:sp>
      <p:sp>
        <p:nvSpPr>
          <p:cNvPr id="15" name="Text 13"/>
          <p:cNvSpPr txBox="1"/>
          <p:nvPr/>
        </p:nvSpPr>
        <p:spPr>
          <a:xfrm>
            <a:off x="7543800" y="2880360"/>
            <a:ext cx="384048" cy="1645920"/>
          </a:xfrm>
          <a:prstGeom prst="rect">
            <a:avLst/>
          </a:prstGeom>
          <a:noFill/>
          <a:ln/>
        </p:spPr>
        <p:txBody>
          <a:bodyPr wrap="square" lIns="0" tIns="0" rIns="0" bIns="0" rtlCol="0" anchor="ctr"/>
          <a:lstStyle/>
          <a:p>
            <a:pPr algn="ctr" indent="0" marL="0">
              <a:buNone/>
            </a:pPr>
            <a:r>
              <a:rPr lang="en-US" sz="1500" b="1" dirty="0">
                <a:solidFill>
                  <a:srgbClr val="2E4A62"/>
                </a:solidFill>
                <a:latin typeface="Calibri" pitchFamily="34" charset="0"/>
                <a:ea typeface="Calibri" pitchFamily="34" charset="-122"/>
                <a:cs typeface="Calibri" pitchFamily="34" charset="-120"/>
              </a:rPr>
              <a:t>A</a:t>
            </a:r>
            <a:endParaRPr lang="en-US" sz="1500" dirty="0"/>
          </a:p>
        </p:txBody>
      </p:sp>
      <p:sp>
        <p:nvSpPr>
          <p:cNvPr id="16" name="Text 14"/>
          <p:cNvSpPr txBox="1"/>
          <p:nvPr/>
        </p:nvSpPr>
        <p:spPr>
          <a:xfrm>
            <a:off x="8321040" y="2551176"/>
            <a:ext cx="82296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00</a:t>
            </a:r>
            <a:endParaRPr lang="en-US" sz="1400" dirty="0"/>
          </a:p>
        </p:txBody>
      </p:sp>
      <p:sp>
        <p:nvSpPr>
          <p:cNvPr id="17" name="Text 15"/>
          <p:cNvSpPr txBox="1"/>
          <p:nvPr/>
        </p:nvSpPr>
        <p:spPr>
          <a:xfrm>
            <a:off x="9144000" y="2551176"/>
            <a:ext cx="82296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01</a:t>
            </a:r>
            <a:endParaRPr lang="en-US" sz="1400" dirty="0"/>
          </a:p>
        </p:txBody>
      </p:sp>
      <p:sp>
        <p:nvSpPr>
          <p:cNvPr id="18" name="Text 16"/>
          <p:cNvSpPr txBox="1"/>
          <p:nvPr/>
        </p:nvSpPr>
        <p:spPr>
          <a:xfrm>
            <a:off x="9966960" y="2551176"/>
            <a:ext cx="82296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11</a:t>
            </a:r>
            <a:endParaRPr lang="en-US" sz="1400" dirty="0"/>
          </a:p>
        </p:txBody>
      </p:sp>
      <p:sp>
        <p:nvSpPr>
          <p:cNvPr id="19" name="Text 17"/>
          <p:cNvSpPr txBox="1"/>
          <p:nvPr/>
        </p:nvSpPr>
        <p:spPr>
          <a:xfrm>
            <a:off x="10789920" y="2551176"/>
            <a:ext cx="82296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10</a:t>
            </a:r>
            <a:endParaRPr lang="en-US" sz="1400" dirty="0"/>
          </a:p>
        </p:txBody>
      </p:sp>
      <p:sp>
        <p:nvSpPr>
          <p:cNvPr id="20" name="Text 18"/>
          <p:cNvSpPr txBox="1"/>
          <p:nvPr/>
        </p:nvSpPr>
        <p:spPr>
          <a:xfrm>
            <a:off x="7909560" y="2880360"/>
            <a:ext cx="384048" cy="822960"/>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a:t>
            </a:r>
            <a:endParaRPr lang="en-US" sz="1400" dirty="0"/>
          </a:p>
        </p:txBody>
      </p:sp>
      <p:sp>
        <p:nvSpPr>
          <p:cNvPr id="21" name="Text 19"/>
          <p:cNvSpPr txBox="1"/>
          <p:nvPr/>
        </p:nvSpPr>
        <p:spPr>
          <a:xfrm>
            <a:off x="7909560" y="3703320"/>
            <a:ext cx="384048" cy="822960"/>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a:t>
            </a:r>
            <a:endParaRPr lang="en-US" sz="1400" dirty="0"/>
          </a:p>
        </p:txBody>
      </p:sp>
      <p:sp>
        <p:nvSpPr>
          <p:cNvPr id="22" name="Text 20"/>
          <p:cNvSpPr txBox="1"/>
          <p:nvPr/>
        </p:nvSpPr>
        <p:spPr>
          <a:xfrm>
            <a:off x="8321040" y="288036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m0</a:t>
            </a:r>
            <a:endParaRPr lang="en-US" sz="2300" dirty="0"/>
          </a:p>
        </p:txBody>
      </p:sp>
      <p:sp>
        <p:nvSpPr>
          <p:cNvPr id="23" name="Text 21"/>
          <p:cNvSpPr txBox="1"/>
          <p:nvPr/>
        </p:nvSpPr>
        <p:spPr>
          <a:xfrm>
            <a:off x="9144000" y="288036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m1</a:t>
            </a:r>
            <a:endParaRPr lang="en-US" sz="2300" dirty="0"/>
          </a:p>
        </p:txBody>
      </p:sp>
      <p:sp>
        <p:nvSpPr>
          <p:cNvPr id="24" name="Text 22"/>
          <p:cNvSpPr txBox="1"/>
          <p:nvPr/>
        </p:nvSpPr>
        <p:spPr>
          <a:xfrm>
            <a:off x="9966960" y="288036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m3</a:t>
            </a:r>
            <a:endParaRPr lang="en-US" sz="2300" dirty="0"/>
          </a:p>
        </p:txBody>
      </p:sp>
      <p:sp>
        <p:nvSpPr>
          <p:cNvPr id="25" name="Text 23"/>
          <p:cNvSpPr txBox="1"/>
          <p:nvPr/>
        </p:nvSpPr>
        <p:spPr>
          <a:xfrm>
            <a:off x="10789920" y="288036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m2</a:t>
            </a:r>
            <a:endParaRPr lang="en-US" sz="2300" dirty="0"/>
          </a:p>
        </p:txBody>
      </p:sp>
      <p:sp>
        <p:nvSpPr>
          <p:cNvPr id="26" name="Text 24"/>
          <p:cNvSpPr txBox="1"/>
          <p:nvPr/>
        </p:nvSpPr>
        <p:spPr>
          <a:xfrm>
            <a:off x="8321040" y="370332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m4</a:t>
            </a:r>
            <a:endParaRPr lang="en-US" sz="2300" dirty="0"/>
          </a:p>
        </p:txBody>
      </p:sp>
      <p:sp>
        <p:nvSpPr>
          <p:cNvPr id="27" name="Text 25"/>
          <p:cNvSpPr txBox="1"/>
          <p:nvPr/>
        </p:nvSpPr>
        <p:spPr>
          <a:xfrm>
            <a:off x="9144000" y="370332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m5</a:t>
            </a:r>
            <a:endParaRPr lang="en-US" sz="2300" dirty="0"/>
          </a:p>
        </p:txBody>
      </p:sp>
      <p:sp>
        <p:nvSpPr>
          <p:cNvPr id="28" name="Text 26"/>
          <p:cNvSpPr txBox="1"/>
          <p:nvPr/>
        </p:nvSpPr>
        <p:spPr>
          <a:xfrm>
            <a:off x="9966960" y="370332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m7</a:t>
            </a:r>
            <a:endParaRPr lang="en-US" sz="2300" dirty="0"/>
          </a:p>
        </p:txBody>
      </p:sp>
      <p:sp>
        <p:nvSpPr>
          <p:cNvPr id="29" name="Text 27"/>
          <p:cNvSpPr txBox="1"/>
          <p:nvPr/>
        </p:nvSpPr>
        <p:spPr>
          <a:xfrm>
            <a:off x="10789920" y="3703320"/>
            <a:ext cx="822960" cy="82296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300" b="1" dirty="0">
                <a:solidFill>
                  <a:srgbClr val="1B2530"/>
                </a:solidFill>
                <a:latin typeface="Courier New" pitchFamily="34" charset="0"/>
                <a:ea typeface="Courier New" pitchFamily="34" charset="-122"/>
                <a:cs typeface="Courier New" pitchFamily="34" charset="-120"/>
              </a:rPr>
              <a:t>m6</a:t>
            </a:r>
            <a:endParaRPr lang="en-US" sz="2300" dirty="0"/>
          </a:p>
        </p:txBody>
      </p:sp>
      <p:sp>
        <p:nvSpPr>
          <p:cNvPr id="30" name="Text 28"/>
          <p:cNvSpPr txBox="1"/>
          <p:nvPr/>
        </p:nvSpPr>
        <p:spPr>
          <a:xfrm>
            <a:off x="7498080" y="4800600"/>
            <a:ext cx="3870655" cy="1188720"/>
          </a:xfrm>
          <a:prstGeom prst="rect">
            <a:avLst/>
          </a:prstGeom>
          <a:noFill/>
          <a:ln/>
        </p:spPr>
        <p:txBody>
          <a:bodyPr wrap="square" lIns="0" tIns="0" rIns="0" bIns="0" rtlCol="0" anchor="t"/>
          <a:lstStyle/>
          <a:p>
            <a:pPr indent="0" marL="0">
              <a:buNone/>
            </a:pPr>
            <a:r>
              <a:rPr lang="en-US" sz="1400" i="1" dirty="0">
                <a:solidFill>
                  <a:srgbClr val="5B6B78"/>
                </a:solidFill>
                <a:latin typeface="Calibri" pitchFamily="34" charset="0"/>
                <a:ea typeface="Calibri" pitchFamily="34" charset="-122"/>
                <a:cs typeface="Calibri" pitchFamily="34" charset="-120"/>
              </a:rPr>
              <a:t>The cell of each minterm for three variables. Note that m3 comes before m2. The left and right edges are adjacent too: the map wraps around.</a:t>
            </a:r>
            <a:endParaRPr lang="en-US" sz="1400" dirty="0"/>
          </a:p>
        </p:txBody>
      </p:sp>
      <p:sp>
        <p:nvSpPr>
          <p:cNvPr id="31" name="Shape 29"/>
          <p:cNvSpPr/>
          <p:nvPr/>
        </p:nvSpPr>
        <p:spPr>
          <a:xfrm>
            <a:off x="7893761" y="91440"/>
            <a:ext cx="3749294" cy="274320"/>
          </a:xfrm>
          <a:prstGeom prst="rect">
            <a:avLst/>
          </a:prstGeom>
          <a:solidFill>
            <a:srgbClr val="E0F2FE"/>
          </a:solidFill>
          <a:ln w="12700">
            <a:solidFill>
              <a:srgbClr val="0369A1"/>
            </a:solidFill>
            <a:prstDash val="solid"/>
          </a:ln>
        </p:spPr>
      </p:sp>
      <p:sp>
        <p:nvSpPr>
          <p:cNvPr id="32" name="Shape 30"/>
          <p:cNvSpPr/>
          <p:nvPr/>
        </p:nvSpPr>
        <p:spPr>
          <a:xfrm>
            <a:off x="7893761" y="91440"/>
            <a:ext cx="73152" cy="274320"/>
          </a:xfrm>
          <a:prstGeom prst="rect">
            <a:avLst/>
          </a:prstGeom>
          <a:solidFill>
            <a:srgbClr val="0369A1"/>
          </a:solidFill>
          <a:ln w="12700">
            <a:solidFill>
              <a:srgbClr val="0369A1"/>
            </a:solidFill>
            <a:prstDash val="solid"/>
          </a:ln>
        </p:spPr>
      </p:sp>
      <p:pic>
        <p:nvPicPr>
          <p:cNvPr id="33"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34" name="Text 31"/>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minimisation, Karnaugh maps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map of three variables: our F</a:t>
            </a:r>
            <a:endParaRPr lang="en-US" sz="3200" dirty="0"/>
          </a:p>
        </p:txBody>
      </p:sp>
      <p:sp>
        <p:nvSpPr>
          <p:cNvPr id="3" name="Shape 1"/>
          <p:cNvSpPr/>
          <p:nvPr/>
        </p:nvSpPr>
        <p:spPr>
          <a:xfrm>
            <a:off x="548640" y="1417320"/>
            <a:ext cx="5486400"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1737360" y="2039112"/>
            <a:ext cx="4023360" cy="292608"/>
          </a:xfrm>
          <a:prstGeom prst="rect">
            <a:avLst/>
          </a:prstGeom>
          <a:noFill/>
          <a:ln/>
        </p:spPr>
        <p:txBody>
          <a:bodyPr wrap="square" lIns="0" tIns="0" rIns="0" bIns="0" rtlCol="0" anchor="t"/>
          <a:lstStyle/>
          <a:p>
            <a:pPr algn="ctr" indent="0" marL="0">
              <a:buNone/>
            </a:pPr>
            <a:r>
              <a:rPr lang="en-US" sz="1500" b="1" dirty="0">
                <a:solidFill>
                  <a:srgbClr val="2E4A62"/>
                </a:solidFill>
                <a:latin typeface="Calibri" pitchFamily="34" charset="0"/>
                <a:ea typeface="Calibri" pitchFamily="34" charset="-122"/>
                <a:cs typeface="Calibri" pitchFamily="34" charset="-120"/>
              </a:rPr>
              <a:t>B C</a:t>
            </a:r>
            <a:endParaRPr lang="en-US" sz="1500" dirty="0"/>
          </a:p>
        </p:txBody>
      </p:sp>
      <p:sp>
        <p:nvSpPr>
          <p:cNvPr id="5" name="Text 3"/>
          <p:cNvSpPr txBox="1"/>
          <p:nvPr/>
        </p:nvSpPr>
        <p:spPr>
          <a:xfrm>
            <a:off x="960120" y="2697480"/>
            <a:ext cx="384048" cy="2011680"/>
          </a:xfrm>
          <a:prstGeom prst="rect">
            <a:avLst/>
          </a:prstGeom>
          <a:noFill/>
          <a:ln/>
        </p:spPr>
        <p:txBody>
          <a:bodyPr wrap="square" lIns="0" tIns="0" rIns="0" bIns="0" rtlCol="0" anchor="ctr"/>
          <a:lstStyle/>
          <a:p>
            <a:pPr algn="ctr" indent="0" marL="0">
              <a:buNone/>
            </a:pPr>
            <a:r>
              <a:rPr lang="en-US" sz="1500" b="1" dirty="0">
                <a:solidFill>
                  <a:srgbClr val="2E4A62"/>
                </a:solidFill>
                <a:latin typeface="Calibri" pitchFamily="34" charset="0"/>
                <a:ea typeface="Calibri" pitchFamily="34" charset="-122"/>
                <a:cs typeface="Calibri" pitchFamily="34" charset="-120"/>
              </a:rPr>
              <a:t>A</a:t>
            </a:r>
            <a:endParaRPr lang="en-US" sz="1500" dirty="0"/>
          </a:p>
        </p:txBody>
      </p:sp>
      <p:sp>
        <p:nvSpPr>
          <p:cNvPr id="6" name="Text 4"/>
          <p:cNvSpPr txBox="1"/>
          <p:nvPr/>
        </p:nvSpPr>
        <p:spPr>
          <a:xfrm>
            <a:off x="1737360" y="2368296"/>
            <a:ext cx="100584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00</a:t>
            </a:r>
            <a:endParaRPr lang="en-US" sz="1400" dirty="0"/>
          </a:p>
        </p:txBody>
      </p:sp>
      <p:sp>
        <p:nvSpPr>
          <p:cNvPr id="7" name="Text 5"/>
          <p:cNvSpPr txBox="1"/>
          <p:nvPr/>
        </p:nvSpPr>
        <p:spPr>
          <a:xfrm>
            <a:off x="2743200" y="2368296"/>
            <a:ext cx="100584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01</a:t>
            </a:r>
            <a:endParaRPr lang="en-US" sz="1400" dirty="0"/>
          </a:p>
        </p:txBody>
      </p:sp>
      <p:sp>
        <p:nvSpPr>
          <p:cNvPr id="8" name="Text 6"/>
          <p:cNvSpPr txBox="1"/>
          <p:nvPr/>
        </p:nvSpPr>
        <p:spPr>
          <a:xfrm>
            <a:off x="3749040" y="2368296"/>
            <a:ext cx="100584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11</a:t>
            </a:r>
            <a:endParaRPr lang="en-US" sz="1400" dirty="0"/>
          </a:p>
        </p:txBody>
      </p:sp>
      <p:sp>
        <p:nvSpPr>
          <p:cNvPr id="9" name="Text 7"/>
          <p:cNvSpPr txBox="1"/>
          <p:nvPr/>
        </p:nvSpPr>
        <p:spPr>
          <a:xfrm>
            <a:off x="4754880" y="2368296"/>
            <a:ext cx="1005840"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10</a:t>
            </a:r>
            <a:endParaRPr lang="en-US" sz="1400" dirty="0"/>
          </a:p>
        </p:txBody>
      </p:sp>
      <p:sp>
        <p:nvSpPr>
          <p:cNvPr id="10" name="Text 8"/>
          <p:cNvSpPr txBox="1"/>
          <p:nvPr/>
        </p:nvSpPr>
        <p:spPr>
          <a:xfrm>
            <a:off x="1325880" y="2697480"/>
            <a:ext cx="384048" cy="1005840"/>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a:t>
            </a:r>
            <a:endParaRPr lang="en-US" sz="1400" dirty="0"/>
          </a:p>
        </p:txBody>
      </p:sp>
      <p:sp>
        <p:nvSpPr>
          <p:cNvPr id="11" name="Text 9"/>
          <p:cNvSpPr txBox="1"/>
          <p:nvPr/>
        </p:nvSpPr>
        <p:spPr>
          <a:xfrm>
            <a:off x="1325880" y="3703320"/>
            <a:ext cx="384048" cy="1005840"/>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a:t>
            </a:r>
            <a:endParaRPr lang="en-US" sz="1400" dirty="0"/>
          </a:p>
        </p:txBody>
      </p:sp>
      <p:sp>
        <p:nvSpPr>
          <p:cNvPr id="12" name="Text 10"/>
          <p:cNvSpPr txBox="1"/>
          <p:nvPr/>
        </p:nvSpPr>
        <p:spPr>
          <a:xfrm>
            <a:off x="1737360" y="2697480"/>
            <a:ext cx="1005840" cy="100584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900" dirty="0">
                <a:solidFill>
                  <a:srgbClr val="1B2530"/>
                </a:solidFill>
                <a:latin typeface="Courier New" pitchFamily="34" charset="0"/>
                <a:ea typeface="Courier New" pitchFamily="34" charset="-122"/>
                <a:cs typeface="Courier New" pitchFamily="34" charset="-120"/>
              </a:rPr>
              <a:t>0</a:t>
            </a:r>
            <a:endParaRPr lang="en-US" sz="2900" dirty="0"/>
          </a:p>
        </p:txBody>
      </p:sp>
      <p:sp>
        <p:nvSpPr>
          <p:cNvPr id="13" name="Text 11"/>
          <p:cNvSpPr txBox="1"/>
          <p:nvPr/>
        </p:nvSpPr>
        <p:spPr>
          <a:xfrm>
            <a:off x="2743200" y="2697480"/>
            <a:ext cx="1005840" cy="100584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900" dirty="0">
                <a:solidFill>
                  <a:srgbClr val="1B2530"/>
                </a:solidFill>
                <a:latin typeface="Courier New" pitchFamily="34" charset="0"/>
                <a:ea typeface="Courier New" pitchFamily="34" charset="-122"/>
                <a:cs typeface="Courier New" pitchFamily="34" charset="-120"/>
              </a:rPr>
              <a:t>0</a:t>
            </a:r>
            <a:endParaRPr lang="en-US" sz="2900" dirty="0"/>
          </a:p>
        </p:txBody>
      </p:sp>
      <p:sp>
        <p:nvSpPr>
          <p:cNvPr id="14" name="Text 12"/>
          <p:cNvSpPr txBox="1"/>
          <p:nvPr/>
        </p:nvSpPr>
        <p:spPr>
          <a:xfrm>
            <a:off x="3749040" y="269748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15" name="Text 13"/>
          <p:cNvSpPr txBox="1"/>
          <p:nvPr/>
        </p:nvSpPr>
        <p:spPr>
          <a:xfrm>
            <a:off x="4754880" y="2697480"/>
            <a:ext cx="1005840" cy="1005840"/>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900" dirty="0">
                <a:solidFill>
                  <a:srgbClr val="1B2530"/>
                </a:solidFill>
                <a:latin typeface="Courier New" pitchFamily="34" charset="0"/>
                <a:ea typeface="Courier New" pitchFamily="34" charset="-122"/>
                <a:cs typeface="Courier New" pitchFamily="34" charset="-120"/>
              </a:rPr>
              <a:t>0</a:t>
            </a:r>
            <a:endParaRPr lang="en-US" sz="2900" dirty="0"/>
          </a:p>
        </p:txBody>
      </p:sp>
      <p:sp>
        <p:nvSpPr>
          <p:cNvPr id="16" name="Text 14"/>
          <p:cNvSpPr txBox="1"/>
          <p:nvPr/>
        </p:nvSpPr>
        <p:spPr>
          <a:xfrm>
            <a:off x="1737360" y="370332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17" name="Text 15"/>
          <p:cNvSpPr txBox="1"/>
          <p:nvPr/>
        </p:nvSpPr>
        <p:spPr>
          <a:xfrm>
            <a:off x="2743200" y="370332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18" name="Text 16"/>
          <p:cNvSpPr txBox="1"/>
          <p:nvPr/>
        </p:nvSpPr>
        <p:spPr>
          <a:xfrm>
            <a:off x="3749040" y="370332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19" name="Text 17"/>
          <p:cNvSpPr txBox="1"/>
          <p:nvPr/>
        </p:nvSpPr>
        <p:spPr>
          <a:xfrm>
            <a:off x="4754880" y="3703320"/>
            <a:ext cx="1005840" cy="1005840"/>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900" b="1" dirty="0">
                <a:solidFill>
                  <a:srgbClr val="1B2530"/>
                </a:solidFill>
                <a:latin typeface="Courier New" pitchFamily="34" charset="0"/>
                <a:ea typeface="Courier New" pitchFamily="34" charset="-122"/>
                <a:cs typeface="Courier New" pitchFamily="34" charset="-120"/>
              </a:rPr>
              <a:t>1</a:t>
            </a:r>
            <a:endParaRPr lang="en-US" sz="2900" dirty="0"/>
          </a:p>
        </p:txBody>
      </p:sp>
      <p:sp>
        <p:nvSpPr>
          <p:cNvPr id="20" name="Shape 18"/>
          <p:cNvSpPr/>
          <p:nvPr/>
        </p:nvSpPr>
        <p:spPr>
          <a:xfrm>
            <a:off x="1792224" y="3758184"/>
            <a:ext cx="3913632" cy="896112"/>
          </a:xfrm>
          <a:prstGeom prst="roundRect">
            <a:avLst>
              <a:gd name="adj" fmla="val 14286"/>
            </a:avLst>
          </a:prstGeom>
          <a:solidFill>
            <a:srgbClr val="FFFFFF">
              <a:alpha val="0"/>
            </a:srgbClr>
          </a:solidFill>
          <a:ln w="34925">
            <a:solidFill>
              <a:srgbClr val="B23A48"/>
            </a:solidFill>
            <a:prstDash val="solid"/>
          </a:ln>
        </p:spPr>
      </p:sp>
      <p:sp>
        <p:nvSpPr>
          <p:cNvPr id="21" name="Shape 19"/>
          <p:cNvSpPr/>
          <p:nvPr/>
        </p:nvSpPr>
        <p:spPr>
          <a:xfrm>
            <a:off x="3849624" y="2798064"/>
            <a:ext cx="804672" cy="1810512"/>
          </a:xfrm>
          <a:prstGeom prst="roundRect">
            <a:avLst>
              <a:gd name="adj" fmla="val 15909"/>
            </a:avLst>
          </a:prstGeom>
          <a:solidFill>
            <a:srgbClr val="FFFFFF">
              <a:alpha val="0"/>
            </a:srgbClr>
          </a:solidFill>
          <a:ln w="34925">
            <a:solidFill>
              <a:srgbClr val="6B4FA0"/>
            </a:solidFill>
            <a:prstDash val="solid"/>
          </a:ln>
        </p:spPr>
      </p:sp>
      <p:sp>
        <p:nvSpPr>
          <p:cNvPr id="22" name="Text 20"/>
          <p:cNvSpPr txBox="1"/>
          <p:nvPr/>
        </p:nvSpPr>
        <p:spPr>
          <a:xfrm>
            <a:off x="548640" y="5303520"/>
            <a:ext cx="5486400" cy="548640"/>
          </a:xfrm>
          <a:prstGeom prst="rect">
            <a:avLst/>
          </a:prstGeom>
          <a:noFill/>
          <a:ln/>
        </p:spPr>
        <p:txBody>
          <a:bodyPr wrap="square" lIns="0" tIns="0" rIns="0" bIns="0" rtlCol="0" anchor="t"/>
          <a:lstStyle/>
          <a:p>
            <a:pPr algn="ctr" indent="0" marL="0">
              <a:buNone/>
            </a:pPr>
            <a:r>
              <a:rPr lang="en-US" sz="2600" b="1" dirty="0">
                <a:solidFill>
                  <a:srgbClr val="2E4A62"/>
                </a:solidFill>
                <a:latin typeface="Courier New" pitchFamily="34" charset="0"/>
                <a:ea typeface="Courier New" pitchFamily="34" charset="-122"/>
                <a:cs typeface="Courier New" pitchFamily="34" charset="-120"/>
              </a:rPr>
              <a:t>F = A + BC</a:t>
            </a:r>
            <a:endParaRPr lang="en-US" sz="2600" dirty="0"/>
          </a:p>
        </p:txBody>
      </p:sp>
      <p:sp>
        <p:nvSpPr>
          <p:cNvPr id="23" name="Shape 21"/>
          <p:cNvSpPr/>
          <p:nvPr/>
        </p:nvSpPr>
        <p:spPr>
          <a:xfrm>
            <a:off x="6400800" y="1523746"/>
            <a:ext cx="146304" cy="146304"/>
          </a:xfrm>
          <a:prstGeom prst="rect">
            <a:avLst/>
          </a:prstGeom>
          <a:solidFill>
            <a:srgbClr val="0E7C86"/>
          </a:solidFill>
          <a:ln w="12700">
            <a:solidFill>
              <a:srgbClr val="0E7C86"/>
            </a:solidFill>
            <a:prstDash val="solid"/>
          </a:ln>
        </p:spPr>
      </p:sp>
      <p:sp>
        <p:nvSpPr>
          <p:cNvPr id="24" name="Text 22"/>
          <p:cNvSpPr txBox="1"/>
          <p:nvPr/>
        </p:nvSpPr>
        <p:spPr>
          <a:xfrm>
            <a:off x="6784848" y="1417320"/>
            <a:ext cx="485820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a 1 in the cells of minterms 3, 4, 5, 6 and 7</a:t>
            </a:r>
            <a:endParaRPr lang="en-US" sz="2200" dirty="0"/>
          </a:p>
        </p:txBody>
      </p:sp>
      <p:sp>
        <p:nvSpPr>
          <p:cNvPr id="25" name="Shape 23"/>
          <p:cNvSpPr/>
          <p:nvPr/>
        </p:nvSpPr>
        <p:spPr>
          <a:xfrm>
            <a:off x="6400800" y="2376551"/>
            <a:ext cx="146304" cy="146304"/>
          </a:xfrm>
          <a:prstGeom prst="rect">
            <a:avLst/>
          </a:prstGeom>
          <a:solidFill>
            <a:srgbClr val="C7791B"/>
          </a:solidFill>
          <a:ln w="12700">
            <a:solidFill>
              <a:srgbClr val="C7791B"/>
            </a:solidFill>
            <a:prstDash val="solid"/>
          </a:ln>
        </p:spPr>
      </p:sp>
      <p:sp>
        <p:nvSpPr>
          <p:cNvPr id="26" name="Text 24"/>
          <p:cNvSpPr txBox="1"/>
          <p:nvPr/>
        </p:nvSpPr>
        <p:spPr>
          <a:xfrm>
            <a:off x="6784848" y="2270125"/>
            <a:ext cx="4858207"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Red group of four: the whole row A = 1</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B and C both change: the clause is A</a:t>
            </a:r>
            <a:endParaRPr lang="en-US" sz="2200" dirty="0"/>
          </a:p>
        </p:txBody>
      </p:sp>
      <p:sp>
        <p:nvSpPr>
          <p:cNvPr id="27" name="Shape 25"/>
          <p:cNvSpPr/>
          <p:nvPr/>
        </p:nvSpPr>
        <p:spPr>
          <a:xfrm>
            <a:off x="6400800" y="3560318"/>
            <a:ext cx="146304" cy="146304"/>
          </a:xfrm>
          <a:prstGeom prst="rect">
            <a:avLst/>
          </a:prstGeom>
          <a:solidFill>
            <a:srgbClr val="0E7C86"/>
          </a:solidFill>
          <a:ln w="12700">
            <a:solidFill>
              <a:srgbClr val="0E7C86"/>
            </a:solidFill>
            <a:prstDash val="solid"/>
          </a:ln>
        </p:spPr>
      </p:sp>
      <p:sp>
        <p:nvSpPr>
          <p:cNvPr id="28" name="Text 26"/>
          <p:cNvSpPr txBox="1"/>
          <p:nvPr/>
        </p:nvSpPr>
        <p:spPr>
          <a:xfrm>
            <a:off x="6784848" y="3453892"/>
            <a:ext cx="4858207"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Violet group of two: the column BC = 11</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A changes: the clause is BC</a:t>
            </a:r>
            <a:endParaRPr lang="en-US" sz="2200" dirty="0"/>
          </a:p>
        </p:txBody>
      </p:sp>
      <p:sp>
        <p:nvSpPr>
          <p:cNvPr id="29" name="Shape 27"/>
          <p:cNvSpPr/>
          <p:nvPr/>
        </p:nvSpPr>
        <p:spPr>
          <a:xfrm>
            <a:off x="6400800" y="4744085"/>
            <a:ext cx="146304" cy="146304"/>
          </a:xfrm>
          <a:prstGeom prst="rect">
            <a:avLst/>
          </a:prstGeom>
          <a:solidFill>
            <a:srgbClr val="C7791B"/>
          </a:solidFill>
          <a:ln w="12700">
            <a:solidFill>
              <a:srgbClr val="C7791B"/>
            </a:solidFill>
            <a:prstDash val="solid"/>
          </a:ln>
        </p:spPr>
      </p:sp>
      <p:sp>
        <p:nvSpPr>
          <p:cNvPr id="30" name="Text 28"/>
          <p:cNvSpPr txBox="1"/>
          <p:nvPr/>
        </p:nvSpPr>
        <p:spPr>
          <a:xfrm>
            <a:off x="6784848" y="4637659"/>
            <a:ext cx="485820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1 is covered and no group can be made larger</a:t>
            </a:r>
            <a:endParaRPr lang="en-US" sz="2200" dirty="0"/>
          </a:p>
        </p:txBody>
      </p:sp>
      <p:sp>
        <p:nvSpPr>
          <p:cNvPr id="31" name="Shape 29"/>
          <p:cNvSpPr/>
          <p:nvPr/>
        </p:nvSpPr>
        <p:spPr>
          <a:xfrm>
            <a:off x="6400800" y="5596890"/>
            <a:ext cx="146304" cy="146304"/>
          </a:xfrm>
          <a:prstGeom prst="rect">
            <a:avLst/>
          </a:prstGeom>
          <a:solidFill>
            <a:srgbClr val="0E7C86"/>
          </a:solidFill>
          <a:ln w="12700">
            <a:solidFill>
              <a:srgbClr val="0E7C86"/>
            </a:solidFill>
            <a:prstDash val="solid"/>
          </a:ln>
        </p:spPr>
      </p:sp>
      <p:sp>
        <p:nvSpPr>
          <p:cNvPr id="32" name="Text 30"/>
          <p:cNvSpPr txBox="1"/>
          <p:nvPr/>
        </p:nvSpPr>
        <p:spPr>
          <a:xfrm>
            <a:off x="6784848" y="5490464"/>
            <a:ext cx="485820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same result as the algebra, found by eye in seconds</a:t>
            </a:r>
            <a:endParaRPr lang="en-US" sz="2200" dirty="0"/>
          </a:p>
        </p:txBody>
      </p:sp>
      <p:sp>
        <p:nvSpPr>
          <p:cNvPr id="33" name="Shape 31"/>
          <p:cNvSpPr/>
          <p:nvPr/>
        </p:nvSpPr>
        <p:spPr>
          <a:xfrm>
            <a:off x="7893761" y="91440"/>
            <a:ext cx="3749294" cy="274320"/>
          </a:xfrm>
          <a:prstGeom prst="rect">
            <a:avLst/>
          </a:prstGeom>
          <a:solidFill>
            <a:srgbClr val="E0F2FE"/>
          </a:solidFill>
          <a:ln w="12700">
            <a:solidFill>
              <a:srgbClr val="0369A1"/>
            </a:solidFill>
            <a:prstDash val="solid"/>
          </a:ln>
        </p:spPr>
      </p:sp>
      <p:sp>
        <p:nvSpPr>
          <p:cNvPr id="34" name="Shape 32"/>
          <p:cNvSpPr/>
          <p:nvPr/>
        </p:nvSpPr>
        <p:spPr>
          <a:xfrm>
            <a:off x="7893761" y="91440"/>
            <a:ext cx="73152" cy="274320"/>
          </a:xfrm>
          <a:prstGeom prst="rect">
            <a:avLst/>
          </a:prstGeom>
          <a:solidFill>
            <a:srgbClr val="0369A1"/>
          </a:solidFill>
          <a:ln w="12700">
            <a:solidFill>
              <a:srgbClr val="0369A1"/>
            </a:solidFill>
            <a:prstDash val="solid"/>
          </a:ln>
        </p:spPr>
      </p:sp>
      <p:pic>
        <p:nvPicPr>
          <p:cNvPr id="35"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36" name="Text 33"/>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minimisation, Karnaugh maps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map of four variables</a:t>
            </a:r>
            <a:endParaRPr lang="en-US" sz="3200" dirty="0"/>
          </a:p>
        </p:txBody>
      </p:sp>
      <p:sp>
        <p:nvSpPr>
          <p:cNvPr id="3" name="Shape 1"/>
          <p:cNvSpPr/>
          <p:nvPr/>
        </p:nvSpPr>
        <p:spPr>
          <a:xfrm>
            <a:off x="548640" y="1417320"/>
            <a:ext cx="5120640"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1737360" y="1536192"/>
            <a:ext cx="3364992" cy="292608"/>
          </a:xfrm>
          <a:prstGeom prst="rect">
            <a:avLst/>
          </a:prstGeom>
          <a:noFill/>
          <a:ln/>
        </p:spPr>
        <p:txBody>
          <a:bodyPr wrap="square" lIns="0" tIns="0" rIns="0" bIns="0" rtlCol="0" anchor="t"/>
          <a:lstStyle/>
          <a:p>
            <a:pPr algn="ctr" indent="0" marL="0">
              <a:buNone/>
            </a:pPr>
            <a:r>
              <a:rPr lang="en-US" sz="1500" b="1" dirty="0">
                <a:solidFill>
                  <a:srgbClr val="2E4A62"/>
                </a:solidFill>
                <a:latin typeface="Calibri" pitchFamily="34" charset="0"/>
                <a:ea typeface="Calibri" pitchFamily="34" charset="-122"/>
                <a:cs typeface="Calibri" pitchFamily="34" charset="-120"/>
              </a:rPr>
              <a:t>C D</a:t>
            </a:r>
            <a:endParaRPr lang="en-US" sz="1500" dirty="0"/>
          </a:p>
        </p:txBody>
      </p:sp>
      <p:sp>
        <p:nvSpPr>
          <p:cNvPr id="5" name="Text 3"/>
          <p:cNvSpPr txBox="1"/>
          <p:nvPr/>
        </p:nvSpPr>
        <p:spPr>
          <a:xfrm>
            <a:off x="960120" y="2194560"/>
            <a:ext cx="384048" cy="3364992"/>
          </a:xfrm>
          <a:prstGeom prst="rect">
            <a:avLst/>
          </a:prstGeom>
          <a:noFill/>
          <a:ln/>
        </p:spPr>
        <p:txBody>
          <a:bodyPr wrap="square" lIns="0" tIns="0" rIns="0" bIns="0" rtlCol="0" anchor="ctr"/>
          <a:lstStyle/>
          <a:p>
            <a:pPr algn="ctr" indent="0" marL="0">
              <a:buNone/>
            </a:pPr>
            <a:r>
              <a:rPr lang="en-US" sz="1500" b="1" dirty="0">
                <a:solidFill>
                  <a:srgbClr val="2E4A62"/>
                </a:solidFill>
                <a:latin typeface="Calibri" pitchFamily="34" charset="0"/>
                <a:ea typeface="Calibri" pitchFamily="34" charset="-122"/>
                <a:cs typeface="Calibri" pitchFamily="34" charset="-120"/>
              </a:rPr>
              <a:t>A B</a:t>
            </a:r>
            <a:endParaRPr lang="en-US" sz="1500" dirty="0"/>
          </a:p>
        </p:txBody>
      </p:sp>
      <p:sp>
        <p:nvSpPr>
          <p:cNvPr id="6" name="Text 4"/>
          <p:cNvSpPr txBox="1"/>
          <p:nvPr/>
        </p:nvSpPr>
        <p:spPr>
          <a:xfrm>
            <a:off x="1737360" y="1865376"/>
            <a:ext cx="841248"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00</a:t>
            </a:r>
            <a:endParaRPr lang="en-US" sz="1400" dirty="0"/>
          </a:p>
        </p:txBody>
      </p:sp>
      <p:sp>
        <p:nvSpPr>
          <p:cNvPr id="7" name="Text 5"/>
          <p:cNvSpPr txBox="1"/>
          <p:nvPr/>
        </p:nvSpPr>
        <p:spPr>
          <a:xfrm>
            <a:off x="2578608" y="1865376"/>
            <a:ext cx="841248"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01</a:t>
            </a:r>
            <a:endParaRPr lang="en-US" sz="1400" dirty="0"/>
          </a:p>
        </p:txBody>
      </p:sp>
      <p:sp>
        <p:nvSpPr>
          <p:cNvPr id="8" name="Text 6"/>
          <p:cNvSpPr txBox="1"/>
          <p:nvPr/>
        </p:nvSpPr>
        <p:spPr>
          <a:xfrm>
            <a:off x="3419856" y="1865376"/>
            <a:ext cx="841248"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11</a:t>
            </a:r>
            <a:endParaRPr lang="en-US" sz="1400" dirty="0"/>
          </a:p>
        </p:txBody>
      </p:sp>
      <p:sp>
        <p:nvSpPr>
          <p:cNvPr id="9" name="Text 7"/>
          <p:cNvSpPr txBox="1"/>
          <p:nvPr/>
        </p:nvSpPr>
        <p:spPr>
          <a:xfrm>
            <a:off x="4261104" y="1865376"/>
            <a:ext cx="841248" cy="292608"/>
          </a:xfrm>
          <a:prstGeom prst="rect">
            <a:avLst/>
          </a:prstGeom>
          <a:noFill/>
          <a:ln/>
        </p:spPr>
        <p:txBody>
          <a:bodyPr wrap="square" lIns="0" tIns="0" rIns="0" bIns="0" rtlCol="0" anchor="t"/>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10</a:t>
            </a:r>
            <a:endParaRPr lang="en-US" sz="1400" dirty="0"/>
          </a:p>
        </p:txBody>
      </p:sp>
      <p:sp>
        <p:nvSpPr>
          <p:cNvPr id="10" name="Text 8"/>
          <p:cNvSpPr txBox="1"/>
          <p:nvPr/>
        </p:nvSpPr>
        <p:spPr>
          <a:xfrm>
            <a:off x="1325880" y="2194560"/>
            <a:ext cx="384048" cy="841248"/>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00</a:t>
            </a:r>
            <a:endParaRPr lang="en-US" sz="1400" dirty="0"/>
          </a:p>
        </p:txBody>
      </p:sp>
      <p:sp>
        <p:nvSpPr>
          <p:cNvPr id="11" name="Text 9"/>
          <p:cNvSpPr txBox="1"/>
          <p:nvPr/>
        </p:nvSpPr>
        <p:spPr>
          <a:xfrm>
            <a:off x="1325880" y="3035808"/>
            <a:ext cx="384048" cy="841248"/>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01</a:t>
            </a:r>
            <a:endParaRPr lang="en-US" sz="1400" dirty="0"/>
          </a:p>
        </p:txBody>
      </p:sp>
      <p:sp>
        <p:nvSpPr>
          <p:cNvPr id="12" name="Text 10"/>
          <p:cNvSpPr txBox="1"/>
          <p:nvPr/>
        </p:nvSpPr>
        <p:spPr>
          <a:xfrm>
            <a:off x="1325880" y="3877056"/>
            <a:ext cx="384048" cy="841248"/>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11</a:t>
            </a:r>
            <a:endParaRPr lang="en-US" sz="1400" dirty="0"/>
          </a:p>
        </p:txBody>
      </p:sp>
      <p:sp>
        <p:nvSpPr>
          <p:cNvPr id="13" name="Text 11"/>
          <p:cNvSpPr txBox="1"/>
          <p:nvPr/>
        </p:nvSpPr>
        <p:spPr>
          <a:xfrm>
            <a:off x="1325880" y="4718304"/>
            <a:ext cx="384048" cy="841248"/>
          </a:xfrm>
          <a:prstGeom prst="rect">
            <a:avLst/>
          </a:prstGeom>
          <a:noFill/>
          <a:ln/>
        </p:spPr>
        <p:txBody>
          <a:bodyPr wrap="square" lIns="0" tIns="0" rIns="0" bIns="0" rtlCol="0" anchor="ctr"/>
          <a:lstStyle/>
          <a:p>
            <a:pPr algn="ctr" indent="0" marL="0">
              <a:buNone/>
            </a:pPr>
            <a:r>
              <a:rPr lang="en-US" sz="1400" dirty="0">
                <a:solidFill>
                  <a:srgbClr val="5B6B78"/>
                </a:solidFill>
                <a:latin typeface="Courier New" pitchFamily="34" charset="0"/>
                <a:ea typeface="Courier New" pitchFamily="34" charset="-122"/>
                <a:cs typeface="Courier New" pitchFamily="34" charset="-120"/>
              </a:rPr>
              <a:t>10</a:t>
            </a:r>
            <a:endParaRPr lang="en-US" sz="1400" dirty="0"/>
          </a:p>
        </p:txBody>
      </p:sp>
      <p:sp>
        <p:nvSpPr>
          <p:cNvPr id="14" name="Text 12"/>
          <p:cNvSpPr txBox="1"/>
          <p:nvPr/>
        </p:nvSpPr>
        <p:spPr>
          <a:xfrm>
            <a:off x="1737360" y="2194560"/>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15" name="Text 13"/>
          <p:cNvSpPr txBox="1"/>
          <p:nvPr/>
        </p:nvSpPr>
        <p:spPr>
          <a:xfrm>
            <a:off x="2578608" y="2194560"/>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16" name="Text 14"/>
          <p:cNvSpPr txBox="1"/>
          <p:nvPr/>
        </p:nvSpPr>
        <p:spPr>
          <a:xfrm>
            <a:off x="3419856" y="2194560"/>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17" name="Text 15"/>
          <p:cNvSpPr txBox="1"/>
          <p:nvPr/>
        </p:nvSpPr>
        <p:spPr>
          <a:xfrm>
            <a:off x="4261104" y="2194560"/>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18" name="Text 16"/>
          <p:cNvSpPr txBox="1"/>
          <p:nvPr/>
        </p:nvSpPr>
        <p:spPr>
          <a:xfrm>
            <a:off x="1737360" y="3035808"/>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19" name="Text 17"/>
          <p:cNvSpPr txBox="1"/>
          <p:nvPr/>
        </p:nvSpPr>
        <p:spPr>
          <a:xfrm>
            <a:off x="2578608" y="3035808"/>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0" name="Text 18"/>
          <p:cNvSpPr txBox="1"/>
          <p:nvPr/>
        </p:nvSpPr>
        <p:spPr>
          <a:xfrm>
            <a:off x="3419856" y="3035808"/>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1" name="Text 19"/>
          <p:cNvSpPr txBox="1"/>
          <p:nvPr/>
        </p:nvSpPr>
        <p:spPr>
          <a:xfrm>
            <a:off x="4261104" y="3035808"/>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2" name="Text 20"/>
          <p:cNvSpPr txBox="1"/>
          <p:nvPr/>
        </p:nvSpPr>
        <p:spPr>
          <a:xfrm>
            <a:off x="1737360" y="3877056"/>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3" name="Text 21"/>
          <p:cNvSpPr txBox="1"/>
          <p:nvPr/>
        </p:nvSpPr>
        <p:spPr>
          <a:xfrm>
            <a:off x="2578608" y="3877056"/>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4" name="Text 22"/>
          <p:cNvSpPr txBox="1"/>
          <p:nvPr/>
        </p:nvSpPr>
        <p:spPr>
          <a:xfrm>
            <a:off x="3419856" y="3877056"/>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5" name="Text 23"/>
          <p:cNvSpPr txBox="1"/>
          <p:nvPr/>
        </p:nvSpPr>
        <p:spPr>
          <a:xfrm>
            <a:off x="4261104" y="3877056"/>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6" name="Text 24"/>
          <p:cNvSpPr txBox="1"/>
          <p:nvPr/>
        </p:nvSpPr>
        <p:spPr>
          <a:xfrm>
            <a:off x="1737360" y="4718304"/>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27" name="Text 25"/>
          <p:cNvSpPr txBox="1"/>
          <p:nvPr/>
        </p:nvSpPr>
        <p:spPr>
          <a:xfrm>
            <a:off x="2578608" y="4718304"/>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8" name="Text 26"/>
          <p:cNvSpPr txBox="1"/>
          <p:nvPr/>
        </p:nvSpPr>
        <p:spPr>
          <a:xfrm>
            <a:off x="3419856" y="4718304"/>
            <a:ext cx="841248" cy="841248"/>
          </a:xfrm>
          <a:prstGeom prst="rect">
            <a:avLst/>
          </a:prstGeom>
          <a:solidFill>
            <a:srgbClr val="FFFFFF"/>
          </a:solidFill>
          <a:ln w="12700">
            <a:solidFill>
              <a:srgbClr val="2E4A62"/>
            </a:solidFill>
          </a:ln>
        </p:spPr>
        <p:txBody>
          <a:bodyPr wrap="square" lIns="0" tIns="0" rIns="0" bIns="0" rtlCol="0" anchor="ctr"/>
          <a:lstStyle/>
          <a:p>
            <a:pPr algn="ctr" indent="0" marL="0">
              <a:buNone/>
            </a:pPr>
            <a:r>
              <a:rPr lang="en-US" sz="2400" dirty="0">
                <a:solidFill>
                  <a:srgbClr val="1B2530"/>
                </a:solidFill>
                <a:latin typeface="Courier New" pitchFamily="34" charset="0"/>
                <a:ea typeface="Courier New" pitchFamily="34" charset="-122"/>
                <a:cs typeface="Courier New" pitchFamily="34" charset="-120"/>
              </a:rPr>
              <a:t>0</a:t>
            </a:r>
            <a:endParaRPr lang="en-US" sz="2400" dirty="0"/>
          </a:p>
        </p:txBody>
      </p:sp>
      <p:sp>
        <p:nvSpPr>
          <p:cNvPr id="29" name="Text 27"/>
          <p:cNvSpPr txBox="1"/>
          <p:nvPr/>
        </p:nvSpPr>
        <p:spPr>
          <a:xfrm>
            <a:off x="4261104" y="4718304"/>
            <a:ext cx="841248" cy="841248"/>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2400" b="1" dirty="0">
                <a:solidFill>
                  <a:srgbClr val="1B2530"/>
                </a:solidFill>
                <a:latin typeface="Courier New" pitchFamily="34" charset="0"/>
                <a:ea typeface="Courier New" pitchFamily="34" charset="-122"/>
                <a:cs typeface="Courier New" pitchFamily="34" charset="-120"/>
              </a:rPr>
              <a:t>1</a:t>
            </a:r>
            <a:endParaRPr lang="en-US" sz="2400" dirty="0"/>
          </a:p>
        </p:txBody>
      </p:sp>
      <p:sp>
        <p:nvSpPr>
          <p:cNvPr id="30" name="Shape 28"/>
          <p:cNvSpPr/>
          <p:nvPr/>
        </p:nvSpPr>
        <p:spPr>
          <a:xfrm>
            <a:off x="2633472" y="3090672"/>
            <a:ext cx="1572768" cy="1572768"/>
          </a:xfrm>
          <a:prstGeom prst="roundRect">
            <a:avLst>
              <a:gd name="adj" fmla="val 8140"/>
            </a:avLst>
          </a:prstGeom>
          <a:solidFill>
            <a:srgbClr val="FFFFFF">
              <a:alpha val="0"/>
            </a:srgbClr>
          </a:solidFill>
          <a:ln w="34925">
            <a:solidFill>
              <a:srgbClr val="B23A48"/>
            </a:solidFill>
            <a:prstDash val="solid"/>
          </a:ln>
        </p:spPr>
      </p:sp>
      <p:sp>
        <p:nvSpPr>
          <p:cNvPr id="31" name="Shape 29"/>
          <p:cNvSpPr/>
          <p:nvPr/>
        </p:nvSpPr>
        <p:spPr>
          <a:xfrm>
            <a:off x="1792224" y="2249424"/>
            <a:ext cx="731520" cy="731520"/>
          </a:xfrm>
          <a:prstGeom prst="roundRect">
            <a:avLst>
              <a:gd name="adj" fmla="val 17500"/>
            </a:avLst>
          </a:prstGeom>
          <a:solidFill>
            <a:srgbClr val="FFFFFF">
              <a:alpha val="0"/>
            </a:srgbClr>
          </a:solidFill>
          <a:ln w="34925">
            <a:solidFill>
              <a:srgbClr val="6B4FA0"/>
            </a:solidFill>
            <a:prstDash val="solid"/>
          </a:ln>
        </p:spPr>
      </p:sp>
      <p:sp>
        <p:nvSpPr>
          <p:cNvPr id="32" name="Shape 30"/>
          <p:cNvSpPr/>
          <p:nvPr/>
        </p:nvSpPr>
        <p:spPr>
          <a:xfrm>
            <a:off x="4315968" y="2249424"/>
            <a:ext cx="731520" cy="731520"/>
          </a:xfrm>
          <a:prstGeom prst="roundRect">
            <a:avLst>
              <a:gd name="adj" fmla="val 17500"/>
            </a:avLst>
          </a:prstGeom>
          <a:solidFill>
            <a:srgbClr val="FFFFFF">
              <a:alpha val="0"/>
            </a:srgbClr>
          </a:solidFill>
          <a:ln w="34925">
            <a:solidFill>
              <a:srgbClr val="6B4FA0"/>
            </a:solidFill>
            <a:prstDash val="solid"/>
          </a:ln>
        </p:spPr>
      </p:sp>
      <p:sp>
        <p:nvSpPr>
          <p:cNvPr id="33" name="Shape 31"/>
          <p:cNvSpPr/>
          <p:nvPr/>
        </p:nvSpPr>
        <p:spPr>
          <a:xfrm>
            <a:off x="1792224" y="4773168"/>
            <a:ext cx="731520" cy="731520"/>
          </a:xfrm>
          <a:prstGeom prst="roundRect">
            <a:avLst>
              <a:gd name="adj" fmla="val 17500"/>
            </a:avLst>
          </a:prstGeom>
          <a:solidFill>
            <a:srgbClr val="FFFFFF">
              <a:alpha val="0"/>
            </a:srgbClr>
          </a:solidFill>
          <a:ln w="34925">
            <a:solidFill>
              <a:srgbClr val="6B4FA0"/>
            </a:solidFill>
            <a:prstDash val="solid"/>
          </a:ln>
        </p:spPr>
      </p:sp>
      <p:sp>
        <p:nvSpPr>
          <p:cNvPr id="34" name="Shape 32"/>
          <p:cNvSpPr/>
          <p:nvPr/>
        </p:nvSpPr>
        <p:spPr>
          <a:xfrm>
            <a:off x="4315968" y="4773168"/>
            <a:ext cx="731520" cy="731520"/>
          </a:xfrm>
          <a:prstGeom prst="roundRect">
            <a:avLst>
              <a:gd name="adj" fmla="val 17500"/>
            </a:avLst>
          </a:prstGeom>
          <a:solidFill>
            <a:srgbClr val="FFFFFF">
              <a:alpha val="0"/>
            </a:srgbClr>
          </a:solidFill>
          <a:ln w="34925">
            <a:solidFill>
              <a:srgbClr val="6B4FA0"/>
            </a:solidFill>
            <a:prstDash val="solid"/>
          </a:ln>
        </p:spPr>
      </p:sp>
      <p:sp>
        <p:nvSpPr>
          <p:cNvPr id="35" name="Text 33"/>
          <p:cNvSpPr txBox="1"/>
          <p:nvPr/>
        </p:nvSpPr>
        <p:spPr>
          <a:xfrm>
            <a:off x="548640" y="5650992"/>
            <a:ext cx="5120640" cy="457200"/>
          </a:xfrm>
          <a:prstGeom prst="rect">
            <a:avLst/>
          </a:prstGeom>
          <a:noFill/>
          <a:ln/>
        </p:spPr>
        <p:txBody>
          <a:bodyPr wrap="square" lIns="0" tIns="0" rIns="0" bIns="0" rtlCol="0" anchor="t"/>
          <a:lstStyle/>
          <a:p>
            <a:pPr algn="ctr" indent="0" marL="0">
              <a:buNone/>
            </a:pPr>
            <a:r>
              <a:rPr lang="en-US" sz="2400" b="1" dirty="0">
                <a:solidFill>
                  <a:srgbClr val="2E4A62"/>
                </a:solidFill>
                <a:latin typeface="Courier New" pitchFamily="34" charset="0"/>
                <a:ea typeface="Courier New" pitchFamily="34" charset="-122"/>
                <a:cs typeface="Courier New" pitchFamily="34" charset="-120"/>
              </a:rPr>
              <a:t>F = BD + B'D'</a:t>
            </a:r>
            <a:endParaRPr lang="en-US" sz="2400" dirty="0"/>
          </a:p>
        </p:txBody>
      </p:sp>
      <p:sp>
        <p:nvSpPr>
          <p:cNvPr id="36" name="Shape 34"/>
          <p:cNvSpPr/>
          <p:nvPr/>
        </p:nvSpPr>
        <p:spPr>
          <a:xfrm>
            <a:off x="6035040" y="1515999"/>
            <a:ext cx="146304" cy="146304"/>
          </a:xfrm>
          <a:prstGeom prst="rect">
            <a:avLst/>
          </a:prstGeom>
          <a:solidFill>
            <a:srgbClr val="0E7C86"/>
          </a:solidFill>
          <a:ln w="12700">
            <a:solidFill>
              <a:srgbClr val="0E7C86"/>
            </a:solidFill>
            <a:prstDash val="solid"/>
          </a:ln>
        </p:spPr>
      </p:sp>
      <p:sp>
        <p:nvSpPr>
          <p:cNvPr id="37" name="Text 35"/>
          <p:cNvSpPr txBox="1"/>
          <p:nvPr/>
        </p:nvSpPr>
        <p:spPr>
          <a:xfrm>
            <a:off x="6419088" y="1417320"/>
            <a:ext cx="5223967"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 = sum of m(0, 2, 5, 7, 8, 10, 13, 15): eight minterms, thirty-two literals</a:t>
            </a:r>
            <a:endParaRPr lang="en-US" sz="2100" dirty="0"/>
          </a:p>
        </p:txBody>
      </p:sp>
      <p:sp>
        <p:nvSpPr>
          <p:cNvPr id="38" name="Shape 36"/>
          <p:cNvSpPr/>
          <p:nvPr/>
        </p:nvSpPr>
        <p:spPr>
          <a:xfrm>
            <a:off x="6035040" y="2828671"/>
            <a:ext cx="146304" cy="146304"/>
          </a:xfrm>
          <a:prstGeom prst="rect">
            <a:avLst/>
          </a:prstGeom>
          <a:solidFill>
            <a:srgbClr val="C7791B"/>
          </a:solidFill>
          <a:ln w="12700">
            <a:solidFill>
              <a:srgbClr val="C7791B"/>
            </a:solidFill>
            <a:prstDash val="solid"/>
          </a:ln>
        </p:spPr>
      </p:sp>
      <p:sp>
        <p:nvSpPr>
          <p:cNvPr id="39" name="Text 37"/>
          <p:cNvSpPr txBox="1"/>
          <p:nvPr/>
        </p:nvSpPr>
        <p:spPr>
          <a:xfrm>
            <a:off x="6419088" y="2729992"/>
            <a:ext cx="5223967"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Red group of four in the centre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B = 1 and D = 1 throughout: the clause is BD</a:t>
            </a:r>
            <a:endParaRPr lang="en-US" sz="2100" dirty="0"/>
          </a:p>
        </p:txBody>
      </p:sp>
      <p:sp>
        <p:nvSpPr>
          <p:cNvPr id="40" name="Shape 38"/>
          <p:cNvSpPr/>
          <p:nvPr/>
        </p:nvSpPr>
        <p:spPr>
          <a:xfrm>
            <a:off x="6035040" y="4084955"/>
            <a:ext cx="146304" cy="146304"/>
          </a:xfrm>
          <a:prstGeom prst="rect">
            <a:avLst/>
          </a:prstGeom>
          <a:solidFill>
            <a:srgbClr val="0E7C86"/>
          </a:solidFill>
          <a:ln w="12700">
            <a:solidFill>
              <a:srgbClr val="0E7C86"/>
            </a:solidFill>
            <a:prstDash val="solid"/>
          </a:ln>
        </p:spPr>
      </p:sp>
      <p:sp>
        <p:nvSpPr>
          <p:cNvPr id="41" name="Text 39"/>
          <p:cNvSpPr txBox="1"/>
          <p:nvPr/>
        </p:nvSpPr>
        <p:spPr>
          <a:xfrm>
            <a:off x="6419088" y="3986276"/>
            <a:ext cx="5223967" cy="119862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Violet: the four corners are one group</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map wraps around horizontally and vertically: B = 0 and D = 0, the clause is B'D'</a:t>
            </a:r>
            <a:endParaRPr lang="en-US" sz="2100" dirty="0"/>
          </a:p>
        </p:txBody>
      </p:sp>
      <p:sp>
        <p:nvSpPr>
          <p:cNvPr id="42" name="Shape 40"/>
          <p:cNvSpPr/>
          <p:nvPr/>
        </p:nvSpPr>
        <p:spPr>
          <a:xfrm>
            <a:off x="6035040" y="5620131"/>
            <a:ext cx="146304" cy="146304"/>
          </a:xfrm>
          <a:prstGeom prst="rect">
            <a:avLst/>
          </a:prstGeom>
          <a:solidFill>
            <a:srgbClr val="C7791B"/>
          </a:solidFill>
          <a:ln w="12700">
            <a:solidFill>
              <a:srgbClr val="C7791B"/>
            </a:solidFill>
            <a:prstDash val="solid"/>
          </a:ln>
        </p:spPr>
      </p:sp>
      <p:sp>
        <p:nvSpPr>
          <p:cNvPr id="43" name="Text 41"/>
          <p:cNvSpPr txBox="1"/>
          <p:nvPr/>
        </p:nvSpPr>
        <p:spPr>
          <a:xfrm>
            <a:off x="6419088" y="5521452"/>
            <a:ext cx="52239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Result: four literals, and you may recognise it: F is the XNOR of B and D</a:t>
            </a:r>
            <a:endParaRPr lang="en-US" sz="2100" dirty="0"/>
          </a:p>
        </p:txBody>
      </p:sp>
      <p:sp>
        <p:nvSpPr>
          <p:cNvPr id="44" name="Shape 42"/>
          <p:cNvSpPr/>
          <p:nvPr/>
        </p:nvSpPr>
        <p:spPr>
          <a:xfrm>
            <a:off x="7893761" y="91440"/>
            <a:ext cx="3749294" cy="274320"/>
          </a:xfrm>
          <a:prstGeom prst="rect">
            <a:avLst/>
          </a:prstGeom>
          <a:solidFill>
            <a:srgbClr val="E0F2FE"/>
          </a:solidFill>
          <a:ln w="12700">
            <a:solidFill>
              <a:srgbClr val="0369A1"/>
            </a:solidFill>
            <a:prstDash val="solid"/>
          </a:ln>
        </p:spPr>
      </p:sp>
      <p:sp>
        <p:nvSpPr>
          <p:cNvPr id="45" name="Shape 43"/>
          <p:cNvSpPr/>
          <p:nvPr/>
        </p:nvSpPr>
        <p:spPr>
          <a:xfrm>
            <a:off x="7893761" y="91440"/>
            <a:ext cx="73152" cy="274320"/>
          </a:xfrm>
          <a:prstGeom prst="rect">
            <a:avLst/>
          </a:prstGeom>
          <a:solidFill>
            <a:srgbClr val="0369A1"/>
          </a:solidFill>
          <a:ln w="12700">
            <a:solidFill>
              <a:srgbClr val="0369A1"/>
            </a:solidFill>
            <a:prstDash val="solid"/>
          </a:ln>
        </p:spPr>
      </p:sp>
      <p:pic>
        <p:nvPicPr>
          <p:cNvPr id="46"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47" name="Text 44"/>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minimisation, Karnaugh maps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Don't-care conditions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Sometimes an input combination can never occur, or the output does not matter when it does</a:t>
            </a:r>
            <a:endParaRPr lang="en-US" sz="2200" dirty="0"/>
          </a:p>
        </p:txBody>
      </p:sp>
      <p:sp>
        <p:nvSpPr>
          <p:cNvPr id="5" name="Shape 3"/>
          <p:cNvSpPr/>
          <p:nvPr/>
        </p:nvSpPr>
        <p:spPr>
          <a:xfrm>
            <a:off x="548640" y="271494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08517"/>
            <a:ext cx="656539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Example: a digit in binary-coded decimal uses the patterns 0000 to 1001</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six patterns 1010 to 1111 never appear</a:t>
            </a:r>
            <a:endParaRPr lang="en-US" sz="2200" dirty="0"/>
          </a:p>
        </p:txBody>
      </p:sp>
      <p:sp>
        <p:nvSpPr>
          <p:cNvPr id="7" name="Shape 5"/>
          <p:cNvSpPr/>
          <p:nvPr/>
        </p:nvSpPr>
        <p:spPr>
          <a:xfrm>
            <a:off x="548640" y="389623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89807"/>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Those cells are marked with an x in the map: don't care</a:t>
            </a:r>
            <a:endParaRPr lang="en-US" sz="2200" dirty="0"/>
          </a:p>
        </p:txBody>
      </p:sp>
      <p:sp>
        <p:nvSpPr>
          <p:cNvPr id="9" name="Shape 7"/>
          <p:cNvSpPr/>
          <p:nvPr/>
        </p:nvSpPr>
        <p:spPr>
          <a:xfrm>
            <a:off x="548640" y="474656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4013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An x may be treated as a 1 when it makes a group larger, and as a 0 otherwise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More freedom means larger groups and a cheaper circuit</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x</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a cell whose value we are free to choose, 0 or 1, whichever simplifies the circuit</a:t>
            </a:r>
            <a:endParaRPr lang="en-US" sz="1900" dirty="0"/>
          </a:p>
        </p:txBody>
      </p:sp>
      <p:sp>
        <p:nvSpPr>
          <p:cNvPr id="16" name="Shape 14"/>
          <p:cNvSpPr/>
          <p:nvPr/>
        </p:nvSpPr>
        <p:spPr>
          <a:xfrm>
            <a:off x="7893761" y="91440"/>
            <a:ext cx="3749294" cy="274320"/>
          </a:xfrm>
          <a:prstGeom prst="rect">
            <a:avLst/>
          </a:prstGeom>
          <a:solidFill>
            <a:srgbClr val="E0F2FE"/>
          </a:solidFill>
          <a:ln w="12700">
            <a:solidFill>
              <a:srgbClr val="0369A1"/>
            </a:solidFill>
            <a:prstDash val="solid"/>
          </a:ln>
        </p:spPr>
      </p:sp>
      <p:sp>
        <p:nvSpPr>
          <p:cNvPr id="17" name="Shape 15"/>
          <p:cNvSpPr/>
          <p:nvPr/>
        </p:nvSpPr>
        <p:spPr>
          <a:xfrm>
            <a:off x="7893761"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021777" y="128016"/>
            <a:ext cx="201168" cy="201168"/>
          </a:xfrm>
          <a:prstGeom prst="rect">
            <a:avLst/>
          </a:prstGeom>
        </p:spPr>
      </p:pic>
      <p:sp>
        <p:nvSpPr>
          <p:cNvPr id="19" name="Text 16"/>
          <p:cNvSpPr txBox="1"/>
          <p:nvPr/>
        </p:nvSpPr>
        <p:spPr>
          <a:xfrm>
            <a:off x="8277809" y="91440"/>
            <a:ext cx="33286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minimisation, Karnaugh maps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Thirty-two full adders make an add</a:t>
            </a:r>
            <a:endParaRPr lang="en-US" sz="3200" dirty="0"/>
          </a:p>
        </p:txBody>
      </p:sp>
      <p:sp>
        <p:nvSpPr>
          <p:cNvPr id="3" name="Text 1"/>
          <p:cNvSpPr txBox="1"/>
          <p:nvPr/>
        </p:nvSpPr>
        <p:spPr>
          <a:xfrm>
            <a:off x="9692640" y="2331720"/>
            <a:ext cx="1325880" cy="1143000"/>
          </a:xfrm>
          <a:prstGeom prst="roundRect">
            <a:avLst>
              <a:gd name="adj" fmla="val 6400"/>
            </a:avLst>
          </a:prstGeom>
          <a:solidFill>
            <a:srgbClr val="0E7C86"/>
          </a:solidFill>
          <a:ln>
            <a:solidFill>
              <a:srgbClr val="FFFFFF"/>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adder</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bit 0</a:t>
            </a:r>
            <a:endParaRPr lang="en-US" sz="1400" dirty="0"/>
          </a:p>
        </p:txBody>
      </p:sp>
      <p:sp>
        <p:nvSpPr>
          <p:cNvPr id="4" name="Shape 2"/>
          <p:cNvSpPr/>
          <p:nvPr/>
        </p:nvSpPr>
        <p:spPr>
          <a:xfrm>
            <a:off x="10104120" y="1737360"/>
            <a:ext cx="0" cy="566928"/>
          </a:xfrm>
          <a:prstGeom prst="line">
            <a:avLst/>
          </a:prstGeom>
          <a:noFill/>
          <a:ln w="22225">
            <a:solidFill>
              <a:srgbClr val="5B6B78"/>
            </a:solidFill>
            <a:prstDash val="solid"/>
            <a:tailEnd type="triangle"/>
          </a:ln>
        </p:spPr>
      </p:sp>
      <p:sp>
        <p:nvSpPr>
          <p:cNvPr id="5" name="Shape 3"/>
          <p:cNvSpPr/>
          <p:nvPr/>
        </p:nvSpPr>
        <p:spPr>
          <a:xfrm>
            <a:off x="10607040" y="1737360"/>
            <a:ext cx="0" cy="566928"/>
          </a:xfrm>
          <a:prstGeom prst="line">
            <a:avLst/>
          </a:prstGeom>
          <a:noFill/>
          <a:ln w="22225">
            <a:solidFill>
              <a:srgbClr val="5B6B78"/>
            </a:solidFill>
            <a:prstDash val="solid"/>
            <a:tailEnd type="triangle"/>
          </a:ln>
        </p:spPr>
      </p:sp>
      <p:sp>
        <p:nvSpPr>
          <p:cNvPr id="6" name="Text 4"/>
          <p:cNvSpPr txBox="1"/>
          <p:nvPr/>
        </p:nvSpPr>
        <p:spPr>
          <a:xfrm>
            <a:off x="978408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A0</a:t>
            </a:r>
            <a:endParaRPr lang="en-US" sz="1400" dirty="0"/>
          </a:p>
        </p:txBody>
      </p:sp>
      <p:sp>
        <p:nvSpPr>
          <p:cNvPr id="7" name="Text 5"/>
          <p:cNvSpPr txBox="1"/>
          <p:nvPr/>
        </p:nvSpPr>
        <p:spPr>
          <a:xfrm>
            <a:off x="1028700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B0</a:t>
            </a:r>
            <a:endParaRPr lang="en-US" sz="1400" dirty="0"/>
          </a:p>
        </p:txBody>
      </p:sp>
      <p:sp>
        <p:nvSpPr>
          <p:cNvPr id="8" name="Shape 6"/>
          <p:cNvSpPr/>
          <p:nvPr/>
        </p:nvSpPr>
        <p:spPr>
          <a:xfrm>
            <a:off x="10355580" y="3502152"/>
            <a:ext cx="0" cy="521208"/>
          </a:xfrm>
          <a:prstGeom prst="line">
            <a:avLst/>
          </a:prstGeom>
          <a:noFill/>
          <a:ln w="22225">
            <a:solidFill>
              <a:srgbClr val="5B6B78"/>
            </a:solidFill>
            <a:prstDash val="solid"/>
            <a:tailEnd type="triangle"/>
          </a:ln>
        </p:spPr>
      </p:sp>
      <p:sp>
        <p:nvSpPr>
          <p:cNvPr id="9" name="Text 7"/>
          <p:cNvSpPr txBox="1"/>
          <p:nvPr/>
        </p:nvSpPr>
        <p:spPr>
          <a:xfrm>
            <a:off x="9989820" y="4041648"/>
            <a:ext cx="73152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S0</a:t>
            </a:r>
            <a:endParaRPr lang="en-US" sz="1400" dirty="0"/>
          </a:p>
        </p:txBody>
      </p:sp>
      <p:sp>
        <p:nvSpPr>
          <p:cNvPr id="10" name="Text 8"/>
          <p:cNvSpPr txBox="1"/>
          <p:nvPr/>
        </p:nvSpPr>
        <p:spPr>
          <a:xfrm>
            <a:off x="7863840" y="2331720"/>
            <a:ext cx="1325880" cy="1143000"/>
          </a:xfrm>
          <a:prstGeom prst="roundRect">
            <a:avLst>
              <a:gd name="adj" fmla="val 6400"/>
            </a:avLst>
          </a:prstGeom>
          <a:solidFill>
            <a:srgbClr val="0E7C86"/>
          </a:solidFill>
          <a:ln>
            <a:solidFill>
              <a:srgbClr val="FFFFFF"/>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adder</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bit 1</a:t>
            </a:r>
            <a:endParaRPr lang="en-US" sz="1400" dirty="0"/>
          </a:p>
        </p:txBody>
      </p:sp>
      <p:sp>
        <p:nvSpPr>
          <p:cNvPr id="11" name="Shape 9"/>
          <p:cNvSpPr/>
          <p:nvPr/>
        </p:nvSpPr>
        <p:spPr>
          <a:xfrm>
            <a:off x="8275320" y="1737360"/>
            <a:ext cx="0" cy="566928"/>
          </a:xfrm>
          <a:prstGeom prst="line">
            <a:avLst/>
          </a:prstGeom>
          <a:noFill/>
          <a:ln w="22225">
            <a:solidFill>
              <a:srgbClr val="5B6B78"/>
            </a:solidFill>
            <a:prstDash val="solid"/>
            <a:tailEnd type="triangle"/>
          </a:ln>
        </p:spPr>
      </p:sp>
      <p:sp>
        <p:nvSpPr>
          <p:cNvPr id="12" name="Shape 10"/>
          <p:cNvSpPr/>
          <p:nvPr/>
        </p:nvSpPr>
        <p:spPr>
          <a:xfrm>
            <a:off x="8778240" y="1737360"/>
            <a:ext cx="0" cy="566928"/>
          </a:xfrm>
          <a:prstGeom prst="line">
            <a:avLst/>
          </a:prstGeom>
          <a:noFill/>
          <a:ln w="22225">
            <a:solidFill>
              <a:srgbClr val="5B6B78"/>
            </a:solidFill>
            <a:prstDash val="solid"/>
            <a:tailEnd type="triangle"/>
          </a:ln>
        </p:spPr>
      </p:sp>
      <p:sp>
        <p:nvSpPr>
          <p:cNvPr id="13" name="Text 11"/>
          <p:cNvSpPr txBox="1"/>
          <p:nvPr/>
        </p:nvSpPr>
        <p:spPr>
          <a:xfrm>
            <a:off x="795528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A1</a:t>
            </a:r>
            <a:endParaRPr lang="en-US" sz="1400" dirty="0"/>
          </a:p>
        </p:txBody>
      </p:sp>
      <p:sp>
        <p:nvSpPr>
          <p:cNvPr id="14" name="Text 12"/>
          <p:cNvSpPr txBox="1"/>
          <p:nvPr/>
        </p:nvSpPr>
        <p:spPr>
          <a:xfrm>
            <a:off x="845820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B1</a:t>
            </a:r>
            <a:endParaRPr lang="en-US" sz="1400" dirty="0"/>
          </a:p>
        </p:txBody>
      </p:sp>
      <p:sp>
        <p:nvSpPr>
          <p:cNvPr id="15" name="Shape 13"/>
          <p:cNvSpPr/>
          <p:nvPr/>
        </p:nvSpPr>
        <p:spPr>
          <a:xfrm>
            <a:off x="8526780" y="3502152"/>
            <a:ext cx="0" cy="521208"/>
          </a:xfrm>
          <a:prstGeom prst="line">
            <a:avLst/>
          </a:prstGeom>
          <a:noFill/>
          <a:ln w="22225">
            <a:solidFill>
              <a:srgbClr val="5B6B78"/>
            </a:solidFill>
            <a:prstDash val="solid"/>
            <a:tailEnd type="triangle"/>
          </a:ln>
        </p:spPr>
      </p:sp>
      <p:sp>
        <p:nvSpPr>
          <p:cNvPr id="16" name="Text 14"/>
          <p:cNvSpPr txBox="1"/>
          <p:nvPr/>
        </p:nvSpPr>
        <p:spPr>
          <a:xfrm>
            <a:off x="8161020" y="4041648"/>
            <a:ext cx="73152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S1</a:t>
            </a:r>
            <a:endParaRPr lang="en-US" sz="1400" dirty="0"/>
          </a:p>
        </p:txBody>
      </p:sp>
      <p:sp>
        <p:nvSpPr>
          <p:cNvPr id="17" name="Text 15"/>
          <p:cNvSpPr txBox="1"/>
          <p:nvPr/>
        </p:nvSpPr>
        <p:spPr>
          <a:xfrm>
            <a:off x="6035040" y="2331720"/>
            <a:ext cx="1325880" cy="1143000"/>
          </a:xfrm>
          <a:prstGeom prst="roundRect">
            <a:avLst>
              <a:gd name="adj" fmla="val 6400"/>
            </a:avLst>
          </a:prstGeom>
          <a:solidFill>
            <a:srgbClr val="0E7C86"/>
          </a:solidFill>
          <a:ln>
            <a:solidFill>
              <a:srgbClr val="FFFFFF"/>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adder</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bit 2</a:t>
            </a:r>
            <a:endParaRPr lang="en-US" sz="1400" dirty="0"/>
          </a:p>
        </p:txBody>
      </p:sp>
      <p:sp>
        <p:nvSpPr>
          <p:cNvPr id="18" name="Shape 16"/>
          <p:cNvSpPr/>
          <p:nvPr/>
        </p:nvSpPr>
        <p:spPr>
          <a:xfrm>
            <a:off x="6446520" y="1737360"/>
            <a:ext cx="0" cy="566928"/>
          </a:xfrm>
          <a:prstGeom prst="line">
            <a:avLst/>
          </a:prstGeom>
          <a:noFill/>
          <a:ln w="22225">
            <a:solidFill>
              <a:srgbClr val="5B6B78"/>
            </a:solidFill>
            <a:prstDash val="solid"/>
            <a:tailEnd type="triangle"/>
          </a:ln>
        </p:spPr>
      </p:sp>
      <p:sp>
        <p:nvSpPr>
          <p:cNvPr id="19" name="Shape 17"/>
          <p:cNvSpPr/>
          <p:nvPr/>
        </p:nvSpPr>
        <p:spPr>
          <a:xfrm>
            <a:off x="6949440" y="1737360"/>
            <a:ext cx="0" cy="566928"/>
          </a:xfrm>
          <a:prstGeom prst="line">
            <a:avLst/>
          </a:prstGeom>
          <a:noFill/>
          <a:ln w="22225">
            <a:solidFill>
              <a:srgbClr val="5B6B78"/>
            </a:solidFill>
            <a:prstDash val="solid"/>
            <a:tailEnd type="triangle"/>
          </a:ln>
        </p:spPr>
      </p:sp>
      <p:sp>
        <p:nvSpPr>
          <p:cNvPr id="20" name="Text 18"/>
          <p:cNvSpPr txBox="1"/>
          <p:nvPr/>
        </p:nvSpPr>
        <p:spPr>
          <a:xfrm>
            <a:off x="612648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A2</a:t>
            </a:r>
            <a:endParaRPr lang="en-US" sz="1400" dirty="0"/>
          </a:p>
        </p:txBody>
      </p:sp>
      <p:sp>
        <p:nvSpPr>
          <p:cNvPr id="21" name="Text 19"/>
          <p:cNvSpPr txBox="1"/>
          <p:nvPr/>
        </p:nvSpPr>
        <p:spPr>
          <a:xfrm>
            <a:off x="662940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B2</a:t>
            </a:r>
            <a:endParaRPr lang="en-US" sz="1400" dirty="0"/>
          </a:p>
        </p:txBody>
      </p:sp>
      <p:sp>
        <p:nvSpPr>
          <p:cNvPr id="22" name="Shape 20"/>
          <p:cNvSpPr/>
          <p:nvPr/>
        </p:nvSpPr>
        <p:spPr>
          <a:xfrm>
            <a:off x="6697980" y="3502152"/>
            <a:ext cx="0" cy="521208"/>
          </a:xfrm>
          <a:prstGeom prst="line">
            <a:avLst/>
          </a:prstGeom>
          <a:noFill/>
          <a:ln w="22225">
            <a:solidFill>
              <a:srgbClr val="5B6B78"/>
            </a:solidFill>
            <a:prstDash val="solid"/>
            <a:tailEnd type="triangle"/>
          </a:ln>
        </p:spPr>
      </p:sp>
      <p:sp>
        <p:nvSpPr>
          <p:cNvPr id="23" name="Text 21"/>
          <p:cNvSpPr txBox="1"/>
          <p:nvPr/>
        </p:nvSpPr>
        <p:spPr>
          <a:xfrm>
            <a:off x="6332220" y="4041648"/>
            <a:ext cx="73152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S2</a:t>
            </a:r>
            <a:endParaRPr lang="en-US" sz="1400" dirty="0"/>
          </a:p>
        </p:txBody>
      </p:sp>
      <p:sp>
        <p:nvSpPr>
          <p:cNvPr id="24" name="Text 22"/>
          <p:cNvSpPr txBox="1"/>
          <p:nvPr/>
        </p:nvSpPr>
        <p:spPr>
          <a:xfrm>
            <a:off x="2377440" y="2331720"/>
            <a:ext cx="1325880" cy="1143000"/>
          </a:xfrm>
          <a:prstGeom prst="roundRect">
            <a:avLst>
              <a:gd name="adj" fmla="val 6400"/>
            </a:avLst>
          </a:prstGeom>
          <a:solidFill>
            <a:srgbClr val="2E4A62"/>
          </a:solidFill>
          <a:ln>
            <a:solidFill>
              <a:srgbClr val="FFFFFF"/>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adder</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bit 31</a:t>
            </a:r>
            <a:endParaRPr lang="en-US" sz="1400" dirty="0"/>
          </a:p>
        </p:txBody>
      </p:sp>
      <p:sp>
        <p:nvSpPr>
          <p:cNvPr id="25" name="Shape 23"/>
          <p:cNvSpPr/>
          <p:nvPr/>
        </p:nvSpPr>
        <p:spPr>
          <a:xfrm>
            <a:off x="2788920" y="1737360"/>
            <a:ext cx="0" cy="566928"/>
          </a:xfrm>
          <a:prstGeom prst="line">
            <a:avLst/>
          </a:prstGeom>
          <a:noFill/>
          <a:ln w="22225">
            <a:solidFill>
              <a:srgbClr val="5B6B78"/>
            </a:solidFill>
            <a:prstDash val="solid"/>
            <a:tailEnd type="triangle"/>
          </a:ln>
        </p:spPr>
      </p:sp>
      <p:sp>
        <p:nvSpPr>
          <p:cNvPr id="26" name="Shape 24"/>
          <p:cNvSpPr/>
          <p:nvPr/>
        </p:nvSpPr>
        <p:spPr>
          <a:xfrm>
            <a:off x="3291840" y="1737360"/>
            <a:ext cx="0" cy="566928"/>
          </a:xfrm>
          <a:prstGeom prst="line">
            <a:avLst/>
          </a:prstGeom>
          <a:noFill/>
          <a:ln w="22225">
            <a:solidFill>
              <a:srgbClr val="5B6B78"/>
            </a:solidFill>
            <a:prstDash val="solid"/>
            <a:tailEnd type="triangle"/>
          </a:ln>
        </p:spPr>
      </p:sp>
      <p:sp>
        <p:nvSpPr>
          <p:cNvPr id="27" name="Text 25"/>
          <p:cNvSpPr txBox="1"/>
          <p:nvPr/>
        </p:nvSpPr>
        <p:spPr>
          <a:xfrm>
            <a:off x="246888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A31</a:t>
            </a:r>
            <a:endParaRPr lang="en-US" sz="1400" dirty="0"/>
          </a:p>
        </p:txBody>
      </p:sp>
      <p:sp>
        <p:nvSpPr>
          <p:cNvPr id="28" name="Text 26"/>
          <p:cNvSpPr txBox="1"/>
          <p:nvPr/>
        </p:nvSpPr>
        <p:spPr>
          <a:xfrm>
            <a:off x="2971800" y="1435608"/>
            <a:ext cx="64008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B31</a:t>
            </a:r>
            <a:endParaRPr lang="en-US" sz="1400" dirty="0"/>
          </a:p>
        </p:txBody>
      </p:sp>
      <p:sp>
        <p:nvSpPr>
          <p:cNvPr id="29" name="Shape 27"/>
          <p:cNvSpPr/>
          <p:nvPr/>
        </p:nvSpPr>
        <p:spPr>
          <a:xfrm>
            <a:off x="3040380" y="3502152"/>
            <a:ext cx="0" cy="521208"/>
          </a:xfrm>
          <a:prstGeom prst="line">
            <a:avLst/>
          </a:prstGeom>
          <a:noFill/>
          <a:ln w="22225">
            <a:solidFill>
              <a:srgbClr val="5B6B78"/>
            </a:solidFill>
            <a:prstDash val="solid"/>
            <a:tailEnd type="triangle"/>
          </a:ln>
        </p:spPr>
      </p:sp>
      <p:sp>
        <p:nvSpPr>
          <p:cNvPr id="30" name="Text 28"/>
          <p:cNvSpPr txBox="1"/>
          <p:nvPr/>
        </p:nvSpPr>
        <p:spPr>
          <a:xfrm>
            <a:off x="2674620" y="4041648"/>
            <a:ext cx="731520" cy="274320"/>
          </a:xfrm>
          <a:prstGeom prst="rect">
            <a:avLst/>
          </a:prstGeom>
          <a:noFill/>
          <a:ln/>
        </p:spPr>
        <p:txBody>
          <a:bodyPr wrap="square" lIns="0" tIns="0" rIns="0" bIns="0" rtlCol="0" anchor="t"/>
          <a:lstStyle/>
          <a:p>
            <a:pPr algn="ctr" indent="0" marL="0">
              <a:buNone/>
            </a:pPr>
            <a:r>
              <a:rPr lang="en-US" sz="1400" b="1" dirty="0">
                <a:solidFill>
                  <a:srgbClr val="1B2530"/>
                </a:solidFill>
                <a:latin typeface="Courier New" pitchFamily="34" charset="0"/>
                <a:ea typeface="Courier New" pitchFamily="34" charset="-122"/>
                <a:cs typeface="Courier New" pitchFamily="34" charset="-120"/>
              </a:rPr>
              <a:t>S31</a:t>
            </a:r>
            <a:endParaRPr lang="en-US" sz="1400" dirty="0"/>
          </a:p>
        </p:txBody>
      </p:sp>
      <p:sp>
        <p:nvSpPr>
          <p:cNvPr id="31" name="Shape 29"/>
          <p:cNvSpPr/>
          <p:nvPr/>
        </p:nvSpPr>
        <p:spPr>
          <a:xfrm flipH="1">
            <a:off x="11045952" y="2903220"/>
            <a:ext cx="521208" cy="0"/>
          </a:xfrm>
          <a:prstGeom prst="line">
            <a:avLst/>
          </a:prstGeom>
          <a:noFill/>
          <a:ln w="28575">
            <a:solidFill>
              <a:srgbClr val="C7791B"/>
            </a:solidFill>
            <a:prstDash val="solid"/>
            <a:tailEnd type="triangle"/>
          </a:ln>
        </p:spPr>
      </p:sp>
      <p:sp>
        <p:nvSpPr>
          <p:cNvPr id="32" name="Text 30"/>
          <p:cNvSpPr txBox="1"/>
          <p:nvPr/>
        </p:nvSpPr>
        <p:spPr>
          <a:xfrm>
            <a:off x="11430000" y="2491740"/>
            <a:ext cx="320040" cy="274320"/>
          </a:xfrm>
          <a:prstGeom prst="rect">
            <a:avLst/>
          </a:prstGeom>
          <a:noFill/>
          <a:ln/>
        </p:spPr>
        <p:txBody>
          <a:bodyPr wrap="square" lIns="0" tIns="0" rIns="0" bIns="0" rtlCol="0" anchor="t"/>
          <a:lstStyle/>
          <a:p>
            <a:pPr indent="0" marL="0">
              <a:buNone/>
            </a:pPr>
            <a:r>
              <a:rPr lang="en-US" sz="1400" b="1" dirty="0">
                <a:solidFill>
                  <a:srgbClr val="C7791B"/>
                </a:solidFill>
                <a:latin typeface="Courier New" pitchFamily="34" charset="0"/>
                <a:ea typeface="Courier New" pitchFamily="34" charset="-122"/>
                <a:cs typeface="Courier New" pitchFamily="34" charset="-120"/>
              </a:rPr>
              <a:t>0</a:t>
            </a:r>
            <a:endParaRPr lang="en-US" sz="1400" dirty="0"/>
          </a:p>
        </p:txBody>
      </p:sp>
      <p:sp>
        <p:nvSpPr>
          <p:cNvPr id="33" name="Shape 31"/>
          <p:cNvSpPr/>
          <p:nvPr/>
        </p:nvSpPr>
        <p:spPr>
          <a:xfrm flipH="1">
            <a:off x="9217152" y="2903220"/>
            <a:ext cx="448056" cy="0"/>
          </a:xfrm>
          <a:prstGeom prst="line">
            <a:avLst/>
          </a:prstGeom>
          <a:noFill/>
          <a:ln w="28575">
            <a:solidFill>
              <a:srgbClr val="C7791B"/>
            </a:solidFill>
            <a:prstDash val="solid"/>
            <a:tailEnd type="triangle"/>
          </a:ln>
        </p:spPr>
      </p:sp>
      <p:sp>
        <p:nvSpPr>
          <p:cNvPr id="34" name="Shape 32"/>
          <p:cNvSpPr/>
          <p:nvPr/>
        </p:nvSpPr>
        <p:spPr>
          <a:xfrm flipH="1">
            <a:off x="7388352" y="2903220"/>
            <a:ext cx="448056" cy="0"/>
          </a:xfrm>
          <a:prstGeom prst="line">
            <a:avLst/>
          </a:prstGeom>
          <a:noFill/>
          <a:ln w="28575">
            <a:solidFill>
              <a:srgbClr val="C7791B"/>
            </a:solidFill>
            <a:prstDash val="solid"/>
            <a:tailEnd type="triangle"/>
          </a:ln>
        </p:spPr>
      </p:sp>
      <p:sp>
        <p:nvSpPr>
          <p:cNvPr id="35" name="Shape 33"/>
          <p:cNvSpPr/>
          <p:nvPr/>
        </p:nvSpPr>
        <p:spPr>
          <a:xfrm flipH="1">
            <a:off x="5257800" y="2903220"/>
            <a:ext cx="749808" cy="0"/>
          </a:xfrm>
          <a:prstGeom prst="line">
            <a:avLst/>
          </a:prstGeom>
          <a:noFill/>
          <a:ln w="28575">
            <a:solidFill>
              <a:srgbClr val="C7791B"/>
            </a:solidFill>
            <a:prstDash val="solid"/>
            <a:tailEnd type="triangle"/>
          </a:ln>
        </p:spPr>
      </p:sp>
      <p:sp>
        <p:nvSpPr>
          <p:cNvPr id="36" name="Text 34"/>
          <p:cNvSpPr txBox="1"/>
          <p:nvPr/>
        </p:nvSpPr>
        <p:spPr>
          <a:xfrm>
            <a:off x="4343400" y="2674620"/>
            <a:ext cx="868680" cy="457200"/>
          </a:xfrm>
          <a:prstGeom prst="rect">
            <a:avLst/>
          </a:prstGeom>
          <a:noFill/>
          <a:ln/>
        </p:spPr>
        <p:txBody>
          <a:bodyPr wrap="square" lIns="0" tIns="0" rIns="0" bIns="0" rtlCol="0" anchor="ctr"/>
          <a:lstStyle/>
          <a:p>
            <a:pPr algn="ctr" indent="0" marL="0">
              <a:buNone/>
            </a:pPr>
            <a:r>
              <a:rPr lang="en-US" sz="2200" b="1" dirty="0">
                <a:solidFill>
                  <a:srgbClr val="C7791B"/>
                </a:solidFill>
                <a:latin typeface="Calibri" pitchFamily="34" charset="0"/>
                <a:ea typeface="Calibri" pitchFamily="34" charset="-122"/>
                <a:cs typeface="Calibri" pitchFamily="34" charset="-120"/>
              </a:rPr>
              <a:t>. . .</a:t>
            </a:r>
            <a:endParaRPr lang="en-US" sz="2200" dirty="0"/>
          </a:p>
        </p:txBody>
      </p:sp>
      <p:sp>
        <p:nvSpPr>
          <p:cNvPr id="37" name="Shape 35"/>
          <p:cNvSpPr/>
          <p:nvPr/>
        </p:nvSpPr>
        <p:spPr>
          <a:xfrm flipH="1">
            <a:off x="3730752" y="2903220"/>
            <a:ext cx="566928" cy="0"/>
          </a:xfrm>
          <a:prstGeom prst="line">
            <a:avLst/>
          </a:prstGeom>
          <a:noFill/>
          <a:ln w="28575">
            <a:solidFill>
              <a:srgbClr val="C7791B"/>
            </a:solidFill>
            <a:prstDash val="solid"/>
            <a:tailEnd type="triangle"/>
          </a:ln>
        </p:spPr>
      </p:sp>
      <p:sp>
        <p:nvSpPr>
          <p:cNvPr id="38" name="Shape 36"/>
          <p:cNvSpPr/>
          <p:nvPr/>
        </p:nvSpPr>
        <p:spPr>
          <a:xfrm flipH="1">
            <a:off x="1600200" y="2903220"/>
            <a:ext cx="749808" cy="0"/>
          </a:xfrm>
          <a:prstGeom prst="line">
            <a:avLst/>
          </a:prstGeom>
          <a:noFill/>
          <a:ln w="28575">
            <a:solidFill>
              <a:srgbClr val="C7791B"/>
            </a:solidFill>
            <a:prstDash val="solid"/>
            <a:tailEnd type="triangle"/>
          </a:ln>
        </p:spPr>
      </p:sp>
      <p:sp>
        <p:nvSpPr>
          <p:cNvPr id="39" name="Text 37"/>
          <p:cNvSpPr txBox="1"/>
          <p:nvPr/>
        </p:nvSpPr>
        <p:spPr>
          <a:xfrm>
            <a:off x="685800" y="2583180"/>
            <a:ext cx="868680" cy="640080"/>
          </a:xfrm>
          <a:prstGeom prst="rect">
            <a:avLst/>
          </a:prstGeom>
          <a:noFill/>
          <a:ln/>
        </p:spPr>
        <p:txBody>
          <a:bodyPr wrap="square" lIns="0" tIns="0" rIns="0" bIns="0" rtlCol="0" anchor="ctr"/>
          <a:lstStyle/>
          <a:p>
            <a:pPr algn="ctr" indent="0" marL="0">
              <a:buNone/>
            </a:pPr>
            <a:r>
              <a:rPr lang="en-US" sz="1300" b="1" dirty="0">
                <a:solidFill>
                  <a:srgbClr val="C7791B"/>
                </a:solidFill>
                <a:latin typeface="Calibri" pitchFamily="34" charset="0"/>
                <a:ea typeface="Calibri" pitchFamily="34" charset="-122"/>
                <a:cs typeface="Calibri" pitchFamily="34" charset="-120"/>
              </a:rPr>
              <a:t>carry</a:t>
            </a:r>
            <a:endParaRPr lang="en-US" sz="1300" dirty="0"/>
          </a:p>
          <a:p>
            <a:pPr algn="ctr" indent="0" marL="0">
              <a:buNone/>
            </a:pPr>
            <a:r>
              <a:rPr lang="en-US" sz="1300" b="1" dirty="0">
                <a:solidFill>
                  <a:srgbClr val="C7791B"/>
                </a:solidFill>
                <a:latin typeface="Calibri" pitchFamily="34" charset="0"/>
                <a:ea typeface="Calibri" pitchFamily="34" charset="-122"/>
                <a:cs typeface="Calibri" pitchFamily="34" charset="-120"/>
              </a:rPr>
              <a:t>out</a:t>
            </a:r>
            <a:endParaRPr lang="en-US" sz="1300" dirty="0"/>
          </a:p>
        </p:txBody>
      </p:sp>
      <p:sp>
        <p:nvSpPr>
          <p:cNvPr id="40" name="Text 38"/>
          <p:cNvSpPr txBox="1"/>
          <p:nvPr/>
        </p:nvSpPr>
        <p:spPr>
          <a:xfrm>
            <a:off x="3794760" y="3177540"/>
            <a:ext cx="2103120" cy="274320"/>
          </a:xfrm>
          <a:prstGeom prst="rect">
            <a:avLst/>
          </a:prstGeom>
          <a:noFill/>
          <a:ln/>
        </p:spPr>
        <p:txBody>
          <a:bodyPr wrap="square" lIns="0" tIns="0" rIns="0" bIns="0" rtlCol="0" anchor="t"/>
          <a:lstStyle/>
          <a:p>
            <a:pPr algn="ctr" indent="0" marL="0">
              <a:buNone/>
            </a:pPr>
            <a:r>
              <a:rPr lang="en-US" sz="1250" i="1" dirty="0">
                <a:solidFill>
                  <a:srgbClr val="C7791B"/>
                </a:solidFill>
                <a:latin typeface="Calibri" pitchFamily="34" charset="0"/>
                <a:ea typeface="Calibri" pitchFamily="34" charset="-122"/>
                <a:cs typeface="Calibri" pitchFamily="34" charset="-120"/>
              </a:rPr>
              <a:t>the carry ripples leftwards</a:t>
            </a:r>
            <a:endParaRPr lang="en-US" sz="1250" dirty="0"/>
          </a:p>
        </p:txBody>
      </p:sp>
      <p:sp>
        <p:nvSpPr>
          <p:cNvPr id="41" name="Shape 39"/>
          <p:cNvSpPr/>
          <p:nvPr/>
        </p:nvSpPr>
        <p:spPr>
          <a:xfrm>
            <a:off x="548640" y="4655185"/>
            <a:ext cx="146304" cy="146304"/>
          </a:xfrm>
          <a:prstGeom prst="rect">
            <a:avLst/>
          </a:prstGeom>
          <a:solidFill>
            <a:srgbClr val="0E7C86"/>
          </a:solidFill>
          <a:ln w="12700">
            <a:solidFill>
              <a:srgbClr val="0E7C86"/>
            </a:solidFill>
            <a:prstDash val="solid"/>
          </a:ln>
        </p:spPr>
      </p:sp>
      <p:sp>
        <p:nvSpPr>
          <p:cNvPr id="42" name="Text 40"/>
          <p:cNvSpPr txBox="1"/>
          <p:nvPr/>
        </p:nvSpPr>
        <p:spPr>
          <a:xfrm>
            <a:off x="932688" y="4572000"/>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add t2, t0, t1 feeds the two registers into thirty-two full adders, one per bit position</a:t>
            </a:r>
            <a:endParaRPr lang="en-US" sz="1900" dirty="0"/>
          </a:p>
        </p:txBody>
      </p:sp>
      <p:sp>
        <p:nvSpPr>
          <p:cNvPr id="43" name="Shape 41"/>
          <p:cNvSpPr/>
          <p:nvPr/>
        </p:nvSpPr>
        <p:spPr>
          <a:xfrm>
            <a:off x="548640" y="5160899"/>
            <a:ext cx="146304" cy="146304"/>
          </a:xfrm>
          <a:prstGeom prst="rect">
            <a:avLst/>
          </a:prstGeom>
          <a:solidFill>
            <a:srgbClr val="C7791B"/>
          </a:solidFill>
          <a:ln w="12700">
            <a:solidFill>
              <a:srgbClr val="C7791B"/>
            </a:solidFill>
            <a:prstDash val="solid"/>
          </a:ln>
        </p:spPr>
      </p:sp>
      <p:sp>
        <p:nvSpPr>
          <p:cNvPr id="44" name="Text 42"/>
          <p:cNvSpPr txBox="1"/>
          <p:nvPr/>
        </p:nvSpPr>
        <p:spPr>
          <a:xfrm>
            <a:off x="932688" y="5077714"/>
            <a:ext cx="10710367" cy="294386"/>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carry out of each position is the carry in of the next: a ripple-carry adder</a:t>
            </a:r>
            <a:endParaRPr lang="en-US" sz="1900" dirty="0"/>
          </a:p>
        </p:txBody>
      </p:sp>
      <p:sp>
        <p:nvSpPr>
          <p:cNvPr id="45" name="Shape 43"/>
          <p:cNvSpPr/>
          <p:nvPr/>
        </p:nvSpPr>
        <p:spPr>
          <a:xfrm>
            <a:off x="548640" y="5666613"/>
            <a:ext cx="146304" cy="146304"/>
          </a:xfrm>
          <a:prstGeom prst="rect">
            <a:avLst/>
          </a:prstGeom>
          <a:solidFill>
            <a:srgbClr val="0E7C86"/>
          </a:solidFill>
          <a:ln w="12700">
            <a:solidFill>
              <a:srgbClr val="0E7C86"/>
            </a:solidFill>
            <a:prstDash val="solid"/>
          </a:ln>
        </p:spPr>
      </p:sp>
      <p:sp>
        <p:nvSpPr>
          <p:cNvPr id="46" name="Text 44"/>
          <p:cNvSpPr txBox="1"/>
          <p:nvPr/>
        </p:nvSpPr>
        <p:spPr>
          <a:xfrm>
            <a:off x="932688" y="5583428"/>
            <a:ext cx="107103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sub uses the same adder: the second operand is complemented and the first carry in is 1 (Lecture 05)</a:t>
            </a:r>
            <a:endParaRPr lang="en-US" sz="1900" dirty="0"/>
          </a:p>
        </p:txBody>
      </p:sp>
      <p:sp>
        <p:nvSpPr>
          <p:cNvPr id="47" name="Shape 45"/>
          <p:cNvSpPr/>
          <p:nvPr/>
        </p:nvSpPr>
        <p:spPr>
          <a:xfrm>
            <a:off x="9075623" y="91440"/>
            <a:ext cx="2567432" cy="274320"/>
          </a:xfrm>
          <a:prstGeom prst="rect">
            <a:avLst/>
          </a:prstGeom>
          <a:solidFill>
            <a:srgbClr val="E0F2FE"/>
          </a:solidFill>
          <a:ln w="12700">
            <a:solidFill>
              <a:srgbClr val="0369A1"/>
            </a:solidFill>
            <a:prstDash val="solid"/>
          </a:ln>
        </p:spPr>
      </p:sp>
      <p:sp>
        <p:nvSpPr>
          <p:cNvPr id="48" name="Shape 46"/>
          <p:cNvSpPr/>
          <p:nvPr/>
        </p:nvSpPr>
        <p:spPr>
          <a:xfrm>
            <a:off x="9075623" y="91440"/>
            <a:ext cx="73152" cy="274320"/>
          </a:xfrm>
          <a:prstGeom prst="rect">
            <a:avLst/>
          </a:prstGeom>
          <a:solidFill>
            <a:srgbClr val="0369A1"/>
          </a:solidFill>
          <a:ln w="12700">
            <a:solidFill>
              <a:srgbClr val="0369A1"/>
            </a:solidFill>
            <a:prstDash val="solid"/>
          </a:ln>
        </p:spPr>
      </p:sp>
      <p:pic>
        <p:nvPicPr>
          <p:cNvPr id="49"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50" name="Text 4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adder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How many distinct Boolean functions of three variables are there?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8</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9</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64</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256</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minterm of three variables A, B, C corresponds to row 5 of the truth table?</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A'BC'</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AB'C</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 B' + C</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ABC'</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a Karnaugh map, a rectangular group of four adjacent 1s eliminates: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 variable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two variables</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three variables</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four variables</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a full adder, the carry out is 1 when:</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exactly one input is 1</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an odd number of inputs is 1</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at least two inputs are 1</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all three inputs are 1 only</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80097"/>
                <a:gridCol w="2924109"/>
                <a:gridCol w="2494093"/>
                <a:gridCol w="3096116"/>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Italiano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literal</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letterale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canonical form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forma canonica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clause, product term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clausola, termine prodotto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sum of products (SOP)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somma di prodotti (tipo 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factor, sum term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fattore, termine somma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product of sums (POS)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prodotto di somme (tipo 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minterm / maxterm</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mintermine / maxtermine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Karnaugh map</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mappa di Karnaugh</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half adder / full adder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semisommatore / sommatore completo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don't care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condizione di indifferenza</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carry in / carry out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riporto entrante / uscente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ripple-carry adder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sommatore a propagazione del riporto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Boolean function is a truth table; a truth table always gives a canonical expression</a:t>
            </a:r>
            <a:endParaRPr lang="en-US" sz="2100" dirty="0"/>
          </a:p>
        </p:txBody>
      </p:sp>
      <p:sp>
        <p:nvSpPr>
          <p:cNvPr id="5" name="Shape 3"/>
          <p:cNvSpPr/>
          <p:nvPr/>
        </p:nvSpPr>
        <p:spPr>
          <a:xfrm>
            <a:off x="548640" y="234276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4409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Minimisation is the process that optimises a logic network to simplify its implementation</a:t>
            </a:r>
            <a:endParaRPr lang="en-US" sz="2100" dirty="0"/>
          </a:p>
        </p:txBody>
      </p:sp>
      <p:sp>
        <p:nvSpPr>
          <p:cNvPr id="7" name="Shape 5"/>
          <p:cNvSpPr/>
          <p:nvPr/>
        </p:nvSpPr>
        <p:spPr>
          <a:xfrm>
            <a:off x="548640" y="316953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70860"/>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Karnaugh maps turn the algebra into a picture: group the 1s, read the clauses</a:t>
            </a:r>
            <a:endParaRPr lang="en-US" sz="2100" dirty="0"/>
          </a:p>
        </p:txBody>
      </p:sp>
      <p:sp>
        <p:nvSpPr>
          <p:cNvPr id="9" name="Shape 7"/>
          <p:cNvSpPr/>
          <p:nvPr/>
        </p:nvSpPr>
        <p:spPr>
          <a:xfrm>
            <a:off x="548640" y="36709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572256"/>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half adder and the full adder are the first real circuits of the course</a:t>
            </a:r>
            <a:endParaRPr lang="en-US" sz="2100" dirty="0"/>
          </a:p>
        </p:txBody>
      </p:sp>
      <p:sp>
        <p:nvSpPr>
          <p:cNvPr id="11" name="Shape 9"/>
          <p:cNvSpPr/>
          <p:nvPr/>
        </p:nvSpPr>
        <p:spPr>
          <a:xfrm>
            <a:off x="548640" y="41723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073652"/>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Thirty-two full adders in a row are what executes the add you typed in the first lecture</a:t>
            </a:r>
            <a:endParaRPr lang="en-US" sz="2100" dirty="0"/>
          </a:p>
        </p:txBody>
      </p:sp>
      <p:sp>
        <p:nvSpPr>
          <p:cNvPr id="13" name="Shape 11"/>
          <p:cNvSpPr/>
          <p:nvPr/>
        </p:nvSpPr>
        <p:spPr>
          <a:xfrm>
            <a:off x="548640" y="4999101"/>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00422"/>
            <a:ext cx="10710367" cy="127177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Reading</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Patterson, Hennessy: Computer Organization and Design, RISC-V Edition, appendix A</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Bucci: Architettura dei calcolatori elettronici, chapters on combinational networks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Charles Petzold: Code, chapters on logic gates and binary adding machines</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Elements of Boolean Algebra</dc:title>
  <dc:subject>Lecture 09</dc:subject>
  <dc:creator>Raffaele Montella</dc:creator>
  <cp:lastModifiedBy>Raffaele Montella</cp:lastModifiedBy>
  <cp:revision>1</cp:revision>
  <dcterms:created xsi:type="dcterms:W3CDTF">2026-10-16T23:36:43Z</dcterms:created>
  <dcterms:modified xsi:type="dcterms:W3CDTF">2026-10-16T23:36:43Z</dcterms:modified>
</cp:coreProperties>
</file>