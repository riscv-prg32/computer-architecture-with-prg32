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7bc709-5ce0-5d2c-1ca2-19745d2c6dc8}">
          <p14:sldIdLst>
            <p14:sldId id="256"/>
            <p14:sldId id="257"/>
          </p14:sldIdLst>
        </p14:section>
        <p14:section name="Boolean functions" id="{f7c60062-e2c4-c936-f11d-73bbc6e07350}">
          <p14:sldIdLst>
            <p14:sldId id="258"/>
            <p14:sldId id="259"/>
            <p14:sldId id="260"/>
            <p14:sldId id="261"/>
            <p14:sldId id="262"/>
            <p14:sldId id="263"/>
          </p14:sldIdLst>
        </p14:section>
        <p14:section name="Canonical forms" id="{cdfdba98-264d-5f04-6b21-dc387de1a467}">
          <p14:sldIdLst>
            <p14:sldId id="264"/>
            <p14:sldId id="265"/>
            <p14:sldId id="266"/>
          </p14:sldIdLst>
        </p14:section>
        <p14:section name="Karnaugh maps" id="{77d5b69d-a096-65ee-5780-16e18cf4a440}">
          <p14:sldIdLst>
            <p14:sldId id="267"/>
            <p14:sldId id="268"/>
            <p14:sldId id="269"/>
            <p14:sldId id="270"/>
          </p14:sldIdLst>
        </p14:section>
        <p14:section name="Back to the machine" id="{f1351356-f94a-6ebe-e2b5-c081e36ad315}">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gave you operators and properties. This one answers the practical question that follows: given what a circuit must do, how do you find the gates? The answer is a method in three steps, truth table, canonical form and minimisation, and you will apply it to the most important circuit of the course, the adder. The lecture opens with two instructions that add two bits, and it closes with the thirty-two adders that execute every add you have typed.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
For the lecturer: Spiral: the lecture opens with two instructions that add two bits, shows that they are a half adder, then develops the method (truth table, canonical form, minimisation) that produces such circuits, and closes on the 32-bit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Know the vocabulary: literal, clause, factor, minterm, maxterm. Say how many Boolean functions of n variables exist. Write a function in its two canonical forms starting from the truth table. Minimise a function of up to four variables with a Karnaugh map: this is the skill that the midterm and the laboratory exercise most. And derive the half adder and the full adder, explaining how thirty-two of them carry out an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A literal is a variable or its complement as it appears in an expression: a, b', x. A clause, or product term, is a logical product of literals: a b' x. A factor, or sum term, is a logical sum of literals: (a + x'). The number of literals is a measure of the cost of an expression, because each occurrence of a variable is an input of some gate. You will count literals to compare two forms of the same function.
UNDERSTAND NOW: Boolean functions.
For the lecturer: Letterale; clausola o termine elementare; fattore elementare. Each occurrence of a variable counts as a literal: the number of literals measures the cost of an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Boolean function assigns a 0 or a 1 to each combination of its n inputs. The combinations are 2 to the n, and for each of them there are two possible outputs: so the functions are 2 to the power 2 to the n. With one variable there are 4, with two 16, with three 256, with four 65,536. The number is finite but grows extremely fast. The last line is the reason for studying all this: every digital circuit can be written as an expression, and every expression can be built as a circuit.
UNDERSTAND NOW: Boolean functions.
For the lecturer: f: B^n -&gt; B with B = {0, 1}. For n = 5 there are already more than four billion functions: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sixteen functions of two variables. Each row is a function, and the four middle columns are its outputs for the inputs 00, 01, 10 and 11; the number of the function is that column of outputs read as a binary number. Among them you recognise, highlighted, the gates of Lecture 08: AND is f1, XOR is f6, OR is f7, NOR is f8, XNOR is f9, NAND is f14. The others are the two constants, the two inputs passed unchanged, their negations, and four less common functions.
UNDERSTAND NOW: Boolean functions.
For the lecturer: f0 and f15: constants. f3, f5: identity (buffer). f12, f10: NOT. f1 AND, f7 OR, f6 XOR, f9 equivalence, f14 NAND, f8 NOR. f13 is the implication x -&gt; y, f11 is y -&gt; x; f2 and f4 are the inhibitions.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operators is functionally complete if every Boolean function can be built with it. AND, OR and NOT are complete. By De Morgan's laws one of AND and OR can be obtained from the other with NOT, so two operators are enough. The surprising fact is the last one: NAND alone is complete, and so is NOR alone. A single type of gate is enough to build any digital circuit, a whole processor included; this is why NAND and NOR are called universal gates.
UNDERSTAND NOW: Boolean functions.
For the lecturer: NOT x = x NAND x; x AND y = (x NAND y) NAND (x NAND y); x OR y = (x NAND x) NAND (y NAND y). Real chips are largely built from NAND and NOR because they need the fewest transistors.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half adder adds two bits A and B and produces a sum bit S and a carry C. From the table, S is 1 when the inputs are different, which is the XOR, and C is 1 when both are 1, which is the AND. The circuit on the right is exactly the two instructions of the warm-up. It is called "half" because it has no input for a carry coming from a previous position, so by itself it can only add the least significant bits of two numbers.
UNDERSTAND NOW: the adder.
For the lecturer: The circuit is exactly the two instructions of the warm-up. 'Half' because it has no carry input: it can only add the least significant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has three inputs: the two bits A and B and a carry in. It produces a sum bit and a carry out. Read the table: S is 1 when an odd number of inputs is 1; the carry out is 1 when at least two inputs are 1. The circuit is made of two half adders and an OR: the first adds A and B, the second adds the carry in to their sum, and the OR combines the two possible carries. In the drawing, wires that cross without a dot are not connected.
UNDERSTAND NOW: the adder.
For the lecturer: Two half adders and an OR. S is 1 when an odd number of inputs is 1; Cout is 1 when at least two inputs are 1. Wires that cross without a dot are not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minterm is a product that contains every variable once, complemented or not. Its special property is that it is 1 for exactly one row of the truth table: a'b'c is 1 only when a is 0, b is 0 and c is 1. A maxterm is a sum that contains every variable once, and it is 0 for exactly one row. To write the minterm of a row, complement the variables that are 0 in that row; for the maxterm, complement those that are 1.
UNDERSTAND NOW: canonical forms.
For the lecturer: Mintermine (termine prodotto P); maxtermine (fattore somma S). Minterm i corresponds to row i: a variable appears complemented where the row has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recipe applied to F. For each row where F is 1, write its minterm; the OR of these minterms is the canonical form P: F is the sum of minterms 3, 4, 5, 6 and 7. For each row where F is 0, write its maxterm; the AND of these maxterms is the canonical form S: the product of maxterms 0, 1 and 2. Both expressions are correct and unique. Neither is economical: the first has five clauses and fifteen literals.
UNDERSTAND NOW: canonical forms.
For the lecturer: Every function has exactly one canonical form of each type (up to the order of the terms). This is synthesis by recipe: always possible, rarely economical.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form of F reduced step by step with the laws of Lecture 08. Collect A from four clauses; collect again inside the parenthesis; apply the complement law twice; finally apply the simplification x + x'y = x + y. Fifteen literals become three: F = A + BC. It works, but notice what the caption says: at each step you had to see which law to apply. For a larger function that is not practical. A method is needed that does not depend on inspiration.
UNDERSTAND NOW: canonical forms.
For the lecturer: From five AND gates with three inputs and a five-input OR, to one AND and one OR. The source deck called this an 'empirical' minimisation: it works, but which law to apply next is left to intuition. Karnaugh maps make it mechanical.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Karnaugh map is the truth table redrawn as a grid, with one cell for each row. The essential point is the order of the cells: two neighbouring cells differ in the value of one variable only, which is why the columns are labelled 00, 01, 11, 10 and not in counting order. Because of this, two adjacent 1s can be merged into a single clause with one literal less. The rule: group the 1s in rectangles of 1, 2, 4 or 8 cells, as large as possible, until every 1 is covered. The left and right edges are adjacent too.
UNDERSTAND NOW: minimisation, Karnaugh maps.
For the lecturer: The order 00, 01, 11, 10 is a Gray code. Maurice Karnaugh, 1953. An online tool was suggested in the source deck (edutecnica.it/apps/k/k.htm).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F of the lecture on a map of three variables. Write 1 in the cells of minterms 3, 4, 5, 6 and 7. The red group takes the whole row A = 1, four cells: two variables change, B and C, and the clause is A. The violet group takes the column BC = 11: A changes, and the clause is BC. Every 1 is covered and no group can be enlarged: F = A + BC. It is the result of the algebraic minimisation, found by eye in a few seconds.
UNDERSTAND NOW: minimisation, Karnaugh maps.
For the lecturer: A group of 2^k cells eliminates k variables. Always take the largest groups first, then cover what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four variables the map has sixteen cells, and both pairs of labels follow the order 00, 01, 11, 10. The red group of four in the centre gives BD. The four corners form one group as well, because the map wraps around in both directions: imagine it drawn on the surface of a doughnut. In the corners B and D are both 0, so the clause is B'D'. The result has four literals instead of thirty-two. Always look at the edges and the corners before concluding that a 1 is isolated.
UNDERSTAND NOW: minimisation, Karnaugh maps.
For the lecturer: New slide. Think of the map as drawn on a torus: the top edge touches the bottom edge and the left edge touches the right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a combination of inputs can never occur, or the output does not matter when it does. A decimal digit coded on four bits uses only ten of the sixteen patterns: the other six never appear. Their cells are marked with an x, a don't care, and each x may be read as 1 or as 0, whichever is more convenient. Use an x as 1 when it lets you make a group larger; ignore it otherwise. More freedom means larger groups and a cheaper circuit.
UNDERSTAND NOW: minimisation, Karnaugh maps.
For the lecturer: New slide. Typical exam exercise: the seven-segment display decoder, where each segment is a function of four variables with six don't-cares.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thirty-two full adders in a row, one per bit position. Each receives one bit of A, one bit of B and the carry from the position on its right, and passes its own carry to the left: a ripple-carry adder. This is what executes add t2, t0, t1. The first carry in is 0. For a subtraction the same adder is used: the second operand is complemented and the first carry in is 1, which is the two's complement of Lecture 05. The carry out of the last position is simply dropped.
UNDERSTAND NOW: the adder.
For the lecturer: The carry out of bit 31 is the unsigned overflow of Lecture 05, which RISC-V simply drops. Real processors use faster carry schemes (carry look-ahead), but the function computed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for the number of functions with n equal to 3. Do the exponent first: 2 to the 3 is 8, the number of rows of the truth table; then 2 to the 8.
Write 5 in binary on three bits: 101. In a minterm a variable appears plain where the row has a 1 and complemented where it has a 0. Discard at once the option with plus signs: that is a sum, so it cannot be a minterm.
For the lecturer: 1. Answer: D. 2^(2^3) = 2^8 = 256.
2. Answer: B. Row 5 is 101: A = 1, B = 0, C = 1, so the minterm is A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group of 2 to the k cells eliminates k variables. Four is 2 squared. Check it on the map of three variables: the row of four 1s lost both B and C.
Look at the table of the full adder. The carry out is 1 in the rows with two or three 1s among the inputs: it is the majority function. "An odd number of 1s" describes the other output, the sum bit.
For the lecturer: 1. Answer: B. A group of 2^k cells eliminates k variables: four cells, two variables.
2. Answer: C. Cout is the majority function: AB + Cin(A xor B) = AB + ACin + BCin. An odd number of 1s describes the sum bit 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canonical forms are named with the letters P, for prodotti, and S, for somme; English texts say SOP and POS. The half adder is the semisommatore and the full adder the sommatore completo. A don't care is a condizione di indifferenza. The ripple-carry adder is the adder in which the carry propagates from one position to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Boolean function is a truth table, and a truth table always yields a canonical expression. Minimisation optimises the network to make it cheaper. Karnaugh maps turn the algebra into a picture: group the 1s and read the clauses. The half adder and the full adder are the first real circuits of the course. And thirty-two full adders in a row execute the add you typed in the first lecture. Next: what the gates themselves are made of.
Learning status, recap. UNDERSTAND NOW: the adder; Boolean functions; canonical forms; minimisation, Karnaugh maps. USE NOW: the complete program, the PRG32 tools (used, not studied, in this course). UNDERSTAND LATER: nothing. A slide without a badge is context: a story, an example, a question, an exercise.
For the lecturer: Next lecture: electronics, to see what these gates are made of; then combinational and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2: Boolean functions, canonical forms, minimisation and the adder</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literal, clause, factor, minterm and maxterm</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many Boolean functions of n variables exist, and name those of two variables</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function in canonical sum-of-products and product-of-sums form from its truth table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a function of up to four variables with a Karnaugh map</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Derive the half adder and the full adder, and explain how thirty-two of them execute add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expressions: the vocabulary</a:t>
            </a:r>
            <a:endParaRPr lang="en-US" sz="3200" dirty="0"/>
          </a:p>
        </p:txBody>
      </p:sp>
      <p:sp>
        <p:nvSpPr>
          <p:cNvPr id="3" name="Shape 1"/>
          <p:cNvSpPr/>
          <p:nvPr/>
        </p:nvSpPr>
        <p:spPr>
          <a:xfrm>
            <a:off x="548640" y="1572387"/>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50467"/>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Literal: a Boolean variable, or its complement, as it appears in an expression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b', x</a:t>
            </a:r>
            <a:endParaRPr lang="en-US" sz="24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13329"/>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 or product term: the logical product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b' . x</a:t>
            </a:r>
            <a:endParaRPr lang="en-US" sz="2400" dirty="0"/>
          </a:p>
        </p:txBody>
      </p:sp>
      <p:sp>
        <p:nvSpPr>
          <p:cNvPr id="7" name="Shape 5"/>
          <p:cNvSpPr/>
          <p:nvPr/>
        </p:nvSpPr>
        <p:spPr>
          <a:xfrm>
            <a:off x="548640" y="43262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04335"/>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Factor, or sum term: the logical sum of two or more literals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 x'), (b + c)</a:t>
            </a:r>
            <a:endParaRPr lang="en-US" sz="2400" dirty="0"/>
          </a:p>
        </p:txBody>
      </p:sp>
      <p:sp>
        <p:nvSpPr>
          <p:cNvPr id="9" name="Shape 7"/>
          <p:cNvSpPr/>
          <p:nvPr/>
        </p:nvSpPr>
        <p:spPr>
          <a:xfrm>
            <a:off x="548640" y="55172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395341"/>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Clauses and factors with more than one literal are functions of level 1: one layer of gates</a:t>
            </a:r>
            <a:endParaRPr lang="en-US" sz="2400" dirty="0"/>
          </a:p>
        </p:txBody>
      </p:sp>
      <p:sp>
        <p:nvSpPr>
          <p:cNvPr id="11" name="Shape 9"/>
          <p:cNvSpPr/>
          <p:nvPr/>
        </p:nvSpPr>
        <p:spPr>
          <a:xfrm>
            <a:off x="8550351" y="91440"/>
            <a:ext cx="3092704" cy="274320"/>
          </a:xfrm>
          <a:prstGeom prst="rect">
            <a:avLst/>
          </a:prstGeom>
          <a:solidFill>
            <a:srgbClr val="E0F2FE"/>
          </a:solidFill>
          <a:ln w="12700">
            <a:solidFill>
              <a:srgbClr val="0369A1"/>
            </a:solidFill>
            <a:prstDash val="solid"/>
          </a:ln>
        </p:spPr>
      </p:sp>
      <p:sp>
        <p:nvSpPr>
          <p:cNvPr id="12" name="Shape 10"/>
          <p:cNvSpPr/>
          <p:nvPr/>
        </p:nvSpPr>
        <p:spPr>
          <a:xfrm>
            <a:off x="8550351"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4" name="Text 11"/>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many functions of n variables?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Boolean function maps every combination of n binary inputs to one binary output</a:t>
            </a:r>
            <a:endParaRPr lang="en-US" sz="2300" dirty="0"/>
          </a:p>
        </p:txBody>
      </p:sp>
      <p:sp>
        <p:nvSpPr>
          <p:cNvPr id="5" name="Shape 3"/>
          <p:cNvSpPr/>
          <p:nvPr/>
        </p:nvSpPr>
        <p:spPr>
          <a:xfrm>
            <a:off x="548640" y="242252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352"/>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There are 2^n input combinations, and each can be mapped to 0 or to 1</a:t>
            </a:r>
            <a:endParaRPr lang="en-US" sz="2300" dirty="0"/>
          </a:p>
        </p:txBody>
      </p:sp>
      <p:sp>
        <p:nvSpPr>
          <p:cNvPr id="7" name="Shape 5"/>
          <p:cNvSpPr/>
          <p:nvPr/>
        </p:nvSpPr>
        <p:spPr>
          <a:xfrm>
            <a:off x="548640" y="33135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99384"/>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So the distinct functions of n variables are 2^(2^n): a finite number</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1 variable: 4 functions; 2 variables: 16; 3 variables: 256; 4 variables: 65,536</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Boolean functions are isomorphic to digital circuits: every circuit can be written as an expression, and every expression can be built as a circuit</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2^(2^n)</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number of distinct Boolean functions of n variables</a:t>
            </a:r>
            <a:endParaRPr lang="en-US" sz="1900" dirty="0"/>
          </a:p>
        </p:txBody>
      </p:sp>
      <p:sp>
        <p:nvSpPr>
          <p:cNvPr id="14" name="Shape 12"/>
          <p:cNvSpPr/>
          <p:nvPr/>
        </p:nvSpPr>
        <p:spPr>
          <a:xfrm>
            <a:off x="8550351" y="91440"/>
            <a:ext cx="3092704" cy="274320"/>
          </a:xfrm>
          <a:prstGeom prst="rect">
            <a:avLst/>
          </a:prstGeom>
          <a:solidFill>
            <a:srgbClr val="E0F2FE"/>
          </a:solidFill>
          <a:ln w="12700">
            <a:solidFill>
              <a:srgbClr val="0369A1"/>
            </a:solidFill>
            <a:prstDash val="solid"/>
          </a:ln>
        </p:spPr>
      </p:sp>
      <p:sp>
        <p:nvSpPr>
          <p:cNvPr id="15" name="Shape 13"/>
          <p:cNvSpPr/>
          <p:nvPr/>
        </p:nvSpPr>
        <p:spPr>
          <a:xfrm>
            <a:off x="855035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7" name="Text 14"/>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sixteen functions of two variables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AND: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y (identity)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f6</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f7</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OR: 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93815" y="1737360"/>
          <a:ext cx="5349240" cy="914400"/>
        </p:xfrm>
        <a:graphic>
          <a:graphicData uri="http://schemas.openxmlformats.org/drawingml/2006/table">
            <a:tbl>
              <a:tblPr/>
              <a:tblGrid>
                <a:gridCol w="685800"/>
                <a:gridCol w="457200"/>
                <a:gridCol w="457200"/>
                <a:gridCol w="457200"/>
                <a:gridCol w="457200"/>
                <a:gridCol w="283464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01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name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f8</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f9</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XNOR (equivalence)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f12</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NOT 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f13</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x' + 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f14</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NAND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f15</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constant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1371600"/>
            <a:ext cx="11094415" cy="32004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Columns 00, 01, 10, 11 give the output for each pair of inputs x y</a:t>
            </a:r>
            <a:endParaRPr lang="en-US" sz="1400" dirty="0"/>
          </a:p>
        </p:txBody>
      </p:sp>
      <p:sp>
        <p:nvSpPr>
          <p:cNvPr id="6" name="Text 2"/>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The index of each function is its output column read as a binary number. Highlighted: the gates of Lecture 08. With one variable the four functions are: constant 0, x, NOT x, constant 1.</a:t>
            </a:r>
            <a:endParaRPr lang="en-US" sz="1550" dirty="0"/>
          </a:p>
        </p:txBody>
      </p:sp>
      <p:sp>
        <p:nvSpPr>
          <p:cNvPr id="7" name="Shape 3"/>
          <p:cNvSpPr/>
          <p:nvPr/>
        </p:nvSpPr>
        <p:spPr>
          <a:xfrm>
            <a:off x="8550351" y="91440"/>
            <a:ext cx="3092704" cy="274320"/>
          </a:xfrm>
          <a:prstGeom prst="rect">
            <a:avLst/>
          </a:prstGeom>
          <a:solidFill>
            <a:srgbClr val="E0F2FE"/>
          </a:solidFill>
          <a:ln w="12700">
            <a:solidFill>
              <a:srgbClr val="0369A1"/>
            </a:solidFill>
            <a:prstDash val="solid"/>
          </a:ln>
        </p:spPr>
      </p:sp>
      <p:sp>
        <p:nvSpPr>
          <p:cNvPr id="8" name="Shape 4"/>
          <p:cNvSpPr/>
          <p:nvPr/>
        </p:nvSpPr>
        <p:spPr>
          <a:xfrm>
            <a:off x="8550351"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0" name="Text 5"/>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Functionally complete sets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Any Boolean function can be realised using only AND, OR and NOT</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x XOR y = (x' AND y) OR (x AND y')</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set {AND, OR, NOT} is called functionally complete</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By De Morgan, AND can be built from OR and NOT, and OR from AND and NOT: {AND, NOT} and {OR, NOT} are complete too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NAND alone is complete, and so is NOR alone: they are the universal gates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NAND</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single type of gate is enough to build any digital circuit, a whole processor included</a:t>
            </a:r>
            <a:endParaRPr lang="en-US" sz="1900" dirty="0"/>
          </a:p>
        </p:txBody>
      </p:sp>
      <p:sp>
        <p:nvSpPr>
          <p:cNvPr id="16" name="Shape 14"/>
          <p:cNvSpPr/>
          <p:nvPr/>
        </p:nvSpPr>
        <p:spPr>
          <a:xfrm>
            <a:off x="8550351" y="91440"/>
            <a:ext cx="3092704" cy="274320"/>
          </a:xfrm>
          <a:prstGeom prst="rect">
            <a:avLst/>
          </a:prstGeom>
          <a:solidFill>
            <a:srgbClr val="E0F2FE"/>
          </a:solidFill>
          <a:ln w="12700">
            <a:solidFill>
              <a:srgbClr val="0369A1"/>
            </a:solidFill>
            <a:prstDash val="solid"/>
          </a:ln>
        </p:spPr>
      </p:sp>
      <p:sp>
        <p:nvSpPr>
          <p:cNvPr id="17" name="Shape 15"/>
          <p:cNvSpPr/>
          <p:nvPr/>
        </p:nvSpPr>
        <p:spPr>
          <a:xfrm>
            <a:off x="855035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19" name="Text 16"/>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functions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half adder</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Adds two bits A and B and produces a sum bit S and a carry C</a:t>
            </a:r>
            <a:endParaRPr lang="en-US" sz="2000" dirty="0"/>
          </a:p>
        </p:txBody>
      </p:sp>
      <p:sp>
        <p:nvSpPr>
          <p:cNvPr id="5" name="Shape 3"/>
          <p:cNvSpPr/>
          <p:nvPr/>
        </p:nvSpPr>
        <p:spPr>
          <a:xfrm>
            <a:off x="548640" y="24048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3940"/>
            <a:ext cx="510235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binary 1 + 1 gives sum 0 and carry 1</a:t>
            </a:r>
            <a:endParaRPr lang="en-US" sz="2000" dirty="0"/>
          </a:p>
        </p:txBody>
      </p:sp>
      <p:sp>
        <p:nvSpPr>
          <p:cNvPr id="7" name="Shape 5"/>
          <p:cNvSpPr/>
          <p:nvPr/>
        </p:nvSpPr>
        <p:spPr>
          <a:xfrm>
            <a:off x="548640" y="29916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00680"/>
            <a:ext cx="51023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From the table: S is 1 when the inputs differ, C is 1 when both are 1</a:t>
            </a:r>
            <a:endParaRPr lang="en-US" sz="2000" dirty="0"/>
          </a:p>
        </p:txBody>
      </p:sp>
      <p:sp>
        <p:nvSpPr>
          <p:cNvPr id="9" name="Text 7"/>
          <p:cNvSpPr txBox="1"/>
          <p:nvPr/>
        </p:nvSpPr>
        <p:spPr>
          <a:xfrm>
            <a:off x="548640" y="3703320"/>
            <a:ext cx="5486400" cy="457200"/>
          </a:xfrm>
          <a:prstGeom prst="rect">
            <a:avLst/>
          </a:prstGeom>
          <a:noFill/>
          <a:ln/>
        </p:spPr>
        <p:txBody>
          <a:bodyPr wrap="square" lIns="0" tIns="0" rIns="0" bIns="0" rtlCol="0" anchor="ctr"/>
          <a:lstStyle/>
          <a:p>
            <a:pPr indent="0" marL="0">
              <a:buNone/>
            </a:pPr>
            <a:r>
              <a:rPr lang="en-US" sz="2100" b="1" dirty="0">
                <a:solidFill>
                  <a:srgbClr val="2E4A62"/>
                </a:solidFill>
                <a:latin typeface="Courier New" pitchFamily="34" charset="0"/>
                <a:ea typeface="Courier New" pitchFamily="34" charset="-122"/>
                <a:cs typeface="Courier New" pitchFamily="34" charset="-120"/>
              </a:rPr>
              <a:t>S = A xor B        C = A . B</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371600" y="4343400"/>
          <a:ext cx="3657600" cy="914400"/>
        </p:xfrm>
        <a:graphic>
          <a:graphicData uri="http://schemas.openxmlformats.org/drawingml/2006/table">
            <a:tbl>
              <a:tblPr/>
              <a:tblGrid>
                <a:gridCol w="822960"/>
                <a:gridCol w="822960"/>
                <a:gridCol w="1005840"/>
                <a:gridCol w="1005840"/>
              </a:tblGrid>
              <a:tr h="36576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8"/>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9075623" y="91440"/>
            <a:ext cx="2567432" cy="274320"/>
          </a:xfrm>
          <a:prstGeom prst="rect">
            <a:avLst/>
          </a:prstGeom>
          <a:solidFill>
            <a:srgbClr val="E0F2FE"/>
          </a:solidFill>
          <a:ln w="12700">
            <a:solidFill>
              <a:srgbClr val="0369A1"/>
            </a:solidFill>
            <a:prstDash val="solid"/>
          </a:ln>
        </p:spPr>
      </p:sp>
      <p:sp>
        <p:nvSpPr>
          <p:cNvPr id="13" name="Shape 10"/>
          <p:cNvSpPr/>
          <p:nvPr/>
        </p:nvSpPr>
        <p:spPr>
          <a:xfrm>
            <a:off x="907562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5" name="Text 11"/>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7" name="Image 1" descr="preencoded.png">    </p:cNvPr>
          <p:cNvPicPr>
            <a:picLocks noChangeAspect="1"/>
          </p:cNvPicPr>
          <p:nvPr/>
        </p:nvPicPr>
        <p:blipFill>
          <a:blip r:embed="rId2"/>
          <a:stretch>
            <a:fillRect/>
          </a:stretch>
        </p:blipFill>
        <p:spPr>
          <a:xfrm>
            <a:off x="6675120" y="2456879"/>
            <a:ext cx="4785055" cy="2675762"/>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full adder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3611880" cy="914400"/>
        </p:xfrm>
        <a:graphic>
          <a:graphicData uri="http://schemas.openxmlformats.org/drawingml/2006/table">
            <a:tbl>
              <a:tblPr/>
              <a:tblGrid>
                <a:gridCol w="640080"/>
                <a:gridCol w="640080"/>
                <a:gridCol w="731520"/>
                <a:gridCol w="731520"/>
                <a:gridCol w="86868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Cout</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74904">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983480"/>
            <a:ext cx="402336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S = A xor B xor Cin</a:t>
            </a:r>
            <a:endParaRPr lang="en-US" sz="1700" dirty="0"/>
          </a:p>
        </p:txBody>
      </p:sp>
      <p:sp>
        <p:nvSpPr>
          <p:cNvPr id="5" name="Text 2"/>
          <p:cNvSpPr txBox="1"/>
          <p:nvPr/>
        </p:nvSpPr>
        <p:spPr>
          <a:xfrm>
            <a:off x="548640" y="5394960"/>
            <a:ext cx="4206240" cy="365760"/>
          </a:xfrm>
          <a:prstGeom prst="rect">
            <a:avLst/>
          </a:prstGeom>
          <a:noFill/>
          <a:ln/>
        </p:spPr>
        <p:txBody>
          <a:bodyPr wrap="square" lIns="0" tIns="0" rIns="0" bIns="0" rtlCol="0" anchor="t"/>
          <a:lstStyle/>
          <a:p>
            <a:pPr indent="0" marL="0">
              <a:buNone/>
            </a:pPr>
            <a:r>
              <a:rPr lang="en-US" sz="1700" b="1" dirty="0">
                <a:solidFill>
                  <a:srgbClr val="2E4A62"/>
                </a:solidFill>
                <a:latin typeface="Courier New" pitchFamily="34" charset="0"/>
                <a:ea typeface="Courier New" pitchFamily="34" charset="-122"/>
                <a:cs typeface="Courier New" pitchFamily="34" charset="-120"/>
              </a:rPr>
              <a:t>Cout = A . B + Cin . (A xor B)</a:t>
            </a:r>
            <a:endParaRPr lang="en-US" sz="1700" dirty="0"/>
          </a:p>
        </p:txBody>
      </p:sp>
      <p:sp>
        <p:nvSpPr>
          <p:cNvPr id="6" name="Text 3"/>
          <p:cNvSpPr txBox="1"/>
          <p:nvPr/>
        </p:nvSpPr>
        <p:spPr>
          <a:xfrm>
            <a:off x="548640" y="5806440"/>
            <a:ext cx="4206240" cy="36576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Adds two bits and a carry in; produces a sum bit and a carry out.</a:t>
            </a:r>
            <a:endParaRPr lang="en-US" sz="1350" dirty="0"/>
          </a:p>
        </p:txBody>
      </p:sp>
      <p:sp>
        <p:nvSpPr>
          <p:cNvPr id="7" name="Shape 4"/>
          <p:cNvSpPr/>
          <p:nvPr/>
        </p:nvSpPr>
        <p:spPr>
          <a:xfrm>
            <a:off x="4937760" y="1417320"/>
            <a:ext cx="6705295" cy="4754880"/>
          </a:xfrm>
          <a:prstGeom prst="roundRect">
            <a:avLst>
              <a:gd name="adj" fmla="val 1538"/>
            </a:avLst>
          </a:prstGeom>
          <a:solidFill>
            <a:srgbClr val="EEF2F4"/>
          </a:solidFill>
          <a:ln w="12700">
            <a:solidFill>
              <a:srgbClr val="EEF2F4"/>
            </a:solidFill>
            <a:prstDash val="solid"/>
          </a:ln>
        </p:spPr>
      </p:sp>
      <p:sp>
        <p:nvSpPr>
          <p:cNvPr id="8" name="Shape 5"/>
          <p:cNvSpPr/>
          <p:nvPr/>
        </p:nvSpPr>
        <p:spPr>
          <a:xfrm>
            <a:off x="9075623" y="91440"/>
            <a:ext cx="2567432" cy="274320"/>
          </a:xfrm>
          <a:prstGeom prst="rect">
            <a:avLst/>
          </a:prstGeom>
          <a:solidFill>
            <a:srgbClr val="E0F2FE"/>
          </a:solidFill>
          <a:ln w="12700">
            <a:solidFill>
              <a:srgbClr val="0369A1"/>
            </a:solidFill>
            <a:prstDash val="solid"/>
          </a:ln>
        </p:spPr>
      </p:sp>
      <p:sp>
        <p:nvSpPr>
          <p:cNvPr id="9" name="Shape 6"/>
          <p:cNvSpPr/>
          <p:nvPr/>
        </p:nvSpPr>
        <p:spPr>
          <a:xfrm>
            <a:off x="9075623"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1" name="Text 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pic>
        <p:nvPicPr>
          <p:cNvPr id="13" name="Image 1" descr="preencoded.png">    </p:cNvPr>
          <p:cNvPicPr>
            <a:picLocks noChangeAspect="1"/>
          </p:cNvPicPr>
          <p:nvPr/>
        </p:nvPicPr>
        <p:blipFill>
          <a:blip r:embed="rId2"/>
          <a:stretch>
            <a:fillRect/>
          </a:stretch>
        </p:blipFill>
        <p:spPr>
          <a:xfrm>
            <a:off x="5074920" y="2338256"/>
            <a:ext cx="6430975" cy="2913008"/>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Minterms and maxterms</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Minterm: a clause of order n, that is, a product containing a literal of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b;  n = 3: a' b' c;  n = 6: a b c' d e' f</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minterm is 1 for exactly one row of the truth table</a:t>
            </a:r>
            <a:endParaRPr lang="en-US" sz="2400" dirty="0"/>
          </a:p>
        </p:txBody>
      </p:sp>
      <p:sp>
        <p:nvSpPr>
          <p:cNvPr id="7" name="Shape 5"/>
          <p:cNvSpPr/>
          <p:nvPr/>
        </p:nvSpPr>
        <p:spPr>
          <a:xfrm>
            <a:off x="548640" y="41140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92118"/>
            <a:ext cx="10710367"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Maxterm: a sum of n literals, one for every variable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 2: (a' + b');  n = 3: (a + b + c');  n = 6: (a' + b' + c + d' + e' + f')</a:t>
            </a:r>
            <a:endParaRPr lang="en-US" sz="2400" dirty="0"/>
          </a:p>
        </p:txBody>
      </p:sp>
      <p:sp>
        <p:nvSpPr>
          <p:cNvPr id="9" name="Shape 7"/>
          <p:cNvSpPr/>
          <p:nvPr/>
        </p:nvSpPr>
        <p:spPr>
          <a:xfrm>
            <a:off x="548640" y="53050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831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maxterm is 0 for exactly one row of the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truth table to the canonical forms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548640"/>
                <a:gridCol w="548640"/>
                <a:gridCol w="548640"/>
                <a:gridCol w="640080"/>
                <a:gridCol w="2377440"/>
                <a:gridCol w="265176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minterm (F =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maxterm (F = 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M0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M1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M2 = A + B' +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m3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m4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m5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m6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m7 = A B C</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4" name="Shape 1"/>
          <p:cNvSpPr/>
          <p:nvPr/>
        </p:nvSpPr>
        <p:spPr>
          <a:xfrm>
            <a:off x="8229600" y="1417320"/>
            <a:ext cx="3413455" cy="2240280"/>
          </a:xfrm>
          <a:prstGeom prst="roundRect">
            <a:avLst>
              <a:gd name="adj" fmla="val 3265"/>
            </a:avLst>
          </a:prstGeom>
          <a:solidFill>
            <a:srgbClr val="D8ECEE"/>
          </a:solidFill>
          <a:ln w="12700">
            <a:solidFill>
              <a:srgbClr val="D8ECEE"/>
            </a:solidFill>
            <a:prstDash val="solid"/>
          </a:ln>
        </p:spPr>
      </p:sp>
      <p:sp>
        <p:nvSpPr>
          <p:cNvPr id="5" name="Text 2"/>
          <p:cNvSpPr txBox="1"/>
          <p:nvPr/>
        </p:nvSpPr>
        <p:spPr>
          <a:xfrm>
            <a:off x="8412480" y="1508760"/>
            <a:ext cx="3047695" cy="685800"/>
          </a:xfrm>
          <a:prstGeom prst="rect">
            <a:avLst/>
          </a:prstGeom>
          <a:noFill/>
          <a:ln/>
        </p:spPr>
        <p:txBody>
          <a:bodyPr wrap="square" lIns="0" tIns="0" rIns="0" bIns="0" rtlCol="0" anchor="t"/>
          <a:lstStyle/>
          <a:p>
            <a:pPr indent="0" marL="0">
              <a:buNone/>
            </a:pPr>
            <a:r>
              <a:rPr lang="en-US" sz="1450" b="1" dirty="0">
                <a:solidFill>
                  <a:srgbClr val="0E7C86"/>
                </a:solidFill>
                <a:latin typeface="Calibri" pitchFamily="34" charset="0"/>
                <a:ea typeface="Calibri" pitchFamily="34" charset="-122"/>
                <a:cs typeface="Calibri" pitchFamily="34" charset="-120"/>
              </a:rPr>
              <a:t>Canonical form P: sum of the minterms of the rows where F = 1</a:t>
            </a:r>
            <a:endParaRPr lang="en-US" sz="1450" dirty="0"/>
          </a:p>
        </p:txBody>
      </p:sp>
      <p:sp>
        <p:nvSpPr>
          <p:cNvPr id="6" name="Text 3"/>
          <p:cNvSpPr txBox="1"/>
          <p:nvPr/>
        </p:nvSpPr>
        <p:spPr>
          <a:xfrm>
            <a:off x="8412480" y="224028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 AB'C' + AB'C + ABC' + ABC</a:t>
            </a:r>
            <a:endParaRPr lang="en-US" sz="1500" dirty="0"/>
          </a:p>
        </p:txBody>
      </p:sp>
      <p:sp>
        <p:nvSpPr>
          <p:cNvPr id="7" name="Text 4"/>
          <p:cNvSpPr txBox="1"/>
          <p:nvPr/>
        </p:nvSpPr>
        <p:spPr>
          <a:xfrm>
            <a:off x="8412480" y="310896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sum of m(3, 4, 5, 6, 7)</a:t>
            </a:r>
            <a:endParaRPr lang="en-US" sz="1400" dirty="0"/>
          </a:p>
        </p:txBody>
      </p:sp>
      <p:sp>
        <p:nvSpPr>
          <p:cNvPr id="8" name="Shape 5"/>
          <p:cNvSpPr/>
          <p:nvPr/>
        </p:nvSpPr>
        <p:spPr>
          <a:xfrm>
            <a:off x="8229600" y="3840480"/>
            <a:ext cx="3413455" cy="2331720"/>
          </a:xfrm>
          <a:prstGeom prst="roundRect">
            <a:avLst>
              <a:gd name="adj" fmla="val 3137"/>
            </a:avLst>
          </a:prstGeom>
          <a:solidFill>
            <a:srgbClr val="F6E7D2"/>
          </a:solidFill>
          <a:ln w="12700">
            <a:solidFill>
              <a:srgbClr val="F6E7D2"/>
            </a:solidFill>
            <a:prstDash val="solid"/>
          </a:ln>
        </p:spPr>
      </p:sp>
      <p:sp>
        <p:nvSpPr>
          <p:cNvPr id="9" name="Text 6"/>
          <p:cNvSpPr txBox="1"/>
          <p:nvPr/>
        </p:nvSpPr>
        <p:spPr>
          <a:xfrm>
            <a:off x="8412480" y="3931920"/>
            <a:ext cx="3047695" cy="685800"/>
          </a:xfrm>
          <a:prstGeom prst="rect">
            <a:avLst/>
          </a:prstGeom>
          <a:noFill/>
          <a:ln/>
        </p:spPr>
        <p:txBody>
          <a:bodyPr wrap="square" lIns="0" tIns="0" rIns="0" bIns="0" rtlCol="0" anchor="t"/>
          <a:lstStyle/>
          <a:p>
            <a:pPr indent="0" marL="0">
              <a:buNone/>
            </a:pPr>
            <a:r>
              <a:rPr lang="en-US" sz="1450" b="1" dirty="0">
                <a:solidFill>
                  <a:srgbClr val="C7791B"/>
                </a:solidFill>
                <a:latin typeface="Calibri" pitchFamily="34" charset="0"/>
                <a:ea typeface="Calibri" pitchFamily="34" charset="-122"/>
                <a:cs typeface="Calibri" pitchFamily="34" charset="-120"/>
              </a:rPr>
              <a:t>Canonical form S: product of the maxterms of the rows where F = 0</a:t>
            </a:r>
            <a:endParaRPr lang="en-US" sz="1450" dirty="0"/>
          </a:p>
        </p:txBody>
      </p:sp>
      <p:sp>
        <p:nvSpPr>
          <p:cNvPr id="10" name="Text 7"/>
          <p:cNvSpPr txBox="1"/>
          <p:nvPr/>
        </p:nvSpPr>
        <p:spPr>
          <a:xfrm>
            <a:off x="8412480" y="4663440"/>
            <a:ext cx="3047695" cy="822960"/>
          </a:xfrm>
          <a:prstGeom prst="rect">
            <a:avLst/>
          </a:prstGeom>
          <a:noFill/>
          <a:ln/>
        </p:spPr>
        <p:txBody>
          <a:bodyPr wrap="square" lIns="0" tIns="0" rIns="0" bIns="0" rtlCol="0" anchor="ctr"/>
          <a:lstStyle/>
          <a:p>
            <a:pPr indent="0" marL="0">
              <a:buNone/>
            </a:pPr>
            <a:r>
              <a:rPr lang="en-US" sz="1500" b="1" dirty="0">
                <a:solidFill>
                  <a:srgbClr val="1B2530"/>
                </a:solidFill>
                <a:latin typeface="Courier New" pitchFamily="34" charset="0"/>
                <a:ea typeface="Courier New" pitchFamily="34" charset="-122"/>
                <a:cs typeface="Courier New" pitchFamily="34" charset="-120"/>
              </a:rPr>
              <a:t>F = (A+B+C) (A+B+C') (A+B'+C)</a:t>
            </a:r>
            <a:endParaRPr lang="en-US" sz="1500" dirty="0"/>
          </a:p>
        </p:txBody>
      </p:sp>
      <p:sp>
        <p:nvSpPr>
          <p:cNvPr id="11" name="Text 8"/>
          <p:cNvSpPr txBox="1"/>
          <p:nvPr/>
        </p:nvSpPr>
        <p:spPr>
          <a:xfrm>
            <a:off x="8412480" y="5577840"/>
            <a:ext cx="3047695" cy="411480"/>
          </a:xfrm>
          <a:prstGeom prst="rect">
            <a:avLst/>
          </a:prstGeom>
          <a:noFill/>
          <a:ln/>
        </p:spPr>
        <p:txBody>
          <a:bodyPr wrap="square" lIns="0" tIns="0" rIns="0" bIns="0" rtlCol="0" anchor="t"/>
          <a:lstStyle/>
          <a:p>
            <a:pPr indent="0" marL="0">
              <a:buNone/>
            </a:pPr>
            <a:r>
              <a:rPr lang="en-US" sz="1400" dirty="0">
                <a:solidFill>
                  <a:srgbClr val="5B6B78"/>
                </a:solidFill>
                <a:latin typeface="Courier New" pitchFamily="34" charset="0"/>
                <a:ea typeface="Courier New" pitchFamily="34" charset="-122"/>
                <a:cs typeface="Courier New" pitchFamily="34" charset="-120"/>
              </a:rPr>
              <a:t>F = product of M(0, 1, 2)</a:t>
            </a:r>
            <a:endParaRPr lang="en-US" sz="1400" dirty="0"/>
          </a:p>
        </p:txBody>
      </p:sp>
      <p:sp>
        <p:nvSpPr>
          <p:cNvPr id="12"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Algebraic minimisation of F</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001897"/>
                <a:gridCol w="509251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Expression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Law applied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A'BC + AB'C' + AB'C + ABC' + ABC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canonical form P: 5 clauses, 15 literals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(B'C' + B'C + BC'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collect 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(C' + C) + B (C' + 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distributive, twice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 (B' + 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C' + C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A'BC + 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complement: B' + B =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 A + BC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simplification: x + x' y = x + 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Fifteen literals become three. It works, but each step needs an idea: we want a method.</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canonical forms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Karnaugh maps: the idea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graphical tool for simplifying Boolean functions</a:t>
            </a:r>
            <a:endParaRPr lang="en-US" sz="1900" dirty="0"/>
          </a:p>
        </p:txBody>
      </p:sp>
      <p:sp>
        <p:nvSpPr>
          <p:cNvPr id="5" name="Shape 3"/>
          <p:cNvSpPr/>
          <p:nvPr/>
        </p:nvSpPr>
        <p:spPr>
          <a:xfrm>
            <a:off x="548640" y="23973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131"/>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function of n variables is drawn on a grid of 2^n cells: one cell per row of the truth table</a:t>
            </a:r>
            <a:endParaRPr lang="en-US" sz="19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10941"/>
            <a:ext cx="59253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Cells are ordered so that neighbours differ in one variable only</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hence the column order 00, 01, 11, 10</a:t>
            </a:r>
            <a:endParaRPr lang="en-US" sz="1900" dirty="0"/>
          </a:p>
        </p:txBody>
      </p:sp>
      <p:sp>
        <p:nvSpPr>
          <p:cNvPr id="9" name="Shape 7"/>
          <p:cNvSpPr/>
          <p:nvPr/>
        </p:nvSpPr>
        <p:spPr>
          <a:xfrm>
            <a:off x="548640" y="447541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2232"/>
            <a:ext cx="59253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Graphical adjacency is logical adjacency: two adjacent 1s merge into a clause with one literal less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9253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Group the 1s in rectangles of 1, 2, 4 or 8 cells, as large as possible, until every 1 is covered</a:t>
            </a:r>
            <a:endParaRPr lang="en-US" sz="1900" dirty="0"/>
          </a:p>
        </p:txBody>
      </p:sp>
      <p:sp>
        <p:nvSpPr>
          <p:cNvPr id="13" name="Shape 11"/>
          <p:cNvSpPr/>
          <p:nvPr/>
        </p:nvSpPr>
        <p:spPr>
          <a:xfrm>
            <a:off x="7223760" y="1417320"/>
            <a:ext cx="4419295" cy="4754880"/>
          </a:xfrm>
          <a:prstGeom prst="roundRect">
            <a:avLst>
              <a:gd name="adj" fmla="val 1655"/>
            </a:avLst>
          </a:prstGeom>
          <a:solidFill>
            <a:srgbClr val="EEF2F4"/>
          </a:solidFill>
          <a:ln w="12700">
            <a:solidFill>
              <a:srgbClr val="EEF2F4"/>
            </a:solidFill>
            <a:prstDash val="solid"/>
          </a:ln>
        </p:spPr>
      </p:sp>
      <p:sp>
        <p:nvSpPr>
          <p:cNvPr id="14" name="Text 12"/>
          <p:cNvSpPr txBox="1"/>
          <p:nvPr/>
        </p:nvSpPr>
        <p:spPr>
          <a:xfrm>
            <a:off x="8321040" y="2221992"/>
            <a:ext cx="329184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15" name="Text 13"/>
          <p:cNvSpPr txBox="1"/>
          <p:nvPr/>
        </p:nvSpPr>
        <p:spPr>
          <a:xfrm>
            <a:off x="7543800" y="2880360"/>
            <a:ext cx="384048" cy="164592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16" name="Text 14"/>
          <p:cNvSpPr txBox="1"/>
          <p:nvPr/>
        </p:nvSpPr>
        <p:spPr>
          <a:xfrm>
            <a:off x="832104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7" name="Text 15"/>
          <p:cNvSpPr txBox="1"/>
          <p:nvPr/>
        </p:nvSpPr>
        <p:spPr>
          <a:xfrm>
            <a:off x="914400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8" name="Text 16"/>
          <p:cNvSpPr txBox="1"/>
          <p:nvPr/>
        </p:nvSpPr>
        <p:spPr>
          <a:xfrm>
            <a:off x="996696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9" name="Text 17"/>
          <p:cNvSpPr txBox="1"/>
          <p:nvPr/>
        </p:nvSpPr>
        <p:spPr>
          <a:xfrm>
            <a:off x="10789920" y="2551176"/>
            <a:ext cx="82296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20" name="Text 18"/>
          <p:cNvSpPr txBox="1"/>
          <p:nvPr/>
        </p:nvSpPr>
        <p:spPr>
          <a:xfrm>
            <a:off x="7909560" y="288036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21" name="Text 19"/>
          <p:cNvSpPr txBox="1"/>
          <p:nvPr/>
        </p:nvSpPr>
        <p:spPr>
          <a:xfrm>
            <a:off x="7909560" y="3703320"/>
            <a:ext cx="384048" cy="82296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22" name="Text 20"/>
          <p:cNvSpPr txBox="1"/>
          <p:nvPr/>
        </p:nvSpPr>
        <p:spPr>
          <a:xfrm>
            <a:off x="832104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m0</a:t>
            </a:r>
            <a:endParaRPr lang="en-US" sz="2300" dirty="0"/>
          </a:p>
        </p:txBody>
      </p:sp>
      <p:sp>
        <p:nvSpPr>
          <p:cNvPr id="23" name="Text 21"/>
          <p:cNvSpPr txBox="1"/>
          <p:nvPr/>
        </p:nvSpPr>
        <p:spPr>
          <a:xfrm>
            <a:off x="914400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m1</a:t>
            </a:r>
            <a:endParaRPr lang="en-US" sz="2300" dirty="0"/>
          </a:p>
        </p:txBody>
      </p:sp>
      <p:sp>
        <p:nvSpPr>
          <p:cNvPr id="24" name="Text 22"/>
          <p:cNvSpPr txBox="1"/>
          <p:nvPr/>
        </p:nvSpPr>
        <p:spPr>
          <a:xfrm>
            <a:off x="996696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m3</a:t>
            </a:r>
            <a:endParaRPr lang="en-US" sz="2300" dirty="0"/>
          </a:p>
        </p:txBody>
      </p:sp>
      <p:sp>
        <p:nvSpPr>
          <p:cNvPr id="25" name="Text 23"/>
          <p:cNvSpPr txBox="1"/>
          <p:nvPr/>
        </p:nvSpPr>
        <p:spPr>
          <a:xfrm>
            <a:off x="10789920" y="288036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m2</a:t>
            </a:r>
            <a:endParaRPr lang="en-US" sz="2300" dirty="0"/>
          </a:p>
        </p:txBody>
      </p:sp>
      <p:sp>
        <p:nvSpPr>
          <p:cNvPr id="26" name="Text 24"/>
          <p:cNvSpPr txBox="1"/>
          <p:nvPr/>
        </p:nvSpPr>
        <p:spPr>
          <a:xfrm>
            <a:off x="832104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m4</a:t>
            </a:r>
            <a:endParaRPr lang="en-US" sz="2300" dirty="0"/>
          </a:p>
        </p:txBody>
      </p:sp>
      <p:sp>
        <p:nvSpPr>
          <p:cNvPr id="27" name="Text 25"/>
          <p:cNvSpPr txBox="1"/>
          <p:nvPr/>
        </p:nvSpPr>
        <p:spPr>
          <a:xfrm>
            <a:off x="914400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m5</a:t>
            </a:r>
            <a:endParaRPr lang="en-US" sz="2300" dirty="0"/>
          </a:p>
        </p:txBody>
      </p:sp>
      <p:sp>
        <p:nvSpPr>
          <p:cNvPr id="28" name="Text 26"/>
          <p:cNvSpPr txBox="1"/>
          <p:nvPr/>
        </p:nvSpPr>
        <p:spPr>
          <a:xfrm>
            <a:off x="996696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m7</a:t>
            </a:r>
            <a:endParaRPr lang="en-US" sz="2300" dirty="0"/>
          </a:p>
        </p:txBody>
      </p:sp>
      <p:sp>
        <p:nvSpPr>
          <p:cNvPr id="29" name="Text 27"/>
          <p:cNvSpPr txBox="1"/>
          <p:nvPr/>
        </p:nvSpPr>
        <p:spPr>
          <a:xfrm>
            <a:off x="10789920" y="3703320"/>
            <a:ext cx="822960" cy="82296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300" b="1" dirty="0">
                <a:solidFill>
                  <a:srgbClr val="1B2530"/>
                </a:solidFill>
                <a:latin typeface="Courier New" pitchFamily="34" charset="0"/>
                <a:ea typeface="Courier New" pitchFamily="34" charset="-122"/>
                <a:cs typeface="Courier New" pitchFamily="34" charset="-120"/>
              </a:rPr>
              <a:t>m6</a:t>
            </a:r>
            <a:endParaRPr lang="en-US" sz="2300" dirty="0"/>
          </a:p>
        </p:txBody>
      </p:sp>
      <p:sp>
        <p:nvSpPr>
          <p:cNvPr id="30" name="Text 28"/>
          <p:cNvSpPr txBox="1"/>
          <p:nvPr/>
        </p:nvSpPr>
        <p:spPr>
          <a:xfrm>
            <a:off x="7498080" y="4800600"/>
            <a:ext cx="3870655" cy="118872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The cell of each minterm for three variables. Note that m3 comes before m2. The left and right edges are adjacent too: the map wraps around.</a:t>
            </a:r>
            <a:endParaRPr lang="en-US" sz="1400" dirty="0"/>
          </a:p>
        </p:txBody>
      </p:sp>
      <p:sp>
        <p:nvSpPr>
          <p:cNvPr id="31" name="Shape 29"/>
          <p:cNvSpPr/>
          <p:nvPr/>
        </p:nvSpPr>
        <p:spPr>
          <a:xfrm>
            <a:off x="7893761" y="91440"/>
            <a:ext cx="3749294" cy="274320"/>
          </a:xfrm>
          <a:prstGeom prst="rect">
            <a:avLst/>
          </a:prstGeom>
          <a:solidFill>
            <a:srgbClr val="E0F2FE"/>
          </a:solidFill>
          <a:ln w="12700">
            <a:solidFill>
              <a:srgbClr val="0369A1"/>
            </a:solidFill>
            <a:prstDash val="solid"/>
          </a:ln>
        </p:spPr>
      </p:sp>
      <p:sp>
        <p:nvSpPr>
          <p:cNvPr id="32" name="Shape 30"/>
          <p:cNvSpPr/>
          <p:nvPr/>
        </p:nvSpPr>
        <p:spPr>
          <a:xfrm>
            <a:off x="7893761"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4" name="Text 31"/>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three variables: our F</a:t>
            </a:r>
            <a:endParaRPr lang="en-US" sz="3200" dirty="0"/>
          </a:p>
        </p:txBody>
      </p:sp>
      <p:sp>
        <p:nvSpPr>
          <p:cNvPr id="3" name="Shape 1"/>
          <p:cNvSpPr/>
          <p:nvPr/>
        </p:nvSpPr>
        <p:spPr>
          <a:xfrm>
            <a:off x="548640" y="1417320"/>
            <a:ext cx="548640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2039112"/>
            <a:ext cx="4023360"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B C</a:t>
            </a:r>
            <a:endParaRPr lang="en-US" sz="1500" dirty="0"/>
          </a:p>
        </p:txBody>
      </p:sp>
      <p:sp>
        <p:nvSpPr>
          <p:cNvPr id="5" name="Text 3"/>
          <p:cNvSpPr txBox="1"/>
          <p:nvPr/>
        </p:nvSpPr>
        <p:spPr>
          <a:xfrm>
            <a:off x="960120" y="2697480"/>
            <a:ext cx="384048" cy="2011680"/>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a:t>
            </a:r>
            <a:endParaRPr lang="en-US" sz="1500" dirty="0"/>
          </a:p>
        </p:txBody>
      </p:sp>
      <p:sp>
        <p:nvSpPr>
          <p:cNvPr id="6" name="Text 4"/>
          <p:cNvSpPr txBox="1"/>
          <p:nvPr/>
        </p:nvSpPr>
        <p:spPr>
          <a:xfrm>
            <a:off x="173736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74320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74904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754880" y="2368296"/>
            <a:ext cx="1005840"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69748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a:t>
            </a:r>
            <a:endParaRPr lang="en-US" sz="1400" dirty="0"/>
          </a:p>
        </p:txBody>
      </p:sp>
      <p:sp>
        <p:nvSpPr>
          <p:cNvPr id="11" name="Text 9"/>
          <p:cNvSpPr txBox="1"/>
          <p:nvPr/>
        </p:nvSpPr>
        <p:spPr>
          <a:xfrm>
            <a:off x="1325880" y="3703320"/>
            <a:ext cx="384048" cy="1005840"/>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a:t>
            </a:r>
            <a:endParaRPr lang="en-US" sz="1400" dirty="0"/>
          </a:p>
        </p:txBody>
      </p:sp>
      <p:sp>
        <p:nvSpPr>
          <p:cNvPr id="12" name="Text 10"/>
          <p:cNvSpPr txBox="1"/>
          <p:nvPr/>
        </p:nvSpPr>
        <p:spPr>
          <a:xfrm>
            <a:off x="173736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3" name="Text 11"/>
          <p:cNvSpPr txBox="1"/>
          <p:nvPr/>
        </p:nvSpPr>
        <p:spPr>
          <a:xfrm>
            <a:off x="274320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4" name="Text 12"/>
          <p:cNvSpPr txBox="1"/>
          <p:nvPr/>
        </p:nvSpPr>
        <p:spPr>
          <a:xfrm>
            <a:off x="3749040" y="269748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5" name="Text 13"/>
          <p:cNvSpPr txBox="1"/>
          <p:nvPr/>
        </p:nvSpPr>
        <p:spPr>
          <a:xfrm>
            <a:off x="4754880" y="2697480"/>
            <a:ext cx="1005840" cy="1005840"/>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900" dirty="0">
                <a:solidFill>
                  <a:srgbClr val="1B2530"/>
                </a:solidFill>
                <a:latin typeface="Courier New" pitchFamily="34" charset="0"/>
                <a:ea typeface="Courier New" pitchFamily="34" charset="-122"/>
                <a:cs typeface="Courier New" pitchFamily="34" charset="-120"/>
              </a:rPr>
              <a:t>0</a:t>
            </a:r>
            <a:endParaRPr lang="en-US" sz="2900" dirty="0"/>
          </a:p>
        </p:txBody>
      </p:sp>
      <p:sp>
        <p:nvSpPr>
          <p:cNvPr id="16" name="Text 14"/>
          <p:cNvSpPr txBox="1"/>
          <p:nvPr/>
        </p:nvSpPr>
        <p:spPr>
          <a:xfrm>
            <a:off x="173736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7" name="Text 15"/>
          <p:cNvSpPr txBox="1"/>
          <p:nvPr/>
        </p:nvSpPr>
        <p:spPr>
          <a:xfrm>
            <a:off x="274320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8" name="Text 16"/>
          <p:cNvSpPr txBox="1"/>
          <p:nvPr/>
        </p:nvSpPr>
        <p:spPr>
          <a:xfrm>
            <a:off x="374904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19" name="Text 17"/>
          <p:cNvSpPr txBox="1"/>
          <p:nvPr/>
        </p:nvSpPr>
        <p:spPr>
          <a:xfrm>
            <a:off x="4754880" y="3703320"/>
            <a:ext cx="1005840" cy="1005840"/>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900" b="1" dirty="0">
                <a:solidFill>
                  <a:srgbClr val="1B2530"/>
                </a:solidFill>
                <a:latin typeface="Courier New" pitchFamily="34" charset="0"/>
                <a:ea typeface="Courier New" pitchFamily="34" charset="-122"/>
                <a:cs typeface="Courier New" pitchFamily="34" charset="-120"/>
              </a:rPr>
              <a:t>1</a:t>
            </a:r>
            <a:endParaRPr lang="en-US" sz="2900" dirty="0"/>
          </a:p>
        </p:txBody>
      </p:sp>
      <p:sp>
        <p:nvSpPr>
          <p:cNvPr id="20" name="Shape 18"/>
          <p:cNvSpPr/>
          <p:nvPr/>
        </p:nvSpPr>
        <p:spPr>
          <a:xfrm>
            <a:off x="1792224" y="3758184"/>
            <a:ext cx="3913632" cy="896112"/>
          </a:xfrm>
          <a:prstGeom prst="roundRect">
            <a:avLst>
              <a:gd name="adj" fmla="val 14286"/>
            </a:avLst>
          </a:prstGeom>
          <a:solidFill>
            <a:srgbClr val="FFFFFF">
              <a:alpha val="0"/>
            </a:srgbClr>
          </a:solidFill>
          <a:ln w="34925">
            <a:solidFill>
              <a:srgbClr val="B23A48"/>
            </a:solidFill>
            <a:prstDash val="solid"/>
          </a:ln>
        </p:spPr>
      </p:sp>
      <p:sp>
        <p:nvSpPr>
          <p:cNvPr id="21" name="Shape 19"/>
          <p:cNvSpPr/>
          <p:nvPr/>
        </p:nvSpPr>
        <p:spPr>
          <a:xfrm>
            <a:off x="3849624" y="2798064"/>
            <a:ext cx="804672" cy="1810512"/>
          </a:xfrm>
          <a:prstGeom prst="roundRect">
            <a:avLst>
              <a:gd name="adj" fmla="val 15909"/>
            </a:avLst>
          </a:prstGeom>
          <a:solidFill>
            <a:srgbClr val="FFFFFF">
              <a:alpha val="0"/>
            </a:srgbClr>
          </a:solidFill>
          <a:ln w="34925">
            <a:solidFill>
              <a:srgbClr val="6B4FA0"/>
            </a:solidFill>
            <a:prstDash val="solid"/>
          </a:ln>
        </p:spPr>
      </p:sp>
      <p:sp>
        <p:nvSpPr>
          <p:cNvPr id="22" name="Text 20"/>
          <p:cNvSpPr txBox="1"/>
          <p:nvPr/>
        </p:nvSpPr>
        <p:spPr>
          <a:xfrm>
            <a:off x="548640" y="5303520"/>
            <a:ext cx="5486400" cy="548640"/>
          </a:xfrm>
          <a:prstGeom prst="rect">
            <a:avLst/>
          </a:prstGeom>
          <a:noFill/>
          <a:ln/>
        </p:spPr>
        <p:txBody>
          <a:bodyPr wrap="square" lIns="0" tIns="0" rIns="0" bIns="0" rtlCol="0" anchor="t"/>
          <a:lstStyle/>
          <a:p>
            <a:pPr algn="ctr" indent="0" marL="0">
              <a:buNone/>
            </a:pPr>
            <a:r>
              <a:rPr lang="en-US" sz="2600" b="1" dirty="0">
                <a:solidFill>
                  <a:srgbClr val="2E4A62"/>
                </a:solidFill>
                <a:latin typeface="Courier New" pitchFamily="34" charset="0"/>
                <a:ea typeface="Courier New" pitchFamily="34" charset="-122"/>
                <a:cs typeface="Courier New" pitchFamily="34" charset="-120"/>
              </a:rPr>
              <a:t>F = A + BC</a:t>
            </a:r>
            <a:endParaRPr lang="en-US" sz="2600" dirty="0"/>
          </a:p>
        </p:txBody>
      </p:sp>
      <p:sp>
        <p:nvSpPr>
          <p:cNvPr id="23" name="Shape 21"/>
          <p:cNvSpPr/>
          <p:nvPr/>
        </p:nvSpPr>
        <p:spPr>
          <a:xfrm>
            <a:off x="6400800" y="1523746"/>
            <a:ext cx="146304" cy="146304"/>
          </a:xfrm>
          <a:prstGeom prst="rect">
            <a:avLst/>
          </a:prstGeom>
          <a:solidFill>
            <a:srgbClr val="0E7C86"/>
          </a:solidFill>
          <a:ln w="12700">
            <a:solidFill>
              <a:srgbClr val="0E7C86"/>
            </a:solidFill>
            <a:prstDash val="solid"/>
          </a:ln>
        </p:spPr>
      </p:sp>
      <p:sp>
        <p:nvSpPr>
          <p:cNvPr id="24" name="Text 22"/>
          <p:cNvSpPr txBox="1"/>
          <p:nvPr/>
        </p:nvSpPr>
        <p:spPr>
          <a:xfrm>
            <a:off x="6784848" y="1417320"/>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a 1 in the cells of minterms 3, 4, 5, 6 and 7</a:t>
            </a:r>
            <a:endParaRPr lang="en-US" sz="2200" dirty="0"/>
          </a:p>
        </p:txBody>
      </p:sp>
      <p:sp>
        <p:nvSpPr>
          <p:cNvPr id="25" name="Shape 23"/>
          <p:cNvSpPr/>
          <p:nvPr/>
        </p:nvSpPr>
        <p:spPr>
          <a:xfrm>
            <a:off x="6400800" y="2376551"/>
            <a:ext cx="146304" cy="146304"/>
          </a:xfrm>
          <a:prstGeom prst="rect">
            <a:avLst/>
          </a:prstGeom>
          <a:solidFill>
            <a:srgbClr val="C7791B"/>
          </a:solidFill>
          <a:ln w="12700">
            <a:solidFill>
              <a:srgbClr val="C7791B"/>
            </a:solidFill>
            <a:prstDash val="solid"/>
          </a:ln>
        </p:spPr>
      </p:sp>
      <p:sp>
        <p:nvSpPr>
          <p:cNvPr id="26" name="Text 24"/>
          <p:cNvSpPr txBox="1"/>
          <p:nvPr/>
        </p:nvSpPr>
        <p:spPr>
          <a:xfrm>
            <a:off x="6784848" y="2270125"/>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Red group of four: the whole row A =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 and C both change: the clause is A</a:t>
            </a:r>
            <a:endParaRPr lang="en-US" sz="2200" dirty="0"/>
          </a:p>
        </p:txBody>
      </p:sp>
      <p:sp>
        <p:nvSpPr>
          <p:cNvPr id="27" name="Shape 25"/>
          <p:cNvSpPr/>
          <p:nvPr/>
        </p:nvSpPr>
        <p:spPr>
          <a:xfrm>
            <a:off x="6400800" y="3560318"/>
            <a:ext cx="146304" cy="146304"/>
          </a:xfrm>
          <a:prstGeom prst="rect">
            <a:avLst/>
          </a:prstGeom>
          <a:solidFill>
            <a:srgbClr val="0E7C86"/>
          </a:solidFill>
          <a:ln w="12700">
            <a:solidFill>
              <a:srgbClr val="0E7C86"/>
            </a:solidFill>
            <a:prstDash val="solid"/>
          </a:ln>
        </p:spPr>
      </p:sp>
      <p:sp>
        <p:nvSpPr>
          <p:cNvPr id="28" name="Text 26"/>
          <p:cNvSpPr txBox="1"/>
          <p:nvPr/>
        </p:nvSpPr>
        <p:spPr>
          <a:xfrm>
            <a:off x="6784848" y="3453892"/>
            <a:ext cx="4858207"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Violet group of two: the column BC = 11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changes: the clause is BC</a:t>
            </a:r>
            <a:endParaRPr lang="en-US" sz="2200" dirty="0"/>
          </a:p>
        </p:txBody>
      </p:sp>
      <p:sp>
        <p:nvSpPr>
          <p:cNvPr id="29" name="Shape 27"/>
          <p:cNvSpPr/>
          <p:nvPr/>
        </p:nvSpPr>
        <p:spPr>
          <a:xfrm>
            <a:off x="6400800" y="4744085"/>
            <a:ext cx="146304" cy="146304"/>
          </a:xfrm>
          <a:prstGeom prst="rect">
            <a:avLst/>
          </a:prstGeom>
          <a:solidFill>
            <a:srgbClr val="C7791B"/>
          </a:solidFill>
          <a:ln w="12700">
            <a:solidFill>
              <a:srgbClr val="C7791B"/>
            </a:solidFill>
            <a:prstDash val="solid"/>
          </a:ln>
        </p:spPr>
      </p:sp>
      <p:sp>
        <p:nvSpPr>
          <p:cNvPr id="30" name="Text 28"/>
          <p:cNvSpPr txBox="1"/>
          <p:nvPr/>
        </p:nvSpPr>
        <p:spPr>
          <a:xfrm>
            <a:off x="6784848" y="4637659"/>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1 is covered and no group can be made larger</a:t>
            </a:r>
            <a:endParaRPr lang="en-US" sz="2200" dirty="0"/>
          </a:p>
        </p:txBody>
      </p:sp>
      <p:sp>
        <p:nvSpPr>
          <p:cNvPr id="31" name="Shape 29"/>
          <p:cNvSpPr/>
          <p:nvPr/>
        </p:nvSpPr>
        <p:spPr>
          <a:xfrm>
            <a:off x="6400800" y="5596890"/>
            <a:ext cx="146304" cy="146304"/>
          </a:xfrm>
          <a:prstGeom prst="rect">
            <a:avLst/>
          </a:prstGeom>
          <a:solidFill>
            <a:srgbClr val="0E7C86"/>
          </a:solidFill>
          <a:ln w="12700">
            <a:solidFill>
              <a:srgbClr val="0E7C86"/>
            </a:solidFill>
            <a:prstDash val="solid"/>
          </a:ln>
        </p:spPr>
      </p:sp>
      <p:sp>
        <p:nvSpPr>
          <p:cNvPr id="32" name="Text 30"/>
          <p:cNvSpPr txBox="1"/>
          <p:nvPr/>
        </p:nvSpPr>
        <p:spPr>
          <a:xfrm>
            <a:off x="6784848" y="5490464"/>
            <a:ext cx="485820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same result as the algebra, found by eye in seconds</a:t>
            </a:r>
            <a:endParaRPr lang="en-US" sz="2200" dirty="0"/>
          </a:p>
        </p:txBody>
      </p:sp>
      <p:sp>
        <p:nvSpPr>
          <p:cNvPr id="33" name="Shape 31"/>
          <p:cNvSpPr/>
          <p:nvPr/>
        </p:nvSpPr>
        <p:spPr>
          <a:xfrm>
            <a:off x="7893761" y="91440"/>
            <a:ext cx="3749294" cy="274320"/>
          </a:xfrm>
          <a:prstGeom prst="rect">
            <a:avLst/>
          </a:prstGeom>
          <a:solidFill>
            <a:srgbClr val="E0F2FE"/>
          </a:solidFill>
          <a:ln w="12700">
            <a:solidFill>
              <a:srgbClr val="0369A1"/>
            </a:solidFill>
            <a:prstDash val="solid"/>
          </a:ln>
        </p:spPr>
      </p:sp>
      <p:sp>
        <p:nvSpPr>
          <p:cNvPr id="34" name="Shape 32"/>
          <p:cNvSpPr/>
          <p:nvPr/>
        </p:nvSpPr>
        <p:spPr>
          <a:xfrm>
            <a:off x="7893761" y="91440"/>
            <a:ext cx="73152" cy="274320"/>
          </a:xfrm>
          <a:prstGeom prst="rect">
            <a:avLst/>
          </a:prstGeom>
          <a:solidFill>
            <a:srgbClr val="0369A1"/>
          </a:solidFill>
          <a:ln w="12700">
            <a:solidFill>
              <a:srgbClr val="0369A1"/>
            </a:solidFill>
            <a:prstDash val="solid"/>
          </a:ln>
        </p:spPr>
      </p:sp>
      <p:pic>
        <p:nvPicPr>
          <p:cNvPr id="35"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6" name="Text 3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map of four variables</a:t>
            </a:r>
            <a:endParaRPr lang="en-US" sz="3200" dirty="0"/>
          </a:p>
        </p:txBody>
      </p:sp>
      <p:sp>
        <p:nvSpPr>
          <p:cNvPr id="3" name="Shape 1"/>
          <p:cNvSpPr/>
          <p:nvPr/>
        </p:nvSpPr>
        <p:spPr>
          <a:xfrm>
            <a:off x="548640" y="1417320"/>
            <a:ext cx="5120640"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1737360" y="1536192"/>
            <a:ext cx="3364992" cy="292608"/>
          </a:xfrm>
          <a:prstGeom prst="rect">
            <a:avLst/>
          </a:prstGeom>
          <a:noFill/>
          <a:ln/>
        </p:spPr>
        <p:txBody>
          <a:bodyPr wrap="square" lIns="0" tIns="0" rIns="0" bIns="0" rtlCol="0" anchor="t"/>
          <a:lstStyle/>
          <a:p>
            <a:pPr algn="ctr" indent="0" marL="0">
              <a:buNone/>
            </a:pPr>
            <a:r>
              <a:rPr lang="en-US" sz="1500" b="1" dirty="0">
                <a:solidFill>
                  <a:srgbClr val="2E4A62"/>
                </a:solidFill>
                <a:latin typeface="Calibri" pitchFamily="34" charset="0"/>
                <a:ea typeface="Calibri" pitchFamily="34" charset="-122"/>
                <a:cs typeface="Calibri" pitchFamily="34" charset="-120"/>
              </a:rPr>
              <a:t>C D</a:t>
            </a:r>
            <a:endParaRPr lang="en-US" sz="1500" dirty="0"/>
          </a:p>
        </p:txBody>
      </p:sp>
      <p:sp>
        <p:nvSpPr>
          <p:cNvPr id="5" name="Text 3"/>
          <p:cNvSpPr txBox="1"/>
          <p:nvPr/>
        </p:nvSpPr>
        <p:spPr>
          <a:xfrm>
            <a:off x="960120" y="2194560"/>
            <a:ext cx="384048" cy="3364992"/>
          </a:xfrm>
          <a:prstGeom prst="rect">
            <a:avLst/>
          </a:prstGeom>
          <a:noFill/>
          <a:ln/>
        </p:spPr>
        <p:txBody>
          <a:bodyPr wrap="square" lIns="0" tIns="0" rIns="0" bIns="0" rtlCol="0" anchor="ctr"/>
          <a:lstStyle/>
          <a:p>
            <a:pPr algn="ctr" indent="0" marL="0">
              <a:buNone/>
            </a:pPr>
            <a:r>
              <a:rPr lang="en-US" sz="1500" b="1" dirty="0">
                <a:solidFill>
                  <a:srgbClr val="2E4A62"/>
                </a:solidFill>
                <a:latin typeface="Calibri" pitchFamily="34" charset="0"/>
                <a:ea typeface="Calibri" pitchFamily="34" charset="-122"/>
                <a:cs typeface="Calibri" pitchFamily="34" charset="-120"/>
              </a:rPr>
              <a:t>A B</a:t>
            </a:r>
            <a:endParaRPr lang="en-US" sz="1500" dirty="0"/>
          </a:p>
        </p:txBody>
      </p:sp>
      <p:sp>
        <p:nvSpPr>
          <p:cNvPr id="6" name="Text 4"/>
          <p:cNvSpPr txBox="1"/>
          <p:nvPr/>
        </p:nvSpPr>
        <p:spPr>
          <a:xfrm>
            <a:off x="1737360"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7" name="Text 5"/>
          <p:cNvSpPr txBox="1"/>
          <p:nvPr/>
        </p:nvSpPr>
        <p:spPr>
          <a:xfrm>
            <a:off x="2578608"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8" name="Text 6"/>
          <p:cNvSpPr txBox="1"/>
          <p:nvPr/>
        </p:nvSpPr>
        <p:spPr>
          <a:xfrm>
            <a:off x="3419856"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9" name="Text 7"/>
          <p:cNvSpPr txBox="1"/>
          <p:nvPr/>
        </p:nvSpPr>
        <p:spPr>
          <a:xfrm>
            <a:off x="4261104" y="1865376"/>
            <a:ext cx="841248" cy="292608"/>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0" name="Text 8"/>
          <p:cNvSpPr txBox="1"/>
          <p:nvPr/>
        </p:nvSpPr>
        <p:spPr>
          <a:xfrm>
            <a:off x="1325880" y="2194560"/>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00</a:t>
            </a:r>
            <a:endParaRPr lang="en-US" sz="1400" dirty="0"/>
          </a:p>
        </p:txBody>
      </p:sp>
      <p:sp>
        <p:nvSpPr>
          <p:cNvPr id="11" name="Text 9"/>
          <p:cNvSpPr txBox="1"/>
          <p:nvPr/>
        </p:nvSpPr>
        <p:spPr>
          <a:xfrm>
            <a:off x="1325880" y="3035808"/>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01</a:t>
            </a:r>
            <a:endParaRPr lang="en-US" sz="1400" dirty="0"/>
          </a:p>
        </p:txBody>
      </p:sp>
      <p:sp>
        <p:nvSpPr>
          <p:cNvPr id="12" name="Text 10"/>
          <p:cNvSpPr txBox="1"/>
          <p:nvPr/>
        </p:nvSpPr>
        <p:spPr>
          <a:xfrm>
            <a:off x="1325880" y="3877056"/>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11</a:t>
            </a:r>
            <a:endParaRPr lang="en-US" sz="1400" dirty="0"/>
          </a:p>
        </p:txBody>
      </p:sp>
      <p:sp>
        <p:nvSpPr>
          <p:cNvPr id="13" name="Text 11"/>
          <p:cNvSpPr txBox="1"/>
          <p:nvPr/>
        </p:nvSpPr>
        <p:spPr>
          <a:xfrm>
            <a:off x="1325880" y="4718304"/>
            <a:ext cx="384048" cy="841248"/>
          </a:xfrm>
          <a:prstGeom prst="rect">
            <a:avLst/>
          </a:prstGeom>
          <a:noFill/>
          <a:ln/>
        </p:spPr>
        <p:txBody>
          <a:bodyPr wrap="square" lIns="0" tIns="0" rIns="0" bIns="0" rtlCol="0" anchor="ctr"/>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10</a:t>
            </a:r>
            <a:endParaRPr lang="en-US" sz="1400" dirty="0"/>
          </a:p>
        </p:txBody>
      </p:sp>
      <p:sp>
        <p:nvSpPr>
          <p:cNvPr id="14" name="Text 12"/>
          <p:cNvSpPr txBox="1"/>
          <p:nvPr/>
        </p:nvSpPr>
        <p:spPr>
          <a:xfrm>
            <a:off x="1737360"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5" name="Text 13"/>
          <p:cNvSpPr txBox="1"/>
          <p:nvPr/>
        </p:nvSpPr>
        <p:spPr>
          <a:xfrm>
            <a:off x="2578608"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6" name="Text 14"/>
          <p:cNvSpPr txBox="1"/>
          <p:nvPr/>
        </p:nvSpPr>
        <p:spPr>
          <a:xfrm>
            <a:off x="3419856" y="2194560"/>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7" name="Text 15"/>
          <p:cNvSpPr txBox="1"/>
          <p:nvPr/>
        </p:nvSpPr>
        <p:spPr>
          <a:xfrm>
            <a:off x="4261104" y="2194560"/>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18" name="Text 16"/>
          <p:cNvSpPr txBox="1"/>
          <p:nvPr/>
        </p:nvSpPr>
        <p:spPr>
          <a:xfrm>
            <a:off x="1737360"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19" name="Text 17"/>
          <p:cNvSpPr txBox="1"/>
          <p:nvPr/>
        </p:nvSpPr>
        <p:spPr>
          <a:xfrm>
            <a:off x="2578608"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0" name="Text 18"/>
          <p:cNvSpPr txBox="1"/>
          <p:nvPr/>
        </p:nvSpPr>
        <p:spPr>
          <a:xfrm>
            <a:off x="3419856" y="3035808"/>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1" name="Text 19"/>
          <p:cNvSpPr txBox="1"/>
          <p:nvPr/>
        </p:nvSpPr>
        <p:spPr>
          <a:xfrm>
            <a:off x="4261104" y="3035808"/>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2" name="Text 20"/>
          <p:cNvSpPr txBox="1"/>
          <p:nvPr/>
        </p:nvSpPr>
        <p:spPr>
          <a:xfrm>
            <a:off x="1737360"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3" name="Text 21"/>
          <p:cNvSpPr txBox="1"/>
          <p:nvPr/>
        </p:nvSpPr>
        <p:spPr>
          <a:xfrm>
            <a:off x="2578608"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4" name="Text 22"/>
          <p:cNvSpPr txBox="1"/>
          <p:nvPr/>
        </p:nvSpPr>
        <p:spPr>
          <a:xfrm>
            <a:off x="3419856" y="3877056"/>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5" name="Text 23"/>
          <p:cNvSpPr txBox="1"/>
          <p:nvPr/>
        </p:nvSpPr>
        <p:spPr>
          <a:xfrm>
            <a:off x="4261104" y="3877056"/>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6" name="Text 24"/>
          <p:cNvSpPr txBox="1"/>
          <p:nvPr/>
        </p:nvSpPr>
        <p:spPr>
          <a:xfrm>
            <a:off x="1737360"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27" name="Text 25"/>
          <p:cNvSpPr txBox="1"/>
          <p:nvPr/>
        </p:nvSpPr>
        <p:spPr>
          <a:xfrm>
            <a:off x="2578608"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8" name="Text 26"/>
          <p:cNvSpPr txBox="1"/>
          <p:nvPr/>
        </p:nvSpPr>
        <p:spPr>
          <a:xfrm>
            <a:off x="3419856" y="4718304"/>
            <a:ext cx="841248" cy="841248"/>
          </a:xfrm>
          <a:prstGeom prst="rect">
            <a:avLst/>
          </a:prstGeom>
          <a:solidFill>
            <a:srgbClr val="FFFFFF"/>
          </a:solidFill>
          <a:ln w="12700">
            <a:solidFill>
              <a:srgbClr val="2E4A62"/>
            </a:solidFill>
          </a:ln>
        </p:spPr>
        <p:txBody>
          <a:bodyPr wrap="square" lIns="0" tIns="0" rIns="0" bIns="0" rtlCol="0" anchor="ctr"/>
          <a:lstStyle/>
          <a:p>
            <a:pPr algn="ctr" indent="0" marL="0">
              <a:buNone/>
            </a:pPr>
            <a:r>
              <a:rPr lang="en-US" sz="2400" dirty="0">
                <a:solidFill>
                  <a:srgbClr val="1B2530"/>
                </a:solidFill>
                <a:latin typeface="Courier New" pitchFamily="34" charset="0"/>
                <a:ea typeface="Courier New" pitchFamily="34" charset="-122"/>
                <a:cs typeface="Courier New" pitchFamily="34" charset="-120"/>
              </a:rPr>
              <a:t>0</a:t>
            </a:r>
            <a:endParaRPr lang="en-US" sz="2400" dirty="0"/>
          </a:p>
        </p:txBody>
      </p:sp>
      <p:sp>
        <p:nvSpPr>
          <p:cNvPr id="29" name="Text 27"/>
          <p:cNvSpPr txBox="1"/>
          <p:nvPr/>
        </p:nvSpPr>
        <p:spPr>
          <a:xfrm>
            <a:off x="4261104" y="4718304"/>
            <a:ext cx="841248" cy="841248"/>
          </a:xfrm>
          <a:prstGeom prst="rect">
            <a:avLst/>
          </a:prstGeom>
          <a:solidFill>
            <a:srgbClr val="D8ECEE"/>
          </a:solidFill>
          <a:ln w="12700">
            <a:solidFill>
              <a:srgbClr val="2E4A62"/>
            </a:solid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1</a:t>
            </a:r>
            <a:endParaRPr lang="en-US" sz="2400" dirty="0"/>
          </a:p>
        </p:txBody>
      </p:sp>
      <p:sp>
        <p:nvSpPr>
          <p:cNvPr id="30" name="Shape 28"/>
          <p:cNvSpPr/>
          <p:nvPr/>
        </p:nvSpPr>
        <p:spPr>
          <a:xfrm>
            <a:off x="2633472" y="3090672"/>
            <a:ext cx="1572768" cy="1572768"/>
          </a:xfrm>
          <a:prstGeom prst="roundRect">
            <a:avLst>
              <a:gd name="adj" fmla="val 8140"/>
            </a:avLst>
          </a:prstGeom>
          <a:solidFill>
            <a:srgbClr val="FFFFFF">
              <a:alpha val="0"/>
            </a:srgbClr>
          </a:solidFill>
          <a:ln w="34925">
            <a:solidFill>
              <a:srgbClr val="B23A48"/>
            </a:solidFill>
            <a:prstDash val="solid"/>
          </a:ln>
        </p:spPr>
      </p:sp>
      <p:sp>
        <p:nvSpPr>
          <p:cNvPr id="31" name="Shape 29"/>
          <p:cNvSpPr/>
          <p:nvPr/>
        </p:nvSpPr>
        <p:spPr>
          <a:xfrm>
            <a:off x="1792224"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2" name="Shape 30"/>
          <p:cNvSpPr/>
          <p:nvPr/>
        </p:nvSpPr>
        <p:spPr>
          <a:xfrm>
            <a:off x="4315968" y="2249424"/>
            <a:ext cx="731520" cy="731520"/>
          </a:xfrm>
          <a:prstGeom prst="roundRect">
            <a:avLst>
              <a:gd name="adj" fmla="val 17500"/>
            </a:avLst>
          </a:prstGeom>
          <a:solidFill>
            <a:srgbClr val="FFFFFF">
              <a:alpha val="0"/>
            </a:srgbClr>
          </a:solidFill>
          <a:ln w="34925">
            <a:solidFill>
              <a:srgbClr val="6B4FA0"/>
            </a:solidFill>
            <a:prstDash val="solid"/>
          </a:ln>
        </p:spPr>
      </p:sp>
      <p:sp>
        <p:nvSpPr>
          <p:cNvPr id="33" name="Shape 31"/>
          <p:cNvSpPr/>
          <p:nvPr/>
        </p:nvSpPr>
        <p:spPr>
          <a:xfrm>
            <a:off x="1792224"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4" name="Shape 32"/>
          <p:cNvSpPr/>
          <p:nvPr/>
        </p:nvSpPr>
        <p:spPr>
          <a:xfrm>
            <a:off x="4315968" y="4773168"/>
            <a:ext cx="731520" cy="731520"/>
          </a:xfrm>
          <a:prstGeom prst="roundRect">
            <a:avLst>
              <a:gd name="adj" fmla="val 17500"/>
            </a:avLst>
          </a:prstGeom>
          <a:solidFill>
            <a:srgbClr val="FFFFFF">
              <a:alpha val="0"/>
            </a:srgbClr>
          </a:solidFill>
          <a:ln w="34925">
            <a:solidFill>
              <a:srgbClr val="6B4FA0"/>
            </a:solidFill>
            <a:prstDash val="solid"/>
          </a:ln>
        </p:spPr>
      </p:sp>
      <p:sp>
        <p:nvSpPr>
          <p:cNvPr id="35" name="Text 33"/>
          <p:cNvSpPr txBox="1"/>
          <p:nvPr/>
        </p:nvSpPr>
        <p:spPr>
          <a:xfrm>
            <a:off x="548640" y="5650992"/>
            <a:ext cx="5120640"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F = BD + B'D'</a:t>
            </a:r>
            <a:endParaRPr lang="en-US" sz="2400" dirty="0"/>
          </a:p>
        </p:txBody>
      </p:sp>
      <p:sp>
        <p:nvSpPr>
          <p:cNvPr id="36" name="Shape 34"/>
          <p:cNvSpPr/>
          <p:nvPr/>
        </p:nvSpPr>
        <p:spPr>
          <a:xfrm>
            <a:off x="6035040" y="1515999"/>
            <a:ext cx="146304" cy="146304"/>
          </a:xfrm>
          <a:prstGeom prst="rect">
            <a:avLst/>
          </a:prstGeom>
          <a:solidFill>
            <a:srgbClr val="0E7C86"/>
          </a:solidFill>
          <a:ln w="12700">
            <a:solidFill>
              <a:srgbClr val="0E7C86"/>
            </a:solidFill>
            <a:prstDash val="solid"/>
          </a:ln>
        </p:spPr>
      </p:sp>
      <p:sp>
        <p:nvSpPr>
          <p:cNvPr id="37" name="Text 35"/>
          <p:cNvSpPr txBox="1"/>
          <p:nvPr/>
        </p:nvSpPr>
        <p:spPr>
          <a:xfrm>
            <a:off x="6419088" y="1417320"/>
            <a:ext cx="52239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 = sum of m(0, 2, 5, 7, 8, 10, 13, 15): eight minterms, thirty-two literals</a:t>
            </a:r>
            <a:endParaRPr lang="en-US" sz="2100" dirty="0"/>
          </a:p>
        </p:txBody>
      </p:sp>
      <p:sp>
        <p:nvSpPr>
          <p:cNvPr id="38" name="Shape 36"/>
          <p:cNvSpPr/>
          <p:nvPr/>
        </p:nvSpPr>
        <p:spPr>
          <a:xfrm>
            <a:off x="6035040" y="2828671"/>
            <a:ext cx="146304" cy="146304"/>
          </a:xfrm>
          <a:prstGeom prst="rect">
            <a:avLst/>
          </a:prstGeom>
          <a:solidFill>
            <a:srgbClr val="C7791B"/>
          </a:solidFill>
          <a:ln w="12700">
            <a:solidFill>
              <a:srgbClr val="C7791B"/>
            </a:solidFill>
            <a:prstDash val="solid"/>
          </a:ln>
        </p:spPr>
      </p:sp>
      <p:sp>
        <p:nvSpPr>
          <p:cNvPr id="39" name="Text 37"/>
          <p:cNvSpPr txBox="1"/>
          <p:nvPr/>
        </p:nvSpPr>
        <p:spPr>
          <a:xfrm>
            <a:off x="6419088" y="2729992"/>
            <a:ext cx="5223967"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Red group of four in the centre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 = 1 and D = 1 throughout: the clause is BD</a:t>
            </a:r>
            <a:endParaRPr lang="en-US" sz="2100" dirty="0"/>
          </a:p>
        </p:txBody>
      </p:sp>
      <p:sp>
        <p:nvSpPr>
          <p:cNvPr id="40" name="Shape 38"/>
          <p:cNvSpPr/>
          <p:nvPr/>
        </p:nvSpPr>
        <p:spPr>
          <a:xfrm>
            <a:off x="6035040" y="4084955"/>
            <a:ext cx="146304" cy="146304"/>
          </a:xfrm>
          <a:prstGeom prst="rect">
            <a:avLst/>
          </a:prstGeom>
          <a:solidFill>
            <a:srgbClr val="0E7C86"/>
          </a:solidFill>
          <a:ln w="12700">
            <a:solidFill>
              <a:srgbClr val="0E7C86"/>
            </a:solidFill>
            <a:prstDash val="solid"/>
          </a:ln>
        </p:spPr>
      </p:sp>
      <p:sp>
        <p:nvSpPr>
          <p:cNvPr id="41" name="Text 39"/>
          <p:cNvSpPr txBox="1"/>
          <p:nvPr/>
        </p:nvSpPr>
        <p:spPr>
          <a:xfrm>
            <a:off x="6419088" y="3986276"/>
            <a:ext cx="5223967" cy="119862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Violet: the four corners are one group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map wraps around horizontally and vertically: B = 0 and D = 0, the clause is B'D'</a:t>
            </a:r>
            <a:endParaRPr lang="en-US" sz="2100" dirty="0"/>
          </a:p>
        </p:txBody>
      </p:sp>
      <p:sp>
        <p:nvSpPr>
          <p:cNvPr id="42" name="Shape 40"/>
          <p:cNvSpPr/>
          <p:nvPr/>
        </p:nvSpPr>
        <p:spPr>
          <a:xfrm>
            <a:off x="6035040" y="5620131"/>
            <a:ext cx="146304" cy="146304"/>
          </a:xfrm>
          <a:prstGeom prst="rect">
            <a:avLst/>
          </a:prstGeom>
          <a:solidFill>
            <a:srgbClr val="C7791B"/>
          </a:solidFill>
          <a:ln w="12700">
            <a:solidFill>
              <a:srgbClr val="C7791B"/>
            </a:solidFill>
            <a:prstDash val="solid"/>
          </a:ln>
        </p:spPr>
      </p:sp>
      <p:sp>
        <p:nvSpPr>
          <p:cNvPr id="43" name="Text 41"/>
          <p:cNvSpPr txBox="1"/>
          <p:nvPr/>
        </p:nvSpPr>
        <p:spPr>
          <a:xfrm>
            <a:off x="6419088" y="5521452"/>
            <a:ext cx="52239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Result: four literals, and you may recognise it: F is the XNOR of B and D</a:t>
            </a:r>
            <a:endParaRPr lang="en-US" sz="2100" dirty="0"/>
          </a:p>
        </p:txBody>
      </p:sp>
      <p:sp>
        <p:nvSpPr>
          <p:cNvPr id="44" name="Shape 42"/>
          <p:cNvSpPr/>
          <p:nvPr/>
        </p:nvSpPr>
        <p:spPr>
          <a:xfrm>
            <a:off x="7893761" y="91440"/>
            <a:ext cx="3749294" cy="274320"/>
          </a:xfrm>
          <a:prstGeom prst="rect">
            <a:avLst/>
          </a:prstGeom>
          <a:solidFill>
            <a:srgbClr val="E0F2FE"/>
          </a:solidFill>
          <a:ln w="12700">
            <a:solidFill>
              <a:srgbClr val="0369A1"/>
            </a:solidFill>
            <a:prstDash val="solid"/>
          </a:ln>
        </p:spPr>
      </p:sp>
      <p:sp>
        <p:nvSpPr>
          <p:cNvPr id="45" name="Shape 43"/>
          <p:cNvSpPr/>
          <p:nvPr/>
        </p:nvSpPr>
        <p:spPr>
          <a:xfrm>
            <a:off x="7893761" y="91440"/>
            <a:ext cx="73152" cy="274320"/>
          </a:xfrm>
          <a:prstGeom prst="rect">
            <a:avLst/>
          </a:prstGeom>
          <a:solidFill>
            <a:srgbClr val="0369A1"/>
          </a:solidFill>
          <a:ln w="12700">
            <a:solidFill>
              <a:srgbClr val="0369A1"/>
            </a:solidFill>
            <a:prstDash val="solid"/>
          </a:ln>
        </p:spPr>
      </p:sp>
      <p:pic>
        <p:nvPicPr>
          <p:cNvPr id="4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47" name="Text 4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Don't-care conditions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Sometimes an input combination can never occur, or the output does not matter when it does</a:t>
            </a:r>
            <a:endParaRPr lang="en-US" sz="2200" dirty="0"/>
          </a:p>
        </p:txBody>
      </p:sp>
      <p:sp>
        <p:nvSpPr>
          <p:cNvPr id="5" name="Shape 3"/>
          <p:cNvSpPr/>
          <p:nvPr/>
        </p:nvSpPr>
        <p:spPr>
          <a:xfrm>
            <a:off x="548640" y="27149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851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Example: a digit in binary-coded decimal uses the patterns 0000 to 1001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six patterns 1010 to 1111 never appear</a:t>
            </a:r>
            <a:endParaRPr lang="en-US" sz="2200" dirty="0"/>
          </a:p>
        </p:txBody>
      </p:sp>
      <p:sp>
        <p:nvSpPr>
          <p:cNvPr id="7" name="Shape 5"/>
          <p:cNvSpPr/>
          <p:nvPr/>
        </p:nvSpPr>
        <p:spPr>
          <a:xfrm>
            <a:off x="548640" y="38962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8980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Those cells are marked with an x in the map: don't care</a:t>
            </a:r>
            <a:endParaRPr lang="en-US" sz="2200" dirty="0"/>
          </a:p>
        </p:txBody>
      </p:sp>
      <p:sp>
        <p:nvSpPr>
          <p:cNvPr id="9" name="Shape 7"/>
          <p:cNvSpPr/>
          <p:nvPr/>
        </p:nvSpPr>
        <p:spPr>
          <a:xfrm>
            <a:off x="548640" y="4746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01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x may be treated as a 1 when it makes a group larger, and as a 0 otherwise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More freedom means larger groups and a cheaper circuit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a cell whose value we are free to choose, 0 or 1, whichever simplifies the circuit</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minimisation, Karnaugh maps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Thirty-two full adders make an add</a:t>
            </a:r>
            <a:endParaRPr lang="en-US" sz="3200" dirty="0"/>
          </a:p>
        </p:txBody>
      </p:sp>
      <p:sp>
        <p:nvSpPr>
          <p:cNvPr id="3" name="Text 1"/>
          <p:cNvSpPr txBox="1"/>
          <p:nvPr/>
        </p:nvSpPr>
        <p:spPr>
          <a:xfrm>
            <a:off x="96926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0</a:t>
            </a:r>
            <a:endParaRPr lang="en-US" sz="1400" dirty="0"/>
          </a:p>
        </p:txBody>
      </p:sp>
      <p:sp>
        <p:nvSpPr>
          <p:cNvPr id="4" name="Shape 2"/>
          <p:cNvSpPr/>
          <p:nvPr/>
        </p:nvSpPr>
        <p:spPr>
          <a:xfrm>
            <a:off x="10104120" y="1737360"/>
            <a:ext cx="0" cy="566928"/>
          </a:xfrm>
          <a:prstGeom prst="line">
            <a:avLst/>
          </a:prstGeom>
          <a:noFill/>
          <a:ln w="22225">
            <a:solidFill>
              <a:srgbClr val="5B6B78"/>
            </a:solidFill>
            <a:prstDash val="solid"/>
            <a:tailEnd type="triangle"/>
          </a:ln>
        </p:spPr>
      </p:sp>
      <p:sp>
        <p:nvSpPr>
          <p:cNvPr id="5" name="Shape 3"/>
          <p:cNvSpPr/>
          <p:nvPr/>
        </p:nvSpPr>
        <p:spPr>
          <a:xfrm>
            <a:off x="10607040" y="1737360"/>
            <a:ext cx="0" cy="566928"/>
          </a:xfrm>
          <a:prstGeom prst="line">
            <a:avLst/>
          </a:prstGeom>
          <a:noFill/>
          <a:ln w="22225">
            <a:solidFill>
              <a:srgbClr val="5B6B78"/>
            </a:solidFill>
            <a:prstDash val="solid"/>
            <a:tailEnd type="triangle"/>
          </a:ln>
        </p:spPr>
      </p:sp>
      <p:sp>
        <p:nvSpPr>
          <p:cNvPr id="6" name="Text 4"/>
          <p:cNvSpPr txBox="1"/>
          <p:nvPr/>
        </p:nvSpPr>
        <p:spPr>
          <a:xfrm>
            <a:off x="97840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A0</a:t>
            </a:r>
            <a:endParaRPr lang="en-US" sz="1400" dirty="0"/>
          </a:p>
        </p:txBody>
      </p:sp>
      <p:sp>
        <p:nvSpPr>
          <p:cNvPr id="7" name="Text 5"/>
          <p:cNvSpPr txBox="1"/>
          <p:nvPr/>
        </p:nvSpPr>
        <p:spPr>
          <a:xfrm>
            <a:off x="102870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B0</a:t>
            </a:r>
            <a:endParaRPr lang="en-US" sz="1400" dirty="0"/>
          </a:p>
        </p:txBody>
      </p:sp>
      <p:sp>
        <p:nvSpPr>
          <p:cNvPr id="8" name="Shape 6"/>
          <p:cNvSpPr/>
          <p:nvPr/>
        </p:nvSpPr>
        <p:spPr>
          <a:xfrm>
            <a:off x="10355580" y="3502152"/>
            <a:ext cx="0" cy="521208"/>
          </a:xfrm>
          <a:prstGeom prst="line">
            <a:avLst/>
          </a:prstGeom>
          <a:noFill/>
          <a:ln w="22225">
            <a:solidFill>
              <a:srgbClr val="5B6B78"/>
            </a:solidFill>
            <a:prstDash val="solid"/>
            <a:tailEnd type="triangle"/>
          </a:ln>
        </p:spPr>
      </p:sp>
      <p:sp>
        <p:nvSpPr>
          <p:cNvPr id="9" name="Text 7"/>
          <p:cNvSpPr txBox="1"/>
          <p:nvPr/>
        </p:nvSpPr>
        <p:spPr>
          <a:xfrm>
            <a:off x="99898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S0</a:t>
            </a:r>
            <a:endParaRPr lang="en-US" sz="1400" dirty="0"/>
          </a:p>
        </p:txBody>
      </p:sp>
      <p:sp>
        <p:nvSpPr>
          <p:cNvPr id="10" name="Text 8"/>
          <p:cNvSpPr txBox="1"/>
          <p:nvPr/>
        </p:nvSpPr>
        <p:spPr>
          <a:xfrm>
            <a:off x="78638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1</a:t>
            </a:r>
            <a:endParaRPr lang="en-US" sz="1400" dirty="0"/>
          </a:p>
        </p:txBody>
      </p:sp>
      <p:sp>
        <p:nvSpPr>
          <p:cNvPr id="11" name="Shape 9"/>
          <p:cNvSpPr/>
          <p:nvPr/>
        </p:nvSpPr>
        <p:spPr>
          <a:xfrm>
            <a:off x="8275320" y="1737360"/>
            <a:ext cx="0" cy="566928"/>
          </a:xfrm>
          <a:prstGeom prst="line">
            <a:avLst/>
          </a:prstGeom>
          <a:noFill/>
          <a:ln w="22225">
            <a:solidFill>
              <a:srgbClr val="5B6B78"/>
            </a:solidFill>
            <a:prstDash val="solid"/>
            <a:tailEnd type="triangle"/>
          </a:ln>
        </p:spPr>
      </p:sp>
      <p:sp>
        <p:nvSpPr>
          <p:cNvPr id="12" name="Shape 10"/>
          <p:cNvSpPr/>
          <p:nvPr/>
        </p:nvSpPr>
        <p:spPr>
          <a:xfrm>
            <a:off x="8778240" y="1737360"/>
            <a:ext cx="0" cy="566928"/>
          </a:xfrm>
          <a:prstGeom prst="line">
            <a:avLst/>
          </a:prstGeom>
          <a:noFill/>
          <a:ln w="22225">
            <a:solidFill>
              <a:srgbClr val="5B6B78"/>
            </a:solidFill>
            <a:prstDash val="solid"/>
            <a:tailEnd type="triangle"/>
          </a:ln>
        </p:spPr>
      </p:sp>
      <p:sp>
        <p:nvSpPr>
          <p:cNvPr id="13" name="Text 11"/>
          <p:cNvSpPr txBox="1"/>
          <p:nvPr/>
        </p:nvSpPr>
        <p:spPr>
          <a:xfrm>
            <a:off x="79552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A1</a:t>
            </a:r>
            <a:endParaRPr lang="en-US" sz="1400" dirty="0"/>
          </a:p>
        </p:txBody>
      </p:sp>
      <p:sp>
        <p:nvSpPr>
          <p:cNvPr id="14" name="Text 12"/>
          <p:cNvSpPr txBox="1"/>
          <p:nvPr/>
        </p:nvSpPr>
        <p:spPr>
          <a:xfrm>
            <a:off x="84582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B1</a:t>
            </a:r>
            <a:endParaRPr lang="en-US" sz="1400" dirty="0"/>
          </a:p>
        </p:txBody>
      </p:sp>
      <p:sp>
        <p:nvSpPr>
          <p:cNvPr id="15" name="Shape 13"/>
          <p:cNvSpPr/>
          <p:nvPr/>
        </p:nvSpPr>
        <p:spPr>
          <a:xfrm>
            <a:off x="8526780" y="3502152"/>
            <a:ext cx="0" cy="521208"/>
          </a:xfrm>
          <a:prstGeom prst="line">
            <a:avLst/>
          </a:prstGeom>
          <a:noFill/>
          <a:ln w="22225">
            <a:solidFill>
              <a:srgbClr val="5B6B78"/>
            </a:solidFill>
            <a:prstDash val="solid"/>
            <a:tailEnd type="triangle"/>
          </a:ln>
        </p:spPr>
      </p:sp>
      <p:sp>
        <p:nvSpPr>
          <p:cNvPr id="16" name="Text 14"/>
          <p:cNvSpPr txBox="1"/>
          <p:nvPr/>
        </p:nvSpPr>
        <p:spPr>
          <a:xfrm>
            <a:off x="81610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S1</a:t>
            </a:r>
            <a:endParaRPr lang="en-US" sz="1400" dirty="0"/>
          </a:p>
        </p:txBody>
      </p:sp>
      <p:sp>
        <p:nvSpPr>
          <p:cNvPr id="17" name="Text 15"/>
          <p:cNvSpPr txBox="1"/>
          <p:nvPr/>
        </p:nvSpPr>
        <p:spPr>
          <a:xfrm>
            <a:off x="6035040" y="2331720"/>
            <a:ext cx="1325880" cy="1143000"/>
          </a:xfrm>
          <a:prstGeom prst="roundRect">
            <a:avLst>
              <a:gd name="adj" fmla="val 6400"/>
            </a:avLst>
          </a:prstGeom>
          <a:solidFill>
            <a:srgbClr val="0E7C86"/>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2</a:t>
            </a:r>
            <a:endParaRPr lang="en-US" sz="1400" dirty="0"/>
          </a:p>
        </p:txBody>
      </p:sp>
      <p:sp>
        <p:nvSpPr>
          <p:cNvPr id="18" name="Shape 16"/>
          <p:cNvSpPr/>
          <p:nvPr/>
        </p:nvSpPr>
        <p:spPr>
          <a:xfrm>
            <a:off x="6446520" y="1737360"/>
            <a:ext cx="0" cy="566928"/>
          </a:xfrm>
          <a:prstGeom prst="line">
            <a:avLst/>
          </a:prstGeom>
          <a:noFill/>
          <a:ln w="22225">
            <a:solidFill>
              <a:srgbClr val="5B6B78"/>
            </a:solidFill>
            <a:prstDash val="solid"/>
            <a:tailEnd type="triangle"/>
          </a:ln>
        </p:spPr>
      </p:sp>
      <p:sp>
        <p:nvSpPr>
          <p:cNvPr id="19" name="Shape 17"/>
          <p:cNvSpPr/>
          <p:nvPr/>
        </p:nvSpPr>
        <p:spPr>
          <a:xfrm>
            <a:off x="6949440" y="1737360"/>
            <a:ext cx="0" cy="566928"/>
          </a:xfrm>
          <a:prstGeom prst="line">
            <a:avLst/>
          </a:prstGeom>
          <a:noFill/>
          <a:ln w="22225">
            <a:solidFill>
              <a:srgbClr val="5B6B78"/>
            </a:solidFill>
            <a:prstDash val="solid"/>
            <a:tailEnd type="triangle"/>
          </a:ln>
        </p:spPr>
      </p:sp>
      <p:sp>
        <p:nvSpPr>
          <p:cNvPr id="20" name="Text 18"/>
          <p:cNvSpPr txBox="1"/>
          <p:nvPr/>
        </p:nvSpPr>
        <p:spPr>
          <a:xfrm>
            <a:off x="61264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A2</a:t>
            </a:r>
            <a:endParaRPr lang="en-US" sz="1400" dirty="0"/>
          </a:p>
        </p:txBody>
      </p:sp>
      <p:sp>
        <p:nvSpPr>
          <p:cNvPr id="21" name="Text 19"/>
          <p:cNvSpPr txBox="1"/>
          <p:nvPr/>
        </p:nvSpPr>
        <p:spPr>
          <a:xfrm>
            <a:off x="66294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B2</a:t>
            </a:r>
            <a:endParaRPr lang="en-US" sz="1400" dirty="0"/>
          </a:p>
        </p:txBody>
      </p:sp>
      <p:sp>
        <p:nvSpPr>
          <p:cNvPr id="22" name="Shape 20"/>
          <p:cNvSpPr/>
          <p:nvPr/>
        </p:nvSpPr>
        <p:spPr>
          <a:xfrm>
            <a:off x="6697980" y="3502152"/>
            <a:ext cx="0" cy="521208"/>
          </a:xfrm>
          <a:prstGeom prst="line">
            <a:avLst/>
          </a:prstGeom>
          <a:noFill/>
          <a:ln w="22225">
            <a:solidFill>
              <a:srgbClr val="5B6B78"/>
            </a:solidFill>
            <a:prstDash val="solid"/>
            <a:tailEnd type="triangle"/>
          </a:ln>
        </p:spPr>
      </p:sp>
      <p:sp>
        <p:nvSpPr>
          <p:cNvPr id="23" name="Text 21"/>
          <p:cNvSpPr txBox="1"/>
          <p:nvPr/>
        </p:nvSpPr>
        <p:spPr>
          <a:xfrm>
            <a:off x="63322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S2</a:t>
            </a:r>
            <a:endParaRPr lang="en-US" sz="1400" dirty="0"/>
          </a:p>
        </p:txBody>
      </p:sp>
      <p:sp>
        <p:nvSpPr>
          <p:cNvPr id="24" name="Text 22"/>
          <p:cNvSpPr txBox="1"/>
          <p:nvPr/>
        </p:nvSpPr>
        <p:spPr>
          <a:xfrm>
            <a:off x="2377440" y="2331720"/>
            <a:ext cx="1325880" cy="1143000"/>
          </a:xfrm>
          <a:prstGeom prst="roundRect">
            <a:avLst>
              <a:gd name="adj" fmla="val 6400"/>
            </a:avLst>
          </a:prstGeom>
          <a:solidFill>
            <a:srgbClr val="2E4A62"/>
          </a:solidFill>
          <a:ln>
            <a:solidFill>
              <a:srgbClr val="FFFFFF"/>
            </a:solidFill>
          </a:ln>
        </p:spPr>
        <p:txBody>
          <a:bodyPr wrap="square" lIns="25400" tIns="25400" rIns="25400" bIns="254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full adder</a:t>
            </a:r>
            <a:endParaRPr lang="en-US" sz="1400" dirty="0"/>
          </a:p>
          <a:p>
            <a:pPr algn="ctr" indent="0" marL="0">
              <a:buNone/>
            </a:pPr>
            <a:r>
              <a:rPr lang="en-US" sz="1300" dirty="0">
                <a:solidFill>
                  <a:srgbClr val="FFFFFF"/>
                </a:solidFill>
                <a:latin typeface="Calibri" pitchFamily="34" charset="0"/>
                <a:ea typeface="Calibri" pitchFamily="34" charset="-122"/>
                <a:cs typeface="Calibri" pitchFamily="34" charset="-120"/>
              </a:rPr>
              <a:t>bit 31</a:t>
            </a:r>
            <a:endParaRPr lang="en-US" sz="1400" dirty="0"/>
          </a:p>
        </p:txBody>
      </p:sp>
      <p:sp>
        <p:nvSpPr>
          <p:cNvPr id="25" name="Shape 23"/>
          <p:cNvSpPr/>
          <p:nvPr/>
        </p:nvSpPr>
        <p:spPr>
          <a:xfrm>
            <a:off x="2788920" y="1737360"/>
            <a:ext cx="0" cy="566928"/>
          </a:xfrm>
          <a:prstGeom prst="line">
            <a:avLst/>
          </a:prstGeom>
          <a:noFill/>
          <a:ln w="22225">
            <a:solidFill>
              <a:srgbClr val="5B6B78"/>
            </a:solidFill>
            <a:prstDash val="solid"/>
            <a:tailEnd type="triangle"/>
          </a:ln>
        </p:spPr>
      </p:sp>
      <p:sp>
        <p:nvSpPr>
          <p:cNvPr id="26" name="Shape 24"/>
          <p:cNvSpPr/>
          <p:nvPr/>
        </p:nvSpPr>
        <p:spPr>
          <a:xfrm>
            <a:off x="3291840" y="1737360"/>
            <a:ext cx="0" cy="566928"/>
          </a:xfrm>
          <a:prstGeom prst="line">
            <a:avLst/>
          </a:prstGeom>
          <a:noFill/>
          <a:ln w="22225">
            <a:solidFill>
              <a:srgbClr val="5B6B78"/>
            </a:solidFill>
            <a:prstDash val="solid"/>
            <a:tailEnd type="triangle"/>
          </a:ln>
        </p:spPr>
      </p:sp>
      <p:sp>
        <p:nvSpPr>
          <p:cNvPr id="27" name="Text 25"/>
          <p:cNvSpPr txBox="1"/>
          <p:nvPr/>
        </p:nvSpPr>
        <p:spPr>
          <a:xfrm>
            <a:off x="246888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A31</a:t>
            </a:r>
            <a:endParaRPr lang="en-US" sz="1400" dirty="0"/>
          </a:p>
        </p:txBody>
      </p:sp>
      <p:sp>
        <p:nvSpPr>
          <p:cNvPr id="28" name="Text 26"/>
          <p:cNvSpPr txBox="1"/>
          <p:nvPr/>
        </p:nvSpPr>
        <p:spPr>
          <a:xfrm>
            <a:off x="2971800" y="1435608"/>
            <a:ext cx="64008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B31</a:t>
            </a:r>
            <a:endParaRPr lang="en-US" sz="1400" dirty="0"/>
          </a:p>
        </p:txBody>
      </p:sp>
      <p:sp>
        <p:nvSpPr>
          <p:cNvPr id="29" name="Shape 27"/>
          <p:cNvSpPr/>
          <p:nvPr/>
        </p:nvSpPr>
        <p:spPr>
          <a:xfrm>
            <a:off x="3040380" y="3502152"/>
            <a:ext cx="0" cy="521208"/>
          </a:xfrm>
          <a:prstGeom prst="line">
            <a:avLst/>
          </a:prstGeom>
          <a:noFill/>
          <a:ln w="22225">
            <a:solidFill>
              <a:srgbClr val="5B6B78"/>
            </a:solidFill>
            <a:prstDash val="solid"/>
            <a:tailEnd type="triangle"/>
          </a:ln>
        </p:spPr>
      </p:sp>
      <p:sp>
        <p:nvSpPr>
          <p:cNvPr id="30" name="Text 28"/>
          <p:cNvSpPr txBox="1"/>
          <p:nvPr/>
        </p:nvSpPr>
        <p:spPr>
          <a:xfrm>
            <a:off x="2674620" y="4041648"/>
            <a:ext cx="731520" cy="274320"/>
          </a:xfrm>
          <a:prstGeom prst="rect">
            <a:avLst/>
          </a:prstGeom>
          <a:noFill/>
          <a:ln/>
        </p:spPr>
        <p:txBody>
          <a:bodyPr wrap="square" lIns="0" tIns="0" rIns="0" bIns="0" rtlCol="0" anchor="t"/>
          <a:lstStyle/>
          <a:p>
            <a:pPr algn="ctr" indent="0" marL="0">
              <a:buNone/>
            </a:pPr>
            <a:r>
              <a:rPr lang="en-US" sz="1400" b="1" dirty="0">
                <a:solidFill>
                  <a:srgbClr val="1B2530"/>
                </a:solidFill>
                <a:latin typeface="Courier New" pitchFamily="34" charset="0"/>
                <a:ea typeface="Courier New" pitchFamily="34" charset="-122"/>
                <a:cs typeface="Courier New" pitchFamily="34" charset="-120"/>
              </a:rPr>
              <a:t>S31</a:t>
            </a:r>
            <a:endParaRPr lang="en-US" sz="1400" dirty="0"/>
          </a:p>
        </p:txBody>
      </p:sp>
      <p:sp>
        <p:nvSpPr>
          <p:cNvPr id="31" name="Shape 29"/>
          <p:cNvSpPr/>
          <p:nvPr/>
        </p:nvSpPr>
        <p:spPr>
          <a:xfrm flipH="1">
            <a:off x="11045952" y="2903220"/>
            <a:ext cx="521208" cy="0"/>
          </a:xfrm>
          <a:prstGeom prst="line">
            <a:avLst/>
          </a:prstGeom>
          <a:noFill/>
          <a:ln w="28575">
            <a:solidFill>
              <a:srgbClr val="C7791B"/>
            </a:solidFill>
            <a:prstDash val="solid"/>
            <a:tailEnd type="triangle"/>
          </a:ln>
        </p:spPr>
      </p:sp>
      <p:sp>
        <p:nvSpPr>
          <p:cNvPr id="32" name="Text 30"/>
          <p:cNvSpPr txBox="1"/>
          <p:nvPr/>
        </p:nvSpPr>
        <p:spPr>
          <a:xfrm>
            <a:off x="11430000" y="2491740"/>
            <a:ext cx="320040" cy="274320"/>
          </a:xfrm>
          <a:prstGeom prst="rect">
            <a:avLst/>
          </a:prstGeom>
          <a:noFill/>
          <a:ln/>
        </p:spPr>
        <p:txBody>
          <a:bodyPr wrap="square" lIns="0" tIns="0" rIns="0" bIns="0" rtlCol="0" anchor="t"/>
          <a:lstStyle/>
          <a:p>
            <a:pPr indent="0" marL="0">
              <a:buNone/>
            </a:pPr>
            <a:r>
              <a:rPr lang="en-US" sz="1400" b="1" dirty="0">
                <a:solidFill>
                  <a:srgbClr val="C7791B"/>
                </a:solidFill>
                <a:latin typeface="Courier New" pitchFamily="34" charset="0"/>
                <a:ea typeface="Courier New" pitchFamily="34" charset="-122"/>
                <a:cs typeface="Courier New" pitchFamily="34" charset="-120"/>
              </a:rPr>
              <a:t>0</a:t>
            </a:r>
            <a:endParaRPr lang="en-US" sz="1400" dirty="0"/>
          </a:p>
        </p:txBody>
      </p:sp>
      <p:sp>
        <p:nvSpPr>
          <p:cNvPr id="33" name="Shape 31"/>
          <p:cNvSpPr/>
          <p:nvPr/>
        </p:nvSpPr>
        <p:spPr>
          <a:xfrm flipH="1">
            <a:off x="9217152" y="2903220"/>
            <a:ext cx="448056" cy="0"/>
          </a:xfrm>
          <a:prstGeom prst="line">
            <a:avLst/>
          </a:prstGeom>
          <a:noFill/>
          <a:ln w="28575">
            <a:solidFill>
              <a:srgbClr val="C7791B"/>
            </a:solidFill>
            <a:prstDash val="solid"/>
            <a:tailEnd type="triangle"/>
          </a:ln>
        </p:spPr>
      </p:sp>
      <p:sp>
        <p:nvSpPr>
          <p:cNvPr id="34" name="Shape 32"/>
          <p:cNvSpPr/>
          <p:nvPr/>
        </p:nvSpPr>
        <p:spPr>
          <a:xfrm flipH="1">
            <a:off x="7388352" y="2903220"/>
            <a:ext cx="448056" cy="0"/>
          </a:xfrm>
          <a:prstGeom prst="line">
            <a:avLst/>
          </a:prstGeom>
          <a:noFill/>
          <a:ln w="28575">
            <a:solidFill>
              <a:srgbClr val="C7791B"/>
            </a:solidFill>
            <a:prstDash val="solid"/>
            <a:tailEnd type="triangle"/>
          </a:ln>
        </p:spPr>
      </p:sp>
      <p:sp>
        <p:nvSpPr>
          <p:cNvPr id="35" name="Shape 33"/>
          <p:cNvSpPr/>
          <p:nvPr/>
        </p:nvSpPr>
        <p:spPr>
          <a:xfrm flipH="1">
            <a:off x="5257800" y="2903220"/>
            <a:ext cx="749808" cy="0"/>
          </a:xfrm>
          <a:prstGeom prst="line">
            <a:avLst/>
          </a:prstGeom>
          <a:noFill/>
          <a:ln w="28575">
            <a:solidFill>
              <a:srgbClr val="C7791B"/>
            </a:solidFill>
            <a:prstDash val="solid"/>
            <a:tailEnd type="triangle"/>
          </a:ln>
        </p:spPr>
      </p:sp>
      <p:sp>
        <p:nvSpPr>
          <p:cNvPr id="36" name="Text 34"/>
          <p:cNvSpPr txBox="1"/>
          <p:nvPr/>
        </p:nvSpPr>
        <p:spPr>
          <a:xfrm>
            <a:off x="4343400" y="2674620"/>
            <a:ext cx="868680" cy="457200"/>
          </a:xfrm>
          <a:prstGeom prst="rect">
            <a:avLst/>
          </a:prstGeom>
          <a:noFill/>
          <a:ln/>
        </p:spPr>
        <p:txBody>
          <a:bodyPr wrap="square" lIns="0" tIns="0" rIns="0" bIns="0" rtlCol="0" anchor="ctr"/>
          <a:lstStyle/>
          <a:p>
            <a:pPr algn="ctr" indent="0" marL="0">
              <a:buNone/>
            </a:pPr>
            <a:r>
              <a:rPr lang="en-US" sz="2200" b="1" dirty="0">
                <a:solidFill>
                  <a:srgbClr val="C7791B"/>
                </a:solidFill>
                <a:latin typeface="Calibri" pitchFamily="34" charset="0"/>
                <a:ea typeface="Calibri" pitchFamily="34" charset="-122"/>
                <a:cs typeface="Calibri" pitchFamily="34" charset="-120"/>
              </a:rPr>
              <a:t>. . .</a:t>
            </a:r>
            <a:endParaRPr lang="en-US" sz="2200" dirty="0"/>
          </a:p>
        </p:txBody>
      </p:sp>
      <p:sp>
        <p:nvSpPr>
          <p:cNvPr id="37" name="Shape 35"/>
          <p:cNvSpPr/>
          <p:nvPr/>
        </p:nvSpPr>
        <p:spPr>
          <a:xfrm flipH="1">
            <a:off x="3730752" y="2903220"/>
            <a:ext cx="566928" cy="0"/>
          </a:xfrm>
          <a:prstGeom prst="line">
            <a:avLst/>
          </a:prstGeom>
          <a:noFill/>
          <a:ln w="28575">
            <a:solidFill>
              <a:srgbClr val="C7791B"/>
            </a:solidFill>
            <a:prstDash val="solid"/>
            <a:tailEnd type="triangle"/>
          </a:ln>
        </p:spPr>
      </p:sp>
      <p:sp>
        <p:nvSpPr>
          <p:cNvPr id="38" name="Shape 36"/>
          <p:cNvSpPr/>
          <p:nvPr/>
        </p:nvSpPr>
        <p:spPr>
          <a:xfrm flipH="1">
            <a:off x="1600200" y="2903220"/>
            <a:ext cx="749808" cy="0"/>
          </a:xfrm>
          <a:prstGeom prst="line">
            <a:avLst/>
          </a:prstGeom>
          <a:noFill/>
          <a:ln w="28575">
            <a:solidFill>
              <a:srgbClr val="C7791B"/>
            </a:solidFill>
            <a:prstDash val="solid"/>
            <a:tailEnd type="triangle"/>
          </a:ln>
        </p:spPr>
      </p:sp>
      <p:sp>
        <p:nvSpPr>
          <p:cNvPr id="39" name="Text 37"/>
          <p:cNvSpPr txBox="1"/>
          <p:nvPr/>
        </p:nvSpPr>
        <p:spPr>
          <a:xfrm>
            <a:off x="685800" y="2583180"/>
            <a:ext cx="868680" cy="640080"/>
          </a:xfrm>
          <a:prstGeom prst="rect">
            <a:avLst/>
          </a:prstGeom>
          <a:noFill/>
          <a:ln/>
        </p:spPr>
        <p:txBody>
          <a:bodyPr wrap="square" lIns="0" tIns="0" rIns="0" bIns="0" rtlCol="0" anchor="ctr"/>
          <a:lstStyle/>
          <a:p>
            <a:pPr algn="ctr" indent="0" marL="0">
              <a:buNone/>
            </a:pPr>
            <a:r>
              <a:rPr lang="en-US" sz="1300" b="1" dirty="0">
                <a:solidFill>
                  <a:srgbClr val="C7791B"/>
                </a:solidFill>
                <a:latin typeface="Calibri" pitchFamily="34" charset="0"/>
                <a:ea typeface="Calibri" pitchFamily="34" charset="-122"/>
                <a:cs typeface="Calibri" pitchFamily="34" charset="-120"/>
              </a:rPr>
              <a:t>carry</a:t>
            </a:r>
            <a:endParaRPr lang="en-US" sz="1300" dirty="0"/>
          </a:p>
          <a:p>
            <a:pPr algn="ctr" indent="0" marL="0">
              <a:buNone/>
            </a:pPr>
            <a:r>
              <a:rPr lang="en-US" sz="1300" b="1" dirty="0">
                <a:solidFill>
                  <a:srgbClr val="C7791B"/>
                </a:solidFill>
                <a:latin typeface="Calibri" pitchFamily="34" charset="0"/>
                <a:ea typeface="Calibri" pitchFamily="34" charset="-122"/>
                <a:cs typeface="Calibri" pitchFamily="34" charset="-120"/>
              </a:rPr>
              <a:t>out</a:t>
            </a:r>
            <a:endParaRPr lang="en-US" sz="1300" dirty="0"/>
          </a:p>
        </p:txBody>
      </p:sp>
      <p:sp>
        <p:nvSpPr>
          <p:cNvPr id="40" name="Text 38"/>
          <p:cNvSpPr txBox="1"/>
          <p:nvPr/>
        </p:nvSpPr>
        <p:spPr>
          <a:xfrm>
            <a:off x="3794760" y="3177540"/>
            <a:ext cx="2103120" cy="274320"/>
          </a:xfrm>
          <a:prstGeom prst="rect">
            <a:avLst/>
          </a:prstGeom>
          <a:noFill/>
          <a:ln/>
        </p:spPr>
        <p:txBody>
          <a:bodyPr wrap="square" lIns="0" tIns="0" rIns="0" bIns="0" rtlCol="0" anchor="t"/>
          <a:lstStyle/>
          <a:p>
            <a:pPr algn="ctr" indent="0" marL="0">
              <a:buNone/>
            </a:pPr>
            <a:r>
              <a:rPr lang="en-US" sz="1250" i="1" dirty="0">
                <a:solidFill>
                  <a:srgbClr val="C7791B"/>
                </a:solidFill>
                <a:latin typeface="Calibri" pitchFamily="34" charset="0"/>
                <a:ea typeface="Calibri" pitchFamily="34" charset="-122"/>
                <a:cs typeface="Calibri" pitchFamily="34" charset="-120"/>
              </a:rPr>
              <a:t>the carry ripples leftwards</a:t>
            </a:r>
            <a:endParaRPr lang="en-US" sz="1250" dirty="0"/>
          </a:p>
        </p:txBody>
      </p:sp>
      <p:sp>
        <p:nvSpPr>
          <p:cNvPr id="41" name="Shape 39"/>
          <p:cNvSpPr/>
          <p:nvPr/>
        </p:nvSpPr>
        <p:spPr>
          <a:xfrm>
            <a:off x="548640" y="4655185"/>
            <a:ext cx="146304" cy="146304"/>
          </a:xfrm>
          <a:prstGeom prst="rect">
            <a:avLst/>
          </a:prstGeom>
          <a:solidFill>
            <a:srgbClr val="0E7C86"/>
          </a:solidFill>
          <a:ln w="12700">
            <a:solidFill>
              <a:srgbClr val="0E7C86"/>
            </a:solidFill>
            <a:prstDash val="solid"/>
          </a:ln>
        </p:spPr>
      </p:sp>
      <p:sp>
        <p:nvSpPr>
          <p:cNvPr id="42" name="Text 40"/>
          <p:cNvSpPr txBox="1"/>
          <p:nvPr/>
        </p:nvSpPr>
        <p:spPr>
          <a:xfrm>
            <a:off x="932688" y="457200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t2, t0, t1 feeds the two registers into thirty-two full adders, one per bit position</a:t>
            </a:r>
            <a:endParaRPr lang="en-US" sz="1900" dirty="0"/>
          </a:p>
        </p:txBody>
      </p:sp>
      <p:sp>
        <p:nvSpPr>
          <p:cNvPr id="43" name="Shape 41"/>
          <p:cNvSpPr/>
          <p:nvPr/>
        </p:nvSpPr>
        <p:spPr>
          <a:xfrm>
            <a:off x="548640" y="5160899"/>
            <a:ext cx="146304" cy="146304"/>
          </a:xfrm>
          <a:prstGeom prst="rect">
            <a:avLst/>
          </a:prstGeom>
          <a:solidFill>
            <a:srgbClr val="C7791B"/>
          </a:solidFill>
          <a:ln w="12700">
            <a:solidFill>
              <a:srgbClr val="C7791B"/>
            </a:solidFill>
            <a:prstDash val="solid"/>
          </a:ln>
        </p:spPr>
      </p:sp>
      <p:sp>
        <p:nvSpPr>
          <p:cNvPr id="44" name="Text 42"/>
          <p:cNvSpPr txBox="1"/>
          <p:nvPr/>
        </p:nvSpPr>
        <p:spPr>
          <a:xfrm>
            <a:off x="932688" y="50777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carry out of each position is the carry in of the next: a ripple-carry adder</a:t>
            </a:r>
            <a:endParaRPr lang="en-US" sz="1900" dirty="0"/>
          </a:p>
        </p:txBody>
      </p:sp>
      <p:sp>
        <p:nvSpPr>
          <p:cNvPr id="45" name="Shape 43"/>
          <p:cNvSpPr/>
          <p:nvPr/>
        </p:nvSpPr>
        <p:spPr>
          <a:xfrm>
            <a:off x="548640" y="5666613"/>
            <a:ext cx="146304" cy="146304"/>
          </a:xfrm>
          <a:prstGeom prst="rect">
            <a:avLst/>
          </a:prstGeom>
          <a:solidFill>
            <a:srgbClr val="0E7C86"/>
          </a:solidFill>
          <a:ln w="12700">
            <a:solidFill>
              <a:srgbClr val="0E7C86"/>
            </a:solidFill>
            <a:prstDash val="solid"/>
          </a:ln>
        </p:spPr>
      </p:sp>
      <p:sp>
        <p:nvSpPr>
          <p:cNvPr id="46" name="Text 44"/>
          <p:cNvSpPr txBox="1"/>
          <p:nvPr/>
        </p:nvSpPr>
        <p:spPr>
          <a:xfrm>
            <a:off x="932688" y="558342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sub uses the same adder: the second operand is complemented and the first carry in is 1 (Lecture 05)</a:t>
            </a:r>
            <a:endParaRPr lang="en-US" sz="1900" dirty="0"/>
          </a:p>
        </p:txBody>
      </p:sp>
      <p:sp>
        <p:nvSpPr>
          <p:cNvPr id="47" name="Shape 45"/>
          <p:cNvSpPr/>
          <p:nvPr/>
        </p:nvSpPr>
        <p:spPr>
          <a:xfrm>
            <a:off x="9075623" y="91440"/>
            <a:ext cx="2567432" cy="274320"/>
          </a:xfrm>
          <a:prstGeom prst="rect">
            <a:avLst/>
          </a:prstGeom>
          <a:solidFill>
            <a:srgbClr val="E0F2FE"/>
          </a:solidFill>
          <a:ln w="12700">
            <a:solidFill>
              <a:srgbClr val="0369A1"/>
            </a:solidFill>
            <a:prstDash val="solid"/>
          </a:ln>
        </p:spPr>
      </p:sp>
      <p:sp>
        <p:nvSpPr>
          <p:cNvPr id="48" name="Shape 46"/>
          <p:cNvSpPr/>
          <p:nvPr/>
        </p:nvSpPr>
        <p:spPr>
          <a:xfrm>
            <a:off x="9075623" y="91440"/>
            <a:ext cx="73152" cy="274320"/>
          </a:xfrm>
          <a:prstGeom prst="rect">
            <a:avLst/>
          </a:prstGeom>
          <a:solidFill>
            <a:srgbClr val="0369A1"/>
          </a:solidFill>
          <a:ln w="12700">
            <a:solidFill>
              <a:srgbClr val="0369A1"/>
            </a:solidFill>
            <a:prstDash val="solid"/>
          </a:ln>
        </p:spPr>
      </p:sp>
      <p:pic>
        <p:nvPicPr>
          <p:cNvPr id="4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50" name="Text 4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distinct Boolean functions of three variables are there?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minterm of three variables A, B, C corresponds to row 5 of the truth table?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 + C</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Karnaugh map, a rectangular group of four adjacent 1s eliminates: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variable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 variables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variables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four variables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full adder, the carry out is 1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one input is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 odd number of inputs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at least two inputs are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three inputs are 1 only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80097"/>
                <a:gridCol w="2924109"/>
                <a:gridCol w="2494093"/>
                <a:gridCol w="30961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literal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letterale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canonical form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forma canonica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clause, product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clausola, termine prodotto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sum of products (SOP)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 di prodotti (tipo 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factor, sum 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fattore, termine somma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product of sums (POS)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prodotto di somme (tipo 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minterm / maxterm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mintermine / maxtermine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Karnaugh map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mappa di Karnaugh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half adder / full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semisommatore / sommatore completo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don't care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condizione di indifferenza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carry in / carry out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riporto entrante / uscente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ripple-carry adder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sommatore a propagazione del riporto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Boolean function is a truth table; a truth table always gives a canonical expression</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Minimisation is the process that optimises a logic network to simplify its implementation</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Karnaugh maps turn the algebra into a picture: group the 1s, read the clauses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half adder and the full adder are the first real circuits of the course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Thirty-two full adders in a row are what executes the add you typed in the first lecture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chapters on logic gates and binary adding machines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09</dc:subject>
  <dc:creator>Raffaele Montella</dc:creator>
  <cp:lastModifiedBy>Raffaele Montella</cp:lastModifiedBy>
  <cp:revision>1</cp:revision>
  <dcterms:created xsi:type="dcterms:W3CDTF">2026-10-16T15:51:37Z</dcterms:created>
  <dcterms:modified xsi:type="dcterms:W3CDTF">2026-10-16T15:51:37Z</dcterms:modified>
</cp:coreProperties>
</file>