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fc41bd-7a22-3b72-f3d7-45c40af22a37}">
          <p14:sldIdLst>
            <p14:sldId id="256"/>
            <p14:sldId id="257"/>
            <p14:sldId id="258"/>
            <p14:sldId id="259"/>
          </p14:sldIdLst>
        </p14:section>
        <p14:section name="Step 1: names for bits" id="{9885b602-f9e1-0f21-ad53-c64f7aca9691}">
          <p14:sldIdLst>
            <p14:sldId id="260"/>
          </p14:sldIdLst>
        </p14:section>
        <p14:section name="Step 2: steering" id="{ac7208b6-f3e3-ec2f-d913-79ea55717130}">
          <p14:sldIdLst>
            <p14:sldId id="261"/>
            <p14:sldId id="262"/>
          </p14:sldIdLst>
        </p14:section>
        <p14:section name="Step 4: watch a decision" id="{c551bdc9-dc79-b90a-7d9b-af61c3c30378}">
          <p14:sldIdLst>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tutorial of the project. At the end of Part 1 the head crossed the screen by itself; today the player enters the game. You add steering with the joystick, food that appears at random, a score and a sound. Everything rests on the four lectures of the logic block: a button is one bit selected by a mask, the rule against the U-turn is a single XOR, the movement is read from a table as a multiplexer would select it. Sid Meier's sentence on the cover says what you are adding: choices.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Second project tutorial. It uses Lectures 08 to 11: Boolean operators and truth tables (08), XOR and equality, simplification (09), buttons as switches with pull-ups (10), comparators, multiplexers and ROM as a table (11). The students start from their working Part 1; the reference file is verm1/verm1_part2.S.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results: a head that you steer in four directions; a rule that forbids the U-turn, written with one XOR and one comparison; movement taken from two small tables instead of four branches; food that appears in a random cell, is eaten and appears again; and a score, drawn as small marks next to the title, with a sound at each bite. Notice that three of the five are ways of writing something well, not only of making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row links an idea of the logic lectures to a place in today's program. AND as a mask selects one button out of the word of buttons. A truth table becomes the code of the four directions. XOR, which is 1 where two bits differ, gives both the U-turn rule and the test for equality. The pull-up of Lecture 10 explains why a pressed button arrives as a 1. The comparator, the multiplexer and the ROM of Lecture 11 become the test "head on the food" and the tables dx and dy.
For the lecturer: Every row is something the students have seen as a circuit. Today the same ideas are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 Part 1 that runs: open your file, build it and check that the head crosses the screen. If it does not, take the reference file of Part 1 instead. Today the file changes in three steps, and you run it after the second and after the third. Read the fourth line carefully, because it is the convention of all the tutorials from now on: a slide marked CHANGED replaces code that you already have; a slide marked NEW adds code.
For the lecturer: The reference files are in the verm1 folder of the course material. Keep a copy of each finished part: verm1_part1.S, verm1_part2.S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codes of the directions were chosen with care. Bit 0 says whether the movement is vertical; bit 1 says whether it is "backwards", towards smaller coordinates. As a consequence a direction and its opposite differ in bit 1 and only there: RIGHT is 00 and LEFT is 10, DOWN is 01 and UP is 11. So the XOR of two opposite directions is always 10, that is 2. A good encoding turns a rule into a single gate. Note also the caption: on the screen y grows downwards, so DOWN is plus 1.
UNDERSTAND NOW: codes.
For the lecturer: Bit 0 says vertical, bit 1 says backwards. A direction and its opposite differ in bit 1 and only there: code XOR opposite is always 10 in binary, 2. A good encoding turns a rule into one gate: the lesson of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path of a button, from Lecture 10. The pin of the chip is held at 3.3 V by a pull-up resistor; pressing the button joins it to ground, so the pin reads 0 when pressed. The runtime inverts the levels and packs all the buttons into one word, with 1 meaning pressed. The table gives the mask of each direction button. Two facts to use at once: UP and RIGHT pressed together give 0x04 OR 0x02, that is 0x06; and a0 AND 0x04 is zero exactly when UP is not pressed.
UNDERSTAND NOW: pull-up inputs.
For the lecturer: The kit has internal pull-ups of about 45 kilohm; the switches go to ground. The cartridge never sees the electrical level: the runtime gives the same word on the board, on QEMU and on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as a truth table: six of its sixteen rows. With the head going right, asking for RIGHT gives 00 and the head goes on; asking for DOWN or UP gives 01 or 11, and it turns; asking for LEFT gives 10, which is 2, and the request is refused. The same happens for DOWN and UP. Complete the table yourself and count the refusals: there are four, one for each direction. With codes chosen at random the same rule would need four separate comparisons.
UNDERSTAND NOW: Boolean algebra.
For the lecturer: Sixteen rows in all: ask the students to complete the table and to count the refusals. There are four, one per direction. Without the careful encoding the rule would need four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cartridge in debug mode and show verm1_update. First look at the telemetry while you hold a button: the input mask shows 0x04 for UP and 0x01 for LEFT. Then set a breakpoint on the instruction xor t3, t2, t1. Hold LEFT while the head goes right and resume: the program stops on the XOR. Read the registers: t1 is 0, the direction, and t2 is 2, the wish. Step once: t3 becomes 2. Two more steps, and you see the branch taken and the sw skipped.
USE NOW: the PRG32-QT debugger (used, not studied, in this course).
For the lecturer: Lower the speed of the debugger to 0.25x if you need time to press. Resume ignores the current breakpoint once: each Resume runs one frame. Without a button pressed t2 is the old wish and t3 is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should read, with the head going right. With nothing pressed, the wish is the old one and the XOR is 0. With DOWN it is 1 and with UP it is 3: both are stored. With LEFT it is 2, the U-turn, and nothing is stored. The last row shows the priority among the tests: with UP and RIGHT together UP wins, because it is tested last. Read a0 at the first instruction after the call: later in the frame it is overwritten.
USE NOW: the PRG32-QT debugger (used, not studied, in this course).
For the lecturer: All with the head going right. The last row shows the priority of the tests: UP is tested last and wins. a0 is overwritten later in the frame: read it at the first instruction after the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variables can be read in memory as well. After la t0, dir the register t0 holds the address of dir: type it in the Memory field. The variables follow each other in the order of the file, four bytes each: dir, want, step_q8, score, food_x, food_y. Eat once, pause and read the score: 01 00 00 00, least significant byte first. Then read the position of the food and check it against the red cell on the screen.
USE NOW: the PRG32-QT debugger (used, not studied, in this course).
For the lecturer: head_x and head_y are the two words before dir. Little-endian: the lowest byte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bit per button: DOWN is 0x08 and RIGHT is 0x02. Pressed together, the two bits are both 1: the OR of the two masks.
Apply the rule: the refused wish is the one whose XOR with the direction is 2. The direction is 3, that is 11 in binary; which code differs from it in bit 1 only?
For the lecturer: 1. Answer: C. 0x08 OR 0x02 = 0x0a: one bit per button.
2. Answer: B. 3 XOR 1 = 2: DOWN is the opposite of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tables are made of words, and a word is four bytes. Entry number k is at k times 4 bytes from the beginning of the table, and a shift left by 2 multiplies by 4.
XOR gives 1 in each position where the two bits differ. A result of all zeros means that no position differs.
For the lecturer: 1. Answer: B. The entries are words: entry k is at offset 4k.
2. Answer: C. XOR is 1 where bits differ: no difference, all zeros.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you are. The player is in the game: a wish, a rule, a movement, a reward. The logic of four lectures has become instructions: bits and masks, XOR as a comparator, a table as a selector. But the worm has no body, nothing can go wrong, and the game never ends. The next block, on state and memory, gives the tools, and Part 3 adds a body that grows, collisions, a title screen and a game over.
Learning status, recap. UNDERSTAND NOW: bit masks; codes; arrays in memory; pull-up inputs; Boolean algebra; fixed point; multiplexers; signed or unsigned instructions; comparators and parity; arguments in a0 to a7. USE NOW: the calling convention (Lecture 18) and, used without being studied in this course, the PRG32 tools, the PRG32 runtime calls, the PRG32-QT debugger. UNDERSTAND LATER: nothing. A slide without a badge is context: a story, an example, a question, an exercise.
For the lecturer: Reference file for this part: verm1/verm1_part2.S (231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12: Verm1, part 2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Verm1, Part 2: Steering, Food and a Score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The player enters the game: bits, masks, a rule in one XOR, a table that selects</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game is a series of interesting choices.”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Sid Meier</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548640" y="6419088"/>
            <a:ext cx="8229600" cy="274320"/>
          </a:xfrm>
          <a:prstGeom prst="rect">
            <a:avLst/>
          </a:prstGeom>
          <a:noFill/>
          <a:ln/>
        </p:spPr>
        <p:txBody>
          <a:bodyPr wrap="square" lIns="0" tIns="0" rIns="0" bIns="0" rtlCol="0" anchor="t"/>
          <a:lstStyle/>
          <a:p>
            <a:pPr indent="0" marL="0">
              <a:buNone/>
            </a:pPr>
            <a:r>
              <a:rPr lang="en-US" sz="1200" i="1" dirty="0">
                <a:solidFill>
                  <a:srgbClr val="CFE3EA"/>
                </a:solidFill>
                <a:latin typeface="Calibri" pitchFamily="34" charset="0"/>
                <a:ea typeface="Calibri" pitchFamily="34" charset="-122"/>
                <a:cs typeface="Calibri" pitchFamily="34" charset="-120"/>
              </a:rPr>
              <a:t>Verm1 reference implementation contributed by Giuseppe Coviello</a:t>
            </a:r>
            <a:endParaRPr lang="en-US" sz="1200" dirty="0"/>
          </a:p>
        </p:txBody>
      </p:sp>
      <p:sp>
        <p:nvSpPr>
          <p:cNvPr id="13" name="Text 11"/>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12-Computer_Architecture-Verm1_Part_2-Code.pptx</a:t>
            </a:r>
            <a:endParaRPr lang="en-US" sz="1300" dirty="0"/>
          </a:p>
        </p:txBody>
      </p:sp>
      <p:sp>
        <p:nvSpPr>
          <p:cNvPr id="14" name="Shape 12"/>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5" name="Image 0" descr="/Users/raffaelemontella/devel/riscv-prg32/computer-architecture-with-prg32/tools/assets/verm1_p2.png">    </p:cNvPr>
          <p:cNvPicPr>
            <a:picLocks noChangeAspect="1"/>
          </p:cNvPicPr>
          <p:nvPr/>
        </p:nvPicPr>
        <p:blipFill>
          <a:blip r:embed="rId1"/>
          <a:stretch>
            <a:fillRect/>
          </a:stretch>
        </p:blipFill>
        <p:spPr>
          <a:xfrm>
            <a:off x="8716975" y="4280535"/>
            <a:ext cx="2834640" cy="1771650"/>
          </a:xfrm>
          <a:prstGeom prst="rect">
            <a:avLst/>
          </a:prstGeom>
        </p:spPr>
      </p:pic>
      <p:sp>
        <p:nvSpPr>
          <p:cNvPr id="16" name="Shape 13"/>
          <p:cNvSpPr/>
          <p:nvPr/>
        </p:nvSpPr>
        <p:spPr>
          <a:xfrm>
            <a:off x="9690303" y="91440"/>
            <a:ext cx="1952752" cy="274320"/>
          </a:xfrm>
          <a:prstGeom prst="rect">
            <a:avLst/>
          </a:prstGeom>
          <a:solidFill>
            <a:srgbClr val="F3E8FF"/>
          </a:solidFill>
          <a:ln w="12700">
            <a:solidFill>
              <a:srgbClr val="7E22CE"/>
            </a:solidFill>
            <a:prstDash val="dash"/>
          </a:ln>
        </p:spPr>
      </p:sp>
      <p:sp>
        <p:nvSpPr>
          <p:cNvPr id="17" name="Shape 14"/>
          <p:cNvSpPr/>
          <p:nvPr/>
        </p:nvSpPr>
        <p:spPr>
          <a:xfrm>
            <a:off x="9717735" y="128016"/>
            <a:ext cx="45720" cy="45720"/>
          </a:xfrm>
          <a:prstGeom prst="rect">
            <a:avLst/>
          </a:prstGeom>
          <a:solidFill>
            <a:srgbClr val="7E22CE"/>
          </a:solidFill>
          <a:ln w="12700">
            <a:solidFill>
              <a:srgbClr val="7E22CE"/>
            </a:solidFill>
            <a:prstDash val="solid"/>
          </a:ln>
        </p:spPr>
      </p:sp>
      <p:sp>
        <p:nvSpPr>
          <p:cNvPr id="18" name="Shape 15"/>
          <p:cNvSpPr/>
          <p:nvPr/>
        </p:nvSpPr>
        <p:spPr>
          <a:xfrm>
            <a:off x="9717735" y="205740"/>
            <a:ext cx="45720" cy="45720"/>
          </a:xfrm>
          <a:prstGeom prst="rect">
            <a:avLst/>
          </a:prstGeom>
          <a:solidFill>
            <a:srgbClr val="7E22CE"/>
          </a:solidFill>
          <a:ln w="12700">
            <a:solidFill>
              <a:srgbClr val="7E22CE"/>
            </a:solidFill>
            <a:prstDash val="solid"/>
          </a:ln>
        </p:spPr>
      </p:sp>
      <p:sp>
        <p:nvSpPr>
          <p:cNvPr id="19" name="Shape 16"/>
          <p:cNvSpPr/>
          <p:nvPr/>
        </p:nvSpPr>
        <p:spPr>
          <a:xfrm>
            <a:off x="9717735" y="283464"/>
            <a:ext cx="45720" cy="45720"/>
          </a:xfrm>
          <a:prstGeom prst="rect">
            <a:avLst/>
          </a:prstGeom>
          <a:solidFill>
            <a:srgbClr val="7E22CE"/>
          </a:solidFill>
          <a:ln w="12700">
            <a:solidFill>
              <a:srgbClr val="7E22CE"/>
            </a:solidFill>
            <a:prstDash val="solid"/>
          </a:ln>
        </p:spPr>
      </p:sp>
      <p:pic>
        <p:nvPicPr>
          <p:cNvPr id="20"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1" name="Text 17"/>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2" name="Shape 18"/>
          <p:cNvSpPr/>
          <p:nvPr/>
        </p:nvSpPr>
        <p:spPr>
          <a:xfrm>
            <a:off x="8407349" y="91440"/>
            <a:ext cx="1173226" cy="274320"/>
          </a:xfrm>
          <a:prstGeom prst="rect">
            <a:avLst/>
          </a:prstGeom>
          <a:solidFill>
            <a:srgbClr val="FEF3C7"/>
          </a:solidFill>
          <a:ln w="12700">
            <a:solidFill>
              <a:srgbClr val="B45309"/>
            </a:solidFill>
            <a:prstDash val="solid"/>
          </a:ln>
        </p:spPr>
      </p:sp>
      <p:sp>
        <p:nvSpPr>
          <p:cNvPr id="23" name="Shape 19"/>
          <p:cNvSpPr/>
          <p:nvPr/>
        </p:nvSpPr>
        <p:spPr>
          <a:xfrm>
            <a:off x="8407349" y="91440"/>
            <a:ext cx="27432" cy="274320"/>
          </a:xfrm>
          <a:prstGeom prst="rect">
            <a:avLst/>
          </a:prstGeom>
          <a:solidFill>
            <a:srgbClr val="B45309"/>
          </a:solidFill>
          <a:ln w="12700">
            <a:solidFill>
              <a:srgbClr val="B45309"/>
            </a:solidFill>
            <a:prstDash val="solid"/>
          </a:ln>
        </p:spPr>
      </p:sp>
      <p:sp>
        <p:nvSpPr>
          <p:cNvPr id="24" name="Shape 20"/>
          <p:cNvSpPr/>
          <p:nvPr/>
        </p:nvSpPr>
        <p:spPr>
          <a:xfrm>
            <a:off x="8462213" y="91440"/>
            <a:ext cx="27432" cy="274320"/>
          </a:xfrm>
          <a:prstGeom prst="rect">
            <a:avLst/>
          </a:prstGeom>
          <a:solidFill>
            <a:srgbClr val="B45309"/>
          </a:solidFill>
          <a:ln w="12700">
            <a:solidFill>
              <a:srgbClr val="B45309"/>
            </a:solidFill>
            <a:prstDash val="solid"/>
          </a:ln>
        </p:spPr>
      </p:sp>
      <p:pic>
        <p:nvPicPr>
          <p:cNvPr id="25"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6" name="Text 21"/>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7" name="Shape 22"/>
          <p:cNvSpPr/>
          <p:nvPr/>
        </p:nvSpPr>
        <p:spPr>
          <a:xfrm>
            <a:off x="6518097" y="91440"/>
            <a:ext cx="1779524" cy="274320"/>
          </a:xfrm>
          <a:prstGeom prst="rect">
            <a:avLst/>
          </a:prstGeom>
          <a:solidFill>
            <a:srgbClr val="E0F2FE"/>
          </a:solidFill>
          <a:ln w="12700">
            <a:solidFill>
              <a:srgbClr val="0369A1"/>
            </a:solidFill>
            <a:prstDash val="solid"/>
          </a:ln>
        </p:spPr>
      </p:sp>
      <p:sp>
        <p:nvSpPr>
          <p:cNvPr id="28" name="Shape 23"/>
          <p:cNvSpPr/>
          <p:nvPr/>
        </p:nvSpPr>
        <p:spPr>
          <a:xfrm>
            <a:off x="6518097" y="91440"/>
            <a:ext cx="73152" cy="274320"/>
          </a:xfrm>
          <a:prstGeom prst="rect">
            <a:avLst/>
          </a:prstGeom>
          <a:solidFill>
            <a:srgbClr val="0369A1"/>
          </a:solidFill>
          <a:ln w="12700">
            <a:solidFill>
              <a:srgbClr val="0369A1"/>
            </a:solidFill>
            <a:prstDash val="solid"/>
          </a:ln>
        </p:spPr>
      </p:sp>
      <p:pic>
        <p:nvPicPr>
          <p:cNvPr id="29"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30" name="Text 24"/>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have by the end</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worm's head that you steer with the joystick, in four directions</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rule that forbids the U-turn, written as one XOR and one comparison</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Movement taken from two small tables instead of four branches</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Food that appears at a random cell, is eaten, and appears again</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score, shown as marks in the title line, and a sound when the worm eats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Part 2 takes from the lectures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4910643"/>
                <a:gridCol w="472876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From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Idea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Where it appears today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AND as a mask: keep one bit, clear the others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one button out of the word of buttons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truth tables: a code for each case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four directions in two bits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09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XOR is 1 where two bits differ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U-turn rule; the test for equality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button is a switch to ground with a pull-up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why pressed arrives as 1 only after the runtime inverts 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Lecture 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 multiplexer, ROM as a table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head on the food; dx and 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Start from a Part 1 that runs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your verm1.S of Part 1, build it and run it: the head must cross the screen</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If it does not, copy the reference file verm1_part1.S and start from that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you change the file in three steps, and you run it after the second and the third</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Slides marked CHANGED replace code you have; slides marked NEW add code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Keep the debugger of PRG32-QT open: step 4 uses it to watch a decision being taken</a:t>
            </a:r>
            <a:endParaRPr lang="en-US" sz="2200" dirty="0"/>
          </a:p>
        </p:txBody>
      </p:sp>
      <p:pic>
        <p:nvPicPr>
          <p:cNvPr id="13" name="Image 0" descr="/Users/raffaelemontella/devel/riscv-prg32/computer-architecture-with-prg32/tools/assets/verm1_p2.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Part 2</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code chosen with care: the four directions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1182192"/>
                <a:gridCol w="1182192"/>
                <a:gridCol w="1182192"/>
                <a:gridCol w="1182192"/>
                <a:gridCol w="1182192"/>
                <a:gridCol w="3364700"/>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Direction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Bit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dx</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Opposite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LEFT = 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UP =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RIGHT =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DOWN =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On the screen y grows downwards: DOWN is +1, UP is -1.</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finger to bit</a:t>
            </a:r>
            <a:endParaRPr lang="en-US" sz="3200" dirty="0"/>
          </a:p>
        </p:txBody>
      </p:sp>
      <p:sp>
        <p:nvSpPr>
          <p:cNvPr id="3" name="Shape 1"/>
          <p:cNvSpPr/>
          <p:nvPr/>
        </p:nvSpPr>
        <p:spPr>
          <a:xfrm>
            <a:off x="8747328" y="91440"/>
            <a:ext cx="2895727" cy="274320"/>
          </a:xfrm>
          <a:prstGeom prst="rect">
            <a:avLst/>
          </a:prstGeom>
          <a:solidFill>
            <a:srgbClr val="E0F2FE"/>
          </a:solidFill>
          <a:ln w="12700">
            <a:solidFill>
              <a:srgbClr val="0369A1"/>
            </a:solidFill>
            <a:prstDash val="solid"/>
          </a:ln>
        </p:spPr>
      </p:sp>
      <p:sp>
        <p:nvSpPr>
          <p:cNvPr id="4" name="Shape 2"/>
          <p:cNvSpPr/>
          <p:nvPr/>
        </p:nvSpPr>
        <p:spPr>
          <a:xfrm>
            <a:off x="8747328"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6" name="Text 3"/>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8" name="Image 1" descr="preencoded.png">    </p:cNvPr>
          <p:cNvPicPr>
            <a:picLocks noChangeAspect="1"/>
          </p:cNvPicPr>
          <p:nvPr/>
        </p:nvPicPr>
        <p:blipFill>
          <a:blip r:embed="rId2"/>
          <a:stretch>
            <a:fillRect/>
          </a:stretch>
        </p:blipFill>
        <p:spPr>
          <a:xfrm>
            <a:off x="548640" y="1520141"/>
            <a:ext cx="3749040" cy="3451958"/>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480560" y="1508760"/>
          <a:ext cx="6675120" cy="914400"/>
        </p:xfrm>
        <a:graphic>
          <a:graphicData uri="http://schemas.openxmlformats.org/drawingml/2006/table">
            <a:tbl>
              <a:tblPr/>
              <a:tblGrid>
                <a:gridCol w="1600200"/>
                <a:gridCol w="1600200"/>
                <a:gridCol w="2286000"/>
                <a:gridCol w="118872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Button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Pin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After the runtime</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Mask</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released</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1 (3.3 V)</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 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LEFT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0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RIGHT</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1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0x02</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UP</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2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0x04</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00" b="1" dirty="0">
                          <a:solidFill>
                            <a:srgbClr val="1B2530"/>
                          </a:solidFill>
                          <a:latin typeface="Calibri" pitchFamily="34" charset="0"/>
                          <a:ea typeface="Calibri" pitchFamily="34" charset="-122"/>
                          <a:cs typeface="Calibri" pitchFamily="34" charset="-120"/>
                        </a:rPr>
                        <a:t>DOWN</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bit 3 = 1</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00" dirty="0">
                          <a:solidFill>
                            <a:srgbClr val="1B2530"/>
                          </a:solidFill>
                          <a:latin typeface="Calibri" pitchFamily="34" charset="0"/>
                          <a:ea typeface="Calibri" pitchFamily="34" charset="-122"/>
                          <a:cs typeface="Calibri" pitchFamily="34" charset="-120"/>
                        </a:rPr>
                        <a:t>0x08</a:t>
                      </a:r>
                      <a:endParaRPr lang="en-US" sz="14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0" name="Shape 4"/>
          <p:cNvSpPr/>
          <p:nvPr/>
        </p:nvSpPr>
        <p:spPr>
          <a:xfrm>
            <a:off x="4480560" y="4228211"/>
            <a:ext cx="146304" cy="146304"/>
          </a:xfrm>
          <a:prstGeom prst="rect">
            <a:avLst/>
          </a:prstGeom>
          <a:solidFill>
            <a:srgbClr val="0E7C86"/>
          </a:solidFill>
          <a:ln w="12700">
            <a:solidFill>
              <a:srgbClr val="0E7C86"/>
            </a:solidFill>
            <a:prstDash val="solid"/>
          </a:ln>
        </p:spPr>
      </p:sp>
      <p:sp>
        <p:nvSpPr>
          <p:cNvPr id="11" name="Text 5"/>
          <p:cNvSpPr txBox="1"/>
          <p:nvPr/>
        </p:nvSpPr>
        <p:spPr>
          <a:xfrm>
            <a:off x="4864608" y="416052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The pin reads 0 when the button is pressed: active low (Lecture 10)</a:t>
            </a:r>
            <a:endParaRPr lang="en-US" sz="1700" dirty="0"/>
          </a:p>
        </p:txBody>
      </p:sp>
      <p:sp>
        <p:nvSpPr>
          <p:cNvPr id="12" name="Shape 6"/>
          <p:cNvSpPr/>
          <p:nvPr/>
        </p:nvSpPr>
        <p:spPr>
          <a:xfrm>
            <a:off x="4480560" y="4898771"/>
            <a:ext cx="146304" cy="146304"/>
          </a:xfrm>
          <a:prstGeom prst="rect">
            <a:avLst/>
          </a:prstGeom>
          <a:solidFill>
            <a:srgbClr val="C7791B"/>
          </a:solidFill>
          <a:ln w="12700">
            <a:solidFill>
              <a:srgbClr val="C7791B"/>
            </a:solidFill>
            <a:prstDash val="solid"/>
          </a:ln>
        </p:spPr>
      </p:sp>
      <p:sp>
        <p:nvSpPr>
          <p:cNvPr id="13" name="Text 7"/>
          <p:cNvSpPr txBox="1"/>
          <p:nvPr/>
        </p:nvSpPr>
        <p:spPr>
          <a:xfrm>
            <a:off x="4864608" y="4831080"/>
            <a:ext cx="677844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prg32_input_read inverts and packs: one word, one bit per button, 1 = pressed</a:t>
            </a:r>
            <a:endParaRPr lang="en-US" sz="1700" dirty="0"/>
          </a:p>
        </p:txBody>
      </p:sp>
      <p:sp>
        <p:nvSpPr>
          <p:cNvPr id="14" name="Shape 8"/>
          <p:cNvSpPr/>
          <p:nvPr/>
        </p:nvSpPr>
        <p:spPr>
          <a:xfrm>
            <a:off x="4480560" y="5569331"/>
            <a:ext cx="146304" cy="146304"/>
          </a:xfrm>
          <a:prstGeom prst="rect">
            <a:avLst/>
          </a:prstGeom>
          <a:solidFill>
            <a:srgbClr val="0E7C86"/>
          </a:solidFill>
          <a:ln w="12700">
            <a:solidFill>
              <a:srgbClr val="0E7C86"/>
            </a:solidFill>
            <a:prstDash val="solid"/>
          </a:ln>
        </p:spPr>
      </p:sp>
      <p:sp>
        <p:nvSpPr>
          <p:cNvPr id="15" name="Text 9"/>
          <p:cNvSpPr txBox="1"/>
          <p:nvPr/>
        </p:nvSpPr>
        <p:spPr>
          <a:xfrm>
            <a:off x="4864608" y="5501640"/>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UP and RIGHT together give 0x04 OR 0x02 = 0x06</a:t>
            </a:r>
            <a:endParaRPr lang="en-US" sz="1700" dirty="0"/>
          </a:p>
        </p:txBody>
      </p:sp>
      <p:sp>
        <p:nvSpPr>
          <p:cNvPr id="16" name="Shape 10"/>
          <p:cNvSpPr/>
          <p:nvPr/>
        </p:nvSpPr>
        <p:spPr>
          <a:xfrm>
            <a:off x="4480560" y="5976493"/>
            <a:ext cx="146304" cy="146304"/>
          </a:xfrm>
          <a:prstGeom prst="rect">
            <a:avLst/>
          </a:prstGeom>
          <a:solidFill>
            <a:srgbClr val="C7791B"/>
          </a:solidFill>
          <a:ln w="12700">
            <a:solidFill>
              <a:srgbClr val="C7791B"/>
            </a:solidFill>
            <a:prstDash val="solid"/>
          </a:ln>
        </p:spPr>
      </p:sp>
      <p:sp>
        <p:nvSpPr>
          <p:cNvPr id="17" name="Text 11"/>
          <p:cNvSpPr txBox="1"/>
          <p:nvPr/>
        </p:nvSpPr>
        <p:spPr>
          <a:xfrm>
            <a:off x="4864608" y="5908802"/>
            <a:ext cx="677844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a0 AND 0x04 is zero if and only if UP is not pressed</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U-turn rule, as a truth table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000632"/>
                <a:gridCol w="2364384"/>
                <a:gridCol w="1455005"/>
                <a:gridCol w="3273762"/>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dir XOR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 2 ?</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go 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0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 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refuse: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 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Six of the sixteen rows. The rule is one XOR and one comparison with the constant 2.</a:t>
            </a:r>
            <a:endParaRPr lang="en-US" sz="1500" dirty="0"/>
          </a:p>
        </p:txBody>
      </p:sp>
      <p:sp>
        <p:nvSpPr>
          <p:cNvPr id="5" name="Shape 2"/>
          <p:cNvSpPr/>
          <p:nvPr/>
        </p:nvSpPr>
        <p:spPr>
          <a:xfrm>
            <a:off x="8681669" y="91440"/>
            <a:ext cx="2961386" cy="274320"/>
          </a:xfrm>
          <a:prstGeom prst="rect">
            <a:avLst/>
          </a:prstGeom>
          <a:solidFill>
            <a:srgbClr val="E0F2FE"/>
          </a:solidFill>
          <a:ln w="12700">
            <a:solidFill>
              <a:srgbClr val="0369A1"/>
            </a:solidFill>
            <a:prstDash val="solid"/>
          </a:ln>
        </p:spPr>
      </p:sp>
      <p:sp>
        <p:nvSpPr>
          <p:cNvPr id="6" name="Shape 3"/>
          <p:cNvSpPr/>
          <p:nvPr/>
        </p:nvSpPr>
        <p:spPr>
          <a:xfrm>
            <a:off x="868166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8" name="Text 4"/>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Boolean algebra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Catch the U-turn rule at work</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in debug mode and press Update: the listing shows verm1_update</a:t>
            </a:r>
            <a:endParaRPr lang="en-US" sz="2200" dirty="0"/>
          </a:p>
        </p:txBody>
      </p:sp>
      <p:sp>
        <p:nvSpPr>
          <p:cNvPr id="5" name="Text 3"/>
          <p:cNvSpPr txBox="1"/>
          <p:nvPr/>
        </p:nvSpPr>
        <p:spPr>
          <a:xfrm>
            <a:off x="548640" y="23473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290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Look at the telemetry while you hold a button: the input mask shows 0x04 for UP, 0x01 for LEFT</a:t>
            </a:r>
            <a:endParaRPr lang="en-US" sz="2200" dirty="0"/>
          </a:p>
        </p:txBody>
      </p:sp>
      <p:sp>
        <p:nvSpPr>
          <p:cNvPr id="7" name="Text 5"/>
          <p:cNvSpPr txBox="1"/>
          <p:nvPr/>
        </p:nvSpPr>
        <p:spPr>
          <a:xfrm>
            <a:off x="548640" y="325912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240837"/>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Find the instruction xor t3, t2, t1 and click in the gutter: a breakpoint</a:t>
            </a:r>
            <a:endParaRPr lang="en-US" sz="2200" dirty="0"/>
          </a:p>
        </p:txBody>
      </p:sp>
      <p:sp>
        <p:nvSpPr>
          <p:cNvPr id="9" name="Text 7"/>
          <p:cNvSpPr txBox="1"/>
          <p:nvPr/>
        </p:nvSpPr>
        <p:spPr>
          <a:xfrm>
            <a:off x="548640" y="392805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0977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Hold LEFT while the head goes right, and press Resume: the program stops on the xor</a:t>
            </a:r>
            <a:endParaRPr lang="en-US" sz="2200" dirty="0"/>
          </a:p>
        </p:txBody>
      </p:sp>
      <p:sp>
        <p:nvSpPr>
          <p:cNvPr id="11" name="Text 9"/>
          <p:cNvSpPr txBox="1"/>
          <p:nvPr/>
        </p:nvSpPr>
        <p:spPr>
          <a:xfrm>
            <a:off x="548640" y="48398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8215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 the registers: t1 is 0, the direction; t2 is 2, the wish</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Step: t3 becomes 2. Step twice more: the branch is taken and the sw is skipped</a:t>
            </a:r>
            <a:endParaRPr lang="en-US" sz="2200" dirty="0"/>
          </a:p>
        </p:txBody>
      </p:sp>
      <p:sp>
        <p:nvSpPr>
          <p:cNvPr id="15" name="Shape 13"/>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4"/>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5"/>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19" name="Text 16"/>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read in the registers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727819"/>
                <a:gridCol w="1455005"/>
                <a:gridCol w="1636881"/>
                <a:gridCol w="2364384"/>
                <a:gridCol w="190969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You hold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a0 (mask)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t1 = dir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t2 = want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t3 = t2 XOR 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Stored?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nothing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DOWN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LEFT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 U-turn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0x04</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UP + RIGHT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0x06</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yes: 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894013" y="91440"/>
            <a:ext cx="2749042" cy="274320"/>
          </a:xfrm>
          <a:prstGeom prst="rect">
            <a:avLst/>
          </a:prstGeom>
          <a:solidFill>
            <a:srgbClr val="FEF3C7"/>
          </a:solidFill>
          <a:ln w="12700">
            <a:solidFill>
              <a:srgbClr val="B45309"/>
            </a:solidFill>
            <a:prstDash val="solid"/>
          </a:ln>
        </p:spPr>
      </p:sp>
      <p:sp>
        <p:nvSpPr>
          <p:cNvPr id="5" name="Shape 2"/>
          <p:cNvSpPr/>
          <p:nvPr/>
        </p:nvSpPr>
        <p:spPr>
          <a:xfrm>
            <a:off x="8894013" y="91440"/>
            <a:ext cx="27432" cy="274320"/>
          </a:xfrm>
          <a:prstGeom prst="rect">
            <a:avLst/>
          </a:prstGeom>
          <a:solidFill>
            <a:srgbClr val="B45309"/>
          </a:solidFill>
          <a:ln w="12700">
            <a:solidFill>
              <a:srgbClr val="B45309"/>
            </a:solidFill>
            <a:prstDash val="solid"/>
          </a:ln>
        </p:spPr>
      </p:sp>
      <p:sp>
        <p:nvSpPr>
          <p:cNvPr id="6" name="Shape 3"/>
          <p:cNvSpPr/>
          <p:nvPr/>
        </p:nvSpPr>
        <p:spPr>
          <a:xfrm>
            <a:off x="8948877"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022029" y="128016"/>
            <a:ext cx="201168" cy="201168"/>
          </a:xfrm>
          <a:prstGeom prst="rect">
            <a:avLst/>
          </a:prstGeom>
        </p:spPr>
      </p:pic>
      <p:sp>
        <p:nvSpPr>
          <p:cNvPr id="8" name="Text 4"/>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 the variables in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la t0, dir the register t0 holds the address of dir: type it in the Memory field</a:t>
            </a:r>
            <a:endParaRPr lang="en-US" sz="2100" dirty="0"/>
          </a:p>
        </p:txBody>
      </p:sp>
      <p:sp>
        <p:nvSpPr>
          <p:cNvPr id="5" name="Shape 3"/>
          <p:cNvSpPr/>
          <p:nvPr/>
        </p:nvSpPr>
        <p:spPr>
          <a:xfrm>
            <a:off x="548640" y="262832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9650"/>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variables follow each other, 4 bytes each, in the order of the file</a:t>
            </a:r>
            <a:endParaRPr lang="en-US" sz="2100" dirty="0"/>
          </a:p>
        </p:txBody>
      </p:sp>
      <p:sp>
        <p:nvSpPr>
          <p:cNvPr id="7" name="Shape 5"/>
          <p:cNvSpPr/>
          <p:nvPr/>
        </p:nvSpPr>
        <p:spPr>
          <a:xfrm>
            <a:off x="548640" y="34152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6605"/>
            <a:ext cx="546811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From the address of dir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dir, +4 want, +8 step_q8</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+12 score, +16 food_x, +20 food_y</a:t>
            </a:r>
            <a:endParaRPr lang="en-US" sz="2100" dirty="0"/>
          </a:p>
        </p:txBody>
      </p:sp>
      <p:sp>
        <p:nvSpPr>
          <p:cNvPr id="9" name="Shape 7"/>
          <p:cNvSpPr/>
          <p:nvPr/>
        </p:nvSpPr>
        <p:spPr>
          <a:xfrm>
            <a:off x="548640" y="450780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0912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Eat once, pause, and read score: 01 00 00 00</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 food_x and food_y, and check them against the screen: column and row of the red cell</a:t>
            </a:r>
            <a:endParaRPr lang="en-US" sz="2100" dirty="0"/>
          </a:p>
        </p:txBody>
      </p:sp>
      <p:pic>
        <p:nvPicPr>
          <p:cNvPr id="13" name="Image 0" descr="/Users/raffaelemontella/devel/riscv-prg32/computer-architecture-with-prg32/tools/assets/prg32qt_debugger_details.png">    </p:cNvPr>
          <p:cNvPicPr>
            <a:picLocks noChangeAspect="1"/>
          </p:cNvPicPr>
          <p:nvPr/>
        </p:nvPicPr>
        <p:blipFill>
          <a:blip r:embed="rId1"/>
          <a:stretch>
            <a:fillRect/>
          </a:stretch>
        </p:blipFill>
        <p:spPr>
          <a:xfrm>
            <a:off x="7451807" y="1417320"/>
            <a:ext cx="3506002" cy="4297680"/>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listing, registers, memory</a:t>
            </a:r>
            <a:endParaRPr lang="en-US" sz="1200" dirty="0"/>
          </a:p>
        </p:txBody>
      </p:sp>
      <p:sp>
        <p:nvSpPr>
          <p:cNvPr id="15" name="Shape 12"/>
          <p:cNvSpPr/>
          <p:nvPr/>
        </p:nvSpPr>
        <p:spPr>
          <a:xfrm>
            <a:off x="8894013" y="91440"/>
            <a:ext cx="2749042" cy="274320"/>
          </a:xfrm>
          <a:prstGeom prst="rect">
            <a:avLst/>
          </a:prstGeom>
          <a:solidFill>
            <a:srgbClr val="FEF3C7"/>
          </a:solidFill>
          <a:ln w="12700">
            <a:solidFill>
              <a:srgbClr val="B45309"/>
            </a:solidFill>
            <a:prstDash val="solid"/>
          </a:ln>
        </p:spPr>
      </p:sp>
      <p:sp>
        <p:nvSpPr>
          <p:cNvPr id="16" name="Shape 13"/>
          <p:cNvSpPr/>
          <p:nvPr/>
        </p:nvSpPr>
        <p:spPr>
          <a:xfrm>
            <a:off x="8894013" y="91440"/>
            <a:ext cx="27432" cy="274320"/>
          </a:xfrm>
          <a:prstGeom prst="rect">
            <a:avLst/>
          </a:prstGeom>
          <a:solidFill>
            <a:srgbClr val="B45309"/>
          </a:solidFill>
          <a:ln w="12700">
            <a:solidFill>
              <a:srgbClr val="B45309"/>
            </a:solidFill>
            <a:prstDash val="solid"/>
          </a:ln>
        </p:spPr>
      </p:sp>
      <p:sp>
        <p:nvSpPr>
          <p:cNvPr id="17" name="Shape 14"/>
          <p:cNvSpPr/>
          <p:nvPr/>
        </p:nvSpPr>
        <p:spPr>
          <a:xfrm>
            <a:off x="8948877" y="91440"/>
            <a:ext cx="27432" cy="274320"/>
          </a:xfrm>
          <a:prstGeom prst="rect">
            <a:avLst/>
          </a:prstGeom>
          <a:solidFill>
            <a:srgbClr val="B45309"/>
          </a:solidFill>
          <a:ln w="12700">
            <a:solidFill>
              <a:srgbClr val="B45309"/>
            </a:solidFill>
            <a:prstDash val="solid"/>
          </a:ln>
        </p:spPr>
      </p:sp>
      <p:pic>
        <p:nvPicPr>
          <p:cNvPr id="18"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9" name="Text 15"/>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player holds DOWN and RIGHT together: prg32_input_read returns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0x08</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0x0a</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0x10</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The worm goes UP (3). Which wish is refused?</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RIGHT (0)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DOWN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LEFT (2)</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UP (3)</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slli t1, t1, 2 before adding to the address of dx?</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code positive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each entry of the table is 4 bytes</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clear bit 1</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tables start at address 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xor t1, t1, t4 gives zero exactly when</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is 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t4 is zero</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equal</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t1 and t4 are opposite</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we are, and what comes next</a:t>
            </a:r>
            <a:endParaRPr lang="en-US" sz="3200" dirty="0"/>
          </a:p>
        </p:txBody>
      </p:sp>
      <p:sp>
        <p:nvSpPr>
          <p:cNvPr id="3" name="Shape 1"/>
          <p:cNvSpPr/>
          <p:nvPr/>
        </p:nvSpPr>
        <p:spPr>
          <a:xfrm>
            <a:off x="548640" y="170662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player is in the game: a wish, a rule, a movement, a reward</a:t>
            </a:r>
            <a:endParaRPr lang="en-US" sz="2200" dirty="0"/>
          </a:p>
        </p:txBody>
      </p:sp>
      <p:sp>
        <p:nvSpPr>
          <p:cNvPr id="5" name="Shape 3"/>
          <p:cNvSpPr/>
          <p:nvPr/>
        </p:nvSpPr>
        <p:spPr>
          <a:xfrm>
            <a:off x="548640" y="250469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9826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Bits and masks, XOR as a comparator, a table as a selector: logic turned into instructions</a:t>
            </a:r>
            <a:endParaRPr lang="en-US" sz="2200" dirty="0"/>
          </a:p>
        </p:txBody>
      </p:sp>
      <p:sp>
        <p:nvSpPr>
          <p:cNvPr id="7" name="Shape 5"/>
          <p:cNvSpPr/>
          <p:nvPr/>
        </p:nvSpPr>
        <p:spPr>
          <a:xfrm>
            <a:off x="548640" y="364363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3720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Missing: the worm has no body, nothing can go wrong, and the game never ends</a:t>
            </a:r>
            <a:endParaRPr lang="en-US" sz="2200" dirty="0"/>
          </a:p>
        </p:txBody>
      </p:sp>
      <p:sp>
        <p:nvSpPr>
          <p:cNvPr id="9" name="Shape 7"/>
          <p:cNvSpPr/>
          <p:nvPr/>
        </p:nvSpPr>
        <p:spPr>
          <a:xfrm>
            <a:off x="548640" y="444169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527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Lectures 13 to 16 give the tools: state machines, registers, memory as an array, what survives power-off</a:t>
            </a:r>
            <a:endParaRPr lang="en-US" sz="2200" dirty="0"/>
          </a:p>
        </p:txBody>
      </p:sp>
      <p:sp>
        <p:nvSpPr>
          <p:cNvPr id="11" name="Shape 9"/>
          <p:cNvSpPr/>
          <p:nvPr/>
        </p:nvSpPr>
        <p:spPr>
          <a:xfrm>
            <a:off x="548640" y="558063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7420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Part 3: a body that grows, collisions, a title screen and a game over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Verm1, Part 2: Steering, Food and a Score</dc:title>
  <dc:subject>Lecture 12</dc:subject>
  <dc:creator>Raffaele Montella</dc:creator>
  <cp:lastModifiedBy>Raffaele Montella</cp:lastModifiedBy>
  <cp:revision>1</cp:revision>
  <dcterms:created xsi:type="dcterms:W3CDTF">2026-10-16T16:46:56Z</dcterms:created>
  <dcterms:modified xsi:type="dcterms:W3CDTF">2026-10-16T16:46:56Z</dcterms:modified>
</cp:coreProperties>
</file>