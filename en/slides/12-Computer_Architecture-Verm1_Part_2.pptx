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ef7775e-45a7-909b-bd50-480f6e0b2889}">
          <p14:sldIdLst>
            <p14:sldId id="256"/>
            <p14:sldId id="257"/>
            <p14:sldId id="258"/>
            <p14:sldId id="259"/>
            <p14:sldId id="260"/>
          </p14:sldIdLst>
        </p14:section>
        <p14:section name="Step 1: names for bits" id="{449a9cff-eeb5-b222-42b0-74f05ef38473}">
          <p14:sldIdLst>
            <p14:sldId id="261"/>
            <p14:sldId id="262"/>
            <p14:sldId id="263"/>
            <p14:sldId id="264"/>
          </p14:sldIdLst>
        </p14:section>
        <p14:section name="Step 2: steering" id="{d392affa-e653-767b-d7d9-2c749b479147}">
          <p14:sldIdLst>
            <p14:sldId id="265"/>
            <p14:sldId id="266"/>
            <p14:sldId id="267"/>
            <p14:sldId id="268"/>
            <p14:sldId id="269"/>
            <p14:sldId id="270"/>
            <p14:sldId id="271"/>
            <p14:sldId id="272"/>
            <p14:sldId id="273"/>
          </p14:sldIdLst>
        </p14:section>
        <p14:section name="Step 3: food, a score, a sound" id="{f18c95f8-fd0b-861a-aa66-1e1963eb4dae}">
          <p14:sldIdLst>
            <p14:sldId id="274"/>
            <p14:sldId id="275"/>
            <p14:sldId id="276"/>
            <p14:sldId id="277"/>
            <p14:sldId id="278"/>
            <p14:sldId id="279"/>
            <p14:sldId id="280"/>
            <p14:sldId id="281"/>
            <p14:sldId id="282"/>
          </p14:sldIdLst>
        </p14:section>
        <p14:section name="Step 4: watch a decision" id="{a2974b2b-542e-c333-20a7-7b645c33f8fa}">
          <p14:sldIdLst>
            <p14:sldId id="283"/>
            <p14:sldId id="284"/>
            <p14:sldId id="285"/>
            <p14:sldId id="286"/>
            <p14:sldId id="287"/>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tutorial of the project. At the end of Part 1 the head crossed the screen by itself; today the player enters the game. You add steering with the joystick, food that appears at random, a score and a sound. Everything rests on the four lectures of the logic block: a button is one bit selected by a mask, the rule against the U-turn is a single XOR, the movement is read from a table as a multiplexer would select it. Sid Meier's sentence on the cover says what you are adding: choices.
For the lecturer: Second project tutorial. It uses Lectures 08 to 11: Boolean operators and truth tables (08), XOR and equality, simplification (09), buttons as switches with pull-ups (10), comparators, multiplexers and ROM as a table (11). The students start from their working Part 1; the reference file is verm1/verm1_part2.S.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a head that you steer in four directions; a rule that forbids the U-turn, written with one XOR and one comparison; movement taken from two small tables instead of four branches; food that appears in a random cell, is eaten and appears again; and a score, drawn as small marks next to the title, with a sound at each bite. Notice that three of the five are ways of writing something well, not only of making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links an idea of the logic lectures to a place in today's program. AND as a mask selects one button out of the word of buttons. A truth table becomes the code of the four directions. XOR, which is 1 where two bits differ, gives both the U-turn rule and the test for equality. The pull-up of Lecture 10 explains why a pressed button arrives as a 1. The comparator, the multiplexer and the ROM of Lecture 11 become the test "head on the food" and the tables dx and dy.
For the lecturer: Every row is something the students have seen as a circuit. Today the same ideas are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a Part 1 that runs: open your file, build it and check that the head crosses the screen. If it does not, take the reference file of Part 1 instead. Today the file changes in three steps, and you run it after the second and after the third. Read the fourth line carefully, because it is the convention of all the tutorials from now on: a slide marked CHANGED replaces code that you already have; a slide marked NEW adds code.
For the lecturer: The reference files are in the verm1 folder of the course material. Keep a copy of each finished part: verm1_part1.S, verm1_part2.S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commands as in Part 1: build the cartridge, then upload it to PRG32-QT and run it. Keep PRG32-QT open for the whole session, with the debug mode enabled if you want the debugger at hand: step 4 uses it.
For the lecturer: The same two commands of Part 1. PRG32-QT must be running, with Run cartridges in RISC-V debug mode enabled in Settings if you want the debugger.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only prepares names: constants for the buttons and the directions, and the variables that the rest of the tutorial needs. Nothing new appears on the screen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these lines to the constants of Part 1. RED is the colour of the food. The four BTN_ constants are masks: each has a single bit at 1, the bit of that button in the word returned by the runtime. The four DIR_ constants are the codes of the directions, numbers from 0 to 3, that is two bits. The comments say what each of the two bits means, and the next slide explains why the codes were chosen in this way.
For the lecturer: Add the lines from RED and from BTN_LEFT to DIR_UP to the constants of Part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codes of the directions were chosen with care. Bit 0 says whether the movement is vertical; bit 1 says whether it is "backwards", towards smaller coordinates. As a consequence a direction and its opposite differ in bit 1 and only there: RIGHT is 00 and LEFT is 10, DOWN is 01 and UP is 11. So the XOR of two opposite directions is always 10, that is 2. A good encoding turns a rule into a single gate. Note also the caption: on the screen y grows downwards, so DOWN is plus 1.
For the lecturer: Bit 0 says vertical, bit 1 says backwards. A direction and its opposite differ in bit 1 and only there: code XOR opposite is always 10 in binary, 2. A good encoding turns a rule into one gate: the lesson of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data of Part 1 with these. In .rodata there are two tables of four words, dx and dy: for each direction code, the change of column and the change of row. They never change, so they live with the constants. In .data there are five new variables: dir, the direction of the last step; want, the direction the player has asked for; and score, food_x and food_y, which are used in step 3.
For the lecturer: Replace the data of Part 1 with this. The initial values are enough for step 2: init is completed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is the heart of the tutorial: read the buttons, refuse the U-turn, and take the movement from the tables. At its end you are driving the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button, from Lecture 10. The pin of the chip is held at 3.3 V by a pull-up resistor; pressing the button joins it to ground, so the pin reads 0 when pressed. The runtime inverts the levels and packs all the buttons into one word, with 1 meaning pressed. The table gives the mask of each direction button. Two facts to use at once: UP and RIGHT pressed together give 0x04 OR 0x02, that is 0x06; and a0 AND 0x04 is zero exactly when UP is not pressed.
For the lecturer: The kit has internal pull-ups of about 45 kilohm; the switches go to ground. The cartridge never sees the electrical level: the runtime gives the same word on the board, on QEMU and on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beginning of verm1_update. After the call to prg32_input_read, t1 receives the current direction and t2 the current wish. Then four identical blocks: andi isolates one button; if the result is zero the next instruction is skipped; otherwise the wish in t2 is overwritten with that direction. Finally the rule: the XOR of wish and direction is compared with 2; if they are equal the request is a U-turn and the sw is skipped, so the old wish survives. update now makes a call, so it has a stack frame.
For the lecturer: This replaces the beginning of verm1_update. update now calls a function, so it needs a stack frame. With two buttons pressed the last test wins: UP beats LEFT beats DOWN beats RIGHT. The player's wish is stored in want and becomes the direction only at the next step: so two quick presses cannot fold the worm onto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as a truth table: six of its sixteen rows. With the head going right, asking for RIGHT gives 00 and the head goes on; asking for DOWN or UP gives 01 or 11, and it turns; asking for LEFT gives 10, which is 2, and the request is refused. The same happens for DOWN and UP. Complete the table yourself and count the refusals: there are four, one for each direction. With codes chosen at random the same rule would need four separate comparisons.
For the lecturer: Sixteen rows in all: ask the students to complete the table and to count the refusals. There are four, one per direction. Without the careful encoding the rule would need four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of verm1_update is the fixed-point timer of Part 1, unchanged: add the speed, and when a whole cell has accumulated subtract 256. The only difference is what happens then: instead of moving head_x directly, the code calls a new function, step. The local labels here are 6 and 7 because the numbers from 1 to 5 are already used in the first half of the function.
For the lecturer: This is the rest of verm1_update. The lines that moved head_x in Part 1 are gone: they become the function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step. The wish becomes the direction: this happens once per step, not once per frame, so two quick presses cannot fold the worm back on itself. Then the lookup: the code of the direction is shifted left by 2, because each entry of a table is a word of four bytes, and added to the address of dx; the word loaded is the change of column, minus 1, 0 or plus 1. The same offset serves for dy. There is no branch: the code selects the value, as a multiplexer would.
For the lecturer: A table in read-only memory addressed by a code is a ROM: Lecture 11. The alternative is four branches; the table is shorter, and changing the rules means changing data,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moves the head and handles the edges, in both directions. The column plus dx can now become minus 1: bgez tests the sign, and a negative column is replaced by the last column. If instead it has reached COLS, it becomes 0. The same is done for the row with ROWS. Note the last callout: t4 and t6 still hold the new column and row, and the next piece of code will use them.
For the lecturer: In Part 1 only the right edge existed. A negative column is a signed number: bgez and blt are the signed comparisons of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temporary lines that restore ra, release the frame and return, so that step is complete and the program can run now. This is a habit of the tutorials: when a function will be finished later, close it provisionally and test what you have. In step 3 you will insert the test for the food before these lines.
For the lecturer: A temporary ending, so that the program can run now. This intermediate program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you are driving. The head starts to the right as before. Hold DOWN and it turns at its next step. While it goes right, hold LEFT: nothing happens, because the U-turn is refused. To go left you need two turns, DOWN and then LEFT. The green box gives a precise check: holding DOWN from the start for 64 frames brings the head to column 5 of row 22, ten steps down.
For the lecturer: Checked on the PRG32-QT headless runner: DOWN held 64 frames gives (5, 22); LEFT held 64 frames gives (15, 12), as if nothing had been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gives the player a purpose: food to reach, a score that counts, a sound as a reward. In terms of circuits it uses a random source, a comparator and a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is replaced by a complete version: every variable receives its starting value, including the direction, the wish and the score, and the first food is placed by calling place_food. Because it now makes a call, init too has a stack frame that saves ra.
For the lecturer: Replace verm1_init.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asks the runtime for two random numbers. The contract of prg32_random_number is: minimum in a0, maximum in a1, both included, result in a0. The first call gives a column from 0 to 39, the second a row from 0 to 23, and each is stored in its variable. One defect is left on purpose: the food may fall exactly on the head. Part 3, when the worm has a body, will correct it.
For the lecturer: The random numbers come from the runtime: on the board from the hardware generator of the ESP32-C6. Two runs of the game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temporary ending of step. It is a comparator built from instructions: xor of the food's column and the head's column is 0 when they are equal; the same for the rows; or of the two results is 0 only if both are equal. If the result is not zero, the function ends. Otherwise the worm has eaten: the score is increased by one, new food is placed, and a sound is played. It is the AND of XNORs of Lecture 11, written with two xor and one or.
For the lecturer: A comparator for equality is a row of XOR gates followed by an OR: Lecture 11. Here it is two xor and one or. The registers t4 and t6 still hold the new column and row; after the calls they are no longer needed, which is why it is safe to keep them in temporaries.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eat_sound plays one note. prg32_audio_note takes five arguments, in a0 to a4: channel, instrument, note, volume and duration in milliseconds. Note 72 is the C of the fifth octave in MIDI numbering. The last callout repeats a principle of PRG32: sound comes last. The game worked without it, and it is added when everything else is solid.
For the lecturer: prg32_audio_note(channel, instrument, note, volume, milliseconds). On PRG32-QT the note is played by the computer; on the board by the amplifier and its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the new verm1_draw: after the title, a loop draws one small rectangle for each point of the score, 4 pixels apart. The counter of the loop is in s0, not in a t register, because it must survive the calls to prg32_gfx_rect: a function may destroy the temporaries, but preserves the s registers. In exchange your own function must save s0 in its frame and restore it at the end. This convention is studied in Lecture 18.
For the lecturer: Replace the beginning of verm1_draw. A t register may be destroyed by any call; an s register is preserved, provided that we save and restore it ourselves: the convention, met in Lecture 02, is studied in Lecture 18. Digits arrive in Part 4, when division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of verm1_draw: the same three lines twice, first for the food and then for the head: load the column, load the row, load the colour, and call draw_cell. The order matters: the head is drawn last, so that it covers the food if they are in the same cell. Then s0 and ra are restored and the function returns.
For the lecturer: This is the rest of verm1_draw: it replaces the rectangle of Part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gathers in one function the arithmetic that Part 1 had inside draw: column times 8, row times 8 plus TOP. Its contract is written in the comment on its first line: column in a0, row in a1, colour in a2. One subtlety: prg32_gfx_rect wants the colour in a4, and a2 is about to be overwritten with the width, so the colour must be moved first. Writing the contract of a function in a comment is part of the job.
For the lecturer: A function with a contract: a0 = column, a1 = row, a2 = colour. Writing the contract in a comment is part of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You should see a red cell somewhere. Steer the head onto it: a note sounds, a mark appears next to the title, and the food moves to another cell. The screenshot shows the game after two bites, with two marks. It was produced by the automatic test, in which a scripted player steers the head to the food twice.
For the lecturer: Screenshot produced by tools/tests/verm1_check.py: a scripted player steers the head to the food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step 4 you use PRG32-QT as a logic probe: you stop the program at the exact instruction that decides the U-turn, and read the decision in the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cartridge in debug mode and show verm1_update. First look at the telemetry while you hold a button: the input mask shows 0x04 for UP and 0x01 for LEFT. Then set a breakpoint on the instruction xor t3, t2, t1. Hold LEFT while the head goes right and resume: the program stops on the XOR. Read the registers: t1 is 0, the direction, and t2 is 2, the wish. Step once: t3 becomes 2. Two more steps, and you see the branch taken and the sw skipped.
For the lecturer: Lower the speed of the debugger to 0.25x if you need time to press. Resume ignores the current breakpoint once: each Resume runs one frame. Without a button pressed t2 is the old wish and t3 is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should read, with the head going right. With nothing pressed, the wish is the old one and the XOR is 0. With DOWN it is 1 and with UP it is 3: both are stored. With LEFT it is 2, the U-turn, and nothing is stored. The last row shows the priority among the tests: with UP and RIGHT together UP wins, because it is tested last. Read a0 at the first instruction after the call: later in the frame it is overwritten.
For the lecturer: All with the head going right. The last row shows the priority of the tests: UP is tested last and wins. a0 is overwritten later in the frame: read it at the first instruction after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variables can be read in memory as well. After la t0, dir the register t0 holds the address of dir: type it in the Memory field. The variables follow each other in the order of the file, four bytes each: dir, want, step_q8, score, food_x, food_y. Eat once, pause and read the score: 01 00 00 00, least significant byte first. Then read the position of the food and check it against the red cell on the screen.
For the lecturer: head_x and head_y are the two words before dir. Little-endian: the lowest byte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bit per button: DOWN is 0x08 and RIGHT is 0x02. Pressed together, the two bits are both 1: the OR of the two masks.
For the lecturer: Answer: C. 0x08 OR 0x02 = 0x0a: one bit per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rule: the refused wish is the one whose XOR with the direction is 2. The direction is 3, that is 11 in binary; which code differs from it in bit 1 only?
For the lecturer: Answer: B. 3 XOR 1 = 2: DOWN is the opposite of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tables are made of words, and a word is four bytes. Entry number k is at k times 4 bytes from the beginning of the table, and a shift left by 2 multiplies by 4.
For the lecturer: Answer: B. The entries are words: entry k is at offset 4k.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XOR gives 1 in each position where the two bits differ. A result of all zeros means that no position differs.
For the lecturer: Answer: C. XOR is 1 where bits differ: no difference, all zeros.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changes of your own. Make button A a brake that stops the timer while it is held. Give two points for food eaten in the top row. Draw the head in a different colour for each direction, with a third table indexed like dx. And change the encoding of the directions: with RIGHT 0, LEFT 1, DOWN 2 and UP 3, what does the U-turn rule become? Keep a copy of the working Part 2 before experimenting.
For the lecturer: Brake: andi with BTN_A (0x10) at the start of the timer, branch to the exit. Colour table: four .word in .rodata, indexed like dx. New encoding: opposites differ in bit 0, so the test is XOR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The player is in the game: a wish, a rule, a movement, a reward. The logic of four lectures has become instructions: bits and masks, XOR as a comparator, a table as a selector. But the worm has no body, nothing can go wrong, and the game never ends. The next block, on state and memory, gives the tools, and Part 3 adds a body that grows, collisions, a title screen and a game over.
For the lecturer: Reference file for this part: verm1/verm1_part2.S (231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12: Verm1, part 2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2: Steering, Food and a Score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The player enters the game: bits, masks, a rule in one XOR, a table that selects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 game is a series of interesting choices.”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Sid Meier</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worm's head that you steer with the joystick, in four directions</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rule that forbids the U-turn, written as one XOR and one comparison</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Movement taken from two small tables instead of four branches</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Food that appears at a random cell, is eaten, and appears again</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score, shown as marks in the title line, and a sound when the worm eats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2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4910643"/>
                <a:gridCol w="472876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AND as a mask: keep one bit, clear the others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button out of the word of buttons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truth tables: a code for each case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four directions in two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XOR is 1 where two bits differ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U-turn rule; the test for equality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button is a switch to ground with a pull-up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why pressed arrives as 1 only after the runtime inverts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 multiplexer, ROM as a table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head on the food; dx and 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Start from a Part 1 that runs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Open your verm1.S of Part 1, build it and run it: the head must cross the screen</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it does not, copy the reference file verm1_part1.S and start from that</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 you change the file in three steps, and you run it after the second and the third</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Slides marked CHANGED replace code you have; slides marked NEW add code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Keep the debugger of PRG32-QT open: step 4 uses it to watch a decision being taken</a:t>
            </a:r>
            <a:endParaRPr lang="en-US" sz="2200" dirty="0"/>
          </a:p>
        </p:txBody>
      </p:sp>
      <p:pic>
        <p:nvPicPr>
          <p:cNvPr id="13" name="Image 0" descr="/Users/raffaelemontella/devel/riscv-prg32/computer-architecture-with-prg32/tools/assets/verm1_p2.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Part 2</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1: names for bits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Buttons, directions, and the variables of today.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buttons and directions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50" dirty="0">
                <a:solidFill>
                  <a:srgbClr val="8FB3A0"/>
                </a:solidFill>
                <a:latin typeface="Courier New" pitchFamily="34" charset="0"/>
                <a:ea typeface="Courier New" pitchFamily="34" charset="-122"/>
                <a:cs typeface="Courier New" pitchFamily="34" charset="-120"/>
              </a:rPr>
              <a:t># RGB565 colours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CELL,  8               </a:t>
            </a:r>
            <a:pPr indent="0" marL="0">
              <a:buNone/>
            </a:pPr>
            <a:r>
              <a:rPr lang="en-US" sz="1250" dirty="0">
                <a:solidFill>
                  <a:srgbClr val="8FB3A0"/>
                </a:solidFill>
                <a:latin typeface="Courier New" pitchFamily="34" charset="0"/>
                <a:ea typeface="Courier New" pitchFamily="34" charset="-122"/>
                <a:cs typeface="Courier New" pitchFamily="34" charset="-120"/>
              </a:rPr>
              <a:t># a cell is 8 x 8 pixels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COLS,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ROWS,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TOP,   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SPEED_Q8, 40           </a:t>
            </a:r>
            <a:pPr indent="0" marL="0">
              <a:buNone/>
            </a:pPr>
            <a:r>
              <a:rPr lang="en-US" sz="1250" dirty="0">
                <a:solidFill>
                  <a:srgbClr val="8FB3A0"/>
                </a:solidFill>
                <a:latin typeface="Courier New" pitchFamily="34" charset="0"/>
                <a:ea typeface="Courier New" pitchFamily="34" charset="-122"/>
                <a:cs typeface="Courier New" pitchFamily="34" charset="-120"/>
              </a:rPr>
              <a:t># 40/256 of a cell per frame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BTN_LEFT,  0x01        </a:t>
            </a:r>
            <a:pPr indent="0" marL="0">
              <a:buNone/>
            </a:pPr>
            <a:r>
              <a:rPr lang="en-US" sz="1250" dirty="0">
                <a:solidFill>
                  <a:srgbClr val="8FB3A0"/>
                </a:solidFill>
                <a:latin typeface="Courier New" pitchFamily="34" charset="0"/>
                <a:ea typeface="Courier New" pitchFamily="34" charset="-122"/>
                <a:cs typeface="Courier New" pitchFamily="34" charset="-120"/>
              </a:rPr>
              <a:t># one bit per button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BTN_RIGHT, 0x02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BTN_UP,    0x04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BTN_DOWN,  0x08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50" dirty="0">
                <a:solidFill>
                  <a:srgbClr val="8FB3A0"/>
                </a:solidFill>
                <a:latin typeface="Courier New" pitchFamily="34" charset="0"/>
                <a:ea typeface="Courier New" pitchFamily="34" charset="-122"/>
                <a:cs typeface="Courier New" pitchFamily="34" charset="-120"/>
              </a:rPr>
              <a:t># a direction is a 2-bit code: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DIR_DOWN,  1           </a:t>
            </a:r>
            <a:pPr indent="0" marL="0">
              <a:buNone/>
            </a:pPr>
            <a:r>
              <a:rPr lang="en-US" sz="1250" dirty="0">
                <a:solidFill>
                  <a:srgbClr val="8FB3A0"/>
                </a:solidFill>
                <a:latin typeface="Courier New" pitchFamily="34" charset="0"/>
                <a:ea typeface="Courier New" pitchFamily="34" charset="-122"/>
                <a:cs typeface="Courier New" pitchFamily="34" charset="-120"/>
              </a:rPr>
              <a:t>#   bit 0 = vertical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DIR_LEFT,  2           </a:t>
            </a:r>
            <a:pPr indent="0" marL="0">
              <a:buNone/>
            </a:pPr>
            <a:r>
              <a:rPr lang="en-US" sz="1250" dirty="0">
                <a:solidFill>
                  <a:srgbClr val="8FB3A0"/>
                </a:solidFill>
                <a:latin typeface="Courier New" pitchFamily="34" charset="0"/>
                <a:ea typeface="Courier New" pitchFamily="34" charset="-122"/>
                <a:cs typeface="Courier New" pitchFamily="34" charset="-120"/>
              </a:rPr>
              <a:t>#   bit 1 = backwards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DIR_UP,    3</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verm1_draw</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New colour: RED, for the food</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Each button is one bit of a word: a mask selects it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direction is a number from 0 to 3: two bits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codes are not arbitrary: see the next slide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code chosen with care: the four directions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182192"/>
                <a:gridCol w="1182192"/>
                <a:gridCol w="1182192"/>
                <a:gridCol w="1182192"/>
                <a:gridCol w="1182192"/>
                <a:gridCol w="336470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Opposite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LEFT =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RIGHT =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DOWN =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On the screen y grows downwards: DOWN is +1, UP is -1.</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two tables and five new variables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.section .rodata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title:   .asciz "VERM1"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dx:      .word  1, 0, -1,  0    </a:t>
            </a:r>
            <a:pPr indent="0" marL="0">
              <a:buNone/>
            </a:pPr>
            <a:r>
              <a:rPr lang="en-US" sz="1550" dirty="0">
                <a:solidFill>
                  <a:srgbClr val="8FB3A0"/>
                </a:solidFill>
                <a:latin typeface="Courier New" pitchFamily="34" charset="0"/>
                <a:ea typeface="Courier New" pitchFamily="34" charset="-122"/>
                <a:cs typeface="Courier New" pitchFamily="34" charset="-120"/>
              </a:rPr>
              <a:t># right, down, left, up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dy:      .word  0, 1,  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.section .data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head_x:  .word 5</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head_y:  .word 12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dir: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of the last step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want: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asked by the player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step_q8: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score: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food_x:  .word 20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food_y:  .word 12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dx and dy: four words each, one per direction</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They are constants, so they live in .rodata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dir is the direction of the last step, want the one asked for</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score, food_x, food_y: used in step 3</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2: steering</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Read the buttons, refuse the U-turn, look the movement up in a table.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finger to bit</a:t>
            </a:r>
            <a:endParaRPr lang="en-US" sz="3200" dirty="0"/>
          </a:p>
        </p:txBody>
      </p:sp>
      <p:pic>
        <p:nvPicPr>
          <p:cNvPr id="4" name="Image 0" descr="preencoded.png">    </p:cNvPr>
          <p:cNvPicPr>
            <a:picLocks noChangeAspect="1"/>
          </p:cNvPicPr>
          <p:nvPr/>
        </p:nvPicPr>
        <p:blipFill>
          <a:blip r:embed="rId1"/>
          <a:stretch>
            <a:fillRect/>
          </a:stretch>
        </p:blipFill>
        <p:spPr>
          <a:xfrm>
            <a:off x="548640" y="1520141"/>
            <a:ext cx="3749040" cy="345195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480560" y="1508760"/>
          <a:ext cx="6675120" cy="914400"/>
        </p:xfrm>
        <a:graphic>
          <a:graphicData uri="http://schemas.openxmlformats.org/drawingml/2006/table">
            <a:tbl>
              <a:tblPr/>
              <a:tblGrid>
                <a:gridCol w="1600200"/>
                <a:gridCol w="1600200"/>
                <a:gridCol w="2286000"/>
                <a:gridCol w="118872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Button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Pin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After the runtime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Mask</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released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1 (3.3 V)</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 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LEFT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0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RIGHT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1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0x02</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UP</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2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0x04</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DOWN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3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0x08</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Shape 1"/>
          <p:cNvSpPr/>
          <p:nvPr/>
        </p:nvSpPr>
        <p:spPr>
          <a:xfrm>
            <a:off x="4480560" y="4228211"/>
            <a:ext cx="146304" cy="146304"/>
          </a:xfrm>
          <a:prstGeom prst="rect">
            <a:avLst/>
          </a:prstGeom>
          <a:solidFill>
            <a:srgbClr val="0E7C86"/>
          </a:solidFill>
          <a:ln w="12700">
            <a:solidFill>
              <a:srgbClr val="0E7C86"/>
            </a:solidFill>
            <a:prstDash val="solid"/>
          </a:ln>
        </p:spPr>
      </p:sp>
      <p:sp>
        <p:nvSpPr>
          <p:cNvPr id="7" name="Text 2"/>
          <p:cNvSpPr txBox="1"/>
          <p:nvPr/>
        </p:nvSpPr>
        <p:spPr>
          <a:xfrm>
            <a:off x="4864608" y="416052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pin reads 0 when the button is pressed: active low (Lecture 10)</a:t>
            </a:r>
            <a:endParaRPr lang="en-US" sz="1700" dirty="0"/>
          </a:p>
        </p:txBody>
      </p:sp>
      <p:sp>
        <p:nvSpPr>
          <p:cNvPr id="8" name="Shape 3"/>
          <p:cNvSpPr/>
          <p:nvPr/>
        </p:nvSpPr>
        <p:spPr>
          <a:xfrm>
            <a:off x="4480560" y="4898771"/>
            <a:ext cx="146304" cy="146304"/>
          </a:xfrm>
          <a:prstGeom prst="rect">
            <a:avLst/>
          </a:prstGeom>
          <a:solidFill>
            <a:srgbClr val="C7791B"/>
          </a:solidFill>
          <a:ln w="12700">
            <a:solidFill>
              <a:srgbClr val="C7791B"/>
            </a:solidFill>
            <a:prstDash val="solid"/>
          </a:ln>
        </p:spPr>
      </p:sp>
      <p:sp>
        <p:nvSpPr>
          <p:cNvPr id="9" name="Text 4"/>
          <p:cNvSpPr txBox="1"/>
          <p:nvPr/>
        </p:nvSpPr>
        <p:spPr>
          <a:xfrm>
            <a:off x="4864608" y="483108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prg32_input_read inverts and packs: one word, one bit per button, 1 = pressed</a:t>
            </a:r>
            <a:endParaRPr lang="en-US" sz="1700" dirty="0"/>
          </a:p>
        </p:txBody>
      </p:sp>
      <p:sp>
        <p:nvSpPr>
          <p:cNvPr id="10" name="Shape 5"/>
          <p:cNvSpPr/>
          <p:nvPr/>
        </p:nvSpPr>
        <p:spPr>
          <a:xfrm>
            <a:off x="4480560" y="5569331"/>
            <a:ext cx="146304" cy="146304"/>
          </a:xfrm>
          <a:prstGeom prst="rect">
            <a:avLst/>
          </a:prstGeom>
          <a:solidFill>
            <a:srgbClr val="0E7C86"/>
          </a:solidFill>
          <a:ln w="12700">
            <a:solidFill>
              <a:srgbClr val="0E7C86"/>
            </a:solidFill>
            <a:prstDash val="solid"/>
          </a:ln>
        </p:spPr>
      </p:sp>
      <p:sp>
        <p:nvSpPr>
          <p:cNvPr id="11" name="Text 6"/>
          <p:cNvSpPr txBox="1"/>
          <p:nvPr/>
        </p:nvSpPr>
        <p:spPr>
          <a:xfrm>
            <a:off x="4864608" y="5501640"/>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UP and RIGHT together give 0x04 OR 0x02 = 0x06</a:t>
            </a:r>
            <a:endParaRPr lang="en-US" sz="1700" dirty="0"/>
          </a:p>
        </p:txBody>
      </p:sp>
      <p:sp>
        <p:nvSpPr>
          <p:cNvPr id="12" name="Shape 7"/>
          <p:cNvSpPr/>
          <p:nvPr/>
        </p:nvSpPr>
        <p:spPr>
          <a:xfrm>
            <a:off x="4480560" y="5976493"/>
            <a:ext cx="146304" cy="146304"/>
          </a:xfrm>
          <a:prstGeom prst="rect">
            <a:avLst/>
          </a:prstGeom>
          <a:solidFill>
            <a:srgbClr val="C7791B"/>
          </a:solidFill>
          <a:ln w="12700">
            <a:solidFill>
              <a:srgbClr val="C7791B"/>
            </a:solidFill>
            <a:prstDash val="solid"/>
          </a:ln>
        </p:spPr>
      </p:sp>
      <p:sp>
        <p:nvSpPr>
          <p:cNvPr id="13" name="Text 8"/>
          <p:cNvSpPr txBox="1"/>
          <p:nvPr/>
        </p:nvSpPr>
        <p:spPr>
          <a:xfrm>
            <a:off x="4864608" y="5908802"/>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a0 AND 0x04 is zero if and only if UP is not pressed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from buttons to a wish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150" dirty="0">
                <a:solidFill>
                  <a:srgbClr val="8FB3A0"/>
                </a:solidFill>
                <a:latin typeface="Courier New" pitchFamily="34" charset="0"/>
                <a:ea typeface="Courier New" pitchFamily="34" charset="-122"/>
                <a:cs typeface="Courier New" pitchFamily="34" charset="-120"/>
              </a:rPr>
              <a:t># a0 = one bit per button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direction of the last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want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t2, 0(t0)              </a:t>
            </a:r>
            <a:pPr indent="0" marL="0">
              <a:buNone/>
            </a:pPr>
            <a:r>
              <a:rPr lang="en-US" sz="1150" dirty="0">
                <a:solidFill>
                  <a:srgbClr val="8FB3A0"/>
                </a:solidFill>
                <a:latin typeface="Courier New" pitchFamily="34" charset="0"/>
                <a:ea typeface="Courier New" pitchFamily="34" charset="-122"/>
                <a:cs typeface="Courier New" pitchFamily="34" charset="-120"/>
              </a:rPr>
              <a:t># t2 = wanted direction, so far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a0, BTN_RIGHT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andi t3, a0, BTN_DOWN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andi t3, a0, BTN_LEFT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andi t3, a0, BTN_UP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  xor  t3, t2, t1             </a:t>
            </a:r>
            <a:pPr indent="0" marL="0">
              <a:buNone/>
            </a:pPr>
            <a:r>
              <a:rPr lang="en-US" sz="1150" dirty="0">
                <a:solidFill>
                  <a:srgbClr val="8FB3A0"/>
                </a:solidFill>
                <a:latin typeface="Courier New" pitchFamily="34" charset="0"/>
                <a:ea typeface="Courier New" pitchFamily="34" charset="-122"/>
                <a:cs typeface="Courier New" pitchFamily="34" charset="-120"/>
              </a:rPr>
              <a:t># opposite directions differ in bit 1 only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t4,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t3, t4, 5f             </a:t>
            </a:r>
            <a:pPr indent="0" marL="0">
              <a:buNone/>
            </a:pPr>
            <a:r>
              <a:rPr lang="en-US" sz="1150" dirty="0">
                <a:solidFill>
                  <a:srgbClr val="8FB3A0"/>
                </a:solidFill>
                <a:latin typeface="Courier New" pitchFamily="34" charset="0"/>
                <a:ea typeface="Courier New" pitchFamily="34" charset="-122"/>
                <a:cs typeface="Courier New" pitchFamily="34" charset="-120"/>
              </a:rPr>
              <a:t># a U-turn: ignore the request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it for the next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5:</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andi keeps one bit: zero means not pressed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Each pressed button overwrites the wish in t2</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xor of wish and direction: 2 means opposite</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U-turn is not stored: the old wish survives</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U-turn rule, as a truth table</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000632"/>
                <a:gridCol w="2364384"/>
                <a:gridCol w="1455005"/>
                <a:gridCol w="327376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 XOR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2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go 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refuse: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refuse: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Six of the sixteen rows. The rule is one XOR and one comparison with the constant 2.</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the timer calls step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500" dirty="0">
                <a:solidFill>
                  <a:srgbClr val="8FB3A0"/>
                </a:solidFill>
                <a:latin typeface="Courier New" pitchFamily="34" charset="0"/>
                <a:ea typeface="Courier New" pitchFamily="34" charset="-122"/>
                <a:cs typeface="Courier New" pitchFamily="34" charset="-120"/>
              </a:rPr>
              <a:t># add a fraction of a cell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blt  t1, t2, 6f             </a:t>
            </a:r>
            <a:pPr indent="0" marL="0">
              <a:buNone/>
            </a:pPr>
            <a:r>
              <a:rPr lang="en-US" sz="1500" dirty="0">
                <a:solidFill>
                  <a:srgbClr val="8FB3A0"/>
                </a:solidFill>
                <a:latin typeface="Courier New" pitchFamily="34" charset="0"/>
                <a:ea typeface="Courier New" pitchFamily="34" charset="-122"/>
                <a:cs typeface="Courier New" pitchFamily="34" charset="-120"/>
              </a:rPr>
              <a:t># less than one whole cell: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step                   </a:t>
            </a:r>
            <a:pPr indent="0" marL="0">
              <a:buNone/>
            </a:pPr>
            <a:r>
              <a:rPr lang="en-US" sz="1500" dirty="0">
                <a:solidFill>
                  <a:srgbClr val="8FB3A0"/>
                </a:solidFill>
                <a:latin typeface="Courier New" pitchFamily="34" charset="0"/>
                <a:ea typeface="Courier New" pitchFamily="34" charset="-122"/>
                <a:cs typeface="Courier New" pitchFamily="34" charset="-120"/>
              </a:rPr>
              <a:t># one whole cell: move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7f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6: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7: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fixed-point timer of Part 1, unchanged</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Moving is now a function of its own: step</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Labels 6 and 7: numbers 1 to 5 are used above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look the movement up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 -1, 0 or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wish becomes the direction, once per step</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word is 4 bytes: offset = code shifted left by 2</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address of table + offset: the word to load</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 branch: the code selects, like a multiplexer</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move and wrap, both ways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    la   t0, head_x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t4,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t4, t4, t2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t4, 1f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COLS-1             </a:t>
            </a:r>
            <a:pPr indent="0" marL="0">
              <a:buNone/>
            </a:pPr>
            <a:r>
              <a:rPr lang="en-US" sz="1600" dirty="0">
                <a:solidFill>
                  <a:srgbClr val="8FB3A0"/>
                </a:solidFill>
                <a:latin typeface="Courier New" pitchFamily="34" charset="0"/>
                <a:ea typeface="Courier New" pitchFamily="34" charset="-122"/>
                <a:cs typeface="Courier New" pitchFamily="34" charset="-120"/>
              </a:rPr>
              <a:t># off the left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1:  li   t5, COLS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t4, t5, 2f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0                  </a:t>
            </a:r>
            <a:pPr indent="0" marL="0">
              <a:buNone/>
            </a:pPr>
            <a:r>
              <a:rPr lang="en-US" sz="1600" dirty="0">
                <a:solidFill>
                  <a:srgbClr val="8FB3A0"/>
                </a:solidFill>
                <a:latin typeface="Courier New" pitchFamily="34" charset="0"/>
                <a:ea typeface="Courier New" pitchFamily="34" charset="-122"/>
                <a:cs typeface="Courier New" pitchFamily="34" charset="-120"/>
              </a:rPr>
              <a:t># off the right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2:  sw   t4, 0(t0)              </a:t>
            </a:r>
            <a:pPr indent="0" marL="0">
              <a:buNone/>
            </a:pPr>
            <a:r>
              <a:rPr lang="en-US" sz="1600" dirty="0">
                <a:solidFill>
                  <a:srgbClr val="8FB3A0"/>
                </a:solidFill>
                <a:latin typeface="Courier New" pitchFamily="34" charset="0"/>
                <a:ea typeface="Courier New" pitchFamily="34" charset="-122"/>
                <a:cs typeface="Courier New" pitchFamily="34" charset="-120"/>
              </a:rPr>
              <a:t># t4 = new column</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la   t0, head_y</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t6,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t6, t6, t3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t6, 3f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ROWS-1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3:  li   t5, ROWS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t6, t5, 4f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4:  sw   t6, 0(t0)              </a:t>
            </a:r>
            <a:pPr indent="0" marL="0">
              <a:buNone/>
            </a:pPr>
            <a:r>
              <a:rPr lang="en-US" sz="1600" dirty="0">
                <a:solidFill>
                  <a:srgbClr val="8FB3A0"/>
                </a:solidFill>
                <a:latin typeface="Courier New" pitchFamily="34" charset="0"/>
                <a:ea typeface="Courier New" pitchFamily="34" charset="-122"/>
                <a:cs typeface="Courier New" pitchFamily="34" charset="-120"/>
              </a:rPr>
              <a:t># t6 = new row</a:t>
            </a:r>
            <a:endParaRPr lang="en-US" sz="16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dx: the column can now go below 0</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bgez tests the sign: negative means off the left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same for the row, with ROWS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t4 and t6 keep the new cell for the next slide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For now: close the function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temporary end of step: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Step 3 will replace these three lines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Type these three lines after the wrap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They restore ra and return: step is complete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Step 3 puts the food test before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you are driving</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head still starts to the right, from column 5 of row 12</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Hold DOWN: the head turns at its next step and goes down, wrapping from row 23 to row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While it goes right, hold LEFT: nothing happens. The U-turn is refused</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Hold DOWN and then LEFT: two turns, and now the head goes left</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Holding DOWN from the start for 64 frames brings the head to column 5, row 22: ten steps, all downwards.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3: food, a score, a sound</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 random cell, a comparator, and a loop that draws.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a complete start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12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            </a:t>
            </a:r>
            <a:pPr indent="0" marL="0">
              <a:buNone/>
            </a:pPr>
            <a:r>
              <a:rPr lang="en-US" sz="1350" dirty="0">
                <a:solidFill>
                  <a:srgbClr val="8FB3A0"/>
                </a:solidFill>
                <a:latin typeface="Courier New" pitchFamily="34" charset="0"/>
                <a:ea typeface="Courier New" pitchFamily="34" charset="-122"/>
                <a:cs typeface="Courier New" pitchFamily="34" charset="-120"/>
              </a:rPr>
              <a:t># moving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want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place_food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Every variable gets its starting value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init now calls a function: it needs a stack frame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food is placed here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place_food: a random 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place_food:</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COLS-1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column, 0 .. 39</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food_x</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ROWS-1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row, 0 .. 23</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food_y</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prg32_random_number(min, max): both included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Arguments in a0 and a1, result in a0</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column from 0 to 39, a row from 0 to 23</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food may fall on the head: Part 3 fixes it</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is the head on the 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la   t0, food_x</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t1, t1, t4             </a:t>
            </a:r>
            <a:pPr indent="0" marL="0">
              <a:buNone/>
            </a:pPr>
            <a:r>
              <a:rPr lang="en-US" sz="1650" dirty="0">
                <a:solidFill>
                  <a:srgbClr val="8FB3A0"/>
                </a:solidFill>
                <a:latin typeface="Courier New" pitchFamily="34" charset="0"/>
                <a:ea typeface="Courier New" pitchFamily="34" charset="-122"/>
                <a:cs typeface="Courier New" pitchFamily="34" charset="-120"/>
              </a:rPr>
              <a:t># 0 if same column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food_y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t2, t2, t6             </a:t>
            </a:r>
            <a:pPr indent="0" marL="0">
              <a:buNone/>
            </a:pPr>
            <a:r>
              <a:rPr lang="en-US" sz="1650" dirty="0">
                <a:solidFill>
                  <a:srgbClr val="8FB3A0"/>
                </a:solidFill>
                <a:latin typeface="Courier New" pitchFamily="34" charset="0"/>
                <a:ea typeface="Courier New" pitchFamily="34" charset="-122"/>
                <a:cs typeface="Courier New" pitchFamily="34" charset="-120"/>
              </a:rPr>
              <a:t># 0 if same row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or   t1, t1, t2             </a:t>
            </a:r>
            <a:pPr indent="0" marL="0">
              <a:buNone/>
            </a:pPr>
            <a:r>
              <a:rPr lang="en-US" sz="1650" dirty="0">
                <a:solidFill>
                  <a:srgbClr val="8FB3A0"/>
                </a:solidFill>
                <a:latin typeface="Courier New" pitchFamily="34" charset="0"/>
                <a:ea typeface="Courier New" pitchFamily="34" charset="-122"/>
                <a:cs typeface="Courier New" pitchFamily="34" charset="-120"/>
              </a:rPr>
              <a:t># 0 only if both are equal</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5f                 </a:t>
            </a:r>
            <a:pPr indent="0" marL="0">
              <a:buNone/>
            </a:pPr>
            <a:r>
              <a:rPr lang="en-US" sz="1650" dirty="0">
                <a:solidFill>
                  <a:srgbClr val="8FB3A0"/>
                </a:solidFill>
                <a:latin typeface="Courier New" pitchFamily="34" charset="0"/>
                <a:ea typeface="Courier New" pitchFamily="34" charset="-122"/>
                <a:cs typeface="Courier New" pitchFamily="34" charset="-120"/>
              </a:rPr>
              <a:t># not on the 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score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place_food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eat_sound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5:  lw   ra, 12(sp)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sp, sp, 16</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Replace the temporary ending with this</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xor is 0 when two numbers are equal</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or of the two results: 0 only if both are equal</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Eating: one more point, new food, a sound</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eat_sound: one note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eat_sound: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                  </a:t>
            </a:r>
            <a:pPr indent="0" marL="0">
              <a:buNone/>
            </a:pPr>
            <a:r>
              <a:rPr lang="en-US" sz="1800" dirty="0">
                <a:solidFill>
                  <a:srgbClr val="8FB3A0"/>
                </a:solidFill>
                <a:latin typeface="Courier New" pitchFamily="34" charset="0"/>
                <a:ea typeface="Courier New" pitchFamily="34" charset="-122"/>
                <a:cs typeface="Courier New" pitchFamily="34" charset="-120"/>
              </a:rPr>
              <a:t># channel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0                  </a:t>
            </a:r>
            <a:pPr indent="0" marL="0">
              <a:buNone/>
            </a:pPr>
            <a:r>
              <a:rPr lang="en-US" sz="1800" dirty="0">
                <a:solidFill>
                  <a:srgbClr val="8FB3A0"/>
                </a:solidFill>
                <a:latin typeface="Courier New" pitchFamily="34" charset="0"/>
                <a:ea typeface="Courier New" pitchFamily="34" charset="-122"/>
                <a:cs typeface="Courier New" pitchFamily="34" charset="-120"/>
              </a:rPr>
              <a:t># instrument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72                 </a:t>
            </a:r>
            <a:pPr indent="0" marL="0">
              <a:buNone/>
            </a:pPr>
            <a:r>
              <a:rPr lang="en-US" sz="1800" dirty="0">
                <a:solidFill>
                  <a:srgbClr val="8FB3A0"/>
                </a:solidFill>
                <a:latin typeface="Courier New" pitchFamily="34" charset="0"/>
                <a:ea typeface="Courier New" pitchFamily="34" charset="-122"/>
                <a:cs typeface="Courier New" pitchFamily="34" charset="-120"/>
              </a:rPr>
              <a:t># note: C5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255                </a:t>
            </a:r>
            <a:pPr indent="0" marL="0">
              <a:buNone/>
            </a:pPr>
            <a:r>
              <a:rPr lang="en-US" sz="1800" dirty="0">
                <a:solidFill>
                  <a:srgbClr val="8FB3A0"/>
                </a:solidFill>
                <a:latin typeface="Courier New" pitchFamily="34" charset="0"/>
                <a:ea typeface="Courier New" pitchFamily="34" charset="-122"/>
                <a:cs typeface="Courier New" pitchFamily="34" charset="-120"/>
              </a:rPr>
              <a:t># volume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60                 </a:t>
            </a:r>
            <a:pPr indent="0" marL="0">
              <a:buNone/>
            </a:pPr>
            <a:r>
              <a:rPr lang="en-US" sz="1800" dirty="0">
                <a:solidFill>
                  <a:srgbClr val="8FB3A0"/>
                </a:solidFill>
                <a:latin typeface="Courier New" pitchFamily="34" charset="0"/>
                <a:ea typeface="Courier New" pitchFamily="34" charset="-122"/>
                <a:cs typeface="Courier New" pitchFamily="34" charset="-120"/>
              </a:rPr>
              <a:t># milliseconds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prg32_audio_note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Five arguments, a0 to a4, then the call</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Note 72 is C5 in MIDI numbering</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Sound comes last: the game worked without 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the score as marks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verm1_draw: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prg32_gfx_clear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prg32_gfx_text8</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s0, 0                  </a:t>
            </a:r>
            <a:pPr indent="0" marL="0">
              <a:buNone/>
            </a:pPr>
            <a:r>
              <a:rPr lang="en-US" sz="1100" dirty="0">
                <a:solidFill>
                  <a:srgbClr val="8FB3A0"/>
                </a:solidFill>
                <a:latin typeface="Courier New" pitchFamily="34" charset="0"/>
                <a:ea typeface="Courier New" pitchFamily="34" charset="-122"/>
                <a:cs typeface="Courier New" pitchFamily="34" charset="-120"/>
              </a:rPr>
              <a:t># s0 = i: one mark per point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la   t0, score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bge  s0, t1, 2f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slli a0, s0, 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a0, a0, 56             </a:t>
            </a:r>
            <a:pPr indent="0" marL="0">
              <a:buNone/>
            </a:pPr>
            <a:r>
              <a:rPr lang="en-US" sz="1100" dirty="0">
                <a:solidFill>
                  <a:srgbClr val="8FB3A0"/>
                </a:solidFill>
                <a:latin typeface="Courier New" pitchFamily="34" charset="0"/>
                <a:ea typeface="Courier New" pitchFamily="34" charset="-122"/>
                <a:cs typeface="Courier New" pitchFamily="34" charset="-120"/>
              </a:rPr>
              <a:t># x = 56 + 4 * 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a2, 3</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prg32_gfx_rect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s0, s0,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1b</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2:</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counts the marks: it must survive the calls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So s0 is saved in the frame, with ra</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small rectangle per point, 4 pixels apart</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loop ends when s0 reaches the score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food and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same three lines twice: column, row, colour</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draw_cell does the conversion to pixels</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head is drawn last: it covers the food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draw_cell: from cells to pixels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arithmetic of Part 1, written once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colour arrives in a2 and must leave in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Move it first: a2 is about to be overwritten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Verm1, Part 2</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2.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head, the food, and two marks after the title: two points</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a red cell somewhere; steer the head onto it; a note sounds, a mark appears next to VERM1, the food moves.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4: watch a decision</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PRG32-QT as a logic probe.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Catch the U-turn rule at work</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cartridge in debug mode and press Update: the listing shows verm1_update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Look at the telemetry while you hold a button: the input mask shows 0x04 for UP, 0x01 for LEFT</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Find the instruction xor t3, t2, t1 and click in the gutter: a breakpoint</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 LEFT while the head goes right, and press Resume: the program stops on the xor</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the registers: t1 is 0, the direction; t2 is 2, the wish</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Step: t3 becomes 2. Step twice more: the branch is taken and the sw is skipped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read in the registers</a:t>
            </a:r>
            <a:endParaRPr lang="en-US" sz="3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727819"/>
                <a:gridCol w="1455005"/>
                <a:gridCol w="1636881"/>
                <a:gridCol w="2364384"/>
                <a:gridCol w="190969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hold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a0 (mask)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t1 = 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t2 =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t3 = t2 XOR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Stored?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nothing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0x04</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 +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0x06</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variables in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la t0, dir the register t0 holds the address of dir: type it in the Memory field</a:t>
            </a:r>
            <a:endParaRPr lang="en-US" sz="2100" dirty="0"/>
          </a:p>
        </p:txBody>
      </p:sp>
      <p:sp>
        <p:nvSpPr>
          <p:cNvPr id="5" name="Shape 3"/>
          <p:cNvSpPr/>
          <p:nvPr/>
        </p:nvSpPr>
        <p:spPr>
          <a:xfrm>
            <a:off x="548640" y="26283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965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variables follow each other, 4 bytes each, in the order of the file</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546811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From the address of dir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dir, +4 want, +8 step_q8</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+12 score, +16 food_x, +20 food_y</a:t>
            </a:r>
            <a:endParaRPr lang="en-US" sz="2100" dirty="0"/>
          </a:p>
        </p:txBody>
      </p:sp>
      <p:sp>
        <p:nvSpPr>
          <p:cNvPr id="9" name="Shape 7"/>
          <p:cNvSpPr/>
          <p:nvPr/>
        </p:nvSpPr>
        <p:spPr>
          <a:xfrm>
            <a:off x="548640" y="45078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912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Eat once, pause, and read score: 01 00 00 00</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 food_x and food_y, and check them against the screen: column and row of the red cell</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The player holds DOWN and RIGHT together: prg32_input_read returns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0x02</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0x08</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0x0a</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0x10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The worm goes UP (3). Which wish is refused?</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RIGHT (0)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DOWN (1)</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LEFT (2)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UP (3)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slli t1, t1, 2 before adding to the address of dx?</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to make the code positive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each entry of the table is 4 bytes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to clear bit 1</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tables start at address 4</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xor t1, t1, t4 gives zero exactly when</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t1 is zero</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t4 is zero</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t1 and t4 are equal</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t1 and t4 are opposite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button A a brake: while it is held, the timer does not advance</a:t>
            </a:r>
            <a:endParaRPr lang="en-US" sz="2400" dirty="0"/>
          </a:p>
        </p:txBody>
      </p:sp>
      <p:sp>
        <p:nvSpPr>
          <p:cNvPr id="6" name="Text 4"/>
          <p:cNvSpPr txBox="1"/>
          <p:nvPr/>
        </p:nvSpPr>
        <p:spPr>
          <a:xfrm>
            <a:off x="548640" y="22443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60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Give two points for a piece of food eaten in the top row</a:t>
            </a:r>
            <a:endParaRPr lang="en-US" sz="2400" dirty="0"/>
          </a:p>
        </p:txBody>
      </p:sp>
      <p:sp>
        <p:nvSpPr>
          <p:cNvPr id="8" name="Text 6"/>
          <p:cNvSpPr txBox="1"/>
          <p:nvPr/>
        </p:nvSpPr>
        <p:spPr>
          <a:xfrm>
            <a:off x="548640" y="3053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0347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the head in a different colour for each direction, using a third table of four colours</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encoding so that RIGHT = 0, LEFT = 1, DOWN = 2, UP = 3: what does the U-turn rule become?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is a few lines. Keep a copy of the working Part 2 before you experiment: Part 3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70662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player is in the game: a wish, a rule, a movement, a reward</a:t>
            </a:r>
            <a:endParaRPr lang="en-US" sz="2200" dirty="0"/>
          </a:p>
        </p:txBody>
      </p:sp>
      <p:sp>
        <p:nvSpPr>
          <p:cNvPr id="5" name="Shape 3"/>
          <p:cNvSpPr/>
          <p:nvPr/>
        </p:nvSpPr>
        <p:spPr>
          <a:xfrm>
            <a:off x="548640" y="250469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9826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Bits and masks, XOR as a comparator, a table as a selector: logic turned into instructions</a:t>
            </a:r>
            <a:endParaRPr lang="en-US" sz="2200" dirty="0"/>
          </a:p>
        </p:txBody>
      </p:sp>
      <p:sp>
        <p:nvSpPr>
          <p:cNvPr id="7" name="Shape 5"/>
          <p:cNvSpPr/>
          <p:nvPr/>
        </p:nvSpPr>
        <p:spPr>
          <a:xfrm>
            <a:off x="548640" y="364363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3720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the worm has no body, nothing can go wrong, and the game never ends</a:t>
            </a:r>
            <a:endParaRPr lang="en-US" sz="2200" dirty="0"/>
          </a:p>
        </p:txBody>
      </p:sp>
      <p:sp>
        <p:nvSpPr>
          <p:cNvPr id="9" name="Shape 7"/>
          <p:cNvSpPr/>
          <p:nvPr/>
        </p:nvSpPr>
        <p:spPr>
          <a:xfrm>
            <a:off x="548640" y="444169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527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13 to 16 give the tools: state machines, registers, memory as an array, what survives power-off</a:t>
            </a:r>
            <a:endParaRPr lang="en-US" sz="2200" dirty="0"/>
          </a:p>
        </p:txBody>
      </p:sp>
      <p:sp>
        <p:nvSpPr>
          <p:cNvPr id="11" name="Shape 9"/>
          <p:cNvSpPr/>
          <p:nvPr/>
        </p:nvSpPr>
        <p:spPr>
          <a:xfrm>
            <a:off x="548640" y="558063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7420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3: a body that grows, collisions, a title screen and a game over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2: Steering, Food and a Score</dc:title>
  <dc:subject>Lecture 12</dc:subject>
  <dc:creator>Raffaele Montella</dc:creator>
  <cp:lastModifiedBy>Raffaele Montella</cp:lastModifiedBy>
  <cp:revision>1</cp:revision>
  <dcterms:created xsi:type="dcterms:W3CDTF">2026-10-12T11:28:39Z</dcterms:created>
  <dcterms:modified xsi:type="dcterms:W3CDTF">2026-10-12T11:28:39Z</dcterms:modified>
</cp:coreProperties>
</file>