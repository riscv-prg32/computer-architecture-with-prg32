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2213967-b122-21fd-8693-3299b6e08553}">
          <p14:sldIdLst>
            <p14:sldId id="256"/>
            <p14:sldId id="257"/>
            <p14:sldId id="258"/>
            <p14:sldId id="259"/>
          </p14:sldIdLst>
        </p14:section>
        <p14:section name="Step 1: names for bits" id="{a3ebfe81-8e39-0741-623f-a1776c229875}">
          <p14:sldIdLst>
            <p14:sldId id="260"/>
          </p14:sldIdLst>
        </p14:section>
        <p14:section name="Step 2: steering" id="{99c19de6-07fe-9000-3bd8-7788c22994cd}">
          <p14:sldIdLst>
            <p14:sldId id="261"/>
            <p14:sldId id="262"/>
          </p14:sldIdLst>
        </p14:section>
        <p14:section name="Step 4: watch a decision" id="{403e68ce-200a-3d15-c19f-debd41ae5d35}">
          <p14:sldIdLst>
            <p14:sldId id="263"/>
            <p14:sldId id="264"/>
            <p14:sldId id="265"/>
            <p14:sldId id="266"/>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second tutorial of the project. At the end of Part 1 the head crossed the screen autonomously; today the player enters the game. Steering with the joystick is added, together with food that appears at random, a score and a sound. Everything rests on the four lectures of the logic block: a button is a bit selected by a mask, the rule forbidding the U-turn is a single XOR, and the movement is read from a table as a multiplexer would select it. Sid Meier's sentence on the cover names what is being added: meaningful choices.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bit masks; codes; arrays in memory; pull-up inputs; Boolean algebra; fixed point; multiplexers; signed or unsigned instructions; comparators and parity; arguments in a0 to a7. USE NOW: the calling convention (Lecture 18) and, used without being studied in this course, the PRG32 tools, the PRG32 runtime calls, the PRG32-QT debugger. UNDERSTAND LATER: nothing. A slide without a badge is context: a story, an example, a question, an exercise.
Roadmap. Today's outcomes: (1) read the buttons with masks and refuse a U-turn with one XOR; (2) compare positions with XOR and OR to detect food; (3) keep and show a score. Builds on: bit masks (Lecture 08); codes (Lecture 11); arrays in memory (Lecture 04); pull-up inputs (Lecture 10); Boolean algebra (Lecture 08). Next: Lecture 13, Sequential Machines.
Bridge. In Lecture 07 a function that calls another saved ra in a frame of 16 bytes. Today the functions of Verm1 call each other more deeply: each saves ra once, on entry, and restores it before ret. Lecture 18 states the rules: which registers a call may change and which it must preserve. Recall: A function calls two other functions. How many times must it save ra, and where?
For the lecturer: Second project tutorial. It uses Lectures 08 to 11: Boolean operators and truth tables (08), XOR and equality, simplification (09), buttons as switches with pull-ups (10), comparators, multiplexers and ROM as a table (11). The students start from their working Part 1; the reference file is verm1/verm1_part2.S.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outcomes: a head steered in four directions; a rule forbidding the U-turn, written with one XOR and one comparison; movement taken from two small tables instead of four branches; food that appears in a random cell, is eaten and reappears; and a score, drawn as small marks beside the title, with a sound at each bite. Three of the five concern writing the program well rather than merely making it work, and this emphasis on the quality of a solution is deliberate.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row links an idea from the logic lectures to a location in today's program. AND as a mask selects one button from the word of buttons. A truth table becomes the code of the four directions. XOR, which is 1 wherever two bits differ, provides both the U-turn rule and the test for equality. The pull-up of Lecture 10 explains why a pressed button arrives as 1. The comparator, the multiplexer and the ROM of Lecture 11 become the test "head on the food" and the tables dx and dy. The tutorial is thus an application of the whole block, not of any single lecture.
For the lecturer: Every row is something the students have seen as a circuit. Today the same ideas are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session begins from a Part 1 that runs: the file is opened and built, and the head is checked to cross the screen. If it does not, the reference file of Part 1 is used instead. Today the file changes in three steps, and is run after the second and after the third. The fourth line states the convention of every tutorial from now on: a slide marked CHANGED replaces code already present, and a slide marked NEW adds code.
For the lecturer: The reference files are in the verm1 folder of the course material. Keep a copy of each finished part: verm1_part1.S, verm1_part2.S and so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codes of the directions were chosen deliberately. Bit 0 records whether the movement is vertical; bit 1 whether it is "backwards", towards smaller coordinates. In consequence a direction and its opposite differ in bit 1 and only there: RIGHT is 00 and LEFT is 10, DOWN is 01 and UP is 11. The XOR of two opposite directions is therefore always 10, that is, 2. A well-chosen encoding reduces a rule to a single gate, a lesson of Lecture 11 applied directly. The caption recalls a convention of the screen: y increases downwards, so DOWN is +1.
UNDERSTAND NOW: codes.
For the lecturer: Bit 0 says vertical, bit 1 says backwards. A direction and its opposite differ in bit 1 and only there: code XOR opposite is always 10 in binary, 2. A good encoding turns a rule into one gate: the lesson of Lecture 09.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path of a button, recapitulated from Lecture 10. The pin is held at 3.3 V by a pull-up resistor; pressing the button connects it to ground, so the pin reads 0 when pressed. The runtime inverts the levels and packs all the buttons into one word, with 1 meaning pressed. The table gives the mask of each direction button. Two consequences are used immediately: UP and RIGHT pressed together give 0x04 OR 0x02, that is, 0x06; and a0 AND 0x04 is zero exactly when UP is not pressed.
UNDERSTAND NOW: pull-up inputs.
For the lecturer: The kit has internal pull-ups of about 45 kilohm; the switches go to ground. The cartridge never sees the electrical level: the runtime gives the same word on the board, on QEMU and on PRG32-QT.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expressed as a truth table, of which six of the sixteen rows are shown. With the head moving right, a request for RIGHT gives 00 and the head continues; a request for DOWN or UP gives 01 or 11, and the head turns; a request for LEFT gives 10, that is, 2, and is refused. The same holds for DOWN and UP. Completing the table and counting the refusals yields four, one per direction. With arbitrarily chosen codes the same rule would require four separate comparisons: the encoding has absorbed the complexity.
UNDERSTAND NOW: Boolean algebra.
For the lecturer: Sixteen rows in all: ask the students to complete the table and to count the refusals. There are four, one per direction. Without the careful encoding the rule would need four comparisons.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cartridge is run in debug mode with verm1_update displayed. First, the telemetry is observed while a button is held: the input mask reads 0x04 for UP and 0x01 for LEFT. A breakpoint is then set on xor t3, t2, t1. Holding LEFT while the head moves right and resuming, the program halts on the XOR. The registers read t1 = 0, the direction, and t2 = 2, the request. One step makes t3 equal to 2; two further steps show the branch taken and the sw skipped. The rule is thus observed operating on actual values.
USE NOW: the PRG32-QT debugger (used, not studied, in this course).
For the lecturer: Lower the speed of the debugger to 0.25x if you need time to press. Resume ignores the current breakpoint once: each Resume runs one frame. Without a button pressed t2 is the old wish and t3 is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register contents, with the head moving right. With nothing pressed, the request is the previous one and the XOR is 0. With DOWN it is 1, with UP 3, and both are stored. With LEFT it is 2, the U-turn, and nothing is stored. The last row reveals the priority among the tests: with UP and RIGHT together UP prevails, because it is tested last. a0 must be read at the first instruction after the call, since it is overwritten later in the frame, an instance of the caller-saved convention studied in Lecture 18.
USE NOW: the PRG32-QT debugger (used, not studied, in this course).
For the lecturer: All with the head going right. The last row shows the priority of the tests: UP is tested last and wins. a0 is overwritten later in the frame: read it at the first instruction after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variables can also be read in memory. After la t0, dir, t0 holds the address of dir, which is entered in the Memory field. The variables follow one another in the order of the file, four bytes each: dir, want, step_q8, score, food_x, food_y. After the worm has eaten once, the program is paused and the score read: 01 00 00 00, least significant byte first. The position of the food is then read and compared with the red cell on the screen, closing the loop between memory and display.
USE NOW: the PRG32-QT debugger (used, not studied, in this course).
For the lecturer: head_x and head_y are the two words before dir. Little-endian: the lowest byte comes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one bit per button, DOWN being 0x08 and RIGHT 0x02. Pressed together, both bits are 1, so the value is the OR of the two masks.
For the second, the rule is applied: the refused request is the one whose XOR with the current direction is 2. The direction is 3, 11 in binary; the question is which code differs from it in bit 1 alone.
For the lecturer: 1. Answer: C. 0x08 OR 0x02 = 0x0a: one bit per button.
2. Answer: B. 3 XOR 1 = 2: DOWN is the opposite of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first question: the tables consist of words, and a word is four bytes. Entry k lies at 4k bytes from the start of the table, and a left shift by 2 multiplies by 4.
For the second: XOR yields 1 in each position where the two bits differ, so a result of all zeros means that no position differs, which is to say the two values are equal.
For the lecturer: 1. Answer: B. The entries are words: entry k is at offset 4k.
2. Answer: C. XOR is 1 where bits differ: no difference, all zeros.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current position. The player is now in the game: a request, a rule, a movement, a reward. The logic of four lectures has become instructions: bits and masks, XOR as a comparator, a table as a selector. Yet the worm has no body, nothing can go wrong, and the game never ends. The next block, on state and memory, supplies the necessary concepts, and Part 3 adds a growing body, collisions, a title screen and a game-over screen.
Learning status, recap. UNDERSTAND NOW: bit masks; codes; arrays in memory; pull-up inputs; Boolean algebra; fixed point; multiplexers; signed or unsigned instructions; comparators and parity; arguments in a0 to a7. USE NOW: the calling convention (Lecture 18) and, used without being studied in this course, the PRG32 tools, the PRG32 runtime calls, the PRG32-QT debugger. UNDERSTAND LATER: nothing. A slide without a badge is context: a story, an example, a question, an exercise. Closing thread: Every rule of the game became a few logic instructions: a mask, an XOR, a comparison. Next: circuits that remember, and the states of a game. Exit ticket (two to four minutes, alone, on paper): 1. Directions are coded RIGHT 0, DOWN 1, LEFT 2, UP 3. The worm goes RIGHT and the player pushes LEFT. What does xor t3, t2, t1 give, and what does the code do with it?
For the lecturer: Reference file for this part: verm1/verm1_part2.S (231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12: Verm1, part 2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2.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12</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Verm1, Part 2: Steering, Food and a Score</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900" dirty="0">
                <a:solidFill>
                  <a:srgbClr val="CFE3EA"/>
                </a:solidFill>
                <a:latin typeface="Calibri" pitchFamily="34" charset="0"/>
                <a:ea typeface="Calibri" pitchFamily="34" charset="-122"/>
                <a:cs typeface="Calibri" pitchFamily="34" charset="-120"/>
              </a:rPr>
              <a:t>The player enters the game: bits, masks, a rule in one XOR, a table that selects</a:t>
            </a:r>
            <a:endParaRPr lang="en-US" sz="19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“A game is a series of interesting choices.”</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Sid Meier</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548640" y="6419088"/>
            <a:ext cx="8229600" cy="274320"/>
          </a:xfrm>
          <a:prstGeom prst="rect">
            <a:avLst/>
          </a:prstGeom>
          <a:noFill/>
          <a:ln/>
        </p:spPr>
        <p:txBody>
          <a:bodyPr wrap="square" lIns="0" tIns="0" rIns="0" bIns="0" rtlCol="0" anchor="t"/>
          <a:lstStyle/>
          <a:p>
            <a:pPr indent="0" marL="0">
              <a:buNone/>
            </a:pPr>
            <a:r>
              <a:rPr lang="en-US" sz="1200" i="1" dirty="0">
                <a:solidFill>
                  <a:srgbClr val="CFE3EA"/>
                </a:solidFill>
                <a:latin typeface="Calibri" pitchFamily="34" charset="0"/>
                <a:ea typeface="Calibri" pitchFamily="34" charset="-122"/>
                <a:cs typeface="Calibri" pitchFamily="34" charset="-120"/>
              </a:rPr>
              <a:t>Verm1 reference implementation contributed by Giuseppe Coviello</a:t>
            </a:r>
            <a:endParaRPr lang="en-US" sz="1200" dirty="0"/>
          </a:p>
        </p:txBody>
      </p:sp>
      <p:sp>
        <p:nvSpPr>
          <p:cNvPr id="13" name="Text 11"/>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12-Computer_Architecture-Verm1_Part_2-Lab.pptx</a:t>
            </a:r>
            <a:endParaRPr lang="en-US" sz="1300" dirty="0"/>
          </a:p>
        </p:txBody>
      </p:sp>
      <p:sp>
        <p:nvSpPr>
          <p:cNvPr id="14" name="Shape 12"/>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5" name="Image 0" descr="/Users/raffaelemontella/devel/riscv-prg32/computer-architecture-with-prg32/tools/assets/verm1_p2.png">    </p:cNvPr>
          <p:cNvPicPr>
            <a:picLocks noChangeAspect="1"/>
          </p:cNvPicPr>
          <p:nvPr/>
        </p:nvPicPr>
        <p:blipFill>
          <a:blip r:embed="rId1"/>
          <a:stretch>
            <a:fillRect/>
          </a:stretch>
        </p:blipFill>
        <p:spPr>
          <a:xfrm>
            <a:off x="8716975" y="4280535"/>
            <a:ext cx="2834640" cy="1771650"/>
          </a:xfrm>
          <a:prstGeom prst="rect">
            <a:avLst/>
          </a:prstGeom>
        </p:spPr>
      </p:pic>
      <p:sp>
        <p:nvSpPr>
          <p:cNvPr id="16" name="Shape 13"/>
          <p:cNvSpPr/>
          <p:nvPr/>
        </p:nvSpPr>
        <p:spPr>
          <a:xfrm>
            <a:off x="9690303" y="91440"/>
            <a:ext cx="1952752" cy="274320"/>
          </a:xfrm>
          <a:prstGeom prst="rect">
            <a:avLst/>
          </a:prstGeom>
          <a:solidFill>
            <a:srgbClr val="F3E8FF"/>
          </a:solidFill>
          <a:ln w="12700">
            <a:solidFill>
              <a:srgbClr val="7E22CE"/>
            </a:solidFill>
            <a:prstDash val="dash"/>
          </a:ln>
        </p:spPr>
      </p:sp>
      <p:sp>
        <p:nvSpPr>
          <p:cNvPr id="17" name="Shape 14"/>
          <p:cNvSpPr/>
          <p:nvPr/>
        </p:nvSpPr>
        <p:spPr>
          <a:xfrm>
            <a:off x="9717735" y="128016"/>
            <a:ext cx="45720" cy="45720"/>
          </a:xfrm>
          <a:prstGeom prst="rect">
            <a:avLst/>
          </a:prstGeom>
          <a:solidFill>
            <a:srgbClr val="7E22CE"/>
          </a:solidFill>
          <a:ln w="12700">
            <a:solidFill>
              <a:srgbClr val="7E22CE"/>
            </a:solidFill>
            <a:prstDash val="solid"/>
          </a:ln>
        </p:spPr>
      </p:sp>
      <p:sp>
        <p:nvSpPr>
          <p:cNvPr id="18" name="Shape 15"/>
          <p:cNvSpPr/>
          <p:nvPr/>
        </p:nvSpPr>
        <p:spPr>
          <a:xfrm>
            <a:off x="9717735" y="205740"/>
            <a:ext cx="45720" cy="45720"/>
          </a:xfrm>
          <a:prstGeom prst="rect">
            <a:avLst/>
          </a:prstGeom>
          <a:solidFill>
            <a:srgbClr val="7E22CE"/>
          </a:solidFill>
          <a:ln w="12700">
            <a:solidFill>
              <a:srgbClr val="7E22CE"/>
            </a:solidFill>
            <a:prstDash val="solid"/>
          </a:ln>
        </p:spPr>
      </p:sp>
      <p:sp>
        <p:nvSpPr>
          <p:cNvPr id="19" name="Shape 16"/>
          <p:cNvSpPr/>
          <p:nvPr/>
        </p:nvSpPr>
        <p:spPr>
          <a:xfrm>
            <a:off x="9717735" y="283464"/>
            <a:ext cx="45720" cy="45720"/>
          </a:xfrm>
          <a:prstGeom prst="rect">
            <a:avLst/>
          </a:prstGeom>
          <a:solidFill>
            <a:srgbClr val="7E22CE"/>
          </a:solidFill>
          <a:ln w="12700">
            <a:solidFill>
              <a:srgbClr val="7E22CE"/>
            </a:solidFill>
            <a:prstDash val="solid"/>
          </a:ln>
        </p:spPr>
      </p:sp>
      <p:pic>
        <p:nvPicPr>
          <p:cNvPr id="20"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1" name="Text 17"/>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2" name="Shape 18"/>
          <p:cNvSpPr/>
          <p:nvPr/>
        </p:nvSpPr>
        <p:spPr>
          <a:xfrm>
            <a:off x="8407349" y="91440"/>
            <a:ext cx="1173226" cy="274320"/>
          </a:xfrm>
          <a:prstGeom prst="rect">
            <a:avLst/>
          </a:prstGeom>
          <a:solidFill>
            <a:srgbClr val="FEF3C7"/>
          </a:solidFill>
          <a:ln w="12700">
            <a:solidFill>
              <a:srgbClr val="B45309"/>
            </a:solidFill>
            <a:prstDash val="solid"/>
          </a:ln>
        </p:spPr>
      </p:sp>
      <p:sp>
        <p:nvSpPr>
          <p:cNvPr id="23" name="Shape 19"/>
          <p:cNvSpPr/>
          <p:nvPr/>
        </p:nvSpPr>
        <p:spPr>
          <a:xfrm>
            <a:off x="8407349" y="91440"/>
            <a:ext cx="27432" cy="274320"/>
          </a:xfrm>
          <a:prstGeom prst="rect">
            <a:avLst/>
          </a:prstGeom>
          <a:solidFill>
            <a:srgbClr val="B45309"/>
          </a:solidFill>
          <a:ln w="12700">
            <a:solidFill>
              <a:srgbClr val="B45309"/>
            </a:solidFill>
            <a:prstDash val="solid"/>
          </a:ln>
        </p:spPr>
      </p:sp>
      <p:sp>
        <p:nvSpPr>
          <p:cNvPr id="24" name="Shape 20"/>
          <p:cNvSpPr/>
          <p:nvPr/>
        </p:nvSpPr>
        <p:spPr>
          <a:xfrm>
            <a:off x="8462213" y="91440"/>
            <a:ext cx="27432" cy="274320"/>
          </a:xfrm>
          <a:prstGeom prst="rect">
            <a:avLst/>
          </a:prstGeom>
          <a:solidFill>
            <a:srgbClr val="B45309"/>
          </a:solidFill>
          <a:ln w="12700">
            <a:solidFill>
              <a:srgbClr val="B45309"/>
            </a:solidFill>
            <a:prstDash val="solid"/>
          </a:ln>
        </p:spPr>
      </p:sp>
      <p:pic>
        <p:nvPicPr>
          <p:cNvPr id="25"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6" name="Text 21"/>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7" name="Shape 22"/>
          <p:cNvSpPr/>
          <p:nvPr/>
        </p:nvSpPr>
        <p:spPr>
          <a:xfrm>
            <a:off x="6518097" y="91440"/>
            <a:ext cx="1779524" cy="274320"/>
          </a:xfrm>
          <a:prstGeom prst="rect">
            <a:avLst/>
          </a:prstGeom>
          <a:solidFill>
            <a:srgbClr val="E0F2FE"/>
          </a:solidFill>
          <a:ln w="12700">
            <a:solidFill>
              <a:srgbClr val="0369A1"/>
            </a:solidFill>
            <a:prstDash val="solid"/>
          </a:ln>
        </p:spPr>
      </p:sp>
      <p:sp>
        <p:nvSpPr>
          <p:cNvPr id="28" name="Shape 23"/>
          <p:cNvSpPr/>
          <p:nvPr/>
        </p:nvSpPr>
        <p:spPr>
          <a:xfrm>
            <a:off x="6518097" y="91440"/>
            <a:ext cx="73152" cy="274320"/>
          </a:xfrm>
          <a:prstGeom prst="rect">
            <a:avLst/>
          </a:prstGeom>
          <a:solidFill>
            <a:srgbClr val="0369A1"/>
          </a:solidFill>
          <a:ln w="12700">
            <a:solidFill>
              <a:srgbClr val="0369A1"/>
            </a:solidFill>
            <a:prstDash val="solid"/>
          </a:ln>
        </p:spPr>
      </p:sp>
      <p:pic>
        <p:nvPicPr>
          <p:cNvPr id="29"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30" name="Text 24"/>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have by the end</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worm's head that you steer with the joystick, in four directions</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rule that forbids the U-turn, written as one XOR and one comparison</a:t>
            </a:r>
            <a:endParaRPr lang="en-US" sz="2200" dirty="0"/>
          </a:p>
        </p:txBody>
      </p:sp>
      <p:sp>
        <p:nvSpPr>
          <p:cNvPr id="7" name="Text 5"/>
          <p:cNvSpPr txBox="1"/>
          <p:nvPr/>
        </p:nvSpPr>
        <p:spPr>
          <a:xfrm>
            <a:off x="548640" y="3410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92424"/>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Movement taken from two small tables instead of four branches</a:t>
            </a:r>
            <a:endParaRPr lang="en-US" sz="2200" dirty="0"/>
          </a:p>
        </p:txBody>
      </p:sp>
      <p:sp>
        <p:nvSpPr>
          <p:cNvPr id="9" name="Text 7"/>
          <p:cNvSpPr txBox="1"/>
          <p:nvPr/>
        </p:nvSpPr>
        <p:spPr>
          <a:xfrm>
            <a:off x="548640" y="4306824"/>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288536"/>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Food that appears at a random cell, is eaten, and appears again</a:t>
            </a:r>
            <a:endParaRPr lang="en-US" sz="2200" dirty="0"/>
          </a:p>
        </p:txBody>
      </p:sp>
      <p:sp>
        <p:nvSpPr>
          <p:cNvPr id="11" name="Text 9"/>
          <p:cNvSpPr txBox="1"/>
          <p:nvPr/>
        </p:nvSpPr>
        <p:spPr>
          <a:xfrm>
            <a:off x="548640" y="520293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18464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score, shown as marks in the title line, and a sound when the worm eats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Part 2 takes from the lectures</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455005"/>
                <a:gridCol w="4910643"/>
                <a:gridCol w="4728767"/>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From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Idea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Where it appears today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AND as a mask: keep one bit, clear the others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button out of the word of buttons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08</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truth tables: a code for each case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four directions in two bits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09</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XOR is 1 where two bits differ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U-turn rule; the test for equality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button is a switch to ground with a pull-up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why pressed arrives as 1 only after the runtime inverts 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Lecture 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comparator, multiplexer, ROM as a table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head on the food; dx and dy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Start from a Part 1 that runs</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Open your verm1.S of Part 1, build it and run it: the head must cross the screen</a:t>
            </a:r>
            <a:endParaRPr lang="en-US" sz="2200" dirty="0"/>
          </a:p>
        </p:txBody>
      </p:sp>
      <p:sp>
        <p:nvSpPr>
          <p:cNvPr id="5" name="Shape 3"/>
          <p:cNvSpPr/>
          <p:nvPr/>
        </p:nvSpPr>
        <p:spPr>
          <a:xfrm>
            <a:off x="548640" y="254203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3560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If it does not, copy the reference file verm1_part1.S and start from that</a:t>
            </a:r>
            <a:endParaRPr lang="en-US" sz="2200" dirty="0"/>
          </a:p>
        </p:txBody>
      </p:sp>
      <p:sp>
        <p:nvSpPr>
          <p:cNvPr id="7" name="Shape 5"/>
          <p:cNvSpPr/>
          <p:nvPr/>
        </p:nvSpPr>
        <p:spPr>
          <a:xfrm>
            <a:off x="548640" y="35603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3892"/>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Today you change the file in three steps, and you run it after the second and the third</a:t>
            </a:r>
            <a:endParaRPr lang="en-US" sz="2200" dirty="0"/>
          </a:p>
        </p:txBody>
      </p:sp>
      <p:sp>
        <p:nvSpPr>
          <p:cNvPr id="9" name="Shape 7"/>
          <p:cNvSpPr/>
          <p:nvPr/>
        </p:nvSpPr>
        <p:spPr>
          <a:xfrm>
            <a:off x="548640" y="457860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72178"/>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Slides marked CHANGED replace code you have; slides marked NEW add code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Keep the debugger of PRG32-QT open: step 4 uses it to watch a decision being taken</a:t>
            </a:r>
            <a:endParaRPr lang="en-US" sz="2200" dirty="0"/>
          </a:p>
        </p:txBody>
      </p:sp>
      <p:pic>
        <p:nvPicPr>
          <p:cNvPr id="13" name="Image 0" descr="/Users/raffaelemontella/devel/riscv-prg32/computer-architecture-with-prg32/tools/assets/verm1_p2.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Verm1 at the end of Part 2</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 code chosen with care: the four directions</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818757"/>
                <a:gridCol w="1182192"/>
                <a:gridCol w="1182192"/>
                <a:gridCol w="1182192"/>
                <a:gridCol w="1182192"/>
                <a:gridCol w="1182192"/>
                <a:gridCol w="3364700"/>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Direction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Code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Bit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Bit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dx</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Opposite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LEFT = 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UP =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RIGHT =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DOWN =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On the screen y grows downwards: DOWN is +1, UP is -1.</a:t>
            </a:r>
            <a:endParaRPr lang="en-US" sz="1500" dirty="0"/>
          </a:p>
        </p:txBody>
      </p:sp>
      <p:sp>
        <p:nvSpPr>
          <p:cNvPr id="5" name="Shape 2"/>
          <p:cNvSpPr/>
          <p:nvPr/>
        </p:nvSpPr>
        <p:spPr>
          <a:xfrm>
            <a:off x="9338259" y="91440"/>
            <a:ext cx="2304796" cy="274320"/>
          </a:xfrm>
          <a:prstGeom prst="rect">
            <a:avLst/>
          </a:prstGeom>
          <a:solidFill>
            <a:srgbClr val="E0F2FE"/>
          </a:solidFill>
          <a:ln w="12700">
            <a:solidFill>
              <a:srgbClr val="0369A1"/>
            </a:solidFill>
            <a:prstDash val="solid"/>
          </a:ln>
        </p:spPr>
      </p:sp>
      <p:sp>
        <p:nvSpPr>
          <p:cNvPr id="6" name="Shape 3"/>
          <p:cNvSpPr/>
          <p:nvPr/>
        </p:nvSpPr>
        <p:spPr>
          <a:xfrm>
            <a:off x="933825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9466275" y="128016"/>
            <a:ext cx="201168" cy="201168"/>
          </a:xfrm>
          <a:prstGeom prst="rect">
            <a:avLst/>
          </a:prstGeom>
        </p:spPr>
      </p:pic>
      <p:sp>
        <p:nvSpPr>
          <p:cNvPr id="8" name="Text 4"/>
          <p:cNvSpPr txBox="1"/>
          <p:nvPr/>
        </p:nvSpPr>
        <p:spPr>
          <a:xfrm>
            <a:off x="9722307" y="91440"/>
            <a:ext cx="188417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codes</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From finger to bit</a:t>
            </a:r>
            <a:endParaRPr lang="en-US" sz="3200" dirty="0"/>
          </a:p>
        </p:txBody>
      </p:sp>
      <p:sp>
        <p:nvSpPr>
          <p:cNvPr id="3" name="Shape 1"/>
          <p:cNvSpPr/>
          <p:nvPr/>
        </p:nvSpPr>
        <p:spPr>
          <a:xfrm>
            <a:off x="8747328" y="91440"/>
            <a:ext cx="2895727" cy="274320"/>
          </a:xfrm>
          <a:prstGeom prst="rect">
            <a:avLst/>
          </a:prstGeom>
          <a:solidFill>
            <a:srgbClr val="E0F2FE"/>
          </a:solidFill>
          <a:ln w="12700">
            <a:solidFill>
              <a:srgbClr val="0369A1"/>
            </a:solidFill>
            <a:prstDash val="solid"/>
          </a:ln>
        </p:spPr>
      </p:sp>
      <p:sp>
        <p:nvSpPr>
          <p:cNvPr id="4" name="Shape 2"/>
          <p:cNvSpPr/>
          <p:nvPr/>
        </p:nvSpPr>
        <p:spPr>
          <a:xfrm>
            <a:off x="8747328" y="91440"/>
            <a:ext cx="73152" cy="274320"/>
          </a:xfrm>
          <a:prstGeom prst="rect">
            <a:avLst/>
          </a:prstGeom>
          <a:solidFill>
            <a:srgbClr val="0369A1"/>
          </a:solidFill>
          <a:ln w="12700">
            <a:solidFill>
              <a:srgbClr val="0369A1"/>
            </a:solidFill>
            <a:prstDash val="solid"/>
          </a:ln>
        </p:spPr>
      </p:sp>
      <p:pic>
        <p:nvPicPr>
          <p:cNvPr id="5" name="Image 0" descr="preencoded.png">    </p:cNvPr>
          <p:cNvPicPr>
            <a:picLocks noChangeAspect="1"/>
          </p:cNvPicPr>
          <p:nvPr/>
        </p:nvPicPr>
        <p:blipFill>
          <a:blip r:embed="rId1"/>
          <a:stretch>
            <a:fillRect/>
          </a:stretch>
        </p:blipFill>
        <p:spPr>
          <a:xfrm>
            <a:off x="8875344" y="128016"/>
            <a:ext cx="201168" cy="201168"/>
          </a:xfrm>
          <a:prstGeom prst="rect">
            <a:avLst/>
          </a:prstGeom>
        </p:spPr>
      </p:pic>
      <p:sp>
        <p:nvSpPr>
          <p:cNvPr id="6" name="Text 3"/>
          <p:cNvSpPr txBox="1"/>
          <p:nvPr/>
        </p:nvSpPr>
        <p:spPr>
          <a:xfrm>
            <a:off x="9131376" y="91440"/>
            <a:ext cx="247510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pull-up inputs</a:t>
            </a:r>
            <a:endParaRPr lang="en-US" sz="1100" dirty="0"/>
          </a:p>
        </p:txBody>
      </p:sp>
      <p:pic>
        <p:nvPicPr>
          <p:cNvPr id="8" name="Image 1" descr="preencoded.png">    </p:cNvPr>
          <p:cNvPicPr>
            <a:picLocks noChangeAspect="1"/>
          </p:cNvPicPr>
          <p:nvPr/>
        </p:nvPicPr>
        <p:blipFill>
          <a:blip r:embed="rId2"/>
          <a:stretch>
            <a:fillRect/>
          </a:stretch>
        </p:blipFill>
        <p:spPr>
          <a:xfrm>
            <a:off x="548640" y="1520141"/>
            <a:ext cx="3749040" cy="3451958"/>
          </a:xfrm>
          <a:prstGeom prst="rect">
            <a:avLst/>
          </a:prstGeom>
        </p:spPr>
      </p:pic>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480560" y="1508760"/>
          <a:ext cx="6675120" cy="914400"/>
        </p:xfrm>
        <a:graphic>
          <a:graphicData uri="http://schemas.openxmlformats.org/drawingml/2006/table">
            <a:tbl>
              <a:tblPr/>
              <a:tblGrid>
                <a:gridCol w="1600200"/>
                <a:gridCol w="1600200"/>
                <a:gridCol w="2286000"/>
                <a:gridCol w="1188720"/>
              </a:tblGrid>
              <a:tr h="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Button</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Pin</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After the runtime</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Mask</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released</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1 (3.3 V)</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 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LEFT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0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RIGHT</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1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0x02</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UP</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2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0x04</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400" b="1" dirty="0">
                          <a:solidFill>
                            <a:srgbClr val="1B2530"/>
                          </a:solidFill>
                          <a:latin typeface="Calibri" pitchFamily="34" charset="0"/>
                          <a:ea typeface="Calibri" pitchFamily="34" charset="-122"/>
                          <a:cs typeface="Calibri" pitchFamily="34" charset="-120"/>
                        </a:rPr>
                        <a:t>DOWN</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bit 3 = 1</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400" dirty="0">
                          <a:solidFill>
                            <a:srgbClr val="1B2530"/>
                          </a:solidFill>
                          <a:latin typeface="Calibri" pitchFamily="34" charset="0"/>
                          <a:ea typeface="Calibri" pitchFamily="34" charset="-122"/>
                          <a:cs typeface="Calibri" pitchFamily="34" charset="-120"/>
                        </a:rPr>
                        <a:t>0x08</a:t>
                      </a:r>
                      <a:endParaRPr lang="en-US" sz="140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10" name="Shape 4"/>
          <p:cNvSpPr/>
          <p:nvPr/>
        </p:nvSpPr>
        <p:spPr>
          <a:xfrm>
            <a:off x="4480560" y="4228211"/>
            <a:ext cx="146304" cy="146304"/>
          </a:xfrm>
          <a:prstGeom prst="rect">
            <a:avLst/>
          </a:prstGeom>
          <a:solidFill>
            <a:srgbClr val="0E7C86"/>
          </a:solidFill>
          <a:ln w="12700">
            <a:solidFill>
              <a:srgbClr val="0E7C86"/>
            </a:solidFill>
            <a:prstDash val="solid"/>
          </a:ln>
        </p:spPr>
      </p:sp>
      <p:sp>
        <p:nvSpPr>
          <p:cNvPr id="11" name="Text 5"/>
          <p:cNvSpPr txBox="1"/>
          <p:nvPr/>
        </p:nvSpPr>
        <p:spPr>
          <a:xfrm>
            <a:off x="4864608" y="4160520"/>
            <a:ext cx="677844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The pin reads 0 when the button is pressed: active low (Lecture 10)</a:t>
            </a:r>
            <a:endParaRPr lang="en-US" sz="1700" dirty="0"/>
          </a:p>
        </p:txBody>
      </p:sp>
      <p:sp>
        <p:nvSpPr>
          <p:cNvPr id="12" name="Shape 6"/>
          <p:cNvSpPr/>
          <p:nvPr/>
        </p:nvSpPr>
        <p:spPr>
          <a:xfrm>
            <a:off x="4480560" y="4898771"/>
            <a:ext cx="146304" cy="146304"/>
          </a:xfrm>
          <a:prstGeom prst="rect">
            <a:avLst/>
          </a:prstGeom>
          <a:solidFill>
            <a:srgbClr val="C7791B"/>
          </a:solidFill>
          <a:ln w="12700">
            <a:solidFill>
              <a:srgbClr val="C7791B"/>
            </a:solidFill>
            <a:prstDash val="solid"/>
          </a:ln>
        </p:spPr>
      </p:sp>
      <p:sp>
        <p:nvSpPr>
          <p:cNvPr id="13" name="Text 7"/>
          <p:cNvSpPr txBox="1"/>
          <p:nvPr/>
        </p:nvSpPr>
        <p:spPr>
          <a:xfrm>
            <a:off x="4864608" y="4831080"/>
            <a:ext cx="6778447" cy="526796"/>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prg32_input_read inverts and packs: one word, one bit per button, 1 = pressed</a:t>
            </a:r>
            <a:endParaRPr lang="en-US" sz="1700" dirty="0"/>
          </a:p>
        </p:txBody>
      </p:sp>
      <p:sp>
        <p:nvSpPr>
          <p:cNvPr id="14" name="Shape 8"/>
          <p:cNvSpPr/>
          <p:nvPr/>
        </p:nvSpPr>
        <p:spPr>
          <a:xfrm>
            <a:off x="4480560" y="5569331"/>
            <a:ext cx="146304" cy="146304"/>
          </a:xfrm>
          <a:prstGeom prst="rect">
            <a:avLst/>
          </a:prstGeom>
          <a:solidFill>
            <a:srgbClr val="0E7C86"/>
          </a:solidFill>
          <a:ln w="12700">
            <a:solidFill>
              <a:srgbClr val="0E7C86"/>
            </a:solidFill>
            <a:prstDash val="solid"/>
          </a:ln>
        </p:spPr>
      </p:sp>
      <p:sp>
        <p:nvSpPr>
          <p:cNvPr id="15" name="Text 9"/>
          <p:cNvSpPr txBox="1"/>
          <p:nvPr/>
        </p:nvSpPr>
        <p:spPr>
          <a:xfrm>
            <a:off x="4864608" y="5501640"/>
            <a:ext cx="677844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UP and RIGHT together give 0x04 OR 0x02 = 0x06</a:t>
            </a:r>
            <a:endParaRPr lang="en-US" sz="1700" dirty="0"/>
          </a:p>
        </p:txBody>
      </p:sp>
      <p:sp>
        <p:nvSpPr>
          <p:cNvPr id="16" name="Shape 10"/>
          <p:cNvSpPr/>
          <p:nvPr/>
        </p:nvSpPr>
        <p:spPr>
          <a:xfrm>
            <a:off x="4480560" y="5976493"/>
            <a:ext cx="146304" cy="146304"/>
          </a:xfrm>
          <a:prstGeom prst="rect">
            <a:avLst/>
          </a:prstGeom>
          <a:solidFill>
            <a:srgbClr val="C7791B"/>
          </a:solidFill>
          <a:ln w="12700">
            <a:solidFill>
              <a:srgbClr val="C7791B"/>
            </a:solidFill>
            <a:prstDash val="solid"/>
          </a:ln>
        </p:spPr>
      </p:sp>
      <p:sp>
        <p:nvSpPr>
          <p:cNvPr id="17" name="Text 11"/>
          <p:cNvSpPr txBox="1"/>
          <p:nvPr/>
        </p:nvSpPr>
        <p:spPr>
          <a:xfrm>
            <a:off x="4864608" y="5908802"/>
            <a:ext cx="6778447" cy="263398"/>
          </a:xfrm>
          <a:prstGeom prst="rect">
            <a:avLst/>
          </a:prstGeom>
          <a:noFill/>
          <a:ln/>
        </p:spPr>
        <p:txBody>
          <a:bodyPr wrap="square" lIns="0" tIns="0" rIns="0" bIns="0" rtlCol="0" anchor="t"/>
          <a:lstStyle/>
          <a:p>
            <a:pPr indent="0" marL="0">
              <a:spcAft>
                <a:spcPts val="200"/>
              </a:spcAft>
              <a:buNone/>
            </a:pPr>
            <a:r>
              <a:rPr lang="en-US" sz="1700" dirty="0">
                <a:solidFill>
                  <a:srgbClr val="1B2530"/>
                </a:solidFill>
                <a:latin typeface="Calibri" pitchFamily="34" charset="0"/>
                <a:ea typeface="Calibri" pitchFamily="34" charset="-122"/>
                <a:cs typeface="Calibri" pitchFamily="34" charset="-120"/>
              </a:rPr>
              <a:t>a0 AND 0x04 is zero if and only if UP is not pressed</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U-turn rule, as a truth table</a:t>
            </a:r>
            <a:endParaRPr lang="en-US" sz="3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2000632"/>
                <a:gridCol w="2364384"/>
                <a:gridCol w="1455005"/>
                <a:gridCol w="3273762"/>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dir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dir XOR want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 2 ?</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Decision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go 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 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 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refuse: U-turn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0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1 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 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refuse: U-turn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3 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 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Six of the sixteen rows. The rule is one XOR and one comparison with the constant 2.</a:t>
            </a:r>
            <a:endParaRPr lang="en-US" sz="1500" dirty="0"/>
          </a:p>
        </p:txBody>
      </p:sp>
      <p:sp>
        <p:nvSpPr>
          <p:cNvPr id="5" name="Shape 2"/>
          <p:cNvSpPr/>
          <p:nvPr/>
        </p:nvSpPr>
        <p:spPr>
          <a:xfrm>
            <a:off x="8681669" y="91440"/>
            <a:ext cx="2961386" cy="274320"/>
          </a:xfrm>
          <a:prstGeom prst="rect">
            <a:avLst/>
          </a:prstGeom>
          <a:solidFill>
            <a:srgbClr val="E0F2FE"/>
          </a:solidFill>
          <a:ln w="12700">
            <a:solidFill>
              <a:srgbClr val="0369A1"/>
            </a:solidFill>
            <a:prstDash val="solid"/>
          </a:ln>
        </p:spPr>
      </p:sp>
      <p:sp>
        <p:nvSpPr>
          <p:cNvPr id="6" name="Shape 3"/>
          <p:cNvSpPr/>
          <p:nvPr/>
        </p:nvSpPr>
        <p:spPr>
          <a:xfrm>
            <a:off x="8681669"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809685" y="128016"/>
            <a:ext cx="201168" cy="201168"/>
          </a:xfrm>
          <a:prstGeom prst="rect">
            <a:avLst/>
          </a:prstGeom>
        </p:spPr>
      </p:pic>
      <p:sp>
        <p:nvSpPr>
          <p:cNvPr id="8" name="Text 4"/>
          <p:cNvSpPr txBox="1"/>
          <p:nvPr/>
        </p:nvSpPr>
        <p:spPr>
          <a:xfrm>
            <a:off x="9065717" y="91440"/>
            <a:ext cx="2540762"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Boolean algebra</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Catch the U-turn rule at work</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Run the cartridge in debug mode and press Update: the listing shows verm1_update</a:t>
            </a:r>
            <a:endParaRPr lang="en-US" sz="2200" dirty="0"/>
          </a:p>
        </p:txBody>
      </p:sp>
      <p:sp>
        <p:nvSpPr>
          <p:cNvPr id="5" name="Text 3"/>
          <p:cNvSpPr txBox="1"/>
          <p:nvPr/>
        </p:nvSpPr>
        <p:spPr>
          <a:xfrm>
            <a:off x="548640" y="23473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2907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Look at the telemetry while you hold a button: the input mask shows 0x04 for UP, 0x01 for LEFT</a:t>
            </a:r>
            <a:endParaRPr lang="en-US" sz="2200" dirty="0"/>
          </a:p>
        </p:txBody>
      </p:sp>
      <p:sp>
        <p:nvSpPr>
          <p:cNvPr id="7" name="Text 5"/>
          <p:cNvSpPr txBox="1"/>
          <p:nvPr/>
        </p:nvSpPr>
        <p:spPr>
          <a:xfrm>
            <a:off x="548640" y="325912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240837"/>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Find the instruction xor t3, t2, t1 and click in the gutter: a breakpoint</a:t>
            </a:r>
            <a:endParaRPr lang="en-US" sz="2200" dirty="0"/>
          </a:p>
        </p:txBody>
      </p:sp>
      <p:sp>
        <p:nvSpPr>
          <p:cNvPr id="9" name="Text 7"/>
          <p:cNvSpPr txBox="1"/>
          <p:nvPr/>
        </p:nvSpPr>
        <p:spPr>
          <a:xfrm>
            <a:off x="548640" y="392805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09771"/>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Hold LEFT while the head goes right, and press Resume: the program stops on the xor</a:t>
            </a:r>
            <a:endParaRPr lang="en-US" sz="2200" dirty="0"/>
          </a:p>
        </p:txBody>
      </p:sp>
      <p:sp>
        <p:nvSpPr>
          <p:cNvPr id="11" name="Text 9"/>
          <p:cNvSpPr txBox="1"/>
          <p:nvPr/>
        </p:nvSpPr>
        <p:spPr>
          <a:xfrm>
            <a:off x="548640" y="483981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82153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Read the registers: t1 is 0, the direction; t2 is 2, the wish</a:t>
            </a:r>
            <a:endParaRPr lang="en-US" sz="2200" dirty="0"/>
          </a:p>
        </p:txBody>
      </p:sp>
      <p:sp>
        <p:nvSpPr>
          <p:cNvPr id="13" name="Text 11"/>
          <p:cNvSpPr txBox="1"/>
          <p:nvPr/>
        </p:nvSpPr>
        <p:spPr>
          <a:xfrm>
            <a:off x="548640" y="550875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49046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Press Step: t3 becomes 2. Step twice more: the branch is taken and the sw is skipped</a:t>
            </a:r>
            <a:endParaRPr lang="en-US" sz="2200" dirty="0"/>
          </a:p>
        </p:txBody>
      </p:sp>
      <p:sp>
        <p:nvSpPr>
          <p:cNvPr id="15" name="Shape 13"/>
          <p:cNvSpPr/>
          <p:nvPr/>
        </p:nvSpPr>
        <p:spPr>
          <a:xfrm>
            <a:off x="8894013" y="91440"/>
            <a:ext cx="2749042" cy="274320"/>
          </a:xfrm>
          <a:prstGeom prst="rect">
            <a:avLst/>
          </a:prstGeom>
          <a:solidFill>
            <a:srgbClr val="FEF3C7"/>
          </a:solidFill>
          <a:ln w="12700">
            <a:solidFill>
              <a:srgbClr val="B45309"/>
            </a:solidFill>
            <a:prstDash val="solid"/>
          </a:ln>
        </p:spPr>
      </p:sp>
      <p:sp>
        <p:nvSpPr>
          <p:cNvPr id="16" name="Shape 14"/>
          <p:cNvSpPr/>
          <p:nvPr/>
        </p:nvSpPr>
        <p:spPr>
          <a:xfrm>
            <a:off x="8894013" y="91440"/>
            <a:ext cx="27432" cy="274320"/>
          </a:xfrm>
          <a:prstGeom prst="rect">
            <a:avLst/>
          </a:prstGeom>
          <a:solidFill>
            <a:srgbClr val="B45309"/>
          </a:solidFill>
          <a:ln w="12700">
            <a:solidFill>
              <a:srgbClr val="B45309"/>
            </a:solidFill>
            <a:prstDash val="solid"/>
          </a:ln>
        </p:spPr>
      </p:sp>
      <p:sp>
        <p:nvSpPr>
          <p:cNvPr id="17" name="Shape 15"/>
          <p:cNvSpPr/>
          <p:nvPr/>
        </p:nvSpPr>
        <p:spPr>
          <a:xfrm>
            <a:off x="8948877" y="91440"/>
            <a:ext cx="27432" cy="274320"/>
          </a:xfrm>
          <a:prstGeom prst="rect">
            <a:avLst/>
          </a:prstGeom>
          <a:solidFill>
            <a:srgbClr val="B45309"/>
          </a:solidFill>
          <a:ln w="12700">
            <a:solidFill>
              <a:srgbClr val="B45309"/>
            </a:solidFill>
            <a:prstDash val="solid"/>
          </a:ln>
        </p:spPr>
      </p:sp>
      <p:pic>
        <p:nvPicPr>
          <p:cNvPr id="18" name="Image 0" descr="preencoded.png">    </p:cNvPr>
          <p:cNvPicPr>
            <a:picLocks noChangeAspect="1"/>
          </p:cNvPicPr>
          <p:nvPr/>
        </p:nvPicPr>
        <p:blipFill>
          <a:blip r:embed="rId1"/>
          <a:stretch>
            <a:fillRect/>
          </a:stretch>
        </p:blipFill>
        <p:spPr>
          <a:xfrm>
            <a:off x="9022029" y="128016"/>
            <a:ext cx="201168" cy="201168"/>
          </a:xfrm>
          <a:prstGeom prst="rect">
            <a:avLst/>
          </a:prstGeom>
        </p:spPr>
      </p:pic>
      <p:sp>
        <p:nvSpPr>
          <p:cNvPr id="19" name="Text 16"/>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read in the registers</a:t>
            </a:r>
            <a:endParaRPr lang="en-US" sz="32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00632"/>
                <a:gridCol w="1727819"/>
                <a:gridCol w="1455005"/>
                <a:gridCol w="1636881"/>
                <a:gridCol w="2364384"/>
                <a:gridCol w="190969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You hold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a0 (mask)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t1 = dir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t2 = want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t3 = t2 XOR 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Stored?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nothing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0x00</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 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DOWN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0x08</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LEFT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0x01</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2</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 U-turn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0x04</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UP + RIGHT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0x06</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yes: 3</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Shape 1"/>
          <p:cNvSpPr/>
          <p:nvPr/>
        </p:nvSpPr>
        <p:spPr>
          <a:xfrm>
            <a:off x="8894013" y="91440"/>
            <a:ext cx="2749042" cy="274320"/>
          </a:xfrm>
          <a:prstGeom prst="rect">
            <a:avLst/>
          </a:prstGeom>
          <a:solidFill>
            <a:srgbClr val="FEF3C7"/>
          </a:solidFill>
          <a:ln w="12700">
            <a:solidFill>
              <a:srgbClr val="B45309"/>
            </a:solidFill>
            <a:prstDash val="solid"/>
          </a:ln>
        </p:spPr>
      </p:sp>
      <p:sp>
        <p:nvSpPr>
          <p:cNvPr id="5" name="Shape 2"/>
          <p:cNvSpPr/>
          <p:nvPr/>
        </p:nvSpPr>
        <p:spPr>
          <a:xfrm>
            <a:off x="8894013" y="91440"/>
            <a:ext cx="27432" cy="274320"/>
          </a:xfrm>
          <a:prstGeom prst="rect">
            <a:avLst/>
          </a:prstGeom>
          <a:solidFill>
            <a:srgbClr val="B45309"/>
          </a:solidFill>
          <a:ln w="12700">
            <a:solidFill>
              <a:srgbClr val="B45309"/>
            </a:solidFill>
            <a:prstDash val="solid"/>
          </a:ln>
        </p:spPr>
      </p:sp>
      <p:sp>
        <p:nvSpPr>
          <p:cNvPr id="6" name="Shape 3"/>
          <p:cNvSpPr/>
          <p:nvPr/>
        </p:nvSpPr>
        <p:spPr>
          <a:xfrm>
            <a:off x="8948877" y="91440"/>
            <a:ext cx="27432" cy="274320"/>
          </a:xfrm>
          <a:prstGeom prst="rect">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9022029" y="128016"/>
            <a:ext cx="201168" cy="201168"/>
          </a:xfrm>
          <a:prstGeom prst="rect">
            <a:avLst/>
          </a:prstGeom>
        </p:spPr>
      </p:pic>
      <p:sp>
        <p:nvSpPr>
          <p:cNvPr id="8" name="Text 4"/>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Read the variables in memory</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After la t0, dir the register t0 holds the address of dir: type it in the Memory field</a:t>
            </a:r>
            <a:endParaRPr lang="en-US" sz="2100" dirty="0"/>
          </a:p>
        </p:txBody>
      </p:sp>
      <p:sp>
        <p:nvSpPr>
          <p:cNvPr id="5" name="Shape 3"/>
          <p:cNvSpPr/>
          <p:nvPr/>
        </p:nvSpPr>
        <p:spPr>
          <a:xfrm>
            <a:off x="548640" y="262832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9650"/>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The variables follow each other, 4 bytes each, in the order of the file</a:t>
            </a:r>
            <a:endParaRPr lang="en-US" sz="2100" dirty="0"/>
          </a:p>
        </p:txBody>
      </p:sp>
      <p:sp>
        <p:nvSpPr>
          <p:cNvPr id="7" name="Shape 5"/>
          <p:cNvSpPr/>
          <p:nvPr/>
        </p:nvSpPr>
        <p:spPr>
          <a:xfrm>
            <a:off x="548640" y="34152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16605"/>
            <a:ext cx="5468112" cy="95631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From the address of dir</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+0 dir, +4 want, +8 step_q8</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+12 score, +16 food_x, +20 food_y</a:t>
            </a:r>
            <a:endParaRPr lang="en-US" sz="2100" dirty="0"/>
          </a:p>
        </p:txBody>
      </p:sp>
      <p:sp>
        <p:nvSpPr>
          <p:cNvPr id="9" name="Shape 7"/>
          <p:cNvSpPr/>
          <p:nvPr/>
        </p:nvSpPr>
        <p:spPr>
          <a:xfrm>
            <a:off x="548640" y="450780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09123"/>
            <a:ext cx="546811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Eat once, pause, and read score: 01 00 00 00</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546811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Read food_x and food_y, and check them against the screen: column and row of the red cell</a:t>
            </a:r>
            <a:endParaRPr lang="en-US" sz="2100" dirty="0"/>
          </a:p>
        </p:txBody>
      </p:sp>
      <p:pic>
        <p:nvPicPr>
          <p:cNvPr id="13" name="Image 0" descr="/Users/raffaelemontella/devel/riscv-prg32/computer-architecture-with-prg32/tools/assets/prg32qt_debugger_details.png">    </p:cNvPr>
          <p:cNvPicPr>
            <a:picLocks noChangeAspect="1"/>
          </p:cNvPicPr>
          <p:nvPr/>
        </p:nvPicPr>
        <p:blipFill>
          <a:blip r:embed="rId1"/>
          <a:stretch>
            <a:fillRect/>
          </a:stretch>
        </p:blipFill>
        <p:spPr>
          <a:xfrm>
            <a:off x="7451807" y="1417320"/>
            <a:ext cx="3506002" cy="4297680"/>
          </a:xfrm>
          <a:prstGeom prst="rect">
            <a:avLst/>
          </a:prstGeom>
        </p:spPr>
      </p:pic>
      <p:sp>
        <p:nvSpPr>
          <p:cNvPr id="14" name="Text 11"/>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listing, registers, memory</a:t>
            </a:r>
            <a:endParaRPr lang="en-US" sz="1200" dirty="0"/>
          </a:p>
        </p:txBody>
      </p:sp>
      <p:sp>
        <p:nvSpPr>
          <p:cNvPr id="15" name="Shape 12"/>
          <p:cNvSpPr/>
          <p:nvPr/>
        </p:nvSpPr>
        <p:spPr>
          <a:xfrm>
            <a:off x="8894013" y="91440"/>
            <a:ext cx="2749042" cy="274320"/>
          </a:xfrm>
          <a:prstGeom prst="rect">
            <a:avLst/>
          </a:prstGeom>
          <a:solidFill>
            <a:srgbClr val="FEF3C7"/>
          </a:solidFill>
          <a:ln w="12700">
            <a:solidFill>
              <a:srgbClr val="B45309"/>
            </a:solidFill>
            <a:prstDash val="solid"/>
          </a:ln>
        </p:spPr>
      </p:sp>
      <p:sp>
        <p:nvSpPr>
          <p:cNvPr id="16" name="Shape 13"/>
          <p:cNvSpPr/>
          <p:nvPr/>
        </p:nvSpPr>
        <p:spPr>
          <a:xfrm>
            <a:off x="8894013" y="91440"/>
            <a:ext cx="27432" cy="274320"/>
          </a:xfrm>
          <a:prstGeom prst="rect">
            <a:avLst/>
          </a:prstGeom>
          <a:solidFill>
            <a:srgbClr val="B45309"/>
          </a:solidFill>
          <a:ln w="12700">
            <a:solidFill>
              <a:srgbClr val="B45309"/>
            </a:solidFill>
            <a:prstDash val="solid"/>
          </a:ln>
        </p:spPr>
      </p:sp>
      <p:sp>
        <p:nvSpPr>
          <p:cNvPr id="17" name="Shape 14"/>
          <p:cNvSpPr/>
          <p:nvPr/>
        </p:nvSpPr>
        <p:spPr>
          <a:xfrm>
            <a:off x="8948877" y="91440"/>
            <a:ext cx="27432" cy="274320"/>
          </a:xfrm>
          <a:prstGeom prst="rect">
            <a:avLst/>
          </a:prstGeom>
          <a:solidFill>
            <a:srgbClr val="B45309"/>
          </a:solidFill>
          <a:ln w="12700">
            <a:solidFill>
              <a:srgbClr val="B45309"/>
            </a:solidFill>
            <a:prstDash val="solid"/>
          </a:ln>
        </p:spPr>
      </p:sp>
      <p:pic>
        <p:nvPicPr>
          <p:cNvPr id="18" name="Image 1" descr="preencoded.png">    </p:cNvPr>
          <p:cNvPicPr>
            <a:picLocks noChangeAspect="1"/>
          </p:cNvPicPr>
          <p:nvPr/>
        </p:nvPicPr>
        <p:blipFill>
          <a:blip r:embed="rId2"/>
          <a:stretch>
            <a:fillRect/>
          </a:stretch>
        </p:blipFill>
        <p:spPr>
          <a:xfrm>
            <a:off x="9022029" y="128016"/>
            <a:ext cx="201168" cy="201168"/>
          </a:xfrm>
          <a:prstGeom prst="rect">
            <a:avLst/>
          </a:prstGeom>
        </p:spPr>
      </p:pic>
      <p:sp>
        <p:nvSpPr>
          <p:cNvPr id="19" name="Text 15"/>
          <p:cNvSpPr txBox="1"/>
          <p:nvPr/>
        </p:nvSpPr>
        <p:spPr>
          <a:xfrm>
            <a:off x="9278061" y="91440"/>
            <a:ext cx="2328418"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pPr indent="0" marL="0">
              <a:buNone/>
            </a:pPr>
            <a:r>
              <a:rPr lang="en-US" sz="1100" dirty="0">
                <a:solidFill>
                  <a:srgbClr val="92400E"/>
                </a:solidFill>
                <a:latin typeface="Calibri" pitchFamily="34" charset="0"/>
                <a:ea typeface="Calibri" pitchFamily="34" charset="-122"/>
                <a:cs typeface="Calibri" pitchFamily="34" charset="-120"/>
              </a:rPr>
              <a:t> · the PRG32-QT debugger</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The player holds DOWN and RIGHT together: prg32_input_read returns</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0x02</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0x08</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0x0a</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0x10</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The worm goes UP (3). Which wish is refused?</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RIGHT (0)</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DOWN (1)</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LEFT (2)</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UP (3)</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56362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1051560" y="141732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Why slli t1, t1, 2 before adding to the address of dx?</a:t>
            </a:r>
            <a:endParaRPr lang="en-US" sz="2000" dirty="0"/>
          </a:p>
        </p:txBody>
      </p:sp>
      <p:sp>
        <p:nvSpPr>
          <p:cNvPr id="5" name="Shape 3"/>
          <p:cNvSpPr/>
          <p:nvPr/>
        </p:nvSpPr>
        <p:spPr>
          <a:xfrm>
            <a:off x="548640" y="2148840"/>
            <a:ext cx="5410048" cy="724662"/>
          </a:xfrm>
          <a:prstGeom prst="roundRect">
            <a:avLst>
              <a:gd name="adj" fmla="val 10095"/>
            </a:avLst>
          </a:prstGeom>
          <a:solidFill>
            <a:srgbClr val="EEF2F4"/>
          </a:solidFill>
          <a:ln w="12700">
            <a:solidFill>
              <a:srgbClr val="EEF2F4"/>
            </a:solidFill>
            <a:prstDash val="solid"/>
          </a:ln>
        </p:spPr>
      </p:sp>
      <p:sp>
        <p:nvSpPr>
          <p:cNvPr id="6" name="Text 4"/>
          <p:cNvSpPr txBox="1"/>
          <p:nvPr/>
        </p:nvSpPr>
        <p:spPr>
          <a:xfrm>
            <a:off x="685800"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170432"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to make the code positive</a:t>
            </a:r>
            <a:endParaRPr lang="en-US" sz="1700" dirty="0"/>
          </a:p>
        </p:txBody>
      </p:sp>
      <p:sp>
        <p:nvSpPr>
          <p:cNvPr id="8" name="Shape 6"/>
          <p:cNvSpPr/>
          <p:nvPr/>
        </p:nvSpPr>
        <p:spPr>
          <a:xfrm>
            <a:off x="6233008" y="2148840"/>
            <a:ext cx="5410048" cy="724662"/>
          </a:xfrm>
          <a:prstGeom prst="roundRect">
            <a:avLst>
              <a:gd name="adj" fmla="val 10095"/>
            </a:avLst>
          </a:prstGeom>
          <a:solidFill>
            <a:srgbClr val="EEF2F4"/>
          </a:solidFill>
          <a:ln w="12700">
            <a:solidFill>
              <a:srgbClr val="EEF2F4"/>
            </a:solidFill>
            <a:prstDash val="solid"/>
          </a:ln>
        </p:spPr>
      </p:sp>
      <p:sp>
        <p:nvSpPr>
          <p:cNvPr id="9" name="Text 7"/>
          <p:cNvSpPr txBox="1"/>
          <p:nvPr/>
        </p:nvSpPr>
        <p:spPr>
          <a:xfrm>
            <a:off x="6370168" y="234657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0" name="Text 8"/>
          <p:cNvSpPr txBox="1"/>
          <p:nvPr/>
        </p:nvSpPr>
        <p:spPr>
          <a:xfrm>
            <a:off x="6854800" y="220370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each entry of the table is 4 bytes</a:t>
            </a:r>
            <a:endParaRPr lang="en-US" sz="1700" dirty="0"/>
          </a:p>
        </p:txBody>
      </p:sp>
      <p:sp>
        <p:nvSpPr>
          <p:cNvPr id="11" name="Shape 9"/>
          <p:cNvSpPr/>
          <p:nvPr/>
        </p:nvSpPr>
        <p:spPr>
          <a:xfrm>
            <a:off x="548640" y="3001518"/>
            <a:ext cx="5410048" cy="724662"/>
          </a:xfrm>
          <a:prstGeom prst="roundRect">
            <a:avLst>
              <a:gd name="adj" fmla="val 10095"/>
            </a:avLst>
          </a:prstGeom>
          <a:solidFill>
            <a:srgbClr val="EEF2F4"/>
          </a:solidFill>
          <a:ln w="12700">
            <a:solidFill>
              <a:srgbClr val="EEF2F4"/>
            </a:solidFill>
            <a:prstDash val="solid"/>
          </a:ln>
        </p:spPr>
      </p:sp>
      <p:sp>
        <p:nvSpPr>
          <p:cNvPr id="12" name="Text 10"/>
          <p:cNvSpPr txBox="1"/>
          <p:nvPr/>
        </p:nvSpPr>
        <p:spPr>
          <a:xfrm>
            <a:off x="685800"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3" name="Text 11"/>
          <p:cNvSpPr txBox="1"/>
          <p:nvPr/>
        </p:nvSpPr>
        <p:spPr>
          <a:xfrm>
            <a:off x="1170432"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to clear bit 1</a:t>
            </a:r>
            <a:endParaRPr lang="en-US" sz="1700" dirty="0"/>
          </a:p>
        </p:txBody>
      </p:sp>
      <p:sp>
        <p:nvSpPr>
          <p:cNvPr id="14" name="Shape 12"/>
          <p:cNvSpPr/>
          <p:nvPr/>
        </p:nvSpPr>
        <p:spPr>
          <a:xfrm>
            <a:off x="6233008" y="3001518"/>
            <a:ext cx="5410048" cy="724662"/>
          </a:xfrm>
          <a:prstGeom prst="roundRect">
            <a:avLst>
              <a:gd name="adj" fmla="val 10095"/>
            </a:avLst>
          </a:prstGeom>
          <a:solidFill>
            <a:srgbClr val="EEF2F4"/>
          </a:solidFill>
          <a:ln w="12700">
            <a:solidFill>
              <a:srgbClr val="EEF2F4"/>
            </a:solidFill>
            <a:prstDash val="solid"/>
          </a:ln>
        </p:spPr>
      </p:sp>
      <p:sp>
        <p:nvSpPr>
          <p:cNvPr id="15" name="Text 13"/>
          <p:cNvSpPr txBox="1"/>
          <p:nvPr/>
        </p:nvSpPr>
        <p:spPr>
          <a:xfrm>
            <a:off x="6370168" y="319925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16" name="Text 14"/>
          <p:cNvSpPr txBox="1"/>
          <p:nvPr/>
        </p:nvSpPr>
        <p:spPr>
          <a:xfrm>
            <a:off x="6854800" y="305638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tables start at address 4</a:t>
            </a:r>
            <a:endParaRPr lang="en-US" sz="1700" dirty="0"/>
          </a:p>
        </p:txBody>
      </p:sp>
      <p:sp>
        <p:nvSpPr>
          <p:cNvPr id="17" name="Text 15"/>
          <p:cNvSpPr txBox="1"/>
          <p:nvPr/>
        </p:nvSpPr>
        <p:spPr>
          <a:xfrm>
            <a:off x="548640" y="4009644"/>
            <a:ext cx="365760" cy="365760"/>
          </a:xfrm>
          <a:prstGeom prst="roundRect">
            <a:avLst>
              <a:gd name="adj" fmla="val 20000"/>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8" name="Text 16"/>
          <p:cNvSpPr txBox="1"/>
          <p:nvPr/>
        </p:nvSpPr>
        <p:spPr>
          <a:xfrm>
            <a:off x="1051560" y="3863340"/>
            <a:ext cx="10591495" cy="658368"/>
          </a:xfrm>
          <a:prstGeom prst="rect">
            <a:avLst/>
          </a:prstGeom>
          <a:noFill/>
          <a:ln/>
        </p:spPr>
        <p:txBody>
          <a:bodyPr wrap="square" lIns="0" tIns="0" rIns="0" bIns="0" rtlCol="0" anchor="ctr"/>
          <a:lstStyle/>
          <a:p>
            <a:pPr indent="0" marL="0">
              <a:buNone/>
            </a:pPr>
            <a:r>
              <a:rPr lang="en-US" sz="2000" b="1" dirty="0">
                <a:solidFill>
                  <a:srgbClr val="1B2530"/>
                </a:solidFill>
                <a:latin typeface="Cambria" pitchFamily="34" charset="0"/>
                <a:ea typeface="Cambria" pitchFamily="34" charset="-122"/>
                <a:cs typeface="Cambria" pitchFamily="34" charset="-120"/>
              </a:rPr>
              <a:t>xor t1, t1, t4 gives zero exactly when</a:t>
            </a:r>
            <a:endParaRPr lang="en-US" sz="2000" dirty="0"/>
          </a:p>
        </p:txBody>
      </p:sp>
      <p:sp>
        <p:nvSpPr>
          <p:cNvPr id="19" name="Shape 17"/>
          <p:cNvSpPr/>
          <p:nvPr/>
        </p:nvSpPr>
        <p:spPr>
          <a:xfrm>
            <a:off x="548640" y="4594860"/>
            <a:ext cx="5410048" cy="724662"/>
          </a:xfrm>
          <a:prstGeom prst="roundRect">
            <a:avLst>
              <a:gd name="adj" fmla="val 10095"/>
            </a:avLst>
          </a:prstGeom>
          <a:solidFill>
            <a:srgbClr val="EEF2F4"/>
          </a:solidFill>
          <a:ln w="12700">
            <a:solidFill>
              <a:srgbClr val="EEF2F4"/>
            </a:solidFill>
            <a:prstDash val="solid"/>
          </a:ln>
        </p:spPr>
      </p:sp>
      <p:sp>
        <p:nvSpPr>
          <p:cNvPr id="20" name="Text 18"/>
          <p:cNvSpPr txBox="1"/>
          <p:nvPr/>
        </p:nvSpPr>
        <p:spPr>
          <a:xfrm>
            <a:off x="685800"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21" name="Text 19"/>
          <p:cNvSpPr txBox="1"/>
          <p:nvPr/>
        </p:nvSpPr>
        <p:spPr>
          <a:xfrm>
            <a:off x="1170432"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t1 is zero</a:t>
            </a:r>
            <a:endParaRPr lang="en-US" sz="1700" dirty="0"/>
          </a:p>
        </p:txBody>
      </p:sp>
      <p:sp>
        <p:nvSpPr>
          <p:cNvPr id="22" name="Shape 20"/>
          <p:cNvSpPr/>
          <p:nvPr/>
        </p:nvSpPr>
        <p:spPr>
          <a:xfrm>
            <a:off x="6233008" y="4594860"/>
            <a:ext cx="5410048" cy="724662"/>
          </a:xfrm>
          <a:prstGeom prst="roundRect">
            <a:avLst>
              <a:gd name="adj" fmla="val 10095"/>
            </a:avLst>
          </a:prstGeom>
          <a:solidFill>
            <a:srgbClr val="EEF2F4"/>
          </a:solidFill>
          <a:ln w="12700">
            <a:solidFill>
              <a:srgbClr val="EEF2F4"/>
            </a:solidFill>
            <a:prstDash val="solid"/>
          </a:ln>
        </p:spPr>
      </p:sp>
      <p:sp>
        <p:nvSpPr>
          <p:cNvPr id="23" name="Text 21"/>
          <p:cNvSpPr txBox="1"/>
          <p:nvPr/>
        </p:nvSpPr>
        <p:spPr>
          <a:xfrm>
            <a:off x="6370168" y="4792599"/>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24" name="Text 22"/>
          <p:cNvSpPr txBox="1"/>
          <p:nvPr/>
        </p:nvSpPr>
        <p:spPr>
          <a:xfrm>
            <a:off x="6854800" y="4649724"/>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t4 is zero</a:t>
            </a:r>
            <a:endParaRPr lang="en-US" sz="1700" dirty="0"/>
          </a:p>
        </p:txBody>
      </p:sp>
      <p:sp>
        <p:nvSpPr>
          <p:cNvPr id="25" name="Shape 23"/>
          <p:cNvSpPr/>
          <p:nvPr/>
        </p:nvSpPr>
        <p:spPr>
          <a:xfrm>
            <a:off x="548640" y="5447538"/>
            <a:ext cx="5410048" cy="724662"/>
          </a:xfrm>
          <a:prstGeom prst="roundRect">
            <a:avLst>
              <a:gd name="adj" fmla="val 10095"/>
            </a:avLst>
          </a:prstGeom>
          <a:solidFill>
            <a:srgbClr val="EEF2F4"/>
          </a:solidFill>
          <a:ln w="12700">
            <a:solidFill>
              <a:srgbClr val="EEF2F4"/>
            </a:solidFill>
            <a:prstDash val="solid"/>
          </a:ln>
        </p:spPr>
      </p:sp>
      <p:sp>
        <p:nvSpPr>
          <p:cNvPr id="26" name="Text 24"/>
          <p:cNvSpPr txBox="1"/>
          <p:nvPr/>
        </p:nvSpPr>
        <p:spPr>
          <a:xfrm>
            <a:off x="685800"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27" name="Text 25"/>
          <p:cNvSpPr txBox="1"/>
          <p:nvPr/>
        </p:nvSpPr>
        <p:spPr>
          <a:xfrm>
            <a:off x="1170432"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t1 and t4 are equal</a:t>
            </a:r>
            <a:endParaRPr lang="en-US" sz="1700" dirty="0"/>
          </a:p>
        </p:txBody>
      </p:sp>
      <p:sp>
        <p:nvSpPr>
          <p:cNvPr id="28" name="Shape 26"/>
          <p:cNvSpPr/>
          <p:nvPr/>
        </p:nvSpPr>
        <p:spPr>
          <a:xfrm>
            <a:off x="6233008" y="5447538"/>
            <a:ext cx="5410048" cy="724662"/>
          </a:xfrm>
          <a:prstGeom prst="roundRect">
            <a:avLst>
              <a:gd name="adj" fmla="val 10095"/>
            </a:avLst>
          </a:prstGeom>
          <a:solidFill>
            <a:srgbClr val="EEF2F4"/>
          </a:solidFill>
          <a:ln w="12700">
            <a:solidFill>
              <a:srgbClr val="EEF2F4"/>
            </a:solidFill>
            <a:prstDash val="solid"/>
          </a:ln>
        </p:spPr>
      </p:sp>
      <p:sp>
        <p:nvSpPr>
          <p:cNvPr id="29" name="Text 27"/>
          <p:cNvSpPr txBox="1"/>
          <p:nvPr/>
        </p:nvSpPr>
        <p:spPr>
          <a:xfrm>
            <a:off x="6370168" y="5645277"/>
            <a:ext cx="329184" cy="329184"/>
          </a:xfrm>
          <a:prstGeom prst="roundRect">
            <a:avLst>
              <a:gd name="adj" fmla="val 22222"/>
            </a:avLst>
          </a:prstGeom>
          <a:solidFill>
            <a:srgbClr val="2E4A62"/>
          </a:solidFill>
          <a:ln>
            <a:solidFill>
              <a:srgbClr val="2E4A62"/>
            </a:solid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30" name="Text 28"/>
          <p:cNvSpPr txBox="1"/>
          <p:nvPr/>
        </p:nvSpPr>
        <p:spPr>
          <a:xfrm>
            <a:off x="6854800" y="5502402"/>
            <a:ext cx="4632808" cy="614934"/>
          </a:xfrm>
          <a:prstGeom prst="rect">
            <a:avLst/>
          </a:prstGeom>
          <a:noFill/>
          <a:ln/>
        </p:spPr>
        <p:txBody>
          <a:bodyPr wrap="square" lIns="0" tIns="0" rIns="0" bIns="0" rtlCol="0" anchor="ctr"/>
          <a:lstStyle/>
          <a:p>
            <a:pPr indent="0" marL="0">
              <a:buNone/>
            </a:pPr>
            <a:r>
              <a:rPr lang="en-US" sz="1700" dirty="0">
                <a:solidFill>
                  <a:srgbClr val="1B2530"/>
                </a:solidFill>
                <a:latin typeface="Calibri" pitchFamily="34" charset="0"/>
                <a:ea typeface="Calibri" pitchFamily="34" charset="-122"/>
                <a:cs typeface="Calibri" pitchFamily="34" charset="-120"/>
              </a:rPr>
              <a:t>t1 and t4 are opposite</a:t>
            </a:r>
            <a:endParaRPr lang="en-US" sz="17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Where we are, and what comes next</a:t>
            </a:r>
            <a:endParaRPr lang="en-US" sz="3200" dirty="0"/>
          </a:p>
        </p:txBody>
      </p:sp>
      <p:sp>
        <p:nvSpPr>
          <p:cNvPr id="3" name="Shape 1"/>
          <p:cNvSpPr/>
          <p:nvPr/>
        </p:nvSpPr>
        <p:spPr>
          <a:xfrm>
            <a:off x="548640" y="170662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60020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player is in the game: a wish, a rule, a movement, a reward</a:t>
            </a:r>
            <a:endParaRPr lang="en-US" sz="2200" dirty="0"/>
          </a:p>
        </p:txBody>
      </p:sp>
      <p:sp>
        <p:nvSpPr>
          <p:cNvPr id="5" name="Shape 3"/>
          <p:cNvSpPr/>
          <p:nvPr/>
        </p:nvSpPr>
        <p:spPr>
          <a:xfrm>
            <a:off x="548640" y="250469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9826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Bits and masks, XOR as a comparator, a table as a selector: logic turned into instructions</a:t>
            </a:r>
            <a:endParaRPr lang="en-US" sz="2200" dirty="0"/>
          </a:p>
        </p:txBody>
      </p:sp>
      <p:sp>
        <p:nvSpPr>
          <p:cNvPr id="7" name="Shape 5"/>
          <p:cNvSpPr/>
          <p:nvPr/>
        </p:nvSpPr>
        <p:spPr>
          <a:xfrm>
            <a:off x="548640" y="3643630"/>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3720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Missing: the worm has no body, nothing can go wrong, and the game never ends</a:t>
            </a:r>
            <a:endParaRPr lang="en-US" sz="2200" dirty="0"/>
          </a:p>
        </p:txBody>
      </p:sp>
      <p:sp>
        <p:nvSpPr>
          <p:cNvPr id="9" name="Shape 7"/>
          <p:cNvSpPr/>
          <p:nvPr/>
        </p:nvSpPr>
        <p:spPr>
          <a:xfrm>
            <a:off x="548640" y="444169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335272"/>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Lectures 13 to 16 give the tools: state machines, registers, memory as an array, what survives power-off</a:t>
            </a:r>
            <a:endParaRPr lang="en-US" sz="2200" dirty="0"/>
          </a:p>
        </p:txBody>
      </p:sp>
      <p:sp>
        <p:nvSpPr>
          <p:cNvPr id="11" name="Shape 9"/>
          <p:cNvSpPr/>
          <p:nvPr/>
        </p:nvSpPr>
        <p:spPr>
          <a:xfrm>
            <a:off x="548640" y="5580634"/>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74208"/>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Part 3: a body that grows, collisions, a title screen and a game over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Verm1, Part 2: Steering, Food and a Score</dc:title>
  <dc:subject>Lecture 12</dc:subject>
  <dc:creator>Raffaele Montella</dc:creator>
  <cp:lastModifiedBy>Raffaele Montella</cp:lastModifiedBy>
  <cp:revision>1</cp:revision>
  <dcterms:created xsi:type="dcterms:W3CDTF">2026-10-17T07:16:48Z</dcterms:created>
  <dcterms:modified xsi:type="dcterms:W3CDTF">2026-10-17T07:16:48Z</dcterms:modified>
</cp:coreProperties>
</file>