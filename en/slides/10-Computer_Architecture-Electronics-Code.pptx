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6301b98-ba6b-27a4-9142-879317ca2a23}">
          <p14:sldIdLst>
            <p14:sldId id="256"/>
            <p14:sldId id="257"/>
          </p14:sldIdLst>
        </p14:section>
        <p14:section name="The listings" id="{50debb86-2f5b-bf01-f9be-8e7fb0a3b115}">
          <p14:sldIdLst>
            <p14:sldId id="258"/>
            <p14:sldId id="259"/>
            <p14:sldId id="260"/>
          </p14:sldIdLst>
        </p14:section>
        <p14:section name="The complete program" id="{fd775411-05e7-0aed-f2d9-9d6a62ee1fd0}">
          <p14:sldIdLst>
            <p14:sldId id="261"/>
            <p14:sldId id="262"/>
            <p14:sldId id="263"/>
          </p14:sldIdLst>
        </p14:section>
        <p14:section name="Run it and test it" id="{2ce99cd1-6e32-d245-dfdd-67b08f641876}">
          <p14:sldIdLst>
            <p14:sldId id="264"/>
            <p14:sldId id="265"/>
            <p14:sldId id="266"/>
            <p14:sldId id="267"/>
            <p14:sldId id="268"/>
          </p14:sldIdLst>
        </p14:section>
        <p14:section name="Exercises" id="{d469ae1d-a08c-9b50-adb9-17c966beac65}">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10. The lecture deck holds the concepts; this one holds everything you type and run: the listings with their explanation, the complete program, what it shows, and the way to test it on each of the three hosts.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deck contains, in the order of the slides. The program of the lecture is a file that you can build and run as it is: start from there, and come back to the listings to understand each part. The program of this lecture is ~/arc12/code/l10.S; tools/tests/cartridges/run.py builds it, runs it on PRG32-QT with scripted input and checks the pixels of the frame.
For the lecturer: Get the code once: git clone https://github.com/riscv-prg32/computer-architecture-with-prg32 ~/arc12. The program of this lecture is ~/arc12/code/l10.S;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your program a pressed button is a 1. On the board the button LEFT is a switch between a pin of the chip, GPIO18, and ground. When it is pressed the pin is at 0 volts; when it is released the pin is at 3.3 volts. So pressed means 0 volts, and yet the program reads 1. The four callouts turn this into the questions of the lecture: what is a volt, why is the released pin at 3.3 V, and who decides that 0 V is a bit? The last section answers them.
For the lecturer: Wiring from the PRG32 hardware documentation: every button is a switch to GND, and the firmware enables the internal pull-up of each input. The runtime inverts the level when it builds the mask (prg32_controller.c): pressed pin low, bit high. The last section of the lecture answers the four callouts.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journey in seven steps. The finger closes the switch; the pin falls to 0 V in less than a microsecond; the input buffer sees a voltage below its threshold, a logic 0; the level is captured in a flip-flop; the firmware reads it with a load instruction, inverts it and packs it with the others; your program tests it with andi. The right column says where each step is explained: three in this lecture, the others in lectures you have attended or will attend. Seven layers lie between a finger and a bit.
For the lecturer: The contacts of a real switch bounce for a few milliseconds when they close: reading the buttons once per frame, every few tens of milliseconds, hides the bounce (Lecture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kit seen as a circuit. A breadboard has holes joined in rows underneath, so components connect without soldering. Two long buses carry the supply, 3.3 V and ground, and a separate one carries 5 V for the audio amplifiers. Every part shares the same ground: without a common reference the voltages of two parts would mean nothing to each other. Buttons go from a pin to ground; the display and the amplifiers receive digital signals. Never connect a pin that is driven high directly to ground.
For the lecturer: Diagram from the PRG32 repository (docs/hardware/images). A pin of the ESP32-C6 can source some tens of milliamperes: an LED needs its series resistor, as computed earlier. Never join a pin driven high directly to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code/l10.S,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code/l10.S,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code/l10.S,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program shows when it runs, and what to press. Predict before you run: if the screen differs from this picture, the difference is information. The picture was written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quickest way: PRG32-QT on your own computer. Four steps, each with its command. PRG32-QT behaves like a board on port 8080, which is why the upload command says esp32c6. With debug mode enabled you can stop at any instruction and read registers and memory.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runs the real firmware on an emulated chip, so the cartridge must be built for the architecture qemu. Stage the cartridge while QEMU is closed. The firmware opens on the Setup menu: choose Run Cartridge and the slot. Remember that the keyboard is read by the terminal, not by the window with the picture.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kit. The firmware is written once, through USB; after that cartridges travel over Wi-Fi. The upload command is the one used for PRG32-QT with the address of the board. This is the only host that the automatic tests do not run: try it, and report what you see.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common symptoms, what each means, and what to do. Read the message before changing anything: it nearly always names the cause.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Size the resistor of a blue LED and compute the power it dissipates. Compute the output of a divider and say how an input of the kit would read it: compare it with the two thresholds. Draw a NAND with three inputs and count the transistors. Check the NOR on the drawing. And on the kit, with the lamps cartridge running, bridge a button pin to ground with a wire: explain what you see, and what would happen without the pull-up.
For the lecturer: Exercise 1: (3.3 - 3.0) / 0.002 = 150 Ω; P = 0.3 x 0.002 = 0.6 mW. Exercise 2: 3.3 x 20 / 30 = 2.2 V, between 0.825 and 2.475. Exercise 3: three pMOS in parallel, three nMOS in series: six transistors. The lamps cartridge is step 1 of textbook lab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10: Electronics and digital electronics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10</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500" b="1" dirty="0">
                <a:solidFill>
                  <a:srgbClr val="FFFFFF"/>
                </a:solidFill>
                <a:latin typeface="Cambria" pitchFamily="34" charset="0"/>
                <a:ea typeface="Cambria" pitchFamily="34" charset="-122"/>
                <a:cs typeface="Cambria" pitchFamily="34" charset="-120"/>
              </a:rPr>
              <a:t>Introduction to Electronics and Digital Electronics: the code</a:t>
            </a:r>
            <a:endParaRPr lang="en-US" sz="45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Shape 9"/>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2" name="Image 0" descr="/Users/raffaelemontella/devel/riscv-prg32/computer-architecture-with-prg32/tools/assets/kit_breadboard.png">    </p:cNvPr>
          <p:cNvPicPr>
            <a:picLocks noChangeAspect="1"/>
          </p:cNvPicPr>
          <p:nvPr/>
        </p:nvPicPr>
        <p:blipFill>
          <a:blip r:embed="rId1"/>
          <a:stretch>
            <a:fillRect/>
          </a:stretch>
        </p:blipFill>
        <p:spPr>
          <a:xfrm>
            <a:off x="8716975" y="4254756"/>
            <a:ext cx="2834640" cy="1823209"/>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1 listing of Lecture 10, one per slide: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code/l10.S, 58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One button, one bit</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650" dirty="0">
                <a:solidFill>
                  <a:srgbClr val="E6EDF2"/>
                </a:solidFill>
                <a:latin typeface="Courier New" pitchFamily="34" charset="0"/>
                <a:ea typeface="Courier New" pitchFamily="34" charset="-122"/>
                <a:cs typeface="Courier New" pitchFamily="34" charset="-120"/>
              </a:rPr>
              <a:t>    call prg32_input_read    </a:t>
            </a:r>
            <a:pPr indent="0" marL="0">
              <a:buNone/>
            </a:pPr>
            <a:r>
              <a:rPr lang="en-US" sz="1650" dirty="0">
                <a:solidFill>
                  <a:srgbClr val="8FB3A0"/>
                </a:solidFill>
                <a:latin typeface="Courier New" pitchFamily="34" charset="0"/>
                <a:ea typeface="Courier New" pitchFamily="34" charset="-122"/>
                <a:cs typeface="Courier New" pitchFamily="34" charset="-120"/>
              </a:rPr>
              <a:t># a0 = one bit per button</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andi t3, a0, 0x01        </a:t>
            </a:r>
            <a:pPr indent="0" marL="0">
              <a:buNone/>
            </a:pPr>
            <a:r>
              <a:rPr lang="en-US" sz="1650" dirty="0">
                <a:solidFill>
                  <a:srgbClr val="8FB3A0"/>
                </a:solidFill>
                <a:latin typeface="Courier New" pitchFamily="34" charset="0"/>
                <a:ea typeface="Courier New" pitchFamily="34" charset="-122"/>
                <a:cs typeface="Courier New" pitchFamily="34" charset="-120"/>
              </a:rPr>
              <a:t># bit 0: LEFT</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beqz t3, 1f              </a:t>
            </a:r>
            <a:pPr indent="0" marL="0">
              <a:buNone/>
            </a:pPr>
            <a:r>
              <a:rPr lang="en-US" sz="1650" dirty="0">
                <a:solidFill>
                  <a:srgbClr val="8FB3A0"/>
                </a:solidFill>
                <a:latin typeface="Courier New" pitchFamily="34" charset="0"/>
                <a:ea typeface="Courier New" pitchFamily="34" charset="-122"/>
                <a:cs typeface="Courier New" pitchFamily="34" charset="-120"/>
              </a:rPr>
              <a:t># 0: not pressed</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                      </a:t>
            </a:r>
            <a:pPr indent="0" marL="0">
              <a:buNone/>
            </a:pPr>
            <a:r>
              <a:rPr lang="en-US" sz="1650" dirty="0">
                <a:solidFill>
                  <a:srgbClr val="8FB3A0"/>
                </a:solidFill>
                <a:latin typeface="Courier New" pitchFamily="34" charset="0"/>
                <a:ea typeface="Courier New" pitchFamily="34" charset="-122"/>
                <a:cs typeface="Courier New" pitchFamily="34" charset="-120"/>
              </a:rPr>
              <a:t># 1: pressed</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1:</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t>
            </a:r>
            <a:endParaRPr lang="en-US" sz="1650" dirty="0"/>
          </a:p>
          <a:p>
            <a:pPr indent="0" marL="0">
              <a:buNone/>
            </a:pPr>
            <a:r>
              <a:rPr lang="en-US" sz="1650" dirty="0">
                <a:solidFill>
                  <a:srgbClr val="8FB3A0"/>
                </a:solidFill>
                <a:latin typeface="Courier New" pitchFamily="34" charset="0"/>
                <a:ea typeface="Courier New" pitchFamily="34" charset="-122"/>
                <a:cs typeface="Courier New" pitchFamily="34" charset="-120"/>
              </a:rPr>
              <a:t># on the kit:</a:t>
            </a:r>
            <a:endParaRPr lang="en-US" sz="1650" dirty="0"/>
          </a:p>
          <a:p>
            <a:pPr indent="0" marL="0">
              <a:buNone/>
            </a:pPr>
            <a:r>
              <a:rPr lang="en-US" sz="1650" dirty="0">
                <a:solidFill>
                  <a:srgbClr val="8FB3A0"/>
                </a:solidFill>
                <a:latin typeface="Courier New" pitchFamily="34" charset="0"/>
                <a:ea typeface="Courier New" pitchFamily="34" charset="-122"/>
                <a:cs typeface="Courier New" pitchFamily="34" charset="-120"/>
              </a:rPr>
              <a:t>#   LEFT is a switch between pin GPIO18 and ground</a:t>
            </a:r>
            <a:endParaRPr lang="en-US" sz="1650" dirty="0"/>
          </a:p>
          <a:p>
            <a:pPr indent="0" marL="0">
              <a:buNone/>
            </a:pPr>
            <a:r>
              <a:rPr lang="en-US" sz="1650" dirty="0">
                <a:solidFill>
                  <a:srgbClr val="8FB3A0"/>
                </a:solidFill>
                <a:latin typeface="Courier New" pitchFamily="34" charset="0"/>
                <a:ea typeface="Courier New" pitchFamily="34" charset="-122"/>
                <a:cs typeface="Courier New" pitchFamily="34" charset="-120"/>
              </a:rPr>
              <a:t>#   pressed  -&gt; the pin is at 0 volts</a:t>
            </a:r>
            <a:endParaRPr lang="en-US" sz="1650" dirty="0"/>
          </a:p>
          <a:p>
            <a:pPr indent="0" marL="0">
              <a:buNone/>
            </a:pPr>
            <a:r>
              <a:rPr lang="en-US" sz="1650" dirty="0">
                <a:solidFill>
                  <a:srgbClr val="8FB3A0"/>
                </a:solidFill>
                <a:latin typeface="Courier New" pitchFamily="34" charset="0"/>
                <a:ea typeface="Courier New" pitchFamily="34" charset="-122"/>
                <a:cs typeface="Courier New" pitchFamily="34" charset="-120"/>
              </a:rPr>
              <a:t>#   released -&gt; the pin is at 3.3 volts</a:t>
            </a:r>
            <a:endParaRPr lang="en-US" sz="16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Since the first labs a pressed button has been a 1 in a register</a:t>
            </a:r>
            <a:endParaRPr lang="en-US" sz="13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On the board the button is a piece of metal that joins a pin of the chip to ground</a:t>
            </a:r>
            <a:endParaRPr lang="en-US" sz="13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Pressed means 0 volts on the pin, and yet the program reads 1</a:t>
            </a:r>
            <a:endParaRPr lang="en-US" sz="13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What is a volt, why is the released pin at 3.3 V, and who decides that 0 V is a bit?</a:t>
            </a:r>
            <a:endParaRPr lang="en-US" sz="13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From the finger to the bit</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818440"/>
                <a:gridCol w="6456586"/>
                <a:gridCol w="3819389"/>
              </a:tblGrid>
              <a:tr h="0">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Step</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What happens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Where it is explained</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the finger closes the switch between GPIO18 and ground</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this lecture: the circuit</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the pin falls from 3.3 V to 0 V, in well under a microsecond</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this lecture: R x C</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the input buffer sees a voltage below 0.825 V: a logic 0</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this lecture: logic levels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the level is sampled into a flip-flop of the input register</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Lecture 13: sequential machines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5</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the firmware reads that register with a load instruction</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Lecture 15: memory-mapped input/output</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6</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it inverts the bit and packs it with the others into a0</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Lecture 08: masks; Lecture 21: input devices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7</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your program tests it: andi t3, a0, 0x01</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Lecture 02: first contact</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kit as a circuit</a:t>
            </a:r>
            <a:endParaRPr lang="en-US" sz="3200" dirty="0"/>
          </a:p>
        </p:txBody>
      </p:sp>
      <p:sp>
        <p:nvSpPr>
          <p:cNvPr id="3" name="Shape 1"/>
          <p:cNvSpPr/>
          <p:nvPr/>
        </p:nvSpPr>
        <p:spPr>
          <a:xfrm>
            <a:off x="548640" y="1500505"/>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46811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 breadboard: holes joined in rows underneath, so that components connect without soldering</a:t>
            </a:r>
            <a:endParaRPr lang="en-US" sz="1900" dirty="0"/>
          </a:p>
        </p:txBody>
      </p:sp>
      <p:sp>
        <p:nvSpPr>
          <p:cNvPr id="5" name="Shape 3"/>
          <p:cNvSpPr/>
          <p:nvPr/>
        </p:nvSpPr>
        <p:spPr>
          <a:xfrm>
            <a:off x="548640" y="254203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58847"/>
            <a:ext cx="546811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Two long buses carry the supply: 3.3 V and ground; a separate bus carries 5 V for the audio amplifiers</a:t>
            </a:r>
            <a:endParaRPr lang="en-US" sz="1900" dirty="0"/>
          </a:p>
        </p:txBody>
      </p:sp>
      <p:sp>
        <p:nvSpPr>
          <p:cNvPr id="7" name="Shape 5"/>
          <p:cNvSpPr/>
          <p:nvPr/>
        </p:nvSpPr>
        <p:spPr>
          <a:xfrm>
            <a:off x="548640" y="3583559"/>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500374"/>
            <a:ext cx="546811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Every part shares the same ground: without a common reference, the voltages of two parts mean nothing to each other</a:t>
            </a:r>
            <a:endParaRPr lang="en-US" sz="1900" dirty="0"/>
          </a:p>
        </p:txBody>
      </p:sp>
      <p:sp>
        <p:nvSpPr>
          <p:cNvPr id="9" name="Shape 7"/>
          <p:cNvSpPr/>
          <p:nvPr/>
        </p:nvSpPr>
        <p:spPr>
          <a:xfrm>
            <a:off x="548640" y="4625086"/>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541901"/>
            <a:ext cx="546811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The buttons go from a pin to ground; the display and the amplifiers receive digital signals from other pins</a:t>
            </a:r>
            <a:endParaRPr lang="en-US" sz="1900" dirty="0"/>
          </a:p>
        </p:txBody>
      </p:sp>
      <p:sp>
        <p:nvSpPr>
          <p:cNvPr id="11" name="Shape 9"/>
          <p:cNvSpPr/>
          <p:nvPr/>
        </p:nvSpPr>
        <p:spPr>
          <a:xfrm>
            <a:off x="548640" y="5666613"/>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83428"/>
            <a:ext cx="546811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An output pin can light an LED through a resistor; an input pin only listens</a:t>
            </a:r>
            <a:endParaRPr lang="en-US" sz="1900" dirty="0"/>
          </a:p>
        </p:txBody>
      </p:sp>
      <p:pic>
        <p:nvPicPr>
          <p:cNvPr id="13" name="Image 0" descr="/Users/raffaelemontella/devel/riscv-prg32/computer-architecture-with-prg32/tools/assets/kit_breadboard.png">    </p:cNvPr>
          <p:cNvPicPr>
            <a:picLocks noChangeAspect="1"/>
          </p:cNvPicPr>
          <p:nvPr/>
        </p:nvPicPr>
        <p:blipFill>
          <a:blip r:embed="rId1"/>
          <a:stretch>
            <a:fillRect/>
          </a:stretch>
        </p:blipFill>
        <p:spPr>
          <a:xfrm>
            <a:off x="6766560" y="1997906"/>
            <a:ext cx="4876495" cy="3136507"/>
          </a:xfrm>
          <a:prstGeom prst="rect">
            <a:avLst/>
          </a:prstGeom>
        </p:spPr>
      </p:pic>
      <p:sp>
        <p:nvSpPr>
          <p:cNvPr id="14" name="Text 11"/>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PRG32 kit on a breadboard (PRG32 hardware documentation)</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l10.S (1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400" dirty="0">
                <a:solidFill>
                  <a:srgbClr val="8FB3A0"/>
                </a:solidFill>
                <a:latin typeface="Courier New" pitchFamily="34" charset="0"/>
                <a:ea typeface="Courier New" pitchFamily="34" charset="-122"/>
                <a:cs typeface="Courier New" pitchFamily="34" charset="-120"/>
              </a:rPr>
              <a:t># ARC12 Computer Architecture - Lecture 10: Introduction to Electronics and Digital Electronics</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l10.S: one button, one bit: from the finger to a register</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On the screen: a large square, grey while LEFT is released and yellow while it is</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pressed. On the kit LEFT is a switch between GPIO18 and ground.</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Build: python3 -m prg32 cartridge build l10.S --portable \</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--entry-prefix l10 --name l10 --out l10.prg32</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.option norelax</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.equ BLACK,  0x0000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.equ GREY,   0x4208</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.equ YELLOW, 0xffe0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.section .text</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.global l10_init</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.global l10_update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.global l10_draw</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l10_init:</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ret</a:t>
            </a:r>
            <a:endParaRPr lang="en-US" sz="1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l10.S (2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l10_update: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prg32_input_read    </a:t>
            </a:r>
            <a:pPr indent="0" marL="0">
              <a:buNone/>
            </a:pPr>
            <a:r>
              <a:rPr lang="en-US" sz="1800" dirty="0">
                <a:solidFill>
                  <a:srgbClr val="8FB3A0"/>
                </a:solidFill>
                <a:latin typeface="Courier New" pitchFamily="34" charset="0"/>
                <a:ea typeface="Courier New" pitchFamily="34" charset="-122"/>
                <a:cs typeface="Courier New" pitchFamily="34" charset="-120"/>
              </a:rPr>
              <a:t># a0 = one bit per button</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andi t3, a0, 0x01        </a:t>
            </a:r>
            <a:pPr indent="0" marL="0">
              <a:buNone/>
            </a:pPr>
            <a:r>
              <a:rPr lang="en-US" sz="1800" dirty="0">
                <a:solidFill>
                  <a:srgbClr val="8FB3A0"/>
                </a:solidFill>
                <a:latin typeface="Courier New" pitchFamily="34" charset="0"/>
                <a:ea typeface="Courier New" pitchFamily="34" charset="-122"/>
                <a:cs typeface="Courier New" pitchFamily="34" charset="-120"/>
              </a:rPr>
              <a:t># bit 0: LEFT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pressed</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t3, 0(t0)           </a:t>
            </a:r>
            <a:pPr indent="0" marL="0">
              <a:buNone/>
            </a:pPr>
            <a:r>
              <a:rPr lang="en-US" sz="1800" dirty="0">
                <a:solidFill>
                  <a:srgbClr val="8FB3A0"/>
                </a:solidFill>
                <a:latin typeface="Courier New" pitchFamily="34" charset="0"/>
                <a:ea typeface="Courier New" pitchFamily="34" charset="-122"/>
                <a:cs typeface="Courier New" pitchFamily="34" charset="-120"/>
              </a:rPr>
              <a:t># 0: not pressed, 1: pressed</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on the kit:</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LEFT is a switch between pin GPIO18 and ground</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pressed  -&gt; the pin is at 0 volts</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released -&gt; the pin is at 3.3 volts</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the runtime inverts the level: in the program, pressed is 1</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l10.S (3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l10_draw:</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ra, 12(sp)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a0, BLACK</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call prg32_gfx_clear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pressed</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t1,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a4, GREY</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beqz t1, 1f</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a4, YELLOW</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1:  li   a0, 120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a1, 60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a2, 80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a3, 80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call prg32_gfx_rect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ra, 12(sp)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.section .data</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pressed: .word 0</a:t>
            </a:r>
            <a:endParaRPr lang="en-US" sz="135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170992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 large square, grey while LEFT is released and yellow while it is pressed. On the kit LEFT is a switch between GPIO18 and ground.</a:t>
            </a:r>
            <a:endParaRPr lang="en-US" sz="2400" dirty="0"/>
          </a:p>
        </p:txBody>
      </p:sp>
      <p:sp>
        <p:nvSpPr>
          <p:cNvPr id="5" name="Shape 3"/>
          <p:cNvSpPr/>
          <p:nvPr/>
        </p:nvSpPr>
        <p:spPr>
          <a:xfrm>
            <a:off x="548640" y="388924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767328"/>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press and release LEFT</a:t>
            </a:r>
            <a:endParaRPr lang="en-US" sz="2400" dirty="0"/>
          </a:p>
        </p:txBody>
      </p:sp>
      <p:pic>
        <p:nvPicPr>
          <p:cNvPr id="7" name="Image 0" descr="/Users/raffaelemontella/devel/riscv-prg32/computer-architecture-with-prg32/tools/assets/lab_l10.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~/arc12/code/l10.S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l10 --name l10 --out l10.prg32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l10.prg32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~/arc12/code/l10.S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l10 --name l10 --architecture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l10-qemu.prg32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l10-qemu.prg32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~/arc12/code/l10.S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l10 --name l10 --architecture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l10-esp32c6.prg32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l10-esp32c6.prg32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l10;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the kit</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 blue LED drops 3.0 V: which resistor gives 2 mA from 3.3 V? What power does the resistor dissipate?</a:t>
            </a:r>
            <a:endParaRPr lang="en-US" sz="2000" dirty="0"/>
          </a:p>
        </p:txBody>
      </p:sp>
      <p:sp>
        <p:nvSpPr>
          <p:cNvPr id="6" name="Text 4"/>
          <p:cNvSpPr txBox="1"/>
          <p:nvPr/>
        </p:nvSpPr>
        <p:spPr>
          <a:xfrm>
            <a:off x="548640" y="21945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176272"/>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 divider with R1 = 10 kΩ and R2 = 20 kΩ on 3.3 V: compute Vout. Is it read as 0, as 1, or undefined by an input of the kit?</a:t>
            </a:r>
            <a:endParaRPr lang="en-US" sz="2000" dirty="0"/>
          </a:p>
        </p:txBody>
      </p:sp>
      <p:sp>
        <p:nvSpPr>
          <p:cNvPr id="8" name="Text 6"/>
          <p:cNvSpPr txBox="1"/>
          <p:nvPr/>
        </p:nvSpPr>
        <p:spPr>
          <a:xfrm>
            <a:off x="548640" y="29535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935224"/>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Draw a three-input NAND in CMOS and count its transistors</a:t>
            </a:r>
            <a:endParaRPr lang="en-US" sz="2000" dirty="0"/>
          </a:p>
        </p:txBody>
      </p:sp>
      <p:sp>
        <p:nvSpPr>
          <p:cNvPr id="10" name="Text 8"/>
          <p:cNvSpPr txBox="1"/>
          <p:nvPr/>
        </p:nvSpPr>
        <p:spPr>
          <a:xfrm>
            <a:off x="548640" y="3531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13328"/>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Check the NOR drawing for the four input combinations, marking which transistors conduct</a:t>
            </a:r>
            <a:endParaRPr lang="en-US" sz="2000" dirty="0"/>
          </a:p>
        </p:txBody>
      </p:sp>
      <p:sp>
        <p:nvSpPr>
          <p:cNvPr id="12" name="Text 10"/>
          <p:cNvSpPr txBox="1"/>
          <p:nvPr/>
        </p:nvSpPr>
        <p:spPr>
          <a:xfrm>
            <a:off x="548640" y="42905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7228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On PRG32, run the lamps cartridge and bridge a button pin to ground with a wire: explain what you see, and what would happen with the pull-up disabled</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On paper: 150 Ω and 0.6 mW; Vout = 2.2 V, in the undefined band. On the kit: the lamp lights exactly as if the button were pressed.</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Introduction to Electronics and Digital Electronics: the code</dc:title>
  <dc:subject>Lecture 10</dc:subject>
  <dc:creator>Raffaele Montella</dc:creator>
  <cp:lastModifiedBy>Raffaele Montella</cp:lastModifiedBy>
  <cp:revision>1</cp:revision>
  <dcterms:created xsi:type="dcterms:W3CDTF">2026-10-13T08:56:24Z</dcterms:created>
  <dcterms:modified xsi:type="dcterms:W3CDTF">2026-10-13T08:56:24Z</dcterms:modified>
</cp:coreProperties>
</file>