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b4cac61-677e-6ce3-0383-750c397e464c}">
          <p14:sldIdLst>
            <p14:sldId id="256"/>
            <p14:sldId id="257"/>
          </p14:sldIdLst>
        </p14:section>
        <p14:section name="Information" id="{a0f0bd67-833f-45e8-2a43-bc73d697f628}">
          <p14:sldIdLst>
            <p14:sldId id="258"/>
            <p14:sldId id="259"/>
            <p14:sldId id="260"/>
            <p14:sldId id="261"/>
            <p14:sldId id="262"/>
            <p14:sldId id="263"/>
          </p14:sldIdLst>
        </p14:section>
        <p14:section name="Text" id="{4c721943-092d-764e-f57b-965d132f10a6}">
          <p14:sldIdLst>
            <p14:sldId id="264"/>
            <p14:sldId id="265"/>
            <p14:sldId id="266"/>
            <p14:sldId id="267"/>
          </p14:sldIdLst>
        </p14:section>
        <p14:section name="Data structures" id="{87de8b14-39f1-f82d-38e5-fe9693b1ce82}">
          <p14:sldIdLst>
            <p14:sldId id="268"/>
          </p14:sldIdLst>
        </p14:section>
        <p14:section name="Data and algorithms" id="{63e04017-d331-a3cf-8c75-44dccf9ee4ed}">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Lecture 02 you typed 0x07e0, 255, .asciz and .word without knowing exactly what they were. This lecture gives them names. Its thesis is in the subtitle: everything inside the machine is a pattern of bits, whether it is a number, a colour, a letter or a list. The lecture is wide rather than deep: numbers are treated formally in the next two lectures; here you learn to read bits and to see that their meaning is a matter of agreement.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For the lecturer: Spiral: the students have already seen 0x07e0, 255, .asciz and .word in Lecture 02. This lecture names what those were. The next two lectures (05, 06) treat numbers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from the general to the particular and back. You will tell analog from digital, read a byte in binary and in hexadecimal, decode a PRG32 colour into its three fields, say how text is stored, and describe how an array lives in memory and how assembly reaches one of its elements. The last objective looks beyond the machine: what an algorithm is, when it is deterministic, and where machine learning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analog quantity varies continuously, like a voltage or the hands of a watch. A digital quantity is a sequence of symbols from a finite alphabet, like the digits of a display. In the figure the smooth curve is the analog signal; the staircase is its digital version, obtained by sampling at regular instants and quantising each sample to one of a few levels. Something is lost, and something is gained: a finite number of levels can be counted, copied without error and checked. With two levels only, the symbol is the bit.
UNDERSTAND NOW: analog and digital.
For the lecturer: Two levels are easy to build reliably with transistors (off or on), which is why computers are binary. Boolean algebra (Lecture 08) is the mathematics of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units of information, each tied to something you have used. A bit is one button. A nibble, four bits, is one hexadecimal digit. A byte, eight bits, is one ASCII character, and it is the reason why the bar of Lecture 02 was at most 255 wide. A halfword, sixteen bits, is one colour. A word, thirty-two bits, is one register and one instruction. The rule to remember: n bits give 2 to the n patterns. And the caption: what a pattern means is not written in the bits.
UNDERSTAND NOW: bit, byte, word.
For the lecturer: n bits give 2^n distinct patterns. What a pattern means is not written in the bits: it is a convention between whoever writes them and whoever reads them. On RV32 a word is 32 bits by definition of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rows to learn by heart, as you once learned the multiplication tables. Each row gives the same number in decimal, in binary with four bits, and in hexadecimal with one digit. The four binary columns weigh 8, 4, 2 and 1: 1011 is 8 + 2 + 1 = 11, which hexadecimal writes B. After 9 the hexadecimal digits continue with the letters A to F for the values ten to fifteen. Cover two columns and reconstruct them from the third until you no longer need to think.
UNDERSTAND NOW: hexadecimal.
For the lecturer: The columns of the binary number weigh 8, 4, 2, 1. Learn this table by heart: it is the multiplication table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positional system a digit is worth its value times the weight of its position, and the weights are the powers of the base. The slide reads the byte 11011001 this way: the positions weigh 128, 64, 32, 16, 8, 4, 2 and 1; where the bit is 1 the weight is added, where it is 0 it is not. The sum is 128 + 64 + 16 + 8 + 1 = 217. It is exactly what you do in base ten without noticing: 217 is 2 hundreds, 1 ten and 7 units.
UNDERSTAND NOW: positional notation.
For the lecturer: Lecture 05 gives the general formula and the conversion algorithms. Here the aim is only to read a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is two to the fourth power, so one hexadecimal digit corresponds to exactly four bits. To convert, cut the binary number into groups of four from the right and replace each group using the table: 0000 0111 1110 0000 becomes 0, 7, E, 0. No arithmetic is needed. This is why programmers use hexadecimal: it is binary written compactly. A register is eight hexadecimal digits instead of thirty-two bits. The prefix 0x announces that a number is hexadecimal.
UNDERSTAND NOW: hexadecimal.
For the lecturer: 0x07E0 = 7 x 256 + 14 x 16 = 1792 + 224 = 2016. The decimal value is useless here: the bit pattern is the point,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green of Lecture 02 is opened. A PRG32 colour is sixteen bits divided into three fields: five bits of red, six of green, five of blue. The format is called RGB565. In 0x07E0 the red field is 00000, the green field is 111111 and the blue field is 00000: maximum green and nothing else. The eight swatches show other combinations: yellow is red plus green, white is everything. The sentence at the bottom is the lesson of the whole lecture: the same sixteen bits could be something else entirely.
UNDERSTAND NOW: a colour is a number.
For the lecturer: The eye is most sensitive to green, which is why green gets the extra bit. Exercise: which colour is 0xF81F? (red and blue at maximum: magenta). The colour constants are those of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assigns a number to each character and fits it in one byte. Three observations from the table. The capital A is 65 and the small a is 97: they differ by 32, that is by a single bit. The character "0" is 48, not zero: a digit typed on a keyboard is not yet a number. And there are characters that do not print: the newline, 10, and NUL, 0, which you will meet on the next slide as the end of a string.
UNDERSTAND NOW: characters and strings.
For the lecturer: ASCII (1963) uses 7 bits: 128 characters, English only. Upper and lower case differ only in bit 5: xori with 0x20 switches case, a first taste of Boolean algebra 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string is a sequence of character codes in consecutive bytes. The problem is how to know where it ends. The C convention marks the end with a zero byte; the Pascal convention writes the length first. The third row is your string of Lecture 02: .asciz stores the eleven characters of HELLO PRG32 followed by a zero, twelve bytes in all. The function that draws text receives only the address of the first byte and reads until it finds the zero. If the zero were missing, it would continue with whatever follows in memory.
UNDERSTAND NOW: characters and strings.
For the lecturer: The numbers under the cells are the ASCII codes in hexadecimal. This is the string of Lecture 02, step 2. What happens if the zero is missing? The function keeps reading whatever follows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has 128 characters, enough for English only. Unicode assigns a number, called a code point, to every character of every writing system. UTF-8 stores that number in one to four bytes: the characters of ASCII keep their single byte, an accented letter takes two, the euro sign three, an emoji four. Two consequences. Plain ASCII text is already valid UTF-8. And the length of a string in bytes is no longer its length in characters.
UNDERSTAND NOW: characters and strings.
For the lecturer: Unicode assigns a number (code point) to every character of every script; UTF-8 encodes that number in one to four bytes and is compatible with ASCII. It is the encoding of the web and of your source files. Consequence: the length of a string in bytes is not its length in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four bytes, and memory has one address per byte: in which order are the four bytes stored? RISC-V is little-endian: the least significant byte goes at the lowest address, so 0x12345678 is stored as 78, 56, 34, 12. The opposite order, big-endian, is used by network protocols. Normally you do not notice, because lw and sw are consistent with each other. You notice when you look at memory byte by byte in a debugger, or exchange data with a different machine.
UNDERSTAND NOW: little-endian byte order.
For the lecturer: The names come from Gulliver's Travels: which end of the egg to break first. In PRG32-QT, open the memory view on a .word and read the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structures. An array keeps elements of the same type one after another and reaches them by index. A list links each element to the next: easy to modify, slow to reach by position. A stack returns first what was put in last; you used one in Lecture 02 to save ra. A dictionary associates keys with values. A tree is a hierarchy. The sixth card is the one that matters for this course: in the machine all of them are bytes in memory, plus a rule for finding the next element.
UNDERSTAND NOW: data structures.
For the lecturer: You have already used a stack: the frame that saved ra in Lecture 02. The examples are those drawn on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is computable if an algorithm can solve it. The Turing machine is the mathematical model of a computer with a program; the von Neumann machine is the architecture that realises it in hardware. The last line is the surprising one: there are problems that no algorithm can solve, and therefore that no computer will ever solve, however fast. The classic example is deciding, for any program, whether it will stop.
UNDERSTAND NOW: algorithms.
For the lecturer: The last line is the Church-Turing thesis, stated informally. The halting problem is the classic example of a problem that is not computable.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deterministic algorithm the same input always produces the same sequence of steps and the same result: first_update always adds one. A non-deterministic algorithm can behave differently at each run with the same input. There are two common reasons: it uses random numbers on purpose, like a game that places an enemy at random, or it depends on the timing of several things that happen together. The first kind is useful; the second is a frequent source of bugs.
UNDERSTAND NOW: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program is a function written by a person: y = f(x). In machine learning the function is not written: it is built automatically from examples. Today's generative models are this idea at an enormous scale, with billions of learned numbers. Two remarks connect it to this course. Those numbers are bits in memory, multiplied and added by processors. And a model can be wrong with great confidence: only someone who knows the fundamentals can check what it says.
For the lecturer: The last point connects to the #nogpt rule of the course: the exam checks that the fundamentals are in the student's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rule that n bits give 2 to the n patterns. A byte has eight bits. Be careful with the two near-misses: 8 is the number of bits, and 255 is the largest natural number that a byte can hold, not the number of values, because zero counts too.
Write the four hexadecimal digits in binary: F is 1111, 8 is 1000, 1 is 0001, F is 1111. Then cut the sixteen bits as 5, 6 and 5: red 11111, green 000000, blue 11111. Red and blue at maximum, no green.
For the lecturer: 1. Answer: D. A byte is 8 bits: 2^8 = 256 patterns, for example the naturals from 0 to 255.
2. Answer: B. 0xF81F = 11111 000000 11111: red and blue at maximum, green at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characters and remember what the z of .asciz adds. The directive stores the string zero-terminated: one more byte than the visible characters.
RISC-V is little-endian. Write the word as four bytes, 00 00 AB CD, from the most to the least significant, and ask which one goes at the lowest address. The trap is 0x00, which would be right on a big-endian machine.
For the lecturer: 1. Answer: C. Four characters plus the terminating zero byte.
2. Answer: C. RISC-V is little-endian: the least significant byte, 0xCD, goes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Word is parola in Italian, and on RV32 it means thirty-two bits. Sampling and quantisation are the two operations of digitising. Byte order, or endianness, is the order of the bytes of a word in memory. Note that the Italian pila is the stack, while array is often left untranslated or rendered as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sentences to keep. Digital information is a pattern of bits plus a convention for reading it. The same bits can be a number, a colour or two characters: the program decides. Hexadecimal is binary written compactly, four bits per digit. Text is numbers, and structures are bytes plus a rule. Algorithms turn data into information on which decisions can be based. The next lecture treats the representation of numbers formally, starting from a marker that walks off the left edge of the screen.
Learning status, recap.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For the lecturer: Next lecture: number representation,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Bits, numbers, text, structures: everything in the machine is a pattern of bits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analog and digital information</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pattern of bits as a natural number, in binary and in hexadecimal</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PRG32 colour such as 0x07E0 into its red, green and blue fields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characters and strings are stored in memory, in ASCII and in UTF-8</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an array lives in memory and how assembly reaches one element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deterministic algorithm from a probabilistic one, and place machine learning among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 and digital information</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quantity that varies continuously: a voltage, a sound pressure, the hands of a watch</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sequence of symbols from a finite alphabet: the digits of a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Digitising means sampling in time and quantising in value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finite number of levels can be counted, copied exactly and checked for errors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With two levels the symbol is the bit: 0 or 1</a:t>
            </a:r>
            <a:endParaRPr lang="en-US" sz="20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analog and digital</a:t>
            </a:r>
            <a:endParaRPr lang="en-US" sz="1100" dirty="0"/>
          </a:p>
        </p:txBody>
      </p:sp>
      <p:pic>
        <p:nvPicPr>
          <p:cNvPr id="18" name="Image 1" descr="preencoded.png">    </p:cNvPr>
          <p:cNvPicPr>
            <a:picLocks noChangeAspect="1"/>
          </p:cNvPicPr>
          <p:nvPr/>
        </p:nvPicPr>
        <p:blipFill>
          <a:blip r:embed="rId2"/>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word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Size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Patterns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you met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binary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of the 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nibble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hexadecimal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ASCII character; the width of the bar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halfword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RGB565 colour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4,294,967,296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RISC-V register; one instruction;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KiB, MiB, GiB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2^10, 2^20, 2^30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sizes: 1 KiB = 1024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bits give 2^n patterns. The meaning of a pattern is a convention, not a property of the bits.</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byte, word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Counting in base 2 and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944305" y="91440"/>
            <a:ext cx="2698750" cy="274320"/>
          </a:xfrm>
          <a:prstGeom prst="rect">
            <a:avLst/>
          </a:prstGeom>
          <a:solidFill>
            <a:srgbClr val="E0F2FE"/>
          </a:solidFill>
          <a:ln w="12700">
            <a:solidFill>
              <a:srgbClr val="0369A1"/>
            </a:solidFill>
            <a:prstDash val="solid"/>
          </a:ln>
        </p:spPr>
      </p:sp>
      <p:sp>
        <p:nvSpPr>
          <p:cNvPr id="5" name="Shape 2"/>
          <p:cNvSpPr/>
          <p:nvPr/>
        </p:nvSpPr>
        <p:spPr>
          <a:xfrm>
            <a:off x="894430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7" name="Text 3"/>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notation: what 11011001 means</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weight</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contributes</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a positional system the value of a digit depends on its position: each position weighs a power of the base. Base 10 uses powers of ten, base 2 powers of two, base 16 powers of sixteen. The rule is the same; only the base changes.</a:t>
            </a:r>
            <a:endParaRPr lang="en-US" sz="1700" dirty="0"/>
          </a:p>
        </p:txBody>
      </p:sp>
      <p:sp>
        <p:nvSpPr>
          <p:cNvPr id="32" name="Shape 30"/>
          <p:cNvSpPr/>
          <p:nvPr/>
        </p:nvSpPr>
        <p:spPr>
          <a:xfrm>
            <a:off x="8419033" y="91440"/>
            <a:ext cx="3224022" cy="274320"/>
          </a:xfrm>
          <a:prstGeom prst="rect">
            <a:avLst/>
          </a:prstGeom>
          <a:solidFill>
            <a:srgbClr val="E0F2FE"/>
          </a:solidFill>
          <a:ln w="12700">
            <a:solidFill>
              <a:srgbClr val="0369A1"/>
            </a:solidFill>
            <a:prstDash val="solid"/>
          </a:ln>
        </p:spPr>
      </p:sp>
      <p:sp>
        <p:nvSpPr>
          <p:cNvPr id="33" name="Shape 31"/>
          <p:cNvSpPr/>
          <p:nvPr/>
        </p:nvSpPr>
        <p:spPr>
          <a:xfrm>
            <a:off x="8419033" y="91440"/>
            <a:ext cx="73152" cy="274320"/>
          </a:xfrm>
          <a:prstGeom prst="rect">
            <a:avLst/>
          </a:prstGeom>
          <a:solidFill>
            <a:srgbClr val="0369A1"/>
          </a:solidFill>
          <a:ln w="12700">
            <a:solidFill>
              <a:srgbClr val="0369A1"/>
            </a:solidFill>
            <a:prstDash val="solid"/>
          </a:ln>
        </p:spPr>
      </p:sp>
      <p:pic>
        <p:nvPicPr>
          <p:cNvPr id="3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5" name="Text 3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positional notation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programmers write hexadecimal</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binary</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hexadecimal</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a:t>
            </a:r>
            <a:endParaRPr lang="en-US" sz="2400" dirty="0"/>
          </a:p>
        </p:txBody>
      </p:sp>
      <p:sp>
        <p:nvSpPr>
          <p:cNvPr id="18" name="Shape 16"/>
          <p:cNvSpPr/>
          <p:nvPr/>
        </p:nvSpPr>
        <p:spPr>
          <a:xfrm>
            <a:off x="548640" y="4586224"/>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One hexadecimal digit is exactly four bits, because 16 = 2^4: conversion is a table lookup, digit by digit</a:t>
            </a:r>
            <a:endParaRPr lang="en-US" sz="1600" dirty="0"/>
          </a:p>
        </p:txBody>
      </p:sp>
      <p:sp>
        <p:nvSpPr>
          <p:cNvPr id="20" name="Shape 18"/>
          <p:cNvSpPr/>
          <p:nvPr/>
        </p:nvSpPr>
        <p:spPr>
          <a:xfrm>
            <a:off x="548640" y="5409184"/>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34924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32-bit register is eight hexadecimal digits: 0x00130313 is readable, thirty-two zeros and ones are not</a:t>
            </a:r>
            <a:endParaRPr lang="en-US" sz="1600" dirty="0"/>
          </a:p>
        </p:txBody>
      </p:sp>
      <p:sp>
        <p:nvSpPr>
          <p:cNvPr id="22" name="Shape 20"/>
          <p:cNvSpPr/>
          <p:nvPr/>
        </p:nvSpPr>
        <p:spPr>
          <a:xfrm>
            <a:off x="548640" y="5984240"/>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prefix 0x marks hexadecimal in assembly and in C; the debugger of PRG32-QT shows registers this way</a:t>
            </a:r>
            <a:endParaRPr lang="en-US" sz="1600" dirty="0"/>
          </a:p>
        </p:txBody>
      </p:sp>
      <p:sp>
        <p:nvSpPr>
          <p:cNvPr id="24" name="Shape 22"/>
          <p:cNvSpPr/>
          <p:nvPr/>
        </p:nvSpPr>
        <p:spPr>
          <a:xfrm>
            <a:off x="8944305" y="91440"/>
            <a:ext cx="2698750" cy="274320"/>
          </a:xfrm>
          <a:prstGeom prst="rect">
            <a:avLst/>
          </a:prstGeom>
          <a:solidFill>
            <a:srgbClr val="E0F2FE"/>
          </a:solidFill>
          <a:ln w="12700">
            <a:solidFill>
              <a:srgbClr val="0369A1"/>
            </a:solidFill>
            <a:prstDash val="solid"/>
          </a:ln>
        </p:spPr>
      </p:sp>
      <p:sp>
        <p:nvSpPr>
          <p:cNvPr id="25" name="Shape 23"/>
          <p:cNvSpPr/>
          <p:nvPr/>
        </p:nvSpPr>
        <p:spPr>
          <a:xfrm>
            <a:off x="894430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7" name="Text 2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colour is a number: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red: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green: 6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of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blue: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Sixteen bits, three fields. The same sixteen bits could be a number, two characters or half an instruction: the meaning is in how the program uses them.</a:t>
            </a:r>
            <a:endParaRPr lang="en-US" sz="1600" dirty="0"/>
          </a:p>
        </p:txBody>
      </p:sp>
      <p:sp>
        <p:nvSpPr>
          <p:cNvPr id="41" name="Shape 39"/>
          <p:cNvSpPr/>
          <p:nvPr/>
        </p:nvSpPr>
        <p:spPr>
          <a:xfrm>
            <a:off x="8353374" y="91440"/>
            <a:ext cx="3289681" cy="274320"/>
          </a:xfrm>
          <a:prstGeom prst="rect">
            <a:avLst/>
          </a:prstGeom>
          <a:solidFill>
            <a:srgbClr val="E0F2FE"/>
          </a:solidFill>
          <a:ln w="12700">
            <a:solidFill>
              <a:srgbClr val="0369A1"/>
            </a:solidFill>
            <a:prstDash val="solid"/>
          </a:ln>
        </p:spPr>
      </p:sp>
      <p:sp>
        <p:nvSpPr>
          <p:cNvPr id="42" name="Shape 40"/>
          <p:cNvSpPr/>
          <p:nvPr/>
        </p:nvSpPr>
        <p:spPr>
          <a:xfrm>
            <a:off x="8353374"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44" name="Text 41"/>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 colour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one character, one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capital letters start at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same as A with one more bit: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character zero is not the number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space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character like any other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newline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control 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marks the end of a C 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Strings: a sequence of characters in memory</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C string</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end is marked by a zero byte</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Pascal string</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length comes first</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z of .asciz means zero-terminated: the assembler stores twelve bytes for eleven characters. prg32_gfx_text8 receives only the address of the first byte in a2, and reads until it finds the zero.</a:t>
            </a:r>
            <a:endParaRPr lang="en-US" sz="1700" dirty="0"/>
          </a:p>
        </p:txBody>
      </p:sp>
      <p:sp>
        <p:nvSpPr>
          <p:cNvPr id="54" name="Shape 52"/>
          <p:cNvSpPr/>
          <p:nvPr/>
        </p:nvSpPr>
        <p:spPr>
          <a:xfrm>
            <a:off x="8222056" y="91440"/>
            <a:ext cx="3420999" cy="274320"/>
          </a:xfrm>
          <a:prstGeom prst="rect">
            <a:avLst/>
          </a:prstGeom>
          <a:solidFill>
            <a:srgbClr val="E0F2FE"/>
          </a:solidFill>
          <a:ln w="12700">
            <a:solidFill>
              <a:srgbClr val="0369A1"/>
            </a:solidFill>
            <a:prstDash val="solid"/>
          </a:ln>
        </p:spPr>
      </p:sp>
      <p:sp>
        <p:nvSpPr>
          <p:cNvPr id="55" name="Shape 53"/>
          <p:cNvSpPr/>
          <p:nvPr/>
        </p:nvSpPr>
        <p:spPr>
          <a:xfrm>
            <a:off x="8222056" y="91440"/>
            <a:ext cx="73152" cy="274320"/>
          </a:xfrm>
          <a:prstGeom prst="rect">
            <a:avLst/>
          </a:prstGeom>
          <a:solidFill>
            <a:srgbClr val="0369A1"/>
          </a:solidFill>
          <a:ln w="12700">
            <a:solidFill>
              <a:srgbClr val="0369A1"/>
            </a:solidFill>
            <a:prstDash val="solid"/>
          </a:ln>
        </p:spPr>
      </p:sp>
      <p:pic>
        <p:nvPicPr>
          <p:cNvPr id="5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57" name="Text 5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and UTF-8: every writing system</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UTF-8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identical to 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gives every character a number; UTF-8 stores it in one to four bytes, and plain ASCII text is already valid UTF-8.</a:t>
            </a:r>
            <a:endParaRPr lang="en-US" sz="1400" dirty="0"/>
          </a:p>
        </p:txBody>
      </p:sp>
      <p:sp>
        <p:nvSpPr>
          <p:cNvPr id="5"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6"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8"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 order: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(network protocols)</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word is four bytes, and memory is addressed byte by byte: in which order do they go?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the least significant byte at the lowest address. This is what lw and sw do on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You notice it when you look at memory in a debugger, or exchange data with another machine</a:t>
            </a:r>
            <a:endParaRPr lang="en-US" sz="18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Five ways to organise data</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Array</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of the same type, one after another, reached by index: 32, 11, 34, 22.</a:t>
            </a:r>
            <a:endParaRPr lang="en-US" sz="19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linked one to the next: cheap to insert and remove, slow to reach by position.</a:t>
            </a:r>
            <a:endParaRPr lang="en-US" sz="19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Last in, first out: push adds on top, pop removes from the top.</a:t>
            </a:r>
            <a:endParaRPr lang="en-US" sz="19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Dictionary</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Pairs of key and value: NA gives NAPOLI, PA gives PALERMO, MI gives MILANO.</a:t>
            </a:r>
            <a:endParaRPr lang="en-US" sz="19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Tree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hierarchy: an animal walks or swims, has lungs or gills, two legs or four.</a:t>
            </a:r>
            <a:endParaRPr lang="en-US" sz="19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 the machine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of them are bytes in memory plus a rule for finding the next element.</a:t>
            </a:r>
            <a:endParaRPr lang="en-US" sz="1900" dirty="0"/>
          </a:p>
        </p:txBody>
      </p:sp>
      <p:sp>
        <p:nvSpPr>
          <p:cNvPr id="27" name="Shape 25"/>
          <p:cNvSpPr/>
          <p:nvPr/>
        </p:nvSpPr>
        <p:spPr>
          <a:xfrm>
            <a:off x="8681669" y="91440"/>
            <a:ext cx="2961386" cy="274320"/>
          </a:xfrm>
          <a:prstGeom prst="rect">
            <a:avLst/>
          </a:prstGeom>
          <a:solidFill>
            <a:srgbClr val="E0F2FE"/>
          </a:solidFill>
          <a:ln w="12700">
            <a:solidFill>
              <a:srgbClr val="0369A1"/>
            </a:solidFill>
            <a:prstDash val="solid"/>
          </a:ln>
        </p:spPr>
      </p:sp>
      <p:sp>
        <p:nvSpPr>
          <p:cNvPr id="28" name="Shape 26"/>
          <p:cNvSpPr/>
          <p:nvPr/>
        </p:nvSpPr>
        <p:spPr>
          <a:xfrm>
            <a:off x="8681669"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30" name="Text 27"/>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data structures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Algorithms and computability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is computable if it can be solved by an algorithm</a:t>
            </a:r>
            <a:endParaRPr lang="en-US" sz="2200" dirty="0"/>
          </a:p>
        </p:txBody>
      </p:sp>
      <p:sp>
        <p:nvSpPr>
          <p:cNvPr id="5" name="Shape 3"/>
          <p:cNvSpPr/>
          <p:nvPr/>
        </p:nvSpPr>
        <p:spPr>
          <a:xfrm>
            <a:off x="548640" y="24800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3630"/>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Turing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an ideal computer with a program, expressed mathematically through sets, relations and functions</a:t>
            </a:r>
            <a:endParaRPr lang="en-US" sz="2200" dirty="0"/>
          </a:p>
        </p:txBody>
      </p:sp>
      <p:sp>
        <p:nvSpPr>
          <p:cNvPr id="7" name="Shape 5"/>
          <p:cNvSpPr/>
          <p:nvPr/>
        </p:nvSpPr>
        <p:spPr>
          <a:xfrm>
            <a:off x="548640" y="372084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4420"/>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computing architecture able to execute a program that realises an algorithm for the Turing machine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that no algorithm on a Turing machine can solve cannot be solved by any computer</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Not every problem has an algorithm: some questions no computer will ever answer</a:t>
            </a:r>
            <a:endParaRPr lang="en-US" sz="1900" dirty="0"/>
          </a:p>
        </p:txBody>
      </p:sp>
      <p:sp>
        <p:nvSpPr>
          <p:cNvPr id="14" name="Shape 12"/>
          <p:cNvSpPr/>
          <p:nvPr/>
        </p:nvSpPr>
        <p:spPr>
          <a:xfrm>
            <a:off x="9009964" y="91440"/>
            <a:ext cx="2633091" cy="274320"/>
          </a:xfrm>
          <a:prstGeom prst="rect">
            <a:avLst/>
          </a:prstGeom>
          <a:solidFill>
            <a:srgbClr val="E0F2FE"/>
          </a:solidFill>
          <a:ln w="12700">
            <a:solidFill>
              <a:srgbClr val="0369A1"/>
            </a:solidFill>
            <a:prstDash val="solid"/>
          </a:ln>
        </p:spPr>
      </p:sp>
      <p:sp>
        <p:nvSpPr>
          <p:cNvPr id="15" name="Shape 13"/>
          <p:cNvSpPr/>
          <p:nvPr/>
        </p:nvSpPr>
        <p:spPr>
          <a:xfrm>
            <a:off x="900996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7" name="Text 1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Deterministic and non-deterministic algorithms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 every instruction there is, with the same input, exactly one next step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path of the algorithm exists and is unique: y = f(x)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converting a unit of measure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first_update, which always adds one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Non-deterministic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the same input it can behave differently at each execution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Probabilistic algorithms use a random number generator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Concurrent algorithms can depend on timing (race conditions)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a game that places the enemy with prg32_random_number</a:t>
            </a:r>
            <a:endParaRPr lang="en-US" sz="2100" dirty="0"/>
          </a:p>
        </p:txBody>
      </p:sp>
      <p:sp>
        <p:nvSpPr>
          <p:cNvPr id="9" name="Shape 7"/>
          <p:cNvSpPr/>
          <p:nvPr/>
        </p:nvSpPr>
        <p:spPr>
          <a:xfrm>
            <a:off x="9009964" y="91440"/>
            <a:ext cx="2633091" cy="274320"/>
          </a:xfrm>
          <a:prstGeom prst="rect">
            <a:avLst/>
          </a:prstGeom>
          <a:solidFill>
            <a:srgbClr val="E0F2FE"/>
          </a:solidFill>
          <a:ln w="12700">
            <a:solidFill>
              <a:srgbClr val="0369A1"/>
            </a:solidFill>
            <a:prstDash val="solid"/>
          </a:ln>
        </p:spPr>
      </p:sp>
      <p:sp>
        <p:nvSpPr>
          <p:cNvPr id="10" name="Shape 8"/>
          <p:cNvSpPr/>
          <p:nvPr/>
        </p:nvSpPr>
        <p:spPr>
          <a:xfrm>
            <a:off x="900996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2" name="Text 9"/>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method of data analysis that automates the construction of an analytical model</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computer finds hidden patterns without being explicitly programmed where to look</a:t>
            </a:r>
            <a:endParaRPr lang="en-US" sz="2100" dirty="0"/>
          </a:p>
        </p:txBody>
      </p:sp>
      <p:sp>
        <p:nvSpPr>
          <p:cNvPr id="7" name="Shape 5"/>
          <p:cNvSpPr/>
          <p:nvPr/>
        </p:nvSpPr>
        <p:spPr>
          <a:xfrm>
            <a:off x="548640" y="32708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220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Today's generative models are the same idea at an enormous scale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large language model predicts the next piece of text from billions of learned numbers</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Those numbers are bits in memory, multiplied and added by processors: the subject of this course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model can be wrong with great confidence: you need the fundamentals to check it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classical program is written by a person. In machine learning, f is learned from examples.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different values can one byte represent?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PRG32 colour 0xF81F is: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cyan</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yellow</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bytes does .asciz "CIAO" occupy in memory?</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.word 0x0000ABCD is stored at address A. Which byte is at address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 information is a pattern of bits plus a convention for reading it</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same sixteen bits can be a number, a colour or two characters: the program decides</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Hexadecimal is a compact spelling of binary, four bits per digit</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Text is numbers (ASCII, UTF-8); structures are bytes plus a rule for finding the next element</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the currency of this realm; algorithms turn data into information fit for decisions</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2.4 and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chapters on bits, bytes and text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(suggested in the original course)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dc:title>
  <dc:subject>Lecture 04</dc:subject>
  <dc:creator>Raffaele Montella</dc:creator>
  <cp:lastModifiedBy>Raffaele Montella</cp:lastModifiedBy>
  <cp:revision>1</cp:revision>
  <dcterms:created xsi:type="dcterms:W3CDTF">2026-10-16T16:46:56Z</dcterms:created>
  <dcterms:modified xsi:type="dcterms:W3CDTF">2026-10-16T16:46:56Z</dcterms:modified>
</cp:coreProperties>
</file>