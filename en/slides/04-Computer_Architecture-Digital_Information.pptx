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7bd2cfd-90bd-428e-f487-e9053bf95d2f}">
          <p14:sldIdLst>
            <p14:sldId id="256"/>
            <p14:sldId id="257"/>
          </p14:sldIdLst>
        </p14:section>
        <p14:section name="Information" id="{809a817a-fa18-cc98-8e03-ac231d39274c}">
          <p14:sldIdLst>
            <p14:sldId id="258"/>
            <p14:sldId id="259"/>
            <p14:sldId id="260"/>
            <p14:sldId id="261"/>
            <p14:sldId id="262"/>
            <p14:sldId id="263"/>
            <p14:sldId id="264"/>
            <p14:sldId id="265"/>
            <p14:sldId id="266"/>
          </p14:sldIdLst>
        </p14:section>
        <p14:section name="Text" id="{5c0319ed-b4a7-2d88-1ac5-9a1ef8ef516a}">
          <p14:sldIdLst>
            <p14:sldId id="267"/>
            <p14:sldId id="268"/>
            <p14:sldId id="269"/>
            <p14:sldId id="270"/>
            <p14:sldId id="271"/>
          </p14:sldIdLst>
        </p14:section>
        <p14:section name="Data structures" id="{b4365436-7396-14f4-8052-34231015d013}">
          <p14:sldIdLst>
            <p14:sldId id="272"/>
            <p14:sldId id="273"/>
            <p14:sldId id="274"/>
          </p14:sldIdLst>
        </p14:section>
        <p14:section name="Data and algorithms" id="{e07701bf-3db2-b86b-f43e-5e518d9517c9}">
          <p14:sldIdLst>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Lecture 02 you typed 0x07e0, 255, .asciz and .word without knowing exactly what they were. This lecture gives them names. Its thesis is in the subtitle: everything inside the machine is a pattern of bits, whether it is a number, a colour, a letter or a list. The lecture is wide rather than deep: numbers are treated formally in the next two lectures; here you learn to read bits and to see that their meaning is a matter of agreement.
For the lecturer: Spiral: the students have already seen 0x07e0, 255, .asciz and .word in Lecture 02. This lecture names what those were. The next two lectures (05, 06) treat numbers formally.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from the general to the particular and back. You will tell analog from digital, read a byte in binary and in hexadecimal, decode a PRG32 colour into its three fields, say how text is stored, and describe how an array lives in memory and how assembly reaches one of its elements. The last objective looks beyond the machine: what an algorithm is, when it is deterministic, and where machine learning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part answers a basic question: how does something in the world become something a computer can hold? The answer passes through four ideas: the flow of data, the difference between analog and digital, the units of information, and positional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computation has the same shape. Data enter from the world; a program, which is an algorithm made concrete, transforms them; results leave; and somebody uses them, which is what turns information into knowledge. On PRG32 you already know the four boxes by name: the buttons are read by prg32_input_read, your update function processes, your draw function produces the output, and the player reacts. Keep this picture: every program you will ever write is an instance of it.
For the lecturer: On PRG32 the same four boxes are prg32_input_read, your update function, your draw function, and the player who reacts to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analog quantity varies continuously, like a voltage or the hands of a watch. A digital quantity is a sequence of symbols from a finite alphabet, like the digits of a display. In the figure the smooth curve is the analog signal; the staircase is its digital version, obtained by sampling at regular instants and quantising each sample to one of a few levels. Something is lost, and something is gained: a finite number of levels can be counted, copied without error and checked. With two levels only, the symbol is the bit.
For the lecturer: Two levels are easy to build reliably with transistors (off or on), which is why computers are binary. Boolean algebra (Lecture 08) is the mathematics of two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units of information, each tied to something you have used. A bit is one button. A nibble, four bits, is one hexadecimal digit. A byte, eight bits, is one ASCII character, and it is the reason why the bar of Lecture 02 was at most 255 wide. A halfword, sixteen bits, is one colour. A word, thirty-two bits, is one register and one instruction. The rule to remember: n bits give 2 to the n patterns. And the caption: what a pattern means is not written in the bits.
For the lecturer: n bits give 2^n distinct patterns. What a pattern means is not written in the bits: it is a convention between whoever writes them and whoever reads them. On RV32 a word is 32 bits by definition of the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rows to learn by heart, as you once learned the multiplication tables. Each row gives the same number in decimal, in binary with four bits, and in hexadecimal with one digit. The four binary columns weigh 8, 4, 2 and 1: 1011 is 8 + 2 + 1 = 11, which hexadecimal writes B. After 9 the hexadecimal digits continue with the letters A to F for the values ten to fifteen. Cover two columns and reconstruct them from the third until you no longer need to think.
For the lecturer: The columns of the binary number weigh 8, 4, 2, 1. Learn this table by heart: it is the multiplication table of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positional system a digit is worth its value times the weight of its position, and the weights are the powers of the base. The slide reads the byte 11011001 this way: the positions weigh 128, 64, 32, 16, 8, 4, 2 and 1; where the bit is 1 the weight is added, where it is 0 it is not. The sum is 128 + 64 + 16 + 8 + 1 = 217. It is exactly what you do in base ten without noticing: 217 is 2 hundreds, 1 ten and 7 units.
For the lecturer: Lecture 05 gives the general formula and the conversion algorithms. Here the aim is only to read a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is two to the fourth power, so one hexadecimal digit corresponds to exactly four bits. To convert, cut the binary number into groups of four from the right and replace each group using the table: 0000 0111 1110 0000 becomes 0, 7, E, 0. No arithmetic is needed. This is why programmers use hexadecimal: it is binary written compactly. A register is eight hexadecimal digits instead of thirty-two bits. The prefix 0x announces that a number is hexadecimal.
For the lecturer: 0x07E0 = 7 x 256 + 14 x 16 = 1792 + 224 = 2016. The decimal value is useless here: the bit pattern is the point, as the next slide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green of Lecture 02 is opened. A PRG32 colour is sixteen bits divided into three fields: five bits of red, six of green, five of blue. The format is called RGB565. In 0x07E0 the red field is 00000, the green field is 111111 and the blue field is 00000: maximum green and nothing else. The eight swatches show other combinations: yellow is red plus green, white is everything. The sentence at the bottom is the lesson of the whole lecture: the same sixteen bits could be something else entirely.
For the lecturer: The eye is most sensitive to green, which is why green gets the extra bit. Exercise: which colour is 0xF81F? (red and blue at maximum: magenta). The colour constants are those of prg32.h.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preview of the next two lectures. Natural numbers are the positional pattern itself: with n bits, from 0 to 2 to the n minus 1. Signed integers use two's complement, the subject of Lecture 05. Real numbers use fixed point or the floating point of the IEEE 754 standard, the subject of Lecture 06, in which the bits are divided into a sign, an exponent and a fraction. You are not asked to understand the formats today: only to see that numbers, too, need a convention.
For the lecturer: Preview only. Lecture 05 covers naturals and signed integers; Lecture 06 covers fixed point and IEEE 754. The source slide wrote the value formula in a garbled form: the correct one is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part is about text. A character is stored as a number, and a text as a sequence of numbers. Four slides: the ASCII code, strings in memory, Unicode with UTF-8, and the order of the bytes of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ASCII assigns a number to each character and fits it in one byte. Three observations from the table. The capital A is 65 and the small a is 97: they differ by 32, that is by a single bit. The character "0" is 48, not zero: a digit typed on a keyboard is not yet a number. And there are characters that do not print: the newline, 10, and NUL, 0, which you will meet on the next slide as the end of a string.
For the lecturer: ASCII (1963) uses 7 bits: 128 characters, English only. Upper and lower case differ only in bit 5: xori with 0x20 switches case, a first taste of Boolean algebra 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string is a sequence of character codes in consecutive bytes. The problem is how to know where it ends. The C convention marks the end with a zero byte; the Pascal convention writes the length first. The third row is your string of Lecture 02: .asciz stores the eleven characters of HELLO PRG32 followed by a zero, twelve bytes in all. The function that draws text receives only the address of the first byte and reads until it finds the zero. If the zero were missing, it would continue with whatever follows in memory.
For the lecturer: The numbers under the cells are the ASCII codes in hexadecimal. This is the string of Lecture 02, step 2. What happens if the zero is missing? The function keeps reading whatever follows 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ASCII has 128 characters, enough for English only. Unicode assigns a number, called a code point, to every character of every writing system. UTF-8 stores that number in one to four bytes: the characters of ASCII keep their single byte, an accented letter takes two, the euro sign three, an emoji four. Two consequences. Plain ASCII text is already valid UTF-8. And the length of a string in bytes is no longer its length in characters.
For the lecturer: Unicode assigns a number (code point) to every character of every script; UTF-8 encodes that number in one to four bytes and is compatible with ASCII. It is the encoding of the web and of your source files. Consequence: the length of a string in bytes is not its length in characters.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is four bytes, and memory has one address per byte: in which order are the four bytes stored? RISC-V is little-endian: the least significant byte goes at the lowest address, so 0x12345678 is stored as 78, 56, 34, 12. The opposite order, big-endian, is used by network protocols. Normally you do not notice, because lw and sw are consistent with each other. You notice when you look at memory byte by byte in a debugger, or exchange data with a different machine.
For the lecturer: The names come from Gulliver's Travels: which end of the egg to break first. In PRG32-QT, open the memory view on a .word and read the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part goes from single values to collections. One slide presents five classic ways of organising data; the next shows how the simplest of them, the array, is realised in memory and reached from 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structures. An array keeps elements of the same type one after another and reaches them by index. A list links each element to the next: easy to modify, slow to reach by position. A stack returns first what was put in last; you used one in Lecture 02 to save ra. A dictionary associates keys with values. A tree is a hierarchy. The sixth card is the one that matters for this course: in the machine all of them are bytes in memory, plus a rule for finding the next element.
For the lecturer: You have already used a stack: the frame that saved ra in Lecture 02. The examples are those drawn on the source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array of four words, and the four instructions that read element 2. la loads the address of the first element. The index is multiplied by 4, the size of a word in bytes, with a shift to the left by 2: shifting by one position doubles a binary number. add forms the address of the element, and lw reads its value, 34. The expression scores[i] of a high-level language is exactly this. Note what is missing: nobody checks that the index is less than 4.
For the lecturer: The shift-as-multiplication property is proved in Lecture 05 (properties of binary strings). Ask: what does lw read if i = 4? Whatever follows the array in memory: the machine does not check bounds.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part widens the view from data to what is done with them: large collections of data, the processors that analyse them, what an algorithm is, and the kind of algorithm that learns from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data are data that exceed what traditional database tools can handle, in quantity or in variety: structured tables and unstructured text, positions, time series. The orders of magnitude are petabytes and zettabytes. Extracting knowledge and value from them requires parallel computing, and the discipline that does it is data science. Keep the link with the previous slides: however large, these data are still bytes with a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sources of data: sensors, which measure the physical world; transactions, which record every purchase; public data, opened by institutions; and social media, where people leave preferences and opinions. Each source poses its own problems of quality and of privacy. Before data can be analysed they must be acquired, cleaned, stored and integrated: in practice this preparation takes most of the work.
For the lecturer: Pipeline on the source slide: generation and acquisition, extraction and cleaning, storage and integration (big data management); modelling, analysis and interpretation (big data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graphics processor, or GPU, has thousands of simple cores designed to apply the same operation to many data at once. The figure shows a parallel sum: the numbers are added in pairs, then the partial sums in pairs, and so on, so that N numbers need about log2 N steps instead of N. The hardware born for video games is the one that trains neural networks today. Under every core there are still registers, instructions and bits; Lecture 24 returns to GPUs.
For the lecturer: Figure from the source deck: a parallel sum (reduction) on GPU 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mining is the set of techniques for extracting information and knowledge from large quantities of data. The slide names three families: decision trees, which classify by a sequence of questions; rule learning and Bayesian methods, which reason with probabilities; and neural networks, which recognise patterns. They are subjects of later courses. Here it is enough to know that they exist and that they are algorithms like any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problem is computable if an algorithm can solve it. The Turing machine is the mathematical model of a computer with a program; the von Neumann machine is the architecture that realises it in hardware. The last line is the surprising one: there are problems that no algorithm can solve, and therefore that no computer will ever solve, however fast. The classic example is deciding, for any program, whether it will stop.
For the lecturer: The last line is the Church-Turing thesis, stated informally. The halting problem is the classic example of a problem that is not computable.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properties make a procedure an algorithm. Its steps are atomic: they cannot be broken down further. They are unambiguous: the executor can interpret each in one way only. The algorithm is finite in steps and in data, it terminates in a finite time, and it is effective: it leads to one well-defined result. A RISC-V instruction is a good model of an atomic, unambiguous step: its meaning is fixed by the specification, bit by bit.
For the lecturer: A RISC-V instruction is the model of an atomic, unambiguous step: its meaning is fixed by the specification, bit by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deterministic algorithm the same input always produces the same sequence of steps and the same result: first_update always adds one. A non-deterministic algorithm can behave differently at each run with the same input. There are two common reasons: it uses random numbers on purpose, like a game that places an enemy at random, or it depends on the timing of several things that happen together. The first kind is useful; the second is a frequent source of bugs.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examples of algorithms that use chance. The first tests whether a number is prime by trying random values: if a test fails, the number is certainly composite; if thirty tests pass, it is prime with overwhelming probability. Trading a tiny chance of error for a great gain in speed is how cryptography works in practice. The second is a random walk: the path is different at every run, and a simulation averages many runs. The listing is pseudo-code, not a language you can compile.
For the lecturer: The Fermat test shown here is the simplest; real libraries use Miller-Rabin, which closes its loopholes. Both examples are from the source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classical program is a function written by a person: y = f(x). In machine learning the function is not written: it is built automatically from examples. Today's generative models are this idea at an enormous scale, with billions of learned numbers. Two remarks connect it to this course. Those numbers are bits in memory, multiplied and added by processors. And a model can be wrong with great confidence: only someone who knows the fundamentals can check what it says.
For the lecturer: The last point connects to the #nogpt rule of the course: the exam checks that the fundamentals are in the student's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rule that n bits give 2 to the n patterns. A byte has eight bits. Be careful with the two near-misses: 8 is the number of bits, and 255 is the largest natural number that a byte can hold, not the number of values, because zero counts too.
For the lecturer: Answer: D. A byte is 8 bits: 2^8 = 256 patterns, for example the naturals from 0 to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four hexadecimal digits in binary: F is 1111, 8 is 1000, 1 is 0001, F is 1111. Then cut the sixteen bits as 5, 6 and 5: red 11111, green 000000, blue 11111. Red and blue at maximum, no green.
For the lecturer: Answer: B. 0xF81F = 11111 000000 11111: red and blue at maximum, green at zero: magenta.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the characters and remember what the z of .asciz adds. The directive stores the string zero-terminated: one more byte than the visible characters.
For the lecturer: Answer: C. Four characters plus the terminating zero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is little-endian. Write the word as four bytes, 00 00 AB CD, from the most to the least significant, and ask which one goes at the lowest address. The trap is 0x00, which would be right on a big-endian machine.
For the lecturer: Answer: C. RISC-V is little-endian: the least significant byte, 0xCD, goes at the lowest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exercises on the cartridge of Lecture 02. Compute an RGB565 value by hand before trying it: choose the three intensities, write the fields in binary, group by four. Print your name and count the bytes, including the terminator. Declare an array of colours with .word and read it with lw, as on the slide of the array. Finally look at the string and the array in the memory view of PRG32-QT: find the zero at the end, and check that each word shows its least significant byte first.
For the lecturer: Dark grey example: red 8 of 31, green 16 of 63, blue 8 of 31 = 01000 010000 01000 = 0x4208, the GREY of the textbook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Word is parola in Italian, and on RV32 it means thirty-two bits. Sampling and quantisation are the two operations of digitising. Byte order, or endianness, is the order of the bytes of a word in memory. Note that the Italian pila is the stack, while array is often left untranslated or rendered as vettore.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sentences to keep. Digital information is a pattern of bits plus a convention for reading it. The same bits can be a number, a colour or two characters: the program decides. Hexadecimal is binary written compactly, four bits per digit. Text is numbers, and structures are bytes plus a rule. Algorithms turn data into information on which decisions can be based. The next lecture treats the representation of numbers formally, starting from a marker that walks off the left edge of the screen.
For the lecturer: Next lecture: number representation, formally.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04: Digital information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Representing Digital Information</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Bits, numbers, text, structures: everything in the machine is a pattern of bits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and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1_step2_hello.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difference between analog and digital information</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 pattern of bits as a natural number, in binary and in hexadecimal</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a PRG32 colour such as 0x07E0 into its red, green and blue fields</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characters and strings are stored in memory, in ASCII and in UTF-8</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an array lives in memory and how assembly reaches one element</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a deterministic algorithm from a probabilistic one, and place machine learning among them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Information</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the world to a pattern of bits.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Fundamental concepts: the flow of data</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Input</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data enter from the world: a key, a sensor, a file</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Process</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program, the embodiment of an algorithm, transforms them</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Output</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results leave: a picture, a sound, a number</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Knowledge</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information that someone can act on</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Artificial intelligence is an intelligence of its own kind: powerful pattern recognition, without self-awareness and without subjective experience.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Analog and digital information</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010912" cy="113665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Analog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quantity that varies continuously: a voltage, a sound pressure, the hands of a watch</a:t>
            </a:r>
            <a:endParaRPr lang="en-US" sz="2000" dirty="0"/>
          </a:p>
        </p:txBody>
      </p:sp>
      <p:sp>
        <p:nvSpPr>
          <p:cNvPr id="5" name="Shape 3"/>
          <p:cNvSpPr/>
          <p:nvPr/>
        </p:nvSpPr>
        <p:spPr>
          <a:xfrm>
            <a:off x="548640" y="278885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7925"/>
            <a:ext cx="501091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sequence of symbols from a finite alphabet: the digits of a display</a:t>
            </a:r>
            <a:endParaRPr lang="en-US" sz="2000" dirty="0"/>
          </a:p>
        </p:txBody>
      </p:sp>
      <p:sp>
        <p:nvSpPr>
          <p:cNvPr id="7" name="Shape 5"/>
          <p:cNvSpPr/>
          <p:nvPr/>
        </p:nvSpPr>
        <p:spPr>
          <a:xfrm>
            <a:off x="548640" y="38060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5131"/>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Digitising means sampling in time and quantising in value</a:t>
            </a:r>
            <a:endParaRPr lang="en-US" sz="2000" dirty="0"/>
          </a:p>
        </p:txBody>
      </p:sp>
      <p:sp>
        <p:nvSpPr>
          <p:cNvPr id="9" name="Shape 7"/>
          <p:cNvSpPr/>
          <p:nvPr/>
        </p:nvSpPr>
        <p:spPr>
          <a:xfrm>
            <a:off x="548640" y="45697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8846"/>
            <a:ext cx="50109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finite number of levels can be counted, copied exactly and checked for errors</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With two levels the symbol is the bit: 0 or 1</a:t>
            </a:r>
            <a:endParaRPr lang="en-US" sz="2000" dirty="0"/>
          </a:p>
        </p:txBody>
      </p:sp>
      <p:pic>
        <p:nvPicPr>
          <p:cNvPr id="14" name="Image 0" descr="preencoded.png">    </p:cNvPr>
          <p:cNvPicPr>
            <a:picLocks noChangeAspect="1"/>
          </p:cNvPicPr>
          <p:nvPr/>
        </p:nvPicPr>
        <p:blipFill>
          <a:blip r:embed="rId1"/>
          <a:stretch>
            <a:fillRect/>
          </a:stretch>
        </p:blipFill>
        <p:spPr>
          <a:xfrm>
            <a:off x="6309360" y="2544505"/>
            <a:ext cx="5333695" cy="250051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Bit, byte, word</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733502"/>
                <a:gridCol w="2600254"/>
                <a:gridCol w="2080203"/>
                <a:gridCol w="468045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Size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Patterns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you met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binary digit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button of the joystick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nibble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hexadecimal digit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ASCII character; the width of the bar (andi 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halfword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RGB565 colour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4,294,967,296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RISC-V register; one instruction;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KiB, MiB, GiB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2^10, 2^20, 2^30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sizes: 1 KiB = 1024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bits give 2^n patterns. The meaning of a pattern is a convention, not a property of the bits.</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Counting in base 2 and base 16</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40891"/>
                <a:gridCol w="2465426"/>
                <a:gridCol w="1540891"/>
                <a:gridCol w="1540891"/>
                <a:gridCol w="2465426"/>
                <a:gridCol w="1540891"/>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Hex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Hex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8</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9</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9</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2</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3</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5</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6</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7</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Positional notation: what 11011001 means</a:t>
            </a:r>
            <a:endParaRPr lang="en-US" sz="3200" dirty="0"/>
          </a:p>
        </p:txBody>
      </p:sp>
      <p:sp>
        <p:nvSpPr>
          <p:cNvPr id="3" name="Text 1"/>
          <p:cNvSpPr txBox="1"/>
          <p:nvPr/>
        </p:nvSpPr>
        <p:spPr>
          <a:xfrm>
            <a:off x="548640" y="1627632"/>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weight</a:t>
            </a:r>
            <a:endParaRPr lang="en-US" sz="1300" dirty="0"/>
          </a:p>
        </p:txBody>
      </p:sp>
      <p:sp>
        <p:nvSpPr>
          <p:cNvPr id="4" name="Text 2"/>
          <p:cNvSpPr txBox="1"/>
          <p:nvPr/>
        </p:nvSpPr>
        <p:spPr>
          <a:xfrm>
            <a:off x="170672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5" name="Text 3"/>
          <p:cNvSpPr txBox="1"/>
          <p:nvPr/>
        </p:nvSpPr>
        <p:spPr>
          <a:xfrm>
            <a:off x="17067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2^7 = 128</a:t>
            </a:r>
            <a:endParaRPr lang="en-US" sz="1050" dirty="0"/>
          </a:p>
        </p:txBody>
      </p:sp>
      <p:sp>
        <p:nvSpPr>
          <p:cNvPr id="6" name="Text 4"/>
          <p:cNvSpPr txBox="1"/>
          <p:nvPr/>
        </p:nvSpPr>
        <p:spPr>
          <a:xfrm>
            <a:off x="17067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128</a:t>
            </a:r>
            <a:endParaRPr lang="en-US" sz="1700" dirty="0"/>
          </a:p>
        </p:txBody>
      </p:sp>
      <p:sp>
        <p:nvSpPr>
          <p:cNvPr id="7" name="Text 5"/>
          <p:cNvSpPr txBox="1"/>
          <p:nvPr/>
        </p:nvSpPr>
        <p:spPr>
          <a:xfrm>
            <a:off x="280400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8" name="Text 6"/>
          <p:cNvSpPr txBox="1"/>
          <p:nvPr/>
        </p:nvSpPr>
        <p:spPr>
          <a:xfrm>
            <a:off x="28040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2^6 = 64</a:t>
            </a:r>
            <a:endParaRPr lang="en-US" sz="1050" dirty="0"/>
          </a:p>
        </p:txBody>
      </p:sp>
      <p:sp>
        <p:nvSpPr>
          <p:cNvPr id="9" name="Text 7"/>
          <p:cNvSpPr txBox="1"/>
          <p:nvPr/>
        </p:nvSpPr>
        <p:spPr>
          <a:xfrm>
            <a:off x="28040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0" name="Text 8"/>
          <p:cNvSpPr txBox="1"/>
          <p:nvPr/>
        </p:nvSpPr>
        <p:spPr>
          <a:xfrm>
            <a:off x="390128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1" name="Text 9"/>
          <p:cNvSpPr txBox="1"/>
          <p:nvPr/>
        </p:nvSpPr>
        <p:spPr>
          <a:xfrm>
            <a:off x="39012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2^5 = 32</a:t>
            </a:r>
            <a:endParaRPr lang="en-US" sz="1050" dirty="0"/>
          </a:p>
        </p:txBody>
      </p:sp>
      <p:sp>
        <p:nvSpPr>
          <p:cNvPr id="12" name="Text 10"/>
          <p:cNvSpPr txBox="1"/>
          <p:nvPr/>
        </p:nvSpPr>
        <p:spPr>
          <a:xfrm>
            <a:off x="39012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13" name="Text 11"/>
          <p:cNvSpPr txBox="1"/>
          <p:nvPr/>
        </p:nvSpPr>
        <p:spPr>
          <a:xfrm>
            <a:off x="499856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4" name="Text 12"/>
          <p:cNvSpPr txBox="1"/>
          <p:nvPr/>
        </p:nvSpPr>
        <p:spPr>
          <a:xfrm>
            <a:off x="499856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2^4 = 16</a:t>
            </a:r>
            <a:endParaRPr lang="en-US" sz="1050" dirty="0"/>
          </a:p>
        </p:txBody>
      </p:sp>
      <p:sp>
        <p:nvSpPr>
          <p:cNvPr id="15" name="Text 13"/>
          <p:cNvSpPr txBox="1"/>
          <p:nvPr/>
        </p:nvSpPr>
        <p:spPr>
          <a:xfrm>
            <a:off x="499856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6" name="Text 14"/>
          <p:cNvSpPr txBox="1"/>
          <p:nvPr/>
        </p:nvSpPr>
        <p:spPr>
          <a:xfrm>
            <a:off x="609584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7" name="Text 15"/>
          <p:cNvSpPr txBox="1"/>
          <p:nvPr/>
        </p:nvSpPr>
        <p:spPr>
          <a:xfrm>
            <a:off x="609584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2^3 = 8</a:t>
            </a:r>
            <a:endParaRPr lang="en-US" sz="1050" dirty="0"/>
          </a:p>
        </p:txBody>
      </p:sp>
      <p:sp>
        <p:nvSpPr>
          <p:cNvPr id="18" name="Text 16"/>
          <p:cNvSpPr txBox="1"/>
          <p:nvPr/>
        </p:nvSpPr>
        <p:spPr>
          <a:xfrm>
            <a:off x="609584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9" name="Text 17"/>
          <p:cNvSpPr txBox="1"/>
          <p:nvPr/>
        </p:nvSpPr>
        <p:spPr>
          <a:xfrm>
            <a:off x="719312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0" name="Text 18"/>
          <p:cNvSpPr txBox="1"/>
          <p:nvPr/>
        </p:nvSpPr>
        <p:spPr>
          <a:xfrm>
            <a:off x="71931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2^2 = 4</a:t>
            </a:r>
            <a:endParaRPr lang="en-US" sz="1050" dirty="0"/>
          </a:p>
        </p:txBody>
      </p:sp>
      <p:sp>
        <p:nvSpPr>
          <p:cNvPr id="21" name="Text 19"/>
          <p:cNvSpPr txBox="1"/>
          <p:nvPr/>
        </p:nvSpPr>
        <p:spPr>
          <a:xfrm>
            <a:off x="71931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2" name="Text 20"/>
          <p:cNvSpPr txBox="1"/>
          <p:nvPr/>
        </p:nvSpPr>
        <p:spPr>
          <a:xfrm>
            <a:off x="829040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3" name="Text 21"/>
          <p:cNvSpPr txBox="1"/>
          <p:nvPr/>
        </p:nvSpPr>
        <p:spPr>
          <a:xfrm>
            <a:off x="82904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2^1 = 2</a:t>
            </a:r>
            <a:endParaRPr lang="en-US" sz="1050" dirty="0"/>
          </a:p>
        </p:txBody>
      </p:sp>
      <p:sp>
        <p:nvSpPr>
          <p:cNvPr id="24" name="Text 22"/>
          <p:cNvSpPr txBox="1"/>
          <p:nvPr/>
        </p:nvSpPr>
        <p:spPr>
          <a:xfrm>
            <a:off x="82904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5" name="Text 23"/>
          <p:cNvSpPr txBox="1"/>
          <p:nvPr/>
        </p:nvSpPr>
        <p:spPr>
          <a:xfrm>
            <a:off x="938768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26" name="Text 24"/>
          <p:cNvSpPr txBox="1"/>
          <p:nvPr/>
        </p:nvSpPr>
        <p:spPr>
          <a:xfrm>
            <a:off x="93876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2^0 = 1</a:t>
            </a:r>
            <a:endParaRPr lang="en-US" sz="1050" dirty="0"/>
          </a:p>
        </p:txBody>
      </p:sp>
      <p:sp>
        <p:nvSpPr>
          <p:cNvPr id="27" name="Text 25"/>
          <p:cNvSpPr txBox="1"/>
          <p:nvPr/>
        </p:nvSpPr>
        <p:spPr>
          <a:xfrm>
            <a:off x="93876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8" name="Text 26"/>
          <p:cNvSpPr txBox="1"/>
          <p:nvPr/>
        </p:nvSpPr>
        <p:spPr>
          <a:xfrm>
            <a:off x="548640" y="3063240"/>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contributes</a:t>
            </a:r>
            <a:endParaRPr lang="en-US" sz="1300" dirty="0"/>
          </a:p>
        </p:txBody>
      </p:sp>
      <p:sp>
        <p:nvSpPr>
          <p:cNvPr id="29" name="Text 27"/>
          <p:cNvSpPr txBox="1"/>
          <p:nvPr/>
        </p:nvSpPr>
        <p:spPr>
          <a:xfrm>
            <a:off x="548640" y="3794760"/>
            <a:ext cx="11094415" cy="640080"/>
          </a:xfrm>
          <a:prstGeom prst="rect">
            <a:avLst/>
          </a:prstGeom>
          <a:noFill/>
          <a:ln/>
        </p:spPr>
        <p:txBody>
          <a:bodyPr wrap="square" lIns="0" tIns="0" rIns="0" bIns="0" rtlCol="0" anchor="ctr"/>
          <a:lstStyle/>
          <a:p>
            <a:pPr algn="ctr" indent="0" marL="0">
              <a:buNone/>
            </a:pPr>
            <a:r>
              <a:rPr lang="en-US" sz="3200" b="1" dirty="0">
                <a:solidFill>
                  <a:srgbClr val="1B2530"/>
                </a:solidFill>
                <a:latin typeface="Courier New" pitchFamily="34" charset="0"/>
                <a:ea typeface="Courier New" pitchFamily="34" charset="-122"/>
                <a:cs typeface="Courier New" pitchFamily="34" charset="-120"/>
              </a:rPr>
              <a:t>128 + 64 + 16 + 8 + 1 = 217</a:t>
            </a:r>
            <a:endParaRPr lang="en-US" sz="3200" dirty="0"/>
          </a:p>
        </p:txBody>
      </p:sp>
      <p:sp>
        <p:nvSpPr>
          <p:cNvPr id="30" name="Shape 28"/>
          <p:cNvSpPr/>
          <p:nvPr/>
        </p:nvSpPr>
        <p:spPr>
          <a:xfrm>
            <a:off x="548640" y="4800600"/>
            <a:ext cx="11094415" cy="1371600"/>
          </a:xfrm>
          <a:prstGeom prst="roundRect">
            <a:avLst>
              <a:gd name="adj" fmla="val 5333"/>
            </a:avLst>
          </a:prstGeom>
          <a:solidFill>
            <a:srgbClr val="D8ECEE"/>
          </a:solidFill>
          <a:ln w="12700">
            <a:solidFill>
              <a:srgbClr val="D8ECEE"/>
            </a:solidFill>
            <a:prstDash val="solid"/>
          </a:ln>
        </p:spPr>
      </p:sp>
      <p:sp>
        <p:nvSpPr>
          <p:cNvPr id="31" name="Text 29"/>
          <p:cNvSpPr txBox="1"/>
          <p:nvPr/>
        </p:nvSpPr>
        <p:spPr>
          <a:xfrm>
            <a:off x="822960" y="4846320"/>
            <a:ext cx="10545775" cy="12801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 a positional system the value of a digit depends on its position: each position weighs a power of the base. Base 10 uses powers of ten, base 2 powers of two, base 16 powers of sixteen. The rule is the same; only the base changes.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programmers write hexadecimal</a:t>
            </a:r>
            <a:endParaRPr lang="en-US" sz="3200" dirty="0"/>
          </a:p>
        </p:txBody>
      </p:sp>
      <p:sp>
        <p:nvSpPr>
          <p:cNvPr id="3" name="Text 1"/>
          <p:cNvSpPr txBox="1"/>
          <p:nvPr/>
        </p:nvSpPr>
        <p:spPr>
          <a:xfrm>
            <a:off x="548640" y="160020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binary</a:t>
            </a:r>
            <a:endParaRPr lang="en-US" sz="1400" dirty="0"/>
          </a:p>
        </p:txBody>
      </p:sp>
      <p:sp>
        <p:nvSpPr>
          <p:cNvPr id="4" name="Text 2"/>
          <p:cNvSpPr txBox="1"/>
          <p:nvPr/>
        </p:nvSpPr>
        <p:spPr>
          <a:xfrm>
            <a:off x="2072488" y="1600200"/>
            <a:ext cx="201168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5" name="Text 3"/>
          <p:cNvSpPr txBox="1"/>
          <p:nvPr/>
        </p:nvSpPr>
        <p:spPr>
          <a:xfrm>
            <a:off x="4084168" y="1600200"/>
            <a:ext cx="201168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0111</a:t>
            </a:r>
            <a:endParaRPr lang="en-US" sz="2600" dirty="0"/>
          </a:p>
        </p:txBody>
      </p:sp>
      <p:sp>
        <p:nvSpPr>
          <p:cNvPr id="6" name="Text 4"/>
          <p:cNvSpPr txBox="1"/>
          <p:nvPr/>
        </p:nvSpPr>
        <p:spPr>
          <a:xfrm>
            <a:off x="6095848" y="1600200"/>
            <a:ext cx="201168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1110</a:t>
            </a:r>
            <a:endParaRPr lang="en-US" sz="2600" dirty="0"/>
          </a:p>
        </p:txBody>
      </p:sp>
      <p:sp>
        <p:nvSpPr>
          <p:cNvPr id="7" name="Text 5"/>
          <p:cNvSpPr txBox="1"/>
          <p:nvPr/>
        </p:nvSpPr>
        <p:spPr>
          <a:xfrm>
            <a:off x="8107528" y="1600200"/>
            <a:ext cx="201168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8" name="Shape 6"/>
          <p:cNvSpPr/>
          <p:nvPr/>
        </p:nvSpPr>
        <p:spPr>
          <a:xfrm>
            <a:off x="3078328" y="2377440"/>
            <a:ext cx="0" cy="457200"/>
          </a:xfrm>
          <a:prstGeom prst="line">
            <a:avLst/>
          </a:prstGeom>
          <a:noFill/>
          <a:ln w="25400">
            <a:solidFill>
              <a:srgbClr val="5B6B78"/>
            </a:solidFill>
            <a:prstDash val="solid"/>
            <a:tailEnd type="triangle"/>
          </a:ln>
        </p:spPr>
      </p:sp>
      <p:sp>
        <p:nvSpPr>
          <p:cNvPr id="9" name="Shape 7"/>
          <p:cNvSpPr/>
          <p:nvPr/>
        </p:nvSpPr>
        <p:spPr>
          <a:xfrm>
            <a:off x="5090008" y="2377440"/>
            <a:ext cx="0" cy="457200"/>
          </a:xfrm>
          <a:prstGeom prst="line">
            <a:avLst/>
          </a:prstGeom>
          <a:noFill/>
          <a:ln w="25400">
            <a:solidFill>
              <a:srgbClr val="5B6B78"/>
            </a:solidFill>
            <a:prstDash val="solid"/>
            <a:tailEnd type="triangle"/>
          </a:ln>
        </p:spPr>
      </p:sp>
      <p:sp>
        <p:nvSpPr>
          <p:cNvPr id="10" name="Shape 8"/>
          <p:cNvSpPr/>
          <p:nvPr/>
        </p:nvSpPr>
        <p:spPr>
          <a:xfrm>
            <a:off x="7101688" y="2377440"/>
            <a:ext cx="0" cy="457200"/>
          </a:xfrm>
          <a:prstGeom prst="line">
            <a:avLst/>
          </a:prstGeom>
          <a:noFill/>
          <a:ln w="25400">
            <a:solidFill>
              <a:srgbClr val="5B6B78"/>
            </a:solidFill>
            <a:prstDash val="solid"/>
            <a:tailEnd type="triangle"/>
          </a:ln>
        </p:spPr>
      </p:sp>
      <p:sp>
        <p:nvSpPr>
          <p:cNvPr id="11" name="Shape 9"/>
          <p:cNvSpPr/>
          <p:nvPr/>
        </p:nvSpPr>
        <p:spPr>
          <a:xfrm>
            <a:off x="9113368" y="2377440"/>
            <a:ext cx="0" cy="457200"/>
          </a:xfrm>
          <a:prstGeom prst="line">
            <a:avLst/>
          </a:prstGeom>
          <a:noFill/>
          <a:ln w="25400">
            <a:solidFill>
              <a:srgbClr val="5B6B78"/>
            </a:solidFill>
            <a:prstDash val="solid"/>
            <a:tailEnd type="triangle"/>
          </a:ln>
        </p:spPr>
      </p:sp>
      <p:sp>
        <p:nvSpPr>
          <p:cNvPr id="12" name="Text 10"/>
          <p:cNvSpPr txBox="1"/>
          <p:nvPr/>
        </p:nvSpPr>
        <p:spPr>
          <a:xfrm>
            <a:off x="548640" y="288036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hexadecimal</a:t>
            </a:r>
            <a:endParaRPr lang="en-US" sz="1400" dirty="0"/>
          </a:p>
        </p:txBody>
      </p:sp>
      <p:sp>
        <p:nvSpPr>
          <p:cNvPr id="13" name="Text 11"/>
          <p:cNvSpPr txBox="1"/>
          <p:nvPr/>
        </p:nvSpPr>
        <p:spPr>
          <a:xfrm>
            <a:off x="207248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4" name="Text 12"/>
          <p:cNvSpPr txBox="1"/>
          <p:nvPr/>
        </p:nvSpPr>
        <p:spPr>
          <a:xfrm>
            <a:off x="408416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7</a:t>
            </a:r>
            <a:endParaRPr lang="en-US" sz="3000" dirty="0"/>
          </a:p>
        </p:txBody>
      </p:sp>
      <p:sp>
        <p:nvSpPr>
          <p:cNvPr id="15" name="Text 13"/>
          <p:cNvSpPr txBox="1"/>
          <p:nvPr/>
        </p:nvSpPr>
        <p:spPr>
          <a:xfrm>
            <a:off x="609584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E</a:t>
            </a:r>
            <a:endParaRPr lang="en-US" sz="3000" dirty="0"/>
          </a:p>
        </p:txBody>
      </p:sp>
      <p:sp>
        <p:nvSpPr>
          <p:cNvPr id="16" name="Text 14"/>
          <p:cNvSpPr txBox="1"/>
          <p:nvPr/>
        </p:nvSpPr>
        <p:spPr>
          <a:xfrm>
            <a:off x="810752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7" name="Text 15"/>
          <p:cNvSpPr txBox="1"/>
          <p:nvPr/>
        </p:nvSpPr>
        <p:spPr>
          <a:xfrm>
            <a:off x="548640" y="3794760"/>
            <a:ext cx="11094415" cy="548640"/>
          </a:xfrm>
          <a:prstGeom prst="rect">
            <a:avLst/>
          </a:prstGeom>
          <a:no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0x07E0  =  2016 in decimal</a:t>
            </a:r>
            <a:endParaRPr lang="en-US" sz="2400" dirty="0"/>
          </a:p>
        </p:txBody>
      </p:sp>
      <p:sp>
        <p:nvSpPr>
          <p:cNvPr id="18" name="Shape 16"/>
          <p:cNvSpPr/>
          <p:nvPr/>
        </p:nvSpPr>
        <p:spPr>
          <a:xfrm>
            <a:off x="548640" y="4586224"/>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4526280"/>
            <a:ext cx="10710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One hexadecimal digit is exactly four bits, because 16 = 2^4: conversion is a table lookup, digit by digit</a:t>
            </a:r>
            <a:endParaRPr lang="en-US" sz="1600" dirty="0"/>
          </a:p>
        </p:txBody>
      </p:sp>
      <p:sp>
        <p:nvSpPr>
          <p:cNvPr id="20" name="Shape 18"/>
          <p:cNvSpPr/>
          <p:nvPr/>
        </p:nvSpPr>
        <p:spPr>
          <a:xfrm>
            <a:off x="548640" y="5409184"/>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534924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A 32-bit register is eight hexadecimal digits: 0x00130313 is readable, thirty-two zeros and ones are not</a:t>
            </a:r>
            <a:endParaRPr lang="en-US" sz="1600" dirty="0"/>
          </a:p>
        </p:txBody>
      </p:sp>
      <p:sp>
        <p:nvSpPr>
          <p:cNvPr id="22" name="Shape 20"/>
          <p:cNvSpPr/>
          <p:nvPr/>
        </p:nvSpPr>
        <p:spPr>
          <a:xfrm>
            <a:off x="548640" y="5984240"/>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prefix 0x marks hexadecimal in assembly and in C; the debugger of PRG32-QT shows registers this way</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colour is a number: RGB565</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.equ GREEN, 0x07e0</a:t>
            </a:r>
            <a:endParaRPr lang="en-US" sz="2400" dirty="0"/>
          </a:p>
        </p:txBody>
      </p:sp>
      <p:sp>
        <p:nvSpPr>
          <p:cNvPr id="4" name="Text 2"/>
          <p:cNvSpPr txBox="1"/>
          <p:nvPr/>
        </p:nvSpPr>
        <p:spPr>
          <a:xfrm>
            <a:off x="1645920" y="2331720"/>
            <a:ext cx="2781205" cy="77724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5" name="Text 3"/>
          <p:cNvSpPr txBox="1"/>
          <p:nvPr/>
        </p:nvSpPr>
        <p:spPr>
          <a:xfrm>
            <a:off x="164592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red: 5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of 31</a:t>
            </a:r>
            <a:endParaRPr lang="en-US" sz="1500" dirty="0"/>
          </a:p>
        </p:txBody>
      </p:sp>
      <p:sp>
        <p:nvSpPr>
          <p:cNvPr id="6" name="Text 4"/>
          <p:cNvSpPr txBox="1"/>
          <p:nvPr/>
        </p:nvSpPr>
        <p:spPr>
          <a:xfrm>
            <a:off x="168249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7" name="Text 5"/>
          <p:cNvSpPr txBox="1"/>
          <p:nvPr/>
        </p:nvSpPr>
        <p:spPr>
          <a:xfrm>
            <a:off x="3036522"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8" name="Text 6"/>
          <p:cNvSpPr txBox="1"/>
          <p:nvPr/>
        </p:nvSpPr>
        <p:spPr>
          <a:xfrm>
            <a:off x="4427125" y="2331720"/>
            <a:ext cx="3337446" cy="7772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111111</a:t>
            </a:r>
            <a:endParaRPr lang="en-US" sz="2600" dirty="0"/>
          </a:p>
        </p:txBody>
      </p:sp>
      <p:sp>
        <p:nvSpPr>
          <p:cNvPr id="9" name="Text 7"/>
          <p:cNvSpPr txBox="1"/>
          <p:nvPr/>
        </p:nvSpPr>
        <p:spPr>
          <a:xfrm>
            <a:off x="4427125" y="3163824"/>
            <a:ext cx="3337446"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green: 6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63 of 63</a:t>
            </a:r>
            <a:endParaRPr lang="en-US" sz="1500" dirty="0"/>
          </a:p>
        </p:txBody>
      </p:sp>
      <p:sp>
        <p:nvSpPr>
          <p:cNvPr id="10" name="Text 8"/>
          <p:cNvSpPr txBox="1"/>
          <p:nvPr/>
        </p:nvSpPr>
        <p:spPr>
          <a:xfrm>
            <a:off x="4463701" y="2093976"/>
            <a:ext cx="166872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10</a:t>
            </a:r>
            <a:endParaRPr lang="en-US" sz="1050" dirty="0"/>
          </a:p>
        </p:txBody>
      </p:sp>
      <p:sp>
        <p:nvSpPr>
          <p:cNvPr id="11" name="Text 9"/>
          <p:cNvSpPr txBox="1"/>
          <p:nvPr/>
        </p:nvSpPr>
        <p:spPr>
          <a:xfrm>
            <a:off x="6095848" y="2093976"/>
            <a:ext cx="163214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5</a:t>
            </a:r>
            <a:endParaRPr lang="en-US" sz="1050" dirty="0"/>
          </a:p>
        </p:txBody>
      </p:sp>
      <p:sp>
        <p:nvSpPr>
          <p:cNvPr id="12" name="Text 10"/>
          <p:cNvSpPr txBox="1"/>
          <p:nvPr/>
        </p:nvSpPr>
        <p:spPr>
          <a:xfrm>
            <a:off x="7764570" y="2331720"/>
            <a:ext cx="2781205" cy="777240"/>
          </a:xfrm>
          <a:prstGeom prst="rect">
            <a:avLst/>
          </a:prstGeom>
          <a:solidFill>
            <a:srgbClr val="2B5DAA"/>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13" name="Text 11"/>
          <p:cNvSpPr txBox="1"/>
          <p:nvPr/>
        </p:nvSpPr>
        <p:spPr>
          <a:xfrm>
            <a:off x="776457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blue: 5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of 31</a:t>
            </a:r>
            <a:endParaRPr lang="en-US" sz="1500" dirty="0"/>
          </a:p>
        </p:txBody>
      </p:sp>
      <p:sp>
        <p:nvSpPr>
          <p:cNvPr id="14" name="Text 12"/>
          <p:cNvSpPr txBox="1"/>
          <p:nvPr/>
        </p:nvSpPr>
        <p:spPr>
          <a:xfrm>
            <a:off x="780114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4</a:t>
            </a:r>
            <a:endParaRPr lang="en-US" sz="1050" dirty="0"/>
          </a:p>
        </p:txBody>
      </p:sp>
      <p:sp>
        <p:nvSpPr>
          <p:cNvPr id="15" name="Text 13"/>
          <p:cNvSpPr txBox="1"/>
          <p:nvPr/>
        </p:nvSpPr>
        <p:spPr>
          <a:xfrm>
            <a:off x="9155173"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6" name="Shape 14"/>
          <p:cNvSpPr/>
          <p:nvPr/>
        </p:nvSpPr>
        <p:spPr>
          <a:xfrm>
            <a:off x="658368" y="3977640"/>
            <a:ext cx="1167346" cy="731520"/>
          </a:xfrm>
          <a:prstGeom prst="rect">
            <a:avLst/>
          </a:prstGeom>
          <a:solidFill>
            <a:srgbClr val="000000"/>
          </a:solidFill>
          <a:ln w="9525">
            <a:solidFill>
              <a:srgbClr val="2E4A62"/>
            </a:solidFill>
            <a:prstDash val="solid"/>
          </a:ln>
        </p:spPr>
      </p:sp>
      <p:sp>
        <p:nvSpPr>
          <p:cNvPr id="17" name="Text 15"/>
          <p:cNvSpPr txBox="1"/>
          <p:nvPr/>
        </p:nvSpPr>
        <p:spPr>
          <a:xfrm>
            <a:off x="54864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BLACK</a:t>
            </a:r>
            <a:endParaRPr lang="en-US" sz="1300" dirty="0"/>
          </a:p>
        </p:txBody>
      </p:sp>
      <p:sp>
        <p:nvSpPr>
          <p:cNvPr id="18" name="Text 16"/>
          <p:cNvSpPr txBox="1"/>
          <p:nvPr/>
        </p:nvSpPr>
        <p:spPr>
          <a:xfrm>
            <a:off x="54864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0x0000</a:t>
            </a:r>
            <a:endParaRPr lang="en-US" sz="1400" dirty="0"/>
          </a:p>
        </p:txBody>
      </p:sp>
      <p:sp>
        <p:nvSpPr>
          <p:cNvPr id="19" name="Shape 17"/>
          <p:cNvSpPr/>
          <p:nvPr/>
        </p:nvSpPr>
        <p:spPr>
          <a:xfrm>
            <a:off x="2045170" y="3977640"/>
            <a:ext cx="1167346" cy="731520"/>
          </a:xfrm>
          <a:prstGeom prst="rect">
            <a:avLst/>
          </a:prstGeom>
          <a:solidFill>
            <a:srgbClr val="F80000"/>
          </a:solidFill>
          <a:ln w="9525">
            <a:solidFill>
              <a:srgbClr val="2E4A62"/>
            </a:solidFill>
            <a:prstDash val="solid"/>
          </a:ln>
        </p:spPr>
      </p:sp>
      <p:sp>
        <p:nvSpPr>
          <p:cNvPr id="20" name="Text 18"/>
          <p:cNvSpPr txBox="1"/>
          <p:nvPr/>
        </p:nvSpPr>
        <p:spPr>
          <a:xfrm>
            <a:off x="1935442"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RED</a:t>
            </a:r>
            <a:endParaRPr lang="en-US" sz="1300" dirty="0"/>
          </a:p>
        </p:txBody>
      </p:sp>
      <p:sp>
        <p:nvSpPr>
          <p:cNvPr id="21" name="Text 19"/>
          <p:cNvSpPr txBox="1"/>
          <p:nvPr/>
        </p:nvSpPr>
        <p:spPr>
          <a:xfrm>
            <a:off x="1935442"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0xF800</a:t>
            </a:r>
            <a:endParaRPr lang="en-US" sz="1400" dirty="0"/>
          </a:p>
        </p:txBody>
      </p:sp>
      <p:sp>
        <p:nvSpPr>
          <p:cNvPr id="22" name="Shape 20"/>
          <p:cNvSpPr/>
          <p:nvPr/>
        </p:nvSpPr>
        <p:spPr>
          <a:xfrm>
            <a:off x="3431972" y="3977640"/>
            <a:ext cx="1167346" cy="731520"/>
          </a:xfrm>
          <a:prstGeom prst="rect">
            <a:avLst/>
          </a:prstGeom>
          <a:solidFill>
            <a:srgbClr val="00FC00"/>
          </a:solidFill>
          <a:ln w="9525">
            <a:solidFill>
              <a:srgbClr val="2E4A62"/>
            </a:solidFill>
            <a:prstDash val="solid"/>
          </a:ln>
        </p:spPr>
      </p:sp>
      <p:sp>
        <p:nvSpPr>
          <p:cNvPr id="23" name="Text 21"/>
          <p:cNvSpPr txBox="1"/>
          <p:nvPr/>
        </p:nvSpPr>
        <p:spPr>
          <a:xfrm>
            <a:off x="3322244"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GREEN</a:t>
            </a:r>
            <a:endParaRPr lang="en-US" sz="1300" dirty="0"/>
          </a:p>
        </p:txBody>
      </p:sp>
      <p:sp>
        <p:nvSpPr>
          <p:cNvPr id="24" name="Text 22"/>
          <p:cNvSpPr txBox="1"/>
          <p:nvPr/>
        </p:nvSpPr>
        <p:spPr>
          <a:xfrm>
            <a:off x="3322244"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0x07E0</a:t>
            </a:r>
            <a:endParaRPr lang="en-US" sz="1400" dirty="0"/>
          </a:p>
        </p:txBody>
      </p:sp>
      <p:sp>
        <p:nvSpPr>
          <p:cNvPr id="25" name="Shape 23"/>
          <p:cNvSpPr/>
          <p:nvPr/>
        </p:nvSpPr>
        <p:spPr>
          <a:xfrm>
            <a:off x="4818774" y="3977640"/>
            <a:ext cx="1167346" cy="731520"/>
          </a:xfrm>
          <a:prstGeom prst="rect">
            <a:avLst/>
          </a:prstGeom>
          <a:solidFill>
            <a:srgbClr val="0000F8"/>
          </a:solidFill>
          <a:ln w="9525">
            <a:solidFill>
              <a:srgbClr val="2E4A62"/>
            </a:solidFill>
            <a:prstDash val="solid"/>
          </a:ln>
        </p:spPr>
      </p:sp>
      <p:sp>
        <p:nvSpPr>
          <p:cNvPr id="26" name="Text 24"/>
          <p:cNvSpPr txBox="1"/>
          <p:nvPr/>
        </p:nvSpPr>
        <p:spPr>
          <a:xfrm>
            <a:off x="4709046"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BLUE</a:t>
            </a:r>
            <a:endParaRPr lang="en-US" sz="1300" dirty="0"/>
          </a:p>
        </p:txBody>
      </p:sp>
      <p:sp>
        <p:nvSpPr>
          <p:cNvPr id="27" name="Text 25"/>
          <p:cNvSpPr txBox="1"/>
          <p:nvPr/>
        </p:nvSpPr>
        <p:spPr>
          <a:xfrm>
            <a:off x="4709046"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0x001F</a:t>
            </a:r>
            <a:endParaRPr lang="en-US" sz="1400" dirty="0"/>
          </a:p>
        </p:txBody>
      </p:sp>
      <p:sp>
        <p:nvSpPr>
          <p:cNvPr id="28" name="Shape 26"/>
          <p:cNvSpPr/>
          <p:nvPr/>
        </p:nvSpPr>
        <p:spPr>
          <a:xfrm>
            <a:off x="6205576" y="3977640"/>
            <a:ext cx="1167346" cy="731520"/>
          </a:xfrm>
          <a:prstGeom prst="rect">
            <a:avLst/>
          </a:prstGeom>
          <a:solidFill>
            <a:srgbClr val="F8FC00"/>
          </a:solidFill>
          <a:ln w="9525">
            <a:solidFill>
              <a:srgbClr val="2E4A62"/>
            </a:solidFill>
            <a:prstDash val="solid"/>
          </a:ln>
        </p:spPr>
      </p:sp>
      <p:sp>
        <p:nvSpPr>
          <p:cNvPr id="29" name="Text 27"/>
          <p:cNvSpPr txBox="1"/>
          <p:nvPr/>
        </p:nvSpPr>
        <p:spPr>
          <a:xfrm>
            <a:off x="6095848"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YELLOW</a:t>
            </a:r>
            <a:endParaRPr lang="en-US" sz="1300" dirty="0"/>
          </a:p>
        </p:txBody>
      </p:sp>
      <p:sp>
        <p:nvSpPr>
          <p:cNvPr id="30" name="Text 28"/>
          <p:cNvSpPr txBox="1"/>
          <p:nvPr/>
        </p:nvSpPr>
        <p:spPr>
          <a:xfrm>
            <a:off x="6095848"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0xFFE0</a:t>
            </a:r>
            <a:endParaRPr lang="en-US" sz="1400" dirty="0"/>
          </a:p>
        </p:txBody>
      </p:sp>
      <p:sp>
        <p:nvSpPr>
          <p:cNvPr id="31" name="Shape 29"/>
          <p:cNvSpPr/>
          <p:nvPr/>
        </p:nvSpPr>
        <p:spPr>
          <a:xfrm>
            <a:off x="7592378" y="3977640"/>
            <a:ext cx="1167346" cy="731520"/>
          </a:xfrm>
          <a:prstGeom prst="rect">
            <a:avLst/>
          </a:prstGeom>
          <a:solidFill>
            <a:srgbClr val="00FCF8"/>
          </a:solidFill>
          <a:ln w="9525">
            <a:solidFill>
              <a:srgbClr val="2E4A62"/>
            </a:solidFill>
            <a:prstDash val="solid"/>
          </a:ln>
        </p:spPr>
      </p:sp>
      <p:sp>
        <p:nvSpPr>
          <p:cNvPr id="32" name="Text 30"/>
          <p:cNvSpPr txBox="1"/>
          <p:nvPr/>
        </p:nvSpPr>
        <p:spPr>
          <a:xfrm>
            <a:off x="748265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CYAN</a:t>
            </a:r>
            <a:endParaRPr lang="en-US" sz="1300" dirty="0"/>
          </a:p>
        </p:txBody>
      </p:sp>
      <p:sp>
        <p:nvSpPr>
          <p:cNvPr id="33" name="Text 31"/>
          <p:cNvSpPr txBox="1"/>
          <p:nvPr/>
        </p:nvSpPr>
        <p:spPr>
          <a:xfrm>
            <a:off x="748265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0x07FF</a:t>
            </a:r>
            <a:endParaRPr lang="en-US" sz="1400" dirty="0"/>
          </a:p>
        </p:txBody>
      </p:sp>
      <p:sp>
        <p:nvSpPr>
          <p:cNvPr id="34" name="Shape 32"/>
          <p:cNvSpPr/>
          <p:nvPr/>
        </p:nvSpPr>
        <p:spPr>
          <a:xfrm>
            <a:off x="8979179" y="3977640"/>
            <a:ext cx="1167346" cy="731520"/>
          </a:xfrm>
          <a:prstGeom prst="rect">
            <a:avLst/>
          </a:prstGeom>
          <a:solidFill>
            <a:srgbClr val="F800F8"/>
          </a:solidFill>
          <a:ln w="9525">
            <a:solidFill>
              <a:srgbClr val="2E4A62"/>
            </a:solidFill>
            <a:prstDash val="solid"/>
          </a:ln>
        </p:spPr>
      </p:sp>
      <p:sp>
        <p:nvSpPr>
          <p:cNvPr id="35" name="Text 33"/>
          <p:cNvSpPr txBox="1"/>
          <p:nvPr/>
        </p:nvSpPr>
        <p:spPr>
          <a:xfrm>
            <a:off x="8869451"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MAGENTA</a:t>
            </a:r>
            <a:endParaRPr lang="en-US" sz="1300" dirty="0"/>
          </a:p>
        </p:txBody>
      </p:sp>
      <p:sp>
        <p:nvSpPr>
          <p:cNvPr id="36" name="Text 34"/>
          <p:cNvSpPr txBox="1"/>
          <p:nvPr/>
        </p:nvSpPr>
        <p:spPr>
          <a:xfrm>
            <a:off x="8869451"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0xF81F</a:t>
            </a:r>
            <a:endParaRPr lang="en-US" sz="1400" dirty="0"/>
          </a:p>
        </p:txBody>
      </p:sp>
      <p:sp>
        <p:nvSpPr>
          <p:cNvPr id="37" name="Shape 35"/>
          <p:cNvSpPr/>
          <p:nvPr/>
        </p:nvSpPr>
        <p:spPr>
          <a:xfrm>
            <a:off x="10365981" y="3977640"/>
            <a:ext cx="1167346" cy="731520"/>
          </a:xfrm>
          <a:prstGeom prst="rect">
            <a:avLst/>
          </a:prstGeom>
          <a:solidFill>
            <a:srgbClr val="FFFFFF"/>
          </a:solidFill>
          <a:ln w="9525">
            <a:solidFill>
              <a:srgbClr val="2E4A62"/>
            </a:solidFill>
            <a:prstDash val="solid"/>
          </a:ln>
        </p:spPr>
      </p:sp>
      <p:sp>
        <p:nvSpPr>
          <p:cNvPr id="38" name="Text 36"/>
          <p:cNvSpPr txBox="1"/>
          <p:nvPr/>
        </p:nvSpPr>
        <p:spPr>
          <a:xfrm>
            <a:off x="10256253"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WHITE</a:t>
            </a:r>
            <a:endParaRPr lang="en-US" sz="1300" dirty="0"/>
          </a:p>
        </p:txBody>
      </p:sp>
      <p:sp>
        <p:nvSpPr>
          <p:cNvPr id="39" name="Text 37"/>
          <p:cNvSpPr txBox="1"/>
          <p:nvPr/>
        </p:nvSpPr>
        <p:spPr>
          <a:xfrm>
            <a:off x="10256253"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0xFFFF</a:t>
            </a:r>
            <a:endParaRPr lang="en-US" sz="1400" dirty="0"/>
          </a:p>
        </p:txBody>
      </p:sp>
      <p:sp>
        <p:nvSpPr>
          <p:cNvPr id="40" name="Text 38"/>
          <p:cNvSpPr txBox="1"/>
          <p:nvPr/>
        </p:nvSpPr>
        <p:spPr>
          <a:xfrm>
            <a:off x="548640" y="5532120"/>
            <a:ext cx="11094415" cy="64008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Sixteen bits, three fields. The same sixteen bits could be a number, two characters or half an instruction: the meaning is in how the program uses them.</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Numbers: naturals, integers, reals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Natural numbers: the positional pattern itself</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n bits cover 0 to 2^n - 1</a:t>
            </a:r>
            <a:endParaRPr lang="en-US" sz="2200" dirty="0"/>
          </a:p>
        </p:txBody>
      </p:sp>
      <p:sp>
        <p:nvSpPr>
          <p:cNvPr id="5" name="Shape 3"/>
          <p:cNvSpPr/>
          <p:nvPr/>
        </p:nvSpPr>
        <p:spPr>
          <a:xfrm>
            <a:off x="548640" y="23536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7265"/>
            <a:ext cx="10710367"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Signed integers: two's complement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32-bit register covers about -2 billion to +2 billion</a:t>
            </a:r>
            <a:endParaRPr lang="en-US" sz="2200" dirty="0"/>
          </a:p>
        </p:txBody>
      </p:sp>
      <p:sp>
        <p:nvSpPr>
          <p:cNvPr id="7" name="Shape 5"/>
          <p:cNvSpPr/>
          <p:nvPr/>
        </p:nvSpPr>
        <p:spPr>
          <a:xfrm>
            <a:off x="548640" y="318363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7210"/>
            <a:ext cx="10710367"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Real numbers: fixed point or IEEE 754 floating point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value = (-1)^sign x 1.fraction x 2^(exponent - bias)</a:t>
            </a:r>
            <a:endParaRPr lang="en-US" sz="2200" dirty="0"/>
          </a:p>
        </p:txBody>
      </p:sp>
      <p:sp>
        <p:nvSpPr>
          <p:cNvPr id="9" name="Text 7"/>
          <p:cNvSpPr txBox="1"/>
          <p:nvPr/>
        </p:nvSpPr>
        <p:spPr>
          <a:xfrm>
            <a:off x="548640" y="3840480"/>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single precision, 32 bits: about 7 decimal digits, up to about 3.4 x 10^38</a:t>
            </a:r>
            <a:endParaRPr lang="en-US" sz="1400" dirty="0"/>
          </a:p>
        </p:txBody>
      </p:sp>
      <p:sp>
        <p:nvSpPr>
          <p:cNvPr id="10" name="Text 8"/>
          <p:cNvSpPr txBox="1"/>
          <p:nvPr/>
        </p:nvSpPr>
        <p:spPr>
          <a:xfrm>
            <a:off x="548640" y="4407408"/>
            <a:ext cx="452691" cy="45720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s</a:t>
            </a:r>
            <a:endParaRPr lang="en-US" sz="1400" dirty="0"/>
          </a:p>
        </p:txBody>
      </p:sp>
      <p:sp>
        <p:nvSpPr>
          <p:cNvPr id="11" name="Text 9"/>
          <p:cNvSpPr txBox="1"/>
          <p:nvPr/>
        </p:nvSpPr>
        <p:spPr>
          <a:xfrm>
            <a:off x="585216" y="4169664"/>
            <a:ext cx="226346"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12" name="Text 10"/>
          <p:cNvSpPr txBox="1"/>
          <p:nvPr/>
        </p:nvSpPr>
        <p:spPr>
          <a:xfrm>
            <a:off x="1001331" y="4407408"/>
            <a:ext cx="2746251" cy="45720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exponent (8)</a:t>
            </a:r>
            <a:endParaRPr lang="en-US" sz="1400" dirty="0"/>
          </a:p>
        </p:txBody>
      </p:sp>
      <p:sp>
        <p:nvSpPr>
          <p:cNvPr id="13" name="Text 11"/>
          <p:cNvSpPr txBox="1"/>
          <p:nvPr/>
        </p:nvSpPr>
        <p:spPr>
          <a:xfrm>
            <a:off x="1037907" y="4169664"/>
            <a:ext cx="1373126"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14" name="Text 12"/>
          <p:cNvSpPr txBox="1"/>
          <p:nvPr/>
        </p:nvSpPr>
        <p:spPr>
          <a:xfrm>
            <a:off x="2374457" y="4169664"/>
            <a:ext cx="1336550"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5" name="Text 13"/>
          <p:cNvSpPr txBox="1"/>
          <p:nvPr/>
        </p:nvSpPr>
        <p:spPr>
          <a:xfrm>
            <a:off x="3747583" y="4407408"/>
            <a:ext cx="7895473" cy="45720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fraction (23)</a:t>
            </a:r>
            <a:endParaRPr lang="en-US" sz="1400" dirty="0"/>
          </a:p>
        </p:txBody>
      </p:sp>
      <p:sp>
        <p:nvSpPr>
          <p:cNvPr id="16" name="Text 14"/>
          <p:cNvSpPr txBox="1"/>
          <p:nvPr/>
        </p:nvSpPr>
        <p:spPr>
          <a:xfrm>
            <a:off x="3784159" y="4169664"/>
            <a:ext cx="3947736"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7" name="Text 15"/>
          <p:cNvSpPr txBox="1"/>
          <p:nvPr/>
        </p:nvSpPr>
        <p:spPr>
          <a:xfrm>
            <a:off x="7695319" y="4169664"/>
            <a:ext cx="3911160"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8" name="Text 16"/>
          <p:cNvSpPr txBox="1"/>
          <p:nvPr/>
        </p:nvSpPr>
        <p:spPr>
          <a:xfrm>
            <a:off x="548640" y="5029200"/>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double precision, 64 bits: about 16 decimal digits, up to about 1.8 x 10^308</a:t>
            </a:r>
            <a:endParaRPr lang="en-US" sz="1400" dirty="0"/>
          </a:p>
        </p:txBody>
      </p:sp>
      <p:sp>
        <p:nvSpPr>
          <p:cNvPr id="19" name="Text 17"/>
          <p:cNvSpPr txBox="1"/>
          <p:nvPr/>
        </p:nvSpPr>
        <p:spPr>
          <a:xfrm>
            <a:off x="548640" y="5596128"/>
            <a:ext cx="445794" cy="45720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s</a:t>
            </a:r>
            <a:endParaRPr lang="en-US" sz="1400" dirty="0"/>
          </a:p>
        </p:txBody>
      </p:sp>
      <p:sp>
        <p:nvSpPr>
          <p:cNvPr id="20" name="Text 18"/>
          <p:cNvSpPr txBox="1"/>
          <p:nvPr/>
        </p:nvSpPr>
        <p:spPr>
          <a:xfrm>
            <a:off x="585216" y="5358384"/>
            <a:ext cx="22289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63</a:t>
            </a:r>
            <a:endParaRPr lang="en-US" sz="1050" dirty="0"/>
          </a:p>
        </p:txBody>
      </p:sp>
      <p:sp>
        <p:nvSpPr>
          <p:cNvPr id="21" name="Text 19"/>
          <p:cNvSpPr txBox="1"/>
          <p:nvPr/>
        </p:nvSpPr>
        <p:spPr>
          <a:xfrm>
            <a:off x="994434" y="5596128"/>
            <a:ext cx="1859283" cy="45720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exponent (11)</a:t>
            </a:r>
            <a:endParaRPr lang="en-US" sz="1400" dirty="0"/>
          </a:p>
        </p:txBody>
      </p:sp>
      <p:sp>
        <p:nvSpPr>
          <p:cNvPr id="22" name="Text 20"/>
          <p:cNvSpPr txBox="1"/>
          <p:nvPr/>
        </p:nvSpPr>
        <p:spPr>
          <a:xfrm>
            <a:off x="1031010" y="5358384"/>
            <a:ext cx="92964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62</a:t>
            </a:r>
            <a:endParaRPr lang="en-US" sz="1050" dirty="0"/>
          </a:p>
        </p:txBody>
      </p:sp>
      <p:sp>
        <p:nvSpPr>
          <p:cNvPr id="23" name="Text 21"/>
          <p:cNvSpPr txBox="1"/>
          <p:nvPr/>
        </p:nvSpPr>
        <p:spPr>
          <a:xfrm>
            <a:off x="1924076" y="5358384"/>
            <a:ext cx="89306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52</a:t>
            </a:r>
            <a:endParaRPr lang="en-US" sz="1050" dirty="0"/>
          </a:p>
        </p:txBody>
      </p:sp>
      <p:sp>
        <p:nvSpPr>
          <p:cNvPr id="24" name="Text 22"/>
          <p:cNvSpPr txBox="1"/>
          <p:nvPr/>
        </p:nvSpPr>
        <p:spPr>
          <a:xfrm>
            <a:off x="2853717" y="5596128"/>
            <a:ext cx="8789338" cy="45720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fraction (52)</a:t>
            </a:r>
            <a:endParaRPr lang="en-US" sz="1400" dirty="0"/>
          </a:p>
        </p:txBody>
      </p:sp>
      <p:sp>
        <p:nvSpPr>
          <p:cNvPr id="25" name="Text 23"/>
          <p:cNvSpPr txBox="1"/>
          <p:nvPr/>
        </p:nvSpPr>
        <p:spPr>
          <a:xfrm>
            <a:off x="2890293" y="5358384"/>
            <a:ext cx="4394669"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51</a:t>
            </a:r>
            <a:endParaRPr lang="en-US" sz="1050" dirty="0"/>
          </a:p>
        </p:txBody>
      </p:sp>
      <p:sp>
        <p:nvSpPr>
          <p:cNvPr id="26" name="Text 24"/>
          <p:cNvSpPr txBox="1"/>
          <p:nvPr/>
        </p:nvSpPr>
        <p:spPr>
          <a:xfrm>
            <a:off x="7248386" y="5358384"/>
            <a:ext cx="4358093"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Text</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Characters are numbers too.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ASCII: one character, one byte</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1364067"/>
                <a:gridCol w="1273130"/>
                <a:gridCol w="2182508"/>
                <a:gridCol w="46378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Hex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Binary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0100 0001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capital letters start at 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0x61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0110 0001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same as A with one more bit: 97 - 65 = 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0x30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0011 0000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character zero is not the number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space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0x20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character like any other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newline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control 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NUL</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marks the end of a C string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Strings: a sequence of characters in memory</a:t>
            </a:r>
            <a:endParaRPr lang="en-US" sz="3200" dirty="0"/>
          </a:p>
        </p:txBody>
      </p:sp>
      <p:sp>
        <p:nvSpPr>
          <p:cNvPr id="3" name="Text 1"/>
          <p:cNvSpPr txBox="1"/>
          <p:nvPr/>
        </p:nvSpPr>
        <p:spPr>
          <a:xfrm>
            <a:off x="548640" y="1508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C string</a:t>
            </a:r>
            <a:endParaRPr lang="en-US" sz="1500" dirty="0"/>
          </a:p>
        </p:txBody>
      </p:sp>
      <p:sp>
        <p:nvSpPr>
          <p:cNvPr id="4" name="Text 2"/>
          <p:cNvSpPr txBox="1"/>
          <p:nvPr/>
        </p:nvSpPr>
        <p:spPr>
          <a:xfrm>
            <a:off x="2926080"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5" name="Text 3"/>
          <p:cNvSpPr txBox="1"/>
          <p:nvPr/>
        </p:nvSpPr>
        <p:spPr>
          <a:xfrm>
            <a:off x="2926080"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6" name="Text 4"/>
          <p:cNvSpPr txBox="1"/>
          <p:nvPr/>
        </p:nvSpPr>
        <p:spPr>
          <a:xfrm>
            <a:off x="3639312"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7" name="Text 5"/>
          <p:cNvSpPr txBox="1"/>
          <p:nvPr/>
        </p:nvSpPr>
        <p:spPr>
          <a:xfrm>
            <a:off x="3639312"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8" name="Text 6"/>
          <p:cNvSpPr txBox="1"/>
          <p:nvPr/>
        </p:nvSpPr>
        <p:spPr>
          <a:xfrm>
            <a:off x="4352544"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9" name="Text 7"/>
          <p:cNvSpPr txBox="1"/>
          <p:nvPr/>
        </p:nvSpPr>
        <p:spPr>
          <a:xfrm>
            <a:off x="4352544"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10" name="Text 8"/>
          <p:cNvSpPr txBox="1"/>
          <p:nvPr/>
        </p:nvSpPr>
        <p:spPr>
          <a:xfrm>
            <a:off x="5065776"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11" name="Text 9"/>
          <p:cNvSpPr txBox="1"/>
          <p:nvPr/>
        </p:nvSpPr>
        <p:spPr>
          <a:xfrm>
            <a:off x="5065776"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12" name="Text 10"/>
          <p:cNvSpPr txBox="1"/>
          <p:nvPr/>
        </p:nvSpPr>
        <p:spPr>
          <a:xfrm>
            <a:off x="5779008" y="150876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13" name="Text 11"/>
          <p:cNvSpPr txBox="1"/>
          <p:nvPr/>
        </p:nvSpPr>
        <p:spPr>
          <a:xfrm>
            <a:off x="5779008"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14" name="Text 12"/>
          <p:cNvSpPr txBox="1"/>
          <p:nvPr/>
        </p:nvSpPr>
        <p:spPr>
          <a:xfrm>
            <a:off x="6720840" y="1508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the end is marked by a zero byte</a:t>
            </a:r>
            <a:endParaRPr lang="en-US" sz="1350" dirty="0"/>
          </a:p>
        </p:txBody>
      </p:sp>
      <p:sp>
        <p:nvSpPr>
          <p:cNvPr id="15" name="Text 13"/>
          <p:cNvSpPr txBox="1"/>
          <p:nvPr/>
        </p:nvSpPr>
        <p:spPr>
          <a:xfrm>
            <a:off x="548640" y="2651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Pascal string</a:t>
            </a:r>
            <a:endParaRPr lang="en-US" sz="1500" dirty="0"/>
          </a:p>
        </p:txBody>
      </p:sp>
      <p:sp>
        <p:nvSpPr>
          <p:cNvPr id="16" name="Text 14"/>
          <p:cNvSpPr txBox="1"/>
          <p:nvPr/>
        </p:nvSpPr>
        <p:spPr>
          <a:xfrm>
            <a:off x="2926080" y="2651760"/>
            <a:ext cx="713232"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a:t>
            </a:r>
            <a:endParaRPr lang="en-US" sz="1700" dirty="0"/>
          </a:p>
        </p:txBody>
      </p:sp>
      <p:sp>
        <p:nvSpPr>
          <p:cNvPr id="17" name="Text 15"/>
          <p:cNvSpPr txBox="1"/>
          <p:nvPr/>
        </p:nvSpPr>
        <p:spPr>
          <a:xfrm>
            <a:off x="2926080"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04</a:t>
            </a:r>
            <a:endParaRPr lang="en-US" sz="1200" dirty="0"/>
          </a:p>
        </p:txBody>
      </p:sp>
      <p:sp>
        <p:nvSpPr>
          <p:cNvPr id="18" name="Text 16"/>
          <p:cNvSpPr txBox="1"/>
          <p:nvPr/>
        </p:nvSpPr>
        <p:spPr>
          <a:xfrm>
            <a:off x="3639312"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19" name="Text 17"/>
          <p:cNvSpPr txBox="1"/>
          <p:nvPr/>
        </p:nvSpPr>
        <p:spPr>
          <a:xfrm>
            <a:off x="3639312"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20" name="Text 18"/>
          <p:cNvSpPr txBox="1"/>
          <p:nvPr/>
        </p:nvSpPr>
        <p:spPr>
          <a:xfrm>
            <a:off x="4352544"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21" name="Text 19"/>
          <p:cNvSpPr txBox="1"/>
          <p:nvPr/>
        </p:nvSpPr>
        <p:spPr>
          <a:xfrm>
            <a:off x="4352544"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22" name="Text 20"/>
          <p:cNvSpPr txBox="1"/>
          <p:nvPr/>
        </p:nvSpPr>
        <p:spPr>
          <a:xfrm>
            <a:off x="5065776"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23" name="Text 21"/>
          <p:cNvSpPr txBox="1"/>
          <p:nvPr/>
        </p:nvSpPr>
        <p:spPr>
          <a:xfrm>
            <a:off x="5065776"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24" name="Text 22"/>
          <p:cNvSpPr txBox="1"/>
          <p:nvPr/>
        </p:nvSpPr>
        <p:spPr>
          <a:xfrm>
            <a:off x="5779008"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25" name="Text 23"/>
          <p:cNvSpPr txBox="1"/>
          <p:nvPr/>
        </p:nvSpPr>
        <p:spPr>
          <a:xfrm>
            <a:off x="5779008"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26" name="Text 24"/>
          <p:cNvSpPr txBox="1"/>
          <p:nvPr/>
        </p:nvSpPr>
        <p:spPr>
          <a:xfrm>
            <a:off x="6720840" y="2651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the length comes first</a:t>
            </a:r>
            <a:endParaRPr lang="en-US" sz="1350" dirty="0"/>
          </a:p>
        </p:txBody>
      </p:sp>
      <p:sp>
        <p:nvSpPr>
          <p:cNvPr id="27" name="Text 25"/>
          <p:cNvSpPr txBox="1"/>
          <p:nvPr/>
        </p:nvSpPr>
        <p:spPr>
          <a:xfrm>
            <a:off x="548640" y="393192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.asciz "HELLO PRG32"</a:t>
            </a:r>
            <a:endParaRPr lang="en-US" sz="1500" dirty="0"/>
          </a:p>
        </p:txBody>
      </p:sp>
      <p:sp>
        <p:nvSpPr>
          <p:cNvPr id="28" name="Text 26"/>
          <p:cNvSpPr txBox="1"/>
          <p:nvPr/>
        </p:nvSpPr>
        <p:spPr>
          <a:xfrm>
            <a:off x="292608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H</a:t>
            </a:r>
            <a:endParaRPr lang="en-US" sz="1700" dirty="0"/>
          </a:p>
        </p:txBody>
      </p:sp>
      <p:sp>
        <p:nvSpPr>
          <p:cNvPr id="29" name="Text 27"/>
          <p:cNvSpPr txBox="1"/>
          <p:nvPr/>
        </p:nvSpPr>
        <p:spPr>
          <a:xfrm>
            <a:off x="292608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48</a:t>
            </a:r>
            <a:endParaRPr lang="en-US" sz="1200" dirty="0"/>
          </a:p>
        </p:txBody>
      </p:sp>
      <p:sp>
        <p:nvSpPr>
          <p:cNvPr id="30" name="Text 28"/>
          <p:cNvSpPr txBox="1"/>
          <p:nvPr/>
        </p:nvSpPr>
        <p:spPr>
          <a:xfrm>
            <a:off x="363931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E</a:t>
            </a:r>
            <a:endParaRPr lang="en-US" sz="1700" dirty="0"/>
          </a:p>
        </p:txBody>
      </p:sp>
      <p:sp>
        <p:nvSpPr>
          <p:cNvPr id="31" name="Text 29"/>
          <p:cNvSpPr txBox="1"/>
          <p:nvPr/>
        </p:nvSpPr>
        <p:spPr>
          <a:xfrm>
            <a:off x="363931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45</a:t>
            </a:r>
            <a:endParaRPr lang="en-US" sz="1200" dirty="0"/>
          </a:p>
        </p:txBody>
      </p:sp>
      <p:sp>
        <p:nvSpPr>
          <p:cNvPr id="32" name="Text 30"/>
          <p:cNvSpPr txBox="1"/>
          <p:nvPr/>
        </p:nvSpPr>
        <p:spPr>
          <a:xfrm>
            <a:off x="435254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3" name="Text 31"/>
          <p:cNvSpPr txBox="1"/>
          <p:nvPr/>
        </p:nvSpPr>
        <p:spPr>
          <a:xfrm>
            <a:off x="435254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4" name="Text 32"/>
          <p:cNvSpPr txBox="1"/>
          <p:nvPr/>
        </p:nvSpPr>
        <p:spPr>
          <a:xfrm>
            <a:off x="506577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5" name="Text 33"/>
          <p:cNvSpPr txBox="1"/>
          <p:nvPr/>
        </p:nvSpPr>
        <p:spPr>
          <a:xfrm>
            <a:off x="506577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6" name="Text 34"/>
          <p:cNvSpPr txBox="1"/>
          <p:nvPr/>
        </p:nvSpPr>
        <p:spPr>
          <a:xfrm>
            <a:off x="577900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37" name="Text 35"/>
          <p:cNvSpPr txBox="1"/>
          <p:nvPr/>
        </p:nvSpPr>
        <p:spPr>
          <a:xfrm>
            <a:off x="577900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38" name="Text 36"/>
          <p:cNvSpPr txBox="1"/>
          <p:nvPr/>
        </p:nvSpPr>
        <p:spPr>
          <a:xfrm>
            <a:off x="649224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39" name="Text 37"/>
          <p:cNvSpPr txBox="1"/>
          <p:nvPr/>
        </p:nvSpPr>
        <p:spPr>
          <a:xfrm>
            <a:off x="649224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20</a:t>
            </a:r>
            <a:endParaRPr lang="en-US" sz="1200" dirty="0"/>
          </a:p>
        </p:txBody>
      </p:sp>
      <p:sp>
        <p:nvSpPr>
          <p:cNvPr id="40" name="Text 38"/>
          <p:cNvSpPr txBox="1"/>
          <p:nvPr/>
        </p:nvSpPr>
        <p:spPr>
          <a:xfrm>
            <a:off x="720547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P</a:t>
            </a:r>
            <a:endParaRPr lang="en-US" sz="1700" dirty="0"/>
          </a:p>
        </p:txBody>
      </p:sp>
      <p:sp>
        <p:nvSpPr>
          <p:cNvPr id="41" name="Text 39"/>
          <p:cNvSpPr txBox="1"/>
          <p:nvPr/>
        </p:nvSpPr>
        <p:spPr>
          <a:xfrm>
            <a:off x="720547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50</a:t>
            </a:r>
            <a:endParaRPr lang="en-US" sz="1200" dirty="0"/>
          </a:p>
        </p:txBody>
      </p:sp>
      <p:sp>
        <p:nvSpPr>
          <p:cNvPr id="42" name="Text 40"/>
          <p:cNvSpPr txBox="1"/>
          <p:nvPr/>
        </p:nvSpPr>
        <p:spPr>
          <a:xfrm>
            <a:off x="791870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R</a:t>
            </a:r>
            <a:endParaRPr lang="en-US" sz="1700" dirty="0"/>
          </a:p>
        </p:txBody>
      </p:sp>
      <p:sp>
        <p:nvSpPr>
          <p:cNvPr id="43" name="Text 41"/>
          <p:cNvSpPr txBox="1"/>
          <p:nvPr/>
        </p:nvSpPr>
        <p:spPr>
          <a:xfrm>
            <a:off x="791870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52</a:t>
            </a:r>
            <a:endParaRPr lang="en-US" sz="1200" dirty="0"/>
          </a:p>
        </p:txBody>
      </p:sp>
      <p:sp>
        <p:nvSpPr>
          <p:cNvPr id="44" name="Text 42"/>
          <p:cNvSpPr txBox="1"/>
          <p:nvPr/>
        </p:nvSpPr>
        <p:spPr>
          <a:xfrm>
            <a:off x="863193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G</a:t>
            </a:r>
            <a:endParaRPr lang="en-US" sz="1700" dirty="0"/>
          </a:p>
        </p:txBody>
      </p:sp>
      <p:sp>
        <p:nvSpPr>
          <p:cNvPr id="45" name="Text 43"/>
          <p:cNvSpPr txBox="1"/>
          <p:nvPr/>
        </p:nvSpPr>
        <p:spPr>
          <a:xfrm>
            <a:off x="863193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47</a:t>
            </a:r>
            <a:endParaRPr lang="en-US" sz="1200" dirty="0"/>
          </a:p>
        </p:txBody>
      </p:sp>
      <p:sp>
        <p:nvSpPr>
          <p:cNvPr id="46" name="Text 44"/>
          <p:cNvSpPr txBox="1"/>
          <p:nvPr/>
        </p:nvSpPr>
        <p:spPr>
          <a:xfrm>
            <a:off x="934516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3</a:t>
            </a:r>
            <a:endParaRPr lang="en-US" sz="1700" dirty="0"/>
          </a:p>
        </p:txBody>
      </p:sp>
      <p:sp>
        <p:nvSpPr>
          <p:cNvPr id="47" name="Text 45"/>
          <p:cNvSpPr txBox="1"/>
          <p:nvPr/>
        </p:nvSpPr>
        <p:spPr>
          <a:xfrm>
            <a:off x="934516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33</a:t>
            </a:r>
            <a:endParaRPr lang="en-US" sz="1200" dirty="0"/>
          </a:p>
        </p:txBody>
      </p:sp>
      <p:sp>
        <p:nvSpPr>
          <p:cNvPr id="48" name="Text 46"/>
          <p:cNvSpPr txBox="1"/>
          <p:nvPr/>
        </p:nvSpPr>
        <p:spPr>
          <a:xfrm>
            <a:off x="1005840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2</a:t>
            </a:r>
            <a:endParaRPr lang="en-US" sz="1700" dirty="0"/>
          </a:p>
        </p:txBody>
      </p:sp>
      <p:sp>
        <p:nvSpPr>
          <p:cNvPr id="49" name="Text 47"/>
          <p:cNvSpPr txBox="1"/>
          <p:nvPr/>
        </p:nvSpPr>
        <p:spPr>
          <a:xfrm>
            <a:off x="1005840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32</a:t>
            </a:r>
            <a:endParaRPr lang="en-US" sz="1200" dirty="0"/>
          </a:p>
        </p:txBody>
      </p:sp>
      <p:sp>
        <p:nvSpPr>
          <p:cNvPr id="50" name="Text 48"/>
          <p:cNvSpPr txBox="1"/>
          <p:nvPr/>
        </p:nvSpPr>
        <p:spPr>
          <a:xfrm>
            <a:off x="10771632" y="393192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51" name="Text 49"/>
          <p:cNvSpPr txBox="1"/>
          <p:nvPr/>
        </p:nvSpPr>
        <p:spPr>
          <a:xfrm>
            <a:off x="1077163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52" name="Shape 50"/>
          <p:cNvSpPr/>
          <p:nvPr/>
        </p:nvSpPr>
        <p:spPr>
          <a:xfrm>
            <a:off x="548640" y="4846320"/>
            <a:ext cx="11094415" cy="1325880"/>
          </a:xfrm>
          <a:prstGeom prst="roundRect">
            <a:avLst>
              <a:gd name="adj" fmla="val 5517"/>
            </a:avLst>
          </a:prstGeom>
          <a:solidFill>
            <a:srgbClr val="D8ECEE"/>
          </a:solidFill>
          <a:ln w="12700">
            <a:solidFill>
              <a:srgbClr val="D8ECEE"/>
            </a:solidFill>
            <a:prstDash val="solid"/>
          </a:ln>
        </p:spPr>
      </p:sp>
      <p:sp>
        <p:nvSpPr>
          <p:cNvPr id="53" name="Text 51"/>
          <p:cNvSpPr txBox="1"/>
          <p:nvPr/>
        </p:nvSpPr>
        <p:spPr>
          <a:xfrm>
            <a:off x="822960" y="4892040"/>
            <a:ext cx="10545775" cy="12344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z of .asciz means zero-terminated: the assembler stores twelve bytes for eleven characters. prg32_gfx_text8 receives only the address of the first byte in a2, and reads until it finds the zero.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Unicode and UTF-8: every writing system</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2364384"/>
                <a:gridCol w="3091886"/>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UTF-8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byte: identical to ASCII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è</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U+00E8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C3 A8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U+20AC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E2 82 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日</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U+65E5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E6 97 A5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U+1F600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F0 9F 98 80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Unicode gives every character a number; UTF-8 stores it in one to four bytes, and plain ASCII text is already valid UTF-8.</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Byte order: little-endian</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value: .word 0x12345678</a:t>
            </a:r>
            <a:endParaRPr lang="en-US" sz="2400" dirty="0"/>
          </a:p>
        </p:txBody>
      </p:sp>
      <p:sp>
        <p:nvSpPr>
          <p:cNvPr id="4" name="Text 2"/>
          <p:cNvSpPr txBox="1"/>
          <p:nvPr/>
        </p:nvSpPr>
        <p:spPr>
          <a:xfrm>
            <a:off x="548640" y="23317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little-endian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(RISC-V, x86, ARM)</a:t>
            </a:r>
            <a:endParaRPr lang="en-US" sz="1600" dirty="0"/>
          </a:p>
        </p:txBody>
      </p:sp>
      <p:sp>
        <p:nvSpPr>
          <p:cNvPr id="5" name="Text 3"/>
          <p:cNvSpPr txBox="1"/>
          <p:nvPr/>
        </p:nvSpPr>
        <p:spPr>
          <a:xfrm>
            <a:off x="4206240" y="23317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6" name="Text 4"/>
          <p:cNvSpPr txBox="1"/>
          <p:nvPr/>
        </p:nvSpPr>
        <p:spPr>
          <a:xfrm>
            <a:off x="42062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A+0</a:t>
            </a:r>
            <a:endParaRPr lang="en-US" sz="1050" dirty="0"/>
          </a:p>
        </p:txBody>
      </p:sp>
      <p:sp>
        <p:nvSpPr>
          <p:cNvPr id="7" name="Text 5"/>
          <p:cNvSpPr txBox="1"/>
          <p:nvPr/>
        </p:nvSpPr>
        <p:spPr>
          <a:xfrm>
            <a:off x="5577840" y="23317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8" name="Text 6"/>
          <p:cNvSpPr txBox="1"/>
          <p:nvPr/>
        </p:nvSpPr>
        <p:spPr>
          <a:xfrm>
            <a:off x="55778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A+1</a:t>
            </a:r>
            <a:endParaRPr lang="en-US" sz="1050" dirty="0"/>
          </a:p>
        </p:txBody>
      </p:sp>
      <p:sp>
        <p:nvSpPr>
          <p:cNvPr id="9" name="Text 7"/>
          <p:cNvSpPr txBox="1"/>
          <p:nvPr/>
        </p:nvSpPr>
        <p:spPr>
          <a:xfrm>
            <a:off x="6949440" y="23317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0" name="Text 8"/>
          <p:cNvSpPr txBox="1"/>
          <p:nvPr/>
        </p:nvSpPr>
        <p:spPr>
          <a:xfrm>
            <a:off x="69494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A+2</a:t>
            </a:r>
            <a:endParaRPr lang="en-US" sz="1050" dirty="0"/>
          </a:p>
        </p:txBody>
      </p:sp>
      <p:sp>
        <p:nvSpPr>
          <p:cNvPr id="11" name="Text 9"/>
          <p:cNvSpPr txBox="1"/>
          <p:nvPr/>
        </p:nvSpPr>
        <p:spPr>
          <a:xfrm>
            <a:off x="8321040" y="23317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2" name="Text 10"/>
          <p:cNvSpPr txBox="1"/>
          <p:nvPr/>
        </p:nvSpPr>
        <p:spPr>
          <a:xfrm>
            <a:off x="83210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A+3</a:t>
            </a:r>
            <a:endParaRPr lang="en-US" sz="1050" dirty="0"/>
          </a:p>
        </p:txBody>
      </p:sp>
      <p:sp>
        <p:nvSpPr>
          <p:cNvPr id="13" name="Text 11"/>
          <p:cNvSpPr txBox="1"/>
          <p:nvPr/>
        </p:nvSpPr>
        <p:spPr>
          <a:xfrm>
            <a:off x="548640" y="37033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big-endian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(network protocols)</a:t>
            </a:r>
            <a:endParaRPr lang="en-US" sz="1600" dirty="0"/>
          </a:p>
        </p:txBody>
      </p:sp>
      <p:sp>
        <p:nvSpPr>
          <p:cNvPr id="14" name="Text 12"/>
          <p:cNvSpPr txBox="1"/>
          <p:nvPr/>
        </p:nvSpPr>
        <p:spPr>
          <a:xfrm>
            <a:off x="4206240" y="37033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5" name="Text 13"/>
          <p:cNvSpPr txBox="1"/>
          <p:nvPr/>
        </p:nvSpPr>
        <p:spPr>
          <a:xfrm>
            <a:off x="42062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A+0</a:t>
            </a:r>
            <a:endParaRPr lang="en-US" sz="1050" dirty="0"/>
          </a:p>
        </p:txBody>
      </p:sp>
      <p:sp>
        <p:nvSpPr>
          <p:cNvPr id="16" name="Text 14"/>
          <p:cNvSpPr txBox="1"/>
          <p:nvPr/>
        </p:nvSpPr>
        <p:spPr>
          <a:xfrm>
            <a:off x="5577840" y="37033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7" name="Text 15"/>
          <p:cNvSpPr txBox="1"/>
          <p:nvPr/>
        </p:nvSpPr>
        <p:spPr>
          <a:xfrm>
            <a:off x="55778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A+1</a:t>
            </a:r>
            <a:endParaRPr lang="en-US" sz="1050" dirty="0"/>
          </a:p>
        </p:txBody>
      </p:sp>
      <p:sp>
        <p:nvSpPr>
          <p:cNvPr id="18" name="Text 16"/>
          <p:cNvSpPr txBox="1"/>
          <p:nvPr/>
        </p:nvSpPr>
        <p:spPr>
          <a:xfrm>
            <a:off x="6949440" y="37033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19" name="Text 17"/>
          <p:cNvSpPr txBox="1"/>
          <p:nvPr/>
        </p:nvSpPr>
        <p:spPr>
          <a:xfrm>
            <a:off x="69494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A+2</a:t>
            </a:r>
            <a:endParaRPr lang="en-US" sz="1050" dirty="0"/>
          </a:p>
        </p:txBody>
      </p:sp>
      <p:sp>
        <p:nvSpPr>
          <p:cNvPr id="20" name="Text 18"/>
          <p:cNvSpPr txBox="1"/>
          <p:nvPr/>
        </p:nvSpPr>
        <p:spPr>
          <a:xfrm>
            <a:off x="8321040" y="37033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21" name="Text 19"/>
          <p:cNvSpPr txBox="1"/>
          <p:nvPr/>
        </p:nvSpPr>
        <p:spPr>
          <a:xfrm>
            <a:off x="83210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A+3</a:t>
            </a:r>
            <a:endParaRPr lang="en-US" sz="1050" dirty="0"/>
          </a:p>
        </p:txBody>
      </p:sp>
      <p:sp>
        <p:nvSpPr>
          <p:cNvPr id="22" name="Shape 20"/>
          <p:cNvSpPr/>
          <p:nvPr/>
        </p:nvSpPr>
        <p:spPr>
          <a:xfrm>
            <a:off x="548640" y="4647438"/>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457200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word is four bytes, and memory is addressed byte by byte: in which order do they go?</a:t>
            </a:r>
            <a:endParaRPr lang="en-US" sz="1800" dirty="0"/>
          </a:p>
        </p:txBody>
      </p:sp>
      <p:sp>
        <p:nvSpPr>
          <p:cNvPr id="24" name="Shape 22"/>
          <p:cNvSpPr/>
          <p:nvPr/>
        </p:nvSpPr>
        <p:spPr>
          <a:xfrm>
            <a:off x="548640" y="5168646"/>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509320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Little-endian: the least significant byte at the lowest address. This is what lw and sw do on RISC-V</a:t>
            </a:r>
            <a:endParaRPr lang="en-US" sz="1800" dirty="0"/>
          </a:p>
        </p:txBody>
      </p:sp>
      <p:sp>
        <p:nvSpPr>
          <p:cNvPr id="26" name="Shape 24"/>
          <p:cNvSpPr/>
          <p:nvPr/>
        </p:nvSpPr>
        <p:spPr>
          <a:xfrm>
            <a:off x="548640" y="5968746"/>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589330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You notice it when you look at memory in a debugger, or exchange data with another machine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Data structures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single values to organised collections.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Five ways to organise data</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Array</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Elements of the same type, one after another, reached by index: 32, 11, 34, 22.</a:t>
            </a:r>
            <a:endParaRPr lang="en-US" sz="19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List</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Elements linked one to the next: cheap to insert and remove, slow to reach by position.</a:t>
            </a:r>
            <a:endParaRPr lang="en-US" sz="19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Stack</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Last in, first out: push adds on top, pop removes from the top.</a:t>
            </a:r>
            <a:endParaRPr lang="en-US" sz="19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Dictionary</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Pairs of key and value: NA gives NAPOLI, PA gives PALERMO, MI gives MILANO.</a:t>
            </a:r>
            <a:endParaRPr lang="en-US" sz="19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Tree</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hierarchy: an animal walks or swims, has lungs or gills, two legs or four.</a:t>
            </a:r>
            <a:endParaRPr lang="en-US" sz="19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 the machine</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All of them are bytes in memory plus a rule for finding the next element.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array in memory, an element in a register</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.section .data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scores: .word 32, 11, 34, 22     </a:t>
            </a:r>
            <a:pPr indent="0" marL="0">
              <a:buNone/>
            </a:pPr>
            <a:r>
              <a:rPr lang="en-US" sz="1350" dirty="0">
                <a:solidFill>
                  <a:srgbClr val="8FB3A0"/>
                </a:solidFill>
                <a:latin typeface="Courier New" pitchFamily="34" charset="0"/>
                <a:ea typeface="Courier New" pitchFamily="34" charset="-122"/>
                <a:cs typeface="Courier New" pitchFamily="34" charset="-120"/>
              </a:rPr>
              <a:t># four 32-bit words, 16 bytes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scores      </a:t>
            </a:r>
            <a:pPr indent="0" marL="0">
              <a:buNone/>
            </a:pPr>
            <a:r>
              <a:rPr lang="en-US" sz="1350" dirty="0">
                <a:solidFill>
                  <a:srgbClr val="8FB3A0"/>
                </a:solidFill>
                <a:latin typeface="Courier New" pitchFamily="34" charset="0"/>
                <a:ea typeface="Courier New" pitchFamily="34" charset="-122"/>
                <a:cs typeface="Courier New" pitchFamily="34" charset="-120"/>
              </a:rPr>
              <a:t># t0 = ADDRESS of element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           </a:t>
            </a:r>
            <a:pPr indent="0" marL="0">
              <a:buNone/>
            </a:pPr>
            <a:r>
              <a:rPr lang="en-US" sz="1350" dirty="0">
                <a:solidFill>
                  <a:srgbClr val="8FB3A0"/>
                </a:solidFill>
                <a:latin typeface="Courier New" pitchFamily="34" charset="0"/>
                <a:ea typeface="Courier New" pitchFamily="34" charset="-122"/>
                <a:cs typeface="Courier New" pitchFamily="34" charset="-120"/>
              </a:rPr>
              <a:t># index i =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t1, t1, 2       </a:t>
            </a:r>
            <a:pPr indent="0" marL="0">
              <a:buNone/>
            </a:pPr>
            <a:r>
              <a:rPr lang="en-US" sz="1350" dirty="0">
                <a:solidFill>
                  <a:srgbClr val="8FB3A0"/>
                </a:solidFill>
                <a:latin typeface="Courier New" pitchFamily="34" charset="0"/>
                <a:ea typeface="Courier New" pitchFamily="34" charset="-122"/>
                <a:cs typeface="Courier New" pitchFamily="34" charset="-120"/>
              </a:rPr>
              <a:t># offset = i * 4 bytes (shift left by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t0, t0, t1      </a:t>
            </a:r>
            <a:pPr indent="0" marL="0">
              <a:buNone/>
            </a:pPr>
            <a:r>
              <a:rPr lang="en-US" sz="1350" dirty="0">
                <a:solidFill>
                  <a:srgbClr val="8FB3A0"/>
                </a:solidFill>
                <a:latin typeface="Courier New" pitchFamily="34" charset="0"/>
                <a:ea typeface="Courier New" pitchFamily="34" charset="-122"/>
                <a:cs typeface="Courier New" pitchFamily="34" charset="-120"/>
              </a:rPr>
              <a:t># ADDRESS of element 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a0, 0(t0)       </a:t>
            </a:r>
            <a:pPr indent="0" marL="0">
              <a:buNone/>
            </a:pPr>
            <a:r>
              <a:rPr lang="en-US" sz="1350" dirty="0">
                <a:solidFill>
                  <a:srgbClr val="8FB3A0"/>
                </a:solidFill>
                <a:latin typeface="Courier New" pitchFamily="34" charset="0"/>
                <a:ea typeface="Courier New" pitchFamily="34" charset="-122"/>
                <a:cs typeface="Courier New" pitchFamily="34" charset="-120"/>
              </a:rPr>
              <a:t># a0 = VALUE of scores[2] = 34</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An array is a base address plus equal-sized elements</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Element i of a word array is at base + 4 x i, because a word is four bytes</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slli by 2 multiplies by four: a shift is a multiplication by a power of two</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high-level expression scores[i] is exactly these four instructions</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Data and algorithms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big data to machine learning.</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Data, big data and data science</a:t>
            </a:r>
            <a:endParaRPr lang="en-US" sz="3200" dirty="0"/>
          </a:p>
        </p:txBody>
      </p:sp>
      <p:sp>
        <p:nvSpPr>
          <p:cNvPr id="3" name="Shape 1"/>
          <p:cNvSpPr/>
          <p:nvPr/>
        </p:nvSpPr>
        <p:spPr>
          <a:xfrm>
            <a:off x="548640" y="1417320"/>
            <a:ext cx="11094415" cy="1371600"/>
          </a:xfrm>
          <a:prstGeom prst="roundRect">
            <a:avLst>
              <a:gd name="adj" fmla="val 533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Big data</a:t>
            </a:r>
            <a:endParaRPr lang="en-US" sz="1600" dirty="0"/>
          </a:p>
        </p:txBody>
      </p:sp>
      <p:sp>
        <p:nvSpPr>
          <p:cNvPr id="5" name="Text 3"/>
          <p:cNvSpPr txBox="1"/>
          <p:nvPr/>
        </p:nvSpPr>
        <p:spPr>
          <a:xfrm>
            <a:off x="914400" y="2057400"/>
            <a:ext cx="10362895" cy="548640"/>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Data that exceed the limits of traditional database tools.</a:t>
            </a:r>
            <a:endParaRPr lang="en-US" sz="2400" dirty="0"/>
          </a:p>
        </p:txBody>
      </p:sp>
      <p:sp>
        <p:nvSpPr>
          <p:cNvPr id="6" name="Shape 4"/>
          <p:cNvSpPr/>
          <p:nvPr/>
        </p:nvSpPr>
        <p:spPr>
          <a:xfrm>
            <a:off x="548640" y="3230880"/>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10896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Structured and unstructured: economy, geolocation, time series, social networks</a:t>
            </a:r>
            <a:endParaRPr lang="en-US" sz="2400" dirty="0"/>
          </a:p>
        </p:txBody>
      </p:sp>
      <p:sp>
        <p:nvSpPr>
          <p:cNvPr id="8" name="Shape 6"/>
          <p:cNvSpPr/>
          <p:nvPr/>
        </p:nvSpPr>
        <p:spPr>
          <a:xfrm>
            <a:off x="548640" y="425196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13004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Petabytes and zettabytes: billions of terabytes</a:t>
            </a:r>
            <a:endParaRPr lang="en-US" sz="2400" dirty="0"/>
          </a:p>
        </p:txBody>
      </p:sp>
      <p:sp>
        <p:nvSpPr>
          <p:cNvPr id="10" name="Shape 8"/>
          <p:cNvSpPr/>
          <p:nvPr/>
        </p:nvSpPr>
        <p:spPr>
          <a:xfrm>
            <a:off x="548640" y="4901184"/>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77926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Technologies that extract knowledge and value from data: parallel computing and GPUs</a:t>
            </a:r>
            <a:endParaRPr lang="en-US" sz="2400" dirty="0"/>
          </a:p>
        </p:txBody>
      </p:sp>
      <p:sp>
        <p:nvSpPr>
          <p:cNvPr id="12" name="Shape 10"/>
          <p:cNvSpPr/>
          <p:nvPr/>
        </p:nvSpPr>
        <p:spPr>
          <a:xfrm>
            <a:off x="548640" y="5922264"/>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Data science: the analysis of large quantities of information</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the data come from</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Sensor data</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environment, GPS positions, the Internet of Things: every device measures something.</a:t>
            </a:r>
            <a:endParaRPr lang="en-US" sz="20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Transactions</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Purchases at the supermarket, credit cards, online orders.</a:t>
            </a:r>
            <a:endParaRPr lang="en-US" sz="20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Public data</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Administrative records, territory, consumption: open data from institutions.</a:t>
            </a:r>
            <a:endParaRPr lang="en-US" sz="20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Social media</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Preferences, politics, sentiment: what people write and share.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GPGPU: general-purpose computing on graphics processors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GPU has thousands of simple cores built to do the same operation on many data at once</a:t>
            </a:r>
            <a:endParaRPr lang="en-US" sz="2400" dirty="0"/>
          </a:p>
        </p:txBody>
      </p:sp>
      <p:sp>
        <p:nvSpPr>
          <p:cNvPr id="5" name="Shape 3"/>
          <p:cNvSpPr/>
          <p:nvPr/>
        </p:nvSpPr>
        <p:spPr>
          <a:xfrm>
            <a:off x="548640" y="3000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78328"/>
            <a:ext cx="546811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Summing N items needs only log2 N parallel steps instead of N sequential ones</a:t>
            </a:r>
            <a:endParaRPr lang="en-US" sz="2400" dirty="0"/>
          </a:p>
        </p:txBody>
      </p:sp>
      <p:sp>
        <p:nvSpPr>
          <p:cNvPr id="7" name="Shape 5"/>
          <p:cNvSpPr/>
          <p:nvPr/>
        </p:nvSpPr>
        <p:spPr>
          <a:xfrm>
            <a:off x="548640" y="446125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339336"/>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same hardware that draws video games now trains neural networks</a:t>
            </a:r>
            <a:endParaRPr lang="en-US" sz="2400" dirty="0"/>
          </a:p>
        </p:txBody>
      </p:sp>
      <p:sp>
        <p:nvSpPr>
          <p:cNvPr id="9" name="Shape 7"/>
          <p:cNvSpPr/>
          <p:nvPr/>
        </p:nvSpPr>
        <p:spPr>
          <a:xfrm>
            <a:off x="548640" y="55504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28488"/>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Under every core there are still registers, instructions and bits</a:t>
            </a:r>
            <a:endParaRPr lang="en-US" sz="2400" dirty="0"/>
          </a:p>
        </p:txBody>
      </p:sp>
      <p:pic>
        <p:nvPicPr>
          <p:cNvPr id="11" name="Image 0" descr="/Users/raffaelemontella/devel/riscv-prg32/computer-architecture-with-prg32/tools/assets/gpgpu_sum.png">    </p:cNvPr>
          <p:cNvPicPr>
            <a:picLocks noChangeAspect="1"/>
          </p:cNvPicPr>
          <p:nvPr/>
        </p:nvPicPr>
        <p:blipFill>
          <a:blip r:embed="rId1"/>
          <a:stretch>
            <a:fillRect/>
          </a:stretch>
        </p:blipFill>
        <p:spPr>
          <a:xfrm>
            <a:off x="6766560" y="2048154"/>
            <a:ext cx="4876495" cy="3036012"/>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parallel sum on GPU cores: log2 N steps</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Data mining</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Data mining</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The set of techniques and methodologies for extracting information or knowledge from large quantities of data.</a:t>
            </a:r>
            <a:endParaRPr lang="en-US" sz="2400" dirty="0"/>
          </a:p>
        </p:txBody>
      </p:sp>
      <p:sp>
        <p:nvSpPr>
          <p:cNvPr id="6" name="Shape 4"/>
          <p:cNvSpPr/>
          <p:nvPr/>
        </p:nvSpPr>
        <p:spPr>
          <a:xfrm>
            <a:off x="548640" y="363829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516376"/>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Decision trees and classification</a:t>
            </a:r>
            <a:endParaRPr lang="en-US" sz="2400" dirty="0"/>
          </a:p>
        </p:txBody>
      </p:sp>
      <p:sp>
        <p:nvSpPr>
          <p:cNvPr id="8" name="Shape 6"/>
          <p:cNvSpPr/>
          <p:nvPr/>
        </p:nvSpPr>
        <p:spPr>
          <a:xfrm>
            <a:off x="548640" y="446735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454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Rule learning and Bayesian methods</a:t>
            </a:r>
            <a:endParaRPr lang="en-US" sz="2400" dirty="0"/>
          </a:p>
        </p:txBody>
      </p:sp>
      <p:sp>
        <p:nvSpPr>
          <p:cNvPr id="10" name="Shape 8"/>
          <p:cNvSpPr/>
          <p:nvPr/>
        </p:nvSpPr>
        <p:spPr>
          <a:xfrm>
            <a:off x="548640" y="5296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174488"/>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Neural networks and pattern recognition</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Algorithms and computability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problem is computable if it can be solved by an algorithm</a:t>
            </a:r>
            <a:endParaRPr lang="en-US" sz="2200" dirty="0"/>
          </a:p>
        </p:txBody>
      </p:sp>
      <p:sp>
        <p:nvSpPr>
          <p:cNvPr id="5" name="Shape 3"/>
          <p:cNvSpPr/>
          <p:nvPr/>
        </p:nvSpPr>
        <p:spPr>
          <a:xfrm>
            <a:off x="548640" y="248005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73630"/>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Turing machine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an ideal computer with a program, expressed mathematically through sets, relations and functions</a:t>
            </a:r>
            <a:endParaRPr lang="en-US" sz="2200" dirty="0"/>
          </a:p>
        </p:txBody>
      </p:sp>
      <p:sp>
        <p:nvSpPr>
          <p:cNvPr id="7" name="Shape 5"/>
          <p:cNvSpPr/>
          <p:nvPr/>
        </p:nvSpPr>
        <p:spPr>
          <a:xfrm>
            <a:off x="548640" y="372084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4420"/>
            <a:ext cx="65653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von Neumann machine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computing architecture able to execute a program that realises an algorithm for the Turing machine</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problem that no algorithm on a Turing machine can solve cannot be solved by any computer</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Not every problem has an algorithm: some questions no computer will ever answer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Five properties of an algorithm</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Atomic</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steps are elementary: they cannot be broken down any further.</a:t>
            </a:r>
            <a:endParaRPr lang="en-US" sz="19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Unambiguous</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Each step is interpreted in one direct way by the executor, human or machine.</a:t>
            </a:r>
            <a:endParaRPr lang="en-US" sz="19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Finite</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finite number of steps and a finite quantity of input data.</a:t>
            </a:r>
            <a:endParaRPr lang="en-US" sz="19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Terminating</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Execution ends after a finite time.</a:t>
            </a:r>
            <a:endParaRPr lang="en-US" sz="19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Effective</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Execution leads to a single, well-defined result.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Deterministic and non-deterministic algorithms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Deterministic</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For every instruction there is, with the same input, exactly one next step</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path of the algorithm exists and is unique: y = f(x)</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converting a unit of measure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first_update, which always adds one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Non-deterministic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With the same input it can behave differently at each execution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Probabilistic algorithms use a random number generator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Concurrent algorithms can depend on timing (race conditions)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a game that places the enemy with prg32_random_number</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probabilistic algorithm: is n prime?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is_probably_prime(n):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repeat 30 times: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 = random(2, n - 2)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if a^(n-1) mod n !=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return COMPOSITE          # certain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return PROBABLY PRIME             # almost certain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random_walk():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while t &lt; t_final: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 = random(-1,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x = x + r * u                 # a different path every run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y = y + r * v</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t = t + 1</a:t>
            </a:r>
            <a:endParaRPr lang="en-US" sz="135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first answer is always right; the second is right with overwhelming probability</a:t>
            </a:r>
            <a:endParaRPr lang="en-US" sz="16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Trading a tiny chance of error for a huge gain in speed is how real cryptography tests primes</a:t>
            </a:r>
            <a:endParaRPr lang="en-US" sz="16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 random walk gives a different result at every run: simulations average many of them</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Machine learning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method of data analysis that automates the construction of an analytical model</a:t>
            </a:r>
            <a:endParaRPr lang="en-US" sz="2100" dirty="0"/>
          </a:p>
        </p:txBody>
      </p:sp>
      <p:sp>
        <p:nvSpPr>
          <p:cNvPr id="5" name="Shape 3"/>
          <p:cNvSpPr/>
          <p:nvPr/>
        </p:nvSpPr>
        <p:spPr>
          <a:xfrm>
            <a:off x="548640" y="23934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4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computer finds hidden patterns without being explicitly programmed where to look</a:t>
            </a:r>
            <a:endParaRPr lang="en-US" sz="2100" dirty="0"/>
          </a:p>
        </p:txBody>
      </p:sp>
      <p:sp>
        <p:nvSpPr>
          <p:cNvPr id="7" name="Shape 5"/>
          <p:cNvSpPr/>
          <p:nvPr/>
        </p:nvSpPr>
        <p:spPr>
          <a:xfrm>
            <a:off x="548640" y="32708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2206"/>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Today's generative models are the same idea at an enormous scale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large language model predicts the next piece of text from billions of learned numbers</a:t>
            </a:r>
            <a:endParaRPr lang="en-US" sz="2100" dirty="0"/>
          </a:p>
        </p:txBody>
      </p:sp>
      <p:sp>
        <p:nvSpPr>
          <p:cNvPr id="9" name="Shape 7"/>
          <p:cNvSpPr/>
          <p:nvPr/>
        </p:nvSpPr>
        <p:spPr>
          <a:xfrm>
            <a:off x="548640" y="474268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400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Those numbers are bits in memory, multiplied and added by processors: the subject of this course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model can be wrong with great confidence: you need the fundamentals to check it</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y = f(x)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classical program is written by a person. In machine learning, f is learned from examples.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How many different values can one byte represent?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16</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255</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256</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The PRG32 colour 0xF81F is:</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red</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magenta</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cyan</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yellow</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How many bytes does .asciz "CIAO" occupy in memory?</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5</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On RISC-V, .word 0x0000ABCD is stored at address A. Which byte is at address 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0x00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0xAB</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0xCD</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0xDC</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on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the bar of Lecture 02 to magenta, then to a dark grey of your choice: compute the RGB565 value by hand first</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Print your name with prg32_gfx_text8. How many bytes does the string occupy?</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Declare an array of four colours with .word and draw four bars, one per colour, reading each colour with lw</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PRG32-QT open the memory view on your string and on your array: find the terminating zero and check the byte order</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Four bars in four colours; in the memory view the string ends with 00 and each .word shows its least significant byte first.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641527"/>
                <a:gridCol w="28176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bit / byte /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 byte /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positional notation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notazione posizionale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vettore (array)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hexadecimal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esadecimale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linked list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lista concatenata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sampling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campionamento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quantisation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quantizzazione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tree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albero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 order (endianness)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ordinamento dei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learning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apprendimento automatico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 information is a pattern of bits plus a convention for reading it</a:t>
            </a:r>
            <a:endParaRPr lang="en-US" sz="2000" dirty="0"/>
          </a:p>
        </p:txBody>
      </p:sp>
      <p:sp>
        <p:nvSpPr>
          <p:cNvPr id="5" name="Shape 3"/>
          <p:cNvSpPr/>
          <p:nvPr/>
        </p:nvSpPr>
        <p:spPr>
          <a:xfrm>
            <a:off x="548640" y="20313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40408"/>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same sixteen bits can be a number, a colour or two characters: the program decides</a:t>
            </a:r>
            <a:endParaRPr lang="en-US" sz="2000" dirty="0"/>
          </a:p>
        </p:txBody>
      </p:sp>
      <p:sp>
        <p:nvSpPr>
          <p:cNvPr id="7" name="Shape 5"/>
          <p:cNvSpPr/>
          <p:nvPr/>
        </p:nvSpPr>
        <p:spPr>
          <a:xfrm>
            <a:off x="548640" y="286430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7337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Hexadecimal is a compact spelling of binary, four bits per digit</a:t>
            </a:r>
            <a:endParaRPr lang="en-US" sz="2000" dirty="0"/>
          </a:p>
        </p:txBody>
      </p:sp>
      <p:sp>
        <p:nvSpPr>
          <p:cNvPr id="9" name="Shape 7"/>
          <p:cNvSpPr/>
          <p:nvPr/>
        </p:nvSpPr>
        <p:spPr>
          <a:xfrm>
            <a:off x="548640" y="338739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9646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Text is numbers (ASCII, UTF-8); structures are bytes plus a rule for finding the next element</a:t>
            </a:r>
            <a:endParaRPr lang="en-US" sz="2000" dirty="0"/>
          </a:p>
        </p:txBody>
      </p:sp>
      <p:sp>
        <p:nvSpPr>
          <p:cNvPr id="11" name="Shape 9"/>
          <p:cNvSpPr/>
          <p:nvPr/>
        </p:nvSpPr>
        <p:spPr>
          <a:xfrm>
            <a:off x="548640" y="42203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2943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Data are the currency of this realm; algorithms turn data into information fit for decisions</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sections 2.4 and 2.9</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Charles Petzold: Code, chapters on bits, bytes and text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Sebastian Raschka: Machine Learning with Python (suggested in the original course)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Representing Digital Information</dc:title>
  <dc:subject>Lecture 04</dc:subject>
  <dc:creator>Raffaele Montella</dc:creator>
  <cp:lastModifiedBy>Raffaele Montella</cp:lastModifiedBy>
  <cp:revision>1</cp:revision>
  <dcterms:created xsi:type="dcterms:W3CDTF">2026-10-12T11:28:38Z</dcterms:created>
  <dcterms:modified xsi:type="dcterms:W3CDTF">2026-10-12T11:28:38Z</dcterms:modified>
</cp:coreProperties>
</file>