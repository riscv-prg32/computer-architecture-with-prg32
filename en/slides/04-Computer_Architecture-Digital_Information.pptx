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6205dc0-7ef6-555a-33cb-3162603c5062}">
          <p14:sldIdLst>
            <p14:sldId id="256"/>
            <p14:sldId id="257"/>
          </p14:sldIdLst>
        </p14:section>
        <p14:section name="Information" id="{8ec78156-1e6f-81b6-d106-e359e927e1a6}">
          <p14:sldIdLst>
            <p14:sldId id="258"/>
            <p14:sldId id="259"/>
            <p14:sldId id="260"/>
            <p14:sldId id="261"/>
            <p14:sldId id="262"/>
            <p14:sldId id="263"/>
          </p14:sldIdLst>
        </p14:section>
        <p14:section name="Text" id="{65c70473-1549-8c5e-19dc-2da5fcb1ba41}">
          <p14:sldIdLst>
            <p14:sldId id="264"/>
            <p14:sldId id="265"/>
            <p14:sldId id="266"/>
            <p14:sldId id="267"/>
          </p14:sldIdLst>
        </p14:section>
        <p14:section name="Data structures" id="{f668c0fe-202e-4992-656a-9cddba4f5626}">
          <p14:sldIdLst>
            <p14:sldId id="268"/>
          </p14:sldIdLst>
        </p14:section>
        <p14:section name="Data and algorithms" id="{fa24f87b-7f11-b239-0887-d4a7ccdd8b35}">
          <p14:sldIdLst>
            <p14:sldId id="269"/>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Lecture 02 the student wrote 0x07e0, 255, .asciz and .word without knowing precisely what they denoted. This lecture names them. Its thesis is stated in the subtitle: everything inside the machine is a pattern of bits, whether a number, a colour, a letter or a list, and the meaning of a pattern is fixed by convention, not by the bits themselves. The lecture favours breadth over depth: the representation of numbers is treated formally in the next two lectures, while here the aim is to learn to read bits and to recognise that interpretation is an agreement.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analog and digital; bit, byte, word; hexadecimal; positional notation; a colour is a number; characters and strings; little-endian byte order; data structures; arrays in memory; algorithms. USE NOW: shifts as multiplications (Lecture 05) and, used without being studied in this course, the complete program, the PRG32 tools. UNDERSTAND LATER: nothing. A slide without a badge is context: a story, an example, a question, an exercise.
Roadmap. Today's outcomes: (1) distinguish analog from digital information and count the values that n bits can represent; (2) encode numbers, colours and text as bits: positional notation, hexadecimal, RGB565, ASCII; (3) name the basic data structures and the properties of an algorithm. Builds on: only what Lecture 01 set up. Next: Lecture 05, Number Representation: Integers.
Bridge. In Lecture 02 the instruction addi t1, t1, 1 appeared in memory as the word 0x00130313. Today the same 32 bits can be read as a number, a colour, four letters or an instruction: the code decides. Lecture 19 reads the instruction field by field. Recall: Name two different things one 32-bit word can mean, and what decides which meaning applies.
For the lecturer: Spiral: the students have already seen 0x07e0, 255, .asciz and .word in Lecture 02. This lecture names what those were. The next two lectures (05, 06) treat numbers formally.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learning outcomes, moving from the general to the particular and back. The student will distinguish analog from digital information, read a byte in binary and in hexadecimal, decode a PRG32 colour into its three fields, explain how text is stored, and describe how an array is laid out in memory and how assembly accesses one of its elements. The final outcome looks beyond the machine: what an algorithm is, when it is deterministic, and where machine learning belongs among algorithms.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analog quantity varies continuously, as a voltage or the hands of a watch do. A digital quantity is a sequence of symbols drawn from a finite alphabet, as the digits of a display are. In the figure the smooth curve is the analog signal and the staircase is its digital counterpart, obtained by sampling at regular instants and quantising each sample to one of a finite number of levels. Something is lost in the process, and something essential is gained: a finite set of levels can be counted, copied without error and checked. With only two levels, the symbol is the bit, and Lecture 10 will show why two levels are preferred.
UNDERSTAND NOW: analog and digital.
For the lecturer: Two levels are easy to build reliably with transistors (off or on), which is why computers are binary. Boolean algebra (Lecture 08) is the mathematics of two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units of information, each tied to an object already encountered. A bit is one button. A nibble, four bits, is one hexadecimal digit. A byte, eight bits, is one ASCII character, and it is the reason why the bar of Lecture 02 never exceeded 255 pixels. A halfword, sixteen bits, is one PRG32 colour. A word, thirty-two bits, is one register and one instruction. The governing rule is that n bits yield 2^n distinct patterns. The caption adds the principle of the lecture: what a pattern means is not written in the bits.
UNDERSTAND NOW: bit, byte, word.
For the lecturer: n bits give 2^n distinct patterns. What a pattern means is not written in the bits: it is a convention between whoever writes them and whoever reads them. On RV32 a word is 32 bits by definition of the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Sixteen rows to be learned by heart, as multiplication tables once were. Each row gives the same number in decimal, in four-bit binary and as a single hexadecimal digit. The four binary positions weigh 8, 4, 2 and 1, so 1011 is 8 + 2 + 1 = 11, which hexadecimal writes as B; after 9, the hexadecimal digits continue with the letters A to F for the values ten to fifteen. Fluency matters more than understanding here, since the understanding is simple: covering two columns and reconstructing them from the third, until no thought is required, is the recommended exercise.
UNDERSTAND NOW: hexadecimal.
For the lecturer: The columns of the binary number weigh 8, 4, 2, 1. Learn this table by heart: it is the multiplication table of this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positional system each digit contributes its value multiplied by the weight of its position, and the weights are successive powers of the base. The slide reads the byte 11011001 in this way: the positions weigh 128, 64, 32, 16, 8, 4, 2 and 1, and the weight is added wherever the bit is 1. The sum is 128 + 64 + 16 + 8 + 1 = 217. This is precisely the procedure applied unconsciously in base ten, where 217 denotes two hundreds, one ten and seven units. Lecture 05 states the general formula and the conversion algorithms.
UNDERSTAND NOW: positional notation.
For the lecturer: Lecture 05 gives the general formula and the conversion algorithms. Here the aim is only to read a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sixteen is two to the fourth power, each hexadecimal digit corresponds to exactly four bits. Conversion therefore requires no arithmetic: the binary number is divided into groups of four bits from the right, and each group replaced by its digit from the table, so that 0000 0111 1110 0000 becomes 0, 7, E, 0. This is why programmers write hexadecimal: it is binary in compact form, with a register occupying eight hexadecimal digits instead of thirty-two bits. The prefix 0x marks a number as hexadecimal.
UNDERSTAND NOW: hexadecimal.
For the lecturer: 0x07E0 = 7 x 256 + 14 x 16 = 1792 + 224 = 2016. The decimal value is useless here: the bit pattern is the point, as the next slide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 green of Lecture 02 is opened up. A PRG32 colour is a sixteen-bit quantity divided into three fields: five bits of red, six of green, five of blue, a format known as RGB565. In 0x07E0 the red field is 00000, the green field 111111 and the blue field 00000: maximum green and nothing else. The extra bit given to green reflects the greater sensitivity of human vision to that component. The eight swatches show other combinations: yellow is red plus green, white is every field at its maximum. The sentence at the bottom restates the lesson of the lecture: the same sixteen bits could mean something else entirely.
UNDERSTAND NOW: a colour is a number.
For the lecturer: The eye is most sensitive to green, which is why green gets the extra bit. Exercise: which colour is 0xF81F? (red and blue at maximum: magenta). The colour constants are those of prg32.h.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ASCII assigns a number to each character and fits it within one byte. Three observations follow from the table. The capital A is 65 and the small a is 97: they differ by 32, that is, by a single bit, which makes case conversion a bitwise operation. The character "0" is 48, not zero: a digit typed on a keyboard is a code, not yet a number, a distinction that Lecture 22 exploits when it converts a score into text. And some characters do not print: the newline, 10, and NUL, 0, which the next slide uses as the terminator of a string.
UNDERSTAND NOW: characters and strings.
For the lecturer: ASCII (1963) uses 7 bits: 128 characters, English only. Upper and lower case differ only in bit 5: xori with 0x20 switches case, a first taste of Boolean algebra on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string is a sequence of character codes stored in consecutive bytes, and the design question is how its end is marked. The C convention places a zero byte at the end; the Pascal convention stores the length first. The third row is the string of Lecture 02: .asciz stores the eleven characters of HELLO PRG32 followed by a zero, twelve bytes in total. The text-drawing function receives only the address of the first byte and reads until it meets the zero. Were the terminator missing, it would continue into whatever happens to follow in memory, an error with a long history in computer security.
UNDERSTAND NOW: characters and strings.
For the lecturer: The numbers under the cells are the ASCII codes in hexadecimal. This is the string of Lecture 02, step 2. What happens if the zero is missing? The function keeps reading whatever follows in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ASCII defines 128 characters, sufficient for English alone. Unicode assigns a number, the code point, to every character of every writing system. UTF-8 encodes that number in one to four bytes: ASCII characters retain their single byte, an accented letter takes two, the euro sign three, an emoji four. Two consequences follow. Pure ASCII text is already valid UTF-8, which explains the encoding's universal adoption. And the length of a string in bytes no longer equals its length in characters.
UNDERSTAND NOW: characters and strings.
For the lecturer: Unicode assigns a number (code point) to every character of every script; UTF-8 encodes that number in one to four bytes and is compatible with ASCII. It is the encoding of the web and of your source files. Consequence: the length of a string in bytes is not its length in characters.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occupies four bytes and memory assigns one address to each byte, so the order in which the bytes are stored must be specified. RISC-V is little-endian: the least significant byte occupies the lowest address, so 0x12345678 is stored as 78, 56, 34, 12. The opposite convention, big-endian, is used by network protocols. In ordinary use the order is invisible, because lw and sw are mutually consistent; it becomes visible when memory is inspected byte by byte in a debugger, or when data are exchanged with a machine of different convention. Lecture 15 returns to the question and turns it into an experiment.
UNDERSTAND NOW: little-endian byte order.
For the lecturer: The names come from Gulliver's Travels: which end of the egg to break first. In PRG32-QT, open the memory view on a .word and read the 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ways to organise data. An array stores elements of the same type contiguously and reaches them by index. A list links each element to the next: cheap to modify, slow to access by position. A stack returns first the element inserted last, and was already used in Lecture 02 to save ra. A dictionary associates keys with values. A tree organises elements hierarchically. The sixth card states the point most relevant to this course: within the machine, every one of these structures is a set of bytes in memory together with a rule for locating the next element.
UNDERSTAND NOW: data structures.
For the lecturer: You have already used a stack: the frame that saved ra in Lecture 02. The examples are those drawn on the source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problem is computable if some algorithm solves it. The Turing machine is the mathematical model of a programmed computer; the von Neumann machine is the architecture that realises it in hardware. The final line is the striking one: there exist problems that no algorithm can solve, and hence that no computer will ever solve, however fast. The classic example is the halting problem, deciding for an arbitrary program whether it will terminate, which Turing proved undecidable in 1936.
UNDERSTAND NOW: algorithms.
For the lecturer: The last line is the Church-Turing thesis, stated informally. The halting problem is the classic example of a problem that is not computable.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deterministic algorithm, given the same input, always performs the same sequence of steps and produces the same result: first_update always adds one. A non-deterministic algorithm may behave differently on different runs with the same input. Two causes are common. The algorithm may use random numbers deliberately, as a game that places an enemy at random does; or its behaviour may depend on the relative timing of concurrent events. The first kind is a design choice of great utility, as probabilistic primality tests show; the second is a frequent source of errors that are difficult to reproduce.
UNDERSTAND NOW: algorithms.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classical program is a function written by a person: y = f(x). In machine learning the function is not written but constructed automatically from examples. Contemporary generative models apply this idea at enormous scale, with billions of learned parameters. Two remarks connect the topic to this course. Those parameters are bits in memory, multiplied and added by processors of the kind studied here. And a model may be wrong with great confidence: only someone who understands the fundamentals is in a position to verify what it asserts.
For the lecturer: The last point connects to the #nogpt rule of the course: the exam checks that the fundamentals are in the student's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question applies the rule that n bits give 2^n patterns, to a byte of eight bits. Two near-misses deserve attention: 8 is the number of bits, and 255 is the largest natural number a byte can hold, not the number of values, since zero must also be counted.
For the second, the four hexadecimal digits are written in binary, F as 1111, 8 as 1000, 1 as 0001, F as 1111, and the sixteen bits are divided as 5, 6 and 5: red 11111, green 000000, blue 11111. Red and blue are at maximum and green is absent.
For the lecturer: 1. Answer: D. A byte is 8 bits: 2^8 = 256 patterns, for example the naturals from 0 to 255.
2. Answer: B. 0xF81F = 11111 000000 11111: red and blue at maximum, green at zero: magenta.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the characters are counted and the meaning of the z in .asciz recalled: the directive stores the string zero-terminated, adding one byte to the visible characters.
For the second, RISC-V is little-endian. The word is written as four bytes, 00 00 AB CD, from most to least significant, and the question is which of them occupies the lowest address. The distractor is 0x00, which would be correct on a big-endian machine.
For the lecturer: 1. Answer: C. Four characters plus the terminating zero byte.
2. Answer: C. RISC-V is little-endian: the least significant byte, 0xCD, goes at the lowest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Word is parola in Italian, and on RV32 denotes thirty-two bits. Sampling and quantisation are the two operations of digitisation. Byte order, or endianness, is the order in which the bytes of a word are stored. The Italian pila translates stack, while array is often left untranslated or rendered as vettore.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propositions summarise the lecture. Digital information is a pattern of bits together with a convention for reading it. The same bits may be a number, a colour or two characters, and the program decides which. Hexadecimal is binary in compact form, four bits per digit. Text consists of numbers, and data structures of bytes plus a rule. Algorithms transform data into information on which decisions can be based. The next lecture treats the representation of numbers formally, beginning with a marker that walks off the left edge of the screen.
Learning status, recap. UNDERSTAND NOW: analog and digital; bit, byte, word; hexadecimal; positional notation; a colour is a number; characters and strings; little-endian byte order; data structures; arrays in memory; algorithms. USE NOW: shifts as multiplications (Lecture 05) and, used without being studied in this course, the complete program, the PRG32 tools. UNDERSTAND LATER: nothing. A slide without a badge is context: a story, an example, a question, an exercise. Closing thread: Bits mean nothing by themselves: a code gives them a meaning, and the same 32 bits can be a number, a colour, four letters or an instruction. Next: the codes for integers, and what happens when they run out of bits. Exit ticket (two to four minutes, alone, on paper): 1. A mercury thermometer and a display that shows 21.5 both measure temperature. Which is analog and which digital? Why can the digital reading be copied a thousand times without getting worse? 2. The Undo button of an editor cancels the most recent change first, then the one before. Which of the five data structures fits, and why not an array reached by index?
For the lecturer: Next lecture: number representation, formally.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04: Digital information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Representing Digital Information</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900" dirty="0">
                <a:solidFill>
                  <a:srgbClr val="CFE3EA"/>
                </a:solidFill>
                <a:latin typeface="Calibri" pitchFamily="34" charset="0"/>
                <a:ea typeface="Calibri" pitchFamily="34" charset="-122"/>
                <a:cs typeface="Calibri" pitchFamily="34" charset="-120"/>
              </a:rPr>
              <a:t>Bits, numbers, text, structures: everything in the machine is a pattern of bits</a:t>
            </a:r>
            <a:endParaRPr lang="en-US" sz="19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ourier New" pitchFamily="34" charset="0"/>
                <a:ea typeface="Courier New" pitchFamily="34" charset="-122"/>
                <a:cs typeface="Courier New" pitchFamily="34" charset="-120"/>
              </a:rPr>
              <a:t>“printf("Hello, world!");”</a:t>
            </a:r>
            <a:endParaRPr lang="en-US" sz="1900" dirty="0"/>
          </a:p>
          <a:p>
            <a:pPr indent="0" marL="0">
              <a:buNone/>
            </a:pPr>
            <a:r>
              <a:rPr lang="en-US" sz="1200" dirty="0">
                <a:solidFill>
                  <a:srgbClr val="CFE3EA"/>
                </a:solidFill>
                <a:latin typeface="Courier New" pitchFamily="34" charset="0"/>
                <a:ea typeface="Courier New" pitchFamily="34" charset="-122"/>
                <a:cs typeface="Courier New" pitchFamily="34" charset="-120"/>
              </a:rPr>
              <a:t>Brian Kernighan and Dennis Ritchie, The C Programming Language, 1978</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04-Computer_Architecture-Digital_Information-Lab.pptx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1_step2_hello.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the difference between analog and digital information</a:t>
            </a:r>
            <a:endParaRPr lang="en-US" sz="2200" dirty="0"/>
          </a:p>
        </p:txBody>
      </p:sp>
      <p:sp>
        <p:nvSpPr>
          <p:cNvPr id="5" name="Text 3"/>
          <p:cNvSpPr txBox="1"/>
          <p:nvPr/>
        </p:nvSpPr>
        <p:spPr>
          <a:xfrm>
            <a:off x="548640" y="225023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3194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 a pattern of bits as a natural number, in binary and in hexadecimal</a:t>
            </a:r>
            <a:endParaRPr lang="en-US" sz="2200" dirty="0"/>
          </a:p>
        </p:txBody>
      </p:sp>
      <p:sp>
        <p:nvSpPr>
          <p:cNvPr id="7" name="Text 5"/>
          <p:cNvSpPr txBox="1"/>
          <p:nvPr/>
        </p:nvSpPr>
        <p:spPr>
          <a:xfrm>
            <a:off x="548640" y="30648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4657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Decode a PRG32 colour such as 0x07E0 into its red, green and blue fields</a:t>
            </a:r>
            <a:endParaRPr lang="en-US" sz="2200" dirty="0"/>
          </a:p>
        </p:txBody>
      </p:sp>
      <p:sp>
        <p:nvSpPr>
          <p:cNvPr id="9" name="Text 7"/>
          <p:cNvSpPr txBox="1"/>
          <p:nvPr/>
        </p:nvSpPr>
        <p:spPr>
          <a:xfrm>
            <a:off x="548640" y="387949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6120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how characters and strings are stored in memory, in ASCII and in UTF-8</a:t>
            </a:r>
            <a:endParaRPr lang="en-US" sz="2200" dirty="0"/>
          </a:p>
        </p:txBody>
      </p:sp>
      <p:sp>
        <p:nvSpPr>
          <p:cNvPr id="11" name="Text 9"/>
          <p:cNvSpPr txBox="1"/>
          <p:nvPr/>
        </p:nvSpPr>
        <p:spPr>
          <a:xfrm>
            <a:off x="548640" y="469412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7583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how an array lives in memory and how assembly reaches one element</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Tell a deterministic algorithm from a probabilistic one, and place machine learning among them</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Analog and digital information</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010912" cy="113665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Analog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quantity that varies continuously: a voltage, a sound pressure, the hands of a watch</a:t>
            </a:r>
            <a:endParaRPr lang="en-US" sz="2000" dirty="0"/>
          </a:p>
        </p:txBody>
      </p:sp>
      <p:sp>
        <p:nvSpPr>
          <p:cNvPr id="5" name="Shape 3"/>
          <p:cNvSpPr/>
          <p:nvPr/>
        </p:nvSpPr>
        <p:spPr>
          <a:xfrm>
            <a:off x="548640" y="278885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97925"/>
            <a:ext cx="501091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Digital</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sequence of symbols from a finite alphabet: the digits of a display</a:t>
            </a:r>
            <a:endParaRPr lang="en-US" sz="2000" dirty="0"/>
          </a:p>
        </p:txBody>
      </p:sp>
      <p:sp>
        <p:nvSpPr>
          <p:cNvPr id="7" name="Shape 5"/>
          <p:cNvSpPr/>
          <p:nvPr/>
        </p:nvSpPr>
        <p:spPr>
          <a:xfrm>
            <a:off x="548640" y="380606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5131"/>
            <a:ext cx="501091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Digitising means sampling in time and quantising in value</a:t>
            </a:r>
            <a:endParaRPr lang="en-US" sz="2000" dirty="0"/>
          </a:p>
        </p:txBody>
      </p:sp>
      <p:sp>
        <p:nvSpPr>
          <p:cNvPr id="9" name="Shape 7"/>
          <p:cNvSpPr/>
          <p:nvPr/>
        </p:nvSpPr>
        <p:spPr>
          <a:xfrm>
            <a:off x="548640" y="456977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8846"/>
            <a:ext cx="501091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finite number of levels can be counted, copied exactly and checked for errors</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501091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With two levels the symbol is the bit: 0 or 1</a:t>
            </a:r>
            <a:endParaRPr lang="en-US" sz="2000" dirty="0"/>
          </a:p>
        </p:txBody>
      </p:sp>
      <p:sp>
        <p:nvSpPr>
          <p:cNvPr id="13" name="Shape 11"/>
          <p:cNvSpPr/>
          <p:nvPr/>
        </p:nvSpPr>
        <p:spPr>
          <a:xfrm>
            <a:off x="8484692" y="91440"/>
            <a:ext cx="3158363" cy="274320"/>
          </a:xfrm>
          <a:prstGeom prst="rect">
            <a:avLst/>
          </a:prstGeom>
          <a:solidFill>
            <a:srgbClr val="E0F2FE"/>
          </a:solidFill>
          <a:ln w="12700">
            <a:solidFill>
              <a:srgbClr val="0369A1"/>
            </a:solidFill>
            <a:prstDash val="solid"/>
          </a:ln>
        </p:spPr>
      </p:sp>
      <p:sp>
        <p:nvSpPr>
          <p:cNvPr id="14" name="Shape 12"/>
          <p:cNvSpPr/>
          <p:nvPr/>
        </p:nvSpPr>
        <p:spPr>
          <a:xfrm>
            <a:off x="8484692"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16" name="Text 13"/>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analog and digital</a:t>
            </a:r>
            <a:endParaRPr lang="en-US" sz="1100" dirty="0"/>
          </a:p>
        </p:txBody>
      </p:sp>
      <p:pic>
        <p:nvPicPr>
          <p:cNvPr id="18" name="Image 1" descr="preencoded.png">    </p:cNvPr>
          <p:cNvPicPr>
            <a:picLocks noChangeAspect="1"/>
          </p:cNvPicPr>
          <p:nvPr/>
        </p:nvPicPr>
        <p:blipFill>
          <a:blip r:embed="rId2"/>
          <a:stretch>
            <a:fillRect/>
          </a:stretch>
        </p:blipFill>
        <p:spPr>
          <a:xfrm>
            <a:off x="6309360" y="2544505"/>
            <a:ext cx="5333695" cy="250051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Bit, byte, word</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733502"/>
                <a:gridCol w="2600254"/>
                <a:gridCol w="2080203"/>
                <a:gridCol w="468045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Size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Patterns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 you met 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binary digit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button of the joystick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nibble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hexadecimal digit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byte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ASCII character; the width of the bar (andi 255)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halfword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65,536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RGB565 colour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4,294,967,296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RISC-V register; one instruction;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KiB, MiB, GiB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2^10, 2^20, 2^30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memory sizes: 1 KiB = 1024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n bits give 2^n patterns. The meaning of a pattern is a convention, not a property of the bits.</a:t>
            </a:r>
            <a:endParaRPr lang="en-US" sz="1500" dirty="0"/>
          </a:p>
        </p:txBody>
      </p:sp>
      <p:sp>
        <p:nvSpPr>
          <p:cNvPr id="5" name="Shape 2"/>
          <p:cNvSpPr/>
          <p:nvPr/>
        </p:nvSpPr>
        <p:spPr>
          <a:xfrm>
            <a:off x="8681669" y="91440"/>
            <a:ext cx="2961386" cy="274320"/>
          </a:xfrm>
          <a:prstGeom prst="rect">
            <a:avLst/>
          </a:prstGeom>
          <a:solidFill>
            <a:srgbClr val="E0F2FE"/>
          </a:solidFill>
          <a:ln w="12700">
            <a:solidFill>
              <a:srgbClr val="0369A1"/>
            </a:solidFill>
            <a:prstDash val="solid"/>
          </a:ln>
        </p:spPr>
      </p:sp>
      <p:sp>
        <p:nvSpPr>
          <p:cNvPr id="6" name="Shape 3"/>
          <p:cNvSpPr/>
          <p:nvPr/>
        </p:nvSpPr>
        <p:spPr>
          <a:xfrm>
            <a:off x="868166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8" name="Text 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bit, byte, word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Counting in base 2 and base 16</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40891"/>
                <a:gridCol w="2465426"/>
                <a:gridCol w="1540891"/>
                <a:gridCol w="1540891"/>
                <a:gridCol w="2465426"/>
                <a:gridCol w="1540891"/>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Dec</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Binary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Hex</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Dec</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Binary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Hex</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8</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9</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9</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2</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3</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B</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4</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5</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5</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6</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6</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E</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7</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7</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15</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F</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944305" y="91440"/>
            <a:ext cx="2698750" cy="274320"/>
          </a:xfrm>
          <a:prstGeom prst="rect">
            <a:avLst/>
          </a:prstGeom>
          <a:solidFill>
            <a:srgbClr val="E0F2FE"/>
          </a:solidFill>
          <a:ln w="12700">
            <a:solidFill>
              <a:srgbClr val="0369A1"/>
            </a:solidFill>
            <a:prstDash val="solid"/>
          </a:ln>
        </p:spPr>
      </p:sp>
      <p:sp>
        <p:nvSpPr>
          <p:cNvPr id="5" name="Shape 2"/>
          <p:cNvSpPr/>
          <p:nvPr/>
        </p:nvSpPr>
        <p:spPr>
          <a:xfrm>
            <a:off x="8944305"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7" name="Text 3"/>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hexadecimal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Positional notation: what 11011001 means</a:t>
            </a:r>
            <a:endParaRPr lang="en-US" sz="3200" dirty="0"/>
          </a:p>
        </p:txBody>
      </p:sp>
      <p:sp>
        <p:nvSpPr>
          <p:cNvPr id="3" name="Text 1"/>
          <p:cNvSpPr txBox="1"/>
          <p:nvPr/>
        </p:nvSpPr>
        <p:spPr>
          <a:xfrm>
            <a:off x="548640" y="1627632"/>
            <a:ext cx="975208" cy="274320"/>
          </a:xfrm>
          <a:prstGeom prst="rect">
            <a:avLst/>
          </a:prstGeom>
          <a:noFill/>
          <a:ln/>
        </p:spPr>
        <p:txBody>
          <a:bodyPr wrap="square" lIns="0" tIns="0" rIns="0" bIns="0" rtlCol="0" anchor="t"/>
          <a:lstStyle/>
          <a:p>
            <a:pPr algn="r" indent="0" marL="0">
              <a:buNone/>
            </a:pPr>
            <a:r>
              <a:rPr lang="en-US" sz="1300" dirty="0">
                <a:solidFill>
                  <a:srgbClr val="5B6B78"/>
                </a:solidFill>
                <a:latin typeface="Calibri" pitchFamily="34" charset="0"/>
                <a:ea typeface="Calibri" pitchFamily="34" charset="-122"/>
                <a:cs typeface="Calibri" pitchFamily="34" charset="-120"/>
              </a:rPr>
              <a:t>weight</a:t>
            </a:r>
            <a:endParaRPr lang="en-US" sz="1300" dirty="0"/>
          </a:p>
        </p:txBody>
      </p:sp>
      <p:sp>
        <p:nvSpPr>
          <p:cNvPr id="4" name="Text 2"/>
          <p:cNvSpPr txBox="1"/>
          <p:nvPr/>
        </p:nvSpPr>
        <p:spPr>
          <a:xfrm>
            <a:off x="170672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5" name="Text 3"/>
          <p:cNvSpPr txBox="1"/>
          <p:nvPr/>
        </p:nvSpPr>
        <p:spPr>
          <a:xfrm>
            <a:off x="170672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2^7 = 128</a:t>
            </a:r>
            <a:endParaRPr lang="en-US" sz="1050" dirty="0"/>
          </a:p>
        </p:txBody>
      </p:sp>
      <p:sp>
        <p:nvSpPr>
          <p:cNvPr id="6" name="Text 4"/>
          <p:cNvSpPr txBox="1"/>
          <p:nvPr/>
        </p:nvSpPr>
        <p:spPr>
          <a:xfrm>
            <a:off x="170672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128</a:t>
            </a:r>
            <a:endParaRPr lang="en-US" sz="1700" dirty="0"/>
          </a:p>
        </p:txBody>
      </p:sp>
      <p:sp>
        <p:nvSpPr>
          <p:cNvPr id="7" name="Text 5"/>
          <p:cNvSpPr txBox="1"/>
          <p:nvPr/>
        </p:nvSpPr>
        <p:spPr>
          <a:xfrm>
            <a:off x="280400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8" name="Text 6"/>
          <p:cNvSpPr txBox="1"/>
          <p:nvPr/>
        </p:nvSpPr>
        <p:spPr>
          <a:xfrm>
            <a:off x="280400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2^6 = 64</a:t>
            </a:r>
            <a:endParaRPr lang="en-US" sz="1050" dirty="0"/>
          </a:p>
        </p:txBody>
      </p:sp>
      <p:sp>
        <p:nvSpPr>
          <p:cNvPr id="9" name="Text 7"/>
          <p:cNvSpPr txBox="1"/>
          <p:nvPr/>
        </p:nvSpPr>
        <p:spPr>
          <a:xfrm>
            <a:off x="280400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p>
        </p:txBody>
      </p:sp>
      <p:sp>
        <p:nvSpPr>
          <p:cNvPr id="10" name="Text 8"/>
          <p:cNvSpPr txBox="1"/>
          <p:nvPr/>
        </p:nvSpPr>
        <p:spPr>
          <a:xfrm>
            <a:off x="3901288" y="2194560"/>
            <a:ext cx="1097280" cy="82296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11" name="Text 9"/>
          <p:cNvSpPr txBox="1"/>
          <p:nvPr/>
        </p:nvSpPr>
        <p:spPr>
          <a:xfrm>
            <a:off x="390128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2^5 = 32</a:t>
            </a:r>
            <a:endParaRPr lang="en-US" sz="1050" dirty="0"/>
          </a:p>
        </p:txBody>
      </p:sp>
      <p:sp>
        <p:nvSpPr>
          <p:cNvPr id="12" name="Text 10"/>
          <p:cNvSpPr txBox="1"/>
          <p:nvPr/>
        </p:nvSpPr>
        <p:spPr>
          <a:xfrm>
            <a:off x="390128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0</a:t>
            </a:r>
            <a:endParaRPr lang="en-US" sz="1700" dirty="0"/>
          </a:p>
        </p:txBody>
      </p:sp>
      <p:sp>
        <p:nvSpPr>
          <p:cNvPr id="13" name="Text 11"/>
          <p:cNvSpPr txBox="1"/>
          <p:nvPr/>
        </p:nvSpPr>
        <p:spPr>
          <a:xfrm>
            <a:off x="499856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14" name="Text 12"/>
          <p:cNvSpPr txBox="1"/>
          <p:nvPr/>
        </p:nvSpPr>
        <p:spPr>
          <a:xfrm>
            <a:off x="499856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2^4 = 16</a:t>
            </a:r>
            <a:endParaRPr lang="en-US" sz="1050" dirty="0"/>
          </a:p>
        </p:txBody>
      </p:sp>
      <p:sp>
        <p:nvSpPr>
          <p:cNvPr id="15" name="Text 13"/>
          <p:cNvSpPr txBox="1"/>
          <p:nvPr/>
        </p:nvSpPr>
        <p:spPr>
          <a:xfrm>
            <a:off x="499856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16</a:t>
            </a:r>
            <a:endParaRPr lang="en-US" sz="1700" dirty="0"/>
          </a:p>
        </p:txBody>
      </p:sp>
      <p:sp>
        <p:nvSpPr>
          <p:cNvPr id="16" name="Text 14"/>
          <p:cNvSpPr txBox="1"/>
          <p:nvPr/>
        </p:nvSpPr>
        <p:spPr>
          <a:xfrm>
            <a:off x="609584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17" name="Text 15"/>
          <p:cNvSpPr txBox="1"/>
          <p:nvPr/>
        </p:nvSpPr>
        <p:spPr>
          <a:xfrm>
            <a:off x="609584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2^3 = 8</a:t>
            </a:r>
            <a:endParaRPr lang="en-US" sz="1050" dirty="0"/>
          </a:p>
        </p:txBody>
      </p:sp>
      <p:sp>
        <p:nvSpPr>
          <p:cNvPr id="18" name="Text 16"/>
          <p:cNvSpPr txBox="1"/>
          <p:nvPr/>
        </p:nvSpPr>
        <p:spPr>
          <a:xfrm>
            <a:off x="609584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9" name="Text 17"/>
          <p:cNvSpPr txBox="1"/>
          <p:nvPr/>
        </p:nvSpPr>
        <p:spPr>
          <a:xfrm>
            <a:off x="7193128" y="2194560"/>
            <a:ext cx="1097280" cy="82296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20" name="Text 18"/>
          <p:cNvSpPr txBox="1"/>
          <p:nvPr/>
        </p:nvSpPr>
        <p:spPr>
          <a:xfrm>
            <a:off x="719312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2^2 = 4</a:t>
            </a:r>
            <a:endParaRPr lang="en-US" sz="1050" dirty="0"/>
          </a:p>
        </p:txBody>
      </p:sp>
      <p:sp>
        <p:nvSpPr>
          <p:cNvPr id="21" name="Text 19"/>
          <p:cNvSpPr txBox="1"/>
          <p:nvPr/>
        </p:nvSpPr>
        <p:spPr>
          <a:xfrm>
            <a:off x="719312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0</a:t>
            </a:r>
            <a:endParaRPr lang="en-US" sz="1700" dirty="0"/>
          </a:p>
        </p:txBody>
      </p:sp>
      <p:sp>
        <p:nvSpPr>
          <p:cNvPr id="22" name="Text 20"/>
          <p:cNvSpPr txBox="1"/>
          <p:nvPr/>
        </p:nvSpPr>
        <p:spPr>
          <a:xfrm>
            <a:off x="8290408" y="2194560"/>
            <a:ext cx="1097280" cy="82296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23" name="Text 21"/>
          <p:cNvSpPr txBox="1"/>
          <p:nvPr/>
        </p:nvSpPr>
        <p:spPr>
          <a:xfrm>
            <a:off x="829040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2^1 = 2</a:t>
            </a:r>
            <a:endParaRPr lang="en-US" sz="1050" dirty="0"/>
          </a:p>
        </p:txBody>
      </p:sp>
      <p:sp>
        <p:nvSpPr>
          <p:cNvPr id="24" name="Text 22"/>
          <p:cNvSpPr txBox="1"/>
          <p:nvPr/>
        </p:nvSpPr>
        <p:spPr>
          <a:xfrm>
            <a:off x="829040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0</a:t>
            </a:r>
            <a:endParaRPr lang="en-US" sz="1700" dirty="0"/>
          </a:p>
        </p:txBody>
      </p:sp>
      <p:sp>
        <p:nvSpPr>
          <p:cNvPr id="25" name="Text 23"/>
          <p:cNvSpPr txBox="1"/>
          <p:nvPr/>
        </p:nvSpPr>
        <p:spPr>
          <a:xfrm>
            <a:off x="938768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26" name="Text 24"/>
          <p:cNvSpPr txBox="1"/>
          <p:nvPr/>
        </p:nvSpPr>
        <p:spPr>
          <a:xfrm>
            <a:off x="938768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2^0 = 1</a:t>
            </a:r>
            <a:endParaRPr lang="en-US" sz="1050" dirty="0"/>
          </a:p>
        </p:txBody>
      </p:sp>
      <p:sp>
        <p:nvSpPr>
          <p:cNvPr id="27" name="Text 25"/>
          <p:cNvSpPr txBox="1"/>
          <p:nvPr/>
        </p:nvSpPr>
        <p:spPr>
          <a:xfrm>
            <a:off x="938768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28" name="Text 26"/>
          <p:cNvSpPr txBox="1"/>
          <p:nvPr/>
        </p:nvSpPr>
        <p:spPr>
          <a:xfrm>
            <a:off x="548640" y="3063240"/>
            <a:ext cx="975208" cy="274320"/>
          </a:xfrm>
          <a:prstGeom prst="rect">
            <a:avLst/>
          </a:prstGeom>
          <a:noFill/>
          <a:ln/>
        </p:spPr>
        <p:txBody>
          <a:bodyPr wrap="square" lIns="0" tIns="0" rIns="0" bIns="0" rtlCol="0" anchor="t"/>
          <a:lstStyle/>
          <a:p>
            <a:pPr algn="r" indent="0" marL="0">
              <a:buNone/>
            </a:pPr>
            <a:r>
              <a:rPr lang="en-US" sz="1300" dirty="0">
                <a:solidFill>
                  <a:srgbClr val="5B6B78"/>
                </a:solidFill>
                <a:latin typeface="Calibri" pitchFamily="34" charset="0"/>
                <a:ea typeface="Calibri" pitchFamily="34" charset="-122"/>
                <a:cs typeface="Calibri" pitchFamily="34" charset="-120"/>
              </a:rPr>
              <a:t>contributes</a:t>
            </a:r>
            <a:endParaRPr lang="en-US" sz="1300" dirty="0"/>
          </a:p>
        </p:txBody>
      </p:sp>
      <p:sp>
        <p:nvSpPr>
          <p:cNvPr id="29" name="Text 27"/>
          <p:cNvSpPr txBox="1"/>
          <p:nvPr/>
        </p:nvSpPr>
        <p:spPr>
          <a:xfrm>
            <a:off x="548640" y="3794760"/>
            <a:ext cx="11094415" cy="640080"/>
          </a:xfrm>
          <a:prstGeom prst="rect">
            <a:avLst/>
          </a:prstGeom>
          <a:noFill/>
          <a:ln/>
        </p:spPr>
        <p:txBody>
          <a:bodyPr wrap="square" lIns="0" tIns="0" rIns="0" bIns="0" rtlCol="0" anchor="ctr"/>
          <a:lstStyle/>
          <a:p>
            <a:pPr algn="ctr" indent="0" marL="0">
              <a:buNone/>
            </a:pPr>
            <a:r>
              <a:rPr lang="en-US" sz="3200" b="1" dirty="0">
                <a:solidFill>
                  <a:srgbClr val="1B2530"/>
                </a:solidFill>
                <a:latin typeface="Courier New" pitchFamily="34" charset="0"/>
                <a:ea typeface="Courier New" pitchFamily="34" charset="-122"/>
                <a:cs typeface="Courier New" pitchFamily="34" charset="-120"/>
              </a:rPr>
              <a:t>128 + 64 + 16 + 8 + 1 = 217</a:t>
            </a:r>
            <a:endParaRPr lang="en-US" sz="3200" dirty="0"/>
          </a:p>
        </p:txBody>
      </p:sp>
      <p:sp>
        <p:nvSpPr>
          <p:cNvPr id="30" name="Shape 28"/>
          <p:cNvSpPr/>
          <p:nvPr/>
        </p:nvSpPr>
        <p:spPr>
          <a:xfrm>
            <a:off x="548640" y="4800600"/>
            <a:ext cx="11094415" cy="1371600"/>
          </a:xfrm>
          <a:prstGeom prst="roundRect">
            <a:avLst>
              <a:gd name="adj" fmla="val 5333"/>
            </a:avLst>
          </a:prstGeom>
          <a:solidFill>
            <a:srgbClr val="D8ECEE"/>
          </a:solidFill>
          <a:ln w="12700">
            <a:solidFill>
              <a:srgbClr val="D8ECEE"/>
            </a:solidFill>
            <a:prstDash val="solid"/>
          </a:ln>
        </p:spPr>
      </p:sp>
      <p:sp>
        <p:nvSpPr>
          <p:cNvPr id="31" name="Text 29"/>
          <p:cNvSpPr txBox="1"/>
          <p:nvPr/>
        </p:nvSpPr>
        <p:spPr>
          <a:xfrm>
            <a:off x="822960" y="4846320"/>
            <a:ext cx="10545775" cy="12801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 a positional system the value of a digit depends on its position: each position weighs a power of the base. Base 10 uses powers of ten, base 2 powers of two, base 16 powers of sixteen. The rule is the same; only the base changes.</a:t>
            </a:r>
            <a:endParaRPr lang="en-US" sz="1700" dirty="0"/>
          </a:p>
        </p:txBody>
      </p:sp>
      <p:sp>
        <p:nvSpPr>
          <p:cNvPr id="32" name="Shape 30"/>
          <p:cNvSpPr/>
          <p:nvPr/>
        </p:nvSpPr>
        <p:spPr>
          <a:xfrm>
            <a:off x="8419033" y="91440"/>
            <a:ext cx="3224022" cy="274320"/>
          </a:xfrm>
          <a:prstGeom prst="rect">
            <a:avLst/>
          </a:prstGeom>
          <a:solidFill>
            <a:srgbClr val="E0F2FE"/>
          </a:solidFill>
          <a:ln w="12700">
            <a:solidFill>
              <a:srgbClr val="0369A1"/>
            </a:solidFill>
            <a:prstDash val="solid"/>
          </a:ln>
        </p:spPr>
      </p:sp>
      <p:sp>
        <p:nvSpPr>
          <p:cNvPr id="33" name="Shape 31"/>
          <p:cNvSpPr/>
          <p:nvPr/>
        </p:nvSpPr>
        <p:spPr>
          <a:xfrm>
            <a:off x="8419033" y="91440"/>
            <a:ext cx="73152" cy="274320"/>
          </a:xfrm>
          <a:prstGeom prst="rect">
            <a:avLst/>
          </a:prstGeom>
          <a:solidFill>
            <a:srgbClr val="0369A1"/>
          </a:solidFill>
          <a:ln w="12700">
            <a:solidFill>
              <a:srgbClr val="0369A1"/>
            </a:solidFill>
            <a:prstDash val="solid"/>
          </a:ln>
        </p:spPr>
      </p:sp>
      <p:pic>
        <p:nvPicPr>
          <p:cNvPr id="34"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35" name="Text 32"/>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positional notation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programmers write hexadecimal</a:t>
            </a:r>
            <a:endParaRPr lang="en-US" sz="3200" dirty="0"/>
          </a:p>
        </p:txBody>
      </p:sp>
      <p:sp>
        <p:nvSpPr>
          <p:cNvPr id="3" name="Text 1"/>
          <p:cNvSpPr txBox="1"/>
          <p:nvPr/>
        </p:nvSpPr>
        <p:spPr>
          <a:xfrm>
            <a:off x="548640" y="1600200"/>
            <a:ext cx="1340968" cy="731520"/>
          </a:xfrm>
          <a:prstGeom prst="rect">
            <a:avLst/>
          </a:prstGeom>
          <a:noFill/>
          <a:ln/>
        </p:spPr>
        <p:txBody>
          <a:bodyPr wrap="square" lIns="0" tIns="0" rIns="0" bIns="0" rtlCol="0" anchor="ctr"/>
          <a:lstStyle/>
          <a:p>
            <a:pPr algn="r" indent="0" marL="0">
              <a:buNone/>
            </a:pPr>
            <a:r>
              <a:rPr lang="en-US" sz="1400" dirty="0">
                <a:solidFill>
                  <a:srgbClr val="5B6B78"/>
                </a:solidFill>
                <a:latin typeface="Calibri" pitchFamily="34" charset="0"/>
                <a:ea typeface="Calibri" pitchFamily="34" charset="-122"/>
                <a:cs typeface="Calibri" pitchFamily="34" charset="-120"/>
              </a:rPr>
              <a:t>binary</a:t>
            </a:r>
            <a:endParaRPr lang="en-US" sz="1400" dirty="0"/>
          </a:p>
        </p:txBody>
      </p:sp>
      <p:sp>
        <p:nvSpPr>
          <p:cNvPr id="4" name="Text 2"/>
          <p:cNvSpPr txBox="1"/>
          <p:nvPr/>
        </p:nvSpPr>
        <p:spPr>
          <a:xfrm>
            <a:off x="2072488" y="1600200"/>
            <a:ext cx="201168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a:t>
            </a:r>
            <a:endParaRPr lang="en-US" sz="2600" dirty="0"/>
          </a:p>
        </p:txBody>
      </p:sp>
      <p:sp>
        <p:nvSpPr>
          <p:cNvPr id="5" name="Text 3"/>
          <p:cNvSpPr txBox="1"/>
          <p:nvPr/>
        </p:nvSpPr>
        <p:spPr>
          <a:xfrm>
            <a:off x="4084168" y="1600200"/>
            <a:ext cx="201168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0111</a:t>
            </a:r>
            <a:endParaRPr lang="en-US" sz="2600" dirty="0"/>
          </a:p>
        </p:txBody>
      </p:sp>
      <p:sp>
        <p:nvSpPr>
          <p:cNvPr id="6" name="Text 4"/>
          <p:cNvSpPr txBox="1"/>
          <p:nvPr/>
        </p:nvSpPr>
        <p:spPr>
          <a:xfrm>
            <a:off x="6095848" y="1600200"/>
            <a:ext cx="201168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1110</a:t>
            </a:r>
            <a:endParaRPr lang="en-US" sz="2600" dirty="0"/>
          </a:p>
        </p:txBody>
      </p:sp>
      <p:sp>
        <p:nvSpPr>
          <p:cNvPr id="7" name="Text 5"/>
          <p:cNvSpPr txBox="1"/>
          <p:nvPr/>
        </p:nvSpPr>
        <p:spPr>
          <a:xfrm>
            <a:off x="8107528" y="1600200"/>
            <a:ext cx="201168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a:t>
            </a:r>
            <a:endParaRPr lang="en-US" sz="2600" dirty="0"/>
          </a:p>
        </p:txBody>
      </p:sp>
      <p:sp>
        <p:nvSpPr>
          <p:cNvPr id="8" name="Shape 6"/>
          <p:cNvSpPr/>
          <p:nvPr/>
        </p:nvSpPr>
        <p:spPr>
          <a:xfrm>
            <a:off x="3078328" y="2377440"/>
            <a:ext cx="0" cy="457200"/>
          </a:xfrm>
          <a:prstGeom prst="line">
            <a:avLst/>
          </a:prstGeom>
          <a:noFill/>
          <a:ln w="25400">
            <a:solidFill>
              <a:srgbClr val="5B6B78"/>
            </a:solidFill>
            <a:prstDash val="solid"/>
            <a:tailEnd type="triangle"/>
          </a:ln>
        </p:spPr>
      </p:sp>
      <p:sp>
        <p:nvSpPr>
          <p:cNvPr id="9" name="Shape 7"/>
          <p:cNvSpPr/>
          <p:nvPr/>
        </p:nvSpPr>
        <p:spPr>
          <a:xfrm>
            <a:off x="5090008" y="2377440"/>
            <a:ext cx="0" cy="457200"/>
          </a:xfrm>
          <a:prstGeom prst="line">
            <a:avLst/>
          </a:prstGeom>
          <a:noFill/>
          <a:ln w="25400">
            <a:solidFill>
              <a:srgbClr val="5B6B78"/>
            </a:solidFill>
            <a:prstDash val="solid"/>
            <a:tailEnd type="triangle"/>
          </a:ln>
        </p:spPr>
      </p:sp>
      <p:sp>
        <p:nvSpPr>
          <p:cNvPr id="10" name="Shape 8"/>
          <p:cNvSpPr/>
          <p:nvPr/>
        </p:nvSpPr>
        <p:spPr>
          <a:xfrm>
            <a:off x="7101688" y="2377440"/>
            <a:ext cx="0" cy="457200"/>
          </a:xfrm>
          <a:prstGeom prst="line">
            <a:avLst/>
          </a:prstGeom>
          <a:noFill/>
          <a:ln w="25400">
            <a:solidFill>
              <a:srgbClr val="5B6B78"/>
            </a:solidFill>
            <a:prstDash val="solid"/>
            <a:tailEnd type="triangle"/>
          </a:ln>
        </p:spPr>
      </p:sp>
      <p:sp>
        <p:nvSpPr>
          <p:cNvPr id="11" name="Shape 9"/>
          <p:cNvSpPr/>
          <p:nvPr/>
        </p:nvSpPr>
        <p:spPr>
          <a:xfrm>
            <a:off x="9113368" y="2377440"/>
            <a:ext cx="0" cy="457200"/>
          </a:xfrm>
          <a:prstGeom prst="line">
            <a:avLst/>
          </a:prstGeom>
          <a:noFill/>
          <a:ln w="25400">
            <a:solidFill>
              <a:srgbClr val="5B6B78"/>
            </a:solidFill>
            <a:prstDash val="solid"/>
            <a:tailEnd type="triangle"/>
          </a:ln>
        </p:spPr>
      </p:sp>
      <p:sp>
        <p:nvSpPr>
          <p:cNvPr id="12" name="Text 10"/>
          <p:cNvSpPr txBox="1"/>
          <p:nvPr/>
        </p:nvSpPr>
        <p:spPr>
          <a:xfrm>
            <a:off x="548640" y="2880360"/>
            <a:ext cx="1340968" cy="731520"/>
          </a:xfrm>
          <a:prstGeom prst="rect">
            <a:avLst/>
          </a:prstGeom>
          <a:noFill/>
          <a:ln/>
        </p:spPr>
        <p:txBody>
          <a:bodyPr wrap="square" lIns="0" tIns="0" rIns="0" bIns="0" rtlCol="0" anchor="ctr"/>
          <a:lstStyle/>
          <a:p>
            <a:pPr algn="r" indent="0" marL="0">
              <a:buNone/>
            </a:pPr>
            <a:r>
              <a:rPr lang="en-US" sz="1400" dirty="0">
                <a:solidFill>
                  <a:srgbClr val="5B6B78"/>
                </a:solidFill>
                <a:latin typeface="Calibri" pitchFamily="34" charset="0"/>
                <a:ea typeface="Calibri" pitchFamily="34" charset="-122"/>
                <a:cs typeface="Calibri" pitchFamily="34" charset="-120"/>
              </a:rPr>
              <a:t>hexadecimal</a:t>
            </a:r>
            <a:endParaRPr lang="en-US" sz="1400" dirty="0"/>
          </a:p>
        </p:txBody>
      </p:sp>
      <p:sp>
        <p:nvSpPr>
          <p:cNvPr id="13" name="Text 11"/>
          <p:cNvSpPr txBox="1"/>
          <p:nvPr/>
        </p:nvSpPr>
        <p:spPr>
          <a:xfrm>
            <a:off x="207248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14" name="Text 12"/>
          <p:cNvSpPr txBox="1"/>
          <p:nvPr/>
        </p:nvSpPr>
        <p:spPr>
          <a:xfrm>
            <a:off x="408416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7</a:t>
            </a:r>
            <a:endParaRPr lang="en-US" sz="3000" dirty="0"/>
          </a:p>
        </p:txBody>
      </p:sp>
      <p:sp>
        <p:nvSpPr>
          <p:cNvPr id="15" name="Text 13"/>
          <p:cNvSpPr txBox="1"/>
          <p:nvPr/>
        </p:nvSpPr>
        <p:spPr>
          <a:xfrm>
            <a:off x="609584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E</a:t>
            </a:r>
            <a:endParaRPr lang="en-US" sz="3000" dirty="0"/>
          </a:p>
        </p:txBody>
      </p:sp>
      <p:sp>
        <p:nvSpPr>
          <p:cNvPr id="16" name="Text 14"/>
          <p:cNvSpPr txBox="1"/>
          <p:nvPr/>
        </p:nvSpPr>
        <p:spPr>
          <a:xfrm>
            <a:off x="810752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17" name="Text 15"/>
          <p:cNvSpPr txBox="1"/>
          <p:nvPr/>
        </p:nvSpPr>
        <p:spPr>
          <a:xfrm>
            <a:off x="548640" y="3794760"/>
            <a:ext cx="11094415" cy="548640"/>
          </a:xfrm>
          <a:prstGeom prst="rect">
            <a:avLst/>
          </a:prstGeom>
          <a:no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0x07E0  =  2016 in decimal</a:t>
            </a:r>
            <a:endParaRPr lang="en-US" sz="2400" dirty="0"/>
          </a:p>
        </p:txBody>
      </p:sp>
      <p:sp>
        <p:nvSpPr>
          <p:cNvPr id="18" name="Shape 16"/>
          <p:cNvSpPr/>
          <p:nvPr/>
        </p:nvSpPr>
        <p:spPr>
          <a:xfrm>
            <a:off x="548640" y="4586224"/>
            <a:ext cx="146304" cy="146304"/>
          </a:xfrm>
          <a:prstGeom prst="rect">
            <a:avLst/>
          </a:prstGeom>
          <a:solidFill>
            <a:srgbClr val="0E7C86"/>
          </a:solidFill>
          <a:ln w="12700">
            <a:solidFill>
              <a:srgbClr val="0E7C86"/>
            </a:solidFill>
            <a:prstDash val="solid"/>
          </a:ln>
        </p:spPr>
      </p:sp>
      <p:sp>
        <p:nvSpPr>
          <p:cNvPr id="19" name="Text 17"/>
          <p:cNvSpPr txBox="1"/>
          <p:nvPr/>
        </p:nvSpPr>
        <p:spPr>
          <a:xfrm>
            <a:off x="932688" y="4526280"/>
            <a:ext cx="10710367" cy="49580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One hexadecimal digit is exactly four bits, because 16 = 2^4: conversion is a table lookup, digit by digit</a:t>
            </a:r>
            <a:endParaRPr lang="en-US" sz="1600" dirty="0"/>
          </a:p>
        </p:txBody>
      </p:sp>
      <p:sp>
        <p:nvSpPr>
          <p:cNvPr id="20" name="Shape 18"/>
          <p:cNvSpPr/>
          <p:nvPr/>
        </p:nvSpPr>
        <p:spPr>
          <a:xfrm>
            <a:off x="548640" y="5409184"/>
            <a:ext cx="146304" cy="146304"/>
          </a:xfrm>
          <a:prstGeom prst="rect">
            <a:avLst/>
          </a:prstGeom>
          <a:solidFill>
            <a:srgbClr val="C7791B"/>
          </a:solidFill>
          <a:ln w="12700">
            <a:solidFill>
              <a:srgbClr val="C7791B"/>
            </a:solidFill>
            <a:prstDash val="solid"/>
          </a:ln>
        </p:spPr>
      </p:sp>
      <p:sp>
        <p:nvSpPr>
          <p:cNvPr id="21" name="Text 19"/>
          <p:cNvSpPr txBox="1"/>
          <p:nvPr/>
        </p:nvSpPr>
        <p:spPr>
          <a:xfrm>
            <a:off x="932688" y="5349240"/>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A 32-bit register is eight hexadecimal digits: 0x00130313 is readable, thirty-two zeros and ones are not</a:t>
            </a:r>
            <a:endParaRPr lang="en-US" sz="1600" dirty="0"/>
          </a:p>
        </p:txBody>
      </p:sp>
      <p:sp>
        <p:nvSpPr>
          <p:cNvPr id="22" name="Shape 20"/>
          <p:cNvSpPr/>
          <p:nvPr/>
        </p:nvSpPr>
        <p:spPr>
          <a:xfrm>
            <a:off x="548640" y="5984240"/>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5924296"/>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The prefix 0x marks hexadecimal in assembly and in C; the debugger of PRG32-QT shows registers this way</a:t>
            </a:r>
            <a:endParaRPr lang="en-US" sz="1600" dirty="0"/>
          </a:p>
        </p:txBody>
      </p:sp>
      <p:sp>
        <p:nvSpPr>
          <p:cNvPr id="24" name="Shape 22"/>
          <p:cNvSpPr/>
          <p:nvPr/>
        </p:nvSpPr>
        <p:spPr>
          <a:xfrm>
            <a:off x="8944305" y="91440"/>
            <a:ext cx="2698750" cy="274320"/>
          </a:xfrm>
          <a:prstGeom prst="rect">
            <a:avLst/>
          </a:prstGeom>
          <a:solidFill>
            <a:srgbClr val="E0F2FE"/>
          </a:solidFill>
          <a:ln w="12700">
            <a:solidFill>
              <a:srgbClr val="0369A1"/>
            </a:solidFill>
            <a:prstDash val="solid"/>
          </a:ln>
        </p:spPr>
      </p:sp>
      <p:sp>
        <p:nvSpPr>
          <p:cNvPr id="25" name="Shape 23"/>
          <p:cNvSpPr/>
          <p:nvPr/>
        </p:nvSpPr>
        <p:spPr>
          <a:xfrm>
            <a:off x="8944305"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27" name="Text 24"/>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hexadecimal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colour is a number: RGB565</a:t>
            </a:r>
            <a:endParaRPr lang="en-US" sz="3200" dirty="0"/>
          </a:p>
        </p:txBody>
      </p:sp>
      <p:sp>
        <p:nvSpPr>
          <p:cNvPr id="3" name="Text 1"/>
          <p:cNvSpPr txBox="1"/>
          <p:nvPr/>
        </p:nvSpPr>
        <p:spPr>
          <a:xfrm>
            <a:off x="548640" y="1371600"/>
            <a:ext cx="11094415" cy="457200"/>
          </a:xfrm>
          <a:prstGeom prst="rect">
            <a:avLst/>
          </a:prstGeom>
          <a:noFill/>
          <a:ln/>
        </p:spPr>
        <p:txBody>
          <a:bodyPr wrap="square" lIns="0" tIns="0" rIns="0" bIns="0" rtlCol="0" anchor="t"/>
          <a:lstStyle/>
          <a:p>
            <a:pPr algn="ctr" indent="0" marL="0">
              <a:buNone/>
            </a:pPr>
            <a:r>
              <a:rPr lang="en-US" sz="2400" b="1" dirty="0">
                <a:solidFill>
                  <a:srgbClr val="2E4A62"/>
                </a:solidFill>
                <a:latin typeface="Courier New" pitchFamily="34" charset="0"/>
                <a:ea typeface="Courier New" pitchFamily="34" charset="-122"/>
                <a:cs typeface="Courier New" pitchFamily="34" charset="-120"/>
              </a:rPr>
              <a:t>.equ GREEN, 0x07e0</a:t>
            </a:r>
            <a:endParaRPr lang="en-US" sz="2400" dirty="0"/>
          </a:p>
        </p:txBody>
      </p:sp>
      <p:sp>
        <p:nvSpPr>
          <p:cNvPr id="4" name="Text 2"/>
          <p:cNvSpPr txBox="1"/>
          <p:nvPr/>
        </p:nvSpPr>
        <p:spPr>
          <a:xfrm>
            <a:off x="1645920" y="2331720"/>
            <a:ext cx="2781205" cy="777240"/>
          </a:xfrm>
          <a:prstGeom prst="rect">
            <a:avLst/>
          </a:prstGeom>
          <a:solidFill>
            <a:srgbClr val="B23A48"/>
          </a:solidFill>
          <a:ln w="19050">
            <a:solidFill>
              <a:srgbClr val="FFFFFF"/>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00000</a:t>
            </a:r>
            <a:endParaRPr lang="en-US" sz="2600" dirty="0"/>
          </a:p>
        </p:txBody>
      </p:sp>
      <p:sp>
        <p:nvSpPr>
          <p:cNvPr id="5" name="Text 3"/>
          <p:cNvSpPr txBox="1"/>
          <p:nvPr/>
        </p:nvSpPr>
        <p:spPr>
          <a:xfrm>
            <a:off x="1645920" y="3163824"/>
            <a:ext cx="2781205"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red: 5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0 of 31</a:t>
            </a:r>
            <a:endParaRPr lang="en-US" sz="1500" dirty="0"/>
          </a:p>
        </p:txBody>
      </p:sp>
      <p:sp>
        <p:nvSpPr>
          <p:cNvPr id="6" name="Text 4"/>
          <p:cNvSpPr txBox="1"/>
          <p:nvPr/>
        </p:nvSpPr>
        <p:spPr>
          <a:xfrm>
            <a:off x="1682496" y="2093976"/>
            <a:ext cx="1390602"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7" name="Text 5"/>
          <p:cNvSpPr txBox="1"/>
          <p:nvPr/>
        </p:nvSpPr>
        <p:spPr>
          <a:xfrm>
            <a:off x="3036522" y="2093976"/>
            <a:ext cx="1354026"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8" name="Text 6"/>
          <p:cNvSpPr txBox="1"/>
          <p:nvPr/>
        </p:nvSpPr>
        <p:spPr>
          <a:xfrm>
            <a:off x="4427125" y="2331720"/>
            <a:ext cx="3337446" cy="77724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111111</a:t>
            </a:r>
            <a:endParaRPr lang="en-US" sz="2600" dirty="0"/>
          </a:p>
        </p:txBody>
      </p:sp>
      <p:sp>
        <p:nvSpPr>
          <p:cNvPr id="9" name="Text 7"/>
          <p:cNvSpPr txBox="1"/>
          <p:nvPr/>
        </p:nvSpPr>
        <p:spPr>
          <a:xfrm>
            <a:off x="4427125" y="3163824"/>
            <a:ext cx="3337446"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green: 6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63 of 63</a:t>
            </a:r>
            <a:endParaRPr lang="en-US" sz="1500" dirty="0"/>
          </a:p>
        </p:txBody>
      </p:sp>
      <p:sp>
        <p:nvSpPr>
          <p:cNvPr id="10" name="Text 8"/>
          <p:cNvSpPr txBox="1"/>
          <p:nvPr/>
        </p:nvSpPr>
        <p:spPr>
          <a:xfrm>
            <a:off x="4463701" y="2093976"/>
            <a:ext cx="166872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10</a:t>
            </a:r>
            <a:endParaRPr lang="en-US" sz="1050" dirty="0"/>
          </a:p>
        </p:txBody>
      </p:sp>
      <p:sp>
        <p:nvSpPr>
          <p:cNvPr id="11" name="Text 9"/>
          <p:cNvSpPr txBox="1"/>
          <p:nvPr/>
        </p:nvSpPr>
        <p:spPr>
          <a:xfrm>
            <a:off x="6095848" y="2093976"/>
            <a:ext cx="163214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5</a:t>
            </a:r>
            <a:endParaRPr lang="en-US" sz="1050" dirty="0"/>
          </a:p>
        </p:txBody>
      </p:sp>
      <p:sp>
        <p:nvSpPr>
          <p:cNvPr id="12" name="Text 10"/>
          <p:cNvSpPr txBox="1"/>
          <p:nvPr/>
        </p:nvSpPr>
        <p:spPr>
          <a:xfrm>
            <a:off x="7764570" y="2331720"/>
            <a:ext cx="2781205" cy="777240"/>
          </a:xfrm>
          <a:prstGeom prst="rect">
            <a:avLst/>
          </a:prstGeom>
          <a:solidFill>
            <a:srgbClr val="2B5DAA"/>
          </a:solidFill>
          <a:ln w="19050">
            <a:solidFill>
              <a:srgbClr val="FFFFFF"/>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00000</a:t>
            </a:r>
            <a:endParaRPr lang="en-US" sz="2600" dirty="0"/>
          </a:p>
        </p:txBody>
      </p:sp>
      <p:sp>
        <p:nvSpPr>
          <p:cNvPr id="13" name="Text 11"/>
          <p:cNvSpPr txBox="1"/>
          <p:nvPr/>
        </p:nvSpPr>
        <p:spPr>
          <a:xfrm>
            <a:off x="7764570" y="3163824"/>
            <a:ext cx="2781205"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blue: 5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0 of 31</a:t>
            </a:r>
            <a:endParaRPr lang="en-US" sz="1500" dirty="0"/>
          </a:p>
        </p:txBody>
      </p:sp>
      <p:sp>
        <p:nvSpPr>
          <p:cNvPr id="14" name="Text 12"/>
          <p:cNvSpPr txBox="1"/>
          <p:nvPr/>
        </p:nvSpPr>
        <p:spPr>
          <a:xfrm>
            <a:off x="7801146" y="2093976"/>
            <a:ext cx="1390602"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4</a:t>
            </a:r>
            <a:endParaRPr lang="en-US" sz="1050" dirty="0"/>
          </a:p>
        </p:txBody>
      </p:sp>
      <p:sp>
        <p:nvSpPr>
          <p:cNvPr id="15" name="Text 13"/>
          <p:cNvSpPr txBox="1"/>
          <p:nvPr/>
        </p:nvSpPr>
        <p:spPr>
          <a:xfrm>
            <a:off x="9155173" y="2093976"/>
            <a:ext cx="1354026"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6" name="Shape 14"/>
          <p:cNvSpPr/>
          <p:nvPr/>
        </p:nvSpPr>
        <p:spPr>
          <a:xfrm>
            <a:off x="658368" y="3977640"/>
            <a:ext cx="1167346" cy="731520"/>
          </a:xfrm>
          <a:prstGeom prst="rect">
            <a:avLst/>
          </a:prstGeom>
          <a:solidFill>
            <a:srgbClr val="000000"/>
          </a:solidFill>
          <a:ln w="9525">
            <a:solidFill>
              <a:srgbClr val="2E4A62"/>
            </a:solidFill>
            <a:prstDash val="solid"/>
          </a:ln>
        </p:spPr>
      </p:sp>
      <p:sp>
        <p:nvSpPr>
          <p:cNvPr id="17" name="Text 15"/>
          <p:cNvSpPr txBox="1"/>
          <p:nvPr/>
        </p:nvSpPr>
        <p:spPr>
          <a:xfrm>
            <a:off x="548640"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BLACK</a:t>
            </a:r>
            <a:endParaRPr lang="en-US" sz="1300" dirty="0"/>
          </a:p>
        </p:txBody>
      </p:sp>
      <p:sp>
        <p:nvSpPr>
          <p:cNvPr id="18" name="Text 16"/>
          <p:cNvSpPr txBox="1"/>
          <p:nvPr/>
        </p:nvSpPr>
        <p:spPr>
          <a:xfrm>
            <a:off x="548640"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0x0000</a:t>
            </a:r>
            <a:endParaRPr lang="en-US" sz="1400" dirty="0"/>
          </a:p>
        </p:txBody>
      </p:sp>
      <p:sp>
        <p:nvSpPr>
          <p:cNvPr id="19" name="Shape 17"/>
          <p:cNvSpPr/>
          <p:nvPr/>
        </p:nvSpPr>
        <p:spPr>
          <a:xfrm>
            <a:off x="2045170" y="3977640"/>
            <a:ext cx="1167346" cy="731520"/>
          </a:xfrm>
          <a:prstGeom prst="rect">
            <a:avLst/>
          </a:prstGeom>
          <a:solidFill>
            <a:srgbClr val="F80000"/>
          </a:solidFill>
          <a:ln w="9525">
            <a:solidFill>
              <a:srgbClr val="2E4A62"/>
            </a:solidFill>
            <a:prstDash val="solid"/>
          </a:ln>
        </p:spPr>
      </p:sp>
      <p:sp>
        <p:nvSpPr>
          <p:cNvPr id="20" name="Text 18"/>
          <p:cNvSpPr txBox="1"/>
          <p:nvPr/>
        </p:nvSpPr>
        <p:spPr>
          <a:xfrm>
            <a:off x="1935442"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RED</a:t>
            </a:r>
            <a:endParaRPr lang="en-US" sz="1300" dirty="0"/>
          </a:p>
        </p:txBody>
      </p:sp>
      <p:sp>
        <p:nvSpPr>
          <p:cNvPr id="21" name="Text 19"/>
          <p:cNvSpPr txBox="1"/>
          <p:nvPr/>
        </p:nvSpPr>
        <p:spPr>
          <a:xfrm>
            <a:off x="1935442"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0xF800</a:t>
            </a:r>
            <a:endParaRPr lang="en-US" sz="1400" dirty="0"/>
          </a:p>
        </p:txBody>
      </p:sp>
      <p:sp>
        <p:nvSpPr>
          <p:cNvPr id="22" name="Shape 20"/>
          <p:cNvSpPr/>
          <p:nvPr/>
        </p:nvSpPr>
        <p:spPr>
          <a:xfrm>
            <a:off x="3431972" y="3977640"/>
            <a:ext cx="1167346" cy="731520"/>
          </a:xfrm>
          <a:prstGeom prst="rect">
            <a:avLst/>
          </a:prstGeom>
          <a:solidFill>
            <a:srgbClr val="00FC00"/>
          </a:solidFill>
          <a:ln w="9525">
            <a:solidFill>
              <a:srgbClr val="2E4A62"/>
            </a:solidFill>
            <a:prstDash val="solid"/>
          </a:ln>
        </p:spPr>
      </p:sp>
      <p:sp>
        <p:nvSpPr>
          <p:cNvPr id="23" name="Text 21"/>
          <p:cNvSpPr txBox="1"/>
          <p:nvPr/>
        </p:nvSpPr>
        <p:spPr>
          <a:xfrm>
            <a:off x="3322244"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GREEN</a:t>
            </a:r>
            <a:endParaRPr lang="en-US" sz="1300" dirty="0"/>
          </a:p>
        </p:txBody>
      </p:sp>
      <p:sp>
        <p:nvSpPr>
          <p:cNvPr id="24" name="Text 22"/>
          <p:cNvSpPr txBox="1"/>
          <p:nvPr/>
        </p:nvSpPr>
        <p:spPr>
          <a:xfrm>
            <a:off x="3322244"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0x07E0</a:t>
            </a:r>
            <a:endParaRPr lang="en-US" sz="1400" dirty="0"/>
          </a:p>
        </p:txBody>
      </p:sp>
      <p:sp>
        <p:nvSpPr>
          <p:cNvPr id="25" name="Shape 23"/>
          <p:cNvSpPr/>
          <p:nvPr/>
        </p:nvSpPr>
        <p:spPr>
          <a:xfrm>
            <a:off x="4818774" y="3977640"/>
            <a:ext cx="1167346" cy="731520"/>
          </a:xfrm>
          <a:prstGeom prst="rect">
            <a:avLst/>
          </a:prstGeom>
          <a:solidFill>
            <a:srgbClr val="0000F8"/>
          </a:solidFill>
          <a:ln w="9525">
            <a:solidFill>
              <a:srgbClr val="2E4A62"/>
            </a:solidFill>
            <a:prstDash val="solid"/>
          </a:ln>
        </p:spPr>
      </p:sp>
      <p:sp>
        <p:nvSpPr>
          <p:cNvPr id="26" name="Text 24"/>
          <p:cNvSpPr txBox="1"/>
          <p:nvPr/>
        </p:nvSpPr>
        <p:spPr>
          <a:xfrm>
            <a:off x="4709046"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BLUE</a:t>
            </a:r>
            <a:endParaRPr lang="en-US" sz="1300" dirty="0"/>
          </a:p>
        </p:txBody>
      </p:sp>
      <p:sp>
        <p:nvSpPr>
          <p:cNvPr id="27" name="Text 25"/>
          <p:cNvSpPr txBox="1"/>
          <p:nvPr/>
        </p:nvSpPr>
        <p:spPr>
          <a:xfrm>
            <a:off x="4709046"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0x001F</a:t>
            </a:r>
            <a:endParaRPr lang="en-US" sz="1400" dirty="0"/>
          </a:p>
        </p:txBody>
      </p:sp>
      <p:sp>
        <p:nvSpPr>
          <p:cNvPr id="28" name="Shape 26"/>
          <p:cNvSpPr/>
          <p:nvPr/>
        </p:nvSpPr>
        <p:spPr>
          <a:xfrm>
            <a:off x="6205576" y="3977640"/>
            <a:ext cx="1167346" cy="731520"/>
          </a:xfrm>
          <a:prstGeom prst="rect">
            <a:avLst/>
          </a:prstGeom>
          <a:solidFill>
            <a:srgbClr val="F8FC00"/>
          </a:solidFill>
          <a:ln w="9525">
            <a:solidFill>
              <a:srgbClr val="2E4A62"/>
            </a:solidFill>
            <a:prstDash val="solid"/>
          </a:ln>
        </p:spPr>
      </p:sp>
      <p:sp>
        <p:nvSpPr>
          <p:cNvPr id="29" name="Text 27"/>
          <p:cNvSpPr txBox="1"/>
          <p:nvPr/>
        </p:nvSpPr>
        <p:spPr>
          <a:xfrm>
            <a:off x="6095848"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YELLOW</a:t>
            </a:r>
            <a:endParaRPr lang="en-US" sz="1300" dirty="0"/>
          </a:p>
        </p:txBody>
      </p:sp>
      <p:sp>
        <p:nvSpPr>
          <p:cNvPr id="30" name="Text 28"/>
          <p:cNvSpPr txBox="1"/>
          <p:nvPr/>
        </p:nvSpPr>
        <p:spPr>
          <a:xfrm>
            <a:off x="6095848"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0xFFE0</a:t>
            </a:r>
            <a:endParaRPr lang="en-US" sz="1400" dirty="0"/>
          </a:p>
        </p:txBody>
      </p:sp>
      <p:sp>
        <p:nvSpPr>
          <p:cNvPr id="31" name="Shape 29"/>
          <p:cNvSpPr/>
          <p:nvPr/>
        </p:nvSpPr>
        <p:spPr>
          <a:xfrm>
            <a:off x="7592378" y="3977640"/>
            <a:ext cx="1167346" cy="731520"/>
          </a:xfrm>
          <a:prstGeom prst="rect">
            <a:avLst/>
          </a:prstGeom>
          <a:solidFill>
            <a:srgbClr val="00FCF8"/>
          </a:solidFill>
          <a:ln w="9525">
            <a:solidFill>
              <a:srgbClr val="2E4A62"/>
            </a:solidFill>
            <a:prstDash val="solid"/>
          </a:ln>
        </p:spPr>
      </p:sp>
      <p:sp>
        <p:nvSpPr>
          <p:cNvPr id="32" name="Text 30"/>
          <p:cNvSpPr txBox="1"/>
          <p:nvPr/>
        </p:nvSpPr>
        <p:spPr>
          <a:xfrm>
            <a:off x="7482650"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CYAN</a:t>
            </a:r>
            <a:endParaRPr lang="en-US" sz="1300" dirty="0"/>
          </a:p>
        </p:txBody>
      </p:sp>
      <p:sp>
        <p:nvSpPr>
          <p:cNvPr id="33" name="Text 31"/>
          <p:cNvSpPr txBox="1"/>
          <p:nvPr/>
        </p:nvSpPr>
        <p:spPr>
          <a:xfrm>
            <a:off x="7482650"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0x07FF</a:t>
            </a:r>
            <a:endParaRPr lang="en-US" sz="1400" dirty="0"/>
          </a:p>
        </p:txBody>
      </p:sp>
      <p:sp>
        <p:nvSpPr>
          <p:cNvPr id="34" name="Shape 32"/>
          <p:cNvSpPr/>
          <p:nvPr/>
        </p:nvSpPr>
        <p:spPr>
          <a:xfrm>
            <a:off x="8979179" y="3977640"/>
            <a:ext cx="1167346" cy="731520"/>
          </a:xfrm>
          <a:prstGeom prst="rect">
            <a:avLst/>
          </a:prstGeom>
          <a:solidFill>
            <a:srgbClr val="F800F8"/>
          </a:solidFill>
          <a:ln w="9525">
            <a:solidFill>
              <a:srgbClr val="2E4A62"/>
            </a:solidFill>
            <a:prstDash val="solid"/>
          </a:ln>
        </p:spPr>
      </p:sp>
      <p:sp>
        <p:nvSpPr>
          <p:cNvPr id="35" name="Text 33"/>
          <p:cNvSpPr txBox="1"/>
          <p:nvPr/>
        </p:nvSpPr>
        <p:spPr>
          <a:xfrm>
            <a:off x="8869451"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MAGENTA</a:t>
            </a:r>
            <a:endParaRPr lang="en-US" sz="1300" dirty="0"/>
          </a:p>
        </p:txBody>
      </p:sp>
      <p:sp>
        <p:nvSpPr>
          <p:cNvPr id="36" name="Text 34"/>
          <p:cNvSpPr txBox="1"/>
          <p:nvPr/>
        </p:nvSpPr>
        <p:spPr>
          <a:xfrm>
            <a:off x="8869451"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0xF81F</a:t>
            </a:r>
            <a:endParaRPr lang="en-US" sz="1400" dirty="0"/>
          </a:p>
        </p:txBody>
      </p:sp>
      <p:sp>
        <p:nvSpPr>
          <p:cNvPr id="37" name="Shape 35"/>
          <p:cNvSpPr/>
          <p:nvPr/>
        </p:nvSpPr>
        <p:spPr>
          <a:xfrm>
            <a:off x="10365981" y="3977640"/>
            <a:ext cx="1167346" cy="731520"/>
          </a:xfrm>
          <a:prstGeom prst="rect">
            <a:avLst/>
          </a:prstGeom>
          <a:solidFill>
            <a:srgbClr val="FFFFFF"/>
          </a:solidFill>
          <a:ln w="9525">
            <a:solidFill>
              <a:srgbClr val="2E4A62"/>
            </a:solidFill>
            <a:prstDash val="solid"/>
          </a:ln>
        </p:spPr>
      </p:sp>
      <p:sp>
        <p:nvSpPr>
          <p:cNvPr id="38" name="Text 36"/>
          <p:cNvSpPr txBox="1"/>
          <p:nvPr/>
        </p:nvSpPr>
        <p:spPr>
          <a:xfrm>
            <a:off x="10256253"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WHITE</a:t>
            </a:r>
            <a:endParaRPr lang="en-US" sz="1300" dirty="0"/>
          </a:p>
        </p:txBody>
      </p:sp>
      <p:sp>
        <p:nvSpPr>
          <p:cNvPr id="39" name="Text 37"/>
          <p:cNvSpPr txBox="1"/>
          <p:nvPr/>
        </p:nvSpPr>
        <p:spPr>
          <a:xfrm>
            <a:off x="10256253"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0xFFFF</a:t>
            </a:r>
            <a:endParaRPr lang="en-US" sz="1400" dirty="0"/>
          </a:p>
        </p:txBody>
      </p:sp>
      <p:sp>
        <p:nvSpPr>
          <p:cNvPr id="40" name="Text 38"/>
          <p:cNvSpPr txBox="1"/>
          <p:nvPr/>
        </p:nvSpPr>
        <p:spPr>
          <a:xfrm>
            <a:off x="548640" y="5532120"/>
            <a:ext cx="11094415" cy="640080"/>
          </a:xfrm>
          <a:prstGeom prst="rect">
            <a:avLst/>
          </a:prstGeom>
          <a:noFill/>
          <a:ln/>
        </p:spPr>
        <p:txBody>
          <a:bodyPr wrap="square" lIns="0" tIns="0" rIns="0" bIns="0" rtlCol="0" anchor="ctr"/>
          <a:lstStyle/>
          <a:p>
            <a:pPr indent="0" marL="0">
              <a:buNone/>
            </a:pPr>
            <a:r>
              <a:rPr lang="en-US" sz="1600" i="1" dirty="0">
                <a:solidFill>
                  <a:srgbClr val="1B2530"/>
                </a:solidFill>
                <a:latin typeface="Calibri" pitchFamily="34" charset="0"/>
                <a:ea typeface="Calibri" pitchFamily="34" charset="-122"/>
                <a:cs typeface="Calibri" pitchFamily="34" charset="-120"/>
              </a:rPr>
              <a:t>Sixteen bits, three fields. The same sixteen bits could be a number, two characters or half an instruction: the meaning is in how the program uses them.</a:t>
            </a:r>
            <a:endParaRPr lang="en-US" sz="1600" dirty="0"/>
          </a:p>
        </p:txBody>
      </p:sp>
      <p:sp>
        <p:nvSpPr>
          <p:cNvPr id="41" name="Shape 39"/>
          <p:cNvSpPr/>
          <p:nvPr/>
        </p:nvSpPr>
        <p:spPr>
          <a:xfrm>
            <a:off x="8353374" y="91440"/>
            <a:ext cx="3289681" cy="274320"/>
          </a:xfrm>
          <a:prstGeom prst="rect">
            <a:avLst/>
          </a:prstGeom>
          <a:solidFill>
            <a:srgbClr val="E0F2FE"/>
          </a:solidFill>
          <a:ln w="12700">
            <a:solidFill>
              <a:srgbClr val="0369A1"/>
            </a:solidFill>
            <a:prstDash val="solid"/>
          </a:ln>
        </p:spPr>
      </p:sp>
      <p:sp>
        <p:nvSpPr>
          <p:cNvPr id="42" name="Shape 40"/>
          <p:cNvSpPr/>
          <p:nvPr/>
        </p:nvSpPr>
        <p:spPr>
          <a:xfrm>
            <a:off x="8353374" y="91440"/>
            <a:ext cx="73152" cy="274320"/>
          </a:xfrm>
          <a:prstGeom prst="rect">
            <a:avLst/>
          </a:prstGeom>
          <a:solidFill>
            <a:srgbClr val="0369A1"/>
          </a:solidFill>
          <a:ln w="12700">
            <a:solidFill>
              <a:srgbClr val="0369A1"/>
            </a:solidFill>
            <a:prstDash val="solid"/>
          </a:ln>
        </p:spPr>
      </p:sp>
      <p:pic>
        <p:nvPicPr>
          <p:cNvPr id="43"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44" name="Text 41"/>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 colour is a number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ASCII: one character, one byte</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1364067"/>
                <a:gridCol w="1273130"/>
                <a:gridCol w="2182508"/>
                <a:gridCol w="463782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Character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Decimal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Hex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Binary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Note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0x41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0100 0001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capital letters start at 65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0x61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0110 0001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same as A with one more bit: 97 - 65 = 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0x30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0011 0000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character zero is not the number zero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space</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0x20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0010 0000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character like any other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newline</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0000 1010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control character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NUL</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0000 0000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marks the end of a C string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222056" y="91440"/>
            <a:ext cx="3420999" cy="274320"/>
          </a:xfrm>
          <a:prstGeom prst="rect">
            <a:avLst/>
          </a:prstGeom>
          <a:solidFill>
            <a:srgbClr val="E0F2FE"/>
          </a:solidFill>
          <a:ln w="12700">
            <a:solidFill>
              <a:srgbClr val="0369A1"/>
            </a:solidFill>
            <a:prstDash val="solid"/>
          </a:ln>
        </p:spPr>
      </p:sp>
      <p:sp>
        <p:nvSpPr>
          <p:cNvPr id="5" name="Shape 2"/>
          <p:cNvSpPr/>
          <p:nvPr/>
        </p:nvSpPr>
        <p:spPr>
          <a:xfrm>
            <a:off x="8222056"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7" name="Text 3"/>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characters and strings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Strings: a sequence of characters in memory</a:t>
            </a:r>
            <a:endParaRPr lang="en-US" sz="3200" dirty="0"/>
          </a:p>
        </p:txBody>
      </p:sp>
      <p:sp>
        <p:nvSpPr>
          <p:cNvPr id="3" name="Text 1"/>
          <p:cNvSpPr txBox="1"/>
          <p:nvPr/>
        </p:nvSpPr>
        <p:spPr>
          <a:xfrm>
            <a:off x="548640" y="1508760"/>
            <a:ext cx="2194560" cy="566928"/>
          </a:xfrm>
          <a:prstGeom prst="rect">
            <a:avLst/>
          </a:prstGeom>
          <a:noFill/>
          <a:ln/>
        </p:spPr>
        <p:txBody>
          <a:bodyPr wrap="square" lIns="0" tIns="0" rIns="0" bIns="0" rtlCol="0" anchor="ctr"/>
          <a:lstStyle/>
          <a:p>
            <a:pPr indent="0" marL="0">
              <a:buNone/>
            </a:pPr>
            <a:r>
              <a:rPr lang="en-US" sz="1500" b="1" dirty="0">
                <a:solidFill>
                  <a:srgbClr val="2E4A62"/>
                </a:solidFill>
                <a:latin typeface="Calibri" pitchFamily="34" charset="0"/>
                <a:ea typeface="Calibri" pitchFamily="34" charset="-122"/>
                <a:cs typeface="Calibri" pitchFamily="34" charset="-120"/>
              </a:rPr>
              <a:t>C string</a:t>
            </a:r>
            <a:endParaRPr lang="en-US" sz="1500" dirty="0"/>
          </a:p>
        </p:txBody>
      </p:sp>
      <p:sp>
        <p:nvSpPr>
          <p:cNvPr id="4" name="Text 2"/>
          <p:cNvSpPr txBox="1"/>
          <p:nvPr/>
        </p:nvSpPr>
        <p:spPr>
          <a:xfrm>
            <a:off x="2926080"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C</a:t>
            </a:r>
            <a:endParaRPr lang="en-US" sz="1700" dirty="0"/>
          </a:p>
        </p:txBody>
      </p:sp>
      <p:sp>
        <p:nvSpPr>
          <p:cNvPr id="5" name="Text 3"/>
          <p:cNvSpPr txBox="1"/>
          <p:nvPr/>
        </p:nvSpPr>
        <p:spPr>
          <a:xfrm>
            <a:off x="2926080"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43</a:t>
            </a:r>
            <a:endParaRPr lang="en-US" sz="1200" dirty="0"/>
          </a:p>
        </p:txBody>
      </p:sp>
      <p:sp>
        <p:nvSpPr>
          <p:cNvPr id="6" name="Text 4"/>
          <p:cNvSpPr txBox="1"/>
          <p:nvPr/>
        </p:nvSpPr>
        <p:spPr>
          <a:xfrm>
            <a:off x="3639312"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I</a:t>
            </a:r>
            <a:endParaRPr lang="en-US" sz="1700" dirty="0"/>
          </a:p>
        </p:txBody>
      </p:sp>
      <p:sp>
        <p:nvSpPr>
          <p:cNvPr id="7" name="Text 5"/>
          <p:cNvSpPr txBox="1"/>
          <p:nvPr/>
        </p:nvSpPr>
        <p:spPr>
          <a:xfrm>
            <a:off x="3639312"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49</a:t>
            </a:r>
            <a:endParaRPr lang="en-US" sz="1200" dirty="0"/>
          </a:p>
        </p:txBody>
      </p:sp>
      <p:sp>
        <p:nvSpPr>
          <p:cNvPr id="8" name="Text 6"/>
          <p:cNvSpPr txBox="1"/>
          <p:nvPr/>
        </p:nvSpPr>
        <p:spPr>
          <a:xfrm>
            <a:off x="4352544"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A</a:t>
            </a:r>
            <a:endParaRPr lang="en-US" sz="1700" dirty="0"/>
          </a:p>
        </p:txBody>
      </p:sp>
      <p:sp>
        <p:nvSpPr>
          <p:cNvPr id="9" name="Text 7"/>
          <p:cNvSpPr txBox="1"/>
          <p:nvPr/>
        </p:nvSpPr>
        <p:spPr>
          <a:xfrm>
            <a:off x="4352544"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41</a:t>
            </a:r>
            <a:endParaRPr lang="en-US" sz="1200" dirty="0"/>
          </a:p>
        </p:txBody>
      </p:sp>
      <p:sp>
        <p:nvSpPr>
          <p:cNvPr id="10" name="Text 8"/>
          <p:cNvSpPr txBox="1"/>
          <p:nvPr/>
        </p:nvSpPr>
        <p:spPr>
          <a:xfrm>
            <a:off x="5065776"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O</a:t>
            </a:r>
            <a:endParaRPr lang="en-US" sz="1700" dirty="0"/>
          </a:p>
        </p:txBody>
      </p:sp>
      <p:sp>
        <p:nvSpPr>
          <p:cNvPr id="11" name="Text 9"/>
          <p:cNvSpPr txBox="1"/>
          <p:nvPr/>
        </p:nvSpPr>
        <p:spPr>
          <a:xfrm>
            <a:off x="5065776"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4F</a:t>
            </a:r>
            <a:endParaRPr lang="en-US" sz="1200" dirty="0"/>
          </a:p>
        </p:txBody>
      </p:sp>
      <p:sp>
        <p:nvSpPr>
          <p:cNvPr id="12" name="Text 10"/>
          <p:cNvSpPr txBox="1"/>
          <p:nvPr/>
        </p:nvSpPr>
        <p:spPr>
          <a:xfrm>
            <a:off x="5779008" y="1508760"/>
            <a:ext cx="713232" cy="566928"/>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a:t>
            </a:r>
            <a:endParaRPr lang="en-US" sz="1700" dirty="0"/>
          </a:p>
        </p:txBody>
      </p:sp>
      <p:sp>
        <p:nvSpPr>
          <p:cNvPr id="13" name="Text 11"/>
          <p:cNvSpPr txBox="1"/>
          <p:nvPr/>
        </p:nvSpPr>
        <p:spPr>
          <a:xfrm>
            <a:off x="5779008"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00</a:t>
            </a:r>
            <a:endParaRPr lang="en-US" sz="1200" dirty="0"/>
          </a:p>
        </p:txBody>
      </p:sp>
      <p:sp>
        <p:nvSpPr>
          <p:cNvPr id="14" name="Text 12"/>
          <p:cNvSpPr txBox="1"/>
          <p:nvPr/>
        </p:nvSpPr>
        <p:spPr>
          <a:xfrm>
            <a:off x="6720840" y="1508760"/>
            <a:ext cx="4922215" cy="566928"/>
          </a:xfrm>
          <a:prstGeom prst="rect">
            <a:avLst/>
          </a:prstGeom>
          <a:noFill/>
          <a:ln/>
        </p:spPr>
        <p:txBody>
          <a:bodyPr wrap="square" lIns="0" tIns="0" rIns="0" bIns="0" rtlCol="0" anchor="ctr"/>
          <a:lstStyle/>
          <a:p>
            <a:pPr indent="0" marL="0">
              <a:buNone/>
            </a:pPr>
            <a:r>
              <a:rPr lang="en-US" sz="1350" dirty="0">
                <a:solidFill>
                  <a:srgbClr val="5B6B78"/>
                </a:solidFill>
                <a:latin typeface="Calibri" pitchFamily="34" charset="0"/>
                <a:ea typeface="Calibri" pitchFamily="34" charset="-122"/>
                <a:cs typeface="Calibri" pitchFamily="34" charset="-120"/>
              </a:rPr>
              <a:t>the end is marked by a zero byte</a:t>
            </a:r>
            <a:endParaRPr lang="en-US" sz="1350" dirty="0"/>
          </a:p>
        </p:txBody>
      </p:sp>
      <p:sp>
        <p:nvSpPr>
          <p:cNvPr id="15" name="Text 13"/>
          <p:cNvSpPr txBox="1"/>
          <p:nvPr/>
        </p:nvSpPr>
        <p:spPr>
          <a:xfrm>
            <a:off x="548640" y="2651760"/>
            <a:ext cx="2194560" cy="566928"/>
          </a:xfrm>
          <a:prstGeom prst="rect">
            <a:avLst/>
          </a:prstGeom>
          <a:noFill/>
          <a:ln/>
        </p:spPr>
        <p:txBody>
          <a:bodyPr wrap="square" lIns="0" tIns="0" rIns="0" bIns="0" rtlCol="0" anchor="ctr"/>
          <a:lstStyle/>
          <a:p>
            <a:pPr indent="0" marL="0">
              <a:buNone/>
            </a:pPr>
            <a:r>
              <a:rPr lang="en-US" sz="1500" b="1" dirty="0">
                <a:solidFill>
                  <a:srgbClr val="2E4A62"/>
                </a:solidFill>
                <a:latin typeface="Calibri" pitchFamily="34" charset="0"/>
                <a:ea typeface="Calibri" pitchFamily="34" charset="-122"/>
                <a:cs typeface="Calibri" pitchFamily="34" charset="-120"/>
              </a:rPr>
              <a:t>Pascal string</a:t>
            </a:r>
            <a:endParaRPr lang="en-US" sz="1500" dirty="0"/>
          </a:p>
        </p:txBody>
      </p:sp>
      <p:sp>
        <p:nvSpPr>
          <p:cNvPr id="16" name="Text 14"/>
          <p:cNvSpPr txBox="1"/>
          <p:nvPr/>
        </p:nvSpPr>
        <p:spPr>
          <a:xfrm>
            <a:off x="2926080" y="2651760"/>
            <a:ext cx="713232"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4</a:t>
            </a:r>
            <a:endParaRPr lang="en-US" sz="1700" dirty="0"/>
          </a:p>
        </p:txBody>
      </p:sp>
      <p:sp>
        <p:nvSpPr>
          <p:cNvPr id="17" name="Text 15"/>
          <p:cNvSpPr txBox="1"/>
          <p:nvPr/>
        </p:nvSpPr>
        <p:spPr>
          <a:xfrm>
            <a:off x="2926080"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04</a:t>
            </a:r>
            <a:endParaRPr lang="en-US" sz="1200" dirty="0"/>
          </a:p>
        </p:txBody>
      </p:sp>
      <p:sp>
        <p:nvSpPr>
          <p:cNvPr id="18" name="Text 16"/>
          <p:cNvSpPr txBox="1"/>
          <p:nvPr/>
        </p:nvSpPr>
        <p:spPr>
          <a:xfrm>
            <a:off x="3639312"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C</a:t>
            </a:r>
            <a:endParaRPr lang="en-US" sz="1700" dirty="0"/>
          </a:p>
        </p:txBody>
      </p:sp>
      <p:sp>
        <p:nvSpPr>
          <p:cNvPr id="19" name="Text 17"/>
          <p:cNvSpPr txBox="1"/>
          <p:nvPr/>
        </p:nvSpPr>
        <p:spPr>
          <a:xfrm>
            <a:off x="3639312"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43</a:t>
            </a:r>
            <a:endParaRPr lang="en-US" sz="1200" dirty="0"/>
          </a:p>
        </p:txBody>
      </p:sp>
      <p:sp>
        <p:nvSpPr>
          <p:cNvPr id="20" name="Text 18"/>
          <p:cNvSpPr txBox="1"/>
          <p:nvPr/>
        </p:nvSpPr>
        <p:spPr>
          <a:xfrm>
            <a:off x="4352544"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I</a:t>
            </a:r>
            <a:endParaRPr lang="en-US" sz="1700" dirty="0"/>
          </a:p>
        </p:txBody>
      </p:sp>
      <p:sp>
        <p:nvSpPr>
          <p:cNvPr id="21" name="Text 19"/>
          <p:cNvSpPr txBox="1"/>
          <p:nvPr/>
        </p:nvSpPr>
        <p:spPr>
          <a:xfrm>
            <a:off x="4352544"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49</a:t>
            </a:r>
            <a:endParaRPr lang="en-US" sz="1200" dirty="0"/>
          </a:p>
        </p:txBody>
      </p:sp>
      <p:sp>
        <p:nvSpPr>
          <p:cNvPr id="22" name="Text 20"/>
          <p:cNvSpPr txBox="1"/>
          <p:nvPr/>
        </p:nvSpPr>
        <p:spPr>
          <a:xfrm>
            <a:off x="5065776"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A</a:t>
            </a:r>
            <a:endParaRPr lang="en-US" sz="1700" dirty="0"/>
          </a:p>
        </p:txBody>
      </p:sp>
      <p:sp>
        <p:nvSpPr>
          <p:cNvPr id="23" name="Text 21"/>
          <p:cNvSpPr txBox="1"/>
          <p:nvPr/>
        </p:nvSpPr>
        <p:spPr>
          <a:xfrm>
            <a:off x="5065776"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41</a:t>
            </a:r>
            <a:endParaRPr lang="en-US" sz="1200" dirty="0"/>
          </a:p>
        </p:txBody>
      </p:sp>
      <p:sp>
        <p:nvSpPr>
          <p:cNvPr id="24" name="Text 22"/>
          <p:cNvSpPr txBox="1"/>
          <p:nvPr/>
        </p:nvSpPr>
        <p:spPr>
          <a:xfrm>
            <a:off x="5779008"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O</a:t>
            </a:r>
            <a:endParaRPr lang="en-US" sz="1700" dirty="0"/>
          </a:p>
        </p:txBody>
      </p:sp>
      <p:sp>
        <p:nvSpPr>
          <p:cNvPr id="25" name="Text 23"/>
          <p:cNvSpPr txBox="1"/>
          <p:nvPr/>
        </p:nvSpPr>
        <p:spPr>
          <a:xfrm>
            <a:off x="5779008"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4F</a:t>
            </a:r>
            <a:endParaRPr lang="en-US" sz="1200" dirty="0"/>
          </a:p>
        </p:txBody>
      </p:sp>
      <p:sp>
        <p:nvSpPr>
          <p:cNvPr id="26" name="Text 24"/>
          <p:cNvSpPr txBox="1"/>
          <p:nvPr/>
        </p:nvSpPr>
        <p:spPr>
          <a:xfrm>
            <a:off x="6720840" y="2651760"/>
            <a:ext cx="4922215" cy="566928"/>
          </a:xfrm>
          <a:prstGeom prst="rect">
            <a:avLst/>
          </a:prstGeom>
          <a:noFill/>
          <a:ln/>
        </p:spPr>
        <p:txBody>
          <a:bodyPr wrap="square" lIns="0" tIns="0" rIns="0" bIns="0" rtlCol="0" anchor="ctr"/>
          <a:lstStyle/>
          <a:p>
            <a:pPr indent="0" marL="0">
              <a:buNone/>
            </a:pPr>
            <a:r>
              <a:rPr lang="en-US" sz="1350" dirty="0">
                <a:solidFill>
                  <a:srgbClr val="5B6B78"/>
                </a:solidFill>
                <a:latin typeface="Calibri" pitchFamily="34" charset="0"/>
                <a:ea typeface="Calibri" pitchFamily="34" charset="-122"/>
                <a:cs typeface="Calibri" pitchFamily="34" charset="-120"/>
              </a:rPr>
              <a:t>the length comes first</a:t>
            </a:r>
            <a:endParaRPr lang="en-US" sz="1350" dirty="0"/>
          </a:p>
        </p:txBody>
      </p:sp>
      <p:sp>
        <p:nvSpPr>
          <p:cNvPr id="27" name="Text 25"/>
          <p:cNvSpPr txBox="1"/>
          <p:nvPr/>
        </p:nvSpPr>
        <p:spPr>
          <a:xfrm>
            <a:off x="548640" y="3931920"/>
            <a:ext cx="2194560" cy="566928"/>
          </a:xfrm>
          <a:prstGeom prst="rect">
            <a:avLst/>
          </a:prstGeom>
          <a:noFill/>
          <a:ln/>
        </p:spPr>
        <p:txBody>
          <a:bodyPr wrap="square" lIns="0" tIns="0" rIns="0" bIns="0" rtlCol="0" anchor="ctr"/>
          <a:lstStyle/>
          <a:p>
            <a:pPr indent="0" marL="0">
              <a:buNone/>
            </a:pPr>
            <a:r>
              <a:rPr lang="en-US" sz="1500" b="1" dirty="0">
                <a:solidFill>
                  <a:srgbClr val="2E4A62"/>
                </a:solidFill>
                <a:latin typeface="Calibri" pitchFamily="34" charset="0"/>
                <a:ea typeface="Calibri" pitchFamily="34" charset="-122"/>
                <a:cs typeface="Calibri" pitchFamily="34" charset="-120"/>
              </a:rPr>
              <a:t>.asciz "HELLO PRG32"</a:t>
            </a:r>
            <a:endParaRPr lang="en-US" sz="1500" dirty="0"/>
          </a:p>
        </p:txBody>
      </p:sp>
      <p:sp>
        <p:nvSpPr>
          <p:cNvPr id="28" name="Text 26"/>
          <p:cNvSpPr txBox="1"/>
          <p:nvPr/>
        </p:nvSpPr>
        <p:spPr>
          <a:xfrm>
            <a:off x="2926080"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H</a:t>
            </a:r>
            <a:endParaRPr lang="en-US" sz="1700" dirty="0"/>
          </a:p>
        </p:txBody>
      </p:sp>
      <p:sp>
        <p:nvSpPr>
          <p:cNvPr id="29" name="Text 27"/>
          <p:cNvSpPr txBox="1"/>
          <p:nvPr/>
        </p:nvSpPr>
        <p:spPr>
          <a:xfrm>
            <a:off x="2926080"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48</a:t>
            </a:r>
            <a:endParaRPr lang="en-US" sz="1200" dirty="0"/>
          </a:p>
        </p:txBody>
      </p:sp>
      <p:sp>
        <p:nvSpPr>
          <p:cNvPr id="30" name="Text 28"/>
          <p:cNvSpPr txBox="1"/>
          <p:nvPr/>
        </p:nvSpPr>
        <p:spPr>
          <a:xfrm>
            <a:off x="3639312"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E</a:t>
            </a:r>
            <a:endParaRPr lang="en-US" sz="1700" dirty="0"/>
          </a:p>
        </p:txBody>
      </p:sp>
      <p:sp>
        <p:nvSpPr>
          <p:cNvPr id="31" name="Text 29"/>
          <p:cNvSpPr txBox="1"/>
          <p:nvPr/>
        </p:nvSpPr>
        <p:spPr>
          <a:xfrm>
            <a:off x="3639312"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45</a:t>
            </a:r>
            <a:endParaRPr lang="en-US" sz="1200" dirty="0"/>
          </a:p>
        </p:txBody>
      </p:sp>
      <p:sp>
        <p:nvSpPr>
          <p:cNvPr id="32" name="Text 30"/>
          <p:cNvSpPr txBox="1"/>
          <p:nvPr/>
        </p:nvSpPr>
        <p:spPr>
          <a:xfrm>
            <a:off x="4352544"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L</a:t>
            </a:r>
            <a:endParaRPr lang="en-US" sz="1700" dirty="0"/>
          </a:p>
        </p:txBody>
      </p:sp>
      <p:sp>
        <p:nvSpPr>
          <p:cNvPr id="33" name="Text 31"/>
          <p:cNvSpPr txBox="1"/>
          <p:nvPr/>
        </p:nvSpPr>
        <p:spPr>
          <a:xfrm>
            <a:off x="4352544"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4C</a:t>
            </a:r>
            <a:endParaRPr lang="en-US" sz="1200" dirty="0"/>
          </a:p>
        </p:txBody>
      </p:sp>
      <p:sp>
        <p:nvSpPr>
          <p:cNvPr id="34" name="Text 32"/>
          <p:cNvSpPr txBox="1"/>
          <p:nvPr/>
        </p:nvSpPr>
        <p:spPr>
          <a:xfrm>
            <a:off x="5065776"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L</a:t>
            </a:r>
            <a:endParaRPr lang="en-US" sz="1700" dirty="0"/>
          </a:p>
        </p:txBody>
      </p:sp>
      <p:sp>
        <p:nvSpPr>
          <p:cNvPr id="35" name="Text 33"/>
          <p:cNvSpPr txBox="1"/>
          <p:nvPr/>
        </p:nvSpPr>
        <p:spPr>
          <a:xfrm>
            <a:off x="5065776"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4C</a:t>
            </a:r>
            <a:endParaRPr lang="en-US" sz="1200" dirty="0"/>
          </a:p>
        </p:txBody>
      </p:sp>
      <p:sp>
        <p:nvSpPr>
          <p:cNvPr id="36" name="Text 34"/>
          <p:cNvSpPr txBox="1"/>
          <p:nvPr/>
        </p:nvSpPr>
        <p:spPr>
          <a:xfrm>
            <a:off x="5779008"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O</a:t>
            </a:r>
            <a:endParaRPr lang="en-US" sz="1700" dirty="0"/>
          </a:p>
        </p:txBody>
      </p:sp>
      <p:sp>
        <p:nvSpPr>
          <p:cNvPr id="37" name="Text 35"/>
          <p:cNvSpPr txBox="1"/>
          <p:nvPr/>
        </p:nvSpPr>
        <p:spPr>
          <a:xfrm>
            <a:off x="5779008"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4F</a:t>
            </a:r>
            <a:endParaRPr lang="en-US" sz="1200" dirty="0"/>
          </a:p>
        </p:txBody>
      </p:sp>
      <p:sp>
        <p:nvSpPr>
          <p:cNvPr id="38" name="Text 36"/>
          <p:cNvSpPr txBox="1"/>
          <p:nvPr/>
        </p:nvSpPr>
        <p:spPr>
          <a:xfrm>
            <a:off x="6492240"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a:t>
            </a:r>
            <a:endParaRPr lang="en-US" sz="1700" dirty="0"/>
          </a:p>
        </p:txBody>
      </p:sp>
      <p:sp>
        <p:nvSpPr>
          <p:cNvPr id="39" name="Text 37"/>
          <p:cNvSpPr txBox="1"/>
          <p:nvPr/>
        </p:nvSpPr>
        <p:spPr>
          <a:xfrm>
            <a:off x="6492240"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20</a:t>
            </a:r>
            <a:endParaRPr lang="en-US" sz="1200" dirty="0"/>
          </a:p>
        </p:txBody>
      </p:sp>
      <p:sp>
        <p:nvSpPr>
          <p:cNvPr id="40" name="Text 38"/>
          <p:cNvSpPr txBox="1"/>
          <p:nvPr/>
        </p:nvSpPr>
        <p:spPr>
          <a:xfrm>
            <a:off x="7205472"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P</a:t>
            </a:r>
            <a:endParaRPr lang="en-US" sz="1700" dirty="0"/>
          </a:p>
        </p:txBody>
      </p:sp>
      <p:sp>
        <p:nvSpPr>
          <p:cNvPr id="41" name="Text 39"/>
          <p:cNvSpPr txBox="1"/>
          <p:nvPr/>
        </p:nvSpPr>
        <p:spPr>
          <a:xfrm>
            <a:off x="7205472"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50</a:t>
            </a:r>
            <a:endParaRPr lang="en-US" sz="1200" dirty="0"/>
          </a:p>
        </p:txBody>
      </p:sp>
      <p:sp>
        <p:nvSpPr>
          <p:cNvPr id="42" name="Text 40"/>
          <p:cNvSpPr txBox="1"/>
          <p:nvPr/>
        </p:nvSpPr>
        <p:spPr>
          <a:xfrm>
            <a:off x="7918704"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R</a:t>
            </a:r>
            <a:endParaRPr lang="en-US" sz="1700" dirty="0"/>
          </a:p>
        </p:txBody>
      </p:sp>
      <p:sp>
        <p:nvSpPr>
          <p:cNvPr id="43" name="Text 41"/>
          <p:cNvSpPr txBox="1"/>
          <p:nvPr/>
        </p:nvSpPr>
        <p:spPr>
          <a:xfrm>
            <a:off x="7918704"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52</a:t>
            </a:r>
            <a:endParaRPr lang="en-US" sz="1200" dirty="0"/>
          </a:p>
        </p:txBody>
      </p:sp>
      <p:sp>
        <p:nvSpPr>
          <p:cNvPr id="44" name="Text 42"/>
          <p:cNvSpPr txBox="1"/>
          <p:nvPr/>
        </p:nvSpPr>
        <p:spPr>
          <a:xfrm>
            <a:off x="8631936"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G</a:t>
            </a:r>
            <a:endParaRPr lang="en-US" sz="1700" dirty="0"/>
          </a:p>
        </p:txBody>
      </p:sp>
      <p:sp>
        <p:nvSpPr>
          <p:cNvPr id="45" name="Text 43"/>
          <p:cNvSpPr txBox="1"/>
          <p:nvPr/>
        </p:nvSpPr>
        <p:spPr>
          <a:xfrm>
            <a:off x="8631936"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47</a:t>
            </a:r>
            <a:endParaRPr lang="en-US" sz="1200" dirty="0"/>
          </a:p>
        </p:txBody>
      </p:sp>
      <p:sp>
        <p:nvSpPr>
          <p:cNvPr id="46" name="Text 44"/>
          <p:cNvSpPr txBox="1"/>
          <p:nvPr/>
        </p:nvSpPr>
        <p:spPr>
          <a:xfrm>
            <a:off x="9345168"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3</a:t>
            </a:r>
            <a:endParaRPr lang="en-US" sz="1700" dirty="0"/>
          </a:p>
        </p:txBody>
      </p:sp>
      <p:sp>
        <p:nvSpPr>
          <p:cNvPr id="47" name="Text 45"/>
          <p:cNvSpPr txBox="1"/>
          <p:nvPr/>
        </p:nvSpPr>
        <p:spPr>
          <a:xfrm>
            <a:off x="9345168"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33</a:t>
            </a:r>
            <a:endParaRPr lang="en-US" sz="1200" dirty="0"/>
          </a:p>
        </p:txBody>
      </p:sp>
      <p:sp>
        <p:nvSpPr>
          <p:cNvPr id="48" name="Text 46"/>
          <p:cNvSpPr txBox="1"/>
          <p:nvPr/>
        </p:nvSpPr>
        <p:spPr>
          <a:xfrm>
            <a:off x="10058400"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2</a:t>
            </a:r>
            <a:endParaRPr lang="en-US" sz="1700" dirty="0"/>
          </a:p>
        </p:txBody>
      </p:sp>
      <p:sp>
        <p:nvSpPr>
          <p:cNvPr id="49" name="Text 47"/>
          <p:cNvSpPr txBox="1"/>
          <p:nvPr/>
        </p:nvSpPr>
        <p:spPr>
          <a:xfrm>
            <a:off x="10058400"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32</a:t>
            </a:r>
            <a:endParaRPr lang="en-US" sz="1200" dirty="0"/>
          </a:p>
        </p:txBody>
      </p:sp>
      <p:sp>
        <p:nvSpPr>
          <p:cNvPr id="50" name="Text 48"/>
          <p:cNvSpPr txBox="1"/>
          <p:nvPr/>
        </p:nvSpPr>
        <p:spPr>
          <a:xfrm>
            <a:off x="10771632" y="3931920"/>
            <a:ext cx="713232" cy="566928"/>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a:t>
            </a:r>
            <a:endParaRPr lang="en-US" sz="1700" dirty="0"/>
          </a:p>
        </p:txBody>
      </p:sp>
      <p:sp>
        <p:nvSpPr>
          <p:cNvPr id="51" name="Text 49"/>
          <p:cNvSpPr txBox="1"/>
          <p:nvPr/>
        </p:nvSpPr>
        <p:spPr>
          <a:xfrm>
            <a:off x="10771632"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00</a:t>
            </a:r>
            <a:endParaRPr lang="en-US" sz="1200" dirty="0"/>
          </a:p>
        </p:txBody>
      </p:sp>
      <p:sp>
        <p:nvSpPr>
          <p:cNvPr id="52" name="Shape 50"/>
          <p:cNvSpPr/>
          <p:nvPr/>
        </p:nvSpPr>
        <p:spPr>
          <a:xfrm>
            <a:off x="548640" y="4846320"/>
            <a:ext cx="11094415" cy="1325880"/>
          </a:xfrm>
          <a:prstGeom prst="roundRect">
            <a:avLst>
              <a:gd name="adj" fmla="val 5517"/>
            </a:avLst>
          </a:prstGeom>
          <a:solidFill>
            <a:srgbClr val="D8ECEE"/>
          </a:solidFill>
          <a:ln w="12700">
            <a:solidFill>
              <a:srgbClr val="D8ECEE"/>
            </a:solidFill>
            <a:prstDash val="solid"/>
          </a:ln>
        </p:spPr>
      </p:sp>
      <p:sp>
        <p:nvSpPr>
          <p:cNvPr id="53" name="Text 51"/>
          <p:cNvSpPr txBox="1"/>
          <p:nvPr/>
        </p:nvSpPr>
        <p:spPr>
          <a:xfrm>
            <a:off x="822960" y="4892040"/>
            <a:ext cx="10545775" cy="123444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z of .asciz means zero-terminated: the assembler stores twelve bytes for eleven characters. prg32_gfx_text8 receives only the address of the first byte in a2, and reads until it finds the zero.</a:t>
            </a:r>
            <a:endParaRPr lang="en-US" sz="1700" dirty="0"/>
          </a:p>
        </p:txBody>
      </p:sp>
      <p:sp>
        <p:nvSpPr>
          <p:cNvPr id="54" name="Shape 52"/>
          <p:cNvSpPr/>
          <p:nvPr/>
        </p:nvSpPr>
        <p:spPr>
          <a:xfrm>
            <a:off x="8222056" y="91440"/>
            <a:ext cx="3420999" cy="274320"/>
          </a:xfrm>
          <a:prstGeom prst="rect">
            <a:avLst/>
          </a:prstGeom>
          <a:solidFill>
            <a:srgbClr val="E0F2FE"/>
          </a:solidFill>
          <a:ln w="12700">
            <a:solidFill>
              <a:srgbClr val="0369A1"/>
            </a:solidFill>
            <a:prstDash val="solid"/>
          </a:ln>
        </p:spPr>
      </p:sp>
      <p:sp>
        <p:nvSpPr>
          <p:cNvPr id="55" name="Shape 53"/>
          <p:cNvSpPr/>
          <p:nvPr/>
        </p:nvSpPr>
        <p:spPr>
          <a:xfrm>
            <a:off x="8222056" y="91440"/>
            <a:ext cx="73152" cy="274320"/>
          </a:xfrm>
          <a:prstGeom prst="rect">
            <a:avLst/>
          </a:prstGeom>
          <a:solidFill>
            <a:srgbClr val="0369A1"/>
          </a:solidFill>
          <a:ln w="12700">
            <a:solidFill>
              <a:srgbClr val="0369A1"/>
            </a:solidFill>
            <a:prstDash val="solid"/>
          </a:ln>
        </p:spPr>
      </p:sp>
      <p:pic>
        <p:nvPicPr>
          <p:cNvPr id="5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57" name="Text 5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characters and strings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Unicode and UTF-8: every writing system</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18757"/>
                <a:gridCol w="2364384"/>
                <a:gridCol w="3091886"/>
                <a:gridCol w="381938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Character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Code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UTF-8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Length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U+0041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41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byte: identical to ASCII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è</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U+00E8</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C3 A8</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U+20AC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E2 82 AC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日</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U+65E5</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E6 97 A5</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U+1F600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F0 9F 98 80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Unicode gives every character a number; UTF-8 stores it in one to four bytes, and plain ASCII text is already valid UTF-8.</a:t>
            </a:r>
            <a:endParaRPr lang="en-US" sz="1400" dirty="0"/>
          </a:p>
        </p:txBody>
      </p:sp>
      <p:sp>
        <p:nvSpPr>
          <p:cNvPr id="5" name="Shape 2"/>
          <p:cNvSpPr/>
          <p:nvPr/>
        </p:nvSpPr>
        <p:spPr>
          <a:xfrm>
            <a:off x="8222056" y="91440"/>
            <a:ext cx="3420999" cy="274320"/>
          </a:xfrm>
          <a:prstGeom prst="rect">
            <a:avLst/>
          </a:prstGeom>
          <a:solidFill>
            <a:srgbClr val="E0F2FE"/>
          </a:solidFill>
          <a:ln w="12700">
            <a:solidFill>
              <a:srgbClr val="0369A1"/>
            </a:solidFill>
            <a:prstDash val="solid"/>
          </a:ln>
        </p:spPr>
      </p:sp>
      <p:sp>
        <p:nvSpPr>
          <p:cNvPr id="6" name="Shape 3"/>
          <p:cNvSpPr/>
          <p:nvPr/>
        </p:nvSpPr>
        <p:spPr>
          <a:xfrm>
            <a:off x="8222056"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8" name="Text 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characters and strings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Byte order: little-endian</a:t>
            </a:r>
            <a:endParaRPr lang="en-US" sz="3200" dirty="0"/>
          </a:p>
        </p:txBody>
      </p:sp>
      <p:sp>
        <p:nvSpPr>
          <p:cNvPr id="3" name="Text 1"/>
          <p:cNvSpPr txBox="1"/>
          <p:nvPr/>
        </p:nvSpPr>
        <p:spPr>
          <a:xfrm>
            <a:off x="548640" y="1371600"/>
            <a:ext cx="11094415" cy="457200"/>
          </a:xfrm>
          <a:prstGeom prst="rect">
            <a:avLst/>
          </a:prstGeom>
          <a:noFill/>
          <a:ln/>
        </p:spPr>
        <p:txBody>
          <a:bodyPr wrap="square" lIns="0" tIns="0" rIns="0" bIns="0" rtlCol="0" anchor="t"/>
          <a:lstStyle/>
          <a:p>
            <a:pPr algn="ctr" indent="0" marL="0">
              <a:buNone/>
            </a:pPr>
            <a:r>
              <a:rPr lang="en-US" sz="2400" b="1" dirty="0">
                <a:solidFill>
                  <a:srgbClr val="2E4A62"/>
                </a:solidFill>
                <a:latin typeface="Courier New" pitchFamily="34" charset="0"/>
                <a:ea typeface="Courier New" pitchFamily="34" charset="-122"/>
                <a:cs typeface="Courier New" pitchFamily="34" charset="-120"/>
              </a:rPr>
              <a:t>value: .word 0x12345678</a:t>
            </a:r>
            <a:endParaRPr lang="en-US" sz="2400" dirty="0"/>
          </a:p>
        </p:txBody>
      </p:sp>
      <p:sp>
        <p:nvSpPr>
          <p:cNvPr id="4" name="Text 2"/>
          <p:cNvSpPr txBox="1"/>
          <p:nvPr/>
        </p:nvSpPr>
        <p:spPr>
          <a:xfrm>
            <a:off x="548640" y="2331720"/>
            <a:ext cx="3383280" cy="731520"/>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little-endian</a:t>
            </a:r>
            <a:endParaRPr lang="en-US" sz="1600" dirty="0"/>
          </a:p>
          <a:p>
            <a:pPr algn="r" indent="0" marL="0">
              <a:buNone/>
            </a:pPr>
            <a:r>
              <a:rPr lang="en-US" sz="1600" b="1" dirty="0">
                <a:solidFill>
                  <a:srgbClr val="1B2530"/>
                </a:solidFill>
                <a:latin typeface="Calibri" pitchFamily="34" charset="0"/>
                <a:ea typeface="Calibri" pitchFamily="34" charset="-122"/>
                <a:cs typeface="Calibri" pitchFamily="34" charset="-120"/>
              </a:rPr>
              <a:t>(RISC-V, x86, ARM)</a:t>
            </a:r>
            <a:endParaRPr lang="en-US" sz="1600" dirty="0"/>
          </a:p>
        </p:txBody>
      </p:sp>
      <p:sp>
        <p:nvSpPr>
          <p:cNvPr id="5" name="Text 3"/>
          <p:cNvSpPr txBox="1"/>
          <p:nvPr/>
        </p:nvSpPr>
        <p:spPr>
          <a:xfrm>
            <a:off x="4206240" y="2331720"/>
            <a:ext cx="137160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78</a:t>
            </a:r>
            <a:endParaRPr lang="en-US" sz="2400" dirty="0"/>
          </a:p>
        </p:txBody>
      </p:sp>
      <p:sp>
        <p:nvSpPr>
          <p:cNvPr id="6" name="Text 4"/>
          <p:cNvSpPr txBox="1"/>
          <p:nvPr/>
        </p:nvSpPr>
        <p:spPr>
          <a:xfrm>
            <a:off x="42062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A+0</a:t>
            </a:r>
            <a:endParaRPr lang="en-US" sz="1050" dirty="0"/>
          </a:p>
        </p:txBody>
      </p:sp>
      <p:sp>
        <p:nvSpPr>
          <p:cNvPr id="7" name="Text 5"/>
          <p:cNvSpPr txBox="1"/>
          <p:nvPr/>
        </p:nvSpPr>
        <p:spPr>
          <a:xfrm>
            <a:off x="5577840" y="2331720"/>
            <a:ext cx="137160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56</a:t>
            </a:r>
            <a:endParaRPr lang="en-US" sz="2400" dirty="0"/>
          </a:p>
        </p:txBody>
      </p:sp>
      <p:sp>
        <p:nvSpPr>
          <p:cNvPr id="8" name="Text 6"/>
          <p:cNvSpPr txBox="1"/>
          <p:nvPr/>
        </p:nvSpPr>
        <p:spPr>
          <a:xfrm>
            <a:off x="55778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A+1</a:t>
            </a:r>
            <a:endParaRPr lang="en-US" sz="1050" dirty="0"/>
          </a:p>
        </p:txBody>
      </p:sp>
      <p:sp>
        <p:nvSpPr>
          <p:cNvPr id="9" name="Text 7"/>
          <p:cNvSpPr txBox="1"/>
          <p:nvPr/>
        </p:nvSpPr>
        <p:spPr>
          <a:xfrm>
            <a:off x="6949440" y="2331720"/>
            <a:ext cx="137160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34</a:t>
            </a:r>
            <a:endParaRPr lang="en-US" sz="2400" dirty="0"/>
          </a:p>
        </p:txBody>
      </p:sp>
      <p:sp>
        <p:nvSpPr>
          <p:cNvPr id="10" name="Text 8"/>
          <p:cNvSpPr txBox="1"/>
          <p:nvPr/>
        </p:nvSpPr>
        <p:spPr>
          <a:xfrm>
            <a:off x="69494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A+2</a:t>
            </a:r>
            <a:endParaRPr lang="en-US" sz="1050" dirty="0"/>
          </a:p>
        </p:txBody>
      </p:sp>
      <p:sp>
        <p:nvSpPr>
          <p:cNvPr id="11" name="Text 9"/>
          <p:cNvSpPr txBox="1"/>
          <p:nvPr/>
        </p:nvSpPr>
        <p:spPr>
          <a:xfrm>
            <a:off x="8321040" y="2331720"/>
            <a:ext cx="137160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12</a:t>
            </a:r>
            <a:endParaRPr lang="en-US" sz="2400" dirty="0"/>
          </a:p>
        </p:txBody>
      </p:sp>
      <p:sp>
        <p:nvSpPr>
          <p:cNvPr id="12" name="Text 10"/>
          <p:cNvSpPr txBox="1"/>
          <p:nvPr/>
        </p:nvSpPr>
        <p:spPr>
          <a:xfrm>
            <a:off x="83210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A+3</a:t>
            </a:r>
            <a:endParaRPr lang="en-US" sz="1050" dirty="0"/>
          </a:p>
        </p:txBody>
      </p:sp>
      <p:sp>
        <p:nvSpPr>
          <p:cNvPr id="13" name="Text 11"/>
          <p:cNvSpPr txBox="1"/>
          <p:nvPr/>
        </p:nvSpPr>
        <p:spPr>
          <a:xfrm>
            <a:off x="548640" y="3703320"/>
            <a:ext cx="3383280" cy="731520"/>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big-endian</a:t>
            </a:r>
            <a:endParaRPr lang="en-US" sz="1600" dirty="0"/>
          </a:p>
          <a:p>
            <a:pPr algn="r" indent="0" marL="0">
              <a:buNone/>
            </a:pPr>
            <a:r>
              <a:rPr lang="en-US" sz="1600" b="1" dirty="0">
                <a:solidFill>
                  <a:srgbClr val="1B2530"/>
                </a:solidFill>
                <a:latin typeface="Calibri" pitchFamily="34" charset="0"/>
                <a:ea typeface="Calibri" pitchFamily="34" charset="-122"/>
                <a:cs typeface="Calibri" pitchFamily="34" charset="-120"/>
              </a:rPr>
              <a:t>(network protocols)</a:t>
            </a:r>
            <a:endParaRPr lang="en-US" sz="1600" dirty="0"/>
          </a:p>
        </p:txBody>
      </p:sp>
      <p:sp>
        <p:nvSpPr>
          <p:cNvPr id="14" name="Text 12"/>
          <p:cNvSpPr txBox="1"/>
          <p:nvPr/>
        </p:nvSpPr>
        <p:spPr>
          <a:xfrm>
            <a:off x="4206240" y="3703320"/>
            <a:ext cx="137160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12</a:t>
            </a:r>
            <a:endParaRPr lang="en-US" sz="2400" dirty="0"/>
          </a:p>
        </p:txBody>
      </p:sp>
      <p:sp>
        <p:nvSpPr>
          <p:cNvPr id="15" name="Text 13"/>
          <p:cNvSpPr txBox="1"/>
          <p:nvPr/>
        </p:nvSpPr>
        <p:spPr>
          <a:xfrm>
            <a:off x="42062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A+0</a:t>
            </a:r>
            <a:endParaRPr lang="en-US" sz="1050" dirty="0"/>
          </a:p>
        </p:txBody>
      </p:sp>
      <p:sp>
        <p:nvSpPr>
          <p:cNvPr id="16" name="Text 14"/>
          <p:cNvSpPr txBox="1"/>
          <p:nvPr/>
        </p:nvSpPr>
        <p:spPr>
          <a:xfrm>
            <a:off x="5577840" y="3703320"/>
            <a:ext cx="137160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34</a:t>
            </a:r>
            <a:endParaRPr lang="en-US" sz="2400" dirty="0"/>
          </a:p>
        </p:txBody>
      </p:sp>
      <p:sp>
        <p:nvSpPr>
          <p:cNvPr id="17" name="Text 15"/>
          <p:cNvSpPr txBox="1"/>
          <p:nvPr/>
        </p:nvSpPr>
        <p:spPr>
          <a:xfrm>
            <a:off x="55778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A+1</a:t>
            </a:r>
            <a:endParaRPr lang="en-US" sz="1050" dirty="0"/>
          </a:p>
        </p:txBody>
      </p:sp>
      <p:sp>
        <p:nvSpPr>
          <p:cNvPr id="18" name="Text 16"/>
          <p:cNvSpPr txBox="1"/>
          <p:nvPr/>
        </p:nvSpPr>
        <p:spPr>
          <a:xfrm>
            <a:off x="6949440" y="3703320"/>
            <a:ext cx="137160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56</a:t>
            </a:r>
            <a:endParaRPr lang="en-US" sz="2400" dirty="0"/>
          </a:p>
        </p:txBody>
      </p:sp>
      <p:sp>
        <p:nvSpPr>
          <p:cNvPr id="19" name="Text 17"/>
          <p:cNvSpPr txBox="1"/>
          <p:nvPr/>
        </p:nvSpPr>
        <p:spPr>
          <a:xfrm>
            <a:off x="69494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A+2</a:t>
            </a:r>
            <a:endParaRPr lang="en-US" sz="1050" dirty="0"/>
          </a:p>
        </p:txBody>
      </p:sp>
      <p:sp>
        <p:nvSpPr>
          <p:cNvPr id="20" name="Text 18"/>
          <p:cNvSpPr txBox="1"/>
          <p:nvPr/>
        </p:nvSpPr>
        <p:spPr>
          <a:xfrm>
            <a:off x="8321040" y="3703320"/>
            <a:ext cx="137160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78</a:t>
            </a:r>
            <a:endParaRPr lang="en-US" sz="2400" dirty="0"/>
          </a:p>
        </p:txBody>
      </p:sp>
      <p:sp>
        <p:nvSpPr>
          <p:cNvPr id="21" name="Text 19"/>
          <p:cNvSpPr txBox="1"/>
          <p:nvPr/>
        </p:nvSpPr>
        <p:spPr>
          <a:xfrm>
            <a:off x="83210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A+3</a:t>
            </a:r>
            <a:endParaRPr lang="en-US" sz="1050" dirty="0"/>
          </a:p>
        </p:txBody>
      </p:sp>
      <p:sp>
        <p:nvSpPr>
          <p:cNvPr id="22" name="Shape 20"/>
          <p:cNvSpPr/>
          <p:nvPr/>
        </p:nvSpPr>
        <p:spPr>
          <a:xfrm>
            <a:off x="548640" y="4647438"/>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4572000"/>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 word is four bytes, and memory is addressed byte by byte: in which order do they go?</a:t>
            </a:r>
            <a:endParaRPr lang="en-US" sz="1800" dirty="0"/>
          </a:p>
        </p:txBody>
      </p:sp>
      <p:sp>
        <p:nvSpPr>
          <p:cNvPr id="24" name="Shape 22"/>
          <p:cNvSpPr/>
          <p:nvPr/>
        </p:nvSpPr>
        <p:spPr>
          <a:xfrm>
            <a:off x="548640" y="5168646"/>
            <a:ext cx="146304" cy="146304"/>
          </a:xfrm>
          <a:prstGeom prst="rect">
            <a:avLst/>
          </a:prstGeom>
          <a:solidFill>
            <a:srgbClr val="C7791B"/>
          </a:solidFill>
          <a:ln w="12700">
            <a:solidFill>
              <a:srgbClr val="C7791B"/>
            </a:solidFill>
            <a:prstDash val="solid"/>
          </a:ln>
        </p:spPr>
      </p:sp>
      <p:sp>
        <p:nvSpPr>
          <p:cNvPr id="25" name="Text 23"/>
          <p:cNvSpPr txBox="1"/>
          <p:nvPr/>
        </p:nvSpPr>
        <p:spPr>
          <a:xfrm>
            <a:off x="932688" y="5093208"/>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Little-endian: the least significant byte at the lowest address. This is what lw and sw do on RISC-V</a:t>
            </a:r>
            <a:endParaRPr lang="en-US" sz="1800" dirty="0"/>
          </a:p>
        </p:txBody>
      </p:sp>
      <p:sp>
        <p:nvSpPr>
          <p:cNvPr id="26" name="Shape 24"/>
          <p:cNvSpPr/>
          <p:nvPr/>
        </p:nvSpPr>
        <p:spPr>
          <a:xfrm>
            <a:off x="548640" y="5968746"/>
            <a:ext cx="146304" cy="146304"/>
          </a:xfrm>
          <a:prstGeom prst="rect">
            <a:avLst/>
          </a:prstGeom>
          <a:solidFill>
            <a:srgbClr val="0E7C86"/>
          </a:solidFill>
          <a:ln w="12700">
            <a:solidFill>
              <a:srgbClr val="0E7C86"/>
            </a:solidFill>
            <a:prstDash val="solid"/>
          </a:ln>
        </p:spPr>
      </p:sp>
      <p:sp>
        <p:nvSpPr>
          <p:cNvPr id="27" name="Text 25"/>
          <p:cNvSpPr txBox="1"/>
          <p:nvPr/>
        </p:nvSpPr>
        <p:spPr>
          <a:xfrm>
            <a:off x="932688" y="5893308"/>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You notice it when you look at memory in a debugger, or exchange data with another machine</a:t>
            </a:r>
            <a:endParaRPr lang="en-US" sz="1800" dirty="0"/>
          </a:p>
        </p:txBody>
      </p:sp>
      <p:sp>
        <p:nvSpPr>
          <p:cNvPr id="28" name="Shape 26"/>
          <p:cNvSpPr/>
          <p:nvPr/>
        </p:nvSpPr>
        <p:spPr>
          <a:xfrm>
            <a:off x="8090738" y="91440"/>
            <a:ext cx="3552317" cy="274320"/>
          </a:xfrm>
          <a:prstGeom prst="rect">
            <a:avLst/>
          </a:prstGeom>
          <a:solidFill>
            <a:srgbClr val="E0F2FE"/>
          </a:solidFill>
          <a:ln w="12700">
            <a:solidFill>
              <a:srgbClr val="0369A1"/>
            </a:solidFill>
            <a:prstDash val="solid"/>
          </a:ln>
        </p:spPr>
      </p:sp>
      <p:sp>
        <p:nvSpPr>
          <p:cNvPr id="29" name="Shape 27"/>
          <p:cNvSpPr/>
          <p:nvPr/>
        </p:nvSpPr>
        <p:spPr>
          <a:xfrm>
            <a:off x="8090738" y="91440"/>
            <a:ext cx="73152" cy="274320"/>
          </a:xfrm>
          <a:prstGeom prst="rect">
            <a:avLst/>
          </a:prstGeom>
          <a:solidFill>
            <a:srgbClr val="0369A1"/>
          </a:solidFill>
          <a:ln w="12700">
            <a:solidFill>
              <a:srgbClr val="0369A1"/>
            </a:solidFill>
            <a:prstDash val="solid"/>
          </a:ln>
        </p:spPr>
      </p:sp>
      <p:pic>
        <p:nvPicPr>
          <p:cNvPr id="30"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31" name="Text 28"/>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little-endian byte order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Five ways to organise data</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Array</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Elements of the same type, one after another, reached by index: 32, 11, 34, 22.</a:t>
            </a:r>
            <a:endParaRPr lang="en-US" sz="19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List</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Elements linked one to the next: cheap to insert and remove, slow to reach by position.</a:t>
            </a:r>
            <a:endParaRPr lang="en-US" sz="19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Stack</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Last in, first out: push adds on top, pop removes from the top.</a:t>
            </a:r>
            <a:endParaRPr lang="en-US" sz="19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Dictionary</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Pairs of key and value: NA gives NAPOLI, PA gives PALERMO, MI gives MILANO.</a:t>
            </a:r>
            <a:endParaRPr lang="en-US" sz="19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Tree</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 hierarchy: an animal walks or swims, has lungs or gills, two legs or four.</a:t>
            </a:r>
            <a:endParaRPr lang="en-US" sz="19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In the machine</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All of them are bytes in memory plus a rule for finding the next element.</a:t>
            </a:r>
            <a:endParaRPr lang="en-US" sz="1900" dirty="0"/>
          </a:p>
        </p:txBody>
      </p:sp>
      <p:sp>
        <p:nvSpPr>
          <p:cNvPr id="27" name="Shape 25"/>
          <p:cNvSpPr/>
          <p:nvPr/>
        </p:nvSpPr>
        <p:spPr>
          <a:xfrm>
            <a:off x="8681669" y="91440"/>
            <a:ext cx="2961386" cy="274320"/>
          </a:xfrm>
          <a:prstGeom prst="rect">
            <a:avLst/>
          </a:prstGeom>
          <a:solidFill>
            <a:srgbClr val="E0F2FE"/>
          </a:solidFill>
          <a:ln w="12700">
            <a:solidFill>
              <a:srgbClr val="0369A1"/>
            </a:solidFill>
            <a:prstDash val="solid"/>
          </a:ln>
        </p:spPr>
      </p:sp>
      <p:sp>
        <p:nvSpPr>
          <p:cNvPr id="28" name="Shape 26"/>
          <p:cNvSpPr/>
          <p:nvPr/>
        </p:nvSpPr>
        <p:spPr>
          <a:xfrm>
            <a:off x="8681669" y="91440"/>
            <a:ext cx="73152" cy="274320"/>
          </a:xfrm>
          <a:prstGeom prst="rect">
            <a:avLst/>
          </a:prstGeom>
          <a:solidFill>
            <a:srgbClr val="0369A1"/>
          </a:solidFill>
          <a:ln w="12700">
            <a:solidFill>
              <a:srgbClr val="0369A1"/>
            </a:solidFill>
            <a:prstDash val="solid"/>
          </a:ln>
        </p:spPr>
      </p:sp>
      <p:pic>
        <p:nvPicPr>
          <p:cNvPr id="29"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30" name="Text 27"/>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data structures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Algorithms and computability</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problem is computable if it can be solved by an algorithm</a:t>
            </a:r>
            <a:endParaRPr lang="en-US" sz="2200" dirty="0"/>
          </a:p>
        </p:txBody>
      </p:sp>
      <p:sp>
        <p:nvSpPr>
          <p:cNvPr id="5" name="Shape 3"/>
          <p:cNvSpPr/>
          <p:nvPr/>
        </p:nvSpPr>
        <p:spPr>
          <a:xfrm>
            <a:off x="548640" y="248005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73630"/>
            <a:ext cx="6565392" cy="9662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Turing machine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an ideal computer with a program, expressed mathematically through sets, relations and functions</a:t>
            </a:r>
            <a:endParaRPr lang="en-US" sz="2200" dirty="0"/>
          </a:p>
        </p:txBody>
      </p:sp>
      <p:sp>
        <p:nvSpPr>
          <p:cNvPr id="7" name="Shape 5"/>
          <p:cNvSpPr/>
          <p:nvPr/>
        </p:nvSpPr>
        <p:spPr>
          <a:xfrm>
            <a:off x="548640" y="372084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14420"/>
            <a:ext cx="6565392" cy="126060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von Neumann machine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computing architecture able to execute a program that realises an algorithm for the Turing machine</a:t>
            </a:r>
            <a:endParaRPr lang="en-US" sz="2200" dirty="0"/>
          </a:p>
        </p:txBody>
      </p:sp>
      <p:sp>
        <p:nvSpPr>
          <p:cNvPr id="9" name="Shape 7"/>
          <p:cNvSpPr/>
          <p:nvPr/>
        </p:nvSpPr>
        <p:spPr>
          <a:xfrm>
            <a:off x="548640" y="52560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problem that no algorithm on a Turing machine can solve cannot be solved by any computer</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Not every problem has an algorithm: some questions no computer will ever answer</a:t>
            </a:r>
            <a:endParaRPr lang="en-US" sz="1900" dirty="0"/>
          </a:p>
        </p:txBody>
      </p:sp>
      <p:sp>
        <p:nvSpPr>
          <p:cNvPr id="14" name="Shape 12"/>
          <p:cNvSpPr/>
          <p:nvPr/>
        </p:nvSpPr>
        <p:spPr>
          <a:xfrm>
            <a:off x="9009964" y="91440"/>
            <a:ext cx="2633091" cy="274320"/>
          </a:xfrm>
          <a:prstGeom prst="rect">
            <a:avLst/>
          </a:prstGeom>
          <a:solidFill>
            <a:srgbClr val="E0F2FE"/>
          </a:solidFill>
          <a:ln w="12700">
            <a:solidFill>
              <a:srgbClr val="0369A1"/>
            </a:solidFill>
            <a:prstDash val="solid"/>
          </a:ln>
        </p:spPr>
      </p:sp>
      <p:sp>
        <p:nvSpPr>
          <p:cNvPr id="15" name="Shape 13"/>
          <p:cNvSpPr/>
          <p:nvPr/>
        </p:nvSpPr>
        <p:spPr>
          <a:xfrm>
            <a:off x="9009964"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9137980" y="128016"/>
            <a:ext cx="201168" cy="201168"/>
          </a:xfrm>
          <a:prstGeom prst="rect">
            <a:avLst/>
          </a:prstGeom>
        </p:spPr>
      </p:pic>
      <p:sp>
        <p:nvSpPr>
          <p:cNvPr id="17" name="Text 14"/>
          <p:cNvSpPr txBox="1"/>
          <p:nvPr/>
        </p:nvSpPr>
        <p:spPr>
          <a:xfrm>
            <a:off x="9394012" y="91440"/>
            <a:ext cx="221246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algorithms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Deterministic and non-deterministic algorithms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Deterministic</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For every instruction there is, with the same input, exactly one next step</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path of the algorithm exists and is unique: y = f(x)</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converting a unit of measure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first_update, which always adds one</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Non-deterministic</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With the same input it can behave differently at each execution</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Probabilistic algorithms use a random number generator</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Concurrent algorithms can depend on timing (race conditions)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a game that places the enemy with prg32_random_number</a:t>
            </a:r>
            <a:endParaRPr lang="en-US" sz="2100" dirty="0"/>
          </a:p>
        </p:txBody>
      </p:sp>
      <p:sp>
        <p:nvSpPr>
          <p:cNvPr id="9" name="Shape 7"/>
          <p:cNvSpPr/>
          <p:nvPr/>
        </p:nvSpPr>
        <p:spPr>
          <a:xfrm>
            <a:off x="9009964" y="91440"/>
            <a:ext cx="2633091" cy="274320"/>
          </a:xfrm>
          <a:prstGeom prst="rect">
            <a:avLst/>
          </a:prstGeom>
          <a:solidFill>
            <a:srgbClr val="E0F2FE"/>
          </a:solidFill>
          <a:ln w="12700">
            <a:solidFill>
              <a:srgbClr val="0369A1"/>
            </a:solidFill>
            <a:prstDash val="solid"/>
          </a:ln>
        </p:spPr>
      </p:sp>
      <p:sp>
        <p:nvSpPr>
          <p:cNvPr id="10" name="Shape 8"/>
          <p:cNvSpPr/>
          <p:nvPr/>
        </p:nvSpPr>
        <p:spPr>
          <a:xfrm>
            <a:off x="9009964"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9137980" y="128016"/>
            <a:ext cx="201168" cy="201168"/>
          </a:xfrm>
          <a:prstGeom prst="rect">
            <a:avLst/>
          </a:prstGeom>
        </p:spPr>
      </p:pic>
      <p:sp>
        <p:nvSpPr>
          <p:cNvPr id="12" name="Text 9"/>
          <p:cNvSpPr txBox="1"/>
          <p:nvPr/>
        </p:nvSpPr>
        <p:spPr>
          <a:xfrm>
            <a:off x="9394012" y="91440"/>
            <a:ext cx="221246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algorithms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Machine learning</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method of data analysis that automates the construction of an analytical model</a:t>
            </a:r>
            <a:endParaRPr lang="en-US" sz="2100" dirty="0"/>
          </a:p>
        </p:txBody>
      </p:sp>
      <p:sp>
        <p:nvSpPr>
          <p:cNvPr id="5" name="Shape 3"/>
          <p:cNvSpPr/>
          <p:nvPr/>
        </p:nvSpPr>
        <p:spPr>
          <a:xfrm>
            <a:off x="548640" y="239344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9476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computer finds hidden patterns without being explicitly programmed where to look</a:t>
            </a:r>
            <a:endParaRPr lang="en-US" sz="2100" dirty="0"/>
          </a:p>
        </p:txBody>
      </p:sp>
      <p:sp>
        <p:nvSpPr>
          <p:cNvPr id="7" name="Shape 5"/>
          <p:cNvSpPr/>
          <p:nvPr/>
        </p:nvSpPr>
        <p:spPr>
          <a:xfrm>
            <a:off x="548640" y="327088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72206"/>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Today's generative models are the same idea at an enormous scale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a large language model predicts the next piece of text from billions of learned numbers</a:t>
            </a:r>
            <a:endParaRPr lang="en-US" sz="2100" dirty="0"/>
          </a:p>
        </p:txBody>
      </p:sp>
      <p:sp>
        <p:nvSpPr>
          <p:cNvPr id="9" name="Shape 7"/>
          <p:cNvSpPr/>
          <p:nvPr/>
        </p:nvSpPr>
        <p:spPr>
          <a:xfrm>
            <a:off x="548640" y="474268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44009"/>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Those numbers are bits in memory, multiplied and added by processors: the subject of this course</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model can be wrong with great confidence: you need the fundamentals to check it</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y = f(x)</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A classical program is written by a person. In machine learning, f is learned from examples.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different values can one byte represent?</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16</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255</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256</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The PRG32 colour 0xF81F is: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red</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magenta</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cyan</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yellow</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bytes does .asciz "CIAO" occupy in memory?</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On RISC-V, .word 0x0000ABCD is stored at address A. Which byte is at address A?</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0xAB</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0xCD</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0xDC</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93731"/>
                <a:gridCol w="2641527"/>
                <a:gridCol w="2641527"/>
                <a:gridCol w="281762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bit / byte /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 byte / parola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string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stringa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positional notation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notazione posizionale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array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vettore (array)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hexadecimal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esadecimale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linked list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lista concatenata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sampling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campionamento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pila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quantisation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quantizzazione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tree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albero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byte order (endianness)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ordinamento dei byte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learning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apprendimento automatico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Digital information is a pattern of bits plus a convention for reading it</a:t>
            </a:r>
            <a:endParaRPr lang="en-US" sz="2000" dirty="0"/>
          </a:p>
        </p:txBody>
      </p:sp>
      <p:sp>
        <p:nvSpPr>
          <p:cNvPr id="5" name="Shape 3"/>
          <p:cNvSpPr/>
          <p:nvPr/>
        </p:nvSpPr>
        <p:spPr>
          <a:xfrm>
            <a:off x="548640" y="203134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40408"/>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same sixteen bits can be a number, a colour or two characters: the program decides</a:t>
            </a:r>
            <a:endParaRPr lang="en-US" sz="2000" dirty="0"/>
          </a:p>
        </p:txBody>
      </p:sp>
      <p:sp>
        <p:nvSpPr>
          <p:cNvPr id="7" name="Shape 5"/>
          <p:cNvSpPr/>
          <p:nvPr/>
        </p:nvSpPr>
        <p:spPr>
          <a:xfrm>
            <a:off x="548640" y="286430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73375"/>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Hexadecimal is a compact spelling of binary, four bits per digit</a:t>
            </a:r>
            <a:endParaRPr lang="en-US" sz="2000" dirty="0"/>
          </a:p>
        </p:txBody>
      </p:sp>
      <p:sp>
        <p:nvSpPr>
          <p:cNvPr id="9" name="Shape 7"/>
          <p:cNvSpPr/>
          <p:nvPr/>
        </p:nvSpPr>
        <p:spPr>
          <a:xfrm>
            <a:off x="548640" y="338739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29646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Text is numbers (ASCII, UTF-8); structures are bytes plus a rule for finding the next element</a:t>
            </a:r>
            <a:endParaRPr lang="en-US" sz="2000" dirty="0"/>
          </a:p>
        </p:txBody>
      </p:sp>
      <p:sp>
        <p:nvSpPr>
          <p:cNvPr id="11" name="Shape 9"/>
          <p:cNvSpPr/>
          <p:nvPr/>
        </p:nvSpPr>
        <p:spPr>
          <a:xfrm>
            <a:off x="548640" y="422036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2943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Data are the currency of this realm; algorithms turn data into information fit for decisions</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Reading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Computer Organization and Design, RISC-V Edition, sections 2.4 and 2.9</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Charles Petzold: Code, chapters on bits, bytes and text</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Sebastian Raschka: Machine Learning with Python (suggested in the original course)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Representing Digital Information</dc:title>
  <dc:subject>Lecture 04</dc:subject>
  <dc:creator>Raffaele Montella</dc:creator>
  <cp:lastModifiedBy>Raffaele Montella</cp:lastModifiedBy>
  <cp:revision>1</cp:revision>
  <dcterms:created xsi:type="dcterms:W3CDTF">2026-10-17T07:16:48Z</dcterms:created>
  <dcterms:modified xsi:type="dcterms:W3CDTF">2026-10-17T07:16:48Z</dcterms:modified>
</cp:coreProperties>
</file>