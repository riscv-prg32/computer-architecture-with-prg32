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f4ee600-a113-2201-0ccb-e37e6c39e386}">
          <p14:sldIdLst>
            <p14:sldId id="256"/>
            <p14:sldId id="257"/>
          </p14:sldIdLst>
        </p14:section>
        <p14:section name="Information" id="{b446e892-7fa1-a7fc-cb85-f98abd892ff2}">
          <p14:sldIdLst>
            <p14:sldId id="258"/>
            <p14:sldId id="259"/>
            <p14:sldId id="260"/>
            <p14:sldId id="261"/>
            <p14:sldId id="262"/>
            <p14:sldId id="263"/>
            <p14:sldId id="264"/>
          </p14:sldIdLst>
        </p14:section>
        <p14:section name="Text" id="{40ef4d31-08f2-f54a-35d2-dd8534d9aee9}">
          <p14:sldIdLst>
            <p14:sldId id="265"/>
            <p14:sldId id="266"/>
            <p14:sldId id="267"/>
            <p14:sldId id="268"/>
          </p14:sldIdLst>
        </p14:section>
        <p14:section name="Data structures" id="{54480007-3dc0-7273-3ecb-733dc22aaf76}">
          <p14:sldIdLst>
            <p14:sldId id="269"/>
          </p14:sldIdLst>
        </p14:section>
        <p14:section name="Data and algorithms" id="{d44ea93a-eb36-ebbc-13d7-4990732c6012}">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Lecture 02 you typed 0x07e0, 255, .asciz and .word without knowing exactly what they were. This lecture gives them names. Its thesis is in the subtitle: everything inside the machine is a pattern of bits, whether it is a number, a colour, a letter or a list. The lecture is wide rather than deep: numbers are treated formally in the next two lectures; here you learn to read bits and to see that their meaning is a matter of agreement.
For the lecturer: Spiral: the students have already seen 0x07e0, 255, .asciz and .word in Lecture 02. This lecture names what those were. The next two lectures (05, 06) treat numbers 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from the general to the particular and back. You will tell analog from digital, read a byte in binary and in hexadecimal, decode a PRG32 colour into its three fields, say how text is stored, and describe how an array lives in memory and how assembly reaches one of its elements. The last objective looks beyond the machine: what an algorithm is, when it is deterministic, and where machine learning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computation has the same shape. Data enter from the world; a program, which is an algorithm made concrete, transforms them; results leave; and somebody uses them, which is what turns information into knowledge. On PRG32 you already know the four boxes by name: the buttons are read by prg32_input_read, your update function processes, your draw function produces the output, and the player reacts. Keep this picture: every program you will ever write is an instance of it.
For the lecturer: On PRG32 the same four boxes are prg32_input_read, your update function, your draw function, and the player who reacts to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analog quantity varies continuously, like a voltage or the hands of a watch. A digital quantity is a sequence of symbols from a finite alphabet, like the digits of a display. In the figure the smooth curve is the analog signal; the staircase is its digital version, obtained by sampling at regular instants and quantising each sample to one of a few levels. Something is lost, and something is gained: a finite number of levels can be counted, copied without error and checked. With two levels only, the symbol is the bit.
For the lecturer: Two levels are easy to build reliably with transistors (off or on), which is why computers are binary. Boolean algebra (Lecture 08) is the mathematics of two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units of information, each tied to something you have used. A bit is one button. A nibble, four bits, is one hexadecimal digit. A byte, eight bits, is one ASCII character, and it is the reason why the bar of Lecture 02 was at most 255 wide. A halfword, sixteen bits, is one colour. A word, thirty-two bits, is one register and one instruction. The rule to remember: n bits give 2 to the n patterns. And the caption: what a pattern means is not written in the bits.
For the lecturer: n bits give 2^n distinct patterns. What a pattern means is not written in the bits: it is a convention between whoever writes them and whoever reads them. On RV32 a word is 32 bits by definition of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rows to learn by heart, as you once learned the multiplication tables. Each row gives the same number in decimal, in binary with four bits, and in hexadecimal with one digit. The four binary columns weigh 8, 4, 2 and 1: 1011 is 8 + 2 + 1 = 11, which hexadecimal writes B. After 9 the hexadecimal digits continue with the letters A to F for the values ten to fifteen. Cover two columns and reconstruct them from the third until you no longer need to think.
For the lecturer: The columns of the binary number weigh 8, 4, 2, 1. Learn this table by heart: it is the multiplication table of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positional system a digit is worth its value times the weight of its position, and the weights are the powers of the base. The slide reads the byte 11011001 this way: the positions weigh 128, 64, 32, 16, 8, 4, 2 and 1; where the bit is 1 the weight is added, where it is 0 it is not. The sum is 128 + 64 + 16 + 8 + 1 = 217. It is exactly what you do in base ten without noticing: 217 is 2 hundreds, 1 ten and 7 units.
For the lecturer: Lecture 05 gives the general formula and the conversion algorithms. Here the aim is only to read a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is two to the fourth power, so one hexadecimal digit corresponds to exactly four bits. To convert, cut the binary number into groups of four from the right and replace each group using the table: 0000 0111 1110 0000 becomes 0, 7, E, 0. No arithmetic is needed. This is why programmers use hexadecimal: it is binary written compactly. A register is eight hexadecimal digits instead of thirty-two bits. The prefix 0x announces that a number is hexadecimal.
For the lecturer: 0x07E0 = 7 x 256 + 14 x 16 = 1792 + 224 = 2016. The decimal value is useless here: the bit pattern is the point, as the next slide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green of Lecture 02 is opened. A PRG32 colour is sixteen bits divided into three fields: five bits of red, six of green, five of blue. The format is called RGB565. In 0x07E0 the red field is 00000, the green field is 111111 and the blue field is 00000: maximum green and nothing else. The eight swatches show other combinations: yellow is red plus green, white is everything. The sentence at the bottom is the lesson of the whole lecture: the same sixteen bits could be something else entirely.
For the lecturer: The eye is most sensitive to green, which is why green gets the extra bit. Exercise: which colour is 0xF81F? (red and blue at maximum: magenta). The colour constants are those of prg32.h.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ASCII assigns a number to each character and fits it in one byte. Three observations from the table. The capital A is 65 and the small a is 97: they differ by 32, that is by a single bit. The character "0" is 48, not zero: a digit typed on a keyboard is not yet a number. And there are characters that do not print: the newline, 10, and NUL, 0, which you will meet on the next slide as the end of a string.
For the lecturer: ASCII (1963) uses 7 bits: 128 characters, English only. Upper and lower case differ only in bit 5: xori with 0x20 switches case, a first taste of Boolean algebra on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string is a sequence of character codes in consecutive bytes. The problem is how to know where it ends. The C convention marks the end with a zero byte; the Pascal convention writes the length first. The third row is your string of Lecture 02: .asciz stores the eleven characters of HELLO PRG32 followed by a zero, twelve bytes in all. The function that draws text receives only the address of the first byte and reads until it finds the zero. If the zero were missing, it would continue with whatever follows in memory.
For the lecturer: The numbers under the cells are the ASCII codes in hexadecimal. This is the string of Lecture 02, step 2. What happens if the zero is missing? The function keeps reading whatever follows in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ASCII has 128 characters, enough for English only. Unicode assigns a number, called a code point, to every character of every writing system. UTF-8 stores that number in one to four bytes: the characters of ASCII keep their single byte, an accented letter takes two, the euro sign three, an emoji four. Two consequences. Plain ASCII text is already valid UTF-8. And the length of a string in bytes is no longer its length in characters.
For the lecturer: Unicode assigns a number (code point) to every character of every script; UTF-8 encodes that number in one to four bytes and is compatible with ASCII. It is the encoding of the web and of your source files. Consequence: the length of a string in bytes is not its length in characters.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is four bytes, and memory has one address per byte: in which order are the four bytes stored? RISC-V is little-endian: the least significant byte goes at the lowest address, so 0x12345678 is stored as 78, 56, 34, 12. The opposite order, big-endian, is used by network protocols. Normally you do not notice, because lw and sw are consistent with each other. You notice when you look at memory byte by byte in a debugger, or exchange data with a different machine.
For the lecturer: The names come from Gulliver's Travels: which end of the egg to break first. In PRG32-QT, open the memory view on a .word and read the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structures. An array keeps elements of the same type one after another and reaches them by index. A list links each element to the next: easy to modify, slow to reach by position. A stack returns first what was put in last; you used one in Lecture 02 to save ra. A dictionary associates keys with values. A tree is a hierarchy. The sixth card is the one that matters for this course: in the machine all of them are bytes in memory, plus a rule for finding the next element.
For the lecturer: You have already used a stack: the frame that saved ra in Lecture 02. The examples are those drawn on the source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problem is computable if an algorithm can solve it. The Turing machine is the mathematical model of a computer with a program; the von Neumann machine is the architecture that realises it in hardware. The last line is the surprising one: there are problems that no algorithm can solve, and therefore that no computer will ever solve, however fast. The classic example is deciding, for any program, whether it will stop.
For the lecturer: The last line is the Church-Turing thesis, stated informally. The halting problem is the classic example of a problem that is not computable.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properties make a procedure an algorithm. Its steps are atomic: they cannot be broken down further. They are unambiguous: the executor can interpret each in one way only. The algorithm is finite in steps and in data, it terminates in a finite time, and it is effective: it leads to one well-defined result. A RISC-V instruction is a good model of an atomic, unambiguous step: its meaning is fixed by the specification, bit by bit.
For the lecturer: A RISC-V instruction is the model of an atomic, unambiguous step: its meaning is fixed by the specification, bit by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rule that n bits give 2 to the n patterns. A byte has eight bits. Be careful with the two near-misses: 8 is the number of bits, and 255 is the largest natural number that a byte can hold, not the number of values, because zero counts too.
Write the four hexadecimal digits in binary: F is 1111, 8 is 1000, 1 is 0001, F is 1111. Then cut the sixteen bits as 5, 6 and 5: red 11111, green 000000, blue 11111. Red and blue at maximum, no green.
For the lecturer: 1. Answer: D. A byte is 8 bits: 2^8 = 256 patterns, for example the naturals from 0 to 255.
2. Answer: B. 0xF81F = 11111 000000 11111: red and blue at maximum, green at zero: magenta.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 characters and remember what the z of .asciz adds. The directive stores the string zero-terminated: one more byte than the visible characters.
RISC-V is little-endian. Write the word as four bytes, 00 00 AB CD, from the most to the least significant, and ask which one goes at the lowest address. The trap is 0x00, which would be right on a big-endian machine.
For the lecturer: 1. Answer: C. Four characters plus the terminating zero byte.
2. Answer: C. RISC-V is little-endian: the least significant byte, 0xCD, goes at the lowest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terms. Word is parola in Italian, and on RV32 it means thirty-two bits. Sampling and quantisation are the two operations of digitising. Byte order, or endianness, is the order of the bytes of a word in memory. Note that the Italian pila is the stack, while array is often left untranslated or rendered as vettore.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sentences to keep. Digital information is a pattern of bits plus a convention for reading it. The same bits can be a number, a colour or two characters: the program decides. Hexadecimal is binary written compactly, four bits per digit. Text is numbers, and structures are bytes plus a rule. Algorithms turn data into information on which decisions can be based. The next lecture treats the representation of numbers formally, starting from a marker that walks off the left edge of the screen.
For the lecturer: Next lecture: number representation, 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04: Digital information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Representing Digital Information</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900" dirty="0">
                <a:solidFill>
                  <a:srgbClr val="CFE3EA"/>
                </a:solidFill>
                <a:latin typeface="Calibri" pitchFamily="34" charset="0"/>
                <a:ea typeface="Calibri" pitchFamily="34" charset="-122"/>
                <a:cs typeface="Calibri" pitchFamily="34" charset="-120"/>
              </a:rPr>
              <a:t>Bits, numbers, text, structures: everything in the machine is a pattern of bits</a:t>
            </a:r>
            <a:endParaRPr lang="en-US" sz="19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ourier New" pitchFamily="34" charset="0"/>
                <a:ea typeface="Courier New" pitchFamily="34" charset="-122"/>
                <a:cs typeface="Courier New" pitchFamily="34" charset="-120"/>
              </a:rPr>
              <a:t>“printf("Hello, world!");”</a:t>
            </a:r>
            <a:endParaRPr lang="en-US" sz="1900" dirty="0"/>
          </a:p>
          <a:p>
            <a:pPr indent="0" marL="0">
              <a:buNone/>
            </a:pPr>
            <a:r>
              <a:rPr lang="en-US" sz="1200" dirty="0">
                <a:solidFill>
                  <a:srgbClr val="CFE3EA"/>
                </a:solidFill>
                <a:latin typeface="Courier New" pitchFamily="34" charset="0"/>
                <a:ea typeface="Courier New" pitchFamily="34" charset="-122"/>
                <a:cs typeface="Courier New" pitchFamily="34" charset="-120"/>
              </a:rPr>
              <a:t>Brian Kernighan and Dennis Ritchie, The C Programming Language, 1978</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1_step2_hello.png">    </p:cNvPr>
          <p:cNvPicPr>
            <a:picLocks noChangeAspect="1"/>
          </p:cNvPicPr>
          <p:nvPr/>
        </p:nvPicPr>
        <p:blipFill>
          <a:blip r:embed="rId1"/>
          <a:stretch>
            <a:fillRect/>
          </a:stretch>
        </p:blipFill>
        <p:spPr>
          <a:xfrm>
            <a:off x="8716975" y="4280535"/>
            <a:ext cx="2834640" cy="177165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the difference between analog and digital information</a:t>
            </a:r>
            <a:endParaRPr lang="en-US" sz="2200" dirty="0"/>
          </a:p>
        </p:txBody>
      </p:sp>
      <p:sp>
        <p:nvSpPr>
          <p:cNvPr id="5" name="Text 3"/>
          <p:cNvSpPr txBox="1"/>
          <p:nvPr/>
        </p:nvSpPr>
        <p:spPr>
          <a:xfrm>
            <a:off x="548640" y="225023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231949"/>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 a pattern of bits as a natural number, in binary and in hexadecimal</a:t>
            </a:r>
            <a:endParaRPr lang="en-US" sz="2200" dirty="0"/>
          </a:p>
        </p:txBody>
      </p:sp>
      <p:sp>
        <p:nvSpPr>
          <p:cNvPr id="7" name="Text 5"/>
          <p:cNvSpPr txBox="1"/>
          <p:nvPr/>
        </p:nvSpPr>
        <p:spPr>
          <a:xfrm>
            <a:off x="548640" y="306486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4657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Decode a PRG32 colour such as 0x07E0 into its red, green and blue fields</a:t>
            </a:r>
            <a:endParaRPr lang="en-US" sz="2200" dirty="0"/>
          </a:p>
        </p:txBody>
      </p:sp>
      <p:sp>
        <p:nvSpPr>
          <p:cNvPr id="9" name="Text 7"/>
          <p:cNvSpPr txBox="1"/>
          <p:nvPr/>
        </p:nvSpPr>
        <p:spPr>
          <a:xfrm>
            <a:off x="548640" y="387949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86120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Say how characters and strings are stored in memory, in ASCII and in UTF-8</a:t>
            </a:r>
            <a:endParaRPr lang="en-US" sz="2200" dirty="0"/>
          </a:p>
        </p:txBody>
      </p:sp>
      <p:sp>
        <p:nvSpPr>
          <p:cNvPr id="11" name="Text 9"/>
          <p:cNvSpPr txBox="1"/>
          <p:nvPr/>
        </p:nvSpPr>
        <p:spPr>
          <a:xfrm>
            <a:off x="548640" y="469412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675835"/>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how an array lives in memory and how assembly reaches one element</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Tell a deterministic algorithm from a probabilistic one, and place machine learning among them</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Fundamental concepts: the flow of data</a:t>
            </a:r>
            <a:endParaRPr lang="en-US" sz="3200" dirty="0"/>
          </a:p>
        </p:txBody>
      </p:sp>
      <p:sp>
        <p:nvSpPr>
          <p:cNvPr id="3" name="Shape 1"/>
          <p:cNvSpPr/>
          <p:nvPr/>
        </p:nvSpPr>
        <p:spPr>
          <a:xfrm>
            <a:off x="548640" y="1874520"/>
            <a:ext cx="2499284" cy="2468880"/>
          </a:xfrm>
          <a:prstGeom prst="roundRect">
            <a:avLst>
              <a:gd name="adj" fmla="val 2963"/>
            </a:avLst>
          </a:prstGeom>
          <a:solidFill>
            <a:srgbClr val="EEF2F4"/>
          </a:solidFill>
          <a:ln w="12700">
            <a:solidFill>
              <a:srgbClr val="EEF2F4"/>
            </a:solidFill>
            <a:prstDash val="solid"/>
          </a:ln>
        </p:spPr>
      </p:sp>
      <p:sp>
        <p:nvSpPr>
          <p:cNvPr id="4" name="Text 2"/>
          <p:cNvSpPr txBox="1"/>
          <p:nvPr/>
        </p:nvSpPr>
        <p:spPr>
          <a:xfrm>
            <a:off x="685800" y="2057400"/>
            <a:ext cx="2224964"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Input</a:t>
            </a:r>
            <a:endParaRPr lang="en-US" sz="1900" dirty="0"/>
          </a:p>
        </p:txBody>
      </p:sp>
      <p:sp>
        <p:nvSpPr>
          <p:cNvPr id="5" name="Text 3"/>
          <p:cNvSpPr txBox="1"/>
          <p:nvPr/>
        </p:nvSpPr>
        <p:spPr>
          <a:xfrm>
            <a:off x="685800"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data enter from the world: a key, a sensor, a file</a:t>
            </a:r>
            <a:endParaRPr lang="en-US" sz="1700" dirty="0"/>
          </a:p>
        </p:txBody>
      </p:sp>
      <p:sp>
        <p:nvSpPr>
          <p:cNvPr id="6" name="Shape 4"/>
          <p:cNvSpPr/>
          <p:nvPr/>
        </p:nvSpPr>
        <p:spPr>
          <a:xfrm>
            <a:off x="3093644"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3413684" y="1874520"/>
            <a:ext cx="2499284" cy="2468880"/>
          </a:xfrm>
          <a:prstGeom prst="roundRect">
            <a:avLst>
              <a:gd name="adj" fmla="val 2963"/>
            </a:avLst>
          </a:prstGeom>
          <a:solidFill>
            <a:srgbClr val="EEF2F4"/>
          </a:solidFill>
          <a:ln w="12700">
            <a:solidFill>
              <a:srgbClr val="EEF2F4"/>
            </a:solidFill>
            <a:prstDash val="solid"/>
          </a:ln>
        </p:spPr>
      </p:sp>
      <p:sp>
        <p:nvSpPr>
          <p:cNvPr id="8" name="Text 6"/>
          <p:cNvSpPr txBox="1"/>
          <p:nvPr/>
        </p:nvSpPr>
        <p:spPr>
          <a:xfrm>
            <a:off x="3550844" y="2057400"/>
            <a:ext cx="2224964"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Process</a:t>
            </a:r>
            <a:endParaRPr lang="en-US" sz="1900" dirty="0"/>
          </a:p>
        </p:txBody>
      </p:sp>
      <p:sp>
        <p:nvSpPr>
          <p:cNvPr id="9" name="Text 7"/>
          <p:cNvSpPr txBox="1"/>
          <p:nvPr/>
        </p:nvSpPr>
        <p:spPr>
          <a:xfrm>
            <a:off x="3550844"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a program, the embodiment of an algorithm, transforms them</a:t>
            </a:r>
            <a:endParaRPr lang="en-US" sz="1700" dirty="0"/>
          </a:p>
        </p:txBody>
      </p:sp>
      <p:sp>
        <p:nvSpPr>
          <p:cNvPr id="10" name="Shape 8"/>
          <p:cNvSpPr/>
          <p:nvPr/>
        </p:nvSpPr>
        <p:spPr>
          <a:xfrm>
            <a:off x="5958688"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6278728" y="1874520"/>
            <a:ext cx="2499284" cy="2468880"/>
          </a:xfrm>
          <a:prstGeom prst="roundRect">
            <a:avLst>
              <a:gd name="adj" fmla="val 2963"/>
            </a:avLst>
          </a:prstGeom>
          <a:solidFill>
            <a:srgbClr val="EEF2F4"/>
          </a:solidFill>
          <a:ln w="12700">
            <a:solidFill>
              <a:srgbClr val="EEF2F4"/>
            </a:solidFill>
            <a:prstDash val="solid"/>
          </a:ln>
        </p:spPr>
      </p:sp>
      <p:sp>
        <p:nvSpPr>
          <p:cNvPr id="12" name="Text 10"/>
          <p:cNvSpPr txBox="1"/>
          <p:nvPr/>
        </p:nvSpPr>
        <p:spPr>
          <a:xfrm>
            <a:off x="6415888" y="2057400"/>
            <a:ext cx="2224964"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Output</a:t>
            </a:r>
            <a:endParaRPr lang="en-US" sz="1900" dirty="0"/>
          </a:p>
        </p:txBody>
      </p:sp>
      <p:sp>
        <p:nvSpPr>
          <p:cNvPr id="13" name="Text 11"/>
          <p:cNvSpPr txBox="1"/>
          <p:nvPr/>
        </p:nvSpPr>
        <p:spPr>
          <a:xfrm>
            <a:off x="6415888"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results leave: a picture, a sound, a number</a:t>
            </a:r>
            <a:endParaRPr lang="en-US" sz="1700" dirty="0"/>
          </a:p>
        </p:txBody>
      </p:sp>
      <p:sp>
        <p:nvSpPr>
          <p:cNvPr id="14" name="Shape 12"/>
          <p:cNvSpPr/>
          <p:nvPr/>
        </p:nvSpPr>
        <p:spPr>
          <a:xfrm>
            <a:off x="8823731"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9143771" y="1874520"/>
            <a:ext cx="2499284" cy="2468880"/>
          </a:xfrm>
          <a:prstGeom prst="roundRect">
            <a:avLst>
              <a:gd name="adj" fmla="val 2963"/>
            </a:avLst>
          </a:prstGeom>
          <a:solidFill>
            <a:srgbClr val="EEF2F4"/>
          </a:solidFill>
          <a:ln w="12700">
            <a:solidFill>
              <a:srgbClr val="EEF2F4"/>
            </a:solidFill>
            <a:prstDash val="solid"/>
          </a:ln>
        </p:spPr>
      </p:sp>
      <p:sp>
        <p:nvSpPr>
          <p:cNvPr id="16" name="Text 14"/>
          <p:cNvSpPr txBox="1"/>
          <p:nvPr/>
        </p:nvSpPr>
        <p:spPr>
          <a:xfrm>
            <a:off x="9280931" y="2057400"/>
            <a:ext cx="2224964"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Knowledge</a:t>
            </a:r>
            <a:endParaRPr lang="en-US" sz="1900" dirty="0"/>
          </a:p>
        </p:txBody>
      </p:sp>
      <p:sp>
        <p:nvSpPr>
          <p:cNvPr id="17" name="Text 15"/>
          <p:cNvSpPr txBox="1"/>
          <p:nvPr/>
        </p:nvSpPr>
        <p:spPr>
          <a:xfrm>
            <a:off x="9280931"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information that someone can act on</a:t>
            </a:r>
            <a:endParaRPr lang="en-US" sz="1700" dirty="0"/>
          </a:p>
        </p:txBody>
      </p:sp>
      <p:sp>
        <p:nvSpPr>
          <p:cNvPr id="18" name="Shape 16"/>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19" name="Text 17"/>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Artificial intelligence is an intelligence of its own kind: powerful pattern recognition, without self-awareness and without subjective experience.</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Analog and digital information</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010912" cy="113665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Analog</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 quantity that varies continuously: a voltage, a sound pressure, the hands of a watch</a:t>
            </a:r>
            <a:endParaRPr lang="en-US" sz="2000" dirty="0"/>
          </a:p>
        </p:txBody>
      </p:sp>
      <p:sp>
        <p:nvSpPr>
          <p:cNvPr id="5" name="Shape 3"/>
          <p:cNvSpPr/>
          <p:nvPr/>
        </p:nvSpPr>
        <p:spPr>
          <a:xfrm>
            <a:off x="548640" y="2788857"/>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97925"/>
            <a:ext cx="5010912" cy="87325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Digital</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 sequence of symbols from a finite alphabet: the digits of a display</a:t>
            </a:r>
            <a:endParaRPr lang="en-US" sz="2000" dirty="0"/>
          </a:p>
        </p:txBody>
      </p:sp>
      <p:sp>
        <p:nvSpPr>
          <p:cNvPr id="7" name="Shape 5"/>
          <p:cNvSpPr/>
          <p:nvPr/>
        </p:nvSpPr>
        <p:spPr>
          <a:xfrm>
            <a:off x="548640" y="380606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15131"/>
            <a:ext cx="501091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Digitising means sampling in time and quantising in value</a:t>
            </a:r>
            <a:endParaRPr lang="en-US" sz="2000" dirty="0"/>
          </a:p>
        </p:txBody>
      </p:sp>
      <p:sp>
        <p:nvSpPr>
          <p:cNvPr id="9" name="Shape 7"/>
          <p:cNvSpPr/>
          <p:nvPr/>
        </p:nvSpPr>
        <p:spPr>
          <a:xfrm>
            <a:off x="548640" y="456977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8846"/>
            <a:ext cx="501091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finite number of levels can be counted, copied exactly and checked for errors</a:t>
            </a:r>
            <a:endParaRPr lang="en-US" sz="2000" dirty="0"/>
          </a:p>
        </p:txBody>
      </p:sp>
      <p:sp>
        <p:nvSpPr>
          <p:cNvPr id="11"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52440"/>
            <a:ext cx="501091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With two levels the symbol is the bit: 0 or 1</a:t>
            </a:r>
            <a:endParaRPr lang="en-US" sz="2000" dirty="0"/>
          </a:p>
        </p:txBody>
      </p:sp>
      <p:pic>
        <p:nvPicPr>
          <p:cNvPr id="14" name="Image 0" descr="preencoded.png">    </p:cNvPr>
          <p:cNvPicPr>
            <a:picLocks noChangeAspect="1"/>
          </p:cNvPicPr>
          <p:nvPr/>
        </p:nvPicPr>
        <p:blipFill>
          <a:blip r:embed="rId1"/>
          <a:stretch>
            <a:fillRect/>
          </a:stretch>
        </p:blipFill>
        <p:spPr>
          <a:xfrm>
            <a:off x="6309360" y="2544505"/>
            <a:ext cx="5333695" cy="250051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Bit, byte, word</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733502"/>
                <a:gridCol w="2600254"/>
                <a:gridCol w="2080203"/>
                <a:gridCol w="468045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Unit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Size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Patterns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Where you met 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 binary digit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button of the joystick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nibble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hexadecimal digit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byte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ASCII character; the width of the bar (andi 255)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halfword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65,536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RGB565 colour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word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32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4,294,967,296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RISC-V register; one instruction; .word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KiB, MiB, GiB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2^10, 2^20, 2^30 bytes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memory sizes: 1 KiB = 1024 bytes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n bits give 2^n patterns. The meaning of a pattern is a convention, not a property of the bits.</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Counting in base 2 and base 16</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540891"/>
                <a:gridCol w="2465426"/>
                <a:gridCol w="1540891"/>
                <a:gridCol w="1540891"/>
                <a:gridCol w="2465426"/>
                <a:gridCol w="1540891"/>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Dec</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Binary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Hex</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Dec</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Binary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Hex</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0000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8</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1000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8</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0001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9</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1001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9</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0010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2</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10</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1010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0011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3</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1011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0100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4</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1100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5</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0101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5</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1101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6</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0110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6</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1110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7</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0111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7</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15</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1111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F</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Positional notation: what 11011001 means</a:t>
            </a:r>
            <a:endParaRPr lang="en-US" sz="3200" dirty="0"/>
          </a:p>
        </p:txBody>
      </p:sp>
      <p:sp>
        <p:nvSpPr>
          <p:cNvPr id="3" name="Text 1"/>
          <p:cNvSpPr txBox="1"/>
          <p:nvPr/>
        </p:nvSpPr>
        <p:spPr>
          <a:xfrm>
            <a:off x="548640" y="1627632"/>
            <a:ext cx="975208" cy="274320"/>
          </a:xfrm>
          <a:prstGeom prst="rect">
            <a:avLst/>
          </a:prstGeom>
          <a:noFill/>
          <a:ln/>
        </p:spPr>
        <p:txBody>
          <a:bodyPr wrap="square" lIns="0" tIns="0" rIns="0" bIns="0" rtlCol="0" anchor="t"/>
          <a:lstStyle/>
          <a:p>
            <a:pPr algn="r" indent="0" marL="0">
              <a:buNone/>
            </a:pPr>
            <a:r>
              <a:rPr lang="en-US" sz="1300" dirty="0">
                <a:solidFill>
                  <a:srgbClr val="5B6B78"/>
                </a:solidFill>
                <a:latin typeface="Calibri" pitchFamily="34" charset="0"/>
                <a:ea typeface="Calibri" pitchFamily="34" charset="-122"/>
                <a:cs typeface="Calibri" pitchFamily="34" charset="-120"/>
              </a:rPr>
              <a:t>weight</a:t>
            </a:r>
            <a:endParaRPr lang="en-US" sz="1300" dirty="0"/>
          </a:p>
        </p:txBody>
      </p:sp>
      <p:sp>
        <p:nvSpPr>
          <p:cNvPr id="4" name="Text 2"/>
          <p:cNvSpPr txBox="1"/>
          <p:nvPr/>
        </p:nvSpPr>
        <p:spPr>
          <a:xfrm>
            <a:off x="1706728" y="2194560"/>
            <a:ext cx="1097280" cy="82296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1</a:t>
            </a:r>
            <a:endParaRPr lang="en-US" sz="3000" dirty="0"/>
          </a:p>
        </p:txBody>
      </p:sp>
      <p:sp>
        <p:nvSpPr>
          <p:cNvPr id="5" name="Text 3"/>
          <p:cNvSpPr txBox="1"/>
          <p:nvPr/>
        </p:nvSpPr>
        <p:spPr>
          <a:xfrm>
            <a:off x="170672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2^7 = 128</a:t>
            </a:r>
            <a:endParaRPr lang="en-US" sz="1050" dirty="0"/>
          </a:p>
        </p:txBody>
      </p:sp>
      <p:sp>
        <p:nvSpPr>
          <p:cNvPr id="6" name="Text 4"/>
          <p:cNvSpPr txBox="1"/>
          <p:nvPr/>
        </p:nvSpPr>
        <p:spPr>
          <a:xfrm>
            <a:off x="170672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128</a:t>
            </a:r>
            <a:endParaRPr lang="en-US" sz="1700" dirty="0"/>
          </a:p>
        </p:txBody>
      </p:sp>
      <p:sp>
        <p:nvSpPr>
          <p:cNvPr id="7" name="Text 5"/>
          <p:cNvSpPr txBox="1"/>
          <p:nvPr/>
        </p:nvSpPr>
        <p:spPr>
          <a:xfrm>
            <a:off x="2804008" y="2194560"/>
            <a:ext cx="1097280" cy="82296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1</a:t>
            </a:r>
            <a:endParaRPr lang="en-US" sz="3000" dirty="0"/>
          </a:p>
        </p:txBody>
      </p:sp>
      <p:sp>
        <p:nvSpPr>
          <p:cNvPr id="8" name="Text 6"/>
          <p:cNvSpPr txBox="1"/>
          <p:nvPr/>
        </p:nvSpPr>
        <p:spPr>
          <a:xfrm>
            <a:off x="280400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2^6 = 64</a:t>
            </a:r>
            <a:endParaRPr lang="en-US" sz="1050" dirty="0"/>
          </a:p>
        </p:txBody>
      </p:sp>
      <p:sp>
        <p:nvSpPr>
          <p:cNvPr id="9" name="Text 7"/>
          <p:cNvSpPr txBox="1"/>
          <p:nvPr/>
        </p:nvSpPr>
        <p:spPr>
          <a:xfrm>
            <a:off x="280400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64</a:t>
            </a:r>
            <a:endParaRPr lang="en-US" sz="1700" dirty="0"/>
          </a:p>
        </p:txBody>
      </p:sp>
      <p:sp>
        <p:nvSpPr>
          <p:cNvPr id="10" name="Text 8"/>
          <p:cNvSpPr txBox="1"/>
          <p:nvPr/>
        </p:nvSpPr>
        <p:spPr>
          <a:xfrm>
            <a:off x="3901288" y="2194560"/>
            <a:ext cx="1097280" cy="82296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0</a:t>
            </a:r>
            <a:endParaRPr lang="en-US" sz="3000" dirty="0"/>
          </a:p>
        </p:txBody>
      </p:sp>
      <p:sp>
        <p:nvSpPr>
          <p:cNvPr id="11" name="Text 9"/>
          <p:cNvSpPr txBox="1"/>
          <p:nvPr/>
        </p:nvSpPr>
        <p:spPr>
          <a:xfrm>
            <a:off x="390128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2^5 = 32</a:t>
            </a:r>
            <a:endParaRPr lang="en-US" sz="1050" dirty="0"/>
          </a:p>
        </p:txBody>
      </p:sp>
      <p:sp>
        <p:nvSpPr>
          <p:cNvPr id="12" name="Text 10"/>
          <p:cNvSpPr txBox="1"/>
          <p:nvPr/>
        </p:nvSpPr>
        <p:spPr>
          <a:xfrm>
            <a:off x="390128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0</a:t>
            </a:r>
            <a:endParaRPr lang="en-US" sz="1700" dirty="0"/>
          </a:p>
        </p:txBody>
      </p:sp>
      <p:sp>
        <p:nvSpPr>
          <p:cNvPr id="13" name="Text 11"/>
          <p:cNvSpPr txBox="1"/>
          <p:nvPr/>
        </p:nvSpPr>
        <p:spPr>
          <a:xfrm>
            <a:off x="4998568" y="2194560"/>
            <a:ext cx="1097280" cy="82296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1</a:t>
            </a:r>
            <a:endParaRPr lang="en-US" sz="3000" dirty="0"/>
          </a:p>
        </p:txBody>
      </p:sp>
      <p:sp>
        <p:nvSpPr>
          <p:cNvPr id="14" name="Text 12"/>
          <p:cNvSpPr txBox="1"/>
          <p:nvPr/>
        </p:nvSpPr>
        <p:spPr>
          <a:xfrm>
            <a:off x="499856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2^4 = 16</a:t>
            </a:r>
            <a:endParaRPr lang="en-US" sz="1050" dirty="0"/>
          </a:p>
        </p:txBody>
      </p:sp>
      <p:sp>
        <p:nvSpPr>
          <p:cNvPr id="15" name="Text 13"/>
          <p:cNvSpPr txBox="1"/>
          <p:nvPr/>
        </p:nvSpPr>
        <p:spPr>
          <a:xfrm>
            <a:off x="499856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16</a:t>
            </a:r>
            <a:endParaRPr lang="en-US" sz="1700" dirty="0"/>
          </a:p>
        </p:txBody>
      </p:sp>
      <p:sp>
        <p:nvSpPr>
          <p:cNvPr id="16" name="Text 14"/>
          <p:cNvSpPr txBox="1"/>
          <p:nvPr/>
        </p:nvSpPr>
        <p:spPr>
          <a:xfrm>
            <a:off x="6095848" y="2194560"/>
            <a:ext cx="1097280" cy="82296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1</a:t>
            </a:r>
            <a:endParaRPr lang="en-US" sz="3000" dirty="0"/>
          </a:p>
        </p:txBody>
      </p:sp>
      <p:sp>
        <p:nvSpPr>
          <p:cNvPr id="17" name="Text 15"/>
          <p:cNvSpPr txBox="1"/>
          <p:nvPr/>
        </p:nvSpPr>
        <p:spPr>
          <a:xfrm>
            <a:off x="609584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2^3 = 8</a:t>
            </a:r>
            <a:endParaRPr lang="en-US" sz="1050" dirty="0"/>
          </a:p>
        </p:txBody>
      </p:sp>
      <p:sp>
        <p:nvSpPr>
          <p:cNvPr id="18" name="Text 16"/>
          <p:cNvSpPr txBox="1"/>
          <p:nvPr/>
        </p:nvSpPr>
        <p:spPr>
          <a:xfrm>
            <a:off x="609584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19" name="Text 17"/>
          <p:cNvSpPr txBox="1"/>
          <p:nvPr/>
        </p:nvSpPr>
        <p:spPr>
          <a:xfrm>
            <a:off x="7193128" y="2194560"/>
            <a:ext cx="1097280" cy="82296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0</a:t>
            </a:r>
            <a:endParaRPr lang="en-US" sz="3000" dirty="0"/>
          </a:p>
        </p:txBody>
      </p:sp>
      <p:sp>
        <p:nvSpPr>
          <p:cNvPr id="20" name="Text 18"/>
          <p:cNvSpPr txBox="1"/>
          <p:nvPr/>
        </p:nvSpPr>
        <p:spPr>
          <a:xfrm>
            <a:off x="719312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2^2 = 4</a:t>
            </a:r>
            <a:endParaRPr lang="en-US" sz="1050" dirty="0"/>
          </a:p>
        </p:txBody>
      </p:sp>
      <p:sp>
        <p:nvSpPr>
          <p:cNvPr id="21" name="Text 19"/>
          <p:cNvSpPr txBox="1"/>
          <p:nvPr/>
        </p:nvSpPr>
        <p:spPr>
          <a:xfrm>
            <a:off x="719312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0</a:t>
            </a:r>
            <a:endParaRPr lang="en-US" sz="1700" dirty="0"/>
          </a:p>
        </p:txBody>
      </p:sp>
      <p:sp>
        <p:nvSpPr>
          <p:cNvPr id="22" name="Text 20"/>
          <p:cNvSpPr txBox="1"/>
          <p:nvPr/>
        </p:nvSpPr>
        <p:spPr>
          <a:xfrm>
            <a:off x="8290408" y="2194560"/>
            <a:ext cx="1097280" cy="82296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0</a:t>
            </a:r>
            <a:endParaRPr lang="en-US" sz="3000" dirty="0"/>
          </a:p>
        </p:txBody>
      </p:sp>
      <p:sp>
        <p:nvSpPr>
          <p:cNvPr id="23" name="Text 21"/>
          <p:cNvSpPr txBox="1"/>
          <p:nvPr/>
        </p:nvSpPr>
        <p:spPr>
          <a:xfrm>
            <a:off x="829040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2^1 = 2</a:t>
            </a:r>
            <a:endParaRPr lang="en-US" sz="1050" dirty="0"/>
          </a:p>
        </p:txBody>
      </p:sp>
      <p:sp>
        <p:nvSpPr>
          <p:cNvPr id="24" name="Text 22"/>
          <p:cNvSpPr txBox="1"/>
          <p:nvPr/>
        </p:nvSpPr>
        <p:spPr>
          <a:xfrm>
            <a:off x="829040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0</a:t>
            </a:r>
            <a:endParaRPr lang="en-US" sz="1700" dirty="0"/>
          </a:p>
        </p:txBody>
      </p:sp>
      <p:sp>
        <p:nvSpPr>
          <p:cNvPr id="25" name="Text 23"/>
          <p:cNvSpPr txBox="1"/>
          <p:nvPr/>
        </p:nvSpPr>
        <p:spPr>
          <a:xfrm>
            <a:off x="9387688" y="2194560"/>
            <a:ext cx="1097280" cy="82296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1</a:t>
            </a:r>
            <a:endParaRPr lang="en-US" sz="3000" dirty="0"/>
          </a:p>
        </p:txBody>
      </p:sp>
      <p:sp>
        <p:nvSpPr>
          <p:cNvPr id="26" name="Text 24"/>
          <p:cNvSpPr txBox="1"/>
          <p:nvPr/>
        </p:nvSpPr>
        <p:spPr>
          <a:xfrm>
            <a:off x="938768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2^0 = 1</a:t>
            </a:r>
            <a:endParaRPr lang="en-US" sz="1050" dirty="0"/>
          </a:p>
        </p:txBody>
      </p:sp>
      <p:sp>
        <p:nvSpPr>
          <p:cNvPr id="27" name="Text 25"/>
          <p:cNvSpPr txBox="1"/>
          <p:nvPr/>
        </p:nvSpPr>
        <p:spPr>
          <a:xfrm>
            <a:off x="938768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1</a:t>
            </a:r>
            <a:endParaRPr lang="en-US" sz="1700" dirty="0"/>
          </a:p>
        </p:txBody>
      </p:sp>
      <p:sp>
        <p:nvSpPr>
          <p:cNvPr id="28" name="Text 26"/>
          <p:cNvSpPr txBox="1"/>
          <p:nvPr/>
        </p:nvSpPr>
        <p:spPr>
          <a:xfrm>
            <a:off x="548640" y="3063240"/>
            <a:ext cx="975208" cy="274320"/>
          </a:xfrm>
          <a:prstGeom prst="rect">
            <a:avLst/>
          </a:prstGeom>
          <a:noFill/>
          <a:ln/>
        </p:spPr>
        <p:txBody>
          <a:bodyPr wrap="square" lIns="0" tIns="0" rIns="0" bIns="0" rtlCol="0" anchor="t"/>
          <a:lstStyle/>
          <a:p>
            <a:pPr algn="r" indent="0" marL="0">
              <a:buNone/>
            </a:pPr>
            <a:r>
              <a:rPr lang="en-US" sz="1300" dirty="0">
                <a:solidFill>
                  <a:srgbClr val="5B6B78"/>
                </a:solidFill>
                <a:latin typeface="Calibri" pitchFamily="34" charset="0"/>
                <a:ea typeface="Calibri" pitchFamily="34" charset="-122"/>
                <a:cs typeface="Calibri" pitchFamily="34" charset="-120"/>
              </a:rPr>
              <a:t>contributes</a:t>
            </a:r>
            <a:endParaRPr lang="en-US" sz="1300" dirty="0"/>
          </a:p>
        </p:txBody>
      </p:sp>
      <p:sp>
        <p:nvSpPr>
          <p:cNvPr id="29" name="Text 27"/>
          <p:cNvSpPr txBox="1"/>
          <p:nvPr/>
        </p:nvSpPr>
        <p:spPr>
          <a:xfrm>
            <a:off x="548640" y="3794760"/>
            <a:ext cx="11094415" cy="640080"/>
          </a:xfrm>
          <a:prstGeom prst="rect">
            <a:avLst/>
          </a:prstGeom>
          <a:noFill/>
          <a:ln/>
        </p:spPr>
        <p:txBody>
          <a:bodyPr wrap="square" lIns="0" tIns="0" rIns="0" bIns="0" rtlCol="0" anchor="ctr"/>
          <a:lstStyle/>
          <a:p>
            <a:pPr algn="ctr" indent="0" marL="0">
              <a:buNone/>
            </a:pPr>
            <a:r>
              <a:rPr lang="en-US" sz="3200" b="1" dirty="0">
                <a:solidFill>
                  <a:srgbClr val="1B2530"/>
                </a:solidFill>
                <a:latin typeface="Courier New" pitchFamily="34" charset="0"/>
                <a:ea typeface="Courier New" pitchFamily="34" charset="-122"/>
                <a:cs typeface="Courier New" pitchFamily="34" charset="-120"/>
              </a:rPr>
              <a:t>128 + 64 + 16 + 8 + 1 = 217</a:t>
            </a:r>
            <a:endParaRPr lang="en-US" sz="3200" dirty="0"/>
          </a:p>
        </p:txBody>
      </p:sp>
      <p:sp>
        <p:nvSpPr>
          <p:cNvPr id="30" name="Shape 28"/>
          <p:cNvSpPr/>
          <p:nvPr/>
        </p:nvSpPr>
        <p:spPr>
          <a:xfrm>
            <a:off x="548640" y="4800600"/>
            <a:ext cx="11094415" cy="1371600"/>
          </a:xfrm>
          <a:prstGeom prst="roundRect">
            <a:avLst>
              <a:gd name="adj" fmla="val 5333"/>
            </a:avLst>
          </a:prstGeom>
          <a:solidFill>
            <a:srgbClr val="D8ECEE"/>
          </a:solidFill>
          <a:ln w="12700">
            <a:solidFill>
              <a:srgbClr val="D8ECEE"/>
            </a:solidFill>
            <a:prstDash val="solid"/>
          </a:ln>
        </p:spPr>
      </p:sp>
      <p:sp>
        <p:nvSpPr>
          <p:cNvPr id="31" name="Text 29"/>
          <p:cNvSpPr txBox="1"/>
          <p:nvPr/>
        </p:nvSpPr>
        <p:spPr>
          <a:xfrm>
            <a:off x="822960" y="4846320"/>
            <a:ext cx="10545775" cy="12801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 a positional system the value of a digit depends on its position: each position weighs a power of the base. Base 10 uses powers of ten, base 2 powers of two, base 16 powers of sixteen. The rule is the same; only the base changes.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Why programmers write hexadecimal</a:t>
            </a:r>
            <a:endParaRPr lang="en-US" sz="3200" dirty="0"/>
          </a:p>
        </p:txBody>
      </p:sp>
      <p:sp>
        <p:nvSpPr>
          <p:cNvPr id="3" name="Text 1"/>
          <p:cNvSpPr txBox="1"/>
          <p:nvPr/>
        </p:nvSpPr>
        <p:spPr>
          <a:xfrm>
            <a:off x="548640" y="1600200"/>
            <a:ext cx="1340968" cy="731520"/>
          </a:xfrm>
          <a:prstGeom prst="rect">
            <a:avLst/>
          </a:prstGeom>
          <a:noFill/>
          <a:ln/>
        </p:spPr>
        <p:txBody>
          <a:bodyPr wrap="square" lIns="0" tIns="0" rIns="0" bIns="0" rtlCol="0" anchor="ctr"/>
          <a:lstStyle/>
          <a:p>
            <a:pPr algn="r" indent="0" marL="0">
              <a:buNone/>
            </a:pPr>
            <a:r>
              <a:rPr lang="en-US" sz="1400" dirty="0">
                <a:solidFill>
                  <a:srgbClr val="5B6B78"/>
                </a:solidFill>
                <a:latin typeface="Calibri" pitchFamily="34" charset="0"/>
                <a:ea typeface="Calibri" pitchFamily="34" charset="-122"/>
                <a:cs typeface="Calibri" pitchFamily="34" charset="-120"/>
              </a:rPr>
              <a:t>binary</a:t>
            </a:r>
            <a:endParaRPr lang="en-US" sz="1400" dirty="0"/>
          </a:p>
        </p:txBody>
      </p:sp>
      <p:sp>
        <p:nvSpPr>
          <p:cNvPr id="4" name="Text 2"/>
          <p:cNvSpPr txBox="1"/>
          <p:nvPr/>
        </p:nvSpPr>
        <p:spPr>
          <a:xfrm>
            <a:off x="2072488" y="1600200"/>
            <a:ext cx="201168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0000</a:t>
            </a:r>
            <a:endParaRPr lang="en-US" sz="2600" dirty="0"/>
          </a:p>
        </p:txBody>
      </p:sp>
      <p:sp>
        <p:nvSpPr>
          <p:cNvPr id="5" name="Text 3"/>
          <p:cNvSpPr txBox="1"/>
          <p:nvPr/>
        </p:nvSpPr>
        <p:spPr>
          <a:xfrm>
            <a:off x="4084168" y="1600200"/>
            <a:ext cx="2011680" cy="73152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0111</a:t>
            </a:r>
            <a:endParaRPr lang="en-US" sz="2600" dirty="0"/>
          </a:p>
        </p:txBody>
      </p:sp>
      <p:sp>
        <p:nvSpPr>
          <p:cNvPr id="6" name="Text 4"/>
          <p:cNvSpPr txBox="1"/>
          <p:nvPr/>
        </p:nvSpPr>
        <p:spPr>
          <a:xfrm>
            <a:off x="6095848" y="1600200"/>
            <a:ext cx="2011680" cy="731520"/>
          </a:xfrm>
          <a:prstGeom prst="rect">
            <a:avLst/>
          </a:prstGeom>
          <a:solidFill>
            <a:srgbClr val="6B4FA0"/>
          </a:solidFill>
          <a:ln w="12700">
            <a:solidFill>
              <a:srgbClr val="2E4A62"/>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1110</a:t>
            </a:r>
            <a:endParaRPr lang="en-US" sz="2600" dirty="0"/>
          </a:p>
        </p:txBody>
      </p:sp>
      <p:sp>
        <p:nvSpPr>
          <p:cNvPr id="7" name="Text 5"/>
          <p:cNvSpPr txBox="1"/>
          <p:nvPr/>
        </p:nvSpPr>
        <p:spPr>
          <a:xfrm>
            <a:off x="8107528" y="1600200"/>
            <a:ext cx="2011680" cy="73152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0000</a:t>
            </a:r>
            <a:endParaRPr lang="en-US" sz="2600" dirty="0"/>
          </a:p>
        </p:txBody>
      </p:sp>
      <p:sp>
        <p:nvSpPr>
          <p:cNvPr id="8" name="Shape 6"/>
          <p:cNvSpPr/>
          <p:nvPr/>
        </p:nvSpPr>
        <p:spPr>
          <a:xfrm>
            <a:off x="3078328" y="2377440"/>
            <a:ext cx="0" cy="457200"/>
          </a:xfrm>
          <a:prstGeom prst="line">
            <a:avLst/>
          </a:prstGeom>
          <a:noFill/>
          <a:ln w="25400">
            <a:solidFill>
              <a:srgbClr val="5B6B78"/>
            </a:solidFill>
            <a:prstDash val="solid"/>
            <a:tailEnd type="triangle"/>
          </a:ln>
        </p:spPr>
      </p:sp>
      <p:sp>
        <p:nvSpPr>
          <p:cNvPr id="9" name="Shape 7"/>
          <p:cNvSpPr/>
          <p:nvPr/>
        </p:nvSpPr>
        <p:spPr>
          <a:xfrm>
            <a:off x="5090008" y="2377440"/>
            <a:ext cx="0" cy="457200"/>
          </a:xfrm>
          <a:prstGeom prst="line">
            <a:avLst/>
          </a:prstGeom>
          <a:noFill/>
          <a:ln w="25400">
            <a:solidFill>
              <a:srgbClr val="5B6B78"/>
            </a:solidFill>
            <a:prstDash val="solid"/>
            <a:tailEnd type="triangle"/>
          </a:ln>
        </p:spPr>
      </p:sp>
      <p:sp>
        <p:nvSpPr>
          <p:cNvPr id="10" name="Shape 8"/>
          <p:cNvSpPr/>
          <p:nvPr/>
        </p:nvSpPr>
        <p:spPr>
          <a:xfrm>
            <a:off x="7101688" y="2377440"/>
            <a:ext cx="0" cy="457200"/>
          </a:xfrm>
          <a:prstGeom prst="line">
            <a:avLst/>
          </a:prstGeom>
          <a:noFill/>
          <a:ln w="25400">
            <a:solidFill>
              <a:srgbClr val="5B6B78"/>
            </a:solidFill>
            <a:prstDash val="solid"/>
            <a:tailEnd type="triangle"/>
          </a:ln>
        </p:spPr>
      </p:sp>
      <p:sp>
        <p:nvSpPr>
          <p:cNvPr id="11" name="Shape 9"/>
          <p:cNvSpPr/>
          <p:nvPr/>
        </p:nvSpPr>
        <p:spPr>
          <a:xfrm>
            <a:off x="9113368" y="2377440"/>
            <a:ext cx="0" cy="457200"/>
          </a:xfrm>
          <a:prstGeom prst="line">
            <a:avLst/>
          </a:prstGeom>
          <a:noFill/>
          <a:ln w="25400">
            <a:solidFill>
              <a:srgbClr val="5B6B78"/>
            </a:solidFill>
            <a:prstDash val="solid"/>
            <a:tailEnd type="triangle"/>
          </a:ln>
        </p:spPr>
      </p:sp>
      <p:sp>
        <p:nvSpPr>
          <p:cNvPr id="12" name="Text 10"/>
          <p:cNvSpPr txBox="1"/>
          <p:nvPr/>
        </p:nvSpPr>
        <p:spPr>
          <a:xfrm>
            <a:off x="548640" y="2880360"/>
            <a:ext cx="1340968" cy="731520"/>
          </a:xfrm>
          <a:prstGeom prst="rect">
            <a:avLst/>
          </a:prstGeom>
          <a:noFill/>
          <a:ln/>
        </p:spPr>
        <p:txBody>
          <a:bodyPr wrap="square" lIns="0" tIns="0" rIns="0" bIns="0" rtlCol="0" anchor="ctr"/>
          <a:lstStyle/>
          <a:p>
            <a:pPr algn="r" indent="0" marL="0">
              <a:buNone/>
            </a:pPr>
            <a:r>
              <a:rPr lang="en-US" sz="1400" dirty="0">
                <a:solidFill>
                  <a:srgbClr val="5B6B78"/>
                </a:solidFill>
                <a:latin typeface="Calibri" pitchFamily="34" charset="0"/>
                <a:ea typeface="Calibri" pitchFamily="34" charset="-122"/>
                <a:cs typeface="Calibri" pitchFamily="34" charset="-120"/>
              </a:rPr>
              <a:t>hexadecimal</a:t>
            </a:r>
            <a:endParaRPr lang="en-US" sz="1400" dirty="0"/>
          </a:p>
        </p:txBody>
      </p:sp>
      <p:sp>
        <p:nvSpPr>
          <p:cNvPr id="13" name="Text 11"/>
          <p:cNvSpPr txBox="1"/>
          <p:nvPr/>
        </p:nvSpPr>
        <p:spPr>
          <a:xfrm>
            <a:off x="2072488" y="2880360"/>
            <a:ext cx="2011680" cy="73152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0</a:t>
            </a:r>
            <a:endParaRPr lang="en-US" sz="3000" dirty="0"/>
          </a:p>
        </p:txBody>
      </p:sp>
      <p:sp>
        <p:nvSpPr>
          <p:cNvPr id="14" name="Text 12"/>
          <p:cNvSpPr txBox="1"/>
          <p:nvPr/>
        </p:nvSpPr>
        <p:spPr>
          <a:xfrm>
            <a:off x="4084168" y="2880360"/>
            <a:ext cx="2011680" cy="73152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7</a:t>
            </a:r>
            <a:endParaRPr lang="en-US" sz="3000" dirty="0"/>
          </a:p>
        </p:txBody>
      </p:sp>
      <p:sp>
        <p:nvSpPr>
          <p:cNvPr id="15" name="Text 13"/>
          <p:cNvSpPr txBox="1"/>
          <p:nvPr/>
        </p:nvSpPr>
        <p:spPr>
          <a:xfrm>
            <a:off x="6095848" y="2880360"/>
            <a:ext cx="2011680" cy="73152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E</a:t>
            </a:r>
            <a:endParaRPr lang="en-US" sz="3000" dirty="0"/>
          </a:p>
        </p:txBody>
      </p:sp>
      <p:sp>
        <p:nvSpPr>
          <p:cNvPr id="16" name="Text 14"/>
          <p:cNvSpPr txBox="1"/>
          <p:nvPr/>
        </p:nvSpPr>
        <p:spPr>
          <a:xfrm>
            <a:off x="8107528" y="2880360"/>
            <a:ext cx="2011680" cy="73152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0</a:t>
            </a:r>
            <a:endParaRPr lang="en-US" sz="3000" dirty="0"/>
          </a:p>
        </p:txBody>
      </p:sp>
      <p:sp>
        <p:nvSpPr>
          <p:cNvPr id="17" name="Text 15"/>
          <p:cNvSpPr txBox="1"/>
          <p:nvPr/>
        </p:nvSpPr>
        <p:spPr>
          <a:xfrm>
            <a:off x="548640" y="3794760"/>
            <a:ext cx="11094415" cy="548640"/>
          </a:xfrm>
          <a:prstGeom prst="rect">
            <a:avLst/>
          </a:prstGeom>
          <a:no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0x07E0  =  2016 in decimal</a:t>
            </a:r>
            <a:endParaRPr lang="en-US" sz="2400" dirty="0"/>
          </a:p>
        </p:txBody>
      </p:sp>
      <p:sp>
        <p:nvSpPr>
          <p:cNvPr id="18" name="Shape 16"/>
          <p:cNvSpPr/>
          <p:nvPr/>
        </p:nvSpPr>
        <p:spPr>
          <a:xfrm>
            <a:off x="548640" y="4586224"/>
            <a:ext cx="146304" cy="146304"/>
          </a:xfrm>
          <a:prstGeom prst="rect">
            <a:avLst/>
          </a:prstGeom>
          <a:solidFill>
            <a:srgbClr val="0E7C86"/>
          </a:solidFill>
          <a:ln w="12700">
            <a:solidFill>
              <a:srgbClr val="0E7C86"/>
            </a:solidFill>
            <a:prstDash val="solid"/>
          </a:ln>
        </p:spPr>
      </p:sp>
      <p:sp>
        <p:nvSpPr>
          <p:cNvPr id="19" name="Text 17"/>
          <p:cNvSpPr txBox="1"/>
          <p:nvPr/>
        </p:nvSpPr>
        <p:spPr>
          <a:xfrm>
            <a:off x="932688" y="4526280"/>
            <a:ext cx="10710367" cy="495808"/>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One hexadecimal digit is exactly four bits, because 16 = 2^4: conversion is a table lookup, digit by digit</a:t>
            </a:r>
            <a:endParaRPr lang="en-US" sz="1600" dirty="0"/>
          </a:p>
        </p:txBody>
      </p:sp>
      <p:sp>
        <p:nvSpPr>
          <p:cNvPr id="20" name="Shape 18"/>
          <p:cNvSpPr/>
          <p:nvPr/>
        </p:nvSpPr>
        <p:spPr>
          <a:xfrm>
            <a:off x="548640" y="5409184"/>
            <a:ext cx="146304" cy="146304"/>
          </a:xfrm>
          <a:prstGeom prst="rect">
            <a:avLst/>
          </a:prstGeom>
          <a:solidFill>
            <a:srgbClr val="C7791B"/>
          </a:solidFill>
          <a:ln w="12700">
            <a:solidFill>
              <a:srgbClr val="C7791B"/>
            </a:solidFill>
            <a:prstDash val="solid"/>
          </a:ln>
        </p:spPr>
      </p:sp>
      <p:sp>
        <p:nvSpPr>
          <p:cNvPr id="21" name="Text 19"/>
          <p:cNvSpPr txBox="1"/>
          <p:nvPr/>
        </p:nvSpPr>
        <p:spPr>
          <a:xfrm>
            <a:off x="932688" y="5349240"/>
            <a:ext cx="10710367" cy="247904"/>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A 32-bit register is eight hexadecimal digits: 0x00130313 is readable, thirty-two zeros and ones are not</a:t>
            </a:r>
            <a:endParaRPr lang="en-US" sz="1600" dirty="0"/>
          </a:p>
        </p:txBody>
      </p:sp>
      <p:sp>
        <p:nvSpPr>
          <p:cNvPr id="22" name="Shape 20"/>
          <p:cNvSpPr/>
          <p:nvPr/>
        </p:nvSpPr>
        <p:spPr>
          <a:xfrm>
            <a:off x="548640" y="5984240"/>
            <a:ext cx="146304" cy="146304"/>
          </a:xfrm>
          <a:prstGeom prst="rect">
            <a:avLst/>
          </a:prstGeom>
          <a:solidFill>
            <a:srgbClr val="0E7C86"/>
          </a:solidFill>
          <a:ln w="12700">
            <a:solidFill>
              <a:srgbClr val="0E7C86"/>
            </a:solidFill>
            <a:prstDash val="solid"/>
          </a:ln>
        </p:spPr>
      </p:sp>
      <p:sp>
        <p:nvSpPr>
          <p:cNvPr id="23" name="Text 21"/>
          <p:cNvSpPr txBox="1"/>
          <p:nvPr/>
        </p:nvSpPr>
        <p:spPr>
          <a:xfrm>
            <a:off x="932688" y="5924296"/>
            <a:ext cx="10710367" cy="247904"/>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The prefix 0x marks hexadecimal in assembly and in C; the debugger of PRG32-QT shows registers this way</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colour is a number: RGB565</a:t>
            </a:r>
            <a:endParaRPr lang="en-US" sz="3200" dirty="0"/>
          </a:p>
        </p:txBody>
      </p:sp>
      <p:sp>
        <p:nvSpPr>
          <p:cNvPr id="3" name="Text 1"/>
          <p:cNvSpPr txBox="1"/>
          <p:nvPr/>
        </p:nvSpPr>
        <p:spPr>
          <a:xfrm>
            <a:off x="548640" y="1371600"/>
            <a:ext cx="11094415" cy="457200"/>
          </a:xfrm>
          <a:prstGeom prst="rect">
            <a:avLst/>
          </a:prstGeom>
          <a:noFill/>
          <a:ln/>
        </p:spPr>
        <p:txBody>
          <a:bodyPr wrap="square" lIns="0" tIns="0" rIns="0" bIns="0" rtlCol="0" anchor="t"/>
          <a:lstStyle/>
          <a:p>
            <a:pPr algn="ctr" indent="0" marL="0">
              <a:buNone/>
            </a:pPr>
            <a:r>
              <a:rPr lang="en-US" sz="2400" b="1" dirty="0">
                <a:solidFill>
                  <a:srgbClr val="2E4A62"/>
                </a:solidFill>
                <a:latin typeface="Courier New" pitchFamily="34" charset="0"/>
                <a:ea typeface="Courier New" pitchFamily="34" charset="-122"/>
                <a:cs typeface="Courier New" pitchFamily="34" charset="-120"/>
              </a:rPr>
              <a:t>.equ GREEN, 0x07e0</a:t>
            </a:r>
            <a:endParaRPr lang="en-US" sz="2400" dirty="0"/>
          </a:p>
        </p:txBody>
      </p:sp>
      <p:sp>
        <p:nvSpPr>
          <p:cNvPr id="4" name="Text 2"/>
          <p:cNvSpPr txBox="1"/>
          <p:nvPr/>
        </p:nvSpPr>
        <p:spPr>
          <a:xfrm>
            <a:off x="1645920" y="2331720"/>
            <a:ext cx="2781205" cy="777240"/>
          </a:xfrm>
          <a:prstGeom prst="rect">
            <a:avLst/>
          </a:prstGeom>
          <a:solidFill>
            <a:srgbClr val="B23A48"/>
          </a:solidFill>
          <a:ln w="19050">
            <a:solidFill>
              <a:srgbClr val="FFFFFF"/>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00000</a:t>
            </a:r>
            <a:endParaRPr lang="en-US" sz="2600" dirty="0"/>
          </a:p>
        </p:txBody>
      </p:sp>
      <p:sp>
        <p:nvSpPr>
          <p:cNvPr id="5" name="Text 3"/>
          <p:cNvSpPr txBox="1"/>
          <p:nvPr/>
        </p:nvSpPr>
        <p:spPr>
          <a:xfrm>
            <a:off x="1645920" y="3163824"/>
            <a:ext cx="2781205"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red: 5 bits</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0 of 31</a:t>
            </a:r>
            <a:endParaRPr lang="en-US" sz="1500" dirty="0"/>
          </a:p>
        </p:txBody>
      </p:sp>
      <p:sp>
        <p:nvSpPr>
          <p:cNvPr id="6" name="Text 4"/>
          <p:cNvSpPr txBox="1"/>
          <p:nvPr/>
        </p:nvSpPr>
        <p:spPr>
          <a:xfrm>
            <a:off x="1682496" y="2093976"/>
            <a:ext cx="1390602"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7" name="Text 5"/>
          <p:cNvSpPr txBox="1"/>
          <p:nvPr/>
        </p:nvSpPr>
        <p:spPr>
          <a:xfrm>
            <a:off x="3036522" y="2093976"/>
            <a:ext cx="1354026"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8" name="Text 6"/>
          <p:cNvSpPr txBox="1"/>
          <p:nvPr/>
        </p:nvSpPr>
        <p:spPr>
          <a:xfrm>
            <a:off x="4427125" y="2331720"/>
            <a:ext cx="3337446" cy="7772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111111</a:t>
            </a:r>
            <a:endParaRPr lang="en-US" sz="2600" dirty="0"/>
          </a:p>
        </p:txBody>
      </p:sp>
      <p:sp>
        <p:nvSpPr>
          <p:cNvPr id="9" name="Text 7"/>
          <p:cNvSpPr txBox="1"/>
          <p:nvPr/>
        </p:nvSpPr>
        <p:spPr>
          <a:xfrm>
            <a:off x="4427125" y="3163824"/>
            <a:ext cx="3337446"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green: 6 bits</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63 of 63</a:t>
            </a:r>
            <a:endParaRPr lang="en-US" sz="1500" dirty="0"/>
          </a:p>
        </p:txBody>
      </p:sp>
      <p:sp>
        <p:nvSpPr>
          <p:cNvPr id="10" name="Text 8"/>
          <p:cNvSpPr txBox="1"/>
          <p:nvPr/>
        </p:nvSpPr>
        <p:spPr>
          <a:xfrm>
            <a:off x="4463701" y="2093976"/>
            <a:ext cx="166872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10</a:t>
            </a:r>
            <a:endParaRPr lang="en-US" sz="1050" dirty="0"/>
          </a:p>
        </p:txBody>
      </p:sp>
      <p:sp>
        <p:nvSpPr>
          <p:cNvPr id="11" name="Text 9"/>
          <p:cNvSpPr txBox="1"/>
          <p:nvPr/>
        </p:nvSpPr>
        <p:spPr>
          <a:xfrm>
            <a:off x="6095848" y="2093976"/>
            <a:ext cx="163214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5</a:t>
            </a:r>
            <a:endParaRPr lang="en-US" sz="1050" dirty="0"/>
          </a:p>
        </p:txBody>
      </p:sp>
      <p:sp>
        <p:nvSpPr>
          <p:cNvPr id="12" name="Text 10"/>
          <p:cNvSpPr txBox="1"/>
          <p:nvPr/>
        </p:nvSpPr>
        <p:spPr>
          <a:xfrm>
            <a:off x="7764570" y="2331720"/>
            <a:ext cx="2781205" cy="777240"/>
          </a:xfrm>
          <a:prstGeom prst="rect">
            <a:avLst/>
          </a:prstGeom>
          <a:solidFill>
            <a:srgbClr val="2B5DAA"/>
          </a:solidFill>
          <a:ln w="19050">
            <a:solidFill>
              <a:srgbClr val="FFFFFF"/>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00000</a:t>
            </a:r>
            <a:endParaRPr lang="en-US" sz="2600" dirty="0"/>
          </a:p>
        </p:txBody>
      </p:sp>
      <p:sp>
        <p:nvSpPr>
          <p:cNvPr id="13" name="Text 11"/>
          <p:cNvSpPr txBox="1"/>
          <p:nvPr/>
        </p:nvSpPr>
        <p:spPr>
          <a:xfrm>
            <a:off x="7764570" y="3163824"/>
            <a:ext cx="2781205"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blue: 5 bits</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0 of 31</a:t>
            </a:r>
            <a:endParaRPr lang="en-US" sz="1500" dirty="0"/>
          </a:p>
        </p:txBody>
      </p:sp>
      <p:sp>
        <p:nvSpPr>
          <p:cNvPr id="14" name="Text 12"/>
          <p:cNvSpPr txBox="1"/>
          <p:nvPr/>
        </p:nvSpPr>
        <p:spPr>
          <a:xfrm>
            <a:off x="7801146" y="2093976"/>
            <a:ext cx="1390602"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4</a:t>
            </a:r>
            <a:endParaRPr lang="en-US" sz="1050" dirty="0"/>
          </a:p>
        </p:txBody>
      </p:sp>
      <p:sp>
        <p:nvSpPr>
          <p:cNvPr id="15" name="Text 13"/>
          <p:cNvSpPr txBox="1"/>
          <p:nvPr/>
        </p:nvSpPr>
        <p:spPr>
          <a:xfrm>
            <a:off x="9155173" y="2093976"/>
            <a:ext cx="1354026"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16" name="Shape 14"/>
          <p:cNvSpPr/>
          <p:nvPr/>
        </p:nvSpPr>
        <p:spPr>
          <a:xfrm>
            <a:off x="658368" y="3977640"/>
            <a:ext cx="1167346" cy="731520"/>
          </a:xfrm>
          <a:prstGeom prst="rect">
            <a:avLst/>
          </a:prstGeom>
          <a:solidFill>
            <a:srgbClr val="000000"/>
          </a:solidFill>
          <a:ln w="9525">
            <a:solidFill>
              <a:srgbClr val="2E4A62"/>
            </a:solidFill>
            <a:prstDash val="solid"/>
          </a:ln>
        </p:spPr>
      </p:sp>
      <p:sp>
        <p:nvSpPr>
          <p:cNvPr id="17" name="Text 15"/>
          <p:cNvSpPr txBox="1"/>
          <p:nvPr/>
        </p:nvSpPr>
        <p:spPr>
          <a:xfrm>
            <a:off x="548640"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BLACK</a:t>
            </a:r>
            <a:endParaRPr lang="en-US" sz="1300" dirty="0"/>
          </a:p>
        </p:txBody>
      </p:sp>
      <p:sp>
        <p:nvSpPr>
          <p:cNvPr id="18" name="Text 16"/>
          <p:cNvSpPr txBox="1"/>
          <p:nvPr/>
        </p:nvSpPr>
        <p:spPr>
          <a:xfrm>
            <a:off x="548640"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0x0000</a:t>
            </a:r>
            <a:endParaRPr lang="en-US" sz="1400" dirty="0"/>
          </a:p>
        </p:txBody>
      </p:sp>
      <p:sp>
        <p:nvSpPr>
          <p:cNvPr id="19" name="Shape 17"/>
          <p:cNvSpPr/>
          <p:nvPr/>
        </p:nvSpPr>
        <p:spPr>
          <a:xfrm>
            <a:off x="2045170" y="3977640"/>
            <a:ext cx="1167346" cy="731520"/>
          </a:xfrm>
          <a:prstGeom prst="rect">
            <a:avLst/>
          </a:prstGeom>
          <a:solidFill>
            <a:srgbClr val="F80000"/>
          </a:solidFill>
          <a:ln w="9525">
            <a:solidFill>
              <a:srgbClr val="2E4A62"/>
            </a:solidFill>
            <a:prstDash val="solid"/>
          </a:ln>
        </p:spPr>
      </p:sp>
      <p:sp>
        <p:nvSpPr>
          <p:cNvPr id="20" name="Text 18"/>
          <p:cNvSpPr txBox="1"/>
          <p:nvPr/>
        </p:nvSpPr>
        <p:spPr>
          <a:xfrm>
            <a:off x="1935442"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RED</a:t>
            </a:r>
            <a:endParaRPr lang="en-US" sz="1300" dirty="0"/>
          </a:p>
        </p:txBody>
      </p:sp>
      <p:sp>
        <p:nvSpPr>
          <p:cNvPr id="21" name="Text 19"/>
          <p:cNvSpPr txBox="1"/>
          <p:nvPr/>
        </p:nvSpPr>
        <p:spPr>
          <a:xfrm>
            <a:off x="1935442"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0xF800</a:t>
            </a:r>
            <a:endParaRPr lang="en-US" sz="1400" dirty="0"/>
          </a:p>
        </p:txBody>
      </p:sp>
      <p:sp>
        <p:nvSpPr>
          <p:cNvPr id="22" name="Shape 20"/>
          <p:cNvSpPr/>
          <p:nvPr/>
        </p:nvSpPr>
        <p:spPr>
          <a:xfrm>
            <a:off x="3431972" y="3977640"/>
            <a:ext cx="1167346" cy="731520"/>
          </a:xfrm>
          <a:prstGeom prst="rect">
            <a:avLst/>
          </a:prstGeom>
          <a:solidFill>
            <a:srgbClr val="00FC00"/>
          </a:solidFill>
          <a:ln w="9525">
            <a:solidFill>
              <a:srgbClr val="2E4A62"/>
            </a:solidFill>
            <a:prstDash val="solid"/>
          </a:ln>
        </p:spPr>
      </p:sp>
      <p:sp>
        <p:nvSpPr>
          <p:cNvPr id="23" name="Text 21"/>
          <p:cNvSpPr txBox="1"/>
          <p:nvPr/>
        </p:nvSpPr>
        <p:spPr>
          <a:xfrm>
            <a:off x="3322244"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GREEN</a:t>
            </a:r>
            <a:endParaRPr lang="en-US" sz="1300" dirty="0"/>
          </a:p>
        </p:txBody>
      </p:sp>
      <p:sp>
        <p:nvSpPr>
          <p:cNvPr id="24" name="Text 22"/>
          <p:cNvSpPr txBox="1"/>
          <p:nvPr/>
        </p:nvSpPr>
        <p:spPr>
          <a:xfrm>
            <a:off x="3322244"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0x07E0</a:t>
            </a:r>
            <a:endParaRPr lang="en-US" sz="1400" dirty="0"/>
          </a:p>
        </p:txBody>
      </p:sp>
      <p:sp>
        <p:nvSpPr>
          <p:cNvPr id="25" name="Shape 23"/>
          <p:cNvSpPr/>
          <p:nvPr/>
        </p:nvSpPr>
        <p:spPr>
          <a:xfrm>
            <a:off x="4818774" y="3977640"/>
            <a:ext cx="1167346" cy="731520"/>
          </a:xfrm>
          <a:prstGeom prst="rect">
            <a:avLst/>
          </a:prstGeom>
          <a:solidFill>
            <a:srgbClr val="0000F8"/>
          </a:solidFill>
          <a:ln w="9525">
            <a:solidFill>
              <a:srgbClr val="2E4A62"/>
            </a:solidFill>
            <a:prstDash val="solid"/>
          </a:ln>
        </p:spPr>
      </p:sp>
      <p:sp>
        <p:nvSpPr>
          <p:cNvPr id="26" name="Text 24"/>
          <p:cNvSpPr txBox="1"/>
          <p:nvPr/>
        </p:nvSpPr>
        <p:spPr>
          <a:xfrm>
            <a:off x="4709046"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BLUE</a:t>
            </a:r>
            <a:endParaRPr lang="en-US" sz="1300" dirty="0"/>
          </a:p>
        </p:txBody>
      </p:sp>
      <p:sp>
        <p:nvSpPr>
          <p:cNvPr id="27" name="Text 25"/>
          <p:cNvSpPr txBox="1"/>
          <p:nvPr/>
        </p:nvSpPr>
        <p:spPr>
          <a:xfrm>
            <a:off x="4709046"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0x001F</a:t>
            </a:r>
            <a:endParaRPr lang="en-US" sz="1400" dirty="0"/>
          </a:p>
        </p:txBody>
      </p:sp>
      <p:sp>
        <p:nvSpPr>
          <p:cNvPr id="28" name="Shape 26"/>
          <p:cNvSpPr/>
          <p:nvPr/>
        </p:nvSpPr>
        <p:spPr>
          <a:xfrm>
            <a:off x="6205576" y="3977640"/>
            <a:ext cx="1167346" cy="731520"/>
          </a:xfrm>
          <a:prstGeom prst="rect">
            <a:avLst/>
          </a:prstGeom>
          <a:solidFill>
            <a:srgbClr val="F8FC00"/>
          </a:solidFill>
          <a:ln w="9525">
            <a:solidFill>
              <a:srgbClr val="2E4A62"/>
            </a:solidFill>
            <a:prstDash val="solid"/>
          </a:ln>
        </p:spPr>
      </p:sp>
      <p:sp>
        <p:nvSpPr>
          <p:cNvPr id="29" name="Text 27"/>
          <p:cNvSpPr txBox="1"/>
          <p:nvPr/>
        </p:nvSpPr>
        <p:spPr>
          <a:xfrm>
            <a:off x="6095848"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YELLOW</a:t>
            </a:r>
            <a:endParaRPr lang="en-US" sz="1300" dirty="0"/>
          </a:p>
        </p:txBody>
      </p:sp>
      <p:sp>
        <p:nvSpPr>
          <p:cNvPr id="30" name="Text 28"/>
          <p:cNvSpPr txBox="1"/>
          <p:nvPr/>
        </p:nvSpPr>
        <p:spPr>
          <a:xfrm>
            <a:off x="6095848"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0xFFE0</a:t>
            </a:r>
            <a:endParaRPr lang="en-US" sz="1400" dirty="0"/>
          </a:p>
        </p:txBody>
      </p:sp>
      <p:sp>
        <p:nvSpPr>
          <p:cNvPr id="31" name="Shape 29"/>
          <p:cNvSpPr/>
          <p:nvPr/>
        </p:nvSpPr>
        <p:spPr>
          <a:xfrm>
            <a:off x="7592378" y="3977640"/>
            <a:ext cx="1167346" cy="731520"/>
          </a:xfrm>
          <a:prstGeom prst="rect">
            <a:avLst/>
          </a:prstGeom>
          <a:solidFill>
            <a:srgbClr val="00FCF8"/>
          </a:solidFill>
          <a:ln w="9525">
            <a:solidFill>
              <a:srgbClr val="2E4A62"/>
            </a:solidFill>
            <a:prstDash val="solid"/>
          </a:ln>
        </p:spPr>
      </p:sp>
      <p:sp>
        <p:nvSpPr>
          <p:cNvPr id="32" name="Text 30"/>
          <p:cNvSpPr txBox="1"/>
          <p:nvPr/>
        </p:nvSpPr>
        <p:spPr>
          <a:xfrm>
            <a:off x="7482650"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CYAN</a:t>
            </a:r>
            <a:endParaRPr lang="en-US" sz="1300" dirty="0"/>
          </a:p>
        </p:txBody>
      </p:sp>
      <p:sp>
        <p:nvSpPr>
          <p:cNvPr id="33" name="Text 31"/>
          <p:cNvSpPr txBox="1"/>
          <p:nvPr/>
        </p:nvSpPr>
        <p:spPr>
          <a:xfrm>
            <a:off x="7482650"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0x07FF</a:t>
            </a:r>
            <a:endParaRPr lang="en-US" sz="1400" dirty="0"/>
          </a:p>
        </p:txBody>
      </p:sp>
      <p:sp>
        <p:nvSpPr>
          <p:cNvPr id="34" name="Shape 32"/>
          <p:cNvSpPr/>
          <p:nvPr/>
        </p:nvSpPr>
        <p:spPr>
          <a:xfrm>
            <a:off x="8979179" y="3977640"/>
            <a:ext cx="1167346" cy="731520"/>
          </a:xfrm>
          <a:prstGeom prst="rect">
            <a:avLst/>
          </a:prstGeom>
          <a:solidFill>
            <a:srgbClr val="F800F8"/>
          </a:solidFill>
          <a:ln w="9525">
            <a:solidFill>
              <a:srgbClr val="2E4A62"/>
            </a:solidFill>
            <a:prstDash val="solid"/>
          </a:ln>
        </p:spPr>
      </p:sp>
      <p:sp>
        <p:nvSpPr>
          <p:cNvPr id="35" name="Text 33"/>
          <p:cNvSpPr txBox="1"/>
          <p:nvPr/>
        </p:nvSpPr>
        <p:spPr>
          <a:xfrm>
            <a:off x="8869451"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MAGENTA</a:t>
            </a:r>
            <a:endParaRPr lang="en-US" sz="1300" dirty="0"/>
          </a:p>
        </p:txBody>
      </p:sp>
      <p:sp>
        <p:nvSpPr>
          <p:cNvPr id="36" name="Text 34"/>
          <p:cNvSpPr txBox="1"/>
          <p:nvPr/>
        </p:nvSpPr>
        <p:spPr>
          <a:xfrm>
            <a:off x="8869451"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0xF81F</a:t>
            </a:r>
            <a:endParaRPr lang="en-US" sz="1400" dirty="0"/>
          </a:p>
        </p:txBody>
      </p:sp>
      <p:sp>
        <p:nvSpPr>
          <p:cNvPr id="37" name="Shape 35"/>
          <p:cNvSpPr/>
          <p:nvPr/>
        </p:nvSpPr>
        <p:spPr>
          <a:xfrm>
            <a:off x="10365981" y="3977640"/>
            <a:ext cx="1167346" cy="731520"/>
          </a:xfrm>
          <a:prstGeom prst="rect">
            <a:avLst/>
          </a:prstGeom>
          <a:solidFill>
            <a:srgbClr val="FFFFFF"/>
          </a:solidFill>
          <a:ln w="9525">
            <a:solidFill>
              <a:srgbClr val="2E4A62"/>
            </a:solidFill>
            <a:prstDash val="solid"/>
          </a:ln>
        </p:spPr>
      </p:sp>
      <p:sp>
        <p:nvSpPr>
          <p:cNvPr id="38" name="Text 36"/>
          <p:cNvSpPr txBox="1"/>
          <p:nvPr/>
        </p:nvSpPr>
        <p:spPr>
          <a:xfrm>
            <a:off x="10256253"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WHITE</a:t>
            </a:r>
            <a:endParaRPr lang="en-US" sz="1300" dirty="0"/>
          </a:p>
        </p:txBody>
      </p:sp>
      <p:sp>
        <p:nvSpPr>
          <p:cNvPr id="39" name="Text 37"/>
          <p:cNvSpPr txBox="1"/>
          <p:nvPr/>
        </p:nvSpPr>
        <p:spPr>
          <a:xfrm>
            <a:off x="10256253"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0xFFFF</a:t>
            </a:r>
            <a:endParaRPr lang="en-US" sz="1400" dirty="0"/>
          </a:p>
        </p:txBody>
      </p:sp>
      <p:sp>
        <p:nvSpPr>
          <p:cNvPr id="40" name="Text 38"/>
          <p:cNvSpPr txBox="1"/>
          <p:nvPr/>
        </p:nvSpPr>
        <p:spPr>
          <a:xfrm>
            <a:off x="548640" y="5532120"/>
            <a:ext cx="11094415" cy="640080"/>
          </a:xfrm>
          <a:prstGeom prst="rect">
            <a:avLst/>
          </a:prstGeom>
          <a:noFill/>
          <a:ln/>
        </p:spPr>
        <p:txBody>
          <a:bodyPr wrap="square" lIns="0" tIns="0" rIns="0" bIns="0" rtlCol="0" anchor="ctr"/>
          <a:lstStyle/>
          <a:p>
            <a:pPr indent="0" marL="0">
              <a:buNone/>
            </a:pPr>
            <a:r>
              <a:rPr lang="en-US" sz="1600" i="1" dirty="0">
                <a:solidFill>
                  <a:srgbClr val="1B2530"/>
                </a:solidFill>
                <a:latin typeface="Calibri" pitchFamily="34" charset="0"/>
                <a:ea typeface="Calibri" pitchFamily="34" charset="-122"/>
                <a:cs typeface="Calibri" pitchFamily="34" charset="-120"/>
              </a:rPr>
              <a:t>Sixteen bits, three fields. The same sixteen bits could be a number, two characters or half an instruction: the meaning is in how the program uses them.</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ASCII: one character, one byte</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1364067"/>
                <a:gridCol w="1273130"/>
                <a:gridCol w="2182508"/>
                <a:gridCol w="463782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Character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Decimal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Hex</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Binary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Note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0x41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0100 0001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capital letters start at 65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0x61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0110 0001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same as A with one more bit: 97 - 65 = 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0x30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0011 0000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character zero is not the number zero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space</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0x20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0010 0000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character like any other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newline</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0000 1010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control character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NUL</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0000 0000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marks the end of a C string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Strings: a sequence of characters in memory</a:t>
            </a:r>
            <a:endParaRPr lang="en-US" sz="3200" dirty="0"/>
          </a:p>
        </p:txBody>
      </p:sp>
      <p:sp>
        <p:nvSpPr>
          <p:cNvPr id="3" name="Text 1"/>
          <p:cNvSpPr txBox="1"/>
          <p:nvPr/>
        </p:nvSpPr>
        <p:spPr>
          <a:xfrm>
            <a:off x="548640" y="1508760"/>
            <a:ext cx="2194560" cy="566928"/>
          </a:xfrm>
          <a:prstGeom prst="rect">
            <a:avLst/>
          </a:prstGeom>
          <a:noFill/>
          <a:ln/>
        </p:spPr>
        <p:txBody>
          <a:bodyPr wrap="square" lIns="0" tIns="0" rIns="0" bIns="0" rtlCol="0" anchor="ctr"/>
          <a:lstStyle/>
          <a:p>
            <a:pPr indent="0" marL="0">
              <a:buNone/>
            </a:pPr>
            <a:r>
              <a:rPr lang="en-US" sz="1500" b="1" dirty="0">
                <a:solidFill>
                  <a:srgbClr val="2E4A62"/>
                </a:solidFill>
                <a:latin typeface="Calibri" pitchFamily="34" charset="0"/>
                <a:ea typeface="Calibri" pitchFamily="34" charset="-122"/>
                <a:cs typeface="Calibri" pitchFamily="34" charset="-120"/>
              </a:rPr>
              <a:t>C string</a:t>
            </a:r>
            <a:endParaRPr lang="en-US" sz="1500" dirty="0"/>
          </a:p>
        </p:txBody>
      </p:sp>
      <p:sp>
        <p:nvSpPr>
          <p:cNvPr id="4" name="Text 2"/>
          <p:cNvSpPr txBox="1"/>
          <p:nvPr/>
        </p:nvSpPr>
        <p:spPr>
          <a:xfrm>
            <a:off x="2926080" y="1508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C</a:t>
            </a:r>
            <a:endParaRPr lang="en-US" sz="1700" dirty="0"/>
          </a:p>
        </p:txBody>
      </p:sp>
      <p:sp>
        <p:nvSpPr>
          <p:cNvPr id="5" name="Text 3"/>
          <p:cNvSpPr txBox="1"/>
          <p:nvPr/>
        </p:nvSpPr>
        <p:spPr>
          <a:xfrm>
            <a:off x="2926080" y="2112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43</a:t>
            </a:r>
            <a:endParaRPr lang="en-US" sz="1200" dirty="0"/>
          </a:p>
        </p:txBody>
      </p:sp>
      <p:sp>
        <p:nvSpPr>
          <p:cNvPr id="6" name="Text 4"/>
          <p:cNvSpPr txBox="1"/>
          <p:nvPr/>
        </p:nvSpPr>
        <p:spPr>
          <a:xfrm>
            <a:off x="3639312" y="1508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I</a:t>
            </a:r>
            <a:endParaRPr lang="en-US" sz="1700" dirty="0"/>
          </a:p>
        </p:txBody>
      </p:sp>
      <p:sp>
        <p:nvSpPr>
          <p:cNvPr id="7" name="Text 5"/>
          <p:cNvSpPr txBox="1"/>
          <p:nvPr/>
        </p:nvSpPr>
        <p:spPr>
          <a:xfrm>
            <a:off x="3639312" y="2112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49</a:t>
            </a:r>
            <a:endParaRPr lang="en-US" sz="1200" dirty="0"/>
          </a:p>
        </p:txBody>
      </p:sp>
      <p:sp>
        <p:nvSpPr>
          <p:cNvPr id="8" name="Text 6"/>
          <p:cNvSpPr txBox="1"/>
          <p:nvPr/>
        </p:nvSpPr>
        <p:spPr>
          <a:xfrm>
            <a:off x="4352544" y="1508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A</a:t>
            </a:r>
            <a:endParaRPr lang="en-US" sz="1700" dirty="0"/>
          </a:p>
        </p:txBody>
      </p:sp>
      <p:sp>
        <p:nvSpPr>
          <p:cNvPr id="9" name="Text 7"/>
          <p:cNvSpPr txBox="1"/>
          <p:nvPr/>
        </p:nvSpPr>
        <p:spPr>
          <a:xfrm>
            <a:off x="4352544" y="2112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41</a:t>
            </a:r>
            <a:endParaRPr lang="en-US" sz="1200" dirty="0"/>
          </a:p>
        </p:txBody>
      </p:sp>
      <p:sp>
        <p:nvSpPr>
          <p:cNvPr id="10" name="Text 8"/>
          <p:cNvSpPr txBox="1"/>
          <p:nvPr/>
        </p:nvSpPr>
        <p:spPr>
          <a:xfrm>
            <a:off x="5065776" y="1508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O</a:t>
            </a:r>
            <a:endParaRPr lang="en-US" sz="1700" dirty="0"/>
          </a:p>
        </p:txBody>
      </p:sp>
      <p:sp>
        <p:nvSpPr>
          <p:cNvPr id="11" name="Text 9"/>
          <p:cNvSpPr txBox="1"/>
          <p:nvPr/>
        </p:nvSpPr>
        <p:spPr>
          <a:xfrm>
            <a:off x="5065776" y="2112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4F</a:t>
            </a:r>
            <a:endParaRPr lang="en-US" sz="1200" dirty="0"/>
          </a:p>
        </p:txBody>
      </p:sp>
      <p:sp>
        <p:nvSpPr>
          <p:cNvPr id="12" name="Text 10"/>
          <p:cNvSpPr txBox="1"/>
          <p:nvPr/>
        </p:nvSpPr>
        <p:spPr>
          <a:xfrm>
            <a:off x="5779008" y="1508760"/>
            <a:ext cx="713232" cy="566928"/>
          </a:xfrm>
          <a:prstGeom prst="rect">
            <a:avLst/>
          </a:prstGeom>
          <a:solidFill>
            <a:srgbClr val="B23A48"/>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a:t>
            </a:r>
            <a:endParaRPr lang="en-US" sz="1700" dirty="0"/>
          </a:p>
        </p:txBody>
      </p:sp>
      <p:sp>
        <p:nvSpPr>
          <p:cNvPr id="13" name="Text 11"/>
          <p:cNvSpPr txBox="1"/>
          <p:nvPr/>
        </p:nvSpPr>
        <p:spPr>
          <a:xfrm>
            <a:off x="5779008" y="2112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00</a:t>
            </a:r>
            <a:endParaRPr lang="en-US" sz="1200" dirty="0"/>
          </a:p>
        </p:txBody>
      </p:sp>
      <p:sp>
        <p:nvSpPr>
          <p:cNvPr id="14" name="Text 12"/>
          <p:cNvSpPr txBox="1"/>
          <p:nvPr/>
        </p:nvSpPr>
        <p:spPr>
          <a:xfrm>
            <a:off x="6720840" y="1508760"/>
            <a:ext cx="4922215" cy="566928"/>
          </a:xfrm>
          <a:prstGeom prst="rect">
            <a:avLst/>
          </a:prstGeom>
          <a:noFill/>
          <a:ln/>
        </p:spPr>
        <p:txBody>
          <a:bodyPr wrap="square" lIns="0" tIns="0" rIns="0" bIns="0" rtlCol="0" anchor="ctr"/>
          <a:lstStyle/>
          <a:p>
            <a:pPr indent="0" marL="0">
              <a:buNone/>
            </a:pPr>
            <a:r>
              <a:rPr lang="en-US" sz="1350" dirty="0">
                <a:solidFill>
                  <a:srgbClr val="5B6B78"/>
                </a:solidFill>
                <a:latin typeface="Calibri" pitchFamily="34" charset="0"/>
                <a:ea typeface="Calibri" pitchFamily="34" charset="-122"/>
                <a:cs typeface="Calibri" pitchFamily="34" charset="-120"/>
              </a:rPr>
              <a:t>the end is marked by a zero byte</a:t>
            </a:r>
            <a:endParaRPr lang="en-US" sz="1350" dirty="0"/>
          </a:p>
        </p:txBody>
      </p:sp>
      <p:sp>
        <p:nvSpPr>
          <p:cNvPr id="15" name="Text 13"/>
          <p:cNvSpPr txBox="1"/>
          <p:nvPr/>
        </p:nvSpPr>
        <p:spPr>
          <a:xfrm>
            <a:off x="548640" y="2651760"/>
            <a:ext cx="2194560" cy="566928"/>
          </a:xfrm>
          <a:prstGeom prst="rect">
            <a:avLst/>
          </a:prstGeom>
          <a:noFill/>
          <a:ln/>
        </p:spPr>
        <p:txBody>
          <a:bodyPr wrap="square" lIns="0" tIns="0" rIns="0" bIns="0" rtlCol="0" anchor="ctr"/>
          <a:lstStyle/>
          <a:p>
            <a:pPr indent="0" marL="0">
              <a:buNone/>
            </a:pPr>
            <a:r>
              <a:rPr lang="en-US" sz="1500" b="1" dirty="0">
                <a:solidFill>
                  <a:srgbClr val="2E4A62"/>
                </a:solidFill>
                <a:latin typeface="Calibri" pitchFamily="34" charset="0"/>
                <a:ea typeface="Calibri" pitchFamily="34" charset="-122"/>
                <a:cs typeface="Calibri" pitchFamily="34" charset="-120"/>
              </a:rPr>
              <a:t>Pascal string</a:t>
            </a:r>
            <a:endParaRPr lang="en-US" sz="1500" dirty="0"/>
          </a:p>
        </p:txBody>
      </p:sp>
      <p:sp>
        <p:nvSpPr>
          <p:cNvPr id="16" name="Text 14"/>
          <p:cNvSpPr txBox="1"/>
          <p:nvPr/>
        </p:nvSpPr>
        <p:spPr>
          <a:xfrm>
            <a:off x="2926080" y="2651760"/>
            <a:ext cx="713232" cy="566928"/>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4</a:t>
            </a:r>
            <a:endParaRPr lang="en-US" sz="1700" dirty="0"/>
          </a:p>
        </p:txBody>
      </p:sp>
      <p:sp>
        <p:nvSpPr>
          <p:cNvPr id="17" name="Text 15"/>
          <p:cNvSpPr txBox="1"/>
          <p:nvPr/>
        </p:nvSpPr>
        <p:spPr>
          <a:xfrm>
            <a:off x="2926080" y="3255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04</a:t>
            </a:r>
            <a:endParaRPr lang="en-US" sz="1200" dirty="0"/>
          </a:p>
        </p:txBody>
      </p:sp>
      <p:sp>
        <p:nvSpPr>
          <p:cNvPr id="18" name="Text 16"/>
          <p:cNvSpPr txBox="1"/>
          <p:nvPr/>
        </p:nvSpPr>
        <p:spPr>
          <a:xfrm>
            <a:off x="3639312" y="2651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C</a:t>
            </a:r>
            <a:endParaRPr lang="en-US" sz="1700" dirty="0"/>
          </a:p>
        </p:txBody>
      </p:sp>
      <p:sp>
        <p:nvSpPr>
          <p:cNvPr id="19" name="Text 17"/>
          <p:cNvSpPr txBox="1"/>
          <p:nvPr/>
        </p:nvSpPr>
        <p:spPr>
          <a:xfrm>
            <a:off x="3639312" y="3255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43</a:t>
            </a:r>
            <a:endParaRPr lang="en-US" sz="1200" dirty="0"/>
          </a:p>
        </p:txBody>
      </p:sp>
      <p:sp>
        <p:nvSpPr>
          <p:cNvPr id="20" name="Text 18"/>
          <p:cNvSpPr txBox="1"/>
          <p:nvPr/>
        </p:nvSpPr>
        <p:spPr>
          <a:xfrm>
            <a:off x="4352544" y="2651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I</a:t>
            </a:r>
            <a:endParaRPr lang="en-US" sz="1700" dirty="0"/>
          </a:p>
        </p:txBody>
      </p:sp>
      <p:sp>
        <p:nvSpPr>
          <p:cNvPr id="21" name="Text 19"/>
          <p:cNvSpPr txBox="1"/>
          <p:nvPr/>
        </p:nvSpPr>
        <p:spPr>
          <a:xfrm>
            <a:off x="4352544" y="3255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49</a:t>
            </a:r>
            <a:endParaRPr lang="en-US" sz="1200" dirty="0"/>
          </a:p>
        </p:txBody>
      </p:sp>
      <p:sp>
        <p:nvSpPr>
          <p:cNvPr id="22" name="Text 20"/>
          <p:cNvSpPr txBox="1"/>
          <p:nvPr/>
        </p:nvSpPr>
        <p:spPr>
          <a:xfrm>
            <a:off x="5065776" y="2651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A</a:t>
            </a:r>
            <a:endParaRPr lang="en-US" sz="1700" dirty="0"/>
          </a:p>
        </p:txBody>
      </p:sp>
      <p:sp>
        <p:nvSpPr>
          <p:cNvPr id="23" name="Text 21"/>
          <p:cNvSpPr txBox="1"/>
          <p:nvPr/>
        </p:nvSpPr>
        <p:spPr>
          <a:xfrm>
            <a:off x="5065776" y="3255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41</a:t>
            </a:r>
            <a:endParaRPr lang="en-US" sz="1200" dirty="0"/>
          </a:p>
        </p:txBody>
      </p:sp>
      <p:sp>
        <p:nvSpPr>
          <p:cNvPr id="24" name="Text 22"/>
          <p:cNvSpPr txBox="1"/>
          <p:nvPr/>
        </p:nvSpPr>
        <p:spPr>
          <a:xfrm>
            <a:off x="5779008" y="2651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O</a:t>
            </a:r>
            <a:endParaRPr lang="en-US" sz="1700" dirty="0"/>
          </a:p>
        </p:txBody>
      </p:sp>
      <p:sp>
        <p:nvSpPr>
          <p:cNvPr id="25" name="Text 23"/>
          <p:cNvSpPr txBox="1"/>
          <p:nvPr/>
        </p:nvSpPr>
        <p:spPr>
          <a:xfrm>
            <a:off x="5779008" y="3255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4F</a:t>
            </a:r>
            <a:endParaRPr lang="en-US" sz="1200" dirty="0"/>
          </a:p>
        </p:txBody>
      </p:sp>
      <p:sp>
        <p:nvSpPr>
          <p:cNvPr id="26" name="Text 24"/>
          <p:cNvSpPr txBox="1"/>
          <p:nvPr/>
        </p:nvSpPr>
        <p:spPr>
          <a:xfrm>
            <a:off x="6720840" y="2651760"/>
            <a:ext cx="4922215" cy="566928"/>
          </a:xfrm>
          <a:prstGeom prst="rect">
            <a:avLst/>
          </a:prstGeom>
          <a:noFill/>
          <a:ln/>
        </p:spPr>
        <p:txBody>
          <a:bodyPr wrap="square" lIns="0" tIns="0" rIns="0" bIns="0" rtlCol="0" anchor="ctr"/>
          <a:lstStyle/>
          <a:p>
            <a:pPr indent="0" marL="0">
              <a:buNone/>
            </a:pPr>
            <a:r>
              <a:rPr lang="en-US" sz="1350" dirty="0">
                <a:solidFill>
                  <a:srgbClr val="5B6B78"/>
                </a:solidFill>
                <a:latin typeface="Calibri" pitchFamily="34" charset="0"/>
                <a:ea typeface="Calibri" pitchFamily="34" charset="-122"/>
                <a:cs typeface="Calibri" pitchFamily="34" charset="-120"/>
              </a:rPr>
              <a:t>the length comes first</a:t>
            </a:r>
            <a:endParaRPr lang="en-US" sz="1350" dirty="0"/>
          </a:p>
        </p:txBody>
      </p:sp>
      <p:sp>
        <p:nvSpPr>
          <p:cNvPr id="27" name="Text 25"/>
          <p:cNvSpPr txBox="1"/>
          <p:nvPr/>
        </p:nvSpPr>
        <p:spPr>
          <a:xfrm>
            <a:off x="548640" y="3931920"/>
            <a:ext cx="2194560" cy="566928"/>
          </a:xfrm>
          <a:prstGeom prst="rect">
            <a:avLst/>
          </a:prstGeom>
          <a:noFill/>
          <a:ln/>
        </p:spPr>
        <p:txBody>
          <a:bodyPr wrap="square" lIns="0" tIns="0" rIns="0" bIns="0" rtlCol="0" anchor="ctr"/>
          <a:lstStyle/>
          <a:p>
            <a:pPr indent="0" marL="0">
              <a:buNone/>
            </a:pPr>
            <a:r>
              <a:rPr lang="en-US" sz="1500" b="1" dirty="0">
                <a:solidFill>
                  <a:srgbClr val="2E4A62"/>
                </a:solidFill>
                <a:latin typeface="Calibri" pitchFamily="34" charset="0"/>
                <a:ea typeface="Calibri" pitchFamily="34" charset="-122"/>
                <a:cs typeface="Calibri" pitchFamily="34" charset="-120"/>
              </a:rPr>
              <a:t>.asciz "HELLO PRG32"</a:t>
            </a:r>
            <a:endParaRPr lang="en-US" sz="1500" dirty="0"/>
          </a:p>
        </p:txBody>
      </p:sp>
      <p:sp>
        <p:nvSpPr>
          <p:cNvPr id="28" name="Text 26"/>
          <p:cNvSpPr txBox="1"/>
          <p:nvPr/>
        </p:nvSpPr>
        <p:spPr>
          <a:xfrm>
            <a:off x="2926080"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H</a:t>
            </a:r>
            <a:endParaRPr lang="en-US" sz="1700" dirty="0"/>
          </a:p>
        </p:txBody>
      </p:sp>
      <p:sp>
        <p:nvSpPr>
          <p:cNvPr id="29" name="Text 27"/>
          <p:cNvSpPr txBox="1"/>
          <p:nvPr/>
        </p:nvSpPr>
        <p:spPr>
          <a:xfrm>
            <a:off x="2926080"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48</a:t>
            </a:r>
            <a:endParaRPr lang="en-US" sz="1200" dirty="0"/>
          </a:p>
        </p:txBody>
      </p:sp>
      <p:sp>
        <p:nvSpPr>
          <p:cNvPr id="30" name="Text 28"/>
          <p:cNvSpPr txBox="1"/>
          <p:nvPr/>
        </p:nvSpPr>
        <p:spPr>
          <a:xfrm>
            <a:off x="3639312"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E</a:t>
            </a:r>
            <a:endParaRPr lang="en-US" sz="1700" dirty="0"/>
          </a:p>
        </p:txBody>
      </p:sp>
      <p:sp>
        <p:nvSpPr>
          <p:cNvPr id="31" name="Text 29"/>
          <p:cNvSpPr txBox="1"/>
          <p:nvPr/>
        </p:nvSpPr>
        <p:spPr>
          <a:xfrm>
            <a:off x="3639312"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45</a:t>
            </a:r>
            <a:endParaRPr lang="en-US" sz="1200" dirty="0"/>
          </a:p>
        </p:txBody>
      </p:sp>
      <p:sp>
        <p:nvSpPr>
          <p:cNvPr id="32" name="Text 30"/>
          <p:cNvSpPr txBox="1"/>
          <p:nvPr/>
        </p:nvSpPr>
        <p:spPr>
          <a:xfrm>
            <a:off x="4352544"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L</a:t>
            </a:r>
            <a:endParaRPr lang="en-US" sz="1700" dirty="0"/>
          </a:p>
        </p:txBody>
      </p:sp>
      <p:sp>
        <p:nvSpPr>
          <p:cNvPr id="33" name="Text 31"/>
          <p:cNvSpPr txBox="1"/>
          <p:nvPr/>
        </p:nvSpPr>
        <p:spPr>
          <a:xfrm>
            <a:off x="4352544"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4C</a:t>
            </a:r>
            <a:endParaRPr lang="en-US" sz="1200" dirty="0"/>
          </a:p>
        </p:txBody>
      </p:sp>
      <p:sp>
        <p:nvSpPr>
          <p:cNvPr id="34" name="Text 32"/>
          <p:cNvSpPr txBox="1"/>
          <p:nvPr/>
        </p:nvSpPr>
        <p:spPr>
          <a:xfrm>
            <a:off x="5065776"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L</a:t>
            </a:r>
            <a:endParaRPr lang="en-US" sz="1700" dirty="0"/>
          </a:p>
        </p:txBody>
      </p:sp>
      <p:sp>
        <p:nvSpPr>
          <p:cNvPr id="35" name="Text 33"/>
          <p:cNvSpPr txBox="1"/>
          <p:nvPr/>
        </p:nvSpPr>
        <p:spPr>
          <a:xfrm>
            <a:off x="5065776"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4C</a:t>
            </a:r>
            <a:endParaRPr lang="en-US" sz="1200" dirty="0"/>
          </a:p>
        </p:txBody>
      </p:sp>
      <p:sp>
        <p:nvSpPr>
          <p:cNvPr id="36" name="Text 34"/>
          <p:cNvSpPr txBox="1"/>
          <p:nvPr/>
        </p:nvSpPr>
        <p:spPr>
          <a:xfrm>
            <a:off x="5779008"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O</a:t>
            </a:r>
            <a:endParaRPr lang="en-US" sz="1700" dirty="0"/>
          </a:p>
        </p:txBody>
      </p:sp>
      <p:sp>
        <p:nvSpPr>
          <p:cNvPr id="37" name="Text 35"/>
          <p:cNvSpPr txBox="1"/>
          <p:nvPr/>
        </p:nvSpPr>
        <p:spPr>
          <a:xfrm>
            <a:off x="5779008"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4F</a:t>
            </a:r>
            <a:endParaRPr lang="en-US" sz="1200" dirty="0"/>
          </a:p>
        </p:txBody>
      </p:sp>
      <p:sp>
        <p:nvSpPr>
          <p:cNvPr id="38" name="Text 36"/>
          <p:cNvSpPr txBox="1"/>
          <p:nvPr/>
        </p:nvSpPr>
        <p:spPr>
          <a:xfrm>
            <a:off x="6492240"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a:t>
            </a:r>
            <a:endParaRPr lang="en-US" sz="1700" dirty="0"/>
          </a:p>
        </p:txBody>
      </p:sp>
      <p:sp>
        <p:nvSpPr>
          <p:cNvPr id="39" name="Text 37"/>
          <p:cNvSpPr txBox="1"/>
          <p:nvPr/>
        </p:nvSpPr>
        <p:spPr>
          <a:xfrm>
            <a:off x="6492240"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20</a:t>
            </a:r>
            <a:endParaRPr lang="en-US" sz="1200" dirty="0"/>
          </a:p>
        </p:txBody>
      </p:sp>
      <p:sp>
        <p:nvSpPr>
          <p:cNvPr id="40" name="Text 38"/>
          <p:cNvSpPr txBox="1"/>
          <p:nvPr/>
        </p:nvSpPr>
        <p:spPr>
          <a:xfrm>
            <a:off x="7205472"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P</a:t>
            </a:r>
            <a:endParaRPr lang="en-US" sz="1700" dirty="0"/>
          </a:p>
        </p:txBody>
      </p:sp>
      <p:sp>
        <p:nvSpPr>
          <p:cNvPr id="41" name="Text 39"/>
          <p:cNvSpPr txBox="1"/>
          <p:nvPr/>
        </p:nvSpPr>
        <p:spPr>
          <a:xfrm>
            <a:off x="7205472"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50</a:t>
            </a:r>
            <a:endParaRPr lang="en-US" sz="1200" dirty="0"/>
          </a:p>
        </p:txBody>
      </p:sp>
      <p:sp>
        <p:nvSpPr>
          <p:cNvPr id="42" name="Text 40"/>
          <p:cNvSpPr txBox="1"/>
          <p:nvPr/>
        </p:nvSpPr>
        <p:spPr>
          <a:xfrm>
            <a:off x="7918704"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R</a:t>
            </a:r>
            <a:endParaRPr lang="en-US" sz="1700" dirty="0"/>
          </a:p>
        </p:txBody>
      </p:sp>
      <p:sp>
        <p:nvSpPr>
          <p:cNvPr id="43" name="Text 41"/>
          <p:cNvSpPr txBox="1"/>
          <p:nvPr/>
        </p:nvSpPr>
        <p:spPr>
          <a:xfrm>
            <a:off x="7918704"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52</a:t>
            </a:r>
            <a:endParaRPr lang="en-US" sz="1200" dirty="0"/>
          </a:p>
        </p:txBody>
      </p:sp>
      <p:sp>
        <p:nvSpPr>
          <p:cNvPr id="44" name="Text 42"/>
          <p:cNvSpPr txBox="1"/>
          <p:nvPr/>
        </p:nvSpPr>
        <p:spPr>
          <a:xfrm>
            <a:off x="8631936"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G</a:t>
            </a:r>
            <a:endParaRPr lang="en-US" sz="1700" dirty="0"/>
          </a:p>
        </p:txBody>
      </p:sp>
      <p:sp>
        <p:nvSpPr>
          <p:cNvPr id="45" name="Text 43"/>
          <p:cNvSpPr txBox="1"/>
          <p:nvPr/>
        </p:nvSpPr>
        <p:spPr>
          <a:xfrm>
            <a:off x="8631936"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47</a:t>
            </a:r>
            <a:endParaRPr lang="en-US" sz="1200" dirty="0"/>
          </a:p>
        </p:txBody>
      </p:sp>
      <p:sp>
        <p:nvSpPr>
          <p:cNvPr id="46" name="Text 44"/>
          <p:cNvSpPr txBox="1"/>
          <p:nvPr/>
        </p:nvSpPr>
        <p:spPr>
          <a:xfrm>
            <a:off x="9345168"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3</a:t>
            </a:r>
            <a:endParaRPr lang="en-US" sz="1700" dirty="0"/>
          </a:p>
        </p:txBody>
      </p:sp>
      <p:sp>
        <p:nvSpPr>
          <p:cNvPr id="47" name="Text 45"/>
          <p:cNvSpPr txBox="1"/>
          <p:nvPr/>
        </p:nvSpPr>
        <p:spPr>
          <a:xfrm>
            <a:off x="9345168"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33</a:t>
            </a:r>
            <a:endParaRPr lang="en-US" sz="1200" dirty="0"/>
          </a:p>
        </p:txBody>
      </p:sp>
      <p:sp>
        <p:nvSpPr>
          <p:cNvPr id="48" name="Text 46"/>
          <p:cNvSpPr txBox="1"/>
          <p:nvPr/>
        </p:nvSpPr>
        <p:spPr>
          <a:xfrm>
            <a:off x="10058400"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2</a:t>
            </a:r>
            <a:endParaRPr lang="en-US" sz="1700" dirty="0"/>
          </a:p>
        </p:txBody>
      </p:sp>
      <p:sp>
        <p:nvSpPr>
          <p:cNvPr id="49" name="Text 47"/>
          <p:cNvSpPr txBox="1"/>
          <p:nvPr/>
        </p:nvSpPr>
        <p:spPr>
          <a:xfrm>
            <a:off x="10058400"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32</a:t>
            </a:r>
            <a:endParaRPr lang="en-US" sz="1200" dirty="0"/>
          </a:p>
        </p:txBody>
      </p:sp>
      <p:sp>
        <p:nvSpPr>
          <p:cNvPr id="50" name="Text 48"/>
          <p:cNvSpPr txBox="1"/>
          <p:nvPr/>
        </p:nvSpPr>
        <p:spPr>
          <a:xfrm>
            <a:off x="10771632" y="3931920"/>
            <a:ext cx="713232" cy="566928"/>
          </a:xfrm>
          <a:prstGeom prst="rect">
            <a:avLst/>
          </a:prstGeom>
          <a:solidFill>
            <a:srgbClr val="B23A48"/>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a:t>
            </a:r>
            <a:endParaRPr lang="en-US" sz="1700" dirty="0"/>
          </a:p>
        </p:txBody>
      </p:sp>
      <p:sp>
        <p:nvSpPr>
          <p:cNvPr id="51" name="Text 49"/>
          <p:cNvSpPr txBox="1"/>
          <p:nvPr/>
        </p:nvSpPr>
        <p:spPr>
          <a:xfrm>
            <a:off x="10771632"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00</a:t>
            </a:r>
            <a:endParaRPr lang="en-US" sz="1200" dirty="0"/>
          </a:p>
        </p:txBody>
      </p:sp>
      <p:sp>
        <p:nvSpPr>
          <p:cNvPr id="52" name="Shape 50"/>
          <p:cNvSpPr/>
          <p:nvPr/>
        </p:nvSpPr>
        <p:spPr>
          <a:xfrm>
            <a:off x="548640" y="4846320"/>
            <a:ext cx="11094415" cy="1325880"/>
          </a:xfrm>
          <a:prstGeom prst="roundRect">
            <a:avLst>
              <a:gd name="adj" fmla="val 5517"/>
            </a:avLst>
          </a:prstGeom>
          <a:solidFill>
            <a:srgbClr val="D8ECEE"/>
          </a:solidFill>
          <a:ln w="12700">
            <a:solidFill>
              <a:srgbClr val="D8ECEE"/>
            </a:solidFill>
            <a:prstDash val="solid"/>
          </a:ln>
        </p:spPr>
      </p:sp>
      <p:sp>
        <p:nvSpPr>
          <p:cNvPr id="53" name="Text 51"/>
          <p:cNvSpPr txBox="1"/>
          <p:nvPr/>
        </p:nvSpPr>
        <p:spPr>
          <a:xfrm>
            <a:off x="822960" y="4892040"/>
            <a:ext cx="10545775" cy="123444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z of .asciz means zero-terminated: the assembler stores twelve bytes for eleven characters. prg32_gfx_text8 receives only the address of the first byte in a2, and reads until it finds the zero.</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Unicode and UTF-8: every writing system</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18757"/>
                <a:gridCol w="2364384"/>
                <a:gridCol w="3091886"/>
                <a:gridCol w="381938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Character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Code point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UTF-8 bytes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Length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U+0041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41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 byte: identical to ASCII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è</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U+00E8</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C3 A8</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 bytes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U+20AC</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E2 82 AC</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bytes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日</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U+65E5</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E6 97 A5</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bytes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U+1F600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F0 9F 98 80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 bytes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400" i="1" dirty="0">
                <a:solidFill>
                  <a:srgbClr val="5B6B78"/>
                </a:solidFill>
                <a:latin typeface="Calibri" pitchFamily="34" charset="0"/>
                <a:ea typeface="Calibri" pitchFamily="34" charset="-122"/>
                <a:cs typeface="Calibri" pitchFamily="34" charset="-120"/>
              </a:rPr>
              <a:t>Unicode gives every character a number; UTF-8 stores it in one to four bytes, and plain ASCII text is already valid UTF-8.</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Byte order: little-endian</a:t>
            </a:r>
            <a:endParaRPr lang="en-US" sz="3200" dirty="0"/>
          </a:p>
        </p:txBody>
      </p:sp>
      <p:sp>
        <p:nvSpPr>
          <p:cNvPr id="3" name="Text 1"/>
          <p:cNvSpPr txBox="1"/>
          <p:nvPr/>
        </p:nvSpPr>
        <p:spPr>
          <a:xfrm>
            <a:off x="548640" y="1371600"/>
            <a:ext cx="11094415" cy="457200"/>
          </a:xfrm>
          <a:prstGeom prst="rect">
            <a:avLst/>
          </a:prstGeom>
          <a:noFill/>
          <a:ln/>
        </p:spPr>
        <p:txBody>
          <a:bodyPr wrap="square" lIns="0" tIns="0" rIns="0" bIns="0" rtlCol="0" anchor="t"/>
          <a:lstStyle/>
          <a:p>
            <a:pPr algn="ctr" indent="0" marL="0">
              <a:buNone/>
            </a:pPr>
            <a:r>
              <a:rPr lang="en-US" sz="2400" b="1" dirty="0">
                <a:solidFill>
                  <a:srgbClr val="2E4A62"/>
                </a:solidFill>
                <a:latin typeface="Courier New" pitchFamily="34" charset="0"/>
                <a:ea typeface="Courier New" pitchFamily="34" charset="-122"/>
                <a:cs typeface="Courier New" pitchFamily="34" charset="-120"/>
              </a:rPr>
              <a:t>value: .word 0x12345678</a:t>
            </a:r>
            <a:endParaRPr lang="en-US" sz="2400" dirty="0"/>
          </a:p>
        </p:txBody>
      </p:sp>
      <p:sp>
        <p:nvSpPr>
          <p:cNvPr id="4" name="Text 2"/>
          <p:cNvSpPr txBox="1"/>
          <p:nvPr/>
        </p:nvSpPr>
        <p:spPr>
          <a:xfrm>
            <a:off x="548640" y="2331720"/>
            <a:ext cx="3383280" cy="731520"/>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little-endian</a:t>
            </a:r>
            <a:endParaRPr lang="en-US" sz="1600" dirty="0"/>
          </a:p>
          <a:p>
            <a:pPr algn="r" indent="0" marL="0">
              <a:buNone/>
            </a:pPr>
            <a:r>
              <a:rPr lang="en-US" sz="1600" b="1" dirty="0">
                <a:solidFill>
                  <a:srgbClr val="1B2530"/>
                </a:solidFill>
                <a:latin typeface="Calibri" pitchFamily="34" charset="0"/>
                <a:ea typeface="Calibri" pitchFamily="34" charset="-122"/>
                <a:cs typeface="Calibri" pitchFamily="34" charset="-120"/>
              </a:rPr>
              <a:t>(RISC-V, x86, ARM)</a:t>
            </a:r>
            <a:endParaRPr lang="en-US" sz="1600" dirty="0"/>
          </a:p>
        </p:txBody>
      </p:sp>
      <p:sp>
        <p:nvSpPr>
          <p:cNvPr id="5" name="Text 3"/>
          <p:cNvSpPr txBox="1"/>
          <p:nvPr/>
        </p:nvSpPr>
        <p:spPr>
          <a:xfrm>
            <a:off x="4206240" y="2331720"/>
            <a:ext cx="1371600" cy="73152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78</a:t>
            </a:r>
            <a:endParaRPr lang="en-US" sz="2400" dirty="0"/>
          </a:p>
        </p:txBody>
      </p:sp>
      <p:sp>
        <p:nvSpPr>
          <p:cNvPr id="6" name="Text 4"/>
          <p:cNvSpPr txBox="1"/>
          <p:nvPr/>
        </p:nvSpPr>
        <p:spPr>
          <a:xfrm>
            <a:off x="4206240" y="20848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address A+0</a:t>
            </a:r>
            <a:endParaRPr lang="en-US" sz="1050" dirty="0"/>
          </a:p>
        </p:txBody>
      </p:sp>
      <p:sp>
        <p:nvSpPr>
          <p:cNvPr id="7" name="Text 5"/>
          <p:cNvSpPr txBox="1"/>
          <p:nvPr/>
        </p:nvSpPr>
        <p:spPr>
          <a:xfrm>
            <a:off x="5577840" y="2331720"/>
            <a:ext cx="1371600" cy="731520"/>
          </a:xfrm>
          <a:prstGeom prst="rect">
            <a:avLst/>
          </a:prstGeom>
          <a:solidFill>
            <a:srgbClr val="6B4FA0"/>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56</a:t>
            </a:r>
            <a:endParaRPr lang="en-US" sz="2400" dirty="0"/>
          </a:p>
        </p:txBody>
      </p:sp>
      <p:sp>
        <p:nvSpPr>
          <p:cNvPr id="8" name="Text 6"/>
          <p:cNvSpPr txBox="1"/>
          <p:nvPr/>
        </p:nvSpPr>
        <p:spPr>
          <a:xfrm>
            <a:off x="5577840" y="20848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address A+1</a:t>
            </a:r>
            <a:endParaRPr lang="en-US" sz="1050" dirty="0"/>
          </a:p>
        </p:txBody>
      </p:sp>
      <p:sp>
        <p:nvSpPr>
          <p:cNvPr id="9" name="Text 7"/>
          <p:cNvSpPr txBox="1"/>
          <p:nvPr/>
        </p:nvSpPr>
        <p:spPr>
          <a:xfrm>
            <a:off x="6949440" y="2331720"/>
            <a:ext cx="1371600" cy="73152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34</a:t>
            </a:r>
            <a:endParaRPr lang="en-US" sz="2400" dirty="0"/>
          </a:p>
        </p:txBody>
      </p:sp>
      <p:sp>
        <p:nvSpPr>
          <p:cNvPr id="10" name="Text 8"/>
          <p:cNvSpPr txBox="1"/>
          <p:nvPr/>
        </p:nvSpPr>
        <p:spPr>
          <a:xfrm>
            <a:off x="6949440" y="20848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address A+2</a:t>
            </a:r>
            <a:endParaRPr lang="en-US" sz="1050" dirty="0"/>
          </a:p>
        </p:txBody>
      </p:sp>
      <p:sp>
        <p:nvSpPr>
          <p:cNvPr id="11" name="Text 9"/>
          <p:cNvSpPr txBox="1"/>
          <p:nvPr/>
        </p:nvSpPr>
        <p:spPr>
          <a:xfrm>
            <a:off x="8321040" y="2331720"/>
            <a:ext cx="137160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12</a:t>
            </a:r>
            <a:endParaRPr lang="en-US" sz="2400" dirty="0"/>
          </a:p>
        </p:txBody>
      </p:sp>
      <p:sp>
        <p:nvSpPr>
          <p:cNvPr id="12" name="Text 10"/>
          <p:cNvSpPr txBox="1"/>
          <p:nvPr/>
        </p:nvSpPr>
        <p:spPr>
          <a:xfrm>
            <a:off x="8321040" y="20848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address A+3</a:t>
            </a:r>
            <a:endParaRPr lang="en-US" sz="1050" dirty="0"/>
          </a:p>
        </p:txBody>
      </p:sp>
      <p:sp>
        <p:nvSpPr>
          <p:cNvPr id="13" name="Text 11"/>
          <p:cNvSpPr txBox="1"/>
          <p:nvPr/>
        </p:nvSpPr>
        <p:spPr>
          <a:xfrm>
            <a:off x="548640" y="3703320"/>
            <a:ext cx="3383280" cy="731520"/>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big-endian</a:t>
            </a:r>
            <a:endParaRPr lang="en-US" sz="1600" dirty="0"/>
          </a:p>
          <a:p>
            <a:pPr algn="r" indent="0" marL="0">
              <a:buNone/>
            </a:pPr>
            <a:r>
              <a:rPr lang="en-US" sz="1600" b="1" dirty="0">
                <a:solidFill>
                  <a:srgbClr val="1B2530"/>
                </a:solidFill>
                <a:latin typeface="Calibri" pitchFamily="34" charset="0"/>
                <a:ea typeface="Calibri" pitchFamily="34" charset="-122"/>
                <a:cs typeface="Calibri" pitchFamily="34" charset="-120"/>
              </a:rPr>
              <a:t>(network protocols)</a:t>
            </a:r>
            <a:endParaRPr lang="en-US" sz="1600" dirty="0"/>
          </a:p>
        </p:txBody>
      </p:sp>
      <p:sp>
        <p:nvSpPr>
          <p:cNvPr id="14" name="Text 12"/>
          <p:cNvSpPr txBox="1"/>
          <p:nvPr/>
        </p:nvSpPr>
        <p:spPr>
          <a:xfrm>
            <a:off x="4206240" y="3703320"/>
            <a:ext cx="137160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12</a:t>
            </a:r>
            <a:endParaRPr lang="en-US" sz="2400" dirty="0"/>
          </a:p>
        </p:txBody>
      </p:sp>
      <p:sp>
        <p:nvSpPr>
          <p:cNvPr id="15" name="Text 13"/>
          <p:cNvSpPr txBox="1"/>
          <p:nvPr/>
        </p:nvSpPr>
        <p:spPr>
          <a:xfrm>
            <a:off x="4206240" y="34564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address A+0</a:t>
            </a:r>
            <a:endParaRPr lang="en-US" sz="1050" dirty="0"/>
          </a:p>
        </p:txBody>
      </p:sp>
      <p:sp>
        <p:nvSpPr>
          <p:cNvPr id="16" name="Text 14"/>
          <p:cNvSpPr txBox="1"/>
          <p:nvPr/>
        </p:nvSpPr>
        <p:spPr>
          <a:xfrm>
            <a:off x="5577840" y="3703320"/>
            <a:ext cx="1371600" cy="73152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34</a:t>
            </a:r>
            <a:endParaRPr lang="en-US" sz="2400" dirty="0"/>
          </a:p>
        </p:txBody>
      </p:sp>
      <p:sp>
        <p:nvSpPr>
          <p:cNvPr id="17" name="Text 15"/>
          <p:cNvSpPr txBox="1"/>
          <p:nvPr/>
        </p:nvSpPr>
        <p:spPr>
          <a:xfrm>
            <a:off x="5577840" y="34564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address A+1</a:t>
            </a:r>
            <a:endParaRPr lang="en-US" sz="1050" dirty="0"/>
          </a:p>
        </p:txBody>
      </p:sp>
      <p:sp>
        <p:nvSpPr>
          <p:cNvPr id="18" name="Text 16"/>
          <p:cNvSpPr txBox="1"/>
          <p:nvPr/>
        </p:nvSpPr>
        <p:spPr>
          <a:xfrm>
            <a:off x="6949440" y="3703320"/>
            <a:ext cx="1371600" cy="731520"/>
          </a:xfrm>
          <a:prstGeom prst="rect">
            <a:avLst/>
          </a:prstGeom>
          <a:solidFill>
            <a:srgbClr val="6B4FA0"/>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56</a:t>
            </a:r>
            <a:endParaRPr lang="en-US" sz="2400" dirty="0"/>
          </a:p>
        </p:txBody>
      </p:sp>
      <p:sp>
        <p:nvSpPr>
          <p:cNvPr id="19" name="Text 17"/>
          <p:cNvSpPr txBox="1"/>
          <p:nvPr/>
        </p:nvSpPr>
        <p:spPr>
          <a:xfrm>
            <a:off x="6949440" y="34564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address A+2</a:t>
            </a:r>
            <a:endParaRPr lang="en-US" sz="1050" dirty="0"/>
          </a:p>
        </p:txBody>
      </p:sp>
      <p:sp>
        <p:nvSpPr>
          <p:cNvPr id="20" name="Text 18"/>
          <p:cNvSpPr txBox="1"/>
          <p:nvPr/>
        </p:nvSpPr>
        <p:spPr>
          <a:xfrm>
            <a:off x="8321040" y="3703320"/>
            <a:ext cx="1371600" cy="73152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78</a:t>
            </a:r>
            <a:endParaRPr lang="en-US" sz="2400" dirty="0"/>
          </a:p>
        </p:txBody>
      </p:sp>
      <p:sp>
        <p:nvSpPr>
          <p:cNvPr id="21" name="Text 19"/>
          <p:cNvSpPr txBox="1"/>
          <p:nvPr/>
        </p:nvSpPr>
        <p:spPr>
          <a:xfrm>
            <a:off x="8321040" y="34564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address A+3</a:t>
            </a:r>
            <a:endParaRPr lang="en-US" sz="1050" dirty="0"/>
          </a:p>
        </p:txBody>
      </p:sp>
      <p:sp>
        <p:nvSpPr>
          <p:cNvPr id="22" name="Shape 20"/>
          <p:cNvSpPr/>
          <p:nvPr/>
        </p:nvSpPr>
        <p:spPr>
          <a:xfrm>
            <a:off x="548640" y="4647438"/>
            <a:ext cx="146304" cy="146304"/>
          </a:xfrm>
          <a:prstGeom prst="rect">
            <a:avLst/>
          </a:prstGeom>
          <a:solidFill>
            <a:srgbClr val="0E7C86"/>
          </a:solidFill>
          <a:ln w="12700">
            <a:solidFill>
              <a:srgbClr val="0E7C86"/>
            </a:solidFill>
            <a:prstDash val="solid"/>
          </a:ln>
        </p:spPr>
      </p:sp>
      <p:sp>
        <p:nvSpPr>
          <p:cNvPr id="23" name="Text 21"/>
          <p:cNvSpPr txBox="1"/>
          <p:nvPr/>
        </p:nvSpPr>
        <p:spPr>
          <a:xfrm>
            <a:off x="932688" y="4572000"/>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A word is four bytes, and memory is addressed byte by byte: in which order do they go?</a:t>
            </a:r>
            <a:endParaRPr lang="en-US" sz="1800" dirty="0"/>
          </a:p>
        </p:txBody>
      </p:sp>
      <p:sp>
        <p:nvSpPr>
          <p:cNvPr id="24" name="Shape 22"/>
          <p:cNvSpPr/>
          <p:nvPr/>
        </p:nvSpPr>
        <p:spPr>
          <a:xfrm>
            <a:off x="548640" y="5168646"/>
            <a:ext cx="146304" cy="146304"/>
          </a:xfrm>
          <a:prstGeom prst="rect">
            <a:avLst/>
          </a:prstGeom>
          <a:solidFill>
            <a:srgbClr val="C7791B"/>
          </a:solidFill>
          <a:ln w="12700">
            <a:solidFill>
              <a:srgbClr val="C7791B"/>
            </a:solidFill>
            <a:prstDash val="solid"/>
          </a:ln>
        </p:spPr>
      </p:sp>
      <p:sp>
        <p:nvSpPr>
          <p:cNvPr id="25" name="Text 23"/>
          <p:cNvSpPr txBox="1"/>
          <p:nvPr/>
        </p:nvSpPr>
        <p:spPr>
          <a:xfrm>
            <a:off x="932688" y="5093208"/>
            <a:ext cx="1071036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Little-endian: the least significant byte at the lowest address. This is what lw and sw do on RISC-V</a:t>
            </a:r>
            <a:endParaRPr lang="en-US" sz="1800" dirty="0"/>
          </a:p>
        </p:txBody>
      </p:sp>
      <p:sp>
        <p:nvSpPr>
          <p:cNvPr id="26" name="Shape 24"/>
          <p:cNvSpPr/>
          <p:nvPr/>
        </p:nvSpPr>
        <p:spPr>
          <a:xfrm>
            <a:off x="548640" y="5968746"/>
            <a:ext cx="146304" cy="146304"/>
          </a:xfrm>
          <a:prstGeom prst="rect">
            <a:avLst/>
          </a:prstGeom>
          <a:solidFill>
            <a:srgbClr val="0E7C86"/>
          </a:solidFill>
          <a:ln w="12700">
            <a:solidFill>
              <a:srgbClr val="0E7C86"/>
            </a:solidFill>
            <a:prstDash val="solid"/>
          </a:ln>
        </p:spPr>
      </p:sp>
      <p:sp>
        <p:nvSpPr>
          <p:cNvPr id="27" name="Text 25"/>
          <p:cNvSpPr txBox="1"/>
          <p:nvPr/>
        </p:nvSpPr>
        <p:spPr>
          <a:xfrm>
            <a:off x="932688" y="5893308"/>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You notice it when you look at memory in a debugger, or exchange data with another machine</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Five ways to organise data</a:t>
            </a:r>
            <a:endParaRPr lang="en-US" sz="3200" dirty="0"/>
          </a:p>
        </p:txBody>
      </p:sp>
      <p:sp>
        <p:nvSpPr>
          <p:cNvPr id="3" name="Shape 1"/>
          <p:cNvSpPr/>
          <p:nvPr/>
        </p:nvSpPr>
        <p:spPr>
          <a:xfrm>
            <a:off x="548640" y="1417320"/>
            <a:ext cx="351525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Array</a:t>
            </a:r>
            <a:endParaRPr lang="en-US" sz="2000" dirty="0"/>
          </a:p>
        </p:txBody>
      </p:sp>
      <p:sp>
        <p:nvSpPr>
          <p:cNvPr id="6" name="Text 4"/>
          <p:cNvSpPr txBox="1"/>
          <p:nvPr/>
        </p:nvSpPr>
        <p:spPr>
          <a:xfrm>
            <a:off x="822960" y="2331720"/>
            <a:ext cx="296661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Elements of the same type, one after another, reached by index: 32, 11, 34, 22.</a:t>
            </a:r>
            <a:endParaRPr lang="en-US" sz="1900" dirty="0"/>
          </a:p>
        </p:txBody>
      </p:sp>
      <p:sp>
        <p:nvSpPr>
          <p:cNvPr id="7" name="Shape 5"/>
          <p:cNvSpPr/>
          <p:nvPr/>
        </p:nvSpPr>
        <p:spPr>
          <a:xfrm>
            <a:off x="4338218" y="1417320"/>
            <a:ext cx="351525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456681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5115458"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List</a:t>
            </a:r>
            <a:endParaRPr lang="en-US" sz="2000" dirty="0"/>
          </a:p>
        </p:txBody>
      </p:sp>
      <p:sp>
        <p:nvSpPr>
          <p:cNvPr id="10" name="Text 8"/>
          <p:cNvSpPr txBox="1"/>
          <p:nvPr/>
        </p:nvSpPr>
        <p:spPr>
          <a:xfrm>
            <a:off x="4612538" y="2331720"/>
            <a:ext cx="296661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Elements linked one to the next: cheap to insert and remove, slow to reach by position.</a:t>
            </a:r>
            <a:endParaRPr lang="en-US" sz="1900" dirty="0"/>
          </a:p>
        </p:txBody>
      </p:sp>
      <p:sp>
        <p:nvSpPr>
          <p:cNvPr id="11" name="Shape 9"/>
          <p:cNvSpPr/>
          <p:nvPr/>
        </p:nvSpPr>
        <p:spPr>
          <a:xfrm>
            <a:off x="8127797" y="1417320"/>
            <a:ext cx="351525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8356397" y="16459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05037"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Stack</a:t>
            </a:r>
            <a:endParaRPr lang="en-US" sz="2000" dirty="0"/>
          </a:p>
        </p:txBody>
      </p:sp>
      <p:sp>
        <p:nvSpPr>
          <p:cNvPr id="14" name="Text 12"/>
          <p:cNvSpPr txBox="1"/>
          <p:nvPr/>
        </p:nvSpPr>
        <p:spPr>
          <a:xfrm>
            <a:off x="8402117" y="2331720"/>
            <a:ext cx="296661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Last in, first out: push adds on top, pop removes from the top.</a:t>
            </a:r>
            <a:endParaRPr lang="en-US" sz="1900" dirty="0"/>
          </a:p>
        </p:txBody>
      </p:sp>
      <p:sp>
        <p:nvSpPr>
          <p:cNvPr id="15" name="Shape 13"/>
          <p:cNvSpPr/>
          <p:nvPr/>
        </p:nvSpPr>
        <p:spPr>
          <a:xfrm>
            <a:off x="548640" y="3931920"/>
            <a:ext cx="351525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777240"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Dictionary</a:t>
            </a:r>
            <a:endParaRPr lang="en-US" sz="2000" dirty="0"/>
          </a:p>
        </p:txBody>
      </p:sp>
      <p:sp>
        <p:nvSpPr>
          <p:cNvPr id="18" name="Text 16"/>
          <p:cNvSpPr txBox="1"/>
          <p:nvPr/>
        </p:nvSpPr>
        <p:spPr>
          <a:xfrm>
            <a:off x="822960" y="4846320"/>
            <a:ext cx="296661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Pairs of key and value: NA gives NAPOLI, PA gives PALERMO, MI gives MILANO.</a:t>
            </a:r>
            <a:endParaRPr lang="en-US" sz="1900" dirty="0"/>
          </a:p>
        </p:txBody>
      </p:sp>
      <p:sp>
        <p:nvSpPr>
          <p:cNvPr id="19" name="Shape 17"/>
          <p:cNvSpPr/>
          <p:nvPr/>
        </p:nvSpPr>
        <p:spPr>
          <a:xfrm>
            <a:off x="4338218" y="3931920"/>
            <a:ext cx="3515258" cy="2240280"/>
          </a:xfrm>
          <a:prstGeom prst="roundRect">
            <a:avLst>
              <a:gd name="adj" fmla="val 3265"/>
            </a:avLst>
          </a:prstGeom>
          <a:solidFill>
            <a:srgbClr val="EEF2F4"/>
          </a:solidFill>
          <a:ln w="12700">
            <a:solidFill>
              <a:srgbClr val="EEF2F4"/>
            </a:solidFill>
            <a:prstDash val="solid"/>
          </a:ln>
        </p:spPr>
      </p:sp>
      <p:sp>
        <p:nvSpPr>
          <p:cNvPr id="20" name="Text 18"/>
          <p:cNvSpPr txBox="1"/>
          <p:nvPr/>
        </p:nvSpPr>
        <p:spPr>
          <a:xfrm>
            <a:off x="4566818" y="4160520"/>
            <a:ext cx="384048" cy="384048"/>
          </a:xfrm>
          <a:prstGeom prst="roundRect">
            <a:avLst>
              <a:gd name="adj" fmla="val 19048"/>
            </a:avLst>
          </a:prstGeom>
          <a:solidFill>
            <a:srgbClr val="B23A48"/>
          </a:solidFill>
          <a:ln>
            <a:solidFill>
              <a:srgbClr val="B23A4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5115458"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Tree</a:t>
            </a:r>
            <a:endParaRPr lang="en-US" sz="2000" dirty="0"/>
          </a:p>
        </p:txBody>
      </p:sp>
      <p:sp>
        <p:nvSpPr>
          <p:cNvPr id="22" name="Text 20"/>
          <p:cNvSpPr txBox="1"/>
          <p:nvPr/>
        </p:nvSpPr>
        <p:spPr>
          <a:xfrm>
            <a:off x="4612538" y="4846320"/>
            <a:ext cx="296661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 hierarchy: an animal walks or swims, has lungs or gills, two legs or four.</a:t>
            </a:r>
            <a:endParaRPr lang="en-US" sz="1900" dirty="0"/>
          </a:p>
        </p:txBody>
      </p:sp>
      <p:sp>
        <p:nvSpPr>
          <p:cNvPr id="23" name="Shape 21"/>
          <p:cNvSpPr/>
          <p:nvPr/>
        </p:nvSpPr>
        <p:spPr>
          <a:xfrm>
            <a:off x="8127797" y="3931920"/>
            <a:ext cx="3515258" cy="2240280"/>
          </a:xfrm>
          <a:prstGeom prst="roundRect">
            <a:avLst>
              <a:gd name="adj" fmla="val 3265"/>
            </a:avLst>
          </a:prstGeom>
          <a:solidFill>
            <a:srgbClr val="EEF2F4"/>
          </a:solidFill>
          <a:ln w="12700">
            <a:solidFill>
              <a:srgbClr val="EEF2F4"/>
            </a:solidFill>
            <a:prstDash val="solid"/>
          </a:ln>
        </p:spPr>
      </p:sp>
      <p:sp>
        <p:nvSpPr>
          <p:cNvPr id="24" name="Text 22"/>
          <p:cNvSpPr txBox="1"/>
          <p:nvPr/>
        </p:nvSpPr>
        <p:spPr>
          <a:xfrm>
            <a:off x="8356397" y="4160520"/>
            <a:ext cx="384048" cy="384048"/>
          </a:xfrm>
          <a:prstGeom prst="roundRect">
            <a:avLst>
              <a:gd name="adj" fmla="val 19048"/>
            </a:avLst>
          </a:prstGeom>
          <a:solidFill>
            <a:srgbClr val="2E4A62"/>
          </a:solidFill>
          <a:ln>
            <a:solidFill>
              <a:srgbClr val="2E4A62"/>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8905037"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In the machine</a:t>
            </a:r>
            <a:endParaRPr lang="en-US" sz="2000" dirty="0"/>
          </a:p>
        </p:txBody>
      </p:sp>
      <p:sp>
        <p:nvSpPr>
          <p:cNvPr id="26" name="Text 24"/>
          <p:cNvSpPr txBox="1"/>
          <p:nvPr/>
        </p:nvSpPr>
        <p:spPr>
          <a:xfrm>
            <a:off x="8402117" y="4846320"/>
            <a:ext cx="296661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All of them are bytes in memory plus a rule for finding the next element.</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Algorithms and computability</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problem is computable if it can be solved by an algorithm</a:t>
            </a:r>
            <a:endParaRPr lang="en-US" sz="2200" dirty="0"/>
          </a:p>
        </p:txBody>
      </p:sp>
      <p:sp>
        <p:nvSpPr>
          <p:cNvPr id="5" name="Shape 3"/>
          <p:cNvSpPr/>
          <p:nvPr/>
        </p:nvSpPr>
        <p:spPr>
          <a:xfrm>
            <a:off x="548640" y="248005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73630"/>
            <a:ext cx="6565392" cy="96621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Turing machine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an ideal computer with a program, expressed mathematically through sets, relations and functions</a:t>
            </a:r>
            <a:endParaRPr lang="en-US" sz="2200" dirty="0"/>
          </a:p>
        </p:txBody>
      </p:sp>
      <p:sp>
        <p:nvSpPr>
          <p:cNvPr id="7" name="Shape 5"/>
          <p:cNvSpPr/>
          <p:nvPr/>
        </p:nvSpPr>
        <p:spPr>
          <a:xfrm>
            <a:off x="548640" y="372084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14420"/>
            <a:ext cx="6565392" cy="126060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von Neumann machine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computing architecture able to execute a program that realises an algorithm for the Turing machine</a:t>
            </a:r>
            <a:endParaRPr lang="en-US" sz="2200" dirty="0"/>
          </a:p>
        </p:txBody>
      </p:sp>
      <p:sp>
        <p:nvSpPr>
          <p:cNvPr id="9" name="Shape 7"/>
          <p:cNvSpPr/>
          <p:nvPr/>
        </p:nvSpPr>
        <p:spPr>
          <a:xfrm>
            <a:off x="548640" y="525602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4959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problem that no algorithm on a Turing machine can solve cannot be solved by any computer</a:t>
            </a:r>
            <a:endParaRPr lang="en-US" sz="22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Not every problem has an algorithm: some questions no computer will ever answer</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Five properties of an algorithm</a:t>
            </a:r>
            <a:endParaRPr lang="en-US" sz="3200" dirty="0"/>
          </a:p>
        </p:txBody>
      </p:sp>
      <p:sp>
        <p:nvSpPr>
          <p:cNvPr id="3" name="Shape 1"/>
          <p:cNvSpPr/>
          <p:nvPr/>
        </p:nvSpPr>
        <p:spPr>
          <a:xfrm>
            <a:off x="548640" y="1417320"/>
            <a:ext cx="351525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Atomic</a:t>
            </a:r>
            <a:endParaRPr lang="en-US" sz="2000" dirty="0"/>
          </a:p>
        </p:txBody>
      </p:sp>
      <p:sp>
        <p:nvSpPr>
          <p:cNvPr id="6" name="Text 4"/>
          <p:cNvSpPr txBox="1"/>
          <p:nvPr/>
        </p:nvSpPr>
        <p:spPr>
          <a:xfrm>
            <a:off x="822960" y="2331720"/>
            <a:ext cx="296661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The steps are elementary: they cannot be broken down any further.</a:t>
            </a:r>
            <a:endParaRPr lang="en-US" sz="1900" dirty="0"/>
          </a:p>
        </p:txBody>
      </p:sp>
      <p:sp>
        <p:nvSpPr>
          <p:cNvPr id="7" name="Shape 5"/>
          <p:cNvSpPr/>
          <p:nvPr/>
        </p:nvSpPr>
        <p:spPr>
          <a:xfrm>
            <a:off x="4338218" y="1417320"/>
            <a:ext cx="351525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456681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5115458"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Unambiguous</a:t>
            </a:r>
            <a:endParaRPr lang="en-US" sz="2000" dirty="0"/>
          </a:p>
        </p:txBody>
      </p:sp>
      <p:sp>
        <p:nvSpPr>
          <p:cNvPr id="10" name="Text 8"/>
          <p:cNvSpPr txBox="1"/>
          <p:nvPr/>
        </p:nvSpPr>
        <p:spPr>
          <a:xfrm>
            <a:off x="4612538" y="2331720"/>
            <a:ext cx="296661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Each step is interpreted in one direct way by the executor, human or machine.</a:t>
            </a:r>
            <a:endParaRPr lang="en-US" sz="1900" dirty="0"/>
          </a:p>
        </p:txBody>
      </p:sp>
      <p:sp>
        <p:nvSpPr>
          <p:cNvPr id="11" name="Shape 9"/>
          <p:cNvSpPr/>
          <p:nvPr/>
        </p:nvSpPr>
        <p:spPr>
          <a:xfrm>
            <a:off x="8127797" y="1417320"/>
            <a:ext cx="351525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8356397" y="16459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05037"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Finite</a:t>
            </a:r>
            <a:endParaRPr lang="en-US" sz="2000" dirty="0"/>
          </a:p>
        </p:txBody>
      </p:sp>
      <p:sp>
        <p:nvSpPr>
          <p:cNvPr id="14" name="Text 12"/>
          <p:cNvSpPr txBox="1"/>
          <p:nvPr/>
        </p:nvSpPr>
        <p:spPr>
          <a:xfrm>
            <a:off x="8402117" y="2331720"/>
            <a:ext cx="296661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 finite number of steps and a finite quantity of input data.</a:t>
            </a:r>
            <a:endParaRPr lang="en-US" sz="1900" dirty="0"/>
          </a:p>
        </p:txBody>
      </p:sp>
      <p:sp>
        <p:nvSpPr>
          <p:cNvPr id="15" name="Shape 13"/>
          <p:cNvSpPr/>
          <p:nvPr/>
        </p:nvSpPr>
        <p:spPr>
          <a:xfrm>
            <a:off x="548640" y="3931920"/>
            <a:ext cx="351525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777240"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Terminating</a:t>
            </a:r>
            <a:endParaRPr lang="en-US" sz="2000" dirty="0"/>
          </a:p>
        </p:txBody>
      </p:sp>
      <p:sp>
        <p:nvSpPr>
          <p:cNvPr id="18" name="Text 16"/>
          <p:cNvSpPr txBox="1"/>
          <p:nvPr/>
        </p:nvSpPr>
        <p:spPr>
          <a:xfrm>
            <a:off x="822960" y="4846320"/>
            <a:ext cx="296661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Execution ends after a finite time.</a:t>
            </a:r>
            <a:endParaRPr lang="en-US" sz="1900" dirty="0"/>
          </a:p>
        </p:txBody>
      </p:sp>
      <p:sp>
        <p:nvSpPr>
          <p:cNvPr id="19" name="Shape 17"/>
          <p:cNvSpPr/>
          <p:nvPr/>
        </p:nvSpPr>
        <p:spPr>
          <a:xfrm>
            <a:off x="4338218" y="3931920"/>
            <a:ext cx="3515258" cy="2240280"/>
          </a:xfrm>
          <a:prstGeom prst="roundRect">
            <a:avLst>
              <a:gd name="adj" fmla="val 3265"/>
            </a:avLst>
          </a:prstGeom>
          <a:solidFill>
            <a:srgbClr val="EEF2F4"/>
          </a:solidFill>
          <a:ln w="12700">
            <a:solidFill>
              <a:srgbClr val="EEF2F4"/>
            </a:solidFill>
            <a:prstDash val="solid"/>
          </a:ln>
        </p:spPr>
      </p:sp>
      <p:sp>
        <p:nvSpPr>
          <p:cNvPr id="20" name="Text 18"/>
          <p:cNvSpPr txBox="1"/>
          <p:nvPr/>
        </p:nvSpPr>
        <p:spPr>
          <a:xfrm>
            <a:off x="4566818" y="4160520"/>
            <a:ext cx="384048" cy="384048"/>
          </a:xfrm>
          <a:prstGeom prst="roundRect">
            <a:avLst>
              <a:gd name="adj" fmla="val 19048"/>
            </a:avLst>
          </a:prstGeom>
          <a:solidFill>
            <a:srgbClr val="B23A48"/>
          </a:solidFill>
          <a:ln>
            <a:solidFill>
              <a:srgbClr val="B23A4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5115458"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Effective</a:t>
            </a:r>
            <a:endParaRPr lang="en-US" sz="2000" dirty="0"/>
          </a:p>
        </p:txBody>
      </p:sp>
      <p:sp>
        <p:nvSpPr>
          <p:cNvPr id="22" name="Text 20"/>
          <p:cNvSpPr txBox="1"/>
          <p:nvPr/>
        </p:nvSpPr>
        <p:spPr>
          <a:xfrm>
            <a:off x="4612538" y="4846320"/>
            <a:ext cx="296661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Execution leads to a single, well-defined result.</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How many different values can one byte represent?</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16</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255</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256</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The PRG32 colour 0xF81F is:</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red</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magenta</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cyan</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yellow</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How many bytes does .asciz "CIAO" occupy in memory?</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5</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On RISC-V, .word 0x0000ABCD is stored at address A. Which byte is at address A?</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0x00</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0xAB</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0xCD</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0xDC</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93731"/>
                <a:gridCol w="2641527"/>
                <a:gridCol w="2641527"/>
                <a:gridCol w="281762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bit / byte / word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 byte / parola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string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stringa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positional notation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notazione posizionale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array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vettore (array)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hexadecimal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esadecimale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linked list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lista concatenata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sampling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campionamento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pila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quantisation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quantizzazione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tree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albero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byte order (endianness)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ordinamento dei byte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machine learning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apprendimento automatico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Digital information is a pattern of bits plus a convention for reading it</a:t>
            </a:r>
            <a:endParaRPr lang="en-US" sz="2000" dirty="0"/>
          </a:p>
        </p:txBody>
      </p:sp>
      <p:sp>
        <p:nvSpPr>
          <p:cNvPr id="5" name="Shape 3"/>
          <p:cNvSpPr/>
          <p:nvPr/>
        </p:nvSpPr>
        <p:spPr>
          <a:xfrm>
            <a:off x="548640" y="203134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940408"/>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same sixteen bits can be a number, a colour or two characters: the program decides</a:t>
            </a:r>
            <a:endParaRPr lang="en-US" sz="2000" dirty="0"/>
          </a:p>
        </p:txBody>
      </p:sp>
      <p:sp>
        <p:nvSpPr>
          <p:cNvPr id="7" name="Shape 5"/>
          <p:cNvSpPr/>
          <p:nvPr/>
        </p:nvSpPr>
        <p:spPr>
          <a:xfrm>
            <a:off x="548640" y="286430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773375"/>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Hexadecimal is a compact spelling of binary, four bits per digit</a:t>
            </a:r>
            <a:endParaRPr lang="en-US" sz="2000" dirty="0"/>
          </a:p>
        </p:txBody>
      </p:sp>
      <p:sp>
        <p:nvSpPr>
          <p:cNvPr id="9" name="Shape 7"/>
          <p:cNvSpPr/>
          <p:nvPr/>
        </p:nvSpPr>
        <p:spPr>
          <a:xfrm>
            <a:off x="548640" y="338739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296463"/>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Text is numbers (ASCII, UTF-8); structures are bytes plus a rule for finding the next element</a:t>
            </a:r>
            <a:endParaRPr lang="en-US" sz="2000" dirty="0"/>
          </a:p>
        </p:txBody>
      </p:sp>
      <p:sp>
        <p:nvSpPr>
          <p:cNvPr id="11" name="Shape 9"/>
          <p:cNvSpPr/>
          <p:nvPr/>
        </p:nvSpPr>
        <p:spPr>
          <a:xfrm>
            <a:off x="548640" y="422036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129430"/>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Data are the currency of this realm; algorithms turn data into information fit for decisions</a:t>
            </a:r>
            <a:endParaRPr lang="en-US" sz="2000" dirty="0"/>
          </a:p>
        </p:txBody>
      </p:sp>
      <p:sp>
        <p:nvSpPr>
          <p:cNvPr id="13" name="Shape 11"/>
          <p:cNvSpPr/>
          <p:nvPr/>
        </p:nvSpPr>
        <p:spPr>
          <a:xfrm>
            <a:off x="548640" y="5053330"/>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62398"/>
            <a:ext cx="10710367" cy="120980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Reading</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Patterson, Hennessy: Computer Organization and Design, RISC-V Edition, sections 2.4 and 2.9</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Charles Petzold: Code, chapters on bits, bytes and text</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Sebastian Raschka: Machine Learning with Python (suggested in the original course)</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Representing Digital Information</dc:title>
  <dc:subject>Lecture 04</dc:subject>
  <dc:creator>Raffaele Montella</dc:creator>
  <cp:lastModifiedBy>Raffaele Montella</cp:lastModifiedBy>
  <cp:revision>1</cp:revision>
  <dcterms:created xsi:type="dcterms:W3CDTF">2026-10-13T08:56:23Z</dcterms:created>
  <dcterms:modified xsi:type="dcterms:W3CDTF">2026-10-13T08:56:23Z</dcterms:modified>
</cp:coreProperties>
</file>