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9afaa70-9597-56d3-001c-8191b74d8ff4}">
          <p14:sldIdLst>
            <p14:sldId id="256"/>
            <p14:sldId id="257"/>
          </p14:sldIdLst>
        </p14:section>
        <p14:section name="Instructions" id="{f81a6806-5b8d-7df8-92af-9a764801f7db}">
          <p14:sldIdLst>
            <p14:sldId id="258"/>
            <p14:sldId id="259"/>
            <p14:sldId id="260"/>
          </p14:sldIdLst>
        </p14:section>
        <p14:section name="The processor cycle" id="{f133f11c-f53b-8b8e-f4a4-7210691adf03}">
          <p14:sldIdLst>
            <p14:sldId id="261"/>
            <p14:sldId id="262"/>
          </p14:sldIdLst>
        </p14:section>
        <p14:section name="Interrupts" id="{4ba9ed9a-08c2-e658-62b9-cb6d2dd8e2b5}">
          <p14:sldIdLst>
            <p14:sldId id="263"/>
            <p14:sldId id="264"/>
            <p14:sldId id="265"/>
            <p14:sldId id="266"/>
            <p14:sldId id="267"/>
          </p14:sldIdLst>
        </p14:section>
        <p14:section name="The RISC-V solution" id="{7f145f83-5aae-3444-4197-1832d3c61477}">
          <p14:sldIdLst>
            <p14:sldId id="268"/>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described what a processor is made of. This one describes what it does. It has two halves. The first follows a single instruction: how it is encoded in 32 bits and which steps the processor takes to carry it out. The second explains what happens when something more urgent than the current program arrives, a timer, a device, an error, and the processor must leave what it is doing and come back later. The joke on the cover is nearly true, as you will see.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instruction formats; addressing modes; the processor cycle; interrupts and traps. USE NOW: the complete program, the PRG32 tools (used, not studied, in this course). UNDERSTAND LATER: nothing. A slide without a badge is context: a story, an example, a question, an exercise.
For the lecturer: The original deck used a 16-bit word machine for the fetch phase and the Motorola MC68000 for vectored interrupts and priorities. Both are replaced by RISC-V: the six instruction formats, the five classic stages, and the machine-mode trap mechanism (mtvec, mepc, mcause, mstatus, mret). A comparison slide keeps the 68000 as the historical counterpart.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Describe an instruction as an operation code with operands. Decode a RISC-V instruction by hand. Follow an instruction through the five phases of the processor cycle. Explain what a pipeline is and why it speeds a processor up. Define interrupt, exception and trap, three words that RISC-V uses precisely. And describe what the hardware does at a trap and how the interrupted program resumes.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processor has four families of instructions: transfers between memory and registers, arithmetic and logic, control of flow, and input/output. An instruction is an operation code, the opcode, which says what to do, followed by zero or more operands, which say on what. An operand can be a constant written inside the instruction, an immediate; a memory location; or a register. Some operands are implicit: an accumulator machine does not name the accumulator. Instructions have from zero to three operands.
UNDERSTAND NOW: instruction formats.
For the lecturer: In RISC-V the fourth family does not exist as such: devices are memory (Lecture 15). add has three operands, all registers; ret has none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formats of RISC-V. All instructions are 32 bits long, divided into fields. In the R format, for operations between registers, there are three register numbers of five bits, rs1, rs2 and rd, and three fields that select the operation. In the I format the second source register is replaced by a 12-bit immediate. S and B, for stores and branches, split the immediate in two pieces. U and J carry a 20-bit immediate. Notice the regularity: the opcode is always in the lowest seven bits, and the registers are always in the same positions.
UNDERSTAND NOW: instruction formats.
For the lecturer: Bits 31 down to 0, left to right (indices shown on the first row). B and J differ from S and U only in how the bits of the immediate are arranged. This regularity is the heart of the RISC idea; the generic 0-, 1-, 2- and 3-operand formats of the original deck are its ancestors.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addressing mode is a way of finding an operand. RISC-V has four. Immediate: the operand is a constant inside the instruction. Register: it is the content of a register. Base plus displacement: it is the memory word at the address given by a register plus a constant, the only way to reach memory. PC-relative: an address at a certain distance from the instruction itself, used by branches. Memory-indirect addressing, where the address itself is in memory, does not exist: it takes two loads.
UNDERSTAND NOW: addressing modes.
For the lecturer: RISC-V has only the first four. A CISC processor such as the MC68000 has a dozen, including memory-indirect and auto-increment modes. The example of the original deck, R3 := M[M[A]], becomes in RISC-V: lw t0, 0(t1) followed by lw t0, 0(t0). The 'operand assembly' phase of a CISC processor is the price of rich addressing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phases. Fetch: the instruction at the address in the PC is read from memory, and the PC advances. Decode: the opcode is recognised and the registers named in the instruction are read. Execute: the ALU computes a result, an address or a comparison. Memory: loads read the memory, stores write it, the other instructions do nothing here. Write back: the result is written in the destination register. After the initial bootstrap, the processor repeats this cycle for ever.
UNDERSTAND NOW: the processor cycle.
For the lecturer: Algoritmo fondamentale del processore: inizializzazione, instruction fetch and decoding, operand assembly, execute. The five-phase version is the classic RISC formulation.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each phase has its own hardware, the phases of different instructions can overlap. In the table, each row is an instruction and each column a clock cycle: while the first instruction is in execution, the second is being decoded and the third fetched. Each instruction still takes five cycles, but one finishes at every cycle: this is the pipeline, the same idea as an assembly line. Superscalar processors put several pipelines side by side. The main core of the kit has a pipeline of four stages.
UNDERSTAND NOW: the processor cycle.
For the lecturer: Source slide: «Esempio di pipeline lineare a 5 stadi; superscalarità». IF instruction fetch, ID decode, EX execute, MEM memory, WB write back. Branches and dependences between neighbouring instructions complicate the picture (hazards): the subject of an advanced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processor that only fetched, decoded and executed would have three problems. Communication with devices would be inefficient: the program would have to keep asking each device whether it has something to say. A program that entered an endless loop by mistake, like the j loop on the slide, could never be removed. And the operating system would have little control over the machine. All three have the same solution: a way to take the processor away from the running program.
UNDERSTAND NOW: interrupts and traps.
For the lecturer: Source slide: «Ciclo del processore semplificato»: bootstrap, fetch, operand assembly, execute.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interrupts are exceptional events, usually asynchronous with respect to the program in execution, that require the attention of the processor. RISC-V uses three distinct words. An interrupt comes from outside the program, at any moment: a timer, a device. An exception is caused by the instruction being executed: an illegal opcode, a forbidden address. A trap is the transfer of control to a handler, whatever caused it. Other processors use these words more loosely.
UNDERSTAND NOW: interrupts and traps.
For the lecturer: Interrupt o interruzioni. Older processors and the original deck call 'traps' the synchronous events and use 'interrupt' for everything; the RISC-V specification uses the three words precisely.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cycle. After the bootstrap the processor fetches, decodes and executes; then, at the end of every instruction, it checks whether an interrupt is pending. If not, it goes back to fetch. If so, it takes the trap: it passes to the privileged state and starts executing a routine of the system, the handler. When the handler finishes, the suspended program resumes as if nothing had happened. Follow the two paths on the diagram: the short loop is the normal case.
UNDERSTAND NOW: interrupts and traps.
For the lecturer: Ciclo del processore reale. In RISC-V 'supervisor state' is machine mode, and the first instruction fetched after the trap is the one at the address in mtvec.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causes of interruption. A periodic interrupt from a timer, to share the processor among programs. An I/O interrupt, with which a peripheral reports that it is ready. Errors in the program, such as an instruction that does not exist: these are the exceptions. Faults of the system: power, temperature. Reset, which brings everything back to a known state. And the software interrupt, with which a program asks the operating system for a service: in RISC-V it is the instruction ecall.
UNDERSTAND NOW: interrupts and traps.
For the lecturer: The original deck lists arithmetic overflow among the program errors: in RISC-V integer overflow does not raise an exception (Lecture 05). ecall, environment call, is synchronous with the program that executes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general procedure in six steps. Save the context, hardware part: at least the address at which to resume. Identify the cause. Jump to the entry point of the interrupt service routine. Save the context, software part: the registers the routine is going to use. Serve the interrupt. Finally restore the context and resume the suspended program at the instruction after the last one executed. The context is everything that the interrupted program needs to find unchanged.
UNDERSTAND NOW: interrupts and traps.
For the lecturer: Gestione delle interruzioni. The state to save and restore: PC, status, and the registers. Saving can be done partly or wholly in hardware or in software; RISC-V does the minimum in hardware. With several devices the processor must identify who interrupted and, for simultaneous requests, apply a priority.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registers. mtvec, written once by the firmware, holds the address of the trap handler. mstatus contains MIE, the global interrupt enable, and MPIE, its previous value. mie has one enable bit for each source, mip one pending bit for each source. mepc receives, at each trap, the address of the interrupted instruction. mcause receives the cause. The middle column matters: some registers are written by the firmware to configure the mechanism, others by the hardware when a trap occurs.
UNDERSTAND NOW: interrupts and traps.
For the lecturer: Machine-mode control and status registers (Lecture 18). An interrupt is taken only if its bit is set in both mip and mie and MIE is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hardware does at a trap, in order. It writes in mepc the address of the interrupted instruction. It writes the cause in mcause. It copies MIE into MPIE and clears MIE, so that further interrupts are disabled. It passes to machine mode. It loads the PC with the address in mtvec. Nothing is saved on a stack: the general registers are left to the handler. The instruction mret, at the end of the handler, undoes everything: MIE gets MPIE back and the PC gets mepc.
UNDERSTAND NOW: interrupts and traps.
For the lecturer: Nothing is pushed on a stack by the hardware: saving the general registers is left to the handler. This is the 'hardware context save' of the general scheme, reduced to two registers and one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 of mcause. The top bit says whether it was an interrupt or an exception; the rest is a code. The three interrupts, highlighted: software, timer, and external, that is a device. Among the exceptions: illegal instruction, breakpoint, access fault on a load or a store, and ecall. The same number can appear in both families with different meanings, which is why the top bit is needed. The breakpoint row explains how a debugger such as that of PRG32-QT stops your program.
UNDERSTAND NOW: interrupts and traps.
For the lecturer: The standard codes of the privileged specification; chips add their own. The same code 3 means different things for interrupts and exceptions: the top bit of mcause distinguishes them. With mtvec in vectored mode, a timer interrupt enters at base + 4 x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of this happens on the kit. A timer interrupts the processor a hundred times per second, and the firmware uses it to keep time and pace the frames. The display and the audio interrupt when they want more data. The radio interrupts when a packet arrives, which is why you can upload a cartridge while a game runs. Your init, update and draw are ordinary functions that run between interrupts. And a cartridge stuck in a loop does not stop the interrupts: PRG32-QT reports an error; on the board a watchdog reports the stall.
UNDERSTAND NOW: interrupts and traps.
For the lecturer: The three problems of the simple cycle (inefficient I/O, runaway programs, limited control) and their solution, all visible on the kit. Checked against the firmware sources and configuration (not on a physical board): the cartridge runs natively inside the main task, in the same privilege mode as the firmware; FreeRTOS ticks at 100 Hz; the task watchdog (5 s, watching the idle task) only prints a warning on the serial port, because the panic option is off, so a stuck cartridge keeps the cartridge lock and the kit needs a reset. A cartridge that disabled interrupts would instead trip the interrupt watchdog (300 ms), which panics and restarts the chip. Run on PRG32-QT: an endless loop gives 'instruction budget exhausted', a write to mstatus gives 'unsupported CSR'. In PRG32-QT a breakpoint is the exception with code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again at the slide of the formats: one field is in the same place in all four rows.
Addresses count bytes. How many bytes does a 32-bit instruction occupy?
For the lecturer: 1. Answer: B. Bits 6 to 0, in every format: the processor always knows where to look first.
2. Answer: C. Addresses count bytes and an instruction is four bytes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registers are in play: one holds the address of the handler, one the cause, one the address at which to resume. ra belongs to function calls, not to traps.
Use the definition: an exception is caused by the instruction being executed, an interrupt comes from outside at an arbitrary moment. Three of the four events come from outside.
For the lecturer: 1. Answer: C. mepc, written by the hardware at the trap and used by mret. mtvec holds the address of the handler.
2. Answer: C. It is caused by the instruction being executed, synchronously; the others come from outside, at any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The operation code is the codice operativo; an addressing mode is a modo di indirizzamento. Fetch, decode and execute are prelievo, decodifica and esecuzione. The interrupt service routine is the routine that serves an interrupt. Interrupt latency is the delay between the request and the start of useful work. To mask an interrupt is to prevent it temporarily from being accepted.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An instruction is an operation code and its operands; in RISC-V always 32 bits in six regular formats. A fixed length keeps the fetch simple: the PC advances by a constant, 4 for an instruction that is not compressed. The processor has a cycle: fetch, decode, execute, write the result. Exceptional events break the cycle: the processor saves where it was, serves the event and resumes. Interrupts can be enabled, masked and ordered by priority, and RISC-V does it with a handful of registers and mret. The next lecture leaves the processor for the buses and the video card.
Learning status, recap. UNDERSTAND NOW: instruction formats; addressing modes; the processor cycle; interrupts and traps. USE NOW: the complete program, the PRG32 tools (used, not studied, in this course). UNDERSTAND LATER: nothing. A slide without a badge is context: a story, an example, a question, an exercise.
For the lecturer: The original conclusions stated that 'the interrupt is a non-maskable signal': most interrupts can be masked; only a few cannot. Next lecture: buses and the video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19: Instructions and interrupts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Instructions and Interrupts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800" dirty="0">
                <a:solidFill>
                  <a:srgbClr val="CFE3EA"/>
                </a:solidFill>
                <a:latin typeface="Calibri" pitchFamily="34" charset="0"/>
                <a:ea typeface="Calibri" pitchFamily="34" charset="-122"/>
                <a:cs typeface="Calibri" pitchFamily="34" charset="-120"/>
              </a:rPr>
              <a:t>Instruction formats, the processor cycle, and how RISC-V handles exceptional events</a:t>
            </a:r>
            <a:endParaRPr lang="en-US" sz="18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“Why does the CPU never get any work done? Because it gets interrupted constantly.”</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Anonymous joke about computer architecture</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19-Computer_Architecture-Instructions_and_Interrupts-Code.pptx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asteroids.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an instruction as an operation code and its operands, and name the kinds of operand</a:t>
            </a:r>
            <a:endParaRPr lang="en-US" sz="2200" dirty="0"/>
          </a:p>
        </p:txBody>
      </p:sp>
      <p:sp>
        <p:nvSpPr>
          <p:cNvPr id="5" name="Text 3"/>
          <p:cNvSpPr txBox="1"/>
          <p:nvPr/>
        </p:nvSpPr>
        <p:spPr>
          <a:xfrm>
            <a:off x="548640" y="239593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77643"/>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Decode a RISC-V instruction by hand, recognising its format and fields</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Follow an instruction through the processor cycle: fetch, decode, execute, memory, write back</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pipeline is and why it makes a processor faster</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Define interrupts, exceptions and traps, and list their causes</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what RISC-V does when a trap occurs and how the interrupted program resumes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an instruction is made of</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17421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Typical instructions of a processor</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data transfers between memory and registers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arithmetic and logic operations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instructions for the control of flow</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data transfers to and from input/output</a:t>
            </a:r>
            <a:endParaRPr lang="en-US" sz="2300" dirty="0"/>
          </a:p>
        </p:txBody>
      </p:sp>
      <p:sp>
        <p:nvSpPr>
          <p:cNvPr id="5" name="Shape 3"/>
          <p:cNvSpPr/>
          <p:nvPr/>
        </p:nvSpPr>
        <p:spPr>
          <a:xfrm>
            <a:off x="548640" y="345630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342132"/>
            <a:ext cx="10710367"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An instruction is composed of an operation code, the opcode, and zero or more operands</a:t>
            </a:r>
            <a:endParaRPr lang="en-US" sz="2300" dirty="0"/>
          </a:p>
        </p:txBody>
      </p:sp>
      <p:sp>
        <p:nvSpPr>
          <p:cNvPr id="7" name="Shape 5"/>
          <p:cNvSpPr/>
          <p:nvPr/>
        </p:nvSpPr>
        <p:spPr>
          <a:xfrm>
            <a:off x="548640" y="43516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237482"/>
            <a:ext cx="10710367" cy="139573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Kinds of operand</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a constant: an immediate, explicit or implicit</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a memory location</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a register, explicit or implicit (the accumulator)</a:t>
            </a:r>
            <a:endParaRPr lang="en-US" sz="2300" dirty="0"/>
          </a:p>
        </p:txBody>
      </p:sp>
      <p:sp>
        <p:nvSpPr>
          <p:cNvPr id="9" name="Shape 7"/>
          <p:cNvSpPr/>
          <p:nvPr/>
        </p:nvSpPr>
        <p:spPr>
          <a:xfrm>
            <a:off x="548640" y="59300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815838"/>
            <a:ext cx="10710367"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Instructions can have zero, one, two or three operands</a:t>
            </a:r>
            <a:endParaRPr lang="en-US" sz="2300" dirty="0"/>
          </a:p>
        </p:txBody>
      </p:sp>
      <p:sp>
        <p:nvSpPr>
          <p:cNvPr id="11" name="Shape 9"/>
          <p:cNvSpPr/>
          <p:nvPr/>
        </p:nvSpPr>
        <p:spPr>
          <a:xfrm>
            <a:off x="8419033" y="91440"/>
            <a:ext cx="3224022" cy="274320"/>
          </a:xfrm>
          <a:prstGeom prst="rect">
            <a:avLst/>
          </a:prstGeom>
          <a:solidFill>
            <a:srgbClr val="E0F2FE"/>
          </a:solidFill>
          <a:ln w="12700">
            <a:solidFill>
              <a:srgbClr val="0369A1"/>
            </a:solidFill>
            <a:prstDash val="solid"/>
          </a:ln>
        </p:spPr>
      </p:sp>
      <p:sp>
        <p:nvSpPr>
          <p:cNvPr id="12" name="Shape 10"/>
          <p:cNvSpPr/>
          <p:nvPr/>
        </p:nvSpPr>
        <p:spPr>
          <a:xfrm>
            <a:off x="8419033"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14" name="Text 11"/>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instruction formats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formats of RISC-V instructions</a:t>
            </a:r>
            <a:endParaRPr lang="en-US" sz="3200" dirty="0"/>
          </a:p>
        </p:txBody>
      </p:sp>
      <p:sp>
        <p:nvSpPr>
          <p:cNvPr id="3" name="Text 1"/>
          <p:cNvSpPr txBox="1"/>
          <p:nvPr/>
        </p:nvSpPr>
        <p:spPr>
          <a:xfrm>
            <a:off x="548640" y="1353312"/>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R: register to register (add, sub, and, sll, ...)</a:t>
            </a:r>
            <a:endParaRPr lang="en-US" sz="1400" dirty="0"/>
          </a:p>
        </p:txBody>
      </p:sp>
      <p:sp>
        <p:nvSpPr>
          <p:cNvPr id="4" name="Text 2"/>
          <p:cNvSpPr txBox="1"/>
          <p:nvPr/>
        </p:nvSpPr>
        <p:spPr>
          <a:xfrm>
            <a:off x="548640" y="1920240"/>
            <a:ext cx="2414460"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funct7</a:t>
            </a:r>
            <a:endParaRPr lang="en-US" sz="1400" dirty="0"/>
          </a:p>
        </p:txBody>
      </p:sp>
      <p:sp>
        <p:nvSpPr>
          <p:cNvPr id="5" name="Text 3"/>
          <p:cNvSpPr txBox="1"/>
          <p:nvPr/>
        </p:nvSpPr>
        <p:spPr>
          <a:xfrm>
            <a:off x="585216" y="1682496"/>
            <a:ext cx="1207230"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6" name="Text 4"/>
          <p:cNvSpPr txBox="1"/>
          <p:nvPr/>
        </p:nvSpPr>
        <p:spPr>
          <a:xfrm>
            <a:off x="1755870" y="1682496"/>
            <a:ext cx="1170654"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25</a:t>
            </a:r>
            <a:endParaRPr lang="en-US" sz="1050" dirty="0"/>
          </a:p>
        </p:txBody>
      </p:sp>
      <p:sp>
        <p:nvSpPr>
          <p:cNvPr id="7" name="Text 5"/>
          <p:cNvSpPr txBox="1"/>
          <p:nvPr/>
        </p:nvSpPr>
        <p:spPr>
          <a:xfrm>
            <a:off x="2963100" y="1920240"/>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rs2</a:t>
            </a:r>
            <a:endParaRPr lang="en-US" sz="1400" dirty="0"/>
          </a:p>
        </p:txBody>
      </p:sp>
      <p:sp>
        <p:nvSpPr>
          <p:cNvPr id="8" name="Text 6"/>
          <p:cNvSpPr txBox="1"/>
          <p:nvPr/>
        </p:nvSpPr>
        <p:spPr>
          <a:xfrm>
            <a:off x="2999676" y="1682496"/>
            <a:ext cx="86230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24</a:t>
            </a:r>
            <a:endParaRPr lang="en-US" sz="1050" dirty="0"/>
          </a:p>
        </p:txBody>
      </p:sp>
      <p:sp>
        <p:nvSpPr>
          <p:cNvPr id="9" name="Text 7"/>
          <p:cNvSpPr txBox="1"/>
          <p:nvPr/>
        </p:nvSpPr>
        <p:spPr>
          <a:xfrm>
            <a:off x="3825407" y="1682496"/>
            <a:ext cx="82573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10" name="Text 8"/>
          <p:cNvSpPr txBox="1"/>
          <p:nvPr/>
        </p:nvSpPr>
        <p:spPr>
          <a:xfrm>
            <a:off x="4687714" y="1920240"/>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rs1</a:t>
            </a:r>
            <a:endParaRPr lang="en-US" sz="1400" dirty="0"/>
          </a:p>
        </p:txBody>
      </p:sp>
      <p:sp>
        <p:nvSpPr>
          <p:cNvPr id="11" name="Text 9"/>
          <p:cNvSpPr txBox="1"/>
          <p:nvPr/>
        </p:nvSpPr>
        <p:spPr>
          <a:xfrm>
            <a:off x="4724290" y="1682496"/>
            <a:ext cx="86230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12" name="Text 10"/>
          <p:cNvSpPr txBox="1"/>
          <p:nvPr/>
        </p:nvSpPr>
        <p:spPr>
          <a:xfrm>
            <a:off x="5550021" y="1682496"/>
            <a:ext cx="82573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3" name="Text 11"/>
          <p:cNvSpPr txBox="1"/>
          <p:nvPr/>
        </p:nvSpPr>
        <p:spPr>
          <a:xfrm>
            <a:off x="6412328" y="1920240"/>
            <a:ext cx="1091654"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funct3</a:t>
            </a:r>
            <a:endParaRPr lang="en-US" sz="1400" dirty="0"/>
          </a:p>
        </p:txBody>
      </p:sp>
      <p:sp>
        <p:nvSpPr>
          <p:cNvPr id="14" name="Text 12"/>
          <p:cNvSpPr txBox="1"/>
          <p:nvPr/>
        </p:nvSpPr>
        <p:spPr>
          <a:xfrm>
            <a:off x="6448904" y="1682496"/>
            <a:ext cx="54582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15" name="Text 13"/>
          <p:cNvSpPr txBox="1"/>
          <p:nvPr/>
        </p:nvSpPr>
        <p:spPr>
          <a:xfrm>
            <a:off x="6958155" y="1682496"/>
            <a:ext cx="50925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16" name="Text 14"/>
          <p:cNvSpPr txBox="1"/>
          <p:nvPr/>
        </p:nvSpPr>
        <p:spPr>
          <a:xfrm>
            <a:off x="7503982" y="1920240"/>
            <a:ext cx="1724614" cy="384048"/>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rd</a:t>
            </a:r>
            <a:endParaRPr lang="en-US" sz="1400" dirty="0"/>
          </a:p>
        </p:txBody>
      </p:sp>
      <p:sp>
        <p:nvSpPr>
          <p:cNvPr id="17" name="Text 15"/>
          <p:cNvSpPr txBox="1"/>
          <p:nvPr/>
        </p:nvSpPr>
        <p:spPr>
          <a:xfrm>
            <a:off x="7540558" y="1682496"/>
            <a:ext cx="86230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18" name="Text 16"/>
          <p:cNvSpPr txBox="1"/>
          <p:nvPr/>
        </p:nvSpPr>
        <p:spPr>
          <a:xfrm>
            <a:off x="8366289" y="1682496"/>
            <a:ext cx="82573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19" name="Text 17"/>
          <p:cNvSpPr txBox="1"/>
          <p:nvPr/>
        </p:nvSpPr>
        <p:spPr>
          <a:xfrm>
            <a:off x="9228596" y="1920240"/>
            <a:ext cx="2414460"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20" name="Text 18"/>
          <p:cNvSpPr txBox="1"/>
          <p:nvPr/>
        </p:nvSpPr>
        <p:spPr>
          <a:xfrm>
            <a:off x="9265172" y="1682496"/>
            <a:ext cx="1207230"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1" name="Text 19"/>
          <p:cNvSpPr txBox="1"/>
          <p:nvPr/>
        </p:nvSpPr>
        <p:spPr>
          <a:xfrm>
            <a:off x="10435825" y="1682496"/>
            <a:ext cx="1170654"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2" name="Text 20"/>
          <p:cNvSpPr txBox="1"/>
          <p:nvPr/>
        </p:nvSpPr>
        <p:spPr>
          <a:xfrm>
            <a:off x="548640" y="2569464"/>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 immediates and loads (addi, andi, lw, jalr, ...)</a:t>
            </a:r>
            <a:endParaRPr lang="en-US" sz="1400" dirty="0"/>
          </a:p>
        </p:txBody>
      </p:sp>
      <p:sp>
        <p:nvSpPr>
          <p:cNvPr id="23" name="Text 21"/>
          <p:cNvSpPr txBox="1"/>
          <p:nvPr/>
        </p:nvSpPr>
        <p:spPr>
          <a:xfrm>
            <a:off x="548640" y="2907792"/>
            <a:ext cx="4139074"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immediate [11:0]</a:t>
            </a:r>
            <a:endParaRPr lang="en-US" sz="1400" dirty="0"/>
          </a:p>
        </p:txBody>
      </p:sp>
      <p:sp>
        <p:nvSpPr>
          <p:cNvPr id="24" name="Text 22"/>
          <p:cNvSpPr txBox="1"/>
          <p:nvPr/>
        </p:nvSpPr>
        <p:spPr>
          <a:xfrm>
            <a:off x="4687714" y="2907792"/>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rs1</a:t>
            </a:r>
            <a:endParaRPr lang="en-US" sz="1400" dirty="0"/>
          </a:p>
        </p:txBody>
      </p:sp>
      <p:sp>
        <p:nvSpPr>
          <p:cNvPr id="25" name="Text 23"/>
          <p:cNvSpPr txBox="1"/>
          <p:nvPr/>
        </p:nvSpPr>
        <p:spPr>
          <a:xfrm>
            <a:off x="6412328" y="2907792"/>
            <a:ext cx="1091654"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funct3</a:t>
            </a:r>
            <a:endParaRPr lang="en-US" sz="1400" dirty="0"/>
          </a:p>
        </p:txBody>
      </p:sp>
      <p:sp>
        <p:nvSpPr>
          <p:cNvPr id="26" name="Text 24"/>
          <p:cNvSpPr txBox="1"/>
          <p:nvPr/>
        </p:nvSpPr>
        <p:spPr>
          <a:xfrm>
            <a:off x="7503982" y="2907792"/>
            <a:ext cx="1724614" cy="384048"/>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rd</a:t>
            </a:r>
            <a:endParaRPr lang="en-US" sz="1400" dirty="0"/>
          </a:p>
        </p:txBody>
      </p:sp>
      <p:sp>
        <p:nvSpPr>
          <p:cNvPr id="27" name="Text 25"/>
          <p:cNvSpPr txBox="1"/>
          <p:nvPr/>
        </p:nvSpPr>
        <p:spPr>
          <a:xfrm>
            <a:off x="9228596" y="2907792"/>
            <a:ext cx="2414460"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28" name="Text 26"/>
          <p:cNvSpPr txBox="1"/>
          <p:nvPr/>
        </p:nvSpPr>
        <p:spPr>
          <a:xfrm>
            <a:off x="548640" y="3602736"/>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 stores (sw, sh, sb); B: branches, with the same shape</a:t>
            </a:r>
            <a:endParaRPr lang="en-US" sz="1400" dirty="0"/>
          </a:p>
        </p:txBody>
      </p:sp>
      <p:sp>
        <p:nvSpPr>
          <p:cNvPr id="29" name="Text 27"/>
          <p:cNvSpPr txBox="1"/>
          <p:nvPr/>
        </p:nvSpPr>
        <p:spPr>
          <a:xfrm>
            <a:off x="548640" y="3941064"/>
            <a:ext cx="2414460"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 [11:5]</a:t>
            </a:r>
            <a:endParaRPr lang="en-US" sz="1400" dirty="0"/>
          </a:p>
        </p:txBody>
      </p:sp>
      <p:sp>
        <p:nvSpPr>
          <p:cNvPr id="30" name="Text 28"/>
          <p:cNvSpPr txBox="1"/>
          <p:nvPr/>
        </p:nvSpPr>
        <p:spPr>
          <a:xfrm>
            <a:off x="2963100" y="3941064"/>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rs2</a:t>
            </a:r>
            <a:endParaRPr lang="en-US" sz="1400" dirty="0"/>
          </a:p>
        </p:txBody>
      </p:sp>
      <p:sp>
        <p:nvSpPr>
          <p:cNvPr id="31" name="Text 29"/>
          <p:cNvSpPr txBox="1"/>
          <p:nvPr/>
        </p:nvSpPr>
        <p:spPr>
          <a:xfrm>
            <a:off x="4687714" y="3941064"/>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rs1</a:t>
            </a:r>
            <a:endParaRPr lang="en-US" sz="1400" dirty="0"/>
          </a:p>
        </p:txBody>
      </p:sp>
      <p:sp>
        <p:nvSpPr>
          <p:cNvPr id="32" name="Text 30"/>
          <p:cNvSpPr txBox="1"/>
          <p:nvPr/>
        </p:nvSpPr>
        <p:spPr>
          <a:xfrm>
            <a:off x="6412328" y="3941064"/>
            <a:ext cx="1091654"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funct3</a:t>
            </a:r>
            <a:endParaRPr lang="en-US" sz="1400" dirty="0"/>
          </a:p>
        </p:txBody>
      </p:sp>
      <p:sp>
        <p:nvSpPr>
          <p:cNvPr id="33" name="Text 31"/>
          <p:cNvSpPr txBox="1"/>
          <p:nvPr/>
        </p:nvSpPr>
        <p:spPr>
          <a:xfrm>
            <a:off x="7503982" y="3941064"/>
            <a:ext cx="1724614"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 [4:0]</a:t>
            </a:r>
            <a:endParaRPr lang="en-US" sz="1400" dirty="0"/>
          </a:p>
        </p:txBody>
      </p:sp>
      <p:sp>
        <p:nvSpPr>
          <p:cNvPr id="34" name="Text 32"/>
          <p:cNvSpPr txBox="1"/>
          <p:nvPr/>
        </p:nvSpPr>
        <p:spPr>
          <a:xfrm>
            <a:off x="9228596" y="3941064"/>
            <a:ext cx="2414460"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35" name="Text 33"/>
          <p:cNvSpPr txBox="1"/>
          <p:nvPr/>
        </p:nvSpPr>
        <p:spPr>
          <a:xfrm>
            <a:off x="548640" y="4636008"/>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U: upper immediates (lui, auipc); J: jumps (jal), with the same shape</a:t>
            </a:r>
            <a:endParaRPr lang="en-US" sz="1400" dirty="0"/>
          </a:p>
        </p:txBody>
      </p:sp>
      <p:sp>
        <p:nvSpPr>
          <p:cNvPr id="36" name="Text 34"/>
          <p:cNvSpPr txBox="1"/>
          <p:nvPr/>
        </p:nvSpPr>
        <p:spPr>
          <a:xfrm>
            <a:off x="548640" y="4974336"/>
            <a:ext cx="6934010"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immediate [31:12]</a:t>
            </a:r>
            <a:endParaRPr lang="en-US" sz="1400" dirty="0"/>
          </a:p>
        </p:txBody>
      </p:sp>
      <p:sp>
        <p:nvSpPr>
          <p:cNvPr id="37" name="Text 35"/>
          <p:cNvSpPr txBox="1"/>
          <p:nvPr/>
        </p:nvSpPr>
        <p:spPr>
          <a:xfrm>
            <a:off x="7482650" y="4974336"/>
            <a:ext cx="1733502" cy="384048"/>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rd</a:t>
            </a:r>
            <a:endParaRPr lang="en-US" sz="1400" dirty="0"/>
          </a:p>
        </p:txBody>
      </p:sp>
      <p:sp>
        <p:nvSpPr>
          <p:cNvPr id="38" name="Text 36"/>
          <p:cNvSpPr txBox="1"/>
          <p:nvPr/>
        </p:nvSpPr>
        <p:spPr>
          <a:xfrm>
            <a:off x="9216152" y="4974336"/>
            <a:ext cx="2426903"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39" name="Text 37"/>
          <p:cNvSpPr txBox="1"/>
          <p:nvPr/>
        </p:nvSpPr>
        <p:spPr>
          <a:xfrm>
            <a:off x="548640" y="5577840"/>
            <a:ext cx="11094415" cy="59436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Six formats, all of 32 bits. The opcode is always in the same seven bits, and the register numbers rd, rs1 and rs2 are always in the same places: the processor can read them before it even knows which instruction it is.</a:t>
            </a:r>
            <a:endParaRPr lang="en-US" sz="1400" dirty="0"/>
          </a:p>
        </p:txBody>
      </p:sp>
      <p:sp>
        <p:nvSpPr>
          <p:cNvPr id="40" name="Shape 38"/>
          <p:cNvSpPr/>
          <p:nvPr/>
        </p:nvSpPr>
        <p:spPr>
          <a:xfrm>
            <a:off x="8419033" y="91440"/>
            <a:ext cx="3224022" cy="274320"/>
          </a:xfrm>
          <a:prstGeom prst="rect">
            <a:avLst/>
          </a:prstGeom>
          <a:solidFill>
            <a:srgbClr val="E0F2FE"/>
          </a:solidFill>
          <a:ln w="12700">
            <a:solidFill>
              <a:srgbClr val="0369A1"/>
            </a:solidFill>
            <a:prstDash val="solid"/>
          </a:ln>
        </p:spPr>
      </p:sp>
      <p:sp>
        <p:nvSpPr>
          <p:cNvPr id="41" name="Shape 39"/>
          <p:cNvSpPr/>
          <p:nvPr/>
        </p:nvSpPr>
        <p:spPr>
          <a:xfrm>
            <a:off x="8419033" y="91440"/>
            <a:ext cx="73152" cy="274320"/>
          </a:xfrm>
          <a:prstGeom prst="rect">
            <a:avLst/>
          </a:prstGeom>
          <a:solidFill>
            <a:srgbClr val="0369A1"/>
          </a:solidFill>
          <a:ln w="12700">
            <a:solidFill>
              <a:srgbClr val="0369A1"/>
            </a:solidFill>
            <a:prstDash val="solid"/>
          </a:ln>
        </p:spPr>
      </p:sp>
      <p:pic>
        <p:nvPicPr>
          <p:cNvPr id="42"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43" name="Text 40"/>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instruction formats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Addressing modes: where an operand is found</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4910643"/>
                <a:gridCol w="363751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The operand is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RISC-V example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immediate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constant inside the 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t1, t1, 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content of a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 t2, t0, 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base plus displacement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memory word at register + constant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lw t1, 8(sp)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PC-relative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 address at a distance from the instruction itself</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beq t0, t1, loop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memory indirect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memory word whose address is in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not available: two loads</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616010" y="91440"/>
            <a:ext cx="3027045" cy="274320"/>
          </a:xfrm>
          <a:prstGeom prst="rect">
            <a:avLst/>
          </a:prstGeom>
          <a:solidFill>
            <a:srgbClr val="E0F2FE"/>
          </a:solidFill>
          <a:ln w="12700">
            <a:solidFill>
              <a:srgbClr val="0369A1"/>
            </a:solidFill>
            <a:prstDash val="solid"/>
          </a:ln>
        </p:spPr>
      </p:sp>
      <p:sp>
        <p:nvSpPr>
          <p:cNvPr id="5" name="Shape 2"/>
          <p:cNvSpPr/>
          <p:nvPr/>
        </p:nvSpPr>
        <p:spPr>
          <a:xfrm>
            <a:off x="8616010"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7" name="Text 3"/>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addressing modes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phases of the cycle</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Fetch</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instruction at the address in the PC is read from memory; the PC advances</a:t>
            </a:r>
            <a:endParaRPr lang="en-US" sz="14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Decode</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opcode is recognised; the registers named by the instruction are read</a:t>
            </a:r>
            <a:endParaRPr lang="en-US" sz="14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Execute</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ALU computes: a result, an address or a comparison</a:t>
            </a:r>
            <a:endParaRPr lang="en-US" sz="14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Memory</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loads read the memory, stores write it; the others skip this phase</a:t>
            </a:r>
            <a:endParaRPr lang="en-US" sz="14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Write back</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result is written into the destination register</a:t>
            </a:r>
            <a:endParaRPr lang="en-US" sz="14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After a start-up phase, the bootstrap, the processor repeats this cycle for ever. In processors with rich addressing modes, a phase of operand assembly collects the operands before the execution.</a:t>
            </a:r>
            <a:endParaRPr lang="en-US" sz="2000" dirty="0"/>
          </a:p>
        </p:txBody>
      </p:sp>
      <p:sp>
        <p:nvSpPr>
          <p:cNvPr id="24" name="Shape 22"/>
          <p:cNvSpPr/>
          <p:nvPr/>
        </p:nvSpPr>
        <p:spPr>
          <a:xfrm>
            <a:off x="8419033" y="91440"/>
            <a:ext cx="3224022" cy="274320"/>
          </a:xfrm>
          <a:prstGeom prst="rect">
            <a:avLst/>
          </a:prstGeom>
          <a:solidFill>
            <a:srgbClr val="E0F2FE"/>
          </a:solidFill>
          <a:ln w="12700">
            <a:solidFill>
              <a:srgbClr val="0369A1"/>
            </a:solidFill>
            <a:prstDash val="solid"/>
          </a:ln>
        </p:spPr>
      </p:sp>
      <p:sp>
        <p:nvSpPr>
          <p:cNvPr id="25" name="Shape 23"/>
          <p:cNvSpPr/>
          <p:nvPr/>
        </p:nvSpPr>
        <p:spPr>
          <a:xfrm>
            <a:off x="8419033"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27" name="Text 2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cycle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pipeline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03120"/>
                <a:gridCol w="1123912"/>
                <a:gridCol w="1123912"/>
                <a:gridCol w="1123912"/>
                <a:gridCol w="1123912"/>
                <a:gridCol w="1123912"/>
                <a:gridCol w="1123912"/>
                <a:gridCol w="1123912"/>
                <a:gridCol w="1123912"/>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clock cycle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instruction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instruction 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instruction 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instruction 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bl>
          </a:graphicData>
        </a:graphic>
      </p:graphicFrame>
      <p:sp>
        <p:nvSpPr>
          <p:cNvPr id="4" name="Shape 1"/>
          <p:cNvSpPr/>
          <p:nvPr/>
        </p:nvSpPr>
        <p:spPr>
          <a:xfrm>
            <a:off x="548640" y="3657092"/>
            <a:ext cx="146304" cy="146304"/>
          </a:xfrm>
          <a:prstGeom prst="rect">
            <a:avLst/>
          </a:prstGeom>
          <a:solidFill>
            <a:srgbClr val="0E7C86"/>
          </a:solidFill>
          <a:ln w="12700">
            <a:solidFill>
              <a:srgbClr val="0E7C86"/>
            </a:solidFill>
            <a:prstDash val="solid"/>
          </a:ln>
        </p:spPr>
      </p:sp>
      <p:sp>
        <p:nvSpPr>
          <p:cNvPr id="5" name="Text 2"/>
          <p:cNvSpPr txBox="1"/>
          <p:nvPr/>
        </p:nvSpPr>
        <p:spPr>
          <a:xfrm>
            <a:off x="932688" y="356616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Five phases, five pieces of hardware: while one instruction executes, the next is decoded and a third is fetched</a:t>
            </a:r>
            <a:endParaRPr lang="en-US" sz="2000" dirty="0"/>
          </a:p>
        </p:txBody>
      </p:sp>
      <p:sp>
        <p:nvSpPr>
          <p:cNvPr id="6" name="Shape 3"/>
          <p:cNvSpPr/>
          <p:nvPr/>
        </p:nvSpPr>
        <p:spPr>
          <a:xfrm>
            <a:off x="548640" y="4422479"/>
            <a:ext cx="146304" cy="146304"/>
          </a:xfrm>
          <a:prstGeom prst="rect">
            <a:avLst/>
          </a:prstGeom>
          <a:solidFill>
            <a:srgbClr val="C7791B"/>
          </a:solidFill>
          <a:ln w="12700">
            <a:solidFill>
              <a:srgbClr val="C7791B"/>
            </a:solidFill>
            <a:prstDash val="solid"/>
          </a:ln>
        </p:spPr>
      </p:sp>
      <p:sp>
        <p:nvSpPr>
          <p:cNvPr id="7" name="Text 4"/>
          <p:cNvSpPr txBox="1"/>
          <p:nvPr/>
        </p:nvSpPr>
        <p:spPr>
          <a:xfrm>
            <a:off x="932688" y="4331547"/>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Each instruction still takes five cycles, but one completes at every clock cycle: five times the throughput</a:t>
            </a:r>
            <a:endParaRPr lang="en-US" sz="2000" dirty="0"/>
          </a:p>
        </p:txBody>
      </p:sp>
      <p:sp>
        <p:nvSpPr>
          <p:cNvPr id="8" name="Shape 5"/>
          <p:cNvSpPr/>
          <p:nvPr/>
        </p:nvSpPr>
        <p:spPr>
          <a:xfrm>
            <a:off x="548640" y="5187865"/>
            <a:ext cx="146304" cy="146304"/>
          </a:xfrm>
          <a:prstGeom prst="rect">
            <a:avLst/>
          </a:prstGeom>
          <a:solidFill>
            <a:srgbClr val="0E7C86"/>
          </a:solidFill>
          <a:ln w="12700">
            <a:solidFill>
              <a:srgbClr val="0E7C86"/>
            </a:solidFill>
            <a:prstDash val="solid"/>
          </a:ln>
        </p:spPr>
      </p:sp>
      <p:sp>
        <p:nvSpPr>
          <p:cNvPr id="9" name="Text 6"/>
          <p:cNvSpPr txBox="1"/>
          <p:nvPr/>
        </p:nvSpPr>
        <p:spPr>
          <a:xfrm>
            <a:off x="932688" y="509693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Superscalar processors put two or more pipelines side by side: more than one instruction per cycle</a:t>
            </a:r>
            <a:endParaRPr lang="en-US" sz="2000" dirty="0"/>
          </a:p>
        </p:txBody>
      </p:sp>
      <p:sp>
        <p:nvSpPr>
          <p:cNvPr id="10" name="Shape 7"/>
          <p:cNvSpPr/>
          <p:nvPr/>
        </p:nvSpPr>
        <p:spPr>
          <a:xfrm>
            <a:off x="548640" y="5953252"/>
            <a:ext cx="146304" cy="146304"/>
          </a:xfrm>
          <a:prstGeom prst="rect">
            <a:avLst/>
          </a:prstGeom>
          <a:solidFill>
            <a:srgbClr val="C7791B"/>
          </a:solidFill>
          <a:ln w="12700">
            <a:solidFill>
              <a:srgbClr val="C7791B"/>
            </a:solidFill>
            <a:prstDash val="solid"/>
          </a:ln>
        </p:spPr>
      </p:sp>
      <p:sp>
        <p:nvSpPr>
          <p:cNvPr id="11" name="Text 8"/>
          <p:cNvSpPr txBox="1"/>
          <p:nvPr/>
        </p:nvSpPr>
        <p:spPr>
          <a:xfrm>
            <a:off x="932688" y="5862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main core of the ESP32-C6 has a four-stage pipeline</a:t>
            </a:r>
            <a:endParaRPr lang="en-US" sz="2000" dirty="0"/>
          </a:p>
        </p:txBody>
      </p:sp>
      <p:sp>
        <p:nvSpPr>
          <p:cNvPr id="12" name="Shape 9"/>
          <p:cNvSpPr/>
          <p:nvPr/>
        </p:nvSpPr>
        <p:spPr>
          <a:xfrm>
            <a:off x="8419033" y="91440"/>
            <a:ext cx="3224022" cy="274320"/>
          </a:xfrm>
          <a:prstGeom prst="rect">
            <a:avLst/>
          </a:prstGeom>
          <a:solidFill>
            <a:srgbClr val="E0F2FE"/>
          </a:solidFill>
          <a:ln w="12700">
            <a:solidFill>
              <a:srgbClr val="0369A1"/>
            </a:solidFill>
            <a:prstDash val="solid"/>
          </a:ln>
        </p:spPr>
      </p:sp>
      <p:sp>
        <p:nvSpPr>
          <p:cNvPr id="13" name="Shape 10"/>
          <p:cNvSpPr/>
          <p:nvPr/>
        </p:nvSpPr>
        <p:spPr>
          <a:xfrm>
            <a:off x="8419033"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15" name="Text 11"/>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cycle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problem with the simple cycle</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If the processor only ever did fetch, decode, execute, some problems would arise</a:t>
            </a:r>
            <a:endParaRPr lang="en-US" sz="2400" dirty="0"/>
          </a:p>
        </p:txBody>
      </p:sp>
      <p:sp>
        <p:nvSpPr>
          <p:cNvPr id="5" name="Shape 3"/>
          <p:cNvSpPr/>
          <p:nvPr/>
        </p:nvSpPr>
        <p:spPr>
          <a:xfrm>
            <a:off x="548640" y="26283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0647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Interaction with the outside world through the I/O units would be inefficient: the program would have to keep asking</a:t>
            </a:r>
            <a:endParaRPr lang="en-US" sz="2400" dirty="0"/>
          </a:p>
        </p:txBody>
      </p:sp>
      <p:sp>
        <p:nvSpPr>
          <p:cNvPr id="7" name="Shape 5"/>
          <p:cNvSpPr/>
          <p:nvPr/>
        </p:nvSpPr>
        <p:spPr>
          <a:xfrm>
            <a:off x="548640" y="408940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67480"/>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There would be no way to forcibly remove an application that enters an infinite loop by mistake</a:t>
            </a:r>
            <a:endParaRPr lang="en-US" sz="2400" dirty="0"/>
          </a:p>
        </p:txBody>
      </p:sp>
      <p:sp>
        <p:nvSpPr>
          <p:cNvPr id="9" name="Shape 7"/>
          <p:cNvSpPr/>
          <p:nvPr/>
        </p:nvSpPr>
        <p:spPr>
          <a:xfrm>
            <a:off x="548640" y="555040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28488"/>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operating system would have limited control over the system</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j loop</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program stuck in an endless loop: who takes the processor away from it?</a:t>
            </a:r>
            <a:endParaRPr lang="en-US" sz="1900" dirty="0"/>
          </a:p>
        </p:txBody>
      </p:sp>
      <p:sp>
        <p:nvSpPr>
          <p:cNvPr id="14"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5"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7"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Interrupts</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200" i="1" dirty="0">
                <a:solidFill>
                  <a:srgbClr val="1B2530"/>
                </a:solidFill>
                <a:latin typeface="Cambria" pitchFamily="34" charset="0"/>
                <a:ea typeface="Cambria" pitchFamily="34" charset="-122"/>
                <a:cs typeface="Cambria" pitchFamily="34" charset="-120"/>
              </a:rPr>
              <a:t>Exceptional events, usually asynchronous with respect to the execution of the program in progress, that require the attention of the processor.</a:t>
            </a:r>
            <a:endParaRPr lang="en-US" sz="2200" dirty="0"/>
          </a:p>
        </p:txBody>
      </p:sp>
      <p:sp>
        <p:nvSpPr>
          <p:cNvPr id="6" name="Shape 4"/>
          <p:cNvSpPr/>
          <p:nvPr/>
        </p:nvSpPr>
        <p:spPr>
          <a:xfrm>
            <a:off x="548640" y="345541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RISC-V vocabulary: an interrupt comes from outside the program, at any moment: a timer, a device</a:t>
            </a:r>
            <a:endParaRPr lang="en-US" sz="2400" dirty="0"/>
          </a:p>
        </p:txBody>
      </p:sp>
      <p:sp>
        <p:nvSpPr>
          <p:cNvPr id="8" name="Shape 6"/>
          <p:cNvSpPr/>
          <p:nvPr/>
        </p:nvSpPr>
        <p:spPr>
          <a:xfrm>
            <a:off x="548640" y="450291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380992"/>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An exception is caused by the instruction being executed: an illegal opcode, a forbidden address</a:t>
            </a:r>
            <a:endParaRPr lang="en-US" sz="2400" dirty="0"/>
          </a:p>
        </p:txBody>
      </p:sp>
      <p:sp>
        <p:nvSpPr>
          <p:cNvPr id="10" name="Shape 8"/>
          <p:cNvSpPr/>
          <p:nvPr/>
        </p:nvSpPr>
        <p:spPr>
          <a:xfrm>
            <a:off x="548640" y="555040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trap is the transfer of control to a handler that follows either of them</a:t>
            </a:r>
            <a:endParaRPr lang="en-US" sz="2400" dirty="0"/>
          </a:p>
        </p:txBody>
      </p:sp>
      <p:sp>
        <p:nvSpPr>
          <p:cNvPr id="12" name="Shape 10"/>
          <p:cNvSpPr/>
          <p:nvPr/>
        </p:nvSpPr>
        <p:spPr>
          <a:xfrm>
            <a:off x="8353374" y="91440"/>
            <a:ext cx="3289681" cy="274320"/>
          </a:xfrm>
          <a:prstGeom prst="rect">
            <a:avLst/>
          </a:prstGeom>
          <a:solidFill>
            <a:srgbClr val="E0F2FE"/>
          </a:solidFill>
          <a:ln w="12700">
            <a:solidFill>
              <a:srgbClr val="0369A1"/>
            </a:solidFill>
            <a:prstDash val="solid"/>
          </a:ln>
        </p:spPr>
      </p:sp>
      <p:sp>
        <p:nvSpPr>
          <p:cNvPr id="13" name="Shape 11"/>
          <p:cNvSpPr/>
          <p:nvPr/>
        </p:nvSpPr>
        <p:spPr>
          <a:xfrm>
            <a:off x="8353374"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5" name="Text 12"/>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real processor cycle</a:t>
            </a:r>
            <a:endParaRPr lang="en-US" sz="3200" dirty="0"/>
          </a:p>
        </p:txBody>
      </p:sp>
      <p:sp>
        <p:nvSpPr>
          <p:cNvPr id="3" name="Text 1"/>
          <p:cNvSpPr txBox="1"/>
          <p:nvPr/>
        </p:nvSpPr>
        <p:spPr>
          <a:xfrm>
            <a:off x="731520" y="1874520"/>
            <a:ext cx="1828800" cy="731520"/>
          </a:xfrm>
          <a:prstGeom prst="roundRect">
            <a:avLst>
              <a:gd name="adj" fmla="val 7500"/>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bootstrap</a:t>
            </a:r>
            <a:endParaRPr lang="en-US" sz="1500" dirty="0"/>
          </a:p>
        </p:txBody>
      </p:sp>
      <p:sp>
        <p:nvSpPr>
          <p:cNvPr id="4" name="Text 2"/>
          <p:cNvSpPr txBox="1"/>
          <p:nvPr/>
        </p:nvSpPr>
        <p:spPr>
          <a:xfrm>
            <a:off x="3108960" y="1874520"/>
            <a:ext cx="182880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fetch</a:t>
            </a:r>
            <a:endParaRPr lang="en-US" sz="1500" dirty="0"/>
          </a:p>
        </p:txBody>
      </p:sp>
      <p:sp>
        <p:nvSpPr>
          <p:cNvPr id="5" name="Text 3"/>
          <p:cNvSpPr txBox="1"/>
          <p:nvPr/>
        </p:nvSpPr>
        <p:spPr>
          <a:xfrm>
            <a:off x="5486400" y="1874520"/>
            <a:ext cx="1828800" cy="731520"/>
          </a:xfrm>
          <a:prstGeom prst="roundRect">
            <a:avLst>
              <a:gd name="adj" fmla="val 75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decode and</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execute</a:t>
            </a:r>
            <a:endParaRPr lang="en-US" sz="1500" dirty="0"/>
          </a:p>
        </p:txBody>
      </p:sp>
      <p:sp>
        <p:nvSpPr>
          <p:cNvPr id="6" name="Shape 4"/>
          <p:cNvSpPr/>
          <p:nvPr/>
        </p:nvSpPr>
        <p:spPr>
          <a:xfrm>
            <a:off x="2587752" y="2240280"/>
            <a:ext cx="493776" cy="0"/>
          </a:xfrm>
          <a:prstGeom prst="line">
            <a:avLst/>
          </a:prstGeom>
          <a:noFill/>
          <a:ln w="31750">
            <a:solidFill>
              <a:srgbClr val="5B6B78"/>
            </a:solidFill>
            <a:prstDash val="solid"/>
            <a:tailEnd type="triangle"/>
          </a:ln>
        </p:spPr>
      </p:sp>
      <p:sp>
        <p:nvSpPr>
          <p:cNvPr id="7" name="Shape 5"/>
          <p:cNvSpPr/>
          <p:nvPr/>
        </p:nvSpPr>
        <p:spPr>
          <a:xfrm>
            <a:off x="4965192" y="2240280"/>
            <a:ext cx="493776" cy="0"/>
          </a:xfrm>
          <a:prstGeom prst="line">
            <a:avLst/>
          </a:prstGeom>
          <a:noFill/>
          <a:ln w="31750">
            <a:solidFill>
              <a:srgbClr val="5B6B78"/>
            </a:solidFill>
            <a:prstDash val="solid"/>
            <a:tailEnd type="triangle"/>
          </a:ln>
        </p:spPr>
      </p:sp>
      <p:sp>
        <p:nvSpPr>
          <p:cNvPr id="8" name="Text 6"/>
          <p:cNvSpPr txBox="1"/>
          <p:nvPr/>
        </p:nvSpPr>
        <p:spPr>
          <a:xfrm>
            <a:off x="5486400" y="3520440"/>
            <a:ext cx="1828800" cy="822960"/>
          </a:xfrm>
          <a:prstGeom prst="roundRect">
            <a:avLst>
              <a:gd name="adj" fmla="val 6667"/>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interrupt</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pending?</a:t>
            </a:r>
            <a:endParaRPr lang="en-US" sz="1500" dirty="0"/>
          </a:p>
        </p:txBody>
      </p:sp>
      <p:sp>
        <p:nvSpPr>
          <p:cNvPr id="9" name="Shape 7"/>
          <p:cNvSpPr/>
          <p:nvPr/>
        </p:nvSpPr>
        <p:spPr>
          <a:xfrm>
            <a:off x="6400800" y="2633472"/>
            <a:ext cx="0" cy="859536"/>
          </a:xfrm>
          <a:prstGeom prst="line">
            <a:avLst/>
          </a:prstGeom>
          <a:noFill/>
          <a:ln w="31750">
            <a:solidFill>
              <a:srgbClr val="5B6B78"/>
            </a:solidFill>
            <a:prstDash val="solid"/>
            <a:tailEnd type="triangle"/>
          </a:ln>
        </p:spPr>
      </p:sp>
      <p:sp>
        <p:nvSpPr>
          <p:cNvPr id="10" name="Shape 8"/>
          <p:cNvSpPr/>
          <p:nvPr/>
        </p:nvSpPr>
        <p:spPr>
          <a:xfrm flipH="1">
            <a:off x="4023360" y="3931920"/>
            <a:ext cx="1435608" cy="0"/>
          </a:xfrm>
          <a:prstGeom prst="line">
            <a:avLst/>
          </a:prstGeom>
          <a:noFill/>
          <a:ln w="31750">
            <a:solidFill>
              <a:srgbClr val="5B6B78"/>
            </a:solidFill>
            <a:prstDash val="solid"/>
          </a:ln>
        </p:spPr>
      </p:sp>
      <p:sp>
        <p:nvSpPr>
          <p:cNvPr id="11" name="Shape 9"/>
          <p:cNvSpPr/>
          <p:nvPr/>
        </p:nvSpPr>
        <p:spPr>
          <a:xfrm flipV="1">
            <a:off x="4023360" y="2633472"/>
            <a:ext cx="0" cy="1298448"/>
          </a:xfrm>
          <a:prstGeom prst="line">
            <a:avLst/>
          </a:prstGeom>
          <a:noFill/>
          <a:ln w="31750">
            <a:solidFill>
              <a:srgbClr val="5B6B78"/>
            </a:solidFill>
            <a:prstDash val="solid"/>
            <a:tailEnd type="triangle"/>
          </a:ln>
        </p:spPr>
      </p:sp>
      <p:sp>
        <p:nvSpPr>
          <p:cNvPr id="12" name="Text 10"/>
          <p:cNvSpPr txBox="1"/>
          <p:nvPr/>
        </p:nvSpPr>
        <p:spPr>
          <a:xfrm>
            <a:off x="4480560" y="3611880"/>
            <a:ext cx="548640" cy="274320"/>
          </a:xfrm>
          <a:prstGeom prst="rect">
            <a:avLst/>
          </a:prstGeom>
          <a:noFill/>
          <a:ln/>
        </p:spPr>
        <p:txBody>
          <a:bodyPr wrap="square" lIns="0" tIns="0" rIns="0" bIns="0" rtlCol="0" anchor="t"/>
          <a:lstStyle/>
          <a:p>
            <a:pPr indent="0" marL="0">
              <a:buNone/>
            </a:pPr>
            <a:r>
              <a:rPr lang="en-US" sz="1400" b="1" dirty="0">
                <a:solidFill>
                  <a:srgbClr val="5B6B78"/>
                </a:solidFill>
                <a:latin typeface="Calibri" pitchFamily="34" charset="0"/>
                <a:ea typeface="Calibri" pitchFamily="34" charset="-122"/>
                <a:cs typeface="Calibri" pitchFamily="34" charset="-120"/>
              </a:rPr>
              <a:t>no</a:t>
            </a:r>
            <a:endParaRPr lang="en-US" sz="1400" dirty="0"/>
          </a:p>
        </p:txBody>
      </p:sp>
      <p:sp>
        <p:nvSpPr>
          <p:cNvPr id="13" name="Text 11"/>
          <p:cNvSpPr txBox="1"/>
          <p:nvPr/>
        </p:nvSpPr>
        <p:spPr>
          <a:xfrm>
            <a:off x="5486400" y="5166360"/>
            <a:ext cx="182880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trap: go to</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the handler</a:t>
            </a:r>
            <a:endParaRPr lang="en-US" sz="1500" dirty="0"/>
          </a:p>
        </p:txBody>
      </p:sp>
      <p:sp>
        <p:nvSpPr>
          <p:cNvPr id="14" name="Shape 12"/>
          <p:cNvSpPr/>
          <p:nvPr/>
        </p:nvSpPr>
        <p:spPr>
          <a:xfrm>
            <a:off x="6400800" y="4370832"/>
            <a:ext cx="0" cy="768096"/>
          </a:xfrm>
          <a:prstGeom prst="line">
            <a:avLst/>
          </a:prstGeom>
          <a:noFill/>
          <a:ln w="31750">
            <a:solidFill>
              <a:srgbClr val="B23A48"/>
            </a:solidFill>
            <a:prstDash val="solid"/>
            <a:tailEnd type="triangle"/>
          </a:ln>
        </p:spPr>
      </p:sp>
      <p:sp>
        <p:nvSpPr>
          <p:cNvPr id="15" name="Text 13"/>
          <p:cNvSpPr txBox="1"/>
          <p:nvPr/>
        </p:nvSpPr>
        <p:spPr>
          <a:xfrm>
            <a:off x="6492240" y="4572000"/>
            <a:ext cx="64008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yes</a:t>
            </a:r>
            <a:endParaRPr lang="en-US" sz="1400" dirty="0"/>
          </a:p>
        </p:txBody>
      </p:sp>
      <p:sp>
        <p:nvSpPr>
          <p:cNvPr id="16" name="Shape 14"/>
          <p:cNvSpPr/>
          <p:nvPr/>
        </p:nvSpPr>
        <p:spPr>
          <a:xfrm flipH="1">
            <a:off x="2743200" y="5577840"/>
            <a:ext cx="2715768" cy="0"/>
          </a:xfrm>
          <a:prstGeom prst="line">
            <a:avLst/>
          </a:prstGeom>
          <a:noFill/>
          <a:ln w="31750">
            <a:solidFill>
              <a:srgbClr val="5B6B78"/>
            </a:solidFill>
            <a:prstDash val="solid"/>
          </a:ln>
        </p:spPr>
      </p:sp>
      <p:sp>
        <p:nvSpPr>
          <p:cNvPr id="17" name="Shape 15"/>
          <p:cNvSpPr/>
          <p:nvPr/>
        </p:nvSpPr>
        <p:spPr>
          <a:xfrm flipV="1">
            <a:off x="2743200" y="3063240"/>
            <a:ext cx="0" cy="2514600"/>
          </a:xfrm>
          <a:prstGeom prst="line">
            <a:avLst/>
          </a:prstGeom>
          <a:noFill/>
          <a:ln w="31750">
            <a:solidFill>
              <a:srgbClr val="5B6B78"/>
            </a:solidFill>
            <a:prstDash val="solid"/>
          </a:ln>
        </p:spPr>
      </p:sp>
      <p:sp>
        <p:nvSpPr>
          <p:cNvPr id="18" name="Shape 16"/>
          <p:cNvSpPr/>
          <p:nvPr/>
        </p:nvSpPr>
        <p:spPr>
          <a:xfrm>
            <a:off x="2743200" y="3063240"/>
            <a:ext cx="822960" cy="0"/>
          </a:xfrm>
          <a:prstGeom prst="line">
            <a:avLst/>
          </a:prstGeom>
          <a:noFill/>
          <a:ln w="31750">
            <a:solidFill>
              <a:srgbClr val="5B6B78"/>
            </a:solidFill>
            <a:prstDash val="solid"/>
          </a:ln>
        </p:spPr>
      </p:sp>
      <p:sp>
        <p:nvSpPr>
          <p:cNvPr id="19" name="Shape 17"/>
          <p:cNvSpPr/>
          <p:nvPr/>
        </p:nvSpPr>
        <p:spPr>
          <a:xfrm flipV="1">
            <a:off x="3566160" y="2633472"/>
            <a:ext cx="0" cy="429768"/>
          </a:xfrm>
          <a:prstGeom prst="line">
            <a:avLst/>
          </a:prstGeom>
          <a:noFill/>
          <a:ln w="31750">
            <a:solidFill>
              <a:srgbClr val="5B6B78"/>
            </a:solidFill>
            <a:prstDash val="solid"/>
            <a:tailEnd type="triangle"/>
          </a:ln>
        </p:spPr>
      </p:sp>
      <p:sp>
        <p:nvSpPr>
          <p:cNvPr id="20" name="Shape 18"/>
          <p:cNvSpPr/>
          <p:nvPr/>
        </p:nvSpPr>
        <p:spPr>
          <a:xfrm>
            <a:off x="7863840" y="1492758"/>
            <a:ext cx="146304" cy="146304"/>
          </a:xfrm>
          <a:prstGeom prst="rect">
            <a:avLst/>
          </a:prstGeom>
          <a:solidFill>
            <a:srgbClr val="0E7C86"/>
          </a:solidFill>
          <a:ln w="12700">
            <a:solidFill>
              <a:srgbClr val="0E7C86"/>
            </a:solidFill>
            <a:prstDash val="solid"/>
          </a:ln>
        </p:spPr>
      </p:sp>
      <p:sp>
        <p:nvSpPr>
          <p:cNvPr id="21" name="Text 19"/>
          <p:cNvSpPr txBox="1"/>
          <p:nvPr/>
        </p:nvSpPr>
        <p:spPr>
          <a:xfrm>
            <a:off x="8247888" y="1417320"/>
            <a:ext cx="339516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At the end of each instruction the processor checks whether any interrupt signal has occurred</a:t>
            </a:r>
            <a:endParaRPr lang="en-US" sz="1800" dirty="0"/>
          </a:p>
        </p:txBody>
      </p:sp>
      <p:sp>
        <p:nvSpPr>
          <p:cNvPr id="22" name="Shape 20"/>
          <p:cNvSpPr/>
          <p:nvPr/>
        </p:nvSpPr>
        <p:spPr>
          <a:xfrm>
            <a:off x="7863840" y="2798826"/>
            <a:ext cx="146304" cy="146304"/>
          </a:xfrm>
          <a:prstGeom prst="rect">
            <a:avLst/>
          </a:prstGeom>
          <a:solidFill>
            <a:srgbClr val="C7791B"/>
          </a:solidFill>
          <a:ln w="12700">
            <a:solidFill>
              <a:srgbClr val="C7791B"/>
            </a:solidFill>
            <a:prstDash val="solid"/>
          </a:ln>
        </p:spPr>
      </p:sp>
      <p:sp>
        <p:nvSpPr>
          <p:cNvPr id="23" name="Text 21"/>
          <p:cNvSpPr txBox="1"/>
          <p:nvPr/>
        </p:nvSpPr>
        <p:spPr>
          <a:xfrm>
            <a:off x="8247888" y="2723388"/>
            <a:ext cx="339516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If there is none, the processing returns to the fetch phase</a:t>
            </a:r>
            <a:endParaRPr lang="en-US" sz="1800" dirty="0"/>
          </a:p>
        </p:txBody>
      </p:sp>
      <p:sp>
        <p:nvSpPr>
          <p:cNvPr id="24" name="Shape 22"/>
          <p:cNvSpPr/>
          <p:nvPr/>
        </p:nvSpPr>
        <p:spPr>
          <a:xfrm>
            <a:off x="7863840" y="3826002"/>
            <a:ext cx="146304" cy="146304"/>
          </a:xfrm>
          <a:prstGeom prst="rect">
            <a:avLst/>
          </a:prstGeom>
          <a:solidFill>
            <a:srgbClr val="0E7C86"/>
          </a:solidFill>
          <a:ln w="12700">
            <a:solidFill>
              <a:srgbClr val="0E7C86"/>
            </a:solidFill>
            <a:prstDash val="solid"/>
          </a:ln>
        </p:spPr>
      </p:sp>
      <p:sp>
        <p:nvSpPr>
          <p:cNvPr id="25" name="Text 23"/>
          <p:cNvSpPr txBox="1"/>
          <p:nvPr/>
        </p:nvSpPr>
        <p:spPr>
          <a:xfrm>
            <a:off x="8247888" y="3750564"/>
            <a:ext cx="3395167" cy="139446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If there is one, the processor passes to the supervisor state and starts executing a routine of the system</a:t>
            </a:r>
            <a:endParaRPr lang="en-US" sz="1800" dirty="0"/>
          </a:p>
        </p:txBody>
      </p:sp>
      <p:sp>
        <p:nvSpPr>
          <p:cNvPr id="26" name="Shape 24"/>
          <p:cNvSpPr/>
          <p:nvPr/>
        </p:nvSpPr>
        <p:spPr>
          <a:xfrm>
            <a:off x="7863840" y="5410962"/>
            <a:ext cx="146304" cy="146304"/>
          </a:xfrm>
          <a:prstGeom prst="rect">
            <a:avLst/>
          </a:prstGeom>
          <a:solidFill>
            <a:srgbClr val="C7791B"/>
          </a:solidFill>
          <a:ln w="12700">
            <a:solidFill>
              <a:srgbClr val="C7791B"/>
            </a:solidFill>
            <a:prstDash val="solid"/>
          </a:ln>
        </p:spPr>
      </p:sp>
      <p:sp>
        <p:nvSpPr>
          <p:cNvPr id="27" name="Text 25"/>
          <p:cNvSpPr txBox="1"/>
          <p:nvPr/>
        </p:nvSpPr>
        <p:spPr>
          <a:xfrm>
            <a:off x="8247888" y="5335524"/>
            <a:ext cx="339516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When the routine ends, the suspended program can resume as if nothing had happened</a:t>
            </a:r>
            <a:endParaRPr lang="en-US" sz="1800" dirty="0"/>
          </a:p>
        </p:txBody>
      </p:sp>
      <p:sp>
        <p:nvSpPr>
          <p:cNvPr id="28" name="Shape 26"/>
          <p:cNvSpPr/>
          <p:nvPr/>
        </p:nvSpPr>
        <p:spPr>
          <a:xfrm>
            <a:off x="8353374" y="91440"/>
            <a:ext cx="3289681" cy="274320"/>
          </a:xfrm>
          <a:prstGeom prst="rect">
            <a:avLst/>
          </a:prstGeom>
          <a:solidFill>
            <a:srgbClr val="E0F2FE"/>
          </a:solidFill>
          <a:ln w="12700">
            <a:solidFill>
              <a:srgbClr val="0369A1"/>
            </a:solidFill>
            <a:prstDash val="solid"/>
          </a:ln>
        </p:spPr>
      </p:sp>
      <p:sp>
        <p:nvSpPr>
          <p:cNvPr id="29" name="Shape 27"/>
          <p:cNvSpPr/>
          <p:nvPr/>
        </p:nvSpPr>
        <p:spPr>
          <a:xfrm>
            <a:off x="8353374"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31" name="Text 28"/>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Possible causes of interruption</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Periodic interrupt</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 timer, for example every 10 ms: to share the processor among programs and to measure the time each one uses.</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I/O interrupt</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 peripheral reports its state, for example that it is ready to receive data, to synchronise with the processor.</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Errors in the program</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An instruction that does not exist or is privileged, a forbidden address: synchronous events, called exceptions.</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Faults</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Failures of the system detected by dedicated probes: power, temperature, memory errors.</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Reset</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Brings the whole system back to a known state.</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Software interrupt</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Generated by a program that needs a shared resource and asks the operating system to mediate: in RISC-V, the instruction ecall.</a:t>
            </a:r>
            <a:endParaRPr lang="en-US" sz="1500" dirty="0"/>
          </a:p>
        </p:txBody>
      </p:sp>
      <p:sp>
        <p:nvSpPr>
          <p:cNvPr id="27" name="Shape 25"/>
          <p:cNvSpPr/>
          <p:nvPr/>
        </p:nvSpPr>
        <p:spPr>
          <a:xfrm>
            <a:off x="8353374" y="91440"/>
            <a:ext cx="3289681" cy="274320"/>
          </a:xfrm>
          <a:prstGeom prst="rect">
            <a:avLst/>
          </a:prstGeom>
          <a:solidFill>
            <a:srgbClr val="E0F2FE"/>
          </a:solidFill>
          <a:ln w="12700">
            <a:solidFill>
              <a:srgbClr val="0369A1"/>
            </a:solidFill>
            <a:prstDash val="solid"/>
          </a:ln>
        </p:spPr>
      </p:sp>
      <p:sp>
        <p:nvSpPr>
          <p:cNvPr id="28" name="Shape 26"/>
          <p:cNvSpPr/>
          <p:nvPr/>
        </p:nvSpPr>
        <p:spPr>
          <a:xfrm>
            <a:off x="8353374" y="91440"/>
            <a:ext cx="73152" cy="274320"/>
          </a:xfrm>
          <a:prstGeom prst="rect">
            <a:avLst/>
          </a:prstGeom>
          <a:solidFill>
            <a:srgbClr val="0369A1"/>
          </a:solidFill>
          <a:ln w="12700">
            <a:solidFill>
              <a:srgbClr val="0369A1"/>
            </a:solidFill>
            <a:prstDash val="solid"/>
          </a:ln>
        </p:spPr>
      </p:sp>
      <p:pic>
        <p:nvPicPr>
          <p:cNvPr id="29"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30" name="Text 27"/>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Handling an interrupt</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Save the context, hardware part: at least the address at which to resume</a:t>
            </a:r>
            <a:endParaRPr lang="en-US" sz="2200" dirty="0"/>
          </a:p>
        </p:txBody>
      </p:sp>
      <p:sp>
        <p:nvSpPr>
          <p:cNvPr id="5" name="Text 3"/>
          <p:cNvSpPr txBox="1"/>
          <p:nvPr/>
        </p:nvSpPr>
        <p:spPr>
          <a:xfrm>
            <a:off x="548640" y="225023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3194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Identify the cause of the interrupt</a:t>
            </a:r>
            <a:endParaRPr lang="en-US" sz="2200" dirty="0"/>
          </a:p>
        </p:txBody>
      </p:sp>
      <p:sp>
        <p:nvSpPr>
          <p:cNvPr id="7" name="Text 5"/>
          <p:cNvSpPr txBox="1"/>
          <p:nvPr/>
        </p:nvSpPr>
        <p:spPr>
          <a:xfrm>
            <a:off x="548640" y="30648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4657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Jump to the entry point of the interrupt service routine (ISR)</a:t>
            </a:r>
            <a:endParaRPr lang="en-US" sz="2200" dirty="0"/>
          </a:p>
        </p:txBody>
      </p:sp>
      <p:sp>
        <p:nvSpPr>
          <p:cNvPr id="9" name="Text 7"/>
          <p:cNvSpPr txBox="1"/>
          <p:nvPr/>
        </p:nvSpPr>
        <p:spPr>
          <a:xfrm>
            <a:off x="548640" y="38794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6120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Save the context, software part: the registers the routine is going to use</a:t>
            </a:r>
            <a:endParaRPr lang="en-US" sz="2200" dirty="0"/>
          </a:p>
        </p:txBody>
      </p:sp>
      <p:sp>
        <p:nvSpPr>
          <p:cNvPr id="11" name="Text 9"/>
          <p:cNvSpPr txBox="1"/>
          <p:nvPr/>
        </p:nvSpPr>
        <p:spPr>
          <a:xfrm>
            <a:off x="548640" y="469412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7583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Serve the interrupt</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If the interrupt allows it: restore the context, and resume the suspended program from the instruction that follows the last one executed</a:t>
            </a:r>
            <a:endParaRPr lang="en-US" sz="2200" dirty="0"/>
          </a:p>
        </p:txBody>
      </p:sp>
      <p:sp>
        <p:nvSpPr>
          <p:cNvPr id="15" name="Shape 13"/>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4"/>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8" name="Text 15"/>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registers of the trap mechanism</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3637513"/>
                <a:gridCol w="6001897"/>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CSR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Written by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Content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mtvec</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firmware, once, at start-up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address of the trap handler, and whether the vectored mode is used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mstatus</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hardware and firmware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MIE, the global interrupt enable, and MPIE, its previous value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mie</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firmware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one enable bit for each source: software, timer, external</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mip</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hardware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one pending bit for each source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mepc</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hardware, at each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address of the interrupted instruction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mcause</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hardware, at each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one bit that says interrupt or exception, and a code for the cause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353374" y="91440"/>
            <a:ext cx="3289681" cy="274320"/>
          </a:xfrm>
          <a:prstGeom prst="rect">
            <a:avLst/>
          </a:prstGeom>
          <a:solidFill>
            <a:srgbClr val="E0F2FE"/>
          </a:solidFill>
          <a:ln w="12700">
            <a:solidFill>
              <a:srgbClr val="0369A1"/>
            </a:solidFill>
            <a:prstDash val="solid"/>
          </a:ln>
        </p:spPr>
      </p:sp>
      <p:sp>
        <p:nvSpPr>
          <p:cNvPr id="5" name="Shape 2"/>
          <p:cNvSpPr/>
          <p:nvPr/>
        </p:nvSpPr>
        <p:spPr>
          <a:xfrm>
            <a:off x="835337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7" name="Text 3"/>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the hardware does on a trap</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mepc := the address of the interrupted instruction</a:t>
            </a:r>
            <a:endParaRPr lang="en-US" sz="2200" dirty="0"/>
          </a:p>
        </p:txBody>
      </p:sp>
      <p:sp>
        <p:nvSpPr>
          <p:cNvPr id="5" name="Text 3"/>
          <p:cNvSpPr txBox="1"/>
          <p:nvPr/>
        </p:nvSpPr>
        <p:spPr>
          <a:xfrm>
            <a:off x="548640" y="215310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34819"/>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mcause := the cause: top bit 1 for an interrupt, 0 for an exception, plus a code</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mstatus: MPIE := MIE, then MIE := 0, so that further interrupts are disabled</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processor passes to machine mode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PC := the address in mtvec, or, in vectored mode and for interrupts, that address plus 4 times the cause</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mret, at the end of the handler, undoes it: MIE := MPIE and PC := mepc</a:t>
            </a:r>
            <a:endParaRPr lang="en-US" sz="2200" dirty="0"/>
          </a:p>
        </p:txBody>
      </p:sp>
      <p:sp>
        <p:nvSpPr>
          <p:cNvPr id="15" name="Shape 13"/>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4"/>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8" name="Text 15"/>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cause of a trap: mcause</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1455005"/>
                <a:gridCol w="782065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Kind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Cause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software 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timer 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external interrupt: a device, through the interrupt controller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illegal 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breakpoint (ebreak): how a debugger stops a program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5, 7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load or store access fault: a forbidden address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8, 11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environment call (ecall) from user mode, from machine mode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353374" y="91440"/>
            <a:ext cx="3289681" cy="274320"/>
          </a:xfrm>
          <a:prstGeom prst="rect">
            <a:avLst/>
          </a:prstGeom>
          <a:solidFill>
            <a:srgbClr val="E0F2FE"/>
          </a:solidFill>
          <a:ln w="12700">
            <a:solidFill>
              <a:srgbClr val="0369A1"/>
            </a:solidFill>
            <a:prstDash val="solid"/>
          </a:ln>
        </p:spPr>
      </p:sp>
      <p:sp>
        <p:nvSpPr>
          <p:cNvPr id="5" name="Shape 2"/>
          <p:cNvSpPr/>
          <p:nvPr/>
        </p:nvSpPr>
        <p:spPr>
          <a:xfrm>
            <a:off x="835337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7" name="Text 3"/>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Interrupts on the PRG32 kit</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timer interrupts the processor a hundred times per second: the firmware uses it to keep time and to pace the frames</a:t>
            </a:r>
            <a:endParaRPr lang="en-US" sz="19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58847"/>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display and sound peripherals interrupt when a block of data has been sent and the next is wanted</a:t>
            </a:r>
            <a:endParaRPr lang="en-US" sz="1900" dirty="0"/>
          </a:p>
        </p:txBody>
      </p:sp>
      <p:sp>
        <p:nvSpPr>
          <p:cNvPr id="7" name="Shape 5"/>
          <p:cNvSpPr/>
          <p:nvPr/>
        </p:nvSpPr>
        <p:spPr>
          <a:xfrm>
            <a:off x="548640" y="328917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598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Wi-Fi radio interrupts when a packet arrives: a cartridge can be uploaded while a game is running</a:t>
            </a:r>
            <a:endParaRPr lang="en-US" sz="1900" dirty="0"/>
          </a:p>
        </p:txBody>
      </p:sp>
      <p:sp>
        <p:nvSpPr>
          <p:cNvPr id="9" name="Shape 7"/>
          <p:cNvSpPr/>
          <p:nvPr/>
        </p:nvSpPr>
        <p:spPr>
          <a:xfrm>
            <a:off x="548640" y="403631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53129"/>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Your init, update and draw are ordinary functions called by the firmware between one interrupt and the next</a:t>
            </a:r>
            <a:endParaRPr lang="en-US" sz="1900" dirty="0"/>
          </a:p>
        </p:txBody>
      </p:sp>
      <p:sp>
        <p:nvSpPr>
          <p:cNvPr id="11" name="Shape 9"/>
          <p:cNvSpPr/>
          <p:nvPr/>
        </p:nvSpPr>
        <p:spPr>
          <a:xfrm>
            <a:off x="548640" y="507784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994656"/>
            <a:ext cx="6565392" cy="117754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cartridge stuck in a loop does not stop the interrupts: PRG32-QT ends the frame with an error; on the board a watchdog reports the stall, and you press reset</a:t>
            </a:r>
            <a:endParaRPr lang="en-US" sz="1900" dirty="0"/>
          </a:p>
        </p:txBody>
      </p:sp>
      <p:pic>
        <p:nvPicPr>
          <p:cNvPr id="13" name="Image 0" descr="/Users/raffaelemontella/devel/riscv-prg32/computer-architecture-with-prg32/tools/assets/menu_main.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 firmware menu</a:t>
            </a:r>
            <a:endParaRPr lang="en-US" sz="1200" dirty="0"/>
          </a:p>
        </p:txBody>
      </p:sp>
      <p:sp>
        <p:nvSpPr>
          <p:cNvPr id="15"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481390" y="128016"/>
            <a:ext cx="201168" cy="201168"/>
          </a:xfrm>
          <a:prstGeom prst="rect">
            <a:avLst/>
          </a:prstGeom>
        </p:spPr>
      </p:pic>
      <p:sp>
        <p:nvSpPr>
          <p:cNvPr id="18"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which bits of a RISC-V instruction is the opcode?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seven most significant</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seven least significant</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bits 14 to 12</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depends on the format</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During the fetch of an RV32 instruction that is not compressed, the PC is increased by:</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register holds the address at which an interrupted RISC-V program will resume?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ra</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mtvec</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mepc</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mcause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of these is an exception rather than an interrupt, in RISC-V terms?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timer expires</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key is pressed</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 illegal instruction is fetched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packet arrives from the network</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860279"/>
                <a:gridCol w="2600254"/>
                <a:gridCol w="3033629"/>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operation code (opcode)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codice operativo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interrupt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operand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operando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exception /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eccezione /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addressing mode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modo di indirizzamento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interrupt service routine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routine di servizio dell'interruzione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fetch / decode / execute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prelievo / decodifica / esecuzione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interrupt latency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latenza di 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pipeline stage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stadio della pipeline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to mask an interrupt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mascherare un'interruzione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context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contesto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nesting</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annidamento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instruction is an operation code and zero, one or more operands; in RISC-V it is always 32 bits, in six regular formats</a:t>
            </a:r>
            <a:endParaRPr lang="en-US" sz="1900" dirty="0"/>
          </a:p>
        </p:txBody>
      </p:sp>
      <p:sp>
        <p:nvSpPr>
          <p:cNvPr id="5" name="Shape 3"/>
          <p:cNvSpPr/>
          <p:nvPr/>
        </p:nvSpPr>
        <p:spPr>
          <a:xfrm>
            <a:off x="548640" y="222191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38731"/>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fixed length keeps the fetch simple: the PC advances by a constant, 4 for an instruction that is not compressed</a:t>
            </a:r>
            <a:endParaRPr lang="en-US" sz="1900" dirty="0"/>
          </a:p>
        </p:txBody>
      </p:sp>
      <p:sp>
        <p:nvSpPr>
          <p:cNvPr id="7" name="Shape 5"/>
          <p:cNvSpPr/>
          <p:nvPr/>
        </p:nvSpPr>
        <p:spPr>
          <a:xfrm>
            <a:off x="548640" y="294332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60142"/>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processor has a cycle: it fetches an instruction, decodes it, executes it, and writes the result</a:t>
            </a:r>
            <a:endParaRPr lang="en-US" sz="1900" dirty="0"/>
          </a:p>
        </p:txBody>
      </p:sp>
      <p:sp>
        <p:nvSpPr>
          <p:cNvPr id="9" name="Shape 7"/>
          <p:cNvSpPr/>
          <p:nvPr/>
        </p:nvSpPr>
        <p:spPr>
          <a:xfrm>
            <a:off x="548640" y="366473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581552"/>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Exceptional events break the cycle: the processor saves where it was, serves the event and resumes</a:t>
            </a:r>
            <a:endParaRPr lang="en-US" sz="1900" dirty="0"/>
          </a:p>
        </p:txBody>
      </p:sp>
      <p:sp>
        <p:nvSpPr>
          <p:cNvPr id="11" name="Shape 9"/>
          <p:cNvSpPr/>
          <p:nvPr/>
        </p:nvSpPr>
        <p:spPr>
          <a:xfrm>
            <a:off x="548640" y="43861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302963"/>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Interrupts can be enabled, masked and ordered by priority; RISC-V does it with a handful of registers and the instruction mret</a:t>
            </a:r>
            <a:endParaRPr lang="en-US" sz="1900" dirty="0"/>
          </a:p>
        </p:txBody>
      </p:sp>
      <p:sp>
        <p:nvSpPr>
          <p:cNvPr id="13" name="Shape 11"/>
          <p:cNvSpPr/>
          <p:nvPr/>
        </p:nvSpPr>
        <p:spPr>
          <a:xfrm>
            <a:off x="548640" y="5107559"/>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024374"/>
            <a:ext cx="10710367" cy="114782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Reading</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Computer Organization and Design, RISC-V Edition, sections 2.5, 4.1-4.6 and 4.10</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The RISC-V Instruction Set Manual, volume II: Privileged Architecture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Playing with RISC-V, chapter 4: PRG32-QT and its debugger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Instructions and Interrupts</dc:title>
  <dc:subject>Lecture 19</dc:subject>
  <dc:creator>Raffaele Montella</dc:creator>
  <cp:lastModifiedBy>Raffaele Montella</cp:lastModifiedBy>
  <cp:revision>1</cp:revision>
  <dcterms:created xsi:type="dcterms:W3CDTF">2026-10-16T15:51:38Z</dcterms:created>
  <dcterms:modified xsi:type="dcterms:W3CDTF">2026-10-16T15:51:38Z</dcterms:modified>
</cp:coreProperties>
</file>