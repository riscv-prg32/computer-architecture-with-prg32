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c46cda7-ed35-4421-9d64-c090500c435f}">
          <p14:sldIdLst>
            <p14:sldId id="256"/>
            <p14:sldId id="257"/>
          </p14:sldIdLst>
        </p14:section>
        <p14:section name="Instructions" id="{7fa80d2c-cb3f-c5e0-fe33-119cf56cc4e5}">
          <p14:sldIdLst>
            <p14:sldId id="258"/>
            <p14:sldId id="259"/>
            <p14:sldId id="260"/>
          </p14:sldIdLst>
        </p14:section>
        <p14:section name="The processor cycle" id="{da115774-a42c-06af-bbba-9fc9fb5846a4}">
          <p14:sldIdLst>
            <p14:sldId id="261"/>
            <p14:sldId id="262"/>
          </p14:sldIdLst>
        </p14:section>
        <p14:section name="Interrupts" id="{b0bdfc70-9654-24ca-9267-ffa83751e5d6}">
          <p14:sldIdLst>
            <p14:sldId id="263"/>
            <p14:sldId id="264"/>
            <p14:sldId id="265"/>
            <p14:sldId id="266"/>
            <p14:sldId id="267"/>
          </p14:sldIdLst>
        </p14:section>
        <p14:section name="The RISC-V solution" id="{63a913a5-d1e9-e420-4b65-9e85a5cdee54}">
          <p14:sldIdLst>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described what a processor is made of; this one describes what it does. It has two halves. The first follows a single instruction: how it is encoded in 32 bits and which steps the processor takes to execute it. The second explains what happens when something more urgent than the current program arrives, a timer, a device or an error, so that the processor must suspend its work and resume it later. The two halves are connected: the interrupt is a modification of the very cycle the first half describes. The joke on the cover, as will become apparent, is nearly literally true.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instruction formats; addressing modes; the processor cycle; interrupts and traps. USE NOW: the complete program, the PRG32 tools (used, not studied, in this course). UNDERSTAND LATER: nothing. A slide without a badge is context: a story, an example, a question, an exercise.
For the lecturer: The original deck used a 16-bit word machine for the fetch phase and the Motorola MC68000 for vectored interrupts and priorities. Both are replaced by RISC-V: the six instruction formats, the five classic stages, and the machine-mode trap mechanism (mtvec, mepc, mcause, mstatus, mret). A comparison slide keeps the 68000 as the historical counterpart.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Describing an instruction as an operation code with operands. Decoding a RISC-V instruction by hand. Following an instruction through the five phases of the processor cycle. Explaining what a pipeline is and why it increases throughput. Defining interrupt, exception and trap, three terms that RISC-V uses with precision. And describing what the hardware does at a trap and how the interrupted program resumes.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processor provides four families of instructions: transfers between memory and registers, arithmetic and logical operations, control of flow, and input/output. An instruction consists of an operation code, the opcode, specifying what to do, followed by zero or more operands, specifying on what. An operand may be a constant written within the instruction, an immediate; a memory location; or a register. Some operands are implicit, as the accumulator is in an accumulator machine. Instructions have from zero to three operands.
UNDERSTAND NOW: instruction formats.
For the lecturer: In RISC-V the fourth family does not exist as such: devices are memory (Lecture 15). add has three operands, all registers; ret has none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 formats of RISC-V. Every instruction is 32 bits long and divided into fields. In the R format, for register-to-register operations, there are three five-bit register numbers, rs1, rs2 and rd, and three fields that select the operation. In the I format the second source register is replaced by a 12-bit immediate. S and B, for stores and branches, split the immediate into two pieces. U and J carry a 20-bit immediate. The regularity is a design objective: the opcode always occupies the lowest seven bits and the register fields always the same positions, so decoding can begin before the format is known. The 16-bit compressed forms of the C extension are only named here; Appendix A of the textbook lists them.
UNDERSTAND NOW: instruction formats.
For the lecturer: Bits 31 down to 0, left to right (indices shown on the first row). B and J differ from S and U only in how the bits of the immediate are arranged. This regularity is the heart of the RISC idea; the generic 0-, 1-, 2- and 3-operand formats of the original deck are its ancestors.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addressing mode is a method of locating an operand. RISC-V provides four. Immediate: the operand is a constant within the instruction. Register: it is the content of a register. Base plus displacement: it is the memory word at the address formed by a register plus a constant, the only means of reaching memory. PC-relative: an address at a given distance from the instruction itself, used by branches. Memory-indirect addressing, in which the address itself resides in memory, does not exist: it requires two loads. This is the formal treatment promised in Lecture 02 when address and value were first distinguished.
UNDERSTAND NOW: addressing modes.
For the lecturer: RISC-V has only the first four. A CISC processor such as the MC68000 has a dozen, including memory-indirect and auto-increment modes. The example of the original deck, R3 := M[M[A]], becomes in RISC-V: lw t0, 0(t1) followed by lw t0, 0(t0). The 'operand assembly' phase of a CISC processor is the price of rich addressing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phases. Fetch: the instruction at the address in the PC is read from memory and the PC advanced. Decode: the opcode is recognised and the registers named in the instruction are read. Execute: the ALU computes a result, an address or a comparison. Memory: loads read memory, stores write it, and other instructions do nothing in this phase. Write back: the result is written into the destination register. After the initial bootstrap the processor repeats this cycle indefinitely.
UNDERSTAND NOW: the processor cycle.
For the lecturer: Algoritmo fondamentale del processore: inizializzazione, instruction fetch and decoding, operand assembly, execute. The five-phase version is the classic RISC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each phase has dedicated hardware, the phases of successive instructions can overlap. In the table each row is an instruction and each column a clock cycle: while the first instruction executes, the second is decoded and the third fetched. Each instruction still requires five cycles, but one completes every cycle: this is the pipeline, the principle of the assembly line, which increases throughput without reducing latency. Superscalar processors place several pipelines side by side, as Lecture 24 shows. The main core of the kit has a four-stage pipeline.
UNDERSTAND NOW: the processor cycle.
For the lecturer: Source slide: «Esempio di pipeline lineare a 5 stadi; superscalarità». IF instruction fetch, ID decode, EX execute, MEM memory, WB write back. Branches and dependences between neighbouring instructions complicate the picture (hazards): the subject of an advanced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processor that did nothing but fetch, decode and execute would face three problems. Communication with devices would be inefficient, since the program would have to interrogate each device repeatedly. A program trapped by mistake in an endless loop, such as the j loop on the slide, could never be removed. And the operating system would have little control over the machine. All three share one solution: a mechanism for taking the processor away from the running program.
UNDERSTAND NOW: interrupts and traps.
For the lecturer: Source slide: «Ciclo del processore semplificato»: bootstrap, fetch, operand assembly,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interrupts are exceptional events, usually asynchronous with respect to the executing program, that require the attention of the processor. RISC-V distinguishes three terms. An interrupt originates outside the program and may arrive at any moment: a timer, a device. An exception is caused by the instruction being executed: an illegal opcode, a forbidden address. A trap is the transfer of control to a handler, whatever its cause. Other architectures use these words less strictly, so the RISC-V usage is worth adopting for its clarity.
UNDERSTAND NOW: interrupts and traps.
For the lecturer: Interrupt o interruzioni. Older processors and the original deck call 'traps' the synchronous events and use 'interrupt' for everything; the RISC-V specification uses the three words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cycle. After the bootstrap the processor fetches, decodes and executes; then, at the end of every instruction, it checks whether an interrupt is pending. If none is, it returns to fetch. If one is, it takes the trap: it enters the privileged state and begins executing a system routine, the handler. When the handler completes, the suspended program resumes as though nothing had occurred. The two paths on the diagram should be followed; the short loop is the common case.
UNDERSTAND NOW: interrupts and traps.
For the lecturer: Ciclo del processore reale. In RISC-V 'supervisor state' is machine mode, and the first instruction fetched after the trap is the one at the address in mtvec.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causes of interruption. A periodic interrupt from a timer, used to share the processor among programs. An I/O interrupt, by which a peripheral signals that it is ready. Program errors, such as an instruction that does not exist: these are the exceptions. System faults: power, temperature. Reset, which returns everything to a known state. And the software interrupt, by which a program requests a service from the operating system: in RISC-V, the instruction ecall.
UNDERSTAND NOW: interrupts and traps.
For the lecturer: The original deck lists arithmetic overflow among the program errors: in RISC-V integer overflow does not raise an exception (Lecture 05). ecall, environment call, is synchronous with the program that executes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procedure in six steps. Save the context, hardware part: at minimum the address at which to resume. Identify the cause. Jump to the entry point of the interrupt service routine. Save the context, software part: the registers the routine will use. Serve the interrupt. Finally, restore the context and resume the suspended program at the instruction following the last one executed. The context is everything the interrupted program requires to find unchanged, and its preservation is what makes the interruption invisible.
UNDERSTAND NOW: interrupts and traps.
For the lecturer: Gestione delle interruzioni. The state to save and restore: PC, status, and the registers. Saving can be done partly or wholly in hardware or in software; RISC-V does the minimum in hardware. With several devices the processor must identify who interrupted and, for simultaneous requests, apply a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registers. mtvec, written once by the firmware, holds the address of the trap handler. mstatus contains MIE, the global interrupt enable, and MPIE, its previous value. mie holds one enable bit per source, mip one pending bit per source. mepc receives, at each trap, the address of the interrupted instruction. mcause receives the cause. The middle column deserves attention: some registers are written by the firmware to configure the mechanism, others by the hardware when a trap occurs.
UNDERSTAND NOW: interrupts and traps.
For the lecturer: Machine-mode control and status registers (Lecture 18). An interrupt is taken only if its bit is set in both mip and mie and MIE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actions of the hardware at a trap, in order. It writes into mepc the address of the interrupted instruction. It writes the cause into mcause. It copies MIE into MPIE and clears MIE, disabling further interrupts. It enters machine mode. It loads the PC with the address in mtvec. Nothing is saved on a stack: the general registers are left to the handler, consistently with the absence of hidden state noted in Lecture 18. The instruction mret, at the end of the handler, reverses everything: MIE recovers MPIE and the PC recovers mepc.
UNDERSTAND NOW: interrupts and traps.
For the lecturer: Nothing is pushed on a stack by the hardware: saving the general registers is left to the handler. This is the 'hardware context save' of the general scheme, reduced to two registers and one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of mcause. The top bit indicates whether the trap was an interrupt or an exception; the remaining bits are a code. The three interrupts, highlighted, are software, timer and external, that is, a device. Among the exceptions are illegal instruction, breakpoint, access fault on a load or store, and ecall. The same number may appear in both families with different meanings, which is why the top bit is needed. The breakpoint row explains how a debugger such as that of PRG32-QT halts a program.
UNDERSTAND NOW: interrupts and traps.
For the lecturer: The standard codes of the privileged specification; chips add their own. The same code 3 means different things for interrupts and exceptions: the top bit of mcause distinguishes them. With mtvec in vectored mode, a timer interrupt enters at base + 4 x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takes place on the kit. A timer interrupts the processor a hundred times per second, and the firmware uses it to keep time and pace the frames. The display and the audio interrupt when they require more data. The radio interrupts when a packet arrives, which is why a cartridge can be uploaded while a game runs. The functions init, update and draw are ordinary functions executed between interrupts. And a cartridge caught in a loop does not stop the interrupts: PRG32-QT reports an error, and on the board a watchdog reports the stall.
UNDERSTAND NOW: interrupts and traps.
For the lecturer: The three problems of the simple cycle (inefficient I/O, runaway programs, limited control) and their solution, all visible on the kit. Checked against the firmware sources and configuration (not on a physical board): the cartridge runs natively inside the main task, in the same privilege mode as the firmware; FreeRTOS ticks at 100 Hz; the task watchdog (5 s, watching the idle task) only prints a warning on the serial port, because the panic option is off, so a stuck cartridge keeps the cartridge lock and the kit needs a reset. A cartridge that disabled interrupts would instead trip the interrupt watchdog (300 ms), which panics and restarts the chip. Run on PRG32-QT: an endless loop gives 'instruction budget exhausted', a write to mstatus gives 'unsupported CSR'. In PRG32-QT a breakpoint is the exception with code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one returns to the slide of the formats: one field occupies the same position in all four rows.
For the second: addresses count bytes, and the question is how many bytes a 32-bit instruction occupies.
For the lecturer: 1. Answer: B. Bits 6 to 0, in every format: the processor always knows where to look first.
2. Answer: C. Addresses count bytes and an instruction is four bytes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four registers are involved: one holds the address of the handler, one the cause, one the address at which to resume. ra belongs to procedure calls, not to traps.
For the second, the definition applies: an exception is caused by the instruction being executed, whereas an interrupt arrives from outside at an arbitrary moment. Three of the four events originate outside the program.
For the lecturer: 1. Answer: C. mepc, written by the hardware at the trap and used by mret. mtvec holds the address of the handler.
2. Answer: C. It is caused by the instruction being executed, synchronously; the others come from outside, at any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The operation code is the codice operativo; an addressing mode is a modo di indirizzamento. Fetch, decode and execute are prelievo, decodifica and esecuzione. The interrupt service routine is the routine that serves an interrupt. Interrupt latency is the delay between the request and the start of useful work. To mask an interrupt is to prevent its acceptance temporarily.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An instruction is an operation code with its operands; in RISC-V it is always 32 bits long, in six regular formats, unless compressed. A fixed length keeps the fetch simple: the PC advances by a constant, 4 for an uncompressed instruction. The processor executes a cycle: fetch, decode, execute, write the result. Exceptional events interrupt the cycle: the processor records where it was, serves the event and resumes. Interrupts can be enabled, masked and prioritised, and RISC-V achieves all of this with a handful of registers and mret. The next lecture leaves the processor for the buses and the video card.
Learning status, recap. UNDERSTAND NOW: instruction formats; addressing modes; the processor cycle; interrupts and traps. USE NOW: the complete program, the PRG32 tools (used, not studied, in this course). UNDERSTAND LATER: nothing. A slide without a badge is context: a story, an example, a question, an exercise.
For the lecturer: The original conclusions stated that 'the interrupt is a non-maskable signal': most interrupts can be masked; only a few cannot. Next lecture: buses and the video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19: Instructions and interrupts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Instructions and Interrupts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800" dirty="0">
                <a:solidFill>
                  <a:srgbClr val="CFE3EA"/>
                </a:solidFill>
                <a:latin typeface="Calibri" pitchFamily="34" charset="0"/>
                <a:ea typeface="Calibri" pitchFamily="34" charset="-122"/>
                <a:cs typeface="Calibri" pitchFamily="34" charset="-120"/>
              </a:rPr>
              <a:t>Instruction formats, the processor cycle, and how RISC-V handles exceptional events</a:t>
            </a:r>
            <a:endParaRPr lang="en-US" sz="18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“Why does the CPU never get any work done? Because it gets interrupted constantly.”</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Anonymous joke about computer architecture</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19-Computer_Architecture-Instructions_and_Interrupts-Lab.pptx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an instruction as an operation code and its operands, and name the kinds of operand</a:t>
            </a:r>
            <a:endParaRPr lang="en-US" sz="2200" dirty="0"/>
          </a:p>
        </p:txBody>
      </p:sp>
      <p:sp>
        <p:nvSpPr>
          <p:cNvPr id="5" name="Text 3"/>
          <p:cNvSpPr txBox="1"/>
          <p:nvPr/>
        </p:nvSpPr>
        <p:spPr>
          <a:xfrm>
            <a:off x="548640" y="239593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77643"/>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Decode a RISC-V instruction by hand, recognising its format and fields</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Follow an instruction through the processor cycle: fetch, decode, execute, memory, write back</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pipeline is and why it makes a processor faster</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Define interrupts, exceptions and traps, and list their causes</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what RISC-V does when a trap occurs and how the interrupted program resumes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an instruction is made of</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7421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Typical instructions of a processor</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data transfers between memory and registers</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arithmetic and logic operations</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instructions for the control of flow</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data transfers to and from input/output</a:t>
            </a:r>
            <a:endParaRPr lang="en-US" sz="2300" dirty="0"/>
          </a:p>
        </p:txBody>
      </p:sp>
      <p:sp>
        <p:nvSpPr>
          <p:cNvPr id="5" name="Shape 3"/>
          <p:cNvSpPr/>
          <p:nvPr/>
        </p:nvSpPr>
        <p:spPr>
          <a:xfrm>
            <a:off x="548640" y="345630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342132"/>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An instruction is composed of an operation code, the opcode, and zero or more operands</a:t>
            </a:r>
            <a:endParaRPr lang="en-US" sz="2300" dirty="0"/>
          </a:p>
        </p:txBody>
      </p:sp>
      <p:sp>
        <p:nvSpPr>
          <p:cNvPr id="7" name="Shape 5"/>
          <p:cNvSpPr/>
          <p:nvPr/>
        </p:nvSpPr>
        <p:spPr>
          <a:xfrm>
            <a:off x="548640" y="43516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237482"/>
            <a:ext cx="10710367" cy="139573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Kinds of operand</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a constant: an immediate, explicit or implicit</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a memory location</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a register, explicit or implicit (the accumulator)</a:t>
            </a:r>
            <a:endParaRPr lang="en-US" sz="2300" dirty="0"/>
          </a:p>
        </p:txBody>
      </p:sp>
      <p:sp>
        <p:nvSpPr>
          <p:cNvPr id="9" name="Shape 7"/>
          <p:cNvSpPr/>
          <p:nvPr/>
        </p:nvSpPr>
        <p:spPr>
          <a:xfrm>
            <a:off x="548640" y="59300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815838"/>
            <a:ext cx="10710367"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Instructions can have zero, one, two or three operands</a:t>
            </a:r>
            <a:endParaRPr lang="en-US" sz="2300" dirty="0"/>
          </a:p>
        </p:txBody>
      </p:sp>
      <p:sp>
        <p:nvSpPr>
          <p:cNvPr id="11" name="Shape 9"/>
          <p:cNvSpPr/>
          <p:nvPr/>
        </p:nvSpPr>
        <p:spPr>
          <a:xfrm>
            <a:off x="8419033" y="91440"/>
            <a:ext cx="3224022" cy="274320"/>
          </a:xfrm>
          <a:prstGeom prst="rect">
            <a:avLst/>
          </a:prstGeom>
          <a:solidFill>
            <a:srgbClr val="E0F2FE"/>
          </a:solidFill>
          <a:ln w="12700">
            <a:solidFill>
              <a:srgbClr val="0369A1"/>
            </a:solidFill>
            <a:prstDash val="solid"/>
          </a:ln>
        </p:spPr>
      </p:sp>
      <p:sp>
        <p:nvSpPr>
          <p:cNvPr id="12" name="Shape 10"/>
          <p:cNvSpPr/>
          <p:nvPr/>
        </p:nvSpPr>
        <p:spPr>
          <a:xfrm>
            <a:off x="8419033"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4" name="Text 11"/>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instruction formats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formats of RISC-V instructions</a:t>
            </a:r>
            <a:endParaRPr lang="en-US" sz="3200" dirty="0"/>
          </a:p>
        </p:txBody>
      </p:sp>
      <p:sp>
        <p:nvSpPr>
          <p:cNvPr id="3" name="Text 1"/>
          <p:cNvSpPr txBox="1"/>
          <p:nvPr/>
        </p:nvSpPr>
        <p:spPr>
          <a:xfrm>
            <a:off x="548640" y="1353312"/>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R: register to register (add, sub, and, sll, ...)</a:t>
            </a:r>
            <a:endParaRPr lang="en-US" sz="1400" dirty="0"/>
          </a:p>
        </p:txBody>
      </p:sp>
      <p:sp>
        <p:nvSpPr>
          <p:cNvPr id="4" name="Text 2"/>
          <p:cNvSpPr txBox="1"/>
          <p:nvPr/>
        </p:nvSpPr>
        <p:spPr>
          <a:xfrm>
            <a:off x="548640" y="1920240"/>
            <a:ext cx="2414460"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funct7</a:t>
            </a:r>
            <a:endParaRPr lang="en-US" sz="1400" dirty="0"/>
          </a:p>
        </p:txBody>
      </p:sp>
      <p:sp>
        <p:nvSpPr>
          <p:cNvPr id="5" name="Text 3"/>
          <p:cNvSpPr txBox="1"/>
          <p:nvPr/>
        </p:nvSpPr>
        <p:spPr>
          <a:xfrm>
            <a:off x="585216" y="1682496"/>
            <a:ext cx="1207230"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1755870" y="1682496"/>
            <a:ext cx="1170654"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7" name="Text 5"/>
          <p:cNvSpPr txBox="1"/>
          <p:nvPr/>
        </p:nvSpPr>
        <p:spPr>
          <a:xfrm>
            <a:off x="2963100" y="1920240"/>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rs2</a:t>
            </a:r>
            <a:endParaRPr lang="en-US" sz="1400" dirty="0"/>
          </a:p>
        </p:txBody>
      </p:sp>
      <p:sp>
        <p:nvSpPr>
          <p:cNvPr id="8" name="Text 6"/>
          <p:cNvSpPr txBox="1"/>
          <p:nvPr/>
        </p:nvSpPr>
        <p:spPr>
          <a:xfrm>
            <a:off x="2999676"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9" name="Text 7"/>
          <p:cNvSpPr txBox="1"/>
          <p:nvPr/>
        </p:nvSpPr>
        <p:spPr>
          <a:xfrm>
            <a:off x="3825407"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0" name="Text 8"/>
          <p:cNvSpPr txBox="1"/>
          <p:nvPr/>
        </p:nvSpPr>
        <p:spPr>
          <a:xfrm>
            <a:off x="4687714" y="1920240"/>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11" name="Text 9"/>
          <p:cNvSpPr txBox="1"/>
          <p:nvPr/>
        </p:nvSpPr>
        <p:spPr>
          <a:xfrm>
            <a:off x="4724290"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2" name="Text 10"/>
          <p:cNvSpPr txBox="1"/>
          <p:nvPr/>
        </p:nvSpPr>
        <p:spPr>
          <a:xfrm>
            <a:off x="5550021"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3" name="Text 11"/>
          <p:cNvSpPr txBox="1"/>
          <p:nvPr/>
        </p:nvSpPr>
        <p:spPr>
          <a:xfrm>
            <a:off x="6412328" y="1920240"/>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14" name="Text 12"/>
          <p:cNvSpPr txBox="1"/>
          <p:nvPr/>
        </p:nvSpPr>
        <p:spPr>
          <a:xfrm>
            <a:off x="6448904" y="1682496"/>
            <a:ext cx="54582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5" name="Text 13"/>
          <p:cNvSpPr txBox="1"/>
          <p:nvPr/>
        </p:nvSpPr>
        <p:spPr>
          <a:xfrm>
            <a:off x="6958155" y="1682496"/>
            <a:ext cx="50925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6" name="Text 14"/>
          <p:cNvSpPr txBox="1"/>
          <p:nvPr/>
        </p:nvSpPr>
        <p:spPr>
          <a:xfrm>
            <a:off x="7503982" y="1920240"/>
            <a:ext cx="1724614"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17" name="Text 15"/>
          <p:cNvSpPr txBox="1"/>
          <p:nvPr/>
        </p:nvSpPr>
        <p:spPr>
          <a:xfrm>
            <a:off x="7540558"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8" name="Text 16"/>
          <p:cNvSpPr txBox="1"/>
          <p:nvPr/>
        </p:nvSpPr>
        <p:spPr>
          <a:xfrm>
            <a:off x="8366289"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9" name="Text 17"/>
          <p:cNvSpPr txBox="1"/>
          <p:nvPr/>
        </p:nvSpPr>
        <p:spPr>
          <a:xfrm>
            <a:off x="9228596" y="1920240"/>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20" name="Text 18"/>
          <p:cNvSpPr txBox="1"/>
          <p:nvPr/>
        </p:nvSpPr>
        <p:spPr>
          <a:xfrm>
            <a:off x="9265172" y="1682496"/>
            <a:ext cx="1207230"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1" name="Text 19"/>
          <p:cNvSpPr txBox="1"/>
          <p:nvPr/>
        </p:nvSpPr>
        <p:spPr>
          <a:xfrm>
            <a:off x="10435825" y="1682496"/>
            <a:ext cx="1170654"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2" name="Text 20"/>
          <p:cNvSpPr txBox="1"/>
          <p:nvPr/>
        </p:nvSpPr>
        <p:spPr>
          <a:xfrm>
            <a:off x="548640" y="2569464"/>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 immediates and loads (addi, andi, lw, jalr, ...)</a:t>
            </a:r>
            <a:endParaRPr lang="en-US" sz="1400" dirty="0"/>
          </a:p>
        </p:txBody>
      </p:sp>
      <p:sp>
        <p:nvSpPr>
          <p:cNvPr id="23" name="Text 21"/>
          <p:cNvSpPr txBox="1"/>
          <p:nvPr/>
        </p:nvSpPr>
        <p:spPr>
          <a:xfrm>
            <a:off x="548640" y="2907792"/>
            <a:ext cx="4139074"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immediate [11:0]</a:t>
            </a:r>
            <a:endParaRPr lang="en-US" sz="1400" dirty="0"/>
          </a:p>
        </p:txBody>
      </p:sp>
      <p:sp>
        <p:nvSpPr>
          <p:cNvPr id="24" name="Text 22"/>
          <p:cNvSpPr txBox="1"/>
          <p:nvPr/>
        </p:nvSpPr>
        <p:spPr>
          <a:xfrm>
            <a:off x="4687714" y="2907792"/>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25" name="Text 23"/>
          <p:cNvSpPr txBox="1"/>
          <p:nvPr/>
        </p:nvSpPr>
        <p:spPr>
          <a:xfrm>
            <a:off x="6412328" y="2907792"/>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26" name="Text 24"/>
          <p:cNvSpPr txBox="1"/>
          <p:nvPr/>
        </p:nvSpPr>
        <p:spPr>
          <a:xfrm>
            <a:off x="7503982" y="2907792"/>
            <a:ext cx="1724614"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27" name="Text 25"/>
          <p:cNvSpPr txBox="1"/>
          <p:nvPr/>
        </p:nvSpPr>
        <p:spPr>
          <a:xfrm>
            <a:off x="9228596" y="2907792"/>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28" name="Text 26"/>
          <p:cNvSpPr txBox="1"/>
          <p:nvPr/>
        </p:nvSpPr>
        <p:spPr>
          <a:xfrm>
            <a:off x="548640" y="3602736"/>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 stores (sw, sh, sb); B: branches, with the same shape</a:t>
            </a:r>
            <a:endParaRPr lang="en-US" sz="1400" dirty="0"/>
          </a:p>
        </p:txBody>
      </p:sp>
      <p:sp>
        <p:nvSpPr>
          <p:cNvPr id="29" name="Text 27"/>
          <p:cNvSpPr txBox="1"/>
          <p:nvPr/>
        </p:nvSpPr>
        <p:spPr>
          <a:xfrm>
            <a:off x="548640" y="3941064"/>
            <a:ext cx="2414460"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 [11:5]</a:t>
            </a:r>
            <a:endParaRPr lang="en-US" sz="1400" dirty="0"/>
          </a:p>
        </p:txBody>
      </p:sp>
      <p:sp>
        <p:nvSpPr>
          <p:cNvPr id="30" name="Text 28"/>
          <p:cNvSpPr txBox="1"/>
          <p:nvPr/>
        </p:nvSpPr>
        <p:spPr>
          <a:xfrm>
            <a:off x="2963100" y="3941064"/>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rs2</a:t>
            </a:r>
            <a:endParaRPr lang="en-US" sz="1400" dirty="0"/>
          </a:p>
        </p:txBody>
      </p:sp>
      <p:sp>
        <p:nvSpPr>
          <p:cNvPr id="31" name="Text 29"/>
          <p:cNvSpPr txBox="1"/>
          <p:nvPr/>
        </p:nvSpPr>
        <p:spPr>
          <a:xfrm>
            <a:off x="4687714" y="3941064"/>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32" name="Text 30"/>
          <p:cNvSpPr txBox="1"/>
          <p:nvPr/>
        </p:nvSpPr>
        <p:spPr>
          <a:xfrm>
            <a:off x="6412328" y="3941064"/>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33" name="Text 31"/>
          <p:cNvSpPr txBox="1"/>
          <p:nvPr/>
        </p:nvSpPr>
        <p:spPr>
          <a:xfrm>
            <a:off x="7503982" y="3941064"/>
            <a:ext cx="1724614"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 [4:0]</a:t>
            </a:r>
            <a:endParaRPr lang="en-US" sz="1400" dirty="0"/>
          </a:p>
        </p:txBody>
      </p:sp>
      <p:sp>
        <p:nvSpPr>
          <p:cNvPr id="34" name="Text 32"/>
          <p:cNvSpPr txBox="1"/>
          <p:nvPr/>
        </p:nvSpPr>
        <p:spPr>
          <a:xfrm>
            <a:off x="9228596" y="3941064"/>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35" name="Text 33"/>
          <p:cNvSpPr txBox="1"/>
          <p:nvPr/>
        </p:nvSpPr>
        <p:spPr>
          <a:xfrm>
            <a:off x="548640" y="4636008"/>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U: upper immediates (lui, auipc); J: jumps (jal), with the same shape</a:t>
            </a:r>
            <a:endParaRPr lang="en-US" sz="1400" dirty="0"/>
          </a:p>
        </p:txBody>
      </p:sp>
      <p:sp>
        <p:nvSpPr>
          <p:cNvPr id="36" name="Text 34"/>
          <p:cNvSpPr txBox="1"/>
          <p:nvPr/>
        </p:nvSpPr>
        <p:spPr>
          <a:xfrm>
            <a:off x="548640" y="4974336"/>
            <a:ext cx="6934010"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immediate [31:12]</a:t>
            </a:r>
            <a:endParaRPr lang="en-US" sz="1400" dirty="0"/>
          </a:p>
        </p:txBody>
      </p:sp>
      <p:sp>
        <p:nvSpPr>
          <p:cNvPr id="37" name="Text 35"/>
          <p:cNvSpPr txBox="1"/>
          <p:nvPr/>
        </p:nvSpPr>
        <p:spPr>
          <a:xfrm>
            <a:off x="7482650" y="4974336"/>
            <a:ext cx="1733502"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38" name="Text 36"/>
          <p:cNvSpPr txBox="1"/>
          <p:nvPr/>
        </p:nvSpPr>
        <p:spPr>
          <a:xfrm>
            <a:off x="9216152" y="4974336"/>
            <a:ext cx="2426903"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39" name="Text 37"/>
          <p:cNvSpPr txBox="1"/>
          <p:nvPr/>
        </p:nvSpPr>
        <p:spPr>
          <a:xfrm>
            <a:off x="548640" y="5577840"/>
            <a:ext cx="11094415" cy="59436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Six formats, all of 32 bits. The opcode is always in the same seven bits, and the register numbers rd, rs1 and rs2 are always in the same places: the processor can read them before it even knows which instruction it is.</a:t>
            </a:r>
            <a:endParaRPr lang="en-US" sz="1400" dirty="0"/>
          </a:p>
        </p:txBody>
      </p:sp>
      <p:sp>
        <p:nvSpPr>
          <p:cNvPr id="40" name="Shape 38"/>
          <p:cNvSpPr/>
          <p:nvPr/>
        </p:nvSpPr>
        <p:spPr>
          <a:xfrm>
            <a:off x="8419033" y="91440"/>
            <a:ext cx="3224022" cy="274320"/>
          </a:xfrm>
          <a:prstGeom prst="rect">
            <a:avLst/>
          </a:prstGeom>
          <a:solidFill>
            <a:srgbClr val="E0F2FE"/>
          </a:solidFill>
          <a:ln w="12700">
            <a:solidFill>
              <a:srgbClr val="0369A1"/>
            </a:solidFill>
            <a:prstDash val="solid"/>
          </a:ln>
        </p:spPr>
      </p:sp>
      <p:sp>
        <p:nvSpPr>
          <p:cNvPr id="41" name="Shape 39"/>
          <p:cNvSpPr/>
          <p:nvPr/>
        </p:nvSpPr>
        <p:spPr>
          <a:xfrm>
            <a:off x="8419033" y="91440"/>
            <a:ext cx="73152" cy="274320"/>
          </a:xfrm>
          <a:prstGeom prst="rect">
            <a:avLst/>
          </a:prstGeom>
          <a:solidFill>
            <a:srgbClr val="0369A1"/>
          </a:solidFill>
          <a:ln w="12700">
            <a:solidFill>
              <a:srgbClr val="0369A1"/>
            </a:solidFill>
            <a:prstDash val="solid"/>
          </a:ln>
        </p:spPr>
      </p:sp>
      <p:pic>
        <p:nvPicPr>
          <p:cNvPr id="42"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43" name="Text 40"/>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instruction formats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Addressing modes: where an operand is found</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4910643"/>
                <a:gridCol w="363751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The operand is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RISC-V example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constant inside the 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t1,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content of a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t2,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base plus displacement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memory word at register + constant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t1, 8(sp)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PC-relative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 address at a distance from the instruction itself</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 t0, t1, loop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memory indirect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memory word whose address is in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not available: two loads</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616010" y="91440"/>
            <a:ext cx="3027045" cy="274320"/>
          </a:xfrm>
          <a:prstGeom prst="rect">
            <a:avLst/>
          </a:prstGeom>
          <a:solidFill>
            <a:srgbClr val="E0F2FE"/>
          </a:solidFill>
          <a:ln w="12700">
            <a:solidFill>
              <a:srgbClr val="0369A1"/>
            </a:solidFill>
            <a:prstDash val="solid"/>
          </a:ln>
        </p:spPr>
      </p:sp>
      <p:sp>
        <p:nvSpPr>
          <p:cNvPr id="5" name="Shape 2"/>
          <p:cNvSpPr/>
          <p:nvPr/>
        </p:nvSpPr>
        <p:spPr>
          <a:xfrm>
            <a:off x="861601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7" name="Text 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addressing modes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phases of the cycle</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Fetch</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instruction at the address in the PC is read from memory; the PC advances</a:t>
            </a:r>
            <a:endParaRPr lang="en-US" sz="14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Decode</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opcode is recognised; the registers named by the instruction are read</a:t>
            </a:r>
            <a:endParaRPr lang="en-US" sz="14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Execute</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ALU computes: a result, an address or a comparison</a:t>
            </a:r>
            <a:endParaRPr lang="en-US" sz="14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Memory</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loads read the memory, stores write it; the others skip this phase</a:t>
            </a:r>
            <a:endParaRPr lang="en-US" sz="14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Write back</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result is written into the destination register</a:t>
            </a:r>
            <a:endParaRPr lang="en-US" sz="14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After a start-up phase, the bootstrap, the processor repeats this cycle for ever. In processors with rich addressing modes, a phase of operand assembly collects the operands before the execution.</a:t>
            </a:r>
            <a:endParaRPr lang="en-US" sz="2000" dirty="0"/>
          </a:p>
        </p:txBody>
      </p:sp>
      <p:sp>
        <p:nvSpPr>
          <p:cNvPr id="24" name="Shape 22"/>
          <p:cNvSpPr/>
          <p:nvPr/>
        </p:nvSpPr>
        <p:spPr>
          <a:xfrm>
            <a:off x="8419033" y="91440"/>
            <a:ext cx="3224022" cy="274320"/>
          </a:xfrm>
          <a:prstGeom prst="rect">
            <a:avLst/>
          </a:prstGeom>
          <a:solidFill>
            <a:srgbClr val="E0F2FE"/>
          </a:solidFill>
          <a:ln w="12700">
            <a:solidFill>
              <a:srgbClr val="0369A1"/>
            </a:solidFill>
            <a:prstDash val="solid"/>
          </a:ln>
        </p:spPr>
      </p:sp>
      <p:sp>
        <p:nvSpPr>
          <p:cNvPr id="25" name="Shape 23"/>
          <p:cNvSpPr/>
          <p:nvPr/>
        </p:nvSpPr>
        <p:spPr>
          <a:xfrm>
            <a:off x="8419033"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27" name="Text 24"/>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processor cycle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pipeline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1123912"/>
                <a:gridCol w="1123912"/>
                <a:gridCol w="1123912"/>
                <a:gridCol w="1123912"/>
                <a:gridCol w="1123912"/>
                <a:gridCol w="1123912"/>
                <a:gridCol w="1123912"/>
                <a:gridCol w="1123912"/>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clock cycle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instruction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instruction 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instruction 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instruction 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r>
            </a:tbl>
          </a:graphicData>
        </a:graphic>
      </p:graphicFrame>
      <p:sp>
        <p:nvSpPr>
          <p:cNvPr id="4" name="Shape 1"/>
          <p:cNvSpPr/>
          <p:nvPr/>
        </p:nvSpPr>
        <p:spPr>
          <a:xfrm>
            <a:off x="548640" y="3657092"/>
            <a:ext cx="146304" cy="146304"/>
          </a:xfrm>
          <a:prstGeom prst="rect">
            <a:avLst/>
          </a:prstGeom>
          <a:solidFill>
            <a:srgbClr val="0E7C86"/>
          </a:solidFill>
          <a:ln w="12700">
            <a:solidFill>
              <a:srgbClr val="0E7C86"/>
            </a:solidFill>
            <a:prstDash val="solid"/>
          </a:ln>
        </p:spPr>
      </p:sp>
      <p:sp>
        <p:nvSpPr>
          <p:cNvPr id="5" name="Text 2"/>
          <p:cNvSpPr txBox="1"/>
          <p:nvPr/>
        </p:nvSpPr>
        <p:spPr>
          <a:xfrm>
            <a:off x="932688" y="356616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Five phases, five pieces of hardware: while one instruction executes, the next is decoded and a third is fetched</a:t>
            </a:r>
            <a:endParaRPr lang="en-US" sz="2000" dirty="0"/>
          </a:p>
        </p:txBody>
      </p:sp>
      <p:sp>
        <p:nvSpPr>
          <p:cNvPr id="6" name="Shape 3"/>
          <p:cNvSpPr/>
          <p:nvPr/>
        </p:nvSpPr>
        <p:spPr>
          <a:xfrm>
            <a:off x="548640" y="4422479"/>
            <a:ext cx="146304" cy="146304"/>
          </a:xfrm>
          <a:prstGeom prst="rect">
            <a:avLst/>
          </a:prstGeom>
          <a:solidFill>
            <a:srgbClr val="C7791B"/>
          </a:solidFill>
          <a:ln w="12700">
            <a:solidFill>
              <a:srgbClr val="C7791B"/>
            </a:solidFill>
            <a:prstDash val="solid"/>
          </a:ln>
        </p:spPr>
      </p:sp>
      <p:sp>
        <p:nvSpPr>
          <p:cNvPr id="7" name="Text 4"/>
          <p:cNvSpPr txBox="1"/>
          <p:nvPr/>
        </p:nvSpPr>
        <p:spPr>
          <a:xfrm>
            <a:off x="932688" y="4331547"/>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Each instruction still takes five cycles, but one completes at every clock cycle: five times the throughput</a:t>
            </a:r>
            <a:endParaRPr lang="en-US" sz="2000" dirty="0"/>
          </a:p>
        </p:txBody>
      </p:sp>
      <p:sp>
        <p:nvSpPr>
          <p:cNvPr id="8" name="Shape 5"/>
          <p:cNvSpPr/>
          <p:nvPr/>
        </p:nvSpPr>
        <p:spPr>
          <a:xfrm>
            <a:off x="548640" y="5187865"/>
            <a:ext cx="146304" cy="146304"/>
          </a:xfrm>
          <a:prstGeom prst="rect">
            <a:avLst/>
          </a:prstGeom>
          <a:solidFill>
            <a:srgbClr val="0E7C86"/>
          </a:solidFill>
          <a:ln w="12700">
            <a:solidFill>
              <a:srgbClr val="0E7C86"/>
            </a:solidFill>
            <a:prstDash val="solid"/>
          </a:ln>
        </p:spPr>
      </p:sp>
      <p:sp>
        <p:nvSpPr>
          <p:cNvPr id="9" name="Text 6"/>
          <p:cNvSpPr txBox="1"/>
          <p:nvPr/>
        </p:nvSpPr>
        <p:spPr>
          <a:xfrm>
            <a:off x="932688" y="509693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Superscalar processors put two or more pipelines side by side: more than one instruction per cycle</a:t>
            </a:r>
            <a:endParaRPr lang="en-US" sz="2000" dirty="0"/>
          </a:p>
        </p:txBody>
      </p:sp>
      <p:sp>
        <p:nvSpPr>
          <p:cNvPr id="10" name="Shape 7"/>
          <p:cNvSpPr/>
          <p:nvPr/>
        </p:nvSpPr>
        <p:spPr>
          <a:xfrm>
            <a:off x="548640" y="5953252"/>
            <a:ext cx="146304" cy="146304"/>
          </a:xfrm>
          <a:prstGeom prst="rect">
            <a:avLst/>
          </a:prstGeom>
          <a:solidFill>
            <a:srgbClr val="C7791B"/>
          </a:solidFill>
          <a:ln w="12700">
            <a:solidFill>
              <a:srgbClr val="C7791B"/>
            </a:solidFill>
            <a:prstDash val="solid"/>
          </a:ln>
        </p:spPr>
      </p:sp>
      <p:sp>
        <p:nvSpPr>
          <p:cNvPr id="11" name="Text 8"/>
          <p:cNvSpPr txBox="1"/>
          <p:nvPr/>
        </p:nvSpPr>
        <p:spPr>
          <a:xfrm>
            <a:off x="932688" y="5862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main core of the ESP32-C6 has a four-stage pipeline</a:t>
            </a:r>
            <a:endParaRPr lang="en-US" sz="2000" dirty="0"/>
          </a:p>
        </p:txBody>
      </p:sp>
      <p:sp>
        <p:nvSpPr>
          <p:cNvPr id="12" name="Shape 9"/>
          <p:cNvSpPr/>
          <p:nvPr/>
        </p:nvSpPr>
        <p:spPr>
          <a:xfrm>
            <a:off x="8419033" y="91440"/>
            <a:ext cx="3224022" cy="274320"/>
          </a:xfrm>
          <a:prstGeom prst="rect">
            <a:avLst/>
          </a:prstGeom>
          <a:solidFill>
            <a:srgbClr val="E0F2FE"/>
          </a:solidFill>
          <a:ln w="12700">
            <a:solidFill>
              <a:srgbClr val="0369A1"/>
            </a:solidFill>
            <a:prstDash val="solid"/>
          </a:ln>
        </p:spPr>
      </p:sp>
      <p:sp>
        <p:nvSpPr>
          <p:cNvPr id="13" name="Shape 10"/>
          <p:cNvSpPr/>
          <p:nvPr/>
        </p:nvSpPr>
        <p:spPr>
          <a:xfrm>
            <a:off x="8419033"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5" name="Text 11"/>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processor cycle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problem with the simple cycle</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If the processor only ever did fetch, decode, execute, some problems would arise</a:t>
            </a:r>
            <a:endParaRPr lang="en-US" sz="2400" dirty="0"/>
          </a:p>
        </p:txBody>
      </p:sp>
      <p:sp>
        <p:nvSpPr>
          <p:cNvPr id="5" name="Shape 3"/>
          <p:cNvSpPr/>
          <p:nvPr/>
        </p:nvSpPr>
        <p:spPr>
          <a:xfrm>
            <a:off x="548640" y="26283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0647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Interaction with the outside world through the I/O units would be inefficient: the program would have to keep asking</a:t>
            </a:r>
            <a:endParaRPr lang="en-US" sz="2400" dirty="0"/>
          </a:p>
        </p:txBody>
      </p:sp>
      <p:sp>
        <p:nvSpPr>
          <p:cNvPr id="7" name="Shape 5"/>
          <p:cNvSpPr/>
          <p:nvPr/>
        </p:nvSpPr>
        <p:spPr>
          <a:xfrm>
            <a:off x="548640" y="408940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67480"/>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There would be no way to forcibly remove an application that enters an infinite loop by mistake</a:t>
            </a:r>
            <a:endParaRPr lang="en-US" sz="2400" dirty="0"/>
          </a:p>
        </p:txBody>
      </p:sp>
      <p:sp>
        <p:nvSpPr>
          <p:cNvPr id="9" name="Shape 7"/>
          <p:cNvSpPr/>
          <p:nvPr/>
        </p:nvSpPr>
        <p:spPr>
          <a:xfrm>
            <a:off x="548640" y="555040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28488"/>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operating system would have limited control over the system</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j loop</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a program stuck in an endless loop: who takes the processor away from it?</a:t>
            </a:r>
            <a:endParaRPr lang="en-US" sz="1900" dirty="0"/>
          </a:p>
        </p:txBody>
      </p:sp>
      <p:sp>
        <p:nvSpPr>
          <p:cNvPr id="14"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5"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7"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Interrupts</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200" i="1" dirty="0">
                <a:solidFill>
                  <a:srgbClr val="1B2530"/>
                </a:solidFill>
                <a:latin typeface="Cambria" pitchFamily="34" charset="0"/>
                <a:ea typeface="Cambria" pitchFamily="34" charset="-122"/>
                <a:cs typeface="Cambria" pitchFamily="34" charset="-120"/>
              </a:rPr>
              <a:t>Exceptional events, usually asynchronous with respect to the execution of the program in progress, that require the attention of the processor.</a:t>
            </a:r>
            <a:endParaRPr lang="en-US" sz="2200" dirty="0"/>
          </a:p>
        </p:txBody>
      </p:sp>
      <p:sp>
        <p:nvSpPr>
          <p:cNvPr id="6" name="Shape 4"/>
          <p:cNvSpPr/>
          <p:nvPr/>
        </p:nvSpPr>
        <p:spPr>
          <a:xfrm>
            <a:off x="548640" y="345541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RISC-V vocabulary: an interrupt comes from outside the program, at any moment: a timer, a device</a:t>
            </a:r>
            <a:endParaRPr lang="en-US" sz="2400" dirty="0"/>
          </a:p>
        </p:txBody>
      </p:sp>
      <p:sp>
        <p:nvSpPr>
          <p:cNvPr id="8" name="Shape 6"/>
          <p:cNvSpPr/>
          <p:nvPr/>
        </p:nvSpPr>
        <p:spPr>
          <a:xfrm>
            <a:off x="548640" y="450291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380992"/>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An exception is caused by the instruction being executed: an illegal opcode, a forbidden address</a:t>
            </a:r>
            <a:endParaRPr lang="en-US" sz="2400" dirty="0"/>
          </a:p>
        </p:txBody>
      </p:sp>
      <p:sp>
        <p:nvSpPr>
          <p:cNvPr id="10" name="Shape 8"/>
          <p:cNvSpPr/>
          <p:nvPr/>
        </p:nvSpPr>
        <p:spPr>
          <a:xfrm>
            <a:off x="548640" y="555040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trap is the transfer of control to a handler that follows either of them</a:t>
            </a:r>
            <a:endParaRPr lang="en-US" sz="2400" dirty="0"/>
          </a:p>
        </p:txBody>
      </p:sp>
      <p:sp>
        <p:nvSpPr>
          <p:cNvPr id="12" name="Shape 10"/>
          <p:cNvSpPr/>
          <p:nvPr/>
        </p:nvSpPr>
        <p:spPr>
          <a:xfrm>
            <a:off x="8353374" y="91440"/>
            <a:ext cx="3289681" cy="274320"/>
          </a:xfrm>
          <a:prstGeom prst="rect">
            <a:avLst/>
          </a:prstGeom>
          <a:solidFill>
            <a:srgbClr val="E0F2FE"/>
          </a:solidFill>
          <a:ln w="12700">
            <a:solidFill>
              <a:srgbClr val="0369A1"/>
            </a:solidFill>
            <a:prstDash val="solid"/>
          </a:ln>
        </p:spPr>
      </p:sp>
      <p:sp>
        <p:nvSpPr>
          <p:cNvPr id="13" name="Shape 11"/>
          <p:cNvSpPr/>
          <p:nvPr/>
        </p:nvSpPr>
        <p:spPr>
          <a:xfrm>
            <a:off x="8353374"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5" name="Text 12"/>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real processor cycle</a:t>
            </a:r>
            <a:endParaRPr lang="en-US" sz="3200" dirty="0"/>
          </a:p>
        </p:txBody>
      </p:sp>
      <p:sp>
        <p:nvSpPr>
          <p:cNvPr id="3" name="Text 1"/>
          <p:cNvSpPr txBox="1"/>
          <p:nvPr/>
        </p:nvSpPr>
        <p:spPr>
          <a:xfrm>
            <a:off x="731520" y="1874520"/>
            <a:ext cx="1828800" cy="731520"/>
          </a:xfrm>
          <a:prstGeom prst="roundRect">
            <a:avLst>
              <a:gd name="adj" fmla="val 7500"/>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bootstrap</a:t>
            </a:r>
            <a:endParaRPr lang="en-US" sz="1500" dirty="0"/>
          </a:p>
        </p:txBody>
      </p:sp>
      <p:sp>
        <p:nvSpPr>
          <p:cNvPr id="4" name="Text 2"/>
          <p:cNvSpPr txBox="1"/>
          <p:nvPr/>
        </p:nvSpPr>
        <p:spPr>
          <a:xfrm>
            <a:off x="3108960" y="1874520"/>
            <a:ext cx="182880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fetch</a:t>
            </a:r>
            <a:endParaRPr lang="en-US" sz="1500" dirty="0"/>
          </a:p>
        </p:txBody>
      </p:sp>
      <p:sp>
        <p:nvSpPr>
          <p:cNvPr id="5" name="Text 3"/>
          <p:cNvSpPr txBox="1"/>
          <p:nvPr/>
        </p:nvSpPr>
        <p:spPr>
          <a:xfrm>
            <a:off x="5486400" y="1874520"/>
            <a:ext cx="1828800" cy="731520"/>
          </a:xfrm>
          <a:prstGeom prst="roundRect">
            <a:avLst>
              <a:gd name="adj" fmla="val 75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decode and</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execute</a:t>
            </a:r>
            <a:endParaRPr lang="en-US" sz="1500" dirty="0"/>
          </a:p>
        </p:txBody>
      </p:sp>
      <p:sp>
        <p:nvSpPr>
          <p:cNvPr id="6" name="Shape 4"/>
          <p:cNvSpPr/>
          <p:nvPr/>
        </p:nvSpPr>
        <p:spPr>
          <a:xfrm>
            <a:off x="2587752" y="2240280"/>
            <a:ext cx="493776" cy="0"/>
          </a:xfrm>
          <a:prstGeom prst="line">
            <a:avLst/>
          </a:prstGeom>
          <a:noFill/>
          <a:ln w="31750">
            <a:solidFill>
              <a:srgbClr val="5B6B78"/>
            </a:solidFill>
            <a:prstDash val="solid"/>
            <a:tailEnd type="triangle"/>
          </a:ln>
        </p:spPr>
      </p:sp>
      <p:sp>
        <p:nvSpPr>
          <p:cNvPr id="7" name="Shape 5"/>
          <p:cNvSpPr/>
          <p:nvPr/>
        </p:nvSpPr>
        <p:spPr>
          <a:xfrm>
            <a:off x="4965192" y="2240280"/>
            <a:ext cx="493776" cy="0"/>
          </a:xfrm>
          <a:prstGeom prst="line">
            <a:avLst/>
          </a:prstGeom>
          <a:noFill/>
          <a:ln w="31750">
            <a:solidFill>
              <a:srgbClr val="5B6B78"/>
            </a:solidFill>
            <a:prstDash val="solid"/>
            <a:tailEnd type="triangle"/>
          </a:ln>
        </p:spPr>
      </p:sp>
      <p:sp>
        <p:nvSpPr>
          <p:cNvPr id="8" name="Text 6"/>
          <p:cNvSpPr txBox="1"/>
          <p:nvPr/>
        </p:nvSpPr>
        <p:spPr>
          <a:xfrm>
            <a:off x="5486400" y="3520440"/>
            <a:ext cx="1828800" cy="822960"/>
          </a:xfrm>
          <a:prstGeom prst="roundRect">
            <a:avLst>
              <a:gd name="adj" fmla="val 6667"/>
            </a:avLst>
          </a:prstGeom>
          <a:solidFill>
            <a:srgbClr val="B23A48"/>
          </a:solidFill>
          <a:ln>
            <a:solidFill>
              <a:srgbClr val="B23A48"/>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interrupt</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pending?</a:t>
            </a:r>
            <a:endParaRPr lang="en-US" sz="1500" dirty="0"/>
          </a:p>
        </p:txBody>
      </p:sp>
      <p:sp>
        <p:nvSpPr>
          <p:cNvPr id="9" name="Shape 7"/>
          <p:cNvSpPr/>
          <p:nvPr/>
        </p:nvSpPr>
        <p:spPr>
          <a:xfrm>
            <a:off x="6400800" y="2633472"/>
            <a:ext cx="0" cy="859536"/>
          </a:xfrm>
          <a:prstGeom prst="line">
            <a:avLst/>
          </a:prstGeom>
          <a:noFill/>
          <a:ln w="31750">
            <a:solidFill>
              <a:srgbClr val="5B6B78"/>
            </a:solidFill>
            <a:prstDash val="solid"/>
            <a:tailEnd type="triangle"/>
          </a:ln>
        </p:spPr>
      </p:sp>
      <p:sp>
        <p:nvSpPr>
          <p:cNvPr id="10" name="Shape 8"/>
          <p:cNvSpPr/>
          <p:nvPr/>
        </p:nvSpPr>
        <p:spPr>
          <a:xfrm flipH="1">
            <a:off x="4023360" y="3931920"/>
            <a:ext cx="1435608" cy="0"/>
          </a:xfrm>
          <a:prstGeom prst="line">
            <a:avLst/>
          </a:prstGeom>
          <a:noFill/>
          <a:ln w="31750">
            <a:solidFill>
              <a:srgbClr val="5B6B78"/>
            </a:solidFill>
            <a:prstDash val="solid"/>
          </a:ln>
        </p:spPr>
      </p:sp>
      <p:sp>
        <p:nvSpPr>
          <p:cNvPr id="11" name="Shape 9"/>
          <p:cNvSpPr/>
          <p:nvPr/>
        </p:nvSpPr>
        <p:spPr>
          <a:xfrm flipV="1">
            <a:off x="4023360" y="2633472"/>
            <a:ext cx="0" cy="1298448"/>
          </a:xfrm>
          <a:prstGeom prst="line">
            <a:avLst/>
          </a:prstGeom>
          <a:noFill/>
          <a:ln w="31750">
            <a:solidFill>
              <a:srgbClr val="5B6B78"/>
            </a:solidFill>
            <a:prstDash val="solid"/>
            <a:tailEnd type="triangle"/>
          </a:ln>
        </p:spPr>
      </p:sp>
      <p:sp>
        <p:nvSpPr>
          <p:cNvPr id="12" name="Text 10"/>
          <p:cNvSpPr txBox="1"/>
          <p:nvPr/>
        </p:nvSpPr>
        <p:spPr>
          <a:xfrm>
            <a:off x="4480560" y="3611880"/>
            <a:ext cx="548640" cy="27432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no</a:t>
            </a:r>
            <a:endParaRPr lang="en-US" sz="1400" dirty="0"/>
          </a:p>
        </p:txBody>
      </p:sp>
      <p:sp>
        <p:nvSpPr>
          <p:cNvPr id="13" name="Text 11"/>
          <p:cNvSpPr txBox="1"/>
          <p:nvPr/>
        </p:nvSpPr>
        <p:spPr>
          <a:xfrm>
            <a:off x="5486400" y="5166360"/>
            <a:ext cx="1828800" cy="822960"/>
          </a:xfrm>
          <a:prstGeom prst="roundRect">
            <a:avLst>
              <a:gd name="adj" fmla="val 6667"/>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trap: go to</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the handler</a:t>
            </a:r>
            <a:endParaRPr lang="en-US" sz="1500" dirty="0"/>
          </a:p>
        </p:txBody>
      </p:sp>
      <p:sp>
        <p:nvSpPr>
          <p:cNvPr id="14" name="Shape 12"/>
          <p:cNvSpPr/>
          <p:nvPr/>
        </p:nvSpPr>
        <p:spPr>
          <a:xfrm>
            <a:off x="6400800" y="4370832"/>
            <a:ext cx="0" cy="768096"/>
          </a:xfrm>
          <a:prstGeom prst="line">
            <a:avLst/>
          </a:prstGeom>
          <a:noFill/>
          <a:ln w="31750">
            <a:solidFill>
              <a:srgbClr val="B23A48"/>
            </a:solidFill>
            <a:prstDash val="solid"/>
            <a:tailEnd type="triangle"/>
          </a:ln>
        </p:spPr>
      </p:sp>
      <p:sp>
        <p:nvSpPr>
          <p:cNvPr id="15" name="Text 13"/>
          <p:cNvSpPr txBox="1"/>
          <p:nvPr/>
        </p:nvSpPr>
        <p:spPr>
          <a:xfrm>
            <a:off x="6492240" y="4572000"/>
            <a:ext cx="64008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yes</a:t>
            </a:r>
            <a:endParaRPr lang="en-US" sz="1400" dirty="0"/>
          </a:p>
        </p:txBody>
      </p:sp>
      <p:sp>
        <p:nvSpPr>
          <p:cNvPr id="16" name="Shape 14"/>
          <p:cNvSpPr/>
          <p:nvPr/>
        </p:nvSpPr>
        <p:spPr>
          <a:xfrm flipH="1">
            <a:off x="2743200" y="5577840"/>
            <a:ext cx="2715768" cy="0"/>
          </a:xfrm>
          <a:prstGeom prst="line">
            <a:avLst/>
          </a:prstGeom>
          <a:noFill/>
          <a:ln w="31750">
            <a:solidFill>
              <a:srgbClr val="5B6B78"/>
            </a:solidFill>
            <a:prstDash val="solid"/>
          </a:ln>
        </p:spPr>
      </p:sp>
      <p:sp>
        <p:nvSpPr>
          <p:cNvPr id="17" name="Shape 15"/>
          <p:cNvSpPr/>
          <p:nvPr/>
        </p:nvSpPr>
        <p:spPr>
          <a:xfrm flipV="1">
            <a:off x="2743200" y="3063240"/>
            <a:ext cx="0" cy="2514600"/>
          </a:xfrm>
          <a:prstGeom prst="line">
            <a:avLst/>
          </a:prstGeom>
          <a:noFill/>
          <a:ln w="31750">
            <a:solidFill>
              <a:srgbClr val="5B6B78"/>
            </a:solidFill>
            <a:prstDash val="solid"/>
          </a:ln>
        </p:spPr>
      </p:sp>
      <p:sp>
        <p:nvSpPr>
          <p:cNvPr id="18" name="Shape 16"/>
          <p:cNvSpPr/>
          <p:nvPr/>
        </p:nvSpPr>
        <p:spPr>
          <a:xfrm>
            <a:off x="2743200" y="3063240"/>
            <a:ext cx="822960" cy="0"/>
          </a:xfrm>
          <a:prstGeom prst="line">
            <a:avLst/>
          </a:prstGeom>
          <a:noFill/>
          <a:ln w="31750">
            <a:solidFill>
              <a:srgbClr val="5B6B78"/>
            </a:solidFill>
            <a:prstDash val="solid"/>
          </a:ln>
        </p:spPr>
      </p:sp>
      <p:sp>
        <p:nvSpPr>
          <p:cNvPr id="19" name="Shape 17"/>
          <p:cNvSpPr/>
          <p:nvPr/>
        </p:nvSpPr>
        <p:spPr>
          <a:xfrm flipV="1">
            <a:off x="3566160" y="2633472"/>
            <a:ext cx="0" cy="429768"/>
          </a:xfrm>
          <a:prstGeom prst="line">
            <a:avLst/>
          </a:prstGeom>
          <a:noFill/>
          <a:ln w="31750">
            <a:solidFill>
              <a:srgbClr val="5B6B78"/>
            </a:solidFill>
            <a:prstDash val="solid"/>
            <a:tailEnd type="triangle"/>
          </a:ln>
        </p:spPr>
      </p:sp>
      <p:sp>
        <p:nvSpPr>
          <p:cNvPr id="20" name="Shape 18"/>
          <p:cNvSpPr/>
          <p:nvPr/>
        </p:nvSpPr>
        <p:spPr>
          <a:xfrm>
            <a:off x="7863840" y="1492758"/>
            <a:ext cx="146304" cy="146304"/>
          </a:xfrm>
          <a:prstGeom prst="rect">
            <a:avLst/>
          </a:prstGeom>
          <a:solidFill>
            <a:srgbClr val="0E7C86"/>
          </a:solidFill>
          <a:ln w="12700">
            <a:solidFill>
              <a:srgbClr val="0E7C86"/>
            </a:solidFill>
            <a:prstDash val="solid"/>
          </a:ln>
        </p:spPr>
      </p:sp>
      <p:sp>
        <p:nvSpPr>
          <p:cNvPr id="21" name="Text 19"/>
          <p:cNvSpPr txBox="1"/>
          <p:nvPr/>
        </p:nvSpPr>
        <p:spPr>
          <a:xfrm>
            <a:off x="8247888" y="1417320"/>
            <a:ext cx="339516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At the end of each instruction the processor checks whether any interrupt signal has occurred</a:t>
            </a:r>
            <a:endParaRPr lang="en-US" sz="1800" dirty="0"/>
          </a:p>
        </p:txBody>
      </p:sp>
      <p:sp>
        <p:nvSpPr>
          <p:cNvPr id="22" name="Shape 20"/>
          <p:cNvSpPr/>
          <p:nvPr/>
        </p:nvSpPr>
        <p:spPr>
          <a:xfrm>
            <a:off x="7863840" y="2798826"/>
            <a:ext cx="146304" cy="146304"/>
          </a:xfrm>
          <a:prstGeom prst="rect">
            <a:avLst/>
          </a:prstGeom>
          <a:solidFill>
            <a:srgbClr val="C7791B"/>
          </a:solidFill>
          <a:ln w="12700">
            <a:solidFill>
              <a:srgbClr val="C7791B"/>
            </a:solidFill>
            <a:prstDash val="solid"/>
          </a:ln>
        </p:spPr>
      </p:sp>
      <p:sp>
        <p:nvSpPr>
          <p:cNvPr id="23" name="Text 21"/>
          <p:cNvSpPr txBox="1"/>
          <p:nvPr/>
        </p:nvSpPr>
        <p:spPr>
          <a:xfrm>
            <a:off x="8247888" y="2723388"/>
            <a:ext cx="339516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If there is none, the processing returns to the fetch phase</a:t>
            </a:r>
            <a:endParaRPr lang="en-US" sz="1800" dirty="0"/>
          </a:p>
        </p:txBody>
      </p:sp>
      <p:sp>
        <p:nvSpPr>
          <p:cNvPr id="24" name="Shape 22"/>
          <p:cNvSpPr/>
          <p:nvPr/>
        </p:nvSpPr>
        <p:spPr>
          <a:xfrm>
            <a:off x="7863840" y="3826002"/>
            <a:ext cx="146304" cy="146304"/>
          </a:xfrm>
          <a:prstGeom prst="rect">
            <a:avLst/>
          </a:prstGeom>
          <a:solidFill>
            <a:srgbClr val="0E7C86"/>
          </a:solidFill>
          <a:ln w="12700">
            <a:solidFill>
              <a:srgbClr val="0E7C86"/>
            </a:solidFill>
            <a:prstDash val="solid"/>
          </a:ln>
        </p:spPr>
      </p:sp>
      <p:sp>
        <p:nvSpPr>
          <p:cNvPr id="25" name="Text 23"/>
          <p:cNvSpPr txBox="1"/>
          <p:nvPr/>
        </p:nvSpPr>
        <p:spPr>
          <a:xfrm>
            <a:off x="8247888" y="3750564"/>
            <a:ext cx="3395167" cy="139446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If there is one, the processor passes to the supervisor state and starts executing a routine of the system</a:t>
            </a:r>
            <a:endParaRPr lang="en-US" sz="1800" dirty="0"/>
          </a:p>
        </p:txBody>
      </p:sp>
      <p:sp>
        <p:nvSpPr>
          <p:cNvPr id="26" name="Shape 24"/>
          <p:cNvSpPr/>
          <p:nvPr/>
        </p:nvSpPr>
        <p:spPr>
          <a:xfrm>
            <a:off x="7863840" y="5410962"/>
            <a:ext cx="146304" cy="146304"/>
          </a:xfrm>
          <a:prstGeom prst="rect">
            <a:avLst/>
          </a:prstGeom>
          <a:solidFill>
            <a:srgbClr val="C7791B"/>
          </a:solidFill>
          <a:ln w="12700">
            <a:solidFill>
              <a:srgbClr val="C7791B"/>
            </a:solidFill>
            <a:prstDash val="solid"/>
          </a:ln>
        </p:spPr>
      </p:sp>
      <p:sp>
        <p:nvSpPr>
          <p:cNvPr id="27" name="Text 25"/>
          <p:cNvSpPr txBox="1"/>
          <p:nvPr/>
        </p:nvSpPr>
        <p:spPr>
          <a:xfrm>
            <a:off x="8247888" y="5335524"/>
            <a:ext cx="339516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When the routine ends, the suspended program can resume as if nothing had happened</a:t>
            </a:r>
            <a:endParaRPr lang="en-US" sz="1800" dirty="0"/>
          </a:p>
        </p:txBody>
      </p:sp>
      <p:sp>
        <p:nvSpPr>
          <p:cNvPr id="28" name="Shape 26"/>
          <p:cNvSpPr/>
          <p:nvPr/>
        </p:nvSpPr>
        <p:spPr>
          <a:xfrm>
            <a:off x="8353374" y="91440"/>
            <a:ext cx="3289681" cy="274320"/>
          </a:xfrm>
          <a:prstGeom prst="rect">
            <a:avLst/>
          </a:prstGeom>
          <a:solidFill>
            <a:srgbClr val="E0F2FE"/>
          </a:solidFill>
          <a:ln w="12700">
            <a:solidFill>
              <a:srgbClr val="0369A1"/>
            </a:solidFill>
            <a:prstDash val="solid"/>
          </a:ln>
        </p:spPr>
      </p:sp>
      <p:sp>
        <p:nvSpPr>
          <p:cNvPr id="29" name="Shape 27"/>
          <p:cNvSpPr/>
          <p:nvPr/>
        </p:nvSpPr>
        <p:spPr>
          <a:xfrm>
            <a:off x="8353374" y="91440"/>
            <a:ext cx="73152" cy="274320"/>
          </a:xfrm>
          <a:prstGeom prst="rect">
            <a:avLst/>
          </a:prstGeom>
          <a:solidFill>
            <a:srgbClr val="0369A1"/>
          </a:solidFill>
          <a:ln w="12700">
            <a:solidFill>
              <a:srgbClr val="0369A1"/>
            </a:solidFill>
            <a:prstDash val="solid"/>
          </a:ln>
        </p:spPr>
      </p:sp>
      <p:pic>
        <p:nvPicPr>
          <p:cNvPr id="30"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31" name="Text 28"/>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Possible causes of interruption</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Periodic interrupt</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A timer, for example every 10 ms: to share the processor among programs and to measure the time each one uses.</a:t>
            </a:r>
            <a:endParaRPr lang="en-US" sz="15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I/O interrupt</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A peripheral reports its state, for example that it is ready to receive data, to synchronise with the processor.</a:t>
            </a:r>
            <a:endParaRPr lang="en-US" sz="15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Errors in the program</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An instruction that does not exist or is privileged, a forbidden address: synchronous events, called exceptions.</a:t>
            </a:r>
            <a:endParaRPr lang="en-US" sz="15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Faults</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Failures of the system detected by dedicated probes: power, temperature, memory errors.</a:t>
            </a:r>
            <a:endParaRPr lang="en-US" sz="15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Reset</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Brings the whole system back to a known state.</a:t>
            </a:r>
            <a:endParaRPr lang="en-US" sz="15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Software interrupt</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Generated by a program that needs a shared resource and asks the operating system to mediate: in RISC-V, the instruction ecall.</a:t>
            </a:r>
            <a:endParaRPr lang="en-US" sz="1500" dirty="0"/>
          </a:p>
        </p:txBody>
      </p:sp>
      <p:sp>
        <p:nvSpPr>
          <p:cNvPr id="27" name="Shape 25"/>
          <p:cNvSpPr/>
          <p:nvPr/>
        </p:nvSpPr>
        <p:spPr>
          <a:xfrm>
            <a:off x="8353374" y="91440"/>
            <a:ext cx="3289681" cy="274320"/>
          </a:xfrm>
          <a:prstGeom prst="rect">
            <a:avLst/>
          </a:prstGeom>
          <a:solidFill>
            <a:srgbClr val="E0F2FE"/>
          </a:solidFill>
          <a:ln w="12700">
            <a:solidFill>
              <a:srgbClr val="0369A1"/>
            </a:solidFill>
            <a:prstDash val="solid"/>
          </a:ln>
        </p:spPr>
      </p:sp>
      <p:sp>
        <p:nvSpPr>
          <p:cNvPr id="28" name="Shape 26"/>
          <p:cNvSpPr/>
          <p:nvPr/>
        </p:nvSpPr>
        <p:spPr>
          <a:xfrm>
            <a:off x="8353374" y="91440"/>
            <a:ext cx="73152" cy="274320"/>
          </a:xfrm>
          <a:prstGeom prst="rect">
            <a:avLst/>
          </a:prstGeom>
          <a:solidFill>
            <a:srgbClr val="0369A1"/>
          </a:solidFill>
          <a:ln w="12700">
            <a:solidFill>
              <a:srgbClr val="0369A1"/>
            </a:solidFill>
            <a:prstDash val="solid"/>
          </a:ln>
        </p:spPr>
      </p:sp>
      <p:pic>
        <p:nvPicPr>
          <p:cNvPr id="29"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30" name="Text 27"/>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Handling an interrupt</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Save the context, hardware part: at least the address at which to resume</a:t>
            </a:r>
            <a:endParaRPr lang="en-US" sz="2200" dirty="0"/>
          </a:p>
        </p:txBody>
      </p:sp>
      <p:sp>
        <p:nvSpPr>
          <p:cNvPr id="5" name="Text 3"/>
          <p:cNvSpPr txBox="1"/>
          <p:nvPr/>
        </p:nvSpPr>
        <p:spPr>
          <a:xfrm>
            <a:off x="548640" y="225023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3194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Identify the cause of the interrupt</a:t>
            </a:r>
            <a:endParaRPr lang="en-US" sz="2200" dirty="0"/>
          </a:p>
        </p:txBody>
      </p:sp>
      <p:sp>
        <p:nvSpPr>
          <p:cNvPr id="7" name="Text 5"/>
          <p:cNvSpPr txBox="1"/>
          <p:nvPr/>
        </p:nvSpPr>
        <p:spPr>
          <a:xfrm>
            <a:off x="548640" y="30648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4657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Jump to the entry point of the interrupt service routine (ISR)</a:t>
            </a:r>
            <a:endParaRPr lang="en-US" sz="2200" dirty="0"/>
          </a:p>
        </p:txBody>
      </p:sp>
      <p:sp>
        <p:nvSpPr>
          <p:cNvPr id="9" name="Text 7"/>
          <p:cNvSpPr txBox="1"/>
          <p:nvPr/>
        </p:nvSpPr>
        <p:spPr>
          <a:xfrm>
            <a:off x="548640" y="38794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6120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Save the context, software part: the registers the routine is going to use</a:t>
            </a:r>
            <a:endParaRPr lang="en-US" sz="2200" dirty="0"/>
          </a:p>
        </p:txBody>
      </p:sp>
      <p:sp>
        <p:nvSpPr>
          <p:cNvPr id="11" name="Text 9"/>
          <p:cNvSpPr txBox="1"/>
          <p:nvPr/>
        </p:nvSpPr>
        <p:spPr>
          <a:xfrm>
            <a:off x="548640" y="469412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7583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Serve the interrupt</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If the interrupt allows it: restore the context, and resume the suspended program from the instruction that follows the last one executed</a:t>
            </a:r>
            <a:endParaRPr lang="en-US" sz="2200" dirty="0"/>
          </a:p>
        </p:txBody>
      </p:sp>
      <p:sp>
        <p:nvSpPr>
          <p:cNvPr id="15" name="Shape 13"/>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4"/>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8" name="Text 15"/>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registers of the trap mechanism</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3637513"/>
                <a:gridCol w="6001897"/>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CSR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Written by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Content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mtvec</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firmware, once, at start-up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address of the trap handler, and whether the vectored mode is used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mstatus</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hardware and firmware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MIE, the global interrupt enable, and MPIE, its previous value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mie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firmware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one enable bit for each source: software, timer, external</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mip</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hardware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one pending bit for each source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mepc</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hardware, at each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address of the interrupted instruction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mcause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the hardware, at each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one bit that says interrupt or exception, and a code for the cause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353374" y="91440"/>
            <a:ext cx="3289681" cy="274320"/>
          </a:xfrm>
          <a:prstGeom prst="rect">
            <a:avLst/>
          </a:prstGeom>
          <a:solidFill>
            <a:srgbClr val="E0F2FE"/>
          </a:solidFill>
          <a:ln w="12700">
            <a:solidFill>
              <a:srgbClr val="0369A1"/>
            </a:solidFill>
            <a:prstDash val="solid"/>
          </a:ln>
        </p:spPr>
      </p:sp>
      <p:sp>
        <p:nvSpPr>
          <p:cNvPr id="5" name="Shape 2"/>
          <p:cNvSpPr/>
          <p:nvPr/>
        </p:nvSpPr>
        <p:spPr>
          <a:xfrm>
            <a:off x="835337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7" name="Text 3"/>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the hardware does on a trap</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mepc := the address of the interrupted instruction</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mcause := the cause: top bit 1 for an interrupt, 0 for an exception, plus a code</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mstatus: MPIE := MIE, then MIE := 0, so that further interrupts are disabled</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processor passes to machine mode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PC := the address in mtvec, or, in vectored mode and for interrupts, that address plus 4 times the cause</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mret, at the end of the handler, undoes it: MIE := MPIE and PC := mepc</a:t>
            </a:r>
            <a:endParaRPr lang="en-US" sz="2200" dirty="0"/>
          </a:p>
        </p:txBody>
      </p:sp>
      <p:sp>
        <p:nvSpPr>
          <p:cNvPr id="15" name="Shape 13"/>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4"/>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8" name="Text 15"/>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cause of a trap: mcause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455005"/>
                <a:gridCol w="782065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Kind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Cause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software 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timer 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external interrupt: a device, through the interrupt controller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exception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illegal 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exception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breakpoint (ebreak): how a debugger stops a program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exception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5, 7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load or store access fault: a forbidden address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exception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8, 11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environment call (ecall) from user mode, from machine mode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353374" y="91440"/>
            <a:ext cx="3289681" cy="274320"/>
          </a:xfrm>
          <a:prstGeom prst="rect">
            <a:avLst/>
          </a:prstGeom>
          <a:solidFill>
            <a:srgbClr val="E0F2FE"/>
          </a:solidFill>
          <a:ln w="12700">
            <a:solidFill>
              <a:srgbClr val="0369A1"/>
            </a:solidFill>
            <a:prstDash val="solid"/>
          </a:ln>
        </p:spPr>
      </p:sp>
      <p:sp>
        <p:nvSpPr>
          <p:cNvPr id="5" name="Shape 2"/>
          <p:cNvSpPr/>
          <p:nvPr/>
        </p:nvSpPr>
        <p:spPr>
          <a:xfrm>
            <a:off x="835337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7" name="Text 3"/>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Interrupts on the PRG32 kit</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timer interrupts the processor a hundred times per second: the firmware uses it to keep time and to pace the frames</a:t>
            </a:r>
            <a:endParaRPr lang="en-US" sz="19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58847"/>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display and sound peripherals interrupt when a block of data has been sent and the next is wanted</a:t>
            </a:r>
            <a:endParaRPr lang="en-US" sz="1900" dirty="0"/>
          </a:p>
        </p:txBody>
      </p:sp>
      <p:sp>
        <p:nvSpPr>
          <p:cNvPr id="7" name="Shape 5"/>
          <p:cNvSpPr/>
          <p:nvPr/>
        </p:nvSpPr>
        <p:spPr>
          <a:xfrm>
            <a:off x="548640" y="32891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598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Wi-Fi radio interrupts when a packet arrives: a cartridge can be uploaded while a game is running</a:t>
            </a:r>
            <a:endParaRPr lang="en-US" sz="1900" dirty="0"/>
          </a:p>
        </p:txBody>
      </p:sp>
      <p:sp>
        <p:nvSpPr>
          <p:cNvPr id="9" name="Shape 7"/>
          <p:cNvSpPr/>
          <p:nvPr/>
        </p:nvSpPr>
        <p:spPr>
          <a:xfrm>
            <a:off x="548640" y="403631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953129"/>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Your init, update and draw are ordinary functions called by the firmware between one interrupt and the next</a:t>
            </a:r>
            <a:endParaRPr lang="en-US" sz="1900" dirty="0"/>
          </a:p>
        </p:txBody>
      </p:sp>
      <p:sp>
        <p:nvSpPr>
          <p:cNvPr id="11" name="Shape 9"/>
          <p:cNvSpPr/>
          <p:nvPr/>
        </p:nvSpPr>
        <p:spPr>
          <a:xfrm>
            <a:off x="548640" y="507784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994656"/>
            <a:ext cx="6565392" cy="117754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cartridge stuck in a loop does not stop the interrupts: PRG32-QT ends the frame with an error; on the board a watchdog reports the stall, and you press reset</a:t>
            </a:r>
            <a:endParaRPr lang="en-US" sz="1900" dirty="0"/>
          </a:p>
        </p:txBody>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 firmware menu</a:t>
            </a:r>
            <a:endParaRPr lang="en-US" sz="1200" dirty="0"/>
          </a:p>
        </p:txBody>
      </p:sp>
      <p:sp>
        <p:nvSpPr>
          <p:cNvPr id="15"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18"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interrupts and traps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which bits of a RISC-V instruction is the opcode?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seven most significant</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seven least significant</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bits 14 to 12</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depends on the format</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During the fetch of an RV32 instruction that is not compressed, the PC is increased by:</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register holds the address at which an interrupted RISC-V program will resume?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ra</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mtvec</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mepc</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mcause</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of these is an exception rather than an interrupt, in RISC-V terms?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timer expires</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key is pressed</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an illegal instruction is fetched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packet arrives from the network</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860279"/>
                <a:gridCol w="2600254"/>
                <a:gridCol w="3033629"/>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operation code (opcode)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codice operativo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operand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operando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exception /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eccezione /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addressing mode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modo di indirizzamento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 service routine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routine di servizio dell'interruzione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fetch / decode / execute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prelievo / decodifica / esecuzione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 latency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latenza di 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pipeline stage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stadio della pipeline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to mask an interrupt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mascherare un'interruzione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context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contesto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nesting</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annidamento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instruction is an operation code and zero, one or more operands; in RISC-V it is always 32 bits, in six regular formats</a:t>
            </a:r>
            <a:endParaRPr lang="en-US" sz="1900" dirty="0"/>
          </a:p>
        </p:txBody>
      </p:sp>
      <p:sp>
        <p:nvSpPr>
          <p:cNvPr id="5" name="Shape 3"/>
          <p:cNvSpPr/>
          <p:nvPr/>
        </p:nvSpPr>
        <p:spPr>
          <a:xfrm>
            <a:off x="548640" y="222191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38731"/>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fixed length keeps the fetch simple: the PC advances by a constant, 4 for an instruction that is not compressed</a:t>
            </a:r>
            <a:endParaRPr lang="en-US" sz="1900" dirty="0"/>
          </a:p>
        </p:txBody>
      </p:sp>
      <p:sp>
        <p:nvSpPr>
          <p:cNvPr id="7" name="Shape 5"/>
          <p:cNvSpPr/>
          <p:nvPr/>
        </p:nvSpPr>
        <p:spPr>
          <a:xfrm>
            <a:off x="548640" y="294332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60142"/>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processor has a cycle: it fetches an instruction, decodes it, executes it, and writes the result</a:t>
            </a:r>
            <a:endParaRPr lang="en-US" sz="1900" dirty="0"/>
          </a:p>
        </p:txBody>
      </p:sp>
      <p:sp>
        <p:nvSpPr>
          <p:cNvPr id="9" name="Shape 7"/>
          <p:cNvSpPr/>
          <p:nvPr/>
        </p:nvSpPr>
        <p:spPr>
          <a:xfrm>
            <a:off x="548640" y="366473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581552"/>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Exceptional events break the cycle: the processor saves where it was, serves the event and resumes</a:t>
            </a:r>
            <a:endParaRPr lang="en-US" sz="1900" dirty="0"/>
          </a:p>
        </p:txBody>
      </p:sp>
      <p:sp>
        <p:nvSpPr>
          <p:cNvPr id="11" name="Shape 9"/>
          <p:cNvSpPr/>
          <p:nvPr/>
        </p:nvSpPr>
        <p:spPr>
          <a:xfrm>
            <a:off x="548640" y="43861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302963"/>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Interrupts can be enabled, masked and ordered by priority; RISC-V does it with a handful of registers and the instruction mret</a:t>
            </a:r>
            <a:endParaRPr lang="en-US" sz="1900" dirty="0"/>
          </a:p>
        </p:txBody>
      </p:sp>
      <p:sp>
        <p:nvSpPr>
          <p:cNvPr id="13" name="Shape 11"/>
          <p:cNvSpPr/>
          <p:nvPr/>
        </p:nvSpPr>
        <p:spPr>
          <a:xfrm>
            <a:off x="548640" y="5107559"/>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024374"/>
            <a:ext cx="10710367" cy="114782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Reading</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Computer Organization and Design, RISC-V Edition, sections 2.5, 4.1-4.6 and 4.10</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The RISC-V Instruction Set Manual, volume II: Privileged Architecture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Playing with RISC-V, chapter 4: PRG32-QT and its debugger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Instructions and Interrupts</dc:title>
  <dc:subject>Lecture 19</dc:subject>
  <dc:creator>Raffaele Montella</dc:creator>
  <cp:lastModifiedBy>Raffaele Montella</cp:lastModifiedBy>
  <cp:revision>1</cp:revision>
  <dcterms:created xsi:type="dcterms:W3CDTF">2026-10-16T23:36:44Z</dcterms:created>
  <dcterms:modified xsi:type="dcterms:W3CDTF">2026-10-16T23:36:44Z</dcterms:modified>
</cp:coreProperties>
</file>