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30ed6d-c410-19fa-3e2c-0ac197bdfa4b}">
          <p14:sldIdLst>
            <p14:sldId id="256"/>
            <p14:sldId id="257"/>
          </p14:sldIdLst>
        </p14:section>
        <p14:section name="Instructions" id="{048cfa07-2265-12e5-3674-fc9025065a69}">
          <p14:sldIdLst>
            <p14:sldId id="258"/>
            <p14:sldId id="259"/>
            <p14:sldId id="260"/>
          </p14:sldIdLst>
        </p14:section>
        <p14:section name="The processor cycle" id="{c63be2a1-8033-30e5-2d5f-d32248c0937b}">
          <p14:sldIdLst>
            <p14:sldId id="261"/>
            <p14:sldId id="262"/>
          </p14:sldIdLst>
        </p14:section>
        <p14:section name="Interrupts" id="{c13d57d2-2f97-f2a5-6c3f-4dae9cb807d1}">
          <p14:sldIdLst>
            <p14:sldId id="263"/>
            <p14:sldId id="264"/>
            <p14:sldId id="265"/>
            <p14:sldId id="266"/>
            <p14:sldId id="267"/>
          </p14:sldIdLst>
        </p14:section>
        <p14:section name="The RISC-V solution" id="{9e7f1061-42b9-189c-0c6a-2384ffd00226}">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execute it. The second explains what happens when something more urgent than the current program arrives, a timer, a device or an error, so that the processor must suspend its work and resume it later. The two halves are connected: the interrupt is a modification of the very cycle the first half describes. The joke on the cover, as will become apparent, is nearly literally true.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Describing an instruction as an operation code with operands. Decoding a RISC-V instruction by hand. Following an instruction through the five phases of the processor cycle. Explaining what a pipeline is and why it increases throughput. Defining interrupt, exception and trap, three terms that RISC-V uses with precision. And describing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provides four families of instructions: transfers between memory and registers, arithmetic and logical operations, control of flow, and input/output. An instruction consists of an operation code, the opcode, specifying what to do, followed by zero or more operands, specifying on what. An operand may be a constant written within the instruction, an immediate; a memory location; or a register. Some operands are implicit, as the accumulator is in an accumulator machine. Instructions have from zero to three operands.
UNDERSTAND NOW: instruction formats.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instruction formats of RISC-V. Every instruction is 32 bits long and divided into fields. In the R format, for register-to-register operations, there are three five-bit register numbers, rs1, rs2 and rd, and three fields that select the operation. In the I format the second source register is replaced by a 12-bit immediate. S and B, for stores and branches, split the immediate into two pieces. U and J carry a 20-bit immediate. The regularity is a design objective: the opcode always occupies the lowest seven bits and the register fields always the same positions, so decoding can begin before the format is known. The 16-bit compressed forms of the C extension are only named here; Appendix A of the textbook lists them.
UNDERSTAND NOW: instruction formats.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method of locating an operand. RISC-V provides four. Immediate: the operand is a constant within the instruction. Register: it is the content of a register. Base plus displacement: it is the memory word at the address formed by a register plus a constant, the only means of reaching memory. PC-relative: an address at a given distance from the instruction itself, used by branches. Memory-indirect addressing, in which the address itself resides in memory, does not exist: it requires two loads. This is the formal treatment promised in Lecture 02 when address and value were first distinguished.
UNDERSTAND NOW: addressing modes.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advanced. Decode: the opcode is recognised and the registers named in the instruction are read. Execute: the ALU computes a result, an address or a comparison. Memory: loads read memory, stores write it, and other instructions do nothing in this phase. Write back: the result is written into the destination register. After the initial bootstrap the processor repeats this cycle indefinitely.
UNDERSTAND NOW: the processor cycle.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dedicated hardware, the phases of successive instructions can overlap. In the table each row is an instruction and each column a clock cycle: while the first instruction executes, the second is decoded and the third fetched. Each instruction still requires five cycles, but one completes every cycle: this is the pipeline, the principle of the assembly line, which increases throughput without reducing latency. Superscalar processors place several pipelines side by side, as Lecture 24 shows. The main core of the kit has a four-stage pipeline.
UNDERSTAND NOW: the processor cycle.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did nothing but fetch, decode and execute would face three problems. Communication with devices would be inefficient, since the program would have to interrogate each device repeatedly. A program trapped by mistake in an endless loop, such as the j loop on the slide, could never be removed. And the operating system would have little control over the machine. All three share one solution: a mechanism for taking the processor away from the running program.
UNDERSTAND NOW: interrupts and traps.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executing program, that require the attention of the processor. RISC-V distinguishes three terms. An interrupt originates outside the program and may arrive at any moment: a timer, a device. An exception is caused by the instruction being executed: an illegal opcode, a forbidden address. A trap is the transfer of control to a handler, whatever its cause. Other architectures use these words less strictly, so the RISC-V usage is worth adopting for its clarity.
UNDERSTAND NOW: interrupts and traps.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none is, it returns to fetch. If one is, it takes the trap: it enters the privileged state and begins executing a system routine, the handler. When the handler completes, the suspended program resumes as though nothing had occurred. The two paths on the diagram should be followed; the short loop is the common case.
UNDERSTAND NOW: interrupts and traps.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used to share the processor among programs. An I/O interrupt, by which a peripheral signals that it is ready. Program errors, such as an instruction that does not exist: these are the exceptions. System faults: power, temperature. Reset, which returns everything to a known state. And the software interrupt, by which a program requests a service from the operating system: in RISC-V, the instruction ecall.
UNDERSTAND NOW: interrupts and traps.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minimum the address at which to resume. Identify the cause. Jump to the entry point of the interrupt service routine. Save the context, software part: the registers the routine will use. Serve the interrupt. Finally, restore the context and resume the suspended program at the instruction following the last one executed. The context is everything the interrupted program requires to find unchanged, and its preservation is what makes the interruption invisible.
UNDERSTAND NOW: interrupts and traps.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holds one enable bit per source, mip one pending bit per source. mepc receives, at each trap, the address of the interrupted instruction. mcause receives the cause. The middle column deserves attention: some registers are written by the firmware to configure the mechanism, others by the hardware when a trap occurs.
UNDERSTAND NOW: interrupts and traps.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actions of the hardware at a trap, in order. It writes into mepc the address of the interrupted instruction. It writes the cause into mcause. It copies MIE into MPIE and clears MIE, disabling further interrupts. It enters machine mode. It loads the PC with the address in mtvec. Nothing is saved on a stack: the general registers are left to the handler, consistently with the absence of hidden state noted in Lecture 18. The instruction mret, at the end of the handler, reverses everything: MIE recovers MPIE and the PC recovers mepc.
UNDERSTAND NOW: interrupts and traps.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indicates whether the trap was an interrupt or an exception; the remaining bits are a code. The three interrupts, highlighted, are software, timer and external, that is, a device. Among the exceptions are illegal instruction, breakpoint, access fault on a load or store, and ecall. The same number may appear in both families with different meanings, which is why the top bit is needed. The breakpoint row explains how a debugger such as that of PRG32-QT halts a program.
UNDERSTAND NOW: interrupts and traps.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takes place on the kit. A timer interrupts the processor a hundred times per second, and the firmware uses it to keep time and pace the frames. The display and the audio interrupt when they require more data. The radio interrupts when a packet arrives, which is why a cartridge can be uploaded while a game runs. The functions init, update and draw are ordinary functions executed between interrupts. And a cartridge caught in a loop does not stop the interrupts: PRG32-QT reports an error, and on the board a watchdog reports the stall.
UNDERSTAND NOW: interrupts and traps.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returns to the slide of the formats: one field occupies the same position in all four rows.
For the second: addresses count bytes, and the question is how many bytes a 32-bit instruction occupies.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four registers are involved: one holds the address of the handler, one the cause, one the address at which to resume. ra belongs to procedure calls, not to traps.
For the second, the definition applies: an exception is caused by the instruction being executed, whereas an interrupt arrives from outside at an arbitrary moment. Three of the four events originate outside the program.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its acceptance temporarily.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with its operands; in RISC-V it is always 32 bits long, in six regular formats, unless compressed. A fixed length keeps the fetch simple: the PC advances by a constant, 4 for an uncompressed instruction. The processor executes a cycle: fetch, decode, execute, write the result. Exceptional events interrupt the cycle: the processor records where it was, serves the event and resumes. Interrupts can be enabled, masked and prioritised, and RISC-V achieves all of this with a handful of registers and mret. The next lecture leaves the processor for the buses and the video card.
Learning status, recap.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11"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2"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4"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40" name="Shape 38"/>
          <p:cNvSpPr/>
          <p:nvPr/>
        </p:nvSpPr>
        <p:spPr>
          <a:xfrm>
            <a:off x="8419033" y="91440"/>
            <a:ext cx="3224022" cy="274320"/>
          </a:xfrm>
          <a:prstGeom prst="rect">
            <a:avLst/>
          </a:prstGeom>
          <a:solidFill>
            <a:srgbClr val="E0F2FE"/>
          </a:solidFill>
          <a:ln w="12700">
            <a:solidFill>
              <a:srgbClr val="0369A1"/>
            </a:solidFill>
            <a:prstDash val="solid"/>
          </a:ln>
        </p:spPr>
      </p:sp>
      <p:sp>
        <p:nvSpPr>
          <p:cNvPr id="41" name="Shape 39"/>
          <p:cNvSpPr/>
          <p:nvPr/>
        </p:nvSpPr>
        <p:spPr>
          <a:xfrm>
            <a:off x="8419033"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43" name="Text 40"/>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addressing modes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12"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8" name="Shape 26"/>
          <p:cNvSpPr/>
          <p:nvPr/>
        </p:nvSpPr>
        <p:spPr>
          <a:xfrm>
            <a:off x="8353374" y="91440"/>
            <a:ext cx="3289681" cy="274320"/>
          </a:xfrm>
          <a:prstGeom prst="rect">
            <a:avLst/>
          </a:prstGeom>
          <a:solidFill>
            <a:srgbClr val="E0F2FE"/>
          </a:solidFill>
          <a:ln w="12700">
            <a:solidFill>
              <a:srgbClr val="0369A1"/>
            </a:solidFill>
            <a:prstDash val="solid"/>
          </a:ln>
        </p:spPr>
      </p:sp>
      <p:sp>
        <p:nvSpPr>
          <p:cNvPr id="29" name="Shape 27"/>
          <p:cNvSpPr/>
          <p:nvPr/>
        </p:nvSpPr>
        <p:spPr>
          <a:xfrm>
            <a:off x="8353374"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1" name="Text 2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7" name="Shape 25"/>
          <p:cNvSpPr/>
          <p:nvPr/>
        </p:nvSpPr>
        <p:spPr>
          <a:xfrm>
            <a:off x="8353374" y="91440"/>
            <a:ext cx="3289681" cy="274320"/>
          </a:xfrm>
          <a:prstGeom prst="rect">
            <a:avLst/>
          </a:prstGeom>
          <a:solidFill>
            <a:srgbClr val="E0F2FE"/>
          </a:solidFill>
          <a:ln w="12700">
            <a:solidFill>
              <a:srgbClr val="0369A1"/>
            </a:solidFill>
            <a:prstDash val="solid"/>
          </a:ln>
        </p:spPr>
      </p:sp>
      <p:sp>
        <p:nvSpPr>
          <p:cNvPr id="28" name="Shape 26"/>
          <p:cNvSpPr/>
          <p:nvPr/>
        </p:nvSpPr>
        <p:spPr>
          <a:xfrm>
            <a:off x="8353374"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0" name="Text 2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2191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3873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fixed length keeps the fetch simple: the PC advances by a constant, 4 for an instruction that is not compressed</a:t>
            </a:r>
            <a:endParaRPr lang="en-US" sz="1900" dirty="0"/>
          </a:p>
        </p:txBody>
      </p:sp>
      <p:sp>
        <p:nvSpPr>
          <p:cNvPr id="7" name="Shape 5"/>
          <p:cNvSpPr/>
          <p:nvPr/>
        </p:nvSpPr>
        <p:spPr>
          <a:xfrm>
            <a:off x="548640" y="2943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6014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6647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8155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861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029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2026-10-16T20:22:25Z</dcterms:created>
  <dcterms:modified xsi:type="dcterms:W3CDTF">2026-10-16T20:22:25Z</dcterms:modified>
</cp:coreProperties>
</file>