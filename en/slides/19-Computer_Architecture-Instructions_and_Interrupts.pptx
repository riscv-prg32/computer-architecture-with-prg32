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2e832c0-f131-6cb1-ceb9-20d963d81c92}">
          <p14:sldIdLst>
            <p14:sldId id="256"/>
            <p14:sldId id="257"/>
          </p14:sldIdLst>
        </p14:section>
        <p14:section name="Warm-up on the machine" id="{50408072-bd63-3df5-01ba-a0e488a39c81}">
          <p14:sldIdLst>
            <p14:sldId id="258"/>
            <p14:sldId id="259"/>
          </p14:sldIdLst>
        </p14:section>
        <p14:section name="Instructions" id="{7a986810-1e22-0279-410d-c621eca35b09}">
          <p14:sldIdLst>
            <p14:sldId id="260"/>
            <p14:sldId id="261"/>
            <p14:sldId id="262"/>
            <p14:sldId id="263"/>
            <p14:sldId id="264"/>
            <p14:sldId id="265"/>
          </p14:sldIdLst>
        </p14:section>
        <p14:section name="The processor cycle" id="{6d9dc9ac-a758-e9ec-ee8e-fda8235aec32}">
          <p14:sldIdLst>
            <p14:sldId id="266"/>
            <p14:sldId id="267"/>
            <p14:sldId id="268"/>
            <p14:sldId id="269"/>
            <p14:sldId id="270"/>
          </p14:sldIdLst>
        </p14:section>
        <p14:section name="Interrupts" id="{125da53f-f447-32b4-2a92-276bbb0b9f24}">
          <p14:sldIdLst>
            <p14:sldId id="271"/>
            <p14:sldId id="272"/>
            <p14:sldId id="273"/>
            <p14:sldId id="274"/>
            <p14:sldId id="275"/>
            <p14:sldId id="276"/>
            <p14:sldId id="277"/>
          </p14:sldIdLst>
        </p14:section>
        <p14:section name="The RISC-V solution" id="{4d945ba1-0973-c6aa-9161-59416ca01365}">
          <p14:sldIdLst>
            <p14:sldId id="278"/>
            <p14:sldId id="279"/>
            <p14:sldId id="280"/>
            <p14:sldId id="281"/>
            <p14:sldId id="282"/>
            <p14:sldId id="283"/>
            <p14:sldId id="284"/>
            <p14:sldId id="285"/>
            <p14:sldId id="286"/>
            <p14:sldId id="287"/>
            <p14:sldId id="288"/>
            <p14:sldId id="289"/>
            <p14:sldId id="290"/>
            <p14:sldId id="29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lecture described what a processor is made of. This one describes what it does. It has two halves. The first follows a single instruction: how it is encoded in 32 bits and which steps the processor takes to carry it out. The second explains what happens when something more urgent than the current program arrives, a timer, a device, an error, and the processor must leave what it is doing and come back later. The joke on the cover is nearly true, as you will see.
For the lecturer: The original deck used a 16-bit word machine for the fetch phase and the Motorola MC68000 for vectored interrupts and priorities. Both are replaced by RISC-V: the six instruction formats, the five classic stages, and the machine-mode trap mechanism (mtvec, mepc, mcause, mstatus, mret). A comparison slide keeps the 68000 as the historical counterpart.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objectives. Describe an instruction as an operation code with operands. Decode a RISC-V instruction by hand. Follow an instruction through the five phases of the processor cycle. Explain what a pipeline is and why it speeds a processor up. Define interrupt, exception and trap, three words that RISC-V uses precisely. And describe what the hardware does at a trap and how the interrupted program resumes.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warm-up shows a function you wrote in Lecture 02, as the processor sees it: no names, no mnemonics, only numbers in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words of memory, four addresses apart: this is first_update, the function that increments a counter. On the left the addresses, in the middle the machine code, on the right what you wrote. The processor has only the middle column. Three questions organise the lecture. How does it know that the first word is a load and the second an addition? Which steps does it take for each? And while it executes them, how does it notice that a button was pressed or a timer expired?
For the lecturer: The la that precedes these instructions is omitted, and the encodings are the uncompressed 32-bit ones: with the C extension the assembler may choose 16-bit forms for some of them. Addresses are relative to the start of the 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part: what an instruction is, how RISC-V encodes it, and where operands can be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processor has four families of instructions: transfers between memory and registers, arithmetic and logic, control of flow, and input/output. An instruction is an operation code, the opcode, which says what to do, followed by zero or more operands, which say on what. An operand can be a constant written inside the instruction, an immediate; a memory location; or a register. Some operands are implicit: an accumulator machine does not name the accumulator. Instructions have from zero to three operands.
For the lecturer: In RISC-V the fourth family does not exist as such: devices are memory (Lecture 15). add has three operands, all registers; ret has none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formats of RISC-V. All instructions are 32 bits long, divided into fields. In the R format, for operations between registers, there are three register numbers of five bits, rs1, rs2 and rd, and three fields that select the operation. In the I format the second source register is replaced by a 12-bit immediate. S and B, for stores and branches, split the immediate in two pieces. U and J carry a 20-bit immediate. Notice the regularity: the opcode is always in the lowest seven bits, and the registers are always in the same positions.
For the lecturer: Bits 31 down to 0, left to right (indices shown on the first row). B and J differ from S and U only in how the bits of the immediate are arranged. This regularity is the heart of the RISC idea; the generic 0-, 1-, 2- and 3-operand formats of the original deck are its ancestors.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instructions decoded by hand. Write the eight hexadecimal digits in binary; cut off the last seven bits, the opcode, which tells you the format; then cut the remaining fields. For 0x006283B3 the opcode says register to register, the fields give x7, x5 and x6, and funct3 with funct7 say addition: add t2, t0, t1. For 0x0002A303 the opcode says load, the immediate is 0, the base is x5, the destination x6: lw t1, 0(t0). Do it once with pencil and paper.
For the lecturer: Method: write the eight hexadecimal digits in binary, cut off the last seven bits (the opcode), look up the format, then cut the fields. The decoders of Lecture 11 do the same thing in a fraction of a nanosecond.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Instructions can be of fixed or of variable length. With a fixed length every instruction has the same number of bits, the next one is always at the PC plus a constant, and fetching and decoding are simple: this is the RISC choice. With a variable length the processor discovers how long an instruction is only after decoding its first part: programs are more compact, decoding is harder; this is the CISC choice. RISC-V with the compressed extension mixes 16 and 32 bits, and the two lowest bits tell them apart.
For the lecturer: Lunghezza fissa (calcolatore a voci) e variabile (calcolatore a byte). The length of the instruction decides by how much the PC advances.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addressing mode is a way of finding an operand. RISC-V has four. Immediate: the operand is a constant inside the instruction. Register: it is the content of a register. Base plus displacement: it is the memory word at the address given by a register plus a constant, the only way to reach memory. PC-relative: an address at a certain distance from the instruction itself, used by branches. Memory-indirect addressing, where the address itself is in memory, does not exist: it takes two loads.
For the lecturer: RISC-V has only the first four. A CISC processor such as the MC68000 has a dozen, including memory-indirect and auto-increment modes. The example of the original deck, R3 := M[M[A]], becomes in RISC-V: lw t0, 0(t1) followed by lw t0, 0(t0). The 'operand assembly' phase of a CISC processor is the price of rich addressing modes.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part: the cycle, the algorithm that the processor repeats for every instruction, from the moment it is switched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phases. Fetch: the instruction at the address in the PC is read from memory, and the PC advances. Decode: the opcode is recognised and the registers named in the instruction are read. Execute: the ALU computes a result, an address or a comparison. Memory: loads read the memory, stores write it, the other instructions do nothing here. Write back: the result is written in the destination register. After the initial bootstrap, the processor repeats this cycle for ever.
For the lecturer: Algoritmo fondamentale del processore: inizializzazione, instruction fetch and decoding, operand assembly, execute. The five-phase version is the classic RISC formulation.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fetch phase in four register transfers, using the registers of the model of Lecture 18. The content of the PC goes to MA, the memory address register. The memory is read and the word arrives in MB, the buffer. The word is copied into D, the decoding register. The PC is increased by 4, because an instruction occupies four bytes, so that it points to the next one. Each row is a transfer on the internal bus, commanded by the control unit.
For the lecturer: Fase fetch. PC, D, MA and MB are the registers of the reference model of Lecture 18; the transfers travel on the internal bus. In the original deck the machine had 16-bit words and the PC advanced by 2; in RV32 a word is four bytes, so the PC advances by 4 (by 2 after a compressed instruction).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other four phases, side by side for two instructions. For add, decoding reads the two registers into the operand registers of the ALU, execution adds them, the memory phase is skipped, and the sum is written in t2. For lw, the second operand is the immediate, the sum is an address, the memory phase reads the word at that address, and the word read is written in t1. The same adder serves both: only the commands of the control unit differ.
For the lecturer: O1, O2 and U are the registers of the ALU. The same adder computes a sum for add and an address for lw: only the control signals differ. A store ends at the memory phase; a branch ends at execute, by choosing the next PC.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each phase has its own hardware, the phases of different instructions can overlap. In the table, each row is an instruction and each column a clock cycle: while the first instruction is in execution, the second is being decoded and the third fetched. Each instruction still takes five cycles, but one finishes at every cycle: this is the pipeline, the same idea as an assembly line. Superscalar processors put several pipelines side by side. The main core of the kit has a pipeline of four stages.
For the lecturer: Source slide: «Esempio di pipeline lineare a 5 stadi; superscalarità». IF instruction fetch, ID decode, EX execute, MEM memory, WB write back. Branches and dependences between neighbouring instructions complicate the picture (hazards): the subject of an advanced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part: the cycle described so far never looks at the outside world. Interrupts are the mechanism that makes it do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processor that only fetched, decoded and executed would have three problems. Communication with devices would be inefficient: the program would have to keep asking each device whether it has something to say. A program that entered an endless loop by mistake, like the j loop on the slide, could never be removed. And the operating system would have little control over the machine. All three have the same solution: a way to take the processor away from the running program.
For the lecturer: Source slide: «Ciclo del processore semplificato»: bootstrap, fetch, operand assembly, execute.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definition: interrupts are exceptional events, usually asynchronous with respect to the program in execution, that require the attention of the processor. RISC-V uses three distinct words. An interrupt comes from outside the program, at any moment: a timer, a device. An exception is caused by the instruction being executed: an illegal opcode, a forbidden address. A trap is the transfer of control to a handler, whatever caused it. Other processors use these words more loosely.
For the lecturer: Interrupt o interruzioni. Older processors and the original deck call 'traps' the synchronous events and use 'interrupt' for everything; the RISC-V specification uses the three words precisely.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cycle. After the bootstrap the processor fetches, decodes and executes; then, at the end of every instruction, it checks whether an interrupt is pending. If not, it goes back to fetch. If so, it takes the trap: it passes to the privileged state and starts executing a routine of the system, the handler. When the handler finishes, the suspended program resumes as if nothing had happened. Follow the two paths on the diagram: the short loop is the normal case.
For the lecturer: Ciclo del processore reale. In RISC-V 'supervisor state' is machine mode, and the first instruction fetched after the trap is the one at the address in mtvec.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causes of interruption. A periodic interrupt from a timer, to share the processor among programs. An I/O interrupt, with which a peripheral reports that it is ready. Errors in the program, such as an instruction that does not exist: these are the exceptions. Faults of the system: power, temperature. Reset, which brings everything back to a known state. And the software interrupt, with which a program asks the operating system for a service: in RISC-V it is the instruction ecall.
For the lecturer: The original deck lists arithmetic overflow among the program errors: in RISC-V integer overflow does not raise an exception (Lecture 05). ecall, environment call, is synchronous with the program that executes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general procedure in six steps. Save the context, hardware part: at least the address at which to resume. Identify the cause. Jump to the entry point of the interrupt service routine. Save the context, software part: the registers the routine is going to use. Serve the interrupt. Finally restore the context and resume the suspended program at the instruction after the last one executed. The context is everything that the interrupted program needs to find unchanged.
For the lecturer: Gestione delle interruzioni. The state to save and restore: PC, status, and the registers. Saving can be done partly or wholly in hardware or in software; RISC-V does the minimum in hardware. With several devices the processor must identify who interrupted and, for simultaneous requests, apply a priority.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several devices, who interrupted? Two solutions. With polling, every device has a status register; the service routine interrogates the devices in order of priority and serves the first that has its bit set. It is simple, but it wastes time on devices that asked for nothing. With vectored interrupts the source supplies its identity together with the request, and the processor jumps directly to the corresponding routine. It is efficient, and the number of bits of the vector limits the number of sources.
For the lecturer: Interrogazione ciclica and interrupt vettorizzati. Interrupt latency: the delay between the instant the request line goes high and the instant the service routine starts doing useful work; it includes finishing the current instruction, the check, the switch.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same ideas as RISC-V implements them: a few control and status registers and one instruction.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registers. mtvec, written once by the firmware, holds the address of the trap handler. mstatus contains MIE, the global interrupt enable, and MPIE, its previous value. mie has one enable bit for each source, mip one pending bit for each source. mepc receives, at each trap, the address of the interrupted instruction. mcause receives the cause. The middle column matters: some registers are written by the firmware to configure the mechanism, others by the hardware when a trap occurs.
For the lecturer: Machine-mode control and status registers (Lecture 18). An interrupt is taken only if its bit is set in both mip and mie and MIE is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hardware does at a trap, in order. It writes in mepc the address of the interrupted instruction. It writes the cause in mcause. It copies MIE into MPIE and clears MIE, so that further interrupts are disabled. It passes to machine mode. It loads the PC with the address in mtvec. Nothing is saved on a stack: the general registers are left to the handler. The instruction mret, at the end of the handler, undoes everything: MIE gets MPIE back and the PC gets mepc.
For the lecturer: Nothing is pushed on a stack by the hardware: saving the general registers is left to the handler. This is the 'hardware context save' of the general scheme, reduced to two registers and one 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content of mcause. The top bit says whether it was an interrupt or an exception; the rest is a code. The three interrupts, highlighted: software, timer, and external, that is a device. Among the exceptions: illegal instruction, breakpoint, access fault on a load or a store, and ecall. The same number can appear in both families with different meanings, which is why the top bit is needed. The breakpoint row explains how a debugger such as that of PRG32-QT stops your program.
For the lecturer: The standard codes of the privileged specification; chips add their own. The same code 3 means different things for interrupts and exceptions: the top bit of mcause distinguishes them. With mtvec in vectored mode, a timer interrupt enters at base + 4 x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handler in outline. It makes room on the stack and saves the registers it is going to use: the software part of the context. It reads mcause with csrr and tests its sign: the top bit is the sign bit, so bgez separates exceptions from interrupts with one instruction. After serving the event it restores the registers, releases the stack and executes mret. The interrupted program must not notice anything: one register left dirty here is a bug that appears at random, anywhere.
For the lecturer: An outline, not the PRG32 source: a real handler saves all the caller-saved registers, usually on a separate stack reached through mscratch. csrr t0, mcause is the pseudo-instruction for csrrs t0, mcause,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Priorities, in two processors. When a request arrives while another is being served, a rule is needed: only requests of higher priority are accepted. The Motorola 68000 encodes the level of a request on three lines and compares it with a mask in the status register; level 7 cannot be masked. RISC-V delegates priorities to an interrupt controller with a threshold, and by default disables all interrupts during a handler. Serving one interrupt inside another is called nesting. The last rows compare how the source is identified and how one returns.
For the lecturer: To handle nested interrupts a priority level is established: while a service routine runs, only requests from devices of higher priority are accepted; a request from a high-priority device, such as the clock, must be accepted even while a lower-priority one is being served. This slide replaces the three slides 'Gestione delle priorità nel 68000'. The RISC-V column describes the platform-level interrupt controller; on Espressif chips priorities go from 1 to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of this happens on the kit. A timer interrupts the processor a hundred times per second, and the firmware uses it to keep time and pace the frames. The display and the audio interrupt when they want more data. The radio interrupts when a packet arrives, which is why you can upload a cartridge while a game runs. Your init, update and draw are ordinary functions that run between interrupts. And a cartridge stuck in a loop does not stop the interrupts: PRG32-QT reports an error; on the board a watchdog reports the stall.
For the lecturer: The three problems of the simple cycle (inefficient I/O, runaway programs, limited control) and their solution, all visible on the kit. Checked against the firmware sources and configuration (not on a physical board): the cartridge runs natively inside the main task, in the same privilege mode as the firmware; FreeRTOS ticks at 100 Hz; the task watchdog (5 s, watching the idle task) only prints a warning on the serial port, because the panic option is off, so a stuck cartridge keeps the cartridge lock and the kit needs a reset. A cartridge that disabled interrupts would instead trip the interrupt watchdog (300 ms), which panics and restarts the chip. Run on PRG32-QT: an endless loop gives 'instruction budget exhausted', a write to mstatus gives 'unsupported CSR'. In PRG32-QT a breakpoint is the exception with code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again at the slide of the formats: one field is in the same place in all four rows.
For the lecturer: Answer: B. Bits 6 to 0, in every format: the processor always knows where to look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Addresses count bytes. How many bytes does a 32-bit instruction occupy?
For the lecturer: Answer: C. Addresses count bytes and an instruction is four bytes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registers are in play: one holds the address of the handler, one the cause, one the address at which to resume. ra belongs to function calls, not to traps.
For the lecturer: Answer: C. mepc, written by the hardware at the trap and used by mret. mtvec holds the address of the handler.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definition: an exception is caused by the instruction being executed, an interrupt comes from outside at an arbitrary moment. Three of the four events come from outside.
For the lecturer: Answer: C. It is caused by the instruction being executed, synchronously; the others come from outside, at any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Decode two words by hand, with format, fields and assembly. Encode sub t0, t1, t2 and sw a0, 8(sp): the inverse path. Write the register transfers of the whole cycle for a store and for a branch. Draw the pipeline diagram of six instructions on four stages and say when the sixth finishes. And in PRG32-QT stop in first_update, step, and compare the machine code shown with your decoding of the warm-up.
For the lecturer: 0x00A28293: imm 10, rs1 x5, funct3 000, rd x5, opcode 0010011. 0x40628333: funct7 0100000, rs2 x6, rs1 x5, funct3 000, rd x6, opcode 0110011. sub t0, t1, t2 = 0x407302B3. sw a0, 8(sp) = 0x00A12423. Six instructions on four stages complete at cycle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terms. The operation code is the codice operativo; an addressing mode is a modo di indirizzamento. Fetch, decode and execute are prelievo, decodifica and esecuzione. The interrupt service routine is the routine that serves an interrupt. Interrupt latency is the delay between the request and the start of useful work. To mask an interrupt is to prevent it temporarily from being accepted.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An instruction is an operation code and its operands; in RISC-V always 32 bits in six regular formats. The length of the instructions determines how the PC moves. The processor has a cycle: fetch, decode, execute, write the result. Exceptional events break the cycle: the processor saves where it was, serves the event and resumes. Interrupts can be enabled, masked and ordered by priority, and RISC-V does it with a handful of registers and mret. The next lecture leaves the processor for the buses and the video card.
For the lecturer: The original conclusions stated that 'the interrupt is a non-maskable signal': most interrupts can be masked; only a few cannot. Next lecture: buses and the video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19: Instructions and interrupts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19</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Instructions and Interrupts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800" dirty="0">
                <a:solidFill>
                  <a:srgbClr val="CFE3EA"/>
                </a:solidFill>
                <a:latin typeface="Calibri" pitchFamily="34" charset="0"/>
                <a:ea typeface="Calibri" pitchFamily="34" charset="-122"/>
                <a:cs typeface="Calibri" pitchFamily="34" charset="-120"/>
              </a:rPr>
              <a:t>Instruction formats, the processor cycle, and how RISC-V handles exceptional events</a:t>
            </a:r>
            <a:endParaRPr lang="en-US" sz="18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“Why does the CPU never get any work done? Because it gets interrupted constantly.”</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Anonymous joke about computer architecture</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game_asteroids.png">    </p:cNvPr>
          <p:cNvPicPr>
            <a:picLocks noChangeAspect="1"/>
          </p:cNvPicPr>
          <p:nvPr/>
        </p:nvPicPr>
        <p:blipFill>
          <a:blip r:embed="rId1"/>
          <a:stretch>
            <a:fillRect/>
          </a:stretch>
        </p:blipFill>
        <p:spPr>
          <a:xfrm>
            <a:off x="8915095" y="4251960"/>
            <a:ext cx="2438400"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an instruction as an operation code and its operands, and name the kinds of operand</a:t>
            </a:r>
            <a:endParaRPr lang="en-US" sz="2200" dirty="0"/>
          </a:p>
        </p:txBody>
      </p:sp>
      <p:sp>
        <p:nvSpPr>
          <p:cNvPr id="5" name="Text 3"/>
          <p:cNvSpPr txBox="1"/>
          <p:nvPr/>
        </p:nvSpPr>
        <p:spPr>
          <a:xfrm>
            <a:off x="548640" y="239593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77643"/>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Decode a RISC-V instruction by hand, recognising its format and fields</a:t>
            </a:r>
            <a:endParaRPr lang="en-US" sz="2200" dirty="0"/>
          </a:p>
        </p:txBody>
      </p:sp>
      <p:sp>
        <p:nvSpPr>
          <p:cNvPr id="7" name="Text 5"/>
          <p:cNvSpPr txBox="1"/>
          <p:nvPr/>
        </p:nvSpPr>
        <p:spPr>
          <a:xfrm>
            <a:off x="548640" y="311343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9514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Follow an instruction through the processor cycle: fetch, decode, execute, memory, write back</a:t>
            </a:r>
            <a:endParaRPr lang="en-US" sz="2200" dirty="0"/>
          </a:p>
        </p:txBody>
      </p:sp>
      <p:sp>
        <p:nvSpPr>
          <p:cNvPr id="9" name="Text 7"/>
          <p:cNvSpPr txBox="1"/>
          <p:nvPr/>
        </p:nvSpPr>
        <p:spPr>
          <a:xfrm>
            <a:off x="548640" y="407375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05546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what a pipeline is and why it makes a processor faster</a:t>
            </a:r>
            <a:endParaRPr lang="en-US" sz="2200" dirty="0"/>
          </a:p>
        </p:txBody>
      </p:sp>
      <p:sp>
        <p:nvSpPr>
          <p:cNvPr id="11" name="Text 9"/>
          <p:cNvSpPr txBox="1"/>
          <p:nvPr/>
        </p:nvSpPr>
        <p:spPr>
          <a:xfrm>
            <a:off x="548640" y="479125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72965"/>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Define interrupts, exceptions and traps, and list their causes</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what RISC-V does when a trap occurs and how the interrupted program resumes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01</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Warm-up on the machine</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What the processor actually reads.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Four words in memory</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address     machine code     what you wrote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0x000       0x0002A303       lw   t1,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0x004       0x00130313       addi t1, t1,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0x008       0x0062A023       sw   t1,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0x00C       0x00008067       ret</a:t>
            </a:r>
            <a:endParaRPr lang="en-US" sz="18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This is first_update of Lecture 02 as it sits in memory: four numbers, four addresses apart</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How does the processor know that the first is a load and the second an addition?</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Which steps does it take for each of them?</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And while it runs them, how does it notice that a button was pressed or a timer expired?</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02</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Instructions</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An operation code and its operands.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an instruction is made of</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17421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Typical instructions of a processor</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data transfers between memory and registers</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arithmetic and logic operations</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instructions for the control of flow</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data transfers to and from input/output</a:t>
            </a:r>
            <a:endParaRPr lang="en-US" sz="2300" dirty="0"/>
          </a:p>
        </p:txBody>
      </p:sp>
      <p:sp>
        <p:nvSpPr>
          <p:cNvPr id="5" name="Shape 3"/>
          <p:cNvSpPr/>
          <p:nvPr/>
        </p:nvSpPr>
        <p:spPr>
          <a:xfrm>
            <a:off x="548640" y="345630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342132"/>
            <a:ext cx="10710367"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An instruction is composed of an operation code, the opcode, and zero or more operands</a:t>
            </a:r>
            <a:endParaRPr lang="en-US" sz="2300" dirty="0"/>
          </a:p>
        </p:txBody>
      </p:sp>
      <p:sp>
        <p:nvSpPr>
          <p:cNvPr id="7" name="Shape 5"/>
          <p:cNvSpPr/>
          <p:nvPr/>
        </p:nvSpPr>
        <p:spPr>
          <a:xfrm>
            <a:off x="548640" y="435165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237482"/>
            <a:ext cx="10710367" cy="1395730"/>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Kinds of operand</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a constant: an immediate, explicit or implicit</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a memory location</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a register, explicit or implicit (the accumulator)</a:t>
            </a:r>
            <a:endParaRPr lang="en-US" sz="2300" dirty="0"/>
          </a:p>
        </p:txBody>
      </p:sp>
      <p:sp>
        <p:nvSpPr>
          <p:cNvPr id="9" name="Shape 7"/>
          <p:cNvSpPr/>
          <p:nvPr/>
        </p:nvSpPr>
        <p:spPr>
          <a:xfrm>
            <a:off x="548640" y="593001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815838"/>
            <a:ext cx="10710367" cy="356362"/>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Instructions can have zero, one, two or three operands</a:t>
            </a:r>
            <a:endParaRPr lang="en-US" sz="2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formats of RISC-V instructions</a:t>
            </a:r>
            <a:endParaRPr lang="en-US" sz="3200" dirty="0"/>
          </a:p>
        </p:txBody>
      </p:sp>
      <p:sp>
        <p:nvSpPr>
          <p:cNvPr id="3" name="Text 1"/>
          <p:cNvSpPr txBox="1"/>
          <p:nvPr/>
        </p:nvSpPr>
        <p:spPr>
          <a:xfrm>
            <a:off x="548640" y="1353312"/>
            <a:ext cx="11094415"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R: register to register (add, sub, and, sll, ...)</a:t>
            </a:r>
            <a:endParaRPr lang="en-US" sz="1400" dirty="0"/>
          </a:p>
        </p:txBody>
      </p:sp>
      <p:sp>
        <p:nvSpPr>
          <p:cNvPr id="4" name="Text 2"/>
          <p:cNvSpPr txBox="1"/>
          <p:nvPr/>
        </p:nvSpPr>
        <p:spPr>
          <a:xfrm>
            <a:off x="548640" y="1920240"/>
            <a:ext cx="2414460" cy="384048"/>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funct7</a:t>
            </a:r>
            <a:endParaRPr lang="en-US" sz="1400" dirty="0"/>
          </a:p>
        </p:txBody>
      </p:sp>
      <p:sp>
        <p:nvSpPr>
          <p:cNvPr id="5" name="Text 3"/>
          <p:cNvSpPr txBox="1"/>
          <p:nvPr/>
        </p:nvSpPr>
        <p:spPr>
          <a:xfrm>
            <a:off x="585216" y="1682496"/>
            <a:ext cx="1207230"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6" name="Text 4"/>
          <p:cNvSpPr txBox="1"/>
          <p:nvPr/>
        </p:nvSpPr>
        <p:spPr>
          <a:xfrm>
            <a:off x="1755870" y="1682496"/>
            <a:ext cx="1170654"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25</a:t>
            </a:r>
            <a:endParaRPr lang="en-US" sz="1050" dirty="0"/>
          </a:p>
        </p:txBody>
      </p:sp>
      <p:sp>
        <p:nvSpPr>
          <p:cNvPr id="7" name="Text 5"/>
          <p:cNvSpPr txBox="1"/>
          <p:nvPr/>
        </p:nvSpPr>
        <p:spPr>
          <a:xfrm>
            <a:off x="2963100" y="1920240"/>
            <a:ext cx="1724614" cy="384048"/>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rs2</a:t>
            </a:r>
            <a:endParaRPr lang="en-US" sz="1400" dirty="0"/>
          </a:p>
        </p:txBody>
      </p:sp>
      <p:sp>
        <p:nvSpPr>
          <p:cNvPr id="8" name="Text 6"/>
          <p:cNvSpPr txBox="1"/>
          <p:nvPr/>
        </p:nvSpPr>
        <p:spPr>
          <a:xfrm>
            <a:off x="2999676" y="1682496"/>
            <a:ext cx="862307"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24</a:t>
            </a:r>
            <a:endParaRPr lang="en-US" sz="1050" dirty="0"/>
          </a:p>
        </p:txBody>
      </p:sp>
      <p:sp>
        <p:nvSpPr>
          <p:cNvPr id="9" name="Text 7"/>
          <p:cNvSpPr txBox="1"/>
          <p:nvPr/>
        </p:nvSpPr>
        <p:spPr>
          <a:xfrm>
            <a:off x="3825407" y="1682496"/>
            <a:ext cx="825731"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20</a:t>
            </a:r>
            <a:endParaRPr lang="en-US" sz="1050" dirty="0"/>
          </a:p>
        </p:txBody>
      </p:sp>
      <p:sp>
        <p:nvSpPr>
          <p:cNvPr id="10" name="Text 8"/>
          <p:cNvSpPr txBox="1"/>
          <p:nvPr/>
        </p:nvSpPr>
        <p:spPr>
          <a:xfrm>
            <a:off x="4687714" y="1920240"/>
            <a:ext cx="1724614" cy="384048"/>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rs1</a:t>
            </a:r>
            <a:endParaRPr lang="en-US" sz="1400" dirty="0"/>
          </a:p>
        </p:txBody>
      </p:sp>
      <p:sp>
        <p:nvSpPr>
          <p:cNvPr id="11" name="Text 9"/>
          <p:cNvSpPr txBox="1"/>
          <p:nvPr/>
        </p:nvSpPr>
        <p:spPr>
          <a:xfrm>
            <a:off x="4724290" y="1682496"/>
            <a:ext cx="862307"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19</a:t>
            </a:r>
            <a:endParaRPr lang="en-US" sz="1050" dirty="0"/>
          </a:p>
        </p:txBody>
      </p:sp>
      <p:sp>
        <p:nvSpPr>
          <p:cNvPr id="12" name="Text 10"/>
          <p:cNvSpPr txBox="1"/>
          <p:nvPr/>
        </p:nvSpPr>
        <p:spPr>
          <a:xfrm>
            <a:off x="5550021" y="1682496"/>
            <a:ext cx="825731"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15</a:t>
            </a:r>
            <a:endParaRPr lang="en-US" sz="1050" dirty="0"/>
          </a:p>
        </p:txBody>
      </p:sp>
      <p:sp>
        <p:nvSpPr>
          <p:cNvPr id="13" name="Text 11"/>
          <p:cNvSpPr txBox="1"/>
          <p:nvPr/>
        </p:nvSpPr>
        <p:spPr>
          <a:xfrm>
            <a:off x="6412328" y="1920240"/>
            <a:ext cx="1091654" cy="384048"/>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funct3</a:t>
            </a:r>
            <a:endParaRPr lang="en-US" sz="1400" dirty="0"/>
          </a:p>
        </p:txBody>
      </p:sp>
      <p:sp>
        <p:nvSpPr>
          <p:cNvPr id="14" name="Text 12"/>
          <p:cNvSpPr txBox="1"/>
          <p:nvPr/>
        </p:nvSpPr>
        <p:spPr>
          <a:xfrm>
            <a:off x="6448904" y="1682496"/>
            <a:ext cx="545827"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14</a:t>
            </a:r>
            <a:endParaRPr lang="en-US" sz="1050" dirty="0"/>
          </a:p>
        </p:txBody>
      </p:sp>
      <p:sp>
        <p:nvSpPr>
          <p:cNvPr id="15" name="Text 13"/>
          <p:cNvSpPr txBox="1"/>
          <p:nvPr/>
        </p:nvSpPr>
        <p:spPr>
          <a:xfrm>
            <a:off x="6958155" y="1682496"/>
            <a:ext cx="509251"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12</a:t>
            </a:r>
            <a:endParaRPr lang="en-US" sz="1050" dirty="0"/>
          </a:p>
        </p:txBody>
      </p:sp>
      <p:sp>
        <p:nvSpPr>
          <p:cNvPr id="16" name="Text 14"/>
          <p:cNvSpPr txBox="1"/>
          <p:nvPr/>
        </p:nvSpPr>
        <p:spPr>
          <a:xfrm>
            <a:off x="7503982" y="1920240"/>
            <a:ext cx="1724614" cy="384048"/>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rd</a:t>
            </a:r>
            <a:endParaRPr lang="en-US" sz="1400" dirty="0"/>
          </a:p>
        </p:txBody>
      </p:sp>
      <p:sp>
        <p:nvSpPr>
          <p:cNvPr id="17" name="Text 15"/>
          <p:cNvSpPr txBox="1"/>
          <p:nvPr/>
        </p:nvSpPr>
        <p:spPr>
          <a:xfrm>
            <a:off x="7540558" y="1682496"/>
            <a:ext cx="862307"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11</a:t>
            </a:r>
            <a:endParaRPr lang="en-US" sz="1050" dirty="0"/>
          </a:p>
        </p:txBody>
      </p:sp>
      <p:sp>
        <p:nvSpPr>
          <p:cNvPr id="18" name="Text 16"/>
          <p:cNvSpPr txBox="1"/>
          <p:nvPr/>
        </p:nvSpPr>
        <p:spPr>
          <a:xfrm>
            <a:off x="8366289" y="1682496"/>
            <a:ext cx="825731"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7</a:t>
            </a:r>
            <a:endParaRPr lang="en-US" sz="1050" dirty="0"/>
          </a:p>
        </p:txBody>
      </p:sp>
      <p:sp>
        <p:nvSpPr>
          <p:cNvPr id="19" name="Text 17"/>
          <p:cNvSpPr txBox="1"/>
          <p:nvPr/>
        </p:nvSpPr>
        <p:spPr>
          <a:xfrm>
            <a:off x="9228596" y="1920240"/>
            <a:ext cx="2414460" cy="384048"/>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opcode</a:t>
            </a:r>
            <a:endParaRPr lang="en-US" sz="1400" dirty="0"/>
          </a:p>
        </p:txBody>
      </p:sp>
      <p:sp>
        <p:nvSpPr>
          <p:cNvPr id="20" name="Text 18"/>
          <p:cNvSpPr txBox="1"/>
          <p:nvPr/>
        </p:nvSpPr>
        <p:spPr>
          <a:xfrm>
            <a:off x="9265172" y="1682496"/>
            <a:ext cx="1207230"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6</a:t>
            </a:r>
            <a:endParaRPr lang="en-US" sz="1050" dirty="0"/>
          </a:p>
        </p:txBody>
      </p:sp>
      <p:sp>
        <p:nvSpPr>
          <p:cNvPr id="21" name="Text 19"/>
          <p:cNvSpPr txBox="1"/>
          <p:nvPr/>
        </p:nvSpPr>
        <p:spPr>
          <a:xfrm>
            <a:off x="10435825" y="1682496"/>
            <a:ext cx="1170654"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22" name="Text 20"/>
          <p:cNvSpPr txBox="1"/>
          <p:nvPr/>
        </p:nvSpPr>
        <p:spPr>
          <a:xfrm>
            <a:off x="548640" y="2569464"/>
            <a:ext cx="11094415"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I: immediates and loads (addi, andi, lw, jalr, ...)</a:t>
            </a:r>
            <a:endParaRPr lang="en-US" sz="1400" dirty="0"/>
          </a:p>
        </p:txBody>
      </p:sp>
      <p:sp>
        <p:nvSpPr>
          <p:cNvPr id="23" name="Text 21"/>
          <p:cNvSpPr txBox="1"/>
          <p:nvPr/>
        </p:nvSpPr>
        <p:spPr>
          <a:xfrm>
            <a:off x="548640" y="2907792"/>
            <a:ext cx="4139074" cy="384048"/>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immediate [11:0]</a:t>
            </a:r>
            <a:endParaRPr lang="en-US" sz="1400" dirty="0"/>
          </a:p>
        </p:txBody>
      </p:sp>
      <p:sp>
        <p:nvSpPr>
          <p:cNvPr id="24" name="Text 22"/>
          <p:cNvSpPr txBox="1"/>
          <p:nvPr/>
        </p:nvSpPr>
        <p:spPr>
          <a:xfrm>
            <a:off x="4687714" y="2907792"/>
            <a:ext cx="1724614" cy="384048"/>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rs1</a:t>
            </a:r>
            <a:endParaRPr lang="en-US" sz="1400" dirty="0"/>
          </a:p>
        </p:txBody>
      </p:sp>
      <p:sp>
        <p:nvSpPr>
          <p:cNvPr id="25" name="Text 23"/>
          <p:cNvSpPr txBox="1"/>
          <p:nvPr/>
        </p:nvSpPr>
        <p:spPr>
          <a:xfrm>
            <a:off x="6412328" y="2907792"/>
            <a:ext cx="1091654" cy="384048"/>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funct3</a:t>
            </a:r>
            <a:endParaRPr lang="en-US" sz="1400" dirty="0"/>
          </a:p>
        </p:txBody>
      </p:sp>
      <p:sp>
        <p:nvSpPr>
          <p:cNvPr id="26" name="Text 24"/>
          <p:cNvSpPr txBox="1"/>
          <p:nvPr/>
        </p:nvSpPr>
        <p:spPr>
          <a:xfrm>
            <a:off x="7503982" y="2907792"/>
            <a:ext cx="1724614" cy="384048"/>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rd</a:t>
            </a:r>
            <a:endParaRPr lang="en-US" sz="1400" dirty="0"/>
          </a:p>
        </p:txBody>
      </p:sp>
      <p:sp>
        <p:nvSpPr>
          <p:cNvPr id="27" name="Text 25"/>
          <p:cNvSpPr txBox="1"/>
          <p:nvPr/>
        </p:nvSpPr>
        <p:spPr>
          <a:xfrm>
            <a:off x="9228596" y="2907792"/>
            <a:ext cx="2414460" cy="384048"/>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opcode</a:t>
            </a:r>
            <a:endParaRPr lang="en-US" sz="1400" dirty="0"/>
          </a:p>
        </p:txBody>
      </p:sp>
      <p:sp>
        <p:nvSpPr>
          <p:cNvPr id="28" name="Text 26"/>
          <p:cNvSpPr txBox="1"/>
          <p:nvPr/>
        </p:nvSpPr>
        <p:spPr>
          <a:xfrm>
            <a:off x="548640" y="3602736"/>
            <a:ext cx="11094415"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S: stores (sw, sh, sb); B: branches, with the same shape</a:t>
            </a:r>
            <a:endParaRPr lang="en-US" sz="1400" dirty="0"/>
          </a:p>
        </p:txBody>
      </p:sp>
      <p:sp>
        <p:nvSpPr>
          <p:cNvPr id="29" name="Text 27"/>
          <p:cNvSpPr txBox="1"/>
          <p:nvPr/>
        </p:nvSpPr>
        <p:spPr>
          <a:xfrm>
            <a:off x="548640" y="3941064"/>
            <a:ext cx="2414460" cy="384048"/>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imm [11:5]</a:t>
            </a:r>
            <a:endParaRPr lang="en-US" sz="1400" dirty="0"/>
          </a:p>
        </p:txBody>
      </p:sp>
      <p:sp>
        <p:nvSpPr>
          <p:cNvPr id="30" name="Text 28"/>
          <p:cNvSpPr txBox="1"/>
          <p:nvPr/>
        </p:nvSpPr>
        <p:spPr>
          <a:xfrm>
            <a:off x="2963100" y="3941064"/>
            <a:ext cx="1724614" cy="384048"/>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rs2</a:t>
            </a:r>
            <a:endParaRPr lang="en-US" sz="1400" dirty="0"/>
          </a:p>
        </p:txBody>
      </p:sp>
      <p:sp>
        <p:nvSpPr>
          <p:cNvPr id="31" name="Text 29"/>
          <p:cNvSpPr txBox="1"/>
          <p:nvPr/>
        </p:nvSpPr>
        <p:spPr>
          <a:xfrm>
            <a:off x="4687714" y="3941064"/>
            <a:ext cx="1724614" cy="384048"/>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rs1</a:t>
            </a:r>
            <a:endParaRPr lang="en-US" sz="1400" dirty="0"/>
          </a:p>
        </p:txBody>
      </p:sp>
      <p:sp>
        <p:nvSpPr>
          <p:cNvPr id="32" name="Text 30"/>
          <p:cNvSpPr txBox="1"/>
          <p:nvPr/>
        </p:nvSpPr>
        <p:spPr>
          <a:xfrm>
            <a:off x="6412328" y="3941064"/>
            <a:ext cx="1091654" cy="384048"/>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funct3</a:t>
            </a:r>
            <a:endParaRPr lang="en-US" sz="1400" dirty="0"/>
          </a:p>
        </p:txBody>
      </p:sp>
      <p:sp>
        <p:nvSpPr>
          <p:cNvPr id="33" name="Text 31"/>
          <p:cNvSpPr txBox="1"/>
          <p:nvPr/>
        </p:nvSpPr>
        <p:spPr>
          <a:xfrm>
            <a:off x="7503982" y="3941064"/>
            <a:ext cx="1724614" cy="384048"/>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imm [4:0]</a:t>
            </a:r>
            <a:endParaRPr lang="en-US" sz="1400" dirty="0"/>
          </a:p>
        </p:txBody>
      </p:sp>
      <p:sp>
        <p:nvSpPr>
          <p:cNvPr id="34" name="Text 32"/>
          <p:cNvSpPr txBox="1"/>
          <p:nvPr/>
        </p:nvSpPr>
        <p:spPr>
          <a:xfrm>
            <a:off x="9228596" y="3941064"/>
            <a:ext cx="2414460" cy="384048"/>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opcode</a:t>
            </a:r>
            <a:endParaRPr lang="en-US" sz="1400" dirty="0"/>
          </a:p>
        </p:txBody>
      </p:sp>
      <p:sp>
        <p:nvSpPr>
          <p:cNvPr id="35" name="Text 33"/>
          <p:cNvSpPr txBox="1"/>
          <p:nvPr/>
        </p:nvSpPr>
        <p:spPr>
          <a:xfrm>
            <a:off x="548640" y="4636008"/>
            <a:ext cx="11094415"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U: upper immediates (lui, auipc); J: jumps (jal), with the same shape</a:t>
            </a:r>
            <a:endParaRPr lang="en-US" sz="1400" dirty="0"/>
          </a:p>
        </p:txBody>
      </p:sp>
      <p:sp>
        <p:nvSpPr>
          <p:cNvPr id="36" name="Text 34"/>
          <p:cNvSpPr txBox="1"/>
          <p:nvPr/>
        </p:nvSpPr>
        <p:spPr>
          <a:xfrm>
            <a:off x="548640" y="4974336"/>
            <a:ext cx="6934010" cy="384048"/>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immediate [31:12]</a:t>
            </a:r>
            <a:endParaRPr lang="en-US" sz="1400" dirty="0"/>
          </a:p>
        </p:txBody>
      </p:sp>
      <p:sp>
        <p:nvSpPr>
          <p:cNvPr id="37" name="Text 35"/>
          <p:cNvSpPr txBox="1"/>
          <p:nvPr/>
        </p:nvSpPr>
        <p:spPr>
          <a:xfrm>
            <a:off x="7482650" y="4974336"/>
            <a:ext cx="1733502" cy="384048"/>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rd</a:t>
            </a:r>
            <a:endParaRPr lang="en-US" sz="1400" dirty="0"/>
          </a:p>
        </p:txBody>
      </p:sp>
      <p:sp>
        <p:nvSpPr>
          <p:cNvPr id="38" name="Text 36"/>
          <p:cNvSpPr txBox="1"/>
          <p:nvPr/>
        </p:nvSpPr>
        <p:spPr>
          <a:xfrm>
            <a:off x="9216152" y="4974336"/>
            <a:ext cx="2426903" cy="384048"/>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opcode</a:t>
            </a:r>
            <a:endParaRPr lang="en-US" sz="1400" dirty="0"/>
          </a:p>
        </p:txBody>
      </p:sp>
      <p:sp>
        <p:nvSpPr>
          <p:cNvPr id="39" name="Text 37"/>
          <p:cNvSpPr txBox="1"/>
          <p:nvPr/>
        </p:nvSpPr>
        <p:spPr>
          <a:xfrm>
            <a:off x="548640" y="5577840"/>
            <a:ext cx="11094415" cy="594360"/>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Six formats, all of 32 bits. The opcode is always in the same seven bits, and the register numbers rd, rs1 and rs2 are always in the same places: the processor can read them before it even knows which instruction it is.</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Decoding by hand</a:t>
            </a:r>
            <a:endParaRPr lang="en-US" sz="3200" dirty="0"/>
          </a:p>
        </p:txBody>
      </p:sp>
      <p:sp>
        <p:nvSpPr>
          <p:cNvPr id="3" name="Text 1"/>
          <p:cNvSpPr txBox="1"/>
          <p:nvPr/>
        </p:nvSpPr>
        <p:spPr>
          <a:xfrm>
            <a:off x="548640" y="1325880"/>
            <a:ext cx="2926080" cy="457200"/>
          </a:xfrm>
          <a:prstGeom prst="rect">
            <a:avLst/>
          </a:prstGeom>
          <a:noFill/>
          <a:ln/>
        </p:spPr>
        <p:txBody>
          <a:bodyPr wrap="square" lIns="0" tIns="0" rIns="0" bIns="0" rtlCol="0" anchor="ctr"/>
          <a:lstStyle/>
          <a:p>
            <a:pPr indent="0" marL="0">
              <a:buNone/>
            </a:pPr>
            <a:r>
              <a:rPr lang="en-US" sz="2200" b="1" dirty="0">
                <a:solidFill>
                  <a:srgbClr val="2E4A62"/>
                </a:solidFill>
                <a:latin typeface="Courier New" pitchFamily="34" charset="0"/>
                <a:ea typeface="Courier New" pitchFamily="34" charset="-122"/>
                <a:cs typeface="Courier New" pitchFamily="34" charset="-120"/>
              </a:rPr>
              <a:t>0x006283B3</a:t>
            </a:r>
            <a:endParaRPr lang="en-US" sz="2200" dirty="0"/>
          </a:p>
        </p:txBody>
      </p:sp>
      <p:sp>
        <p:nvSpPr>
          <p:cNvPr id="4" name="Text 2"/>
          <p:cNvSpPr txBox="1"/>
          <p:nvPr/>
        </p:nvSpPr>
        <p:spPr>
          <a:xfrm>
            <a:off x="8229600" y="1325880"/>
            <a:ext cx="3413455" cy="457200"/>
          </a:xfrm>
          <a:prstGeom prst="rect">
            <a:avLst/>
          </a:prstGeom>
          <a:noFill/>
          <a:ln/>
        </p:spPr>
        <p:txBody>
          <a:bodyPr wrap="square" lIns="0" tIns="0" rIns="0" bIns="0" rtlCol="0" anchor="ctr"/>
          <a:lstStyle/>
          <a:p>
            <a:pPr algn="r" indent="0" marL="0">
              <a:buNone/>
            </a:pPr>
            <a:r>
              <a:rPr lang="en-US" sz="2200" b="1" dirty="0">
                <a:solidFill>
                  <a:srgbClr val="2F7D4F"/>
                </a:solidFill>
                <a:latin typeface="Courier New" pitchFamily="34" charset="0"/>
                <a:ea typeface="Courier New" pitchFamily="34" charset="-122"/>
                <a:cs typeface="Courier New" pitchFamily="34" charset="-120"/>
              </a:rPr>
              <a:t>add t2, t0, t1</a:t>
            </a:r>
            <a:endParaRPr lang="en-US" sz="2200" dirty="0"/>
          </a:p>
        </p:txBody>
      </p:sp>
      <p:sp>
        <p:nvSpPr>
          <p:cNvPr id="5" name="Text 3"/>
          <p:cNvSpPr txBox="1"/>
          <p:nvPr/>
        </p:nvSpPr>
        <p:spPr>
          <a:xfrm>
            <a:off x="548640" y="2194560"/>
            <a:ext cx="2394823" cy="548640"/>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0000000</a:t>
            </a:r>
            <a:endParaRPr lang="en-US" sz="1600" dirty="0"/>
          </a:p>
        </p:txBody>
      </p:sp>
      <p:sp>
        <p:nvSpPr>
          <p:cNvPr id="6" name="Text 4"/>
          <p:cNvSpPr txBox="1"/>
          <p:nvPr/>
        </p:nvSpPr>
        <p:spPr>
          <a:xfrm>
            <a:off x="548640" y="2798064"/>
            <a:ext cx="2394823"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funct7</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add, not sub</a:t>
            </a:r>
            <a:endParaRPr lang="en-US" sz="1300" dirty="0"/>
          </a:p>
        </p:txBody>
      </p:sp>
      <p:sp>
        <p:nvSpPr>
          <p:cNvPr id="7" name="Text 5"/>
          <p:cNvSpPr txBox="1"/>
          <p:nvPr/>
        </p:nvSpPr>
        <p:spPr>
          <a:xfrm>
            <a:off x="585216" y="1956816"/>
            <a:ext cx="1197411"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8" name="Text 6"/>
          <p:cNvSpPr txBox="1"/>
          <p:nvPr/>
        </p:nvSpPr>
        <p:spPr>
          <a:xfrm>
            <a:off x="1746051" y="1956816"/>
            <a:ext cx="1160835"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25</a:t>
            </a:r>
            <a:endParaRPr lang="en-US" sz="1050" dirty="0"/>
          </a:p>
        </p:txBody>
      </p:sp>
      <p:sp>
        <p:nvSpPr>
          <p:cNvPr id="9" name="Text 7"/>
          <p:cNvSpPr txBox="1"/>
          <p:nvPr/>
        </p:nvSpPr>
        <p:spPr>
          <a:xfrm>
            <a:off x="2943463" y="2194560"/>
            <a:ext cx="1710588" cy="54864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00110</a:t>
            </a:r>
            <a:endParaRPr lang="en-US" sz="1600" dirty="0"/>
          </a:p>
        </p:txBody>
      </p:sp>
      <p:sp>
        <p:nvSpPr>
          <p:cNvPr id="10" name="Text 8"/>
          <p:cNvSpPr txBox="1"/>
          <p:nvPr/>
        </p:nvSpPr>
        <p:spPr>
          <a:xfrm>
            <a:off x="2943463" y="2798064"/>
            <a:ext cx="1710588"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rs2</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x6 = t1</a:t>
            </a:r>
            <a:endParaRPr lang="en-US" sz="1300" dirty="0"/>
          </a:p>
        </p:txBody>
      </p:sp>
      <p:sp>
        <p:nvSpPr>
          <p:cNvPr id="11" name="Text 9"/>
          <p:cNvSpPr txBox="1"/>
          <p:nvPr/>
        </p:nvSpPr>
        <p:spPr>
          <a:xfrm>
            <a:off x="2980039" y="1956816"/>
            <a:ext cx="85529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24</a:t>
            </a:r>
            <a:endParaRPr lang="en-US" sz="1050" dirty="0"/>
          </a:p>
        </p:txBody>
      </p:sp>
      <p:sp>
        <p:nvSpPr>
          <p:cNvPr id="12" name="Text 10"/>
          <p:cNvSpPr txBox="1"/>
          <p:nvPr/>
        </p:nvSpPr>
        <p:spPr>
          <a:xfrm>
            <a:off x="3798757" y="1956816"/>
            <a:ext cx="81871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20</a:t>
            </a:r>
            <a:endParaRPr lang="en-US" sz="1050" dirty="0"/>
          </a:p>
        </p:txBody>
      </p:sp>
      <p:sp>
        <p:nvSpPr>
          <p:cNvPr id="13" name="Text 11"/>
          <p:cNvSpPr txBox="1"/>
          <p:nvPr/>
        </p:nvSpPr>
        <p:spPr>
          <a:xfrm>
            <a:off x="4654050" y="2194560"/>
            <a:ext cx="1710588" cy="54864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00101</a:t>
            </a:r>
            <a:endParaRPr lang="en-US" sz="1600" dirty="0"/>
          </a:p>
        </p:txBody>
      </p:sp>
      <p:sp>
        <p:nvSpPr>
          <p:cNvPr id="14" name="Text 12"/>
          <p:cNvSpPr txBox="1"/>
          <p:nvPr/>
        </p:nvSpPr>
        <p:spPr>
          <a:xfrm>
            <a:off x="4654050" y="2798064"/>
            <a:ext cx="1710588"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rs1</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x5 = t0</a:t>
            </a:r>
            <a:endParaRPr lang="en-US" sz="1300" dirty="0"/>
          </a:p>
        </p:txBody>
      </p:sp>
      <p:sp>
        <p:nvSpPr>
          <p:cNvPr id="15" name="Text 13"/>
          <p:cNvSpPr txBox="1"/>
          <p:nvPr/>
        </p:nvSpPr>
        <p:spPr>
          <a:xfrm>
            <a:off x="4690626" y="1956816"/>
            <a:ext cx="85529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19</a:t>
            </a:r>
            <a:endParaRPr lang="en-US" sz="1050" dirty="0"/>
          </a:p>
        </p:txBody>
      </p:sp>
      <p:sp>
        <p:nvSpPr>
          <p:cNvPr id="16" name="Text 14"/>
          <p:cNvSpPr txBox="1"/>
          <p:nvPr/>
        </p:nvSpPr>
        <p:spPr>
          <a:xfrm>
            <a:off x="5509344" y="1956816"/>
            <a:ext cx="81871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15</a:t>
            </a:r>
            <a:endParaRPr lang="en-US" sz="1050" dirty="0"/>
          </a:p>
        </p:txBody>
      </p:sp>
      <p:sp>
        <p:nvSpPr>
          <p:cNvPr id="17" name="Text 15"/>
          <p:cNvSpPr txBox="1"/>
          <p:nvPr/>
        </p:nvSpPr>
        <p:spPr>
          <a:xfrm>
            <a:off x="6364638" y="2194560"/>
            <a:ext cx="1173007" cy="548640"/>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000</a:t>
            </a:r>
            <a:endParaRPr lang="en-US" sz="1600" dirty="0"/>
          </a:p>
        </p:txBody>
      </p:sp>
      <p:sp>
        <p:nvSpPr>
          <p:cNvPr id="18" name="Text 16"/>
          <p:cNvSpPr txBox="1"/>
          <p:nvPr/>
        </p:nvSpPr>
        <p:spPr>
          <a:xfrm>
            <a:off x="6364638" y="2798064"/>
            <a:ext cx="1173007"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funct3</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add</a:t>
            </a:r>
            <a:endParaRPr lang="en-US" sz="1300" dirty="0"/>
          </a:p>
        </p:txBody>
      </p:sp>
      <p:sp>
        <p:nvSpPr>
          <p:cNvPr id="19" name="Text 17"/>
          <p:cNvSpPr txBox="1"/>
          <p:nvPr/>
        </p:nvSpPr>
        <p:spPr>
          <a:xfrm>
            <a:off x="6401214" y="1956816"/>
            <a:ext cx="586503"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14</a:t>
            </a:r>
            <a:endParaRPr lang="en-US" sz="1050" dirty="0"/>
          </a:p>
        </p:txBody>
      </p:sp>
      <p:sp>
        <p:nvSpPr>
          <p:cNvPr id="20" name="Text 18"/>
          <p:cNvSpPr txBox="1"/>
          <p:nvPr/>
        </p:nvSpPr>
        <p:spPr>
          <a:xfrm>
            <a:off x="6951141" y="1956816"/>
            <a:ext cx="549927"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12</a:t>
            </a:r>
            <a:endParaRPr lang="en-US" sz="1050" dirty="0"/>
          </a:p>
        </p:txBody>
      </p:sp>
      <p:sp>
        <p:nvSpPr>
          <p:cNvPr id="21" name="Text 19"/>
          <p:cNvSpPr txBox="1"/>
          <p:nvPr/>
        </p:nvSpPr>
        <p:spPr>
          <a:xfrm>
            <a:off x="7537645" y="2194560"/>
            <a:ext cx="1710588" cy="548640"/>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00111</a:t>
            </a:r>
            <a:endParaRPr lang="en-US" sz="1600" dirty="0"/>
          </a:p>
        </p:txBody>
      </p:sp>
      <p:sp>
        <p:nvSpPr>
          <p:cNvPr id="22" name="Text 20"/>
          <p:cNvSpPr txBox="1"/>
          <p:nvPr/>
        </p:nvSpPr>
        <p:spPr>
          <a:xfrm>
            <a:off x="7537645" y="2798064"/>
            <a:ext cx="1710588"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rd</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x7 = t2</a:t>
            </a:r>
            <a:endParaRPr lang="en-US" sz="1300" dirty="0"/>
          </a:p>
        </p:txBody>
      </p:sp>
      <p:sp>
        <p:nvSpPr>
          <p:cNvPr id="23" name="Text 21"/>
          <p:cNvSpPr txBox="1"/>
          <p:nvPr/>
        </p:nvSpPr>
        <p:spPr>
          <a:xfrm>
            <a:off x="7574221" y="1956816"/>
            <a:ext cx="85529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11</a:t>
            </a:r>
            <a:endParaRPr lang="en-US" sz="1050" dirty="0"/>
          </a:p>
        </p:txBody>
      </p:sp>
      <p:sp>
        <p:nvSpPr>
          <p:cNvPr id="24" name="Text 22"/>
          <p:cNvSpPr txBox="1"/>
          <p:nvPr/>
        </p:nvSpPr>
        <p:spPr>
          <a:xfrm>
            <a:off x="8392939" y="1956816"/>
            <a:ext cx="81871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7</a:t>
            </a:r>
            <a:endParaRPr lang="en-US" sz="1050" dirty="0"/>
          </a:p>
        </p:txBody>
      </p:sp>
      <p:sp>
        <p:nvSpPr>
          <p:cNvPr id="25" name="Text 23"/>
          <p:cNvSpPr txBox="1"/>
          <p:nvPr/>
        </p:nvSpPr>
        <p:spPr>
          <a:xfrm>
            <a:off x="9248232" y="2194560"/>
            <a:ext cx="2394823" cy="548640"/>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0110011</a:t>
            </a:r>
            <a:endParaRPr lang="en-US" sz="1600" dirty="0"/>
          </a:p>
        </p:txBody>
      </p:sp>
      <p:sp>
        <p:nvSpPr>
          <p:cNvPr id="26" name="Text 24"/>
          <p:cNvSpPr txBox="1"/>
          <p:nvPr/>
        </p:nvSpPr>
        <p:spPr>
          <a:xfrm>
            <a:off x="9248232" y="2798064"/>
            <a:ext cx="2394823"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opcode</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register-register</a:t>
            </a:r>
            <a:endParaRPr lang="en-US" sz="1300" dirty="0"/>
          </a:p>
        </p:txBody>
      </p:sp>
      <p:sp>
        <p:nvSpPr>
          <p:cNvPr id="27" name="Text 25"/>
          <p:cNvSpPr txBox="1"/>
          <p:nvPr/>
        </p:nvSpPr>
        <p:spPr>
          <a:xfrm>
            <a:off x="9284808" y="1956816"/>
            <a:ext cx="1197411"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6</a:t>
            </a:r>
            <a:endParaRPr lang="en-US" sz="1050" dirty="0"/>
          </a:p>
        </p:txBody>
      </p:sp>
      <p:sp>
        <p:nvSpPr>
          <p:cNvPr id="28" name="Text 26"/>
          <p:cNvSpPr txBox="1"/>
          <p:nvPr/>
        </p:nvSpPr>
        <p:spPr>
          <a:xfrm>
            <a:off x="10445644" y="1956816"/>
            <a:ext cx="1160835"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29" name="Text 27"/>
          <p:cNvSpPr txBox="1"/>
          <p:nvPr/>
        </p:nvSpPr>
        <p:spPr>
          <a:xfrm>
            <a:off x="548640" y="3794760"/>
            <a:ext cx="2926080" cy="457200"/>
          </a:xfrm>
          <a:prstGeom prst="rect">
            <a:avLst/>
          </a:prstGeom>
          <a:noFill/>
          <a:ln/>
        </p:spPr>
        <p:txBody>
          <a:bodyPr wrap="square" lIns="0" tIns="0" rIns="0" bIns="0" rtlCol="0" anchor="ctr"/>
          <a:lstStyle/>
          <a:p>
            <a:pPr indent="0" marL="0">
              <a:buNone/>
            </a:pPr>
            <a:r>
              <a:rPr lang="en-US" sz="2200" b="1" dirty="0">
                <a:solidFill>
                  <a:srgbClr val="2E4A62"/>
                </a:solidFill>
                <a:latin typeface="Courier New" pitchFamily="34" charset="0"/>
                <a:ea typeface="Courier New" pitchFamily="34" charset="-122"/>
                <a:cs typeface="Courier New" pitchFamily="34" charset="-120"/>
              </a:rPr>
              <a:t>0x0002A303</a:t>
            </a:r>
            <a:endParaRPr lang="en-US" sz="2200" dirty="0"/>
          </a:p>
        </p:txBody>
      </p:sp>
      <p:sp>
        <p:nvSpPr>
          <p:cNvPr id="30" name="Text 28"/>
          <p:cNvSpPr txBox="1"/>
          <p:nvPr/>
        </p:nvSpPr>
        <p:spPr>
          <a:xfrm>
            <a:off x="8229600" y="3794760"/>
            <a:ext cx="3413455" cy="457200"/>
          </a:xfrm>
          <a:prstGeom prst="rect">
            <a:avLst/>
          </a:prstGeom>
          <a:noFill/>
          <a:ln/>
        </p:spPr>
        <p:txBody>
          <a:bodyPr wrap="square" lIns="0" tIns="0" rIns="0" bIns="0" rtlCol="0" anchor="ctr"/>
          <a:lstStyle/>
          <a:p>
            <a:pPr algn="r" indent="0" marL="0">
              <a:buNone/>
            </a:pPr>
            <a:r>
              <a:rPr lang="en-US" sz="2200" b="1" dirty="0">
                <a:solidFill>
                  <a:srgbClr val="2F7D4F"/>
                </a:solidFill>
                <a:latin typeface="Courier New" pitchFamily="34" charset="0"/>
                <a:ea typeface="Courier New" pitchFamily="34" charset="-122"/>
                <a:cs typeface="Courier New" pitchFamily="34" charset="-120"/>
              </a:rPr>
              <a:t>lw t1, 0(t0)</a:t>
            </a:r>
            <a:endParaRPr lang="en-US" sz="2200" dirty="0"/>
          </a:p>
        </p:txBody>
      </p:sp>
      <p:sp>
        <p:nvSpPr>
          <p:cNvPr id="31" name="Text 29"/>
          <p:cNvSpPr txBox="1"/>
          <p:nvPr/>
        </p:nvSpPr>
        <p:spPr>
          <a:xfrm>
            <a:off x="548640" y="4663440"/>
            <a:ext cx="4105410" cy="548640"/>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000000000000</a:t>
            </a:r>
            <a:endParaRPr lang="en-US" sz="1600" dirty="0"/>
          </a:p>
        </p:txBody>
      </p:sp>
      <p:sp>
        <p:nvSpPr>
          <p:cNvPr id="32" name="Text 30"/>
          <p:cNvSpPr txBox="1"/>
          <p:nvPr/>
        </p:nvSpPr>
        <p:spPr>
          <a:xfrm>
            <a:off x="548640" y="5266944"/>
            <a:ext cx="4105410"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immediate</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offset 0</a:t>
            </a:r>
            <a:endParaRPr lang="en-US" sz="1300" dirty="0"/>
          </a:p>
        </p:txBody>
      </p:sp>
      <p:sp>
        <p:nvSpPr>
          <p:cNvPr id="33" name="Text 31"/>
          <p:cNvSpPr txBox="1"/>
          <p:nvPr/>
        </p:nvSpPr>
        <p:spPr>
          <a:xfrm>
            <a:off x="585216" y="4425696"/>
            <a:ext cx="2052705"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34" name="Text 32"/>
          <p:cNvSpPr txBox="1"/>
          <p:nvPr/>
        </p:nvSpPr>
        <p:spPr>
          <a:xfrm>
            <a:off x="2601345" y="4425696"/>
            <a:ext cx="2016129"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20</a:t>
            </a:r>
            <a:endParaRPr lang="en-US" sz="1050" dirty="0"/>
          </a:p>
        </p:txBody>
      </p:sp>
      <p:sp>
        <p:nvSpPr>
          <p:cNvPr id="35" name="Text 33"/>
          <p:cNvSpPr txBox="1"/>
          <p:nvPr/>
        </p:nvSpPr>
        <p:spPr>
          <a:xfrm>
            <a:off x="4654050" y="4663440"/>
            <a:ext cx="1710588" cy="54864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00101</a:t>
            </a:r>
            <a:endParaRPr lang="en-US" sz="1600" dirty="0"/>
          </a:p>
        </p:txBody>
      </p:sp>
      <p:sp>
        <p:nvSpPr>
          <p:cNvPr id="36" name="Text 34"/>
          <p:cNvSpPr txBox="1"/>
          <p:nvPr/>
        </p:nvSpPr>
        <p:spPr>
          <a:xfrm>
            <a:off x="4654050" y="5266944"/>
            <a:ext cx="1710588"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rs1</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x5 = t0</a:t>
            </a:r>
            <a:endParaRPr lang="en-US" sz="1300" dirty="0"/>
          </a:p>
        </p:txBody>
      </p:sp>
      <p:sp>
        <p:nvSpPr>
          <p:cNvPr id="37" name="Text 35"/>
          <p:cNvSpPr txBox="1"/>
          <p:nvPr/>
        </p:nvSpPr>
        <p:spPr>
          <a:xfrm>
            <a:off x="4690626" y="4425696"/>
            <a:ext cx="85529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19</a:t>
            </a:r>
            <a:endParaRPr lang="en-US" sz="1050" dirty="0"/>
          </a:p>
        </p:txBody>
      </p:sp>
      <p:sp>
        <p:nvSpPr>
          <p:cNvPr id="38" name="Text 36"/>
          <p:cNvSpPr txBox="1"/>
          <p:nvPr/>
        </p:nvSpPr>
        <p:spPr>
          <a:xfrm>
            <a:off x="5509344" y="4425696"/>
            <a:ext cx="81871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15</a:t>
            </a:r>
            <a:endParaRPr lang="en-US" sz="1050" dirty="0"/>
          </a:p>
        </p:txBody>
      </p:sp>
      <p:sp>
        <p:nvSpPr>
          <p:cNvPr id="39" name="Text 37"/>
          <p:cNvSpPr txBox="1"/>
          <p:nvPr/>
        </p:nvSpPr>
        <p:spPr>
          <a:xfrm>
            <a:off x="6364638" y="4663440"/>
            <a:ext cx="1173007" cy="548640"/>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010</a:t>
            </a:r>
            <a:endParaRPr lang="en-US" sz="1600" dirty="0"/>
          </a:p>
        </p:txBody>
      </p:sp>
      <p:sp>
        <p:nvSpPr>
          <p:cNvPr id="40" name="Text 38"/>
          <p:cNvSpPr txBox="1"/>
          <p:nvPr/>
        </p:nvSpPr>
        <p:spPr>
          <a:xfrm>
            <a:off x="6364638" y="5266944"/>
            <a:ext cx="1173007"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funct3</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a word</a:t>
            </a:r>
            <a:endParaRPr lang="en-US" sz="1300" dirty="0"/>
          </a:p>
        </p:txBody>
      </p:sp>
      <p:sp>
        <p:nvSpPr>
          <p:cNvPr id="41" name="Text 39"/>
          <p:cNvSpPr txBox="1"/>
          <p:nvPr/>
        </p:nvSpPr>
        <p:spPr>
          <a:xfrm>
            <a:off x="6401214" y="4425696"/>
            <a:ext cx="586503"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14</a:t>
            </a:r>
            <a:endParaRPr lang="en-US" sz="1050" dirty="0"/>
          </a:p>
        </p:txBody>
      </p:sp>
      <p:sp>
        <p:nvSpPr>
          <p:cNvPr id="42" name="Text 40"/>
          <p:cNvSpPr txBox="1"/>
          <p:nvPr/>
        </p:nvSpPr>
        <p:spPr>
          <a:xfrm>
            <a:off x="6951141" y="4425696"/>
            <a:ext cx="549927"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12</a:t>
            </a:r>
            <a:endParaRPr lang="en-US" sz="1050" dirty="0"/>
          </a:p>
        </p:txBody>
      </p:sp>
      <p:sp>
        <p:nvSpPr>
          <p:cNvPr id="43" name="Text 41"/>
          <p:cNvSpPr txBox="1"/>
          <p:nvPr/>
        </p:nvSpPr>
        <p:spPr>
          <a:xfrm>
            <a:off x="7537645" y="4663440"/>
            <a:ext cx="1710588" cy="548640"/>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00110</a:t>
            </a:r>
            <a:endParaRPr lang="en-US" sz="1600" dirty="0"/>
          </a:p>
        </p:txBody>
      </p:sp>
      <p:sp>
        <p:nvSpPr>
          <p:cNvPr id="44" name="Text 42"/>
          <p:cNvSpPr txBox="1"/>
          <p:nvPr/>
        </p:nvSpPr>
        <p:spPr>
          <a:xfrm>
            <a:off x="7537645" y="5266944"/>
            <a:ext cx="1710588"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rd</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x6 = t1</a:t>
            </a:r>
            <a:endParaRPr lang="en-US" sz="1300" dirty="0"/>
          </a:p>
        </p:txBody>
      </p:sp>
      <p:sp>
        <p:nvSpPr>
          <p:cNvPr id="45" name="Text 43"/>
          <p:cNvSpPr txBox="1"/>
          <p:nvPr/>
        </p:nvSpPr>
        <p:spPr>
          <a:xfrm>
            <a:off x="7574221" y="4425696"/>
            <a:ext cx="85529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11</a:t>
            </a:r>
            <a:endParaRPr lang="en-US" sz="1050" dirty="0"/>
          </a:p>
        </p:txBody>
      </p:sp>
      <p:sp>
        <p:nvSpPr>
          <p:cNvPr id="46" name="Text 44"/>
          <p:cNvSpPr txBox="1"/>
          <p:nvPr/>
        </p:nvSpPr>
        <p:spPr>
          <a:xfrm>
            <a:off x="8392939" y="4425696"/>
            <a:ext cx="81871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7</a:t>
            </a:r>
            <a:endParaRPr lang="en-US" sz="1050" dirty="0"/>
          </a:p>
        </p:txBody>
      </p:sp>
      <p:sp>
        <p:nvSpPr>
          <p:cNvPr id="47" name="Text 45"/>
          <p:cNvSpPr txBox="1"/>
          <p:nvPr/>
        </p:nvSpPr>
        <p:spPr>
          <a:xfrm>
            <a:off x="9248232" y="4663440"/>
            <a:ext cx="2394823" cy="548640"/>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0000011</a:t>
            </a:r>
            <a:endParaRPr lang="en-US" sz="1600" dirty="0"/>
          </a:p>
        </p:txBody>
      </p:sp>
      <p:sp>
        <p:nvSpPr>
          <p:cNvPr id="48" name="Text 46"/>
          <p:cNvSpPr txBox="1"/>
          <p:nvPr/>
        </p:nvSpPr>
        <p:spPr>
          <a:xfrm>
            <a:off x="9248232" y="5266944"/>
            <a:ext cx="2394823"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opcode</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load</a:t>
            </a:r>
            <a:endParaRPr lang="en-US" sz="1300" dirty="0"/>
          </a:p>
        </p:txBody>
      </p:sp>
      <p:sp>
        <p:nvSpPr>
          <p:cNvPr id="49" name="Text 47"/>
          <p:cNvSpPr txBox="1"/>
          <p:nvPr/>
        </p:nvSpPr>
        <p:spPr>
          <a:xfrm>
            <a:off x="9284808" y="4425696"/>
            <a:ext cx="1197411"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6</a:t>
            </a:r>
            <a:endParaRPr lang="en-US" sz="1050" dirty="0"/>
          </a:p>
        </p:txBody>
      </p:sp>
      <p:sp>
        <p:nvSpPr>
          <p:cNvPr id="50" name="Text 48"/>
          <p:cNvSpPr txBox="1"/>
          <p:nvPr/>
        </p:nvSpPr>
        <p:spPr>
          <a:xfrm>
            <a:off x="10445644" y="4425696"/>
            <a:ext cx="1160835"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Instructions of fixed or of variable length</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Fixed length: word machines</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All the instructions have the same length in bits</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next instruction is always at PC plus a constant</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Simple fetch and decode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RISC processors: RISC-V uses 32 bits</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With the compressed extension, 16 or 32, told apart by the two lowest bits</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Variable length: byte machines</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Instructions may have different lengths</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length is known only after decoding the first part</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Compact programs, complex decoding</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CISC processors: the MC68000 uses one to five words of 16 bits, Intel x86 one to fifteen bytes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Addressing modes: where an operand is found</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546259"/>
                <a:gridCol w="4910643"/>
                <a:gridCol w="3637513"/>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Mode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The operand is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RISC-V example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immediate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constant inside the instruction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addi t1, t1, 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content of a 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 t2, t0, t1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base plus displacement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memory word at register + constant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lw t1, 8(sp)</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PC-relative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an address at a distance from the instruction itself</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beq t0, t1, loop</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memory indirect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memory word whose address is in memory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not available: two loads</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03</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The processor cycle</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The fundamental algorithm of the processor.</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phases of the cycle</a:t>
            </a:r>
            <a:endParaRPr lang="en-US" sz="3200" dirty="0"/>
          </a:p>
        </p:txBody>
      </p:sp>
      <p:sp>
        <p:nvSpPr>
          <p:cNvPr id="3" name="Shape 1"/>
          <p:cNvSpPr/>
          <p:nvPr/>
        </p:nvSpPr>
        <p:spPr>
          <a:xfrm>
            <a:off x="548640" y="1874520"/>
            <a:ext cx="1926275" cy="2468880"/>
          </a:xfrm>
          <a:prstGeom prst="roundRect">
            <a:avLst>
              <a:gd name="adj" fmla="val 3798"/>
            </a:avLst>
          </a:prstGeom>
          <a:solidFill>
            <a:srgbClr val="EEF2F4"/>
          </a:solidFill>
          <a:ln w="12700">
            <a:solidFill>
              <a:srgbClr val="EEF2F4"/>
            </a:solidFill>
            <a:prstDash val="solid"/>
          </a:ln>
        </p:spPr>
      </p:sp>
      <p:sp>
        <p:nvSpPr>
          <p:cNvPr id="4" name="Text 2"/>
          <p:cNvSpPr txBox="1"/>
          <p:nvPr/>
        </p:nvSpPr>
        <p:spPr>
          <a:xfrm>
            <a:off x="685800" y="2057400"/>
            <a:ext cx="1651955"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Fetch</a:t>
            </a:r>
            <a:endParaRPr lang="en-US" sz="1900" dirty="0"/>
          </a:p>
        </p:txBody>
      </p:sp>
      <p:sp>
        <p:nvSpPr>
          <p:cNvPr id="5" name="Text 3"/>
          <p:cNvSpPr txBox="1"/>
          <p:nvPr/>
        </p:nvSpPr>
        <p:spPr>
          <a:xfrm>
            <a:off x="68580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the instruction at the address in the PC is read from memory; the PC advances</a:t>
            </a:r>
            <a:endParaRPr lang="en-US" sz="1400" dirty="0"/>
          </a:p>
        </p:txBody>
      </p:sp>
      <p:sp>
        <p:nvSpPr>
          <p:cNvPr id="6" name="Shape 4"/>
          <p:cNvSpPr/>
          <p:nvPr/>
        </p:nvSpPr>
        <p:spPr>
          <a:xfrm>
            <a:off x="2520635"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840675" y="1874520"/>
            <a:ext cx="1926275" cy="2468880"/>
          </a:xfrm>
          <a:prstGeom prst="roundRect">
            <a:avLst>
              <a:gd name="adj" fmla="val 3798"/>
            </a:avLst>
          </a:prstGeom>
          <a:solidFill>
            <a:srgbClr val="EEF2F4"/>
          </a:solidFill>
          <a:ln w="12700">
            <a:solidFill>
              <a:srgbClr val="EEF2F4"/>
            </a:solidFill>
            <a:prstDash val="solid"/>
          </a:ln>
        </p:spPr>
      </p:sp>
      <p:sp>
        <p:nvSpPr>
          <p:cNvPr id="8" name="Text 6"/>
          <p:cNvSpPr txBox="1"/>
          <p:nvPr/>
        </p:nvSpPr>
        <p:spPr>
          <a:xfrm>
            <a:off x="2977835" y="2057400"/>
            <a:ext cx="1651955"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Decode</a:t>
            </a:r>
            <a:endParaRPr lang="en-US" sz="1900" dirty="0"/>
          </a:p>
        </p:txBody>
      </p:sp>
      <p:sp>
        <p:nvSpPr>
          <p:cNvPr id="9" name="Text 7"/>
          <p:cNvSpPr txBox="1"/>
          <p:nvPr/>
        </p:nvSpPr>
        <p:spPr>
          <a:xfrm>
            <a:off x="2977835"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the opcode is recognised; the registers named by the instruction are read</a:t>
            </a:r>
            <a:endParaRPr lang="en-US" sz="1400" dirty="0"/>
          </a:p>
        </p:txBody>
      </p:sp>
      <p:sp>
        <p:nvSpPr>
          <p:cNvPr id="10" name="Shape 8"/>
          <p:cNvSpPr/>
          <p:nvPr/>
        </p:nvSpPr>
        <p:spPr>
          <a:xfrm>
            <a:off x="4812670"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5132710" y="1874520"/>
            <a:ext cx="1926275" cy="2468880"/>
          </a:xfrm>
          <a:prstGeom prst="roundRect">
            <a:avLst>
              <a:gd name="adj" fmla="val 3798"/>
            </a:avLst>
          </a:prstGeom>
          <a:solidFill>
            <a:srgbClr val="EEF2F4"/>
          </a:solidFill>
          <a:ln w="12700">
            <a:solidFill>
              <a:srgbClr val="EEF2F4"/>
            </a:solidFill>
            <a:prstDash val="solid"/>
          </a:ln>
        </p:spPr>
      </p:sp>
      <p:sp>
        <p:nvSpPr>
          <p:cNvPr id="12" name="Text 10"/>
          <p:cNvSpPr txBox="1"/>
          <p:nvPr/>
        </p:nvSpPr>
        <p:spPr>
          <a:xfrm>
            <a:off x="5269870" y="2057400"/>
            <a:ext cx="1651955"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Execute</a:t>
            </a:r>
            <a:endParaRPr lang="en-US" sz="1900" dirty="0"/>
          </a:p>
        </p:txBody>
      </p:sp>
      <p:sp>
        <p:nvSpPr>
          <p:cNvPr id="13" name="Text 11"/>
          <p:cNvSpPr txBox="1"/>
          <p:nvPr/>
        </p:nvSpPr>
        <p:spPr>
          <a:xfrm>
            <a:off x="526987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the ALU computes: a result, an address or a comparison</a:t>
            </a:r>
            <a:endParaRPr lang="en-US" sz="1400" dirty="0"/>
          </a:p>
        </p:txBody>
      </p:sp>
      <p:sp>
        <p:nvSpPr>
          <p:cNvPr id="14" name="Shape 12"/>
          <p:cNvSpPr/>
          <p:nvPr/>
        </p:nvSpPr>
        <p:spPr>
          <a:xfrm>
            <a:off x="7104705"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7424745" y="1874520"/>
            <a:ext cx="1926275" cy="2468880"/>
          </a:xfrm>
          <a:prstGeom prst="roundRect">
            <a:avLst>
              <a:gd name="adj" fmla="val 3798"/>
            </a:avLst>
          </a:prstGeom>
          <a:solidFill>
            <a:srgbClr val="EEF2F4"/>
          </a:solidFill>
          <a:ln w="12700">
            <a:solidFill>
              <a:srgbClr val="EEF2F4"/>
            </a:solidFill>
            <a:prstDash val="solid"/>
          </a:ln>
        </p:spPr>
      </p:sp>
      <p:sp>
        <p:nvSpPr>
          <p:cNvPr id="16" name="Text 14"/>
          <p:cNvSpPr txBox="1"/>
          <p:nvPr/>
        </p:nvSpPr>
        <p:spPr>
          <a:xfrm>
            <a:off x="7561905" y="2057400"/>
            <a:ext cx="1651955"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Memory</a:t>
            </a:r>
            <a:endParaRPr lang="en-US" sz="1900" dirty="0"/>
          </a:p>
        </p:txBody>
      </p:sp>
      <p:sp>
        <p:nvSpPr>
          <p:cNvPr id="17" name="Text 15"/>
          <p:cNvSpPr txBox="1"/>
          <p:nvPr/>
        </p:nvSpPr>
        <p:spPr>
          <a:xfrm>
            <a:off x="7561905"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loads read the memory, stores write it; the others skip this phase</a:t>
            </a:r>
            <a:endParaRPr lang="en-US" sz="1400" dirty="0"/>
          </a:p>
        </p:txBody>
      </p:sp>
      <p:sp>
        <p:nvSpPr>
          <p:cNvPr id="18" name="Shape 16"/>
          <p:cNvSpPr/>
          <p:nvPr/>
        </p:nvSpPr>
        <p:spPr>
          <a:xfrm>
            <a:off x="9396740"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9716780" y="1874520"/>
            <a:ext cx="1926275" cy="2468880"/>
          </a:xfrm>
          <a:prstGeom prst="roundRect">
            <a:avLst>
              <a:gd name="adj" fmla="val 3798"/>
            </a:avLst>
          </a:prstGeom>
          <a:solidFill>
            <a:srgbClr val="EEF2F4"/>
          </a:solidFill>
          <a:ln w="12700">
            <a:solidFill>
              <a:srgbClr val="EEF2F4"/>
            </a:solidFill>
            <a:prstDash val="solid"/>
          </a:ln>
        </p:spPr>
      </p:sp>
      <p:sp>
        <p:nvSpPr>
          <p:cNvPr id="20" name="Text 18"/>
          <p:cNvSpPr txBox="1"/>
          <p:nvPr/>
        </p:nvSpPr>
        <p:spPr>
          <a:xfrm>
            <a:off x="9853940" y="2057400"/>
            <a:ext cx="1651955"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Write back</a:t>
            </a:r>
            <a:endParaRPr lang="en-US" sz="1900" dirty="0"/>
          </a:p>
        </p:txBody>
      </p:sp>
      <p:sp>
        <p:nvSpPr>
          <p:cNvPr id="21" name="Text 19"/>
          <p:cNvSpPr txBox="1"/>
          <p:nvPr/>
        </p:nvSpPr>
        <p:spPr>
          <a:xfrm>
            <a:off x="985394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the result is written into the destination register</a:t>
            </a:r>
            <a:endParaRPr lang="en-US" sz="1400" dirty="0"/>
          </a:p>
        </p:txBody>
      </p:sp>
      <p:sp>
        <p:nvSpPr>
          <p:cNvPr id="22" name="Shape 20"/>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3" name="Text 21"/>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After a start-up phase, the bootstrap, the processor repeats this cycle for ever. In processors with rich addressing modes, a phase of operand assembly collects the operands before the execution.</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fetch phase, transfer by transfer</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818440"/>
                <a:gridCol w="3273762"/>
                <a:gridCol w="7002213"/>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Step</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Register transfer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Meaning</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MA := PC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address of the instruction goes to the memory address register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2</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read enable; MB := M[MA]</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memory puts the instruction on the data bus; it is latched in the buffer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3</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D := MB</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instruction is copied into the decoding register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4</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PC := PC + 4</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PC now points to the next instruction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rest of the cycle for two instructions</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4365016"/>
                <a:gridCol w="5092518"/>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Phase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add t2, t0, t1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lw t1, 0(t0)</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decode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O1 := R[t0];  O2 := R[t1]</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O1 := R[t0];  O2 := 0  (the immediate)</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execute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U := O1 + O2</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U := O1 + O2  (an address)</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memory</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MA := U;  read enable;  MB := M[MA]</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write back</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R[t2] := U</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R[t1] := MB</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300" i="1" dirty="0">
                <a:solidFill>
                  <a:srgbClr val="5B6B78"/>
                </a:solidFill>
                <a:latin typeface="Calibri" pitchFamily="34" charset="0"/>
                <a:ea typeface="Calibri" pitchFamily="34" charset="-122"/>
                <a:cs typeface="Calibri" pitchFamily="34" charset="-120"/>
              </a:rPr>
              <a:t>The same ALU adds two registers for add and forms an address for lw. The control unit, by decoding the opcode, decides which transfers happen.</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pipeline</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03120"/>
                <a:gridCol w="1123912"/>
                <a:gridCol w="1123912"/>
                <a:gridCol w="1123912"/>
                <a:gridCol w="1123912"/>
                <a:gridCol w="1123912"/>
                <a:gridCol w="1123912"/>
                <a:gridCol w="1123912"/>
                <a:gridCol w="1123912"/>
              </a:tblGrid>
              <a:tr h="38404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clock cycle</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500" b="1" dirty="0">
                          <a:solidFill>
                            <a:srgbClr val="1B2530"/>
                          </a:solidFill>
                          <a:latin typeface="Calibri" pitchFamily="34" charset="0"/>
                          <a:ea typeface="Calibri" pitchFamily="34" charset="-122"/>
                          <a:cs typeface="Calibri" pitchFamily="34" charset="-120"/>
                        </a:rPr>
                        <a:t>instruction 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IF</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ID</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EX</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6E0F1"/>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MEM</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WB</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b="1" dirty="0">
                          <a:solidFill>
                            <a:srgbClr val="1B2530"/>
                          </a:solidFill>
                          <a:latin typeface="Calibri" pitchFamily="34" charset="0"/>
                          <a:ea typeface="Calibri" pitchFamily="34" charset="-122"/>
                          <a:cs typeface="Calibri" pitchFamily="34" charset="-120"/>
                        </a:rPr>
                        <a:t>instruction 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IF</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ID</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EX</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6E0F1"/>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MEM</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WB</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b="1" dirty="0">
                          <a:solidFill>
                            <a:srgbClr val="1B2530"/>
                          </a:solidFill>
                          <a:latin typeface="Calibri" pitchFamily="34" charset="0"/>
                          <a:ea typeface="Calibri" pitchFamily="34" charset="-122"/>
                          <a:cs typeface="Calibri" pitchFamily="34" charset="-120"/>
                        </a:rPr>
                        <a:t>instruction 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IF</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ID</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EX</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6E0F1"/>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MEM</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WB</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b="1" dirty="0">
                          <a:solidFill>
                            <a:srgbClr val="1B2530"/>
                          </a:solidFill>
                          <a:latin typeface="Calibri" pitchFamily="34" charset="0"/>
                          <a:ea typeface="Calibri" pitchFamily="34" charset="-122"/>
                          <a:cs typeface="Calibri" pitchFamily="34" charset="-120"/>
                        </a:rPr>
                        <a:t>instruction 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IF</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ID</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EX</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6E0F1"/>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MEM</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WB</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r>
            </a:tbl>
          </a:graphicData>
        </a:graphic>
      </p:graphicFrame>
      <p:sp>
        <p:nvSpPr>
          <p:cNvPr id="4" name="Shape 1"/>
          <p:cNvSpPr/>
          <p:nvPr/>
        </p:nvSpPr>
        <p:spPr>
          <a:xfrm>
            <a:off x="548640" y="3657092"/>
            <a:ext cx="146304" cy="146304"/>
          </a:xfrm>
          <a:prstGeom prst="rect">
            <a:avLst/>
          </a:prstGeom>
          <a:solidFill>
            <a:srgbClr val="0E7C86"/>
          </a:solidFill>
          <a:ln w="12700">
            <a:solidFill>
              <a:srgbClr val="0E7C86"/>
            </a:solidFill>
            <a:prstDash val="solid"/>
          </a:ln>
        </p:spPr>
      </p:sp>
      <p:sp>
        <p:nvSpPr>
          <p:cNvPr id="5" name="Text 2"/>
          <p:cNvSpPr txBox="1"/>
          <p:nvPr/>
        </p:nvSpPr>
        <p:spPr>
          <a:xfrm>
            <a:off x="932688" y="3566160"/>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Five phases, five pieces of hardware: while one instruction executes, the next is decoded and a third is fetched</a:t>
            </a:r>
            <a:endParaRPr lang="en-US" sz="2000" dirty="0"/>
          </a:p>
        </p:txBody>
      </p:sp>
      <p:sp>
        <p:nvSpPr>
          <p:cNvPr id="6" name="Shape 3"/>
          <p:cNvSpPr/>
          <p:nvPr/>
        </p:nvSpPr>
        <p:spPr>
          <a:xfrm>
            <a:off x="548640" y="4422479"/>
            <a:ext cx="146304" cy="146304"/>
          </a:xfrm>
          <a:prstGeom prst="rect">
            <a:avLst/>
          </a:prstGeom>
          <a:solidFill>
            <a:srgbClr val="C7791B"/>
          </a:solidFill>
          <a:ln w="12700">
            <a:solidFill>
              <a:srgbClr val="C7791B"/>
            </a:solidFill>
            <a:prstDash val="solid"/>
          </a:ln>
        </p:spPr>
      </p:sp>
      <p:sp>
        <p:nvSpPr>
          <p:cNvPr id="7" name="Text 4"/>
          <p:cNvSpPr txBox="1"/>
          <p:nvPr/>
        </p:nvSpPr>
        <p:spPr>
          <a:xfrm>
            <a:off x="932688" y="4331547"/>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Each instruction still takes five cycles, but one completes at every clock cycle: five times the throughput</a:t>
            </a:r>
            <a:endParaRPr lang="en-US" sz="2000" dirty="0"/>
          </a:p>
        </p:txBody>
      </p:sp>
      <p:sp>
        <p:nvSpPr>
          <p:cNvPr id="8" name="Shape 5"/>
          <p:cNvSpPr/>
          <p:nvPr/>
        </p:nvSpPr>
        <p:spPr>
          <a:xfrm>
            <a:off x="548640" y="5187865"/>
            <a:ext cx="146304" cy="146304"/>
          </a:xfrm>
          <a:prstGeom prst="rect">
            <a:avLst/>
          </a:prstGeom>
          <a:solidFill>
            <a:srgbClr val="0E7C86"/>
          </a:solidFill>
          <a:ln w="12700">
            <a:solidFill>
              <a:srgbClr val="0E7C86"/>
            </a:solidFill>
            <a:prstDash val="solid"/>
          </a:ln>
        </p:spPr>
      </p:sp>
      <p:sp>
        <p:nvSpPr>
          <p:cNvPr id="9" name="Text 6"/>
          <p:cNvSpPr txBox="1"/>
          <p:nvPr/>
        </p:nvSpPr>
        <p:spPr>
          <a:xfrm>
            <a:off x="932688" y="5096933"/>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Superscalar processors put two or more pipelines side by side: more than one instruction per cycle</a:t>
            </a:r>
            <a:endParaRPr lang="en-US" sz="2000" dirty="0"/>
          </a:p>
        </p:txBody>
      </p:sp>
      <p:sp>
        <p:nvSpPr>
          <p:cNvPr id="10" name="Shape 7"/>
          <p:cNvSpPr/>
          <p:nvPr/>
        </p:nvSpPr>
        <p:spPr>
          <a:xfrm>
            <a:off x="548640" y="5953252"/>
            <a:ext cx="146304" cy="146304"/>
          </a:xfrm>
          <a:prstGeom prst="rect">
            <a:avLst/>
          </a:prstGeom>
          <a:solidFill>
            <a:srgbClr val="C7791B"/>
          </a:solidFill>
          <a:ln w="12700">
            <a:solidFill>
              <a:srgbClr val="C7791B"/>
            </a:solidFill>
            <a:prstDash val="solid"/>
          </a:ln>
        </p:spPr>
      </p:sp>
      <p:sp>
        <p:nvSpPr>
          <p:cNvPr id="11" name="Text 8"/>
          <p:cNvSpPr txBox="1"/>
          <p:nvPr/>
        </p:nvSpPr>
        <p:spPr>
          <a:xfrm>
            <a:off x="932688" y="5862320"/>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main core of the ESP32-C6 has a four-stage pipeline</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04</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Interrupts</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When the cycle must be broken.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problem with the simple cycle</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If the processor only ever did fetch, decode, execute, some problems would arise</a:t>
            </a:r>
            <a:endParaRPr lang="en-US" sz="2400" dirty="0"/>
          </a:p>
        </p:txBody>
      </p:sp>
      <p:sp>
        <p:nvSpPr>
          <p:cNvPr id="5" name="Shape 3"/>
          <p:cNvSpPr/>
          <p:nvPr/>
        </p:nvSpPr>
        <p:spPr>
          <a:xfrm>
            <a:off x="548640" y="262839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06472"/>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Interaction with the outside world through the I/O units would be inefficient: the program would have to keep asking</a:t>
            </a:r>
            <a:endParaRPr lang="en-US" sz="2400" dirty="0"/>
          </a:p>
        </p:txBody>
      </p:sp>
      <p:sp>
        <p:nvSpPr>
          <p:cNvPr id="7" name="Shape 5"/>
          <p:cNvSpPr/>
          <p:nvPr/>
        </p:nvSpPr>
        <p:spPr>
          <a:xfrm>
            <a:off x="548640" y="408940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67480"/>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There would be no way to forcibly remove an application that enters an infinite loop by mistake</a:t>
            </a:r>
            <a:endParaRPr lang="en-US" sz="2400" dirty="0"/>
          </a:p>
        </p:txBody>
      </p:sp>
      <p:sp>
        <p:nvSpPr>
          <p:cNvPr id="9" name="Shape 7"/>
          <p:cNvSpPr/>
          <p:nvPr/>
        </p:nvSpPr>
        <p:spPr>
          <a:xfrm>
            <a:off x="548640" y="555040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428488"/>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operating system would have limited control over the system</a:t>
            </a:r>
            <a:endParaRPr lang="en-US" sz="24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j loop</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a program stuck in an endless loop: who takes the processor away from it?</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Interrupts</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Definition</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200" i="1" dirty="0">
                <a:solidFill>
                  <a:srgbClr val="1B2530"/>
                </a:solidFill>
                <a:latin typeface="Cambria" pitchFamily="34" charset="0"/>
                <a:ea typeface="Cambria" pitchFamily="34" charset="-122"/>
                <a:cs typeface="Cambria" pitchFamily="34" charset="-120"/>
              </a:rPr>
              <a:t>Exceptional events, usually asynchronous with respect to the execution of the program in progress, that require the attention of the processor.</a:t>
            </a:r>
            <a:endParaRPr lang="en-US" sz="2200" dirty="0"/>
          </a:p>
        </p:txBody>
      </p:sp>
      <p:sp>
        <p:nvSpPr>
          <p:cNvPr id="6" name="Shape 4"/>
          <p:cNvSpPr/>
          <p:nvPr/>
        </p:nvSpPr>
        <p:spPr>
          <a:xfrm>
            <a:off x="548640" y="3455416"/>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33496"/>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RISC-V vocabulary: an interrupt comes from outside the program, at any moment: a timer, a device</a:t>
            </a:r>
            <a:endParaRPr lang="en-US" sz="2400" dirty="0"/>
          </a:p>
        </p:txBody>
      </p:sp>
      <p:sp>
        <p:nvSpPr>
          <p:cNvPr id="8" name="Shape 6"/>
          <p:cNvSpPr/>
          <p:nvPr/>
        </p:nvSpPr>
        <p:spPr>
          <a:xfrm>
            <a:off x="548640" y="4502912"/>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380992"/>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An exception is caused by the instruction being executed: an illegal opcode, a forbidden address</a:t>
            </a:r>
            <a:endParaRPr lang="en-US" sz="2400" dirty="0"/>
          </a:p>
        </p:txBody>
      </p:sp>
      <p:sp>
        <p:nvSpPr>
          <p:cNvPr id="10" name="Shape 8"/>
          <p:cNvSpPr/>
          <p:nvPr/>
        </p:nvSpPr>
        <p:spPr>
          <a:xfrm>
            <a:off x="548640" y="5550408"/>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42848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 trap is the transfer of control to a handler that follows either of them</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real processor cycle</a:t>
            </a:r>
            <a:endParaRPr lang="en-US" sz="3200" dirty="0"/>
          </a:p>
        </p:txBody>
      </p:sp>
      <p:sp>
        <p:nvSpPr>
          <p:cNvPr id="3" name="Text 1"/>
          <p:cNvSpPr txBox="1"/>
          <p:nvPr/>
        </p:nvSpPr>
        <p:spPr>
          <a:xfrm>
            <a:off x="731520" y="1874520"/>
            <a:ext cx="1828800" cy="731520"/>
          </a:xfrm>
          <a:prstGeom prst="roundRect">
            <a:avLst>
              <a:gd name="adj" fmla="val 7500"/>
            </a:avLst>
          </a:prstGeom>
          <a:solidFill>
            <a:srgbClr val="2E4A62"/>
          </a:solidFill>
          <a:ln>
            <a:solidFill>
              <a:srgbClr val="2E4A62"/>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bootstrap</a:t>
            </a:r>
            <a:endParaRPr lang="en-US" sz="1500" dirty="0"/>
          </a:p>
        </p:txBody>
      </p:sp>
      <p:sp>
        <p:nvSpPr>
          <p:cNvPr id="4" name="Text 2"/>
          <p:cNvSpPr txBox="1"/>
          <p:nvPr/>
        </p:nvSpPr>
        <p:spPr>
          <a:xfrm>
            <a:off x="3108960" y="1874520"/>
            <a:ext cx="1828800" cy="731520"/>
          </a:xfrm>
          <a:prstGeom prst="roundRect">
            <a:avLst>
              <a:gd name="adj" fmla="val 75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fetch</a:t>
            </a:r>
            <a:endParaRPr lang="en-US" sz="1500" dirty="0"/>
          </a:p>
        </p:txBody>
      </p:sp>
      <p:sp>
        <p:nvSpPr>
          <p:cNvPr id="5" name="Text 3"/>
          <p:cNvSpPr txBox="1"/>
          <p:nvPr/>
        </p:nvSpPr>
        <p:spPr>
          <a:xfrm>
            <a:off x="5486400" y="1874520"/>
            <a:ext cx="1828800" cy="731520"/>
          </a:xfrm>
          <a:prstGeom prst="roundRect">
            <a:avLst>
              <a:gd name="adj" fmla="val 75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decode and</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execute</a:t>
            </a:r>
            <a:endParaRPr lang="en-US" sz="1500" dirty="0"/>
          </a:p>
        </p:txBody>
      </p:sp>
      <p:sp>
        <p:nvSpPr>
          <p:cNvPr id="6" name="Shape 4"/>
          <p:cNvSpPr/>
          <p:nvPr/>
        </p:nvSpPr>
        <p:spPr>
          <a:xfrm>
            <a:off x="2587752" y="2240280"/>
            <a:ext cx="493776" cy="0"/>
          </a:xfrm>
          <a:prstGeom prst="line">
            <a:avLst/>
          </a:prstGeom>
          <a:noFill/>
          <a:ln w="31750">
            <a:solidFill>
              <a:srgbClr val="5B6B78"/>
            </a:solidFill>
            <a:prstDash val="solid"/>
            <a:tailEnd type="triangle"/>
          </a:ln>
        </p:spPr>
      </p:sp>
      <p:sp>
        <p:nvSpPr>
          <p:cNvPr id="7" name="Shape 5"/>
          <p:cNvSpPr/>
          <p:nvPr/>
        </p:nvSpPr>
        <p:spPr>
          <a:xfrm>
            <a:off x="4965192" y="2240280"/>
            <a:ext cx="493776" cy="0"/>
          </a:xfrm>
          <a:prstGeom prst="line">
            <a:avLst/>
          </a:prstGeom>
          <a:noFill/>
          <a:ln w="31750">
            <a:solidFill>
              <a:srgbClr val="5B6B78"/>
            </a:solidFill>
            <a:prstDash val="solid"/>
            <a:tailEnd type="triangle"/>
          </a:ln>
        </p:spPr>
      </p:sp>
      <p:sp>
        <p:nvSpPr>
          <p:cNvPr id="8" name="Text 6"/>
          <p:cNvSpPr txBox="1"/>
          <p:nvPr/>
        </p:nvSpPr>
        <p:spPr>
          <a:xfrm>
            <a:off x="5486400" y="3520440"/>
            <a:ext cx="1828800" cy="822960"/>
          </a:xfrm>
          <a:prstGeom prst="roundRect">
            <a:avLst>
              <a:gd name="adj" fmla="val 6667"/>
            </a:avLst>
          </a:prstGeom>
          <a:solidFill>
            <a:srgbClr val="B23A48"/>
          </a:solidFill>
          <a:ln>
            <a:solidFill>
              <a:srgbClr val="B23A48"/>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interrupt</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pending?</a:t>
            </a:r>
            <a:endParaRPr lang="en-US" sz="1500" dirty="0"/>
          </a:p>
        </p:txBody>
      </p:sp>
      <p:sp>
        <p:nvSpPr>
          <p:cNvPr id="9" name="Shape 7"/>
          <p:cNvSpPr/>
          <p:nvPr/>
        </p:nvSpPr>
        <p:spPr>
          <a:xfrm>
            <a:off x="6400800" y="2633472"/>
            <a:ext cx="0" cy="859536"/>
          </a:xfrm>
          <a:prstGeom prst="line">
            <a:avLst/>
          </a:prstGeom>
          <a:noFill/>
          <a:ln w="31750">
            <a:solidFill>
              <a:srgbClr val="5B6B78"/>
            </a:solidFill>
            <a:prstDash val="solid"/>
            <a:tailEnd type="triangle"/>
          </a:ln>
        </p:spPr>
      </p:sp>
      <p:sp>
        <p:nvSpPr>
          <p:cNvPr id="10" name="Shape 8"/>
          <p:cNvSpPr/>
          <p:nvPr/>
        </p:nvSpPr>
        <p:spPr>
          <a:xfrm flipH="1">
            <a:off x="4023360" y="3931920"/>
            <a:ext cx="1435608" cy="0"/>
          </a:xfrm>
          <a:prstGeom prst="line">
            <a:avLst/>
          </a:prstGeom>
          <a:noFill/>
          <a:ln w="31750">
            <a:solidFill>
              <a:srgbClr val="5B6B78"/>
            </a:solidFill>
            <a:prstDash val="solid"/>
          </a:ln>
        </p:spPr>
      </p:sp>
      <p:sp>
        <p:nvSpPr>
          <p:cNvPr id="11" name="Shape 9"/>
          <p:cNvSpPr/>
          <p:nvPr/>
        </p:nvSpPr>
        <p:spPr>
          <a:xfrm flipV="1">
            <a:off x="4023360" y="2633472"/>
            <a:ext cx="0" cy="1298448"/>
          </a:xfrm>
          <a:prstGeom prst="line">
            <a:avLst/>
          </a:prstGeom>
          <a:noFill/>
          <a:ln w="31750">
            <a:solidFill>
              <a:srgbClr val="5B6B78"/>
            </a:solidFill>
            <a:prstDash val="solid"/>
            <a:tailEnd type="triangle"/>
          </a:ln>
        </p:spPr>
      </p:sp>
      <p:sp>
        <p:nvSpPr>
          <p:cNvPr id="12" name="Text 10"/>
          <p:cNvSpPr txBox="1"/>
          <p:nvPr/>
        </p:nvSpPr>
        <p:spPr>
          <a:xfrm>
            <a:off x="4480560" y="3611880"/>
            <a:ext cx="548640" cy="274320"/>
          </a:xfrm>
          <a:prstGeom prst="rect">
            <a:avLst/>
          </a:prstGeom>
          <a:noFill/>
          <a:ln/>
        </p:spPr>
        <p:txBody>
          <a:bodyPr wrap="square" lIns="0" tIns="0" rIns="0" bIns="0" rtlCol="0" anchor="t"/>
          <a:lstStyle/>
          <a:p>
            <a:pPr indent="0" marL="0">
              <a:buNone/>
            </a:pPr>
            <a:r>
              <a:rPr lang="en-US" sz="1400" b="1" dirty="0">
                <a:solidFill>
                  <a:srgbClr val="5B6B78"/>
                </a:solidFill>
                <a:latin typeface="Calibri" pitchFamily="34" charset="0"/>
                <a:ea typeface="Calibri" pitchFamily="34" charset="-122"/>
                <a:cs typeface="Calibri" pitchFamily="34" charset="-120"/>
              </a:rPr>
              <a:t>no</a:t>
            </a:r>
            <a:endParaRPr lang="en-US" sz="1400" dirty="0"/>
          </a:p>
        </p:txBody>
      </p:sp>
      <p:sp>
        <p:nvSpPr>
          <p:cNvPr id="13" name="Text 11"/>
          <p:cNvSpPr txBox="1"/>
          <p:nvPr/>
        </p:nvSpPr>
        <p:spPr>
          <a:xfrm>
            <a:off x="5486400" y="5166360"/>
            <a:ext cx="1828800" cy="822960"/>
          </a:xfrm>
          <a:prstGeom prst="roundRect">
            <a:avLst>
              <a:gd name="adj" fmla="val 6667"/>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trap: go to</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the handler</a:t>
            </a:r>
            <a:endParaRPr lang="en-US" sz="1500" dirty="0"/>
          </a:p>
        </p:txBody>
      </p:sp>
      <p:sp>
        <p:nvSpPr>
          <p:cNvPr id="14" name="Shape 12"/>
          <p:cNvSpPr/>
          <p:nvPr/>
        </p:nvSpPr>
        <p:spPr>
          <a:xfrm>
            <a:off x="6400800" y="4370832"/>
            <a:ext cx="0" cy="768096"/>
          </a:xfrm>
          <a:prstGeom prst="line">
            <a:avLst/>
          </a:prstGeom>
          <a:noFill/>
          <a:ln w="31750">
            <a:solidFill>
              <a:srgbClr val="B23A48"/>
            </a:solidFill>
            <a:prstDash val="solid"/>
            <a:tailEnd type="triangle"/>
          </a:ln>
        </p:spPr>
      </p:sp>
      <p:sp>
        <p:nvSpPr>
          <p:cNvPr id="15" name="Text 13"/>
          <p:cNvSpPr txBox="1"/>
          <p:nvPr/>
        </p:nvSpPr>
        <p:spPr>
          <a:xfrm>
            <a:off x="6492240" y="4572000"/>
            <a:ext cx="640080" cy="27432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yes</a:t>
            </a:r>
            <a:endParaRPr lang="en-US" sz="1400" dirty="0"/>
          </a:p>
        </p:txBody>
      </p:sp>
      <p:sp>
        <p:nvSpPr>
          <p:cNvPr id="16" name="Shape 14"/>
          <p:cNvSpPr/>
          <p:nvPr/>
        </p:nvSpPr>
        <p:spPr>
          <a:xfrm flipH="1">
            <a:off x="2743200" y="5577840"/>
            <a:ext cx="2715768" cy="0"/>
          </a:xfrm>
          <a:prstGeom prst="line">
            <a:avLst/>
          </a:prstGeom>
          <a:noFill/>
          <a:ln w="31750">
            <a:solidFill>
              <a:srgbClr val="5B6B78"/>
            </a:solidFill>
            <a:prstDash val="solid"/>
          </a:ln>
        </p:spPr>
      </p:sp>
      <p:sp>
        <p:nvSpPr>
          <p:cNvPr id="17" name="Shape 15"/>
          <p:cNvSpPr/>
          <p:nvPr/>
        </p:nvSpPr>
        <p:spPr>
          <a:xfrm flipV="1">
            <a:off x="2743200" y="3063240"/>
            <a:ext cx="0" cy="2514600"/>
          </a:xfrm>
          <a:prstGeom prst="line">
            <a:avLst/>
          </a:prstGeom>
          <a:noFill/>
          <a:ln w="31750">
            <a:solidFill>
              <a:srgbClr val="5B6B78"/>
            </a:solidFill>
            <a:prstDash val="solid"/>
          </a:ln>
        </p:spPr>
      </p:sp>
      <p:sp>
        <p:nvSpPr>
          <p:cNvPr id="18" name="Shape 16"/>
          <p:cNvSpPr/>
          <p:nvPr/>
        </p:nvSpPr>
        <p:spPr>
          <a:xfrm>
            <a:off x="2743200" y="3063240"/>
            <a:ext cx="822960" cy="0"/>
          </a:xfrm>
          <a:prstGeom prst="line">
            <a:avLst/>
          </a:prstGeom>
          <a:noFill/>
          <a:ln w="31750">
            <a:solidFill>
              <a:srgbClr val="5B6B78"/>
            </a:solidFill>
            <a:prstDash val="solid"/>
          </a:ln>
        </p:spPr>
      </p:sp>
      <p:sp>
        <p:nvSpPr>
          <p:cNvPr id="19" name="Shape 17"/>
          <p:cNvSpPr/>
          <p:nvPr/>
        </p:nvSpPr>
        <p:spPr>
          <a:xfrm flipV="1">
            <a:off x="3566160" y="2633472"/>
            <a:ext cx="0" cy="429768"/>
          </a:xfrm>
          <a:prstGeom prst="line">
            <a:avLst/>
          </a:prstGeom>
          <a:noFill/>
          <a:ln w="31750">
            <a:solidFill>
              <a:srgbClr val="5B6B78"/>
            </a:solidFill>
            <a:prstDash val="solid"/>
            <a:tailEnd type="triangle"/>
          </a:ln>
        </p:spPr>
      </p:sp>
      <p:sp>
        <p:nvSpPr>
          <p:cNvPr id="20" name="Shape 18"/>
          <p:cNvSpPr/>
          <p:nvPr/>
        </p:nvSpPr>
        <p:spPr>
          <a:xfrm>
            <a:off x="7863840" y="1492758"/>
            <a:ext cx="146304" cy="146304"/>
          </a:xfrm>
          <a:prstGeom prst="rect">
            <a:avLst/>
          </a:prstGeom>
          <a:solidFill>
            <a:srgbClr val="0E7C86"/>
          </a:solidFill>
          <a:ln w="12700">
            <a:solidFill>
              <a:srgbClr val="0E7C86"/>
            </a:solidFill>
            <a:prstDash val="solid"/>
          </a:ln>
        </p:spPr>
      </p:sp>
      <p:sp>
        <p:nvSpPr>
          <p:cNvPr id="21" name="Text 19"/>
          <p:cNvSpPr txBox="1"/>
          <p:nvPr/>
        </p:nvSpPr>
        <p:spPr>
          <a:xfrm>
            <a:off x="8247888" y="1417320"/>
            <a:ext cx="339516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At the end of each instruction the processor checks whether any interrupt signal has occurred</a:t>
            </a:r>
            <a:endParaRPr lang="en-US" sz="1800" dirty="0"/>
          </a:p>
        </p:txBody>
      </p:sp>
      <p:sp>
        <p:nvSpPr>
          <p:cNvPr id="22" name="Shape 20"/>
          <p:cNvSpPr/>
          <p:nvPr/>
        </p:nvSpPr>
        <p:spPr>
          <a:xfrm>
            <a:off x="7863840" y="2798826"/>
            <a:ext cx="146304" cy="146304"/>
          </a:xfrm>
          <a:prstGeom prst="rect">
            <a:avLst/>
          </a:prstGeom>
          <a:solidFill>
            <a:srgbClr val="C7791B"/>
          </a:solidFill>
          <a:ln w="12700">
            <a:solidFill>
              <a:srgbClr val="C7791B"/>
            </a:solidFill>
            <a:prstDash val="solid"/>
          </a:ln>
        </p:spPr>
      </p:sp>
      <p:sp>
        <p:nvSpPr>
          <p:cNvPr id="23" name="Text 21"/>
          <p:cNvSpPr txBox="1"/>
          <p:nvPr/>
        </p:nvSpPr>
        <p:spPr>
          <a:xfrm>
            <a:off x="8247888" y="2723388"/>
            <a:ext cx="339516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If there is none, the processing returns to the fetch phase</a:t>
            </a:r>
            <a:endParaRPr lang="en-US" sz="1800" dirty="0"/>
          </a:p>
        </p:txBody>
      </p:sp>
      <p:sp>
        <p:nvSpPr>
          <p:cNvPr id="24" name="Shape 22"/>
          <p:cNvSpPr/>
          <p:nvPr/>
        </p:nvSpPr>
        <p:spPr>
          <a:xfrm>
            <a:off x="7863840" y="3826002"/>
            <a:ext cx="146304" cy="146304"/>
          </a:xfrm>
          <a:prstGeom prst="rect">
            <a:avLst/>
          </a:prstGeom>
          <a:solidFill>
            <a:srgbClr val="0E7C86"/>
          </a:solidFill>
          <a:ln w="12700">
            <a:solidFill>
              <a:srgbClr val="0E7C86"/>
            </a:solidFill>
            <a:prstDash val="solid"/>
          </a:ln>
        </p:spPr>
      </p:sp>
      <p:sp>
        <p:nvSpPr>
          <p:cNvPr id="25" name="Text 23"/>
          <p:cNvSpPr txBox="1"/>
          <p:nvPr/>
        </p:nvSpPr>
        <p:spPr>
          <a:xfrm>
            <a:off x="8247888" y="3750564"/>
            <a:ext cx="3395167" cy="1394460"/>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If there is one, the processor passes to the supervisor state and starts executing a routine of the system</a:t>
            </a:r>
            <a:endParaRPr lang="en-US" sz="1800" dirty="0"/>
          </a:p>
        </p:txBody>
      </p:sp>
      <p:sp>
        <p:nvSpPr>
          <p:cNvPr id="26" name="Shape 24"/>
          <p:cNvSpPr/>
          <p:nvPr/>
        </p:nvSpPr>
        <p:spPr>
          <a:xfrm>
            <a:off x="7863840" y="5410962"/>
            <a:ext cx="146304" cy="146304"/>
          </a:xfrm>
          <a:prstGeom prst="rect">
            <a:avLst/>
          </a:prstGeom>
          <a:solidFill>
            <a:srgbClr val="C7791B"/>
          </a:solidFill>
          <a:ln w="12700">
            <a:solidFill>
              <a:srgbClr val="C7791B"/>
            </a:solidFill>
            <a:prstDash val="solid"/>
          </a:ln>
        </p:spPr>
      </p:sp>
      <p:sp>
        <p:nvSpPr>
          <p:cNvPr id="27" name="Text 25"/>
          <p:cNvSpPr txBox="1"/>
          <p:nvPr/>
        </p:nvSpPr>
        <p:spPr>
          <a:xfrm>
            <a:off x="8247888" y="5335524"/>
            <a:ext cx="339516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When the routine ends, the suspended program can resume as if nothing had happened</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Possible causes of interruption</a:t>
            </a:r>
            <a:endParaRPr lang="en-US" sz="3200" dirty="0"/>
          </a:p>
        </p:txBody>
      </p:sp>
      <p:sp>
        <p:nvSpPr>
          <p:cNvPr id="3" name="Shape 1"/>
          <p:cNvSpPr/>
          <p:nvPr/>
        </p:nvSpPr>
        <p:spPr>
          <a:xfrm>
            <a:off x="548640" y="141732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Periodic interrupt</a:t>
            </a:r>
            <a:endParaRPr lang="en-US" sz="2000" dirty="0"/>
          </a:p>
        </p:txBody>
      </p:sp>
      <p:sp>
        <p:nvSpPr>
          <p:cNvPr id="6" name="Text 4"/>
          <p:cNvSpPr txBox="1"/>
          <p:nvPr/>
        </p:nvSpPr>
        <p:spPr>
          <a:xfrm>
            <a:off x="822960"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A timer, for example every 10 ms: to share the processor among programs and to measure the time each one uses.</a:t>
            </a:r>
            <a:endParaRPr lang="en-US" sz="1500" dirty="0"/>
          </a:p>
        </p:txBody>
      </p:sp>
      <p:sp>
        <p:nvSpPr>
          <p:cNvPr id="7" name="Shape 5"/>
          <p:cNvSpPr/>
          <p:nvPr/>
        </p:nvSpPr>
        <p:spPr>
          <a:xfrm>
            <a:off x="4338218" y="1417320"/>
            <a:ext cx="351525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I/O interrupt</a:t>
            </a:r>
            <a:endParaRPr lang="en-US" sz="2000" dirty="0"/>
          </a:p>
        </p:txBody>
      </p:sp>
      <p:sp>
        <p:nvSpPr>
          <p:cNvPr id="10" name="Text 8"/>
          <p:cNvSpPr txBox="1"/>
          <p:nvPr/>
        </p:nvSpPr>
        <p:spPr>
          <a:xfrm>
            <a:off x="4612538"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A peripheral reports its state, for example that it is ready to receive data, to synchronise with the processor.</a:t>
            </a:r>
            <a:endParaRPr lang="en-US" sz="1500" dirty="0"/>
          </a:p>
        </p:txBody>
      </p:sp>
      <p:sp>
        <p:nvSpPr>
          <p:cNvPr id="11" name="Shape 9"/>
          <p:cNvSpPr/>
          <p:nvPr/>
        </p:nvSpPr>
        <p:spPr>
          <a:xfrm>
            <a:off x="8127797" y="1417320"/>
            <a:ext cx="351525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Errors in the program</a:t>
            </a:r>
            <a:endParaRPr lang="en-US" sz="2000" dirty="0"/>
          </a:p>
        </p:txBody>
      </p:sp>
      <p:sp>
        <p:nvSpPr>
          <p:cNvPr id="14" name="Text 12"/>
          <p:cNvSpPr txBox="1"/>
          <p:nvPr/>
        </p:nvSpPr>
        <p:spPr>
          <a:xfrm>
            <a:off x="8402117"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An instruction that does not exist or is privileged, a forbidden address: synchronous events, called exceptions.</a:t>
            </a:r>
            <a:endParaRPr lang="en-US" sz="1500" dirty="0"/>
          </a:p>
        </p:txBody>
      </p:sp>
      <p:sp>
        <p:nvSpPr>
          <p:cNvPr id="15" name="Shape 13"/>
          <p:cNvSpPr/>
          <p:nvPr/>
        </p:nvSpPr>
        <p:spPr>
          <a:xfrm>
            <a:off x="548640" y="3931920"/>
            <a:ext cx="351525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777240"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325880"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Faults</a:t>
            </a:r>
            <a:endParaRPr lang="en-US" sz="2000" dirty="0"/>
          </a:p>
        </p:txBody>
      </p:sp>
      <p:sp>
        <p:nvSpPr>
          <p:cNvPr id="18" name="Text 16"/>
          <p:cNvSpPr txBox="1"/>
          <p:nvPr/>
        </p:nvSpPr>
        <p:spPr>
          <a:xfrm>
            <a:off x="822960"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Failures of the system detected by dedicated probes: power, temperature, memory errors.</a:t>
            </a:r>
            <a:endParaRPr lang="en-US" sz="1500" dirty="0"/>
          </a:p>
        </p:txBody>
      </p:sp>
      <p:sp>
        <p:nvSpPr>
          <p:cNvPr id="19" name="Shape 17"/>
          <p:cNvSpPr/>
          <p:nvPr/>
        </p:nvSpPr>
        <p:spPr>
          <a:xfrm>
            <a:off x="4338218" y="3931920"/>
            <a:ext cx="3515258" cy="2240280"/>
          </a:xfrm>
          <a:prstGeom prst="roundRect">
            <a:avLst>
              <a:gd name="adj" fmla="val 3265"/>
            </a:avLst>
          </a:prstGeom>
          <a:solidFill>
            <a:srgbClr val="EEF2F4"/>
          </a:solidFill>
          <a:ln w="12700">
            <a:solidFill>
              <a:srgbClr val="EEF2F4"/>
            </a:solidFill>
            <a:prstDash val="solid"/>
          </a:ln>
        </p:spPr>
      </p:sp>
      <p:sp>
        <p:nvSpPr>
          <p:cNvPr id="20" name="Text 18"/>
          <p:cNvSpPr txBox="1"/>
          <p:nvPr/>
        </p:nvSpPr>
        <p:spPr>
          <a:xfrm>
            <a:off x="4566818" y="4160520"/>
            <a:ext cx="384048" cy="384048"/>
          </a:xfrm>
          <a:prstGeom prst="roundRect">
            <a:avLst>
              <a:gd name="adj" fmla="val 19048"/>
            </a:avLst>
          </a:prstGeom>
          <a:solidFill>
            <a:srgbClr val="B23A48"/>
          </a:solidFill>
          <a:ln>
            <a:solidFill>
              <a:srgbClr val="B23A48"/>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1" name="Text 19"/>
          <p:cNvSpPr txBox="1"/>
          <p:nvPr/>
        </p:nvSpPr>
        <p:spPr>
          <a:xfrm>
            <a:off x="5115458"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Reset</a:t>
            </a:r>
            <a:endParaRPr lang="en-US" sz="2000" dirty="0"/>
          </a:p>
        </p:txBody>
      </p:sp>
      <p:sp>
        <p:nvSpPr>
          <p:cNvPr id="22" name="Text 20"/>
          <p:cNvSpPr txBox="1"/>
          <p:nvPr/>
        </p:nvSpPr>
        <p:spPr>
          <a:xfrm>
            <a:off x="4612538"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Brings the whole system back to a known state.</a:t>
            </a:r>
            <a:endParaRPr lang="en-US" sz="1500" dirty="0"/>
          </a:p>
        </p:txBody>
      </p:sp>
      <p:sp>
        <p:nvSpPr>
          <p:cNvPr id="23" name="Shape 21"/>
          <p:cNvSpPr/>
          <p:nvPr/>
        </p:nvSpPr>
        <p:spPr>
          <a:xfrm>
            <a:off x="8127797" y="3931920"/>
            <a:ext cx="3515258" cy="2240280"/>
          </a:xfrm>
          <a:prstGeom prst="roundRect">
            <a:avLst>
              <a:gd name="adj" fmla="val 3265"/>
            </a:avLst>
          </a:prstGeom>
          <a:solidFill>
            <a:srgbClr val="EEF2F4"/>
          </a:solidFill>
          <a:ln w="12700">
            <a:solidFill>
              <a:srgbClr val="EEF2F4"/>
            </a:solidFill>
            <a:prstDash val="solid"/>
          </a:ln>
        </p:spPr>
      </p:sp>
      <p:sp>
        <p:nvSpPr>
          <p:cNvPr id="24" name="Text 22"/>
          <p:cNvSpPr txBox="1"/>
          <p:nvPr/>
        </p:nvSpPr>
        <p:spPr>
          <a:xfrm>
            <a:off x="8356397" y="4160520"/>
            <a:ext cx="384048" cy="384048"/>
          </a:xfrm>
          <a:prstGeom prst="roundRect">
            <a:avLst>
              <a:gd name="adj" fmla="val 19048"/>
            </a:avLst>
          </a:prstGeom>
          <a:solidFill>
            <a:srgbClr val="2E4A62"/>
          </a:solidFill>
          <a:ln>
            <a:solidFill>
              <a:srgbClr val="2E4A6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5" name="Text 23"/>
          <p:cNvSpPr txBox="1"/>
          <p:nvPr/>
        </p:nvSpPr>
        <p:spPr>
          <a:xfrm>
            <a:off x="8905037"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Software interrupt</a:t>
            </a:r>
            <a:endParaRPr lang="en-US" sz="2000" dirty="0"/>
          </a:p>
        </p:txBody>
      </p:sp>
      <p:sp>
        <p:nvSpPr>
          <p:cNvPr id="26" name="Text 24"/>
          <p:cNvSpPr txBox="1"/>
          <p:nvPr/>
        </p:nvSpPr>
        <p:spPr>
          <a:xfrm>
            <a:off x="8402117"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Generated by a program that needs a shared resource and asks the operating system to mediate: in RISC-V, the instruction ecall.</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Handling an interrupt</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Save the context, hardware part: at least the address at which to resume</a:t>
            </a:r>
            <a:endParaRPr lang="en-US" sz="2200" dirty="0"/>
          </a:p>
        </p:txBody>
      </p:sp>
      <p:sp>
        <p:nvSpPr>
          <p:cNvPr id="5" name="Text 3"/>
          <p:cNvSpPr txBox="1"/>
          <p:nvPr/>
        </p:nvSpPr>
        <p:spPr>
          <a:xfrm>
            <a:off x="548640" y="225023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231949"/>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Identify the cause of the interrupt</a:t>
            </a:r>
            <a:endParaRPr lang="en-US" sz="2200" dirty="0"/>
          </a:p>
        </p:txBody>
      </p:sp>
      <p:sp>
        <p:nvSpPr>
          <p:cNvPr id="7" name="Text 5"/>
          <p:cNvSpPr txBox="1"/>
          <p:nvPr/>
        </p:nvSpPr>
        <p:spPr>
          <a:xfrm>
            <a:off x="548640" y="30648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4657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Jump to the entry point of the interrupt service routine (ISR)</a:t>
            </a:r>
            <a:endParaRPr lang="en-US" sz="2200" dirty="0"/>
          </a:p>
        </p:txBody>
      </p:sp>
      <p:sp>
        <p:nvSpPr>
          <p:cNvPr id="9" name="Text 7"/>
          <p:cNvSpPr txBox="1"/>
          <p:nvPr/>
        </p:nvSpPr>
        <p:spPr>
          <a:xfrm>
            <a:off x="548640" y="387949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86120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Save the context, software part: the registers the routine is going to use</a:t>
            </a:r>
            <a:endParaRPr lang="en-US" sz="2200" dirty="0"/>
          </a:p>
        </p:txBody>
      </p:sp>
      <p:sp>
        <p:nvSpPr>
          <p:cNvPr id="11" name="Text 9"/>
          <p:cNvSpPr txBox="1"/>
          <p:nvPr/>
        </p:nvSpPr>
        <p:spPr>
          <a:xfrm>
            <a:off x="548640" y="469412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675835"/>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Serve the interrupt</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If the interrupt allows it: restore the context, and resume the suspended program from the instruction that follows the last one executed</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Who interrupted? Two solutions</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Status registers and polling</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Each device has a status register</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A device that requests an interrupt sets a bit there and raises the common request line</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The service routine interrogates the devices in order of priority and serves the first one it finds with its bit high</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Simple to build, but it takes time: it also interrogates devices that asked for nothing</a:t>
            </a:r>
            <a:endParaRPr lang="en-US" sz="17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Vectored interrupts</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At the moment of the request the identity of the source is supplied to the processor</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The processor jumps directly to the routine that corresponds to that identity</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A very efficient mechanism</a:t>
            </a:r>
            <a:endParaRPr lang="en-US" sz="1700" dirty="0"/>
          </a:p>
          <a:p>
            <a:pPr marL="203200" indent="-203200">
              <a:spcAft>
                <a:spcPts val="800"/>
              </a:spcAft>
              <a:buSzPct val="100000"/>
              <a:buChar char="•"/>
            </a:pPr>
            <a:r>
              <a:rPr lang="en-US" sz="1700" dirty="0">
                <a:solidFill>
                  <a:srgbClr val="1B2530"/>
                </a:solidFill>
                <a:latin typeface="Calibri" pitchFamily="34" charset="0"/>
                <a:ea typeface="Calibri" pitchFamily="34" charset="-122"/>
                <a:cs typeface="Calibri" pitchFamily="34" charset="-120"/>
              </a:rPr>
              <a:t>The number of bits used for the vector limits the number of different sources that can be recognised</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05</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The RISC-V solution</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Four registers and one instruction.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registers of the trap mechanism</a:t>
            </a:r>
            <a:endParaRPr lang="en-US" sz="3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55005"/>
                <a:gridCol w="3637513"/>
                <a:gridCol w="6001897"/>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CSR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Written by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Content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mtvec</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 firmware, once, at start-up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 address of the trap handler, and whether the vectored mode is used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mstatus</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hardware and firmware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MIE, the global interrupt enable, and MPIE, its previous value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mie</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 firmware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one enable bit for each source: software, timer, external</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mip</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 hardware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one pending bit for each source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mepc</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 hardware, at each trap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 address of the interrupted instruction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mcause</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 hardware, at each trap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one bit that says interrupt or exception, and a code for the cause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the hardware does on a trap</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mepc := the address of the interrupted instruction</a:t>
            </a:r>
            <a:endParaRPr lang="en-US" sz="2200" dirty="0"/>
          </a:p>
        </p:txBody>
      </p:sp>
      <p:sp>
        <p:nvSpPr>
          <p:cNvPr id="5" name="Text 3"/>
          <p:cNvSpPr txBox="1"/>
          <p:nvPr/>
        </p:nvSpPr>
        <p:spPr>
          <a:xfrm>
            <a:off x="548640" y="215310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134819"/>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mcause := the cause: top bit 1 for an interrupt, 0 for an exception, plus a code</a:t>
            </a:r>
            <a:endParaRPr lang="en-US" sz="2200" dirty="0"/>
          </a:p>
        </p:txBody>
      </p:sp>
      <p:sp>
        <p:nvSpPr>
          <p:cNvPr id="7" name="Text 5"/>
          <p:cNvSpPr txBox="1"/>
          <p:nvPr/>
        </p:nvSpPr>
        <p:spPr>
          <a:xfrm>
            <a:off x="548640" y="311343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9514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mstatus: MPIE := MIE, then MIE := 0, so that further interrupts are disabled</a:t>
            </a:r>
            <a:endParaRPr lang="en-US" sz="2200" dirty="0"/>
          </a:p>
        </p:txBody>
      </p:sp>
      <p:sp>
        <p:nvSpPr>
          <p:cNvPr id="9" name="Text 7"/>
          <p:cNvSpPr txBox="1"/>
          <p:nvPr/>
        </p:nvSpPr>
        <p:spPr>
          <a:xfrm>
            <a:off x="548640" y="407375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05546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processor passes to machine mode</a:t>
            </a:r>
            <a:endParaRPr lang="en-US" sz="2200" dirty="0"/>
          </a:p>
        </p:txBody>
      </p:sp>
      <p:sp>
        <p:nvSpPr>
          <p:cNvPr id="11" name="Text 9"/>
          <p:cNvSpPr txBox="1"/>
          <p:nvPr/>
        </p:nvSpPr>
        <p:spPr>
          <a:xfrm>
            <a:off x="548640" y="479125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72965"/>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PC := the address in mtvec, or, in vectored mode and for interrupts, that address plus 4 times the cause</a:t>
            </a:r>
            <a:endParaRPr lang="en-US" sz="2200" dirty="0"/>
          </a:p>
        </p:txBody>
      </p:sp>
      <p:sp>
        <p:nvSpPr>
          <p:cNvPr id="13" name="Text 11"/>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mret, at the end of the handler, undoes it: MIE := MPIE and PC := mepc</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cause of a trap: mcause</a:t>
            </a:r>
            <a:endParaRPr lang="en-US" sz="3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18757"/>
                <a:gridCol w="1455005"/>
                <a:gridCol w="7820653"/>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Kind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Code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Cause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interrupt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machine software interrupt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interrupt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machine timer interrupt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interrupt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machine external interrupt: a device, through the interrupt controller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exception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illegal instruction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exception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breakpoint (ebreak): how a debugger stops a program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exception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5, 7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load or store access fault: a forbidden address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exception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8, 11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environment call (ecall) from user mode, from machine mode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trap handler, in outline</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trap_entry:</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t0, 0(sp)            </a:t>
            </a:r>
            <a:pPr indent="0" marL="0">
              <a:buNone/>
            </a:pPr>
            <a:r>
              <a:rPr lang="en-US" sz="1300" dirty="0">
                <a:solidFill>
                  <a:srgbClr val="8FB3A0"/>
                </a:solidFill>
                <a:latin typeface="Courier New" pitchFamily="34" charset="0"/>
                <a:ea typeface="Courier New" pitchFamily="34" charset="-122"/>
                <a:cs typeface="Courier New" pitchFamily="34" charset="-120"/>
              </a:rPr>
              <a:t># software context: save what we use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t1, 4(sp)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csrr t0, mcause           </a:t>
            </a:r>
            <a:pPr indent="0" marL="0">
              <a:buNone/>
            </a:pPr>
            <a:r>
              <a:rPr lang="en-US" sz="1300" dirty="0">
                <a:solidFill>
                  <a:srgbClr val="8FB3A0"/>
                </a:solidFill>
                <a:latin typeface="Courier New" pitchFamily="34" charset="0"/>
                <a:ea typeface="Courier New" pitchFamily="34" charset="-122"/>
                <a:cs typeface="Courier New" pitchFamily="34" charset="-120"/>
              </a:rPr>
              <a:t># why are we here?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bgez t0, exception        </a:t>
            </a:r>
            <a:pPr indent="0" marL="0">
              <a:buNone/>
            </a:pPr>
            <a:r>
              <a:rPr lang="en-US" sz="1300" dirty="0">
                <a:solidFill>
                  <a:srgbClr val="8FB3A0"/>
                </a:solidFill>
                <a:latin typeface="Courier New" pitchFamily="34" charset="0"/>
                <a:ea typeface="Courier New" pitchFamily="34" charset="-122"/>
                <a:cs typeface="Courier New" pitchFamily="34" charset="-120"/>
              </a:rPr>
              <a:t># top bit 0: an exception</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                       </a:t>
            </a:r>
            <a:pPr indent="0" marL="0">
              <a:buNone/>
            </a:pPr>
            <a:r>
              <a:rPr lang="en-US" sz="1300" dirty="0">
                <a:solidFill>
                  <a:srgbClr val="8FB3A0"/>
                </a:solidFill>
                <a:latin typeface="Courier New" pitchFamily="34" charset="0"/>
                <a:ea typeface="Courier New" pitchFamily="34" charset="-122"/>
                <a:cs typeface="Courier New" pitchFamily="34" charset="-120"/>
              </a:rPr>
              <a:t># top bit 1: find the device, serve 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t0, 0(sp)            </a:t>
            </a:r>
            <a:pPr indent="0" marL="0">
              <a:buNone/>
            </a:pPr>
            <a:r>
              <a:rPr lang="en-US" sz="1300" dirty="0">
                <a:solidFill>
                  <a:srgbClr val="8FB3A0"/>
                </a:solidFill>
                <a:latin typeface="Courier New" pitchFamily="34" charset="0"/>
                <a:ea typeface="Courier New" pitchFamily="34" charset="-122"/>
                <a:cs typeface="Courier New" pitchFamily="34" charset="-120"/>
              </a:rPr>
              <a:t># restore the context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4(sp)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mret                      </a:t>
            </a:r>
            <a:pPr indent="0" marL="0">
              <a:buNone/>
            </a:pPr>
            <a:r>
              <a:rPr lang="en-US" sz="1300" dirty="0">
                <a:solidFill>
                  <a:srgbClr val="8FB3A0"/>
                </a:solidFill>
                <a:latin typeface="Courier New" pitchFamily="34" charset="0"/>
                <a:ea typeface="Courier New" pitchFamily="34" charset="-122"/>
                <a:cs typeface="Courier New" pitchFamily="34" charset="-120"/>
              </a:rPr>
              <a:t># MIE := MPIE, PC := mepc</a:t>
            </a:r>
            <a:endParaRPr lang="en-US" sz="13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interrupted program must not notice: every register the handler touches is saved and restored</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mcause read as a signed number is negative for interrupts: bgez separates the two families</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mret is the only way back: it re-enables interrupts and reloads the PC in one step</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of the kit contains exactly such a routine; your cartridge is interrupted many times per frame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Priorities and nesting</a:t>
            </a:r>
            <a:endParaRPr lang="en-US" sz="32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82508"/>
                <a:gridCol w="4183140"/>
                <a:gridCol w="4728767"/>
              </a:tblGrid>
              <a:tr h="0">
                <a:tc>
                  <a:txBody>
                    <a:bodyPr/>
                    <a:lstStyle/>
                    <a:p>
                      <a:pPr algn="l" indent="0" marL="0">
                        <a:buNone/>
                      </a:pP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Motorola MC68000</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RISC-V</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priority of a request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three lines encode an interrupt priority level, 1 to 7</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interrupt controller gives each source a priority</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priority of the processor</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three bits in the status register: the mask</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threshold register in the interrupt controller</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request is accepted if</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its level is higher than the mask</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its priority is higher than the threshold, and it is enabled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while serving it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mask is raised to that level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interrupts are disabled (MIE = 0) unless the handler re-enables them</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cannot be masked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level 7</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non-maskable interrupt, defined by each chip</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identity of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an 8-bit vector number from the device: 256 vectors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mcause, then the controller says which device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return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RTE, which pops PC and status from the stack</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mret, which uses mepc and mstatus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Interrupts on the PRG32 kit</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timer interrupts the processor a hundred times per second: the firmware uses it to keep time and to pace the frames</a:t>
            </a:r>
            <a:endParaRPr lang="en-US" sz="19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58847"/>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display and sound peripherals interrupt when a block of data has been sent and the next is wanted</a:t>
            </a:r>
            <a:endParaRPr lang="en-US" sz="1900" dirty="0"/>
          </a:p>
        </p:txBody>
      </p:sp>
      <p:sp>
        <p:nvSpPr>
          <p:cNvPr id="7" name="Shape 5"/>
          <p:cNvSpPr/>
          <p:nvPr/>
        </p:nvSpPr>
        <p:spPr>
          <a:xfrm>
            <a:off x="548640" y="328917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0598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Wi-Fi radio interrupts when a packet arrives: a cartridge can be uploaded while a game is running</a:t>
            </a:r>
            <a:endParaRPr lang="en-US" sz="1900" dirty="0"/>
          </a:p>
        </p:txBody>
      </p:sp>
      <p:sp>
        <p:nvSpPr>
          <p:cNvPr id="9" name="Shape 7"/>
          <p:cNvSpPr/>
          <p:nvPr/>
        </p:nvSpPr>
        <p:spPr>
          <a:xfrm>
            <a:off x="548640" y="403631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953129"/>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Your init, update and draw are ordinary functions called by the firmware between one interrupt and the next</a:t>
            </a:r>
            <a:endParaRPr lang="en-US" sz="1900" dirty="0"/>
          </a:p>
        </p:txBody>
      </p:sp>
      <p:sp>
        <p:nvSpPr>
          <p:cNvPr id="11" name="Shape 9"/>
          <p:cNvSpPr/>
          <p:nvPr/>
        </p:nvSpPr>
        <p:spPr>
          <a:xfrm>
            <a:off x="548640" y="507784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994656"/>
            <a:ext cx="6565392" cy="1177544"/>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cartridge stuck in a loop does not stop the interrupts: PRG32-QT ends the frame with an error; on the board a watchdog reports the stall, and you press reset</a:t>
            </a:r>
            <a:endParaRPr lang="en-US" sz="1900" dirty="0"/>
          </a:p>
        </p:txBody>
      </p:sp>
      <p:pic>
        <p:nvPicPr>
          <p:cNvPr id="13" name="Image 0" descr="/Users/raffaelemontella/devel/riscv-prg32/computer-architecture-with-prg32/tools/assets/menu_main.png">    </p:cNvPr>
          <p:cNvPicPr>
            <a:picLocks noChangeAspect="1"/>
          </p:cNvPicPr>
          <p:nvPr/>
        </p:nvPicPr>
        <p:blipFill>
          <a:blip r:embed="rId1"/>
          <a:stretch>
            <a:fillRect/>
          </a:stretch>
        </p:blipFill>
        <p:spPr>
          <a:xfrm>
            <a:off x="7863840" y="2148954"/>
            <a:ext cx="3779215" cy="283441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PRG32 firmware menu</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In which bits of a RISC-V instruction is the opcode?</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the seven most significant</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the seven least significant</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bits 14 to 12</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it depends on the format</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During the fetch of an RV32 instruction that is not compressed, the PC is increased by:</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1</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2</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4</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32</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Which register holds the address at which an interrupted RISC-V program will resume?</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ra</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mtvec</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mepc</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mcause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Which of these is an exception rather than an interrupt, in RISC-V terms?</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a timer expires</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a key is pressed</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an illegal instruction is fetched</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a packet arrives from the network</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Decode 0x00A28293 and 0x40628333 by hand: format, fields, assembly</a:t>
            </a:r>
            <a:endParaRPr lang="en-US" sz="2200" dirty="0"/>
          </a:p>
        </p:txBody>
      </p:sp>
      <p:sp>
        <p:nvSpPr>
          <p:cNvPr id="6" name="Text 4"/>
          <p:cNvSpPr txBox="1"/>
          <p:nvPr/>
        </p:nvSpPr>
        <p:spPr>
          <a:xfrm>
            <a:off x="548640" y="201244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199415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Encode sub t0, t1, t2 and sw a0, 8(sp)</a:t>
            </a:r>
            <a:endParaRPr lang="en-US" sz="2200" dirty="0"/>
          </a:p>
        </p:txBody>
      </p:sp>
      <p:sp>
        <p:nvSpPr>
          <p:cNvPr id="8" name="Text 6"/>
          <p:cNvSpPr txBox="1"/>
          <p:nvPr/>
        </p:nvSpPr>
        <p:spPr>
          <a:xfrm>
            <a:off x="548640" y="25892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57098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Write the register transfers of the whole cycle for sw t1, 0(t0) and for beq t0, t1, target</a:t>
            </a:r>
            <a:endParaRPr lang="en-US" sz="2200" dirty="0"/>
          </a:p>
        </p:txBody>
      </p:sp>
      <p:sp>
        <p:nvSpPr>
          <p:cNvPr id="10" name="Text 8"/>
          <p:cNvSpPr txBox="1"/>
          <p:nvPr/>
        </p:nvSpPr>
        <p:spPr>
          <a:xfrm>
            <a:off x="548640" y="340893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39064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Draw the pipeline diagram for six instructions on a four-stage pipeline: when does the sixth complete?</a:t>
            </a:r>
            <a:endParaRPr lang="en-US" sz="2200" dirty="0"/>
          </a:p>
        </p:txBody>
      </p:sp>
      <p:sp>
        <p:nvSpPr>
          <p:cNvPr id="12" name="Text 10"/>
          <p:cNvSpPr txBox="1"/>
          <p:nvPr/>
        </p:nvSpPr>
        <p:spPr>
          <a:xfrm>
            <a:off x="548640" y="4228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1030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 PRG32-QT set a breakpoint in first_update, step, and compare the machine code shown with your decoding of the warm-up</a:t>
            </a:r>
            <a:endParaRPr lang="en-US" sz="22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On paper: addi t0, t0, 10 and sub t1, t0, t1. On PRG32-QT: the four words of the warm-up, or their compressed equivalents.</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860279"/>
                <a:gridCol w="2600254"/>
                <a:gridCol w="3033629"/>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English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Italiano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English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Italiano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operation code (opcode)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codice operativo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interrupt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interruzione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operand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operando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exception / trap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eccezione / trap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addressing mode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modo di indirizzamento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interrupt service routine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routine di servizio dell'interruzione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fetch / decode / execute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prelievo / decodifica / esecuzione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interrupt latency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latenza di interruzione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pipeline stage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stadio della pipeline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to mask an interrupt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mascherare un'interruzione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context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contesto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nesting</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annidamento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An instruction is an operation code and zero, one or more operands; in RISC-V it is always 32 bits, in six regular formats</a:t>
            </a:r>
            <a:endParaRPr lang="en-US" sz="1900" dirty="0"/>
          </a:p>
        </p:txBody>
      </p:sp>
      <p:sp>
        <p:nvSpPr>
          <p:cNvPr id="5" name="Shape 3"/>
          <p:cNvSpPr/>
          <p:nvPr/>
        </p:nvSpPr>
        <p:spPr>
          <a:xfrm>
            <a:off x="548640" y="228079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97608"/>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length of the instructions, fixed or variable, determines how the PC behaves</a:t>
            </a:r>
            <a:endParaRPr lang="en-US" sz="1900" dirty="0"/>
          </a:p>
        </p:txBody>
      </p:sp>
      <p:sp>
        <p:nvSpPr>
          <p:cNvPr id="7" name="Shape 5"/>
          <p:cNvSpPr/>
          <p:nvPr/>
        </p:nvSpPr>
        <p:spPr>
          <a:xfrm>
            <a:off x="548640" y="276669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683510"/>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processor has a cycle: it fetches an instruction, decodes it, executes it, and writes the result</a:t>
            </a:r>
            <a:endParaRPr lang="en-US" sz="1900" dirty="0"/>
          </a:p>
        </p:txBody>
      </p:sp>
      <p:sp>
        <p:nvSpPr>
          <p:cNvPr id="9" name="Shape 7"/>
          <p:cNvSpPr/>
          <p:nvPr/>
        </p:nvSpPr>
        <p:spPr>
          <a:xfrm>
            <a:off x="548640" y="354698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463798"/>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Exceptional events break the cycle: the processor saves where it was, serves the event and resumes</a:t>
            </a:r>
            <a:endParaRPr lang="en-US" sz="1900" dirty="0"/>
          </a:p>
        </p:txBody>
      </p:sp>
      <p:sp>
        <p:nvSpPr>
          <p:cNvPr id="11" name="Shape 9"/>
          <p:cNvSpPr/>
          <p:nvPr/>
        </p:nvSpPr>
        <p:spPr>
          <a:xfrm>
            <a:off x="548640" y="432727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244086"/>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Interrupts can be enabled, masked and ordered by priority; RISC-V does it with a handful of registers and the instruction mret</a:t>
            </a:r>
            <a:endParaRPr lang="en-US" sz="1900" dirty="0"/>
          </a:p>
        </p:txBody>
      </p:sp>
      <p:sp>
        <p:nvSpPr>
          <p:cNvPr id="13" name="Shape 11"/>
          <p:cNvSpPr/>
          <p:nvPr/>
        </p:nvSpPr>
        <p:spPr>
          <a:xfrm>
            <a:off x="548640" y="5107559"/>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024374"/>
            <a:ext cx="10710367" cy="114782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Reading</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Patterson, Hennessy: Computer Organization and Design, RISC-V Edition, sections 2.5, 4.1-4.6 and 4.10</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The RISC-V Instruction Set Manual, volume II: Privileged Architecture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Playing with RISC-V, chapter 4: PRG32-QT and its debugger</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Instructions and Interrupts</dc:title>
  <dc:subject>Lecture 19</dc:subject>
  <dc:creator>Raffaele Montella</dc:creator>
  <cp:lastModifiedBy>Raffaele Montella</cp:lastModifiedBy>
  <cp:revision>1</cp:revision>
  <dcterms:created xsi:type="dcterms:W3CDTF">2026-10-12T11:28:39Z</dcterms:created>
  <dcterms:modified xsi:type="dcterms:W3CDTF">2026-10-12T11:28:39Z</dcterms:modified>
</cp:coreProperties>
</file>