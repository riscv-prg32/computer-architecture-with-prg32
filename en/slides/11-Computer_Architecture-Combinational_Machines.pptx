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6036d1-6fd1-e0b8-a9d7-331a3a75402a}">
          <p14:sldIdLst>
            <p14:sldId id="256"/>
            <p14:sldId id="257"/>
          </p14:sldIdLst>
        </p14:section>
        <p14:section name="Warm-up on the machine" id="{a246f656-67e3-28fa-5a72-fc67fa1b492b}">
          <p14:sldIdLst>
            <p14:sldId id="258"/>
            <p14:sldId id="259"/>
          </p14:sldIdLst>
        </p14:section>
        <p14:section name="Combinational machines" id="{c4fb9008-18ba-f681-4248-017b75c8c200}">
          <p14:sldIdLst>
            <p14:sldId id="260"/>
            <p14:sldId id="261"/>
            <p14:sldId id="262"/>
            <p14:sldId id="263"/>
          </p14:sldIdLst>
        </p14:section>
        <p14:section name="Codes" id="{f6cd65df-0df3-fc4c-2c53-6601eb19f45e}">
          <p14:sldIdLst>
            <p14:sldId id="264"/>
            <p14:sldId id="265"/>
            <p14:sldId id="266"/>
            <p14:sldId id="267"/>
            <p14:sldId id="268"/>
            <p14:sldId id="269"/>
            <p14:sldId id="270"/>
          </p14:sldIdLst>
        </p14:section>
        <p14:section name="Decoders and encoders" id="{1b6bf659-b02b-272e-8cc0-979634efb63c}">
          <p14:sldIdLst>
            <p14:sldId id="271"/>
            <p14:sldId id="272"/>
            <p14:sldId id="273"/>
            <p14:sldId id="274"/>
            <p14:sldId id="275"/>
            <p14:sldId id="276"/>
            <p14:sldId id="277"/>
            <p14:sldId id="278"/>
          </p14:sldIdLst>
        </p14:section>
        <p14:section name="Multiplexers and demultiplexers" id="{134fe6fd-400a-a56e-e777-f055adef945b}">
          <p14:sldIdLst>
            <p14:sldId id="279"/>
            <p14:sldId id="280"/>
            <p14:sldId id="281"/>
            <p14:sldId id="282"/>
          </p14:sldIdLst>
        </p14:section>
        <p14:section name="Comparing and checking" id="{4deff547-427b-43e1-8dd0-82ccfcc5c7eb}">
          <p14:sldIdLst>
            <p14:sldId id="283"/>
            <p14:sldId id="284"/>
            <p14:sldId id="285"/>
            <p14:sldId id="286"/>
            <p14:sldId id="287"/>
          </p14:sldIdLst>
        </p14:section>
        <p14:section name="The arithmetic logic unit" id="{22888bf8-f691-3f2e-4055-5aeb0b8d742f}">
          <p14:sldIdLst>
            <p14:sldId id="288"/>
            <p14:sldId id="289"/>
            <p14:sldId id="290"/>
            <p14:sldId id="291"/>
            <p14:sldId id="292"/>
            <p14:sldId id="293"/>
            <p14:sldId id="294"/>
            <p14:sldId id="295"/>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gave you gates and a method to combine them. This one is a catalogue of the machines that designers actually use: decoders, encoders, multiplexers, comparators, parity networks, and finally the arithmetic logic unit. For each you learn what it does, how it is built, and where it sits inside a RISC-V processor. The young Turing of the quotation wants his carrots and peas kept apart: this lecture is about keeping things separate, and choosing among them.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Tell a combinational machine from a sequential one. Compute how many bits a code needs and recognise incomplete and redundant codes. Design a decoder and an encoder, and compose small decoders into larger ones. Explain multiplexers and demultiplexers and build them from gates. Build a comparator and a parity network, knowing what a parity check can and cannot detect. And point to each of these machines inside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is a piece of assembly that chooses one colour out of four. While you read it, ask yourself whether the result depends on anything that happened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a0 holds a number from 0 to 3. The four instructions are the array access of Lecture 04: load the address of the table, multiply the selector by 4, add, and load the selected word. The same selector always gives the same colour, and nothing is remembered from one use to the next. This behaviour, outputs that depend only on the present inputs, defines the machines of today. In hardware this particular one is a multiplexer: four data inputs, two selection bits, one output.
For the lecturer: The array access of Lecture 04, read as a circuit. In the processor the selection is done by gates in well under a nanosecond; here it takes four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definition and the method: what a combinational machine is, how one is designed, and a warning about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are of two kinds. In a combinational circuit the outputs at a given instant depend only on the inputs at that same instant: there is no memory and no feedback, and a truth table describes the circuit completely. In a sequential circuit the outputs depend also on the past history of the inputs: it needs the notions of time and of state. Adders, decoders and multiplexers are combinational; flip-flops, registers and the processor as a whole are sequential, and are the subject of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of a combinational machine in four steps: a specification in words; a truth table, with the don't-cares; a minimisation, one output at a time; and a network of gates or of standard blocks. It is the method of Lecture 09. Above four or five inputs nobody draws maps any more: designers assemble ready-made blocks, which is why this lecture is a catalogue of them. Analysis goes the other way, from the schematic to the table.
For the lecturer: For more than four or five inputs nobody draws maps: designers compose standard blocks, which is why this lecture is a catalogue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gate does not answer instantly: its output settles after a propagation delay, as Lecture 10 explained. The delay of a network is that of its slowest path from an input to an output, the critical path. While signals are travelling the outputs may be temporarily wrong. So a combinational machine is correct only after it has settled, and something must say when to look at its outputs. That something is the clock, and it is where sequential machines begin.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of the machines of this lecture treat codes: they translate, select and check them. So before the machines we need to say precisely what information is and what a code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words to talk about information. The attribute is the meaning: the mark of an exam. The type is the set of possible values: the marks from 18 to 30, and 30 with honours. The value is the element actually taken: 30. The cardinality is the number of elements of the type, here 14. Then two distinctions: the same value can be written in many ways, which is the problem of encoding; and types can be simple or structured. Note that "30 with honours" is not a number: it is a fourteenth element.
For the lecturer: Informazione completa: the attribute takes a value of a certain type. '30 e lode' is not a number: it is a fourteenth element of the type, and how to write it is a problem of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alphabet is a finite, non-empty set of symbols: the binary one has two, the decimal one ten. A string, or word, is a finite sequence of symbols of an alphabet, and its length is the number of its symbols. The string of length zero is the empty string. The set of all the strings over an alphabet S is written S with an asterisk. An infinite sequence is not a string. These definitions are the basis of the theory of codes, and later of formal languages.
For the lecturer: An infinite sequence 010101... is not a string and does not belong to {0,1}*. 'wingardium leviosa' is a string of length 18 over the letters and the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the code word. In a fixed-length code all the words have the same length m. With an alphabet of k symbols there are k to the m words, so m must be at least the logarithm of N, rounded up. In binary: fourteen marks need 4 bits, and the 32 registers of RISC-V need exactly 5. When N is not a power of two some words remain unused, and the code is incomplete.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need four bits, and four bits give sixteen words, so six of them are never used: in BCD, the words from 1010 to 1111. Remember the caption: when you design a circuit that receives BCD digits, those six words are don't-cares and make the circuit simpler.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only some of the possible words are legal. If a word arrives that is not legal, something altered it on the way, and the error is detected. Compare the two codes of the table. In Code 1 every 2-bit word is legal: an altered bit turns one element into another and nobody notices. Code 2 adds a third bit that makes the number of 1s even: any single altered bit produces an illegal word. Redundancy is the price paid for detecting errors.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variable-length code frequent elements get short words and rare ones long words, which saves space and time. The reader must still know where each word ends, and this is ensured by the prefix property: no word is the beginning of another. You have already met two such codes: UTF-8, with one to four bytes per character, and the instructions of the kit, which are 16 or 32 bits long. The two lowest bits of an instruction say which: 11 means 32 bits.
For the lecturer: RV32IMAC: the C extension encodes the most common instructions in 16 bits. An instruction whose two least significant bits are 11 is 32 bits long; any other pattern marks a 16-bit instruction. Morse code and Huffman coding are the classic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family of machines translates between a compact code and a set of separate lines, one for each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It is also called one-hot. It is expensive in wires but immediately usable, because the active line can directly switch something on. The practical rule is in the last line: keep information in a compact code inside a word, and decode it where a choice has to be acted upon.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 code word of m bits and asserts the one output, out of 2 to the m, that corresponds to it. The table and the circuit show the 2-to-4 decoder: each output is a minterm of the two inputs, built with one AND gate and, where needed, inverters. So a decoder generates all the minterms of its inputs. An enable input, when it is 0, keeps all the outputs at 0: it will be the key to composing decoders.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 decoders are built from small ones. To select one line out of sixteen from four bits, a first 2-to-4 decoder looks at the two high bits and enables one of four other decoders; all four receive the two low bits, and only the enabled one asserts one of its lines. Five small decoders do the work. This is modular composition, and it is the general strategy of digital design: solve a large problem with copies of the solution of a small one.
For the lecturer: Modular composition (composizione modulare di decoder 4:16). In the real SN74139 the enable and the outputs are active low: a detail the original slide simplified, as this one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at work in the processor. The instruction addi t1, t1, 1 contains a 5-bit field, rd, with the number of the destination register: 00110, that is 6, the register t1. A 5-to-32 decoder turns those five bits into thirty-two write-enable lines, of which only the sixth is active: only that register receives the result. The same instruction contains two more register numbers, which select the registers to be read.
For the lecturer: The instruction of Lecture 02. Grey fields are not involved. The write enable of x0 is simply not connected: x0 always reads zero. Reading uses multiplexers, shown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its number as a code word of m bits. Each output bit is the OR of the input lines whose number has a 1 in that position. If more than one line can be active at the same time a priority encoder is needed, which outputs the number of the most important active line. You will meet it again with interrupts, when several devices ask for attention at once.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code. The example is the display with seven segments: the input is a BCD digit, the outputs are the seven lines that light the segments, named from a to g. The table gives, for each digit, which segments are lit: the digit 2 lights a, b, g, e and d. There are seven outputs, so seven functions of four variables to synthesise, each with six don't-cares.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of segment a with the method of Lecture 09. The segment is off only for the digits 1 and 4. The six unused BCD words are marked x. Using the x cells as 1s, four large groups cover the map: the two lower rows give A, the two right columns give C, the central square gives BD, and the four corners give B'D'. The result is a = A + C + BD + B'D'. Without the don't-cares the groups would be smaller and the expression longer. Try segment g yourself.
For the lecturer: Worked example joining Lecture 09 (maps, don't-cares) with this one. Good laboratory exercise: segments b to g. Check: digit 0 (0000) is covered by the corners, digit 9 (1001) by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family selects: a multiplexer chooses one source among many, a demultiplexer one destination among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 to the n data inputs, n selection lines and one output: it transfers to the output the input chosen by the selection lines. The formula shows how: each data input is multiplied by one minterm of the selection lines, and the products are added. With two inputs, Y = S'I0 + S I1: when S is 0 the first term passes I0, when S is 1 the second passes I1. The drawing is exactly this formula in gates. It is the machine of the warm-up.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 to the n outputs. The input is routed to the output chosen by the selection lines, and the other outputs stay at 0. With the data input fixed at 1 it is exactly a decoder. A multiplexer at one end of a wire and a demultiplexer at the other let many signals share that wire, one at a time: the idea behind every shared line, including the buses of Lecture 14.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at work in the processor. add t2, t0, t1 adds two registers; addi t2, t0, 5 adds a register and a constant taken from the instruction. Both use the same adder. A multiplexer in front of the second input of the ALU chooses between the value of a register and the constant: its selection line is 0 for add and 1 for addi. It is a multiplexer on whole words: thirty-two one-bit multiplexers with a common selection line. Reading a register is a multiplexer too.
For the lecturer: In the textbook datapath of Patterson and Hennessy the selection signal is called ALUSrc. A gate applied to every bit of a word with a common control is a word gate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family checks: are two words equal? Has a word arrived as it was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one bit, 1 when they are equal. Two bits are equal when their XNOR is 1; two words are equal when all their pairs of bits are equal, so the comparator is an AND of XNORs. The drawing shows it for words of two bits. In the processor it decides the branches beq and bne: the two registers are compared, and the branch is taken or not according to the result.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adds one parity bit to each word, chosen so that the total number of 1s is, for example, even. The circuit that computes it is a parity network, a chain of XORs: the XOR of all the bits of a word is 1 when the number of 1s is odd, because XOR is addition modulo 2. The network is used twice: by the sender, to compute the bit to add, and by the receiver, to verify the parity of what arrived.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scheme of a transmission with a parity check. The source produces a word; a first parity network computes the parity bit and appends it; the word travels on a channel where it may be altered; a second network verifies the parity and raises an error signal if it is wrong. The caption states the limits precisely: a single parity bit detects any odd number of altered bits, cannot say which bit is wrong, and misses an even number of errors.
For the lecturer: Schema di trasmissione con controllo di parità. 'Probably': two errors cancel out. Hamming codes, with several parity bits over overlapping groups, locate and correct a single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parity network in software, for one byte. Each pair of instructions shifts the value right and combines it with itself by XOR: the first fold brings eight bits onto four, the second four onto two, the third two onto one. The last instruction keeps only the lowest bit, which is the parity. In hardware the same three levels are a tree of seven XOR gates. Trace it by hand with 0x53, which has four 1s, and with 0x13, which has three.
For the lecturer: Written for this lecture. Trace it with 0x53 = 0101 0011 (four 1s, result 0) and with 0x13 = 0001 0011 (three 1s, result 1). In hardware the three levels are a tree of seven XOR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machine contains all the others. The arithmetic logic unit is the part of the processor that computes, and it is built entirely from the blocks of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Inside it several units work at the same time on the same operands: an adder that also subtracts, a row of AND gates, a row of OR gates, a row of XOR gates, a shifter. All of them produce a result. A multiplexer lets one of the results through, and its selection lines come from a decoder that reads the instruction. There is no memory anywhere: the ALU is one large combinational machine, and its slowest path, the carry chain of the adder, limits the clock of the processor.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an instruction chooses the operation. The 3-bit field funct3 of the instruction is a compact code: 000 for sum or difference, 001 for shift left, 100 for XOR, 110 for OR, 111 for AND. A small decoder turns it into the selection lines of the multiplexer of the ALU. Where two instructions share a value, such as add and sub, one more bit elsewhere in the instruction distinguishes them. A code, a decoder, a multiplexer: the whole lecture in one table.
For the lecturer: funct3 is the 3-bit field of the instruction seen in Lecture 02 (bits 14 to 12). Three bits, eight code words: a compact code that a small decoder turns into the selection lines of the ALU multiplexer.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of the fixed-length code: the smallest m such that 2 to the m is at least 26. Four bits give sixteen words, which are not enough. And note that the result leaves some words unused.
For the lecturer: Answer: B. ceil(log2 26) = 5, since 2^4 = 16 &lt; 26 &lt;= 32 = 2^5. Six words remain unassigned: the code is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with m inputs has 2 to the m outputs, and its output is a decoded representation: exactly one line active at any time.
For the lecturer: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 is the inverse of the previous one: n selection lines choose among 2 to the n inputs. Eight is 2 to the third power.
For the lecturer: Answer: B. n selection lines choose among 2^n inputs: 3 lines for 8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1s. A parity check only knows whether their number is even or odd. Altering one bit changes that; altering two bits changes it twice, and brings it back to where it was.
For the lecturer: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Synthesise segment g with a map, using the don't-cares. Build a 3-to-8 decoder from two 2-to-4 decoders with enable and one inverter. Implement a function with one multiplexer by putting its truth table on the data inputs, and recognise the function. Write a comparator in assembly with only xor and sltiu. And draw a seven-segment digit on PRG32: a table of ten bytes, one per digit, and seven rectangles lit by testing its bits: a transcoder in software.
For the lecturer: Exercise 3: put 0, 1, 1, 0, 1, 0, 0, 1 on the data inputs: it is the three-input XOR, the sum bit of the full adder. Exercise 4: xor a0, a0, a1 then sltiu a0, a0, 1 (the pseudo-instruction seqz). Exercise 5 is a software transcoder followed by seven bit tests: the table is the truth table of this lecture, one row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switches a block on or off. Code word is each string of a code. Multiplexer and demultiplexer keep their names in Italian. A transcoder converts between two codes. The parity bit is the redundant bit added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Information is an attribute, a type and a value, and a code writes the value as a string. A fixed-length binary code needs the logarithm of N bits, rounded up; a redundant code spends more to detect errors. Encoding, decoding and transcoding are done by combinational machines. Multiplexers select a source, demultiplexers a destination, comparators and parity networks check. And the processor uses all of them. What these machines lack is memory: after Part 2 of Verm1, Lecture 13 adds it.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compose small decoders into larger ones</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 selection with no memory.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Choose one of four colours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selector always gives the same colour: the result depends only on the present inputs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is remembered from one use to the next</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this is a multiplexer: four data inputs, two selection bits, one output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processor contains dozens of them. How are they built?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Combinational machines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Outputs that depend only on the present inputs.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Designing a combinational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Specification</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what the machine must do, in words</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Truth table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row per input combination, don't-cares included</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Minimisation</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Karnaugh maps or algebra, one output at a time</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Network</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gates, or standard blocks such as decoders and multiplexers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Analysis runs the other way: from the schematic to the truth table. Both were introduced in Lecture 08; the method is that of Lecture 09.</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Codes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Before building machines that treat codes, what is a code?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information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Attribute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The meaning associated with the information. Example: the mark of the Computer Architecture exam.</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Type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The set of elements among which the value is chosen. Example: the marks from 18 to 30, and 30 with honours.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Value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The element actually taken. Example: 30. Giving information means choosing one element in a defined set.</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Cardinality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The number N of elements of the type. Here N = 14. A type with more elements carries more information.</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Value and encoding</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The same value can be written in many ways: 3, III, three. A, B, C, D can stand for 30 with honours, 30, 29, 28.</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Simple and structured</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Simple types are atomic: integers, characters. Structured types combine simple ones: a position is latitude and longitude.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Alphabets and strings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alphabet is a finite, non-empty set of symbols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binary {0, 1}; decimal {0, ..., 9}; the letters {a, ..., z}</a:t>
            </a:r>
            <a:endParaRPr lang="en-US" sz="2200" dirty="0"/>
          </a:p>
        </p:txBody>
      </p:sp>
      <p:sp>
        <p:nvSpPr>
          <p:cNvPr id="5" name="Shape 3"/>
          <p:cNvSpPr/>
          <p:nvPr/>
        </p:nvSpPr>
        <p:spPr>
          <a:xfrm>
            <a:off x="548640" y="301352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90709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string, or word, over an alphabet is a finite sequence of its symbols</a:t>
            </a:r>
            <a:endParaRPr lang="en-US" sz="22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1519"/>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length of a string x is the number of its symbols, written |x|</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01000010 is a binary string of length 8</a:t>
            </a:r>
            <a:endParaRPr lang="en-US" sz="2200" dirty="0"/>
          </a:p>
        </p:txBody>
      </p:sp>
      <p:sp>
        <p:nvSpPr>
          <p:cNvPr id="9" name="Shape 7"/>
          <p:cNvSpPr/>
          <p:nvPr/>
        </p:nvSpPr>
        <p:spPr>
          <a:xfrm>
            <a:off x="548640" y="50733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6690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string of length 0 is the empty string</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of all strings over an alphabet S, the empty one included, is written 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all the finite strings that can be written with the symbols of the alphabet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variable length</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length of the code word depends on the element: frequent elements get short words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Prefix property: no code word is the beginning of a longer one, so the reader always knows where a word ends</a:t>
            </a:r>
            <a:endParaRPr lang="en-US" sz="2200" dirty="0"/>
          </a:p>
        </p:txBody>
      </p:sp>
      <p:sp>
        <p:nvSpPr>
          <p:cNvPr id="7" name="Shape 5"/>
          <p:cNvSpPr/>
          <p:nvPr/>
        </p:nvSpPr>
        <p:spPr>
          <a:xfrm>
            <a:off x="548640" y="35190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12575"/>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pays when the elements do not all have the same probability: less space in memory, less time in transmission</a:t>
            </a:r>
            <a:endParaRPr lang="en-US" sz="2200" dirty="0"/>
          </a:p>
        </p:txBody>
      </p:sp>
      <p:sp>
        <p:nvSpPr>
          <p:cNvPr id="9" name="Shape 7"/>
          <p:cNvSpPr/>
          <p:nvPr/>
        </p:nvSpPr>
        <p:spPr>
          <a:xfrm>
            <a:off x="548640" y="46870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80636"/>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already met two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UTF-8: one to four bytes per character (Lecture 04)</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RISC-V instructions on the kit: 16 or 32 bits each, and the two lowest bits say which</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two lowest bits of every 32-bit RISC-V instruction: the length is written in the code word itself</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Decoders and encoders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a code word to one line, and back.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Composing decoders: from 2-to-4 to 4-to-16</a:t>
            </a:r>
            <a:endParaRPr lang="en-US" sz="3200" dirty="0"/>
          </a:p>
        </p:txBody>
      </p:sp>
      <p:sp>
        <p:nvSpPr>
          <p:cNvPr id="3" name="Text 1"/>
          <p:cNvSpPr txBox="1"/>
          <p:nvPr/>
        </p:nvSpPr>
        <p:spPr>
          <a:xfrm>
            <a:off x="1645920" y="2788920"/>
            <a:ext cx="2011680" cy="1005840"/>
          </a:xfrm>
          <a:prstGeom prst="roundRect">
            <a:avLst>
              <a:gd name="adj" fmla="val 5455"/>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 2-to-4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high bits D C</a:t>
            </a:r>
            <a:endParaRPr lang="en-US" sz="1400" dirty="0"/>
          </a:p>
        </p:txBody>
      </p:sp>
      <p:sp>
        <p:nvSpPr>
          <p:cNvPr id="4" name="Shape 2"/>
          <p:cNvSpPr/>
          <p:nvPr/>
        </p:nvSpPr>
        <p:spPr>
          <a:xfrm>
            <a:off x="1051560" y="3291840"/>
            <a:ext cx="566928" cy="0"/>
          </a:xfrm>
          <a:prstGeom prst="line">
            <a:avLst/>
          </a:prstGeom>
          <a:noFill/>
          <a:ln w="25400">
            <a:solidFill>
              <a:srgbClr val="5B6B78"/>
            </a:solidFill>
            <a:prstDash val="solid"/>
            <a:tailEnd type="triangle"/>
          </a:ln>
        </p:spPr>
      </p:sp>
      <p:sp>
        <p:nvSpPr>
          <p:cNvPr id="5" name="Text 3"/>
          <p:cNvSpPr txBox="1"/>
          <p:nvPr/>
        </p:nvSpPr>
        <p:spPr>
          <a:xfrm>
            <a:off x="548640" y="3127248"/>
            <a:ext cx="54864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D C</a:t>
            </a:r>
            <a:endParaRPr lang="en-US" sz="1500" dirty="0"/>
          </a:p>
        </p:txBody>
      </p:sp>
      <p:sp>
        <p:nvSpPr>
          <p:cNvPr id="6" name="Text 4"/>
          <p:cNvSpPr txBox="1"/>
          <p:nvPr/>
        </p:nvSpPr>
        <p:spPr>
          <a:xfrm>
            <a:off x="4572000" y="1463040"/>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 2-to-4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7" name="Shape 5"/>
          <p:cNvSpPr/>
          <p:nvPr/>
        </p:nvSpPr>
        <p:spPr>
          <a:xfrm flipV="1">
            <a:off x="3685032" y="1847088"/>
            <a:ext cx="859536" cy="1078992"/>
          </a:xfrm>
          <a:prstGeom prst="line">
            <a:avLst/>
          </a:prstGeom>
          <a:noFill/>
          <a:ln w="22225">
            <a:solidFill>
              <a:srgbClr val="C7791B"/>
            </a:solidFill>
            <a:prstDash val="solid"/>
            <a:tailEnd type="triangle"/>
          </a:ln>
        </p:spPr>
      </p:sp>
      <p:sp>
        <p:nvSpPr>
          <p:cNvPr id="8" name="Shape 6"/>
          <p:cNvSpPr/>
          <p:nvPr/>
        </p:nvSpPr>
        <p:spPr>
          <a:xfrm>
            <a:off x="6611112" y="1847088"/>
            <a:ext cx="795528" cy="0"/>
          </a:xfrm>
          <a:prstGeom prst="line">
            <a:avLst/>
          </a:prstGeom>
          <a:noFill/>
          <a:ln w="25400">
            <a:solidFill>
              <a:srgbClr val="5B6B78"/>
            </a:solidFill>
            <a:prstDash val="solid"/>
            <a:tailEnd type="triangle"/>
          </a:ln>
        </p:spPr>
      </p:sp>
      <p:sp>
        <p:nvSpPr>
          <p:cNvPr id="9" name="Text 7"/>
          <p:cNvSpPr txBox="1"/>
          <p:nvPr/>
        </p:nvSpPr>
        <p:spPr>
          <a:xfrm>
            <a:off x="7498080" y="1664208"/>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U0 ... U3</a:t>
            </a:r>
            <a:endParaRPr lang="en-US" sz="1500" dirty="0"/>
          </a:p>
        </p:txBody>
      </p:sp>
      <p:sp>
        <p:nvSpPr>
          <p:cNvPr id="10" name="Text 8"/>
          <p:cNvSpPr txBox="1"/>
          <p:nvPr/>
        </p:nvSpPr>
        <p:spPr>
          <a:xfrm>
            <a:off x="4572000" y="2441448"/>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 2-to-4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11" name="Shape 9"/>
          <p:cNvSpPr/>
          <p:nvPr/>
        </p:nvSpPr>
        <p:spPr>
          <a:xfrm flipV="1">
            <a:off x="3685032" y="2825496"/>
            <a:ext cx="859536" cy="347472"/>
          </a:xfrm>
          <a:prstGeom prst="line">
            <a:avLst/>
          </a:prstGeom>
          <a:noFill/>
          <a:ln w="22225">
            <a:solidFill>
              <a:srgbClr val="C7791B"/>
            </a:solidFill>
            <a:prstDash val="solid"/>
            <a:tailEnd type="triangle"/>
          </a:ln>
        </p:spPr>
      </p:sp>
      <p:sp>
        <p:nvSpPr>
          <p:cNvPr id="12" name="Shape 10"/>
          <p:cNvSpPr/>
          <p:nvPr/>
        </p:nvSpPr>
        <p:spPr>
          <a:xfrm>
            <a:off x="6611112" y="2825496"/>
            <a:ext cx="795528" cy="0"/>
          </a:xfrm>
          <a:prstGeom prst="line">
            <a:avLst/>
          </a:prstGeom>
          <a:noFill/>
          <a:ln w="25400">
            <a:solidFill>
              <a:srgbClr val="5B6B78"/>
            </a:solidFill>
            <a:prstDash val="solid"/>
            <a:tailEnd type="triangle"/>
          </a:ln>
        </p:spPr>
      </p:sp>
      <p:sp>
        <p:nvSpPr>
          <p:cNvPr id="13" name="Text 11"/>
          <p:cNvSpPr txBox="1"/>
          <p:nvPr/>
        </p:nvSpPr>
        <p:spPr>
          <a:xfrm>
            <a:off x="7498080" y="2642616"/>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U4 ... U7</a:t>
            </a:r>
            <a:endParaRPr lang="en-US" sz="1500" dirty="0"/>
          </a:p>
        </p:txBody>
      </p:sp>
      <p:sp>
        <p:nvSpPr>
          <p:cNvPr id="14" name="Text 12"/>
          <p:cNvSpPr txBox="1"/>
          <p:nvPr/>
        </p:nvSpPr>
        <p:spPr>
          <a:xfrm>
            <a:off x="4572000" y="3419856"/>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 2-to-4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15" name="Shape 13"/>
          <p:cNvSpPr/>
          <p:nvPr/>
        </p:nvSpPr>
        <p:spPr>
          <a:xfrm>
            <a:off x="3685032" y="3419856"/>
            <a:ext cx="859536" cy="384048"/>
          </a:xfrm>
          <a:prstGeom prst="line">
            <a:avLst/>
          </a:prstGeom>
          <a:noFill/>
          <a:ln w="22225">
            <a:solidFill>
              <a:srgbClr val="C7791B"/>
            </a:solidFill>
            <a:prstDash val="solid"/>
            <a:tailEnd type="triangle"/>
          </a:ln>
        </p:spPr>
      </p:sp>
      <p:sp>
        <p:nvSpPr>
          <p:cNvPr id="16" name="Shape 14"/>
          <p:cNvSpPr/>
          <p:nvPr/>
        </p:nvSpPr>
        <p:spPr>
          <a:xfrm>
            <a:off x="6611112" y="3803904"/>
            <a:ext cx="795528" cy="0"/>
          </a:xfrm>
          <a:prstGeom prst="line">
            <a:avLst/>
          </a:prstGeom>
          <a:noFill/>
          <a:ln w="25400">
            <a:solidFill>
              <a:srgbClr val="5B6B78"/>
            </a:solidFill>
            <a:prstDash val="solid"/>
            <a:tailEnd type="triangle"/>
          </a:ln>
        </p:spPr>
      </p:sp>
      <p:sp>
        <p:nvSpPr>
          <p:cNvPr id="17" name="Text 15"/>
          <p:cNvSpPr txBox="1"/>
          <p:nvPr/>
        </p:nvSpPr>
        <p:spPr>
          <a:xfrm>
            <a:off x="7498080" y="3621024"/>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U8 ... U11</a:t>
            </a:r>
            <a:endParaRPr lang="en-US" sz="1500" dirty="0"/>
          </a:p>
        </p:txBody>
      </p:sp>
      <p:sp>
        <p:nvSpPr>
          <p:cNvPr id="18" name="Text 16"/>
          <p:cNvSpPr txBox="1"/>
          <p:nvPr/>
        </p:nvSpPr>
        <p:spPr>
          <a:xfrm>
            <a:off x="4572000" y="4398264"/>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 2-to-4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19" name="Shape 17"/>
          <p:cNvSpPr/>
          <p:nvPr/>
        </p:nvSpPr>
        <p:spPr>
          <a:xfrm>
            <a:off x="3685032" y="3666744"/>
            <a:ext cx="859536" cy="1115568"/>
          </a:xfrm>
          <a:prstGeom prst="line">
            <a:avLst/>
          </a:prstGeom>
          <a:noFill/>
          <a:ln w="22225">
            <a:solidFill>
              <a:srgbClr val="C7791B"/>
            </a:solidFill>
            <a:prstDash val="solid"/>
            <a:tailEnd type="triangle"/>
          </a:ln>
        </p:spPr>
      </p:sp>
      <p:sp>
        <p:nvSpPr>
          <p:cNvPr id="20" name="Shape 18"/>
          <p:cNvSpPr/>
          <p:nvPr/>
        </p:nvSpPr>
        <p:spPr>
          <a:xfrm>
            <a:off x="6611112" y="4782312"/>
            <a:ext cx="795528" cy="0"/>
          </a:xfrm>
          <a:prstGeom prst="line">
            <a:avLst/>
          </a:prstGeom>
          <a:noFill/>
          <a:ln w="25400">
            <a:solidFill>
              <a:srgbClr val="5B6B78"/>
            </a:solidFill>
            <a:prstDash val="solid"/>
            <a:tailEnd type="triangle"/>
          </a:ln>
        </p:spPr>
      </p:sp>
      <p:sp>
        <p:nvSpPr>
          <p:cNvPr id="21" name="Text 19"/>
          <p:cNvSpPr txBox="1"/>
          <p:nvPr/>
        </p:nvSpPr>
        <p:spPr>
          <a:xfrm>
            <a:off x="7498080" y="4599432"/>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U12 ... U15</a:t>
            </a:r>
            <a:endParaRPr lang="en-US" sz="1500" dirty="0"/>
          </a:p>
        </p:txBody>
      </p:sp>
      <p:sp>
        <p:nvSpPr>
          <p:cNvPr id="22" name="Text 20"/>
          <p:cNvSpPr txBox="1"/>
          <p:nvPr/>
        </p:nvSpPr>
        <p:spPr>
          <a:xfrm>
            <a:off x="3840480" y="5221224"/>
            <a:ext cx="34747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the low bits B A go to all four</a:t>
            </a:r>
            <a:endParaRPr lang="en-US" sz="1300" dirty="0"/>
          </a:p>
        </p:txBody>
      </p:sp>
      <p:sp>
        <p:nvSpPr>
          <p:cNvPr id="23" name="Shape 21"/>
          <p:cNvSpPr/>
          <p:nvPr/>
        </p:nvSpPr>
        <p:spPr>
          <a:xfrm>
            <a:off x="9326880" y="1417320"/>
            <a:ext cx="2316175" cy="4069080"/>
          </a:xfrm>
          <a:prstGeom prst="roundRect">
            <a:avLst>
              <a:gd name="adj" fmla="val 3158"/>
            </a:avLst>
          </a:prstGeom>
          <a:solidFill>
            <a:srgbClr val="D8ECEE"/>
          </a:solidFill>
          <a:ln w="12700">
            <a:solidFill>
              <a:srgbClr val="D8ECEE"/>
            </a:solidFill>
            <a:prstDash val="solid"/>
          </a:ln>
        </p:spPr>
      </p:sp>
      <p:sp>
        <p:nvSpPr>
          <p:cNvPr id="24" name="Text 22"/>
          <p:cNvSpPr txBox="1"/>
          <p:nvPr/>
        </p:nvSpPr>
        <p:spPr>
          <a:xfrm>
            <a:off x="9464040" y="1508760"/>
            <a:ext cx="2041855" cy="388620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first decoder enables one of the four others; the enabled one asserts one of its four lines. Five small decoders select one line of sixteen.</a:t>
            </a:r>
            <a:endParaRPr lang="en-US" sz="1500" dirty="0"/>
          </a:p>
        </p:txBody>
      </p:sp>
      <p:sp>
        <p:nvSpPr>
          <p:cNvPr id="25" name="Text 2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Standard parts existed for this: the SN74139 holds two 2-to-4 decoders with enable in one package. Today the same structure is described in a hardware language and placed on the chip automatically.</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which register is written?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decoder 5-to-32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The five bits of rd are a code word: thirty-two registers,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 5-to-32 decoder turns them into thirty-two write-enable lines: only x6, that is t1, receives the result</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Two more selections, on rs1 and rs2, choose which registers are read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pic>
        <p:nvPicPr>
          <p:cNvPr id="4" name="Image 0" descr="preencoded.png">    </p:cNvPr>
          <p:cNvPicPr>
            <a:picLocks noChangeAspect="1"/>
          </p:cNvPicPr>
          <p:nvPr/>
        </p:nvPicPr>
        <p:blipFill>
          <a:blip r:embed="rId1"/>
          <a:stretch>
            <a:fillRect/>
          </a:stretch>
        </p:blipFill>
        <p:spPr>
          <a:xfrm>
            <a:off x="548640" y="1905176"/>
            <a:ext cx="2377440" cy="3779168"/>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6" name="Shape 1"/>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7" name="Text 2"/>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Synthesising segment a</a:t>
            </a:r>
            <a:endParaRPr lang="en-US" sz="3200" dirty="0"/>
          </a:p>
        </p:txBody>
      </p:sp>
      <p:sp>
        <p:nvSpPr>
          <p:cNvPr id="3" name="Shape 1"/>
          <p:cNvSpPr/>
          <p:nvPr/>
        </p:nvSpPr>
        <p:spPr>
          <a:xfrm>
            <a:off x="548640" y="1417320"/>
            <a:ext cx="521208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8308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100584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8308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62432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6557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30682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7160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7160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7160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7160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8308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62432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65576"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7" name="Text 15"/>
          <p:cNvSpPr txBox="1"/>
          <p:nvPr/>
        </p:nvSpPr>
        <p:spPr>
          <a:xfrm>
            <a:off x="430682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8308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62432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6557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306824"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2" name="Text 20"/>
          <p:cNvSpPr txBox="1"/>
          <p:nvPr/>
        </p:nvSpPr>
        <p:spPr>
          <a:xfrm>
            <a:off x="1783080"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3" name="Text 21"/>
          <p:cNvSpPr txBox="1"/>
          <p:nvPr/>
        </p:nvSpPr>
        <p:spPr>
          <a:xfrm>
            <a:off x="2624328"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4" name="Text 22"/>
          <p:cNvSpPr txBox="1"/>
          <p:nvPr/>
        </p:nvSpPr>
        <p:spPr>
          <a:xfrm>
            <a:off x="3465576"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5" name="Text 23"/>
          <p:cNvSpPr txBox="1"/>
          <p:nvPr/>
        </p:nvSpPr>
        <p:spPr>
          <a:xfrm>
            <a:off x="4306824"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6" name="Text 24"/>
          <p:cNvSpPr txBox="1"/>
          <p:nvPr/>
        </p:nvSpPr>
        <p:spPr>
          <a:xfrm>
            <a:off x="178308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624328"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8" name="Text 26"/>
          <p:cNvSpPr txBox="1"/>
          <p:nvPr/>
        </p:nvSpPr>
        <p:spPr>
          <a:xfrm>
            <a:off x="3465576" y="4718304"/>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9" name="Text 27"/>
          <p:cNvSpPr txBox="1"/>
          <p:nvPr/>
        </p:nvSpPr>
        <p:spPr>
          <a:xfrm>
            <a:off x="4306824" y="4718304"/>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30" name="Shape 28"/>
          <p:cNvSpPr/>
          <p:nvPr/>
        </p:nvSpPr>
        <p:spPr>
          <a:xfrm>
            <a:off x="1837944" y="3931920"/>
            <a:ext cx="3255264"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3566160" y="2295144"/>
            <a:ext cx="1481328" cy="3163824"/>
          </a:xfrm>
          <a:prstGeom prst="roundRect">
            <a:avLst>
              <a:gd name="adj" fmla="val 8642"/>
            </a:avLst>
          </a:prstGeom>
          <a:solidFill>
            <a:srgbClr val="FFFFFF">
              <a:alpha val="0"/>
            </a:srgbClr>
          </a:solidFill>
          <a:ln w="34925">
            <a:solidFill>
              <a:srgbClr val="6B4FA0"/>
            </a:solidFill>
            <a:prstDash val="solid"/>
          </a:ln>
        </p:spPr>
      </p:sp>
      <p:sp>
        <p:nvSpPr>
          <p:cNvPr id="32" name="Shape 30"/>
          <p:cNvSpPr/>
          <p:nvPr/>
        </p:nvSpPr>
        <p:spPr>
          <a:xfrm>
            <a:off x="2770632" y="3182112"/>
            <a:ext cx="1389888" cy="1389888"/>
          </a:xfrm>
          <a:prstGeom prst="roundRect">
            <a:avLst>
              <a:gd name="adj" fmla="val 9211"/>
            </a:avLst>
          </a:prstGeom>
          <a:solidFill>
            <a:srgbClr val="FFFFFF">
              <a:alpha val="0"/>
            </a:srgbClr>
          </a:solidFill>
          <a:ln w="34925">
            <a:solidFill>
              <a:srgbClr val="2F7D4F"/>
            </a:solidFill>
            <a:prstDash val="solid"/>
          </a:ln>
        </p:spPr>
      </p:sp>
      <p:sp>
        <p:nvSpPr>
          <p:cNvPr id="33" name="Shape 31"/>
          <p:cNvSpPr/>
          <p:nvPr/>
        </p:nvSpPr>
        <p:spPr>
          <a:xfrm>
            <a:off x="1965960" y="2377440"/>
            <a:ext cx="475488" cy="475488"/>
          </a:xfrm>
          <a:prstGeom prst="roundRect">
            <a:avLst>
              <a:gd name="adj" fmla="val 26923"/>
            </a:avLst>
          </a:prstGeom>
          <a:solidFill>
            <a:srgbClr val="FFFFFF">
              <a:alpha val="0"/>
            </a:srgbClr>
          </a:solidFill>
          <a:ln w="34925">
            <a:solidFill>
              <a:srgbClr val="C7791B"/>
            </a:solidFill>
            <a:prstDash val="solid"/>
          </a:ln>
        </p:spPr>
      </p:sp>
      <p:sp>
        <p:nvSpPr>
          <p:cNvPr id="34" name="Shape 32"/>
          <p:cNvSpPr/>
          <p:nvPr/>
        </p:nvSpPr>
        <p:spPr>
          <a:xfrm>
            <a:off x="4489704" y="2377440"/>
            <a:ext cx="475488" cy="475488"/>
          </a:xfrm>
          <a:prstGeom prst="roundRect">
            <a:avLst>
              <a:gd name="adj" fmla="val 26923"/>
            </a:avLst>
          </a:prstGeom>
          <a:solidFill>
            <a:srgbClr val="FFFFFF">
              <a:alpha val="0"/>
            </a:srgbClr>
          </a:solidFill>
          <a:ln w="34925">
            <a:solidFill>
              <a:srgbClr val="C7791B"/>
            </a:solidFill>
            <a:prstDash val="solid"/>
          </a:ln>
        </p:spPr>
      </p:sp>
      <p:sp>
        <p:nvSpPr>
          <p:cNvPr id="35" name="Shape 33"/>
          <p:cNvSpPr/>
          <p:nvPr/>
        </p:nvSpPr>
        <p:spPr>
          <a:xfrm>
            <a:off x="1965960" y="4901184"/>
            <a:ext cx="475488" cy="475488"/>
          </a:xfrm>
          <a:prstGeom prst="roundRect">
            <a:avLst>
              <a:gd name="adj" fmla="val 26923"/>
            </a:avLst>
          </a:prstGeom>
          <a:solidFill>
            <a:srgbClr val="FFFFFF">
              <a:alpha val="0"/>
            </a:srgbClr>
          </a:solidFill>
          <a:ln w="34925">
            <a:solidFill>
              <a:srgbClr val="C7791B"/>
            </a:solidFill>
            <a:prstDash val="solid"/>
          </a:ln>
        </p:spPr>
      </p:sp>
      <p:sp>
        <p:nvSpPr>
          <p:cNvPr id="36" name="Shape 34"/>
          <p:cNvSpPr/>
          <p:nvPr/>
        </p:nvSpPr>
        <p:spPr>
          <a:xfrm>
            <a:off x="4489704" y="4901184"/>
            <a:ext cx="475488" cy="475488"/>
          </a:xfrm>
          <a:prstGeom prst="roundRect">
            <a:avLst>
              <a:gd name="adj" fmla="val 26923"/>
            </a:avLst>
          </a:prstGeom>
          <a:solidFill>
            <a:srgbClr val="FFFFFF">
              <a:alpha val="0"/>
            </a:srgbClr>
          </a:solidFill>
          <a:ln w="34925">
            <a:solidFill>
              <a:srgbClr val="C7791B"/>
            </a:solidFill>
            <a:prstDash val="solid"/>
          </a:ln>
        </p:spPr>
      </p:sp>
      <p:sp>
        <p:nvSpPr>
          <p:cNvPr id="37" name="Text 35"/>
          <p:cNvSpPr txBox="1"/>
          <p:nvPr/>
        </p:nvSpPr>
        <p:spPr>
          <a:xfrm>
            <a:off x="548640" y="5650992"/>
            <a:ext cx="5212080" cy="45720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 = A + C + BD + B'D'</a:t>
            </a:r>
            <a:endParaRPr lang="en-US" sz="2100" dirty="0"/>
          </a:p>
        </p:txBody>
      </p:sp>
      <p:sp>
        <p:nvSpPr>
          <p:cNvPr id="38" name="Shape 36"/>
          <p:cNvSpPr/>
          <p:nvPr/>
        </p:nvSpPr>
        <p:spPr>
          <a:xfrm>
            <a:off x="6126480" y="1508252"/>
            <a:ext cx="146304" cy="146304"/>
          </a:xfrm>
          <a:prstGeom prst="rect">
            <a:avLst/>
          </a:prstGeom>
          <a:solidFill>
            <a:srgbClr val="0E7C86"/>
          </a:solidFill>
          <a:ln w="12700">
            <a:solidFill>
              <a:srgbClr val="0E7C86"/>
            </a:solidFill>
            <a:prstDash val="solid"/>
          </a:ln>
        </p:spPr>
      </p:sp>
      <p:sp>
        <p:nvSpPr>
          <p:cNvPr id="39" name="Text 37"/>
          <p:cNvSpPr txBox="1"/>
          <p:nvPr/>
        </p:nvSpPr>
        <p:spPr>
          <a:xfrm>
            <a:off x="6510528" y="1417320"/>
            <a:ext cx="513252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Inputs A B C D: the BCD digit, A most significant. Segment a is off only for the digits 1 and 4</a:t>
            </a:r>
            <a:endParaRPr lang="en-US" sz="2000" dirty="0"/>
          </a:p>
        </p:txBody>
      </p:sp>
      <p:sp>
        <p:nvSpPr>
          <p:cNvPr id="40" name="Shape 38"/>
          <p:cNvSpPr/>
          <p:nvPr/>
        </p:nvSpPr>
        <p:spPr>
          <a:xfrm>
            <a:off x="6126480" y="2633599"/>
            <a:ext cx="146304" cy="146304"/>
          </a:xfrm>
          <a:prstGeom prst="rect">
            <a:avLst/>
          </a:prstGeom>
          <a:solidFill>
            <a:srgbClr val="C7791B"/>
          </a:solidFill>
          <a:ln w="12700">
            <a:solidFill>
              <a:srgbClr val="C7791B"/>
            </a:solidFill>
            <a:prstDash val="solid"/>
          </a:ln>
        </p:spPr>
      </p:sp>
      <p:sp>
        <p:nvSpPr>
          <p:cNvPr id="41" name="Text 39"/>
          <p:cNvSpPr txBox="1"/>
          <p:nvPr/>
        </p:nvSpPr>
        <p:spPr>
          <a:xfrm>
            <a:off x="6510528" y="2542667"/>
            <a:ext cx="513252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words 1010 to 1111 never occur: six don't-cares, marked x</a:t>
            </a:r>
            <a:endParaRPr lang="en-US" sz="2000" dirty="0"/>
          </a:p>
        </p:txBody>
      </p:sp>
      <p:sp>
        <p:nvSpPr>
          <p:cNvPr id="42" name="Shape 40"/>
          <p:cNvSpPr/>
          <p:nvPr/>
        </p:nvSpPr>
        <p:spPr>
          <a:xfrm>
            <a:off x="6126480" y="3449066"/>
            <a:ext cx="146304" cy="146304"/>
          </a:xfrm>
          <a:prstGeom prst="rect">
            <a:avLst/>
          </a:prstGeom>
          <a:solidFill>
            <a:srgbClr val="0E7C86"/>
          </a:solidFill>
          <a:ln w="12700">
            <a:solidFill>
              <a:srgbClr val="0E7C86"/>
            </a:solidFill>
            <a:prstDash val="solid"/>
          </a:ln>
        </p:spPr>
      </p:sp>
      <p:sp>
        <p:nvSpPr>
          <p:cNvPr id="43" name="Text 41"/>
          <p:cNvSpPr txBox="1"/>
          <p:nvPr/>
        </p:nvSpPr>
        <p:spPr>
          <a:xfrm>
            <a:off x="6510528" y="3358134"/>
            <a:ext cx="513252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Using the x cells as 1s the groups become large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red: A; violet: C; green: BD; amber, the four corners: B'D'</a:t>
            </a:r>
            <a:endParaRPr lang="en-US" sz="2000" dirty="0"/>
          </a:p>
        </p:txBody>
      </p:sp>
      <p:sp>
        <p:nvSpPr>
          <p:cNvPr id="44" name="Shape 42"/>
          <p:cNvSpPr/>
          <p:nvPr/>
        </p:nvSpPr>
        <p:spPr>
          <a:xfrm>
            <a:off x="6126480" y="4827905"/>
            <a:ext cx="146304" cy="146304"/>
          </a:xfrm>
          <a:prstGeom prst="rect">
            <a:avLst/>
          </a:prstGeom>
          <a:solidFill>
            <a:srgbClr val="C7791B"/>
          </a:solidFill>
          <a:ln w="12700">
            <a:solidFill>
              <a:srgbClr val="C7791B"/>
            </a:solidFill>
            <a:prstDash val="solid"/>
          </a:ln>
        </p:spPr>
      </p:sp>
      <p:sp>
        <p:nvSpPr>
          <p:cNvPr id="45" name="Text 43"/>
          <p:cNvSpPr txBox="1"/>
          <p:nvPr/>
        </p:nvSpPr>
        <p:spPr>
          <a:xfrm>
            <a:off x="6510528" y="4736973"/>
            <a:ext cx="513252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Without the don't-cares the groups would be smaller and the expression longer</a:t>
            </a:r>
            <a:endParaRPr lang="en-US" sz="2000" dirty="0"/>
          </a:p>
        </p:txBody>
      </p:sp>
      <p:sp>
        <p:nvSpPr>
          <p:cNvPr id="46" name="Shape 44"/>
          <p:cNvSpPr/>
          <p:nvPr/>
        </p:nvSpPr>
        <p:spPr>
          <a:xfrm>
            <a:off x="6126480" y="5643372"/>
            <a:ext cx="146304" cy="146304"/>
          </a:xfrm>
          <a:prstGeom prst="rect">
            <a:avLst/>
          </a:prstGeom>
          <a:solidFill>
            <a:srgbClr val="0E7C86"/>
          </a:solidFill>
          <a:ln w="12700">
            <a:solidFill>
              <a:srgbClr val="0E7C86"/>
            </a:solidFill>
            <a:prstDash val="solid"/>
          </a:ln>
        </p:spPr>
      </p:sp>
      <p:sp>
        <p:nvSpPr>
          <p:cNvPr id="47" name="Text 45"/>
          <p:cNvSpPr txBox="1"/>
          <p:nvPr/>
        </p:nvSpPr>
        <p:spPr>
          <a:xfrm>
            <a:off x="6510528" y="5552440"/>
            <a:ext cx="513252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Six more maps give the segments b to g: a complete transcoder</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Multiplexers and demultiplexers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Selecting a source, selecting a destination.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6583680" y="2347036"/>
            <a:ext cx="4876495" cy="2438248"/>
          </a:xfrm>
          <a:prstGeom prst="rect">
            <a:avLst/>
          </a:prstGeom>
        </p:spPr>
      </p:pic>
      <p:sp>
        <p:nvSpPr>
          <p:cNvPr id="15" name="Text 11"/>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register or constant?</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immediate from the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instruction, sign-extended</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selection: 0 for add, 1 for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and addi t2, t0, 5 use the same adder</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 multiplexer in front of the ALU chooses the second operand: a register or the constant</a:t>
            </a:r>
            <a:endParaRPr lang="en-US" sz="1500" dirty="0"/>
          </a:p>
        </p:txBody>
      </p:sp>
      <p:sp>
        <p:nvSpPr>
          <p:cNvPr id="24" name="Shape 22"/>
          <p:cNvSpPr/>
          <p:nvPr/>
        </p:nvSpPr>
        <p:spPr>
          <a:xfrm>
            <a:off x="9052560" y="370979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65760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It is a multiplexer on words: thirty-two one-bit multiplexers sharing one selection line</a:t>
            </a:r>
            <a:endParaRPr lang="en-US" sz="1500" dirty="0"/>
          </a:p>
        </p:txBody>
      </p:sp>
      <p:sp>
        <p:nvSpPr>
          <p:cNvPr id="26" name="Shape 24"/>
          <p:cNvSpPr/>
          <p:nvPr/>
        </p:nvSpPr>
        <p:spPr>
          <a:xfrm>
            <a:off x="9052560" y="506234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50101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Reading a register is a multiplexer too: 32 words in, 5 selection bits (rs1), one word out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Comparing and checking</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Equal or different? Arrived intact or altered?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7132320" y="2618778"/>
            <a:ext cx="4327855" cy="1894765"/>
          </a:xfrm>
          <a:prstGeom prst="rect">
            <a:avLst/>
          </a:prstGeom>
        </p:spPr>
      </p:pic>
      <p:sp>
        <p:nvSpPr>
          <p:cNvPr id="15" name="Text 11"/>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Transmission with a parity check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Source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the non-redundant code C</a:t>
            </a:r>
            <a:endParaRPr lang="en-US" sz="16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CALC</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a parity network computes the parity bit, which is appended to C</a:t>
            </a:r>
            <a:endParaRPr lang="en-US" sz="16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Channel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the redundant code travels, and may be altered</a:t>
            </a:r>
            <a:endParaRPr lang="en-US" sz="16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a parity network verifies the parity and raises an error signal</a:t>
            </a:r>
            <a:endParaRPr lang="en-US" sz="16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Destination</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600" dirty="0">
                <a:solidFill>
                  <a:srgbClr val="1B2530"/>
                </a:solidFill>
                <a:latin typeface="Calibri" pitchFamily="34" charset="0"/>
                <a:ea typeface="Calibri" pitchFamily="34" charset="-122"/>
                <a:cs typeface="Calibri" pitchFamily="34" charset="-120"/>
              </a:rPr>
              <a:t>the code C', probably equal to C if no error was signalled</a:t>
            </a:r>
            <a:endParaRPr lang="en-US" sz="16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single parity bit detects any odd number of altered bits. It cannot say which bit is wrong, so it cannot correct, and it misses an even number of errors: stronger codes add more check bits.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parity network in seven instructions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xor combines the upper half of the bits with the lower half</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levels for eight bits: the software version of a tree of XOR gates</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value appended to the byte makes its total parity even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07</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arithmetic logic unit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All the blocks of this lecture, working together.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instructions and the ALU</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ALU operation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 that produces the result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or difference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adder / subtractor (one more bit, in funct7, chooses)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left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set if less than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subtractor, then the sign rules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right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chooses logical or arithmetic)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is a 3-bit code inside the instruction: the ALU multiplexer is driven by decoding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 outputs, one at 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 outputs, two at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 outputs, one at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 outputs, three at 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detects the error and corrects it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detects the error but cannot correct it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does not detect the error</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signals an error only if both bits were 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Synthesise segment g of the seven-segment transcoder with a Karnaugh map, using the don't-cares</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a 3-to-8 decoder from two 2-to-4 decoders with enable and one inverter</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Implement F = sum of m(1, 2, 4, 7) with one multiplexer of 8 inputs. Which function is it?</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 comparator in assembly: a0 = 1 if a0 and a1 are equal, using xor and sltiu only</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digit on PRG32: a table of ten bytes, one per digit, and seven rectangles lit by testing its bits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large digit that counts from 0 to 9, one step per second, drawn from seven rectangles.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Information is an attribute, a type and a value; a code writes the value as a string over an alphabet</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2026-10-12T11:28:39Z</dcterms:created>
  <dcterms:modified xsi:type="dcterms:W3CDTF">2026-10-12T11:28:39Z</dcterms:modified>
</cp:coreProperties>
</file>