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e5aed73-e995-f1b4-173c-c143d25445b9}">
          <p14:sldIdLst>
            <p14:sldId id="256"/>
            <p14:sldId id="257"/>
          </p14:sldIdLst>
        </p14:section>
        <p14:section name="Combinational machines" id="{ca012d8a-d392-7cc5-00ac-d3a32ed8b4ab}">
          <p14:sldIdLst>
            <p14:sldId id="258"/>
            <p14:sldId id="259"/>
          </p14:sldIdLst>
        </p14:section>
        <p14:section name="Codes" id="{7ed23e3a-5087-8484-b306-d8c64adb9934}">
          <p14:sldIdLst>
            <p14:sldId id="260"/>
            <p14:sldId id="261"/>
            <p14:sldId id="262"/>
          </p14:sldIdLst>
        </p14:section>
        <p14:section name="Decoders and encoders" id="{6c904f0c-6a75-b3cb-a7df-206c702ee100}">
          <p14:sldIdLst>
            <p14:sldId id="263"/>
            <p14:sldId id="264"/>
            <p14:sldId id="265"/>
            <p14:sldId id="266"/>
          </p14:sldIdLst>
        </p14:section>
        <p14:section name="Multiplexers and demultiplexers" id="{ebfc2a28-8263-c60b-1ea1-bc2e773d2840}">
          <p14:sldIdLst>
            <p14:sldId id="267"/>
            <p14:sldId id="268"/>
          </p14:sldIdLst>
        </p14:section>
        <p14:section name="Comparing and checking" id="{e4ee41a8-c11a-4a39-ff4c-2f04e587ee58}">
          <p14:sldIdLst>
            <p14:sldId id="269"/>
            <p14:sldId id="270"/>
          </p14:sldIdLst>
        </p14:section>
        <p14:section name="The arithmetic logic unit" id="{58092dbe-3cae-299e-3ac9-821fcca3bb71}">
          <p14:sldIdLst>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previous lectures gave you gates and a method to combine them. This one is a catalogue of the machines that designers actually use: decoders, encoders, multiplexers, comparators, parity networks, and finally the arithmetic logic unit. For each you learn what it does, how it is built, and where it sits inside a RISC-V processor. The young Turing of the quotation wants his carrots and peas kept apart: this lecture is about keeping things separate, and choosing among them.
For the lecturer: The quotation is translated back from the Italian version used in the original deck. Spiral: a table lookup in assembly is a multiplexer; the lecture then builds the standard combinational blocks and shows where each one sits inside a RISC-V processor (the old course used the Motorola 68000 as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objectives. Tell a combinational machine from a sequential one. Compute how many bits a code needs and recognise incomplete and redundant codes. Design a decoder and an encoder, and compose small decoders into larger ones. Explain multiplexers and demultiplexers and build them from gates. Build a comparator and a parity network, knowing what a parity check can and cannot detect. And point to each of these machines inside the processor.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Digital circuits are of two kinds. In a combinational circuit the outputs at a given instant depend only on the inputs at that same instant: there is no memory and no feedback, and a truth table describes the circuit completely. In a sequential circuit the outputs depend also on the past history of the inputs: it needs the notions of time and of state. Adders, decoders and multiplexers are combinational; flip-flops, registers and the processor as a whole are sequential, and are the subject of Lecture 13.
For the lecturer: Reti combinatorie and reti sequenziali. The definition of a sequential circuit implies time and state: both are the subject of the next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real gate does not answer instantly: its output settles after a propagation delay, as Lecture 10 explained. The delay of a network is that of its slowest path from an input to an output, the critical path. While signals are travelling the outputs may be temporarily wrong. So a combinational machine is correct only after it has settled, and something must say when to look at its outputs. That something is the clock, and it is where sequential machines begin.
For the lecturer: In a ripple-carry adder (Lecture 09) the critical path crosses all thirty-two full adders. The clock period of a processor must be longer than its longest critical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code associates each element of a set of N elements with a string of symbols, the code word. In a fixed-length code all the words have the same length m. With an alphabet of k symbols there are k to the m words, so m must be at least the logarithm of N, rounded up. In binary: fourteen marks need 4 bits, and the 32 registers of RISC-V need exactly 5. When N is not a power of two some words remain unused, and the code is incomplete.
For the lecturer: Codice a lunghezza fissa. The five bits of a register number are the fields rd, rs1 and rs2 of a RISC-V instruction (Lecture 02). Fourteen marks leave 16 - 14 = 2 unassigned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classic incomplete code: decimal digits on four bits. In BCD 8421 each digit is simply its value in binary; in excess-3 the value is increased by three. Ten digits need four bits, and four bits give sixteen words, so six of them are never used: in BCD, the words from 1010 to 1111. Remember the caption: when you design a circuit that receives BCD digits, those six words are don't-cares and make the circuit simpler.
For the lecturer: Ten digits need ceil(log2 10) = 4 bits; six of the sixteen words are never used: in BCD 8421 they are 1010 to 1111. Unused words become don't-care conditions when we design a circuit (Lecture 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redundant code uses more bits than the minimum, so only some of the possible words are legal. If a word arrives that is not legal, something altered it on the way, and the error is detected. Compare the two codes of the table. In Code 1 every 2-bit word is legal: an altered bit turns one element into another and nobody notices. Code 2 adds a third bit that makes the number of 1s even: any single altered bit produces an illegal word. Redundancy is the price paid for detecting errors.
For the lecturer: The original slide showed the same idea with a picture and a different choice of illegal words. Code 2 is Code 1 plus an even-parity bit: the parity machines come later in this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decoded representation there are as many bits as elements, and exactly one of them is 1: one line per element. It is also called one-hot. It is expensive in wires but immediately usable, because the active line can directly switch something on. The practical rule is in the last line: keep information in a compact code inside a word, and decode it where a choice has to be acted upon.
For the lecturer: Also called one-hot. The seven lamps of lab 06 are a decoded representation of the bit number; the 32 write-enable lines of the RISC-V registers are another.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decoder receives a code word of m bits and asserts the one output, out of 2 to the m, that corresponds to it. The table and the circuit show the 2-to-4 decoder: each output is a minterm of the two inputs, built with one AND gate and, where needed, inverters. So a decoder generates all the minterms of its inputs. An enable input, when it is 0, keeps all the outputs at 0: it will be the key to composing decoders.
For the lecturer: Synthesis of the 2-to-4 decoder (1 out of 4). A is the least significant bit. Decodificatore: the block symbol is a box marked 1/N.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encoder is the inverse machine: it receives N lines, of which one is active, and produces its number as a code word of m bits. Each output bit is the OR of the input lines whose number has a 1 in that position. If more than one line can be active at the same time a priority encoder is needed, which outputs the number of the most important active line. You will meet it again with interrupts, when several devices ask for attention at once.
For the lecturer: Codificatore. For N = 4: C0 = U1 + U3, C1 = U2 + U3. Priority encoders appear again with interrupts: several devices ask for attention, one number reaches the processor.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transcoder converts a word of one code into the corresponding word of another code. The example is the display with seven segments: the input is a BCD digit, the outputs are the seven lines that light the segments, named from a to g. The table gives, for each digit, which segments are lit: the digit 2 lights a, b, g, e and d. There are seven outputs, so seven functions of four variables to synthesise, each with six don't-cares.
For the lecturer: Transcodificatore BCD - display a 7 segmenti. Each segment is an LED switched by a digital signal. The six unused BCD words are don't-cares for all seven functions.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multiplexer has 2 to the n data inputs, n selection lines and one output: it transfers to the output the input chosen by the selection lines. The formula shows how: each data input is multiplied by one minterm of the selection lines, and the products are added. With two inputs, Y = S'I0 + S I1: when S is 0 the first term passes I0, when S is 1 the second passes I1. The drawing is exactly this formula in gates. It is the machine of the warm-up.
For the lecturer: Multiplexer indirizzabile: a MUXL (one enable line per input) plus a decoder. A multiplexer also implements any function of its selection variables: put the truth table on the data inputs.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demultiplexer is the inverse: one data input, n selection lines and 2 to the n outputs. The input is routed to the output chosen by the selection lines, and the other outputs stay at 0. With the data input fixed at 1 it is exactly a decoder. A multiplexer at one end of a wire and a demultiplexer at the other let many signals share that wire, one at a time: the idea behind every shared line, including the buses of Lecture 14.
For the lecturer: Demultiplexer indirizzabile: Fi = D . Ui, where Ui are the outputs of the decoder.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comparator receives two words and produces one bit, 1 when they are equal. Two bits are equal when their XNOR is 1; two words are equal when all their pairs of bits are equal, so the comparator is an AND of XNORs. The drawing shows it for words of two bits. In the processor it decides the branches beq and bne: the two registers are compared, and the branch is taken or not according to the result.
For the lecturer: Comparatore. Many datapaths reuse the ALU instead: subtract and test whether the result is zero. Ordering comparisons (blt, slt) need the subtraction and the sign rules of Lecture 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simplest redundant code adds one parity bit to each word, chosen so that the total number of 1s is, for example, even. The circuit that computes it is a parity network, a chain of XORs: the XOR of all the bits of a word is 1 when the number of 1s is odd, because XOR is addition modulo 2. The network is used twice: by the sender, to compute the bit to add, and by the receiver, to verify the parity of what arrived.
For the lecturer: Rete di parità. XOR is addition modulo 2, which is why a chain of XORs counts the 1s modulo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ALU receives two words, A and B. Inside it several units work at the same time on the same operands: an adder that also subtracts, a row of AND gates, a row of OR gates, a row of XOR gates, a shifter. All of them produce a result. A multiplexer lets one of the results through, and its selection lines come from a decoder that reads the instruction. There is no memory anywhere: the ALU is one large combinational machine, and its slowest path, the carry chain of the adder, limits the clock of the processor.
For the lecturer: Unità aritmetico-logica. The adder is the ripple-carry adder of Lecture 09, with the complement-and-carry trick of Lecture 05 for subtraction. Comparisons (slt) reuse the subtractor.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formula of the fixed-length code: the smallest m such that 2 to the m is at least 26. Four bits give sixteen words, which are not enough. And note that the result leaves some words unused.
A decoder with m inputs has 2 to the m outputs, and its output is a decoded representation: exactly one line active at any time.
For the lecturer: 1. Answer: B. ceil(log2 26) = 5, since 2^4 = 16 &lt; 26 &lt;= 32 = 2^5. Six words remain unassigned: the code is incomplete.
2. Answer: C. 2^3 = 8 outputs, and exactly one is asserted: the decoded (one-hot) representation of the input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relation is the inverse of the previous one: n selection lines choose among 2 to the n inputs. Eight is 2 to the third power.
Count the 1s. A parity check only knows whether their number is even or odd. Altering one bit changes that; altering two bits changes it twice, and brings it back to where it was.
For the lecturer: 1. Answer: B. n selection lines choose among 2^n inputs: 3 lines for 8 inputs.
2. Answer: C. Two alterations leave the parity unchanged. A single parity bit detects only an odd number of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Twelve terms. Enable is the input that switches a block on or off. Code word is each string of a code. Multiplexer and demultiplexer keep their names in Italian. A transcoder converts between two codes. The parity bit is the redundant bit added for the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conclusions. Information is an attribute, a type and a value, and a code writes the value as a string. A fixed-length binary code needs the logarithm of N bits, rounded up; a redundant code spends more to detect errors. Encoding, decoding and transcoding are done by combinational machines. Multiplexers select a source, demultiplexers a destination, comparators and parity networks check. And the processor uses all of them. What these machines lack is memory: after Part 2 of Verm1, Lecture 13 adds it.
For the lecturer: Next: Verm1, part 2: steering and food. Then sequential machines: what is missing here is memory.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11: Combinational machines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11</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Combinational Machines</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Codes, decoders, multiplexers, comparators, parity: the circuits a RISC-V processor is assembled from</a:t>
            </a:r>
            <a:endParaRPr lang="en-US" sz="17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“...it's not my fault, the carrots touched the peas...”</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Alan Turing as a boy, in the film The Imitation Game, 2014</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game_breakout.png">    </p:cNvPr>
          <p:cNvPicPr>
            <a:picLocks noChangeAspect="1"/>
          </p:cNvPicPr>
          <p:nvPr/>
        </p:nvPicPr>
        <p:blipFill>
          <a:blip r:embed="rId1"/>
          <a:stretch>
            <a:fillRect/>
          </a:stretch>
        </p:blipFill>
        <p:spPr>
          <a:xfrm>
            <a:off x="8915095" y="4251960"/>
            <a:ext cx="2438400" cy="182880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be able to do by the end</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Tell a combinational machine from a sequential one</a:t>
            </a:r>
            <a:endParaRPr lang="en-US" sz="2200" dirty="0"/>
          </a:p>
        </p:txBody>
      </p:sp>
      <p:sp>
        <p:nvSpPr>
          <p:cNvPr id="5" name="Text 3"/>
          <p:cNvSpPr txBox="1"/>
          <p:nvPr/>
        </p:nvSpPr>
        <p:spPr>
          <a:xfrm>
            <a:off x="548640" y="210454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08625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Compute how many bits a fixed-length code needs, and recognise incomplete and redundant codes</a:t>
            </a:r>
            <a:endParaRPr lang="en-US" sz="2200" dirty="0"/>
          </a:p>
        </p:txBody>
      </p:sp>
      <p:sp>
        <p:nvSpPr>
          <p:cNvPr id="7" name="Text 5"/>
          <p:cNvSpPr txBox="1"/>
          <p:nvPr/>
        </p:nvSpPr>
        <p:spPr>
          <a:xfrm>
            <a:off x="548640" y="3016301"/>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2998013"/>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Design a decoder and an encoder, and compose small decoders into larger ones</a:t>
            </a:r>
            <a:endParaRPr lang="en-US" sz="2200" dirty="0"/>
          </a:p>
        </p:txBody>
      </p:sp>
      <p:sp>
        <p:nvSpPr>
          <p:cNvPr id="9" name="Text 7"/>
          <p:cNvSpPr txBox="1"/>
          <p:nvPr/>
        </p:nvSpPr>
        <p:spPr>
          <a:xfrm>
            <a:off x="548640" y="3928059"/>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909771"/>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what a multiplexer and a demultiplexer do, and build them from gates</a:t>
            </a:r>
            <a:endParaRPr lang="en-US" sz="2200" dirty="0"/>
          </a:p>
        </p:txBody>
      </p:sp>
      <p:sp>
        <p:nvSpPr>
          <p:cNvPr id="11" name="Text 9"/>
          <p:cNvSpPr txBox="1"/>
          <p:nvPr/>
        </p:nvSpPr>
        <p:spPr>
          <a:xfrm>
            <a:off x="548640" y="483981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82153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Build a comparator and a parity network, and say what a parity check can and cannot detect</a:t>
            </a:r>
            <a:endParaRPr lang="en-US" sz="2200" dirty="0"/>
          </a:p>
        </p:txBody>
      </p:sp>
      <p:sp>
        <p:nvSpPr>
          <p:cNvPr id="13" name="Text 11"/>
          <p:cNvSpPr txBox="1"/>
          <p:nvPr/>
        </p:nvSpPr>
        <p:spPr>
          <a:xfrm>
            <a:off x="548640" y="575157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73328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Point to each of these machines inside a RISC-V processor</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 taxonomy of digital circuits</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Combinational circuits</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The value of the outputs at a given instant depends only on the value of the inputs at that same instant</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No memory, no feedback loops</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Completely described by a truth table</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Examples: adders, decoders, multiplexers, the ALU</a:t>
            </a:r>
            <a:endParaRPr lang="en-US" sz="19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Sequential circuits</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The outputs depend on the present inputs and on the past history of the inputs</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They need the concepts of time and of state</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Described by a state table or a state diagram</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Examples: latches, flip-flops, registers, counters, the processor as a whole (Lecture 13)</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Real gates take time</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gate does not answer instantly: its output settles after a propagation delay</a:t>
            </a:r>
            <a:endParaRPr lang="en-US" sz="2200" dirty="0"/>
          </a:p>
        </p:txBody>
      </p:sp>
      <p:sp>
        <p:nvSpPr>
          <p:cNvPr id="5" name="Shape 3"/>
          <p:cNvSpPr/>
          <p:nvPr/>
        </p:nvSpPr>
        <p:spPr>
          <a:xfrm>
            <a:off x="548640" y="237159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65172"/>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delay of a network is that of its slowest path from an input to an output: the critical path</a:t>
            </a:r>
            <a:endParaRPr lang="en-US" sz="2200" dirty="0"/>
          </a:p>
        </p:txBody>
      </p:sp>
      <p:sp>
        <p:nvSpPr>
          <p:cNvPr id="7" name="Shape 5"/>
          <p:cNvSpPr/>
          <p:nvPr/>
        </p:nvSpPr>
        <p:spPr>
          <a:xfrm>
            <a:off x="548640" y="35603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3892"/>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While the signals travel, the outputs can be temporarily wrong</a:t>
            </a:r>
            <a:endParaRPr lang="en-US" sz="2200" dirty="0"/>
          </a:p>
        </p:txBody>
      </p:sp>
      <p:sp>
        <p:nvSpPr>
          <p:cNvPr id="9" name="Shape 7"/>
          <p:cNvSpPr/>
          <p:nvPr/>
        </p:nvSpPr>
        <p:spPr>
          <a:xfrm>
            <a:off x="548640" y="4408170"/>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301744"/>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combinational machine is correct only after it has settled: something must tell us when to look</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That something is the clock, and it is where sequential machines begin</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delay</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every gate adds a little time; the slowest path through the network sets the speed of the whole machine</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Codes of fixed length</a:t>
            </a:r>
            <a:endParaRPr lang="en-US" sz="3200" dirty="0"/>
          </a:p>
        </p:txBody>
      </p:sp>
      <p:sp>
        <p:nvSpPr>
          <p:cNvPr id="3" name="Shape 1"/>
          <p:cNvSpPr/>
          <p:nvPr/>
        </p:nvSpPr>
        <p:spPr>
          <a:xfrm>
            <a:off x="548640" y="1417320"/>
            <a:ext cx="11094415" cy="1596136"/>
          </a:xfrm>
          <a:prstGeom prst="roundRect">
            <a:avLst>
              <a:gd name="adj" fmla="val 4583"/>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Code</a:t>
            </a:r>
            <a:endParaRPr lang="en-US" sz="1600" dirty="0"/>
          </a:p>
        </p:txBody>
      </p:sp>
      <p:sp>
        <p:nvSpPr>
          <p:cNvPr id="5" name="Text 3"/>
          <p:cNvSpPr txBox="1"/>
          <p:nvPr/>
        </p:nvSpPr>
        <p:spPr>
          <a:xfrm>
            <a:off x="914400" y="2057400"/>
            <a:ext cx="10362895" cy="773176"/>
          </a:xfrm>
          <a:prstGeom prst="rect">
            <a:avLst/>
          </a:prstGeom>
          <a:noFill/>
          <a:ln/>
        </p:spPr>
        <p:txBody>
          <a:bodyPr wrap="square" lIns="0" tIns="0" rIns="0" bIns="0" rtlCol="0" anchor="ctr"/>
          <a:lstStyle/>
          <a:p>
            <a:pPr indent="0" marL="0">
              <a:buNone/>
            </a:pPr>
            <a:r>
              <a:rPr lang="en-US" sz="2300" i="1" dirty="0">
                <a:solidFill>
                  <a:srgbClr val="1B2530"/>
                </a:solidFill>
                <a:latin typeface="Cambria" pitchFamily="34" charset="0"/>
                <a:ea typeface="Cambria" pitchFamily="34" charset="-122"/>
                <a:cs typeface="Cambria" pitchFamily="34" charset="-120"/>
              </a:rPr>
              <a:t>A code maps every element of a source type T, of cardinality N, to a string of symbols of a code alphabet E with k symbols: the code word.</a:t>
            </a:r>
            <a:endParaRPr lang="en-US" sz="2300" dirty="0"/>
          </a:p>
        </p:txBody>
      </p:sp>
      <p:sp>
        <p:nvSpPr>
          <p:cNvPr id="6" name="Shape 4"/>
          <p:cNvSpPr/>
          <p:nvPr/>
        </p:nvSpPr>
        <p:spPr>
          <a:xfrm>
            <a:off x="548640" y="3432175"/>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333496"/>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Fixed length: every code word has the same length m; there are k^m possible words</a:t>
            </a:r>
            <a:endParaRPr lang="en-US" sz="2100" dirty="0"/>
          </a:p>
        </p:txBody>
      </p:sp>
      <p:sp>
        <p:nvSpPr>
          <p:cNvPr id="8" name="Shape 6"/>
          <p:cNvSpPr/>
          <p:nvPr/>
        </p:nvSpPr>
        <p:spPr>
          <a:xfrm>
            <a:off x="548640" y="4269952"/>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4171273"/>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To encode N elements we need k^m &gt;= N, so the minimum length is m = ceil(log_k N)</a:t>
            </a:r>
            <a:endParaRPr lang="en-US" sz="2100" dirty="0"/>
          </a:p>
        </p:txBody>
      </p:sp>
      <p:sp>
        <p:nvSpPr>
          <p:cNvPr id="10" name="Shape 8"/>
          <p:cNvSpPr/>
          <p:nvPr/>
        </p:nvSpPr>
        <p:spPr>
          <a:xfrm>
            <a:off x="548640" y="5107728"/>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5009049"/>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In binary: m = ceil(log2 N). The fourteen exam marks need 4 bits; the 32 RISC-V registers need exactly 5</a:t>
            </a:r>
            <a:endParaRPr lang="en-US" sz="2100" dirty="0"/>
          </a:p>
        </p:txBody>
      </p:sp>
      <p:sp>
        <p:nvSpPr>
          <p:cNvPr id="12" name="Shape 10"/>
          <p:cNvSpPr/>
          <p:nvPr/>
        </p:nvSpPr>
        <p:spPr>
          <a:xfrm>
            <a:off x="548640" y="5945505"/>
            <a:ext cx="146304" cy="146304"/>
          </a:xfrm>
          <a:prstGeom prst="rect">
            <a:avLst/>
          </a:prstGeom>
          <a:solidFill>
            <a:srgbClr val="C7791B"/>
          </a:solidFill>
          <a:ln w="12700">
            <a:solidFill>
              <a:srgbClr val="C7791B"/>
            </a:solidFill>
            <a:prstDash val="solid"/>
          </a:ln>
        </p:spPr>
      </p:sp>
      <p:sp>
        <p:nvSpPr>
          <p:cNvPr id="13" name="Text 11"/>
          <p:cNvSpPr txBox="1"/>
          <p:nvPr/>
        </p:nvSpPr>
        <p:spPr>
          <a:xfrm>
            <a:off x="932688" y="5846826"/>
            <a:ext cx="10710367"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Incomplete code: N is not a power of k, and k^m - N words are left unassigned</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An incomplete code: binary-coded decimal</a:t>
            </a:r>
            <a:endParaRPr lang="en-US" sz="3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280125"/>
                <a:gridCol w="2133541"/>
                <a:gridCol w="2133541"/>
                <a:gridCol w="1280125"/>
                <a:gridCol w="2133541"/>
                <a:gridCol w="2133541"/>
              </a:tblGrid>
              <a:tr h="0">
                <a:tc>
                  <a:txBody>
                    <a:bodyPr/>
                    <a:lstStyle/>
                    <a:p>
                      <a:pPr algn="ctr" indent="0" marL="0">
                        <a:buNone/>
                      </a:pPr>
                      <a:r>
                        <a:rPr lang="en-US" sz="2000" b="1" dirty="0">
                          <a:solidFill>
                            <a:srgbClr val="FFFFFF"/>
                          </a:solidFill>
                          <a:latin typeface="Calibri" pitchFamily="34" charset="0"/>
                          <a:ea typeface="Calibri" pitchFamily="34" charset="-122"/>
                          <a:cs typeface="Calibri" pitchFamily="34" charset="-120"/>
                        </a:rPr>
                        <a:t>Digit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2000" b="1" dirty="0">
                          <a:solidFill>
                            <a:srgbClr val="FFFFFF"/>
                          </a:solidFill>
                          <a:latin typeface="Calibri" pitchFamily="34" charset="0"/>
                          <a:ea typeface="Calibri" pitchFamily="34" charset="-122"/>
                          <a:cs typeface="Calibri" pitchFamily="34" charset="-120"/>
                        </a:rPr>
                        <a:t>BCD 8421</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2000" b="1" dirty="0">
                          <a:solidFill>
                            <a:srgbClr val="FFFFFF"/>
                          </a:solidFill>
                          <a:latin typeface="Calibri" pitchFamily="34" charset="0"/>
                          <a:ea typeface="Calibri" pitchFamily="34" charset="-122"/>
                          <a:cs typeface="Calibri" pitchFamily="34" charset="-120"/>
                        </a:rPr>
                        <a:t>Excess-3</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2000" b="1" dirty="0">
                          <a:solidFill>
                            <a:srgbClr val="FFFFFF"/>
                          </a:solidFill>
                          <a:latin typeface="Calibri" pitchFamily="34" charset="0"/>
                          <a:ea typeface="Calibri" pitchFamily="34" charset="-122"/>
                          <a:cs typeface="Calibri" pitchFamily="34" charset="-120"/>
                        </a:rPr>
                        <a:t>Digit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2000" b="1" dirty="0">
                          <a:solidFill>
                            <a:srgbClr val="FFFFFF"/>
                          </a:solidFill>
                          <a:latin typeface="Calibri" pitchFamily="34" charset="0"/>
                          <a:ea typeface="Calibri" pitchFamily="34" charset="-122"/>
                          <a:cs typeface="Calibri" pitchFamily="34" charset="-120"/>
                        </a:rPr>
                        <a:t>BCD 8421</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2000" b="1" dirty="0">
                          <a:solidFill>
                            <a:srgbClr val="FFFFFF"/>
                          </a:solidFill>
                          <a:latin typeface="Calibri" pitchFamily="34" charset="0"/>
                          <a:ea typeface="Calibri" pitchFamily="34" charset="-122"/>
                          <a:cs typeface="Calibri" pitchFamily="34" charset="-120"/>
                        </a:rPr>
                        <a:t>Excess-3</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ctr" indent="0" marL="0">
                        <a:buNone/>
                      </a:pPr>
                      <a:r>
                        <a:rPr lang="en-US" sz="2000" b="1" dirty="0">
                          <a:solidFill>
                            <a:srgbClr val="1B2530"/>
                          </a:solidFill>
                          <a:latin typeface="Calibri" pitchFamily="34" charset="0"/>
                          <a:ea typeface="Calibri" pitchFamily="34" charset="-122"/>
                          <a:cs typeface="Calibri" pitchFamily="34" charset="-120"/>
                        </a:rPr>
                        <a:t>0</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0000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0011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alibri" pitchFamily="34" charset="0"/>
                          <a:ea typeface="Calibri" pitchFamily="34" charset="-122"/>
                          <a:cs typeface="Calibri" pitchFamily="34" charset="-120"/>
                        </a:rPr>
                        <a:t>5</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0101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1000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ctr" indent="0" marL="0">
                        <a:buNone/>
                      </a:pPr>
                      <a:r>
                        <a:rPr lang="en-US" sz="2000" b="1" dirty="0">
                          <a:solidFill>
                            <a:srgbClr val="1B2530"/>
                          </a:solidFill>
                          <a:latin typeface="Calibri" pitchFamily="34" charset="0"/>
                          <a:ea typeface="Calibri" pitchFamily="34" charset="-122"/>
                          <a:cs typeface="Calibri" pitchFamily="34" charset="-120"/>
                        </a:rPr>
                        <a:t>1</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0001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0100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alibri" pitchFamily="34" charset="0"/>
                          <a:ea typeface="Calibri" pitchFamily="34" charset="-122"/>
                          <a:cs typeface="Calibri" pitchFamily="34" charset="-120"/>
                        </a:rPr>
                        <a:t>6</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0110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1001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ctr" indent="0" marL="0">
                        <a:buNone/>
                      </a:pPr>
                      <a:r>
                        <a:rPr lang="en-US" sz="2000" b="1" dirty="0">
                          <a:solidFill>
                            <a:srgbClr val="1B2530"/>
                          </a:solidFill>
                          <a:latin typeface="Calibri" pitchFamily="34" charset="0"/>
                          <a:ea typeface="Calibri" pitchFamily="34" charset="-122"/>
                          <a:cs typeface="Calibri" pitchFamily="34" charset="-120"/>
                        </a:rPr>
                        <a:t>2</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0010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0101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alibri" pitchFamily="34" charset="0"/>
                          <a:ea typeface="Calibri" pitchFamily="34" charset="-122"/>
                          <a:cs typeface="Calibri" pitchFamily="34" charset="-120"/>
                        </a:rPr>
                        <a:t>7</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0111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1010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ctr" indent="0" marL="0">
                        <a:buNone/>
                      </a:pPr>
                      <a:r>
                        <a:rPr lang="en-US" sz="2000" b="1" dirty="0">
                          <a:solidFill>
                            <a:srgbClr val="1B2530"/>
                          </a:solidFill>
                          <a:latin typeface="Calibri" pitchFamily="34" charset="0"/>
                          <a:ea typeface="Calibri" pitchFamily="34" charset="-122"/>
                          <a:cs typeface="Calibri" pitchFamily="34" charset="-120"/>
                        </a:rPr>
                        <a:t>3</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0011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0110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alibri" pitchFamily="34" charset="0"/>
                          <a:ea typeface="Calibri" pitchFamily="34" charset="-122"/>
                          <a:cs typeface="Calibri" pitchFamily="34" charset="-120"/>
                        </a:rPr>
                        <a:t>8</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1000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1011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ctr" indent="0" marL="0">
                        <a:buNone/>
                      </a:pPr>
                      <a:r>
                        <a:rPr lang="en-US" sz="2000" b="1" dirty="0">
                          <a:solidFill>
                            <a:srgbClr val="1B2530"/>
                          </a:solidFill>
                          <a:latin typeface="Calibri" pitchFamily="34" charset="0"/>
                          <a:ea typeface="Calibri" pitchFamily="34" charset="-122"/>
                          <a:cs typeface="Calibri" pitchFamily="34" charset="-120"/>
                        </a:rPr>
                        <a:t>4</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0100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0111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alibri" pitchFamily="34" charset="0"/>
                          <a:ea typeface="Calibri" pitchFamily="34" charset="-122"/>
                          <a:cs typeface="Calibri" pitchFamily="34" charset="-120"/>
                        </a:rPr>
                        <a:t>9</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1001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1100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Four bits for ten digits: six code words are not assigned. They will be the don't-cares of our circuits.</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Redundant codes</a:t>
            </a:r>
            <a:endParaRPr lang="en-US" sz="3200" dirty="0"/>
          </a:p>
        </p:txBody>
      </p:sp>
      <p:sp>
        <p:nvSpPr>
          <p:cNvPr id="3" name="Shape 1"/>
          <p:cNvSpPr/>
          <p:nvPr/>
        </p:nvSpPr>
        <p:spPr>
          <a:xfrm>
            <a:off x="548640" y="1531493"/>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559552" cy="1069086"/>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A redundant code uses more symbols than strictly necessary: its length is greater than the minimum m</a:t>
            </a:r>
            <a:endParaRPr lang="en-US" sz="2300" dirty="0"/>
          </a:p>
        </p:txBody>
      </p:sp>
      <p:sp>
        <p:nvSpPr>
          <p:cNvPr id="5" name="Shape 3"/>
          <p:cNvSpPr/>
          <p:nvPr/>
        </p:nvSpPr>
        <p:spPr>
          <a:xfrm>
            <a:off x="548640" y="2760091"/>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45918"/>
            <a:ext cx="5559552" cy="1069086"/>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Only some of the possible words are legal; the others cannot be produced by the encoder</a:t>
            </a:r>
            <a:endParaRPr lang="en-US" sz="2300" dirty="0"/>
          </a:p>
        </p:txBody>
      </p:sp>
      <p:sp>
        <p:nvSpPr>
          <p:cNvPr id="7" name="Shape 5"/>
          <p:cNvSpPr/>
          <p:nvPr/>
        </p:nvSpPr>
        <p:spPr>
          <a:xfrm>
            <a:off x="548640" y="398868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874516"/>
            <a:ext cx="5559552" cy="1069086"/>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If a word arrives that is not legal, something altered it on the way: the error is detected</a:t>
            </a:r>
            <a:endParaRPr lang="en-US" sz="2300" dirty="0"/>
          </a:p>
        </p:txBody>
      </p:sp>
      <p:sp>
        <p:nvSpPr>
          <p:cNvPr id="9" name="Shape 7"/>
          <p:cNvSpPr/>
          <p:nvPr/>
        </p:nvSpPr>
        <p:spPr>
          <a:xfrm>
            <a:off x="548640" y="521728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103114"/>
            <a:ext cx="5559552" cy="1069086"/>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Redundancy is the price paid to detect, and sometimes to correct, errors</a:t>
            </a:r>
            <a:endParaRPr lang="en-US" sz="23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949440" y="1417320"/>
          <a:ext cx="4663440" cy="914400"/>
        </p:xfrm>
        <a:graphic>
          <a:graphicData uri="http://schemas.openxmlformats.org/drawingml/2006/table">
            <a:tbl>
              <a:tblPr/>
              <a:tblGrid>
                <a:gridCol w="1188720"/>
                <a:gridCol w="1645920"/>
                <a:gridCol w="1828800"/>
              </a:tblGrid>
              <a:tr h="438912">
                <a:tc>
                  <a:txBody>
                    <a:bodyPr/>
                    <a:lstStyle/>
                    <a:p>
                      <a:pPr algn="ctr" indent="0" marL="0">
                        <a:buNone/>
                      </a:pPr>
                      <a:r>
                        <a:rPr lang="en-US" sz="1700" b="1" dirty="0">
                          <a:solidFill>
                            <a:srgbClr val="FFFFFF"/>
                          </a:solidFill>
                          <a:latin typeface="Calibri" pitchFamily="34" charset="0"/>
                          <a:ea typeface="Calibri" pitchFamily="34" charset="-122"/>
                          <a:cs typeface="Calibri" pitchFamily="34" charset="-120"/>
                        </a:rPr>
                        <a:t>Element</a:t>
                      </a:r>
                      <a:endParaRPr lang="en-US" sz="17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700" b="1" dirty="0">
                          <a:solidFill>
                            <a:srgbClr val="FFFFFF"/>
                          </a:solidFill>
                          <a:latin typeface="Calibri" pitchFamily="34" charset="0"/>
                          <a:ea typeface="Calibri" pitchFamily="34" charset="-122"/>
                          <a:cs typeface="Calibri" pitchFamily="34" charset="-120"/>
                        </a:rPr>
                        <a:t>Code 1</a:t>
                      </a:r>
                      <a:endParaRPr lang="en-US" sz="17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700" b="1" dirty="0">
                          <a:solidFill>
                            <a:srgbClr val="FFFFFF"/>
                          </a:solidFill>
                          <a:latin typeface="Calibri" pitchFamily="34" charset="0"/>
                          <a:ea typeface="Calibri" pitchFamily="34" charset="-122"/>
                          <a:cs typeface="Calibri" pitchFamily="34" charset="-120"/>
                        </a:rPr>
                        <a:t>Code 2</a:t>
                      </a:r>
                      <a:endParaRPr lang="en-US" sz="17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438912">
                <a:tc>
                  <a:txBody>
                    <a:bodyPr/>
                    <a:lstStyle/>
                    <a:p>
                      <a:pPr algn="ctr" indent="0" marL="0">
                        <a:buNone/>
                      </a:pPr>
                      <a:r>
                        <a:rPr lang="en-US" sz="1700" b="1" dirty="0">
                          <a:solidFill>
                            <a:srgbClr val="1B2530"/>
                          </a:solidFill>
                          <a:latin typeface="Calibri" pitchFamily="34" charset="0"/>
                          <a:ea typeface="Calibri" pitchFamily="34" charset="-122"/>
                          <a:cs typeface="Calibri" pitchFamily="34" charset="-120"/>
                        </a:rPr>
                        <a:t>A</a:t>
                      </a:r>
                      <a:endParaRPr lang="en-US" sz="17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00</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000</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438912">
                <a:tc>
                  <a:txBody>
                    <a:bodyPr/>
                    <a:lstStyle/>
                    <a:p>
                      <a:pPr algn="ctr" indent="0" marL="0">
                        <a:buNone/>
                      </a:pPr>
                      <a:r>
                        <a:rPr lang="en-US" sz="1700" b="1" dirty="0">
                          <a:solidFill>
                            <a:srgbClr val="1B2530"/>
                          </a:solidFill>
                          <a:latin typeface="Calibri" pitchFamily="34" charset="0"/>
                          <a:ea typeface="Calibri" pitchFamily="34" charset="-122"/>
                          <a:cs typeface="Calibri" pitchFamily="34" charset="-120"/>
                        </a:rPr>
                        <a:t>B</a:t>
                      </a:r>
                      <a:endParaRPr lang="en-US" sz="17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01</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011</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438912">
                <a:tc>
                  <a:txBody>
                    <a:bodyPr/>
                    <a:lstStyle/>
                    <a:p>
                      <a:pPr algn="ctr" indent="0" marL="0">
                        <a:buNone/>
                      </a:pPr>
                      <a:r>
                        <a:rPr lang="en-US" sz="1700" b="1" dirty="0">
                          <a:solidFill>
                            <a:srgbClr val="1B2530"/>
                          </a:solidFill>
                          <a:latin typeface="Calibri" pitchFamily="34" charset="0"/>
                          <a:ea typeface="Calibri" pitchFamily="34" charset="-122"/>
                          <a:cs typeface="Calibri" pitchFamily="34" charset="-120"/>
                        </a:rPr>
                        <a:t>C</a:t>
                      </a:r>
                      <a:endParaRPr lang="en-US" sz="17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10</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101</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438912">
                <a:tc>
                  <a:txBody>
                    <a:bodyPr/>
                    <a:lstStyle/>
                    <a:p>
                      <a:pPr algn="ctr" indent="0" marL="0">
                        <a:buNone/>
                      </a:pPr>
                      <a:r>
                        <a:rPr lang="en-US" sz="1700" b="1" dirty="0">
                          <a:solidFill>
                            <a:srgbClr val="1B2530"/>
                          </a:solidFill>
                          <a:latin typeface="Calibri" pitchFamily="34" charset="0"/>
                          <a:ea typeface="Calibri" pitchFamily="34" charset="-122"/>
                          <a:cs typeface="Calibri" pitchFamily="34" charset="-120"/>
                        </a:rPr>
                        <a:t>D</a:t>
                      </a:r>
                      <a:endParaRPr lang="en-US" sz="17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11</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110</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12" name="Shape 9"/>
          <p:cNvSpPr/>
          <p:nvPr/>
        </p:nvSpPr>
        <p:spPr>
          <a:xfrm>
            <a:off x="6949440" y="3931920"/>
            <a:ext cx="4663440" cy="2240280"/>
          </a:xfrm>
          <a:prstGeom prst="roundRect">
            <a:avLst>
              <a:gd name="adj" fmla="val 3265"/>
            </a:avLst>
          </a:prstGeom>
          <a:solidFill>
            <a:srgbClr val="F3DDE0"/>
          </a:solidFill>
          <a:ln w="12700">
            <a:solidFill>
              <a:srgbClr val="F3DDE0"/>
            </a:solidFill>
            <a:prstDash val="solid"/>
          </a:ln>
        </p:spPr>
      </p:sp>
      <p:sp>
        <p:nvSpPr>
          <p:cNvPr id="13" name="Text 10"/>
          <p:cNvSpPr txBox="1"/>
          <p:nvPr/>
        </p:nvSpPr>
        <p:spPr>
          <a:xfrm>
            <a:off x="7132320" y="4023360"/>
            <a:ext cx="4297680" cy="2057400"/>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Code 1 is not redundant: every 2-bit word is legal, so an altered bit turns one element into another without anyone noticing.</a:t>
            </a:r>
            <a:endParaRPr lang="en-US" sz="1400" dirty="0"/>
          </a:p>
          <a:p>
            <a:pPr indent="0" marL="0">
              <a:buNone/>
            </a:pPr>
            <a:r>
              <a:rPr lang="en-US" sz="1400" dirty="0">
                <a:solidFill>
                  <a:srgbClr val="1B2530"/>
                </a:solidFill>
                <a:latin typeface="Calibri" pitchFamily="34" charset="0"/>
                <a:ea typeface="Calibri" pitchFamily="34" charset="-122"/>
                <a:cs typeface="Calibri" pitchFamily="34" charset="-120"/>
              </a:rPr>
              <a:t>Code 2 adds a third bit that makes the number of 1s even. The words 001, 010, 100 and 111 are not legal: a single altered bit is always detected.</a:t>
            </a:r>
            <a:endParaRPr lang="en-US" sz="1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decoded representation</a:t>
            </a:r>
            <a:endParaRPr lang="en-US" sz="3200" dirty="0"/>
          </a:p>
        </p:txBody>
      </p:sp>
      <p:sp>
        <p:nvSpPr>
          <p:cNvPr id="3" name="Shape 1"/>
          <p:cNvSpPr/>
          <p:nvPr/>
        </p:nvSpPr>
        <p:spPr>
          <a:xfrm>
            <a:off x="548640" y="153924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A code in which the length of the word equals the cardinality N of the set: m = N</a:t>
            </a:r>
            <a:endParaRPr lang="en-US" sz="2400" dirty="0"/>
          </a:p>
        </p:txBody>
      </p:sp>
      <p:sp>
        <p:nvSpPr>
          <p:cNvPr id="5" name="Shape 3"/>
          <p:cNvSpPr/>
          <p:nvPr/>
        </p:nvSpPr>
        <p:spPr>
          <a:xfrm>
            <a:off x="548640" y="262839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06472"/>
            <a:ext cx="65653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Every code word has exactly one bit at 1: one line per element</a:t>
            </a:r>
            <a:endParaRPr lang="en-US" sz="2400" dirty="0"/>
          </a:p>
        </p:txBody>
      </p:sp>
      <p:sp>
        <p:nvSpPr>
          <p:cNvPr id="7" name="Shape 5"/>
          <p:cNvSpPr/>
          <p:nvPr/>
        </p:nvSpPr>
        <p:spPr>
          <a:xfrm>
            <a:off x="548640" y="371754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595624"/>
            <a:ext cx="6565392" cy="111556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Simple to use, because the active line directly selects something, but costly in wires</a:t>
            </a:r>
            <a:endParaRPr lang="en-US" sz="2400" dirty="0"/>
          </a:p>
        </p:txBody>
      </p:sp>
      <p:sp>
        <p:nvSpPr>
          <p:cNvPr id="9" name="Shape 7"/>
          <p:cNvSpPr/>
          <p:nvPr/>
        </p:nvSpPr>
        <p:spPr>
          <a:xfrm>
            <a:off x="548640" y="517855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056632"/>
            <a:ext cx="6565392" cy="111556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Compact code inside a word, decoded representation where a choice must be acted upon</a:t>
            </a:r>
            <a:endParaRPr lang="en-US" sz="24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0 0 1 0</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one of four: the third line is asserted, so the third element is the one chosen</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decoder</a:t>
            </a:r>
            <a:endParaRPr lang="en-US" sz="3200" dirty="0"/>
          </a:p>
        </p:txBody>
      </p:sp>
      <p:sp>
        <p:nvSpPr>
          <p:cNvPr id="3" name="Shape 1"/>
          <p:cNvSpPr/>
          <p:nvPr/>
        </p:nvSpPr>
        <p:spPr>
          <a:xfrm>
            <a:off x="548640" y="1485011"/>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4736592" cy="790194"/>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Receives a code word of m bits and asserts the one output line, out of N = 2^m, that corresponds to it</a:t>
            </a:r>
            <a:endParaRPr lang="en-US" sz="1700" dirty="0"/>
          </a:p>
        </p:txBody>
      </p:sp>
      <p:sp>
        <p:nvSpPr>
          <p:cNvPr id="5" name="Shape 3"/>
          <p:cNvSpPr/>
          <p:nvPr/>
        </p:nvSpPr>
        <p:spPr>
          <a:xfrm>
            <a:off x="548640" y="245059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82901"/>
            <a:ext cx="4736592" cy="52679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Each output is a minterm of the inputs: a decoder generates all of them</a:t>
            </a:r>
            <a:endParaRPr lang="en-US" sz="1700" dirty="0"/>
          </a:p>
        </p:txBody>
      </p:sp>
      <p:sp>
        <p:nvSpPr>
          <p:cNvPr id="7" name="Shape 5"/>
          <p:cNvSpPr/>
          <p:nvPr/>
        </p:nvSpPr>
        <p:spPr>
          <a:xfrm>
            <a:off x="548640" y="315277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085084"/>
            <a:ext cx="4736592" cy="52679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With an enable input EN: when EN = 0 no output is asserted</a:t>
            </a:r>
            <a:endParaRPr lang="en-US" sz="17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3794760"/>
          <a:ext cx="3566160" cy="914400"/>
        </p:xfrm>
        <a:graphic>
          <a:graphicData uri="http://schemas.openxmlformats.org/drawingml/2006/table">
            <a:tbl>
              <a:tblPr/>
              <a:tblGrid>
                <a:gridCol w="502920"/>
                <a:gridCol w="502920"/>
                <a:gridCol w="640080"/>
                <a:gridCol w="640080"/>
                <a:gridCol w="640080"/>
                <a:gridCol w="640080"/>
              </a:tblGrid>
              <a:tr h="365760">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U0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U1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U2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U3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bl>
          </a:graphicData>
        </a:graphic>
      </p:graphicFrame>
      <p:sp>
        <p:nvSpPr>
          <p:cNvPr id="10" name="Text 7"/>
          <p:cNvSpPr txBox="1"/>
          <p:nvPr/>
        </p:nvSpPr>
        <p:spPr>
          <a:xfrm>
            <a:off x="4389120" y="3794760"/>
            <a:ext cx="1463040" cy="1828800"/>
          </a:xfrm>
          <a:prstGeom prst="rect">
            <a:avLst/>
          </a:prstGeom>
          <a:noFill/>
          <a:ln/>
        </p:spPr>
        <p:txBody>
          <a:bodyPr wrap="square" lIns="0" tIns="0" rIns="0" bIns="0" rtlCol="0" anchor="ctr"/>
          <a:lstStyle/>
          <a:p>
            <a:pPr indent="0" marL="0">
              <a:buNone/>
            </a:pPr>
            <a:r>
              <a:rPr lang="en-US" sz="1500" b="1" dirty="0">
                <a:solidFill>
                  <a:srgbClr val="2E4A62"/>
                </a:solidFill>
                <a:latin typeface="Courier New" pitchFamily="34" charset="0"/>
                <a:ea typeface="Courier New" pitchFamily="34" charset="-122"/>
                <a:cs typeface="Courier New" pitchFamily="34" charset="-120"/>
              </a:rPr>
              <a:t>U0 = B'A'</a:t>
            </a:r>
            <a:endParaRPr lang="en-US" sz="1500" dirty="0"/>
          </a:p>
          <a:p>
            <a:pPr indent="0" marL="0">
              <a:buNone/>
            </a:pPr>
            <a:r>
              <a:rPr lang="en-US" sz="1500" b="1" dirty="0">
                <a:solidFill>
                  <a:srgbClr val="2E4A62"/>
                </a:solidFill>
                <a:latin typeface="Courier New" pitchFamily="34" charset="0"/>
                <a:ea typeface="Courier New" pitchFamily="34" charset="-122"/>
                <a:cs typeface="Courier New" pitchFamily="34" charset="-120"/>
              </a:rPr>
              <a:t>U1 = B'A</a:t>
            </a:r>
            <a:endParaRPr lang="en-US" sz="1500" dirty="0"/>
          </a:p>
          <a:p>
            <a:pPr indent="0" marL="0">
              <a:buNone/>
            </a:pPr>
            <a:r>
              <a:rPr lang="en-US" sz="1500" b="1" dirty="0">
                <a:solidFill>
                  <a:srgbClr val="2E4A62"/>
                </a:solidFill>
                <a:latin typeface="Courier New" pitchFamily="34" charset="0"/>
                <a:ea typeface="Courier New" pitchFamily="34" charset="-122"/>
                <a:cs typeface="Courier New" pitchFamily="34" charset="-120"/>
              </a:rPr>
              <a:t>U2 = B A'</a:t>
            </a:r>
            <a:endParaRPr lang="en-US" sz="1500" dirty="0"/>
          </a:p>
          <a:p>
            <a:pPr indent="0" marL="0">
              <a:buNone/>
            </a:pPr>
            <a:r>
              <a:rPr lang="en-US" sz="1500" b="1" dirty="0">
                <a:solidFill>
                  <a:srgbClr val="2E4A62"/>
                </a:solidFill>
                <a:latin typeface="Courier New" pitchFamily="34" charset="0"/>
                <a:ea typeface="Courier New" pitchFamily="34" charset="-122"/>
                <a:cs typeface="Courier New" pitchFamily="34" charset="-120"/>
              </a:rPr>
              <a:t>U3 = B A</a:t>
            </a:r>
            <a:endParaRPr lang="en-US" sz="1500" dirty="0"/>
          </a:p>
        </p:txBody>
      </p:sp>
      <p:sp>
        <p:nvSpPr>
          <p:cNvPr id="11" name="Shape 8"/>
          <p:cNvSpPr/>
          <p:nvPr/>
        </p:nvSpPr>
        <p:spPr>
          <a:xfrm>
            <a:off x="6035040" y="1417320"/>
            <a:ext cx="5608015" cy="4754880"/>
          </a:xfrm>
          <a:prstGeom prst="roundRect">
            <a:avLst>
              <a:gd name="adj" fmla="val 1538"/>
            </a:avLst>
          </a:prstGeom>
          <a:solidFill>
            <a:srgbClr val="EEF2F4"/>
          </a:solidFill>
          <a:ln w="12700">
            <a:solidFill>
              <a:srgbClr val="EEF2F4"/>
            </a:solidFill>
            <a:prstDash val="solid"/>
          </a:ln>
        </p:spPr>
      </p:sp>
      <p:pic>
        <p:nvPicPr>
          <p:cNvPr id="13" name="Image 0" descr="preencoded.png">    </p:cNvPr>
          <p:cNvPicPr>
            <a:picLocks noChangeAspect="1"/>
          </p:cNvPicPr>
          <p:nvPr/>
        </p:nvPicPr>
        <p:blipFill>
          <a:blip r:embed="rId1"/>
          <a:stretch>
            <a:fillRect/>
          </a:stretch>
        </p:blipFill>
        <p:spPr>
          <a:xfrm>
            <a:off x="6217920" y="1918626"/>
            <a:ext cx="5242255" cy="3752269"/>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encoder</a:t>
            </a:r>
            <a:endParaRPr lang="en-US" sz="3200" dirty="0"/>
          </a:p>
        </p:txBody>
      </p:sp>
      <p:sp>
        <p:nvSpPr>
          <p:cNvPr id="3" name="Shape 1"/>
          <p:cNvSpPr/>
          <p:nvPr/>
        </p:nvSpPr>
        <p:spPr>
          <a:xfrm>
            <a:off x="548640" y="1531493"/>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425448"/>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The inverse machine: it receives a decoded representation, N lines of which one is asserted, and outputs the corresponding code word of m = ceil(log2 N) bits</a:t>
            </a:r>
            <a:endParaRPr lang="en-US" sz="2300" dirty="0"/>
          </a:p>
        </p:txBody>
      </p:sp>
      <p:sp>
        <p:nvSpPr>
          <p:cNvPr id="5" name="Shape 3"/>
          <p:cNvSpPr/>
          <p:nvPr/>
        </p:nvSpPr>
        <p:spPr>
          <a:xfrm>
            <a:off x="548640" y="313524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021076"/>
            <a:ext cx="6565392" cy="712724"/>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Each output bit is the OR of the input lines whose number has a 1 in that position</a:t>
            </a:r>
            <a:endParaRPr lang="en-US" sz="2300" dirty="0"/>
          </a:p>
        </p:txBody>
      </p:sp>
      <p:sp>
        <p:nvSpPr>
          <p:cNvPr id="7" name="Shape 5"/>
          <p:cNvSpPr/>
          <p:nvPr/>
        </p:nvSpPr>
        <p:spPr>
          <a:xfrm>
            <a:off x="548640" y="4026281"/>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912108"/>
            <a:ext cx="6565392" cy="1369060"/>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If several lines can be asserted together a priority encoder is needed</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it outputs the number of the asserted line with the highest priority</a:t>
            </a:r>
            <a:endParaRPr lang="en-US" sz="2300" dirty="0"/>
          </a:p>
        </p:txBody>
      </p:sp>
      <p:sp>
        <p:nvSpPr>
          <p:cNvPr id="9" name="Shape 7"/>
          <p:cNvSpPr/>
          <p:nvPr/>
        </p:nvSpPr>
        <p:spPr>
          <a:xfrm>
            <a:off x="548640" y="5573649"/>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459476"/>
            <a:ext cx="6565392" cy="712724"/>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Example: a keypad with one wire per key becomes a compact key number</a:t>
            </a:r>
            <a:endParaRPr lang="en-US" sz="23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N to m</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from one line among N to a code word of m bits: m = ceil(log2 N)</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Transcoders: the seven-segment display</a:t>
            </a:r>
            <a:endParaRPr lang="en-US" sz="3200" dirty="0"/>
          </a:p>
        </p:txBody>
      </p:sp>
      <p:pic>
        <p:nvPicPr>
          <p:cNvPr id="4" name="Image 0" descr="preencoded.png">    </p:cNvPr>
          <p:cNvPicPr>
            <a:picLocks noChangeAspect="1"/>
          </p:cNvPicPr>
          <p:nvPr/>
        </p:nvPicPr>
        <p:blipFill>
          <a:blip r:embed="rId1"/>
          <a:stretch>
            <a:fillRect/>
          </a:stretch>
        </p:blipFill>
        <p:spPr>
          <a:xfrm>
            <a:off x="548640" y="1905176"/>
            <a:ext cx="2377440" cy="3779168"/>
          </a:xfrm>
          <a:prstGeom prst="rect">
            <a:avLst/>
          </a:prstGeom>
        </p:spPr>
      </p:pic>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3200400" y="1417320"/>
          <a:ext cx="4892040" cy="914400"/>
        </p:xfrm>
        <a:graphic>
          <a:graphicData uri="http://schemas.openxmlformats.org/drawingml/2006/table">
            <a:tbl>
              <a:tblPr/>
              <a:tblGrid>
                <a:gridCol w="685800"/>
                <a:gridCol w="1005840"/>
                <a:gridCol w="457200"/>
                <a:gridCol w="457200"/>
                <a:gridCol w="457200"/>
                <a:gridCol w="457200"/>
                <a:gridCol w="457200"/>
                <a:gridCol w="457200"/>
                <a:gridCol w="457200"/>
              </a:tblGrid>
              <a:tr h="352044">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Digit</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BCD</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a</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b</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c</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d</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e</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f</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g</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0</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0000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1</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0001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2</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0010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3</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0011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4</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0100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5</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0101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6</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0110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7</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0111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8</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1000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9</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1001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6" name="Shape 1"/>
          <p:cNvSpPr/>
          <p:nvPr/>
        </p:nvSpPr>
        <p:spPr>
          <a:xfrm>
            <a:off x="8915400" y="1417320"/>
            <a:ext cx="2727655" cy="4754880"/>
          </a:xfrm>
          <a:prstGeom prst="roundRect">
            <a:avLst>
              <a:gd name="adj" fmla="val 2682"/>
            </a:avLst>
          </a:prstGeom>
          <a:solidFill>
            <a:srgbClr val="D8ECEE"/>
          </a:solidFill>
          <a:ln w="12700">
            <a:solidFill>
              <a:srgbClr val="D8ECEE"/>
            </a:solidFill>
            <a:prstDash val="solid"/>
          </a:ln>
        </p:spPr>
      </p:sp>
      <p:sp>
        <p:nvSpPr>
          <p:cNvPr id="7" name="Text 2"/>
          <p:cNvSpPr txBox="1"/>
          <p:nvPr/>
        </p:nvSpPr>
        <p:spPr>
          <a:xfrm>
            <a:off x="9052560" y="1554480"/>
            <a:ext cx="2453335" cy="4480560"/>
          </a:xfrm>
          <a:prstGeom prst="rect">
            <a:avLst/>
          </a:prstGeom>
          <a:noFill/>
          <a:ln/>
        </p:spPr>
        <p:txBody>
          <a:bodyPr wrap="square" lIns="0" tIns="0" rIns="0" bIns="0" rtlCol="0" anchor="ctr"/>
          <a:lstStyle/>
          <a:p>
            <a:pPr indent="0" marL="0">
              <a:buNone/>
            </a:pPr>
            <a:r>
              <a:rPr lang="en-US" sz="1450" dirty="0">
                <a:solidFill>
                  <a:srgbClr val="1B2530"/>
                </a:solidFill>
                <a:latin typeface="Calibri" pitchFamily="34" charset="0"/>
                <a:ea typeface="Calibri" pitchFamily="34" charset="-122"/>
                <a:cs typeface="Calibri" pitchFamily="34" charset="-120"/>
              </a:rPr>
              <a:t>A transcoder turns each word of a code C1 into the corresponding word of a code C2 defined on the same set.</a:t>
            </a:r>
            <a:endParaRPr lang="en-US" sz="1450" dirty="0"/>
          </a:p>
          <a:p>
            <a:pPr indent="0" marL="0">
              <a:buNone/>
            </a:pPr>
            <a:endParaRPr lang="en-US" sz="1450" dirty="0"/>
          </a:p>
          <a:p>
            <a:pPr indent="0" marL="0">
              <a:buNone/>
            </a:pPr>
            <a:r>
              <a:rPr lang="en-US" sz="1450" dirty="0">
                <a:solidFill>
                  <a:srgbClr val="1B2530"/>
                </a:solidFill>
                <a:latin typeface="Calibri" pitchFamily="34" charset="0"/>
                <a:ea typeface="Calibri" pitchFamily="34" charset="-122"/>
                <a:cs typeface="Calibri" pitchFamily="34" charset="-120"/>
              </a:rPr>
              <a:t>Here: from BCD to the seven lines that light the segments a to g. The digit 2 lights a, b, g, e and d.</a:t>
            </a:r>
            <a:endParaRPr lang="en-US" sz="1450" dirty="0"/>
          </a:p>
          <a:p>
            <a:pPr indent="0" marL="0">
              <a:buNone/>
            </a:pPr>
            <a:endParaRPr lang="en-US" sz="1450" dirty="0"/>
          </a:p>
          <a:p>
            <a:pPr indent="0" marL="0">
              <a:buNone/>
            </a:pPr>
            <a:r>
              <a:rPr lang="en-US" sz="1450" dirty="0">
                <a:solidFill>
                  <a:srgbClr val="1B2530"/>
                </a:solidFill>
                <a:latin typeface="Calibri" pitchFamily="34" charset="0"/>
                <a:ea typeface="Calibri" pitchFamily="34" charset="-122"/>
                <a:cs typeface="Calibri" pitchFamily="34" charset="-120"/>
              </a:rPr>
              <a:t>Seven outputs: seven functions of four variables to synthesise.</a:t>
            </a:r>
            <a:endParaRPr lang="en-US" sz="145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multiplexer</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10235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combinational circuit with 2^n data inputs, n selection lines and one output</a:t>
            </a:r>
            <a:endParaRPr lang="en-US" sz="1900" dirty="0"/>
          </a:p>
        </p:txBody>
      </p:sp>
      <p:sp>
        <p:nvSpPr>
          <p:cNvPr id="5" name="Shape 3"/>
          <p:cNvSpPr/>
          <p:nvPr/>
        </p:nvSpPr>
        <p:spPr>
          <a:xfrm>
            <a:off x="548640" y="2283333"/>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00148"/>
            <a:ext cx="510235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It selects one of the 2^n input signals and transfers it to the single output line</a:t>
            </a:r>
            <a:endParaRPr lang="en-US" sz="1900" dirty="0"/>
          </a:p>
        </p:txBody>
      </p:sp>
      <p:sp>
        <p:nvSpPr>
          <p:cNvPr id="7" name="Shape 5"/>
          <p:cNvSpPr/>
          <p:nvPr/>
        </p:nvSpPr>
        <p:spPr>
          <a:xfrm>
            <a:off x="548640" y="3066161"/>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982976"/>
            <a:ext cx="5102352" cy="1177544"/>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Addressable: a decoder on the selection lines enables one AND gate; an OR collects the result. The datum is chosen by an address, not by a decoded line</a:t>
            </a:r>
            <a:endParaRPr lang="en-US" sz="1900" dirty="0"/>
          </a:p>
        </p:txBody>
      </p:sp>
      <p:sp>
        <p:nvSpPr>
          <p:cNvPr id="9" name="Text 7"/>
          <p:cNvSpPr txBox="1"/>
          <p:nvPr/>
        </p:nvSpPr>
        <p:spPr>
          <a:xfrm>
            <a:off x="548640" y="4343400"/>
            <a:ext cx="5486400" cy="365760"/>
          </a:xfrm>
          <a:prstGeom prst="rect">
            <a:avLst/>
          </a:prstGeom>
          <a:noFill/>
          <a:ln/>
        </p:spPr>
        <p:txBody>
          <a:bodyPr wrap="square" lIns="0" tIns="0" rIns="0" bIns="0" rtlCol="0" anchor="t"/>
          <a:lstStyle/>
          <a:p>
            <a:pPr indent="0" marL="0">
              <a:buNone/>
            </a:pPr>
            <a:r>
              <a:rPr lang="en-US" sz="1600" b="1" dirty="0">
                <a:solidFill>
                  <a:srgbClr val="2E4A62"/>
                </a:solidFill>
                <a:latin typeface="Courier New" pitchFamily="34" charset="0"/>
                <a:ea typeface="Courier New" pitchFamily="34" charset="-122"/>
                <a:cs typeface="Courier New" pitchFamily="34" charset="-120"/>
              </a:rPr>
              <a:t>2 inputs:  Y = S' I0 + S I1</a:t>
            </a:r>
            <a:endParaRPr lang="en-US" sz="1600" dirty="0"/>
          </a:p>
        </p:txBody>
      </p:sp>
      <p:sp>
        <p:nvSpPr>
          <p:cNvPr id="10" name="Text 8"/>
          <p:cNvSpPr txBox="1"/>
          <p:nvPr/>
        </p:nvSpPr>
        <p:spPr>
          <a:xfrm>
            <a:off x="548640" y="4800600"/>
            <a:ext cx="5486400" cy="731520"/>
          </a:xfrm>
          <a:prstGeom prst="rect">
            <a:avLst/>
          </a:prstGeom>
          <a:noFill/>
          <a:ln/>
        </p:spPr>
        <p:txBody>
          <a:bodyPr wrap="square" lIns="0" tIns="0" rIns="0" bIns="0" rtlCol="0" anchor="t"/>
          <a:lstStyle/>
          <a:p>
            <a:pPr indent="0" marL="0">
              <a:buNone/>
            </a:pPr>
            <a:r>
              <a:rPr lang="en-US" sz="1600" b="1" dirty="0">
                <a:solidFill>
                  <a:srgbClr val="2E4A62"/>
                </a:solidFill>
                <a:latin typeface="Courier New" pitchFamily="34" charset="0"/>
                <a:ea typeface="Courier New" pitchFamily="34" charset="-122"/>
                <a:cs typeface="Courier New" pitchFamily="34" charset="-120"/>
              </a:rPr>
              <a:t>4 inputs:  Y = S1'S0' I0 + S1'S0 I1</a:t>
            </a:r>
            <a:endParaRPr lang="en-US" sz="1600" dirty="0"/>
          </a:p>
          <a:p>
            <a:pPr indent="0" marL="0">
              <a:buNone/>
            </a:pPr>
            <a:r>
              <a:rPr lang="en-US" sz="1600" b="1" dirty="0">
                <a:solidFill>
                  <a:srgbClr val="2E4A62"/>
                </a:solidFill>
                <a:latin typeface="Courier New" pitchFamily="34" charset="0"/>
                <a:ea typeface="Courier New" pitchFamily="34" charset="-122"/>
                <a:cs typeface="Courier New" pitchFamily="34" charset="-120"/>
              </a:rPr>
              <a:t>             + S1 S0' I2 + S1 S0 I3</a:t>
            </a:r>
            <a:endParaRPr lang="en-US" sz="1600" dirty="0"/>
          </a:p>
        </p:txBody>
      </p:sp>
      <p:sp>
        <p:nvSpPr>
          <p:cNvPr id="11" name="Text 9"/>
          <p:cNvSpPr txBox="1"/>
          <p:nvPr/>
        </p:nvSpPr>
        <p:spPr>
          <a:xfrm>
            <a:off x="548640" y="5669280"/>
            <a:ext cx="5486400" cy="457200"/>
          </a:xfrm>
          <a:prstGeom prst="rect">
            <a:avLst/>
          </a:prstGeom>
          <a:noFill/>
          <a:ln/>
        </p:spPr>
        <p:txBody>
          <a:bodyPr wrap="square" lIns="0" tIns="0" rIns="0" bIns="0" rtlCol="0" anchor="t"/>
          <a:lstStyle/>
          <a:p>
            <a:pPr indent="0" marL="0">
              <a:buNone/>
            </a:pPr>
            <a:r>
              <a:rPr lang="en-US" sz="1350" i="1" dirty="0">
                <a:solidFill>
                  <a:srgbClr val="5B6B78"/>
                </a:solidFill>
                <a:latin typeface="Calibri" pitchFamily="34" charset="0"/>
                <a:ea typeface="Calibri" pitchFamily="34" charset="-122"/>
                <a:cs typeface="Calibri" pitchFamily="34" charset="-120"/>
              </a:rPr>
              <a:t>Each data input is multiplied by one minterm of the selection lines.</a:t>
            </a:r>
            <a:endParaRPr lang="en-US" sz="1350" dirty="0"/>
          </a:p>
        </p:txBody>
      </p:sp>
      <p:sp>
        <p:nvSpPr>
          <p:cNvPr id="12" name="Shape 10"/>
          <p:cNvSpPr/>
          <p:nvPr/>
        </p:nvSpPr>
        <p:spPr>
          <a:xfrm>
            <a:off x="6400800" y="1417320"/>
            <a:ext cx="5242255" cy="4754880"/>
          </a:xfrm>
          <a:prstGeom prst="roundRect">
            <a:avLst>
              <a:gd name="adj" fmla="val 1538"/>
            </a:avLst>
          </a:prstGeom>
          <a:solidFill>
            <a:srgbClr val="EEF2F4"/>
          </a:solidFill>
          <a:ln w="12700">
            <a:solidFill>
              <a:srgbClr val="EEF2F4"/>
            </a:solidFill>
            <a:prstDash val="solid"/>
          </a:ln>
        </p:spPr>
      </p:sp>
      <p:pic>
        <p:nvPicPr>
          <p:cNvPr id="14" name="Image 0" descr="preencoded.png">    </p:cNvPr>
          <p:cNvPicPr>
            <a:picLocks noChangeAspect="1"/>
          </p:cNvPicPr>
          <p:nvPr/>
        </p:nvPicPr>
        <p:blipFill>
          <a:blip r:embed="rId1"/>
          <a:stretch>
            <a:fillRect/>
          </a:stretch>
        </p:blipFill>
        <p:spPr>
          <a:xfrm>
            <a:off x="6583680" y="2347036"/>
            <a:ext cx="4876495" cy="2438248"/>
          </a:xfrm>
          <a:prstGeom prst="rect">
            <a:avLst/>
          </a:prstGeom>
        </p:spPr>
      </p:pic>
      <p:sp>
        <p:nvSpPr>
          <p:cNvPr id="15" name="Text 11"/>
          <p:cNvSpPr txBox="1"/>
          <p:nvPr/>
        </p:nvSpPr>
        <p:spPr>
          <a:xfrm>
            <a:off x="6583680" y="5486400"/>
            <a:ext cx="4876495" cy="548640"/>
          </a:xfrm>
          <a:prstGeom prst="rect">
            <a:avLst/>
          </a:prstGeom>
          <a:noFill/>
          <a:ln/>
        </p:spPr>
        <p:txBody>
          <a:bodyPr wrap="square" lIns="0" tIns="0" rIns="0" bIns="0" rtlCol="0" anchor="ctr"/>
          <a:lstStyle/>
          <a:p>
            <a:pPr algn="ctr" indent="0" marL="0">
              <a:buNone/>
            </a:pPr>
            <a:r>
              <a:rPr lang="en-US" sz="1350" i="1" dirty="0">
                <a:solidFill>
                  <a:srgbClr val="5B6B78"/>
                </a:solidFill>
                <a:latin typeface="Calibri" pitchFamily="34" charset="0"/>
                <a:ea typeface="Calibri" pitchFamily="34" charset="-122"/>
                <a:cs typeface="Calibri" pitchFamily="34" charset="-120"/>
              </a:rPr>
              <a:t>A multiplexer with two inputs: when S = 0 the output is I0, when S = 1 it is I1</a:t>
            </a:r>
            <a:endParaRPr lang="en-US" sz="135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demultiplexer</a:t>
            </a:r>
            <a:endParaRPr lang="en-US" sz="3200" dirty="0"/>
          </a:p>
        </p:txBody>
      </p:sp>
      <p:sp>
        <p:nvSpPr>
          <p:cNvPr id="3" name="Shape 1"/>
          <p:cNvSpPr/>
          <p:nvPr/>
        </p:nvSpPr>
        <p:spPr>
          <a:xfrm>
            <a:off x="548640" y="153924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6509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inverse machine: one data input D, n selection lines, 2^n outputs</a:t>
            </a:r>
            <a:endParaRPr lang="en-US" sz="2400" dirty="0"/>
          </a:p>
        </p:txBody>
      </p:sp>
      <p:sp>
        <p:nvSpPr>
          <p:cNvPr id="5" name="Shape 3"/>
          <p:cNvSpPr/>
          <p:nvPr/>
        </p:nvSpPr>
        <p:spPr>
          <a:xfrm>
            <a:off x="548640" y="2504440"/>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82520"/>
            <a:ext cx="5650992" cy="111556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It routes the input to the output chosen by the selection lines; the other outputs stay at 0</a:t>
            </a:r>
            <a:endParaRPr lang="en-US" sz="2400" dirty="0"/>
          </a:p>
        </p:txBody>
      </p:sp>
      <p:sp>
        <p:nvSpPr>
          <p:cNvPr id="7" name="Shape 5"/>
          <p:cNvSpPr/>
          <p:nvPr/>
        </p:nvSpPr>
        <p:spPr>
          <a:xfrm>
            <a:off x="548640" y="3841496"/>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719576"/>
            <a:ext cx="5650992" cy="111556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Addressable demultiplexer: the enable signals come from a decoder on the selection lines</a:t>
            </a:r>
            <a:endParaRPr lang="en-US" sz="2400" dirty="0"/>
          </a:p>
        </p:txBody>
      </p:sp>
      <p:sp>
        <p:nvSpPr>
          <p:cNvPr id="9" name="Shape 7"/>
          <p:cNvSpPr/>
          <p:nvPr/>
        </p:nvSpPr>
        <p:spPr>
          <a:xfrm>
            <a:off x="548640" y="517855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056632"/>
            <a:ext cx="5650992" cy="111556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With D fixed at 1 a demultiplexer is exactly a decoder: D plays the role of the enable</a:t>
            </a:r>
            <a:endParaRPr lang="en-US" sz="24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7223760" y="1417320"/>
          <a:ext cx="4389120" cy="914400"/>
        </p:xfrm>
        <a:graphic>
          <a:graphicData uri="http://schemas.openxmlformats.org/drawingml/2006/table">
            <a:tbl>
              <a:tblPr/>
              <a:tblGrid>
                <a:gridCol w="640080"/>
                <a:gridCol w="640080"/>
                <a:gridCol w="777240"/>
                <a:gridCol w="777240"/>
                <a:gridCol w="777240"/>
                <a:gridCol w="777240"/>
              </a:tblGrid>
              <a:tr h="438912">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S1</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S0</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F0</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F1</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F2</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F3</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438912">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D</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438912">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D</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438912">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D</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438912">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D</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r>
            </a:tbl>
          </a:graphicData>
        </a:graphic>
      </p:graphicFrame>
      <p:sp>
        <p:nvSpPr>
          <p:cNvPr id="12" name="Shape 9"/>
          <p:cNvSpPr/>
          <p:nvPr/>
        </p:nvSpPr>
        <p:spPr>
          <a:xfrm>
            <a:off x="7223760" y="3931920"/>
            <a:ext cx="4389120" cy="2240280"/>
          </a:xfrm>
          <a:prstGeom prst="roundRect">
            <a:avLst>
              <a:gd name="adj" fmla="val 3265"/>
            </a:avLst>
          </a:prstGeom>
          <a:solidFill>
            <a:srgbClr val="F6E7D2"/>
          </a:solidFill>
          <a:ln w="12700">
            <a:solidFill>
              <a:srgbClr val="F6E7D2"/>
            </a:solidFill>
            <a:prstDash val="solid"/>
          </a:ln>
        </p:spPr>
      </p:sp>
      <p:sp>
        <p:nvSpPr>
          <p:cNvPr id="13" name="Text 10"/>
          <p:cNvSpPr txBox="1"/>
          <p:nvPr/>
        </p:nvSpPr>
        <p:spPr>
          <a:xfrm>
            <a:off x="7315200" y="4023360"/>
            <a:ext cx="4206240" cy="914400"/>
          </a:xfrm>
          <a:prstGeom prst="rect">
            <a:avLst/>
          </a:prstGeom>
          <a:noFill/>
          <a:ln/>
        </p:spPr>
        <p:txBody>
          <a:bodyPr wrap="square" lIns="0" tIns="0" rIns="0" bIns="0" rtlCol="0" anchor="ctr"/>
          <a:lstStyle/>
          <a:p>
            <a:pPr indent="0" marL="0">
              <a:buNone/>
            </a:pPr>
            <a:r>
              <a:rPr lang="en-US" sz="1450" b="1" dirty="0">
                <a:solidFill>
                  <a:srgbClr val="1B2530"/>
                </a:solidFill>
                <a:latin typeface="Courier New" pitchFamily="34" charset="0"/>
                <a:ea typeface="Courier New" pitchFamily="34" charset="-122"/>
                <a:cs typeface="Courier New" pitchFamily="34" charset="-120"/>
              </a:rPr>
              <a:t>F0 = D S1'S0'      F1 = D S1'S0</a:t>
            </a:r>
            <a:endParaRPr lang="en-US" sz="1450" dirty="0"/>
          </a:p>
          <a:p>
            <a:pPr indent="0" marL="0">
              <a:buNone/>
            </a:pPr>
            <a:r>
              <a:rPr lang="en-US" sz="1450" b="1" dirty="0">
                <a:solidFill>
                  <a:srgbClr val="1B2530"/>
                </a:solidFill>
                <a:latin typeface="Courier New" pitchFamily="34" charset="0"/>
                <a:ea typeface="Courier New" pitchFamily="34" charset="-122"/>
                <a:cs typeface="Courier New" pitchFamily="34" charset="-120"/>
              </a:rPr>
              <a:t>F2 = D S1 S0'      F3 = D S1 S0</a:t>
            </a:r>
            <a:endParaRPr lang="en-US" sz="1450" dirty="0"/>
          </a:p>
        </p:txBody>
      </p:sp>
      <p:sp>
        <p:nvSpPr>
          <p:cNvPr id="14" name="Text 11"/>
          <p:cNvSpPr txBox="1"/>
          <p:nvPr/>
        </p:nvSpPr>
        <p:spPr>
          <a:xfrm>
            <a:off x="7315200" y="5029200"/>
            <a:ext cx="4206240" cy="1051560"/>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A multiplexer followed by a demultiplexer carries many signals over one wire, one at a time: the idea behind every shared line.</a:t>
            </a:r>
            <a:endParaRPr lang="en-US" sz="1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comparator</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6509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Two data A and B in input, one Boolean output EQ that is 1 when A = B</a:t>
            </a:r>
            <a:endParaRPr lang="en-US" sz="2200" dirty="0"/>
          </a:p>
        </p:txBody>
      </p:sp>
      <p:sp>
        <p:nvSpPr>
          <p:cNvPr id="5" name="Shape 3"/>
          <p:cNvSpPr/>
          <p:nvPr/>
        </p:nvSpPr>
        <p:spPr>
          <a:xfrm>
            <a:off x="548640" y="258876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82342"/>
            <a:ext cx="565099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Two bits are equal when their XNOR is 1</a:t>
            </a:r>
            <a:endParaRPr lang="en-US" sz="2200" dirty="0"/>
          </a:p>
        </p:txBody>
      </p:sp>
      <p:sp>
        <p:nvSpPr>
          <p:cNvPr id="7" name="Shape 5"/>
          <p:cNvSpPr/>
          <p:nvPr/>
        </p:nvSpPr>
        <p:spPr>
          <a:xfrm>
            <a:off x="548640" y="331292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06496"/>
            <a:ext cx="56509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Two words are equal when all their pairs of bits are equal: an AND of XNORs</a:t>
            </a:r>
            <a:endParaRPr lang="en-US" sz="2200" dirty="0"/>
          </a:p>
        </p:txBody>
      </p:sp>
      <p:sp>
        <p:nvSpPr>
          <p:cNvPr id="9" name="Shape 7"/>
          <p:cNvSpPr/>
          <p:nvPr/>
        </p:nvSpPr>
        <p:spPr>
          <a:xfrm>
            <a:off x="548640" y="437794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271518"/>
            <a:ext cx="5650992" cy="1260602"/>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 the processor: beq and bne</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the two registers are compared bit by bit, and the branch is taken or not according to EQ</a:t>
            </a:r>
            <a:endParaRPr lang="en-US" sz="2200" dirty="0"/>
          </a:p>
        </p:txBody>
      </p:sp>
      <p:sp>
        <p:nvSpPr>
          <p:cNvPr id="11" name="Text 9"/>
          <p:cNvSpPr txBox="1"/>
          <p:nvPr/>
        </p:nvSpPr>
        <p:spPr>
          <a:xfrm>
            <a:off x="548640" y="5623560"/>
            <a:ext cx="6035040" cy="457200"/>
          </a:xfrm>
          <a:prstGeom prst="rect">
            <a:avLst/>
          </a:prstGeom>
          <a:noFill/>
          <a:ln/>
        </p:spPr>
        <p:txBody>
          <a:bodyPr wrap="square" lIns="0" tIns="0" rIns="0" bIns="0" rtlCol="0" anchor="ctr"/>
          <a:lstStyle/>
          <a:p>
            <a:pPr indent="0" marL="0">
              <a:buNone/>
            </a:pPr>
            <a:r>
              <a:rPr lang="en-US" sz="1650" b="1" dirty="0">
                <a:solidFill>
                  <a:srgbClr val="2E4A62"/>
                </a:solidFill>
                <a:latin typeface="Courier New" pitchFamily="34" charset="0"/>
                <a:ea typeface="Courier New" pitchFamily="34" charset="-122"/>
                <a:cs typeface="Courier New" pitchFamily="34" charset="-120"/>
              </a:rPr>
              <a:t>EQ = (A0 xnor B0) . (A1 xnor B1) . ...</a:t>
            </a:r>
            <a:endParaRPr lang="en-US" sz="1650" dirty="0"/>
          </a:p>
        </p:txBody>
      </p:sp>
      <p:sp>
        <p:nvSpPr>
          <p:cNvPr id="12" name="Shape 10"/>
          <p:cNvSpPr/>
          <p:nvPr/>
        </p:nvSpPr>
        <p:spPr>
          <a:xfrm>
            <a:off x="6949440" y="1417320"/>
            <a:ext cx="4693615" cy="4754880"/>
          </a:xfrm>
          <a:prstGeom prst="roundRect">
            <a:avLst>
              <a:gd name="adj" fmla="val 1559"/>
            </a:avLst>
          </a:prstGeom>
          <a:solidFill>
            <a:srgbClr val="EEF2F4"/>
          </a:solidFill>
          <a:ln w="12700">
            <a:solidFill>
              <a:srgbClr val="EEF2F4"/>
            </a:solidFill>
            <a:prstDash val="solid"/>
          </a:ln>
        </p:spPr>
      </p:sp>
      <p:pic>
        <p:nvPicPr>
          <p:cNvPr id="14" name="Image 0" descr="preencoded.png">    </p:cNvPr>
          <p:cNvPicPr>
            <a:picLocks noChangeAspect="1"/>
          </p:cNvPicPr>
          <p:nvPr/>
        </p:nvPicPr>
        <p:blipFill>
          <a:blip r:embed="rId1"/>
          <a:stretch>
            <a:fillRect/>
          </a:stretch>
        </p:blipFill>
        <p:spPr>
          <a:xfrm>
            <a:off x="7132320" y="2618778"/>
            <a:ext cx="4327855" cy="1894765"/>
          </a:xfrm>
          <a:prstGeom prst="rect">
            <a:avLst/>
          </a:prstGeom>
        </p:spPr>
      </p:pic>
      <p:sp>
        <p:nvSpPr>
          <p:cNvPr id="15" name="Text 11"/>
          <p:cNvSpPr txBox="1"/>
          <p:nvPr/>
        </p:nvSpPr>
        <p:spPr>
          <a:xfrm>
            <a:off x="7132320" y="5532120"/>
            <a:ext cx="4327855" cy="457200"/>
          </a:xfrm>
          <a:prstGeom prst="rect">
            <a:avLst/>
          </a:prstGeom>
          <a:noFill/>
          <a:ln/>
        </p:spPr>
        <p:txBody>
          <a:bodyPr wrap="square" lIns="0" tIns="0" rIns="0" bIns="0" rtlCol="0" anchor="ctr"/>
          <a:lstStyle/>
          <a:p>
            <a:pPr algn="ctr" indent="0" marL="0">
              <a:buNone/>
            </a:pPr>
            <a:r>
              <a:rPr lang="en-US" sz="1350" i="1" dirty="0">
                <a:solidFill>
                  <a:srgbClr val="5B6B78"/>
                </a:solidFill>
                <a:latin typeface="Calibri" pitchFamily="34" charset="0"/>
                <a:ea typeface="Calibri" pitchFamily="34" charset="-122"/>
                <a:cs typeface="Calibri" pitchFamily="34" charset="-120"/>
              </a:rPr>
              <a:t>A comparator for words of two bits</a:t>
            </a:r>
            <a:endParaRPr lang="en-US" sz="135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Parity</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When data travel from a source to a destination, redundant codes allow errors to be checked</a:t>
            </a:r>
            <a:endParaRPr lang="en-US" sz="2100" dirty="0"/>
          </a:p>
        </p:txBody>
      </p:sp>
      <p:sp>
        <p:nvSpPr>
          <p:cNvPr id="5" name="Shape 3"/>
          <p:cNvSpPr/>
          <p:nvPr/>
        </p:nvSpPr>
        <p:spPr>
          <a:xfrm>
            <a:off x="548640" y="2382647"/>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83968"/>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simplest check is a single parity bit: legal code words have, for example, an even number of bits at 1</a:t>
            </a:r>
            <a:endParaRPr lang="en-US" sz="2100" dirty="0"/>
          </a:p>
        </p:txBody>
      </p:sp>
      <p:sp>
        <p:nvSpPr>
          <p:cNvPr id="7" name="Shape 5"/>
          <p:cNvSpPr/>
          <p:nvPr/>
        </p:nvSpPr>
        <p:spPr>
          <a:xfrm>
            <a:off x="548640" y="357466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75990"/>
            <a:ext cx="6565392" cy="124510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parity network computes the parity of the n bits at its input: a chain of XORs</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p = x0 xor x1 xor ... xor x(n-1) is 1 when the number of 1s is odd</a:t>
            </a:r>
            <a:endParaRPr lang="en-US" sz="2100" dirty="0"/>
          </a:p>
        </p:txBody>
      </p:sp>
      <p:sp>
        <p:nvSpPr>
          <p:cNvPr id="9" name="Shape 7"/>
          <p:cNvSpPr/>
          <p:nvPr/>
        </p:nvSpPr>
        <p:spPr>
          <a:xfrm>
            <a:off x="548640" y="503567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936998"/>
            <a:ext cx="6565392" cy="123520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It is needed twice</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to compute the bit to add to a non-redundant code</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to verify the overall parity of the redundant code on arrival</a:t>
            </a:r>
            <a:endParaRPr lang="en-US" sz="21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xor</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the parity of a word is the XOR of all its bits</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ALU is a set of machines and a multiplexer</a:t>
            </a:r>
            <a:endParaRPr lang="en-US" sz="3200" dirty="0"/>
          </a:p>
        </p:txBody>
      </p:sp>
      <p:sp>
        <p:nvSpPr>
          <p:cNvPr id="3" name="Shape 1"/>
          <p:cNvSpPr/>
          <p:nvPr/>
        </p:nvSpPr>
        <p:spPr>
          <a:xfrm>
            <a:off x="1828800" y="1554480"/>
            <a:ext cx="0" cy="2871216"/>
          </a:xfrm>
          <a:prstGeom prst="line">
            <a:avLst/>
          </a:prstGeom>
          <a:noFill/>
          <a:ln w="38100">
            <a:solidFill>
              <a:srgbClr val="0E7C86"/>
            </a:solidFill>
            <a:prstDash val="solid"/>
          </a:ln>
        </p:spPr>
      </p:sp>
      <p:sp>
        <p:nvSpPr>
          <p:cNvPr id="4" name="Shape 2"/>
          <p:cNvSpPr/>
          <p:nvPr/>
        </p:nvSpPr>
        <p:spPr>
          <a:xfrm>
            <a:off x="2377440" y="1554480"/>
            <a:ext cx="0" cy="3054096"/>
          </a:xfrm>
          <a:prstGeom prst="line">
            <a:avLst/>
          </a:prstGeom>
          <a:noFill/>
          <a:ln w="38100">
            <a:solidFill>
              <a:srgbClr val="C7791B"/>
            </a:solidFill>
            <a:prstDash val="solid"/>
          </a:ln>
        </p:spPr>
      </p:sp>
      <p:sp>
        <p:nvSpPr>
          <p:cNvPr id="5" name="Text 3"/>
          <p:cNvSpPr txBox="1"/>
          <p:nvPr/>
        </p:nvSpPr>
        <p:spPr>
          <a:xfrm>
            <a:off x="1097280" y="1463040"/>
            <a:ext cx="640080" cy="365760"/>
          </a:xfrm>
          <a:prstGeom prst="rect">
            <a:avLst/>
          </a:prstGeom>
          <a:noFill/>
          <a:ln/>
        </p:spPr>
        <p:txBody>
          <a:bodyPr wrap="square" lIns="0" tIns="0" rIns="0" bIns="0" rtlCol="0" anchor="t"/>
          <a:lstStyle/>
          <a:p>
            <a:pPr algn="r" indent="0" marL="0">
              <a:buNone/>
            </a:pPr>
            <a:r>
              <a:rPr lang="en-US" sz="1800" b="1" dirty="0">
                <a:solidFill>
                  <a:srgbClr val="0E7C86"/>
                </a:solidFill>
                <a:latin typeface="Courier New" pitchFamily="34" charset="0"/>
                <a:ea typeface="Courier New" pitchFamily="34" charset="-122"/>
                <a:cs typeface="Courier New" pitchFamily="34" charset="-120"/>
              </a:rPr>
              <a:t>A</a:t>
            </a:r>
            <a:endParaRPr lang="en-US" sz="1800" dirty="0"/>
          </a:p>
        </p:txBody>
      </p:sp>
      <p:sp>
        <p:nvSpPr>
          <p:cNvPr id="6" name="Text 4"/>
          <p:cNvSpPr txBox="1"/>
          <p:nvPr/>
        </p:nvSpPr>
        <p:spPr>
          <a:xfrm>
            <a:off x="2468880" y="1170432"/>
            <a:ext cx="365760" cy="274320"/>
          </a:xfrm>
          <a:prstGeom prst="rect">
            <a:avLst/>
          </a:prstGeom>
          <a:noFill/>
          <a:ln/>
        </p:spPr>
        <p:txBody>
          <a:bodyPr wrap="square" lIns="0" tIns="0" rIns="0" bIns="0" rtlCol="0" anchor="t"/>
          <a:lstStyle/>
          <a:p>
            <a:pPr indent="0" marL="0">
              <a:buNone/>
            </a:pPr>
            <a:r>
              <a:rPr lang="en-US" sz="1800" b="1" dirty="0">
                <a:solidFill>
                  <a:srgbClr val="C7791B"/>
                </a:solidFill>
                <a:latin typeface="Courier New" pitchFamily="34" charset="0"/>
                <a:ea typeface="Courier New" pitchFamily="34" charset="-122"/>
                <a:cs typeface="Courier New" pitchFamily="34" charset="-120"/>
              </a:rPr>
              <a:t>B</a:t>
            </a:r>
            <a:endParaRPr lang="en-US" sz="1800" dirty="0"/>
          </a:p>
        </p:txBody>
      </p:sp>
      <p:sp>
        <p:nvSpPr>
          <p:cNvPr id="7" name="Text 5"/>
          <p:cNvSpPr txBox="1"/>
          <p:nvPr/>
        </p:nvSpPr>
        <p:spPr>
          <a:xfrm>
            <a:off x="548640" y="1920240"/>
            <a:ext cx="1097280" cy="548640"/>
          </a:xfrm>
          <a:prstGeom prst="rect">
            <a:avLst/>
          </a:prstGeom>
          <a:noFill/>
          <a:ln/>
        </p:spPr>
        <p:txBody>
          <a:bodyPr wrap="square" lIns="0" tIns="0" rIns="0" bIns="0" rtlCol="0" anchor="t"/>
          <a:lstStyle/>
          <a:p>
            <a:pPr indent="0" marL="0">
              <a:buNone/>
            </a:pPr>
            <a:r>
              <a:rPr lang="en-US" sz="1250" i="1" dirty="0">
                <a:solidFill>
                  <a:srgbClr val="5B6B78"/>
                </a:solidFill>
                <a:latin typeface="Calibri" pitchFamily="34" charset="0"/>
                <a:ea typeface="Calibri" pitchFamily="34" charset="-122"/>
                <a:cs typeface="Calibri" pitchFamily="34" charset="-120"/>
              </a:rPr>
              <a:t>32 bits</a:t>
            </a:r>
            <a:endParaRPr lang="en-US" sz="1250" dirty="0"/>
          </a:p>
          <a:p>
            <a:pPr indent="0" marL="0">
              <a:buNone/>
            </a:pPr>
            <a:r>
              <a:rPr lang="en-US" sz="1250" i="1" dirty="0">
                <a:solidFill>
                  <a:srgbClr val="5B6B78"/>
                </a:solidFill>
                <a:latin typeface="Calibri" pitchFamily="34" charset="0"/>
                <a:ea typeface="Calibri" pitchFamily="34" charset="-122"/>
                <a:cs typeface="Calibri" pitchFamily="34" charset="-120"/>
              </a:rPr>
              <a:t>each</a:t>
            </a:r>
            <a:endParaRPr lang="en-US" sz="1250" dirty="0"/>
          </a:p>
        </p:txBody>
      </p:sp>
      <p:sp>
        <p:nvSpPr>
          <p:cNvPr id="8" name="Text 6"/>
          <p:cNvSpPr txBox="1"/>
          <p:nvPr/>
        </p:nvSpPr>
        <p:spPr>
          <a:xfrm>
            <a:off x="3017520" y="1463040"/>
            <a:ext cx="2926080" cy="548640"/>
          </a:xfrm>
          <a:prstGeom prst="roundRect">
            <a:avLst>
              <a:gd name="adj" fmla="val 10000"/>
            </a:avLst>
          </a:prstGeom>
          <a:solidFill>
            <a:srgbClr val="6B4FA0"/>
          </a:solidFill>
          <a:ln>
            <a:solidFill>
              <a:srgbClr val="6B4FA0"/>
            </a:solidFill>
          </a:ln>
        </p:spPr>
        <p:txBody>
          <a:bodyPr wrap="square" lIns="38100" tIns="38100" rIns="38100" bIns="38100" rtlCol="0" anchor="ctr"/>
          <a:lstStyle/>
          <a:p>
            <a:pPr algn="ctr" indent="0" marL="0">
              <a:buNone/>
            </a:pPr>
            <a:r>
              <a:rPr lang="en-US" sz="1450" b="1" dirty="0">
                <a:solidFill>
                  <a:srgbClr val="FFFFFF"/>
                </a:solidFill>
                <a:latin typeface="Calibri" pitchFamily="34" charset="0"/>
                <a:ea typeface="Calibri" pitchFamily="34" charset="-122"/>
                <a:cs typeface="Calibri" pitchFamily="34" charset="-120"/>
              </a:rPr>
              <a:t>adder / subtractor</a:t>
            </a:r>
            <a:endParaRPr lang="en-US" sz="1450" dirty="0"/>
          </a:p>
        </p:txBody>
      </p:sp>
      <p:sp>
        <p:nvSpPr>
          <p:cNvPr id="9" name="Shape 7"/>
          <p:cNvSpPr/>
          <p:nvPr/>
        </p:nvSpPr>
        <p:spPr>
          <a:xfrm>
            <a:off x="1828800" y="1645920"/>
            <a:ext cx="1161288" cy="0"/>
          </a:xfrm>
          <a:prstGeom prst="line">
            <a:avLst/>
          </a:prstGeom>
          <a:noFill/>
          <a:ln w="22225">
            <a:solidFill>
              <a:srgbClr val="0E7C86"/>
            </a:solidFill>
            <a:prstDash val="solid"/>
            <a:tailEnd type="triangle"/>
          </a:ln>
        </p:spPr>
      </p:sp>
      <p:sp>
        <p:nvSpPr>
          <p:cNvPr id="10" name="Shape 8"/>
          <p:cNvSpPr/>
          <p:nvPr/>
        </p:nvSpPr>
        <p:spPr>
          <a:xfrm>
            <a:off x="2377440" y="1847088"/>
            <a:ext cx="612648" cy="0"/>
          </a:xfrm>
          <a:prstGeom prst="line">
            <a:avLst/>
          </a:prstGeom>
          <a:noFill/>
          <a:ln w="22225">
            <a:solidFill>
              <a:srgbClr val="C7791B"/>
            </a:solidFill>
            <a:prstDash val="solid"/>
            <a:tailEnd type="triangle"/>
          </a:ln>
        </p:spPr>
      </p:sp>
      <p:sp>
        <p:nvSpPr>
          <p:cNvPr id="11" name="Shape 9"/>
          <p:cNvSpPr/>
          <p:nvPr/>
        </p:nvSpPr>
        <p:spPr>
          <a:xfrm>
            <a:off x="5971032" y="1737360"/>
            <a:ext cx="1042416" cy="0"/>
          </a:xfrm>
          <a:prstGeom prst="line">
            <a:avLst/>
          </a:prstGeom>
          <a:noFill/>
          <a:ln w="22225">
            <a:solidFill>
              <a:srgbClr val="5B6B78"/>
            </a:solidFill>
            <a:prstDash val="solid"/>
            <a:tailEnd type="triangle"/>
          </a:ln>
        </p:spPr>
      </p:sp>
      <p:sp>
        <p:nvSpPr>
          <p:cNvPr id="12" name="Text 10"/>
          <p:cNvSpPr txBox="1"/>
          <p:nvPr/>
        </p:nvSpPr>
        <p:spPr>
          <a:xfrm>
            <a:off x="3017520" y="2157984"/>
            <a:ext cx="2926080" cy="548640"/>
          </a:xfrm>
          <a:prstGeom prst="roundRect">
            <a:avLst>
              <a:gd name="adj" fmla="val 10000"/>
            </a:avLst>
          </a:prstGeom>
          <a:solidFill>
            <a:srgbClr val="2E4A62"/>
          </a:solidFill>
          <a:ln>
            <a:solidFill>
              <a:srgbClr val="2E4A62"/>
            </a:solidFill>
          </a:ln>
        </p:spPr>
        <p:txBody>
          <a:bodyPr wrap="square" lIns="38100" tIns="38100" rIns="38100" bIns="38100" rtlCol="0" anchor="ctr"/>
          <a:lstStyle/>
          <a:p>
            <a:pPr algn="ctr" indent="0" marL="0">
              <a:buNone/>
            </a:pPr>
            <a:r>
              <a:rPr lang="en-US" sz="1450" b="1" dirty="0">
                <a:solidFill>
                  <a:srgbClr val="FFFFFF"/>
                </a:solidFill>
                <a:latin typeface="Calibri" pitchFamily="34" charset="0"/>
                <a:ea typeface="Calibri" pitchFamily="34" charset="-122"/>
                <a:cs typeface="Calibri" pitchFamily="34" charset="-120"/>
              </a:rPr>
              <a:t>AND, one gate per bit</a:t>
            </a:r>
            <a:endParaRPr lang="en-US" sz="1450" dirty="0"/>
          </a:p>
        </p:txBody>
      </p:sp>
      <p:sp>
        <p:nvSpPr>
          <p:cNvPr id="13" name="Shape 11"/>
          <p:cNvSpPr/>
          <p:nvPr/>
        </p:nvSpPr>
        <p:spPr>
          <a:xfrm>
            <a:off x="1828800" y="2340864"/>
            <a:ext cx="1161288" cy="0"/>
          </a:xfrm>
          <a:prstGeom prst="line">
            <a:avLst/>
          </a:prstGeom>
          <a:noFill/>
          <a:ln w="22225">
            <a:solidFill>
              <a:srgbClr val="0E7C86"/>
            </a:solidFill>
            <a:prstDash val="solid"/>
            <a:tailEnd type="triangle"/>
          </a:ln>
        </p:spPr>
      </p:sp>
      <p:sp>
        <p:nvSpPr>
          <p:cNvPr id="14" name="Shape 12"/>
          <p:cNvSpPr/>
          <p:nvPr/>
        </p:nvSpPr>
        <p:spPr>
          <a:xfrm>
            <a:off x="2377440" y="2542032"/>
            <a:ext cx="612648" cy="0"/>
          </a:xfrm>
          <a:prstGeom prst="line">
            <a:avLst/>
          </a:prstGeom>
          <a:noFill/>
          <a:ln w="22225">
            <a:solidFill>
              <a:srgbClr val="C7791B"/>
            </a:solidFill>
            <a:prstDash val="solid"/>
            <a:tailEnd type="triangle"/>
          </a:ln>
        </p:spPr>
      </p:sp>
      <p:sp>
        <p:nvSpPr>
          <p:cNvPr id="15" name="Shape 13"/>
          <p:cNvSpPr/>
          <p:nvPr/>
        </p:nvSpPr>
        <p:spPr>
          <a:xfrm>
            <a:off x="5971032" y="2432304"/>
            <a:ext cx="1042416" cy="0"/>
          </a:xfrm>
          <a:prstGeom prst="line">
            <a:avLst/>
          </a:prstGeom>
          <a:noFill/>
          <a:ln w="22225">
            <a:solidFill>
              <a:srgbClr val="5B6B78"/>
            </a:solidFill>
            <a:prstDash val="solid"/>
            <a:tailEnd type="triangle"/>
          </a:ln>
        </p:spPr>
      </p:sp>
      <p:sp>
        <p:nvSpPr>
          <p:cNvPr id="16" name="Text 14"/>
          <p:cNvSpPr txBox="1"/>
          <p:nvPr/>
        </p:nvSpPr>
        <p:spPr>
          <a:xfrm>
            <a:off x="3017520" y="2852928"/>
            <a:ext cx="2926080" cy="548640"/>
          </a:xfrm>
          <a:prstGeom prst="roundRect">
            <a:avLst>
              <a:gd name="adj" fmla="val 10000"/>
            </a:avLst>
          </a:prstGeom>
          <a:solidFill>
            <a:srgbClr val="2E4A62"/>
          </a:solidFill>
          <a:ln>
            <a:solidFill>
              <a:srgbClr val="2E4A62"/>
            </a:solidFill>
          </a:ln>
        </p:spPr>
        <p:txBody>
          <a:bodyPr wrap="square" lIns="38100" tIns="38100" rIns="38100" bIns="38100" rtlCol="0" anchor="ctr"/>
          <a:lstStyle/>
          <a:p>
            <a:pPr algn="ctr" indent="0" marL="0">
              <a:buNone/>
            </a:pPr>
            <a:r>
              <a:rPr lang="en-US" sz="1450" b="1" dirty="0">
                <a:solidFill>
                  <a:srgbClr val="FFFFFF"/>
                </a:solidFill>
                <a:latin typeface="Calibri" pitchFamily="34" charset="0"/>
                <a:ea typeface="Calibri" pitchFamily="34" charset="-122"/>
                <a:cs typeface="Calibri" pitchFamily="34" charset="-120"/>
              </a:rPr>
              <a:t>OR, one gate per bit</a:t>
            </a:r>
            <a:endParaRPr lang="en-US" sz="1450" dirty="0"/>
          </a:p>
        </p:txBody>
      </p:sp>
      <p:sp>
        <p:nvSpPr>
          <p:cNvPr id="17" name="Shape 15"/>
          <p:cNvSpPr/>
          <p:nvPr/>
        </p:nvSpPr>
        <p:spPr>
          <a:xfrm>
            <a:off x="1828800" y="3035808"/>
            <a:ext cx="1161288" cy="0"/>
          </a:xfrm>
          <a:prstGeom prst="line">
            <a:avLst/>
          </a:prstGeom>
          <a:noFill/>
          <a:ln w="22225">
            <a:solidFill>
              <a:srgbClr val="0E7C86"/>
            </a:solidFill>
            <a:prstDash val="solid"/>
            <a:tailEnd type="triangle"/>
          </a:ln>
        </p:spPr>
      </p:sp>
      <p:sp>
        <p:nvSpPr>
          <p:cNvPr id="18" name="Shape 16"/>
          <p:cNvSpPr/>
          <p:nvPr/>
        </p:nvSpPr>
        <p:spPr>
          <a:xfrm>
            <a:off x="2377440" y="3236976"/>
            <a:ext cx="612648" cy="0"/>
          </a:xfrm>
          <a:prstGeom prst="line">
            <a:avLst/>
          </a:prstGeom>
          <a:noFill/>
          <a:ln w="22225">
            <a:solidFill>
              <a:srgbClr val="C7791B"/>
            </a:solidFill>
            <a:prstDash val="solid"/>
            <a:tailEnd type="triangle"/>
          </a:ln>
        </p:spPr>
      </p:sp>
      <p:sp>
        <p:nvSpPr>
          <p:cNvPr id="19" name="Shape 17"/>
          <p:cNvSpPr/>
          <p:nvPr/>
        </p:nvSpPr>
        <p:spPr>
          <a:xfrm>
            <a:off x="5971032" y="3127248"/>
            <a:ext cx="1042416" cy="0"/>
          </a:xfrm>
          <a:prstGeom prst="line">
            <a:avLst/>
          </a:prstGeom>
          <a:noFill/>
          <a:ln w="22225">
            <a:solidFill>
              <a:srgbClr val="5B6B78"/>
            </a:solidFill>
            <a:prstDash val="solid"/>
            <a:tailEnd type="triangle"/>
          </a:ln>
        </p:spPr>
      </p:sp>
      <p:sp>
        <p:nvSpPr>
          <p:cNvPr id="20" name="Text 18"/>
          <p:cNvSpPr txBox="1"/>
          <p:nvPr/>
        </p:nvSpPr>
        <p:spPr>
          <a:xfrm>
            <a:off x="3017520" y="3547872"/>
            <a:ext cx="2926080" cy="548640"/>
          </a:xfrm>
          <a:prstGeom prst="roundRect">
            <a:avLst>
              <a:gd name="adj" fmla="val 10000"/>
            </a:avLst>
          </a:prstGeom>
          <a:solidFill>
            <a:srgbClr val="2E4A62"/>
          </a:solidFill>
          <a:ln>
            <a:solidFill>
              <a:srgbClr val="2E4A62"/>
            </a:solidFill>
          </a:ln>
        </p:spPr>
        <p:txBody>
          <a:bodyPr wrap="square" lIns="38100" tIns="38100" rIns="38100" bIns="38100" rtlCol="0" anchor="ctr"/>
          <a:lstStyle/>
          <a:p>
            <a:pPr algn="ctr" indent="0" marL="0">
              <a:buNone/>
            </a:pPr>
            <a:r>
              <a:rPr lang="en-US" sz="1450" b="1" dirty="0">
                <a:solidFill>
                  <a:srgbClr val="FFFFFF"/>
                </a:solidFill>
                <a:latin typeface="Calibri" pitchFamily="34" charset="0"/>
                <a:ea typeface="Calibri" pitchFamily="34" charset="-122"/>
                <a:cs typeface="Calibri" pitchFamily="34" charset="-120"/>
              </a:rPr>
              <a:t>XOR, one gate per bit</a:t>
            </a:r>
            <a:endParaRPr lang="en-US" sz="1450" dirty="0"/>
          </a:p>
        </p:txBody>
      </p:sp>
      <p:sp>
        <p:nvSpPr>
          <p:cNvPr id="21" name="Shape 19"/>
          <p:cNvSpPr/>
          <p:nvPr/>
        </p:nvSpPr>
        <p:spPr>
          <a:xfrm>
            <a:off x="1828800" y="3730752"/>
            <a:ext cx="1161288" cy="0"/>
          </a:xfrm>
          <a:prstGeom prst="line">
            <a:avLst/>
          </a:prstGeom>
          <a:noFill/>
          <a:ln w="22225">
            <a:solidFill>
              <a:srgbClr val="0E7C86"/>
            </a:solidFill>
            <a:prstDash val="solid"/>
            <a:tailEnd type="triangle"/>
          </a:ln>
        </p:spPr>
      </p:sp>
      <p:sp>
        <p:nvSpPr>
          <p:cNvPr id="22" name="Shape 20"/>
          <p:cNvSpPr/>
          <p:nvPr/>
        </p:nvSpPr>
        <p:spPr>
          <a:xfrm>
            <a:off x="2377440" y="3931920"/>
            <a:ext cx="612648" cy="0"/>
          </a:xfrm>
          <a:prstGeom prst="line">
            <a:avLst/>
          </a:prstGeom>
          <a:noFill/>
          <a:ln w="22225">
            <a:solidFill>
              <a:srgbClr val="C7791B"/>
            </a:solidFill>
            <a:prstDash val="solid"/>
            <a:tailEnd type="triangle"/>
          </a:ln>
        </p:spPr>
      </p:sp>
      <p:sp>
        <p:nvSpPr>
          <p:cNvPr id="23" name="Shape 21"/>
          <p:cNvSpPr/>
          <p:nvPr/>
        </p:nvSpPr>
        <p:spPr>
          <a:xfrm>
            <a:off x="5971032" y="3822192"/>
            <a:ext cx="1042416" cy="0"/>
          </a:xfrm>
          <a:prstGeom prst="line">
            <a:avLst/>
          </a:prstGeom>
          <a:noFill/>
          <a:ln w="22225">
            <a:solidFill>
              <a:srgbClr val="5B6B78"/>
            </a:solidFill>
            <a:prstDash val="solid"/>
            <a:tailEnd type="triangle"/>
          </a:ln>
        </p:spPr>
      </p:sp>
      <p:sp>
        <p:nvSpPr>
          <p:cNvPr id="24" name="Text 22"/>
          <p:cNvSpPr txBox="1"/>
          <p:nvPr/>
        </p:nvSpPr>
        <p:spPr>
          <a:xfrm>
            <a:off x="3017520" y="4242816"/>
            <a:ext cx="2926080" cy="548640"/>
          </a:xfrm>
          <a:prstGeom prst="roundRect">
            <a:avLst>
              <a:gd name="adj" fmla="val 10000"/>
            </a:avLst>
          </a:prstGeom>
          <a:solidFill>
            <a:srgbClr val="2E4A62"/>
          </a:solidFill>
          <a:ln>
            <a:solidFill>
              <a:srgbClr val="2E4A62"/>
            </a:solidFill>
          </a:ln>
        </p:spPr>
        <p:txBody>
          <a:bodyPr wrap="square" lIns="38100" tIns="38100" rIns="38100" bIns="38100" rtlCol="0" anchor="ctr"/>
          <a:lstStyle/>
          <a:p>
            <a:pPr algn="ctr" indent="0" marL="0">
              <a:buNone/>
            </a:pPr>
            <a:r>
              <a:rPr lang="en-US" sz="1450" b="1" dirty="0">
                <a:solidFill>
                  <a:srgbClr val="FFFFFF"/>
                </a:solidFill>
                <a:latin typeface="Calibri" pitchFamily="34" charset="0"/>
                <a:ea typeface="Calibri" pitchFamily="34" charset="-122"/>
                <a:cs typeface="Calibri" pitchFamily="34" charset="-120"/>
              </a:rPr>
              <a:t>shifter</a:t>
            </a:r>
            <a:endParaRPr lang="en-US" sz="1450" dirty="0"/>
          </a:p>
        </p:txBody>
      </p:sp>
      <p:sp>
        <p:nvSpPr>
          <p:cNvPr id="25" name="Shape 23"/>
          <p:cNvSpPr/>
          <p:nvPr/>
        </p:nvSpPr>
        <p:spPr>
          <a:xfrm>
            <a:off x="1828800" y="4425696"/>
            <a:ext cx="1161288" cy="0"/>
          </a:xfrm>
          <a:prstGeom prst="line">
            <a:avLst/>
          </a:prstGeom>
          <a:noFill/>
          <a:ln w="22225">
            <a:solidFill>
              <a:srgbClr val="0E7C86"/>
            </a:solidFill>
            <a:prstDash val="solid"/>
            <a:tailEnd type="triangle"/>
          </a:ln>
        </p:spPr>
      </p:sp>
      <p:sp>
        <p:nvSpPr>
          <p:cNvPr id="26" name="Shape 24"/>
          <p:cNvSpPr/>
          <p:nvPr/>
        </p:nvSpPr>
        <p:spPr>
          <a:xfrm>
            <a:off x="2377440" y="4626864"/>
            <a:ext cx="612648" cy="0"/>
          </a:xfrm>
          <a:prstGeom prst="line">
            <a:avLst/>
          </a:prstGeom>
          <a:noFill/>
          <a:ln w="22225">
            <a:solidFill>
              <a:srgbClr val="C7791B"/>
            </a:solidFill>
            <a:prstDash val="solid"/>
            <a:tailEnd type="triangle"/>
          </a:ln>
        </p:spPr>
      </p:sp>
      <p:sp>
        <p:nvSpPr>
          <p:cNvPr id="27" name="Shape 25"/>
          <p:cNvSpPr/>
          <p:nvPr/>
        </p:nvSpPr>
        <p:spPr>
          <a:xfrm>
            <a:off x="5971032" y="4517136"/>
            <a:ext cx="1042416" cy="0"/>
          </a:xfrm>
          <a:prstGeom prst="line">
            <a:avLst/>
          </a:prstGeom>
          <a:noFill/>
          <a:ln w="22225">
            <a:solidFill>
              <a:srgbClr val="5B6B78"/>
            </a:solidFill>
            <a:prstDash val="solid"/>
            <a:tailEnd type="triangle"/>
          </a:ln>
        </p:spPr>
      </p:sp>
      <p:sp>
        <p:nvSpPr>
          <p:cNvPr id="28" name="Text 26"/>
          <p:cNvSpPr txBox="1"/>
          <p:nvPr/>
        </p:nvSpPr>
        <p:spPr>
          <a:xfrm>
            <a:off x="7040880" y="1463040"/>
            <a:ext cx="1005840" cy="3328416"/>
          </a:xfrm>
          <a:prstGeom prst="roundRect">
            <a:avLst>
              <a:gd name="adj" fmla="val 5455"/>
            </a:avLst>
          </a:prstGeom>
          <a:solidFill>
            <a:srgbClr val="0E7C86"/>
          </a:solidFill>
          <a:ln>
            <a:solidFill>
              <a:srgbClr val="0E7C86"/>
            </a:solidFill>
          </a:ln>
        </p:spPr>
        <p:txBody>
          <a:bodyPr wrap="square" lIns="38100" tIns="38100" rIns="38100" bIns="3810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MUX</a:t>
            </a:r>
            <a:endParaRPr lang="en-US" sz="1700" dirty="0"/>
          </a:p>
        </p:txBody>
      </p:sp>
      <p:sp>
        <p:nvSpPr>
          <p:cNvPr id="29" name="Shape 27"/>
          <p:cNvSpPr/>
          <p:nvPr/>
        </p:nvSpPr>
        <p:spPr>
          <a:xfrm>
            <a:off x="8074152" y="3127248"/>
            <a:ext cx="978408" cy="0"/>
          </a:xfrm>
          <a:prstGeom prst="line">
            <a:avLst/>
          </a:prstGeom>
          <a:noFill/>
          <a:ln w="31750">
            <a:solidFill>
              <a:srgbClr val="1B2530"/>
            </a:solidFill>
            <a:prstDash val="solid"/>
            <a:tailEnd type="triangle"/>
          </a:ln>
        </p:spPr>
      </p:sp>
      <p:sp>
        <p:nvSpPr>
          <p:cNvPr id="30" name="Text 28"/>
          <p:cNvSpPr txBox="1"/>
          <p:nvPr/>
        </p:nvSpPr>
        <p:spPr>
          <a:xfrm>
            <a:off x="8092440" y="2779776"/>
            <a:ext cx="914400" cy="274320"/>
          </a:xfrm>
          <a:prstGeom prst="rect">
            <a:avLst/>
          </a:prstGeom>
          <a:noFill/>
          <a:ln/>
        </p:spPr>
        <p:txBody>
          <a:bodyPr wrap="square" lIns="0" tIns="0" rIns="0" bIns="0" rtlCol="0" anchor="t"/>
          <a:lstStyle/>
          <a:p>
            <a:pPr algn="ctr" indent="0" marL="0">
              <a:buNone/>
            </a:pPr>
            <a:r>
              <a:rPr lang="en-US" sz="1300" i="1" dirty="0">
                <a:solidFill>
                  <a:srgbClr val="5B6B78"/>
                </a:solidFill>
                <a:latin typeface="Calibri" pitchFamily="34" charset="0"/>
                <a:ea typeface="Calibri" pitchFamily="34" charset="-122"/>
                <a:cs typeface="Calibri" pitchFamily="34" charset="-120"/>
              </a:rPr>
              <a:t>result</a:t>
            </a:r>
            <a:endParaRPr lang="en-US" sz="1300" dirty="0"/>
          </a:p>
        </p:txBody>
      </p:sp>
      <p:sp>
        <p:nvSpPr>
          <p:cNvPr id="31" name="Shape 29"/>
          <p:cNvSpPr/>
          <p:nvPr/>
        </p:nvSpPr>
        <p:spPr>
          <a:xfrm flipV="1">
            <a:off x="7543800" y="4818888"/>
            <a:ext cx="0" cy="539496"/>
          </a:xfrm>
          <a:prstGeom prst="line">
            <a:avLst/>
          </a:prstGeom>
          <a:noFill/>
          <a:ln w="28575">
            <a:solidFill>
              <a:srgbClr val="B23A48"/>
            </a:solidFill>
            <a:prstDash val="solid"/>
            <a:tailEnd type="triangle"/>
          </a:ln>
        </p:spPr>
      </p:sp>
      <p:sp>
        <p:nvSpPr>
          <p:cNvPr id="32" name="Text 30"/>
          <p:cNvSpPr txBox="1"/>
          <p:nvPr/>
        </p:nvSpPr>
        <p:spPr>
          <a:xfrm>
            <a:off x="5669280" y="5376672"/>
            <a:ext cx="3840480" cy="274320"/>
          </a:xfrm>
          <a:prstGeom prst="rect">
            <a:avLst/>
          </a:prstGeom>
          <a:noFill/>
          <a:ln/>
        </p:spPr>
        <p:txBody>
          <a:bodyPr wrap="square" lIns="0" tIns="0" rIns="0" bIns="0" rtlCol="0" anchor="t"/>
          <a:lstStyle/>
          <a:p>
            <a:pPr algn="ctr" indent="0" marL="0">
              <a:buNone/>
            </a:pPr>
            <a:r>
              <a:rPr lang="en-US" sz="1350" b="1" dirty="0">
                <a:solidFill>
                  <a:srgbClr val="B23A48"/>
                </a:solidFill>
                <a:latin typeface="Calibri" pitchFamily="34" charset="0"/>
                <a:ea typeface="Calibri" pitchFamily="34" charset="-122"/>
                <a:cs typeface="Calibri" pitchFamily="34" charset="-120"/>
              </a:rPr>
              <a:t>operation, decoded from the instruction</a:t>
            </a:r>
            <a:endParaRPr lang="en-US" sz="1350" dirty="0"/>
          </a:p>
        </p:txBody>
      </p:sp>
      <p:sp>
        <p:nvSpPr>
          <p:cNvPr id="33" name="Shape 31"/>
          <p:cNvSpPr/>
          <p:nvPr/>
        </p:nvSpPr>
        <p:spPr>
          <a:xfrm>
            <a:off x="9326880" y="1417320"/>
            <a:ext cx="2316175" cy="3383280"/>
          </a:xfrm>
          <a:prstGeom prst="roundRect">
            <a:avLst>
              <a:gd name="adj" fmla="val 3158"/>
            </a:avLst>
          </a:prstGeom>
          <a:solidFill>
            <a:srgbClr val="D8ECEE"/>
          </a:solidFill>
          <a:ln w="12700">
            <a:solidFill>
              <a:srgbClr val="D8ECEE"/>
            </a:solidFill>
            <a:prstDash val="solid"/>
          </a:ln>
        </p:spPr>
      </p:sp>
      <p:sp>
        <p:nvSpPr>
          <p:cNvPr id="34" name="Text 32"/>
          <p:cNvSpPr txBox="1"/>
          <p:nvPr/>
        </p:nvSpPr>
        <p:spPr>
          <a:xfrm>
            <a:off x="9418320" y="1508760"/>
            <a:ext cx="2133295" cy="3200400"/>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All the units compute at the same time, on the same two operands. The multiplexer lets one result through.</a:t>
            </a:r>
            <a:endParaRPr lang="en-US" sz="1400" dirty="0"/>
          </a:p>
          <a:p>
            <a:pPr indent="0" marL="0">
              <a:buNone/>
            </a:pPr>
            <a:endParaRPr lang="en-US" sz="1400" dirty="0"/>
          </a:p>
          <a:p>
            <a:pPr indent="0" marL="0">
              <a:buNone/>
            </a:pPr>
            <a:r>
              <a:rPr lang="en-US" sz="1400" dirty="0">
                <a:solidFill>
                  <a:srgbClr val="1B2530"/>
                </a:solidFill>
                <a:latin typeface="Calibri" pitchFamily="34" charset="0"/>
                <a:ea typeface="Calibri" pitchFamily="34" charset="-122"/>
                <a:cs typeface="Calibri" pitchFamily="34" charset="-120"/>
              </a:rPr>
              <a:t>A decoder on the instruction bits drives the selection.</a:t>
            </a:r>
            <a:endParaRPr lang="en-US" sz="1400" dirty="0"/>
          </a:p>
        </p:txBody>
      </p:sp>
      <p:sp>
        <p:nvSpPr>
          <p:cNvPr id="35" name="Text 33"/>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No memory anywhere: the ALU is one large combinational machine. Its slowest path, the carry chain of the adder, limits the clock of the processor.</a:t>
            </a:r>
            <a:endParaRPr lang="en-US" sz="1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How many bits does a fixed-length binary code need for the 26 letters of the alphabet?</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5</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6</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26</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A decoder has 3 input lines and no enable. How many outputs does it have, and how many are 1 at any time?</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 outputs, one at 1</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6 outputs, two at 1</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 outputs, one at 1</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 outputs, three at 1</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A multiplexer with 8 data inputs needs how many selection lines?</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A word with one even-parity bit is received with two bits altered. The parity check:</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detects the error and corrects it</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detects the error but cannot correct it</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does not detect the error</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signals an error only if both bits were 1</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Glossary: English and Italian</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00254"/>
                <a:gridCol w="2773604"/>
                <a:gridCol w="2773604"/>
                <a:gridCol w="2946954"/>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combinational network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rete combinatoria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decoder / encoder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decodificatore / codificatore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propagation delay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ritardo di propagazione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transcoder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transcodificatore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cardinality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cardinalità</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multiplexer / demultiplexer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multiplexer / demultiplexer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code word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parola codice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enable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abilitazione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fixed / variable length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lunghezza fissa / variabile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comparator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comparatore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redundant code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codice ridondante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parity bit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bit di parità</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Conclusions and reading</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Information is an attribute, a type and a value; a code writes the value as a string over an alphabet</a:t>
            </a:r>
            <a:endParaRPr lang="en-US" sz="1900" dirty="0"/>
          </a:p>
        </p:txBody>
      </p:sp>
      <p:sp>
        <p:nvSpPr>
          <p:cNvPr id="5" name="Shape 3"/>
          <p:cNvSpPr/>
          <p:nvPr/>
        </p:nvSpPr>
        <p:spPr>
          <a:xfrm>
            <a:off x="548640" y="2339670"/>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56485"/>
            <a:ext cx="10710367"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Fixed-length codes need ceil(log2 N) bits; redundant codes spend more to detect errors</a:t>
            </a:r>
            <a:endParaRPr lang="en-US" sz="1900" dirty="0"/>
          </a:p>
        </p:txBody>
      </p:sp>
      <p:sp>
        <p:nvSpPr>
          <p:cNvPr id="7" name="Shape 5"/>
          <p:cNvSpPr/>
          <p:nvPr/>
        </p:nvSpPr>
        <p:spPr>
          <a:xfrm>
            <a:off x="548640" y="288444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801264"/>
            <a:ext cx="10710367"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Encoding, decoding and transcoding are done by combinational machines</a:t>
            </a:r>
            <a:endParaRPr lang="en-US" sz="1900" dirty="0"/>
          </a:p>
        </p:txBody>
      </p:sp>
      <p:sp>
        <p:nvSpPr>
          <p:cNvPr id="9" name="Shape 7"/>
          <p:cNvSpPr/>
          <p:nvPr/>
        </p:nvSpPr>
        <p:spPr>
          <a:xfrm>
            <a:off x="548640" y="3429229"/>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346044"/>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Multiplexers select a source, demultiplexers a destination; comparators and parity networks check</a:t>
            </a:r>
            <a:endParaRPr lang="en-US" sz="1900" dirty="0"/>
          </a:p>
        </p:txBody>
      </p:sp>
      <p:sp>
        <p:nvSpPr>
          <p:cNvPr id="11" name="Shape 9"/>
          <p:cNvSpPr/>
          <p:nvPr/>
        </p:nvSpPr>
        <p:spPr>
          <a:xfrm>
            <a:off x="548640" y="4268394"/>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185209"/>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RISC-V processor uses all of them: decoders on the instruction fields, multiplexers on the operands, and an ALU that is itself built from these blocks</a:t>
            </a:r>
            <a:endParaRPr lang="en-US" sz="1900" dirty="0"/>
          </a:p>
        </p:txBody>
      </p:sp>
      <p:sp>
        <p:nvSpPr>
          <p:cNvPr id="13" name="Shape 11"/>
          <p:cNvSpPr/>
          <p:nvPr/>
        </p:nvSpPr>
        <p:spPr>
          <a:xfrm>
            <a:off x="548640" y="5107559"/>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5024374"/>
            <a:ext cx="10710367" cy="114782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Reading</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Patterson, Hennessy: Computer Organization and Design, RISC-V Edition, appendix A and section 4.1</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Bucci: Architettura dei calcolatori elettronici, chapters on combinational networks</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Stallings: Computer Organization and Architecture, chapter on digital logic</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Combinational Machines</dc:title>
  <dc:subject>Lecture 11</dc:subject>
  <dc:creator>Raffaele Montella</dc:creator>
  <cp:lastModifiedBy>Raffaele Montella</cp:lastModifiedBy>
  <cp:revision>1</cp:revision>
  <dcterms:created xsi:type="dcterms:W3CDTF">2026-10-13T08:56:24Z</dcterms:created>
  <dcterms:modified xsi:type="dcterms:W3CDTF">2026-10-13T08:56:24Z</dcterms:modified>
</cp:coreProperties>
</file>