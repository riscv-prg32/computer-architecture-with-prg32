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9baff00-db9b-991a-67e6-2fea96301ff0}">
          <p14:sldIdLst>
            <p14:sldId id="256"/>
            <p14:sldId id="257"/>
          </p14:sldIdLst>
        </p14:section>
        <p14:section name="The listings" id="{62925b99-5669-42da-5a9f-8ee9450565de}">
          <p14:sldIdLst>
            <p14:sldId id="258"/>
          </p14:sldIdLst>
        </p14:section>
        <p14:section name="Step 1: the memory of the game" id="{46009563-ee50-423e-ea64-d7b125ad06d7}">
          <p14:sldIdLst>
            <p14:sldId id="259"/>
            <p14:sldId id="260"/>
            <p14:sldId id="261"/>
          </p14:sldIdLst>
        </p14:section>
        <p14:section name="Step 2: three states" id="{26aab86f-a910-a271-1463-4a5859215567}">
          <p14:sldIdLst>
            <p14:sldId id="262"/>
            <p14:sldId id="263"/>
            <p14:sldId id="264"/>
            <p14:sldId id="265"/>
            <p14:sldId id="266"/>
            <p14:sldId id="267"/>
            <p14:sldId id="268"/>
          </p14:sldIdLst>
        </p14:section>
        <p14:section name="Step 3: a worm in memory" id="{e24bf1db-01c7-fc45-b8b1-d56efa16e723}">
          <p14:sldIdLst>
            <p14:sldId id="269"/>
            <p14:sldId id="270"/>
            <p14:sldId id="271"/>
            <p14:sldId id="272"/>
            <p14:sldId id="273"/>
            <p14:sldId id="274"/>
          </p14:sldIdLst>
        </p14:section>
        <p14:section name="Step 4: rules" id="{5ec1ca8b-681e-76ac-0e6a-8add12be6349}">
          <p14:sldIdLst>
            <p14:sldId id="275"/>
            <p14:sldId id="276"/>
            <p14:sldId id="277"/>
            <p14:sldId id="278"/>
            <p14:sldId id="279"/>
            <p14:sldId id="280"/>
            <p14:sldId id="281"/>
            <p14:sldId id="282"/>
            <p14:sldId id="283"/>
          </p14:sldIdLst>
        </p14:section>
        <p14:section name="Step 5: look at memory move" id="{88baecbd-26dc-9327-7e76-72270cb2a1f4}">
          <p14:sldIdLst>
            <p14:sldId id="284"/>
            <p14:sldId id="285"/>
            <p14:sldId id="286"/>
          </p14:sldIdLst>
        </p14:section>
        <p14:section name="Run it and test it" id="{0d5c081e-2286-066a-252d-466ca7425da9}">
          <p14:sldIdLst>
            <p14:sldId id="287"/>
            <p14:sldId id="288"/>
            <p14:sldId id="289"/>
            <p14:sldId id="290"/>
            <p14:sldId id="291"/>
          </p14:sldIdLst>
        </p14:section>
        <p14:section name="Exercises" id="{0aa3a3f3-928f-3bce-dc47-cfc98278ce63}">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17.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arrays in memory; finite-state machines; .text, .rodata, .data; latches and flip-flops; fixed point. USE NOW: the calling convention (Lecture 18) and, used without being studied in this course, the PRG32 tools, the PRG32-QT debugger. UNDERSTAND LATER: nothing. A slide without a badge is context: a story, an example, a question, an exercise.
Roadmap. Today's outcomes: (1) implement the game as a state machine with three states; (2) keep the body in a ring buffer and the grid in an array of bytes; (3) detect a collision by reading the grid. Builds on: arrays in memory (Lecture 04); finite-state machines (Lecture 13); .text, .rodata, .data (Lecture 07); latches and flip-flops (Lecture 13); fixed point (Lecture 06). Next: Lecture 18,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reference program is ~/arc12/verm1/verm1_part3.S; tools/tests/verm1_check.py builds it and plays it with a scripted player, and verm1_steps.py runs the intermediate checkpoints.
For the lecturer: Get the code once: git clone https://github.com/riscv-prg32/computer-architecture-with-prg32 ~/arc12. The reference program is ~/arc12/verm1/verm1_part3.S;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usual two commands. Today the file changes substantially, so building should not wait until the end: the program is built and run after every slide titled "Run it". If something breaks, the fault lies in the lines added since the last successful run, which confines the search.
USE NOW: the PRG32 tools (used, not studied, in this course).
For the lecturer: The same two commands. Today the file changes a lot: build after every slide that says Run it, not only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constants replace those of Part 2. BODY is a darker green for the segments behind the head. BTN_A is the mask of button A, bit 4 of the button word. The three states are the numbers 0, 1 and 2, given names. The .section and .global lines that used to close this block move to the next slide.
UNDERSTAND NOW: finite-state machines.
For the lecturer: Replace the constants of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read-only section: three strings, for the title, the invitation and the game over, and the two tables dx and dy of Part 2. The program never writes here. On the board this section could remain in flash; it is the part of the cartridge that would survive a power cycle, as the warm-up of Lecture 16 demonstrated.
UNDERSTAND NOW: .text, .rodata, .data.
For the lecturer: Replace the .rodata of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of variables. head_x and head_y have disappeared: the head now lives in the ring. The directive .space reserves a number of bytes without naming each: 256 for body_x, 256 for body_y, 960 for the map. best holds the best score, which survives from one game to the next but not a power cycle, because it resides in RAM. A portable cartridge has no permanent memory of its own, a limitation acknowledged here explicitly.
UNDERSTAND NOW: .text, .rodata, .data.
For the lecturer: Replace the .data of Part 2. Everything here is lost when the cartridge is unloaded: Lecture 16. A best score that survives needs permanent memory, which a portable cartridge does not have: an honest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now performs a single task: it selects the initial state, TITLE. Preparing a game becomes the responsibility of a new function, new_game, invoked when the player presses A. The old verm1_update, step and verm1_draw are deleted from the file, since the following slides replace them; place_food, eat_sound and draw_cell are kept.
UNDERSTAND NOW: finite-state machines.
For the lecturer: Replace verm1_init. Delete from your file verm1_update, step and verm1_draw of Part 2: the next slides replace them. Keep place_food, eat_sound and draw_cell.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the new verm1_update reads the buttons and computes their edges. s0 holds the buttons of the current frame; prev_btn, in memory, those of the previous frame. The expression "now AND NOT before" yields 1 only in the positions where a press has just begun, and the result is placed in s1. prev_btn is then updated. This is the edge detector of Lecture 13: a register delaying by one clock period, followed by an AND gate with one inverted input. Because s0 and s1 must survive the calls that follow, they are saved in the frame.
UNDERSTAND NOW: latches and flip-flops. USE NOW: the calling convention (studied in Lecture 18).
For the lecturer: The edge detector of Lecture 13: a flip-flop and an AND gate with one inverted input. Here the flip-flop is a word of memory and the clock is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is the transition table, written line by line. The state is read first, and it determines which inputs are considered. In TITLE, a new press of A calls new_game. In OVER, a new press of A stores TITLE. In PLAY, the buttons currently held, levels rather than edges, are passed to play_update, because steering must respond while a button remains down. The labels are named, u_play, u_start, u_done, because numeric labels would be difficult to follow in a function of this size.
UNDERSTAND NOW: finite-state machines.
For the lecturer: This is the rest of verm1_update: the transition table, line by line. OVER to TITLE only stores the new state; TITLE to PLAY calls new_game, which stores PLAY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renders a different picture for each state. The title line is always drawn. In TITLE only the invitation PRESS A appears, centred: x = 132 centres seven characters of 8 pixels. In PLAY and OVER the function draws the score, the worm and the food. draw changes nothing: its output depends only on the state and on memory, exactly as the output of a Moore machine depends only on its state.
UNDERSTAND NOW: finite-state machines.
For the lecturer: Replace verm1_draw. The output depends only on the state and on the memory: draw changes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verm1_draw: in the OVER state two words are written over the scene. A small helper, draw_text, supplies the two colour arguments, white on black, and passes the first three through, saving two lines at each call that draws text. Small helpers of this kind make a program shorter and easier to modify consistently.
UNDERSTAND NOW: finite-state machines.
For the lecturer: The end of verm1_draw, and a small helper that removes two lines from every text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stubs: functions that exist only by name and return immediately, except new_game, which merely stores PLAY. Thanks to them the program builds, and the state machine can be exercised before its parts are written. This is the method of the first programming lecture applied at a larger scale: begin with functions that do nothing, then add one thing at a time.
For the lecturer: Start with returns that do nothing, then add one thing at a time: the method of the first lecture. This intermediate program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The title line and PRESS A appear. When A is pressed the invitation disappears and a red cell appears in the top-left corner, because the variables of the food are still zero. Nothing moves and the game cannot end, since PLAY has no rules yet. In the debugger the variable state can be located and observed to change from 0 to 1 when A is pressed: the machine works, and it is empty.
For the lecturer: The food is at (0, 0) because food_x and food_y start at zero and the stub of new_game does not call place_food.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the real new_game. A loop clears the 960 bytes of the map, one sb at a time. The worm is then laid down: three segments in columns 3, 4 and 5 of row 12. Each segment is written twice, its column and row into the ring and a 1 into the map, which establishes the invariant that ring and map agree. The expression grid+12*COLS is evaluated by the assembler. Since each entry is one byte, the index is added to the base address without scaling.
UNDERSTAND NOW: arrays in memory.
For the lecturer: grid+12*COLS is computed by the assembler: the address of the first byte of row 12. sb stores one byte; the index is added to the base address, with no shift because each entry is one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initialises the variables: head_i = 2 and length = 3, which together describe the worm just laid; direction, timer and score start from zero; the first food is placed. The last instruction stores PLAY in the state. The order is deliberate: the transition is completed only when everything it requires is ready, so that no other part of the program can observe a half-initialised game.
UNDERSTAND NOW: arrays in memory.
For the lecturer: The second half of new_game. The transition TITLE to PLAY is complete only when everything is ready: the state is stored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traverses the ring backwards from the head: segment i is entry head_i - i, masked with 255. Column and row are loaded with lbu, which reads a byte as an unsigned number, and passed to draw_cell. Segment 0, the head, is drawn in a brighter green than the rest. The loop ends when i reaches the length. lbu rather than lb states that a column is never negative, as the note on Lecture 05 explains.
UNDERSTAND NOW: arrays in memory.
For the lecturer: lbu and not lb: a column is a number from 0 to 39, never negative. With lb a byte of 200 or more would become negative: Lecture 05. Here both would work; lbu says what we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is the loop that in Part 2 lay inside verm1_draw, now a function in its own right: one small mark per point. Since it uses s0 as its counter, it saves that register on entry and restores it on exit.
USE NOW: the calling convention (studied in Lecture 18).
For the lecturer: The same loop that was inside verm1_draw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the four stubs only one remains: play_update, which still does nothing. The worm exists in memory and on screen, and stands still.
For the lecturer: Only this stub remains from the previous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and press A: a worm of three cells in row 12, with the brighter head on the right, and the food in a random cell. Memory can now be inspected with the debugger. At the address of body_x the first bytes are 03 04 05. In the map, at offset 12 × 40 + 3, three bytes equal to 01 stand amid zeros. These are the two data structures of the lecture deck, the ring and the map, now populated.
For the lecturer: To find the address of body_x: break at the start of draw_worm and step until la t0, body_x has run; t0 holds it. grid is 512 bytes after body_x; row 12 starts 480 bytes after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play_update is the verm1_update of Part 2 under a new name: the four button tests and the U-turn rule. One difference: the buttons arrive as an argument in a0, so no call is needed to read them.
UNDERSTAND NOW: fixed point.
For the lecturer: Take the body of the old verm1_update: remove the call to prg32_input_read and rename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play_update is exactly the timer of Part 2: the speed is added, and when a whole cell has accumulated step is called.
UNDERSTAND NOW: fixed point.
For the lecturer: The end of play_update.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Three registers must retain their values across the calls that follow: s0 and s1 for the cell of the new head, s2 for the result of the food test. The frame therefore saves ra and three s registers, four words in all. The lookup of dx and dy is that of Part 2.
USE NOW: the calling convention (studied in Lecture 18).
For the lecturer: The frame has room for four words: ra and three saved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will the head be? The present head is entry head_i of the ring: its column and row are loaded with lbu, dx and dy added, and the result wrapped at the edges as in Part 2. The new cell is now in s0 and s1. Nothing has yet been written: the program must examine before it acts.
UNDERSTAND NOW: arrays in memory.
For the lecturer: The new cell is only computed, in s0 and s1. Writing it comes after the collision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 or move the tail. The comparator of Part 2 leaves its result in s2, zero if the new head lies on the food. If the worm eats, the length grows by one and the tail stays in place. Otherwise the tail must leave: its entry is head_i - length + 1, and its column and row are loaded. Growing and not moving the tail are one and the same operation, which is the whole trick of Snake.
UNDERSTAND NOW: arrays in memory.
For the lecturer: Growing and not moving the tail are the same thing: this is the whole trick of Snake. t3 and t4 receive the column and row of the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map. The index of a byte is row × 40 + column, computed with mul and add; mul belongs to the M extension, which the ESP32-C6 implements. First the byte of the tail is cleared, then the byte of the new head is tested. The order matters: within the same step the tail moves away, so the head may legitimately enter the cell the tail has just vacated. If the byte is 1 the worm has bitten itself: the state becomes OVER and the best score is updated.
UNDERSTAND NOW: arrays in memory.
For the lecturer: The order matters: freeing the tail before the test allows the worm to chase its own tail, as in the original game. mul needs the M extension of RISC-V, which the ESP32-C6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cell is free, the new head is written: a 1 in the map, head_i incremented and masked with 255, and column and row stored in the new entry of the ring. Then, if s2 is zero, the reward: a point, new food, a sound. After a collision the function skips all of this, so the screen shows the worm as it was before the fatal step.
UNDERSTAND NOW: arrays in memory.
For the lecturer: The end of step. After a collision the function jumps straight to label 9: nothing is written, and the screen shows the worm as it was before the fatal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is corrected: it draws a random cell, examines its byte in the map, and if the cell is occupied draws again, until a free cell results. The column waits in s0 while the second random number is requested. The loop is short: even with the longest worm, 255 cells out of 960, fewer than two attempts are needed on average.
USE NOW: the calling convention (studied in Lecture 18).
For the lecturer: Replace place_food of Part 2. The loop ends quickly as long as the worm is short: with 255 cells out of 960 the average is fewer than two attempts.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this is Verm1, Part 3. The worm follows its head and grows at every meal; turning into the body ends the game; A returns to the title, and A again starts a new game. The two screenshots come from the automatic test: seven cells and four marks after four meals, and the game-over screen.
For the lecturer: Screenshots produced by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functions are unchanged with respect to Part 2: eat_sound and draw_cell. They are reprinted on the next two slides, marked UNCHANGED, so that this deck contains the whole program. The complete file is the union of the slides marked NEW and CHANGED, together with these two.
For the lecturer: Reference file for this part: verm1/verm1_part3.S (435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as in Part 2: five arguments and a call to prg32_audio_note, producing one note of 60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as in Part 2: column, row and colour are received, the cell coordinates converted to pixels, and one rectangle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modifications of the student's own devising. Walls: the worm dies at the edge instead of wrapping. A longer initial worm, perhaps depending on the best score. Poison: a second, blue cell that shortens the worm by one, which requires the tail to advance twice while preserving the ring-map invariant. And the best score displayed as marks on the game-over screen. Each touches one or two functions. A copy of the working Part 3 should be kept first.
For the lecturer: Walls: in step-head, replace each wrap with a jump to the code that stores OVER. Poison: move the tail twice in one step, clearing both bytes of the map, and never go below length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17: Verm1, part 3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3: A Body, Rules and States: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17-Computer_Architecture-Verm1_Part_3.pptx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3_play.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25 listings of Lecture 17,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verm1/verm1_part3.S, 435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a button, a colour, three states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50" dirty="0">
                <a:solidFill>
                  <a:srgbClr val="8FB3A0"/>
                </a:solidFill>
                <a:latin typeface="Courier New" pitchFamily="34" charset="0"/>
                <a:ea typeface="Courier New" pitchFamily="34" charset="-122"/>
                <a:cs typeface="Courier New" pitchFamily="34" charset="-120"/>
              </a:rPr>
              <a:t>#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50" dirty="0">
                <a:solidFill>
                  <a:srgbClr val="8FB3A0"/>
                </a:solidFill>
                <a:latin typeface="Courier New" pitchFamily="34" charset="0"/>
                <a:ea typeface="Courier New" pitchFamily="34" charset="-122"/>
                <a:cs typeface="Courier New" pitchFamily="34" charset="-120"/>
              </a:rPr>
              <a:t># the body: a darker green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          </a:t>
            </a:r>
            <a:pPr indent="0" marL="0">
              <a:buNone/>
            </a:pPr>
            <a:r>
              <a:rPr lang="en-US" sz="1250" dirty="0">
                <a:solidFill>
                  <a:srgbClr val="8FB3A0"/>
                </a:solidFill>
                <a:latin typeface="Courier New" pitchFamily="34" charset="0"/>
                <a:ea typeface="Courier New" pitchFamily="34" charset="-122"/>
                <a:cs typeface="Courier New" pitchFamily="34" charset="-120"/>
              </a:rPr>
              <a:t># the food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BTN_A,     0x10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TITLE, 0               </a:t>
            </a:r>
            <a:pPr indent="0" marL="0">
              <a:buNone/>
            </a:pPr>
            <a:r>
              <a:rPr lang="en-US" sz="1250" dirty="0">
                <a:solidFill>
                  <a:srgbClr val="8FB3A0"/>
                </a:solidFill>
                <a:latin typeface="Courier New" pitchFamily="34" charset="0"/>
                <a:ea typeface="Courier New" pitchFamily="34" charset="-122"/>
                <a:cs typeface="Courier New" pitchFamily="34" charset="-120"/>
              </a:rPr>
              <a:t># the three states of the game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PLAY,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OVER,  2</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BODY: a darker green, 0x03e0</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BTN_A is bit 4 of the word of buttons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states are numbers: 0, 1, 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.section and .global lines move to the next slide</a:t>
            </a:r>
            <a:endParaRPr lang="en-US" sz="15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.rodata: what stays in the file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strings and the two tables of Part 2</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Read-only: the program never writes here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 the board this could stay in flash</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.text, .rodata, .data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what lives in RAM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.data                  </a:t>
            </a:r>
            <a:pPr indent="0" marL="0">
              <a:buNone/>
            </a:pPr>
            <a:r>
              <a:rPr lang="en-US" sz="1500" dirty="0">
                <a:solidFill>
                  <a:srgbClr val="8FB3A0"/>
                </a:solidFill>
                <a:latin typeface="Courier New" pitchFamily="34" charset="0"/>
                <a:ea typeface="Courier New" pitchFamily="34" charset="-122"/>
                <a:cs typeface="Courier New" pitchFamily="34" charset="-120"/>
              </a:rPr>
              <a:t># variables: they live in RAM</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state:     .word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prev_btn:  .word 0              </a:t>
            </a:r>
            <a:pPr indent="0" marL="0">
              <a:buNone/>
            </a:pPr>
            <a:r>
              <a:rPr lang="en-US" sz="1500" dirty="0">
                <a:solidFill>
                  <a:srgbClr val="8FB3A0"/>
                </a:solidFill>
                <a:latin typeface="Courier New" pitchFamily="34" charset="0"/>
                <a:ea typeface="Courier New" pitchFamily="34" charset="-122"/>
                <a:cs typeface="Courier New" pitchFamily="34" charset="-120"/>
              </a:rPr>
              <a:t># the buttons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dir: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want: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score: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best:      .word 0              </a:t>
            </a:r>
            <a:pPr indent="0" marL="0">
              <a:buNone/>
            </a:pPr>
            <a:r>
              <a:rPr lang="en-US" sz="1500" dirty="0">
                <a:solidFill>
                  <a:srgbClr val="8FB3A0"/>
                </a:solidFill>
                <a:latin typeface="Courier New" pitchFamily="34" charset="0"/>
                <a:ea typeface="Courier New" pitchFamily="34" charset="-122"/>
                <a:cs typeface="Courier New" pitchFamily="34" charset="-120"/>
              </a:rPr>
              <a:t># lost when the power goes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food_x: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food_y: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head_i:    .word 0              </a:t>
            </a:r>
            <a:pPr indent="0" marL="0">
              <a:buNone/>
            </a:pPr>
            <a:r>
              <a:rPr lang="en-US" sz="1500" dirty="0">
                <a:solidFill>
                  <a:srgbClr val="8FB3A0"/>
                </a:solidFill>
                <a:latin typeface="Courier New" pitchFamily="34" charset="0"/>
                <a:ea typeface="Courier New" pitchFamily="34" charset="-122"/>
                <a:cs typeface="Courier New" pitchFamily="34" charset="-120"/>
              </a:rPr>
              <a:t># ring index of the head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length:    .word 0              </a:t>
            </a:r>
            <a:pPr indent="0" marL="0">
              <a:buNone/>
            </a:pPr>
            <a:r>
              <a:rPr lang="en-US" sz="1500" dirty="0">
                <a:solidFill>
                  <a:srgbClr val="8FB3A0"/>
                </a:solidFill>
                <a:latin typeface="Courier New" pitchFamily="34" charset="0"/>
                <a:ea typeface="Courier New" pitchFamily="34" charset="-122"/>
                <a:cs typeface="Courier New" pitchFamily="34" charset="-120"/>
              </a:rPr>
              <a:t># number of cells of the worm</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500" dirty="0">
                <a:solidFill>
                  <a:srgbClr val="8FB3A0"/>
                </a:solidFill>
                <a:latin typeface="Courier New" pitchFamily="34" charset="0"/>
                <a:ea typeface="Courier New" pitchFamily="34" charset="-122"/>
                <a:cs typeface="Courier New" pitchFamily="34" charset="-120"/>
              </a:rPr>
              <a:t># the ring: one byte per segment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body_y:    .space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500" dirty="0">
                <a:solidFill>
                  <a:srgbClr val="8FB3A0"/>
                </a:solidFill>
                <a:latin typeface="Courier New" pitchFamily="34" charset="0"/>
                <a:ea typeface="Courier New" pitchFamily="34" charset="-122"/>
                <a:cs typeface="Courier New" pitchFamily="34" charset="-120"/>
              </a:rPr>
              <a:t># one byte per cell: 1 = worm</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head_x and head_y are gone: the head is in the ring</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.space reserves bytes without naming each one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256 + 256 + 960 bytes: the worm and its world</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best survives a game, not a power-off</a:t>
            </a:r>
            <a:endParaRPr lang="en-US" sz="15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.text, .rodata, .data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start on the title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.section .text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verm1_init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verm1_draw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verm1_init: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state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zero, 0(t0)            </a:t>
            </a:r>
            <a:pPr indent="0" marL="0">
              <a:buNone/>
            </a:pPr>
            <a:r>
              <a:rPr lang="en-US" sz="1650" dirty="0">
                <a:solidFill>
                  <a:srgbClr val="8FB3A0"/>
                </a:solidFill>
                <a:latin typeface="Courier New" pitchFamily="34" charset="0"/>
                <a:ea typeface="Courier New" pitchFamily="34" charset="-122"/>
                <a:cs typeface="Courier New" pitchFamily="34" charset="-120"/>
              </a:rPr>
              <a:t># start on the title screen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prev_btn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zero,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only chooses the first state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itself is prepared by new_game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leaf again: no frame</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buttons, and their edges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 buttons now; prev_btn = buttons one frame ago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prev_btn is a register: it delays by one frame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now AND NOT before: 1 only where a press began</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and s1 must survive the calls: saved in the frame</a:t>
            </a:r>
            <a:endParaRPr lang="en-US" sz="1500" dirty="0"/>
          </a:p>
        </p:txBody>
      </p:sp>
      <p:sp>
        <p:nvSpPr>
          <p:cNvPr id="17" name="Shape 15"/>
          <p:cNvSpPr/>
          <p:nvPr/>
        </p:nvSpPr>
        <p:spPr>
          <a:xfrm>
            <a:off x="7865821" y="91440"/>
            <a:ext cx="3777234" cy="274320"/>
          </a:xfrm>
          <a:prstGeom prst="rect">
            <a:avLst/>
          </a:prstGeom>
          <a:solidFill>
            <a:srgbClr val="FEF3C7"/>
          </a:solidFill>
          <a:ln w="12700">
            <a:solidFill>
              <a:srgbClr val="B45309"/>
            </a:solidFill>
            <a:prstDash val="solid"/>
          </a:ln>
        </p:spPr>
      </p:sp>
      <p:sp>
        <p:nvSpPr>
          <p:cNvPr id="18" name="Shape 16"/>
          <p:cNvSpPr/>
          <p:nvPr/>
        </p:nvSpPr>
        <p:spPr>
          <a:xfrm>
            <a:off x="7865821" y="91440"/>
            <a:ext cx="27432" cy="274320"/>
          </a:xfrm>
          <a:prstGeom prst="rect">
            <a:avLst/>
          </a:prstGeom>
          <a:solidFill>
            <a:srgbClr val="B45309"/>
          </a:solidFill>
          <a:ln w="12700">
            <a:solidFill>
              <a:srgbClr val="B45309"/>
            </a:solidFill>
            <a:prstDash val="solid"/>
          </a:ln>
        </p:spPr>
      </p:sp>
      <p:sp>
        <p:nvSpPr>
          <p:cNvPr id="19" name="Shape 17"/>
          <p:cNvSpPr/>
          <p:nvPr/>
        </p:nvSpPr>
        <p:spPr>
          <a:xfrm>
            <a:off x="7920685"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21" name="Text 18"/>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2" name="Shape 19"/>
          <p:cNvSpPr/>
          <p:nvPr/>
        </p:nvSpPr>
        <p:spPr>
          <a:xfrm>
            <a:off x="4335094" y="91440"/>
            <a:ext cx="3420999" cy="274320"/>
          </a:xfrm>
          <a:prstGeom prst="rect">
            <a:avLst/>
          </a:prstGeom>
          <a:solidFill>
            <a:srgbClr val="E0F2FE"/>
          </a:solidFill>
          <a:ln w="12700">
            <a:solidFill>
              <a:srgbClr val="0369A1"/>
            </a:solidFill>
            <a:prstDash val="solid"/>
          </a:ln>
        </p:spPr>
      </p:sp>
      <p:sp>
        <p:nvSpPr>
          <p:cNvPr id="23" name="Shape 20"/>
          <p:cNvSpPr/>
          <p:nvPr/>
        </p:nvSpPr>
        <p:spPr>
          <a:xfrm>
            <a:off x="4335094"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4463110" y="128016"/>
            <a:ext cx="201168" cy="201168"/>
          </a:xfrm>
          <a:prstGeom prst="rect">
            <a:avLst/>
          </a:prstGeom>
        </p:spPr>
      </p:pic>
      <p:sp>
        <p:nvSpPr>
          <p:cNvPr id="25" name="Text 21"/>
          <p:cNvSpPr txBox="1"/>
          <p:nvPr/>
        </p:nvSpPr>
        <p:spPr>
          <a:xfrm>
            <a:off x="4719142"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one branch per state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              </a:t>
            </a:r>
            <a:pPr indent="0" marL="0">
              <a:buNone/>
            </a:pPr>
            <a:r>
              <a:rPr lang="en-US" sz="1300" dirty="0">
                <a:solidFill>
                  <a:srgbClr val="8FB3A0"/>
                </a:solidFill>
                <a:latin typeface="Courier New" pitchFamily="34" charset="0"/>
                <a:ea typeface="Courier New" pitchFamily="34" charset="-122"/>
                <a:cs typeface="Courier New" pitchFamily="34" charset="-120"/>
              </a:rPr>
              <a:t># t1 = present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  t1, t2, u_play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300" dirty="0">
                <a:solidFill>
                  <a:srgbClr val="8FB3A0"/>
                </a:solidFill>
                <a:latin typeface="Courier New" pitchFamily="34" charset="0"/>
                <a:ea typeface="Courier New" pitchFamily="34" charset="-122"/>
                <a:cs typeface="Courier New" pitchFamily="34" charset="-120"/>
              </a:rPr>
              <a:t># TITLE or OVER: wait for a new press of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TITLE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  t1, t2, u_start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t2, 0(t0)              </a:t>
            </a:r>
            <a:pPr indent="0" marL="0">
              <a:buNone/>
            </a:pPr>
            <a:r>
              <a:rPr lang="en-US" sz="1300" dirty="0">
                <a:solidFill>
                  <a:srgbClr val="8FB3A0"/>
                </a:solidFill>
                <a:latin typeface="Courier New" pitchFamily="34" charset="0"/>
                <a:ea typeface="Courier New" pitchFamily="34" charset="-122"/>
                <a:cs typeface="Courier New" pitchFamily="34" charset="-120"/>
              </a:rPr>
              <a:t># OVER --A--&gt; TITLE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u_start: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new_game               </a:t>
            </a:r>
            <a:pPr indent="0" marL="0">
              <a:buNone/>
            </a:pPr>
            <a:r>
              <a:rPr lang="en-US" sz="1300" dirty="0">
                <a:solidFill>
                  <a:srgbClr val="8FB3A0"/>
                </a:solidFill>
                <a:latin typeface="Courier New" pitchFamily="34" charset="0"/>
                <a:ea typeface="Courier New" pitchFamily="34" charset="-122"/>
                <a:cs typeface="Courier New" pitchFamily="34" charset="-120"/>
              </a:rPr>
              <a:t># TITLE --A--&gt; 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a0, s0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play_update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s0, 8(sp)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state is read first: it decides who looks at the inputs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TITLE and OVER react only to a new press of 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PLAY passes the held buttons to play_update</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Named labels: u_play, u_start, u_done</a:t>
            </a:r>
            <a:endParaRPr lang="en-US" sz="13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what to show in each state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draw_text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state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  t1, t2, 1f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132                </a:t>
            </a:r>
            <a:pPr indent="0" marL="0">
              <a:buNone/>
            </a:pPr>
            <a:r>
              <a:rPr lang="en-US" sz="1100" dirty="0">
                <a:solidFill>
                  <a:srgbClr val="8FB3A0"/>
                </a:solidFill>
                <a:latin typeface="Courier New" pitchFamily="34" charset="0"/>
                <a:ea typeface="Courier New" pitchFamily="34" charset="-122"/>
                <a:cs typeface="Courier New" pitchFamily="34" charset="-120"/>
              </a:rPr>
              <a:t># TITLE: only an invitation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96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press_a</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draw_text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call draw_score             </a:t>
            </a:r>
            <a:pPr indent="0" marL="0">
              <a:buNone/>
            </a:pPr>
            <a:r>
              <a:rPr lang="en-US" sz="1100" dirty="0">
                <a:solidFill>
                  <a:srgbClr val="8FB3A0"/>
                </a:solidFill>
                <a:latin typeface="Courier New" pitchFamily="34" charset="0"/>
                <a:ea typeface="Courier New" pitchFamily="34" charset="-122"/>
                <a:cs typeface="Courier New" pitchFamily="34" charset="-120"/>
              </a:rPr>
              <a:t># PLAY and OVER: the whole scene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draw_worm</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a1,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RED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draw_cell</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title line is always drawn</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TITLE: only the invitation, PRESS A</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PLAY and OVER: score, worm, food</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 = 132 centres 7 characters of 8 pixels</a:t>
            </a:r>
            <a:endParaRPr lang="en-US" sz="16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game over, and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bne  t1, t2, 2f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124</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game_over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2: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adds two words on top of the scene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draw_text: white on black, written once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fills a3 and a4 and passes a0 to a2 through</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For now: four functions that do nothing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new_game:                       </a:t>
            </a:r>
            <a:pPr indent="0" marL="0">
              <a:buNone/>
            </a:pPr>
            <a:r>
              <a:rPr lang="en-US" sz="1450" dirty="0">
                <a:solidFill>
                  <a:srgbClr val="8FB3A0"/>
                </a:solidFill>
                <a:latin typeface="Courier New" pitchFamily="34" charset="0"/>
                <a:ea typeface="Courier New" pitchFamily="34" charset="-122"/>
                <a:cs typeface="Courier New" pitchFamily="34" charset="-120"/>
              </a:rPr>
              <a:t># temporary: only change the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PLAY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play_update:                    </a:t>
            </a:r>
            <a:pPr indent="0" marL="0">
              <a:buNone/>
            </a:pPr>
            <a:r>
              <a:rPr lang="en-US" sz="1450" dirty="0">
                <a:solidFill>
                  <a:srgbClr val="8FB3A0"/>
                </a:solidFill>
                <a:latin typeface="Courier New" pitchFamily="34" charset="0"/>
                <a:ea typeface="Courier New" pitchFamily="34" charset="-122"/>
                <a:cs typeface="Courier New" pitchFamily="34" charset="-120"/>
              </a:rPr>
              <a:t># temporary: nothing moves yet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draw_score:                     </a:t>
            </a:r>
            <a:pPr indent="0" marL="0">
              <a:buNone/>
            </a:pPr>
            <a:r>
              <a:rPr lang="en-US" sz="1450" dirty="0">
                <a:solidFill>
                  <a:srgbClr val="8FB3A0"/>
                </a:solidFill>
                <a:latin typeface="Courier New" pitchFamily="34" charset="0"/>
                <a:ea typeface="Courier New" pitchFamily="34" charset="-122"/>
                <a:cs typeface="Courier New" pitchFamily="34" charset="-120"/>
              </a:rPr>
              <a:t># temporary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draw_worm:                      </a:t>
            </a:r>
            <a:pPr indent="0" marL="0">
              <a:buNone/>
            </a:pPr>
            <a:r>
              <a:rPr lang="en-US" sz="1450" dirty="0">
                <a:solidFill>
                  <a:srgbClr val="8FB3A0"/>
                </a:solidFill>
                <a:latin typeface="Courier New" pitchFamily="34" charset="0"/>
                <a:ea typeface="Courier New" pitchFamily="34" charset="-122"/>
                <a:cs typeface="Courier New" pitchFamily="34" charset="-120"/>
              </a:rPr>
              <a:t># temporary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Stubs: the names exist, so the program builds</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new_game only changes the state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Steps 3 and 4 replace them one at a time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machine with nothing inside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title line and PRESS A in the middle of the screen</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Press A: the invitation disappears. A red cell is in the top-left corner: the food, at column 0 of row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Nothing moves and the game cannot end: PLAY has no rules yet</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find the variable state and watch it change from 0 to 1 when you press 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Title screen, then an empty field with one red cell at the top left.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new_game: empty the map, lay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Replace the stub of new_game with this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960 bytes set to zero, one sb at a time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Three segments: columns 3, 4, 5 of row 12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Each one is written twice: in the ring and in the map</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new_game: the variables, the food, PLAY</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head_i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the head is entry 2 of the 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length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PLAY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head_i = 2 and length = 3 describe the worm</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Direction, timer and score start from zero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last thing: the state becomes PLAY</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draw_worm: walk the ring backwards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Replace the stub of draw_worm with this</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Segment i is entry head_i - i, AND 255</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lbu loads one byte as an unsigned number</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Segment 0 is the head: a brighter green</a:t>
            </a:r>
            <a:endParaRPr lang="en-US" sz="16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draw_score: the marks of Part 2</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draw_score: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0                  </a:t>
            </a:r>
            <a:pPr indent="0" marL="0">
              <a:buNone/>
            </a:pPr>
            <a:r>
              <a:rPr lang="en-US" sz="1350" dirty="0">
                <a:solidFill>
                  <a:srgbClr val="8FB3A0"/>
                </a:solidFill>
                <a:latin typeface="Courier New" pitchFamily="34" charset="0"/>
                <a:ea typeface="Courier New" pitchFamily="34" charset="-122"/>
                <a:cs typeface="Courier New" pitchFamily="34" charset="-120"/>
              </a:rPr>
              <a:t># s0 = i: one mark per point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  s0, t1,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s0,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a0, a0, 56             </a:t>
            </a:r>
            <a:pPr indent="0" marL="0">
              <a:buNone/>
            </a:pPr>
            <a:r>
              <a:rPr lang="en-US" sz="1350" dirty="0">
                <a:solidFill>
                  <a:srgbClr val="8FB3A0"/>
                </a:solidFill>
                <a:latin typeface="Courier New" pitchFamily="34" charset="0"/>
                <a:ea typeface="Courier New" pitchFamily="34" charset="-122"/>
                <a:cs typeface="Courier New" pitchFamily="34" charset="-120"/>
              </a:rPr>
              <a:t># x = 56 + 4 * 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WHITE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prg32_gfx_rect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s0, s0,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j    1b</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stub of draw_score with this</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loop of Part 2, now a function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uses s0, so it saves and restores it</a:t>
            </a:r>
            <a:endParaRPr lang="en-US" sz="1700" dirty="0"/>
          </a:p>
        </p:txBody>
      </p:sp>
      <p:sp>
        <p:nvSpPr>
          <p:cNvPr id="14" name="Shape 12"/>
          <p:cNvSpPr/>
          <p:nvPr/>
        </p:nvSpPr>
        <p:spPr>
          <a:xfrm>
            <a:off x="7865821" y="91440"/>
            <a:ext cx="3777234" cy="274320"/>
          </a:xfrm>
          <a:prstGeom prst="rect">
            <a:avLst/>
          </a:prstGeom>
          <a:solidFill>
            <a:srgbClr val="FEF3C7"/>
          </a:solidFill>
          <a:ln w="12700">
            <a:solidFill>
              <a:srgbClr val="B45309"/>
            </a:solidFill>
            <a:prstDash val="solid"/>
          </a:ln>
        </p:spPr>
      </p:sp>
      <p:sp>
        <p:nvSpPr>
          <p:cNvPr id="15" name="Shape 13"/>
          <p:cNvSpPr/>
          <p:nvPr/>
        </p:nvSpPr>
        <p:spPr>
          <a:xfrm>
            <a:off x="7865821" y="91440"/>
            <a:ext cx="27432" cy="274320"/>
          </a:xfrm>
          <a:prstGeom prst="rect">
            <a:avLst/>
          </a:prstGeom>
          <a:solidFill>
            <a:srgbClr val="B45309"/>
          </a:solidFill>
          <a:ln w="12700">
            <a:solidFill>
              <a:srgbClr val="B45309"/>
            </a:solidFill>
            <a:prstDash val="solid"/>
          </a:ln>
        </p:spPr>
      </p:sp>
      <p:sp>
        <p:nvSpPr>
          <p:cNvPr id="16" name="Shape 14"/>
          <p:cNvSpPr/>
          <p:nvPr/>
        </p:nvSpPr>
        <p:spPr>
          <a:xfrm>
            <a:off x="7920685"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18" name="Text 15"/>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stub is left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play_update:                    </a:t>
            </a:r>
            <a:pPr indent="0" marL="0">
              <a:buNone/>
            </a:pPr>
            <a:r>
              <a:rPr lang="en-US" sz="1550" dirty="0">
                <a:solidFill>
                  <a:srgbClr val="8FB3A0"/>
                </a:solidFill>
                <a:latin typeface="Courier New" pitchFamily="34" charset="0"/>
                <a:ea typeface="Courier New" pitchFamily="34" charset="-122"/>
                <a:cs typeface="Courier New" pitchFamily="34" charset="-120"/>
              </a:rPr>
              <a:t># temporary: nothing moves yet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ret</a:t>
            </a:r>
            <a:endParaRPr lang="en-US" sz="15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play_update still does nothing</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worm exists, and stands still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worm that stands still</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press A: a worm of three cells in row 12, columns 3 to 5, the head on the right</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food is now at a random cell: new_game calls place_food</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type the address of body_x in the Memory field: the first bytes are 03 04 05</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Find grid + 12 x 40 + 3: three bytes at 01 in a sea of zeros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Three green cells, the rightmost brighter; one red cell somewhere; nothing moves.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your update of Part 2</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last stub with this and the next slide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steering of Part 2, under a new name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buttons arrive in a0: no call to read them</a:t>
            </a:r>
            <a:endParaRPr lang="en-US" sz="1700" dirty="0"/>
          </a:p>
        </p:txBody>
      </p:sp>
      <p:sp>
        <p:nvSpPr>
          <p:cNvPr id="14" name="Shape 12"/>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3"/>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the timer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Exactly the timer of Part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whole cell accumulated: call step</a:t>
            </a:r>
            <a:endParaRPr lang="en-US" sz="1700" dirty="0"/>
          </a:p>
        </p:txBody>
      </p:sp>
      <p:sp>
        <p:nvSpPr>
          <p:cNvPr id="11" name="Shape 9"/>
          <p:cNvSpPr/>
          <p:nvPr/>
        </p:nvSpPr>
        <p:spPr>
          <a:xfrm>
            <a:off x="8944305" y="91440"/>
            <a:ext cx="2698750" cy="274320"/>
          </a:xfrm>
          <a:prstGeom prst="rect">
            <a:avLst/>
          </a:prstGeom>
          <a:solidFill>
            <a:srgbClr val="E0F2FE"/>
          </a:solidFill>
          <a:ln w="12700">
            <a:solidFill>
              <a:srgbClr val="0369A1"/>
            </a:solidFill>
            <a:prstDash val="solid"/>
          </a:ln>
        </p:spPr>
      </p:sp>
      <p:sp>
        <p:nvSpPr>
          <p:cNvPr id="12" name="Shape 10"/>
          <p:cNvSpPr/>
          <p:nvPr/>
        </p:nvSpPr>
        <p:spPr>
          <a:xfrm>
            <a:off x="894430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4" name="Text 11"/>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three registers to keep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s0, s1: the cell of the new head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s2: zero when the worm eats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They must survive place_food: s registers</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table lookup is that of Part 2</a:t>
            </a:r>
            <a:endParaRPr lang="en-US" sz="1600" dirty="0"/>
          </a:p>
        </p:txBody>
      </p:sp>
      <p:sp>
        <p:nvSpPr>
          <p:cNvPr id="17" name="Shape 15"/>
          <p:cNvSpPr/>
          <p:nvPr/>
        </p:nvSpPr>
        <p:spPr>
          <a:xfrm>
            <a:off x="7865821" y="91440"/>
            <a:ext cx="3777234" cy="274320"/>
          </a:xfrm>
          <a:prstGeom prst="rect">
            <a:avLst/>
          </a:prstGeom>
          <a:solidFill>
            <a:srgbClr val="FEF3C7"/>
          </a:solidFill>
          <a:ln w="12700">
            <a:solidFill>
              <a:srgbClr val="B45309"/>
            </a:solidFill>
            <a:prstDash val="solid"/>
          </a:ln>
        </p:spPr>
      </p:sp>
      <p:sp>
        <p:nvSpPr>
          <p:cNvPr id="18" name="Shape 16"/>
          <p:cNvSpPr/>
          <p:nvPr/>
        </p:nvSpPr>
        <p:spPr>
          <a:xfrm>
            <a:off x="7865821" y="91440"/>
            <a:ext cx="27432" cy="274320"/>
          </a:xfrm>
          <a:prstGeom prst="rect">
            <a:avLst/>
          </a:prstGeom>
          <a:solidFill>
            <a:srgbClr val="B45309"/>
          </a:solidFill>
          <a:ln w="12700">
            <a:solidFill>
              <a:srgbClr val="B45309"/>
            </a:solidFill>
            <a:prstDash val="solid"/>
          </a:ln>
        </p:spPr>
      </p:sp>
      <p:sp>
        <p:nvSpPr>
          <p:cNvPr id="19" name="Shape 17"/>
          <p:cNvSpPr/>
          <p:nvPr/>
        </p:nvSpPr>
        <p:spPr>
          <a:xfrm>
            <a:off x="7920685"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21" name="Text 18"/>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where will the head be?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head_i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t5, 0(t0)              </a:t>
            </a:r>
            <a:pPr indent="0" marL="0">
              <a:buNone/>
            </a:pPr>
            <a:r>
              <a:rPr lang="en-US" sz="1350" dirty="0">
                <a:solidFill>
                  <a:srgbClr val="8FB3A0"/>
                </a:solidFill>
                <a:latin typeface="Courier New" pitchFamily="34" charset="0"/>
                <a:ea typeface="Courier New" pitchFamily="34" charset="-122"/>
                <a:cs typeface="Courier New" pitchFamily="34" charset="-120"/>
              </a:rPr>
              <a:t># t5 = ring index of the head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body_x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s0, 0(t0)              </a:t>
            </a:r>
            <a:pPr indent="0" marL="0">
              <a:buNone/>
            </a:pPr>
            <a:r>
              <a:rPr lang="en-US" sz="1350" dirty="0">
                <a:solidFill>
                  <a:srgbClr val="8FB3A0"/>
                </a:solidFill>
                <a:latin typeface="Courier New" pitchFamily="34" charset="0"/>
                <a:ea typeface="Courier New" pitchFamily="34" charset="-122"/>
                <a:cs typeface="Courier New" pitchFamily="34" charset="-120"/>
              </a:rPr>
              <a:t># one byte: the column of the head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s0, s0, t2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bgez s0,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COLS-1             </a:t>
            </a:r>
            <a:pPr indent="0" marL="0">
              <a:buNone/>
            </a:pPr>
            <a:r>
              <a:rPr lang="en-US" sz="1350" dirty="0">
                <a:solidFill>
                  <a:srgbClr val="8FB3A0"/>
                </a:solidFill>
                <a:latin typeface="Courier New" pitchFamily="34" charset="0"/>
                <a:ea typeface="Courier New" pitchFamily="34" charset="-122"/>
                <a:cs typeface="Courier New" pitchFamily="34" charset="-120"/>
              </a:rPr>
              <a:t># off the left edge: wrap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s0, t4,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la   t0, body_y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s1,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s1, s1, t3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bgez s1, 3f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s1, ROWS-1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3:  li   t4, ROWS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s1, t4, 4f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s1,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4:</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present head is entry head_i of the ring</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byte each for column and row: lbu</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dx and dy, wrap as in Part 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Nothing is written yet: first we must look</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eat, or move the tail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xor  t1, t1,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t2,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xor  t2, t2, 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or   s2, t1, t2             </a:t>
            </a:r>
            <a:pPr indent="0" marL="0">
              <a:buNone/>
            </a:pPr>
            <a:r>
              <a:rPr lang="en-US" sz="1100" dirty="0">
                <a:solidFill>
                  <a:srgbClr val="8FB3A0"/>
                </a:solidFill>
                <a:latin typeface="Courier New" pitchFamily="34" charset="0"/>
                <a:ea typeface="Courier New" pitchFamily="34" charset="-122"/>
                <a:cs typeface="Courier New" pitchFamily="34" charset="-120"/>
              </a:rPr>
              <a:t># s2 = 0 if the new head is on the 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length</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s2, 5f                 </a:t>
            </a:r>
            <a:pPr indent="0" marL="0">
              <a:buNone/>
            </a:pPr>
            <a:r>
              <a:rPr lang="en-US" sz="1100" dirty="0">
                <a:solidFill>
                  <a:srgbClr val="8FB3A0"/>
                </a:solidFill>
                <a:latin typeface="Courier New" pitchFamily="34" charset="0"/>
                <a:ea typeface="Courier New" pitchFamily="34" charset="-122"/>
                <a:cs typeface="Courier New" pitchFamily="34" charset="-120"/>
              </a:rPr>
              <a:t># not eating: the tail moves on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t2, 255</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t1, t2, 5f             </a:t>
            </a:r>
            <a:pPr indent="0" marL="0">
              <a:buNone/>
            </a:pPr>
            <a:r>
              <a:rPr lang="en-US" sz="1100" dirty="0">
                <a:solidFill>
                  <a:srgbClr val="8FB3A0"/>
                </a:solidFill>
                <a:latin typeface="Courier New" pitchFamily="34" charset="0"/>
                <a:ea typeface="Courier New" pitchFamily="34" charset="-122"/>
                <a:cs typeface="Courier New" pitchFamily="34" charset="-120"/>
              </a:rPr>
              <a:t># the ring is full: no more growth</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              </a:t>
            </a:r>
            <a:pPr indent="0" marL="0">
              <a:buNone/>
            </a:pPr>
            <a:r>
              <a:rPr lang="en-US" sz="1100" dirty="0">
                <a:solidFill>
                  <a:srgbClr val="8FB3A0"/>
                </a:solidFill>
                <a:latin typeface="Courier New" pitchFamily="34" charset="0"/>
                <a:ea typeface="Courier New" pitchFamily="34" charset="-122"/>
                <a:cs typeface="Courier New" pitchFamily="34" charset="-120"/>
              </a:rPr>
              <a:t># eating: one cell longer, the tail stays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6f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5:  la   t0, head_i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t2,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sub  t2, t2,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t2, t2,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100" dirty="0">
                <a:solidFill>
                  <a:srgbClr val="8FB3A0"/>
                </a:solidFill>
                <a:latin typeface="Courier New" pitchFamily="34" charset="0"/>
                <a:ea typeface="Courier New" pitchFamily="34" charset="-122"/>
                <a:cs typeface="Courier New" pitchFamily="34" charset="-120"/>
              </a:rPr>
              <a:t># ring index of the tail</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t4, 0(t0)</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comparator of Part 2 leaves its result in s2</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Eating: length + 1, the tail stays where it is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Not eating: find the tail, entry head_i - length + 1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At 255 cells the worm stops growing</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free the tail, test the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 PLAY --&gt;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score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best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t2,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ble  t1, t2, 9f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a new best score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Byte number = row x 40 + column: mul and add</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Clear the tail's byte first, then test the head's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So the head may enter the cell the tail just left</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Occupied: the state becomes OVER, best is updated</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write the new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7:  li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t1, 0(t0)              </a:t>
            </a:r>
            <a:pPr indent="0" marL="0">
              <a:buNone/>
            </a:pPr>
            <a:r>
              <a:rPr lang="en-US" sz="1100" dirty="0">
                <a:solidFill>
                  <a:srgbClr val="8FB3A0"/>
                </a:solidFill>
                <a:latin typeface="Courier New" pitchFamily="34" charset="0"/>
                <a:ea typeface="Courier New" pitchFamily="34" charset="-122"/>
                <a:cs typeface="Courier New" pitchFamily="34" charset="-120"/>
              </a:rPr>
              <a:t># occupy the new cell</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head_i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100" dirty="0">
                <a:solidFill>
                  <a:srgbClr val="8FB3A0"/>
                </a:solidFill>
                <a:latin typeface="Courier New" pitchFamily="34" charset="0"/>
                <a:ea typeface="Courier New" pitchFamily="34" charset="-122"/>
                <a:cs typeface="Courier New" pitchFamily="34" charset="-120"/>
              </a:rPr>
              <a:t># the ring wraps after entry 255</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s0, 0(t0)              </a:t>
            </a:r>
            <a:pPr indent="0" marL="0">
              <a:buNone/>
            </a:pPr>
            <a:r>
              <a:rPr lang="en-US" sz="1100" dirty="0">
                <a:solidFill>
                  <a:srgbClr val="8FB3A0"/>
                </a:solidFill>
                <a:latin typeface="Courier New" pitchFamily="34" charset="0"/>
                <a:ea typeface="Courier New" pitchFamily="34" charset="-122"/>
                <a:cs typeface="Courier New" pitchFamily="34" charset="-120"/>
              </a:rPr>
              <a:t># write the new head into the ring</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s1,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s2, 9f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eat_sound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9:  lw   s2, 0(sp)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s1, 4(sp)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Mark the cell in the map: t0 still points to it</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head_i + 1, AND 255: the ring closes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Write column and row in the new entry</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If s2 is zero: a point, new food, a sound</a:t>
            </a:r>
            <a:endParaRPr lang="en-US" sz="16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place_food: not on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a cell at random, then look at the map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Occupied: draw again, until a free cell comes</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column waits in s0 during the second call</a:t>
            </a:r>
            <a:endParaRPr lang="en-US" sz="1700" dirty="0"/>
          </a:p>
        </p:txBody>
      </p:sp>
      <p:sp>
        <p:nvSpPr>
          <p:cNvPr id="14" name="Shape 12"/>
          <p:cNvSpPr/>
          <p:nvPr/>
        </p:nvSpPr>
        <p:spPr>
          <a:xfrm>
            <a:off x="7865821" y="91440"/>
            <a:ext cx="3777234" cy="274320"/>
          </a:xfrm>
          <a:prstGeom prst="rect">
            <a:avLst/>
          </a:prstGeom>
          <a:solidFill>
            <a:srgbClr val="FEF3C7"/>
          </a:solidFill>
          <a:ln w="12700">
            <a:solidFill>
              <a:srgbClr val="B45309"/>
            </a:solidFill>
            <a:prstDash val="solid"/>
          </a:ln>
        </p:spPr>
      </p:sp>
      <p:sp>
        <p:nvSpPr>
          <p:cNvPr id="15" name="Shape 13"/>
          <p:cNvSpPr/>
          <p:nvPr/>
        </p:nvSpPr>
        <p:spPr>
          <a:xfrm>
            <a:off x="7865821" y="91440"/>
            <a:ext cx="27432" cy="274320"/>
          </a:xfrm>
          <a:prstGeom prst="rect">
            <a:avLst/>
          </a:prstGeom>
          <a:solidFill>
            <a:srgbClr val="B45309"/>
          </a:solidFill>
          <a:ln w="12700">
            <a:solidFill>
              <a:srgbClr val="B45309"/>
            </a:solidFill>
            <a:prstDash val="solid"/>
          </a:ln>
        </p:spPr>
      </p:sp>
      <p:sp>
        <p:nvSpPr>
          <p:cNvPr id="16" name="Shape 14"/>
          <p:cNvSpPr/>
          <p:nvPr/>
        </p:nvSpPr>
        <p:spPr>
          <a:xfrm>
            <a:off x="7920685"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18" name="Text 15"/>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Verm1, Part 3</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3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After four meals: seven cells and four marks</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3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worm has bitten itself</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the worm follows the head and grows; turning into the body ends the game; A returns to the title, A again starts a new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Appendix: two functions that did not change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eat_sound and draw_cell are those of Part 2: keep them as they are</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are on the next two slides, so that this deck contains the whole program</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complete file is the sum of the slides marked NEW and CHANGED, plus these two</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eat_sound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note of 60 milliseconds, as in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Column, row and colour in; one rectangle out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title screen; after A, a worm of three cells that grows by one at every meal; biting the body ends the game, and A returns to the title.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p3_play.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Walls: the worm dies when it leaves the screen instead of wrapping</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Start with a worm of five cells; then let the length at the start depend on the best score</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Poison: a second, blue cell that makes the worm one cell shorter</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game-over screen show the best score as marks on the second line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touches one or two functions. Keep a copy of the working Part 3: Part 4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3: A Body, Rules and States: the code</dc:title>
  <dc:subject>Lecture 17</dc:subject>
  <dc:creator>Raffaele Montella</dc:creator>
  <cp:lastModifiedBy>Raffaele Montella</cp:lastModifiedBy>
  <cp:revision>1</cp:revision>
  <dcterms:created xsi:type="dcterms:W3CDTF">2026-10-17T07:16:49Z</dcterms:created>
  <dcterms:modified xsi:type="dcterms:W3CDTF">2026-10-17T07:16:49Z</dcterms:modified>
</cp:coreProperties>
</file>