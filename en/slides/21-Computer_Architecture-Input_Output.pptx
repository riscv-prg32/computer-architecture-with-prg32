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30ea9a-5c27-8941-71b2-dd9a14af3181}">
          <p14:sldIdLst>
            <p14:sldId id="256"/>
            <p14:sldId id="257"/>
          </p14:sldIdLst>
        </p14:section>
        <p14:section name="Displays" id="{312a755d-af97-5213-c630-5f38b32402db}">
          <p14:sldIdLst>
            <p14:sldId id="258"/>
            <p14:sldId id="259"/>
            <p14:sldId id="260"/>
            <p14:sldId id="261"/>
            <p14:sldId id="262"/>
            <p14:sldId id="263"/>
          </p14:sldIdLst>
        </p14:section>
        <p14:section name="Keyboard and mouse" id="{e931182a-ce90-ede6-24bc-d50980a0c7d2}">
          <p14:sldIdLst>
            <p14:sldId id="264"/>
            <p14:sldId id="265"/>
            <p14:sldId id="266"/>
            <p14:sldId id="267"/>
          </p14:sldIdLst>
        </p14:section>
        <p14:section name="Printers" id="{111e3845-89f0-68da-5b14-1bec70169541}">
          <p14:sldIdLst>
            <p14:sldId id="268"/>
            <p14:sldId id="269"/>
          </p14:sldIdLst>
        </p14:section>
        <p14:section name="Back to the machine" id="{6278e474-0670-108e-2088-de2ccfb0b5c3}">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concerns the boundary between the machine and the world: the devices through which information enters and leaves. It shows how an image is formed on a screen, what happens between a key and the processor, what a mouse communicates, and how a laser printer works. The unifying thread is that each of these devices is internally composed of machines already designed in this course, encoders, counters, shift registers and controllers. The lecture begins and ends on the kit, with the device used since the first laboratory session: a button.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how an image is formed on a cathode-ray tube and on a liquid-crystal display, and what an active matrix adds. Explaining the path of a key press: matrix, encoder, shift register, serial interface. Stating what a mouse sends to the computer and how often. Describing the stages of laser printing. And explaining how the kit reads its joystick, comparing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at its own intensity; an image is composed by turning pixels on and off. The earliest displays showed only characters, in black and white. The density of the pixels determines the resolution, and the bits per pixel the number of colours, from 256 to sixteen million and beyond. The size of a display is the length of its diagonal, in inches. The display of the kit measures 2.8 inches, with 320 by 240 pixels.
UNDERSTAND NOW: CRT and LCD displays.
For the lecturer: The display of the PRG32 kit: 2.8 inches, 320 by 240 pixels, 65,536 colours.
Pictures: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began as a laboratory instrument with Crookes in the 1870s; Braun turned it into an oscilloscope in 1897, its first practical application; Rosing in 1907 used it to display shapes from a received signal, the origin of television; and in 1934 the first television receiver with a CRT reached the market. From the 1970s to the 1990s it was the display of every terminal and personal computer.
UNDERSTAND NOW: CRT and LCD displays.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 of a CRT. A cathode, heated to incandescence, emits electrons. A high voltage between cathode and anode accelerates them into a beam, which further fields focus. Magnetic or electric fields deflect the beam, which strikes a point of the screen; the inner surface is coated with phosphor, and the point emits light. By sweeping the beam line by line, many times per second, the whole image is painted before the eye perceives that the first points have faded, a reliance on the persistence of vision.
UNDERSTAND NOW: CRT and LCD displays.
For the lecturer: The original schematic had Italian labels: grid, anode, deflection coil, heater, cathode, beam, focusing coil, fluorescent screen.
Pictures: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Liquid-crystal displays have replaced the tube almost everywhere, offering a better image, less bulk, weight and power consumption, and less eye strain. Liquid crystals are organic molecules that flow like a liquid yet retain an ordered structure. An electric field alters their orientation, and with it the way they rotate the polarisation of the light passing through them. The image on the last line is apt: a crystal is a valve for light, opened and closed by a voltage.
UNDERSTAND NOW: CRT and LCD displays.
For the lecturer: LCD: liquid crystal display.
Pictures: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panel contains many cells, each with its contacts, placed between two polarising filters with perpendicular axes, with a light source behind. When the crystals of a cell are not driven they rotate the light, which then passes the front filter; when they are driven the light is blocked. In a colour screen each cell is subdivided into three, with red, green and blue filters: these are the sub-pixels visible in the photograph, and the three fields of an RGB colour, from Lecture 04, end up there as three voltages.
UNDERSTAND NOW: CRT and LCD displays.
For the lecturer: Three sub-pixels per pixel: the R, G and B fields of the RGB565 colour of Lecture 04 end up here, as three voltages.
Pictures: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an approach impossible at the scale of a screen. A passive matrix has contacts per row and per column: only one pixel at a time is driven, and the others must retain their state unaided, which they do poorly, producing trails and crosstalk. An active matrix places a transistor in every cell, in a thin film on the glass, and the transistor holds the state of its pixel while the others are updated. This is TFT, the technology of the display of the kit; the transistor acts as a one-pixel memory, an idea recognisable from Lecture 13.
UNDERSTAND NOW: CRT and LCD displays.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principal device for entering characters. Its keys are grouped into alphanumeric keys, special keys, arrows and function keys. One fact, already met in the previous lecture, deserves repetition: keyboard and display are not connected to each other. When a typed letter appears on the screen, it is because a program has read a code from the keyboard and drawn a character. Today keyboards are connected by USB or by radio.
UNDERSTAND NOW: keyboard and mouse.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so that pressing D closes one crossing. An encoder converts the combination of row and column into an n-bit code. A shift register converts those n parallel bits into n serial bits. A serial interface, for instance a USB controller, delivers the code to the system bus and raises an interrupt. The encoder is that of Lecture 11 and the shift register that of Lecture 14: every block on this slide has already been designed in the course.
UNDERSTAND NOW: keyboard and mouse.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cable emerging from the back, like a tail. The two wheels measured movement along the two axes. In the mechanical mouse a ball turns two rollers, each connected to a counter. In the optical mouse a light source and a tiny camera observe the surface beneath and measure its displacement. In every case movement is converted into two numbers.
UNDERSTAND NOW: keyboard and mouse.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transmits. Each time it moves by a minimum distance, about a hundredth of an inch, it sends three bytes: the displacement along x since the last report, the displacement along y, and the state of the buttons. It sends displacements, not positions: the program maintains the position of the pointer by accumulating them. Internally, as shown on the right, there are two counters, a shift register and a serial interface. The software that communicates with the device is its device driver.
UNDERSTAND NOW: keyboard and mouse.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characterised by its speed, in lines or pages per minute, and by its resolution, in dots per inch. The technologies, in historical order: daisy-wheel and chain printers, which struck whole characters and are now obsolete; dot-matrix printers, in which needles strike an inked ribbon; ink-jet printers, which project tiny droplets; and laser printers. A printer is itself a small computer, with its own processor, memory and firmware.
UNDERSTAND NOW: printers.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deflected by a rotating mirror, scans the drum along its length, switched on and off to draw one line of points, and the points it strikes lose their charge. The toner is attracted by the points that remain charged. The drum is pressed against the paper and transfers the toner, which heated rollers then fuse. The page exists first as a bitmap in the printer's memory, so printing is, at bottom, another frame buffer read out line by line.
UNDERSTAND NOW: printers.
For the lecturer: Three slides of the original are merged. The page is first built as a bitmap in the printer's memory: a frame buffer for paper.
Pictures: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through which a cartridge uses it. The joystick and buttons are inputs, one switch per pin. The display is an output on an SPI bus. The amplifier with its speaker is an output on an I2S bus. The Wi-Fi radio and the USB port operate in both directions. None of these connections has ever been touched directly by a cartridge: the runtime manages them and offers functions, an abstraction whose value this lecture makes clear.
UNDERSTAND NOW: polling, interrupts, DMA.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of dealing with a device. Polling: the program repeatedly asks the device whether it has something; simple, and wasteful when nothing happens. Interrupts: the device requests attention when it needs it, as in Lecture 19. Direct memory access: the device exchanges whole blocks of data with memory by itself, and the processor is notified only on completion. All three are at work on the kit: the joystick is polled, the timer interrupts, and the display and the sound are fed by DMA. The choice among them balances simplicity, responsiveness and processor time.
UNDERSTAND NOW: polling, interrupts,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considers the diagram of the key press: what enters the encoder, and what leaves it?
For the second, one recalls the photograph of the pixels under magnification and counts how many coloured elements form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answer lies in what a passive matrix lacks: an element in each cell that retains its state while the others are driven.
For the second, the question is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such as the mouse, that indicates a position. Dot-matrix and ink-jet printers are ad aghi and a getto d'inchiostro. Polling is interrogazione ciclica, though the English term prevails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progressed from an electron beam to a transistor behind every pixel. Keyboard, mouse and printer have changed little externally, and internally consist of encoders, counters and shift registers. A device reaches the processor through a controller and a bus, and is serviced by polling, interrupts or DMA. And on the kit the entire chain, from a switch to a pixel, can be followed instruction by instruction. The last part of Verm1 follows.
Learning status, recap. UNDERSTAND NOW: polling, interrupts, DMA; CRT and LCD displays; keyboard and mouse; printers. USE NOW: the complete program, the PRG32 tools (used, not studied, in this course). UNDERSTAND LATER: nothing. A slide without a badge is context: a story, an example, a question, an exercise.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17"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20"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39" name="Shape 37"/>
          <p:cNvSpPr/>
          <p:nvPr/>
        </p:nvSpPr>
        <p:spPr>
          <a:xfrm>
            <a:off x="8484692" y="91440"/>
            <a:ext cx="3158363" cy="274320"/>
          </a:xfrm>
          <a:prstGeom prst="rect">
            <a:avLst/>
          </a:prstGeom>
          <a:solidFill>
            <a:srgbClr val="E0F2FE"/>
          </a:solidFill>
          <a:ln w="12700">
            <a:solidFill>
              <a:srgbClr val="0369A1"/>
            </a:solidFill>
            <a:prstDash val="solid"/>
          </a:ln>
        </p:spPr>
      </p:sp>
      <p:sp>
        <p:nvSpPr>
          <p:cNvPr id="40" name="Shape 38"/>
          <p:cNvSpPr/>
          <p:nvPr/>
        </p:nvSpPr>
        <p:spPr>
          <a:xfrm>
            <a:off x="8484692"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42" name="Text 3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1" name="Shape 19"/>
          <p:cNvSpPr/>
          <p:nvPr/>
        </p:nvSpPr>
        <p:spPr>
          <a:xfrm>
            <a:off x="8484692" y="91440"/>
            <a:ext cx="3158363" cy="274320"/>
          </a:xfrm>
          <a:prstGeom prst="rect">
            <a:avLst/>
          </a:prstGeom>
          <a:solidFill>
            <a:srgbClr val="E0F2FE"/>
          </a:solidFill>
          <a:ln w="12700">
            <a:solidFill>
              <a:srgbClr val="0369A1"/>
            </a:solidFill>
            <a:prstDash val="solid"/>
          </a:ln>
        </p:spPr>
      </p:sp>
      <p:sp>
        <p:nvSpPr>
          <p:cNvPr id="22" name="Shape 20"/>
          <p:cNvSpPr/>
          <p:nvPr/>
        </p:nvSpPr>
        <p:spPr>
          <a:xfrm>
            <a:off x="8484692"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4" name="Text 2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13" name="Shape 11"/>
          <p:cNvSpPr/>
          <p:nvPr/>
        </p:nvSpPr>
        <p:spPr>
          <a:xfrm>
            <a:off x="9141282" y="91440"/>
            <a:ext cx="2501773" cy="274320"/>
          </a:xfrm>
          <a:prstGeom prst="rect">
            <a:avLst/>
          </a:prstGeom>
          <a:solidFill>
            <a:srgbClr val="E0F2FE"/>
          </a:solidFill>
          <a:ln w="12700">
            <a:solidFill>
              <a:srgbClr val="0369A1"/>
            </a:solidFill>
            <a:prstDash val="solid"/>
          </a:ln>
        </p:spPr>
      </p:sp>
      <p:sp>
        <p:nvSpPr>
          <p:cNvPr id="14" name="Shape 12"/>
          <p:cNvSpPr/>
          <p:nvPr/>
        </p:nvSpPr>
        <p:spPr>
          <a:xfrm>
            <a:off x="914128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269298" y="128016"/>
            <a:ext cx="201168" cy="201168"/>
          </a:xfrm>
          <a:prstGeom prst="rect">
            <a:avLst/>
          </a:prstGeom>
        </p:spPr>
      </p:pic>
      <p:sp>
        <p:nvSpPr>
          <p:cNvPr id="16" name="Text 13"/>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laser writes the page on the drum, line by line</a:t>
            </a:r>
            <a:endParaRPr lang="en-US" sz="1200" dirty="0"/>
          </a:p>
        </p:txBody>
      </p:sp>
      <p:sp>
        <p:nvSpPr>
          <p:cNvPr id="17" name="Shape 14"/>
          <p:cNvSpPr/>
          <p:nvPr/>
        </p:nvSpPr>
        <p:spPr>
          <a:xfrm>
            <a:off x="9141282" y="91440"/>
            <a:ext cx="2501773" cy="274320"/>
          </a:xfrm>
          <a:prstGeom prst="rect">
            <a:avLst/>
          </a:prstGeom>
          <a:solidFill>
            <a:srgbClr val="E0F2FE"/>
          </a:solidFill>
          <a:ln w="12700">
            <a:solidFill>
              <a:srgbClr val="0369A1"/>
            </a:solidFill>
            <a:prstDash val="solid"/>
          </a:ln>
        </p:spPr>
      </p:sp>
      <p:sp>
        <p:nvSpPr>
          <p:cNvPr id="18" name="Shape 15"/>
          <p:cNvSpPr/>
          <p:nvPr/>
        </p:nvSpPr>
        <p:spPr>
          <a:xfrm>
            <a:off x="9141282"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9269298" y="128016"/>
            <a:ext cx="201168" cy="201168"/>
          </a:xfrm>
          <a:prstGeom prst="rect">
            <a:avLst/>
          </a:prstGeom>
        </p:spPr>
      </p:pic>
      <p:sp>
        <p:nvSpPr>
          <p:cNvPr id="20" name="Text 16"/>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15" name="Shape 13"/>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4"/>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8" name="Text 15"/>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2026-10-16T23:36:44Z</dcterms:created>
  <dcterms:modified xsi:type="dcterms:W3CDTF">2026-10-16T23:36:44Z</dcterms:modified>
</cp:coreProperties>
</file>