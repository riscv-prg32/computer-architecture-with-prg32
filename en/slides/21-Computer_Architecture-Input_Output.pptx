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9cea5f-6e3f-f2e8-07b3-763ae95842d9}">
          <p14:sldIdLst>
            <p14:sldId id="256"/>
            <p14:sldId id="257"/>
          </p14:sldIdLst>
        </p14:section>
        <p14:section name="Displays" id="{84beca7a-0742-8b61-e28f-015863237e51}">
          <p14:sldIdLst>
            <p14:sldId id="258"/>
            <p14:sldId id="259"/>
            <p14:sldId id="260"/>
            <p14:sldId id="261"/>
            <p14:sldId id="262"/>
            <p14:sldId id="263"/>
          </p14:sldIdLst>
        </p14:section>
        <p14:section name="Keyboard and mouse" id="{2bbbfd63-2061-2a60-8381-afa5bd91b091}">
          <p14:sldIdLst>
            <p14:sldId id="264"/>
            <p14:sldId id="265"/>
            <p14:sldId id="266"/>
            <p14:sldId id="267"/>
          </p14:sldIdLst>
        </p14:section>
        <p14:section name="Printers" id="{5f7618a9-58fc-ccbf-0f81-8b112bcee28e}">
          <p14:sldIdLst>
            <p14:sldId id="268"/>
            <p14:sldId id="269"/>
          </p14:sldIdLst>
        </p14:section>
        <p14:section name="Back to the machine" id="{ef35eebe-66b1-ffb4-de8b-42171dd464d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concerns the boundary between the machine and the world: the devices through which information enters and leaves. It shows how an image is formed on a screen, what happens between a key and the processor, what a mouse communicates, and how a laser printer works. The unifying thread is that each of these devices is internally composed of machines already designed in this course, encoders, counters, shift registers and controllers. The lecture begins and ends on the kit, with the device used since the first laboratory session: a button.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polling, interrupts, DMA; CRT and LCD displays; keyboard and mouse; printers. USE NOW: the complete program, the PRG32 tools (used, not studied, in this course). UNDERSTAND LATER: nothing. A slide without a badge is context: a story, an example, a question, an exercise.
Roadmap. Today's outcomes: (1) describe how displays, keyboards and printers work; (2) compare polling with interrupts for reading a device. Builds on: only what Lecture 01 set up. Next: Lecture 22, Verm1, Part 4: The Finished Game.
For the lecturer: Spiral: the students have read the joystick since the first labs; the lecture opens by asking what is behind prg32_input_read, then covers the classic devices and the three ways a processor can deal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how an image is formed on a cathode-ray tube and on a liquid-crystal display, and what an active matrix adds. Explaining the path of a key press: matrix, encoder, shift register, serial interface. Stating what a mouse sends to the computer and how often. Describing the stages of laser printing. And explaining how the kit reads its joystick, comparing three techniques: polling, interrupts and direct memory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graphical display is a matrix of points, the pixels, each lit at its own intensity; an image is composed by turning pixels on and off. The earliest displays showed only characters, in black and white. The density of the pixels determines the resolution, and the bits per pixel the number of colours, from 256 to sixteen million and beyond. The size of a display is the length of its diagonal, in inches. The display of the kit measures 2.8 inches, with 320 by 240 pixels.
UNDERSTAND NOW: CRT and LCD displays.
For the lecturer: The display of the PRG32 kit: 2.8 inches, 320 by 240 pixels, 65,536 colours.
Pictures: Macintosh 128k transparency.png, Grm wnr,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cathode-ray tube has a history of more than a century. It began as a laboratory instrument with Crookes in the 1870s; Braun turned it into an oscilloscope in 1897, its first practical application; Rosing in 1907 used it to display shapes from a received signal, the origin of television; and in 1934 the first television receiver with a CRT reached the market. From the 1970s to the 1990s it was the display of every terminal and personal computer.
UNDERSTAND NOW: CRT and LCD displays.
For the lecturer: The last row summarises the era the original deck illustrated with pictures of an oscilloscope and of the Asteroids arcade cabinet (a vector display driven by a 6502).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 of a CRT. A cathode, heated to incandescence, emits electrons. A high voltage between cathode and anode accelerates them into a beam, which further fields focus. Magnetic or electric fields deflect the beam, which strikes a point of the screen; the inner surface is coated with phosphor, and the point emits light. By sweeping the beam line by line, many times per second, the whole image is painted before the eye perceives that the first points have faded, a reliance on the persistence of vision.
UNDERSTAND NOW: CRT and LCD displays.
For the lecturer: The original schematic had Italian labels: grid, anode, deflection coil, heater, cathode, beam, focusing coil, fluorescent screen.
Pictures: Tennis For Two on a DuMont Lab Oscilloscope Type 304-A.jpg, Brookhaven National Laboratory,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Liquid-crystal displays have replaced the tube almost everywhere, offering a better image, less bulk, weight and power consumption, and less eye strain. Liquid crystals are organic molecules that flow like a liquid yet retain an ordered structure. An electric field alters their orientation, and with it the way they rotate the polarisation of the light passing through them. The image on the last line is apt: a crystal is a valve for light, opened and closed by a voltage.
UNDERSTAND NOW: CRT and LCD displays.
For the lecturer: LCD: liquid crystal display.
Pictures: TN-LCD-schematic-MS-208kB.png, see the file page,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panel contains many cells, each with its contacts, placed between two polarising filters with perpendicular axes, with a light source behind. When the crystals of a cell are not driven they rotate the light, which then passes the front filter; when they are driven the light is blocked. In a colour screen each cell is subdivided into three, with red, green and blue filters: these are the sub-pixels visible in the photograph, and the three fields of an RGB colour, from Lecture 04, end up there as three voltages.
UNDERSTAND NOW: CRT and LCD displays.
For the lecturer: Three sub-pixels per pixel: the R, G and B fields of the RGB565 colour of Lecture 04 end up here, as three voltages.
Pictures: Subpixel rendering LCD photo 3e composite.jpg, ALexL33,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are millions of cells driven? A calculator has one contact per segment, an approach impossible at the scale of a screen. A passive matrix has contacts per row and per column: only one pixel at a time is driven, and the others must retain their state unaided, which they do poorly, producing trails and crosstalk. An active matrix places a transistor in every cell, in a thin film on the glass, and the transistor holds the state of its pixel while the others are updated. This is TFT, the technology of the display of the kit; the transistor acts as a one-pixel memory, an idea recognisable from Lecture 13.
UNDERSTAND NOW: CRT and LCD displays.
For the lecturer: TFT: thin-film transistor. The display of the kit is a TFT panel with an ILI9341 controller. New since the original deck: OLED displays, in which each pixel emits its own light and no backlight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keyboard derives from that of the typewriter and is the principal device for entering characters. Its keys are grouped into alphanumeric keys, special keys, arrows and function keys. One fact, already met in the previous lecture, deserves repetition: keyboard and display are not connected to each other. When a typed letter appears on the screen, it is because a program has read a code from the keyboard and drawn a character. Today keyboards are connected by USB or by radio.
UNDERSTAND NOW: keyboard and mouse.
For the lecturer: PS/2 was the standard connector before USB. The echo of a key on the screen is a program: read a code, draw a character.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key press, from left to right. The keys are switches arranged in rows and columns, so that pressing D closes one crossing. An encoder converts the combination of row and column into an n-bit code. A shift register converts those n parallel bits into n serial bits. A serial interface, for instance a USB controller, delivers the code to the system bus and raises an interrupt. The encoder is that of Lecture 11 and the shift register that of Lecture 14: every block on this slide has already been designed in the course.
UNDERSTAND NOW: keyboard and mouse.
For the lecturer: Every block of this slide is a machine the students have already designed: this is the pay-off of Lectures 11 to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mouse was invented in the 1960s by Douglas Engelbart: a wooden box with two wheels underneath and a cable emerging from the back, like a tail. The two wheels measured movement along the two axes. In the mechanical mouse a ball turns two rollers, each connected to a counter. In the optical mouse a light source and a tiny camera observe the surface beneath and measure its displacement. In every case movement is converted into two numbers.
UNDERSTAND NOW: keyboard and mouse.
For the lecturer: The original deck dates the mouse to 1967, the year the patent was filed; the first prototype is of 1964 and the famous public demonstration of 1968. Counters: the sequential machines of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mouse transmits. Each time it moves by a minimum distance, about a hundredth of an inch, it sends three bytes: the displacement along x since the last report, the displacement along y, and the state of the buttons. It sends displacements, not positions: the program maintains the position of the pointer by accumulating them. Internally, as shown on the right, there are two counters, a shift register and a serial interface. The software that communicates with the device is its device driver.
UNDERSTAND NOW: keyboard and mouse.
For the lecturer: The original deck says the first byte reports the movement 'in the last 100 milliseconds'; modern mice report up to a thousand times per second. The signed movement bytes are two's complement numbers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printer is characterised by its speed, in lines or pages per minute, and by its resolution, in dots per inch. The technologies, in historical order: daisy-wheel and chain printers, which struck whole characters and are now obsolete; dot-matrix printers, in which needles strike an inked ribbon; ink-jet printers, which project tiny droplets; and laser printers. A printer is itself a small computer, with its own processor, memory and firmware.
UNDERSTAND NOW: printers.
For the lecturer: Stampante a margherita, a catena, ad aghi, a getto di inchiostro, laser.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printer derives from the photocopier. A drum is charged to about a thousand volts. A laser beam, deflected by a rotating mirror, scans the drum along its length, switched on and off to draw one line of points, and the points it strikes lose their charge. The toner is attracted by the points that remain charged. The drum is pressed against the paper and transfers the toner, which heated rollers then fuse. The page exists first as a bitmap in the printer's memory, so printing is, at bottom, another frame buffer read out line by line.
UNDERSTAND NOW: printers.
For the lecturer: Three slides of the original are merged. The page is first built as a bitmap in the printer's memory: a frame buffer for paper.
Pictures: Laser printer-Writing.svg, DMahalko, traced by Stannered, CC BY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of the kit in a table: for each, the direction, the connection and the functions through which a cartridge uses it. The joystick and buttons are inputs, one switch per pin. The display is an output on an SPI bus. The amplifier with its speaker is an output on an I2S bus. The Wi-Fi radio and the USB port operate in both directions. None of these connections has ever been touched directly by a cartridge: the runtime manages them and offers functions, an abstraction whose value this lecture makes clear.
UNDERSTAND NOW: polling, interrupts, DMA.
For the lecturer: Hardware from the PRG32 README and docs/hardware. A switch bounces for a few milliseconds when pressed; sampling it once per frame, every few tens of milliseconds, hides the bounce.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of dealing with a device. Polling: the program repeatedly asks the device whether it has something; simple, and wasteful when nothing happens. Interrupts: the device requests attention when it needs it, as in Lecture 19. Direct memory access: the device exchanges whole blocks of data with memory by itself, and the processor is notified only on completion. All three are at work on the kit: the joystick is polled, the timer interrupts, and the display and the sound are fed by DMA. The choice among them balances simplicity, responsiveness and processor time.
UNDERSTAND NOW: polling, interrupts, DMA.
For the lecturer: Programmed I/O, interrupt-driven I/O and DMA. On the kit all three are at work: your game polls the joystick, the timer that paces the frames interrupts, the display and the sound are fed by DMA.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considers the diagram of the key press: what enters the encoder, and what leaves it?
For the second, one recalls the photograph of the pixels under magnification and counts how many coloured elements form one pixel.
For the lecturer: 1. Answer: B. From a decoded position in the key matrix to a compact n-bit code, as the encoder of Lecture 11.
2. Answer: B. Three sub-pixels, each a liquid crystal cell behind a colour filter; a TFT in each stores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answer lies in what a passive matrix lacks: an element in each cell that retains its state while the others are driven.
For the second, the question is who takes the initiative, the program or the device. In the warm-up it is the program, once per frame.
For the lecturer: 1. Answer: B. Persistence: without a transistor per pixel, the cells respond slowly and keep their state badly while the others are scanned.
2. Answer: C. The program asks the device periodically. With interrupts the device would call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cathode-ray tube is a tubo a raggi catodici; the backlight is the retroilluminazione. A pointing device is any device, such as the mouse, that indicates a position. Dot-matrix and ink-jet printers are ad aghi and a getto d'inchiostro. Polling is interrogazione ciclica, though the English term prevails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computers. Display technology has progressed from an electron beam to a transistor behind every pixel. Keyboard, mouse and printer have changed little externally, and internally consist of encoders, counters and shift registers. A device reaches the processor through a controller and a bus, and is serviced by polling, interrupts or DMA. And on the kit the entire chain, from a switch to a pixel, can be followed instruction by instruction. The last part of Verm1 follows.
Learning status, recap. UNDERSTAND NOW: polling, interrupts, DMA; CRT and LCD displays; keyboard and mouse; printers. USE NOW: the complete program, the PRG32 tools (used, not studied, in this course). UNDERSTAND LATER: nothing. A slide without a badge is context: a story, an example, a question, an exercise. Closing thread: Reading the joystick once per frame is polling: simple, and blind between two reads. Next: the finished game. Exit ticket (two to four minutes, alone, on paper): 1. In four steps, how does a laser printer turn a page into toner on paper? Why does a printer have a processor and memory of its own? 2. A game reads the joystick once per frame, at 30 frames per second. A tap lasts 20 ms and falls between two reads. Is it seen? What would an interrupt change?
For the lecturer: Next: Verm1, part 4: the finished game. Then its publication on the Cartridge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21: Input and output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Input and Output</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Displays, keyboards, mice and printers: how the machine meets the world, and how a program reads a button</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“Need input!”</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Number 5, in the film Short Circuit, John Badham, 1986</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21-Computer_Architecture-Input_Output-Lab.pptx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 picture is formed on a CRT and on an LCD, and what a TFT active matrix adds</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path of a key press: matrix, encoder, shift register, serial interface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mouse sends to the computer and how often</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stages of laser printing</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the PRG32 kit reads its joystick, and compare polling, interrupts and DMA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video: an introduction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first mostly character displays in black and white; today graphical and in colour</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graphical display is a matrix of points, the pixels, each lit with a different intensity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image is composed by switching the pixels on and off</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different density of pixels gives a different resolution; colours go from 256 (8 bits) to 16 million (24 bits) and beyond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size is measured in inches along the diagonal: a 14-inch display has a diagonal of 14 inches</a:t>
            </a:r>
            <a:endParaRPr lang="en-US" sz="2200" dirty="0"/>
          </a:p>
        </p:txBody>
      </p:sp>
      <p:pic>
        <p:nvPicPr>
          <p:cNvPr id="13" name="Image 0" descr="/Users/raffaelemontella/devel/riscv-prg32/computer-architecture-with-prg32/tools/assets/mac_classic.jpg">    </p:cNvPr>
          <p:cNvPicPr>
            <a:picLocks noChangeAspect="1"/>
          </p:cNvPicPr>
          <p:nvPr/>
        </p:nvPicPr>
        <p:blipFill>
          <a:blip r:embed="rId1"/>
          <a:stretch>
            <a:fillRect/>
          </a:stretch>
        </p:blipFill>
        <p:spPr>
          <a:xfrm>
            <a:off x="7920917" y="1417320"/>
            <a:ext cx="3665062"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compact Macintosh: a 9-inch black-and-white CRT</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cathode-ray tube: a short history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728135"/>
                <a:gridCol w="672939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early 1870s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William Crookes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Crookes tube: the first cathode-ray tube, a laboratory instrument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1897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Karl Ferdinand Braun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Braun tube and the first cathode-ray oscilloscope: the first practical application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1907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Boris Rosing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CRT displays simple geometric shapes from a received video signal: the root of television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1934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Telefunken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first television set with a CRT on the market, in Germany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1970s-1990s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computer industry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CRT monitor: the display of every terminal and personal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CRT works</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cathode is a small metal element heated to incandescence, which emits electrons by the thermionic effect</a:t>
            </a:r>
            <a:endParaRPr lang="en-US" sz="1900" dirty="0"/>
          </a:p>
        </p:txBody>
      </p:sp>
      <p:sp>
        <p:nvSpPr>
          <p:cNvPr id="5" name="Shape 3"/>
          <p:cNvSpPr/>
          <p:nvPr/>
        </p:nvSpPr>
        <p:spPr>
          <a:xfrm>
            <a:off x="548640" y="2521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845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Inside the tube the electrons are directed into a beam by a high potential difference between cathode and anode</a:t>
            </a:r>
            <a:endParaRPr lang="en-US" sz="1900" dirty="0"/>
          </a:p>
        </p:txBody>
      </p:sp>
      <p:sp>
        <p:nvSpPr>
          <p:cNvPr id="7" name="Shape 5"/>
          <p:cNvSpPr/>
          <p:nvPr/>
        </p:nvSpPr>
        <p:spPr>
          <a:xfrm>
            <a:off x="548640" y="354276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9582"/>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Other electromagnetic fields focus the beam</a:t>
            </a:r>
            <a:endParaRPr lang="en-US" sz="1900" dirty="0"/>
          </a:p>
        </p:txBody>
      </p:sp>
      <p:sp>
        <p:nvSpPr>
          <p:cNvPr id="9" name="Shape 7"/>
          <p:cNvSpPr/>
          <p:nvPr/>
        </p:nvSpPr>
        <p:spPr>
          <a:xfrm>
            <a:off x="548640" y="39751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9194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beam, the electron brush, is deflected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by magnetic fields (the Lorentz force), or by electric fields</a:t>
            </a:r>
            <a:endParaRPr lang="en-US" sz="1900" dirty="0"/>
          </a:p>
        </p:txBody>
      </p:sp>
      <p:sp>
        <p:nvSpPr>
          <p:cNvPr id="11" name="Shape 9"/>
          <p:cNvSpPr/>
          <p:nvPr/>
        </p:nvSpPr>
        <p:spPr>
          <a:xfrm>
            <a:off x="548640" y="493986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56683"/>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strikes a point on the inner surface of the screen, coated with phosphor, which lights up</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Sweeping the beam line by line, many times per second, paints the picture</a:t>
            </a:r>
            <a:endParaRPr lang="en-US" sz="1900" dirty="0"/>
          </a:p>
        </p:txBody>
      </p:sp>
      <p:pic>
        <p:nvPicPr>
          <p:cNvPr id="15" name="Image 0" descr="/Users/raffaelemontella/devel/riscv-prg32/computer-architecture-with-prg32/tools/assets/crt_scope.jpg">    </p:cNvPr>
          <p:cNvPicPr>
            <a:picLocks noChangeAspect="1"/>
          </p:cNvPicPr>
          <p:nvPr/>
        </p:nvPicPr>
        <p:blipFill>
          <a:blip r:embed="rId1"/>
          <a:stretch>
            <a:fillRect/>
          </a:stretch>
        </p:blipFill>
        <p:spPr>
          <a:xfrm>
            <a:off x="7863840" y="1888296"/>
            <a:ext cx="3779215" cy="3355729"/>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cathode-ray oscilloscope used as a display</a:t>
            </a:r>
            <a:endParaRPr lang="en-US" sz="1200" dirty="0"/>
          </a:p>
        </p:txBody>
      </p:sp>
      <p:sp>
        <p:nvSpPr>
          <p:cNvPr id="17"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20"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Liquid crystal displays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LCD monitors have almost completely replaced the cathode-ray tube</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Advantages: a better picture; less bulk, weight and power; less eye strain</a:t>
            </a:r>
            <a:endParaRPr lang="en-US" sz="2100" dirty="0"/>
          </a:p>
        </p:txBody>
      </p:sp>
      <p:sp>
        <p:nvSpPr>
          <p:cNvPr id="7" name="Shape 5"/>
          <p:cNvSpPr/>
          <p:nvPr/>
        </p:nvSpPr>
        <p:spPr>
          <a:xfrm>
            <a:off x="548640" y="3080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13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Liquid crystals are viscous organic molecules that flow like a liquid but have a spatial structure</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electric field changes the orientation of the molecules, and with it the optical properties of the crystal: the angle of polarisation of the light that crosses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crystal is a valve for light, opened and closed by a voltage</a:t>
            </a:r>
            <a:endParaRPr lang="en-US" sz="2100" dirty="0"/>
          </a:p>
        </p:txBody>
      </p:sp>
      <p:pic>
        <p:nvPicPr>
          <p:cNvPr id="13" name="Image 0" descr="/Users/raffaelemontella/devel/riscv-prg32/computer-architecture-with-prg32/tools/assets/lcd_layers.jpg">    </p:cNvPr>
          <p:cNvPicPr>
            <a:picLocks noChangeAspect="1"/>
          </p:cNvPicPr>
          <p:nvPr/>
        </p:nvPicPr>
        <p:blipFill>
          <a:blip r:embed="rId1"/>
          <a:stretch>
            <a:fillRect/>
          </a:stretch>
        </p:blipFill>
        <p:spPr>
          <a:xfrm>
            <a:off x="7863840" y="2501447"/>
            <a:ext cx="3779215" cy="2129427"/>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layers of a liquid crystal display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Inside an LCD panel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screen is made of many cells, often one per pixel, in which the liquid crystals are trapped</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cell has electrical contacts, so that a field can be applied to the liquid it contains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cells lie between two polarising filters whose axes are perpendicular to each other, with a light behind the rear one</a:t>
            </a:r>
            <a:endParaRPr lang="en-US" sz="2000" dirty="0"/>
          </a:p>
        </p:txBody>
      </p:sp>
      <p:sp>
        <p:nvSpPr>
          <p:cNvPr id="9" name="Shape 7"/>
          <p:cNvSpPr/>
          <p:nvPr/>
        </p:nvSpPr>
        <p:spPr>
          <a:xfrm>
            <a:off x="548640" y="427196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1"/>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Polarisation decides whether light passes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not driven: the light is rotated and crosses the front polariser</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crystals driven: the light is completely blocked</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 colour screen each cell is divided into three sections with a red, a green and a blue filter</a:t>
            </a:r>
            <a:endParaRPr lang="en-US" sz="2000" dirty="0"/>
          </a:p>
        </p:txBody>
      </p:sp>
      <p:pic>
        <p:nvPicPr>
          <p:cNvPr id="13" name="Image 0" descr="/Users/raffaelemontella/devel/riscv-prg32/computer-architecture-with-prg32/tools/assets/lcd_pixels.jpg">    </p:cNvPr>
          <p:cNvPicPr>
            <a:picLocks noChangeAspect="1"/>
          </p:cNvPicPr>
          <p:nvPr/>
        </p:nvPicPr>
        <p:blipFill>
          <a:blip r:embed="rId1"/>
          <a:stretch>
            <a:fillRect/>
          </a:stretch>
        </p:blipFill>
        <p:spPr>
          <a:xfrm>
            <a:off x="8798749" y="1417320"/>
            <a:ext cx="1909398" cy="429768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Red, green and blue sub-pixels under the magnifier</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Driving the cells: from segments to the active matrix</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Segments and passive matrix</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Calculators and digital watches: one electrical contact per segment</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Impossible as the number of elements grows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Passive matrix: one group of contacts per row and per column, not per pixel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Only one pixel at a time is driven: the others must remember their state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Problems: persistence (trails behind moving objects) and crosstalk</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Active matrix: TFT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Used for high-resolution screens</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panel contains a thin film of transistors, on a transparent semiconductor layer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field is applied exactly where needed by a transistor in each cell</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transistor stores the electrical state of its pixel while the others are updated</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pixel is, in effect, a one-bit analogue memory cell</a:t>
            </a:r>
            <a:endParaRPr lang="en-US" sz="17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CRT and LCD displays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keyboard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Derived from that of typewriters; the main character input device</a:t>
            </a:r>
            <a:endParaRPr lang="en-US" sz="2200" dirty="0"/>
          </a:p>
        </p:txBody>
      </p:sp>
      <p:sp>
        <p:nvSpPr>
          <p:cNvPr id="5" name="Shape 3"/>
          <p:cNvSpPr/>
          <p:nvPr/>
        </p:nvSpPr>
        <p:spPr>
          <a:xfrm>
            <a:off x="548640" y="229381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7385"/>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keys are grouped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alphanumeric keys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special keys: enter, backspace, ...</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arrow keys and function keys</a:t>
            </a:r>
            <a:endParaRPr lang="en-US" sz="2200" dirty="0"/>
          </a:p>
        </p:txBody>
      </p:sp>
      <p:sp>
        <p:nvSpPr>
          <p:cNvPr id="7" name="Shape 5"/>
          <p:cNvSpPr/>
          <p:nvPr/>
        </p:nvSpPr>
        <p:spPr>
          <a:xfrm>
            <a:off x="548640" y="40567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033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Keyboard and video are not directly connected to each other</a:t>
            </a:r>
            <a:endParaRPr lang="en-US" sz="2200" dirty="0"/>
          </a:p>
        </p:txBody>
      </p:sp>
      <p:sp>
        <p:nvSpPr>
          <p:cNvPr id="9" name="Shape 7"/>
          <p:cNvSpPr/>
          <p:nvPr/>
        </p:nvSpPr>
        <p:spPr>
          <a:xfrm>
            <a:off x="548640" y="48268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039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processor that reproduces on the video the information typed on the keyboard</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Today's keyboards connect through USB, or wirelessly</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path of a key press</a:t>
            </a:r>
            <a:endParaRPr lang="en-US" sz="3200" dirty="0"/>
          </a:p>
        </p:txBody>
      </p:sp>
      <p:sp>
        <p:nvSpPr>
          <p:cNvPr id="3" name="Text 1"/>
          <p:cNvSpPr txBox="1"/>
          <p:nvPr/>
        </p:nvSpPr>
        <p:spPr>
          <a:xfrm>
            <a:off x="54864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Q</a:t>
            </a:r>
            <a:endParaRPr lang="en-US" sz="1500" dirty="0"/>
          </a:p>
        </p:txBody>
      </p:sp>
      <p:sp>
        <p:nvSpPr>
          <p:cNvPr id="4" name="Text 2"/>
          <p:cNvSpPr txBox="1"/>
          <p:nvPr/>
        </p:nvSpPr>
        <p:spPr>
          <a:xfrm>
            <a:off x="1115568"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W</a:t>
            </a:r>
            <a:endParaRPr lang="en-US" sz="1500" dirty="0"/>
          </a:p>
        </p:txBody>
      </p:sp>
      <p:sp>
        <p:nvSpPr>
          <p:cNvPr id="5" name="Text 3"/>
          <p:cNvSpPr txBox="1"/>
          <p:nvPr/>
        </p:nvSpPr>
        <p:spPr>
          <a:xfrm>
            <a:off x="1682496"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E</a:t>
            </a:r>
            <a:endParaRPr lang="en-US" sz="1500" dirty="0"/>
          </a:p>
        </p:txBody>
      </p:sp>
      <p:sp>
        <p:nvSpPr>
          <p:cNvPr id="6" name="Text 4"/>
          <p:cNvSpPr txBox="1"/>
          <p:nvPr/>
        </p:nvSpPr>
        <p:spPr>
          <a:xfrm>
            <a:off x="2249424"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R</a:t>
            </a:r>
            <a:endParaRPr lang="en-US" sz="1500" dirty="0"/>
          </a:p>
        </p:txBody>
      </p:sp>
      <p:sp>
        <p:nvSpPr>
          <p:cNvPr id="7" name="Text 5"/>
          <p:cNvSpPr txBox="1"/>
          <p:nvPr/>
        </p:nvSpPr>
        <p:spPr>
          <a:xfrm>
            <a:off x="2816352"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a:t>
            </a:r>
            <a:endParaRPr lang="en-US" sz="1500" dirty="0"/>
          </a:p>
        </p:txBody>
      </p:sp>
      <p:sp>
        <p:nvSpPr>
          <p:cNvPr id="8" name="Text 6"/>
          <p:cNvSpPr txBox="1"/>
          <p:nvPr/>
        </p:nvSpPr>
        <p:spPr>
          <a:xfrm>
            <a:off x="3383280" y="1600200"/>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Y</a:t>
            </a:r>
            <a:endParaRPr lang="en-US" sz="1500" dirty="0"/>
          </a:p>
        </p:txBody>
      </p:sp>
      <p:sp>
        <p:nvSpPr>
          <p:cNvPr id="9" name="Text 7"/>
          <p:cNvSpPr txBox="1"/>
          <p:nvPr/>
        </p:nvSpPr>
        <p:spPr>
          <a:xfrm>
            <a:off x="73152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A</a:t>
            </a:r>
            <a:endParaRPr lang="en-US" sz="1500" dirty="0"/>
          </a:p>
        </p:txBody>
      </p:sp>
      <p:sp>
        <p:nvSpPr>
          <p:cNvPr id="10" name="Text 8"/>
          <p:cNvSpPr txBox="1"/>
          <p:nvPr/>
        </p:nvSpPr>
        <p:spPr>
          <a:xfrm>
            <a:off x="1298448"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S</a:t>
            </a:r>
            <a:endParaRPr lang="en-US" sz="1500" dirty="0"/>
          </a:p>
        </p:txBody>
      </p:sp>
      <p:sp>
        <p:nvSpPr>
          <p:cNvPr id="11" name="Text 9"/>
          <p:cNvSpPr txBox="1"/>
          <p:nvPr/>
        </p:nvSpPr>
        <p:spPr>
          <a:xfrm>
            <a:off x="1865376" y="2167128"/>
            <a:ext cx="493776" cy="493776"/>
          </a:xfrm>
          <a:prstGeom prst="roundRect">
            <a:avLst>
              <a:gd name="adj" fmla="val 9259"/>
            </a:avLst>
          </a:prstGeom>
          <a:solidFill>
            <a:srgbClr val="C7791B"/>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D</a:t>
            </a:r>
            <a:endParaRPr lang="en-US" sz="1500" dirty="0"/>
          </a:p>
        </p:txBody>
      </p:sp>
      <p:sp>
        <p:nvSpPr>
          <p:cNvPr id="12" name="Text 10"/>
          <p:cNvSpPr txBox="1"/>
          <p:nvPr/>
        </p:nvSpPr>
        <p:spPr>
          <a:xfrm>
            <a:off x="2432304"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F</a:t>
            </a:r>
            <a:endParaRPr lang="en-US" sz="1500" dirty="0"/>
          </a:p>
        </p:txBody>
      </p:sp>
      <p:sp>
        <p:nvSpPr>
          <p:cNvPr id="13" name="Text 11"/>
          <p:cNvSpPr txBox="1"/>
          <p:nvPr/>
        </p:nvSpPr>
        <p:spPr>
          <a:xfrm>
            <a:off x="2999232"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G</a:t>
            </a:r>
            <a:endParaRPr lang="en-US" sz="1500" dirty="0"/>
          </a:p>
        </p:txBody>
      </p:sp>
      <p:sp>
        <p:nvSpPr>
          <p:cNvPr id="14" name="Text 12"/>
          <p:cNvSpPr txBox="1"/>
          <p:nvPr/>
        </p:nvSpPr>
        <p:spPr>
          <a:xfrm>
            <a:off x="3566160" y="2167128"/>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H</a:t>
            </a:r>
            <a:endParaRPr lang="en-US" sz="1500" dirty="0"/>
          </a:p>
        </p:txBody>
      </p:sp>
      <p:sp>
        <p:nvSpPr>
          <p:cNvPr id="15" name="Text 13"/>
          <p:cNvSpPr txBox="1"/>
          <p:nvPr/>
        </p:nvSpPr>
        <p:spPr>
          <a:xfrm>
            <a:off x="91440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Z</a:t>
            </a:r>
            <a:endParaRPr lang="en-US" sz="1500" dirty="0"/>
          </a:p>
        </p:txBody>
      </p:sp>
      <p:sp>
        <p:nvSpPr>
          <p:cNvPr id="16" name="Text 14"/>
          <p:cNvSpPr txBox="1"/>
          <p:nvPr/>
        </p:nvSpPr>
        <p:spPr>
          <a:xfrm>
            <a:off x="1481328"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X</a:t>
            </a:r>
            <a:endParaRPr lang="en-US" sz="1500" dirty="0"/>
          </a:p>
        </p:txBody>
      </p:sp>
      <p:sp>
        <p:nvSpPr>
          <p:cNvPr id="17" name="Text 15"/>
          <p:cNvSpPr txBox="1"/>
          <p:nvPr/>
        </p:nvSpPr>
        <p:spPr>
          <a:xfrm>
            <a:off x="2048256"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C</a:t>
            </a:r>
            <a:endParaRPr lang="en-US" sz="1500" dirty="0"/>
          </a:p>
        </p:txBody>
      </p:sp>
      <p:sp>
        <p:nvSpPr>
          <p:cNvPr id="18" name="Text 16"/>
          <p:cNvSpPr txBox="1"/>
          <p:nvPr/>
        </p:nvSpPr>
        <p:spPr>
          <a:xfrm>
            <a:off x="2615184"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V</a:t>
            </a:r>
            <a:endParaRPr lang="en-US" sz="1500" dirty="0"/>
          </a:p>
        </p:txBody>
      </p:sp>
      <p:sp>
        <p:nvSpPr>
          <p:cNvPr id="19" name="Text 17"/>
          <p:cNvSpPr txBox="1"/>
          <p:nvPr/>
        </p:nvSpPr>
        <p:spPr>
          <a:xfrm>
            <a:off x="3182112"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B</a:t>
            </a:r>
            <a:endParaRPr lang="en-US" sz="1500" dirty="0"/>
          </a:p>
        </p:txBody>
      </p:sp>
      <p:sp>
        <p:nvSpPr>
          <p:cNvPr id="20" name="Text 18"/>
          <p:cNvSpPr txBox="1"/>
          <p:nvPr/>
        </p:nvSpPr>
        <p:spPr>
          <a:xfrm>
            <a:off x="3749040" y="2734056"/>
            <a:ext cx="493776" cy="493776"/>
          </a:xfrm>
          <a:prstGeom prst="roundRect">
            <a:avLst>
              <a:gd name="adj" fmla="val 9259"/>
            </a:avLst>
          </a:prstGeom>
          <a:solidFill>
            <a:srgbClr val="2E4A62"/>
          </a:solidFill>
          <a:ln>
            <a:solidFill>
              <a:srgbClr val="FFFFFF"/>
            </a:solidFill>
          </a:ln>
        </p:spPr>
        <p:txBody>
          <a:bodyPr wrap="square" lIns="0" tIns="0" rIns="0" bIns="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N</a:t>
            </a:r>
            <a:endParaRPr lang="en-US" sz="1500" dirty="0"/>
          </a:p>
        </p:txBody>
      </p:sp>
      <p:sp>
        <p:nvSpPr>
          <p:cNvPr id="21" name="Text 19"/>
          <p:cNvSpPr txBox="1"/>
          <p:nvPr/>
        </p:nvSpPr>
        <p:spPr>
          <a:xfrm>
            <a:off x="548640" y="3337560"/>
            <a:ext cx="384048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rows and columns of switches</a:t>
            </a:r>
            <a:endParaRPr lang="en-US" sz="1250" dirty="0"/>
          </a:p>
        </p:txBody>
      </p:sp>
      <p:sp>
        <p:nvSpPr>
          <p:cNvPr id="22" name="Text 20"/>
          <p:cNvSpPr txBox="1"/>
          <p:nvPr/>
        </p:nvSpPr>
        <p:spPr>
          <a:xfrm>
            <a:off x="4572000" y="1783080"/>
            <a:ext cx="2148840" cy="1188720"/>
          </a:xfrm>
          <a:prstGeom prst="roundRect">
            <a:avLst>
              <a:gd name="adj" fmla="val 4615"/>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encoder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row and column</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an n-bit code</a:t>
            </a:r>
            <a:endParaRPr lang="en-US" sz="1500" dirty="0"/>
          </a:p>
        </p:txBody>
      </p:sp>
      <p:sp>
        <p:nvSpPr>
          <p:cNvPr id="23" name="Shape 21"/>
          <p:cNvSpPr/>
          <p:nvPr/>
        </p:nvSpPr>
        <p:spPr>
          <a:xfrm>
            <a:off x="4270248" y="2377440"/>
            <a:ext cx="274320" cy="0"/>
          </a:xfrm>
          <a:prstGeom prst="line">
            <a:avLst/>
          </a:prstGeom>
          <a:noFill/>
          <a:ln w="31750">
            <a:solidFill>
              <a:srgbClr val="5B6B78"/>
            </a:solidFill>
            <a:prstDash val="solid"/>
            <a:tailEnd type="triangle"/>
          </a:ln>
        </p:spPr>
      </p:sp>
      <p:sp>
        <p:nvSpPr>
          <p:cNvPr id="24" name="Text 22"/>
          <p:cNvSpPr txBox="1"/>
          <p:nvPr/>
        </p:nvSpPr>
        <p:spPr>
          <a:xfrm>
            <a:off x="7040880" y="1783080"/>
            <a:ext cx="2148840" cy="1188720"/>
          </a:xfrm>
          <a:prstGeom prst="roundRect">
            <a:avLst>
              <a:gd name="adj" fmla="val 4615"/>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n bits in parallel</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to n bits in series</a:t>
            </a:r>
            <a:endParaRPr lang="en-US" sz="1500" dirty="0"/>
          </a:p>
        </p:txBody>
      </p:sp>
      <p:sp>
        <p:nvSpPr>
          <p:cNvPr id="25" name="Shape 23"/>
          <p:cNvSpPr/>
          <p:nvPr/>
        </p:nvSpPr>
        <p:spPr>
          <a:xfrm>
            <a:off x="6739128" y="2377440"/>
            <a:ext cx="274320" cy="0"/>
          </a:xfrm>
          <a:prstGeom prst="line">
            <a:avLst/>
          </a:prstGeom>
          <a:noFill/>
          <a:ln w="31750">
            <a:solidFill>
              <a:srgbClr val="5B6B78"/>
            </a:solidFill>
            <a:prstDash val="solid"/>
            <a:tailEnd type="triangle"/>
          </a:ln>
        </p:spPr>
      </p:sp>
      <p:sp>
        <p:nvSpPr>
          <p:cNvPr id="26" name="Text 24"/>
          <p:cNvSpPr txBox="1"/>
          <p:nvPr/>
        </p:nvSpPr>
        <p:spPr>
          <a:xfrm>
            <a:off x="9509760" y="1783080"/>
            <a:ext cx="2148840" cy="1188720"/>
          </a:xfrm>
          <a:prstGeom prst="roundRect">
            <a:avLst>
              <a:gd name="adj" fmla="val 4615"/>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for example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a USB controller</a:t>
            </a:r>
            <a:endParaRPr lang="en-US" sz="1500" dirty="0"/>
          </a:p>
        </p:txBody>
      </p:sp>
      <p:sp>
        <p:nvSpPr>
          <p:cNvPr id="27" name="Shape 25"/>
          <p:cNvSpPr/>
          <p:nvPr/>
        </p:nvSpPr>
        <p:spPr>
          <a:xfrm>
            <a:off x="9208008" y="2377440"/>
            <a:ext cx="274320" cy="0"/>
          </a:xfrm>
          <a:prstGeom prst="line">
            <a:avLst/>
          </a:prstGeom>
          <a:noFill/>
          <a:ln w="31750">
            <a:solidFill>
              <a:srgbClr val="5B6B78"/>
            </a:solidFill>
            <a:prstDash val="solid"/>
            <a:tailEnd type="triangle"/>
          </a:ln>
        </p:spPr>
      </p:sp>
      <p:sp>
        <p:nvSpPr>
          <p:cNvPr id="28" name="Shape 26"/>
          <p:cNvSpPr/>
          <p:nvPr/>
        </p:nvSpPr>
        <p:spPr>
          <a:xfrm>
            <a:off x="10584180" y="2999232"/>
            <a:ext cx="0" cy="658368"/>
          </a:xfrm>
          <a:prstGeom prst="line">
            <a:avLst/>
          </a:prstGeom>
          <a:noFill/>
          <a:ln w="31750">
            <a:solidFill>
              <a:srgbClr val="5B6B78"/>
            </a:solidFill>
            <a:prstDash val="solid"/>
            <a:tailEnd type="triangle"/>
          </a:ln>
        </p:spPr>
      </p:sp>
      <p:sp>
        <p:nvSpPr>
          <p:cNvPr id="29" name="Shape 27"/>
          <p:cNvSpPr/>
          <p:nvPr/>
        </p:nvSpPr>
        <p:spPr>
          <a:xfrm>
            <a:off x="4572000" y="3703320"/>
            <a:ext cx="7071055" cy="0"/>
          </a:xfrm>
          <a:prstGeom prst="line">
            <a:avLst/>
          </a:prstGeom>
          <a:noFill/>
          <a:ln w="76200">
            <a:solidFill>
              <a:srgbClr val="C7791B"/>
            </a:solidFill>
            <a:prstDash val="solid"/>
          </a:ln>
        </p:spPr>
      </p:sp>
      <p:sp>
        <p:nvSpPr>
          <p:cNvPr id="30" name="Text 28"/>
          <p:cNvSpPr txBox="1"/>
          <p:nvPr/>
        </p:nvSpPr>
        <p:spPr>
          <a:xfrm>
            <a:off x="4572000" y="3794760"/>
            <a:ext cx="18288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system bus</a:t>
            </a:r>
            <a:endParaRPr lang="en-US" sz="1300" dirty="0"/>
          </a:p>
        </p:txBody>
      </p:sp>
      <p:sp>
        <p:nvSpPr>
          <p:cNvPr id="31" name="Shape 29"/>
          <p:cNvSpPr/>
          <p:nvPr/>
        </p:nvSpPr>
        <p:spPr>
          <a:xfrm>
            <a:off x="548640" y="4365371"/>
            <a:ext cx="146304" cy="146304"/>
          </a:xfrm>
          <a:prstGeom prst="rect">
            <a:avLst/>
          </a:prstGeom>
          <a:solidFill>
            <a:srgbClr val="0E7C86"/>
          </a:solidFill>
          <a:ln w="12700">
            <a:solidFill>
              <a:srgbClr val="0E7C86"/>
            </a:solidFill>
            <a:prstDash val="solid"/>
          </a:ln>
        </p:spPr>
      </p:sp>
      <p:sp>
        <p:nvSpPr>
          <p:cNvPr id="32" name="Text 30"/>
          <p:cNvSpPr txBox="1"/>
          <p:nvPr/>
        </p:nvSpPr>
        <p:spPr>
          <a:xfrm>
            <a:off x="932688" y="429768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keyboard is managed by a keyboard controller</a:t>
            </a:r>
            <a:endParaRPr lang="en-US" sz="1700" dirty="0"/>
          </a:p>
        </p:txBody>
      </p:sp>
      <p:sp>
        <p:nvSpPr>
          <p:cNvPr id="33" name="Shape 31"/>
          <p:cNvSpPr/>
          <p:nvPr/>
        </p:nvSpPr>
        <p:spPr>
          <a:xfrm>
            <a:off x="548640" y="4814612"/>
            <a:ext cx="146304" cy="146304"/>
          </a:xfrm>
          <a:prstGeom prst="rect">
            <a:avLst/>
          </a:prstGeom>
          <a:solidFill>
            <a:srgbClr val="C7791B"/>
          </a:solidFill>
          <a:ln w="12700">
            <a:solidFill>
              <a:srgbClr val="C7791B"/>
            </a:solidFill>
            <a:prstDash val="solid"/>
          </a:ln>
        </p:spPr>
      </p:sp>
      <p:sp>
        <p:nvSpPr>
          <p:cNvPr id="34" name="Text 32"/>
          <p:cNvSpPr txBox="1"/>
          <p:nvPr/>
        </p:nvSpPr>
        <p:spPr>
          <a:xfrm>
            <a:off x="932688" y="474692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encoder turns a combination of row and column into a code of n bits: the encoder of Lecture 11</a:t>
            </a:r>
            <a:endParaRPr lang="en-US" sz="1700" dirty="0"/>
          </a:p>
        </p:txBody>
      </p:sp>
      <p:sp>
        <p:nvSpPr>
          <p:cNvPr id="35" name="Shape 33"/>
          <p:cNvSpPr/>
          <p:nvPr/>
        </p:nvSpPr>
        <p:spPr>
          <a:xfrm>
            <a:off x="548640" y="5263854"/>
            <a:ext cx="146304" cy="146304"/>
          </a:xfrm>
          <a:prstGeom prst="rect">
            <a:avLst/>
          </a:prstGeom>
          <a:solidFill>
            <a:srgbClr val="0E7C86"/>
          </a:solidFill>
          <a:ln w="12700">
            <a:solidFill>
              <a:srgbClr val="0E7C86"/>
            </a:solidFill>
            <a:prstDash val="solid"/>
          </a:ln>
        </p:spPr>
      </p:sp>
      <p:sp>
        <p:nvSpPr>
          <p:cNvPr id="36" name="Text 34"/>
          <p:cNvSpPr txBox="1"/>
          <p:nvPr/>
        </p:nvSpPr>
        <p:spPr>
          <a:xfrm>
            <a:off x="932688" y="5196163"/>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shift register turns the n bits into a sequence, to be handled serially: the shift register of Lecture 14</a:t>
            </a:r>
            <a:endParaRPr lang="en-US" sz="1700" dirty="0"/>
          </a:p>
        </p:txBody>
      </p:sp>
      <p:sp>
        <p:nvSpPr>
          <p:cNvPr id="37" name="Shape 35"/>
          <p:cNvSpPr/>
          <p:nvPr/>
        </p:nvSpPr>
        <p:spPr>
          <a:xfrm>
            <a:off x="548640" y="5976493"/>
            <a:ext cx="146304" cy="146304"/>
          </a:xfrm>
          <a:prstGeom prst="rect">
            <a:avLst/>
          </a:prstGeom>
          <a:solidFill>
            <a:srgbClr val="C7791B"/>
          </a:solidFill>
          <a:ln w="12700">
            <a:solidFill>
              <a:srgbClr val="C7791B"/>
            </a:solidFill>
            <a:prstDash val="solid"/>
          </a:ln>
        </p:spPr>
      </p:sp>
      <p:sp>
        <p:nvSpPr>
          <p:cNvPr id="38" name="Text 36"/>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serial interface sends the code to the system bus in the proper way, and raises an interrupt</a:t>
            </a:r>
            <a:endParaRPr lang="en-US" sz="1700" dirty="0"/>
          </a:p>
        </p:txBody>
      </p:sp>
      <p:sp>
        <p:nvSpPr>
          <p:cNvPr id="39" name="Shape 37"/>
          <p:cNvSpPr/>
          <p:nvPr/>
        </p:nvSpPr>
        <p:spPr>
          <a:xfrm>
            <a:off x="8484692" y="91440"/>
            <a:ext cx="3158363" cy="274320"/>
          </a:xfrm>
          <a:prstGeom prst="rect">
            <a:avLst/>
          </a:prstGeom>
          <a:solidFill>
            <a:srgbClr val="E0F2FE"/>
          </a:solidFill>
          <a:ln w="12700">
            <a:solidFill>
              <a:srgbClr val="0369A1"/>
            </a:solidFill>
            <a:prstDash val="solid"/>
          </a:ln>
        </p:spPr>
      </p:sp>
      <p:sp>
        <p:nvSpPr>
          <p:cNvPr id="40" name="Shape 38"/>
          <p:cNvSpPr/>
          <p:nvPr/>
        </p:nvSpPr>
        <p:spPr>
          <a:xfrm>
            <a:off x="8484692" y="91440"/>
            <a:ext cx="73152" cy="274320"/>
          </a:xfrm>
          <a:prstGeom prst="rect">
            <a:avLst/>
          </a:prstGeom>
          <a:solidFill>
            <a:srgbClr val="0369A1"/>
          </a:solidFill>
          <a:ln w="12700">
            <a:solidFill>
              <a:srgbClr val="0369A1"/>
            </a:solidFill>
            <a:prstDash val="solid"/>
          </a:ln>
        </p:spPr>
      </p:sp>
      <p:pic>
        <p:nvPicPr>
          <p:cNvPr id="4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42" name="Text 3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mouse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Invented in the 1960s by Douglas Engelbart: the first pointing device in history</a:t>
            </a:r>
            <a:endParaRPr lang="en-US" sz="2200" dirty="0"/>
          </a:p>
        </p:txBody>
      </p:sp>
      <p:sp>
        <p:nvSpPr>
          <p:cNvPr id="5" name="Shape 3"/>
          <p:cNvSpPr/>
          <p:nvPr/>
        </p:nvSpPr>
        <p:spPr>
          <a:xfrm>
            <a:off x="548640" y="2627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082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wooden box with two wheels underneath and a wire leaving from the back, like the tail of a mouse</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two wheels detected the movements along the horizontal and the vertical axis; the electronics turned them into electrical signals</a:t>
            </a:r>
            <a:endParaRPr lang="en-US" sz="2200" dirty="0"/>
          </a:p>
        </p:txBody>
      </p:sp>
      <p:sp>
        <p:nvSpPr>
          <p:cNvPr id="9" name="Shape 7"/>
          <p:cNvSpPr/>
          <p:nvPr/>
        </p:nvSpPr>
        <p:spPr>
          <a:xfrm>
            <a:off x="548640" y="48342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78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Mechanical mouse: a ball turns two rollers, each driving a counter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Optical mouse: a light source and a tiny camera measure the movement of the surface underneath</a:t>
            </a:r>
            <a:endParaRPr lang="en-US" sz="22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mouse sends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it moves by a minimum distance, about a hundredth of an inch, called a mickey, the mouse sends three bytes</a:t>
            </a:r>
            <a:endParaRPr lang="en-US" sz="2200" dirty="0"/>
          </a:p>
        </p:txBody>
      </p:sp>
      <p:sp>
        <p:nvSpPr>
          <p:cNvPr id="5" name="Shape 3"/>
          <p:cNvSpPr/>
          <p:nvPr/>
        </p:nvSpPr>
        <p:spPr>
          <a:xfrm>
            <a:off x="548640" y="28829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76474"/>
            <a:ext cx="61996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1: how many units it moved along x since the last report</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2: the movement along y</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19963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Byte 3: the state of the buttons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1996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control software, the device driver, supervises the communication with the processor</a:t>
            </a:r>
            <a:endParaRPr lang="en-US" sz="2200" dirty="0"/>
          </a:p>
        </p:txBody>
      </p:sp>
      <p:sp>
        <p:nvSpPr>
          <p:cNvPr id="13" name="Text 11"/>
          <p:cNvSpPr txBox="1"/>
          <p:nvPr/>
        </p:nvSpPr>
        <p:spPr>
          <a:xfrm>
            <a:off x="7680960" y="1874520"/>
            <a:ext cx="329184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two counters</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x and y movement</a:t>
            </a:r>
            <a:endParaRPr lang="en-US" sz="1500" dirty="0"/>
          </a:p>
        </p:txBody>
      </p:sp>
      <p:sp>
        <p:nvSpPr>
          <p:cNvPr id="14" name="Shape 12"/>
          <p:cNvSpPr/>
          <p:nvPr/>
        </p:nvSpPr>
        <p:spPr>
          <a:xfrm>
            <a:off x="9326880" y="2816352"/>
            <a:ext cx="0" cy="310896"/>
          </a:xfrm>
          <a:prstGeom prst="line">
            <a:avLst/>
          </a:prstGeom>
          <a:noFill/>
          <a:ln w="31750">
            <a:solidFill>
              <a:srgbClr val="5B6B78"/>
            </a:solidFill>
            <a:prstDash val="solid"/>
            <a:tailEnd type="triangle"/>
          </a:ln>
        </p:spPr>
      </p:sp>
      <p:sp>
        <p:nvSpPr>
          <p:cNvPr id="15" name="Text 13"/>
          <p:cNvSpPr txBox="1"/>
          <p:nvPr/>
        </p:nvSpPr>
        <p:spPr>
          <a:xfrm>
            <a:off x="7680960" y="3154680"/>
            <a:ext cx="32918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shift register</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three bytes, in series</a:t>
            </a:r>
            <a:endParaRPr lang="en-US" sz="1500" dirty="0"/>
          </a:p>
        </p:txBody>
      </p:sp>
      <p:sp>
        <p:nvSpPr>
          <p:cNvPr id="16" name="Shape 14"/>
          <p:cNvSpPr/>
          <p:nvPr/>
        </p:nvSpPr>
        <p:spPr>
          <a:xfrm>
            <a:off x="9326880" y="4096512"/>
            <a:ext cx="0" cy="310896"/>
          </a:xfrm>
          <a:prstGeom prst="line">
            <a:avLst/>
          </a:prstGeom>
          <a:noFill/>
          <a:ln w="31750">
            <a:solidFill>
              <a:srgbClr val="5B6B78"/>
            </a:solidFill>
            <a:prstDash val="solid"/>
            <a:tailEnd type="triangle"/>
          </a:ln>
        </p:spPr>
      </p:sp>
      <p:sp>
        <p:nvSpPr>
          <p:cNvPr id="17" name="Text 15"/>
          <p:cNvSpPr txBox="1"/>
          <p:nvPr/>
        </p:nvSpPr>
        <p:spPr>
          <a:xfrm>
            <a:off x="7680960" y="4434840"/>
            <a:ext cx="3291840" cy="914400"/>
          </a:xfrm>
          <a:prstGeom prst="roundRect">
            <a:avLst>
              <a:gd name="adj" fmla="val 6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serial interface</a:t>
            </a:r>
            <a:endParaRPr lang="en-US" sz="1500" dirty="0"/>
          </a:p>
          <a:p>
            <a:pPr algn="ctr" indent="0" marL="0">
              <a:buNone/>
            </a:pPr>
            <a:r>
              <a:rPr lang="en-US" sz="1200" dirty="0">
                <a:solidFill>
                  <a:srgbClr val="FFFFFF"/>
                </a:solidFill>
                <a:latin typeface="Calibri" pitchFamily="34" charset="0"/>
                <a:ea typeface="Calibri" pitchFamily="34" charset="-122"/>
                <a:cs typeface="Calibri" pitchFamily="34" charset="-120"/>
              </a:rPr>
              <a:t>USB controller</a:t>
            </a:r>
            <a:endParaRPr lang="en-US" sz="1500" dirty="0"/>
          </a:p>
        </p:txBody>
      </p:sp>
      <p:sp>
        <p:nvSpPr>
          <p:cNvPr id="18" name="Text 16"/>
          <p:cNvSpPr txBox="1"/>
          <p:nvPr/>
        </p:nvSpPr>
        <p:spPr>
          <a:xfrm>
            <a:off x="768096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dx</a:t>
            </a:r>
            <a:endParaRPr lang="en-US" sz="1400" dirty="0"/>
          </a:p>
        </p:txBody>
      </p:sp>
      <p:sp>
        <p:nvSpPr>
          <p:cNvPr id="19" name="Text 17"/>
          <p:cNvSpPr txBox="1"/>
          <p:nvPr/>
        </p:nvSpPr>
        <p:spPr>
          <a:xfrm>
            <a:off x="8778240" y="5806440"/>
            <a:ext cx="1097280" cy="54864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dy</a:t>
            </a:r>
            <a:endParaRPr lang="en-US" sz="1400" dirty="0"/>
          </a:p>
        </p:txBody>
      </p:sp>
      <p:sp>
        <p:nvSpPr>
          <p:cNvPr id="20" name="Text 18"/>
          <p:cNvSpPr txBox="1"/>
          <p:nvPr/>
        </p:nvSpPr>
        <p:spPr>
          <a:xfrm>
            <a:off x="9875520" y="5806440"/>
            <a:ext cx="1097280" cy="54864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buttons</a:t>
            </a:r>
            <a:endParaRPr lang="en-US" sz="1400" dirty="0"/>
          </a:p>
        </p:txBody>
      </p:sp>
      <p:sp>
        <p:nvSpPr>
          <p:cNvPr id="21" name="Shape 19"/>
          <p:cNvSpPr/>
          <p:nvPr/>
        </p:nvSpPr>
        <p:spPr>
          <a:xfrm>
            <a:off x="8484692" y="91440"/>
            <a:ext cx="3158363" cy="274320"/>
          </a:xfrm>
          <a:prstGeom prst="rect">
            <a:avLst/>
          </a:prstGeom>
          <a:solidFill>
            <a:srgbClr val="E0F2FE"/>
          </a:solidFill>
          <a:ln w="12700">
            <a:solidFill>
              <a:srgbClr val="0369A1"/>
            </a:solidFill>
            <a:prstDash val="solid"/>
          </a:ln>
        </p:spPr>
      </p:sp>
      <p:sp>
        <p:nvSpPr>
          <p:cNvPr id="22" name="Shape 20"/>
          <p:cNvSpPr/>
          <p:nvPr/>
        </p:nvSpPr>
        <p:spPr>
          <a:xfrm>
            <a:off x="8484692"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4" name="Text 2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keyboard and mouse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printer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output device that prints information on paper</a:t>
            </a:r>
            <a:endParaRPr lang="en-US" sz="2200" dirty="0"/>
          </a:p>
        </p:txBody>
      </p:sp>
      <p:sp>
        <p:nvSpPr>
          <p:cNvPr id="5" name="Shape 3"/>
          <p:cNvSpPr/>
          <p:nvPr/>
        </p:nvSpPr>
        <p:spPr>
          <a:xfrm>
            <a:off x="548640" y="22110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464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Printing speed: lines per minute, characters per second or pages per minute</a:t>
            </a:r>
            <a:endParaRPr lang="en-US" sz="2200" dirty="0"/>
          </a:p>
        </p:txBody>
      </p:sp>
      <p:sp>
        <p:nvSpPr>
          <p:cNvPr id="7" name="Shape 5"/>
          <p:cNvSpPr/>
          <p:nvPr/>
        </p:nvSpPr>
        <p:spPr>
          <a:xfrm>
            <a:off x="548640" y="289839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919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Resolution, the print quality: dots per inch</a:t>
            </a:r>
            <a:endParaRPr lang="en-US" sz="2200" dirty="0"/>
          </a:p>
        </p:txBody>
      </p:sp>
      <p:sp>
        <p:nvSpPr>
          <p:cNvPr id="9" name="Shape 7"/>
          <p:cNvSpPr/>
          <p:nvPr/>
        </p:nvSpPr>
        <p:spPr>
          <a:xfrm>
            <a:off x="548640" y="35857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79292"/>
            <a:ext cx="10710367" cy="16647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Kinds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daisy wheel and chain printers, now disused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dot matrix: needles strike an inked ribbon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ink jet: tiny drops of ink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laser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printer is also a small computer: it has its own processor, memory and firmware</a:t>
            </a:r>
            <a:endParaRPr lang="en-US" sz="2200" dirty="0"/>
          </a:p>
        </p:txBody>
      </p:sp>
      <p:sp>
        <p:nvSpPr>
          <p:cNvPr id="13" name="Shape 11"/>
          <p:cNvSpPr/>
          <p:nvPr/>
        </p:nvSpPr>
        <p:spPr>
          <a:xfrm>
            <a:off x="9141282" y="91440"/>
            <a:ext cx="2501773" cy="274320"/>
          </a:xfrm>
          <a:prstGeom prst="rect">
            <a:avLst/>
          </a:prstGeom>
          <a:solidFill>
            <a:srgbClr val="E0F2FE"/>
          </a:solidFill>
          <a:ln w="12700">
            <a:solidFill>
              <a:srgbClr val="0369A1"/>
            </a:solidFill>
            <a:prstDash val="solid"/>
          </a:ln>
        </p:spPr>
      </p:sp>
      <p:sp>
        <p:nvSpPr>
          <p:cNvPr id="14" name="Shape 12"/>
          <p:cNvSpPr/>
          <p:nvPr/>
        </p:nvSpPr>
        <p:spPr>
          <a:xfrm>
            <a:off x="914128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269298" y="128016"/>
            <a:ext cx="201168" cy="201168"/>
          </a:xfrm>
          <a:prstGeom prst="rect">
            <a:avLst/>
          </a:prstGeom>
        </p:spPr>
      </p:pic>
      <p:sp>
        <p:nvSpPr>
          <p:cNvPr id="16" name="Text 13"/>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laser printer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derives from the photocopier</a:t>
            </a:r>
            <a:endParaRPr lang="en-US" sz="1900" dirty="0"/>
          </a:p>
        </p:txBody>
      </p:sp>
      <p:sp>
        <p:nvSpPr>
          <p:cNvPr id="5" name="Shape 3"/>
          <p:cNvSpPr/>
          <p:nvPr/>
        </p:nvSpPr>
        <p:spPr>
          <a:xfrm>
            <a:off x="548640" y="20393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56156"/>
            <a:ext cx="6565392"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drum is charged electrically, to about 1,000 volts</a:t>
            </a:r>
            <a:endParaRPr lang="en-US" sz="1900" dirty="0"/>
          </a:p>
        </p:txBody>
      </p:sp>
      <p:sp>
        <p:nvSpPr>
          <p:cNvPr id="7" name="Shape 5"/>
          <p:cNvSpPr/>
          <p:nvPr/>
        </p:nvSpPr>
        <p:spPr>
          <a:xfrm>
            <a:off x="548640" y="257817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9499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laser beam, reflected by a rotating mirror, scans the length of the drum; the beam is modulated to produce a pattern of light and dark points</a:t>
            </a:r>
            <a:endParaRPr lang="en-US" sz="1900" dirty="0"/>
          </a:p>
        </p:txBody>
      </p:sp>
      <p:sp>
        <p:nvSpPr>
          <p:cNvPr id="9" name="Shape 7"/>
          <p:cNvSpPr/>
          <p:nvPr/>
        </p:nvSpPr>
        <p:spPr>
          <a:xfrm>
            <a:off x="548640" y="37057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22599"/>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points struck by the beam lose their charge; after each line the drum turns a fraction of a degree</a:t>
            </a:r>
            <a:endParaRPr lang="en-US" sz="1900" dirty="0"/>
          </a:p>
        </p:txBody>
      </p:sp>
      <p:sp>
        <p:nvSpPr>
          <p:cNvPr id="11" name="Shape 9"/>
          <p:cNvSpPr/>
          <p:nvPr/>
        </p:nvSpPr>
        <p:spPr>
          <a:xfrm>
            <a:off x="548640" y="45390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558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toner is attracted by the points that are still charged: an image of the line is formed</a:t>
            </a:r>
            <a:endParaRPr lang="en-US" sz="1900" dirty="0"/>
          </a:p>
        </p:txBody>
      </p:sp>
      <p:sp>
        <p:nvSpPr>
          <p:cNvPr id="13" name="Shape 11"/>
          <p:cNvSpPr/>
          <p:nvPr/>
        </p:nvSpPr>
        <p:spPr>
          <a:xfrm>
            <a:off x="548640" y="5372227"/>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drum is pressed against the paper and transfers the toner; heated rollers fix it permanently; the drum is discharged and cleaned</a:t>
            </a:r>
            <a:endParaRPr lang="en-US" sz="1900" dirty="0"/>
          </a:p>
        </p:txBody>
      </p:sp>
      <p:pic>
        <p:nvPicPr>
          <p:cNvPr id="15" name="Image 0" descr="/Users/raffaelemontella/devel/riscv-prg32/computer-architecture-with-prg32/tools/assets/laser_printer.jpg">    </p:cNvPr>
          <p:cNvPicPr>
            <a:picLocks noChangeAspect="1"/>
          </p:cNvPicPr>
          <p:nvPr/>
        </p:nvPicPr>
        <p:blipFill>
          <a:blip r:embed="rId1"/>
          <a:stretch>
            <a:fillRect/>
          </a:stretch>
        </p:blipFill>
        <p:spPr>
          <a:xfrm>
            <a:off x="7863840" y="1958517"/>
            <a:ext cx="3779215" cy="3215285"/>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laser writes the page on the drum, line by line</a:t>
            </a:r>
            <a:endParaRPr lang="en-US" sz="1200" dirty="0"/>
          </a:p>
        </p:txBody>
      </p:sp>
      <p:sp>
        <p:nvSpPr>
          <p:cNvPr id="17" name="Shape 14"/>
          <p:cNvSpPr/>
          <p:nvPr/>
        </p:nvSpPr>
        <p:spPr>
          <a:xfrm>
            <a:off x="9141282" y="91440"/>
            <a:ext cx="2501773" cy="274320"/>
          </a:xfrm>
          <a:prstGeom prst="rect">
            <a:avLst/>
          </a:prstGeom>
          <a:solidFill>
            <a:srgbClr val="E0F2FE"/>
          </a:solidFill>
          <a:ln w="12700">
            <a:solidFill>
              <a:srgbClr val="0369A1"/>
            </a:solidFill>
            <a:prstDash val="solid"/>
          </a:ln>
        </p:spPr>
      </p:sp>
      <p:sp>
        <p:nvSpPr>
          <p:cNvPr id="18" name="Shape 15"/>
          <p:cNvSpPr/>
          <p:nvPr/>
        </p:nvSpPr>
        <p:spPr>
          <a:xfrm>
            <a:off x="9141282"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9269298" y="128016"/>
            <a:ext cx="201168" cy="201168"/>
          </a:xfrm>
          <a:prstGeom prst="rect">
            <a:avLst/>
          </a:prstGeom>
        </p:spPr>
      </p:pic>
      <p:sp>
        <p:nvSpPr>
          <p:cNvPr id="20" name="Text 16"/>
          <p:cNvSpPr txBox="1"/>
          <p:nvPr/>
        </p:nvSpPr>
        <p:spPr>
          <a:xfrm>
            <a:off x="9525330" y="91440"/>
            <a:ext cx="208114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printers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devices of the PRG32 kit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1636881"/>
                <a:gridCol w="3273762"/>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is connected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a cartridge uses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 and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switch per input pin (GPIO)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prg32_input_read: one bit per button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 320 x 240 TFT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SPI serial bus, with DMA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prg32_gfx_* calls draw into the frame buffer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amplifier and speaker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I2S serial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 calls: notes, samples, music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Wi-Fi radio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inside the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upload, the Store, multiplayer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USB serial 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input and output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USB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flashing the firmware, debug messages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90738" y="91440"/>
            <a:ext cx="3552317" cy="274320"/>
          </a:xfrm>
          <a:prstGeom prst="rect">
            <a:avLst/>
          </a:prstGeom>
          <a:solidFill>
            <a:srgbClr val="E0F2FE"/>
          </a:solidFill>
          <a:ln w="12700">
            <a:solidFill>
              <a:srgbClr val="0369A1"/>
            </a:solidFill>
            <a:prstDash val="solid"/>
          </a:ln>
        </p:spPr>
      </p:sp>
      <p:sp>
        <p:nvSpPr>
          <p:cNvPr id="5" name="Shape 2"/>
          <p:cNvSpPr/>
          <p:nvPr/>
        </p:nvSpPr>
        <p:spPr>
          <a:xfrm>
            <a:off x="809073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7" name="Text 3"/>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deal with a device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Polling</a:t>
            </a:r>
            <a:endParaRPr lang="en-US" sz="2000" dirty="0"/>
          </a:p>
        </p:txBody>
      </p:sp>
      <p:sp>
        <p:nvSpPr>
          <p:cNvPr id="6" name="Text 4"/>
          <p:cNvSpPr txBox="1"/>
          <p:nvPr/>
        </p:nvSpPr>
        <p:spPr>
          <a:xfrm>
            <a:off x="822960"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asks the device, again and again, whether it has something. Simple, and what a game does once per frame; wasteful when nothing happens.</a:t>
            </a:r>
            <a:endParaRPr lang="en-US" sz="2000" dirty="0"/>
          </a:p>
        </p:txBody>
      </p:sp>
      <p:sp>
        <p:nvSpPr>
          <p:cNvPr id="7" name="Shape 5"/>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Interrupts</a:t>
            </a:r>
            <a:endParaRPr lang="en-US" sz="2000" dirty="0"/>
          </a:p>
        </p:txBody>
      </p:sp>
      <p:sp>
        <p:nvSpPr>
          <p:cNvPr id="10" name="Text 8"/>
          <p:cNvSpPr txBox="1"/>
          <p:nvPr/>
        </p:nvSpPr>
        <p:spPr>
          <a:xfrm>
            <a:off x="4612538"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asks for attention when it needs it; the processor suspends what it is doing, serves the device and resumes. The subject of Lecture 19.</a:t>
            </a:r>
            <a:endParaRPr lang="en-US" sz="2000" dirty="0"/>
          </a:p>
        </p:txBody>
      </p:sp>
      <p:sp>
        <p:nvSpPr>
          <p:cNvPr id="11" name="Shape 9"/>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Direct memory access</a:t>
            </a:r>
            <a:endParaRPr lang="en-US" sz="2000" dirty="0"/>
          </a:p>
        </p:txBody>
      </p:sp>
      <p:sp>
        <p:nvSpPr>
          <p:cNvPr id="14" name="Text 12"/>
          <p:cNvSpPr txBox="1"/>
          <p:nvPr/>
        </p:nvSpPr>
        <p:spPr>
          <a:xfrm>
            <a:off x="8402117" y="2331720"/>
            <a:ext cx="2966618" cy="37033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device exchanges whole blocks of data with the memory by itself; the processor only starts the transfer and is told when it ends.</a:t>
            </a:r>
            <a:endParaRPr lang="en-US" sz="2000" dirty="0"/>
          </a:p>
        </p:txBody>
      </p:sp>
      <p:sp>
        <p:nvSpPr>
          <p:cNvPr id="15" name="Shape 13"/>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4"/>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8" name="Text 15"/>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polling, interrupts, DMA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the encoder of a keyboard controller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lights the key that was pressed</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turns a row and column combination into a key code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sends the code to the monitor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counts how long a key is held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colour LCD, a pixel is made of:</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that changes colour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cells with red, green and blue filters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phosphor dot hit by electrons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transistor that emits light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passive-matrix LCD show trails behind moving objects?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backlight is too weak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pixels are driven one at a time and must hold their state in between</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too few colours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video card is slow</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PRG32 game reads the joystick once per frame. This technique is called: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 memory access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interrupt-driven input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polling</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memory mapping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426903"/>
                <a:gridCol w="2600254"/>
                <a:gridCol w="2773604"/>
                <a:gridCol w="329365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cathode-ray tube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tubo a raggi catodici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pointing device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 di puntamento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liquid crystals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cristalli liquidi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dot-matrix / ink-jet printer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stampante ad aghi / a getto d'inchiostro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backlight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retroilluminazione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drum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tamburo / toner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active matrix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matrice attiva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polling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interrogazione ciclica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keyboard / key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tastiera / tasto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000" dirty="0"/>
          </a:p>
        </p:txBody>
      </p:sp>
      <p:sp>
        <p:nvSpPr>
          <p:cNvPr id="5" name="Shape 3"/>
          <p:cNvSpPr/>
          <p:nvPr/>
        </p:nvSpPr>
        <p:spPr>
          <a:xfrm>
            <a:off x="548640" y="19693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7843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Display technology has made enormous progress, from the electron beam to a transistor behind every pixel</a:t>
            </a:r>
            <a:endParaRPr lang="en-US" sz="2000" dirty="0"/>
          </a:p>
        </p:txBody>
      </p:sp>
      <p:sp>
        <p:nvSpPr>
          <p:cNvPr id="7" name="Shape 5"/>
          <p:cNvSpPr/>
          <p:nvPr/>
        </p:nvSpPr>
        <p:spPr>
          <a:xfrm>
            <a:off x="548640" y="27403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4942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Keyboard, mouse and printer have changed little in form, and inside they are built from encoders, counters and shift registers</a:t>
            </a:r>
            <a:endParaRPr lang="en-US" sz="2000" dirty="0"/>
          </a:p>
        </p:txBody>
      </p:sp>
      <p:sp>
        <p:nvSpPr>
          <p:cNvPr id="9" name="Shape 7"/>
          <p:cNvSpPr/>
          <p:nvPr/>
        </p:nvSpPr>
        <p:spPr>
          <a:xfrm>
            <a:off x="548640" y="351134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20415"/>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reaches the processor through a controller and a bus, and is handled by polling, by interrupts or by DMA</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PRG32 kit the whole chain, from a switch to a pixel, can be followed instruction by instruction</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 section 2.4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 on input/output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chapter 6: State and Input</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Input and Output</dc:title>
  <dc:subject>Lecture 21</dc:subject>
  <dc:creator>Raffaele Montella</dc:creator>
  <cp:lastModifiedBy>Raffaele Montella</cp:lastModifiedBy>
  <cp:revision>1</cp:revision>
  <dcterms:created xsi:type="dcterms:W3CDTF">2026-10-17T07:16:49Z</dcterms:created>
  <dcterms:modified xsi:type="dcterms:W3CDTF">2026-10-17T07:16:49Z</dcterms:modified>
</cp:coreProperties>
</file>