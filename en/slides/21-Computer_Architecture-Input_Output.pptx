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a1185b6-8fae-3be7-230b-de6ab9171f01}">
          <p14:sldIdLst>
            <p14:sldId id="256"/>
            <p14:sldId id="257"/>
          </p14:sldIdLst>
        </p14:section>
        <p14:section name="Displays" id="{779b8e20-5203-c69d-b89c-abfd1cccbc38}">
          <p14:sldIdLst>
            <p14:sldId id="258"/>
            <p14:sldId id="259"/>
            <p14:sldId id="260"/>
            <p14:sldId id="261"/>
            <p14:sldId id="262"/>
            <p14:sldId id="263"/>
          </p14:sldIdLst>
        </p14:section>
        <p14:section name="Keyboard and mouse" id="{53d925a1-e373-e2cd-7b0b-3d2b8568e5a0}">
          <p14:sldIdLst>
            <p14:sldId id="264"/>
            <p14:sldId id="265"/>
            <p14:sldId id="266"/>
            <p14:sldId id="267"/>
          </p14:sldIdLst>
        </p14:section>
        <p14:section name="Printers" id="{b10043c3-3fee-6f0d-26b9-9cd1a558e92e}">
          <p14:sldIdLst>
            <p14:sldId id="268"/>
            <p14:sldId id="269"/>
          </p14:sldIdLst>
        </p14:section>
        <p14:section name="Back to the machine" id="{e18a1a2c-6cdd-b29a-5f68-1d1fcde79f23}">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is about the border between the machine and the world: the devices through which information enters and leaves. You will see how a picture is formed on a screen, what happens between a key and the processor, what a mouse says, how a laser printer works. The thread that ties them together is that each of these devices, inside, is made of machines you have already designed. And the lecture begins and ends on the kit, with the device you have used since the first laboratory: a button.
For the lecturer: Spiral: the students have read the joystick since the first labs; the lecture opens by asking what is behind prg32_input_read, then covers the classic devices and the three ways a processor can deal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Describe how a picture is formed on a cathode-ray tube and on a liquid crystal display, and what an active matrix adds. Explain the path of a key press: matrix, encoder, shift register, serial interface. Say what a mouse sends to the computer and how often. Describe the stages of laser printing. Explain how the kit reads its joystick, and compare three techniques: polling, interrupts and direct memory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graphical display is a matrix of points, the pixels, each lit with its own intensity; an image is composed by switching pixels on and off. The first displays showed only characters, in black and white. The density of the pixels gives the resolution, the bits per pixel give the number of colours, from 256 to sixteen million and more. The size is the length of the diagonal, in inches. The display of the kit measures 2.8 inches, with 320 by 240 pixels.
For the lecturer: The display of the PRG32 kit: 2.8 inches, 320 by 240 pixels, 65,536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cathode-ray tube has a history of more than a century. It was born as a laboratory instrument with Crookes, in the 1870s; Braun made it an oscilloscope in 1897, its first practical use; Rosing in 1907 used it to display shapes from a received signal, the root of television; in 1934 the first television set with a CRT reached the market. From the 1970s to the 1990s it was the display of every terminal and personal computer.
For the lecturer: The last row summarises the era the original deck illustrated with pictures of an oscilloscope and of the Asteroids arcade cabinet (a vector display driven by a 6502).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 CRT works. A cathode, heated to incandescence, emits electrons. A high voltage between cathode and anode accelerates them into a beam, which other fields focus. Magnetic or electric fields deflect the beam, which strikes a point of the screen: the inner surface is coated with phosphor, and the point lights up. By sweeping the beam line by line, many times per second, the whole picture is painted before the eye notices that the first points have faded.
For the lecturer: The original schematic had Italian labels: grid, anode, deflection coil, heater, cathode, beam, focusing coil, fluorescent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Liquid crystal displays have replaced the tube almost everywhere: better picture, less bulk, weight and power, less strain for the eyes. Liquid crystals are organic molecules that flow like a liquid but keep an ordered structure. An electric field changes their orientation, and with it the way they rotate the polarisation of the light that crosses them. The useful image is the last line of the slide: a crystal is a valve for light, opened and closed by a voltage.
For the lecturer: LCD: liquid crystal display.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a panel there are many cells, each with its contacts, placed between two polarising filters with perpendicular axes, and a light behind. When the crystals of a cell are not driven they rotate the light, which then passes the front filter; when they are driven the light is blocked. In a colour screen each cell is divided in three, with a red, a green and a blue filter: these are the sub-pixels in the photograph, and the three fields of an RGB colour end up there as three voltages.
For the lecturer: Three sub-pixels per pixel: the R, G and B fields of the RGB565 colour of Lecture 04 end up here, as three voltages.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are millions of cells driven? A calculator has one contact per segment, which is impossible for a screen. A passive matrix has contacts per row and per column: only one pixel at a time is driven, and the others must remember their state by themselves, which they do badly; hence trails and crosstalk. An active matrix puts a transistor in every cell, in a thin film on the glass: the transistor keeps the state of its pixel while the others are updated. This is TFT, the technology of the display of the kit.
For the lecturer: TFT: thin-film transistor. The display of the kit is a TFT panel with an ILI9341 controller. New since the original deck: OLED displays, in which each pixel emits its own light and no backlight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keyboard derives from that of the typewriter and is the main device for entering characters. Its keys are grouped: alphanumeric, special, arrows and functions. Remember one fact, already met in the previous lecture: the keyboard and the video are not connected to each other. When a letter you type appears on the screen, it is because a program read a code from the keyboard and drew a character. Today keyboards are connected by USB or by radio.
For the lecturer: PS/2 was the standard connector before USB. The echo of a key on the screen is a program: read a code, draw a character.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a key press, from left to right. The keys are switches arranged in rows and columns: pressing D closes one crossing. An encoder turns the combination of row and column into a code of n bits. A shift register turns those n bits in parallel into n bits in series. A serial interface, for example a USB controller, delivers the code to the system bus and raises an interrupt. The encoder is that of Lecture 11, the shift register that of Lecture 14: you have designed every block of this slide.
For the lecturer: Every block of this slide is a machine the students have already designed: this is the pay-off of Lectures 11 to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mouse was invented in the 1960s by Douglas Engelbart: a wooden box with two wheels underneath and a wire coming out of the back, like a tail. The two wheels measured the movement along the two axes. In the mechanical mouse a ball turns two rollers, each connected to a counter. In the optical mouse a light and a tiny camera observe the surface below and measure how it moves. In all three, movement becomes two numbers.
For the lecturer: The original deck dates the mouse to 1967, the year the patent was filed; the first prototype is of 1964 and the famous public demonstration of 1968. Counters: the sequential machines of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mouse sends. Each time it moves by a minimum distance, about a hundredth of an inch, it sends three bytes: the movement along x since the last report, the movement along y, and the state of the buttons. Note that it sends movements, not positions: it is the program that keeps the position of the pointer, by adding. Inside, as on the right: two counters, a shift register, a serial interface. The software that talks to the device is its device driver.
For the lecturer: The original deck says the first byte reports the movement 'in the last 100 milliseconds'; modern mice report up to a thousand times per second. The signed movement bytes are two's complement numbers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printer is described by its speed, in lines or pages per minute, and by its resolution, in dots per inch. The technologies, in historical order: daisy wheel and chain printers, which struck whole characters and are disused; dot matrix, in which needles strike an inked ribbon; ink jet, with tiny drops of ink; laser. A printer is also a small computer, with its own processor, memory and firmware.
For the lecturer: Stampante a margherita, a catena, ad aghi, a getto di inchiostro, laser.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laser printer derives from the photocopier. A drum is charged to about a thousand volts. A laser beam, reflected by a rotating mirror, scans the drum along its length, switched on and off to draw one line of points; the points it strikes lose their charge. The toner is attracted by the points still charged. The drum is pressed against the paper and transfers the toner, which heated rollers fix. Follow the path of the paper in the figure. The page exists first as a bitmap in the printer's memory.
For the lecturer: Three slides of the original are merged. The page is first built as a bitmap in the printer's memory: a frame buffer for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devices of the kit in a table: for each, the direction, the connection and the functions with which a cartridge uses it. The joystick and the buttons are inputs, one switch per pin. The display is an output on an SPI bus. The amplifier with its speaker is an output on an I2S bus. The Wi-Fi radio and the USB port work in both directions. Notice that you have never touched any of these connections directly: the runtime does it, and offers you functions.
For the lecturer: Hardware from the PRG32 README and docs/hardware. A switch bounces for a few milliseconds when pressed; sampling it once per frame, every few tens of milliseconds, hides the bounce.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to deal with a device. Polling: the program asks the device, again and again, whether it has something; simple, and wasteful when nothing happens. Interrupts: the device asks for attention when it needs it, as in Lecture 19. Direct memory access: the device exchanges whole blocks of data with the memory by itself, and the processor is only told when it has finished. On the kit all three are at work: you poll the joystick, the timer interrupts, the display and the sound are fed by DMA.
For the lecturer: Programmed I/O, interrupt-driven I/O and DMA. On the kit all three are at work: your game polls the joystick, the timer that paces the frames interrupts, the display and the sound are fed by DMA.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the diagram of the key press: what goes into the encoder, and what comes out?
Recall the photograph of the pixels under the magnifier: how many coloured elements make up one pixel?
For the lecturer: 1. Answer: B. From a decoded position in the key matrix to a compact n-bit code, as the encoder of Lecture 11.
2. Answer: B. Three sub-pixels, each a liquid crystal cell behind a colour filter; a TFT in each stores its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in what a passive matrix lacks: something in each cell that keeps its state while the others are being driven.
Who takes the initiative, the program or the device? In the warm-up it is the program, once per frame.
For the lecturer: 1. Answer: B. Persistence: without a transistor per pixel, the cells respond slowly and keep their state badly while the others are scanned.
2. Answer: C. The program asks the device periodically. With interrupts the device would call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A cathode-ray tube is a tubo a raggi catodici; the backlight is the retroilluminazione. A pointing device is any device, like the mouse, that indicates a position. Dot-matrix and ink-jet printers are ad aghi and a getto d'inchiostro. Polling is interrogazione ciclica, though the English word is the one in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Input/output devices are a fundamental part of computers. Display technology has gone from an electron beam to a transistor behind every pixel. Keyboard, mouse and printer have changed little outside, and inside are made of encoders, counters and shift registers. A device reaches the processor through a controller and a bus, and is handled by polling, interrupts or DMA. And on the kit the whole chain, from a switch to a pixel, can be followed instruction by instruction. Next comes the last part of Verm1.
For the lecturer: Next: Verm1, part 4: the finished game. Then its publication on the Cartridge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21: Input and output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Input and Output</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Displays, keyboards, mice and printers: how the machine meets the world, and how a program reads a button</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“Need input!”</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Number 5, in the film Short Circuit, John Badham, 1986</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a picture is formed on a CRT and on an LCD, and what a TFT active matrix adds</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path of a key press: matrix, encoder, shift register, serial interface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mouse sends to the computer and how often</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the stages of laser printing</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the PRG32 kit reads its joystick, and compare polling, interrupts and DMA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video: an introduction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At first mostly character displays in black and white; today graphical and in colour</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graphical display is a matrix of points, the pixels, each lit with a different intensity</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image is composed by switching the pixels on and off</a:t>
            </a:r>
            <a:endParaRPr lang="en-US" sz="2200" dirty="0"/>
          </a:p>
        </p:txBody>
      </p:sp>
      <p:sp>
        <p:nvSpPr>
          <p:cNvPr id="9" name="Shape 7"/>
          <p:cNvSpPr/>
          <p:nvPr/>
        </p:nvSpPr>
        <p:spPr>
          <a:xfrm>
            <a:off x="548640" y="40673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6087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different density of pixels gives a different resolution; colours go from 256 (8 bits) to 16 million (24 bits) and beyond</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size is measured in inches along the diagonal: a 14-inch display has a diagonal of 14 inches</a:t>
            </a:r>
            <a:endParaRPr lang="en-US" sz="2200" dirty="0"/>
          </a:p>
        </p:txBody>
      </p:sp>
      <p:pic>
        <p:nvPicPr>
          <p:cNvPr id="13" name="Image 0" descr="/Users/raffaelemontella/devel/riscv-prg32/computer-architecture-with-prg32/tools/assets/mac_classic.jp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compact Macintosh: a 9-inch black-and-white CRT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cathode-ray tube: a short history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728135"/>
                <a:gridCol w="672939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Year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early 1870s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William Crookes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Crookes tube: the first cathode-ray tube, a laboratory instrument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1897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Karl Ferdinand Braun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Braun tube and the first cathode-ray oscilloscope: the first practical application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1907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Boris Rosing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CRT displays simple geometric shapes from a received video signal: the root of television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1934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Telefunken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first television set with a CRT on the market, in Germany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1970s-1990s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computer industry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CRT monitor: the display of every terminal and personal 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a CRT works</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cathode is a small metal element heated to incandescence, which emits electrons by the thermionic effect</a:t>
            </a:r>
            <a:endParaRPr lang="en-US" sz="1900" dirty="0"/>
          </a:p>
        </p:txBody>
      </p:sp>
      <p:sp>
        <p:nvSpPr>
          <p:cNvPr id="5" name="Shape 3"/>
          <p:cNvSpPr/>
          <p:nvPr/>
        </p:nvSpPr>
        <p:spPr>
          <a:xfrm>
            <a:off x="548640" y="2521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8451"/>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Inside the tube the electrons are directed into a beam by a high potential difference between cathode and anode</a:t>
            </a:r>
            <a:endParaRPr lang="en-US" sz="1900" dirty="0"/>
          </a:p>
        </p:txBody>
      </p:sp>
      <p:sp>
        <p:nvSpPr>
          <p:cNvPr id="7" name="Shape 5"/>
          <p:cNvSpPr/>
          <p:nvPr/>
        </p:nvSpPr>
        <p:spPr>
          <a:xfrm>
            <a:off x="548640" y="354276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9582"/>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Other electromagnetic fields focus the beam</a:t>
            </a:r>
            <a:endParaRPr lang="en-US" sz="1900" dirty="0"/>
          </a:p>
        </p:txBody>
      </p:sp>
      <p:sp>
        <p:nvSpPr>
          <p:cNvPr id="9" name="Shape 7"/>
          <p:cNvSpPr/>
          <p:nvPr/>
        </p:nvSpPr>
        <p:spPr>
          <a:xfrm>
            <a:off x="548640" y="39751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9194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beam, the electron brush, is deflected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by magnetic fields (the Lorentz force), or by electric fields</a:t>
            </a:r>
            <a:endParaRPr lang="en-US" sz="1900" dirty="0"/>
          </a:p>
        </p:txBody>
      </p:sp>
      <p:sp>
        <p:nvSpPr>
          <p:cNvPr id="11" name="Shape 9"/>
          <p:cNvSpPr/>
          <p:nvPr/>
        </p:nvSpPr>
        <p:spPr>
          <a:xfrm>
            <a:off x="548640" y="493986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56683"/>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strikes a point on the inner surface of the screen, coated with phosphor, which lights up</a:t>
            </a:r>
            <a:endParaRPr lang="en-US" sz="1900" dirty="0"/>
          </a:p>
        </p:txBody>
      </p:sp>
      <p:sp>
        <p:nvSpPr>
          <p:cNvPr id="13" name="Shape 11"/>
          <p:cNvSpPr/>
          <p:nvPr/>
        </p:nvSpPr>
        <p:spPr>
          <a:xfrm>
            <a:off x="548640" y="5666613"/>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Sweeping the beam line by line, many times per second, paints the picture</a:t>
            </a:r>
            <a:endParaRPr lang="en-US" sz="1900" dirty="0"/>
          </a:p>
        </p:txBody>
      </p:sp>
      <p:pic>
        <p:nvPicPr>
          <p:cNvPr id="15" name="Image 0" descr="/Users/raffaelemontella/devel/riscv-prg32/computer-architecture-with-prg32/tools/assets/crt_scope.jpg">    </p:cNvPr>
          <p:cNvPicPr>
            <a:picLocks noChangeAspect="1"/>
          </p:cNvPicPr>
          <p:nvPr/>
        </p:nvPicPr>
        <p:blipFill>
          <a:blip r:embed="rId1"/>
          <a:stretch>
            <a:fillRect/>
          </a:stretch>
        </p:blipFill>
        <p:spPr>
          <a:xfrm>
            <a:off x="7863840" y="1783916"/>
            <a:ext cx="3779215" cy="3564487"/>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cathode-ray oscilloscope used as a display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Liquid crystal displays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LCD monitors have almost completely replaced the cathode-ray tube</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Advantages: a better picture; less bulk, weight and power; less eye strain</a:t>
            </a:r>
            <a:endParaRPr lang="en-US" sz="2100" dirty="0"/>
          </a:p>
        </p:txBody>
      </p:sp>
      <p:sp>
        <p:nvSpPr>
          <p:cNvPr id="7" name="Shape 5"/>
          <p:cNvSpPr/>
          <p:nvPr/>
        </p:nvSpPr>
        <p:spPr>
          <a:xfrm>
            <a:off x="548640" y="30800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81325"/>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Liquid crystals are viscous organic molecules that flow like a liquid but have a spatial structure</a:t>
            </a:r>
            <a:endParaRPr lang="en-US" sz="2100" dirty="0"/>
          </a:p>
        </p:txBody>
      </p:sp>
      <p:sp>
        <p:nvSpPr>
          <p:cNvPr id="9" name="Shape 7"/>
          <p:cNvSpPr/>
          <p:nvPr/>
        </p:nvSpPr>
        <p:spPr>
          <a:xfrm>
            <a:off x="548640" y="41873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8702"/>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electric field changes the orientation of the molecules, and with it the optical properties of the crystal: the angle of polarisation of the light that crosses 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crystal is a valve for light, opened and closed by a voltage</a:t>
            </a:r>
            <a:endParaRPr lang="en-US" sz="2100" dirty="0"/>
          </a:p>
        </p:txBody>
      </p:sp>
      <p:pic>
        <p:nvPicPr>
          <p:cNvPr id="13" name="Image 0" descr="/Users/raffaelemontella/devel/riscv-prg32/computer-architecture-with-prg32/tools/assets/lcd_layers.jpg">    </p:cNvPr>
          <p:cNvPicPr>
            <a:picLocks noChangeAspect="1"/>
          </p:cNvPicPr>
          <p:nvPr/>
        </p:nvPicPr>
        <p:blipFill>
          <a:blip r:embed="rId1"/>
          <a:stretch>
            <a:fillRect/>
          </a:stretch>
        </p:blipFill>
        <p:spPr>
          <a:xfrm>
            <a:off x="7863840" y="2190813"/>
            <a:ext cx="3779215" cy="275069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layers of a liquid crystal display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Inside an LCD panel</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screen is made of many cells, often one per pixel, in which the liquid crystals are trapped</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Each cell has electrical contacts, so that a field can be applied to the liquid it contains</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cells lie between two polarising filters whose axes are perpendicular to each other, with a light behind the rear one</a:t>
            </a:r>
            <a:endParaRPr lang="en-US" sz="2000" dirty="0"/>
          </a:p>
        </p:txBody>
      </p:sp>
      <p:sp>
        <p:nvSpPr>
          <p:cNvPr id="9" name="Shape 7"/>
          <p:cNvSpPr/>
          <p:nvPr/>
        </p:nvSpPr>
        <p:spPr>
          <a:xfrm>
            <a:off x="548640" y="427196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81031"/>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Polarisation decides whether light passes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crystals not driven: the light is rotated and crosses the front polariser</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crystals driven: the light is completely blocked</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a colour screen each cell is divided into three sections with a red, a green and a blue filter</a:t>
            </a:r>
            <a:endParaRPr lang="en-US" sz="2000" dirty="0"/>
          </a:p>
        </p:txBody>
      </p:sp>
      <p:pic>
        <p:nvPicPr>
          <p:cNvPr id="13" name="Image 0" descr="/Users/raffaelemontella/devel/riscv-prg32/computer-architecture-with-prg32/tools/assets/lcd_pixels.jpg">    </p:cNvPr>
          <p:cNvPicPr>
            <a:picLocks noChangeAspect="1"/>
          </p:cNvPicPr>
          <p:nvPr/>
        </p:nvPicPr>
        <p:blipFill>
          <a:blip r:embed="rId1"/>
          <a:stretch>
            <a:fillRect/>
          </a:stretch>
        </p:blipFill>
        <p:spPr>
          <a:xfrm>
            <a:off x="7863840" y="1911062"/>
            <a:ext cx="3779215" cy="3310196"/>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Red, green and blue sub-pixels under the magnifier</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Driving the cells: from segments to the active matrix</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Segments and passive matrix</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Calculators and digital watches: one electrical contact per segment</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Impossible as the number of elements grows</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Passive matrix: one group of contacts per row and per column, not per pixel</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Only one pixel at a time is driven: the others must remember their state</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Problems: persistence (trails behind moving objects) and crosstalk</a:t>
            </a:r>
            <a:endParaRPr lang="en-US" sz="17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Active matrix: TFT</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Used for high-resolution screens</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panel contains a thin film of transistors, on a transparent semiconductor layer</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field is applied exactly where needed by a transistor in each cell</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transistor stores the electrical state of its pixel while the others are updated</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Each pixel is, in effect, a one-bit analogue memory cell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keyboard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Derived from that of typewriters; the main character input device</a:t>
            </a:r>
            <a:endParaRPr lang="en-US" sz="2200" dirty="0"/>
          </a:p>
        </p:txBody>
      </p:sp>
      <p:sp>
        <p:nvSpPr>
          <p:cNvPr id="5" name="Shape 3"/>
          <p:cNvSpPr/>
          <p:nvPr/>
        </p:nvSpPr>
        <p:spPr>
          <a:xfrm>
            <a:off x="548640" y="229381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7385"/>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Its keys are grouped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alphanumeric keys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special keys: enter, backspace, ...</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arrow keys and function keys</a:t>
            </a:r>
            <a:endParaRPr lang="en-US" sz="2200" dirty="0"/>
          </a:p>
        </p:txBody>
      </p:sp>
      <p:sp>
        <p:nvSpPr>
          <p:cNvPr id="7" name="Shape 5"/>
          <p:cNvSpPr/>
          <p:nvPr/>
        </p:nvSpPr>
        <p:spPr>
          <a:xfrm>
            <a:off x="548640" y="40567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50335"/>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Keyboard and video are not directly connected to each other</a:t>
            </a:r>
            <a:endParaRPr lang="en-US" sz="2200" dirty="0"/>
          </a:p>
        </p:txBody>
      </p:sp>
      <p:sp>
        <p:nvSpPr>
          <p:cNvPr id="9" name="Shape 7"/>
          <p:cNvSpPr/>
          <p:nvPr/>
        </p:nvSpPr>
        <p:spPr>
          <a:xfrm>
            <a:off x="548640" y="48268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0399"/>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the processor that reproduces on the video the information typed on the keyboard</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Today's keyboards connect through USB, or wirelessly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path of a key press</a:t>
            </a:r>
            <a:endParaRPr lang="en-US" sz="3200" dirty="0"/>
          </a:p>
        </p:txBody>
      </p:sp>
      <p:sp>
        <p:nvSpPr>
          <p:cNvPr id="3" name="Text 1"/>
          <p:cNvSpPr txBox="1"/>
          <p:nvPr/>
        </p:nvSpPr>
        <p:spPr>
          <a:xfrm>
            <a:off x="54864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Q</a:t>
            </a:r>
            <a:endParaRPr lang="en-US" sz="1500" dirty="0"/>
          </a:p>
        </p:txBody>
      </p:sp>
      <p:sp>
        <p:nvSpPr>
          <p:cNvPr id="4" name="Text 2"/>
          <p:cNvSpPr txBox="1"/>
          <p:nvPr/>
        </p:nvSpPr>
        <p:spPr>
          <a:xfrm>
            <a:off x="1115568"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W</a:t>
            </a:r>
            <a:endParaRPr lang="en-US" sz="1500" dirty="0"/>
          </a:p>
        </p:txBody>
      </p:sp>
      <p:sp>
        <p:nvSpPr>
          <p:cNvPr id="5" name="Text 3"/>
          <p:cNvSpPr txBox="1"/>
          <p:nvPr/>
        </p:nvSpPr>
        <p:spPr>
          <a:xfrm>
            <a:off x="1682496"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E</a:t>
            </a:r>
            <a:endParaRPr lang="en-US" sz="1500" dirty="0"/>
          </a:p>
        </p:txBody>
      </p:sp>
      <p:sp>
        <p:nvSpPr>
          <p:cNvPr id="6" name="Text 4"/>
          <p:cNvSpPr txBox="1"/>
          <p:nvPr/>
        </p:nvSpPr>
        <p:spPr>
          <a:xfrm>
            <a:off x="2249424"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R</a:t>
            </a:r>
            <a:endParaRPr lang="en-US" sz="1500" dirty="0"/>
          </a:p>
        </p:txBody>
      </p:sp>
      <p:sp>
        <p:nvSpPr>
          <p:cNvPr id="7" name="Text 5"/>
          <p:cNvSpPr txBox="1"/>
          <p:nvPr/>
        </p:nvSpPr>
        <p:spPr>
          <a:xfrm>
            <a:off x="2816352"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a:t>
            </a:r>
            <a:endParaRPr lang="en-US" sz="1500" dirty="0"/>
          </a:p>
        </p:txBody>
      </p:sp>
      <p:sp>
        <p:nvSpPr>
          <p:cNvPr id="8" name="Text 6"/>
          <p:cNvSpPr txBox="1"/>
          <p:nvPr/>
        </p:nvSpPr>
        <p:spPr>
          <a:xfrm>
            <a:off x="338328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Y</a:t>
            </a:r>
            <a:endParaRPr lang="en-US" sz="1500" dirty="0"/>
          </a:p>
        </p:txBody>
      </p:sp>
      <p:sp>
        <p:nvSpPr>
          <p:cNvPr id="9" name="Text 7"/>
          <p:cNvSpPr txBox="1"/>
          <p:nvPr/>
        </p:nvSpPr>
        <p:spPr>
          <a:xfrm>
            <a:off x="73152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A</a:t>
            </a:r>
            <a:endParaRPr lang="en-US" sz="1500" dirty="0"/>
          </a:p>
        </p:txBody>
      </p:sp>
      <p:sp>
        <p:nvSpPr>
          <p:cNvPr id="10" name="Text 8"/>
          <p:cNvSpPr txBox="1"/>
          <p:nvPr/>
        </p:nvSpPr>
        <p:spPr>
          <a:xfrm>
            <a:off x="1298448"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S</a:t>
            </a:r>
            <a:endParaRPr lang="en-US" sz="1500" dirty="0"/>
          </a:p>
        </p:txBody>
      </p:sp>
      <p:sp>
        <p:nvSpPr>
          <p:cNvPr id="11" name="Text 9"/>
          <p:cNvSpPr txBox="1"/>
          <p:nvPr/>
        </p:nvSpPr>
        <p:spPr>
          <a:xfrm>
            <a:off x="1865376" y="2167128"/>
            <a:ext cx="493776" cy="493776"/>
          </a:xfrm>
          <a:prstGeom prst="roundRect">
            <a:avLst>
              <a:gd name="adj" fmla="val 9259"/>
            </a:avLst>
          </a:prstGeom>
          <a:solidFill>
            <a:srgbClr val="C7791B"/>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D</a:t>
            </a:r>
            <a:endParaRPr lang="en-US" sz="1500" dirty="0"/>
          </a:p>
        </p:txBody>
      </p:sp>
      <p:sp>
        <p:nvSpPr>
          <p:cNvPr id="12" name="Text 10"/>
          <p:cNvSpPr txBox="1"/>
          <p:nvPr/>
        </p:nvSpPr>
        <p:spPr>
          <a:xfrm>
            <a:off x="2432304"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F</a:t>
            </a:r>
            <a:endParaRPr lang="en-US" sz="1500" dirty="0"/>
          </a:p>
        </p:txBody>
      </p:sp>
      <p:sp>
        <p:nvSpPr>
          <p:cNvPr id="13" name="Text 11"/>
          <p:cNvSpPr txBox="1"/>
          <p:nvPr/>
        </p:nvSpPr>
        <p:spPr>
          <a:xfrm>
            <a:off x="2999232"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G</a:t>
            </a:r>
            <a:endParaRPr lang="en-US" sz="1500" dirty="0"/>
          </a:p>
        </p:txBody>
      </p:sp>
      <p:sp>
        <p:nvSpPr>
          <p:cNvPr id="14" name="Text 12"/>
          <p:cNvSpPr txBox="1"/>
          <p:nvPr/>
        </p:nvSpPr>
        <p:spPr>
          <a:xfrm>
            <a:off x="356616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H</a:t>
            </a:r>
            <a:endParaRPr lang="en-US" sz="1500" dirty="0"/>
          </a:p>
        </p:txBody>
      </p:sp>
      <p:sp>
        <p:nvSpPr>
          <p:cNvPr id="15" name="Text 13"/>
          <p:cNvSpPr txBox="1"/>
          <p:nvPr/>
        </p:nvSpPr>
        <p:spPr>
          <a:xfrm>
            <a:off x="91440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Z</a:t>
            </a:r>
            <a:endParaRPr lang="en-US" sz="1500" dirty="0"/>
          </a:p>
        </p:txBody>
      </p:sp>
      <p:sp>
        <p:nvSpPr>
          <p:cNvPr id="16" name="Text 14"/>
          <p:cNvSpPr txBox="1"/>
          <p:nvPr/>
        </p:nvSpPr>
        <p:spPr>
          <a:xfrm>
            <a:off x="1481328"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X</a:t>
            </a:r>
            <a:endParaRPr lang="en-US" sz="1500" dirty="0"/>
          </a:p>
        </p:txBody>
      </p:sp>
      <p:sp>
        <p:nvSpPr>
          <p:cNvPr id="17" name="Text 15"/>
          <p:cNvSpPr txBox="1"/>
          <p:nvPr/>
        </p:nvSpPr>
        <p:spPr>
          <a:xfrm>
            <a:off x="2048256"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C</a:t>
            </a:r>
            <a:endParaRPr lang="en-US" sz="1500" dirty="0"/>
          </a:p>
        </p:txBody>
      </p:sp>
      <p:sp>
        <p:nvSpPr>
          <p:cNvPr id="18" name="Text 16"/>
          <p:cNvSpPr txBox="1"/>
          <p:nvPr/>
        </p:nvSpPr>
        <p:spPr>
          <a:xfrm>
            <a:off x="2615184"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V</a:t>
            </a:r>
            <a:endParaRPr lang="en-US" sz="1500" dirty="0"/>
          </a:p>
        </p:txBody>
      </p:sp>
      <p:sp>
        <p:nvSpPr>
          <p:cNvPr id="19" name="Text 17"/>
          <p:cNvSpPr txBox="1"/>
          <p:nvPr/>
        </p:nvSpPr>
        <p:spPr>
          <a:xfrm>
            <a:off x="3182112"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B</a:t>
            </a:r>
            <a:endParaRPr lang="en-US" sz="1500" dirty="0"/>
          </a:p>
        </p:txBody>
      </p:sp>
      <p:sp>
        <p:nvSpPr>
          <p:cNvPr id="20" name="Text 18"/>
          <p:cNvSpPr txBox="1"/>
          <p:nvPr/>
        </p:nvSpPr>
        <p:spPr>
          <a:xfrm>
            <a:off x="374904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N</a:t>
            </a:r>
            <a:endParaRPr lang="en-US" sz="1500" dirty="0"/>
          </a:p>
        </p:txBody>
      </p:sp>
      <p:sp>
        <p:nvSpPr>
          <p:cNvPr id="21" name="Text 19"/>
          <p:cNvSpPr txBox="1"/>
          <p:nvPr/>
        </p:nvSpPr>
        <p:spPr>
          <a:xfrm>
            <a:off x="548640" y="3337560"/>
            <a:ext cx="384048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rows and columns of switches</a:t>
            </a:r>
            <a:endParaRPr lang="en-US" sz="1250" dirty="0"/>
          </a:p>
        </p:txBody>
      </p:sp>
      <p:sp>
        <p:nvSpPr>
          <p:cNvPr id="22" name="Text 20"/>
          <p:cNvSpPr txBox="1"/>
          <p:nvPr/>
        </p:nvSpPr>
        <p:spPr>
          <a:xfrm>
            <a:off x="4572000" y="1783080"/>
            <a:ext cx="2148840" cy="1188720"/>
          </a:xfrm>
          <a:prstGeom prst="roundRect">
            <a:avLst>
              <a:gd name="adj" fmla="val 4615"/>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encoder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row and column</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to an n-bit code</a:t>
            </a:r>
            <a:endParaRPr lang="en-US" sz="1500" dirty="0"/>
          </a:p>
        </p:txBody>
      </p:sp>
      <p:sp>
        <p:nvSpPr>
          <p:cNvPr id="23" name="Shape 21"/>
          <p:cNvSpPr/>
          <p:nvPr/>
        </p:nvSpPr>
        <p:spPr>
          <a:xfrm>
            <a:off x="4270248" y="2377440"/>
            <a:ext cx="274320" cy="0"/>
          </a:xfrm>
          <a:prstGeom prst="line">
            <a:avLst/>
          </a:prstGeom>
          <a:noFill/>
          <a:ln w="31750">
            <a:solidFill>
              <a:srgbClr val="5B6B78"/>
            </a:solidFill>
            <a:prstDash val="solid"/>
            <a:tailEnd type="triangle"/>
          </a:ln>
        </p:spPr>
      </p:sp>
      <p:sp>
        <p:nvSpPr>
          <p:cNvPr id="24" name="Text 22"/>
          <p:cNvSpPr txBox="1"/>
          <p:nvPr/>
        </p:nvSpPr>
        <p:spPr>
          <a:xfrm>
            <a:off x="7040880" y="1783080"/>
            <a:ext cx="2148840" cy="1188720"/>
          </a:xfrm>
          <a:prstGeom prst="roundRect">
            <a:avLst>
              <a:gd name="adj" fmla="val 4615"/>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shift register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n bits in parallel</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to n bits in series</a:t>
            </a:r>
            <a:endParaRPr lang="en-US" sz="1500" dirty="0"/>
          </a:p>
        </p:txBody>
      </p:sp>
      <p:sp>
        <p:nvSpPr>
          <p:cNvPr id="25" name="Shape 23"/>
          <p:cNvSpPr/>
          <p:nvPr/>
        </p:nvSpPr>
        <p:spPr>
          <a:xfrm>
            <a:off x="6739128" y="2377440"/>
            <a:ext cx="274320" cy="0"/>
          </a:xfrm>
          <a:prstGeom prst="line">
            <a:avLst/>
          </a:prstGeom>
          <a:noFill/>
          <a:ln w="31750">
            <a:solidFill>
              <a:srgbClr val="5B6B78"/>
            </a:solidFill>
            <a:prstDash val="solid"/>
            <a:tailEnd type="triangle"/>
          </a:ln>
        </p:spPr>
      </p:sp>
      <p:sp>
        <p:nvSpPr>
          <p:cNvPr id="26" name="Text 24"/>
          <p:cNvSpPr txBox="1"/>
          <p:nvPr/>
        </p:nvSpPr>
        <p:spPr>
          <a:xfrm>
            <a:off x="9509760" y="1783080"/>
            <a:ext cx="2148840" cy="1188720"/>
          </a:xfrm>
          <a:prstGeom prst="roundRect">
            <a:avLst>
              <a:gd name="adj" fmla="val 4615"/>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serial interface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for example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a USB controller</a:t>
            </a:r>
            <a:endParaRPr lang="en-US" sz="1500" dirty="0"/>
          </a:p>
        </p:txBody>
      </p:sp>
      <p:sp>
        <p:nvSpPr>
          <p:cNvPr id="27" name="Shape 25"/>
          <p:cNvSpPr/>
          <p:nvPr/>
        </p:nvSpPr>
        <p:spPr>
          <a:xfrm>
            <a:off x="9208008" y="2377440"/>
            <a:ext cx="274320" cy="0"/>
          </a:xfrm>
          <a:prstGeom prst="line">
            <a:avLst/>
          </a:prstGeom>
          <a:noFill/>
          <a:ln w="31750">
            <a:solidFill>
              <a:srgbClr val="5B6B78"/>
            </a:solidFill>
            <a:prstDash val="solid"/>
            <a:tailEnd type="triangle"/>
          </a:ln>
        </p:spPr>
      </p:sp>
      <p:sp>
        <p:nvSpPr>
          <p:cNvPr id="28" name="Shape 26"/>
          <p:cNvSpPr/>
          <p:nvPr/>
        </p:nvSpPr>
        <p:spPr>
          <a:xfrm>
            <a:off x="10584180" y="2999232"/>
            <a:ext cx="0" cy="658368"/>
          </a:xfrm>
          <a:prstGeom prst="line">
            <a:avLst/>
          </a:prstGeom>
          <a:noFill/>
          <a:ln w="31750">
            <a:solidFill>
              <a:srgbClr val="5B6B78"/>
            </a:solidFill>
            <a:prstDash val="solid"/>
            <a:tailEnd type="triangle"/>
          </a:ln>
        </p:spPr>
      </p:sp>
      <p:sp>
        <p:nvSpPr>
          <p:cNvPr id="29" name="Shape 27"/>
          <p:cNvSpPr/>
          <p:nvPr/>
        </p:nvSpPr>
        <p:spPr>
          <a:xfrm>
            <a:off x="4572000" y="3703320"/>
            <a:ext cx="7071055" cy="0"/>
          </a:xfrm>
          <a:prstGeom prst="line">
            <a:avLst/>
          </a:prstGeom>
          <a:noFill/>
          <a:ln w="76200">
            <a:solidFill>
              <a:srgbClr val="C7791B"/>
            </a:solidFill>
            <a:prstDash val="solid"/>
          </a:ln>
        </p:spPr>
      </p:sp>
      <p:sp>
        <p:nvSpPr>
          <p:cNvPr id="30" name="Text 28"/>
          <p:cNvSpPr txBox="1"/>
          <p:nvPr/>
        </p:nvSpPr>
        <p:spPr>
          <a:xfrm>
            <a:off x="4572000" y="3794760"/>
            <a:ext cx="18288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system bus</a:t>
            </a:r>
            <a:endParaRPr lang="en-US" sz="1300" dirty="0"/>
          </a:p>
        </p:txBody>
      </p:sp>
      <p:sp>
        <p:nvSpPr>
          <p:cNvPr id="31" name="Shape 29"/>
          <p:cNvSpPr/>
          <p:nvPr/>
        </p:nvSpPr>
        <p:spPr>
          <a:xfrm>
            <a:off x="548640" y="4365371"/>
            <a:ext cx="146304" cy="146304"/>
          </a:xfrm>
          <a:prstGeom prst="rect">
            <a:avLst/>
          </a:prstGeom>
          <a:solidFill>
            <a:srgbClr val="0E7C86"/>
          </a:solidFill>
          <a:ln w="12700">
            <a:solidFill>
              <a:srgbClr val="0E7C86"/>
            </a:solidFill>
            <a:prstDash val="solid"/>
          </a:ln>
        </p:spPr>
      </p:sp>
      <p:sp>
        <p:nvSpPr>
          <p:cNvPr id="32" name="Text 30"/>
          <p:cNvSpPr txBox="1"/>
          <p:nvPr/>
        </p:nvSpPr>
        <p:spPr>
          <a:xfrm>
            <a:off x="932688" y="429768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keyboard is managed by a keyboard controller</a:t>
            </a:r>
            <a:endParaRPr lang="en-US" sz="1700" dirty="0"/>
          </a:p>
        </p:txBody>
      </p:sp>
      <p:sp>
        <p:nvSpPr>
          <p:cNvPr id="33" name="Shape 31"/>
          <p:cNvSpPr/>
          <p:nvPr/>
        </p:nvSpPr>
        <p:spPr>
          <a:xfrm>
            <a:off x="548640" y="4814612"/>
            <a:ext cx="146304" cy="146304"/>
          </a:xfrm>
          <a:prstGeom prst="rect">
            <a:avLst/>
          </a:prstGeom>
          <a:solidFill>
            <a:srgbClr val="C7791B"/>
          </a:solidFill>
          <a:ln w="12700">
            <a:solidFill>
              <a:srgbClr val="C7791B"/>
            </a:solidFill>
            <a:prstDash val="solid"/>
          </a:ln>
        </p:spPr>
      </p:sp>
      <p:sp>
        <p:nvSpPr>
          <p:cNvPr id="34" name="Text 32"/>
          <p:cNvSpPr txBox="1"/>
          <p:nvPr/>
        </p:nvSpPr>
        <p:spPr>
          <a:xfrm>
            <a:off x="932688" y="474692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encoder turns a combination of row and column into a code of n bits: the encoder of Lecture 11</a:t>
            </a:r>
            <a:endParaRPr lang="en-US" sz="1700" dirty="0"/>
          </a:p>
        </p:txBody>
      </p:sp>
      <p:sp>
        <p:nvSpPr>
          <p:cNvPr id="35" name="Shape 33"/>
          <p:cNvSpPr/>
          <p:nvPr/>
        </p:nvSpPr>
        <p:spPr>
          <a:xfrm>
            <a:off x="548640" y="5263854"/>
            <a:ext cx="146304" cy="146304"/>
          </a:xfrm>
          <a:prstGeom prst="rect">
            <a:avLst/>
          </a:prstGeom>
          <a:solidFill>
            <a:srgbClr val="0E7C86"/>
          </a:solidFill>
          <a:ln w="12700">
            <a:solidFill>
              <a:srgbClr val="0E7C86"/>
            </a:solidFill>
            <a:prstDash val="solid"/>
          </a:ln>
        </p:spPr>
      </p:sp>
      <p:sp>
        <p:nvSpPr>
          <p:cNvPr id="36" name="Text 34"/>
          <p:cNvSpPr txBox="1"/>
          <p:nvPr/>
        </p:nvSpPr>
        <p:spPr>
          <a:xfrm>
            <a:off x="932688" y="5196163"/>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shift register turns the n bits into a sequence, to be handled serially: the shift register of Lecture 14</a:t>
            </a:r>
            <a:endParaRPr lang="en-US" sz="1700" dirty="0"/>
          </a:p>
        </p:txBody>
      </p:sp>
      <p:sp>
        <p:nvSpPr>
          <p:cNvPr id="37" name="Shape 35"/>
          <p:cNvSpPr/>
          <p:nvPr/>
        </p:nvSpPr>
        <p:spPr>
          <a:xfrm>
            <a:off x="548640" y="5976493"/>
            <a:ext cx="146304" cy="146304"/>
          </a:xfrm>
          <a:prstGeom prst="rect">
            <a:avLst/>
          </a:prstGeom>
          <a:solidFill>
            <a:srgbClr val="C7791B"/>
          </a:solidFill>
          <a:ln w="12700">
            <a:solidFill>
              <a:srgbClr val="C7791B"/>
            </a:solidFill>
            <a:prstDash val="solid"/>
          </a:ln>
        </p:spPr>
      </p:sp>
      <p:sp>
        <p:nvSpPr>
          <p:cNvPr id="38" name="Text 36"/>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serial interface sends the code to the system bus in the proper way, and raises an interrupt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mouse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Invented in the 1960s by Douglas Engelbart: the first pointing device in history</a:t>
            </a:r>
            <a:endParaRPr lang="en-US" sz="2200" dirty="0"/>
          </a:p>
        </p:txBody>
      </p:sp>
      <p:sp>
        <p:nvSpPr>
          <p:cNvPr id="5" name="Shape 3"/>
          <p:cNvSpPr/>
          <p:nvPr/>
        </p:nvSpPr>
        <p:spPr>
          <a:xfrm>
            <a:off x="548640" y="2627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0823"/>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wooden box with two wheels underneath and a wire leaving from the back, like the tail of a mouse</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two wheels detected the movements along the horizontal and the vertical axis; the electronics turned them into electrical signals</a:t>
            </a:r>
            <a:endParaRPr lang="en-US" sz="2200" dirty="0"/>
          </a:p>
        </p:txBody>
      </p:sp>
      <p:sp>
        <p:nvSpPr>
          <p:cNvPr id="9" name="Shape 7"/>
          <p:cNvSpPr/>
          <p:nvPr/>
        </p:nvSpPr>
        <p:spPr>
          <a:xfrm>
            <a:off x="548640" y="48342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782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Mechanical mouse: a ball turns two rollers, each driving a counter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Optical mouse: a light source and a tiny camera measure the movement of the surface underneath</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 mouse sends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time it moves by a minimum distance, about a hundredth of an inch, called a mickey, the mouse sends three bytes</a:t>
            </a:r>
            <a:endParaRPr lang="en-US" sz="2200" dirty="0"/>
          </a:p>
        </p:txBody>
      </p:sp>
      <p:sp>
        <p:nvSpPr>
          <p:cNvPr id="5" name="Shape 3"/>
          <p:cNvSpPr/>
          <p:nvPr/>
        </p:nvSpPr>
        <p:spPr>
          <a:xfrm>
            <a:off x="548640" y="28829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776474"/>
            <a:ext cx="61996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1: how many units it moved along x since the last report</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2: the movement along y</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3: the state of the buttons</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control software, the device driver, supervises the communication with the processor</a:t>
            </a:r>
            <a:endParaRPr lang="en-US" sz="2200" dirty="0"/>
          </a:p>
        </p:txBody>
      </p:sp>
      <p:sp>
        <p:nvSpPr>
          <p:cNvPr id="13" name="Text 11"/>
          <p:cNvSpPr txBox="1"/>
          <p:nvPr/>
        </p:nvSpPr>
        <p:spPr>
          <a:xfrm>
            <a:off x="7680960" y="1874520"/>
            <a:ext cx="329184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two counters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x and y movement</a:t>
            </a:r>
            <a:endParaRPr lang="en-US" sz="1500" dirty="0"/>
          </a:p>
        </p:txBody>
      </p:sp>
      <p:sp>
        <p:nvSpPr>
          <p:cNvPr id="14" name="Shape 12"/>
          <p:cNvSpPr/>
          <p:nvPr/>
        </p:nvSpPr>
        <p:spPr>
          <a:xfrm>
            <a:off x="9326880" y="2816352"/>
            <a:ext cx="0" cy="310896"/>
          </a:xfrm>
          <a:prstGeom prst="line">
            <a:avLst/>
          </a:prstGeom>
          <a:noFill/>
          <a:ln w="31750">
            <a:solidFill>
              <a:srgbClr val="5B6B78"/>
            </a:solidFill>
            <a:prstDash val="solid"/>
            <a:tailEnd type="triangle"/>
          </a:ln>
        </p:spPr>
      </p:sp>
      <p:sp>
        <p:nvSpPr>
          <p:cNvPr id="15" name="Text 13"/>
          <p:cNvSpPr txBox="1"/>
          <p:nvPr/>
        </p:nvSpPr>
        <p:spPr>
          <a:xfrm>
            <a:off x="7680960" y="3154680"/>
            <a:ext cx="3291840" cy="914400"/>
          </a:xfrm>
          <a:prstGeom prst="roundRect">
            <a:avLst>
              <a:gd name="adj" fmla="val 6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shift register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three bytes, in series</a:t>
            </a:r>
            <a:endParaRPr lang="en-US" sz="1500" dirty="0"/>
          </a:p>
        </p:txBody>
      </p:sp>
      <p:sp>
        <p:nvSpPr>
          <p:cNvPr id="16" name="Shape 14"/>
          <p:cNvSpPr/>
          <p:nvPr/>
        </p:nvSpPr>
        <p:spPr>
          <a:xfrm>
            <a:off x="9326880" y="4096512"/>
            <a:ext cx="0" cy="310896"/>
          </a:xfrm>
          <a:prstGeom prst="line">
            <a:avLst/>
          </a:prstGeom>
          <a:noFill/>
          <a:ln w="31750">
            <a:solidFill>
              <a:srgbClr val="5B6B78"/>
            </a:solidFill>
            <a:prstDash val="solid"/>
            <a:tailEnd type="triangle"/>
          </a:ln>
        </p:spPr>
      </p:sp>
      <p:sp>
        <p:nvSpPr>
          <p:cNvPr id="17" name="Text 15"/>
          <p:cNvSpPr txBox="1"/>
          <p:nvPr/>
        </p:nvSpPr>
        <p:spPr>
          <a:xfrm>
            <a:off x="7680960" y="4434840"/>
            <a:ext cx="3291840" cy="914400"/>
          </a:xfrm>
          <a:prstGeom prst="roundRect">
            <a:avLst>
              <a:gd name="adj" fmla="val 6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serial interface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USB controller</a:t>
            </a:r>
            <a:endParaRPr lang="en-US" sz="1500" dirty="0"/>
          </a:p>
        </p:txBody>
      </p:sp>
      <p:sp>
        <p:nvSpPr>
          <p:cNvPr id="18" name="Text 16"/>
          <p:cNvSpPr txBox="1"/>
          <p:nvPr/>
        </p:nvSpPr>
        <p:spPr>
          <a:xfrm>
            <a:off x="768096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dx</a:t>
            </a:r>
            <a:endParaRPr lang="en-US" sz="1400" dirty="0"/>
          </a:p>
        </p:txBody>
      </p:sp>
      <p:sp>
        <p:nvSpPr>
          <p:cNvPr id="19" name="Text 17"/>
          <p:cNvSpPr txBox="1"/>
          <p:nvPr/>
        </p:nvSpPr>
        <p:spPr>
          <a:xfrm>
            <a:off x="877824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dy</a:t>
            </a:r>
            <a:endParaRPr lang="en-US" sz="1400" dirty="0"/>
          </a:p>
        </p:txBody>
      </p:sp>
      <p:sp>
        <p:nvSpPr>
          <p:cNvPr id="20" name="Text 18"/>
          <p:cNvSpPr txBox="1"/>
          <p:nvPr/>
        </p:nvSpPr>
        <p:spPr>
          <a:xfrm>
            <a:off x="9875520" y="5806440"/>
            <a:ext cx="1097280" cy="54864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buttons</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printer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output device that prints information on paper</a:t>
            </a:r>
            <a:endParaRPr lang="en-US" sz="2200" dirty="0"/>
          </a:p>
        </p:txBody>
      </p:sp>
      <p:sp>
        <p:nvSpPr>
          <p:cNvPr id="5" name="Shape 3"/>
          <p:cNvSpPr/>
          <p:nvPr/>
        </p:nvSpPr>
        <p:spPr>
          <a:xfrm>
            <a:off x="548640" y="22110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0464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Printing speed: lines per minute, characters per second or pages per minute</a:t>
            </a:r>
            <a:endParaRPr lang="en-US" sz="2200" dirty="0"/>
          </a:p>
        </p:txBody>
      </p:sp>
      <p:sp>
        <p:nvSpPr>
          <p:cNvPr id="7" name="Shape 5"/>
          <p:cNvSpPr/>
          <p:nvPr/>
        </p:nvSpPr>
        <p:spPr>
          <a:xfrm>
            <a:off x="548640" y="289839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9196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Resolution, the print quality: dots per inch</a:t>
            </a:r>
            <a:endParaRPr lang="en-US" sz="2200" dirty="0"/>
          </a:p>
        </p:txBody>
      </p:sp>
      <p:sp>
        <p:nvSpPr>
          <p:cNvPr id="9" name="Shape 7"/>
          <p:cNvSpPr/>
          <p:nvPr/>
        </p:nvSpPr>
        <p:spPr>
          <a:xfrm>
            <a:off x="548640" y="35857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79292"/>
            <a:ext cx="10710367" cy="16647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Kinds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daisy wheel and chain printers, now disused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dot matrix: needles strike an inked ribbon</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ink jet: tiny drops of ink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laser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printer is also a small computer: it has its own processor, memory and firmware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laser printer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derives from the photocopier</a:t>
            </a:r>
            <a:endParaRPr lang="en-US" sz="1900" dirty="0"/>
          </a:p>
        </p:txBody>
      </p:sp>
      <p:sp>
        <p:nvSpPr>
          <p:cNvPr id="5" name="Shape 3"/>
          <p:cNvSpPr/>
          <p:nvPr/>
        </p:nvSpPr>
        <p:spPr>
          <a:xfrm>
            <a:off x="548640" y="203934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56156"/>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drum is charged electrically, to about 1,000 volts</a:t>
            </a:r>
            <a:endParaRPr lang="en-US" sz="1900" dirty="0"/>
          </a:p>
        </p:txBody>
      </p:sp>
      <p:sp>
        <p:nvSpPr>
          <p:cNvPr id="7" name="Shape 5"/>
          <p:cNvSpPr/>
          <p:nvPr/>
        </p:nvSpPr>
        <p:spPr>
          <a:xfrm>
            <a:off x="548640" y="257817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494991"/>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laser beam, reflected by a rotating mirror, scans the length of the drum; the beam is modulated to produce a pattern of light and dark points</a:t>
            </a:r>
            <a:endParaRPr lang="en-US" sz="1900" dirty="0"/>
          </a:p>
        </p:txBody>
      </p:sp>
      <p:sp>
        <p:nvSpPr>
          <p:cNvPr id="9" name="Shape 7"/>
          <p:cNvSpPr/>
          <p:nvPr/>
        </p:nvSpPr>
        <p:spPr>
          <a:xfrm>
            <a:off x="548640" y="370578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22599"/>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points struck by the beam lose their charge; after each line the drum turns a fraction of a degree</a:t>
            </a:r>
            <a:endParaRPr lang="en-US" sz="1900" dirty="0"/>
          </a:p>
        </p:txBody>
      </p:sp>
      <p:sp>
        <p:nvSpPr>
          <p:cNvPr id="11" name="Shape 9"/>
          <p:cNvSpPr/>
          <p:nvPr/>
        </p:nvSpPr>
        <p:spPr>
          <a:xfrm>
            <a:off x="548640" y="45390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4558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toner is attracted by the points that are still charged: an image of the line is formed</a:t>
            </a:r>
            <a:endParaRPr lang="en-US" sz="1900" dirty="0"/>
          </a:p>
        </p:txBody>
      </p:sp>
      <p:sp>
        <p:nvSpPr>
          <p:cNvPr id="13" name="Shape 11"/>
          <p:cNvSpPr/>
          <p:nvPr/>
        </p:nvSpPr>
        <p:spPr>
          <a:xfrm>
            <a:off x="548640" y="5372227"/>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drum is pressed against the paper and transfers the toner; heated rollers fix it permanently; the drum is discharged and cleaned</a:t>
            </a:r>
            <a:endParaRPr lang="en-US" sz="1900" dirty="0"/>
          </a:p>
        </p:txBody>
      </p:sp>
      <p:pic>
        <p:nvPicPr>
          <p:cNvPr id="15" name="Image 0" descr="/Users/raffaelemontella/devel/riscv-prg32/computer-architecture-with-prg32/tools/assets/laser_printer.jpg">    </p:cNvPr>
          <p:cNvPicPr>
            <a:picLocks noChangeAspect="1"/>
          </p:cNvPicPr>
          <p:nvPr/>
        </p:nvPicPr>
        <p:blipFill>
          <a:blip r:embed="rId1"/>
          <a:stretch>
            <a:fillRect/>
          </a:stretch>
        </p:blipFill>
        <p:spPr>
          <a:xfrm>
            <a:off x="7863840" y="2253742"/>
            <a:ext cx="3779215" cy="2624837"/>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path of the paper in a laser printer</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devices of the PRG32 kit</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1636881"/>
                <a:gridCol w="3273762"/>
                <a:gridCol w="363751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Device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Direction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it is connected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a cartridge uses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joystick and buttons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switch per input pin (GPIO)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prg32_input_read: one bit per button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 320 x 240 TFT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SPI serial bus, with DMA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prg32_gfx_* calls draw into the frame buffer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amplifier and speaker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I2S serial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 calls: notes, samples, music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Wi-Fi radio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 and 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inside the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upload, the Store, multiplayer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USB serial 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 and 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USB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flashing the firmware, debug messages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ways to deal with a device</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Polling</a:t>
            </a:r>
            <a:endParaRPr lang="en-US" sz="2000" dirty="0"/>
          </a:p>
        </p:txBody>
      </p:sp>
      <p:sp>
        <p:nvSpPr>
          <p:cNvPr id="6" name="Text 4"/>
          <p:cNvSpPr txBox="1"/>
          <p:nvPr/>
        </p:nvSpPr>
        <p:spPr>
          <a:xfrm>
            <a:off x="822960"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program asks the device, again and again, whether it has something. Simple, and what a game does once per frame; wasteful when nothing happens.</a:t>
            </a:r>
            <a:endParaRPr lang="en-US" sz="2000" dirty="0"/>
          </a:p>
        </p:txBody>
      </p:sp>
      <p:sp>
        <p:nvSpPr>
          <p:cNvPr id="7" name="Shape 5"/>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Interrupts</a:t>
            </a:r>
            <a:endParaRPr lang="en-US" sz="2000" dirty="0"/>
          </a:p>
        </p:txBody>
      </p:sp>
      <p:sp>
        <p:nvSpPr>
          <p:cNvPr id="10" name="Text 8"/>
          <p:cNvSpPr txBox="1"/>
          <p:nvPr/>
        </p:nvSpPr>
        <p:spPr>
          <a:xfrm>
            <a:off x="4612538"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device asks for attention when it needs it; the processor suspends what it is doing, serves the device and resumes. The subject of Lecture 19.</a:t>
            </a:r>
            <a:endParaRPr lang="en-US" sz="2000" dirty="0"/>
          </a:p>
        </p:txBody>
      </p:sp>
      <p:sp>
        <p:nvSpPr>
          <p:cNvPr id="11" name="Shape 9"/>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Direct memory access</a:t>
            </a:r>
            <a:endParaRPr lang="en-US" sz="2000" dirty="0"/>
          </a:p>
        </p:txBody>
      </p:sp>
      <p:sp>
        <p:nvSpPr>
          <p:cNvPr id="14" name="Text 12"/>
          <p:cNvSpPr txBox="1"/>
          <p:nvPr/>
        </p:nvSpPr>
        <p:spPr>
          <a:xfrm>
            <a:off x="8402117"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device exchanges whole blocks of data with the memory by itself; the processor only starts the transfer and is told when it ends.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does the encoder of a keyboard controller do?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lights the key that was pressed</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turns a row and column combination into a key code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sends the code to the monitor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counts how long a key is held</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colour LCD, a pixel is made of:</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cell that changes colour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cells with red, green and blue filters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phosphor dot hit by electrons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transistor that emits light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a passive-matrix LCD show trails behind moving objects?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backlight is too weak</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pixels are driven one at a time and must hold their state in between</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has too few colours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video card is slow</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PRG32 game reads the joystick once per frame. This technique is called: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direct memory access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interrupt-driven input</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polling</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memory mapping</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426903"/>
                <a:gridCol w="2600254"/>
                <a:gridCol w="2773604"/>
                <a:gridCol w="329365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cathode-ray tube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tubo a raggi catodici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pointing device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 di puntamento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liquid crystals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cristalli liquidi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dot-matrix / ink-jet printer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stampante ad aghi / a getto d'inchiostro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backlight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retroilluminazione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drum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tamburo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active matrix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matrice attiva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polling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interrogazione ciclica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keyboard / key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tastiera / tasto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Input/output devices are a fundamental component of computers</a:t>
            </a:r>
            <a:endParaRPr lang="en-US" sz="2000" dirty="0"/>
          </a:p>
        </p:txBody>
      </p:sp>
      <p:sp>
        <p:nvSpPr>
          <p:cNvPr id="5" name="Shape 3"/>
          <p:cNvSpPr/>
          <p:nvPr/>
        </p:nvSpPr>
        <p:spPr>
          <a:xfrm>
            <a:off x="548640" y="19693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87843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Display technology has made enormous progress, from the electron beam to a transistor behind every pixel</a:t>
            </a:r>
            <a:endParaRPr lang="en-US" sz="2000" dirty="0"/>
          </a:p>
        </p:txBody>
      </p:sp>
      <p:sp>
        <p:nvSpPr>
          <p:cNvPr id="7" name="Shape 5"/>
          <p:cNvSpPr/>
          <p:nvPr/>
        </p:nvSpPr>
        <p:spPr>
          <a:xfrm>
            <a:off x="548640" y="27403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64942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Keyboard, mouse and printer have changed little in form, and inside they are built from encoders, counters and shift registers</a:t>
            </a:r>
            <a:endParaRPr lang="en-US" sz="2000" dirty="0"/>
          </a:p>
        </p:txBody>
      </p:sp>
      <p:sp>
        <p:nvSpPr>
          <p:cNvPr id="9" name="Shape 7"/>
          <p:cNvSpPr/>
          <p:nvPr/>
        </p:nvSpPr>
        <p:spPr>
          <a:xfrm>
            <a:off x="548640" y="351134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2041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device reaches the processor through a controller and a bus, and is handled by polling, by interrupts or by DMA</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the PRG32 kit the whole chain, from a switch to a pixel, can be followed instruction by instruction</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Structured Computer Organization, section 2.4 (input/output)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 on input/output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chapter 6: State and Input</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Input and Output</dc:title>
  <dc:subject>Lecture 21</dc:subject>
  <dc:creator>Raffaele Montella</dc:creator>
  <cp:lastModifiedBy>Raffaele Montella</cp:lastModifiedBy>
  <cp:revision>1</cp:revision>
  <dcterms:created xsi:type="dcterms:W3CDTF">2026-10-13T08:56:24Z</dcterms:created>
  <dcterms:modified xsi:type="dcterms:W3CDTF">2026-10-13T08:56:24Z</dcterms:modified>
</cp:coreProperties>
</file>