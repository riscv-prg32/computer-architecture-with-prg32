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92db8d7-fca8-7fcc-19a2-665116b92c38}">
          <p14:sldIdLst>
            <p14:sldId id="256"/>
            <p14:sldId id="257"/>
          </p14:sldIdLst>
        </p14:section>
        <p14:section name="Displays" id="{c103e2c5-85e3-df81-70e5-6b17a71e6eeb}">
          <p14:sldIdLst>
            <p14:sldId id="258"/>
            <p14:sldId id="259"/>
            <p14:sldId id="260"/>
            <p14:sldId id="261"/>
            <p14:sldId id="262"/>
            <p14:sldId id="263"/>
          </p14:sldIdLst>
        </p14:section>
        <p14:section name="Keyboard and mouse" id="{63ce834b-0ae3-79dc-4a3a-860fec26ff23}">
          <p14:sldIdLst>
            <p14:sldId id="264"/>
            <p14:sldId id="265"/>
            <p14:sldId id="266"/>
            <p14:sldId id="267"/>
          </p14:sldIdLst>
        </p14:section>
        <p14:section name="Printers" id="{237d2441-41d0-7f5f-7ee9-86e012212d08}">
          <p14:sldIdLst>
            <p14:sldId id="268"/>
            <p14:sldId id="269"/>
          </p14:sldIdLst>
        </p14:section>
        <p14:section name="Back to the machine" id="{c9bf570e-7ebd-9b93-15fa-b2eb3856758c}">
          <p14:sldIdLst>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lecture is about the border between the machine and the world: the devices through which information enters and leaves. You will see how a picture is formed on a screen, what happens between a key and the processor, what a mouse says, how a laser printer works. The thread that ties them together is that each of these devices, inside, is made of machines you have already designed. And the lecture begins and ends on the kit, with the device you have used since the first laboratory: a button.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polling, interrupts, DMA; CRT and LCD displays; keyboard and mouse; printers. USE NOW: the complete program, the PRG32 tools (used, not studied, in this course). UNDERSTAND LATER: nothing. A slide without a badge is context: a story, an example, a question, an exercise.
For the lecturer: Spiral: the students have read the joystick since the first labs; the lecture opens by asking what is behind prg32_input_read, then covers the classic devices and the three ways a processor can deal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Describe how a picture is formed on a cathode-ray tube and on a liquid crystal display, and what an active matrix adds. Explain the path of a key press: matrix, encoder, shift register, serial interface. Say what a mouse sends to the computer and how often. Describe the stages of laser printing. Explain how the kit reads its joystick, and compare three techniques: polling, interrupts and direct memory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graphical display is a matrix of points, the pixels, each lit with its own intensity; an image is composed by switching pixels on and off. The first displays showed only characters, in black and white. The density of the pixels gives the resolution, the bits per pixel give the number of colours, from 256 to sixteen million and more. The size is the length of the diagonal, in inches. The display of the kit measures 2.8 inches, with 320 by 240 pixels.
UNDERSTAND NOW: CRT and LCD displays.
For the lecturer: The display of the PRG32 kit: 2.8 inches, 320 by 240 pixels, 65,536 colours.
Pictures: Macintosh 128k transparency.png, Grm wnr, CC BY-SA 3.0,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cathode-ray tube has a history of more than a century. It was born as a laboratory instrument with Crookes, in the 1870s; Braun made it an oscilloscope in 1897, its first practical use; Rosing in 1907 used it to display shapes from a received signal, the root of television; in 1934 the first television set with a CRT reached the market. From the 1970s to the 1990s it was the display of every terminal and personal computer.
UNDERSTAND NOW: CRT and LCD displays.
For the lecturer: The last row summarises the era the original deck illustrated with pictures of an oscilloscope and of the Asteroids arcade cabinet (a vector display driven by a 6502).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 CRT works. A cathode, heated to incandescence, emits electrons. A high voltage between cathode and anode accelerates them into a beam, which other fields focus. Magnetic or electric fields deflect the beam, which strikes a point of the screen: the inner surface is coated with phosphor, and the point lights up. By sweeping the beam line by line, many times per second, the whole picture is painted before the eye notices that the first points have faded.
UNDERSTAND NOW: CRT and LCD displays.
For the lecturer: The original schematic had Italian labels: grid, anode, deflection coil, heater, cathode, beam, focusing coil, fluorescent screen.
Pictures: Tennis For Two on a DuMont Lab Oscilloscope Type 304-A.jpg, Brookhaven National Laboratory, Public domain,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Liquid crystal displays have replaced the tube almost everywhere: better picture, less bulk, weight and power, less strain for the eyes. Liquid crystals are organic molecules that flow like a liquid but keep an ordered structure. An electric field changes their orientation, and with it the way they rotate the polarisation of the light that crosses them. The useful image is the last line of the slide: a crystal is a valve for light, opened and closed by a voltage.
UNDERSTAND NOW: CRT and LCD displays.
For the lecturer: LCD: liquid crystal display.
Pictures: TN-LCD-schematic-MS-208kB.png, see the file page, CC BY-SA 3.0,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a panel there are many cells, each with its contacts, placed between two polarising filters with perpendicular axes, and a light behind. When the crystals of a cell are not driven they rotate the light, which then passes the front filter; when they are driven the light is blocked. In a colour screen each cell is divided in three, with a red, a green and a blue filter: these are the sub-pixels in the photograph, and the three fields of an RGB colour end up there as three voltages.
UNDERSTAND NOW: CRT and LCD displays.
For the lecturer: Three sub-pixels per pixel: the R, G and B fields of the RGB565 colour of Lecture 04 end up here, as three voltages.
Pictures: Subpixel rendering LCD photo 3e composite.jpg, ALexL33, CC BY-SA 3.0,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are millions of cells driven? A calculator has one contact per segment, which is impossible for a screen. A passive matrix has contacts per row and per column: only one pixel at a time is driven, and the others must remember their state by themselves, which they do badly; hence trails and crosstalk. An active matrix puts a transistor in every cell, in a thin film on the glass: the transistor keeps the state of its pixel while the others are updated. This is TFT, the technology of the display of the kit.
UNDERSTAND NOW: CRT and LCD displays.
For the lecturer: TFT: thin-film transistor. The display of the kit is a TFT panel with an ILI9341 controller. New since the original deck: OLED displays, in which each pixel emits its own light and no backlight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keyboard derives from that of the typewriter and is the main device for entering characters. Its keys are grouped: alphanumeric, special, arrows and functions. Remember one fact, already met in the previous lecture: the keyboard and the video are not connected to each other. When a letter you type appears on the screen, it is because a program read a code from the keyboard and drew a character. Today keyboards are connected by USB or by radio.
UNDERSTAND NOW: keyboard and mouse.
For the lecturer: PS/2 was the standard connector before USB. The echo of a key on the screen is a program: read a code, draw a character.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path of a key press, from left to right. The keys are switches arranged in rows and columns: pressing D closes one crossing. An encoder turns the combination of row and column into a code of n bits. A shift register turns those n bits in parallel into n bits in series. A serial interface, for example a USB controller, delivers the code to the system bus and raises an interrupt. The encoder is that of Lecture 11, the shift register that of Lecture 14: you have designed every block of this slide.
UNDERSTAND NOW: keyboard and mouse.
For the lecturer: Every block of this slide is a machine the students have already designed: this is the pay-off of Lectures 11 to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mouse was invented in the 1960s by Douglas Engelbart: a wooden box with two wheels underneath and a wire coming out of the back, like a tail. The two wheels measured the movement along the two axes. In the mechanical mouse a ball turns two rollers, each connected to a counter. In the optical mouse a light and a tiny camera observe the surface below and measure how it moves. In all three, movement becomes two numbers.
UNDERSTAND NOW: keyboard and mouse.
For the lecturer: The original deck dates the mouse to 1967, the year the patent was filed; the first prototype is of 1964 and the famous public demonstration of 1968. Counters: the sequential machines of Lecture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 mouse sends. Each time it moves by a minimum distance, about a hundredth of an inch, it sends three bytes: the movement along x since the last report, the movement along y, and the state of the buttons. Note that it sends movements, not positions: it is the program that keeps the position of the pointer, by adding. Inside, as on the right: two counters, a shift register, a serial interface. The software that talks to the device is its device driver.
UNDERSTAND NOW: keyboard and mouse.
For the lecturer: The original deck says the first byte reports the movement 'in the last 100 milliseconds'; modern mice report up to a thousand times per second. The signed movement bytes are two's complement numbers (Lecture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printer is described by its speed, in lines or pages per minute, and by its resolution, in dots per inch. The technologies, in historical order: daisy wheel and chain printers, which struck whole characters and are disused; dot matrix, in which needles strike an inked ribbon; ink jet, with tiny drops of ink; laser. A printer is also a small computer, with its own processor, memory and firmware.
UNDERSTAND NOW: printers.
For the lecturer: Stampante a margherita, a catena, ad aghi, a getto di inchiostro, laser.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laser printer derives from the photocopier. A drum is charged to about a thousand volts. A laser beam, reflected by a rotating mirror, scans the drum along its length, switched on and off to draw one line of points; the points it strikes lose their charge. The toner is attracted by the points still charged. The drum is pressed against the paper and transfers the toner, which heated rollers fix. Follow the path of the paper in the figure. The page exists first as a bitmap in the printer's memory.
UNDERSTAND NOW: printers.
For the lecturer: Three slides of the original are merged. The page is first built as a bitmap in the printer's memory: a frame buffer for paper.
Pictures: Laser printer-Writing.svg, DMahalko, traced by Stannered, CC BY 3.0,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devices of the kit in a table: for each, the direction, the connection and the functions with which a cartridge uses it. The joystick and the buttons are inputs, one switch per pin. The display is an output on an SPI bus. The amplifier with its speaker is an output on an I2S bus. The Wi-Fi radio and the USB port work in both directions. Notice that you have never touched any of these connections directly: the runtime does it, and offers you functions.
UNDERSTAND NOW: polling, interrupts, DMA.
For the lecturer: Hardware from the PRG32 README and docs/hardware. A switch bounces for a few milliseconds when pressed; sampling it once per frame, every few tens of milliseconds, hides the bounce.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to deal with a device. Polling: the program asks the device, again and again, whether it has something; simple, and wasteful when nothing happens. Interrupts: the device asks for attention when it needs it, as in Lecture 19. Direct memory access: the device exchanges whole blocks of data with the memory by itself, and the processor is only told when it has finished. On the kit all three are at work: you poll the joystick, the timer interrupts, the display and the sound are fed by DMA.
UNDERSTAND NOW: polling, interrupts, DMA.
For the lecturer: Programmed I/O, interrupt-driven I/O and DMA. On the kit all three are at work: your game polls the joystick, the timer that paces the frames interrupts, the display and the sound are fed by DMA.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the diagram of the key press: what goes into the encoder, and what comes out?
Recall the photograph of the pixels under the magnifier: how many coloured elements make up one pixel?
For the lecturer: 1. Answer: B. From a decoded position in the key matrix to a compact n-bit code, as the encoder of Lecture 11.
2. Answer: B. Three sub-pixels, each a liquid crystal cell behind a colour filter; a TFT in each stores its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in what a passive matrix lacks: something in each cell that keeps its state while the others are being driven.
Who takes the initiative, the program or the device? In the warm-up it is the program, once per frame.
For the lecturer: 1. Answer: B. Persistence: without a transistor per pixel, the cells respond slowly and keep their state badly while the others are scanned.
2. Answer: C. The program asks the device periodically. With interrupts the device would call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terms. A cathode-ray tube is a tubo a raggi catodici; the backlight is the retroilluminazione. A pointing device is any device, like the mouse, that indicates a position. Dot-matrix and ink-jet printers are ad aghi and a getto d'inchiostro. Polling is interrogazione ciclica, though the English word is the one in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conclusions. Input/output devices are a fundamental part of computers. Display technology has gone from an electron beam to a transistor behind every pixel. Keyboard, mouse and printer have changed little outside, and inside are made of encoders, counters and shift registers. A device reaches the processor through a controller and a bus, and is handled by polling, interrupts or DMA. And on the kit the whole chain, from a switch to a pixel, can be followed instruction by instruction. Next comes the last part of Verm1.
Learning status, recap. UNDERSTAND NOW: polling, interrupts, DMA; CRT and LCD displays; keyboard and mouse; printers. USE NOW: the complete program, the PRG32 tools (used, not studied, in this course). UNDERSTAND LATER: nothing. A slide without a badge is context: a story, an example, a question, an exercise.
For the lecturer: Next: Verm1, part 4: the finished game. Then its publication on the Cartridge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21: Input and output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21</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Input and Output</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Displays, keyboards, mice and printers: how the machine meets the world, and how a program reads a button</a:t>
            </a:r>
            <a:endParaRPr lang="en-US" sz="17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“Need input!”</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Number 5, in the film Short Circuit, John Badham, 1986</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Text 10"/>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Lecture deck. The listings, the complete program and how to test it are in the code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21-Computer_Architecture-Input_Output-Code.pptx</a:t>
            </a:r>
            <a:endParaRPr lang="en-US" sz="1300" dirty="0"/>
          </a:p>
        </p:txBody>
      </p:sp>
      <p:sp>
        <p:nvSpPr>
          <p:cNvPr id="13" name="Shape 11"/>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4" name="Image 0" descr="/Users/raffaelemontella/devel/riscv-prg32/computer-architecture-with-prg32/tools/assets/lab2_step1_lamps.png">    </p:cNvPr>
          <p:cNvPicPr>
            <a:picLocks noChangeAspect="1"/>
          </p:cNvPicPr>
          <p:nvPr/>
        </p:nvPicPr>
        <p:blipFill>
          <a:blip r:embed="rId1"/>
          <a:stretch>
            <a:fillRect/>
          </a:stretch>
        </p:blipFill>
        <p:spPr>
          <a:xfrm>
            <a:off x="8716975" y="4280535"/>
            <a:ext cx="2834640" cy="1771650"/>
          </a:xfrm>
          <a:prstGeom prst="rect">
            <a:avLst/>
          </a:prstGeom>
        </p:spPr>
      </p:pic>
      <p:sp>
        <p:nvSpPr>
          <p:cNvPr id="15" name="Shape 12"/>
          <p:cNvSpPr/>
          <p:nvPr/>
        </p:nvSpPr>
        <p:spPr>
          <a:xfrm>
            <a:off x="9690303" y="91440"/>
            <a:ext cx="1952752" cy="274320"/>
          </a:xfrm>
          <a:prstGeom prst="rect">
            <a:avLst/>
          </a:prstGeom>
          <a:solidFill>
            <a:srgbClr val="F3E8FF"/>
          </a:solidFill>
          <a:ln w="12700">
            <a:solidFill>
              <a:srgbClr val="7E22CE"/>
            </a:solidFill>
            <a:prstDash val="dash"/>
          </a:ln>
        </p:spPr>
      </p:sp>
      <p:sp>
        <p:nvSpPr>
          <p:cNvPr id="16" name="Shape 13"/>
          <p:cNvSpPr/>
          <p:nvPr/>
        </p:nvSpPr>
        <p:spPr>
          <a:xfrm>
            <a:off x="9717735" y="128016"/>
            <a:ext cx="45720" cy="45720"/>
          </a:xfrm>
          <a:prstGeom prst="rect">
            <a:avLst/>
          </a:prstGeom>
          <a:solidFill>
            <a:srgbClr val="7E22CE"/>
          </a:solidFill>
          <a:ln w="12700">
            <a:solidFill>
              <a:srgbClr val="7E22CE"/>
            </a:solidFill>
            <a:prstDash val="solid"/>
          </a:ln>
        </p:spPr>
      </p:sp>
      <p:sp>
        <p:nvSpPr>
          <p:cNvPr id="17" name="Shape 14"/>
          <p:cNvSpPr/>
          <p:nvPr/>
        </p:nvSpPr>
        <p:spPr>
          <a:xfrm>
            <a:off x="9717735" y="205740"/>
            <a:ext cx="45720" cy="45720"/>
          </a:xfrm>
          <a:prstGeom prst="rect">
            <a:avLst/>
          </a:prstGeom>
          <a:solidFill>
            <a:srgbClr val="7E22CE"/>
          </a:solidFill>
          <a:ln w="12700">
            <a:solidFill>
              <a:srgbClr val="7E22CE"/>
            </a:solidFill>
            <a:prstDash val="solid"/>
          </a:ln>
        </p:spPr>
      </p:sp>
      <p:sp>
        <p:nvSpPr>
          <p:cNvPr id="18" name="Shape 15"/>
          <p:cNvSpPr/>
          <p:nvPr/>
        </p:nvSpPr>
        <p:spPr>
          <a:xfrm>
            <a:off x="9717735" y="283464"/>
            <a:ext cx="45720" cy="45720"/>
          </a:xfrm>
          <a:prstGeom prst="rect">
            <a:avLst/>
          </a:prstGeom>
          <a:solidFill>
            <a:srgbClr val="7E22CE"/>
          </a:solidFill>
          <a:ln w="12700">
            <a:solidFill>
              <a:srgbClr val="7E22CE"/>
            </a:solidFill>
            <a:prstDash val="solid"/>
          </a:ln>
        </p:spPr>
      </p:sp>
      <p:pic>
        <p:nvPicPr>
          <p:cNvPr id="19"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20" name="Text 16"/>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1" name="Shape 17"/>
          <p:cNvSpPr/>
          <p:nvPr/>
        </p:nvSpPr>
        <p:spPr>
          <a:xfrm>
            <a:off x="8407349" y="91440"/>
            <a:ext cx="1173226" cy="274320"/>
          </a:xfrm>
          <a:prstGeom prst="rect">
            <a:avLst/>
          </a:prstGeom>
          <a:solidFill>
            <a:srgbClr val="FEF3C7"/>
          </a:solidFill>
          <a:ln w="12700">
            <a:solidFill>
              <a:srgbClr val="B45309"/>
            </a:solidFill>
            <a:prstDash val="solid"/>
          </a:ln>
        </p:spPr>
      </p:sp>
      <p:sp>
        <p:nvSpPr>
          <p:cNvPr id="22" name="Shape 18"/>
          <p:cNvSpPr/>
          <p:nvPr/>
        </p:nvSpPr>
        <p:spPr>
          <a:xfrm>
            <a:off x="8407349" y="91440"/>
            <a:ext cx="27432" cy="274320"/>
          </a:xfrm>
          <a:prstGeom prst="rect">
            <a:avLst/>
          </a:prstGeom>
          <a:solidFill>
            <a:srgbClr val="B45309"/>
          </a:solidFill>
          <a:ln w="12700">
            <a:solidFill>
              <a:srgbClr val="B45309"/>
            </a:solidFill>
            <a:prstDash val="solid"/>
          </a:ln>
        </p:spPr>
      </p:sp>
      <p:sp>
        <p:nvSpPr>
          <p:cNvPr id="23" name="Shape 19"/>
          <p:cNvSpPr/>
          <p:nvPr/>
        </p:nvSpPr>
        <p:spPr>
          <a:xfrm>
            <a:off x="8462213" y="91440"/>
            <a:ext cx="27432" cy="274320"/>
          </a:xfrm>
          <a:prstGeom prst="rect">
            <a:avLst/>
          </a:prstGeom>
          <a:solidFill>
            <a:srgbClr val="B45309"/>
          </a:solidFill>
          <a:ln w="12700">
            <a:solidFill>
              <a:srgbClr val="B45309"/>
            </a:solidFill>
            <a:prstDash val="solid"/>
          </a:ln>
        </p:spPr>
      </p:sp>
      <p:pic>
        <p:nvPicPr>
          <p:cNvPr id="24"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5" name="Text 20"/>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6" name="Shape 21"/>
          <p:cNvSpPr/>
          <p:nvPr/>
        </p:nvSpPr>
        <p:spPr>
          <a:xfrm>
            <a:off x="6518097" y="91440"/>
            <a:ext cx="1779524" cy="274320"/>
          </a:xfrm>
          <a:prstGeom prst="rect">
            <a:avLst/>
          </a:prstGeom>
          <a:solidFill>
            <a:srgbClr val="E0F2FE"/>
          </a:solidFill>
          <a:ln w="12700">
            <a:solidFill>
              <a:srgbClr val="0369A1"/>
            </a:solidFill>
            <a:prstDash val="solid"/>
          </a:ln>
        </p:spPr>
      </p:sp>
      <p:sp>
        <p:nvSpPr>
          <p:cNvPr id="27" name="Shape 22"/>
          <p:cNvSpPr/>
          <p:nvPr/>
        </p:nvSpPr>
        <p:spPr>
          <a:xfrm>
            <a:off x="6518097" y="91440"/>
            <a:ext cx="73152" cy="274320"/>
          </a:xfrm>
          <a:prstGeom prst="rect">
            <a:avLst/>
          </a:prstGeom>
          <a:solidFill>
            <a:srgbClr val="0369A1"/>
          </a:solidFill>
          <a:ln w="12700">
            <a:solidFill>
              <a:srgbClr val="0369A1"/>
            </a:solidFill>
            <a:prstDash val="solid"/>
          </a:ln>
        </p:spPr>
      </p:sp>
      <p:pic>
        <p:nvPicPr>
          <p:cNvPr id="28"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9" name="Text 23"/>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you will be able to do by the end</a:t>
            </a:r>
            <a:endParaRPr lang="en-US" sz="3200" dirty="0"/>
          </a:p>
        </p:txBody>
      </p:sp>
      <p:sp>
        <p:nvSpPr>
          <p:cNvPr id="3" name="Text 1"/>
          <p:cNvSpPr txBox="1"/>
          <p:nvPr/>
        </p:nvSpPr>
        <p:spPr>
          <a:xfrm>
            <a:off x="548640" y="143713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884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Describe how a picture is formed on a CRT and on an LCD, and what a TFT active matrix adds</a:t>
            </a:r>
            <a:endParaRPr lang="en-US" sz="2200" dirty="0"/>
          </a:p>
        </p:txBody>
      </p:sp>
      <p:sp>
        <p:nvSpPr>
          <p:cNvPr id="5" name="Text 3"/>
          <p:cNvSpPr txBox="1"/>
          <p:nvPr/>
        </p:nvSpPr>
        <p:spPr>
          <a:xfrm>
            <a:off x="548640" y="25760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55778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Explain the path of a key press: matrix, encoder, shift register, serial interface</a:t>
            </a:r>
            <a:endParaRPr lang="en-US" sz="2200" dirty="0"/>
          </a:p>
        </p:txBody>
      </p:sp>
      <p:sp>
        <p:nvSpPr>
          <p:cNvPr id="7" name="Text 5"/>
          <p:cNvSpPr txBox="1"/>
          <p:nvPr/>
        </p:nvSpPr>
        <p:spPr>
          <a:xfrm>
            <a:off x="548640" y="371500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9671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Say what a mouse sends to the computer and how often</a:t>
            </a:r>
            <a:endParaRPr lang="en-US" sz="2200" dirty="0"/>
          </a:p>
        </p:txBody>
      </p:sp>
      <p:sp>
        <p:nvSpPr>
          <p:cNvPr id="9" name="Text 7"/>
          <p:cNvSpPr txBox="1"/>
          <p:nvPr/>
        </p:nvSpPr>
        <p:spPr>
          <a:xfrm>
            <a:off x="548640" y="46111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9282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Describe the stages of laser printing</a:t>
            </a:r>
            <a:endParaRPr lang="en-US" sz="2200" dirty="0"/>
          </a:p>
        </p:txBody>
      </p:sp>
      <p:sp>
        <p:nvSpPr>
          <p:cNvPr id="11" name="Text 9"/>
          <p:cNvSpPr txBox="1"/>
          <p:nvPr/>
        </p:nvSpPr>
        <p:spPr>
          <a:xfrm>
            <a:off x="548640" y="550722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8894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Explain how the PRG32 kit reads its joystick, and compare polling, interrupts and DMA</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video: an introduction</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At first mostly character displays in black and white; today graphical and in colour</a:t>
            </a:r>
            <a:endParaRPr lang="en-US" sz="2200" dirty="0"/>
          </a:p>
        </p:txBody>
      </p:sp>
      <p:sp>
        <p:nvSpPr>
          <p:cNvPr id="5" name="Shape 3"/>
          <p:cNvSpPr/>
          <p:nvPr/>
        </p:nvSpPr>
        <p:spPr>
          <a:xfrm>
            <a:off x="548640" y="237159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65172"/>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graphical display is a matrix of points, the pixels, each lit with a different intensity</a:t>
            </a:r>
            <a:endParaRPr lang="en-US" sz="2200" dirty="0"/>
          </a:p>
        </p:txBody>
      </p:sp>
      <p:sp>
        <p:nvSpPr>
          <p:cNvPr id="7" name="Shape 5"/>
          <p:cNvSpPr/>
          <p:nvPr/>
        </p:nvSpPr>
        <p:spPr>
          <a:xfrm>
            <a:off x="548640" y="3219450"/>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11302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An image is composed by switching the pixels on and off</a:t>
            </a:r>
            <a:endParaRPr lang="en-US" sz="2200" dirty="0"/>
          </a:p>
        </p:txBody>
      </p:sp>
      <p:sp>
        <p:nvSpPr>
          <p:cNvPr id="9" name="Shape 7"/>
          <p:cNvSpPr/>
          <p:nvPr/>
        </p:nvSpPr>
        <p:spPr>
          <a:xfrm>
            <a:off x="548640" y="406730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960876"/>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different density of pixels gives a different resolution; colours go from 256 (8 bits) to 16 million (24 bits) and beyond</a:t>
            </a:r>
            <a:endParaRPr lang="en-US" sz="2200" dirty="0"/>
          </a:p>
        </p:txBody>
      </p:sp>
      <p:sp>
        <p:nvSpPr>
          <p:cNvPr id="11" name="Shape 9"/>
          <p:cNvSpPr/>
          <p:nvPr/>
        </p:nvSpPr>
        <p:spPr>
          <a:xfrm>
            <a:off x="548640" y="525602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149596"/>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size is measured in inches along the diagonal: a 14-inch display has a diagonal of 14 inches</a:t>
            </a:r>
            <a:endParaRPr lang="en-US" sz="2200" dirty="0"/>
          </a:p>
        </p:txBody>
      </p:sp>
      <p:pic>
        <p:nvPicPr>
          <p:cNvPr id="13" name="Image 0" descr="/Users/raffaelemontella/devel/riscv-prg32/computer-architecture-with-prg32/tools/assets/mac_classic.jpg">    </p:cNvPr>
          <p:cNvPicPr>
            <a:picLocks noChangeAspect="1"/>
          </p:cNvPicPr>
          <p:nvPr/>
        </p:nvPicPr>
        <p:blipFill>
          <a:blip r:embed="rId1"/>
          <a:stretch>
            <a:fillRect/>
          </a:stretch>
        </p:blipFill>
        <p:spPr>
          <a:xfrm>
            <a:off x="7920917" y="1417320"/>
            <a:ext cx="3665062" cy="4297680"/>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A compact Macintosh: a 9-inch black-and-white CRT</a:t>
            </a:r>
            <a:endParaRPr lang="en-US" sz="1200" dirty="0"/>
          </a:p>
        </p:txBody>
      </p:sp>
      <p:sp>
        <p:nvSpPr>
          <p:cNvPr id="15" name="Shape 12"/>
          <p:cNvSpPr/>
          <p:nvPr/>
        </p:nvSpPr>
        <p:spPr>
          <a:xfrm>
            <a:off x="8353374" y="91440"/>
            <a:ext cx="3289681" cy="274320"/>
          </a:xfrm>
          <a:prstGeom prst="rect">
            <a:avLst/>
          </a:prstGeom>
          <a:solidFill>
            <a:srgbClr val="E0F2FE"/>
          </a:solidFill>
          <a:ln w="12700">
            <a:solidFill>
              <a:srgbClr val="0369A1"/>
            </a:solidFill>
            <a:prstDash val="solid"/>
          </a:ln>
        </p:spPr>
      </p:sp>
      <p:sp>
        <p:nvSpPr>
          <p:cNvPr id="16" name="Shape 13"/>
          <p:cNvSpPr/>
          <p:nvPr/>
        </p:nvSpPr>
        <p:spPr>
          <a:xfrm>
            <a:off x="8353374" y="91440"/>
            <a:ext cx="73152" cy="274320"/>
          </a:xfrm>
          <a:prstGeom prst="rect">
            <a:avLst/>
          </a:prstGeom>
          <a:solidFill>
            <a:srgbClr val="0369A1"/>
          </a:solidFill>
          <a:ln w="12700">
            <a:solidFill>
              <a:srgbClr val="0369A1"/>
            </a:solidFill>
            <a:prstDash val="solid"/>
          </a:ln>
        </p:spPr>
      </p:sp>
      <p:pic>
        <p:nvPicPr>
          <p:cNvPr id="17" name="Image 1" descr="preencoded.png">    </p:cNvPr>
          <p:cNvPicPr>
            <a:picLocks noChangeAspect="1"/>
          </p:cNvPicPr>
          <p:nvPr/>
        </p:nvPicPr>
        <p:blipFill>
          <a:blip r:embed="rId2"/>
          <a:stretch>
            <a:fillRect/>
          </a:stretch>
        </p:blipFill>
        <p:spPr>
          <a:xfrm>
            <a:off x="8481390" y="128016"/>
            <a:ext cx="201168" cy="201168"/>
          </a:xfrm>
          <a:prstGeom prst="rect">
            <a:avLst/>
          </a:prstGeom>
        </p:spPr>
      </p:pic>
      <p:sp>
        <p:nvSpPr>
          <p:cNvPr id="18" name="Text 14"/>
          <p:cNvSpPr txBox="1"/>
          <p:nvPr/>
        </p:nvSpPr>
        <p:spPr>
          <a:xfrm>
            <a:off x="8737422" y="91440"/>
            <a:ext cx="286905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CRT and LCD displays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cathode-ray tube: a short history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636881"/>
                <a:gridCol w="2728135"/>
                <a:gridCol w="6729399"/>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Year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Who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What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early 1870s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William Crookes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Crookes tube: the first cathode-ray tube, a laboratory instrument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1897</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Karl Ferdinand Braun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Braun tube and the first cathode-ray oscilloscope: the first practical application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1907</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Boris Rosing</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 CRT displays simple geometric shapes from a received video signal: the root of television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1934</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Telefunken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first television set with a CRT on the market, in Germany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1970s-1990s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computer industry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CRT monitor: the display of every terminal and personal computer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8353374" y="91440"/>
            <a:ext cx="3289681" cy="274320"/>
          </a:xfrm>
          <a:prstGeom prst="rect">
            <a:avLst/>
          </a:prstGeom>
          <a:solidFill>
            <a:srgbClr val="E0F2FE"/>
          </a:solidFill>
          <a:ln w="12700">
            <a:solidFill>
              <a:srgbClr val="0369A1"/>
            </a:solidFill>
            <a:prstDash val="solid"/>
          </a:ln>
        </p:spPr>
      </p:sp>
      <p:sp>
        <p:nvSpPr>
          <p:cNvPr id="5" name="Shape 2"/>
          <p:cNvSpPr/>
          <p:nvPr/>
        </p:nvSpPr>
        <p:spPr>
          <a:xfrm>
            <a:off x="8353374"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481390" y="128016"/>
            <a:ext cx="201168" cy="201168"/>
          </a:xfrm>
          <a:prstGeom prst="rect">
            <a:avLst/>
          </a:prstGeom>
        </p:spPr>
      </p:pic>
      <p:sp>
        <p:nvSpPr>
          <p:cNvPr id="7" name="Text 3"/>
          <p:cNvSpPr txBox="1"/>
          <p:nvPr/>
        </p:nvSpPr>
        <p:spPr>
          <a:xfrm>
            <a:off x="8737422" y="91440"/>
            <a:ext cx="286905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CRT and LCD displays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How a CRT works</a:t>
            </a:r>
            <a:endParaRPr lang="en-US" sz="3200" dirty="0"/>
          </a:p>
        </p:txBody>
      </p:sp>
      <p:sp>
        <p:nvSpPr>
          <p:cNvPr id="3" name="Shape 1"/>
          <p:cNvSpPr/>
          <p:nvPr/>
        </p:nvSpPr>
        <p:spPr>
          <a:xfrm>
            <a:off x="548640" y="1500505"/>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The cathode is a small metal element heated to incandescence, which emits electrons by the thermionic effect</a:t>
            </a:r>
            <a:endParaRPr lang="en-US" sz="1900" dirty="0"/>
          </a:p>
        </p:txBody>
      </p:sp>
      <p:sp>
        <p:nvSpPr>
          <p:cNvPr id="5" name="Shape 3"/>
          <p:cNvSpPr/>
          <p:nvPr/>
        </p:nvSpPr>
        <p:spPr>
          <a:xfrm>
            <a:off x="548640" y="252163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38451"/>
            <a:ext cx="656539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Inside the tube the electrons are directed into a beam by a high potential difference between cathode and anode</a:t>
            </a:r>
            <a:endParaRPr lang="en-US" sz="1900" dirty="0"/>
          </a:p>
        </p:txBody>
      </p:sp>
      <p:sp>
        <p:nvSpPr>
          <p:cNvPr id="7" name="Shape 5"/>
          <p:cNvSpPr/>
          <p:nvPr/>
        </p:nvSpPr>
        <p:spPr>
          <a:xfrm>
            <a:off x="548640" y="3542767"/>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59582"/>
            <a:ext cx="6565392" cy="294386"/>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Other electromagnetic fields focus the beam</a:t>
            </a:r>
            <a:endParaRPr lang="en-US" sz="1900" dirty="0"/>
          </a:p>
        </p:txBody>
      </p:sp>
      <p:sp>
        <p:nvSpPr>
          <p:cNvPr id="9" name="Shape 7"/>
          <p:cNvSpPr/>
          <p:nvPr/>
        </p:nvSpPr>
        <p:spPr>
          <a:xfrm>
            <a:off x="548640" y="397512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891940"/>
            <a:ext cx="6565392" cy="826770"/>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The beam, the electron brush, is deflected</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by magnetic fields (the Lorentz force), or by electric fields</a:t>
            </a:r>
            <a:endParaRPr lang="en-US" sz="1900" dirty="0"/>
          </a:p>
        </p:txBody>
      </p:sp>
      <p:sp>
        <p:nvSpPr>
          <p:cNvPr id="11" name="Shape 9"/>
          <p:cNvSpPr/>
          <p:nvPr/>
        </p:nvSpPr>
        <p:spPr>
          <a:xfrm>
            <a:off x="548640" y="4939868"/>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856683"/>
            <a:ext cx="656539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It strikes a point on the inner surface of the screen, coated with phosphor, which lights up</a:t>
            </a:r>
            <a:endParaRPr lang="en-US" sz="1900" dirty="0"/>
          </a:p>
        </p:txBody>
      </p:sp>
      <p:sp>
        <p:nvSpPr>
          <p:cNvPr id="13" name="Shape 11"/>
          <p:cNvSpPr/>
          <p:nvPr/>
        </p:nvSpPr>
        <p:spPr>
          <a:xfrm>
            <a:off x="548640" y="5666613"/>
            <a:ext cx="146304" cy="146304"/>
          </a:xfrm>
          <a:prstGeom prst="rect">
            <a:avLst/>
          </a:prstGeom>
          <a:solidFill>
            <a:srgbClr val="C7791B"/>
          </a:solidFill>
          <a:ln w="12700">
            <a:solidFill>
              <a:srgbClr val="C7791B"/>
            </a:solidFill>
            <a:prstDash val="solid"/>
          </a:ln>
        </p:spPr>
      </p:sp>
      <p:sp>
        <p:nvSpPr>
          <p:cNvPr id="14" name="Text 12"/>
          <p:cNvSpPr txBox="1"/>
          <p:nvPr/>
        </p:nvSpPr>
        <p:spPr>
          <a:xfrm>
            <a:off x="932688" y="5583428"/>
            <a:ext cx="656539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Sweeping the beam line by line, many times per second, paints the picture</a:t>
            </a:r>
            <a:endParaRPr lang="en-US" sz="1900" dirty="0"/>
          </a:p>
        </p:txBody>
      </p:sp>
      <p:pic>
        <p:nvPicPr>
          <p:cNvPr id="15" name="Image 0" descr="/Users/raffaelemontella/devel/riscv-prg32/computer-architecture-with-prg32/tools/assets/crt_scope.jpg">    </p:cNvPr>
          <p:cNvPicPr>
            <a:picLocks noChangeAspect="1"/>
          </p:cNvPicPr>
          <p:nvPr/>
        </p:nvPicPr>
        <p:blipFill>
          <a:blip r:embed="rId1"/>
          <a:stretch>
            <a:fillRect/>
          </a:stretch>
        </p:blipFill>
        <p:spPr>
          <a:xfrm>
            <a:off x="7863840" y="1888296"/>
            <a:ext cx="3779215" cy="3355729"/>
          </a:xfrm>
          <a:prstGeom prst="rect">
            <a:avLst/>
          </a:prstGeom>
        </p:spPr>
      </p:pic>
      <p:sp>
        <p:nvSpPr>
          <p:cNvPr id="16" name="Text 13"/>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A cathode-ray oscilloscope used as a display</a:t>
            </a:r>
            <a:endParaRPr lang="en-US" sz="1200" dirty="0"/>
          </a:p>
        </p:txBody>
      </p:sp>
      <p:sp>
        <p:nvSpPr>
          <p:cNvPr id="17" name="Shape 14"/>
          <p:cNvSpPr/>
          <p:nvPr/>
        </p:nvSpPr>
        <p:spPr>
          <a:xfrm>
            <a:off x="8353374" y="91440"/>
            <a:ext cx="3289681" cy="274320"/>
          </a:xfrm>
          <a:prstGeom prst="rect">
            <a:avLst/>
          </a:prstGeom>
          <a:solidFill>
            <a:srgbClr val="E0F2FE"/>
          </a:solidFill>
          <a:ln w="12700">
            <a:solidFill>
              <a:srgbClr val="0369A1"/>
            </a:solidFill>
            <a:prstDash val="solid"/>
          </a:ln>
        </p:spPr>
      </p:sp>
      <p:sp>
        <p:nvSpPr>
          <p:cNvPr id="18" name="Shape 15"/>
          <p:cNvSpPr/>
          <p:nvPr/>
        </p:nvSpPr>
        <p:spPr>
          <a:xfrm>
            <a:off x="8353374" y="91440"/>
            <a:ext cx="73152" cy="274320"/>
          </a:xfrm>
          <a:prstGeom prst="rect">
            <a:avLst/>
          </a:prstGeom>
          <a:solidFill>
            <a:srgbClr val="0369A1"/>
          </a:solidFill>
          <a:ln w="12700">
            <a:solidFill>
              <a:srgbClr val="0369A1"/>
            </a:solidFill>
            <a:prstDash val="solid"/>
          </a:ln>
        </p:spPr>
      </p:sp>
      <p:pic>
        <p:nvPicPr>
          <p:cNvPr id="19" name="Image 1" descr="preencoded.png">    </p:cNvPr>
          <p:cNvPicPr>
            <a:picLocks noChangeAspect="1"/>
          </p:cNvPicPr>
          <p:nvPr/>
        </p:nvPicPr>
        <p:blipFill>
          <a:blip r:embed="rId2"/>
          <a:stretch>
            <a:fillRect/>
          </a:stretch>
        </p:blipFill>
        <p:spPr>
          <a:xfrm>
            <a:off x="8481390" y="128016"/>
            <a:ext cx="201168" cy="201168"/>
          </a:xfrm>
          <a:prstGeom prst="rect">
            <a:avLst/>
          </a:prstGeom>
        </p:spPr>
      </p:pic>
      <p:sp>
        <p:nvSpPr>
          <p:cNvPr id="20" name="Text 16"/>
          <p:cNvSpPr txBox="1"/>
          <p:nvPr/>
        </p:nvSpPr>
        <p:spPr>
          <a:xfrm>
            <a:off x="8737422" y="91440"/>
            <a:ext cx="286905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CRT and LCD displays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Liquid crystal displays</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LCD monitors have almost completely replaced the cathode-ray tube</a:t>
            </a:r>
            <a:endParaRPr lang="en-US" sz="2100" dirty="0"/>
          </a:p>
        </p:txBody>
      </p:sp>
      <p:sp>
        <p:nvSpPr>
          <p:cNvPr id="5" name="Shape 3"/>
          <p:cNvSpPr/>
          <p:nvPr/>
        </p:nvSpPr>
        <p:spPr>
          <a:xfrm>
            <a:off x="548640" y="229800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199323"/>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Advantages: a better picture; less bulk, weight and power; less eye strain</a:t>
            </a:r>
            <a:endParaRPr lang="en-US" sz="2100" dirty="0"/>
          </a:p>
        </p:txBody>
      </p:sp>
      <p:sp>
        <p:nvSpPr>
          <p:cNvPr id="7" name="Shape 5"/>
          <p:cNvSpPr/>
          <p:nvPr/>
        </p:nvSpPr>
        <p:spPr>
          <a:xfrm>
            <a:off x="548640" y="3080004"/>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981325"/>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Liquid crystals are viscous organic molecules that flow like a liquid but have a spatial structure</a:t>
            </a:r>
            <a:endParaRPr lang="en-US" sz="2100" dirty="0"/>
          </a:p>
        </p:txBody>
      </p:sp>
      <p:sp>
        <p:nvSpPr>
          <p:cNvPr id="9" name="Shape 7"/>
          <p:cNvSpPr/>
          <p:nvPr/>
        </p:nvSpPr>
        <p:spPr>
          <a:xfrm>
            <a:off x="548640" y="4187381"/>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088702"/>
            <a:ext cx="6565392" cy="1301496"/>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An electric field changes the orientation of the molecules, and with it the optical properties of the crystal: the angle of polarisation of the light that crosses it</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 crystal is a valve for light, opened and closed by a voltage</a:t>
            </a:r>
            <a:endParaRPr lang="en-US" sz="2100" dirty="0"/>
          </a:p>
        </p:txBody>
      </p:sp>
      <p:pic>
        <p:nvPicPr>
          <p:cNvPr id="13" name="Image 0" descr="/Users/raffaelemontella/devel/riscv-prg32/computer-architecture-with-prg32/tools/assets/lcd_layers.jpg">    </p:cNvPr>
          <p:cNvPicPr>
            <a:picLocks noChangeAspect="1"/>
          </p:cNvPicPr>
          <p:nvPr/>
        </p:nvPicPr>
        <p:blipFill>
          <a:blip r:embed="rId1"/>
          <a:stretch>
            <a:fillRect/>
          </a:stretch>
        </p:blipFill>
        <p:spPr>
          <a:xfrm>
            <a:off x="7863840" y="2501447"/>
            <a:ext cx="3779215" cy="2129427"/>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layers of a liquid crystal display</a:t>
            </a:r>
            <a:endParaRPr lang="en-US" sz="1200" dirty="0"/>
          </a:p>
        </p:txBody>
      </p:sp>
      <p:sp>
        <p:nvSpPr>
          <p:cNvPr id="15" name="Shape 12"/>
          <p:cNvSpPr/>
          <p:nvPr/>
        </p:nvSpPr>
        <p:spPr>
          <a:xfrm>
            <a:off x="8353374" y="91440"/>
            <a:ext cx="3289681" cy="274320"/>
          </a:xfrm>
          <a:prstGeom prst="rect">
            <a:avLst/>
          </a:prstGeom>
          <a:solidFill>
            <a:srgbClr val="E0F2FE"/>
          </a:solidFill>
          <a:ln w="12700">
            <a:solidFill>
              <a:srgbClr val="0369A1"/>
            </a:solidFill>
            <a:prstDash val="solid"/>
          </a:ln>
        </p:spPr>
      </p:sp>
      <p:sp>
        <p:nvSpPr>
          <p:cNvPr id="16" name="Shape 13"/>
          <p:cNvSpPr/>
          <p:nvPr/>
        </p:nvSpPr>
        <p:spPr>
          <a:xfrm>
            <a:off x="8353374" y="91440"/>
            <a:ext cx="73152" cy="274320"/>
          </a:xfrm>
          <a:prstGeom prst="rect">
            <a:avLst/>
          </a:prstGeom>
          <a:solidFill>
            <a:srgbClr val="0369A1"/>
          </a:solidFill>
          <a:ln w="12700">
            <a:solidFill>
              <a:srgbClr val="0369A1"/>
            </a:solidFill>
            <a:prstDash val="solid"/>
          </a:ln>
        </p:spPr>
      </p:sp>
      <p:pic>
        <p:nvPicPr>
          <p:cNvPr id="17" name="Image 1" descr="preencoded.png">    </p:cNvPr>
          <p:cNvPicPr>
            <a:picLocks noChangeAspect="1"/>
          </p:cNvPicPr>
          <p:nvPr/>
        </p:nvPicPr>
        <p:blipFill>
          <a:blip r:embed="rId2"/>
          <a:stretch>
            <a:fillRect/>
          </a:stretch>
        </p:blipFill>
        <p:spPr>
          <a:xfrm>
            <a:off x="8481390" y="128016"/>
            <a:ext cx="201168" cy="201168"/>
          </a:xfrm>
          <a:prstGeom prst="rect">
            <a:avLst/>
          </a:prstGeom>
        </p:spPr>
      </p:pic>
      <p:sp>
        <p:nvSpPr>
          <p:cNvPr id="18" name="Text 14"/>
          <p:cNvSpPr txBox="1"/>
          <p:nvPr/>
        </p:nvSpPr>
        <p:spPr>
          <a:xfrm>
            <a:off x="8737422" y="91440"/>
            <a:ext cx="286905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CRT and LCD displays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Inside an LCD panel</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The screen is made of many cells, often one per pixel, in which the liquid crystals are trapped</a:t>
            </a:r>
            <a:endParaRPr lang="en-US" sz="2000" dirty="0"/>
          </a:p>
        </p:txBody>
      </p:sp>
      <p:sp>
        <p:nvSpPr>
          <p:cNvPr id="5" name="Shape 3"/>
          <p:cNvSpPr/>
          <p:nvPr/>
        </p:nvSpPr>
        <p:spPr>
          <a:xfrm>
            <a:off x="548640" y="232619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35264"/>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Each cell has electrical contacts, so that a field can be applied to the liquid it contains</a:t>
            </a:r>
            <a:endParaRPr lang="en-US" sz="2000" dirty="0"/>
          </a:p>
        </p:txBody>
      </p:sp>
      <p:sp>
        <p:nvSpPr>
          <p:cNvPr id="7" name="Shape 5"/>
          <p:cNvSpPr/>
          <p:nvPr/>
        </p:nvSpPr>
        <p:spPr>
          <a:xfrm>
            <a:off x="548640" y="3144139"/>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053207"/>
            <a:ext cx="6565392" cy="92964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The cells lie between two polarising filters whose axes are perpendicular to each other, with a light behind the rear one</a:t>
            </a:r>
            <a:endParaRPr lang="en-US" sz="2000" dirty="0"/>
          </a:p>
        </p:txBody>
      </p:sp>
      <p:sp>
        <p:nvSpPr>
          <p:cNvPr id="9" name="Shape 7"/>
          <p:cNvSpPr/>
          <p:nvPr/>
        </p:nvSpPr>
        <p:spPr>
          <a:xfrm>
            <a:off x="548640" y="4271963"/>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181031"/>
            <a:ext cx="6565392" cy="1173226"/>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Polarisation decides whether light passes</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crystals not driven: the light is rotated and crosses the front polariser</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crystals driven: the light is completely blocked</a:t>
            </a:r>
            <a:endParaRPr lang="en-US" sz="2000" dirty="0"/>
          </a:p>
        </p:txBody>
      </p:sp>
      <p:sp>
        <p:nvSpPr>
          <p:cNvPr id="11" name="Shape 9"/>
          <p:cNvSpPr/>
          <p:nvPr/>
        </p:nvSpPr>
        <p:spPr>
          <a:xfrm>
            <a:off x="548640" y="564337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52440"/>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In a colour screen each cell is divided into three sections with a red, a green and a blue filter</a:t>
            </a:r>
            <a:endParaRPr lang="en-US" sz="2000" dirty="0"/>
          </a:p>
        </p:txBody>
      </p:sp>
      <p:pic>
        <p:nvPicPr>
          <p:cNvPr id="13" name="Image 0" descr="/Users/raffaelemontella/devel/riscv-prg32/computer-architecture-with-prg32/tools/assets/lcd_pixels.jpg">    </p:cNvPr>
          <p:cNvPicPr>
            <a:picLocks noChangeAspect="1"/>
          </p:cNvPicPr>
          <p:nvPr/>
        </p:nvPicPr>
        <p:blipFill>
          <a:blip r:embed="rId1"/>
          <a:stretch>
            <a:fillRect/>
          </a:stretch>
        </p:blipFill>
        <p:spPr>
          <a:xfrm>
            <a:off x="8798749" y="1417320"/>
            <a:ext cx="1909398" cy="4297680"/>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Red, green and blue sub-pixels under the magnifier</a:t>
            </a:r>
            <a:endParaRPr lang="en-US" sz="1200" dirty="0"/>
          </a:p>
        </p:txBody>
      </p:sp>
      <p:sp>
        <p:nvSpPr>
          <p:cNvPr id="15" name="Shape 12"/>
          <p:cNvSpPr/>
          <p:nvPr/>
        </p:nvSpPr>
        <p:spPr>
          <a:xfrm>
            <a:off x="8353374" y="91440"/>
            <a:ext cx="3289681" cy="274320"/>
          </a:xfrm>
          <a:prstGeom prst="rect">
            <a:avLst/>
          </a:prstGeom>
          <a:solidFill>
            <a:srgbClr val="E0F2FE"/>
          </a:solidFill>
          <a:ln w="12700">
            <a:solidFill>
              <a:srgbClr val="0369A1"/>
            </a:solidFill>
            <a:prstDash val="solid"/>
          </a:ln>
        </p:spPr>
      </p:sp>
      <p:sp>
        <p:nvSpPr>
          <p:cNvPr id="16" name="Shape 13"/>
          <p:cNvSpPr/>
          <p:nvPr/>
        </p:nvSpPr>
        <p:spPr>
          <a:xfrm>
            <a:off x="8353374" y="91440"/>
            <a:ext cx="73152" cy="274320"/>
          </a:xfrm>
          <a:prstGeom prst="rect">
            <a:avLst/>
          </a:prstGeom>
          <a:solidFill>
            <a:srgbClr val="0369A1"/>
          </a:solidFill>
          <a:ln w="12700">
            <a:solidFill>
              <a:srgbClr val="0369A1"/>
            </a:solidFill>
            <a:prstDash val="solid"/>
          </a:ln>
        </p:spPr>
      </p:sp>
      <p:pic>
        <p:nvPicPr>
          <p:cNvPr id="17" name="Image 1" descr="preencoded.png">    </p:cNvPr>
          <p:cNvPicPr>
            <a:picLocks noChangeAspect="1"/>
          </p:cNvPicPr>
          <p:nvPr/>
        </p:nvPicPr>
        <p:blipFill>
          <a:blip r:embed="rId2"/>
          <a:stretch>
            <a:fillRect/>
          </a:stretch>
        </p:blipFill>
        <p:spPr>
          <a:xfrm>
            <a:off x="8481390" y="128016"/>
            <a:ext cx="201168" cy="201168"/>
          </a:xfrm>
          <a:prstGeom prst="rect">
            <a:avLst/>
          </a:prstGeom>
        </p:spPr>
      </p:pic>
      <p:sp>
        <p:nvSpPr>
          <p:cNvPr id="18" name="Text 14"/>
          <p:cNvSpPr txBox="1"/>
          <p:nvPr/>
        </p:nvSpPr>
        <p:spPr>
          <a:xfrm>
            <a:off x="8737422" y="91440"/>
            <a:ext cx="286905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CRT and LCD displays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Driving the cells: from segments to the active matrix</a:t>
            </a:r>
            <a:endParaRPr lang="en-US" sz="3200" dirty="0"/>
          </a:p>
        </p:txBody>
      </p:sp>
      <p:sp>
        <p:nvSpPr>
          <p:cNvPr id="3" name="Shape 1"/>
          <p:cNvSpPr/>
          <p:nvPr/>
        </p:nvSpPr>
        <p:spPr>
          <a:xfrm>
            <a:off x="548640" y="1417320"/>
            <a:ext cx="5364328"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822960" y="1645920"/>
            <a:ext cx="4815688"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Segments and passive matrix</a:t>
            </a:r>
            <a:endParaRPr lang="en-US" sz="1900" dirty="0"/>
          </a:p>
        </p:txBody>
      </p:sp>
      <p:sp>
        <p:nvSpPr>
          <p:cNvPr id="5" name="Text 3"/>
          <p:cNvSpPr txBox="1"/>
          <p:nvPr/>
        </p:nvSpPr>
        <p:spPr>
          <a:xfrm>
            <a:off x="868680"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1700" dirty="0">
                <a:solidFill>
                  <a:srgbClr val="1B2530"/>
                </a:solidFill>
                <a:latin typeface="Calibri" pitchFamily="34" charset="0"/>
                <a:ea typeface="Calibri" pitchFamily="34" charset="-122"/>
                <a:cs typeface="Calibri" pitchFamily="34" charset="-120"/>
              </a:rPr>
              <a:t>Calculators and digital watches: one electrical contact per segment</a:t>
            </a:r>
            <a:endParaRPr lang="en-US" sz="1700" dirty="0"/>
          </a:p>
          <a:p>
            <a:pPr marL="203200" indent="-203200">
              <a:spcAft>
                <a:spcPts val="800"/>
              </a:spcAft>
              <a:buSzPct val="100000"/>
              <a:buChar char="•"/>
            </a:pPr>
            <a:r>
              <a:rPr lang="en-US" sz="1700" dirty="0">
                <a:solidFill>
                  <a:srgbClr val="1B2530"/>
                </a:solidFill>
                <a:latin typeface="Calibri" pitchFamily="34" charset="0"/>
                <a:ea typeface="Calibri" pitchFamily="34" charset="-122"/>
                <a:cs typeface="Calibri" pitchFamily="34" charset="-120"/>
              </a:rPr>
              <a:t>Impossible as the number of elements grows</a:t>
            </a:r>
            <a:endParaRPr lang="en-US" sz="1700" dirty="0"/>
          </a:p>
          <a:p>
            <a:pPr marL="203200" indent="-203200">
              <a:spcAft>
                <a:spcPts val="800"/>
              </a:spcAft>
              <a:buSzPct val="100000"/>
              <a:buChar char="•"/>
            </a:pPr>
            <a:r>
              <a:rPr lang="en-US" sz="1700" dirty="0">
                <a:solidFill>
                  <a:srgbClr val="1B2530"/>
                </a:solidFill>
                <a:latin typeface="Calibri" pitchFamily="34" charset="0"/>
                <a:ea typeface="Calibri" pitchFamily="34" charset="-122"/>
                <a:cs typeface="Calibri" pitchFamily="34" charset="-120"/>
              </a:rPr>
              <a:t>Passive matrix: one group of contacts per row and per column, not per pixel</a:t>
            </a:r>
            <a:endParaRPr lang="en-US" sz="1700" dirty="0"/>
          </a:p>
          <a:p>
            <a:pPr marL="203200" indent="-203200">
              <a:spcAft>
                <a:spcPts val="800"/>
              </a:spcAft>
              <a:buSzPct val="100000"/>
              <a:buChar char="•"/>
            </a:pPr>
            <a:r>
              <a:rPr lang="en-US" sz="1700" dirty="0">
                <a:solidFill>
                  <a:srgbClr val="1B2530"/>
                </a:solidFill>
                <a:latin typeface="Calibri" pitchFamily="34" charset="0"/>
                <a:ea typeface="Calibri" pitchFamily="34" charset="-122"/>
                <a:cs typeface="Calibri" pitchFamily="34" charset="-120"/>
              </a:rPr>
              <a:t>Only one pixel at a time is driven: the others must remember their state</a:t>
            </a:r>
            <a:endParaRPr lang="en-US" sz="1700" dirty="0"/>
          </a:p>
          <a:p>
            <a:pPr marL="203200" indent="-203200">
              <a:spcAft>
                <a:spcPts val="800"/>
              </a:spcAft>
              <a:buSzPct val="100000"/>
              <a:buChar char="•"/>
            </a:pPr>
            <a:r>
              <a:rPr lang="en-US" sz="1700" dirty="0">
                <a:solidFill>
                  <a:srgbClr val="1B2530"/>
                </a:solidFill>
                <a:latin typeface="Calibri" pitchFamily="34" charset="0"/>
                <a:ea typeface="Calibri" pitchFamily="34" charset="-122"/>
                <a:cs typeface="Calibri" pitchFamily="34" charset="-120"/>
              </a:rPr>
              <a:t>Problems: persistence (trails behind moving objects) and crosstalk</a:t>
            </a:r>
            <a:endParaRPr lang="en-US" sz="1700" dirty="0"/>
          </a:p>
        </p:txBody>
      </p:sp>
      <p:sp>
        <p:nvSpPr>
          <p:cNvPr id="6" name="Shape 4"/>
          <p:cNvSpPr/>
          <p:nvPr/>
        </p:nvSpPr>
        <p:spPr>
          <a:xfrm>
            <a:off x="6278728" y="1417320"/>
            <a:ext cx="5364328" cy="4754880"/>
          </a:xfrm>
          <a:prstGeom prst="roundRect">
            <a:avLst>
              <a:gd name="adj" fmla="val 1538"/>
            </a:avLst>
          </a:prstGeom>
          <a:solidFill>
            <a:srgbClr val="EEF2F4"/>
          </a:solidFill>
          <a:ln w="12700">
            <a:solidFill>
              <a:srgbClr val="EEF2F4"/>
            </a:solidFill>
            <a:prstDash val="solid"/>
          </a:ln>
        </p:spPr>
      </p:sp>
      <p:sp>
        <p:nvSpPr>
          <p:cNvPr id="7" name="Text 5"/>
          <p:cNvSpPr txBox="1"/>
          <p:nvPr/>
        </p:nvSpPr>
        <p:spPr>
          <a:xfrm>
            <a:off x="6553048" y="1645920"/>
            <a:ext cx="4815688"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Active matrix: TFT</a:t>
            </a:r>
            <a:endParaRPr lang="en-US" sz="1900" dirty="0"/>
          </a:p>
        </p:txBody>
      </p:sp>
      <p:sp>
        <p:nvSpPr>
          <p:cNvPr id="8" name="Text 6"/>
          <p:cNvSpPr txBox="1"/>
          <p:nvPr/>
        </p:nvSpPr>
        <p:spPr>
          <a:xfrm>
            <a:off x="6598768"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1700" dirty="0">
                <a:solidFill>
                  <a:srgbClr val="1B2530"/>
                </a:solidFill>
                <a:latin typeface="Calibri" pitchFamily="34" charset="0"/>
                <a:ea typeface="Calibri" pitchFamily="34" charset="-122"/>
                <a:cs typeface="Calibri" pitchFamily="34" charset="-120"/>
              </a:rPr>
              <a:t>Used for high-resolution screens</a:t>
            </a:r>
            <a:endParaRPr lang="en-US" sz="1700" dirty="0"/>
          </a:p>
          <a:p>
            <a:pPr marL="203200" indent="-203200">
              <a:spcAft>
                <a:spcPts val="800"/>
              </a:spcAft>
              <a:buSzPct val="100000"/>
              <a:buChar char="•"/>
            </a:pPr>
            <a:r>
              <a:rPr lang="en-US" sz="1700" dirty="0">
                <a:solidFill>
                  <a:srgbClr val="1B2530"/>
                </a:solidFill>
                <a:latin typeface="Calibri" pitchFamily="34" charset="0"/>
                <a:ea typeface="Calibri" pitchFamily="34" charset="-122"/>
                <a:cs typeface="Calibri" pitchFamily="34" charset="-120"/>
              </a:rPr>
              <a:t>The panel contains a thin film of transistors, on a transparent semiconductor layer</a:t>
            </a:r>
            <a:endParaRPr lang="en-US" sz="1700" dirty="0"/>
          </a:p>
          <a:p>
            <a:pPr marL="203200" indent="-203200">
              <a:spcAft>
                <a:spcPts val="800"/>
              </a:spcAft>
              <a:buSzPct val="100000"/>
              <a:buChar char="•"/>
            </a:pPr>
            <a:r>
              <a:rPr lang="en-US" sz="1700" dirty="0">
                <a:solidFill>
                  <a:srgbClr val="1B2530"/>
                </a:solidFill>
                <a:latin typeface="Calibri" pitchFamily="34" charset="0"/>
                <a:ea typeface="Calibri" pitchFamily="34" charset="-122"/>
                <a:cs typeface="Calibri" pitchFamily="34" charset="-120"/>
              </a:rPr>
              <a:t>The field is applied exactly where needed by a transistor in each cell</a:t>
            </a:r>
            <a:endParaRPr lang="en-US" sz="1700" dirty="0"/>
          </a:p>
          <a:p>
            <a:pPr marL="203200" indent="-203200">
              <a:spcAft>
                <a:spcPts val="800"/>
              </a:spcAft>
              <a:buSzPct val="100000"/>
              <a:buChar char="•"/>
            </a:pPr>
            <a:r>
              <a:rPr lang="en-US" sz="1700" dirty="0">
                <a:solidFill>
                  <a:srgbClr val="1B2530"/>
                </a:solidFill>
                <a:latin typeface="Calibri" pitchFamily="34" charset="0"/>
                <a:ea typeface="Calibri" pitchFamily="34" charset="-122"/>
                <a:cs typeface="Calibri" pitchFamily="34" charset="-120"/>
              </a:rPr>
              <a:t>The transistor stores the electrical state of its pixel while the others are updated</a:t>
            </a:r>
            <a:endParaRPr lang="en-US" sz="1700" dirty="0"/>
          </a:p>
          <a:p>
            <a:pPr marL="203200" indent="-203200">
              <a:spcAft>
                <a:spcPts val="800"/>
              </a:spcAft>
              <a:buSzPct val="100000"/>
              <a:buChar char="•"/>
            </a:pPr>
            <a:r>
              <a:rPr lang="en-US" sz="1700" dirty="0">
                <a:solidFill>
                  <a:srgbClr val="1B2530"/>
                </a:solidFill>
                <a:latin typeface="Calibri" pitchFamily="34" charset="0"/>
                <a:ea typeface="Calibri" pitchFamily="34" charset="-122"/>
                <a:cs typeface="Calibri" pitchFamily="34" charset="-120"/>
              </a:rPr>
              <a:t>Each pixel is, in effect, a one-bit analogue memory cell</a:t>
            </a:r>
            <a:endParaRPr lang="en-US" sz="1700" dirty="0"/>
          </a:p>
        </p:txBody>
      </p:sp>
      <p:sp>
        <p:nvSpPr>
          <p:cNvPr id="9" name="Shape 7"/>
          <p:cNvSpPr/>
          <p:nvPr/>
        </p:nvSpPr>
        <p:spPr>
          <a:xfrm>
            <a:off x="8353374" y="91440"/>
            <a:ext cx="3289681" cy="274320"/>
          </a:xfrm>
          <a:prstGeom prst="rect">
            <a:avLst/>
          </a:prstGeom>
          <a:solidFill>
            <a:srgbClr val="E0F2FE"/>
          </a:solidFill>
          <a:ln w="12700">
            <a:solidFill>
              <a:srgbClr val="0369A1"/>
            </a:solidFill>
            <a:prstDash val="solid"/>
          </a:ln>
        </p:spPr>
      </p:sp>
      <p:sp>
        <p:nvSpPr>
          <p:cNvPr id="10" name="Shape 8"/>
          <p:cNvSpPr/>
          <p:nvPr/>
        </p:nvSpPr>
        <p:spPr>
          <a:xfrm>
            <a:off x="8353374" y="91440"/>
            <a:ext cx="73152" cy="274320"/>
          </a:xfrm>
          <a:prstGeom prst="rect">
            <a:avLst/>
          </a:prstGeom>
          <a:solidFill>
            <a:srgbClr val="0369A1"/>
          </a:solidFill>
          <a:ln w="12700">
            <a:solidFill>
              <a:srgbClr val="0369A1"/>
            </a:solidFill>
            <a:prstDash val="solid"/>
          </a:ln>
        </p:spPr>
      </p:sp>
      <p:pic>
        <p:nvPicPr>
          <p:cNvPr id="11" name="Image 0" descr="preencoded.png">    </p:cNvPr>
          <p:cNvPicPr>
            <a:picLocks noChangeAspect="1"/>
          </p:cNvPicPr>
          <p:nvPr/>
        </p:nvPicPr>
        <p:blipFill>
          <a:blip r:embed="rId1"/>
          <a:stretch>
            <a:fillRect/>
          </a:stretch>
        </p:blipFill>
        <p:spPr>
          <a:xfrm>
            <a:off x="8481390" y="128016"/>
            <a:ext cx="201168" cy="201168"/>
          </a:xfrm>
          <a:prstGeom prst="rect">
            <a:avLst/>
          </a:prstGeom>
        </p:spPr>
      </p:pic>
      <p:sp>
        <p:nvSpPr>
          <p:cNvPr id="12" name="Text 9"/>
          <p:cNvSpPr txBox="1"/>
          <p:nvPr/>
        </p:nvSpPr>
        <p:spPr>
          <a:xfrm>
            <a:off x="8737422" y="91440"/>
            <a:ext cx="286905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CRT and LCD displays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keyboard</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Derived from that of typewriters; the main character input device</a:t>
            </a:r>
            <a:endParaRPr lang="en-US" sz="2200" dirty="0"/>
          </a:p>
        </p:txBody>
      </p:sp>
      <p:sp>
        <p:nvSpPr>
          <p:cNvPr id="5" name="Shape 3"/>
          <p:cNvSpPr/>
          <p:nvPr/>
        </p:nvSpPr>
        <p:spPr>
          <a:xfrm>
            <a:off x="548640" y="2293810"/>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187385"/>
            <a:ext cx="10710367" cy="133375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Its keys are grouped</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alphanumeric keys</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special keys: enter, backspace, ...</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arrow keys and function keys</a:t>
            </a:r>
            <a:endParaRPr lang="en-US" sz="2200" dirty="0"/>
          </a:p>
        </p:txBody>
      </p:sp>
      <p:sp>
        <p:nvSpPr>
          <p:cNvPr id="7" name="Shape 5"/>
          <p:cNvSpPr/>
          <p:nvPr/>
        </p:nvSpPr>
        <p:spPr>
          <a:xfrm>
            <a:off x="548640" y="4056761"/>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950335"/>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Keyboard and video are not directly connected to each other</a:t>
            </a:r>
            <a:endParaRPr lang="en-US" sz="2200" dirty="0"/>
          </a:p>
        </p:txBody>
      </p:sp>
      <p:sp>
        <p:nvSpPr>
          <p:cNvPr id="9" name="Shape 7"/>
          <p:cNvSpPr/>
          <p:nvPr/>
        </p:nvSpPr>
        <p:spPr>
          <a:xfrm>
            <a:off x="548640" y="482682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720399"/>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It is the processor that reproduces on the video the information typed on the keyboard</a:t>
            </a:r>
            <a:endParaRPr lang="en-US" sz="2200" dirty="0"/>
          </a:p>
        </p:txBody>
      </p:sp>
      <p:sp>
        <p:nvSpPr>
          <p:cNvPr id="11" name="Shape 9"/>
          <p:cNvSpPr/>
          <p:nvPr/>
        </p:nvSpPr>
        <p:spPr>
          <a:xfrm>
            <a:off x="548640" y="5937758"/>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831332"/>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Today's keyboards connect through USB, or wirelessly</a:t>
            </a:r>
            <a:endParaRPr lang="en-US" sz="2200" dirty="0"/>
          </a:p>
        </p:txBody>
      </p:sp>
      <p:sp>
        <p:nvSpPr>
          <p:cNvPr id="13" name="Shape 11"/>
          <p:cNvSpPr/>
          <p:nvPr/>
        </p:nvSpPr>
        <p:spPr>
          <a:xfrm>
            <a:off x="8484692" y="91440"/>
            <a:ext cx="3158363" cy="274320"/>
          </a:xfrm>
          <a:prstGeom prst="rect">
            <a:avLst/>
          </a:prstGeom>
          <a:solidFill>
            <a:srgbClr val="E0F2FE"/>
          </a:solidFill>
          <a:ln w="12700">
            <a:solidFill>
              <a:srgbClr val="0369A1"/>
            </a:solidFill>
            <a:prstDash val="solid"/>
          </a:ln>
        </p:spPr>
      </p:sp>
      <p:sp>
        <p:nvSpPr>
          <p:cNvPr id="14" name="Shape 12"/>
          <p:cNvSpPr/>
          <p:nvPr/>
        </p:nvSpPr>
        <p:spPr>
          <a:xfrm>
            <a:off x="8484692" y="91440"/>
            <a:ext cx="73152" cy="274320"/>
          </a:xfrm>
          <a:prstGeom prst="rect">
            <a:avLst/>
          </a:prstGeom>
          <a:solidFill>
            <a:srgbClr val="0369A1"/>
          </a:solidFill>
          <a:ln w="12700">
            <a:solidFill>
              <a:srgbClr val="0369A1"/>
            </a:solidFill>
            <a:prstDash val="solid"/>
          </a:ln>
        </p:spPr>
      </p:sp>
      <p:pic>
        <p:nvPicPr>
          <p:cNvPr id="15" name="Image 0" descr="preencoded.png">    </p:cNvPr>
          <p:cNvPicPr>
            <a:picLocks noChangeAspect="1"/>
          </p:cNvPicPr>
          <p:nvPr/>
        </p:nvPicPr>
        <p:blipFill>
          <a:blip r:embed="rId1"/>
          <a:stretch>
            <a:fillRect/>
          </a:stretch>
        </p:blipFill>
        <p:spPr>
          <a:xfrm>
            <a:off x="8612708" y="128016"/>
            <a:ext cx="201168" cy="201168"/>
          </a:xfrm>
          <a:prstGeom prst="rect">
            <a:avLst/>
          </a:prstGeom>
        </p:spPr>
      </p:pic>
      <p:sp>
        <p:nvSpPr>
          <p:cNvPr id="16" name="Text 13"/>
          <p:cNvSpPr txBox="1"/>
          <p:nvPr/>
        </p:nvSpPr>
        <p:spPr>
          <a:xfrm>
            <a:off x="8868740" y="91440"/>
            <a:ext cx="273773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keyboard and mouse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path of a key press</a:t>
            </a:r>
            <a:endParaRPr lang="en-US" sz="3200" dirty="0"/>
          </a:p>
        </p:txBody>
      </p:sp>
      <p:sp>
        <p:nvSpPr>
          <p:cNvPr id="3" name="Text 1"/>
          <p:cNvSpPr txBox="1"/>
          <p:nvPr/>
        </p:nvSpPr>
        <p:spPr>
          <a:xfrm>
            <a:off x="548640" y="1600200"/>
            <a:ext cx="493776" cy="493776"/>
          </a:xfrm>
          <a:prstGeom prst="roundRect">
            <a:avLst>
              <a:gd name="adj" fmla="val 9259"/>
            </a:avLst>
          </a:prstGeom>
          <a:solidFill>
            <a:srgbClr val="2E4A62"/>
          </a:solidFill>
          <a:ln>
            <a:solidFill>
              <a:srgbClr val="FFFFFF"/>
            </a:solid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Q</a:t>
            </a:r>
            <a:endParaRPr lang="en-US" sz="1500" dirty="0"/>
          </a:p>
        </p:txBody>
      </p:sp>
      <p:sp>
        <p:nvSpPr>
          <p:cNvPr id="4" name="Text 2"/>
          <p:cNvSpPr txBox="1"/>
          <p:nvPr/>
        </p:nvSpPr>
        <p:spPr>
          <a:xfrm>
            <a:off x="1115568" y="1600200"/>
            <a:ext cx="493776" cy="493776"/>
          </a:xfrm>
          <a:prstGeom prst="roundRect">
            <a:avLst>
              <a:gd name="adj" fmla="val 9259"/>
            </a:avLst>
          </a:prstGeom>
          <a:solidFill>
            <a:srgbClr val="2E4A62"/>
          </a:solidFill>
          <a:ln>
            <a:solidFill>
              <a:srgbClr val="FFFFFF"/>
            </a:solid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W</a:t>
            </a:r>
            <a:endParaRPr lang="en-US" sz="1500" dirty="0"/>
          </a:p>
        </p:txBody>
      </p:sp>
      <p:sp>
        <p:nvSpPr>
          <p:cNvPr id="5" name="Text 3"/>
          <p:cNvSpPr txBox="1"/>
          <p:nvPr/>
        </p:nvSpPr>
        <p:spPr>
          <a:xfrm>
            <a:off x="1682496" y="1600200"/>
            <a:ext cx="493776" cy="493776"/>
          </a:xfrm>
          <a:prstGeom prst="roundRect">
            <a:avLst>
              <a:gd name="adj" fmla="val 9259"/>
            </a:avLst>
          </a:prstGeom>
          <a:solidFill>
            <a:srgbClr val="2E4A62"/>
          </a:solidFill>
          <a:ln>
            <a:solidFill>
              <a:srgbClr val="FFFFFF"/>
            </a:solid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E</a:t>
            </a:r>
            <a:endParaRPr lang="en-US" sz="1500" dirty="0"/>
          </a:p>
        </p:txBody>
      </p:sp>
      <p:sp>
        <p:nvSpPr>
          <p:cNvPr id="6" name="Text 4"/>
          <p:cNvSpPr txBox="1"/>
          <p:nvPr/>
        </p:nvSpPr>
        <p:spPr>
          <a:xfrm>
            <a:off x="2249424" y="1600200"/>
            <a:ext cx="493776" cy="493776"/>
          </a:xfrm>
          <a:prstGeom prst="roundRect">
            <a:avLst>
              <a:gd name="adj" fmla="val 9259"/>
            </a:avLst>
          </a:prstGeom>
          <a:solidFill>
            <a:srgbClr val="2E4A62"/>
          </a:solidFill>
          <a:ln>
            <a:solidFill>
              <a:srgbClr val="FFFFFF"/>
            </a:solid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R</a:t>
            </a:r>
            <a:endParaRPr lang="en-US" sz="1500" dirty="0"/>
          </a:p>
        </p:txBody>
      </p:sp>
      <p:sp>
        <p:nvSpPr>
          <p:cNvPr id="7" name="Text 5"/>
          <p:cNvSpPr txBox="1"/>
          <p:nvPr/>
        </p:nvSpPr>
        <p:spPr>
          <a:xfrm>
            <a:off x="2816352" y="1600200"/>
            <a:ext cx="493776" cy="493776"/>
          </a:xfrm>
          <a:prstGeom prst="roundRect">
            <a:avLst>
              <a:gd name="adj" fmla="val 9259"/>
            </a:avLst>
          </a:prstGeom>
          <a:solidFill>
            <a:srgbClr val="2E4A62"/>
          </a:solidFill>
          <a:ln>
            <a:solidFill>
              <a:srgbClr val="FFFFFF"/>
            </a:solid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T</a:t>
            </a:r>
            <a:endParaRPr lang="en-US" sz="1500" dirty="0"/>
          </a:p>
        </p:txBody>
      </p:sp>
      <p:sp>
        <p:nvSpPr>
          <p:cNvPr id="8" name="Text 6"/>
          <p:cNvSpPr txBox="1"/>
          <p:nvPr/>
        </p:nvSpPr>
        <p:spPr>
          <a:xfrm>
            <a:off x="3383280" y="1600200"/>
            <a:ext cx="493776" cy="493776"/>
          </a:xfrm>
          <a:prstGeom prst="roundRect">
            <a:avLst>
              <a:gd name="adj" fmla="val 9259"/>
            </a:avLst>
          </a:prstGeom>
          <a:solidFill>
            <a:srgbClr val="2E4A62"/>
          </a:solidFill>
          <a:ln>
            <a:solidFill>
              <a:srgbClr val="FFFFFF"/>
            </a:solid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Y</a:t>
            </a:r>
            <a:endParaRPr lang="en-US" sz="1500" dirty="0"/>
          </a:p>
        </p:txBody>
      </p:sp>
      <p:sp>
        <p:nvSpPr>
          <p:cNvPr id="9" name="Text 7"/>
          <p:cNvSpPr txBox="1"/>
          <p:nvPr/>
        </p:nvSpPr>
        <p:spPr>
          <a:xfrm>
            <a:off x="731520" y="2167128"/>
            <a:ext cx="493776" cy="493776"/>
          </a:xfrm>
          <a:prstGeom prst="roundRect">
            <a:avLst>
              <a:gd name="adj" fmla="val 9259"/>
            </a:avLst>
          </a:prstGeom>
          <a:solidFill>
            <a:srgbClr val="2E4A62"/>
          </a:solidFill>
          <a:ln>
            <a:solidFill>
              <a:srgbClr val="FFFFFF"/>
            </a:solid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A</a:t>
            </a:r>
            <a:endParaRPr lang="en-US" sz="1500" dirty="0"/>
          </a:p>
        </p:txBody>
      </p:sp>
      <p:sp>
        <p:nvSpPr>
          <p:cNvPr id="10" name="Text 8"/>
          <p:cNvSpPr txBox="1"/>
          <p:nvPr/>
        </p:nvSpPr>
        <p:spPr>
          <a:xfrm>
            <a:off x="1298448" y="2167128"/>
            <a:ext cx="493776" cy="493776"/>
          </a:xfrm>
          <a:prstGeom prst="roundRect">
            <a:avLst>
              <a:gd name="adj" fmla="val 9259"/>
            </a:avLst>
          </a:prstGeom>
          <a:solidFill>
            <a:srgbClr val="2E4A62"/>
          </a:solidFill>
          <a:ln>
            <a:solidFill>
              <a:srgbClr val="FFFFFF"/>
            </a:solid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S</a:t>
            </a:r>
            <a:endParaRPr lang="en-US" sz="1500" dirty="0"/>
          </a:p>
        </p:txBody>
      </p:sp>
      <p:sp>
        <p:nvSpPr>
          <p:cNvPr id="11" name="Text 9"/>
          <p:cNvSpPr txBox="1"/>
          <p:nvPr/>
        </p:nvSpPr>
        <p:spPr>
          <a:xfrm>
            <a:off x="1865376" y="2167128"/>
            <a:ext cx="493776" cy="493776"/>
          </a:xfrm>
          <a:prstGeom prst="roundRect">
            <a:avLst>
              <a:gd name="adj" fmla="val 9259"/>
            </a:avLst>
          </a:prstGeom>
          <a:solidFill>
            <a:srgbClr val="C7791B"/>
          </a:solidFill>
          <a:ln>
            <a:solidFill>
              <a:srgbClr val="FFFFFF"/>
            </a:solid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D</a:t>
            </a:r>
            <a:endParaRPr lang="en-US" sz="1500" dirty="0"/>
          </a:p>
        </p:txBody>
      </p:sp>
      <p:sp>
        <p:nvSpPr>
          <p:cNvPr id="12" name="Text 10"/>
          <p:cNvSpPr txBox="1"/>
          <p:nvPr/>
        </p:nvSpPr>
        <p:spPr>
          <a:xfrm>
            <a:off x="2432304" y="2167128"/>
            <a:ext cx="493776" cy="493776"/>
          </a:xfrm>
          <a:prstGeom prst="roundRect">
            <a:avLst>
              <a:gd name="adj" fmla="val 9259"/>
            </a:avLst>
          </a:prstGeom>
          <a:solidFill>
            <a:srgbClr val="2E4A62"/>
          </a:solidFill>
          <a:ln>
            <a:solidFill>
              <a:srgbClr val="FFFFFF"/>
            </a:solid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F</a:t>
            </a:r>
            <a:endParaRPr lang="en-US" sz="1500" dirty="0"/>
          </a:p>
        </p:txBody>
      </p:sp>
      <p:sp>
        <p:nvSpPr>
          <p:cNvPr id="13" name="Text 11"/>
          <p:cNvSpPr txBox="1"/>
          <p:nvPr/>
        </p:nvSpPr>
        <p:spPr>
          <a:xfrm>
            <a:off x="2999232" y="2167128"/>
            <a:ext cx="493776" cy="493776"/>
          </a:xfrm>
          <a:prstGeom prst="roundRect">
            <a:avLst>
              <a:gd name="adj" fmla="val 9259"/>
            </a:avLst>
          </a:prstGeom>
          <a:solidFill>
            <a:srgbClr val="2E4A62"/>
          </a:solidFill>
          <a:ln>
            <a:solidFill>
              <a:srgbClr val="FFFFFF"/>
            </a:solid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G</a:t>
            </a:r>
            <a:endParaRPr lang="en-US" sz="1500" dirty="0"/>
          </a:p>
        </p:txBody>
      </p:sp>
      <p:sp>
        <p:nvSpPr>
          <p:cNvPr id="14" name="Text 12"/>
          <p:cNvSpPr txBox="1"/>
          <p:nvPr/>
        </p:nvSpPr>
        <p:spPr>
          <a:xfrm>
            <a:off x="3566160" y="2167128"/>
            <a:ext cx="493776" cy="493776"/>
          </a:xfrm>
          <a:prstGeom prst="roundRect">
            <a:avLst>
              <a:gd name="adj" fmla="val 9259"/>
            </a:avLst>
          </a:prstGeom>
          <a:solidFill>
            <a:srgbClr val="2E4A62"/>
          </a:solidFill>
          <a:ln>
            <a:solidFill>
              <a:srgbClr val="FFFFFF"/>
            </a:solid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H</a:t>
            </a:r>
            <a:endParaRPr lang="en-US" sz="1500" dirty="0"/>
          </a:p>
        </p:txBody>
      </p:sp>
      <p:sp>
        <p:nvSpPr>
          <p:cNvPr id="15" name="Text 13"/>
          <p:cNvSpPr txBox="1"/>
          <p:nvPr/>
        </p:nvSpPr>
        <p:spPr>
          <a:xfrm>
            <a:off x="914400" y="2734056"/>
            <a:ext cx="493776" cy="493776"/>
          </a:xfrm>
          <a:prstGeom prst="roundRect">
            <a:avLst>
              <a:gd name="adj" fmla="val 9259"/>
            </a:avLst>
          </a:prstGeom>
          <a:solidFill>
            <a:srgbClr val="2E4A62"/>
          </a:solidFill>
          <a:ln>
            <a:solidFill>
              <a:srgbClr val="FFFFFF"/>
            </a:solid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Z</a:t>
            </a:r>
            <a:endParaRPr lang="en-US" sz="1500" dirty="0"/>
          </a:p>
        </p:txBody>
      </p:sp>
      <p:sp>
        <p:nvSpPr>
          <p:cNvPr id="16" name="Text 14"/>
          <p:cNvSpPr txBox="1"/>
          <p:nvPr/>
        </p:nvSpPr>
        <p:spPr>
          <a:xfrm>
            <a:off x="1481328" y="2734056"/>
            <a:ext cx="493776" cy="493776"/>
          </a:xfrm>
          <a:prstGeom prst="roundRect">
            <a:avLst>
              <a:gd name="adj" fmla="val 9259"/>
            </a:avLst>
          </a:prstGeom>
          <a:solidFill>
            <a:srgbClr val="2E4A62"/>
          </a:solidFill>
          <a:ln>
            <a:solidFill>
              <a:srgbClr val="FFFFFF"/>
            </a:solid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X</a:t>
            </a:r>
            <a:endParaRPr lang="en-US" sz="1500" dirty="0"/>
          </a:p>
        </p:txBody>
      </p:sp>
      <p:sp>
        <p:nvSpPr>
          <p:cNvPr id="17" name="Text 15"/>
          <p:cNvSpPr txBox="1"/>
          <p:nvPr/>
        </p:nvSpPr>
        <p:spPr>
          <a:xfrm>
            <a:off x="2048256" y="2734056"/>
            <a:ext cx="493776" cy="493776"/>
          </a:xfrm>
          <a:prstGeom prst="roundRect">
            <a:avLst>
              <a:gd name="adj" fmla="val 9259"/>
            </a:avLst>
          </a:prstGeom>
          <a:solidFill>
            <a:srgbClr val="2E4A62"/>
          </a:solidFill>
          <a:ln>
            <a:solidFill>
              <a:srgbClr val="FFFFFF"/>
            </a:solid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C</a:t>
            </a:r>
            <a:endParaRPr lang="en-US" sz="1500" dirty="0"/>
          </a:p>
        </p:txBody>
      </p:sp>
      <p:sp>
        <p:nvSpPr>
          <p:cNvPr id="18" name="Text 16"/>
          <p:cNvSpPr txBox="1"/>
          <p:nvPr/>
        </p:nvSpPr>
        <p:spPr>
          <a:xfrm>
            <a:off x="2615184" y="2734056"/>
            <a:ext cx="493776" cy="493776"/>
          </a:xfrm>
          <a:prstGeom prst="roundRect">
            <a:avLst>
              <a:gd name="adj" fmla="val 9259"/>
            </a:avLst>
          </a:prstGeom>
          <a:solidFill>
            <a:srgbClr val="2E4A62"/>
          </a:solidFill>
          <a:ln>
            <a:solidFill>
              <a:srgbClr val="FFFFFF"/>
            </a:solid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V</a:t>
            </a:r>
            <a:endParaRPr lang="en-US" sz="1500" dirty="0"/>
          </a:p>
        </p:txBody>
      </p:sp>
      <p:sp>
        <p:nvSpPr>
          <p:cNvPr id="19" name="Text 17"/>
          <p:cNvSpPr txBox="1"/>
          <p:nvPr/>
        </p:nvSpPr>
        <p:spPr>
          <a:xfrm>
            <a:off x="3182112" y="2734056"/>
            <a:ext cx="493776" cy="493776"/>
          </a:xfrm>
          <a:prstGeom prst="roundRect">
            <a:avLst>
              <a:gd name="adj" fmla="val 9259"/>
            </a:avLst>
          </a:prstGeom>
          <a:solidFill>
            <a:srgbClr val="2E4A62"/>
          </a:solidFill>
          <a:ln>
            <a:solidFill>
              <a:srgbClr val="FFFFFF"/>
            </a:solid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B</a:t>
            </a:r>
            <a:endParaRPr lang="en-US" sz="1500" dirty="0"/>
          </a:p>
        </p:txBody>
      </p:sp>
      <p:sp>
        <p:nvSpPr>
          <p:cNvPr id="20" name="Text 18"/>
          <p:cNvSpPr txBox="1"/>
          <p:nvPr/>
        </p:nvSpPr>
        <p:spPr>
          <a:xfrm>
            <a:off x="3749040" y="2734056"/>
            <a:ext cx="493776" cy="493776"/>
          </a:xfrm>
          <a:prstGeom prst="roundRect">
            <a:avLst>
              <a:gd name="adj" fmla="val 9259"/>
            </a:avLst>
          </a:prstGeom>
          <a:solidFill>
            <a:srgbClr val="2E4A62"/>
          </a:solidFill>
          <a:ln>
            <a:solidFill>
              <a:srgbClr val="FFFFFF"/>
            </a:solid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N</a:t>
            </a:r>
            <a:endParaRPr lang="en-US" sz="1500" dirty="0"/>
          </a:p>
        </p:txBody>
      </p:sp>
      <p:sp>
        <p:nvSpPr>
          <p:cNvPr id="21" name="Text 19"/>
          <p:cNvSpPr txBox="1"/>
          <p:nvPr/>
        </p:nvSpPr>
        <p:spPr>
          <a:xfrm>
            <a:off x="548640" y="3337560"/>
            <a:ext cx="3840480" cy="274320"/>
          </a:xfrm>
          <a:prstGeom prst="rect">
            <a:avLst/>
          </a:prstGeom>
          <a:noFill/>
          <a:ln/>
        </p:spPr>
        <p:txBody>
          <a:bodyPr wrap="square" lIns="0" tIns="0" rIns="0" bIns="0" rtlCol="0" anchor="t"/>
          <a:lstStyle/>
          <a:p>
            <a:pPr indent="0" marL="0">
              <a:buNone/>
            </a:pPr>
            <a:r>
              <a:rPr lang="en-US" sz="1250" i="1" dirty="0">
                <a:solidFill>
                  <a:srgbClr val="5B6B78"/>
                </a:solidFill>
                <a:latin typeface="Calibri" pitchFamily="34" charset="0"/>
                <a:ea typeface="Calibri" pitchFamily="34" charset="-122"/>
                <a:cs typeface="Calibri" pitchFamily="34" charset="-120"/>
              </a:rPr>
              <a:t>rows and columns of switches</a:t>
            </a:r>
            <a:endParaRPr lang="en-US" sz="1250" dirty="0"/>
          </a:p>
        </p:txBody>
      </p:sp>
      <p:sp>
        <p:nvSpPr>
          <p:cNvPr id="22" name="Text 20"/>
          <p:cNvSpPr txBox="1"/>
          <p:nvPr/>
        </p:nvSpPr>
        <p:spPr>
          <a:xfrm>
            <a:off x="4572000" y="1783080"/>
            <a:ext cx="2148840" cy="1188720"/>
          </a:xfrm>
          <a:prstGeom prst="roundRect">
            <a:avLst>
              <a:gd name="adj" fmla="val 4615"/>
            </a:avLst>
          </a:prstGeom>
          <a:solidFill>
            <a:srgbClr val="0E7C86"/>
          </a:solidFill>
          <a:ln>
            <a:solidFill>
              <a:srgbClr val="0E7C86"/>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encoder</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row and column</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to an n-bit code</a:t>
            </a:r>
            <a:endParaRPr lang="en-US" sz="1500" dirty="0"/>
          </a:p>
        </p:txBody>
      </p:sp>
      <p:sp>
        <p:nvSpPr>
          <p:cNvPr id="23" name="Shape 21"/>
          <p:cNvSpPr/>
          <p:nvPr/>
        </p:nvSpPr>
        <p:spPr>
          <a:xfrm>
            <a:off x="4270248" y="2377440"/>
            <a:ext cx="274320" cy="0"/>
          </a:xfrm>
          <a:prstGeom prst="line">
            <a:avLst/>
          </a:prstGeom>
          <a:noFill/>
          <a:ln w="31750">
            <a:solidFill>
              <a:srgbClr val="5B6B78"/>
            </a:solidFill>
            <a:prstDash val="solid"/>
            <a:tailEnd type="triangle"/>
          </a:ln>
        </p:spPr>
      </p:sp>
      <p:sp>
        <p:nvSpPr>
          <p:cNvPr id="24" name="Text 22"/>
          <p:cNvSpPr txBox="1"/>
          <p:nvPr/>
        </p:nvSpPr>
        <p:spPr>
          <a:xfrm>
            <a:off x="7040880" y="1783080"/>
            <a:ext cx="2148840" cy="1188720"/>
          </a:xfrm>
          <a:prstGeom prst="roundRect">
            <a:avLst>
              <a:gd name="adj" fmla="val 4615"/>
            </a:avLst>
          </a:prstGeom>
          <a:solidFill>
            <a:srgbClr val="6B4FA0"/>
          </a:solidFill>
          <a:ln>
            <a:solidFill>
              <a:srgbClr val="6B4FA0"/>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shift register</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n bits in parallel</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to n bits in series</a:t>
            </a:r>
            <a:endParaRPr lang="en-US" sz="1500" dirty="0"/>
          </a:p>
        </p:txBody>
      </p:sp>
      <p:sp>
        <p:nvSpPr>
          <p:cNvPr id="25" name="Shape 23"/>
          <p:cNvSpPr/>
          <p:nvPr/>
        </p:nvSpPr>
        <p:spPr>
          <a:xfrm>
            <a:off x="6739128" y="2377440"/>
            <a:ext cx="274320" cy="0"/>
          </a:xfrm>
          <a:prstGeom prst="line">
            <a:avLst/>
          </a:prstGeom>
          <a:noFill/>
          <a:ln w="31750">
            <a:solidFill>
              <a:srgbClr val="5B6B78"/>
            </a:solidFill>
            <a:prstDash val="solid"/>
            <a:tailEnd type="triangle"/>
          </a:ln>
        </p:spPr>
      </p:sp>
      <p:sp>
        <p:nvSpPr>
          <p:cNvPr id="26" name="Text 24"/>
          <p:cNvSpPr txBox="1"/>
          <p:nvPr/>
        </p:nvSpPr>
        <p:spPr>
          <a:xfrm>
            <a:off x="9509760" y="1783080"/>
            <a:ext cx="2148840" cy="1188720"/>
          </a:xfrm>
          <a:prstGeom prst="roundRect">
            <a:avLst>
              <a:gd name="adj" fmla="val 4615"/>
            </a:avLst>
          </a:prstGeom>
          <a:solidFill>
            <a:srgbClr val="2F7D4F"/>
          </a:solidFill>
          <a:ln>
            <a:solidFill>
              <a:srgbClr val="2F7D4F"/>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serial interface</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for example</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a USB controller</a:t>
            </a:r>
            <a:endParaRPr lang="en-US" sz="1500" dirty="0"/>
          </a:p>
        </p:txBody>
      </p:sp>
      <p:sp>
        <p:nvSpPr>
          <p:cNvPr id="27" name="Shape 25"/>
          <p:cNvSpPr/>
          <p:nvPr/>
        </p:nvSpPr>
        <p:spPr>
          <a:xfrm>
            <a:off x="9208008" y="2377440"/>
            <a:ext cx="274320" cy="0"/>
          </a:xfrm>
          <a:prstGeom prst="line">
            <a:avLst/>
          </a:prstGeom>
          <a:noFill/>
          <a:ln w="31750">
            <a:solidFill>
              <a:srgbClr val="5B6B78"/>
            </a:solidFill>
            <a:prstDash val="solid"/>
            <a:tailEnd type="triangle"/>
          </a:ln>
        </p:spPr>
      </p:sp>
      <p:sp>
        <p:nvSpPr>
          <p:cNvPr id="28" name="Shape 26"/>
          <p:cNvSpPr/>
          <p:nvPr/>
        </p:nvSpPr>
        <p:spPr>
          <a:xfrm>
            <a:off x="10584180" y="2999232"/>
            <a:ext cx="0" cy="658368"/>
          </a:xfrm>
          <a:prstGeom prst="line">
            <a:avLst/>
          </a:prstGeom>
          <a:noFill/>
          <a:ln w="31750">
            <a:solidFill>
              <a:srgbClr val="5B6B78"/>
            </a:solidFill>
            <a:prstDash val="solid"/>
            <a:tailEnd type="triangle"/>
          </a:ln>
        </p:spPr>
      </p:sp>
      <p:sp>
        <p:nvSpPr>
          <p:cNvPr id="29" name="Shape 27"/>
          <p:cNvSpPr/>
          <p:nvPr/>
        </p:nvSpPr>
        <p:spPr>
          <a:xfrm>
            <a:off x="4572000" y="3703320"/>
            <a:ext cx="7071055" cy="0"/>
          </a:xfrm>
          <a:prstGeom prst="line">
            <a:avLst/>
          </a:prstGeom>
          <a:noFill/>
          <a:ln w="76200">
            <a:solidFill>
              <a:srgbClr val="C7791B"/>
            </a:solidFill>
            <a:prstDash val="solid"/>
          </a:ln>
        </p:spPr>
      </p:sp>
      <p:sp>
        <p:nvSpPr>
          <p:cNvPr id="30" name="Text 28"/>
          <p:cNvSpPr txBox="1"/>
          <p:nvPr/>
        </p:nvSpPr>
        <p:spPr>
          <a:xfrm>
            <a:off x="4572000" y="3794760"/>
            <a:ext cx="1828800" cy="274320"/>
          </a:xfrm>
          <a:prstGeom prst="rect">
            <a:avLst/>
          </a:prstGeom>
          <a:noFill/>
          <a:ln/>
        </p:spPr>
        <p:txBody>
          <a:bodyPr wrap="square" lIns="0" tIns="0" rIns="0" bIns="0" rtlCol="0" anchor="t"/>
          <a:lstStyle/>
          <a:p>
            <a:pPr indent="0" marL="0">
              <a:buNone/>
            </a:pPr>
            <a:r>
              <a:rPr lang="en-US" sz="1300" b="1" dirty="0">
                <a:solidFill>
                  <a:srgbClr val="C7791B"/>
                </a:solidFill>
                <a:latin typeface="Calibri" pitchFamily="34" charset="0"/>
                <a:ea typeface="Calibri" pitchFamily="34" charset="-122"/>
                <a:cs typeface="Calibri" pitchFamily="34" charset="-120"/>
              </a:rPr>
              <a:t>system bus</a:t>
            </a:r>
            <a:endParaRPr lang="en-US" sz="1300" dirty="0"/>
          </a:p>
        </p:txBody>
      </p:sp>
      <p:sp>
        <p:nvSpPr>
          <p:cNvPr id="31" name="Shape 29"/>
          <p:cNvSpPr/>
          <p:nvPr/>
        </p:nvSpPr>
        <p:spPr>
          <a:xfrm>
            <a:off x="548640" y="4365371"/>
            <a:ext cx="146304" cy="146304"/>
          </a:xfrm>
          <a:prstGeom prst="rect">
            <a:avLst/>
          </a:prstGeom>
          <a:solidFill>
            <a:srgbClr val="0E7C86"/>
          </a:solidFill>
          <a:ln w="12700">
            <a:solidFill>
              <a:srgbClr val="0E7C86"/>
            </a:solidFill>
            <a:prstDash val="solid"/>
          </a:ln>
        </p:spPr>
      </p:sp>
      <p:sp>
        <p:nvSpPr>
          <p:cNvPr id="32" name="Text 30"/>
          <p:cNvSpPr txBox="1"/>
          <p:nvPr/>
        </p:nvSpPr>
        <p:spPr>
          <a:xfrm>
            <a:off x="932688" y="4297680"/>
            <a:ext cx="10710367" cy="263398"/>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The keyboard is managed by a keyboard controller</a:t>
            </a:r>
            <a:endParaRPr lang="en-US" sz="1700" dirty="0"/>
          </a:p>
        </p:txBody>
      </p:sp>
      <p:sp>
        <p:nvSpPr>
          <p:cNvPr id="33" name="Shape 31"/>
          <p:cNvSpPr/>
          <p:nvPr/>
        </p:nvSpPr>
        <p:spPr>
          <a:xfrm>
            <a:off x="548640" y="4814612"/>
            <a:ext cx="146304" cy="146304"/>
          </a:xfrm>
          <a:prstGeom prst="rect">
            <a:avLst/>
          </a:prstGeom>
          <a:solidFill>
            <a:srgbClr val="C7791B"/>
          </a:solidFill>
          <a:ln w="12700">
            <a:solidFill>
              <a:srgbClr val="C7791B"/>
            </a:solidFill>
            <a:prstDash val="solid"/>
          </a:ln>
        </p:spPr>
      </p:sp>
      <p:sp>
        <p:nvSpPr>
          <p:cNvPr id="34" name="Text 32"/>
          <p:cNvSpPr txBox="1"/>
          <p:nvPr/>
        </p:nvSpPr>
        <p:spPr>
          <a:xfrm>
            <a:off x="932688" y="4746921"/>
            <a:ext cx="10710367" cy="263398"/>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The encoder turns a combination of row and column into a code of n bits: the encoder of Lecture 11</a:t>
            </a:r>
            <a:endParaRPr lang="en-US" sz="1700" dirty="0"/>
          </a:p>
        </p:txBody>
      </p:sp>
      <p:sp>
        <p:nvSpPr>
          <p:cNvPr id="35" name="Shape 33"/>
          <p:cNvSpPr/>
          <p:nvPr/>
        </p:nvSpPr>
        <p:spPr>
          <a:xfrm>
            <a:off x="548640" y="5263854"/>
            <a:ext cx="146304" cy="146304"/>
          </a:xfrm>
          <a:prstGeom prst="rect">
            <a:avLst/>
          </a:prstGeom>
          <a:solidFill>
            <a:srgbClr val="0E7C86"/>
          </a:solidFill>
          <a:ln w="12700">
            <a:solidFill>
              <a:srgbClr val="0E7C86"/>
            </a:solidFill>
            <a:prstDash val="solid"/>
          </a:ln>
        </p:spPr>
      </p:sp>
      <p:sp>
        <p:nvSpPr>
          <p:cNvPr id="36" name="Text 34"/>
          <p:cNvSpPr txBox="1"/>
          <p:nvPr/>
        </p:nvSpPr>
        <p:spPr>
          <a:xfrm>
            <a:off x="932688" y="5196163"/>
            <a:ext cx="10710367" cy="526796"/>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The shift register turns the n bits into a sequence, to be handled serially: the shift register of Lecture 14</a:t>
            </a:r>
            <a:endParaRPr lang="en-US" sz="1700" dirty="0"/>
          </a:p>
        </p:txBody>
      </p:sp>
      <p:sp>
        <p:nvSpPr>
          <p:cNvPr id="37" name="Shape 35"/>
          <p:cNvSpPr/>
          <p:nvPr/>
        </p:nvSpPr>
        <p:spPr>
          <a:xfrm>
            <a:off x="548640" y="5976493"/>
            <a:ext cx="146304" cy="146304"/>
          </a:xfrm>
          <a:prstGeom prst="rect">
            <a:avLst/>
          </a:prstGeom>
          <a:solidFill>
            <a:srgbClr val="C7791B"/>
          </a:solidFill>
          <a:ln w="12700">
            <a:solidFill>
              <a:srgbClr val="C7791B"/>
            </a:solidFill>
            <a:prstDash val="solid"/>
          </a:ln>
        </p:spPr>
      </p:sp>
      <p:sp>
        <p:nvSpPr>
          <p:cNvPr id="38" name="Text 36"/>
          <p:cNvSpPr txBox="1"/>
          <p:nvPr/>
        </p:nvSpPr>
        <p:spPr>
          <a:xfrm>
            <a:off x="932688" y="5908802"/>
            <a:ext cx="10710367" cy="263398"/>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The serial interface sends the code to the system bus in the proper way, and raises an interrupt</a:t>
            </a:r>
            <a:endParaRPr lang="en-US" sz="1700" dirty="0"/>
          </a:p>
        </p:txBody>
      </p:sp>
      <p:sp>
        <p:nvSpPr>
          <p:cNvPr id="39" name="Shape 37"/>
          <p:cNvSpPr/>
          <p:nvPr/>
        </p:nvSpPr>
        <p:spPr>
          <a:xfrm>
            <a:off x="8484692" y="91440"/>
            <a:ext cx="3158363" cy="274320"/>
          </a:xfrm>
          <a:prstGeom prst="rect">
            <a:avLst/>
          </a:prstGeom>
          <a:solidFill>
            <a:srgbClr val="E0F2FE"/>
          </a:solidFill>
          <a:ln w="12700">
            <a:solidFill>
              <a:srgbClr val="0369A1"/>
            </a:solidFill>
            <a:prstDash val="solid"/>
          </a:ln>
        </p:spPr>
      </p:sp>
      <p:sp>
        <p:nvSpPr>
          <p:cNvPr id="40" name="Shape 38"/>
          <p:cNvSpPr/>
          <p:nvPr/>
        </p:nvSpPr>
        <p:spPr>
          <a:xfrm>
            <a:off x="8484692" y="91440"/>
            <a:ext cx="73152" cy="274320"/>
          </a:xfrm>
          <a:prstGeom prst="rect">
            <a:avLst/>
          </a:prstGeom>
          <a:solidFill>
            <a:srgbClr val="0369A1"/>
          </a:solidFill>
          <a:ln w="12700">
            <a:solidFill>
              <a:srgbClr val="0369A1"/>
            </a:solidFill>
            <a:prstDash val="solid"/>
          </a:ln>
        </p:spPr>
      </p:sp>
      <p:pic>
        <p:nvPicPr>
          <p:cNvPr id="41" name="Image 0" descr="preencoded.png">    </p:cNvPr>
          <p:cNvPicPr>
            <a:picLocks noChangeAspect="1"/>
          </p:cNvPicPr>
          <p:nvPr/>
        </p:nvPicPr>
        <p:blipFill>
          <a:blip r:embed="rId1"/>
          <a:stretch>
            <a:fillRect/>
          </a:stretch>
        </p:blipFill>
        <p:spPr>
          <a:xfrm>
            <a:off x="8612708" y="128016"/>
            <a:ext cx="201168" cy="201168"/>
          </a:xfrm>
          <a:prstGeom prst="rect">
            <a:avLst/>
          </a:prstGeom>
        </p:spPr>
      </p:pic>
      <p:sp>
        <p:nvSpPr>
          <p:cNvPr id="42" name="Text 39"/>
          <p:cNvSpPr txBox="1"/>
          <p:nvPr/>
        </p:nvSpPr>
        <p:spPr>
          <a:xfrm>
            <a:off x="8868740" y="91440"/>
            <a:ext cx="273773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keyboard and mouse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mouse</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Invented in the 1960s by Douglas Engelbart: the first pointing device in history</a:t>
            </a:r>
            <a:endParaRPr lang="en-US" sz="2200" dirty="0"/>
          </a:p>
        </p:txBody>
      </p:sp>
      <p:sp>
        <p:nvSpPr>
          <p:cNvPr id="5" name="Shape 3"/>
          <p:cNvSpPr/>
          <p:nvPr/>
        </p:nvSpPr>
        <p:spPr>
          <a:xfrm>
            <a:off x="548640" y="262724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20823"/>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wooden box with two wheels underneath and a wire leaving from the back, like the tail of a mouse</a:t>
            </a:r>
            <a:endParaRPr lang="en-US" sz="2200" dirty="0"/>
          </a:p>
        </p:txBody>
      </p:sp>
      <p:sp>
        <p:nvSpPr>
          <p:cNvPr id="7" name="Shape 5"/>
          <p:cNvSpPr/>
          <p:nvPr/>
        </p:nvSpPr>
        <p:spPr>
          <a:xfrm>
            <a:off x="548640" y="373075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624326"/>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two wheels detected the movements along the horizontal and the vertical axis; the electronics turned them into electrical signals</a:t>
            </a:r>
            <a:endParaRPr lang="en-US" sz="2200" dirty="0"/>
          </a:p>
        </p:txBody>
      </p:sp>
      <p:sp>
        <p:nvSpPr>
          <p:cNvPr id="9" name="Shape 7"/>
          <p:cNvSpPr/>
          <p:nvPr/>
        </p:nvSpPr>
        <p:spPr>
          <a:xfrm>
            <a:off x="548640" y="483425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727829"/>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Mechanical mouse: a ball turns two rollers, each driving a counter</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Optical mouse: a light source and a tiny camera measure the movement of the surface underneath</a:t>
            </a:r>
            <a:endParaRPr lang="en-US" sz="2200" dirty="0"/>
          </a:p>
        </p:txBody>
      </p:sp>
      <p:sp>
        <p:nvSpPr>
          <p:cNvPr id="13" name="Shape 11"/>
          <p:cNvSpPr/>
          <p:nvPr/>
        </p:nvSpPr>
        <p:spPr>
          <a:xfrm>
            <a:off x="8484692" y="91440"/>
            <a:ext cx="3158363" cy="274320"/>
          </a:xfrm>
          <a:prstGeom prst="rect">
            <a:avLst/>
          </a:prstGeom>
          <a:solidFill>
            <a:srgbClr val="E0F2FE"/>
          </a:solidFill>
          <a:ln w="12700">
            <a:solidFill>
              <a:srgbClr val="0369A1"/>
            </a:solidFill>
            <a:prstDash val="solid"/>
          </a:ln>
        </p:spPr>
      </p:sp>
      <p:sp>
        <p:nvSpPr>
          <p:cNvPr id="14" name="Shape 12"/>
          <p:cNvSpPr/>
          <p:nvPr/>
        </p:nvSpPr>
        <p:spPr>
          <a:xfrm>
            <a:off x="8484692" y="91440"/>
            <a:ext cx="73152" cy="274320"/>
          </a:xfrm>
          <a:prstGeom prst="rect">
            <a:avLst/>
          </a:prstGeom>
          <a:solidFill>
            <a:srgbClr val="0369A1"/>
          </a:solidFill>
          <a:ln w="12700">
            <a:solidFill>
              <a:srgbClr val="0369A1"/>
            </a:solidFill>
            <a:prstDash val="solid"/>
          </a:ln>
        </p:spPr>
      </p:sp>
      <p:pic>
        <p:nvPicPr>
          <p:cNvPr id="15" name="Image 0" descr="preencoded.png">    </p:cNvPr>
          <p:cNvPicPr>
            <a:picLocks noChangeAspect="1"/>
          </p:cNvPicPr>
          <p:nvPr/>
        </p:nvPicPr>
        <p:blipFill>
          <a:blip r:embed="rId1"/>
          <a:stretch>
            <a:fillRect/>
          </a:stretch>
        </p:blipFill>
        <p:spPr>
          <a:xfrm>
            <a:off x="8612708" y="128016"/>
            <a:ext cx="201168" cy="201168"/>
          </a:xfrm>
          <a:prstGeom prst="rect">
            <a:avLst/>
          </a:prstGeom>
        </p:spPr>
      </p:pic>
      <p:sp>
        <p:nvSpPr>
          <p:cNvPr id="16" name="Text 13"/>
          <p:cNvSpPr txBox="1"/>
          <p:nvPr/>
        </p:nvSpPr>
        <p:spPr>
          <a:xfrm>
            <a:off x="8868740" y="91440"/>
            <a:ext cx="273773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keyboard and mouse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a mouse sends</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19963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Every time it moves by a minimum distance, about a hundredth of an inch, called a mickey, the mouse sends three bytes</a:t>
            </a:r>
            <a:endParaRPr lang="en-US" sz="2200" dirty="0"/>
          </a:p>
        </p:txBody>
      </p:sp>
      <p:sp>
        <p:nvSpPr>
          <p:cNvPr id="5" name="Shape 3"/>
          <p:cNvSpPr/>
          <p:nvPr/>
        </p:nvSpPr>
        <p:spPr>
          <a:xfrm>
            <a:off x="548640" y="2882900"/>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776474"/>
            <a:ext cx="619963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Byte 1: how many units it moved along x since the last report</a:t>
            </a:r>
            <a:endParaRPr lang="en-US" sz="2200" dirty="0"/>
          </a:p>
        </p:txBody>
      </p:sp>
      <p:sp>
        <p:nvSpPr>
          <p:cNvPr id="7" name="Shape 5"/>
          <p:cNvSpPr/>
          <p:nvPr/>
        </p:nvSpPr>
        <p:spPr>
          <a:xfrm>
            <a:off x="548640" y="3901186"/>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794760"/>
            <a:ext cx="6199632"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Byte 2: the movement along y</a:t>
            </a:r>
            <a:endParaRPr lang="en-US" sz="2200" dirty="0"/>
          </a:p>
        </p:txBody>
      </p:sp>
      <p:sp>
        <p:nvSpPr>
          <p:cNvPr id="9" name="Shape 7"/>
          <p:cNvSpPr/>
          <p:nvPr/>
        </p:nvSpPr>
        <p:spPr>
          <a:xfrm>
            <a:off x="548640" y="457860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72178"/>
            <a:ext cx="6199632"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Byte 3: the state of the buttons</a:t>
            </a:r>
            <a:endParaRPr lang="en-US" sz="2200" dirty="0"/>
          </a:p>
        </p:txBody>
      </p:sp>
      <p:sp>
        <p:nvSpPr>
          <p:cNvPr id="11" name="Shape 9"/>
          <p:cNvSpPr/>
          <p:nvPr/>
        </p:nvSpPr>
        <p:spPr>
          <a:xfrm>
            <a:off x="548640" y="525602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149596"/>
            <a:ext cx="619963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control software, the device driver, supervises the communication with the processor</a:t>
            </a:r>
            <a:endParaRPr lang="en-US" sz="2200" dirty="0"/>
          </a:p>
        </p:txBody>
      </p:sp>
      <p:sp>
        <p:nvSpPr>
          <p:cNvPr id="13" name="Text 11"/>
          <p:cNvSpPr txBox="1"/>
          <p:nvPr/>
        </p:nvSpPr>
        <p:spPr>
          <a:xfrm>
            <a:off x="7680960" y="1874520"/>
            <a:ext cx="3291840" cy="914400"/>
          </a:xfrm>
          <a:prstGeom prst="roundRect">
            <a:avLst>
              <a:gd name="adj" fmla="val 6000"/>
            </a:avLst>
          </a:prstGeom>
          <a:solidFill>
            <a:srgbClr val="0E7C86"/>
          </a:solidFill>
          <a:ln>
            <a:solidFill>
              <a:srgbClr val="0E7C86"/>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two counters</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x and y movement</a:t>
            </a:r>
            <a:endParaRPr lang="en-US" sz="1500" dirty="0"/>
          </a:p>
        </p:txBody>
      </p:sp>
      <p:sp>
        <p:nvSpPr>
          <p:cNvPr id="14" name="Shape 12"/>
          <p:cNvSpPr/>
          <p:nvPr/>
        </p:nvSpPr>
        <p:spPr>
          <a:xfrm>
            <a:off x="9326880" y="2816352"/>
            <a:ext cx="0" cy="310896"/>
          </a:xfrm>
          <a:prstGeom prst="line">
            <a:avLst/>
          </a:prstGeom>
          <a:noFill/>
          <a:ln w="31750">
            <a:solidFill>
              <a:srgbClr val="5B6B78"/>
            </a:solidFill>
            <a:prstDash val="solid"/>
            <a:tailEnd type="triangle"/>
          </a:ln>
        </p:spPr>
      </p:sp>
      <p:sp>
        <p:nvSpPr>
          <p:cNvPr id="15" name="Text 13"/>
          <p:cNvSpPr txBox="1"/>
          <p:nvPr/>
        </p:nvSpPr>
        <p:spPr>
          <a:xfrm>
            <a:off x="7680960" y="3154680"/>
            <a:ext cx="3291840" cy="914400"/>
          </a:xfrm>
          <a:prstGeom prst="roundRect">
            <a:avLst>
              <a:gd name="adj" fmla="val 6000"/>
            </a:avLst>
          </a:prstGeom>
          <a:solidFill>
            <a:srgbClr val="6B4FA0"/>
          </a:solidFill>
          <a:ln>
            <a:solidFill>
              <a:srgbClr val="6B4FA0"/>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shift register</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three bytes, in series</a:t>
            </a:r>
            <a:endParaRPr lang="en-US" sz="1500" dirty="0"/>
          </a:p>
        </p:txBody>
      </p:sp>
      <p:sp>
        <p:nvSpPr>
          <p:cNvPr id="16" name="Shape 14"/>
          <p:cNvSpPr/>
          <p:nvPr/>
        </p:nvSpPr>
        <p:spPr>
          <a:xfrm>
            <a:off x="9326880" y="4096512"/>
            <a:ext cx="0" cy="310896"/>
          </a:xfrm>
          <a:prstGeom prst="line">
            <a:avLst/>
          </a:prstGeom>
          <a:noFill/>
          <a:ln w="31750">
            <a:solidFill>
              <a:srgbClr val="5B6B78"/>
            </a:solidFill>
            <a:prstDash val="solid"/>
            <a:tailEnd type="triangle"/>
          </a:ln>
        </p:spPr>
      </p:sp>
      <p:sp>
        <p:nvSpPr>
          <p:cNvPr id="17" name="Text 15"/>
          <p:cNvSpPr txBox="1"/>
          <p:nvPr/>
        </p:nvSpPr>
        <p:spPr>
          <a:xfrm>
            <a:off x="7680960" y="4434840"/>
            <a:ext cx="3291840" cy="914400"/>
          </a:xfrm>
          <a:prstGeom prst="roundRect">
            <a:avLst>
              <a:gd name="adj" fmla="val 6000"/>
            </a:avLst>
          </a:prstGeom>
          <a:solidFill>
            <a:srgbClr val="2F7D4F"/>
          </a:solidFill>
          <a:ln>
            <a:solidFill>
              <a:srgbClr val="2F7D4F"/>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serial interface</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USB controller</a:t>
            </a:r>
            <a:endParaRPr lang="en-US" sz="1500" dirty="0"/>
          </a:p>
        </p:txBody>
      </p:sp>
      <p:sp>
        <p:nvSpPr>
          <p:cNvPr id="18" name="Text 16"/>
          <p:cNvSpPr txBox="1"/>
          <p:nvPr/>
        </p:nvSpPr>
        <p:spPr>
          <a:xfrm>
            <a:off x="7680960" y="5806440"/>
            <a:ext cx="1097280" cy="548640"/>
          </a:xfrm>
          <a:prstGeom prst="rect">
            <a:avLst/>
          </a:prstGeom>
          <a:solidFill>
            <a:srgbClr val="0E7C86"/>
          </a:solidFill>
          <a:ln w="12700">
            <a:solidFill>
              <a:srgbClr val="2E4A62"/>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dx</a:t>
            </a:r>
            <a:endParaRPr lang="en-US" sz="1400" dirty="0"/>
          </a:p>
        </p:txBody>
      </p:sp>
      <p:sp>
        <p:nvSpPr>
          <p:cNvPr id="19" name="Text 17"/>
          <p:cNvSpPr txBox="1"/>
          <p:nvPr/>
        </p:nvSpPr>
        <p:spPr>
          <a:xfrm>
            <a:off x="8778240" y="5806440"/>
            <a:ext cx="1097280" cy="548640"/>
          </a:xfrm>
          <a:prstGeom prst="rect">
            <a:avLst/>
          </a:prstGeom>
          <a:solidFill>
            <a:srgbClr val="0E7C86"/>
          </a:solidFill>
          <a:ln w="12700">
            <a:solidFill>
              <a:srgbClr val="2E4A62"/>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dy</a:t>
            </a:r>
            <a:endParaRPr lang="en-US" sz="1400" dirty="0"/>
          </a:p>
        </p:txBody>
      </p:sp>
      <p:sp>
        <p:nvSpPr>
          <p:cNvPr id="20" name="Text 18"/>
          <p:cNvSpPr txBox="1"/>
          <p:nvPr/>
        </p:nvSpPr>
        <p:spPr>
          <a:xfrm>
            <a:off x="9875520" y="5806440"/>
            <a:ext cx="1097280" cy="548640"/>
          </a:xfrm>
          <a:prstGeom prst="rect">
            <a:avLst/>
          </a:prstGeom>
          <a:solidFill>
            <a:srgbClr val="C7791B"/>
          </a:solidFill>
          <a:ln w="12700">
            <a:solidFill>
              <a:srgbClr val="2E4A62"/>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buttons</a:t>
            </a:r>
            <a:endParaRPr lang="en-US" sz="1400" dirty="0"/>
          </a:p>
        </p:txBody>
      </p:sp>
      <p:sp>
        <p:nvSpPr>
          <p:cNvPr id="21" name="Shape 19"/>
          <p:cNvSpPr/>
          <p:nvPr/>
        </p:nvSpPr>
        <p:spPr>
          <a:xfrm>
            <a:off x="8484692" y="91440"/>
            <a:ext cx="3158363" cy="274320"/>
          </a:xfrm>
          <a:prstGeom prst="rect">
            <a:avLst/>
          </a:prstGeom>
          <a:solidFill>
            <a:srgbClr val="E0F2FE"/>
          </a:solidFill>
          <a:ln w="12700">
            <a:solidFill>
              <a:srgbClr val="0369A1"/>
            </a:solidFill>
            <a:prstDash val="solid"/>
          </a:ln>
        </p:spPr>
      </p:sp>
      <p:sp>
        <p:nvSpPr>
          <p:cNvPr id="22" name="Shape 20"/>
          <p:cNvSpPr/>
          <p:nvPr/>
        </p:nvSpPr>
        <p:spPr>
          <a:xfrm>
            <a:off x="8484692" y="91440"/>
            <a:ext cx="73152" cy="274320"/>
          </a:xfrm>
          <a:prstGeom prst="rect">
            <a:avLst/>
          </a:prstGeom>
          <a:solidFill>
            <a:srgbClr val="0369A1"/>
          </a:solidFill>
          <a:ln w="12700">
            <a:solidFill>
              <a:srgbClr val="0369A1"/>
            </a:solidFill>
            <a:prstDash val="solid"/>
          </a:ln>
        </p:spPr>
      </p:sp>
      <p:pic>
        <p:nvPicPr>
          <p:cNvPr id="23" name="Image 0" descr="preencoded.png">    </p:cNvPr>
          <p:cNvPicPr>
            <a:picLocks noChangeAspect="1"/>
          </p:cNvPicPr>
          <p:nvPr/>
        </p:nvPicPr>
        <p:blipFill>
          <a:blip r:embed="rId1"/>
          <a:stretch>
            <a:fillRect/>
          </a:stretch>
        </p:blipFill>
        <p:spPr>
          <a:xfrm>
            <a:off x="8612708" y="128016"/>
            <a:ext cx="201168" cy="201168"/>
          </a:xfrm>
          <a:prstGeom prst="rect">
            <a:avLst/>
          </a:prstGeom>
        </p:spPr>
      </p:pic>
      <p:sp>
        <p:nvSpPr>
          <p:cNvPr id="24" name="Text 21"/>
          <p:cNvSpPr txBox="1"/>
          <p:nvPr/>
        </p:nvSpPr>
        <p:spPr>
          <a:xfrm>
            <a:off x="8868740" y="91440"/>
            <a:ext cx="273773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keyboard and mouse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printer</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An output device that prints information on paper</a:t>
            </a:r>
            <a:endParaRPr lang="en-US" sz="2200" dirty="0"/>
          </a:p>
        </p:txBody>
      </p:sp>
      <p:sp>
        <p:nvSpPr>
          <p:cNvPr id="5" name="Shape 3"/>
          <p:cNvSpPr/>
          <p:nvPr/>
        </p:nvSpPr>
        <p:spPr>
          <a:xfrm>
            <a:off x="548640" y="2211070"/>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104644"/>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Printing speed: lines per minute, characters per second or pages per minute</a:t>
            </a:r>
            <a:endParaRPr lang="en-US" sz="2200" dirty="0"/>
          </a:p>
        </p:txBody>
      </p:sp>
      <p:sp>
        <p:nvSpPr>
          <p:cNvPr id="7" name="Shape 5"/>
          <p:cNvSpPr/>
          <p:nvPr/>
        </p:nvSpPr>
        <p:spPr>
          <a:xfrm>
            <a:off x="548640" y="2898394"/>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791968"/>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Resolution, the print quality: dots per inch</a:t>
            </a:r>
            <a:endParaRPr lang="en-US" sz="2200" dirty="0"/>
          </a:p>
        </p:txBody>
      </p:sp>
      <p:sp>
        <p:nvSpPr>
          <p:cNvPr id="9" name="Shape 7"/>
          <p:cNvSpPr/>
          <p:nvPr/>
        </p:nvSpPr>
        <p:spPr>
          <a:xfrm>
            <a:off x="548640" y="3585718"/>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479292"/>
            <a:ext cx="10710367" cy="166471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Kinds</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daisy wheel and chain printers, now disused</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dot matrix: needles strike an inked ribbon</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ink jet: tiny drops of ink</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laser</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printer is also a small computer: it has its own processor, memory and firmware</a:t>
            </a:r>
            <a:endParaRPr lang="en-US" sz="2200" dirty="0"/>
          </a:p>
        </p:txBody>
      </p:sp>
      <p:sp>
        <p:nvSpPr>
          <p:cNvPr id="13" name="Shape 11"/>
          <p:cNvSpPr/>
          <p:nvPr/>
        </p:nvSpPr>
        <p:spPr>
          <a:xfrm>
            <a:off x="9141282" y="91440"/>
            <a:ext cx="2501773" cy="274320"/>
          </a:xfrm>
          <a:prstGeom prst="rect">
            <a:avLst/>
          </a:prstGeom>
          <a:solidFill>
            <a:srgbClr val="E0F2FE"/>
          </a:solidFill>
          <a:ln w="12700">
            <a:solidFill>
              <a:srgbClr val="0369A1"/>
            </a:solidFill>
            <a:prstDash val="solid"/>
          </a:ln>
        </p:spPr>
      </p:sp>
      <p:sp>
        <p:nvSpPr>
          <p:cNvPr id="14" name="Shape 12"/>
          <p:cNvSpPr/>
          <p:nvPr/>
        </p:nvSpPr>
        <p:spPr>
          <a:xfrm>
            <a:off x="9141282" y="91440"/>
            <a:ext cx="73152" cy="274320"/>
          </a:xfrm>
          <a:prstGeom prst="rect">
            <a:avLst/>
          </a:prstGeom>
          <a:solidFill>
            <a:srgbClr val="0369A1"/>
          </a:solidFill>
          <a:ln w="12700">
            <a:solidFill>
              <a:srgbClr val="0369A1"/>
            </a:solidFill>
            <a:prstDash val="solid"/>
          </a:ln>
        </p:spPr>
      </p:sp>
      <p:pic>
        <p:nvPicPr>
          <p:cNvPr id="15" name="Image 0" descr="preencoded.png">    </p:cNvPr>
          <p:cNvPicPr>
            <a:picLocks noChangeAspect="1"/>
          </p:cNvPicPr>
          <p:nvPr/>
        </p:nvPicPr>
        <p:blipFill>
          <a:blip r:embed="rId1"/>
          <a:stretch>
            <a:fillRect/>
          </a:stretch>
        </p:blipFill>
        <p:spPr>
          <a:xfrm>
            <a:off x="9269298" y="128016"/>
            <a:ext cx="201168" cy="201168"/>
          </a:xfrm>
          <a:prstGeom prst="rect">
            <a:avLst/>
          </a:prstGeom>
        </p:spPr>
      </p:pic>
      <p:sp>
        <p:nvSpPr>
          <p:cNvPr id="16" name="Text 13"/>
          <p:cNvSpPr txBox="1"/>
          <p:nvPr/>
        </p:nvSpPr>
        <p:spPr>
          <a:xfrm>
            <a:off x="9525330" y="91440"/>
            <a:ext cx="208114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printers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laser printer</a:t>
            </a:r>
            <a:endParaRPr lang="en-US" sz="3200" dirty="0"/>
          </a:p>
        </p:txBody>
      </p:sp>
      <p:sp>
        <p:nvSpPr>
          <p:cNvPr id="3" name="Shape 1"/>
          <p:cNvSpPr/>
          <p:nvPr/>
        </p:nvSpPr>
        <p:spPr>
          <a:xfrm>
            <a:off x="548640" y="1500505"/>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294386"/>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It derives from the photocopier</a:t>
            </a:r>
            <a:endParaRPr lang="en-US" sz="1900" dirty="0"/>
          </a:p>
        </p:txBody>
      </p:sp>
      <p:sp>
        <p:nvSpPr>
          <p:cNvPr id="5" name="Shape 3"/>
          <p:cNvSpPr/>
          <p:nvPr/>
        </p:nvSpPr>
        <p:spPr>
          <a:xfrm>
            <a:off x="548640" y="2039341"/>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1956156"/>
            <a:ext cx="6565392" cy="294386"/>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 drum is charged electrically, to about 1,000 volts</a:t>
            </a:r>
            <a:endParaRPr lang="en-US" sz="1900" dirty="0"/>
          </a:p>
        </p:txBody>
      </p:sp>
      <p:sp>
        <p:nvSpPr>
          <p:cNvPr id="7" name="Shape 5"/>
          <p:cNvSpPr/>
          <p:nvPr/>
        </p:nvSpPr>
        <p:spPr>
          <a:xfrm>
            <a:off x="548640" y="2578176"/>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494991"/>
            <a:ext cx="656539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 laser beam, reflected by a rotating mirror, scans the length of the drum; the beam is modulated to produce a pattern of light and dark points</a:t>
            </a:r>
            <a:endParaRPr lang="en-US" sz="1900" dirty="0"/>
          </a:p>
        </p:txBody>
      </p:sp>
      <p:sp>
        <p:nvSpPr>
          <p:cNvPr id="9" name="Shape 7"/>
          <p:cNvSpPr/>
          <p:nvPr/>
        </p:nvSpPr>
        <p:spPr>
          <a:xfrm>
            <a:off x="548640" y="370578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622599"/>
            <a:ext cx="656539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The points struck by the beam lose their charge; after each line the drum turns a fraction of a degree</a:t>
            </a:r>
            <a:endParaRPr lang="en-US" sz="1900" dirty="0"/>
          </a:p>
        </p:txBody>
      </p:sp>
      <p:sp>
        <p:nvSpPr>
          <p:cNvPr id="11" name="Shape 9"/>
          <p:cNvSpPr/>
          <p:nvPr/>
        </p:nvSpPr>
        <p:spPr>
          <a:xfrm>
            <a:off x="548640" y="4539005"/>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455820"/>
            <a:ext cx="656539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The toner is attracted by the points that are still charged: an image of the line is formed</a:t>
            </a:r>
            <a:endParaRPr lang="en-US" sz="1900" dirty="0"/>
          </a:p>
        </p:txBody>
      </p:sp>
      <p:sp>
        <p:nvSpPr>
          <p:cNvPr id="13" name="Shape 11"/>
          <p:cNvSpPr/>
          <p:nvPr/>
        </p:nvSpPr>
        <p:spPr>
          <a:xfrm>
            <a:off x="548640" y="5372227"/>
            <a:ext cx="146304" cy="146304"/>
          </a:xfrm>
          <a:prstGeom prst="rect">
            <a:avLst/>
          </a:prstGeom>
          <a:solidFill>
            <a:srgbClr val="C7791B"/>
          </a:solidFill>
          <a:ln w="12700">
            <a:solidFill>
              <a:srgbClr val="C7791B"/>
            </a:solidFill>
            <a:prstDash val="solid"/>
          </a:ln>
        </p:spPr>
      </p:sp>
      <p:sp>
        <p:nvSpPr>
          <p:cNvPr id="14" name="Text 12"/>
          <p:cNvSpPr txBox="1"/>
          <p:nvPr/>
        </p:nvSpPr>
        <p:spPr>
          <a:xfrm>
            <a:off x="932688" y="5289042"/>
            <a:ext cx="656539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The drum is pressed against the paper and transfers the toner; heated rollers fix it permanently; the drum is discharged and cleaned</a:t>
            </a:r>
            <a:endParaRPr lang="en-US" sz="1900" dirty="0"/>
          </a:p>
        </p:txBody>
      </p:sp>
      <p:pic>
        <p:nvPicPr>
          <p:cNvPr id="15" name="Image 0" descr="/Users/raffaelemontella/devel/riscv-prg32/computer-architecture-with-prg32/tools/assets/laser_printer.jpg">    </p:cNvPr>
          <p:cNvPicPr>
            <a:picLocks noChangeAspect="1"/>
          </p:cNvPicPr>
          <p:nvPr/>
        </p:nvPicPr>
        <p:blipFill>
          <a:blip r:embed="rId1"/>
          <a:stretch>
            <a:fillRect/>
          </a:stretch>
        </p:blipFill>
        <p:spPr>
          <a:xfrm>
            <a:off x="7863840" y="1958517"/>
            <a:ext cx="3779215" cy="3215285"/>
          </a:xfrm>
          <a:prstGeom prst="rect">
            <a:avLst/>
          </a:prstGeom>
        </p:spPr>
      </p:pic>
      <p:sp>
        <p:nvSpPr>
          <p:cNvPr id="16" name="Text 13"/>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laser writes the page on the drum, line by line</a:t>
            </a:r>
            <a:endParaRPr lang="en-US" sz="1200" dirty="0"/>
          </a:p>
        </p:txBody>
      </p:sp>
      <p:sp>
        <p:nvSpPr>
          <p:cNvPr id="17" name="Shape 14"/>
          <p:cNvSpPr/>
          <p:nvPr/>
        </p:nvSpPr>
        <p:spPr>
          <a:xfrm>
            <a:off x="9141282" y="91440"/>
            <a:ext cx="2501773" cy="274320"/>
          </a:xfrm>
          <a:prstGeom prst="rect">
            <a:avLst/>
          </a:prstGeom>
          <a:solidFill>
            <a:srgbClr val="E0F2FE"/>
          </a:solidFill>
          <a:ln w="12700">
            <a:solidFill>
              <a:srgbClr val="0369A1"/>
            </a:solidFill>
            <a:prstDash val="solid"/>
          </a:ln>
        </p:spPr>
      </p:sp>
      <p:sp>
        <p:nvSpPr>
          <p:cNvPr id="18" name="Shape 15"/>
          <p:cNvSpPr/>
          <p:nvPr/>
        </p:nvSpPr>
        <p:spPr>
          <a:xfrm>
            <a:off x="9141282" y="91440"/>
            <a:ext cx="73152" cy="274320"/>
          </a:xfrm>
          <a:prstGeom prst="rect">
            <a:avLst/>
          </a:prstGeom>
          <a:solidFill>
            <a:srgbClr val="0369A1"/>
          </a:solidFill>
          <a:ln w="12700">
            <a:solidFill>
              <a:srgbClr val="0369A1"/>
            </a:solidFill>
            <a:prstDash val="solid"/>
          </a:ln>
        </p:spPr>
      </p:sp>
      <p:pic>
        <p:nvPicPr>
          <p:cNvPr id="19" name="Image 1" descr="preencoded.png">    </p:cNvPr>
          <p:cNvPicPr>
            <a:picLocks noChangeAspect="1"/>
          </p:cNvPicPr>
          <p:nvPr/>
        </p:nvPicPr>
        <p:blipFill>
          <a:blip r:embed="rId2"/>
          <a:stretch>
            <a:fillRect/>
          </a:stretch>
        </p:blipFill>
        <p:spPr>
          <a:xfrm>
            <a:off x="9269298" y="128016"/>
            <a:ext cx="201168" cy="201168"/>
          </a:xfrm>
          <a:prstGeom prst="rect">
            <a:avLst/>
          </a:prstGeom>
        </p:spPr>
      </p:pic>
      <p:sp>
        <p:nvSpPr>
          <p:cNvPr id="20" name="Text 16"/>
          <p:cNvSpPr txBox="1"/>
          <p:nvPr/>
        </p:nvSpPr>
        <p:spPr>
          <a:xfrm>
            <a:off x="9525330" y="91440"/>
            <a:ext cx="208114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printers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devices of the PRG32 kit</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546259"/>
                <a:gridCol w="1636881"/>
                <a:gridCol w="3273762"/>
                <a:gridCol w="3637513"/>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Device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Direction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How it is connected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How a cartridge uses 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joystick and buttons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input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one switch per input pin (GPIO)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prg32_input_read: one bit per button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display, 320 x 240 TFT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output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SPI serial bus, with DMA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prg32_gfx_* calls draw into the frame buffer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amplifier and speaker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output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I2S serial bus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prg32_audio_* calls: notes, samples, music</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Wi-Fi radio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input and output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inside the chip</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cartridge upload, the Store, multiplayer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USB serial port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input and output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USB</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flashing the firmware, debug messages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8090738" y="91440"/>
            <a:ext cx="3552317" cy="274320"/>
          </a:xfrm>
          <a:prstGeom prst="rect">
            <a:avLst/>
          </a:prstGeom>
          <a:solidFill>
            <a:srgbClr val="E0F2FE"/>
          </a:solidFill>
          <a:ln w="12700">
            <a:solidFill>
              <a:srgbClr val="0369A1"/>
            </a:solidFill>
            <a:prstDash val="solid"/>
          </a:ln>
        </p:spPr>
      </p:sp>
      <p:sp>
        <p:nvSpPr>
          <p:cNvPr id="5" name="Shape 2"/>
          <p:cNvSpPr/>
          <p:nvPr/>
        </p:nvSpPr>
        <p:spPr>
          <a:xfrm>
            <a:off x="8090738"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218754" y="128016"/>
            <a:ext cx="201168" cy="201168"/>
          </a:xfrm>
          <a:prstGeom prst="rect">
            <a:avLst/>
          </a:prstGeom>
        </p:spPr>
      </p:pic>
      <p:sp>
        <p:nvSpPr>
          <p:cNvPr id="7" name="Text 3"/>
          <p:cNvSpPr txBox="1"/>
          <p:nvPr/>
        </p:nvSpPr>
        <p:spPr>
          <a:xfrm>
            <a:off x="8474786" y="91440"/>
            <a:ext cx="313169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polling, interrupts, DMA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Three ways to deal with a device</a:t>
            </a:r>
            <a:endParaRPr lang="en-US" sz="3200" dirty="0"/>
          </a:p>
        </p:txBody>
      </p:sp>
      <p:sp>
        <p:nvSpPr>
          <p:cNvPr id="3" name="Shape 1"/>
          <p:cNvSpPr/>
          <p:nvPr/>
        </p:nvSpPr>
        <p:spPr>
          <a:xfrm>
            <a:off x="548640" y="1417320"/>
            <a:ext cx="3515258" cy="4754880"/>
          </a:xfrm>
          <a:prstGeom prst="roundRect">
            <a:avLst>
              <a:gd name="adj" fmla="val 2081"/>
            </a:avLst>
          </a:prstGeom>
          <a:solidFill>
            <a:srgbClr val="EEF2F4"/>
          </a:solidFill>
          <a:ln w="12700">
            <a:solidFill>
              <a:srgbClr val="EEF2F4"/>
            </a:solidFill>
            <a:prstDash val="solid"/>
          </a:ln>
        </p:spPr>
      </p:sp>
      <p:sp>
        <p:nvSpPr>
          <p:cNvPr id="4" name="Text 2"/>
          <p:cNvSpPr txBox="1"/>
          <p:nvPr/>
        </p:nvSpPr>
        <p:spPr>
          <a:xfrm>
            <a:off x="777240" y="1645920"/>
            <a:ext cx="384048" cy="384048"/>
          </a:xfrm>
          <a:prstGeom prst="roundRect">
            <a:avLst>
              <a:gd name="adj" fmla="val 19048"/>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325880" y="16002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Polling</a:t>
            </a:r>
            <a:endParaRPr lang="en-US" sz="2000" dirty="0"/>
          </a:p>
        </p:txBody>
      </p:sp>
      <p:sp>
        <p:nvSpPr>
          <p:cNvPr id="6" name="Text 4"/>
          <p:cNvSpPr txBox="1"/>
          <p:nvPr/>
        </p:nvSpPr>
        <p:spPr>
          <a:xfrm>
            <a:off x="822960" y="2331720"/>
            <a:ext cx="2966618" cy="3703320"/>
          </a:xfrm>
          <a:prstGeom prst="rect">
            <a:avLst/>
          </a:prstGeom>
          <a:noFill/>
          <a:ln/>
        </p:spPr>
        <p:txBody>
          <a:bodyPr wrap="square" lIns="0" tIns="0" rIns="0" bIns="0" rtlCol="0" anchor="t"/>
          <a:lstStyle/>
          <a:p>
            <a:pPr indent="0" marL="0">
              <a:buNone/>
            </a:pPr>
            <a:r>
              <a:rPr lang="en-US" sz="2000" dirty="0">
                <a:solidFill>
                  <a:srgbClr val="1B2530"/>
                </a:solidFill>
                <a:latin typeface="Calibri" pitchFamily="34" charset="0"/>
                <a:ea typeface="Calibri" pitchFamily="34" charset="-122"/>
                <a:cs typeface="Calibri" pitchFamily="34" charset="-120"/>
              </a:rPr>
              <a:t>The program asks the device, again and again, whether it has something. Simple, and what a game does once per frame; wasteful when nothing happens.</a:t>
            </a:r>
            <a:endParaRPr lang="en-US" sz="2000" dirty="0"/>
          </a:p>
        </p:txBody>
      </p:sp>
      <p:sp>
        <p:nvSpPr>
          <p:cNvPr id="7" name="Shape 5"/>
          <p:cNvSpPr/>
          <p:nvPr/>
        </p:nvSpPr>
        <p:spPr>
          <a:xfrm>
            <a:off x="4338218" y="1417320"/>
            <a:ext cx="3515258" cy="4754880"/>
          </a:xfrm>
          <a:prstGeom prst="roundRect">
            <a:avLst>
              <a:gd name="adj" fmla="val 2081"/>
            </a:avLst>
          </a:prstGeom>
          <a:solidFill>
            <a:srgbClr val="EEF2F4"/>
          </a:solidFill>
          <a:ln w="12700">
            <a:solidFill>
              <a:srgbClr val="EEF2F4"/>
            </a:solidFill>
            <a:prstDash val="solid"/>
          </a:ln>
        </p:spPr>
      </p:sp>
      <p:sp>
        <p:nvSpPr>
          <p:cNvPr id="8" name="Text 6"/>
          <p:cNvSpPr txBox="1"/>
          <p:nvPr/>
        </p:nvSpPr>
        <p:spPr>
          <a:xfrm>
            <a:off x="4566818" y="1645920"/>
            <a:ext cx="384048" cy="384048"/>
          </a:xfrm>
          <a:prstGeom prst="roundRect">
            <a:avLst>
              <a:gd name="adj" fmla="val 19048"/>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5115458" y="16002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Interrupts</a:t>
            </a:r>
            <a:endParaRPr lang="en-US" sz="2000" dirty="0"/>
          </a:p>
        </p:txBody>
      </p:sp>
      <p:sp>
        <p:nvSpPr>
          <p:cNvPr id="10" name="Text 8"/>
          <p:cNvSpPr txBox="1"/>
          <p:nvPr/>
        </p:nvSpPr>
        <p:spPr>
          <a:xfrm>
            <a:off x="4612538" y="2331720"/>
            <a:ext cx="2966618" cy="3703320"/>
          </a:xfrm>
          <a:prstGeom prst="rect">
            <a:avLst/>
          </a:prstGeom>
          <a:noFill/>
          <a:ln/>
        </p:spPr>
        <p:txBody>
          <a:bodyPr wrap="square" lIns="0" tIns="0" rIns="0" bIns="0" rtlCol="0" anchor="t"/>
          <a:lstStyle/>
          <a:p>
            <a:pPr indent="0" marL="0">
              <a:buNone/>
            </a:pPr>
            <a:r>
              <a:rPr lang="en-US" sz="2000" dirty="0">
                <a:solidFill>
                  <a:srgbClr val="1B2530"/>
                </a:solidFill>
                <a:latin typeface="Calibri" pitchFamily="34" charset="0"/>
                <a:ea typeface="Calibri" pitchFamily="34" charset="-122"/>
                <a:cs typeface="Calibri" pitchFamily="34" charset="-120"/>
              </a:rPr>
              <a:t>The device asks for attention when it needs it; the processor suspends what it is doing, serves the device and resumes. The subject of Lecture 19.</a:t>
            </a:r>
            <a:endParaRPr lang="en-US" sz="2000" dirty="0"/>
          </a:p>
        </p:txBody>
      </p:sp>
      <p:sp>
        <p:nvSpPr>
          <p:cNvPr id="11" name="Shape 9"/>
          <p:cNvSpPr/>
          <p:nvPr/>
        </p:nvSpPr>
        <p:spPr>
          <a:xfrm>
            <a:off x="8127797" y="1417320"/>
            <a:ext cx="3515258" cy="4754880"/>
          </a:xfrm>
          <a:prstGeom prst="roundRect">
            <a:avLst>
              <a:gd name="adj" fmla="val 2081"/>
            </a:avLst>
          </a:prstGeom>
          <a:solidFill>
            <a:srgbClr val="EEF2F4"/>
          </a:solidFill>
          <a:ln w="12700">
            <a:solidFill>
              <a:srgbClr val="EEF2F4"/>
            </a:solidFill>
            <a:prstDash val="solid"/>
          </a:ln>
        </p:spPr>
      </p:sp>
      <p:sp>
        <p:nvSpPr>
          <p:cNvPr id="12" name="Text 10"/>
          <p:cNvSpPr txBox="1"/>
          <p:nvPr/>
        </p:nvSpPr>
        <p:spPr>
          <a:xfrm>
            <a:off x="8356397" y="1645920"/>
            <a:ext cx="384048" cy="384048"/>
          </a:xfrm>
          <a:prstGeom prst="roundRect">
            <a:avLst>
              <a:gd name="adj" fmla="val 19048"/>
            </a:avLst>
          </a:prstGeom>
          <a:solidFill>
            <a:srgbClr val="6B4FA0"/>
          </a:solidFill>
          <a:ln>
            <a:solidFill>
              <a:srgbClr val="6B4FA0"/>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05037" y="16002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Direct memory access</a:t>
            </a:r>
            <a:endParaRPr lang="en-US" sz="2000" dirty="0"/>
          </a:p>
        </p:txBody>
      </p:sp>
      <p:sp>
        <p:nvSpPr>
          <p:cNvPr id="14" name="Text 12"/>
          <p:cNvSpPr txBox="1"/>
          <p:nvPr/>
        </p:nvSpPr>
        <p:spPr>
          <a:xfrm>
            <a:off x="8402117" y="2331720"/>
            <a:ext cx="2966618" cy="3703320"/>
          </a:xfrm>
          <a:prstGeom prst="rect">
            <a:avLst/>
          </a:prstGeom>
          <a:noFill/>
          <a:ln/>
        </p:spPr>
        <p:txBody>
          <a:bodyPr wrap="square" lIns="0" tIns="0" rIns="0" bIns="0" rtlCol="0" anchor="t"/>
          <a:lstStyle/>
          <a:p>
            <a:pPr indent="0" marL="0">
              <a:buNone/>
            </a:pPr>
            <a:r>
              <a:rPr lang="en-US" sz="2000" dirty="0">
                <a:solidFill>
                  <a:srgbClr val="1B2530"/>
                </a:solidFill>
                <a:latin typeface="Calibri" pitchFamily="34" charset="0"/>
                <a:ea typeface="Calibri" pitchFamily="34" charset="-122"/>
                <a:cs typeface="Calibri" pitchFamily="34" charset="-120"/>
              </a:rPr>
              <a:t>The device exchanges whole blocks of data with the memory by itself; the processor only starts the transfer and is told when it ends.</a:t>
            </a:r>
            <a:endParaRPr lang="en-US" sz="2000" dirty="0"/>
          </a:p>
        </p:txBody>
      </p:sp>
      <p:sp>
        <p:nvSpPr>
          <p:cNvPr id="15" name="Shape 13"/>
          <p:cNvSpPr/>
          <p:nvPr/>
        </p:nvSpPr>
        <p:spPr>
          <a:xfrm>
            <a:off x="8090738" y="91440"/>
            <a:ext cx="3552317" cy="274320"/>
          </a:xfrm>
          <a:prstGeom prst="rect">
            <a:avLst/>
          </a:prstGeom>
          <a:solidFill>
            <a:srgbClr val="E0F2FE"/>
          </a:solidFill>
          <a:ln w="12700">
            <a:solidFill>
              <a:srgbClr val="0369A1"/>
            </a:solidFill>
            <a:prstDash val="solid"/>
          </a:ln>
        </p:spPr>
      </p:sp>
      <p:sp>
        <p:nvSpPr>
          <p:cNvPr id="16" name="Shape 14"/>
          <p:cNvSpPr/>
          <p:nvPr/>
        </p:nvSpPr>
        <p:spPr>
          <a:xfrm>
            <a:off x="8090738" y="91440"/>
            <a:ext cx="73152" cy="274320"/>
          </a:xfrm>
          <a:prstGeom prst="rect">
            <a:avLst/>
          </a:prstGeom>
          <a:solidFill>
            <a:srgbClr val="0369A1"/>
          </a:solidFill>
          <a:ln w="12700">
            <a:solidFill>
              <a:srgbClr val="0369A1"/>
            </a:solidFill>
            <a:prstDash val="solid"/>
          </a:ln>
        </p:spPr>
      </p:sp>
      <p:pic>
        <p:nvPicPr>
          <p:cNvPr id="17" name="Image 0" descr="preencoded.png">    </p:cNvPr>
          <p:cNvPicPr>
            <a:picLocks noChangeAspect="1"/>
          </p:cNvPicPr>
          <p:nvPr/>
        </p:nvPicPr>
        <p:blipFill>
          <a:blip r:embed="rId1"/>
          <a:stretch>
            <a:fillRect/>
          </a:stretch>
        </p:blipFill>
        <p:spPr>
          <a:xfrm>
            <a:off x="8218754" y="128016"/>
            <a:ext cx="201168" cy="201168"/>
          </a:xfrm>
          <a:prstGeom prst="rect">
            <a:avLst/>
          </a:prstGeom>
        </p:spPr>
      </p:pic>
      <p:sp>
        <p:nvSpPr>
          <p:cNvPr id="18" name="Text 15"/>
          <p:cNvSpPr txBox="1"/>
          <p:nvPr/>
        </p:nvSpPr>
        <p:spPr>
          <a:xfrm>
            <a:off x="8474786" y="91440"/>
            <a:ext cx="313169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polling, interrupts, DMA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What does the encoder of a keyboard controller do?</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It lights the key that was pressed</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It turns a row and column combination into a key code</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It sends the code to the monitor</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It counts how long a key is held</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In a colour LCD, a pixel is made of:</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one cell that changes colour</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three cells with red, green and blue filters</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 phosphor dot hit by electrons</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 transistor that emits light</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Why does a passive-matrix LCD show trails behind moving objects?</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Its backlight is too weak</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Its pixels are driven one at a time and must hold their state in between</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It has too few colours</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video card is slow</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A PRG32 game reads the joystick once per frame. This technique is called:</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direct memory access</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interrupt-driven input</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polling</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memory mapping</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Glossary: English and Italian</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426903"/>
                <a:gridCol w="2600254"/>
                <a:gridCol w="2773604"/>
                <a:gridCol w="3293655"/>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English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English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cathode-ray tube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tubo a raggi catodici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pointing device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periferica di puntamento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liquid crystals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cristalli liquidi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dot-matrix / ink-jet printer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stampante ad aghi / a getto d'inchiostro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backlight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retroilluminazione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drum / toner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tamburo / toner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active matrix</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matrice attiva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polling</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interrogazione ciclica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keyboard / key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tastiera / tasto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device driver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driver di periferica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Conclusions and reading</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30988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Input/output devices are a fundamental component of computers</a:t>
            </a:r>
            <a:endParaRPr lang="en-US" sz="2000" dirty="0"/>
          </a:p>
        </p:txBody>
      </p:sp>
      <p:sp>
        <p:nvSpPr>
          <p:cNvPr id="5" name="Shape 3"/>
          <p:cNvSpPr/>
          <p:nvPr/>
        </p:nvSpPr>
        <p:spPr>
          <a:xfrm>
            <a:off x="548640" y="1969364"/>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1878432"/>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Display technology has made enormous progress, from the electron beam to a transistor behind every pixel</a:t>
            </a:r>
            <a:endParaRPr lang="en-US" sz="2000" dirty="0"/>
          </a:p>
        </p:txBody>
      </p:sp>
      <p:sp>
        <p:nvSpPr>
          <p:cNvPr id="7" name="Shape 5"/>
          <p:cNvSpPr/>
          <p:nvPr/>
        </p:nvSpPr>
        <p:spPr>
          <a:xfrm>
            <a:off x="548640" y="2740355"/>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649423"/>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Keyboard, mouse and printer have changed little in form, and inside they are built from encoders, counters and shift registers</a:t>
            </a:r>
            <a:endParaRPr lang="en-US" sz="2000" dirty="0"/>
          </a:p>
        </p:txBody>
      </p:sp>
      <p:sp>
        <p:nvSpPr>
          <p:cNvPr id="9" name="Shape 7"/>
          <p:cNvSpPr/>
          <p:nvPr/>
        </p:nvSpPr>
        <p:spPr>
          <a:xfrm>
            <a:off x="548640" y="3511347"/>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420415"/>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 device reaches the processor through a controller and a bus, and is handled by polling, by interrupts or by DMA</a:t>
            </a:r>
            <a:endParaRPr lang="en-US" sz="2000" dirty="0"/>
          </a:p>
        </p:txBody>
      </p:sp>
      <p:sp>
        <p:nvSpPr>
          <p:cNvPr id="11" name="Shape 9"/>
          <p:cNvSpPr/>
          <p:nvPr/>
        </p:nvSpPr>
        <p:spPr>
          <a:xfrm>
            <a:off x="548640" y="4282338"/>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191406"/>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On the PRG32 kit the whole chain, from a switch to a pixel, can be followed instruction by instruction</a:t>
            </a:r>
            <a:endParaRPr lang="en-US" sz="2000" dirty="0"/>
          </a:p>
        </p:txBody>
      </p:sp>
      <p:sp>
        <p:nvSpPr>
          <p:cNvPr id="13" name="Shape 11"/>
          <p:cNvSpPr/>
          <p:nvPr/>
        </p:nvSpPr>
        <p:spPr>
          <a:xfrm>
            <a:off x="548640" y="5053330"/>
            <a:ext cx="146304" cy="146304"/>
          </a:xfrm>
          <a:prstGeom prst="rect">
            <a:avLst/>
          </a:prstGeom>
          <a:solidFill>
            <a:srgbClr val="C7791B"/>
          </a:solidFill>
          <a:ln w="12700">
            <a:solidFill>
              <a:srgbClr val="C7791B"/>
            </a:solidFill>
            <a:prstDash val="solid"/>
          </a:ln>
        </p:spPr>
      </p:sp>
      <p:sp>
        <p:nvSpPr>
          <p:cNvPr id="14" name="Text 12"/>
          <p:cNvSpPr txBox="1"/>
          <p:nvPr/>
        </p:nvSpPr>
        <p:spPr>
          <a:xfrm>
            <a:off x="932688" y="4962398"/>
            <a:ext cx="10710367" cy="1209802"/>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Reading</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Tanenbaum, Austin: Structured Computer Organization, section 2.4 (input/output)</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Stallings: Computer Organization and Architecture, chapter on input/output</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Playing with RISC-V, chapter 6: State and Input</a:t>
            </a:r>
            <a:endParaRPr lang="en-US" sz="20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Input and Output</dc:title>
  <dc:subject>Lecture 21</dc:subject>
  <dc:creator>Raffaele Montella</dc:creator>
  <cp:lastModifiedBy>Raffaele Montella</cp:lastModifiedBy>
  <cp:revision>1</cp:revision>
  <dcterms:created xsi:type="dcterms:W3CDTF">2026-10-16T16:46:57Z</dcterms:created>
  <dcterms:modified xsi:type="dcterms:W3CDTF">2026-10-16T16:46:57Z</dcterms:modified>
</cp:coreProperties>
</file>