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6f7558a-bfa3-4463-c3ed-9d3585a95c72}">
          <p14:sldIdLst>
            <p14:sldId id="256"/>
            <p14:sldId id="257"/>
          </p14:sldIdLst>
        </p14:section>
        <p14:section name="Warm-up on the machine" id="{235af8e0-618e-0119-0a46-43e52c590f93}">
          <p14:sldIdLst>
            <p14:sldId id="258"/>
          </p14:sldIdLst>
        </p14:section>
        <p14:section name="The complete program" id="{40ebc261-34ee-86d7-3e36-9694a2e3f37d}">
          <p14:sldIdLst>
            <p14:sldId id="259"/>
            <p14:sldId id="260"/>
          </p14:sldIdLst>
        </p14:section>
        <p14:section name="Run it and test it" id="{99206386-deea-fbba-4132-8ed64d215f87}">
          <p14:sldIdLst>
            <p14:sldId id="261"/>
            <p14:sldId id="262"/>
            <p14:sldId id="263"/>
            <p14:sldId id="264"/>
            <p14:sldId id="265"/>
          </p14:sldIdLst>
        </p14:section>
        <p14:section name="Exercises" id="{0bbe70a2-32dd-13d9-d9e3-c0e7fdd9c466}">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20. The lecture deck holds the concepts; this one holds everything you type and run: the listings with their explanation, the complete program, what it shows, and the way to test it on each of the three hosts.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the frame buffer; device controllers; buses and bandwidth; the video card; GPU and GPGPU. USE NOW: the complete program, the PRG32 tools (used, not studied, in this course). UNDERSTAND LATER: nothing.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~/arc12/code/l20.S; tools/tests/cartridges/run.py builds it, runs it on PRG32-QT with scripted input and checks the pixels of the frame.
For the lecturer: Get the code once: git clone https://github.com/riscv-prg32/computer-architecture-with-prg32 ~/arc12. The program of this lecture is ~/arc12/code/l20.S;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four lines are yours: x in a0, y in a1, a colour in a2, and a call to prg32_gfx_pixel. The second half shows, in principle, what the runtime does with them: it multiplies y by 320, adds x, adds the address of the frame buffer, and stores one byte there. The screen is an array in memory with one element per pixel, and drawing a pixel is a store. Nothing appears until the frame is sent to the display. On a PC, keeping the frame and sending it are the job of the video card.
UNDERSTAND NOW: the frame buffer.
For the lecturer: The second half is a sketch of the principle, not the source of the runtime: t3 stands for the palette index that the runtime derives from the RGB565 colour in a2. On the ESP32-C6 the PRG32 frame buffer is 320 x 200 bytes, one palette index per pixel (docs/hardware/ili9341.md).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code/l20.S,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code/l20.S,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Compute the memory of a 4K frame in True Color and the bytes per second at 60 frames. Compute how long the display bus of PRG32 takes to send 20 rows. Draw a diagonal line pixel by pixel. Fill the screen once with a single call and once with 64,000 calls, and compare the frame rates. Finally change one entry of the palette at every frame: all the pixels that use it change together, without being redrawn.
For the lecturer: The last exercise shows why indexed colour was loved by game programmers: one store changes thousands of pixels. API calls from the textbook appendix (prg32_palette_set, prg32_gfx_clear, prg32_gfx_pixel).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20: The video card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20</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Buses and the Video Card: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20-Computer_Architecture-Video_Card.pptx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raycaster.png">    </p:cNvPr>
          <p:cNvPicPr>
            <a:picLocks noChangeAspect="1"/>
          </p:cNvPicPr>
          <p:nvPr/>
        </p:nvPicPr>
        <p:blipFill>
          <a:blip r:embed="rId1"/>
          <a:stretch>
            <a:fillRect/>
          </a:stretch>
        </p:blipFill>
        <p:spPr>
          <a:xfrm>
            <a:off x="8915095" y="4251960"/>
            <a:ext cx="2438400" cy="182880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listing of Lecture 20: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code/l20.S, 32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 pixel, please</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    li   a0, 100             </a:t>
            </a:r>
            <a:pPr indent="0" marL="0">
              <a:buNone/>
            </a:pPr>
            <a:r>
              <a:rPr lang="en-US" sz="1350" dirty="0">
                <a:solidFill>
                  <a:srgbClr val="8FB3A0"/>
                </a:solidFill>
                <a:latin typeface="Courier New" pitchFamily="34" charset="0"/>
                <a:ea typeface="Courier New" pitchFamily="34" charset="-122"/>
                <a:cs typeface="Courier New" pitchFamily="34" charset="-120"/>
              </a:rPr>
              <a:t># 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a1, 50              </a:t>
            </a:r>
            <a:pPr indent="0" marL="0">
              <a:buNone/>
            </a:pPr>
            <a:r>
              <a:rPr lang="en-US" sz="1350" dirty="0">
                <a:solidFill>
                  <a:srgbClr val="8FB3A0"/>
                </a:solidFill>
                <a:latin typeface="Courier New" pitchFamily="34" charset="0"/>
                <a:ea typeface="Courier New" pitchFamily="34" charset="-122"/>
                <a:cs typeface="Courier New" pitchFamily="34" charset="-120"/>
              </a:rPr>
              <a:t># y</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a2, 0xf800          </a:t>
            </a:r>
            <a:pPr indent="0" marL="0">
              <a:buNone/>
            </a:pPr>
            <a:r>
              <a:rPr lang="en-US" sz="1350" dirty="0">
                <a:solidFill>
                  <a:srgbClr val="8FB3A0"/>
                </a:solidFill>
                <a:latin typeface="Courier New" pitchFamily="34" charset="0"/>
                <a:ea typeface="Courier New" pitchFamily="34" charset="-122"/>
                <a:cs typeface="Courier New" pitchFamily="34" charset="-120"/>
              </a:rPr>
              <a:t># red, in RGB565</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prg32_gfx_pixel     </a:t>
            </a:r>
            <a:pPr indent="0" marL="0">
              <a:buNone/>
            </a:pPr>
            <a:r>
              <a:rPr lang="en-US" sz="1350" dirty="0">
                <a:solidFill>
                  <a:srgbClr val="8FB3A0"/>
                </a:solidFill>
                <a:latin typeface="Courier New" pitchFamily="34" charset="0"/>
                <a:ea typeface="Courier New" pitchFamily="34" charset="-122"/>
                <a:cs typeface="Courier New" pitchFamily="34" charset="-120"/>
              </a:rPr>
              <a:t># ... where does it go?</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what the runtime does, in principle: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t0, 320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mul  t1, a1, t0          </a:t>
            </a:r>
            <a:pPr indent="0" marL="0">
              <a:buNone/>
            </a:pPr>
            <a:r>
              <a:rPr lang="en-US" sz="1350" dirty="0">
                <a:solidFill>
                  <a:srgbClr val="8FB3A0"/>
                </a:solidFill>
                <a:latin typeface="Courier New" pitchFamily="34" charset="0"/>
                <a:ea typeface="Courier New" pitchFamily="34" charset="-122"/>
                <a:cs typeface="Courier New" pitchFamily="34" charset="-120"/>
              </a:rPr>
              <a:t># y * 320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t1, t1, a0          </a:t>
            </a:r>
            <a:pPr indent="0" marL="0">
              <a:buNone/>
            </a:pPr>
            <a:r>
              <a:rPr lang="en-US" sz="1350" dirty="0">
                <a:solidFill>
                  <a:srgbClr val="8FB3A0"/>
                </a:solidFill>
                <a:latin typeface="Courier New" pitchFamily="34" charset="0"/>
                <a:ea typeface="Courier New" pitchFamily="34" charset="-122"/>
                <a:cs typeface="Courier New" pitchFamily="34" charset="-120"/>
              </a:rPr>
              <a:t># + x  =  position in the frame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t2, framebuffer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t2, t2, t1          </a:t>
            </a:r>
            <a:pPr indent="0" marL="0">
              <a:buNone/>
            </a:pPr>
            <a:r>
              <a:rPr lang="en-US" sz="1350" dirty="0">
                <a:solidFill>
                  <a:srgbClr val="8FB3A0"/>
                </a:solidFill>
                <a:latin typeface="Courier New" pitchFamily="34" charset="0"/>
                <a:ea typeface="Courier New" pitchFamily="34" charset="-122"/>
                <a:cs typeface="Courier New" pitchFamily="34" charset="-120"/>
              </a:rPr>
              <a:t># ADDRESS of that pixel</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sb   t3, 0(t2)           </a:t>
            </a:r>
            <a:pPr indent="0" marL="0">
              <a:buNone/>
            </a:pPr>
            <a:r>
              <a:rPr lang="en-US" sz="1350" dirty="0">
                <a:solidFill>
                  <a:srgbClr val="8FB3A0"/>
                </a:solidFill>
                <a:latin typeface="Courier New" pitchFamily="34" charset="0"/>
                <a:ea typeface="Courier New" pitchFamily="34" charset="-122"/>
                <a:cs typeface="Courier New" pitchFamily="34" charset="-120"/>
              </a:rPr>
              <a:t># store its palette index (one byte)</a:t>
            </a:r>
            <a:endParaRPr lang="en-US" sz="13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screen is an array in memory, one element per pixel: the frame buffer</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Drawing a pixel is a store instruction at address base + y x 320 + x</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Nothing appears until the frame is sent to the display: prg32_gfx_present</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On a PC these two jobs, keeping the frame and sending it to the monitor, belong to the video card</a:t>
            </a:r>
            <a:endParaRPr lang="en-US" sz="1200" dirty="0"/>
          </a:p>
        </p:txBody>
      </p:sp>
      <p:sp>
        <p:nvSpPr>
          <p:cNvPr id="17" name="Shape 15"/>
          <p:cNvSpPr/>
          <p:nvPr/>
        </p:nvSpPr>
        <p:spPr>
          <a:xfrm>
            <a:off x="8616010" y="91440"/>
            <a:ext cx="3027045" cy="274320"/>
          </a:xfrm>
          <a:prstGeom prst="rect">
            <a:avLst/>
          </a:prstGeom>
          <a:solidFill>
            <a:srgbClr val="E0F2FE"/>
          </a:solidFill>
          <a:ln w="12700">
            <a:solidFill>
              <a:srgbClr val="0369A1"/>
            </a:solidFill>
            <a:prstDash val="solid"/>
          </a:ln>
        </p:spPr>
      </p:sp>
      <p:sp>
        <p:nvSpPr>
          <p:cNvPr id="18" name="Shape 16"/>
          <p:cNvSpPr/>
          <p:nvPr/>
        </p:nvSpPr>
        <p:spPr>
          <a:xfrm>
            <a:off x="8616010"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20" name="Text 17"/>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frame buffer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l20.S (1 of 2)</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ARC12 Computer Architecture - Lecture 20: Buses and the Video Card</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l20.S: one pixel, please</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On the screen: a single red pixel at x = 100, y = 50 on a black screen. Look</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closely.</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Build: python3 -m prg32 cartridge build l20.S --portable \</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--entry-prefix l20 --name l20 --out l20.prg32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.option norelax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.text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l20_init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l20_update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l20_draw</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l20_init: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l20_update: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l20.S (2 of 2)</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l20_draw: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a0, 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prg32_gfx_clear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a0, 100             </a:t>
            </a:r>
            <a:pPr indent="0" marL="0">
              <a:buNone/>
            </a:pPr>
            <a:r>
              <a:rPr lang="en-US" sz="1800" dirty="0">
                <a:solidFill>
                  <a:srgbClr val="8FB3A0"/>
                </a:solidFill>
                <a:latin typeface="Courier New" pitchFamily="34" charset="0"/>
                <a:ea typeface="Courier New" pitchFamily="34" charset="-122"/>
                <a:cs typeface="Courier New" pitchFamily="34" charset="-120"/>
              </a:rPr>
              <a:t># 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a1, 50              </a:t>
            </a:r>
            <a:pPr indent="0" marL="0">
              <a:buNone/>
            </a:pPr>
            <a:r>
              <a:rPr lang="en-US" sz="1800" dirty="0">
                <a:solidFill>
                  <a:srgbClr val="8FB3A0"/>
                </a:solidFill>
                <a:latin typeface="Courier New" pitchFamily="34" charset="0"/>
                <a:ea typeface="Courier New" pitchFamily="34" charset="-122"/>
                <a:cs typeface="Courier New" pitchFamily="34" charset="-120"/>
              </a:rPr>
              <a:t># y</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0xf800          </a:t>
            </a:r>
            <a:pPr indent="0" marL="0">
              <a:buNone/>
            </a:pPr>
            <a:r>
              <a:rPr lang="en-US" sz="1800" dirty="0">
                <a:solidFill>
                  <a:srgbClr val="8FB3A0"/>
                </a:solidFill>
                <a:latin typeface="Courier New" pitchFamily="34" charset="0"/>
                <a:ea typeface="Courier New" pitchFamily="34" charset="-122"/>
                <a:cs typeface="Courier New" pitchFamily="34" charset="-120"/>
              </a:rPr>
              <a:t># red, in RGB565</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prg32_gfx_pixel     </a:t>
            </a:r>
            <a:pPr indent="0" marL="0">
              <a:buNone/>
            </a:pPr>
            <a:r>
              <a:rPr lang="en-US" sz="1800" dirty="0">
                <a:solidFill>
                  <a:srgbClr val="8FB3A0"/>
                </a:solidFill>
                <a:latin typeface="Courier New" pitchFamily="34" charset="0"/>
                <a:ea typeface="Courier New" pitchFamily="34" charset="-122"/>
                <a:cs typeface="Courier New" pitchFamily="34" charset="-120"/>
              </a:rPr>
              <a:t># ... where does it go?</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single red pixel at x = 100, y = 50 on a black screen. Look closely.</a:t>
            </a:r>
            <a:endParaRPr lang="en-US" sz="2400" dirty="0"/>
          </a:p>
        </p:txBody>
      </p:sp>
      <p:sp>
        <p:nvSpPr>
          <p:cNvPr id="5" name="Shape 3"/>
          <p:cNvSpPr/>
          <p:nvPr/>
        </p:nvSpPr>
        <p:spPr>
          <a:xfrm>
            <a:off x="548640" y="323850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116580"/>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20.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~/arc12/code/l20.S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l20 --name l20 --out l20.prg32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l20.prg32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~/arc12/code/l20.S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l20 --name l20 --architecture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l20-qemu.prg32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l20-qemu.prg32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~/arc12/code/l20.S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l20 --name l20 --architecture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l20-esp32c6.prg32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l20-esp32c6.prg32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l20;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Compute the memory for one 4K frame in True Color, and the bytes per second at 60 frames per second</a:t>
            </a:r>
            <a:endParaRPr lang="en-US" sz="2000" dirty="0"/>
          </a:p>
        </p:txBody>
      </p:sp>
      <p:sp>
        <p:nvSpPr>
          <p:cNvPr id="6" name="Text 4"/>
          <p:cNvSpPr txBox="1"/>
          <p:nvPr/>
        </p:nvSpPr>
        <p:spPr>
          <a:xfrm>
            <a:off x="548640" y="21945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76272"/>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PRG32 display bus runs at 27 MHz: how long does it take to send 20 rows of 320 pixels at 16 bits per pixel?</a:t>
            </a:r>
            <a:endParaRPr lang="en-US" sz="20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Draw a diagonal line pixel by pixel with prg32_gfx_pixel in a loop</a:t>
            </a:r>
            <a:endParaRPr lang="en-US" sz="2000" dirty="0"/>
          </a:p>
        </p:txBody>
      </p:sp>
      <p:sp>
        <p:nvSpPr>
          <p:cNvPr id="10" name="Text 8"/>
          <p:cNvSpPr txBox="1"/>
          <p:nvPr/>
        </p:nvSpPr>
        <p:spPr>
          <a:xfrm>
            <a:off x="548640" y="3531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13328"/>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Fill the screen once with prg32_gfx_clear and once with 64,000 calls to prg32_gfx_pixel: compare the frame rates</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Change one palette entry with prg32_palette_set every frame and watch every pixel that uses it change at once</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paper: 24,883,200 bytes per frame, about 1.5 GB per second; 102,400 bits, about 3.8 ms. On PRG32: palette cycling animates the screen without redrawing a single pixel.</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Buses and the Video Card: the code</dc:title>
  <dc:subject>Lecture 20</dc:subject>
  <dc:creator>Raffaele Montella</dc:creator>
  <cp:lastModifiedBy>Raffaele Montella</cp:lastModifiedBy>
  <cp:revision>1</cp:revision>
  <dcterms:created xsi:type="dcterms:W3CDTF">2026-10-16T15:51:38Z</dcterms:created>
  <dcterms:modified xsi:type="dcterms:W3CDTF">2026-10-16T15:51:38Z</dcterms:modified>
</cp:coreProperties>
</file>