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b44e29-eefb-04c1-69a4-feaff5a3f4a1}">
          <p14:sldIdLst>
            <p14:sldId id="256"/>
            <p14:sldId id="257"/>
          </p14:sldIdLst>
        </p14:section>
        <p14:section name="Warm-up on the machine" id="{8a47db3a-cbc2-63dc-51a4-269c17e8e547}">
          <p14:sldIdLst>
            <p14:sldId id="258"/>
          </p14:sldIdLst>
        </p14:section>
        <p14:section name="The complete program" id="{2b1ce36b-068e-6d32-91a6-256fc55a93c3}">
          <p14:sldIdLst>
            <p14:sldId id="259"/>
            <p14:sldId id="260"/>
          </p14:sldIdLst>
        </p14:section>
        <p14:section name="Run it and test it" id="{b4339d1d-79f4-9881-763e-20d129b0969e}">
          <p14:sldIdLst>
            <p14:sldId id="261"/>
            <p14:sldId id="262"/>
            <p14:sldId id="263"/>
            <p14:sldId id="264"/>
            <p14:sldId id="265"/>
          </p14:sldIdLst>
        </p14:section>
        <p14:section name="Exercises" id="{05ed0f4a-b8f3-b113-79d1-a9ebf1d57df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20.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~/arc12/code/l20.S; tools/tests/cartridges/run.py builds it, runs it on PRG32-QT with scripted input and checks the pixels of the frame.
For the lecturer: Get the code once: git clone https://github.com/riscv-prg32/computer-architecture-with-prg32 ~/arc12. The program of this lecture is ~/arc12/code/l20.S;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lines are yours: x in a0, y in a1, a colour in a2, and a call to prg32_gfx_pixel. The second half shows, in principle, what the runtime does with them: it multiplies y by 320, adds x, adds the address of the frame buffer, and stores one byte there. The screen is an array in memory with one element per pixel, and drawing a pixel is a store. Nothing appears until the frame is sent to the display. On a PC, keeping the frame and sending it are the job of the video card.
For the lecturer: The second half is a sketch of the principle, not the source of the runtime: t3 stands for the palette index that the runtime derives from the RGB565 colour in a2. On the ESP32-C6 the PRG32 frame buffer is 320 x 200 bytes, one palette index per pixel (docs/hardware/ili9341.md).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memory of a 4K frame in True Color and the bytes per second at 60 frames. Compute how long the display bus of PRG32 takes to send 20 rows. Draw a diagonal line pixel by pixel. Fill the screen once with a single call and once with 64,000 calls, and compare the frame rates. Finally change one entry of the palette at every frame: all the pixels that use it change together, without being redrawn.
For the lecturer: The last exercise shows why indexed colour was loved by game programmers: one store changes thousands of pixels. API calls from the textbook appendix (prg32_palette_set, prg32_gfx_clear, prg32_gfx_pixel).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code/l20.S, 32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pixel, please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li   a0, 100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50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0xf800          </a:t>
            </a:r>
            <a:pPr indent="0" marL="0">
              <a:buNone/>
            </a:pPr>
            <a:r>
              <a:rPr lang="en-US" sz="1350" dirty="0">
                <a:solidFill>
                  <a:srgbClr val="8FB3A0"/>
                </a:solidFill>
                <a:latin typeface="Courier New" pitchFamily="34" charset="0"/>
                <a:ea typeface="Courier New" pitchFamily="34" charset="-122"/>
                <a:cs typeface="Courier New" pitchFamily="34" charset="-120"/>
              </a:rPr>
              <a:t># red, in RGB565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350" dirty="0">
                <a:solidFill>
                  <a:srgbClr val="8FB3A0"/>
                </a:solidFill>
                <a:latin typeface="Courier New" pitchFamily="34" charset="0"/>
                <a:ea typeface="Courier New" pitchFamily="34" charset="-122"/>
                <a:cs typeface="Courier New" pitchFamily="34" charset="-120"/>
              </a:rPr>
              <a:t># ... where does it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what the runtime does, in principle: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mul  t1, a1, t0          </a:t>
            </a:r>
            <a:pPr indent="0" marL="0">
              <a:buNone/>
            </a:pPr>
            <a:r>
              <a:rPr lang="en-US" sz="1350" dirty="0">
                <a:solidFill>
                  <a:srgbClr val="8FB3A0"/>
                </a:solidFill>
                <a:latin typeface="Courier New" pitchFamily="34" charset="0"/>
                <a:ea typeface="Courier New" pitchFamily="34" charset="-122"/>
                <a:cs typeface="Courier New" pitchFamily="34" charset="-120"/>
              </a:rPr>
              <a:t># y *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t1, t1, a0          </a:t>
            </a:r>
            <a:pPr indent="0" marL="0">
              <a:buNone/>
            </a:pPr>
            <a:r>
              <a:rPr lang="en-US" sz="1350" dirty="0">
                <a:solidFill>
                  <a:srgbClr val="8FB3A0"/>
                </a:solidFill>
                <a:latin typeface="Courier New" pitchFamily="34" charset="0"/>
                <a:ea typeface="Courier New" pitchFamily="34" charset="-122"/>
                <a:cs typeface="Courier New" pitchFamily="34" charset="-120"/>
              </a:rPr>
              <a:t># + x  =  position in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t2, framebuffer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t2,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that pixel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sb   t3, 0(t2)           </a:t>
            </a:r>
            <a:pPr indent="0" marL="0">
              <a:buNone/>
            </a:pPr>
            <a:r>
              <a:rPr lang="en-US" sz="1350" dirty="0">
                <a:solidFill>
                  <a:srgbClr val="8FB3A0"/>
                </a:solidFill>
                <a:latin typeface="Courier New" pitchFamily="34" charset="0"/>
                <a:ea typeface="Courier New" pitchFamily="34" charset="-122"/>
                <a:cs typeface="Courier New" pitchFamily="34" charset="-120"/>
              </a:rPr>
              <a:t># store its palette index (one byte)</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screen is an array in memory, one element per pixel: the frame buffer</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Drawing a pixel is a store instruction at address base + y x 320 + x</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appears until the frame is sent to the display: prg32_gfx_present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a PC these two jobs, keeping the frame and sending it to the monitor, belong to the video card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20: Buses and the Video Card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l20.S: one pixel, please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single red pixel at x = 100, y = 50 on a black screen. Look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closely.</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l20.S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l20 --name l20 --out l20.prg32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l20_draw: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100             </a:t>
            </a:r>
            <a:pPr indent="0" marL="0">
              <a:buNone/>
            </a:pPr>
            <a:r>
              <a:rPr lang="en-US" sz="1800" dirty="0">
                <a:solidFill>
                  <a:srgbClr val="8FB3A0"/>
                </a:solidFill>
                <a:latin typeface="Courier New" pitchFamily="34" charset="0"/>
                <a:ea typeface="Courier New" pitchFamily="34" charset="-122"/>
                <a:cs typeface="Courier New" pitchFamily="34" charset="-120"/>
              </a:rPr>
              <a:t># 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50              </a:t>
            </a:r>
            <a:pPr indent="0" marL="0">
              <a:buNone/>
            </a:pPr>
            <a:r>
              <a:rPr lang="en-US" sz="1800" dirty="0">
                <a:solidFill>
                  <a:srgbClr val="8FB3A0"/>
                </a:solidFill>
                <a:latin typeface="Courier New" pitchFamily="34" charset="0"/>
                <a:ea typeface="Courier New" pitchFamily="34" charset="-122"/>
                <a:cs typeface="Courier New" pitchFamily="34" charset="-120"/>
              </a:rPr>
              <a:t># 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0xf800          </a:t>
            </a:r>
            <a:pPr indent="0" marL="0">
              <a:buNone/>
            </a:pPr>
            <a:r>
              <a:rPr lang="en-US" sz="1800" dirty="0">
                <a:solidFill>
                  <a:srgbClr val="8FB3A0"/>
                </a:solidFill>
                <a:latin typeface="Courier New" pitchFamily="34" charset="0"/>
                <a:ea typeface="Courier New" pitchFamily="34" charset="-122"/>
                <a:cs typeface="Courier New" pitchFamily="34" charset="-120"/>
              </a:rPr>
              <a:t># red, in RGB565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800" dirty="0">
                <a:solidFill>
                  <a:srgbClr val="8FB3A0"/>
                </a:solidFill>
                <a:latin typeface="Courier New" pitchFamily="34" charset="0"/>
                <a:ea typeface="Courier New" pitchFamily="34" charset="-122"/>
                <a:cs typeface="Courier New" pitchFamily="34" charset="-120"/>
              </a:rPr>
              <a:t># ... where does it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single red pixel at x = 100, y = 50 on a black screen. Look closely.</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l20 --out l20.prg32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the memory for one 4K frame in True Color, and the bytes per second at 60 frames per second</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PRG32 display bus runs at 27 MHz: how long does it take to send 20 rows of 320 pixels at 16 bits per pixel?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diagonal line pixel by pixel with prg32_gfx_pixel in a loop</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the screen once with prg32_gfx_clear and once with 64,000 calls to prg32_gfx_pixel: compare the frame rates</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one palette entry with prg32_palette_set every frame and watch every pixel that uses it change at once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24,883,200 bytes per frame, about 1.5 GB per second; 102,400 bits, about 3.8 ms. On PRG32: palette cycling animates the screen without redrawing a single pixel.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 the code</dc:title>
  <dc:subject>Lecture 20</dc:subject>
  <dc:creator>Raffaele Montella</dc:creator>
  <cp:lastModifiedBy>Raffaele Montella</cp:lastModifiedBy>
  <cp:revision>1</cp:revision>
  <dcterms:created xsi:type="dcterms:W3CDTF">2026-10-13T10:41:32Z</dcterms:created>
  <dcterms:modified xsi:type="dcterms:W3CDTF">2026-10-13T10:41:32Z</dcterms:modified>
</cp:coreProperties>
</file>