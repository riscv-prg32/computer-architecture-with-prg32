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e9cf49-b220-53a2-f3b7-b8dafaf94425}">
          <p14:sldIdLst>
            <p14:sldId id="256"/>
            <p14:sldId id="257"/>
          </p14:sldIdLst>
        </p14:section>
        <p14:section name="The listings" id="{474355c5-7e60-1191-a878-92767c8de3a6}">
          <p14:sldIdLst>
            <p14:sldId id="258"/>
            <p14:sldId id="259"/>
            <p14:sldId id="260"/>
          </p14:sldIdLst>
        </p14:section>
        <p14:section name="The complete program" id="{4c12e166-2b6e-727e-f7bc-d82cdaf81bee}">
          <p14:sldIdLst>
            <p14:sldId id="261"/>
            <p14:sldId id="262"/>
            <p14:sldId id="263"/>
            <p14:sldId id="264"/>
          </p14:sldIdLst>
        </p14:section>
        <p14:section name="Run it and test it" id="{ff96d4b5-965b-28b5-0dfc-132a98997914}">
          <p14:sldIdLst>
            <p14:sldId id="265"/>
            <p14:sldId id="266"/>
            <p14:sldId id="267"/>
            <p14:sldId id="268"/>
            <p14:sldId id="269"/>
          </p14:sldIdLst>
        </p14:section>
        <p14:section name="Exercises" id="{cc124379-7829-f4a0-7e16-457b995b7af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18.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~/arc12/code/l18.S; tools/tests/cartridges/run.py builds it, runs it on PRG32-QT with scripted input and checks the pixels of the frame.
For the lecturer: Get the code once: git clone https://github.com/riscv-prg32/computer-architecture-with-prg32 ~/arc12. The program of this lecture is ~/arc12/code/l18.S;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compute z = x + y the program loads x into a register, loads y into another, adds the two registers into a third, and stores the result in z. Seven lines for one sum. Memory is touched only by lw and sw; the arithmetic happens only between registers. Other processors do the same job with three instructions, or with one. Why is RISC-V made like this? To answer we need a model of what a processor is, and then a comparison between different ways of building one.
For the lecturer: The load-modify-store cycle of Lecture 02, now seen as a design choice. Keep the three addresses in mind: the same computation returns in the comparison of the processor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RISC-V the stack pointer sp holds the address of the last occupied location, and the stack grows towards low addresses. A push is two instructions: subtract 4 from sp, then store on the new top. A pop is the reverse: load from the top, then add 4. The table compares three processors: RISC-V needs two instructions, the 68000 one instruction with a special addressing mode, x86 a dedicated instruction. In practice a RISC-V function allocates its whole frame once, as you have done since Lecture 02.
For the lecturer: The values are those drawn in the original deck. RISC-V has no push and pop: a stack frame is allocated once per function, sixteen bytes at a time, and filled with ordinary stores (Lecture 02). The 68000 form MOVE (SP)+, D0 pops with a post-increment.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the warm-up in four machines. The accumulator machine: load x, add y, store z. The stack machine: push x, push y, add, pop z. A register machine with memory operands: move x into a register, add y to it, move the register into z. RISC-V: two loads, an add between registers, a store. The memory accesses are three in every case. What changes is the number of instructions and how much each one does: in RISC-V each does one thing only.
For the lecturer: The same three accesses to memory everywhere: what changes is how many instructions there are and how complex each one is. In the register-memory model an instruction such as ADD y, D0 reads memory and computes; in the load-store model every instruction does one thing. Stack machines with the stack in memory are generally slower than general-register machines. lw t1, x is a shorthand the assembler accepts for the la and lw pair of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expression z = (a + b) - (c + d) for an accumulator machine, a stack machine and RISC-V, counting instructions and memory accesses. Write push and pop of two registers keeping sp a multiple of 16. Classify the registers of your last program by function. Single-step a call and its return in PRG32-QT, watching pc, ra and sp. And look up the processor of your phone or laptop.
For the lecturer: Accumulator: LDA a; ADD b; STA tmp; LDA c; ADD d; STA tmp2; LDA tmp; SUB tmp2; STA z. Stack: PUSH a; PUSH b; ADD; PUSH c; PUSH d; ADD; SUB; POP z. RISC-V: four loads, two adds, one sub, one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 listing of Lecture 18,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code/l18.S, 64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x</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t1, 0(t0)       </a:t>
            </a:r>
            <a:pPr indent="0" marL="0">
              <a:buNone/>
            </a:pPr>
            <a:r>
              <a:rPr lang="en-US" sz="1550" dirty="0">
                <a:solidFill>
                  <a:srgbClr val="8FB3A0"/>
                </a:solidFill>
                <a:latin typeface="Courier New" pitchFamily="34" charset="0"/>
                <a:ea typeface="Courier New" pitchFamily="34" charset="-122"/>
                <a:cs typeface="Courier New" pitchFamily="34" charset="-120"/>
              </a:rPr>
              <a:t># bring x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t2, 0(t0)       </a:t>
            </a:r>
            <a:pPr indent="0" marL="0">
              <a:buNone/>
            </a:pPr>
            <a:r>
              <a:rPr lang="en-US" sz="1550" dirty="0">
                <a:solidFill>
                  <a:srgbClr val="8FB3A0"/>
                </a:solidFill>
                <a:latin typeface="Courier New" pitchFamily="34" charset="0"/>
                <a:ea typeface="Courier New" pitchFamily="34" charset="-122"/>
                <a:cs typeface="Courier New" pitchFamily="34" charset="-120"/>
              </a:rPr>
              <a:t># bring y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t3, t1, t2      </a:t>
            </a:r>
            <a:pPr indent="0" marL="0">
              <a:buNone/>
            </a:pPr>
            <a:r>
              <a:rPr lang="en-US" sz="1550" dirty="0">
                <a:solidFill>
                  <a:srgbClr val="8FB3A0"/>
                </a:solidFill>
                <a:latin typeface="Courier New" pitchFamily="34" charset="0"/>
                <a:ea typeface="Courier New" pitchFamily="34" charset="-122"/>
                <a:cs typeface="Courier New" pitchFamily="34" charset="-120"/>
              </a:rPr>
              <a:t># compute, between registers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z</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sw   t3, 0(t0)       </a:t>
            </a:r>
            <a:pPr indent="0" marL="0">
              <a:buNone/>
            </a:pPr>
            <a:r>
              <a:rPr lang="en-US" sz="1550" dirty="0">
                <a:solidFill>
                  <a:srgbClr val="8FB3A0"/>
                </a:solidFill>
                <a:latin typeface="Courier New" pitchFamily="34" charset="0"/>
                <a:ea typeface="Courier New" pitchFamily="34" charset="-122"/>
                <a:cs typeface="Courier New" pitchFamily="34" charset="-120"/>
              </a:rPr>
              <a:t># take the result back to memory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y: .word 7</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z: .word 0</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Seven lines for one sum: memory is touched only by lw and sw</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arithmetic happens only between registers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Other processors do the same job with three instructions, or with one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Why is RISC-V made this way? To answer we need a model of the processor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Push and pop in RISC-V</a:t>
            </a:r>
            <a:endParaRPr lang="en-US" sz="3200" dirty="0"/>
          </a:p>
        </p:txBody>
      </p:sp>
      <p:sp>
        <p:nvSpPr>
          <p:cNvPr id="3" name="Text 1"/>
          <p:cNvSpPr txBox="1"/>
          <p:nvPr/>
        </p:nvSpPr>
        <p:spPr>
          <a:xfrm>
            <a:off x="1920240" y="1399032"/>
            <a:ext cx="2194560" cy="274320"/>
          </a:xfrm>
          <a:prstGeom prst="rect">
            <a:avLst/>
          </a:prstGeom>
          <a:noFill/>
          <a:ln/>
        </p:spPr>
        <p:txBody>
          <a:bodyPr wrap="square" lIns="0" tIns="0" rIns="0" bIns="0" rtlCol="0" anchor="t"/>
          <a:lstStyle/>
          <a:p>
            <a:pPr algn="ctr" indent="0" marL="0">
              <a:buNone/>
            </a:pPr>
            <a:r>
              <a:rPr lang="en-US" sz="1300" b="1" dirty="0">
                <a:solidFill>
                  <a:srgbClr val="2E4A62"/>
                </a:solidFill>
                <a:latin typeface="Calibri" pitchFamily="34" charset="0"/>
                <a:ea typeface="Calibri" pitchFamily="34" charset="-122"/>
                <a:cs typeface="Calibri" pitchFamily="34" charset="-120"/>
              </a:rPr>
              <a:t>memory</a:t>
            </a:r>
            <a:endParaRPr lang="en-US" sz="1300" dirty="0"/>
          </a:p>
        </p:txBody>
      </p:sp>
      <p:sp>
        <p:nvSpPr>
          <p:cNvPr id="4" name="Text 2"/>
          <p:cNvSpPr txBox="1"/>
          <p:nvPr/>
        </p:nvSpPr>
        <p:spPr>
          <a:xfrm>
            <a:off x="4251960" y="1828800"/>
            <a:ext cx="146304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low addresses</a:t>
            </a:r>
            <a:endParaRPr lang="en-US" sz="1150" dirty="0"/>
          </a:p>
        </p:txBody>
      </p:sp>
      <p:sp>
        <p:nvSpPr>
          <p:cNvPr id="5" name="Text 3"/>
          <p:cNvSpPr txBox="1"/>
          <p:nvPr/>
        </p:nvSpPr>
        <p:spPr>
          <a:xfrm>
            <a:off x="1920240" y="1828800"/>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6" name="Text 4"/>
          <p:cNvSpPr txBox="1"/>
          <p:nvPr/>
        </p:nvSpPr>
        <p:spPr>
          <a:xfrm>
            <a:off x="1920240" y="2359152"/>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7" name="Text 5"/>
          <p:cNvSpPr txBox="1"/>
          <p:nvPr/>
        </p:nvSpPr>
        <p:spPr>
          <a:xfrm>
            <a:off x="1920240" y="2889504"/>
            <a:ext cx="2194560" cy="530352"/>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-28</a:t>
            </a:r>
            <a:endParaRPr lang="en-US" sz="1500" dirty="0"/>
          </a:p>
        </p:txBody>
      </p:sp>
      <p:sp>
        <p:nvSpPr>
          <p:cNvPr id="8" name="Text 6"/>
          <p:cNvSpPr txBox="1"/>
          <p:nvPr/>
        </p:nvSpPr>
        <p:spPr>
          <a:xfrm>
            <a:off x="1920240" y="3419856"/>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-17</a:t>
            </a:r>
            <a:endParaRPr lang="en-US" sz="1500" dirty="0"/>
          </a:p>
        </p:txBody>
      </p:sp>
      <p:sp>
        <p:nvSpPr>
          <p:cNvPr id="9" name="Text 7"/>
          <p:cNvSpPr txBox="1"/>
          <p:nvPr/>
        </p:nvSpPr>
        <p:spPr>
          <a:xfrm>
            <a:off x="1920240" y="3950208"/>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739</a:t>
            </a:r>
            <a:endParaRPr lang="en-US" sz="1500" dirty="0"/>
          </a:p>
        </p:txBody>
      </p:sp>
      <p:sp>
        <p:nvSpPr>
          <p:cNvPr id="10" name="Text 8"/>
          <p:cNvSpPr txBox="1"/>
          <p:nvPr/>
        </p:nvSpPr>
        <p:spPr>
          <a:xfrm>
            <a:off x="1920240" y="4480560"/>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43</a:t>
            </a:r>
            <a:endParaRPr lang="en-US" sz="1500" dirty="0"/>
          </a:p>
        </p:txBody>
      </p:sp>
      <p:sp>
        <p:nvSpPr>
          <p:cNvPr id="11" name="Text 9"/>
          <p:cNvSpPr txBox="1"/>
          <p:nvPr/>
        </p:nvSpPr>
        <p:spPr>
          <a:xfrm>
            <a:off x="4251960" y="4480560"/>
            <a:ext cx="182880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bottom of the stack</a:t>
            </a:r>
            <a:endParaRPr lang="en-US" sz="1150" dirty="0"/>
          </a:p>
        </p:txBody>
      </p:sp>
      <p:sp>
        <p:nvSpPr>
          <p:cNvPr id="12" name="Shape 10"/>
          <p:cNvSpPr/>
          <p:nvPr/>
        </p:nvSpPr>
        <p:spPr>
          <a:xfrm>
            <a:off x="1097280" y="3154680"/>
            <a:ext cx="777240" cy="0"/>
          </a:xfrm>
          <a:prstGeom prst="line">
            <a:avLst/>
          </a:prstGeom>
          <a:noFill/>
          <a:ln w="28575">
            <a:solidFill>
              <a:srgbClr val="B23A48"/>
            </a:solidFill>
            <a:prstDash val="solid"/>
            <a:tailEnd type="triangle"/>
          </a:ln>
        </p:spPr>
      </p:sp>
      <p:sp>
        <p:nvSpPr>
          <p:cNvPr id="13" name="Text 11"/>
          <p:cNvSpPr txBox="1"/>
          <p:nvPr/>
        </p:nvSpPr>
        <p:spPr>
          <a:xfrm>
            <a:off x="548640" y="2889504"/>
            <a:ext cx="502920" cy="530352"/>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14" name="Text 12"/>
          <p:cNvSpPr txBox="1"/>
          <p:nvPr/>
        </p:nvSpPr>
        <p:spPr>
          <a:xfrm>
            <a:off x="548640" y="5148072"/>
            <a:ext cx="512064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sp points to the last occupied location; the stack grows towards low addresses.</a:t>
            </a:r>
            <a:endParaRPr lang="en-US" sz="1400" dirty="0"/>
          </a:p>
        </p:txBody>
      </p:sp>
      <p:sp>
        <p:nvSpPr>
          <p:cNvPr id="15" name="Shape 13"/>
          <p:cNvSpPr/>
          <p:nvPr/>
        </p:nvSpPr>
        <p:spPr>
          <a:xfrm>
            <a:off x="6035040" y="1417320"/>
            <a:ext cx="5608015" cy="2743200"/>
          </a:xfrm>
          <a:prstGeom prst="roundRect">
            <a:avLst>
              <a:gd name="adj" fmla="val 2667"/>
            </a:avLst>
          </a:prstGeom>
          <a:solidFill>
            <a:srgbClr val="12202B"/>
          </a:solidFill>
          <a:ln w="12700">
            <a:solidFill>
              <a:srgbClr val="12202B"/>
            </a:solidFill>
            <a:prstDash val="solid"/>
          </a:ln>
        </p:spPr>
      </p:sp>
      <p:sp>
        <p:nvSpPr>
          <p:cNvPr id="16" name="Text 14"/>
          <p:cNvSpPr txBox="1"/>
          <p:nvPr/>
        </p:nvSpPr>
        <p:spPr>
          <a:xfrm>
            <a:off x="6263640" y="1600200"/>
            <a:ext cx="5150815" cy="237744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push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sw   t0, 0(sp)       </a:t>
            </a:r>
            <a:pPr indent="0" marL="0">
              <a:buNone/>
            </a:pPr>
            <a:r>
              <a:rPr lang="en-US" sz="1600" dirty="0">
                <a:solidFill>
                  <a:srgbClr val="8FB3A0"/>
                </a:solidFill>
                <a:latin typeface="Courier New" pitchFamily="34" charset="0"/>
                <a:ea typeface="Courier New" pitchFamily="34" charset="-122"/>
                <a:cs typeface="Courier New" pitchFamily="34" charset="-120"/>
              </a:rPr>
              <a:t># store on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pop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lw   t0, 0(sp)       </a:t>
            </a:r>
            <a:pPr indent="0" marL="0">
              <a:buNone/>
            </a:pPr>
            <a:r>
              <a:rPr lang="en-US" sz="1600" dirty="0">
                <a:solidFill>
                  <a:srgbClr val="8FB3A0"/>
                </a:solidFill>
                <a:latin typeface="Courier New" pitchFamily="34" charset="0"/>
                <a:ea typeface="Courier New" pitchFamily="34" charset="-122"/>
                <a:cs typeface="Courier New" pitchFamily="34" charset="-120"/>
              </a:rPr>
              <a:t># fetch the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release it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605272" cy="914400"/>
        </p:xfrm>
        <a:graphic>
          <a:graphicData uri="http://schemas.openxmlformats.org/drawingml/2006/table">
            <a:tbl>
              <a:tblPr/>
              <a:tblGrid>
                <a:gridCol w="2011680"/>
                <a:gridCol w="3593592"/>
              </a:tblGrid>
              <a:tr h="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Processor</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Push</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RISC-V</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addi sp, sp, -4 and sw: two instructions</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MC68000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MOVE D0, -(SP): a pre-decrement addressing mode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Intel x86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PUSH: a dedicated instruction</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 in four processors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6248"/>
                <a:gridCol w="2326248"/>
                <a:gridCol w="5278794"/>
                <a:gridCol w="1163124"/>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Program</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Memory accesses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accumulator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Motorola 6809, 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LDA x ;  ADD y ;  STA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Java virtual machine, WebAssembly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PUSH x ;  PUSH y ;  ADD ;  POP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 plus the stack itself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memory operands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MC68000, Intel x86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MOVE x, D0 ;  ADD y, D0 ;  MOVE D0,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load-store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lw t1, x ;  lw t2, y ;  add t3, t1, t2 ;  sw t3,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18: The Processor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l18.S: z = x + y on a load-store machine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three bars, eight pixels per unit: x = 5 (white), y = 7 (white) and z</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12 (green), computed by the seven instructions of the slide.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l18.S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l18 --name l18 --out l18.prg32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l18_update: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       </a:t>
            </a:r>
            <a:pPr indent="0" marL="0">
              <a:buNone/>
            </a:pPr>
            <a:r>
              <a:rPr lang="en-US" sz="1650" dirty="0">
                <a:solidFill>
                  <a:srgbClr val="8FB3A0"/>
                </a:solidFill>
                <a:latin typeface="Courier New" pitchFamily="34" charset="0"/>
                <a:ea typeface="Courier New" pitchFamily="34" charset="-122"/>
                <a:cs typeface="Courier New" pitchFamily="34" charset="-120"/>
              </a:rPr>
              <a:t># bring x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       </a:t>
            </a:r>
            <a:pPr indent="0" marL="0">
              <a:buNone/>
            </a:pPr>
            <a:r>
              <a:rPr lang="en-US" sz="1650" dirty="0">
                <a:solidFill>
                  <a:srgbClr val="8FB3A0"/>
                </a:solidFill>
                <a:latin typeface="Courier New" pitchFamily="34" charset="0"/>
                <a:ea typeface="Courier New" pitchFamily="34" charset="-122"/>
                <a:cs typeface="Courier New" pitchFamily="34" charset="-120"/>
              </a:rPr>
              <a:t># bring y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  t3, t1, t2      </a:t>
            </a:r>
            <a:pPr indent="0" marL="0">
              <a:buNone/>
            </a:pPr>
            <a:r>
              <a:rPr lang="en-US" sz="1650" dirty="0">
                <a:solidFill>
                  <a:srgbClr val="8FB3A0"/>
                </a:solidFill>
                <a:latin typeface="Courier New" pitchFamily="34" charset="0"/>
                <a:ea typeface="Courier New" pitchFamily="34" charset="-122"/>
                <a:cs typeface="Courier New" pitchFamily="34" charset="-120"/>
              </a:rPr>
              <a:t># compute, between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z</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t3, 0(t0)       </a:t>
            </a:r>
            <a:pPr indent="0" marL="0">
              <a:buNone/>
            </a:pPr>
            <a:r>
              <a:rPr lang="en-US" sz="1650" dirty="0">
                <a:solidFill>
                  <a:srgbClr val="8FB3A0"/>
                </a:solidFill>
                <a:latin typeface="Courier New" pitchFamily="34" charset="0"/>
                <a:ea typeface="Courier New" pitchFamily="34" charset="-122"/>
                <a:cs typeface="Courier New" pitchFamily="34" charset="-120"/>
              </a:rPr>
              <a:t># take the result back to memory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bar: a0 = ADDRESS of a variable, a1 = y of the bar, a4 = colour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bar: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a2, 0(a0)       </a:t>
            </a:r>
            <a:pPr indent="0" marL="0">
              <a:buNone/>
            </a:pPr>
            <a:r>
              <a:rPr lang="en-US" sz="1650" dirty="0">
                <a:solidFill>
                  <a:srgbClr val="8FB3A0"/>
                </a:solidFill>
                <a:latin typeface="Courier New" pitchFamily="34" charset="0"/>
                <a:ea typeface="Courier New" pitchFamily="34" charset="-122"/>
                <a:cs typeface="Courier New" pitchFamily="34" charset="-120"/>
              </a:rPr>
              <a:t># the VALUE of the variable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slli a2, a2, 3       </a:t>
            </a:r>
            <a:pPr indent="0" marL="0">
              <a:buNone/>
            </a:pPr>
            <a:r>
              <a:rPr lang="en-US" sz="1650" dirty="0">
                <a:solidFill>
                  <a:srgbClr val="8FB3A0"/>
                </a:solidFill>
                <a:latin typeface="Courier New" pitchFamily="34" charset="0"/>
                <a:ea typeface="Courier New" pitchFamily="34" charset="-122"/>
                <a:cs typeface="Courier New" pitchFamily="34" charset="-120"/>
              </a:rPr>
              <a:t># width: eight pixels per unit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20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a3,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tail prg32_gfx_rect</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BLACK</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40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72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z</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GREEN</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x: .word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y: .word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z: .word 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three bars, eight pixels per unit: x = 5 (white), y = 7 (white) and z = 12 (green), computed by the seven instructions of the slide.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l18 --out l18.prg32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z = (a + b) - (c + d) for an accumulator machine, a stack machine and RISC-V; count instructions and memory accesses</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push and pop of two registers, t0 and t1, keeping sp a multiple of 16 as the calling convention requires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 each register used in your last PRG32 program, say which function it serves: transit, accumulation, addressing, stack</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PRG32-QT, single-step a call and its return: watch pc, ra and sp, and the word saved on the stack</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Find in the datasheet of the processor of your phone or laptop: instruction set, number of cores, clock, privilege levels</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PRG32-QT: sp drops by 16 at the prologue and returns at the epilogue; ra holds the address after the call.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 the code</dc:title>
  <dc:subject>Lecture 18</dc:subject>
  <dc:creator>Raffaele Montella</dc:creator>
  <cp:lastModifiedBy>Raffaele Montella</cp:lastModifiedBy>
  <cp:revision>1</cp:revision>
  <dcterms:created xsi:type="dcterms:W3CDTF">2026-10-13T08:56:24Z</dcterms:created>
  <dcterms:modified xsi:type="dcterms:W3CDTF">2026-10-13T08:56:24Z</dcterms:modified>
</cp:coreProperties>
</file>