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9a47c93-572b-2c03-be69-2a9cd23ea63f}">
          <p14:sldIdLst>
            <p14:sldId id="256"/>
            <p14:sldId id="257"/>
          </p14:sldIdLst>
        </p14:section>
        <p14:section name="Warm-up on the machine" id="{b2a96bcb-1559-a38b-a035-f7a021c65971}">
          <p14:sldIdLst>
            <p14:sldId id="258"/>
          </p14:sldIdLst>
        </p14:section>
        <p14:section name="The stack" id="{0178b670-eaf7-2cd0-2d6d-774ddc3f4fa8}">
          <p14:sldIdLst>
            <p14:sldId id="259"/>
          </p14:sldIdLst>
        </p14:section>
        <p14:section name="Processor models" id="{0ee9a0aa-8a32-edba-8b0b-a56b6795566e}">
          <p14:sldIdLst>
            <p14:sldId id="260"/>
          </p14:sldIdLst>
        </p14:section>
        <p14:section name="The complete program" id="{8a1c6e4c-53cd-0e7d-5fc4-f457a68e3d02}">
          <p14:sldIdLst>
            <p14:sldId id="261"/>
            <p14:sldId id="262"/>
            <p14:sldId id="263"/>
            <p14:sldId id="264"/>
          </p14:sldIdLst>
        </p14:section>
        <p14:section name="Run it and test it" id="{afb82982-df44-3610-daa3-98ddd4ed80f1}">
          <p14:sldIdLst>
            <p14:sldId id="265"/>
            <p14:sldId id="266"/>
            <p14:sldId id="267"/>
            <p14:sldId id="268"/>
            <p14:sldId id="269"/>
          </p14:sldIdLst>
        </p14:section>
        <p14:section name="Exercises" id="{379ae339-805c-5b1f-c123-1911a42321d5}">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18. The lecture deck holds the concepts; this one holds everything you type and run: the listings with their explanation, the complete program, what it shows, and the way to test it on each of the three hosts.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deck contains, in the order of the slides. The program of the lecture is a file that you can build and run as it is: start from there, and come back to the listings to understand each part. The program of this lecture is ~/arc12/code/l18.S; tools/tests/cartridges/run.py builds it, runs it on PRG32-QT with scripted input and checks the pixels of the frame.
For the lecturer: Get the code once: git clone https://github.com/riscv-prg32/computer-architecture-with-prg32 ~/arc12. The program of this lecture is ~/arc12/code/l18.S; tools/tests/cartridges/run.py builds it, runs it on PRG32-QT with scripted input and checks the pixels of the frame.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compute z = x + y the program loads x into a register, loads y into another, adds the two registers into a third, and stores the result in z. Seven lines for one sum. Memory is touched only by lw and sw; the arithmetic happens only between registers. Other processors do the same job with three instructions, or with one. Why is RISC-V made like this? To answer we need a model of what a processor is, and then a comparison between different ways of building one.
For the lecturer: The load-modify-store cycle of Lecture 02, now seen as a design choice. Keep the three addresses in mind: the same computation returns in the comparison of the processor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RISC-V the stack pointer sp holds the address of the last occupied location, and the stack grows towards low addresses. A push is two instructions: subtract 4 from sp, then store on the new top. A pop is the reverse: load from the top, then add 4. The table compares three processors: RISC-V needs two instructions, the 68000 one instruction with a special addressing mode, x86 a dedicated instruction. In practice a RISC-V function allocates its whole frame once, as you have done since Lecture 02.
For the lecturer: The values are those drawn in the original deck. RISC-V has no push and pop: a stack frame is allocated once per function, sixteen bytes at a time, and filled with ordinary stores (Lecture 02). The 68000 form MOVE (SP)+, D0 pops with a post-increment.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sum of the warm-up in four machines. The accumulator machine: load x, add y, store z. The stack machine: push x, push y, add, pop z. A register machine with memory operands: move x into a register, add y to it, move the register into z. RISC-V: two loads, an add between registers, a store. The memory accesses are three in every case. What changes is the number of instructions and how much each one does: in RISC-V each does one thing only.
For the lecturer: The same three accesses to memory everywhere: what changes is how many instructions there are and how complex each one is. In the register-memory model an instruction such as ADD y, D0 reads memory and computes; in the load-store model every instruction does one thing. Stack machines with the stack in memory are generally slower than general-register machines. lw t1, x is a shorthand the assembler accepts for the la and lw pair of the warm-up.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For the lecturer: code/l18.S,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For the lecturer: code/l18.S,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For the lecturer: code/l18.S,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For the lecturer: code/l18.S,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program shows when it runs, and what to press. Predict before you run: if the screen differs from this picture, the difference is information. The picture was written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quickest way: PRG32-QT on your own computer. Four steps, each with its command. PRG32-QT behaves like a board on port 8080, which is why the upload command says esp32c6. With debug mode enabled you can stop at any instruction and read registers and memory.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runs the real firmware on an emulated chip, so the cartridge must be built for the architecture qemu. Stage the cartridge while QEMU is closed. The firmware opens on the Setup menu: choose Run Cartridge and the slot. Remember that the keyboard is read by the terminal, not by the window with the picture.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kit. The firmware is written once, through USB; after that cartridges travel over Wi-Fi. The upload command is the one used for PRG32-QT with the address of the board. This is the only host that the automatic tests do not run: try it, and report what you see.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common symptoms, what each means, and what to do. Read the message before changing anything: it nearly always names the cause.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exercises. Write the expression z = (a + b) - (c + d) for an accumulator machine, a stack machine and RISC-V, counting instructions and memory accesses. Write push and pop of two registers keeping sp a multiple of 16. Classify the registers of your last program by function. Single-step a call and its return in PRG32-QT, watching pc, ra and sp. And look up the processor of your phone or laptop.
For the lecturer: Accumulator: LDA a; ADD b; STA tmp; LDA c; ADD d; STA tmp2; LDA tmp; SUB tmp2; STA z. Stack: PUSH a; PUSH b; ADD; PUSH c; PUSH d; ADD; SUB; POP z. RISC-V: four loads, two adds, one sub, one store.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18: The processor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18</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The Processor: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18-Computer_Architecture-Processor.pptx</a:t>
            </a:r>
            <a:endParaRPr lang="en-US" sz="13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prg32qt_debugger.png">    </p:cNvPr>
          <p:cNvPicPr>
            <a:picLocks noChangeAspect="1"/>
          </p:cNvPicPr>
          <p:nvPr/>
        </p:nvPicPr>
        <p:blipFill>
          <a:blip r:embed="rId1"/>
          <a:stretch>
            <a:fillRect/>
          </a:stretch>
        </p:blipFill>
        <p:spPr>
          <a:xfrm>
            <a:off x="8810277" y="4251960"/>
            <a:ext cx="2648036" cy="182880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listing of Lecture 18: read the code, then the numbered remarks beside it</a:t>
            </a:r>
            <a:endParaRPr lang="en-US" sz="2200" dirty="0"/>
          </a:p>
        </p:txBody>
      </p:sp>
      <p:sp>
        <p:nvSpPr>
          <p:cNvPr id="5" name="Text 3"/>
          <p:cNvSpPr txBox="1"/>
          <p:nvPr/>
        </p:nvSpPr>
        <p:spPr>
          <a:xfrm>
            <a:off x="548640" y="27574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7391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complete program: code/l18.S, 64 lines, printed in full</a:t>
            </a:r>
            <a:endParaRPr lang="en-US" sz="2200" dirty="0"/>
          </a:p>
        </p:txBody>
      </p:sp>
      <p:sp>
        <p:nvSpPr>
          <p:cNvPr id="7" name="Text 5"/>
          <p:cNvSpPr txBox="1"/>
          <p:nvPr/>
        </p:nvSpPr>
        <p:spPr>
          <a:xfrm>
            <a:off x="548640" y="36535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352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5496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313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445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274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z = x + y</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550" dirty="0">
                <a:solidFill>
                  <a:srgbClr val="E6EDF2"/>
                </a:solidFill>
                <a:latin typeface="Courier New" pitchFamily="34" charset="0"/>
                <a:ea typeface="Courier New" pitchFamily="34" charset="-122"/>
                <a:cs typeface="Courier New" pitchFamily="34" charset="-120"/>
              </a:rPr>
              <a:t>    la   t0, x</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lw   t1, 0(t0)       </a:t>
            </a:r>
            <a:pPr indent="0" marL="0">
              <a:buNone/>
            </a:pPr>
            <a:r>
              <a:rPr lang="en-US" sz="1550" dirty="0">
                <a:solidFill>
                  <a:srgbClr val="8FB3A0"/>
                </a:solidFill>
                <a:latin typeface="Courier New" pitchFamily="34" charset="0"/>
                <a:ea typeface="Courier New" pitchFamily="34" charset="-122"/>
                <a:cs typeface="Courier New" pitchFamily="34" charset="-120"/>
              </a:rPr>
              <a:t># bring x into a register</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la   t0, y</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lw   t2, 0(t0)       </a:t>
            </a:r>
            <a:pPr indent="0" marL="0">
              <a:buNone/>
            </a:pPr>
            <a:r>
              <a:rPr lang="en-US" sz="1550" dirty="0">
                <a:solidFill>
                  <a:srgbClr val="8FB3A0"/>
                </a:solidFill>
                <a:latin typeface="Courier New" pitchFamily="34" charset="0"/>
                <a:ea typeface="Courier New" pitchFamily="34" charset="-122"/>
                <a:cs typeface="Courier New" pitchFamily="34" charset="-120"/>
              </a:rPr>
              <a:t># bring y into a register</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add  t3, t1, t2      </a:t>
            </a:r>
            <a:pPr indent="0" marL="0">
              <a:buNone/>
            </a:pPr>
            <a:r>
              <a:rPr lang="en-US" sz="1550" dirty="0">
                <a:solidFill>
                  <a:srgbClr val="8FB3A0"/>
                </a:solidFill>
                <a:latin typeface="Courier New" pitchFamily="34" charset="0"/>
                <a:ea typeface="Courier New" pitchFamily="34" charset="-122"/>
                <a:cs typeface="Courier New" pitchFamily="34" charset="-120"/>
              </a:rPr>
              <a:t># compute, between registers</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la   t0, z</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sw   t3, 0(t0)       </a:t>
            </a:r>
            <a:pPr indent="0" marL="0">
              <a:buNone/>
            </a:pPr>
            <a:r>
              <a:rPr lang="en-US" sz="1550" dirty="0">
                <a:solidFill>
                  <a:srgbClr val="8FB3A0"/>
                </a:solidFill>
                <a:latin typeface="Courier New" pitchFamily="34" charset="0"/>
                <a:ea typeface="Courier New" pitchFamily="34" charset="-122"/>
                <a:cs typeface="Courier New" pitchFamily="34" charset="-120"/>
              </a:rPr>
              <a:t># take the result back to memory</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.section .data</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x: .word 5</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y: .word 7</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z: .word 0</a:t>
            </a:r>
            <a:endParaRPr lang="en-US" sz="155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Seven lines for one sum: memory is touched only by lw and sw</a:t>
            </a:r>
            <a:endParaRPr lang="en-US" sz="16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The arithmetic happens only between registers</a:t>
            </a:r>
            <a:endParaRPr lang="en-US" sz="16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Other processors do the same job with three instructions, or with one</a:t>
            </a:r>
            <a:endParaRPr lang="en-US" sz="16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Why is RISC-V made this way? To answer we need a model of the processor</a:t>
            </a:r>
            <a:endParaRPr lang="en-US" sz="16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Push and pop in RISC-V</a:t>
            </a:r>
            <a:endParaRPr lang="en-US" sz="3200" dirty="0"/>
          </a:p>
        </p:txBody>
      </p:sp>
      <p:sp>
        <p:nvSpPr>
          <p:cNvPr id="3" name="Text 1"/>
          <p:cNvSpPr txBox="1"/>
          <p:nvPr/>
        </p:nvSpPr>
        <p:spPr>
          <a:xfrm>
            <a:off x="1920240" y="1399032"/>
            <a:ext cx="2194560" cy="274320"/>
          </a:xfrm>
          <a:prstGeom prst="rect">
            <a:avLst/>
          </a:prstGeom>
          <a:noFill/>
          <a:ln/>
        </p:spPr>
        <p:txBody>
          <a:bodyPr wrap="square" lIns="0" tIns="0" rIns="0" bIns="0" rtlCol="0" anchor="t"/>
          <a:lstStyle/>
          <a:p>
            <a:pPr algn="ctr" indent="0" marL="0">
              <a:buNone/>
            </a:pPr>
            <a:r>
              <a:rPr lang="en-US" sz="1300" b="1" dirty="0">
                <a:solidFill>
                  <a:srgbClr val="2E4A62"/>
                </a:solidFill>
                <a:latin typeface="Calibri" pitchFamily="34" charset="0"/>
                <a:ea typeface="Calibri" pitchFamily="34" charset="-122"/>
                <a:cs typeface="Calibri" pitchFamily="34" charset="-120"/>
              </a:rPr>
              <a:t>memory</a:t>
            </a:r>
            <a:endParaRPr lang="en-US" sz="1300" dirty="0"/>
          </a:p>
        </p:txBody>
      </p:sp>
      <p:sp>
        <p:nvSpPr>
          <p:cNvPr id="4" name="Text 2"/>
          <p:cNvSpPr txBox="1"/>
          <p:nvPr/>
        </p:nvSpPr>
        <p:spPr>
          <a:xfrm>
            <a:off x="4251960" y="1828800"/>
            <a:ext cx="1463040" cy="530352"/>
          </a:xfrm>
          <a:prstGeom prst="rect">
            <a:avLst/>
          </a:prstGeom>
          <a:noFill/>
          <a:ln/>
        </p:spPr>
        <p:txBody>
          <a:bodyPr wrap="square" lIns="0" tIns="0" rIns="0" bIns="0" rtlCol="0" anchor="ctr"/>
          <a:lstStyle/>
          <a:p>
            <a:pPr indent="0" marL="0">
              <a:buNone/>
            </a:pPr>
            <a:r>
              <a:rPr lang="en-US" sz="1150" i="1" dirty="0">
                <a:solidFill>
                  <a:srgbClr val="5B6B78"/>
                </a:solidFill>
                <a:latin typeface="Calibri" pitchFamily="34" charset="0"/>
                <a:ea typeface="Calibri" pitchFamily="34" charset="-122"/>
                <a:cs typeface="Calibri" pitchFamily="34" charset="-120"/>
              </a:rPr>
              <a:t>low addresses</a:t>
            </a:r>
            <a:endParaRPr lang="en-US" sz="1150" dirty="0"/>
          </a:p>
        </p:txBody>
      </p:sp>
      <p:sp>
        <p:nvSpPr>
          <p:cNvPr id="5" name="Text 3"/>
          <p:cNvSpPr txBox="1"/>
          <p:nvPr/>
        </p:nvSpPr>
        <p:spPr>
          <a:xfrm>
            <a:off x="1920240" y="1828800"/>
            <a:ext cx="2194560" cy="530352"/>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500" b="1" dirty="0">
                <a:solidFill>
                  <a:srgbClr val="5B6B78"/>
                </a:solidFill>
                <a:latin typeface="Courier New" pitchFamily="34" charset="0"/>
                <a:ea typeface="Courier New" pitchFamily="34" charset="-122"/>
                <a:cs typeface="Courier New" pitchFamily="34" charset="-120"/>
              </a:rPr>
              <a:t>(free)</a:t>
            </a:r>
            <a:endParaRPr lang="en-US" sz="1500" dirty="0"/>
          </a:p>
        </p:txBody>
      </p:sp>
      <p:sp>
        <p:nvSpPr>
          <p:cNvPr id="6" name="Text 4"/>
          <p:cNvSpPr txBox="1"/>
          <p:nvPr/>
        </p:nvSpPr>
        <p:spPr>
          <a:xfrm>
            <a:off x="1920240" y="2359152"/>
            <a:ext cx="2194560" cy="530352"/>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500" b="1" dirty="0">
                <a:solidFill>
                  <a:srgbClr val="5B6B78"/>
                </a:solidFill>
                <a:latin typeface="Courier New" pitchFamily="34" charset="0"/>
                <a:ea typeface="Courier New" pitchFamily="34" charset="-122"/>
                <a:cs typeface="Courier New" pitchFamily="34" charset="-120"/>
              </a:rPr>
              <a:t>(free)</a:t>
            </a:r>
            <a:endParaRPr lang="en-US" sz="1500" dirty="0"/>
          </a:p>
        </p:txBody>
      </p:sp>
      <p:sp>
        <p:nvSpPr>
          <p:cNvPr id="7" name="Text 5"/>
          <p:cNvSpPr txBox="1"/>
          <p:nvPr/>
        </p:nvSpPr>
        <p:spPr>
          <a:xfrm>
            <a:off x="1920240" y="2889504"/>
            <a:ext cx="2194560" cy="530352"/>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-28</a:t>
            </a:r>
            <a:endParaRPr lang="en-US" sz="1500" dirty="0"/>
          </a:p>
        </p:txBody>
      </p:sp>
      <p:sp>
        <p:nvSpPr>
          <p:cNvPr id="8" name="Text 6"/>
          <p:cNvSpPr txBox="1"/>
          <p:nvPr/>
        </p:nvSpPr>
        <p:spPr>
          <a:xfrm>
            <a:off x="1920240" y="3419856"/>
            <a:ext cx="2194560" cy="530352"/>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-17</a:t>
            </a:r>
            <a:endParaRPr lang="en-US" sz="1500" dirty="0"/>
          </a:p>
        </p:txBody>
      </p:sp>
      <p:sp>
        <p:nvSpPr>
          <p:cNvPr id="9" name="Text 7"/>
          <p:cNvSpPr txBox="1"/>
          <p:nvPr/>
        </p:nvSpPr>
        <p:spPr>
          <a:xfrm>
            <a:off x="1920240" y="3950208"/>
            <a:ext cx="2194560" cy="530352"/>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739</a:t>
            </a:r>
            <a:endParaRPr lang="en-US" sz="1500" dirty="0"/>
          </a:p>
        </p:txBody>
      </p:sp>
      <p:sp>
        <p:nvSpPr>
          <p:cNvPr id="10" name="Text 8"/>
          <p:cNvSpPr txBox="1"/>
          <p:nvPr/>
        </p:nvSpPr>
        <p:spPr>
          <a:xfrm>
            <a:off x="1920240" y="4480560"/>
            <a:ext cx="2194560" cy="530352"/>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43</a:t>
            </a:r>
            <a:endParaRPr lang="en-US" sz="1500" dirty="0"/>
          </a:p>
        </p:txBody>
      </p:sp>
      <p:sp>
        <p:nvSpPr>
          <p:cNvPr id="11" name="Text 9"/>
          <p:cNvSpPr txBox="1"/>
          <p:nvPr/>
        </p:nvSpPr>
        <p:spPr>
          <a:xfrm>
            <a:off x="4251960" y="4480560"/>
            <a:ext cx="1828800" cy="530352"/>
          </a:xfrm>
          <a:prstGeom prst="rect">
            <a:avLst/>
          </a:prstGeom>
          <a:noFill/>
          <a:ln/>
        </p:spPr>
        <p:txBody>
          <a:bodyPr wrap="square" lIns="0" tIns="0" rIns="0" bIns="0" rtlCol="0" anchor="ctr"/>
          <a:lstStyle/>
          <a:p>
            <a:pPr indent="0" marL="0">
              <a:buNone/>
            </a:pPr>
            <a:r>
              <a:rPr lang="en-US" sz="1150" i="1" dirty="0">
                <a:solidFill>
                  <a:srgbClr val="5B6B78"/>
                </a:solidFill>
                <a:latin typeface="Calibri" pitchFamily="34" charset="0"/>
                <a:ea typeface="Calibri" pitchFamily="34" charset="-122"/>
                <a:cs typeface="Calibri" pitchFamily="34" charset="-120"/>
              </a:rPr>
              <a:t>bottom of the stack</a:t>
            </a:r>
            <a:endParaRPr lang="en-US" sz="1150" dirty="0"/>
          </a:p>
        </p:txBody>
      </p:sp>
      <p:sp>
        <p:nvSpPr>
          <p:cNvPr id="12" name="Shape 10"/>
          <p:cNvSpPr/>
          <p:nvPr/>
        </p:nvSpPr>
        <p:spPr>
          <a:xfrm>
            <a:off x="1097280" y="3154680"/>
            <a:ext cx="777240" cy="0"/>
          </a:xfrm>
          <a:prstGeom prst="line">
            <a:avLst/>
          </a:prstGeom>
          <a:noFill/>
          <a:ln w="28575">
            <a:solidFill>
              <a:srgbClr val="B23A48"/>
            </a:solidFill>
            <a:prstDash val="solid"/>
            <a:tailEnd type="triangle"/>
          </a:ln>
        </p:spPr>
      </p:sp>
      <p:sp>
        <p:nvSpPr>
          <p:cNvPr id="13" name="Text 11"/>
          <p:cNvSpPr txBox="1"/>
          <p:nvPr/>
        </p:nvSpPr>
        <p:spPr>
          <a:xfrm>
            <a:off x="548640" y="2889504"/>
            <a:ext cx="502920" cy="530352"/>
          </a:xfrm>
          <a:prstGeom prst="rect">
            <a:avLst/>
          </a:prstGeom>
          <a:noFill/>
          <a:ln/>
        </p:spPr>
        <p:txBody>
          <a:bodyPr wrap="square" lIns="0" tIns="0" rIns="0" bIns="0" rtlCol="0" anchor="ctr"/>
          <a:lstStyle/>
          <a:p>
            <a:pPr algn="r" indent="0" marL="0">
              <a:buNone/>
            </a:pPr>
            <a:r>
              <a:rPr lang="en-US" sz="1800" b="1" dirty="0">
                <a:solidFill>
                  <a:srgbClr val="B23A48"/>
                </a:solidFill>
                <a:latin typeface="Courier New" pitchFamily="34" charset="0"/>
                <a:ea typeface="Courier New" pitchFamily="34" charset="-122"/>
                <a:cs typeface="Courier New" pitchFamily="34" charset="-120"/>
              </a:rPr>
              <a:t>sp</a:t>
            </a:r>
            <a:endParaRPr lang="en-US" sz="1800" dirty="0"/>
          </a:p>
        </p:txBody>
      </p:sp>
      <p:sp>
        <p:nvSpPr>
          <p:cNvPr id="14" name="Text 12"/>
          <p:cNvSpPr txBox="1"/>
          <p:nvPr/>
        </p:nvSpPr>
        <p:spPr>
          <a:xfrm>
            <a:off x="548640" y="5148072"/>
            <a:ext cx="5120640" cy="640080"/>
          </a:xfrm>
          <a:prstGeom prst="rect">
            <a:avLst/>
          </a:prstGeom>
          <a:noFill/>
          <a:ln/>
        </p:spPr>
        <p:txBody>
          <a:bodyPr wrap="square" lIns="0" tIns="0" rIns="0" bIns="0" rtlCol="0" anchor="t"/>
          <a:lstStyle/>
          <a:p>
            <a:pPr indent="0" marL="0">
              <a:buNone/>
            </a:pPr>
            <a:r>
              <a:rPr lang="en-US" sz="1400" dirty="0">
                <a:solidFill>
                  <a:srgbClr val="1B2530"/>
                </a:solidFill>
                <a:latin typeface="Calibri" pitchFamily="34" charset="0"/>
                <a:ea typeface="Calibri" pitchFamily="34" charset="-122"/>
                <a:cs typeface="Calibri" pitchFamily="34" charset="-120"/>
              </a:rPr>
              <a:t>sp points to the last occupied location; the stack grows towards low addresses.</a:t>
            </a:r>
            <a:endParaRPr lang="en-US" sz="1400" dirty="0"/>
          </a:p>
        </p:txBody>
      </p:sp>
      <p:sp>
        <p:nvSpPr>
          <p:cNvPr id="15" name="Shape 13"/>
          <p:cNvSpPr/>
          <p:nvPr/>
        </p:nvSpPr>
        <p:spPr>
          <a:xfrm>
            <a:off x="6035040" y="1417320"/>
            <a:ext cx="5608015" cy="2743200"/>
          </a:xfrm>
          <a:prstGeom prst="roundRect">
            <a:avLst>
              <a:gd name="adj" fmla="val 2667"/>
            </a:avLst>
          </a:prstGeom>
          <a:solidFill>
            <a:srgbClr val="12202B"/>
          </a:solidFill>
          <a:ln w="12700">
            <a:solidFill>
              <a:srgbClr val="12202B"/>
            </a:solidFill>
            <a:prstDash val="solid"/>
          </a:ln>
        </p:spPr>
      </p:sp>
      <p:sp>
        <p:nvSpPr>
          <p:cNvPr id="16" name="Text 14"/>
          <p:cNvSpPr txBox="1"/>
          <p:nvPr/>
        </p:nvSpPr>
        <p:spPr>
          <a:xfrm>
            <a:off x="6263640" y="1600200"/>
            <a:ext cx="5150815" cy="2377440"/>
          </a:xfrm>
          <a:prstGeom prst="rect">
            <a:avLst/>
          </a:prstGeom>
          <a:noFill/>
          <a:ln/>
        </p:spPr>
        <p:txBody>
          <a:bodyPr wrap="square" lIns="0" tIns="0" rIns="0" bIns="0" rtlCol="0" anchor="t"/>
          <a:lstStyle/>
          <a:p>
            <a:pPr indent="0" marL="0">
              <a:buNone/>
            </a:pPr>
            <a:r>
              <a:rPr lang="en-US" sz="1600" dirty="0">
                <a:solidFill>
                  <a:srgbClr val="8FB3A0"/>
                </a:solidFill>
                <a:latin typeface="Courier New" pitchFamily="34" charset="0"/>
                <a:ea typeface="Courier New" pitchFamily="34" charset="-122"/>
                <a:cs typeface="Courier New" pitchFamily="34" charset="-120"/>
              </a:rPr>
              <a:t># push t0</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addi sp, sp, -4      </a:t>
            </a:r>
            <a:pPr indent="0" marL="0">
              <a:buNone/>
            </a:pPr>
            <a:r>
              <a:rPr lang="en-US" sz="1600" dirty="0">
                <a:solidFill>
                  <a:srgbClr val="8FB3A0"/>
                </a:solidFill>
                <a:latin typeface="Courier New" pitchFamily="34" charset="0"/>
                <a:ea typeface="Courier New" pitchFamily="34" charset="-122"/>
                <a:cs typeface="Courier New" pitchFamily="34" charset="-120"/>
              </a:rPr>
              <a:t># make room</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sw   t0, 0(sp)       </a:t>
            </a:r>
            <a:pPr indent="0" marL="0">
              <a:buNone/>
            </a:pPr>
            <a:r>
              <a:rPr lang="en-US" sz="1600" dirty="0">
                <a:solidFill>
                  <a:srgbClr val="8FB3A0"/>
                </a:solidFill>
                <a:latin typeface="Courier New" pitchFamily="34" charset="0"/>
                <a:ea typeface="Courier New" pitchFamily="34" charset="-122"/>
                <a:cs typeface="Courier New" pitchFamily="34" charset="-120"/>
              </a:rPr>
              <a:t># store on top</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8FB3A0"/>
                </a:solidFill>
                <a:latin typeface="Courier New" pitchFamily="34" charset="0"/>
                <a:ea typeface="Courier New" pitchFamily="34" charset="-122"/>
                <a:cs typeface="Courier New" pitchFamily="34" charset="-120"/>
              </a:rPr>
              <a:t># pop t0</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lw   t0, 0(sp)       </a:t>
            </a:r>
            <a:pPr indent="0" marL="0">
              <a:buNone/>
            </a:pPr>
            <a:r>
              <a:rPr lang="en-US" sz="1600" dirty="0">
                <a:solidFill>
                  <a:srgbClr val="8FB3A0"/>
                </a:solidFill>
                <a:latin typeface="Courier New" pitchFamily="34" charset="0"/>
                <a:ea typeface="Courier New" pitchFamily="34" charset="-122"/>
                <a:cs typeface="Courier New" pitchFamily="34" charset="-120"/>
              </a:rPr>
              <a:t># fetch the top</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addi sp, sp, 4       </a:t>
            </a:r>
            <a:pPr indent="0" marL="0">
              <a:buNone/>
            </a:pPr>
            <a:r>
              <a:rPr lang="en-US" sz="1600" dirty="0">
                <a:solidFill>
                  <a:srgbClr val="8FB3A0"/>
                </a:solidFill>
                <a:latin typeface="Courier New" pitchFamily="34" charset="0"/>
                <a:ea typeface="Courier New" pitchFamily="34" charset="-122"/>
                <a:cs typeface="Courier New" pitchFamily="34" charset="-120"/>
              </a:rPr>
              <a:t># release it</a:t>
            </a:r>
            <a:endParaRPr lang="en-US" sz="16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035040" y="4389120"/>
          <a:ext cx="5605272" cy="914400"/>
        </p:xfrm>
        <a:graphic>
          <a:graphicData uri="http://schemas.openxmlformats.org/drawingml/2006/table">
            <a:tbl>
              <a:tblPr/>
              <a:tblGrid>
                <a:gridCol w="2011680"/>
                <a:gridCol w="3593592"/>
              </a:tblGrid>
              <a:tr h="0">
                <a:tc>
                  <a:txBody>
                    <a:bodyPr/>
                    <a:lstStyle/>
                    <a:p>
                      <a:pPr algn="l" indent="0" marL="0">
                        <a:buNone/>
                      </a:pPr>
                      <a:r>
                        <a:rPr lang="en-US" sz="1350" b="1" dirty="0">
                          <a:solidFill>
                            <a:srgbClr val="FFFFFF"/>
                          </a:solidFill>
                          <a:latin typeface="Calibri" pitchFamily="34" charset="0"/>
                          <a:ea typeface="Calibri" pitchFamily="34" charset="-122"/>
                          <a:cs typeface="Calibri" pitchFamily="34" charset="-120"/>
                        </a:rPr>
                        <a:t>Processor</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350" b="1" dirty="0">
                          <a:solidFill>
                            <a:srgbClr val="FFFFFF"/>
                          </a:solidFill>
                          <a:latin typeface="Calibri" pitchFamily="34" charset="0"/>
                          <a:ea typeface="Calibri" pitchFamily="34" charset="-122"/>
                          <a:cs typeface="Calibri" pitchFamily="34" charset="-120"/>
                        </a:rPr>
                        <a:t>Push</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350" b="1" dirty="0">
                          <a:solidFill>
                            <a:srgbClr val="1B2530"/>
                          </a:solidFill>
                          <a:latin typeface="Calibri" pitchFamily="34" charset="0"/>
                          <a:ea typeface="Calibri" pitchFamily="34" charset="-122"/>
                          <a:cs typeface="Calibri" pitchFamily="34" charset="-120"/>
                        </a:rPr>
                        <a:t>RISC-V</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350" dirty="0">
                          <a:solidFill>
                            <a:srgbClr val="1B2530"/>
                          </a:solidFill>
                          <a:latin typeface="Calibri" pitchFamily="34" charset="0"/>
                          <a:ea typeface="Calibri" pitchFamily="34" charset="-122"/>
                          <a:cs typeface="Calibri" pitchFamily="34" charset="-120"/>
                        </a:rPr>
                        <a:t>addi sp, sp, -4 and sw: two instructions</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350" b="1" dirty="0">
                          <a:solidFill>
                            <a:srgbClr val="1B2530"/>
                          </a:solidFill>
                          <a:latin typeface="Calibri" pitchFamily="34" charset="0"/>
                          <a:ea typeface="Calibri" pitchFamily="34" charset="-122"/>
                          <a:cs typeface="Calibri" pitchFamily="34" charset="-120"/>
                        </a:rPr>
                        <a:t>MC68000</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350" dirty="0">
                          <a:solidFill>
                            <a:srgbClr val="1B2530"/>
                          </a:solidFill>
                          <a:latin typeface="Calibri" pitchFamily="34" charset="0"/>
                          <a:ea typeface="Calibri" pitchFamily="34" charset="-122"/>
                          <a:cs typeface="Calibri" pitchFamily="34" charset="-120"/>
                        </a:rPr>
                        <a:t>MOVE D0, -(SP): a pre-decrement addressing mode</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350" b="1" dirty="0">
                          <a:solidFill>
                            <a:srgbClr val="1B2530"/>
                          </a:solidFill>
                          <a:latin typeface="Calibri" pitchFamily="34" charset="0"/>
                          <a:ea typeface="Calibri" pitchFamily="34" charset="-122"/>
                          <a:cs typeface="Calibri" pitchFamily="34" charset="-120"/>
                        </a:rPr>
                        <a:t>Intel x86</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350" dirty="0">
                          <a:solidFill>
                            <a:srgbClr val="1B2530"/>
                          </a:solidFill>
                          <a:latin typeface="Calibri" pitchFamily="34" charset="0"/>
                          <a:ea typeface="Calibri" pitchFamily="34" charset="-122"/>
                          <a:cs typeface="Calibri" pitchFamily="34" charset="-120"/>
                        </a:rPr>
                        <a:t>PUSH: a dedicated instruction</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z = x + y in four processors</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326248"/>
                <a:gridCol w="2326248"/>
                <a:gridCol w="5278794"/>
                <a:gridCol w="1163124"/>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Model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Example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Program</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Memory accesses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accumulator</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Motorola 6809, MOS 6502</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LDA x ;  ADD y ;  STA z</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stack</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Java virtual machine, WebAssembly</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PUSH x ;  PUSH y ;  ADD ;  POP z</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3, plus the stack itself</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general registers, memory operands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MC68000, Intel x86</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MOVE x, D0 ;  ADD y, D0 ;  MOVE D0, z</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general registers, load-store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RISC-V</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lw t1, x ;  lw t2, y ;  add t3, t1, t2 ;  sw t3, z</a:t>
                      </a:r>
                      <a:endParaRPr lang="en-US" sz="15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l18.S (1 of 4)</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400" dirty="0">
                <a:solidFill>
                  <a:srgbClr val="8FB3A0"/>
                </a:solidFill>
                <a:latin typeface="Courier New" pitchFamily="34" charset="0"/>
                <a:ea typeface="Courier New" pitchFamily="34" charset="-122"/>
                <a:cs typeface="Courier New" pitchFamily="34" charset="-120"/>
              </a:rPr>
              <a:t># ARC12 Computer Architecture - Lecture 18: The Processor</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l18.S: z = x + y on a load-store machine</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On the screen: three bars, eight pixels per unit: x = 5 (white), y = 7 (white) and z</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 12 (green), computed by the seven instructions of the slide.</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Build: python3 -m prg32 cartridge build l18.S --portable \</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--entry-prefix l18 --name l18 --out l18.prg32</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.option norelax</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.equ BLACK, 0x0000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.equ WHITE, 0xffff</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.equ GREEN, 0x07e0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.section .text</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.global l18_init</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.global l18_update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.global l18_draw</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l18_init:</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ret</a:t>
            </a:r>
            <a:endParaRPr lang="en-US" sz="1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l18.S (2 of 4)</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650" dirty="0">
                <a:solidFill>
                  <a:srgbClr val="E6EDF2"/>
                </a:solidFill>
                <a:latin typeface="Courier New" pitchFamily="34" charset="0"/>
                <a:ea typeface="Courier New" pitchFamily="34" charset="-122"/>
                <a:cs typeface="Courier New" pitchFamily="34" charset="-120"/>
              </a:rPr>
              <a:t>l18_update:</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la   t0, x</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lw   t1, 0(t0)       </a:t>
            </a:r>
            <a:pPr indent="0" marL="0">
              <a:buNone/>
            </a:pPr>
            <a:r>
              <a:rPr lang="en-US" sz="1650" dirty="0">
                <a:solidFill>
                  <a:srgbClr val="8FB3A0"/>
                </a:solidFill>
                <a:latin typeface="Courier New" pitchFamily="34" charset="0"/>
                <a:ea typeface="Courier New" pitchFamily="34" charset="-122"/>
                <a:cs typeface="Courier New" pitchFamily="34" charset="-120"/>
              </a:rPr>
              <a:t># bring x into a register</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la   t0, y</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lw   t2, 0(t0)       </a:t>
            </a:r>
            <a:pPr indent="0" marL="0">
              <a:buNone/>
            </a:pPr>
            <a:r>
              <a:rPr lang="en-US" sz="1650" dirty="0">
                <a:solidFill>
                  <a:srgbClr val="8FB3A0"/>
                </a:solidFill>
                <a:latin typeface="Courier New" pitchFamily="34" charset="0"/>
                <a:ea typeface="Courier New" pitchFamily="34" charset="-122"/>
                <a:cs typeface="Courier New" pitchFamily="34" charset="-120"/>
              </a:rPr>
              <a:t># bring y into a register</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add  t3, t1, t2      </a:t>
            </a:r>
            <a:pPr indent="0" marL="0">
              <a:buNone/>
            </a:pPr>
            <a:r>
              <a:rPr lang="en-US" sz="1650" dirty="0">
                <a:solidFill>
                  <a:srgbClr val="8FB3A0"/>
                </a:solidFill>
                <a:latin typeface="Courier New" pitchFamily="34" charset="0"/>
                <a:ea typeface="Courier New" pitchFamily="34" charset="-122"/>
                <a:cs typeface="Courier New" pitchFamily="34" charset="-120"/>
              </a:rPr>
              <a:t># compute, between registers</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la   t0, z</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sw   t3, 0(t0)       </a:t>
            </a:r>
            <a:pPr indent="0" marL="0">
              <a:buNone/>
            </a:pPr>
            <a:r>
              <a:rPr lang="en-US" sz="1650" dirty="0">
                <a:solidFill>
                  <a:srgbClr val="8FB3A0"/>
                </a:solidFill>
                <a:latin typeface="Courier New" pitchFamily="34" charset="0"/>
                <a:ea typeface="Courier New" pitchFamily="34" charset="-122"/>
                <a:cs typeface="Courier New" pitchFamily="34" charset="-120"/>
              </a:rPr>
              <a:t># take the result back to memory</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ret</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t>
            </a:r>
            <a:endParaRPr lang="en-US" sz="1650" dirty="0"/>
          </a:p>
          <a:p>
            <a:pPr indent="0" marL="0">
              <a:buNone/>
            </a:pPr>
            <a:r>
              <a:rPr lang="en-US" sz="1650" dirty="0">
                <a:solidFill>
                  <a:srgbClr val="8FB3A0"/>
                </a:solidFill>
                <a:latin typeface="Courier New" pitchFamily="34" charset="0"/>
                <a:ea typeface="Courier New" pitchFamily="34" charset="-122"/>
                <a:cs typeface="Courier New" pitchFamily="34" charset="-120"/>
              </a:rPr>
              <a:t># bar: a0 = ADDRESS of a variable, a1 = y of the bar, a4 = colour</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bar:</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lw   a2, 0(a0)       </a:t>
            </a:r>
            <a:pPr indent="0" marL="0">
              <a:buNone/>
            </a:pPr>
            <a:r>
              <a:rPr lang="en-US" sz="1650" dirty="0">
                <a:solidFill>
                  <a:srgbClr val="8FB3A0"/>
                </a:solidFill>
                <a:latin typeface="Courier New" pitchFamily="34" charset="0"/>
                <a:ea typeface="Courier New" pitchFamily="34" charset="-122"/>
                <a:cs typeface="Courier New" pitchFamily="34" charset="-120"/>
              </a:rPr>
              <a:t># the VALUE of the variable</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slli a2, a2, 3       </a:t>
            </a:r>
            <a:pPr indent="0" marL="0">
              <a:buNone/>
            </a:pPr>
            <a:r>
              <a:rPr lang="en-US" sz="1650" dirty="0">
                <a:solidFill>
                  <a:srgbClr val="8FB3A0"/>
                </a:solidFill>
                <a:latin typeface="Courier New" pitchFamily="34" charset="0"/>
                <a:ea typeface="Courier New" pitchFamily="34" charset="-122"/>
                <a:cs typeface="Courier New" pitchFamily="34" charset="-120"/>
              </a:rPr>
              <a:t># width: eight pixels per unit</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li   a0, 20</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li   a3, 16</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tail prg32_gfx_rect</a:t>
            </a:r>
            <a:endParaRPr lang="en-US" sz="165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l18.S (3 of 4)</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400" dirty="0">
                <a:solidFill>
                  <a:srgbClr val="E6EDF2"/>
                </a:solidFill>
                <a:latin typeface="Courier New" pitchFamily="34" charset="0"/>
                <a:ea typeface="Courier New" pitchFamily="34" charset="-122"/>
                <a:cs typeface="Courier New" pitchFamily="34" charset="-120"/>
              </a:rPr>
              <a:t>l18_draw:</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addi sp, sp, -16</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sw   ra, 12(sp)</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li   a0, BLACK</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call prg32_gfx_clear</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la   a0, x</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li   a1, 40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li   a4, WHITE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call bar</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la   a0, y</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li   a1, 72</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li   a4, WHITE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call bar</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la   a0, z</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li   a1, 120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li   a4, GREEN</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call bar</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lw   ra, 12(sp)</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addi sp, sp, 16</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ret</a:t>
            </a:r>
            <a:endParaRPr lang="en-US" sz="1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l18.S (4 of 4)</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.section .data</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x: .word 5</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y: .word 7</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z: .word 0</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170992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three bars, eight pixels per unit: x = 5 (white), y = 7 (white) and z = 12 (green), computed by the seven instructions of the slide.</a:t>
            </a:r>
            <a:endParaRPr lang="en-US" sz="2400" dirty="0"/>
          </a:p>
        </p:txBody>
      </p:sp>
      <p:sp>
        <p:nvSpPr>
          <p:cNvPr id="5" name="Shape 3"/>
          <p:cNvSpPr/>
          <p:nvPr/>
        </p:nvSpPr>
        <p:spPr>
          <a:xfrm>
            <a:off x="548640" y="388924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767328"/>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nothing: the program runs by itself</a:t>
            </a:r>
            <a:endParaRPr lang="en-US" sz="2400" dirty="0"/>
          </a:p>
        </p:txBody>
      </p:sp>
      <p:pic>
        <p:nvPicPr>
          <p:cNvPr id="7" name="Image 0" descr="/Users/raffaelemontella/devel/riscv-prg32/computer-architecture-with-prg32/tools/assets/lab_l18.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~/arc12/code/l18.S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l18 --name l18 --out l18.prg32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l18.prg32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~/arc12/code/l18.S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l18 --name l18 --architecture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l18-qemu.prg32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l18-qemu.prg32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~/arc12/code/l18.S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l18 --name l18 --architecture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l18-esp32c6.prg32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l18-esp32c6.prg32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l18;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Exercises: paper first, then PRG32</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Write z = (a + b) - (c + d) for an accumulator machine, a stack machine and RISC-V; count instructions and memory accesses</a:t>
            </a:r>
            <a:endParaRPr lang="en-US" sz="1900" dirty="0"/>
          </a:p>
        </p:txBody>
      </p:sp>
      <p:sp>
        <p:nvSpPr>
          <p:cNvPr id="6" name="Text 4"/>
          <p:cNvSpPr txBox="1"/>
          <p:nvPr/>
        </p:nvSpPr>
        <p:spPr>
          <a:xfrm>
            <a:off x="548640" y="2157095"/>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138807"/>
            <a:ext cx="1043604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Write push and pop of two registers, t0 and t1, keeping sp a multiple of 16 as the calling convention requires</a:t>
            </a:r>
            <a:endParaRPr lang="en-US" sz="1900" dirty="0"/>
          </a:p>
        </p:txBody>
      </p:sp>
      <p:sp>
        <p:nvSpPr>
          <p:cNvPr id="8" name="Text 6"/>
          <p:cNvSpPr txBox="1"/>
          <p:nvPr/>
        </p:nvSpPr>
        <p:spPr>
          <a:xfrm>
            <a:off x="548640" y="287858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860294"/>
            <a:ext cx="1043604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For each register used in your last PRG32 program, say which function it serves: transit, accumulation, addressing, stack</a:t>
            </a:r>
            <a:endParaRPr lang="en-US" sz="1900" dirty="0"/>
          </a:p>
        </p:txBody>
      </p:sp>
      <p:sp>
        <p:nvSpPr>
          <p:cNvPr id="10" name="Text 8"/>
          <p:cNvSpPr txBox="1"/>
          <p:nvPr/>
        </p:nvSpPr>
        <p:spPr>
          <a:xfrm>
            <a:off x="548640" y="3600069"/>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581781"/>
            <a:ext cx="1043604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In PRG32-QT, single-step a call and its return: watch pc, ra and sp, and the word saved on the stack</a:t>
            </a:r>
            <a:endParaRPr lang="en-US" sz="1900" dirty="0"/>
          </a:p>
        </p:txBody>
      </p:sp>
      <p:sp>
        <p:nvSpPr>
          <p:cNvPr id="12" name="Text 10"/>
          <p:cNvSpPr txBox="1"/>
          <p:nvPr/>
        </p:nvSpPr>
        <p:spPr>
          <a:xfrm>
            <a:off x="548640" y="432155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303268"/>
            <a:ext cx="1043604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Find in the datasheet of the processor of your phone or laptop: instruction set, number of cores, clock, privilege levels</a:t>
            </a:r>
            <a:endParaRPr lang="en-US" sz="19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On PRG32-QT: sp drops by 16 at the prologue and returns at the epilogue; ra holds the address after the call.</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The Processor: the code</dc:title>
  <dc:subject>Lecture 18</dc:subject>
  <dc:creator>Raffaele Montella</dc:creator>
  <cp:lastModifiedBy>Raffaele Montella</cp:lastModifiedBy>
  <cp:revision>1</cp:revision>
  <dcterms:created xsi:type="dcterms:W3CDTF">2026-10-13T10:41:32Z</dcterms:created>
  <dcterms:modified xsi:type="dcterms:W3CDTF">2026-10-13T10:41:32Z</dcterms:modified>
</cp:coreProperties>
</file>