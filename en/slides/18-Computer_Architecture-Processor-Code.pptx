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9b83767-cdbd-65f2-1078-130a949f1d3f}">
          <p14:sldIdLst>
            <p14:sldId id="256"/>
            <p14:sldId id="257"/>
          </p14:sldIdLst>
        </p14:section>
        <p14:section name="Warm-up on the machine" id="{d5565f04-2858-748b-f811-cd8eb753d1ec}">
          <p14:sldIdLst>
            <p14:sldId id="258"/>
          </p14:sldIdLst>
        </p14:section>
        <p14:section name="The stack" id="{a9523a55-c9c6-24e4-3ca9-3e0c4ff22e12}">
          <p14:sldIdLst>
            <p14:sldId id="259"/>
          </p14:sldIdLst>
        </p14:section>
        <p14:section name="Processor models" id="{ef74dadb-f48c-65b1-6749-b67e2ffa2a59}">
          <p14:sldIdLst>
            <p14:sldId id="260"/>
          </p14:sldIdLst>
        </p14:section>
        <p14:section name="The complete program" id="{765ffde5-284e-60c2-0887-8a1654da1868}">
          <p14:sldIdLst>
            <p14:sldId id="261"/>
            <p14:sldId id="262"/>
            <p14:sldId id="263"/>
            <p14:sldId id="264"/>
          </p14:sldIdLst>
        </p14:section>
        <p14:section name="Run it and test it" id="{876c263a-6130-8f2d-11d8-fc2e24bcfb4d}">
          <p14:sldIdLst>
            <p14:sldId id="265"/>
            <p14:sldId id="266"/>
            <p14:sldId id="267"/>
            <p14:sldId id="268"/>
            <p14:sldId id="269"/>
          </p14:sldIdLst>
        </p14:section>
        <p14:section name="Exercises" id="{c986b83a-e640-afe3-26b0-a1cb936b4365}">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code deck of Lecture 18. The lecture deck holds the concepts; this one holds everything you type and run: the listings with their explanation, the complete program, what it shows, and the way to test it on each of the three hosts.
Learning status: UNDERSTAND NOW, by the end of this lecture you explain it, trace it and apply it on your own; USE NOW, you follow and use the recipe today; how it works inside is explained later, or is not part of the course; UNDERSTAND LATER, recognise the name and what it is for; a later lecture explains it. A slide without a badge is context: a story, an example, a question, an exercise.
Learning status of this lecture. UNDERSTAND NOW: accumulator, stack, registers; the processor model; the registers of RISC-V; the calling convention; the stack; the RV32 processor. USE NOW: the complete program, the PRG32 tools (used, not studied, in this course). UNDERSTAND LATER: interrupts and traps (Lecture 19). A slide without a badge is context: a story, an example, a question, an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deck contains, in the order of the slides. The program of the lecture is a file that you can build and run as it is: start from there, and come back to the listings to understand each part. The program of this lecture is ~/arc12/code/l18.S; tools/tests/cartridges/run.py builds it, runs it on PRG32-QT with scripted input and checks the pixels of the frame.
For the lecturer: Get the code once: git clone https://github.com/riscv-prg32/computer-architecture-with-prg32 ~/arc12. The program of this lecture is ~/arc12/code/l18.S; tools/tests/cartridges/run.py builds it, runs it on PRG32-QT with scripted input and checks the pixels of the frame. Every listing on these slides is read by the build from a tested file, or checked by tools/tests: see its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compute z = x + y the program loads x into a register, loads y into another, adds the two registers into a third, and stores the result in z. Seven lines for one sum. Memory is touched only by lw and sw; the arithmetic happens only between registers. Other processors do the same job with three instructions, or with one. Why is RISC-V made like this? To answer we need a model of what a processor is, and then a comparison between different ways of building one.
UNDERSTAND NOW: accumulator, stack, registers.
For the lecturer: The load-modify-store cycle of Lecture 02, now seen as a design choice. Keep the three addresses in mind: the same computation returns in the comparison of the processor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RISC-V the stack pointer sp holds the address of the last occupied location, and the stack grows towards low addresses. A push is two instructions: subtract 4 from sp, then store on the new top. A pop is the reverse: load from the top, then add 4. The table compares three processors: RISC-V needs two instructions, the 68000 one instruction with a special addressing mode, x86 a dedicated instruction. In practice a RISC-V function allocates its whole frame once, as you have done since Lecture 02.
UNDERSTAND NOW: the stack; the calling convention.
For the lecturer: The values are those drawn in the original deck. RISC-V has no push and pop: a stack frame is allocated once per function, sixteen bytes at a time, and filled with ordinary stores (Lecture 02). The 68000 form MOVE (SP)+, D0 pops with a post-increment.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sum of the warm-up in four machines. The accumulator machine: load x, add y, store z. The stack machine: push x, push y, add, pop z. A register machine with memory operands: move x into a register, add y to it, move the register into z. RISC-V: two loads, an add between registers, a store. The memory accesses are three in every case. What changes is the number of instructions and how much each one does: in RISC-V each does one thing only.
UNDERSTAND NOW: accumulator, stack, registers.
For the lecturer: The same three accesses to memory everywhere: what changes is how many instructions there are and how complex each one is. In the register-memory model an instruction such as ADD y, D0 reads memory and computes; in the load-store model every instruction does one thing. Stack machines with the stack in memory are generally slower than general-register machines. lw t1, x is a shorthand the assembler accepts for the la and lw pair of the warm-up.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USE NOW: the complete program (used, not studied, in this course).
For the lecturer: code/l18.S,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USE NOW: the complete program (used, not studied, in this course).
For the lecturer: code/l18.S,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USE NOW: the complete program (used, not studied, in this course).
For the lecturer: code/l18.S,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exactly as it is in the repository. Read it from the top: the header says what the program shows and how to build it; the three functions init, update and draw follow, then the data. Lines that you met in the listings of the lecture have the same comments here.
USE NOW: the complete program (used, not studied, in this course).
For the lecturer: code/l18.S,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program shows when it runs, and what to press. Predict before you run: if the screen differs from this picture, the difference is information. The picture was written by the automatic test, not drawn by hand.
For the lecturer: The picture is the frame that the headless runner of PRG32-QT produced in the test of this program. On QEMU and on the board the game area is the same 320 by 200 pixels, between the two status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quickest way: PRG32-QT on your own computer. Four steps, each with its command. PRG32-QT behaves like a board on port 8080, which is why the upload command says esp32c6. With debug mode enabled you can stop at any instruction and read registers and memory.
USE NOW: the PRG32 tools (used, not studied, in this course).
For the lecturer: Run by the tests: the cartridge of this slide is built with this command and executed on the headless runner of PRG32-QT. Without the toolchain: import the .prg32 file in PRG32-QT and choose Run Cartridge. Keys: arrows or WASD for the joystick, Z or J for A, X or K for B, Enter for Start, Escape to go back to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emulator. QEMU runs the real firmware on an emulated chip, so the cartridge must be built for the architecture qemu. Stage the cartridge while QEMU is closed. The firmware opens on the Setup menu: choose Run Cartridge and the slot. Remember that the keyboard is read by the terminal, not by the window with the picture.
USE NOW: the PRG32 tools (used, not studied, in this course).
For the lecturer: Checked by the tests up to the staging: the cartridge is built for the architecture qemu and accepted into the flash image of the emulator. What the emulator then shows is not checked automatically: Espressif QEMU needs its window. Since October 2026 the firmware starts on Setup: choose Run Cartridge, then cart0.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kit. The firmware is written once, through USB; after that cartridges travel over Wi-Fi. The upload command is the one used for PRG32-QT with the address of the board. This is the only host that the automatic tests do not run: try it, and report what you see.
USE NOW: the PRG32 tools (used, not studied, in this course).
For the lecturer: Not run by the tests: there is no board on the test machine. The cartridge for the architecture esp32c6 is built by the tests; the steps are those of the PRG32 documentation. If the serial port is not found pass it explicitly. To use the Wi-Fi of the classroom: python3 -m prg32 wifi set --ssid NAME --password PASSWORD --mode 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most common symptoms, what each means, and what to do. Read the message before changing anything: it nearly always names the cause.
USE NOW: the PRG32 tools (used, not studied, in this course).
For the lecturer: The first three rows cover most cases. When asking for help, paste the command and the whole message as text. docs/usage/troubleshooting.md of the PRG32 repository has the complete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exercises. Write the expression z = (a + b) - (c + d) for an accumulator machine, a stack machine and RISC-V, counting instructions and memory accesses. Write push and pop of two registers keeping sp a multiple of 16. Classify the registers of your last program by function. Single-step a call and its return in PRG32-QT, watching pc, ra and sp. And look up the processor of your phone or laptop.
For the lecturer: Accumulator: LDA a; ADD b; STA tmp; LDA c; ADD d; STA tmp2; LDA tmp; SUB tmp2; STA z. Stack: PUSH a; PUSH b; ADD; PUSH c; PUSH d; ADD; SUB; POP z. RISC-V: four loads, two adds, one sub, one 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18: The processor (code)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18</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The Processor: the code</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Code deck: every listing explained, the complete program, and how to test it on PRG32-QT, on QEMU and on the board</a:t>
            </a:r>
            <a:endParaRPr lang="en-US" sz="1700" dirty="0"/>
          </a:p>
        </p:txBody>
      </p:sp>
      <p:sp>
        <p:nvSpPr>
          <p:cNvPr id="10" name="Text 8"/>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1" name="Text 9"/>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Code deck. The concepts, the figures and the questions are in the lecture deck:</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18-Computer_Architecture-Processor.pptx</a:t>
            </a:r>
            <a:endParaRPr lang="en-US" sz="1300" dirty="0"/>
          </a:p>
        </p:txBody>
      </p:sp>
      <p:sp>
        <p:nvSpPr>
          <p:cNvPr id="12" name="Shape 10"/>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3" name="Image 0" descr="/Users/raffaelemontella/devel/riscv-prg32/computer-architecture-with-prg32/tools/assets/prg32qt_debugger.png">    </p:cNvPr>
          <p:cNvPicPr>
            <a:picLocks noChangeAspect="1"/>
          </p:cNvPicPr>
          <p:nvPr/>
        </p:nvPicPr>
        <p:blipFill>
          <a:blip r:embed="rId1"/>
          <a:stretch>
            <a:fillRect/>
          </a:stretch>
        </p:blipFill>
        <p:spPr>
          <a:xfrm>
            <a:off x="8810277" y="4251960"/>
            <a:ext cx="2648036" cy="1828800"/>
          </a:xfrm>
          <a:prstGeom prst="rect">
            <a:avLst/>
          </a:prstGeom>
        </p:spPr>
      </p:pic>
      <p:sp>
        <p:nvSpPr>
          <p:cNvPr id="14" name="Shape 11"/>
          <p:cNvSpPr/>
          <p:nvPr/>
        </p:nvSpPr>
        <p:spPr>
          <a:xfrm>
            <a:off x="9690303" y="91440"/>
            <a:ext cx="1952752" cy="274320"/>
          </a:xfrm>
          <a:prstGeom prst="rect">
            <a:avLst/>
          </a:prstGeom>
          <a:solidFill>
            <a:srgbClr val="F3E8FF"/>
          </a:solidFill>
          <a:ln w="12700">
            <a:solidFill>
              <a:srgbClr val="7E22CE"/>
            </a:solidFill>
            <a:prstDash val="dash"/>
          </a:ln>
        </p:spPr>
      </p:sp>
      <p:sp>
        <p:nvSpPr>
          <p:cNvPr id="15" name="Shape 12"/>
          <p:cNvSpPr/>
          <p:nvPr/>
        </p:nvSpPr>
        <p:spPr>
          <a:xfrm>
            <a:off x="9717735" y="128016"/>
            <a:ext cx="45720" cy="45720"/>
          </a:xfrm>
          <a:prstGeom prst="rect">
            <a:avLst/>
          </a:prstGeom>
          <a:solidFill>
            <a:srgbClr val="7E22CE"/>
          </a:solidFill>
          <a:ln w="12700">
            <a:solidFill>
              <a:srgbClr val="7E22CE"/>
            </a:solidFill>
            <a:prstDash val="solid"/>
          </a:ln>
        </p:spPr>
      </p:sp>
      <p:sp>
        <p:nvSpPr>
          <p:cNvPr id="16" name="Shape 13"/>
          <p:cNvSpPr/>
          <p:nvPr/>
        </p:nvSpPr>
        <p:spPr>
          <a:xfrm>
            <a:off x="9717735" y="205740"/>
            <a:ext cx="45720" cy="45720"/>
          </a:xfrm>
          <a:prstGeom prst="rect">
            <a:avLst/>
          </a:prstGeom>
          <a:solidFill>
            <a:srgbClr val="7E22CE"/>
          </a:solidFill>
          <a:ln w="12700">
            <a:solidFill>
              <a:srgbClr val="7E22CE"/>
            </a:solidFill>
            <a:prstDash val="solid"/>
          </a:ln>
        </p:spPr>
      </p:sp>
      <p:sp>
        <p:nvSpPr>
          <p:cNvPr id="17" name="Shape 14"/>
          <p:cNvSpPr/>
          <p:nvPr/>
        </p:nvSpPr>
        <p:spPr>
          <a:xfrm>
            <a:off x="9717735" y="283464"/>
            <a:ext cx="45720" cy="45720"/>
          </a:xfrm>
          <a:prstGeom prst="rect">
            <a:avLst/>
          </a:prstGeom>
          <a:solidFill>
            <a:srgbClr val="7E22CE"/>
          </a:solidFill>
          <a:ln w="12700">
            <a:solidFill>
              <a:srgbClr val="7E22CE"/>
            </a:solidFill>
            <a:prstDash val="solid"/>
          </a:ln>
        </p:spPr>
      </p:sp>
      <p:pic>
        <p:nvPicPr>
          <p:cNvPr id="18" name="Image 1" descr="preencoded.png">    </p:cNvPr>
          <p:cNvPicPr>
            <a:picLocks noChangeAspect="1"/>
          </p:cNvPicPr>
          <p:nvPr/>
        </p:nvPicPr>
        <p:blipFill>
          <a:blip r:embed="rId2"/>
          <a:stretch>
            <a:fillRect/>
          </a:stretch>
        </p:blipFill>
        <p:spPr>
          <a:xfrm>
            <a:off x="9818319" y="128016"/>
            <a:ext cx="201168" cy="201168"/>
          </a:xfrm>
          <a:prstGeom prst="rect">
            <a:avLst/>
          </a:prstGeom>
        </p:spPr>
      </p:pic>
      <p:sp>
        <p:nvSpPr>
          <p:cNvPr id="19" name="Text 15"/>
          <p:cNvSpPr txBox="1"/>
          <p:nvPr/>
        </p:nvSpPr>
        <p:spPr>
          <a:xfrm>
            <a:off x="10074351" y="91440"/>
            <a:ext cx="1532128"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endParaRPr lang="en-US" sz="1100" dirty="0"/>
          </a:p>
        </p:txBody>
      </p:sp>
      <p:sp>
        <p:nvSpPr>
          <p:cNvPr id="20" name="Shape 16"/>
          <p:cNvSpPr/>
          <p:nvPr/>
        </p:nvSpPr>
        <p:spPr>
          <a:xfrm>
            <a:off x="8407349" y="91440"/>
            <a:ext cx="1173226" cy="274320"/>
          </a:xfrm>
          <a:prstGeom prst="rect">
            <a:avLst/>
          </a:prstGeom>
          <a:solidFill>
            <a:srgbClr val="FEF3C7"/>
          </a:solidFill>
          <a:ln w="12700">
            <a:solidFill>
              <a:srgbClr val="B45309"/>
            </a:solidFill>
            <a:prstDash val="solid"/>
          </a:ln>
        </p:spPr>
      </p:sp>
      <p:sp>
        <p:nvSpPr>
          <p:cNvPr id="21" name="Shape 17"/>
          <p:cNvSpPr/>
          <p:nvPr/>
        </p:nvSpPr>
        <p:spPr>
          <a:xfrm>
            <a:off x="8407349" y="91440"/>
            <a:ext cx="27432" cy="274320"/>
          </a:xfrm>
          <a:prstGeom prst="rect">
            <a:avLst/>
          </a:prstGeom>
          <a:solidFill>
            <a:srgbClr val="B45309"/>
          </a:solidFill>
          <a:ln w="12700">
            <a:solidFill>
              <a:srgbClr val="B45309"/>
            </a:solidFill>
            <a:prstDash val="solid"/>
          </a:ln>
        </p:spPr>
      </p:sp>
      <p:sp>
        <p:nvSpPr>
          <p:cNvPr id="22" name="Shape 18"/>
          <p:cNvSpPr/>
          <p:nvPr/>
        </p:nvSpPr>
        <p:spPr>
          <a:xfrm>
            <a:off x="8462213" y="91440"/>
            <a:ext cx="27432" cy="274320"/>
          </a:xfrm>
          <a:prstGeom prst="rect">
            <a:avLst/>
          </a:prstGeom>
          <a:solidFill>
            <a:srgbClr val="B45309"/>
          </a:solidFill>
          <a:ln w="12700">
            <a:solidFill>
              <a:srgbClr val="B45309"/>
            </a:solidFill>
            <a:prstDash val="solid"/>
          </a:ln>
        </p:spPr>
      </p:sp>
      <p:pic>
        <p:nvPicPr>
          <p:cNvPr id="23" name="Image 2" descr="preencoded.png">    </p:cNvPr>
          <p:cNvPicPr>
            <a:picLocks noChangeAspect="1"/>
          </p:cNvPicPr>
          <p:nvPr/>
        </p:nvPicPr>
        <p:blipFill>
          <a:blip r:embed="rId3"/>
          <a:stretch>
            <a:fillRect/>
          </a:stretch>
        </p:blipFill>
        <p:spPr>
          <a:xfrm>
            <a:off x="8535365" y="128016"/>
            <a:ext cx="201168" cy="201168"/>
          </a:xfrm>
          <a:prstGeom prst="rect">
            <a:avLst/>
          </a:prstGeom>
        </p:spPr>
      </p:pic>
      <p:sp>
        <p:nvSpPr>
          <p:cNvPr id="24" name="Text 19"/>
          <p:cNvSpPr txBox="1"/>
          <p:nvPr/>
        </p:nvSpPr>
        <p:spPr>
          <a:xfrm>
            <a:off x="8791397" y="91440"/>
            <a:ext cx="75260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endParaRPr lang="en-US" sz="1100" dirty="0"/>
          </a:p>
        </p:txBody>
      </p:sp>
      <p:sp>
        <p:nvSpPr>
          <p:cNvPr id="25" name="Shape 20"/>
          <p:cNvSpPr/>
          <p:nvPr/>
        </p:nvSpPr>
        <p:spPr>
          <a:xfrm>
            <a:off x="6518097" y="91440"/>
            <a:ext cx="1779524" cy="274320"/>
          </a:xfrm>
          <a:prstGeom prst="rect">
            <a:avLst/>
          </a:prstGeom>
          <a:solidFill>
            <a:srgbClr val="E0F2FE"/>
          </a:solidFill>
          <a:ln w="12700">
            <a:solidFill>
              <a:srgbClr val="0369A1"/>
            </a:solidFill>
            <a:prstDash val="solid"/>
          </a:ln>
        </p:spPr>
      </p:sp>
      <p:sp>
        <p:nvSpPr>
          <p:cNvPr id="26" name="Shape 21"/>
          <p:cNvSpPr/>
          <p:nvPr/>
        </p:nvSpPr>
        <p:spPr>
          <a:xfrm>
            <a:off x="6518097" y="91440"/>
            <a:ext cx="73152" cy="274320"/>
          </a:xfrm>
          <a:prstGeom prst="rect">
            <a:avLst/>
          </a:prstGeom>
          <a:solidFill>
            <a:srgbClr val="0369A1"/>
          </a:solidFill>
          <a:ln w="12700">
            <a:solidFill>
              <a:srgbClr val="0369A1"/>
            </a:solidFill>
            <a:prstDash val="solid"/>
          </a:ln>
        </p:spPr>
      </p:sp>
      <p:pic>
        <p:nvPicPr>
          <p:cNvPr id="27" name="Image 3" descr="preencoded.png">    </p:cNvPr>
          <p:cNvPicPr>
            <a:picLocks noChangeAspect="1"/>
          </p:cNvPicPr>
          <p:nvPr/>
        </p:nvPicPr>
        <p:blipFill>
          <a:blip r:embed="rId4"/>
          <a:stretch>
            <a:fillRect/>
          </a:stretch>
        </p:blipFill>
        <p:spPr>
          <a:xfrm>
            <a:off x="6646113" y="128016"/>
            <a:ext cx="201168" cy="201168"/>
          </a:xfrm>
          <a:prstGeom prst="rect">
            <a:avLst/>
          </a:prstGeom>
        </p:spPr>
      </p:pic>
      <p:sp>
        <p:nvSpPr>
          <p:cNvPr id="28" name="Text 22"/>
          <p:cNvSpPr txBox="1"/>
          <p:nvPr/>
        </p:nvSpPr>
        <p:spPr>
          <a:xfrm>
            <a:off x="6902145" y="91440"/>
            <a:ext cx="135890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this deck</a:t>
            </a:r>
            <a:endParaRPr lang="en-US" sz="3200" dirty="0"/>
          </a:p>
        </p:txBody>
      </p:sp>
      <p:sp>
        <p:nvSpPr>
          <p:cNvPr id="3" name="Text 1"/>
          <p:cNvSpPr txBox="1"/>
          <p:nvPr/>
        </p:nvSpPr>
        <p:spPr>
          <a:xfrm>
            <a:off x="548640" y="161848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60020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listing of Lecture 18: read the code, then the numbered remarks beside it</a:t>
            </a:r>
            <a:endParaRPr lang="en-US" sz="2200" dirty="0"/>
          </a:p>
        </p:txBody>
      </p:sp>
      <p:sp>
        <p:nvSpPr>
          <p:cNvPr id="5" name="Text 3"/>
          <p:cNvSpPr txBox="1"/>
          <p:nvPr/>
        </p:nvSpPr>
        <p:spPr>
          <a:xfrm>
            <a:off x="548640" y="275742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739136"/>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complete program: code/l18.S, 64 lines, printed in full</a:t>
            </a:r>
            <a:endParaRPr lang="en-US" sz="2200" dirty="0"/>
          </a:p>
        </p:txBody>
      </p:sp>
      <p:sp>
        <p:nvSpPr>
          <p:cNvPr id="7" name="Text 5"/>
          <p:cNvSpPr txBox="1"/>
          <p:nvPr/>
        </p:nvSpPr>
        <p:spPr>
          <a:xfrm>
            <a:off x="548640" y="365353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63524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What you should see when it runs, checked on the PRG32-QT headless runner</a:t>
            </a:r>
            <a:endParaRPr lang="en-US" sz="2200" dirty="0"/>
          </a:p>
        </p:txBody>
      </p:sp>
      <p:sp>
        <p:nvSpPr>
          <p:cNvPr id="9" name="Text 7"/>
          <p:cNvSpPr txBox="1"/>
          <p:nvPr/>
        </p:nvSpPr>
        <p:spPr>
          <a:xfrm>
            <a:off x="548640" y="454964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53136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How to test it, step by step: on PRG32-QT, on QEMU, on the board</a:t>
            </a:r>
            <a:endParaRPr lang="en-US" sz="2200" dirty="0"/>
          </a:p>
        </p:txBody>
      </p:sp>
      <p:sp>
        <p:nvSpPr>
          <p:cNvPr id="11" name="Text 9"/>
          <p:cNvSpPr txBox="1"/>
          <p:nvPr/>
        </p:nvSpPr>
        <p:spPr>
          <a:xfrm>
            <a:off x="548640" y="544576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42747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exercises: change the program, predict, run</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z = x + y</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550" dirty="0">
                <a:solidFill>
                  <a:srgbClr val="E6EDF2"/>
                </a:solidFill>
                <a:latin typeface="Courier New" pitchFamily="34" charset="0"/>
                <a:ea typeface="Courier New" pitchFamily="34" charset="-122"/>
                <a:cs typeface="Courier New" pitchFamily="34" charset="-120"/>
              </a:rPr>
              <a:t>    la   t0, x</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lw   t1, 0(t0)       </a:t>
            </a:r>
            <a:pPr indent="0" marL="0">
              <a:buNone/>
            </a:pPr>
            <a:r>
              <a:rPr lang="en-US" sz="1550" dirty="0">
                <a:solidFill>
                  <a:srgbClr val="8FB3A0"/>
                </a:solidFill>
                <a:latin typeface="Courier New" pitchFamily="34" charset="0"/>
                <a:ea typeface="Courier New" pitchFamily="34" charset="-122"/>
                <a:cs typeface="Courier New" pitchFamily="34" charset="-120"/>
              </a:rPr>
              <a:t># bring x into a register</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la   t0, y</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lw   t2, 0(t0)       </a:t>
            </a:r>
            <a:pPr indent="0" marL="0">
              <a:buNone/>
            </a:pPr>
            <a:r>
              <a:rPr lang="en-US" sz="1550" dirty="0">
                <a:solidFill>
                  <a:srgbClr val="8FB3A0"/>
                </a:solidFill>
                <a:latin typeface="Courier New" pitchFamily="34" charset="0"/>
                <a:ea typeface="Courier New" pitchFamily="34" charset="-122"/>
                <a:cs typeface="Courier New" pitchFamily="34" charset="-120"/>
              </a:rPr>
              <a:t># bring y into a register</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add  t3, t1, t2      </a:t>
            </a:r>
            <a:pPr indent="0" marL="0">
              <a:buNone/>
            </a:pPr>
            <a:r>
              <a:rPr lang="en-US" sz="1550" dirty="0">
                <a:solidFill>
                  <a:srgbClr val="8FB3A0"/>
                </a:solidFill>
                <a:latin typeface="Courier New" pitchFamily="34" charset="0"/>
                <a:ea typeface="Courier New" pitchFamily="34" charset="-122"/>
                <a:cs typeface="Courier New" pitchFamily="34" charset="-120"/>
              </a:rPr>
              <a:t># compute, between registers</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la   t0, z</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sw   t3, 0(t0)       </a:t>
            </a:r>
            <a:pPr indent="0" marL="0">
              <a:buNone/>
            </a:pPr>
            <a:r>
              <a:rPr lang="en-US" sz="1550" dirty="0">
                <a:solidFill>
                  <a:srgbClr val="8FB3A0"/>
                </a:solidFill>
                <a:latin typeface="Courier New" pitchFamily="34" charset="0"/>
                <a:ea typeface="Courier New" pitchFamily="34" charset="-122"/>
                <a:cs typeface="Courier New" pitchFamily="34" charset="-120"/>
              </a:rPr>
              <a:t># take the result back to memory</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.section .data</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x: .word 5</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y: .word 7</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z: .word 0</a:t>
            </a:r>
            <a:endParaRPr lang="en-US" sz="155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Seven lines for one sum: memory is touched only by lw and sw</a:t>
            </a:r>
            <a:endParaRPr lang="en-US" sz="16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The arithmetic happens only between registers</a:t>
            </a:r>
            <a:endParaRPr lang="en-US" sz="16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Other processors do the same job with three instructions, or with one</a:t>
            </a:r>
            <a:endParaRPr lang="en-US" sz="16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Why is RISC-V made this way? To answer we need a model of the processor</a:t>
            </a:r>
            <a:endParaRPr lang="en-US" sz="1600" dirty="0"/>
          </a:p>
        </p:txBody>
      </p:sp>
      <p:sp>
        <p:nvSpPr>
          <p:cNvPr id="17" name="Shape 15"/>
          <p:cNvSpPr/>
          <p:nvPr/>
        </p:nvSpPr>
        <p:spPr>
          <a:xfrm>
            <a:off x="7762443" y="91440"/>
            <a:ext cx="3880612" cy="274320"/>
          </a:xfrm>
          <a:prstGeom prst="rect">
            <a:avLst/>
          </a:prstGeom>
          <a:solidFill>
            <a:srgbClr val="E0F2FE"/>
          </a:solidFill>
          <a:ln w="12700">
            <a:solidFill>
              <a:srgbClr val="0369A1"/>
            </a:solidFill>
            <a:prstDash val="solid"/>
          </a:ln>
        </p:spPr>
      </p:sp>
      <p:sp>
        <p:nvSpPr>
          <p:cNvPr id="18" name="Shape 16"/>
          <p:cNvSpPr/>
          <p:nvPr/>
        </p:nvSpPr>
        <p:spPr>
          <a:xfrm>
            <a:off x="7762443"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7890459" y="128016"/>
            <a:ext cx="201168" cy="201168"/>
          </a:xfrm>
          <a:prstGeom prst="rect">
            <a:avLst/>
          </a:prstGeom>
        </p:spPr>
      </p:pic>
      <p:sp>
        <p:nvSpPr>
          <p:cNvPr id="20" name="Text 17"/>
          <p:cNvSpPr txBox="1"/>
          <p:nvPr/>
        </p:nvSpPr>
        <p:spPr>
          <a:xfrm>
            <a:off x="8146491" y="91440"/>
            <a:ext cx="3459988"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accumulator, stack, registers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Push and pop in RISC-V</a:t>
            </a:r>
            <a:endParaRPr lang="en-US" sz="3200" dirty="0"/>
          </a:p>
        </p:txBody>
      </p:sp>
      <p:sp>
        <p:nvSpPr>
          <p:cNvPr id="3" name="Text 1"/>
          <p:cNvSpPr txBox="1"/>
          <p:nvPr/>
        </p:nvSpPr>
        <p:spPr>
          <a:xfrm>
            <a:off x="1920240" y="1399032"/>
            <a:ext cx="2194560" cy="274320"/>
          </a:xfrm>
          <a:prstGeom prst="rect">
            <a:avLst/>
          </a:prstGeom>
          <a:noFill/>
          <a:ln/>
        </p:spPr>
        <p:txBody>
          <a:bodyPr wrap="square" lIns="0" tIns="0" rIns="0" bIns="0" rtlCol="0" anchor="t"/>
          <a:lstStyle/>
          <a:p>
            <a:pPr algn="ctr" indent="0" marL="0">
              <a:buNone/>
            </a:pPr>
            <a:r>
              <a:rPr lang="en-US" sz="1300" b="1" dirty="0">
                <a:solidFill>
                  <a:srgbClr val="2E4A62"/>
                </a:solidFill>
                <a:latin typeface="Calibri" pitchFamily="34" charset="0"/>
                <a:ea typeface="Calibri" pitchFamily="34" charset="-122"/>
                <a:cs typeface="Calibri" pitchFamily="34" charset="-120"/>
              </a:rPr>
              <a:t>memory</a:t>
            </a:r>
            <a:endParaRPr lang="en-US" sz="1300" dirty="0"/>
          </a:p>
        </p:txBody>
      </p:sp>
      <p:sp>
        <p:nvSpPr>
          <p:cNvPr id="4" name="Text 2"/>
          <p:cNvSpPr txBox="1"/>
          <p:nvPr/>
        </p:nvSpPr>
        <p:spPr>
          <a:xfrm>
            <a:off x="4251960" y="1828800"/>
            <a:ext cx="1463040" cy="530352"/>
          </a:xfrm>
          <a:prstGeom prst="rect">
            <a:avLst/>
          </a:prstGeom>
          <a:noFill/>
          <a:ln/>
        </p:spPr>
        <p:txBody>
          <a:bodyPr wrap="square" lIns="0" tIns="0" rIns="0" bIns="0" rtlCol="0" anchor="ctr"/>
          <a:lstStyle/>
          <a:p>
            <a:pPr indent="0" marL="0">
              <a:buNone/>
            </a:pPr>
            <a:r>
              <a:rPr lang="en-US" sz="1150" i="1" dirty="0">
                <a:solidFill>
                  <a:srgbClr val="5B6B78"/>
                </a:solidFill>
                <a:latin typeface="Calibri" pitchFamily="34" charset="0"/>
                <a:ea typeface="Calibri" pitchFamily="34" charset="-122"/>
                <a:cs typeface="Calibri" pitchFamily="34" charset="-120"/>
              </a:rPr>
              <a:t>low addresses</a:t>
            </a:r>
            <a:endParaRPr lang="en-US" sz="1150" dirty="0"/>
          </a:p>
        </p:txBody>
      </p:sp>
      <p:sp>
        <p:nvSpPr>
          <p:cNvPr id="5" name="Text 3"/>
          <p:cNvSpPr txBox="1"/>
          <p:nvPr/>
        </p:nvSpPr>
        <p:spPr>
          <a:xfrm>
            <a:off x="1920240" y="1828800"/>
            <a:ext cx="2194560" cy="530352"/>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500" b="1" dirty="0">
                <a:solidFill>
                  <a:srgbClr val="5B6B78"/>
                </a:solidFill>
                <a:latin typeface="Courier New" pitchFamily="34" charset="0"/>
                <a:ea typeface="Courier New" pitchFamily="34" charset="-122"/>
                <a:cs typeface="Courier New" pitchFamily="34" charset="-120"/>
              </a:rPr>
              <a:t>(free)</a:t>
            </a:r>
            <a:endParaRPr lang="en-US" sz="1500" dirty="0"/>
          </a:p>
        </p:txBody>
      </p:sp>
      <p:sp>
        <p:nvSpPr>
          <p:cNvPr id="6" name="Text 4"/>
          <p:cNvSpPr txBox="1"/>
          <p:nvPr/>
        </p:nvSpPr>
        <p:spPr>
          <a:xfrm>
            <a:off x="1920240" y="2359152"/>
            <a:ext cx="2194560" cy="530352"/>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500" b="1" dirty="0">
                <a:solidFill>
                  <a:srgbClr val="5B6B78"/>
                </a:solidFill>
                <a:latin typeface="Courier New" pitchFamily="34" charset="0"/>
                <a:ea typeface="Courier New" pitchFamily="34" charset="-122"/>
                <a:cs typeface="Courier New" pitchFamily="34" charset="-120"/>
              </a:rPr>
              <a:t>(free)</a:t>
            </a:r>
            <a:endParaRPr lang="en-US" sz="1500" dirty="0"/>
          </a:p>
        </p:txBody>
      </p:sp>
      <p:sp>
        <p:nvSpPr>
          <p:cNvPr id="7" name="Text 5"/>
          <p:cNvSpPr txBox="1"/>
          <p:nvPr/>
        </p:nvSpPr>
        <p:spPr>
          <a:xfrm>
            <a:off x="1920240" y="2889504"/>
            <a:ext cx="2194560" cy="530352"/>
          </a:xfrm>
          <a:prstGeom prst="rect">
            <a:avLst/>
          </a:prstGeom>
          <a:solidFill>
            <a:srgbClr val="C7791B"/>
          </a:solidFill>
          <a:ln w="12700">
            <a:solidFill>
              <a:srgbClr val="2E4A62"/>
            </a:solid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-28</a:t>
            </a:r>
            <a:endParaRPr lang="en-US" sz="1500" dirty="0"/>
          </a:p>
        </p:txBody>
      </p:sp>
      <p:sp>
        <p:nvSpPr>
          <p:cNvPr id="8" name="Text 6"/>
          <p:cNvSpPr txBox="1"/>
          <p:nvPr/>
        </p:nvSpPr>
        <p:spPr>
          <a:xfrm>
            <a:off x="1920240" y="3419856"/>
            <a:ext cx="2194560" cy="530352"/>
          </a:xfrm>
          <a:prstGeom prst="rect">
            <a:avLst/>
          </a:prstGeom>
          <a:solidFill>
            <a:srgbClr val="D8ECEE"/>
          </a:solidFill>
          <a:ln w="12700">
            <a:solidFill>
              <a:srgbClr val="2E4A62"/>
            </a:solidFill>
          </a:ln>
        </p:spPr>
        <p:txBody>
          <a:bodyPr wrap="square" lIns="0" tIns="0" rIns="0" bIns="0" rtlCol="0" anchor="ctr"/>
          <a:lstStyle/>
          <a:p>
            <a:pPr algn="ctr" indent="0" marL="0">
              <a:buNone/>
            </a:pPr>
            <a:r>
              <a:rPr lang="en-US" sz="1500" b="1" dirty="0">
                <a:solidFill>
                  <a:srgbClr val="1B2530"/>
                </a:solidFill>
                <a:latin typeface="Courier New" pitchFamily="34" charset="0"/>
                <a:ea typeface="Courier New" pitchFamily="34" charset="-122"/>
                <a:cs typeface="Courier New" pitchFamily="34" charset="-120"/>
              </a:rPr>
              <a:t>-17</a:t>
            </a:r>
            <a:endParaRPr lang="en-US" sz="1500" dirty="0"/>
          </a:p>
        </p:txBody>
      </p:sp>
      <p:sp>
        <p:nvSpPr>
          <p:cNvPr id="9" name="Text 7"/>
          <p:cNvSpPr txBox="1"/>
          <p:nvPr/>
        </p:nvSpPr>
        <p:spPr>
          <a:xfrm>
            <a:off x="1920240" y="3950208"/>
            <a:ext cx="2194560" cy="530352"/>
          </a:xfrm>
          <a:prstGeom prst="rect">
            <a:avLst/>
          </a:prstGeom>
          <a:solidFill>
            <a:srgbClr val="D8ECEE"/>
          </a:solidFill>
          <a:ln w="12700">
            <a:solidFill>
              <a:srgbClr val="2E4A62"/>
            </a:solidFill>
          </a:ln>
        </p:spPr>
        <p:txBody>
          <a:bodyPr wrap="square" lIns="0" tIns="0" rIns="0" bIns="0" rtlCol="0" anchor="ctr"/>
          <a:lstStyle/>
          <a:p>
            <a:pPr algn="ctr" indent="0" marL="0">
              <a:buNone/>
            </a:pPr>
            <a:r>
              <a:rPr lang="en-US" sz="1500" b="1" dirty="0">
                <a:solidFill>
                  <a:srgbClr val="1B2530"/>
                </a:solidFill>
                <a:latin typeface="Courier New" pitchFamily="34" charset="0"/>
                <a:ea typeface="Courier New" pitchFamily="34" charset="-122"/>
                <a:cs typeface="Courier New" pitchFamily="34" charset="-120"/>
              </a:rPr>
              <a:t>739</a:t>
            </a:r>
            <a:endParaRPr lang="en-US" sz="1500" dirty="0"/>
          </a:p>
        </p:txBody>
      </p:sp>
      <p:sp>
        <p:nvSpPr>
          <p:cNvPr id="10" name="Text 8"/>
          <p:cNvSpPr txBox="1"/>
          <p:nvPr/>
        </p:nvSpPr>
        <p:spPr>
          <a:xfrm>
            <a:off x="1920240" y="4480560"/>
            <a:ext cx="2194560" cy="530352"/>
          </a:xfrm>
          <a:prstGeom prst="rect">
            <a:avLst/>
          </a:prstGeom>
          <a:solidFill>
            <a:srgbClr val="D8ECEE"/>
          </a:solidFill>
          <a:ln w="12700">
            <a:solidFill>
              <a:srgbClr val="2E4A62"/>
            </a:solidFill>
          </a:ln>
        </p:spPr>
        <p:txBody>
          <a:bodyPr wrap="square" lIns="0" tIns="0" rIns="0" bIns="0" rtlCol="0" anchor="ctr"/>
          <a:lstStyle/>
          <a:p>
            <a:pPr algn="ctr" indent="0" marL="0">
              <a:buNone/>
            </a:pPr>
            <a:r>
              <a:rPr lang="en-US" sz="1500" b="1" dirty="0">
                <a:solidFill>
                  <a:srgbClr val="1B2530"/>
                </a:solidFill>
                <a:latin typeface="Courier New" pitchFamily="34" charset="0"/>
                <a:ea typeface="Courier New" pitchFamily="34" charset="-122"/>
                <a:cs typeface="Courier New" pitchFamily="34" charset="-120"/>
              </a:rPr>
              <a:t>43</a:t>
            </a:r>
            <a:endParaRPr lang="en-US" sz="1500" dirty="0"/>
          </a:p>
        </p:txBody>
      </p:sp>
      <p:sp>
        <p:nvSpPr>
          <p:cNvPr id="11" name="Text 9"/>
          <p:cNvSpPr txBox="1"/>
          <p:nvPr/>
        </p:nvSpPr>
        <p:spPr>
          <a:xfrm>
            <a:off x="4251960" y="4480560"/>
            <a:ext cx="1828800" cy="530352"/>
          </a:xfrm>
          <a:prstGeom prst="rect">
            <a:avLst/>
          </a:prstGeom>
          <a:noFill/>
          <a:ln/>
        </p:spPr>
        <p:txBody>
          <a:bodyPr wrap="square" lIns="0" tIns="0" rIns="0" bIns="0" rtlCol="0" anchor="ctr"/>
          <a:lstStyle/>
          <a:p>
            <a:pPr indent="0" marL="0">
              <a:buNone/>
            </a:pPr>
            <a:r>
              <a:rPr lang="en-US" sz="1150" i="1" dirty="0">
                <a:solidFill>
                  <a:srgbClr val="5B6B78"/>
                </a:solidFill>
                <a:latin typeface="Calibri" pitchFamily="34" charset="0"/>
                <a:ea typeface="Calibri" pitchFamily="34" charset="-122"/>
                <a:cs typeface="Calibri" pitchFamily="34" charset="-120"/>
              </a:rPr>
              <a:t>bottom of the stack</a:t>
            </a:r>
            <a:endParaRPr lang="en-US" sz="1150" dirty="0"/>
          </a:p>
        </p:txBody>
      </p:sp>
      <p:sp>
        <p:nvSpPr>
          <p:cNvPr id="12" name="Shape 10"/>
          <p:cNvSpPr/>
          <p:nvPr/>
        </p:nvSpPr>
        <p:spPr>
          <a:xfrm>
            <a:off x="1097280" y="3154680"/>
            <a:ext cx="777240" cy="0"/>
          </a:xfrm>
          <a:prstGeom prst="line">
            <a:avLst/>
          </a:prstGeom>
          <a:noFill/>
          <a:ln w="28575">
            <a:solidFill>
              <a:srgbClr val="B23A48"/>
            </a:solidFill>
            <a:prstDash val="solid"/>
            <a:tailEnd type="triangle"/>
          </a:ln>
        </p:spPr>
      </p:sp>
      <p:sp>
        <p:nvSpPr>
          <p:cNvPr id="13" name="Text 11"/>
          <p:cNvSpPr txBox="1"/>
          <p:nvPr/>
        </p:nvSpPr>
        <p:spPr>
          <a:xfrm>
            <a:off x="548640" y="2889504"/>
            <a:ext cx="502920" cy="530352"/>
          </a:xfrm>
          <a:prstGeom prst="rect">
            <a:avLst/>
          </a:prstGeom>
          <a:noFill/>
          <a:ln/>
        </p:spPr>
        <p:txBody>
          <a:bodyPr wrap="square" lIns="0" tIns="0" rIns="0" bIns="0" rtlCol="0" anchor="ctr"/>
          <a:lstStyle/>
          <a:p>
            <a:pPr algn="r" indent="0" marL="0">
              <a:buNone/>
            </a:pPr>
            <a:r>
              <a:rPr lang="en-US" sz="1800" b="1" dirty="0">
                <a:solidFill>
                  <a:srgbClr val="B23A48"/>
                </a:solidFill>
                <a:latin typeface="Courier New" pitchFamily="34" charset="0"/>
                <a:ea typeface="Courier New" pitchFamily="34" charset="-122"/>
                <a:cs typeface="Courier New" pitchFamily="34" charset="-120"/>
              </a:rPr>
              <a:t>sp</a:t>
            </a:r>
            <a:endParaRPr lang="en-US" sz="1800" dirty="0"/>
          </a:p>
        </p:txBody>
      </p:sp>
      <p:sp>
        <p:nvSpPr>
          <p:cNvPr id="14" name="Text 12"/>
          <p:cNvSpPr txBox="1"/>
          <p:nvPr/>
        </p:nvSpPr>
        <p:spPr>
          <a:xfrm>
            <a:off x="548640" y="5148072"/>
            <a:ext cx="5120640" cy="640080"/>
          </a:xfrm>
          <a:prstGeom prst="rect">
            <a:avLst/>
          </a:prstGeom>
          <a:noFill/>
          <a:ln/>
        </p:spPr>
        <p:txBody>
          <a:bodyPr wrap="square" lIns="0" tIns="0" rIns="0" bIns="0" rtlCol="0" anchor="t"/>
          <a:lstStyle/>
          <a:p>
            <a:pPr indent="0" marL="0">
              <a:buNone/>
            </a:pPr>
            <a:r>
              <a:rPr lang="en-US" sz="1400" dirty="0">
                <a:solidFill>
                  <a:srgbClr val="1B2530"/>
                </a:solidFill>
                <a:latin typeface="Calibri" pitchFamily="34" charset="0"/>
                <a:ea typeface="Calibri" pitchFamily="34" charset="-122"/>
                <a:cs typeface="Calibri" pitchFamily="34" charset="-120"/>
              </a:rPr>
              <a:t>sp points to the last occupied location; the stack grows towards low addresses.</a:t>
            </a:r>
            <a:endParaRPr lang="en-US" sz="1400" dirty="0"/>
          </a:p>
        </p:txBody>
      </p:sp>
      <p:sp>
        <p:nvSpPr>
          <p:cNvPr id="15" name="Shape 13"/>
          <p:cNvSpPr/>
          <p:nvPr/>
        </p:nvSpPr>
        <p:spPr>
          <a:xfrm>
            <a:off x="6035040" y="1417320"/>
            <a:ext cx="5608015" cy="2743200"/>
          </a:xfrm>
          <a:prstGeom prst="roundRect">
            <a:avLst>
              <a:gd name="adj" fmla="val 2667"/>
            </a:avLst>
          </a:prstGeom>
          <a:solidFill>
            <a:srgbClr val="12202B"/>
          </a:solidFill>
          <a:ln w="12700">
            <a:solidFill>
              <a:srgbClr val="12202B"/>
            </a:solidFill>
            <a:prstDash val="solid"/>
          </a:ln>
        </p:spPr>
      </p:sp>
      <p:sp>
        <p:nvSpPr>
          <p:cNvPr id="16" name="Text 14"/>
          <p:cNvSpPr txBox="1"/>
          <p:nvPr/>
        </p:nvSpPr>
        <p:spPr>
          <a:xfrm>
            <a:off x="6263640" y="1600200"/>
            <a:ext cx="5150815" cy="2377440"/>
          </a:xfrm>
          <a:prstGeom prst="rect">
            <a:avLst/>
          </a:prstGeom>
          <a:noFill/>
          <a:ln/>
        </p:spPr>
        <p:txBody>
          <a:bodyPr wrap="square" lIns="0" tIns="0" rIns="0" bIns="0" rtlCol="0" anchor="t"/>
          <a:lstStyle/>
          <a:p>
            <a:pPr indent="0" marL="0">
              <a:buNone/>
            </a:pPr>
            <a:r>
              <a:rPr lang="en-US" sz="1600" dirty="0">
                <a:solidFill>
                  <a:srgbClr val="8FB3A0"/>
                </a:solidFill>
                <a:latin typeface="Courier New" pitchFamily="34" charset="0"/>
                <a:ea typeface="Courier New" pitchFamily="34" charset="-122"/>
                <a:cs typeface="Courier New" pitchFamily="34" charset="-120"/>
              </a:rPr>
              <a:t># push t0</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addi sp, sp, -4      </a:t>
            </a:r>
            <a:pPr indent="0" marL="0">
              <a:buNone/>
            </a:pPr>
            <a:r>
              <a:rPr lang="en-US" sz="1600" dirty="0">
                <a:solidFill>
                  <a:srgbClr val="8FB3A0"/>
                </a:solidFill>
                <a:latin typeface="Courier New" pitchFamily="34" charset="0"/>
                <a:ea typeface="Courier New" pitchFamily="34" charset="-122"/>
                <a:cs typeface="Courier New" pitchFamily="34" charset="-120"/>
              </a:rPr>
              <a:t># make room</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sw   t0, 0(sp)       </a:t>
            </a:r>
            <a:pPr indent="0" marL="0">
              <a:buNone/>
            </a:pPr>
            <a:r>
              <a:rPr lang="en-US" sz="1600" dirty="0">
                <a:solidFill>
                  <a:srgbClr val="8FB3A0"/>
                </a:solidFill>
                <a:latin typeface="Courier New" pitchFamily="34" charset="0"/>
                <a:ea typeface="Courier New" pitchFamily="34" charset="-122"/>
                <a:cs typeface="Courier New" pitchFamily="34" charset="-120"/>
              </a:rPr>
              <a:t># store on top</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8FB3A0"/>
                </a:solidFill>
                <a:latin typeface="Courier New" pitchFamily="34" charset="0"/>
                <a:ea typeface="Courier New" pitchFamily="34" charset="-122"/>
                <a:cs typeface="Courier New" pitchFamily="34" charset="-120"/>
              </a:rPr>
              <a:t># pop t0</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lw   t0, 0(sp)       </a:t>
            </a:r>
            <a:pPr indent="0" marL="0">
              <a:buNone/>
            </a:pPr>
            <a:r>
              <a:rPr lang="en-US" sz="1600" dirty="0">
                <a:solidFill>
                  <a:srgbClr val="8FB3A0"/>
                </a:solidFill>
                <a:latin typeface="Courier New" pitchFamily="34" charset="0"/>
                <a:ea typeface="Courier New" pitchFamily="34" charset="-122"/>
                <a:cs typeface="Courier New" pitchFamily="34" charset="-120"/>
              </a:rPr>
              <a:t># fetch the top</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addi sp, sp, 4       </a:t>
            </a:r>
            <a:pPr indent="0" marL="0">
              <a:buNone/>
            </a:pPr>
            <a:r>
              <a:rPr lang="en-US" sz="1600" dirty="0">
                <a:solidFill>
                  <a:srgbClr val="8FB3A0"/>
                </a:solidFill>
                <a:latin typeface="Courier New" pitchFamily="34" charset="0"/>
                <a:ea typeface="Courier New" pitchFamily="34" charset="-122"/>
                <a:cs typeface="Courier New" pitchFamily="34" charset="-120"/>
              </a:rPr>
              <a:t># release it</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035040" y="4389120"/>
          <a:ext cx="5605272" cy="914400"/>
        </p:xfrm>
        <a:graphic>
          <a:graphicData uri="http://schemas.openxmlformats.org/drawingml/2006/table">
            <a:tbl>
              <a:tblPr/>
              <a:tblGrid>
                <a:gridCol w="2011680"/>
                <a:gridCol w="3593592"/>
              </a:tblGrid>
              <a:tr h="0">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Processor</a:t>
                      </a:r>
                      <a:endParaRPr lang="en-US" sz="13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Push</a:t>
                      </a:r>
                      <a:endParaRPr lang="en-US" sz="13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350" b="1" dirty="0">
                          <a:solidFill>
                            <a:srgbClr val="1B2530"/>
                          </a:solidFill>
                          <a:latin typeface="Calibri" pitchFamily="34" charset="0"/>
                          <a:ea typeface="Calibri" pitchFamily="34" charset="-122"/>
                          <a:cs typeface="Calibri" pitchFamily="34" charset="-120"/>
                        </a:rPr>
                        <a:t>RISC-V</a:t>
                      </a:r>
                      <a:endParaRPr lang="en-US" sz="13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350" dirty="0">
                          <a:solidFill>
                            <a:srgbClr val="1B2530"/>
                          </a:solidFill>
                          <a:latin typeface="Calibri" pitchFamily="34" charset="0"/>
                          <a:ea typeface="Calibri" pitchFamily="34" charset="-122"/>
                          <a:cs typeface="Calibri" pitchFamily="34" charset="-120"/>
                        </a:rPr>
                        <a:t>addi sp, sp, -4 and sw: two instructions</a:t>
                      </a:r>
                      <a:endParaRPr lang="en-US" sz="13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350" b="1" dirty="0">
                          <a:solidFill>
                            <a:srgbClr val="1B2530"/>
                          </a:solidFill>
                          <a:latin typeface="Calibri" pitchFamily="34" charset="0"/>
                          <a:ea typeface="Calibri" pitchFamily="34" charset="-122"/>
                          <a:cs typeface="Calibri" pitchFamily="34" charset="-120"/>
                        </a:rPr>
                        <a:t>MC68000</a:t>
                      </a:r>
                      <a:endParaRPr lang="en-US" sz="13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B2530"/>
                          </a:solidFill>
                          <a:latin typeface="Calibri" pitchFamily="34" charset="0"/>
                          <a:ea typeface="Calibri" pitchFamily="34" charset="-122"/>
                          <a:cs typeface="Calibri" pitchFamily="34" charset="-120"/>
                        </a:rPr>
                        <a:t>MOVE D0, -(SP): a pre-decrement addressing mode</a:t>
                      </a:r>
                      <a:endParaRPr lang="en-US" sz="13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350" b="1" dirty="0">
                          <a:solidFill>
                            <a:srgbClr val="1B2530"/>
                          </a:solidFill>
                          <a:latin typeface="Calibri" pitchFamily="34" charset="0"/>
                          <a:ea typeface="Calibri" pitchFamily="34" charset="-122"/>
                          <a:cs typeface="Calibri" pitchFamily="34" charset="-120"/>
                        </a:rPr>
                        <a:t>Intel x86</a:t>
                      </a:r>
                      <a:endParaRPr lang="en-US" sz="13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350" dirty="0">
                          <a:solidFill>
                            <a:srgbClr val="1B2530"/>
                          </a:solidFill>
                          <a:latin typeface="Calibri" pitchFamily="34" charset="0"/>
                          <a:ea typeface="Calibri" pitchFamily="34" charset="-122"/>
                          <a:cs typeface="Calibri" pitchFamily="34" charset="-120"/>
                        </a:rPr>
                        <a:t>PUSH: a dedicated instruction</a:t>
                      </a:r>
                      <a:endParaRPr lang="en-US" sz="13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18" name="Shape 15"/>
          <p:cNvSpPr/>
          <p:nvPr/>
        </p:nvSpPr>
        <p:spPr>
          <a:xfrm>
            <a:off x="9075623" y="91440"/>
            <a:ext cx="2567432" cy="274320"/>
          </a:xfrm>
          <a:prstGeom prst="rect">
            <a:avLst/>
          </a:prstGeom>
          <a:solidFill>
            <a:srgbClr val="E0F2FE"/>
          </a:solidFill>
          <a:ln w="12700">
            <a:solidFill>
              <a:srgbClr val="0369A1"/>
            </a:solidFill>
            <a:prstDash val="solid"/>
          </a:ln>
        </p:spPr>
      </p:sp>
      <p:sp>
        <p:nvSpPr>
          <p:cNvPr id="19" name="Shape 16"/>
          <p:cNvSpPr/>
          <p:nvPr/>
        </p:nvSpPr>
        <p:spPr>
          <a:xfrm>
            <a:off x="9075623" y="91440"/>
            <a:ext cx="73152" cy="274320"/>
          </a:xfrm>
          <a:prstGeom prst="rect">
            <a:avLst/>
          </a:prstGeom>
          <a:solidFill>
            <a:srgbClr val="0369A1"/>
          </a:solidFill>
          <a:ln w="12700">
            <a:solidFill>
              <a:srgbClr val="0369A1"/>
            </a:solidFill>
            <a:prstDash val="solid"/>
          </a:ln>
        </p:spPr>
      </p:sp>
      <p:pic>
        <p:nvPicPr>
          <p:cNvPr id="20" name="Image 0" descr="preencoded.png">    </p:cNvPr>
          <p:cNvPicPr>
            <a:picLocks noChangeAspect="1"/>
          </p:cNvPicPr>
          <p:nvPr/>
        </p:nvPicPr>
        <p:blipFill>
          <a:blip r:embed="rId1"/>
          <a:stretch>
            <a:fillRect/>
          </a:stretch>
        </p:blipFill>
        <p:spPr>
          <a:xfrm>
            <a:off x="9203639" y="128016"/>
            <a:ext cx="201168" cy="201168"/>
          </a:xfrm>
          <a:prstGeom prst="rect">
            <a:avLst/>
          </a:prstGeom>
        </p:spPr>
      </p:pic>
      <p:sp>
        <p:nvSpPr>
          <p:cNvPr id="21" name="Text 17"/>
          <p:cNvSpPr txBox="1"/>
          <p:nvPr/>
        </p:nvSpPr>
        <p:spPr>
          <a:xfrm>
            <a:off x="9459671" y="91440"/>
            <a:ext cx="2146808"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stack</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z = x + y in four processors</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326248"/>
                <a:gridCol w="2326248"/>
                <a:gridCol w="5278794"/>
                <a:gridCol w="1163124"/>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Model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Example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Program</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Memory accesses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accumulator</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Motorola 6809, MOS 6502</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ourier New" pitchFamily="34" charset="0"/>
                          <a:ea typeface="Courier New" pitchFamily="34" charset="-122"/>
                          <a:cs typeface="Courier New" pitchFamily="34" charset="-120"/>
                        </a:rPr>
                        <a:t>LDA x ;  ADD y ;  STA z</a:t>
                      </a:r>
                      <a:endParaRPr lang="en-US" sz="15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stack</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Java virtual machine, WebAssembly</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ourier New" pitchFamily="34" charset="0"/>
                          <a:ea typeface="Courier New" pitchFamily="34" charset="-122"/>
                          <a:cs typeface="Courier New" pitchFamily="34" charset="-120"/>
                        </a:rPr>
                        <a:t>PUSH x ;  PUSH y ;  ADD ;  POP z</a:t>
                      </a:r>
                      <a:endParaRPr lang="en-US" sz="15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3, plus the stack itself</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general registers, memory operands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MC68000, Intel x86</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ourier New" pitchFamily="34" charset="0"/>
                          <a:ea typeface="Courier New" pitchFamily="34" charset="-122"/>
                          <a:cs typeface="Courier New" pitchFamily="34" charset="-120"/>
                        </a:rPr>
                        <a:t>MOVE x, D0 ;  ADD y, D0 ;  MOVE D0, z</a:t>
                      </a:r>
                      <a:endParaRPr lang="en-US" sz="15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general registers, load-store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RISC-V</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ourier New" pitchFamily="34" charset="0"/>
                          <a:ea typeface="Courier New" pitchFamily="34" charset="-122"/>
                          <a:cs typeface="Courier New" pitchFamily="34" charset="-120"/>
                        </a:rPr>
                        <a:t>lw t1, x ;  lw t2, y ;  add t3, t1, t2 ;  sw t3, z</a:t>
                      </a:r>
                      <a:endParaRPr lang="en-US" sz="15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Shape 1"/>
          <p:cNvSpPr/>
          <p:nvPr/>
        </p:nvSpPr>
        <p:spPr>
          <a:xfrm>
            <a:off x="7762443" y="91440"/>
            <a:ext cx="3880612" cy="274320"/>
          </a:xfrm>
          <a:prstGeom prst="rect">
            <a:avLst/>
          </a:prstGeom>
          <a:solidFill>
            <a:srgbClr val="E0F2FE"/>
          </a:solidFill>
          <a:ln w="12700">
            <a:solidFill>
              <a:srgbClr val="0369A1"/>
            </a:solidFill>
            <a:prstDash val="solid"/>
          </a:ln>
        </p:spPr>
      </p:sp>
      <p:sp>
        <p:nvSpPr>
          <p:cNvPr id="5" name="Shape 2"/>
          <p:cNvSpPr/>
          <p:nvPr/>
        </p:nvSpPr>
        <p:spPr>
          <a:xfrm>
            <a:off x="7762443" y="91440"/>
            <a:ext cx="73152" cy="274320"/>
          </a:xfrm>
          <a:prstGeom prst="rect">
            <a:avLst/>
          </a:prstGeom>
          <a:solidFill>
            <a:srgbClr val="0369A1"/>
          </a:solidFill>
          <a:ln w="12700">
            <a:solidFill>
              <a:srgbClr val="0369A1"/>
            </a:solidFill>
            <a:prstDash val="solid"/>
          </a:ln>
        </p:spPr>
      </p:sp>
      <p:pic>
        <p:nvPicPr>
          <p:cNvPr id="6" name="Image 0" descr="preencoded.png">    </p:cNvPr>
          <p:cNvPicPr>
            <a:picLocks noChangeAspect="1"/>
          </p:cNvPicPr>
          <p:nvPr/>
        </p:nvPicPr>
        <p:blipFill>
          <a:blip r:embed="rId1"/>
          <a:stretch>
            <a:fillRect/>
          </a:stretch>
        </p:blipFill>
        <p:spPr>
          <a:xfrm>
            <a:off x="7890459" y="128016"/>
            <a:ext cx="201168" cy="201168"/>
          </a:xfrm>
          <a:prstGeom prst="rect">
            <a:avLst/>
          </a:prstGeom>
        </p:spPr>
      </p:pic>
      <p:sp>
        <p:nvSpPr>
          <p:cNvPr id="7" name="Text 3"/>
          <p:cNvSpPr txBox="1"/>
          <p:nvPr/>
        </p:nvSpPr>
        <p:spPr>
          <a:xfrm>
            <a:off x="8146491" y="91440"/>
            <a:ext cx="3459988"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accumulator, stack, registers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l18.S (1 of 4)</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400" dirty="0">
                <a:solidFill>
                  <a:srgbClr val="8FB3A0"/>
                </a:solidFill>
                <a:latin typeface="Courier New" pitchFamily="34" charset="0"/>
                <a:ea typeface="Courier New" pitchFamily="34" charset="-122"/>
                <a:cs typeface="Courier New" pitchFamily="34" charset="-120"/>
              </a:rPr>
              <a:t># ARC12 Computer Architecture - Lecture 18: The Processor</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l18.S: z = x + y on a load-store machine</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On the screen: three bars, eight pixels per unit: x = 5 (white), y = 7 (white) and z</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 12 (green), computed by the seven instructions of the slide.</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Build: python3 -m prg32 cartridge build l18.S --portable \</a:t>
            </a:r>
            <a:endParaRPr lang="en-US" sz="1400" dirty="0"/>
          </a:p>
          <a:p>
            <a:pPr indent="0" marL="0">
              <a:buNone/>
            </a:pPr>
            <a:r>
              <a:rPr lang="en-US" sz="1400" dirty="0">
                <a:solidFill>
                  <a:srgbClr val="8FB3A0"/>
                </a:solidFill>
                <a:latin typeface="Courier New" pitchFamily="34" charset="0"/>
                <a:ea typeface="Courier New" pitchFamily="34" charset="-122"/>
                <a:cs typeface="Courier New" pitchFamily="34" charset="-120"/>
              </a:rPr>
              <a:t>#            --entry-prefix l18 --name l18 --out l18.prg32</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.option norelax</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.equ BLACK, 0x0000</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.equ WHITE, 0xffff</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.equ GREEN, 0x07e0</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.section .text</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.global l18_init</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.global l18_update</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.global l18_draw</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l18_init:</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ret</a:t>
            </a:r>
            <a:endParaRPr lang="en-US" sz="14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l18.S (2 of 4)</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650" dirty="0">
                <a:solidFill>
                  <a:srgbClr val="E6EDF2"/>
                </a:solidFill>
                <a:latin typeface="Courier New" pitchFamily="34" charset="0"/>
                <a:ea typeface="Courier New" pitchFamily="34" charset="-122"/>
                <a:cs typeface="Courier New" pitchFamily="34" charset="-120"/>
              </a:rPr>
              <a:t>l18_update:</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la   t0, x</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lw   t1, 0(t0)       </a:t>
            </a:r>
            <a:pPr indent="0" marL="0">
              <a:buNone/>
            </a:pPr>
            <a:r>
              <a:rPr lang="en-US" sz="1650" dirty="0">
                <a:solidFill>
                  <a:srgbClr val="8FB3A0"/>
                </a:solidFill>
                <a:latin typeface="Courier New" pitchFamily="34" charset="0"/>
                <a:ea typeface="Courier New" pitchFamily="34" charset="-122"/>
                <a:cs typeface="Courier New" pitchFamily="34" charset="-120"/>
              </a:rPr>
              <a:t># bring x into a register</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la   t0, y</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lw   t2, 0(t0)       </a:t>
            </a:r>
            <a:pPr indent="0" marL="0">
              <a:buNone/>
            </a:pPr>
            <a:r>
              <a:rPr lang="en-US" sz="1650" dirty="0">
                <a:solidFill>
                  <a:srgbClr val="8FB3A0"/>
                </a:solidFill>
                <a:latin typeface="Courier New" pitchFamily="34" charset="0"/>
                <a:ea typeface="Courier New" pitchFamily="34" charset="-122"/>
                <a:cs typeface="Courier New" pitchFamily="34" charset="-120"/>
              </a:rPr>
              <a:t># bring y into a register</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add  t3, t1, t2      </a:t>
            </a:r>
            <a:pPr indent="0" marL="0">
              <a:buNone/>
            </a:pPr>
            <a:r>
              <a:rPr lang="en-US" sz="1650" dirty="0">
                <a:solidFill>
                  <a:srgbClr val="8FB3A0"/>
                </a:solidFill>
                <a:latin typeface="Courier New" pitchFamily="34" charset="0"/>
                <a:ea typeface="Courier New" pitchFamily="34" charset="-122"/>
                <a:cs typeface="Courier New" pitchFamily="34" charset="-120"/>
              </a:rPr>
              <a:t># compute, between registers</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la   t0, z</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sw   t3, 0(t0)       </a:t>
            </a:r>
            <a:pPr indent="0" marL="0">
              <a:buNone/>
            </a:pPr>
            <a:r>
              <a:rPr lang="en-US" sz="1650" dirty="0">
                <a:solidFill>
                  <a:srgbClr val="8FB3A0"/>
                </a:solidFill>
                <a:latin typeface="Courier New" pitchFamily="34" charset="0"/>
                <a:ea typeface="Courier New" pitchFamily="34" charset="-122"/>
                <a:cs typeface="Courier New" pitchFamily="34" charset="-120"/>
              </a:rPr>
              <a:t># take the result back to memory</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ret</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a:t>
            </a:r>
            <a:endParaRPr lang="en-US" sz="1650" dirty="0"/>
          </a:p>
          <a:p>
            <a:pPr indent="0" marL="0">
              <a:buNone/>
            </a:pPr>
            <a:r>
              <a:rPr lang="en-US" sz="1650" dirty="0">
                <a:solidFill>
                  <a:srgbClr val="8FB3A0"/>
                </a:solidFill>
                <a:latin typeface="Courier New" pitchFamily="34" charset="0"/>
                <a:ea typeface="Courier New" pitchFamily="34" charset="-122"/>
                <a:cs typeface="Courier New" pitchFamily="34" charset="-120"/>
              </a:rPr>
              <a:t># bar: a0 = ADDRESS of a variable, a1 = y of the bar, a4 = colour</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bar:</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lw   a2, 0(a0)       </a:t>
            </a:r>
            <a:pPr indent="0" marL="0">
              <a:buNone/>
            </a:pPr>
            <a:r>
              <a:rPr lang="en-US" sz="1650" dirty="0">
                <a:solidFill>
                  <a:srgbClr val="8FB3A0"/>
                </a:solidFill>
                <a:latin typeface="Courier New" pitchFamily="34" charset="0"/>
                <a:ea typeface="Courier New" pitchFamily="34" charset="-122"/>
                <a:cs typeface="Courier New" pitchFamily="34" charset="-120"/>
              </a:rPr>
              <a:t># the VALUE of the variable</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slli a2, a2, 3       </a:t>
            </a:r>
            <a:pPr indent="0" marL="0">
              <a:buNone/>
            </a:pPr>
            <a:r>
              <a:rPr lang="en-US" sz="1650" dirty="0">
                <a:solidFill>
                  <a:srgbClr val="8FB3A0"/>
                </a:solidFill>
                <a:latin typeface="Courier New" pitchFamily="34" charset="0"/>
                <a:ea typeface="Courier New" pitchFamily="34" charset="-122"/>
                <a:cs typeface="Courier New" pitchFamily="34" charset="-120"/>
              </a:rPr>
              <a:t># width: eight pixels per unit</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li   a0, 20</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li   a3, 16</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tail prg32_gfx_rect</a:t>
            </a:r>
            <a:endParaRPr lang="en-US" sz="165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l18.S (3 of 4)</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400" dirty="0">
                <a:solidFill>
                  <a:srgbClr val="E6EDF2"/>
                </a:solidFill>
                <a:latin typeface="Courier New" pitchFamily="34" charset="0"/>
                <a:ea typeface="Courier New" pitchFamily="34" charset="-122"/>
                <a:cs typeface="Courier New" pitchFamily="34" charset="-120"/>
              </a:rPr>
              <a:t>l18_draw:</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addi sp, sp, -16</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sw   ra, 12(sp)</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li   a0, BLACK</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call prg32_gfx_clear</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la   a0, x</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li   a1, 40</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li   a4, WHITE</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call bar</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la   a0, y</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li   a1, 72</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li   a4, WHITE</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call bar</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la   a0, z</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li   a1, 120</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li   a4, GREEN</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call bar</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lw   ra, 12(sp)</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addi sp, sp, 16</a:t>
            </a:r>
            <a:endParaRPr lang="en-US" sz="1400" dirty="0"/>
          </a:p>
          <a:p>
            <a:pPr indent="0" marL="0">
              <a:buNone/>
            </a:pPr>
            <a:r>
              <a:rPr lang="en-US" sz="1400" dirty="0">
                <a:solidFill>
                  <a:srgbClr val="E6EDF2"/>
                </a:solidFill>
                <a:latin typeface="Courier New" pitchFamily="34" charset="0"/>
                <a:ea typeface="Courier New" pitchFamily="34" charset="-122"/>
                <a:cs typeface="Courier New" pitchFamily="34" charset="-120"/>
              </a:rPr>
              <a:t>    ret</a:t>
            </a:r>
            <a:endParaRPr lang="en-US" sz="14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l18.S (4 of 4)</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.section .data</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x: .word 5</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y: .word 7</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z: .word 0</a:t>
            </a:r>
            <a:endParaRPr lang="en-US" sz="18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what you should see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5468112" cy="1709928"/>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On the screen</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three bars, eight pixels per unit: x = 5 (white), y = 7 (white) and z = 12 (green), computed by the seven instructions of the slide.</a:t>
            </a:r>
            <a:endParaRPr lang="en-US" sz="2400" dirty="0"/>
          </a:p>
        </p:txBody>
      </p:sp>
      <p:sp>
        <p:nvSpPr>
          <p:cNvPr id="5" name="Shape 3"/>
          <p:cNvSpPr/>
          <p:nvPr/>
        </p:nvSpPr>
        <p:spPr>
          <a:xfrm>
            <a:off x="548640" y="3889248"/>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3767328"/>
            <a:ext cx="5468112" cy="73380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What to press</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nothing: the program runs by itself</a:t>
            </a:r>
            <a:endParaRPr lang="en-US" sz="2400" dirty="0"/>
          </a:p>
        </p:txBody>
      </p:sp>
      <p:pic>
        <p:nvPicPr>
          <p:cNvPr id="7" name="Image 0" descr="/Users/raffaelemontella/devel/riscv-prg32/computer-architecture-with-prg32/tools/assets/lab_l18.png">    </p:cNvPr>
          <p:cNvPicPr>
            <a:picLocks noChangeAspect="1"/>
          </p:cNvPicPr>
          <p:nvPr/>
        </p:nvPicPr>
        <p:blipFill>
          <a:blip r:embed="rId1"/>
          <a:stretch>
            <a:fillRect/>
          </a:stretch>
        </p:blipFill>
        <p:spPr>
          <a:xfrm>
            <a:off x="6766560" y="2042255"/>
            <a:ext cx="4876495" cy="3047810"/>
          </a:xfrm>
          <a:prstGeom prst="rect">
            <a:avLst/>
          </a:prstGeom>
        </p:spPr>
      </p:pic>
      <p:sp>
        <p:nvSpPr>
          <p:cNvPr id="8" name="Text 5"/>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The frame written by the automatic test on PRG32-QT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start PRG32-QT on this computer (it listens on port 8080)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in the PRG32 folder, with ESP-IDF active: build the cartridge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~/arc12/code/l18.S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l18 --name l18 --out l18.prg32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send it to PRG32-QT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l18.prg32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http://localhost:8080 --slot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look, press, compare with the previous slide</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must be running: it answers on port 8080, like a board</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Build once, from the PRG32 folder, with ESP-IDF active in the terminal</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stores the cartridge in slot cart0 and starts it</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Enable debug mode in Settings to stop the program and read registers and memory</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build the firmware for QEMU (several minutes)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build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build the cartridge for the emulated chip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~/arc12/code/l18.S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l18 --name l18 --architecture qemu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l18-qemu.prg32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with QEMU closed, stage the cartridge into its flash image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upload l18-qemu.prg32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start the emulator; on Setup choose Run Cartridge, then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run</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emulator runs the real firmware on an emulated chip: build it once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cartridge is built for the architecture qemu: the same source, another file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Stage the cartridge with QEMU closed, then start it and choose Run Cartridge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keys go to the terminal: arrows or WASD, Z or J for A, X or K for B</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the board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per board: write the firmware through the USB cable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build-and-flash</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join the Wi-Fi network of the board: PRG32, password prg32game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build the cartridge for the board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~/arc12/code/l18.S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l18 --name l18 --architecture esp32c6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l18-esp32c6.prg32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send it over Wi-Fi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l18-esp32c6.prg32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http://192.168.4.1 --slot cart0</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firmware is written once per board, through the USB cable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board creates the Wi-Fi network PRG32: join it with your computer</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same upload command as for PRG32-QT, with the address of the board</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 black screen: check the wiring of the display against the firmware</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If it does not work</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You see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It means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Do this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missing entry point</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prefix is not the one in the source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--entry-prefix l18; check the three .global lines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is not active in this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run export.sh, or open the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host is not listening at that address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start PRG32-QT; use the address on its Setup screen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a black screen, or the menu again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 function does not return, or ra was not saved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debug mode: step through init, update, draw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ignores the keys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keyboard goes to the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click the terminal that launched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9287967" y="91440"/>
            <a:ext cx="2355088" cy="274320"/>
          </a:xfrm>
          <a:prstGeom prst="rect">
            <a:avLst/>
          </a:prstGeom>
          <a:solidFill>
            <a:srgbClr val="FEF3C7"/>
          </a:solidFill>
          <a:ln w="12700">
            <a:solidFill>
              <a:srgbClr val="B45309"/>
            </a:solidFill>
            <a:prstDash val="solid"/>
          </a:ln>
        </p:spPr>
      </p:sp>
      <p:sp>
        <p:nvSpPr>
          <p:cNvPr id="5" name="Shape 2"/>
          <p:cNvSpPr/>
          <p:nvPr/>
        </p:nvSpPr>
        <p:spPr>
          <a:xfrm>
            <a:off x="9287967" y="91440"/>
            <a:ext cx="27432" cy="274320"/>
          </a:xfrm>
          <a:prstGeom prst="rect">
            <a:avLst/>
          </a:prstGeom>
          <a:solidFill>
            <a:srgbClr val="B45309"/>
          </a:solidFill>
          <a:ln w="12700">
            <a:solidFill>
              <a:srgbClr val="B45309"/>
            </a:solidFill>
            <a:prstDash val="solid"/>
          </a:ln>
        </p:spPr>
      </p:sp>
      <p:sp>
        <p:nvSpPr>
          <p:cNvPr id="6" name="Shape 3"/>
          <p:cNvSpPr/>
          <p:nvPr/>
        </p:nvSpPr>
        <p:spPr>
          <a:xfrm>
            <a:off x="9342831" y="91440"/>
            <a:ext cx="27432" cy="274320"/>
          </a:xfrm>
          <a:prstGeom prst="rect">
            <a:avLst/>
          </a:prstGeom>
          <a:solidFill>
            <a:srgbClr val="B45309"/>
          </a:solidFill>
          <a:ln w="12700">
            <a:solidFill>
              <a:srgbClr val="B45309"/>
            </a:solidFill>
            <a:prstDash val="solid"/>
          </a:ln>
        </p:spPr>
      </p:sp>
      <p:pic>
        <p:nvPicPr>
          <p:cNvPr id="7"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8" name="Text 4"/>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Exercises: paper first, then PRG32</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Write z = (a + b) - (c + d) for an accumulator machine, a stack machine and RISC-V; count instructions and memory accesses</a:t>
            </a:r>
            <a:endParaRPr lang="en-US" sz="1900" dirty="0"/>
          </a:p>
        </p:txBody>
      </p:sp>
      <p:sp>
        <p:nvSpPr>
          <p:cNvPr id="6" name="Text 4"/>
          <p:cNvSpPr txBox="1"/>
          <p:nvPr/>
        </p:nvSpPr>
        <p:spPr>
          <a:xfrm>
            <a:off x="548640" y="2157095"/>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138807"/>
            <a:ext cx="1043604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Write push and pop of two registers, t0 and t1, keeping sp a multiple of 16 as the calling convention requires</a:t>
            </a:r>
            <a:endParaRPr lang="en-US" sz="1900" dirty="0"/>
          </a:p>
        </p:txBody>
      </p:sp>
      <p:sp>
        <p:nvSpPr>
          <p:cNvPr id="8" name="Text 6"/>
          <p:cNvSpPr txBox="1"/>
          <p:nvPr/>
        </p:nvSpPr>
        <p:spPr>
          <a:xfrm>
            <a:off x="548640" y="287858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2860294"/>
            <a:ext cx="1043604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For each register used in your last PRG32 program, say which function it serves: transit, accumulation, addressing, stack</a:t>
            </a:r>
            <a:endParaRPr lang="en-US" sz="1900" dirty="0"/>
          </a:p>
        </p:txBody>
      </p:sp>
      <p:sp>
        <p:nvSpPr>
          <p:cNvPr id="10" name="Text 8"/>
          <p:cNvSpPr txBox="1"/>
          <p:nvPr/>
        </p:nvSpPr>
        <p:spPr>
          <a:xfrm>
            <a:off x="548640" y="3600069"/>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3581781"/>
            <a:ext cx="1043604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In PRG32-QT, single-step a call and its return: watch pc, ra and sp, and the word saved on the stack</a:t>
            </a:r>
            <a:endParaRPr lang="en-US" sz="1900" dirty="0"/>
          </a:p>
        </p:txBody>
      </p:sp>
      <p:sp>
        <p:nvSpPr>
          <p:cNvPr id="12" name="Text 10"/>
          <p:cNvSpPr txBox="1"/>
          <p:nvPr/>
        </p:nvSpPr>
        <p:spPr>
          <a:xfrm>
            <a:off x="548640" y="432155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3" name="Text 11"/>
          <p:cNvSpPr txBox="1"/>
          <p:nvPr/>
        </p:nvSpPr>
        <p:spPr>
          <a:xfrm>
            <a:off x="1207008" y="4303268"/>
            <a:ext cx="1043604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Find in the datasheet of the processor of your phone or laptop: instruction set, number of cores, clock, privilege levels</a:t>
            </a:r>
            <a:endParaRPr lang="en-US" sz="1900" dirty="0"/>
          </a:p>
        </p:txBody>
      </p:sp>
      <p:sp>
        <p:nvSpPr>
          <p:cNvPr id="14" name="Shape 12"/>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5" name="Text 13"/>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6" name="Text 14"/>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On PRG32-QT: sp drops by 16 at the prologue and returns at the epilogue; ra holds the address after the call.</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The Processor: the code</dc:title>
  <dc:subject>Lecture 18</dc:subject>
  <dc:creator>Raffaele Montella</dc:creator>
  <cp:lastModifiedBy>Raffaele Montella</cp:lastModifiedBy>
  <cp:revision>1</cp:revision>
  <dcterms:created xsi:type="dcterms:W3CDTF">2026-10-16T16:46:58Z</dcterms:created>
  <dcterms:modified xsi:type="dcterms:W3CDTF">2026-10-16T16:46:58Z</dcterms:modified>
</cp:coreProperties>
</file>