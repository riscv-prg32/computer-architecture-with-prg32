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034113-672f-9e41-3be9-135cc2309138}">
          <p14:sldIdLst>
            <p14:sldId id="256"/>
            <p14:sldId id="257"/>
          </p14:sldIdLst>
        </p14:section>
        <p14:section name="Warm-up on the machine" id="{7f7891b9-221d-4444-60f7-c981e38abaea}">
          <p14:sldIdLst>
            <p14:sldId id="258"/>
            <p14:sldId id="259"/>
          </p14:sldIdLst>
        </p14:section>
        <p14:section name="Time and state" id="{48c7ddc5-117c-5f7d-48b9-68e3dd163d49}">
          <p14:sldIdLst>
            <p14:sldId id="260"/>
            <p14:sldId id="261"/>
            <p14:sldId id="262"/>
            <p14:sldId id="263"/>
            <p14:sldId id="264"/>
          </p14:sldIdLst>
        </p14:section>
        <p14:section name="Finite-state machines" id="{c083ed8c-f6d5-f964-efb4-879e80aaa1a3}">
          <p14:sldIdLst>
            <p14:sldId id="265"/>
            <p14:sldId id="266"/>
            <p14:sldId id="267"/>
            <p14:sldId id="268"/>
            <p14:sldId id="269"/>
            <p14:sldId id="270"/>
            <p14:sldId id="271"/>
            <p14:sldId id="272"/>
          </p14:sldIdLst>
        </p14:section>
        <p14:section name="Latches" id="{cad2f41b-f40c-71a6-eb4e-5613905894cd}">
          <p14:sldIdLst>
            <p14:sldId id="273"/>
            <p14:sldId id="274"/>
            <p14:sldId id="275"/>
            <p14:sldId id="276"/>
            <p14:sldId id="277"/>
            <p14:sldId id="278"/>
            <p14:sldId id="279"/>
            <p14:sldId id="280"/>
          </p14:sldIdLst>
        </p14:section>
        <p14:section name="Flip-flops" id="{deacc854-82d5-fade-08f9-d59814ad8bf0}">
          <p14:sldIdLst>
            <p14:sldId id="281"/>
            <p14:sldId id="282"/>
            <p14:sldId id="283"/>
            <p14:sldId id="284"/>
          </p14:sldIdLst>
        </p14:section>
        <p14:section name="Back to the machine" id="{daed18e4-0f51-5173-4c06-946b3596ccb5}">
          <p14:sldIdLst>
            <p14:sldId id="285"/>
            <p14:sldId id="286"/>
            <p14:sldId id="287"/>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begins: state and memory. The machines of Lecture 11 had no memory: the same inputs always gave the same outputs. A computer, however, remembers: a counter survives from one frame to the next, a game knows whether it is showing the title or the playfield. This lecture introduces time and state, the model that describes every circuit with memory, and the elementary memories, latches and flip-flops, from which the registers of the processor are built.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Explain why a sequential circuit needs the concepts of time and of state. Define a finite-state machine and distinguish Mealy from Moore. Describe a machine with a state table and with a state diagram. Explain how an SR latch remembers one bit and why one combination of its inputs is forbidden. Distinguish latches from flip-flops, level from edge. And recognise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is a fragment of a game with three screens. As you read it, notice that the same button does different things at different moments: something in the program must remember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with a title screen, a playfield and a game-over screen. The variable state holds one of three values. game_update reads the button A and the present state: in TITLE, pressing A leads to PLAY; in OVER, pressing A leads back to TITLE; otherwise nothing changes. So the effect of A depends on the state. This is a state machine: update computes the next state from the present state and the input, the state survives in memory from frame to frame, and draw shows a screen for each state.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combinational machine lack? Two things: a notion of when, and a memory of what happened. This part introduces them: time, made discrete by a clock, and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combinational circuit the outputs depend only on the present inputs. In a sequential circuit they depend also on the past history of the inputs. The definition brings in two concepts. Time: when do we look at the signals, and when are they allowed to change? State: what does the circuit remember of the past? The large phrase on the right is a good summary: a sequential circuit is a combinational one plus something that remembers.
For the lecturer: Tassonomia dei circuiti digitali: reti combinatorie and reti sequenziali. Lecture 11 treated the first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physical signal passes through infinitely many instants and infinitely many values. A digital system gives up both infinities. Values were reduced to two in Lecture 10, with thresholds. Time is reduced to a sequence of chosen instants, t0, t1, t2: the signal is read only at those instants, and what it does in between does not count. Who decides when those instants are? A dedicated periodic signal, the clock.
For the lecturer: The same sampling and quantising of Lecture 04, applied to the wires of the circuit itself. The threshold Vdd/2 is an idealisation: real gates have a forbidden band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names its parts: the period T, the high time and the low time, the rising edge, where it passes from 0 to 1, and the falling edge. The frequency is the number of periods per second, one divided by T. Synchronous circuits change state on one of the two edges. For the kit: 160 MHz means a period of 6.25 nanoseconds, and every combinational network in the chip must settle within that time.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whole previous history of the inputs: everything the circuit needs to know about the past in order to behave correctly from now on. It is held by state variables. A transition function computes the next state from the present state and the present inputs, and the state is updated once per clock cycle. The formula on the right says it compactly. To store the state we need elements with two stable conditions: latches and flip-flops.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circuit has a finite number of state variables, so a finite number of states. Its behaviour is described by a mathematical model, the finite-state machine, which is the subject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made of five things: an input alphabet I and an output alphabet U, which are finite sets of symbols; a finite set of states S; a next-state function, which for each pair of state and input gives one next state; and an output function. Compare it with the warm-up: the input is "A pressed or not", the states are TITLE, PLAY and OVER, the next-state function is the code of game_update, and the output is the screen.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the state and on the input: it is written on the transitions, and it can react to an input in the same cycle. In a Moore machine the output depends on the state alone: it is written inside the states and changes only when the state changes. The game of the warm-up is a Moore machine: each state has its screen. The two models are equivalent, though the number of states may differ.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keeps the loop under control: values go round once per cycle, never faster. Everything in Lecture 11 lives in the upper box.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of a sequential network in five steps. Define inputs, outputs and states. Define the next-state and output functions with a state table or a diagram. Assign a binary code to each state: k variables for up to 2 to the k states. Synthesise the two combinational networks with the methods you know. Choose the memory elements. With D flip-flops the fourth step is simplest, because the network just has to compute the code of the next state.
For the lecturer: With D flip-flops the next-state network simply computes the code of the next state, which is why they are the usual choice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equivalent descriptions of a machine, for a Mealy example with four states. In the state table each row is a present state and each column an input symbol; the cell gives the next state and, after the slash, the output. In the state diagram each state is a node and each transition an arrow labelled input slash output. Practise going from one to the other: take the row of s0 and find its two arrows in the drawing.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transitions as a Moore machine. The output no longer depends on the input, so the table has a separate column for it and the diagram writes it inside each node; the arrows carry only the input symbol. In this example the output is simply the binary code of the state. Compare the two slides: the structure of states and transitions is identical, and only the place where the output is written changes.
For the lecturer: Same transitions as the Mealy example, with a two-bit output attached to each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diagram: three states, with A leading from TITLE to PLAY and from OVER to TITLE, and the end of the lives leading from PLAY to OVER. The loops on each state are the cases in which nothing changes. The table below lists, for each state, the input that changes it, the next state and the output drawn. Draw the diagram before writing the code: for a game it is the most useful design habit there is.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circuit made of gates remember? The answer is feedback: an output connected back to an input. The simplest such circuit is the latch.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circuit that can store one bit is a bistable: it has two stable states, 0 and 1, and stays in one of them until something changes it. There are two families, latches and flip-flops, and both have two outputs, Q and its complement. The idea is older than the transistor: the first electronic flip-flop was built in 1918 with two vacuum tubes, and the same circuit was at the heart of Colossus.
For the lecturer: Latch: 'a circuit that keeps whatever output state results from a momentary input signal until it is reset by another signal'. Flip-flop: a bistable multivibrator. The name comes from the sound of the electromechanical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two NOR gates, each with its output connected to an input of the other. S, for set, brings Q to 1; R, for reset, brings Q to 0. With both at 0 the latch keeps its last value: it remembers which input was 1 most recently. The table summarises the four cases, and the last one is forbidden. Because of the feedback Q depends on itself: in a circuit with a loop, a signal is a waveform in time and not a single value.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in time. S goes to 1, and after the delay of the gates Q becomes 1. Then S returns to 0 and nothing happens: the feedback keeps Q at 1. This flat stretch is the memory. Later R goes to 1, Q returns to 0, and it stays there when R returns to 0. Follow the four marked instants on the drawing with the circuit of the previous slide in front of you, working out the output of each gate.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together, the gates race against each other, and the final state depends on which is faster. The result is unpredictable, and the latch may even oscillate. Whoever uses an SR latch must guarantee that S and R are never 1 together. The JK and D elements were invented to remove this problem at the root.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decides when. To make the SR latch synchronous, S and R pass through two AND gates together with the clock. When the clock is 0 both gates give 0 and the latch cannot change; when the clock is 1 it behaves like the plain latch. The clock decides when the inputs are listened to.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improvements of the latch. In the JK latch the outputs are fed back to the input gates, so that the internal set and reset can never be 1 together; the combination J = K = 1, instead of being forbidden, inverts the output: it toggles. The D latch has a single input: D goes to set and its negation to reset, so the output simply takes the value of D while the clock is active. D stands for delay, or data.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latch is level-triggered: for the whole time the clock is at its active level it is transparent, and every change of the inputs passes to the outputs. So within one clock cycle the state may change several times. In a machine with feedback this is fatal: the new state travels round the loop and changes the state again in the same cycle. A JK latch with both inputs at 1 keeps toggling as long as the clock is high. We need an element that changes at most once per cycle.
For the lecturer: Look back at the general architecture: the state register must not let the next state through while it is still being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flip-flop is that element: it changes on an edge of the clock, and only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is made of two latches in series, controlled by opposite levels of the clock. When the clock is 0 the master is open and follows the input, while the slave is closed. When the clock passes to 1 the master closes, keeping what it had, and the slave opens and shows it. The two are never transparent together, so the input can never run straight through to the output. The effect is that the output changes only at the rising edge: the flip-flop is edge-triggered.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seen on the waveforms. The clock and the input D are the same for both. The output of the latch follows D for the whole high phase of the clock: it changes in the middle of a phase. The output of the flip-flop changes only at the rising edges, taking the value that D has at that instant; short pulses of D between two edges are ignored. The flip-flop's output is steady for a whole period, which is exactly what a state register needs.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of the memory elements. The column next state gives the rule in compact form, where Q+ is the state after the change; the last column says when the change can happen: at any time for the plain latch, during the active level for clocked latches, on the edge for flip-flops. The T flip-flop, which toggles when T is 1, is a JK with its two inputs joined. Keep in mind the row of the D flip-flop: it is the memory element of today's processors.
For the lecturer: Q+ is the next state (tabella caratteristica). A T flip-flop is a JK with J = K = T. The D flip-flop is the standard memory element of today's processors.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one bit to the processor. The last part shows the register, the program counter, a small counter designed step by step, and the processor itself as one large sequential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with a common clock: one flip-flop per bit. With a load-enable signal it takes a new value only when asked, and otherwise keeps the old one. RISC-V has thirty-two registers of thirty-two bits: 1,024 flip-flops. Now the two machines of Lecture 11 find their place: the decoder driven by the field rd activates the load enable of one register only, and the multiplexers select which registers are read.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that holds the address of the instruction being executed. Its next value is computed by a small network: an adder gives PC plus 4, the address of the following instruction, and a multiplexer chooses between that and the target of a branch. At each clock edge the next value becomes the present one. It has exactly the shape of the general architecture. With only the plus 4 path it is a counter, the simplest of all state machines.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synthesis: a counter of two bits that goes 0, 1, 2, 3 and back to 0. Follow the six steps on the right. The states are the four values; the code is the count itself; the table gives the next state for each present state. With D flip-flops the inputs D1 and D0 are simply the bits of the next state. Minimising them as functions of Q1 and Q0 gives D0 = NOT Q0 and D1 = Q1 XOR Q0. Two flip-flops, an inverter and one XOR gate.
For the lecturer: Worked on the board: D0 is 1 in rows 00 and 10, so D0 = Q0'; D1 is 1 in rows 01 and 10, so D1 = Q1'Q0 + Q1Q0' = Q1 xor Q0. Compare with the full adder: a counter is an adder that adds 1 to its own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processor is a sequential machine. Its state is the program counter, the thirty-two registers and the memory. Its input is the instruction found at the address in the PC, with the data it reads. The next-state network is made of decoders, multiplexers and the ALU. At the clock edge the registers named by the instruction take their new values. Running a program is a walk through the states of a very large state machine, and single-stepping in PRG32-QT shows that walk one state at a time.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where the output is written in the two kinds of diagram. In a Moore machine it is inside the nodes: it belongs to the state, and the input does not enter into it.
For the lecturer: Answer: B. Moore: w maps S to U. In a Mealy machine the output depends on the state and on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table of the SR latch: which row has both inputs at 0? It is the row of memory. The feedback keeps the stored value, whatever it was.
For the lecturer: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elements store one bit and both have a clock. The difference is when they listen: the latch for the whole active level, the flip-flop only at the instant of an edge.
For the lecturer: Answer: C. The latch is transparent for the whole active level of the clock; the flip-flop samples D only on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machine with N states needs enough state variables to give each state a different code: the smallest k such that 2 to the k is at least N. It is the formula of the fixed-length codes of Lecture 11.
For the lecturer: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that outputs 1 when the last two inputs were both 1, as a Moore and as a Mealy machine, and compare the number of states. Complete a timing diagram of an SR latch. Synthesise a counter modulo 3 with two D flip-flops, and think about the unused fourth state. Add a PAUSE state to the game of the warm-up, drawing the diagram first. And make the button A work only when it is pressed again: this is edge detection in software.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di discesa. Level-triggered and edge-triggered say when a memory element listens. Present state and next state are the two values around a clock edge. Latch and flip-flop are not translated; the general Italian word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second kind time and state matter. A sequential machine implements a finite-state automaton, of the Mealy or the Moore type. Latches and flip-flops are the elementary memories, and feedback is what makes a circuit remember. The clock decides when: latches listen during a level, flip-flops on an edge. Registers, counters, the program counter and the processor are sequential machines built around combinational networks.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same button, three different effects.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Time and state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a combinational machine does not have.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Sequential circuits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Combinational: the outputs at a given instant depend only on the inputs at that same instant</a:t>
            </a:r>
            <a:endParaRPr lang="en-US" sz="2200" dirty="0"/>
          </a:p>
        </p:txBody>
      </p:sp>
      <p:sp>
        <p:nvSpPr>
          <p:cNvPr id="5" name="Shape 3"/>
          <p:cNvSpPr/>
          <p:nvPr/>
        </p:nvSpPr>
        <p:spPr>
          <a:xfrm>
            <a:off x="548640" y="23354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901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Sequential: the outputs depend on the inputs at that instant and on the past history of the inputs</a:t>
            </a:r>
            <a:endParaRPr lang="en-US" sz="2200" dirty="0"/>
          </a:p>
        </p:txBody>
      </p:sp>
      <p:sp>
        <p:nvSpPr>
          <p:cNvPr id="7" name="Shape 5"/>
          <p:cNvSpPr/>
          <p:nvPr/>
        </p:nvSpPr>
        <p:spPr>
          <a:xfrm>
            <a:off x="548640" y="34880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81587"/>
            <a:ext cx="6565392" cy="163804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definition of a sequential circuit implies two concepts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time: when do we look at the signals, and when do things change?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state: what does the circuit remember of the past?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Analysis and synthesis still apply: from the structure to the behaviour, and from a functional specification to a structure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memory</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sequential circuit is a combinational one plus something that remembers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from continuous to discrete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any interval a physical signal passes through infinitely many instants, and a voltage through infinitely many values</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binary signal is read, or sampled, at a finite number of chosen instants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if the voltage is below half of the supply voltage, 1 if it is above</a:t>
            </a:r>
            <a:endParaRPr lang="en-US" sz="2100" dirty="0"/>
          </a:p>
        </p:txBody>
      </p:sp>
      <p:sp>
        <p:nvSpPr>
          <p:cNvPr id="7" name="Shape 5"/>
          <p:cNvSpPr/>
          <p:nvPr/>
        </p:nvSpPr>
        <p:spPr>
          <a:xfrm>
            <a:off x="548640" y="4027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925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Between two samples the signal may do anything: only the samples count</a:t>
            </a:r>
            <a:endParaRPr lang="en-US" sz="2100" dirty="0"/>
          </a:p>
        </p:txBody>
      </p:sp>
      <p:sp>
        <p:nvSpPr>
          <p:cNvPr id="9" name="Shape 7"/>
          <p:cNvSpPr/>
          <p:nvPr/>
        </p:nvSpPr>
        <p:spPr>
          <a:xfrm>
            <a:off x="548640" y="48240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53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a digital system time is a sequence of discrete instants: t0, t1, t2, ...</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Who decides when the instants are? A dedicated periodic signal: the clock</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t0, t1, t2 ...</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discrete time: the circuit is observed only at chosen instants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51799"/>
            <a:ext cx="6400800" cy="2148562"/>
          </a:xfrm>
          <a:prstGeom prst="rect">
            <a:avLst/>
          </a:prstGeom>
        </p:spPr>
      </p:pic>
      <p:sp>
        <p:nvSpPr>
          <p:cNvPr id="6" name="Shape 2"/>
          <p:cNvSpPr/>
          <p:nvPr/>
        </p:nvSpPr>
        <p:spPr>
          <a:xfrm>
            <a:off x="749808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8" name="Shape 4"/>
          <p:cNvSpPr/>
          <p:nvPr/>
        </p:nvSpPr>
        <p:spPr>
          <a:xfrm>
            <a:off x="7498080" y="2219706"/>
            <a:ext cx="146304" cy="146304"/>
          </a:xfrm>
          <a:prstGeom prst="rect">
            <a:avLst/>
          </a:prstGeom>
          <a:solidFill>
            <a:srgbClr val="C7791B"/>
          </a:solidFill>
          <a:ln w="12700">
            <a:solidFill>
              <a:srgbClr val="C7791B"/>
            </a:solidFill>
            <a:prstDash val="solid"/>
          </a:ln>
        </p:spPr>
      </p:sp>
      <p:sp>
        <p:nvSpPr>
          <p:cNvPr id="9" name="Text 5"/>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0" name="Shape 6"/>
          <p:cNvSpPr/>
          <p:nvPr/>
        </p:nvSpPr>
        <p:spPr>
          <a:xfrm>
            <a:off x="7498080" y="3225546"/>
            <a:ext cx="146304" cy="146304"/>
          </a:xfrm>
          <a:prstGeom prst="rect">
            <a:avLst/>
          </a:prstGeom>
          <a:solidFill>
            <a:srgbClr val="0E7C86"/>
          </a:solidFill>
          <a:ln w="12700">
            <a:solidFill>
              <a:srgbClr val="0E7C86"/>
            </a:solidFill>
            <a:prstDash val="solid"/>
          </a:ln>
        </p:spPr>
      </p:sp>
      <p:sp>
        <p:nvSpPr>
          <p:cNvPr id="11" name="Text 7"/>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2" name="Shape 8"/>
          <p:cNvSpPr/>
          <p:nvPr/>
        </p:nvSpPr>
        <p:spPr>
          <a:xfrm>
            <a:off x="7498080" y="3952494"/>
            <a:ext cx="146304" cy="146304"/>
          </a:xfrm>
          <a:prstGeom prst="rect">
            <a:avLst/>
          </a:prstGeom>
          <a:solidFill>
            <a:srgbClr val="C7791B"/>
          </a:solidFill>
          <a:ln w="12700">
            <a:solidFill>
              <a:srgbClr val="C7791B"/>
            </a:solidFill>
            <a:prstDash val="solid"/>
          </a:ln>
        </p:spPr>
      </p:sp>
      <p:sp>
        <p:nvSpPr>
          <p:cNvPr id="13" name="Text 9"/>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4" name="Shape 10"/>
          <p:cNvSpPr/>
          <p:nvPr/>
        </p:nvSpPr>
        <p:spPr>
          <a:xfrm>
            <a:off x="548640" y="4769866"/>
            <a:ext cx="146304" cy="146304"/>
          </a:xfrm>
          <a:prstGeom prst="rect">
            <a:avLst/>
          </a:prstGeom>
          <a:solidFill>
            <a:srgbClr val="0E7C86"/>
          </a:solidFill>
          <a:ln w="12700">
            <a:solidFill>
              <a:srgbClr val="0E7C86"/>
            </a:solidFill>
            <a:prstDash val="solid"/>
          </a:ln>
        </p:spPr>
      </p:sp>
      <p:sp>
        <p:nvSpPr>
          <p:cNvPr id="15" name="Text 11"/>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16"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7" name="Text 13"/>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Finite-state machines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model of every sequential circuit.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Synthesis of a sequential network</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the sets I, U and S: inputs, outputs and states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the next-state function Ω and the output function w, with a state table or a state diagram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Assign a binary code to each state: k state variables for up to 2^k states</a:t>
            </a:r>
            <a:endParaRPr lang="en-US" sz="2200" dirty="0"/>
          </a:p>
        </p:txBody>
      </p:sp>
      <p:sp>
        <p:nvSpPr>
          <p:cNvPr id="9" name="Text 7"/>
          <p:cNvSpPr txBox="1"/>
          <p:nvPr/>
        </p:nvSpPr>
        <p:spPr>
          <a:xfrm>
            <a:off x="548640" y="43682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3500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Synthesise the two combinational networks that realise Ω and w, with the methods of Lectures 09 and 11</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memory elements: the next-state network depends on the type of bistable, the output network does not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40080" y="1979214"/>
            <a:ext cx="5212080" cy="3631093"/>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6400800" y="3923665"/>
            <a:ext cx="146304" cy="146304"/>
          </a:xfrm>
          <a:prstGeom prst="rect">
            <a:avLst/>
          </a:prstGeom>
          <a:solidFill>
            <a:srgbClr val="0E7C86"/>
          </a:solidFill>
          <a:ln w="12700">
            <a:solidFill>
              <a:srgbClr val="0E7C86"/>
            </a:solidFill>
            <a:prstDash val="solid"/>
          </a:ln>
        </p:spPr>
      </p:sp>
      <p:sp>
        <p:nvSpPr>
          <p:cNvPr id="8" name="Text 3"/>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9" name="Shape 4"/>
          <p:cNvSpPr/>
          <p:nvPr/>
        </p:nvSpPr>
        <p:spPr>
          <a:xfrm>
            <a:off x="6400800" y="4942332"/>
            <a:ext cx="146304" cy="146304"/>
          </a:xfrm>
          <a:prstGeom prst="rect">
            <a:avLst/>
          </a:prstGeom>
          <a:solidFill>
            <a:srgbClr val="C7791B"/>
          </a:solidFill>
          <a:ln w="12700">
            <a:solidFill>
              <a:srgbClr val="C7791B"/>
            </a:solidFill>
            <a:prstDash val="solid"/>
          </a:ln>
        </p:spPr>
      </p:sp>
      <p:sp>
        <p:nvSpPr>
          <p:cNvPr id="10" name="Text 5"/>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1" name="Shape 6"/>
          <p:cNvSpPr/>
          <p:nvPr/>
        </p:nvSpPr>
        <p:spPr>
          <a:xfrm>
            <a:off x="6400800" y="5960999"/>
            <a:ext cx="146304" cy="146304"/>
          </a:xfrm>
          <a:prstGeom prst="rect">
            <a:avLst/>
          </a:prstGeom>
          <a:solidFill>
            <a:srgbClr val="0E7C86"/>
          </a:solidFill>
          <a:ln w="12700">
            <a:solidFill>
              <a:srgbClr val="0E7C86"/>
            </a:solidFill>
            <a:prstDash val="solid"/>
          </a:ln>
        </p:spPr>
      </p:sp>
      <p:sp>
        <p:nvSpPr>
          <p:cNvPr id="12" name="Text 7"/>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Moore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40080" y="1979214"/>
            <a:ext cx="5212080" cy="3631093"/>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280160"/>
                <a:gridCol w="1280160"/>
                <a:gridCol w="128016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6400800" y="3923665"/>
            <a:ext cx="146304" cy="146304"/>
          </a:xfrm>
          <a:prstGeom prst="rect">
            <a:avLst/>
          </a:prstGeom>
          <a:solidFill>
            <a:srgbClr val="0E7C86"/>
          </a:solidFill>
          <a:ln w="12700">
            <a:solidFill>
              <a:srgbClr val="0E7C86"/>
            </a:solidFill>
            <a:prstDash val="solid"/>
          </a:ln>
        </p:spPr>
      </p:sp>
      <p:sp>
        <p:nvSpPr>
          <p:cNvPr id="8" name="Text 3"/>
          <p:cNvSpPr txBox="1"/>
          <p:nvPr/>
        </p:nvSpPr>
        <p:spPr>
          <a:xfrm>
            <a:off x="6784848" y="3840480"/>
            <a:ext cx="485820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output is a property of the state: it has its own column in the table and is written inside each node of the diagram</a:t>
            </a:r>
            <a:endParaRPr lang="en-US" sz="1900" dirty="0"/>
          </a:p>
        </p:txBody>
      </p:sp>
      <p:sp>
        <p:nvSpPr>
          <p:cNvPr id="9" name="Shape 4"/>
          <p:cNvSpPr/>
          <p:nvPr/>
        </p:nvSpPr>
        <p:spPr>
          <a:xfrm>
            <a:off x="6400800" y="5236718"/>
            <a:ext cx="146304" cy="146304"/>
          </a:xfrm>
          <a:prstGeom prst="rect">
            <a:avLst/>
          </a:prstGeom>
          <a:solidFill>
            <a:srgbClr val="C7791B"/>
          </a:solidFill>
          <a:ln w="12700">
            <a:solidFill>
              <a:srgbClr val="C7791B"/>
            </a:solidFill>
            <a:prstDash val="solid"/>
          </a:ln>
        </p:spPr>
      </p:sp>
      <p:sp>
        <p:nvSpPr>
          <p:cNvPr id="10" name="Text 5"/>
          <p:cNvSpPr txBox="1"/>
          <p:nvPr/>
        </p:nvSpPr>
        <p:spPr>
          <a:xfrm>
            <a:off x="6784848" y="5153533"/>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arcs carry only the input symbol</a:t>
            </a:r>
            <a:endParaRPr lang="en-US" sz="1900" dirty="0"/>
          </a:p>
        </p:txBody>
      </p:sp>
      <p:sp>
        <p:nvSpPr>
          <p:cNvPr id="11" name="Shape 6"/>
          <p:cNvSpPr/>
          <p:nvPr/>
        </p:nvSpPr>
        <p:spPr>
          <a:xfrm>
            <a:off x="6400800" y="5666613"/>
            <a:ext cx="146304" cy="146304"/>
          </a:xfrm>
          <a:prstGeom prst="rect">
            <a:avLst/>
          </a:prstGeom>
          <a:solidFill>
            <a:srgbClr val="0E7C86"/>
          </a:solidFill>
          <a:ln w="12700">
            <a:solidFill>
              <a:srgbClr val="0E7C86"/>
            </a:solidFill>
            <a:prstDash val="solid"/>
          </a:ln>
        </p:spPr>
      </p:sp>
      <p:sp>
        <p:nvSpPr>
          <p:cNvPr id="12" name="Text 7"/>
          <p:cNvSpPr txBox="1"/>
          <p:nvPr/>
        </p:nvSpPr>
        <p:spPr>
          <a:xfrm>
            <a:off x="6784848" y="5583428"/>
            <a:ext cx="48582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Here the output is simply the binary code of the state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3171363" y="1463040"/>
            <a:ext cx="5848969" cy="2926080"/>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Latches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How a circuit remembers one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elements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Electronic circuits able to store a single bit are essentially of two kinds: latches and flip-flops</a:t>
            </a:r>
            <a:endParaRPr lang="en-US" sz="2000" dirty="0"/>
          </a:p>
        </p:txBody>
      </p:sp>
      <p:sp>
        <p:nvSpPr>
          <p:cNvPr id="5" name="Shape 3"/>
          <p:cNvSpPr/>
          <p:nvPr/>
        </p:nvSpPr>
        <p:spPr>
          <a:xfrm>
            <a:off x="548640" y="2517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6716"/>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Both are bistable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two stable states, 0 and 1, kept as long as nothing changes them</a:t>
            </a:r>
            <a:endParaRPr lang="en-US" sz="2000" dirty="0"/>
          </a:p>
        </p:txBody>
      </p:sp>
      <p:sp>
        <p:nvSpPr>
          <p:cNvPr id="7" name="Shape 5"/>
          <p:cNvSpPr/>
          <p:nvPr/>
        </p:nvSpPr>
        <p:spPr>
          <a:xfrm>
            <a:off x="548640" y="378053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8960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Both have two outputs, Q and Q', that are always the complement of each other</a:t>
            </a:r>
            <a:endParaRPr lang="en-US" sz="2000" dirty="0"/>
          </a:p>
        </p:txBody>
      </p:sp>
      <p:sp>
        <p:nvSpPr>
          <p:cNvPr id="9" name="Shape 7"/>
          <p:cNvSpPr/>
          <p:nvPr/>
        </p:nvSpPr>
        <p:spPr>
          <a:xfrm>
            <a:off x="548640" y="47899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little history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1918: Eccles and Jordan build the first electronic flip-flop, with two vacuum tubes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1943: the same circuit is at the heart of Colossus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then relays, transistors, and today logic gates on a chip</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 bit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smallest memory: a circuit with two stable states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645219"/>
            <a:ext cx="4389120" cy="2607442"/>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7" name="Shape 2"/>
          <p:cNvSpPr/>
          <p:nvPr/>
        </p:nvSpPr>
        <p:spPr>
          <a:xfrm>
            <a:off x="5943600" y="1500505"/>
            <a:ext cx="146304" cy="146304"/>
          </a:xfrm>
          <a:prstGeom prst="rect">
            <a:avLst/>
          </a:prstGeom>
          <a:solidFill>
            <a:srgbClr val="0E7C86"/>
          </a:solidFill>
          <a:ln w="12700">
            <a:solidFill>
              <a:srgbClr val="0E7C86"/>
            </a:solidFill>
            <a:prstDash val="solid"/>
          </a:ln>
        </p:spPr>
      </p:sp>
      <p:sp>
        <p:nvSpPr>
          <p:cNvPr id="8" name="Text 3"/>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9" name="Shape 4"/>
          <p:cNvSpPr/>
          <p:nvPr/>
        </p:nvSpPr>
        <p:spPr>
          <a:xfrm>
            <a:off x="5943600" y="2408936"/>
            <a:ext cx="146304" cy="146304"/>
          </a:xfrm>
          <a:prstGeom prst="rect">
            <a:avLst/>
          </a:prstGeom>
          <a:solidFill>
            <a:srgbClr val="C7791B"/>
          </a:solidFill>
          <a:ln w="12700">
            <a:solidFill>
              <a:srgbClr val="C7791B"/>
            </a:solidFill>
            <a:prstDash val="solid"/>
          </a:ln>
        </p:spPr>
      </p:sp>
      <p:sp>
        <p:nvSpPr>
          <p:cNvPr id="10" name="Text 5"/>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1" name="Shape 6"/>
          <p:cNvSpPr/>
          <p:nvPr/>
        </p:nvSpPr>
        <p:spPr>
          <a:xfrm>
            <a:off x="5943600" y="3317367"/>
            <a:ext cx="146304" cy="146304"/>
          </a:xfrm>
          <a:prstGeom prst="rect">
            <a:avLst/>
          </a:prstGeom>
          <a:solidFill>
            <a:srgbClr val="0E7C86"/>
          </a:solidFill>
          <a:ln w="12700">
            <a:solidFill>
              <a:srgbClr val="0E7C86"/>
            </a:solidFill>
            <a:prstDash val="solid"/>
          </a:ln>
        </p:spPr>
      </p:sp>
      <p:sp>
        <p:nvSpPr>
          <p:cNvPr id="12" name="Text 7"/>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3" name="Shape 8"/>
          <p:cNvSpPr/>
          <p:nvPr/>
        </p:nvSpPr>
        <p:spPr>
          <a:xfrm>
            <a:off x="5943600" y="4520184"/>
            <a:ext cx="146304" cy="146304"/>
          </a:xfrm>
          <a:prstGeom prst="rect">
            <a:avLst/>
          </a:prstGeom>
          <a:solidFill>
            <a:srgbClr val="C7791B"/>
          </a:solidFill>
          <a:ln w="12700">
            <a:solidFill>
              <a:srgbClr val="C7791B"/>
            </a:solidFill>
            <a:prstDash val="solid"/>
          </a:ln>
        </p:spPr>
      </p:sp>
      <p:sp>
        <p:nvSpPr>
          <p:cNvPr id="14" name="Text 9"/>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5" name="Shape 10"/>
          <p:cNvSpPr/>
          <p:nvPr/>
        </p:nvSpPr>
        <p:spPr>
          <a:xfrm>
            <a:off x="5943600" y="5666613"/>
            <a:ext cx="146304" cy="146304"/>
          </a:xfrm>
          <a:prstGeom prst="rect">
            <a:avLst/>
          </a:prstGeom>
          <a:solidFill>
            <a:srgbClr val="0E7C86"/>
          </a:solidFill>
          <a:ln w="12700">
            <a:solidFill>
              <a:srgbClr val="0E7C86"/>
            </a:solidFill>
            <a:prstDash val="solid"/>
          </a:ln>
        </p:spPr>
      </p:sp>
      <p:sp>
        <p:nvSpPr>
          <p:cNvPr id="16" name="Text 11"/>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509613"/>
            <a:ext cx="10545775" cy="2741494"/>
          </a:xfrm>
          <a:prstGeom prst="rect">
            <a:avLst/>
          </a:prstGeom>
        </p:spPr>
      </p:pic>
      <p:sp>
        <p:nvSpPr>
          <p:cNvPr id="6" name="Shape 2"/>
          <p:cNvSpPr/>
          <p:nvPr/>
        </p:nvSpPr>
        <p:spPr>
          <a:xfrm>
            <a:off x="548640" y="4617212"/>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8" name="Shape 4"/>
          <p:cNvSpPr/>
          <p:nvPr/>
        </p:nvSpPr>
        <p:spPr>
          <a:xfrm>
            <a:off x="548640" y="5130292"/>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0" name="Shape 6"/>
          <p:cNvSpPr/>
          <p:nvPr/>
        </p:nvSpPr>
        <p:spPr>
          <a:xfrm>
            <a:off x="548640" y="5643372"/>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629400" y="2370572"/>
            <a:ext cx="4876495" cy="2208296"/>
          </a:xfrm>
          <a:prstGeom prst="rect">
            <a:avLst/>
          </a:prstGeom>
        </p:spPr>
      </p:pic>
      <p:sp>
        <p:nvSpPr>
          <p:cNvPr id="6" name="Text 2"/>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7" name="Shape 3"/>
          <p:cNvSpPr/>
          <p:nvPr/>
        </p:nvSpPr>
        <p:spPr>
          <a:xfrm>
            <a:off x="548640" y="1523746"/>
            <a:ext cx="146304" cy="146304"/>
          </a:xfrm>
          <a:prstGeom prst="rect">
            <a:avLst/>
          </a:prstGeom>
          <a:solidFill>
            <a:srgbClr val="0E7C86"/>
          </a:solidFill>
          <a:ln w="12700">
            <a:solidFill>
              <a:srgbClr val="0E7C86"/>
            </a:solidFill>
            <a:prstDash val="solid"/>
          </a:ln>
        </p:spPr>
      </p:sp>
      <p:sp>
        <p:nvSpPr>
          <p:cNvPr id="8" name="Text 4"/>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9" name="Shape 5"/>
          <p:cNvSpPr/>
          <p:nvPr/>
        </p:nvSpPr>
        <p:spPr>
          <a:xfrm>
            <a:off x="548640" y="2350939"/>
            <a:ext cx="146304" cy="146304"/>
          </a:xfrm>
          <a:prstGeom prst="rect">
            <a:avLst/>
          </a:prstGeom>
          <a:solidFill>
            <a:srgbClr val="C7791B"/>
          </a:solidFill>
          <a:ln w="12700">
            <a:solidFill>
              <a:srgbClr val="C7791B"/>
            </a:solidFill>
            <a:prstDash val="solid"/>
          </a:ln>
        </p:spPr>
      </p:sp>
      <p:sp>
        <p:nvSpPr>
          <p:cNvPr id="10" name="Text 6"/>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1" name="Shape 7"/>
          <p:cNvSpPr/>
          <p:nvPr/>
        </p:nvSpPr>
        <p:spPr>
          <a:xfrm>
            <a:off x="548640" y="3519001"/>
            <a:ext cx="146304" cy="146304"/>
          </a:xfrm>
          <a:prstGeom prst="rect">
            <a:avLst/>
          </a:prstGeom>
          <a:solidFill>
            <a:srgbClr val="0E7C86"/>
          </a:solidFill>
          <a:ln w="12700">
            <a:solidFill>
              <a:srgbClr val="0E7C86"/>
            </a:solidFill>
            <a:prstDash val="solid"/>
          </a:ln>
        </p:spPr>
      </p:sp>
      <p:sp>
        <p:nvSpPr>
          <p:cNvPr id="12" name="Text 8"/>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3" name="Shape 9"/>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0"/>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triggering and its problem</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latch is level-triggered: it is sensitive for the whole time the clock is at its active level</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While the clock is high a latch is transparent: every change of the inputs reaches the outputs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During one clock cycle several changes of state are therefore possible</a:t>
            </a:r>
            <a:endParaRPr lang="en-US" sz="2100" dirty="0"/>
          </a:p>
        </p:txBody>
      </p:sp>
      <p:sp>
        <p:nvSpPr>
          <p:cNvPr id="9" name="Shape 7"/>
          <p:cNvSpPr/>
          <p:nvPr/>
        </p:nvSpPr>
        <p:spPr>
          <a:xfrm>
            <a:off x="548640" y="39465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7910"/>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a machine with feedback this is fatal</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new state travels round the loop and changes the state again, in the same cycle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JK latch with J = K = 1 keeps toggling as long as the clock stays high</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We need an element that changes at most once per cycle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once per cycle</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state register must guarantee, and a transparent latch cannot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Flip-flops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change per clock cycle.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75328" y="1463040"/>
            <a:ext cx="10641040" cy="3154680"/>
          </a:xfrm>
          <a:prstGeom prst="rect">
            <a:avLst/>
          </a:prstGeom>
        </p:spPr>
      </p:pic>
      <p:sp>
        <p:nvSpPr>
          <p:cNvPr id="6" name="Shape 2"/>
          <p:cNvSpPr/>
          <p:nvPr/>
        </p:nvSpPr>
        <p:spPr>
          <a:xfrm>
            <a:off x="548640" y="4868291"/>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8" name="Shape 4"/>
          <p:cNvSpPr/>
          <p:nvPr/>
        </p:nvSpPr>
        <p:spPr>
          <a:xfrm>
            <a:off x="548640" y="5554091"/>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0" name="Shape 6"/>
          <p:cNvSpPr/>
          <p:nvPr/>
        </p:nvSpPr>
        <p:spPr>
          <a:xfrm>
            <a:off x="548640" y="5976493"/>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elements: a summary</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40170"/>
                <a:gridCol w="1686351"/>
                <a:gridCol w="2840170"/>
                <a:gridCol w="372772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Next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Changes when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 latch (S R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 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S + R'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any time an input changes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clocked SR latch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 R,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as above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while the clock is at the active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latch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while the clock is at the active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JK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 K,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J Q' + K'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T,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T xor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one flip-flop to the registers of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Synthesis example: a two-bit counter</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371600"/>
                <a:gridCol w="1371600"/>
                <a:gridCol w="1280160"/>
                <a:gridCol w="128016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Q1 Q0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Next Q1 Q0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3886200"/>
            <a:ext cx="5303520" cy="2286000"/>
          </a:xfrm>
          <a:prstGeom prst="roundRect">
            <a:avLst>
              <a:gd name="adj" fmla="val 3200"/>
            </a:avLst>
          </a:prstGeom>
          <a:solidFill>
            <a:srgbClr val="D8ECEE"/>
          </a:solidFill>
          <a:ln w="12700">
            <a:solidFill>
              <a:srgbClr val="D8ECEE"/>
            </a:solidFill>
            <a:prstDash val="solid"/>
          </a:ln>
        </p:spPr>
      </p:sp>
      <p:sp>
        <p:nvSpPr>
          <p:cNvPr id="5" name="Text 2"/>
          <p:cNvSpPr txBox="1"/>
          <p:nvPr/>
        </p:nvSpPr>
        <p:spPr>
          <a:xfrm>
            <a:off x="822960" y="3977640"/>
            <a:ext cx="4754880" cy="100584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D0 = Q0'</a:t>
            </a:r>
            <a:endParaRPr lang="en-US" sz="2200" dirty="0"/>
          </a:p>
          <a:p>
            <a:pPr indent="0" marL="0">
              <a:buNone/>
            </a:pPr>
            <a:r>
              <a:rPr lang="en-US" sz="2200" b="1" dirty="0">
                <a:solidFill>
                  <a:srgbClr val="2E4A62"/>
                </a:solidFill>
                <a:latin typeface="Courier New" pitchFamily="34" charset="0"/>
                <a:ea typeface="Courier New" pitchFamily="34" charset="-122"/>
                <a:cs typeface="Courier New" pitchFamily="34" charset="-120"/>
              </a:rPr>
              <a:t>D1 = Q1 xor Q0</a:t>
            </a:r>
            <a:endParaRPr lang="en-US" sz="2200" dirty="0"/>
          </a:p>
        </p:txBody>
      </p:sp>
      <p:sp>
        <p:nvSpPr>
          <p:cNvPr id="6" name="Text 3"/>
          <p:cNvSpPr txBox="1"/>
          <p:nvPr/>
        </p:nvSpPr>
        <p:spPr>
          <a:xfrm>
            <a:off x="822960" y="5029200"/>
            <a:ext cx="4754880" cy="105156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D flip-flops, one inverter and one XOR gate: a machine that counts 0, 1, 2, 3, 0, ... one step per clock edge.</a:t>
            </a:r>
            <a:endParaRPr lang="en-US" sz="1500" dirty="0"/>
          </a:p>
        </p:txBody>
      </p:sp>
      <p:sp>
        <p:nvSpPr>
          <p:cNvPr id="7" name="Text 4"/>
          <p:cNvSpPr txBox="1"/>
          <p:nvPr/>
        </p:nvSpPr>
        <p:spPr>
          <a:xfrm>
            <a:off x="640080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7059168" y="141732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States: four, one per value of the count; no input; the output is the state itself (Moore)</a:t>
            </a:r>
            <a:endParaRPr lang="en-US" sz="1800" dirty="0"/>
          </a:p>
        </p:txBody>
      </p:sp>
      <p:sp>
        <p:nvSpPr>
          <p:cNvPr id="9" name="Text 6"/>
          <p:cNvSpPr txBox="1"/>
          <p:nvPr/>
        </p:nvSpPr>
        <p:spPr>
          <a:xfrm>
            <a:off x="6400800" y="244236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7059168" y="2424074"/>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State code: two state variables Q1 Q0, the count in binary</a:t>
            </a:r>
            <a:endParaRPr lang="en-US" sz="1800" dirty="0"/>
          </a:p>
        </p:txBody>
      </p:sp>
      <p:sp>
        <p:nvSpPr>
          <p:cNvPr id="11" name="Text 8"/>
          <p:cNvSpPr txBox="1"/>
          <p:nvPr/>
        </p:nvSpPr>
        <p:spPr>
          <a:xfrm>
            <a:off x="6400800" y="31702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9"/>
          <p:cNvSpPr txBox="1"/>
          <p:nvPr/>
        </p:nvSpPr>
        <p:spPr>
          <a:xfrm>
            <a:off x="7059168" y="3151937"/>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State table: write the next state beside each present state</a:t>
            </a:r>
            <a:endParaRPr lang="en-US" sz="1800" dirty="0"/>
          </a:p>
        </p:txBody>
      </p:sp>
      <p:sp>
        <p:nvSpPr>
          <p:cNvPr id="13" name="Text 10"/>
          <p:cNvSpPr txBox="1"/>
          <p:nvPr/>
        </p:nvSpPr>
        <p:spPr>
          <a:xfrm>
            <a:off x="6400800" y="389808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4" name="Text 11"/>
          <p:cNvSpPr txBox="1"/>
          <p:nvPr/>
        </p:nvSpPr>
        <p:spPr>
          <a:xfrm>
            <a:off x="7059168" y="3879799"/>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D flip-flops the excitation is the next state: D1 D0 = next Q1 Q0</a:t>
            </a:r>
            <a:endParaRPr lang="en-US" sz="1800" dirty="0"/>
          </a:p>
        </p:txBody>
      </p:sp>
      <p:sp>
        <p:nvSpPr>
          <p:cNvPr id="15" name="Text 12"/>
          <p:cNvSpPr txBox="1"/>
          <p:nvPr/>
        </p:nvSpPr>
        <p:spPr>
          <a:xfrm>
            <a:off x="6400800" y="462595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6" name="Text 13"/>
          <p:cNvSpPr txBox="1"/>
          <p:nvPr/>
        </p:nvSpPr>
        <p:spPr>
          <a:xfrm>
            <a:off x="7059168" y="4607662"/>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Minimise each D as a function of Q1 and Q0, with a map of two variables</a:t>
            </a:r>
            <a:endParaRPr lang="en-US" sz="1800" dirty="0"/>
          </a:p>
        </p:txBody>
      </p:sp>
      <p:sp>
        <p:nvSpPr>
          <p:cNvPr id="17" name="Text 14"/>
          <p:cNvSpPr txBox="1"/>
          <p:nvPr/>
        </p:nvSpPr>
        <p:spPr>
          <a:xfrm>
            <a:off x="6400800" y="53538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8" name="Text 15"/>
          <p:cNvSpPr txBox="1"/>
          <p:nvPr/>
        </p:nvSpPr>
        <p:spPr>
          <a:xfrm>
            <a:off x="7059168" y="5335524"/>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same five steps, with more states and more variables, give every counter and every control unit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Moore machine the output depends on:</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present input only</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present state only</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present state and the present input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next state and the input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Q becomes 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Q oscillates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Q stays at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state is undefined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What distinguishes a D flip-flop from a D latch?</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flip-flop has two inputs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flip-flop stores two bits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flip-flop changes only on a clock edge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flip-flop does not need a clock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2026-10-12T11:28:39Z</dcterms:created>
  <dcterms:modified xsi:type="dcterms:W3CDTF">2026-10-12T11:28:39Z</dcterms:modified>
</cp:coreProperties>
</file>