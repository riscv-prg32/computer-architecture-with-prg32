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e1e6288-453a-1027-6485-3a6a2e81a998}">
          <p14:sldIdLst>
            <p14:sldId id="256"/>
            <p14:sldId id="257"/>
          </p14:sldIdLst>
        </p14:section>
        <p14:section name="The listings" id="{c6d27882-f07e-72f8-6f9e-3dff0cbf3643}">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Lst>
        </p14:section>
        <p14:section name="Run it and test it" id="{2d1c6084-0f2d-5af4-9fb9-ada8ff57970c}">
          <p14:sldIdLst>
            <p14:sldId id="294"/>
            <p14:sldId id="295"/>
            <p14:sldId id="296"/>
            <p14:sldId id="297"/>
            <p14:sldId id="298"/>
          </p14:sldIdLst>
        </p14:section>
        <p14:section name="Exercises" id="{56ab498d-4a27-68dc-be49-74f094c16cad}">
          <p14:sldIdLst>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22.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reference program is ~/arc12/verm1/verm1_part4.S; tools/tests/verm1_check.py builds it and plays it with a scripted player, and verm1_steps.py runs the intermediate checkpoints.
For the lecturer: Get the code once: git clone https://github.com/riscv-prg32/computer-architecture-with-prg32 ~/arc12. The reference program is ~/arc12/verm1/verm1_part4.S; tools/tests/verm1_check.py builds it and plays it with a scripted player, and verm1_steps.py runs the intermediate checkpoints.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two commands as always. Before changing anything, run Part 3 in debug mode and write down what the telemetry shows during a game: retired instructions, frames per second, late frames. These numbers are the "before" of the measure that closes the lecture; without them you cannot say what you have gained.
For the lecturer: The same two commands. Before you start, run Part 3 in debug mode and write down what the telemetry shows during a game: retired instructions, frames per second, late frames. You will need the numbers in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to_decimal has a contract written in its comment: the value in a0, the address of three characters in a1. Three times it does the same thing: remu gives the remainder of the division by ten, 48 is added, sb stores the byte, and divu leaves the quotient for the next round. The offsets are 2, 1 and 0: from the units to the hundreds. It is a leaf function: it calls nobody and uses only temporary registers, so it needs no stack frame at all.
For the lecturer: Values above 999 would show only their last three digits: a limit that no player will meet soon. The division instructions are slow, tens of clock cycles each on a small processor, and ten per step of the worm are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draw_score replaces that of Part 3. It calls to_decimal twice, once for the score and once for the best score, each time with the address inside a string where the digits must go: best_txt+5 skips the word BEST and the space. Then the two strings are drawn like any other text. Because text is drawn with its background, the new digits cover the old ones.
For the lecturer: score_txt and best_txt are strings in .data, not .rodata: the program writes into them. Text is drawn with its background colour, so new digits cover the old ones without clearing.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.data section. Two strings that the program fills in: they are in .data and not in .rodata precisely because the program writes into them. Then six new variables: dirty, the old position of the head, and the cell to erase. They are not used until the third step; type them now, so that the section is written once.
For the lecturer: Type all of it now. The six variables from dirty to erase_y are not used until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The top line reads VERM1 000 and, on the right, BEST 000; each meal adds one; when you lose, BEST shows your score. Then open the debugger and look at score_txt in memory: after three meals its bytes are 30 30 33 00. You are reading the characters that your division produced.
For the lecturer: This intermediate program, Part 3 with the new draw_score, to_decimal and .data, is built and run by tests/verm1_steps.py.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constant SPEED_Q8 is replaced by two: a minimum of 32 and a maximum of 96. They are fixed-point values in 256ths of a cell per frame, as in Part 2: 32 means one step every eight frames, 96 means three steps every eight frames.
For the lecturer: Replace the constants of Part 3. Only the two SPEED lines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timer at the end of play_update. The speed is 32 plus four times the score: a shift by two positions and an addition. Then a comparison keeps the smaller between this value and the maximum. The rest is the timer you know: the speed is added to an accumulator, and a step is taken when it passes 256. A value that follows a line and then stays at a limit is a saturation.
For the lecturer: Replace the timer at the end of play_update. A saturation: the value follows a line and then stays at the limit, like the clamp of the first laboratory. With fixed point the speed changes by a sixty-fourth of a cell per frame at each meal: no integer speed could be so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the worm starts slower than in Part 3 and gains speed at every meal. With the debugger, count the frames between two steps at score zero: eight. Reach sixteen points and check that the speed no longer changes. Then, if you dare, try a maximum of 256: one step per frame.
For the lecturer: Checked by tests/verm1_steps.py: 8 steps in the first 64 frames of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play_note replaces eat_sound. The caller chooses the note and the duration, in a2 and a4; the function fills in channel, instrument and volume and calls prg32_audio_note. Notice the choice of registers: note and duration are already where the function of the runtime expects them, so nothing has to be moved. A contract designed around the callee saves instructions.
For the lecturer: The arguments stay in the registers where prg32_audio_note expects them: a2 is the note and a4 the duration in both functions. Designing a contract around the callee saves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beginning of step, with two stores added: before the head moves, its coordinates are written into old_x and old_y. That cell is about to stop being the head and become body, and draw will have to repaint it.
For the lecturer: Two stores are added to the code of Part 3: the lines that write old_x and old_y.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of the meal. When the worm eats, the tail does not move, so there is no cell to erase: erase_on is set to zero to say so.
For the lecturer: Two lines are added: the store of zero into erase_on.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worm does not eat, the tail leaves a cell: its coordinates are saved in erase_x and erase_y, and erase_on becomes 1. Further down, the collision with the body is no longer handled here: it has become a single call to game_is_over.
For the lecturer: The beginning is new, seven lines; the end is shorter than in Part 3, because the transition to OVER has become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head is written into the ring and into the map, exactly as in Part 3. The slide is here only because the function continues on the next one.
For the lecturer: Unchanged lines, shown because the function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end of step. First dirty is set to 1: a step happened, and draw has work to do. Then, if the worm has eaten: one more point, new food, and a short high note, number 72 for 60 milliseconds, requested with two li and a call.
For the lecturer: This replaces the end of step. Note 72 for 60 milliseconds: the sound of Part 2, through the new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game_is_over gathers in one place everything that the transition from PLAY to OVER involves: the new state, the update of the best score, dirty set to 2 because a whole new screen must be drawn, and a long low note, number 36 for 400 milliseconds. A transition of the state machine deserves a function of its own.
For the lecturer: A transition of the state machine deserves a function of its own: state, outputs and sound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the game looks exactly as after the second step. What changes can be heard: a low note when you bite yourself. In the debugger watch erase_x and erase_y follow the tail, one step behind, and dirty stay at 1 or 2: it is written, and nobody reads it yet.
For the lecturer: This intermediate program is built and run by tests/verm1_steps.py: verm1_draw of Part 3 with step, play_note and game_is_over of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verm1_draw reads dirty and clears it at once. If it was zero, it returns immediately: no stack frame, no call, five machine instructions. If it was 1, a step happened and draw_changes is called. If it was 2, the state changed and draw_full redraws everything. The most frequent case is the cheapest, which is the mark of a well-made optimisation.
For the lecturer: Replace verm1_draw. The frame is created only if there is something to do: the common case, nothing changed, costs five machine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draw_changes paints at most three cells. If erase_on is set, the cell left by the tail becomes black. The old head is repainted in the colour of the body. Then the new head, the food and the score. The order matters: the head may enter exactly the cell that the tail has just left, so the erasure must come first and the head afterwards.
For the lecturer: The head may enter the cell that the tail has just left: erasing first and drawing the head afterwards gives the right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draw_full is the body of the old verm1_draw: it clears the screen and draws the score; in the TITLE state it adds the invitation and returns. It is called once for every change of state, not at every frame.
For the lecturer: Called once for each change of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draw_full: in PLAY and OVER it draws the worm and the food with their functions, and in OVER it adds the two words of the game over.
For the lecturer: The second half of draw_full.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draw_head draws one cell in bright green: the entry head_i of the ring. It is a small function with a single job, used by draw_changes.
For the lecturer: A small function used by draw_changes.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draw_food: the three lines that were inside draw now have a name and two callers, the full drawing and the partial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draw_text, the helper of Part 3, unchanged. It is shown on a slide of its own because in Part 3 it shared one with the game-over text.
For the lecturer: Unchanged: it was shown together with the game-over text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with three lines added: dirty starts at 2, because the title screen must be drawn once.
For the lecturer: Replace verm1_init: three lines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verm1_update, the transition from OVER back to TITLE now also sets dirty to 2: a new state is a new screen.
For the lecturer: Replace the same part of verm1_update.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in new_game, for the transition from TITLE to PLAY. This is the rule of the technique: every transition asks for a full drawing, every step for a partial one. If you forget one, the screen shows a state that is no longer true, and this is the typical bug.
For the lecturer: Every transition of the machine asks for a full drawing; every step asks for a partial one. Forgetting one of them is the typical bug of this technique: the screen shows a state that is no longer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Verm1. It must be the same game as after the third step, pixel for pixel: the optimisation must not be visible. If you see trails or holes, some change was not recorded: find it with the debugger, starting from the three variables that step writes.
For the lecturer: Screenshots produced by tools/tests/verm1_check.py.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appendix follows: the eight parts of the file that did not change from Part 3. They are included so that this deck contains the whole program; keep them as they are in your file.
For the lecturer: Reference file for this part: verm1/verm1_part4.S (565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verm1_update: the reading of the buttons and the edge detector of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new_game: the map is emptied and the worm is 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steering inside play_update: the masks of the buttons and the rule that forbids the U-turn, from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beginning of step: the stack frame and the lookup of the direction in the tables dx and 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place_food: a random cell, tried again until it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draw_worm, which walks the ring backwards. It is now used only by draw_full, once per new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draw_cell, from cells to pixels: the same function since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.rodata section: the strings and the tables of the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to make the game yours. A pause with button B: a fourth state. A melody on the title screen, from a table of notes. Bonus food that is worth more and disappears. Your own colours, or your own rules. The version you will publish in the next lecture should contain something that is yours, starting from the title.
For the lecturer: Pause: a state PAUSED with transitions on the edge of B (0x20), and dirty = 2 at both transitions. Melody: an index and a frame counter in .data; the table is read like dx.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22: Verm1, part 4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4: The Finished Game: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verm1_p4_play.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31 listings of Lecture 22,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is your verm1.S; the reference is verm1/verm1_part4.S, 565 lines, shown here region by region</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working loop, again</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to_decimal: divide by ten, three times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to_decimal:                     </a:t>
            </a:r>
            <a:pPr indent="0" marL="0">
              <a:buNone/>
            </a:pPr>
            <a:r>
              <a:rPr lang="en-US" sz="1300" dirty="0">
                <a:solidFill>
                  <a:srgbClr val="8FB3A0"/>
                </a:solidFill>
                <a:latin typeface="Courier New" pitchFamily="34" charset="0"/>
                <a:ea typeface="Courier New" pitchFamily="34" charset="-122"/>
                <a:cs typeface="Courier New" pitchFamily="34" charset="-120"/>
              </a:rPr>
              <a:t># a0 = value 0..999, a1 = address of 3 chars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t0, 10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units: the remainder of value / 10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             </a:t>
            </a:r>
            <a:pPr indent="0" marL="0">
              <a:buNone/>
            </a:pPr>
            <a:r>
              <a:rPr lang="en-US" sz="1300" dirty="0">
                <a:solidFill>
                  <a:srgbClr val="8FB3A0"/>
                </a:solidFill>
                <a:latin typeface="Courier New" pitchFamily="34" charset="0"/>
                <a:ea typeface="Courier New" pitchFamily="34" charset="-122"/>
                <a:cs typeface="Courier New" pitchFamily="34" charset="-120"/>
              </a:rPr>
              <a:t># 48 is the ASCII code of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2(a1)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divu a0, a0, 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tens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1(a1)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divu a0, a0, 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hundreds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0(a1)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                         </a:t>
            </a:r>
            <a:pPr indent="0" marL="0">
              <a:buNone/>
            </a:pPr>
            <a:r>
              <a:rPr lang="en-US" sz="1300" dirty="0">
                <a:solidFill>
                  <a:srgbClr val="8FB3A0"/>
                </a:solidFill>
                <a:latin typeface="Courier New" pitchFamily="34" charset="0"/>
                <a:ea typeface="Courier New" pitchFamily="34" charset="-122"/>
                <a:cs typeface="Courier New" pitchFamily="34" charset="-120"/>
              </a:rPr>
              <a:t># a leaf function: no stack frame needed</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Contract: a0 = value, a1 = where the 3 characters go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remu gives the digit, divu what is left</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sb stores a byte: offsets 2, 1, 0 from a1</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 leaf: only t registers, no frame at all</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draw_score: two numbers, two texts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draw_score: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a0,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a1, score_txt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to_decimal             </a:t>
            </a:r>
            <a:pPr indent="0" marL="0">
              <a:buNone/>
            </a:pPr>
            <a:r>
              <a:rPr lang="en-US" sz="1300" dirty="0">
                <a:solidFill>
                  <a:srgbClr val="8FB3A0"/>
                </a:solidFill>
                <a:latin typeface="Courier New" pitchFamily="34" charset="0"/>
                <a:ea typeface="Courier New" pitchFamily="34" charset="-122"/>
                <a:cs typeface="Courier New" pitchFamily="34" charset="-120"/>
              </a:rPr>
              <a:t># the score, as three characters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a2, score_txt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draw_text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best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a0,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a1, best_txt+5         </a:t>
            </a:r>
            <a:pPr indent="0" marL="0">
              <a:buNone/>
            </a:pPr>
            <a:r>
              <a:rPr lang="en-US" sz="1300" dirty="0">
                <a:solidFill>
                  <a:srgbClr val="8FB3A0"/>
                </a:solidFill>
                <a:latin typeface="Courier New" pitchFamily="34" charset="0"/>
                <a:ea typeface="Courier New" pitchFamily="34" charset="-122"/>
                <a:cs typeface="Courier New" pitchFamily="34" charset="-120"/>
              </a:rPr>
              <a:t># after the letters "BEST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to_decimal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256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a2, best_txt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draw_text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Replace draw_score of Part 3: the marks go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digits are written into a string in RAM</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best_txt+5: skip BEST and the space, five characters</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Then the string is drawn like any other</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.data: the variables of Part 4</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.section .data                  </a:t>
            </a:r>
            <a:pPr indent="0" marL="0">
              <a:buNone/>
            </a:pPr>
            <a:r>
              <a:rPr lang="en-US" sz="1250" dirty="0">
                <a:solidFill>
                  <a:srgbClr val="8FB3A0"/>
                </a:solidFill>
                <a:latin typeface="Courier New" pitchFamily="34" charset="0"/>
                <a:ea typeface="Courier New" pitchFamily="34" charset="-122"/>
                <a:cs typeface="Courier New" pitchFamily="34" charset="-120"/>
              </a:rPr>
              <a:t># variables: they live in RAM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state:     .word TITLE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prev_btn:  .word 0              </a:t>
            </a:r>
            <a:pPr indent="0" marL="0">
              <a:buNone/>
            </a:pPr>
            <a:r>
              <a:rPr lang="en-US" sz="1250" dirty="0">
                <a:solidFill>
                  <a:srgbClr val="8FB3A0"/>
                </a:solidFill>
                <a:latin typeface="Courier New" pitchFamily="34" charset="0"/>
                <a:ea typeface="Courier New" pitchFamily="34" charset="-122"/>
                <a:cs typeface="Courier New" pitchFamily="34" charset="-120"/>
              </a:rPr>
              <a:t># the buttons one frame ago</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dir: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want: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step_q8: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score: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best:      .word 0              </a:t>
            </a:r>
            <a:pPr indent="0" marL="0">
              <a:buNone/>
            </a:pPr>
            <a:r>
              <a:rPr lang="en-US" sz="1250" dirty="0">
                <a:solidFill>
                  <a:srgbClr val="8FB3A0"/>
                </a:solidFill>
                <a:latin typeface="Courier New" pitchFamily="34" charset="0"/>
                <a:ea typeface="Courier New" pitchFamily="34" charset="-122"/>
                <a:cs typeface="Courier New" pitchFamily="34" charset="-120"/>
              </a:rPr>
              <a:t># lost when the power goes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food_x: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food_y: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head_i:    .word 0              </a:t>
            </a:r>
            <a:pPr indent="0" marL="0">
              <a:buNone/>
            </a:pPr>
            <a:r>
              <a:rPr lang="en-US" sz="1250" dirty="0">
                <a:solidFill>
                  <a:srgbClr val="8FB3A0"/>
                </a:solidFill>
                <a:latin typeface="Courier New" pitchFamily="34" charset="0"/>
                <a:ea typeface="Courier New" pitchFamily="34" charset="-122"/>
                <a:cs typeface="Courier New" pitchFamily="34" charset="-120"/>
              </a:rPr>
              <a:t># ring index of the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length:    .word 0              </a:t>
            </a:r>
            <a:pPr indent="0" marL="0">
              <a:buNone/>
            </a:pPr>
            <a:r>
              <a:rPr lang="en-US" sz="1250" dirty="0">
                <a:solidFill>
                  <a:srgbClr val="8FB3A0"/>
                </a:solidFill>
                <a:latin typeface="Courier New" pitchFamily="34" charset="0"/>
                <a:ea typeface="Courier New" pitchFamily="34" charset="-122"/>
                <a:cs typeface="Courier New" pitchFamily="34" charset="-120"/>
              </a:rPr>
              <a:t># number of cells of the worm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body_x:    .space 256           </a:t>
            </a:r>
            <a:pPr indent="0" marL="0">
              <a:buNone/>
            </a:pPr>
            <a:r>
              <a:rPr lang="en-US" sz="1250" dirty="0">
                <a:solidFill>
                  <a:srgbClr val="8FB3A0"/>
                </a:solidFill>
                <a:latin typeface="Courier New" pitchFamily="34" charset="0"/>
                <a:ea typeface="Courier New" pitchFamily="34" charset="-122"/>
                <a:cs typeface="Courier New" pitchFamily="34" charset="-120"/>
              </a:rPr>
              <a:t># the ring: one byte per segment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body_y:    .space 256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grid:      .space COLS*ROWS     </a:t>
            </a:r>
            <a:pPr indent="0" marL="0">
              <a:buNone/>
            </a:pPr>
            <a:r>
              <a:rPr lang="en-US" sz="1250" dirty="0">
                <a:solidFill>
                  <a:srgbClr val="8FB3A0"/>
                </a:solidFill>
                <a:latin typeface="Courier New" pitchFamily="34" charset="0"/>
                <a:ea typeface="Courier New" pitchFamily="34" charset="-122"/>
                <a:cs typeface="Courier New" pitchFamily="34" charset="-120"/>
              </a:rPr>
              <a:t># one byte per cell: 1 = worm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dirty:     .word 2              </a:t>
            </a:r>
            <a:pPr indent="0" marL="0">
              <a:buNone/>
            </a:pPr>
            <a:r>
              <a:rPr lang="en-US" sz="1250" dirty="0">
                <a:solidFill>
                  <a:srgbClr val="8FB3A0"/>
                </a:solidFill>
                <a:latin typeface="Courier New" pitchFamily="34" charset="0"/>
                <a:ea typeface="Courier New" pitchFamily="34" charset="-122"/>
                <a:cs typeface="Courier New" pitchFamily="34" charset="-120"/>
              </a:rPr>
              <a:t># 0 nothing to draw, 1 a step, 2 everything</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old_x:     .word 0              </a:t>
            </a:r>
            <a:pPr indent="0" marL="0">
              <a:buNone/>
            </a:pPr>
            <a:r>
              <a:rPr lang="en-US" sz="1250" dirty="0">
                <a:solidFill>
                  <a:srgbClr val="8FB3A0"/>
                </a:solidFill>
                <a:latin typeface="Courier New" pitchFamily="34" charset="0"/>
                <a:ea typeface="Courier New" pitchFamily="34" charset="-122"/>
                <a:cs typeface="Courier New" pitchFamily="34" charset="-120"/>
              </a:rPr>
              <a:t># where the head was before the step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old_y: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erase_on:  .word 0              </a:t>
            </a:r>
            <a:pPr indent="0" marL="0">
              <a:buNone/>
            </a:pPr>
            <a:r>
              <a:rPr lang="en-US" sz="1250" dirty="0">
                <a:solidFill>
                  <a:srgbClr val="8FB3A0"/>
                </a:solidFill>
                <a:latin typeface="Courier New" pitchFamily="34" charset="0"/>
                <a:ea typeface="Courier New" pitchFamily="34" charset="-122"/>
                <a:cs typeface="Courier New" pitchFamily="34" charset="-120"/>
              </a:rPr>
              <a:t># 1 if the tail left a cell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erase_x: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score_txt: .asciz "000"         </a:t>
            </a:r>
            <a:pPr indent="0" marL="0">
              <a:buNone/>
            </a:pPr>
            <a:r>
              <a:rPr lang="en-US" sz="1250" dirty="0">
                <a:solidFill>
                  <a:srgbClr val="8FB3A0"/>
                </a:solidFill>
                <a:latin typeface="Courier New" pitchFamily="34" charset="0"/>
                <a:ea typeface="Courier New" pitchFamily="34" charset="-122"/>
                <a:cs typeface="Courier New" pitchFamily="34" charset="-120"/>
              </a:rPr>
              <a:t># filled in by to_decimal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best_txt:  .asciz "BEST 000"</a:t>
            </a:r>
            <a:endParaRPr lang="en-US" sz="12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the .data of Part 3</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Two strings that the program fills in</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old and erase: used in steps 3 and 4</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digits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press A: the top line reads VERM1 000 and, on the right, BEST 000</a:t>
            </a:r>
            <a:endParaRPr lang="en-US" sz="2400" dirty="0"/>
          </a:p>
        </p:txBody>
      </p:sp>
      <p:sp>
        <p:nvSpPr>
          <p:cNvPr id="6" name="Text 4"/>
          <p:cNvSpPr txBox="1"/>
          <p:nvPr/>
        </p:nvSpPr>
        <p:spPr>
          <a:xfrm>
            <a:off x="548640" y="25491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5308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Play and eat: 001, 002, ...</a:t>
            </a:r>
            <a:endParaRPr lang="en-US" sz="2400" dirty="0"/>
          </a:p>
        </p:txBody>
      </p:sp>
      <p:sp>
        <p:nvSpPr>
          <p:cNvPr id="8" name="Text 6"/>
          <p:cNvSpPr txBox="1"/>
          <p:nvPr/>
        </p:nvSpPr>
        <p:spPr>
          <a:xfrm>
            <a:off x="548640" y="33578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3395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Lose: on the game-over screen BEST shows your score</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the debugger find score_txt in memory and read its bytes: 30 30 33 00 after three meals</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The score and the best score in digits; everything else as in Part 3.</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Constants: two speeds instead of one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.option norelax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200" dirty="0">
                <a:solidFill>
                  <a:srgbClr val="8FB3A0"/>
                </a:solidFill>
                <a:latin typeface="Courier New" pitchFamily="34" charset="0"/>
                <a:ea typeface="Courier New" pitchFamily="34" charset="-122"/>
                <a:cs typeface="Courier New" pitchFamily="34" charset="-120"/>
              </a:rPr>
              <a:t># RGB565 colours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WHITE, 0xffff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GREEN, 0x07e0          </a:t>
            </a:r>
            <a:pPr indent="0" marL="0">
              <a:buNone/>
            </a:pPr>
            <a:r>
              <a:rPr lang="en-US" sz="1200" dirty="0">
                <a:solidFill>
                  <a:srgbClr val="8FB3A0"/>
                </a:solidFill>
                <a:latin typeface="Courier New" pitchFamily="34" charset="0"/>
                <a:ea typeface="Courier New" pitchFamily="34" charset="-122"/>
                <a:cs typeface="Courier New" pitchFamily="34" charset="-120"/>
              </a:rPr>
              <a:t># the head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BODY,  0x03e0          </a:t>
            </a:r>
            <a:pPr indent="0" marL="0">
              <a:buNone/>
            </a:pPr>
            <a:r>
              <a:rPr lang="en-US" sz="1200" dirty="0">
                <a:solidFill>
                  <a:srgbClr val="8FB3A0"/>
                </a:solidFill>
                <a:latin typeface="Courier New" pitchFamily="34" charset="0"/>
                <a:ea typeface="Courier New" pitchFamily="34" charset="-122"/>
                <a:cs typeface="Courier New" pitchFamily="34" charset="-120"/>
              </a:rPr>
              <a:t># the body: a darker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RED,   0xf800          </a:t>
            </a:r>
            <a:pPr indent="0" marL="0">
              <a:buNone/>
            </a:pPr>
            <a:r>
              <a:rPr lang="en-US" sz="1200" dirty="0">
                <a:solidFill>
                  <a:srgbClr val="8FB3A0"/>
                </a:solidFill>
                <a:latin typeface="Courier New" pitchFamily="34" charset="0"/>
                <a:ea typeface="Courier New" pitchFamily="34" charset="-122"/>
                <a:cs typeface="Courier New" pitchFamily="34" charset="-120"/>
              </a:rPr>
              <a:t># the 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CELL,  8               </a:t>
            </a:r>
            <a:pPr indent="0" marL="0">
              <a:buNone/>
            </a:pPr>
            <a:r>
              <a:rPr lang="en-US" sz="1200" dirty="0">
                <a:solidFill>
                  <a:srgbClr val="8FB3A0"/>
                </a:solidFill>
                <a:latin typeface="Courier New" pitchFamily="34" charset="0"/>
                <a:ea typeface="Courier New" pitchFamily="34" charset="-122"/>
                <a:cs typeface="Courier New" pitchFamily="34" charset="-120"/>
              </a:rPr>
              <a:t># a cell is 8 x 8 pixels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COLS,  40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ROWS,  24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TOP,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SPEED_MIN, 32          </a:t>
            </a:r>
            <a:pPr indent="0" marL="0">
              <a:buNone/>
            </a:pPr>
            <a:r>
              <a:rPr lang="en-US" sz="1200" dirty="0">
                <a:solidFill>
                  <a:srgbClr val="8FB3A0"/>
                </a:solidFill>
                <a:latin typeface="Courier New" pitchFamily="34" charset="0"/>
                <a:ea typeface="Courier New" pitchFamily="34" charset="-122"/>
                <a:cs typeface="Courier New" pitchFamily="34" charset="-120"/>
              </a:rPr>
              <a:t># 32/256 of a cell per frame at the start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SPEED_MAX, 96          </a:t>
            </a:r>
            <a:pPr indent="0" marL="0">
              <a:buNone/>
            </a:pPr>
            <a:r>
              <a:rPr lang="en-US" sz="1200" dirty="0">
                <a:solidFill>
                  <a:srgbClr val="8FB3A0"/>
                </a:solidFill>
                <a:latin typeface="Courier New" pitchFamily="34" charset="0"/>
                <a:ea typeface="Courier New" pitchFamily="34" charset="-122"/>
                <a:cs typeface="Courier New" pitchFamily="34" charset="-120"/>
              </a:rPr>
              <a:t># the worm never goes faster than this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BTN_LEFT,  0x01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BTN_RIGHT, 0x02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BTN_UP,    0x04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BTN_DOWN,  0x08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BTN_A,     0x10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DIR_RIGHT, 0           </a:t>
            </a:r>
            <a:pPr indent="0" marL="0">
              <a:buNone/>
            </a:pPr>
            <a:r>
              <a:rPr lang="en-US" sz="1200" dirty="0">
                <a:solidFill>
                  <a:srgbClr val="8FB3A0"/>
                </a:solidFill>
                <a:latin typeface="Courier New" pitchFamily="34" charset="0"/>
                <a:ea typeface="Courier New" pitchFamily="34" charset="-122"/>
                <a:cs typeface="Courier New" pitchFamily="34" charset="-120"/>
              </a:rPr>
              <a:t># bit 0 = vertical, bit 1 = backwards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DIR_DOWN,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DIR_LEFT,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DIR_UP,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TITLE, 0               </a:t>
            </a:r>
            <a:pPr indent="0" marL="0">
              <a:buNone/>
            </a:pPr>
            <a:r>
              <a:rPr lang="en-US" sz="1200" dirty="0">
                <a:solidFill>
                  <a:srgbClr val="8FB3A0"/>
                </a:solidFill>
                <a:latin typeface="Courier New" pitchFamily="34" charset="0"/>
                <a:ea typeface="Courier New" pitchFamily="34" charset="-122"/>
                <a:cs typeface="Courier New" pitchFamily="34" charset="-120"/>
              </a:rPr>
              <a:t># the three states of the game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PLAY,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OVER,  2</a:t>
            </a:r>
            <a:endParaRPr lang="en-US" sz="12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SPEED_Q8 is replaced by a minimum and a maximum</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32/256: one step every 8 frames at the start</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96/256: three steps every 8 frames at most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play_update: a speed that grows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t3, t3, 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t3, t3, SPEED_MIN      </a:t>
            </a:r>
            <a:pPr indent="0" marL="0">
              <a:buNone/>
            </a:pPr>
            <a:r>
              <a:rPr lang="en-US" sz="1300" dirty="0">
                <a:solidFill>
                  <a:srgbClr val="8FB3A0"/>
                </a:solidFill>
                <a:latin typeface="Courier New" pitchFamily="34" charset="0"/>
                <a:ea typeface="Courier New" pitchFamily="34" charset="-122"/>
                <a:cs typeface="Courier New" pitchFamily="34" charset="-120"/>
              </a:rPr>
              <a:t># speed = 32 + 4 * score, in 1/256 of a cell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t4, SPEED_MAX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ble  t3, t4, 8f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mv   t3, t4                 </a:t>
            </a:r>
            <a:pPr indent="0" marL="0">
              <a:buNone/>
            </a:pPr>
            <a:r>
              <a:rPr lang="en-US" sz="1300" dirty="0">
                <a:solidFill>
                  <a:srgbClr val="8FB3A0"/>
                </a:solidFill>
                <a:latin typeface="Courier New" pitchFamily="34" charset="0"/>
                <a:ea typeface="Courier New" pitchFamily="34" charset="-122"/>
                <a:cs typeface="Courier New" pitchFamily="34" charset="-120"/>
              </a:rPr>
              <a:t># ... but never more than 96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8:  la   t0, step_q8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t1, t1, t3             </a:t>
            </a:r>
            <a:pPr indent="0" marL="0">
              <a:buNone/>
            </a:pPr>
            <a:r>
              <a:rPr lang="en-US" sz="1300" dirty="0">
                <a:solidFill>
                  <a:srgbClr val="8FB3A0"/>
                </a:solidFill>
                <a:latin typeface="Courier New" pitchFamily="34" charset="0"/>
                <a:ea typeface="Courier New" pitchFamily="34" charset="-122"/>
                <a:cs typeface="Courier New" pitchFamily="34" charset="-120"/>
              </a:rPr>
              <a:t># add a fraction of a cell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256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blt  t1, t2, 6f             </a:t>
            </a:r>
            <a:pPr indent="0" marL="0">
              <a:buNone/>
            </a:pPr>
            <a:r>
              <a:rPr lang="en-US" sz="1300" dirty="0">
                <a:solidFill>
                  <a:srgbClr val="8FB3A0"/>
                </a:solidFill>
                <a:latin typeface="Courier New" pitchFamily="34" charset="0"/>
                <a:ea typeface="Courier New" pitchFamily="34" charset="-122"/>
                <a:cs typeface="Courier New" pitchFamily="34" charset="-120"/>
              </a:rPr>
              <a:t># less than one whole cell: wait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sub  t1, t1, t2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step                   </a:t>
            </a:r>
            <a:pPr indent="0" marL="0">
              <a:buNone/>
            </a:pPr>
            <a:r>
              <a:rPr lang="en-US" sz="1300" dirty="0">
                <a:solidFill>
                  <a:srgbClr val="8FB3A0"/>
                </a:solidFill>
                <a:latin typeface="Courier New" pitchFamily="34" charset="0"/>
                <a:ea typeface="Courier New" pitchFamily="34" charset="-122"/>
                <a:cs typeface="Courier New" pitchFamily="34" charset="-120"/>
              </a:rPr>
              <a:t># one whole cell: move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j    7f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6:  sw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7: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speed = 32 + 4 x score: a shift and an add</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ble and mv: the smaller of speed and 96</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rest is the timer you know</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limit is reached at 16 points</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faster and faster</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worm starts slower than in Part 3, and gains speed at every meal</a:t>
            </a:r>
            <a:endParaRPr lang="en-US" sz="2400" dirty="0"/>
          </a:p>
        </p:txBody>
      </p:sp>
      <p:sp>
        <p:nvSpPr>
          <p:cNvPr id="6" name="Text 4"/>
          <p:cNvSpPr txBox="1"/>
          <p:nvPr/>
        </p:nvSpPr>
        <p:spPr>
          <a:xfrm>
            <a:off x="548640" y="25491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5308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Count the frames between two steps with the debugger at score 0: eight</a:t>
            </a:r>
            <a:endParaRPr lang="en-US" sz="2400" dirty="0"/>
          </a:p>
        </p:txBody>
      </p:sp>
      <p:sp>
        <p:nvSpPr>
          <p:cNvPr id="8" name="Text 6"/>
          <p:cNvSpPr txBox="1"/>
          <p:nvPr/>
        </p:nvSpPr>
        <p:spPr>
          <a:xfrm>
            <a:off x="548640" y="36626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6443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Reach 16 points: the speed no longer changes</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Try SPEED_MAX = 256, if you dare</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 slow start, one step every 8 frames, and a visible acceleration over the first meals.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play_note: one function, any note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play_note:                      </a:t>
            </a:r>
            <a:pPr indent="0" marL="0">
              <a:buNone/>
            </a:pPr>
            <a:r>
              <a:rPr lang="en-US" sz="1450" dirty="0">
                <a:solidFill>
                  <a:srgbClr val="8FB3A0"/>
                </a:solidFill>
                <a:latin typeface="Courier New" pitchFamily="34" charset="0"/>
                <a:ea typeface="Courier New" pitchFamily="34" charset="-122"/>
                <a:cs typeface="Courier New" pitchFamily="34" charset="-120"/>
              </a:rPr>
              <a:t># a2 = MIDI note, a4 = milliseconds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a0, 0                  </a:t>
            </a:r>
            <a:pPr indent="0" marL="0">
              <a:buNone/>
            </a:pPr>
            <a:r>
              <a:rPr lang="en-US" sz="1450" dirty="0">
                <a:solidFill>
                  <a:srgbClr val="8FB3A0"/>
                </a:solidFill>
                <a:latin typeface="Courier New" pitchFamily="34" charset="0"/>
                <a:ea typeface="Courier New" pitchFamily="34" charset="-122"/>
                <a:cs typeface="Courier New" pitchFamily="34" charset="-120"/>
              </a:rPr>
              <a:t># channel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a1, 0                  </a:t>
            </a:r>
            <a:pPr indent="0" marL="0">
              <a:buNone/>
            </a:pPr>
            <a:r>
              <a:rPr lang="en-US" sz="1450" dirty="0">
                <a:solidFill>
                  <a:srgbClr val="8FB3A0"/>
                </a:solidFill>
                <a:latin typeface="Courier New" pitchFamily="34" charset="0"/>
                <a:ea typeface="Courier New" pitchFamily="34" charset="-122"/>
                <a:cs typeface="Courier New" pitchFamily="34" charset="-120"/>
              </a:rPr>
              <a:t># instrument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255                </a:t>
            </a:r>
            <a:pPr indent="0" marL="0">
              <a:buNone/>
            </a:pPr>
            <a:r>
              <a:rPr lang="en-US" sz="1450" dirty="0">
                <a:solidFill>
                  <a:srgbClr val="8FB3A0"/>
                </a:solidFill>
                <a:latin typeface="Courier New" pitchFamily="34" charset="0"/>
                <a:ea typeface="Courier New" pitchFamily="34" charset="-122"/>
                <a:cs typeface="Courier New" pitchFamily="34" charset="-120"/>
              </a:rPr>
              <a:t># volume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prg32_audio_note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eat_sound with play_note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caller chooses note and duration: a2 and a4</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function fills in the other three arguments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remember the old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    la   t0, head_i</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t5, 0(t0)              </a:t>
            </a:r>
            <a:pPr indent="0" marL="0">
              <a:buNone/>
            </a:pPr>
            <a:r>
              <a:rPr lang="en-US" sz="1150" dirty="0">
                <a:solidFill>
                  <a:srgbClr val="8FB3A0"/>
                </a:solidFill>
                <a:latin typeface="Courier New" pitchFamily="34" charset="0"/>
                <a:ea typeface="Courier New" pitchFamily="34" charset="-122"/>
                <a:cs typeface="Courier New" pitchFamily="34" charset="-120"/>
              </a:rPr>
              <a:t># t5 = ring index of the head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body_x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lbu  s0, 0(t0)              </a:t>
            </a:r>
            <a:pPr indent="0" marL="0">
              <a:buNone/>
            </a:pPr>
            <a:r>
              <a:rPr lang="en-US" sz="1150" dirty="0">
                <a:solidFill>
                  <a:srgbClr val="8FB3A0"/>
                </a:solidFill>
                <a:latin typeface="Courier New" pitchFamily="34" charset="0"/>
                <a:ea typeface="Courier New" pitchFamily="34" charset="-122"/>
                <a:cs typeface="Courier New" pitchFamily="34" charset="-120"/>
              </a:rPr>
              <a:t># one byte: the column of the head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old_x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s0, 0(t0)              </a:t>
            </a:r>
            <a:pPr indent="0" marL="0">
              <a:buNone/>
            </a:pPr>
            <a:r>
              <a:rPr lang="en-US" sz="1150" dirty="0">
                <a:solidFill>
                  <a:srgbClr val="8FB3A0"/>
                </a:solidFill>
                <a:latin typeface="Courier New" pitchFamily="34" charset="0"/>
                <a:ea typeface="Courier New" pitchFamily="34" charset="-122"/>
                <a:cs typeface="Courier New" pitchFamily="34" charset="-120"/>
              </a:rPr>
              <a:t># remember where the head was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s0, s0, t2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bgez s0, 1f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s0, COLS-1             </a:t>
            </a:r>
            <a:pPr indent="0" marL="0">
              <a:buNone/>
            </a:pPr>
            <a:r>
              <a:rPr lang="en-US" sz="1150" dirty="0">
                <a:solidFill>
                  <a:srgbClr val="8FB3A0"/>
                </a:solidFill>
                <a:latin typeface="Courier New" pitchFamily="34" charset="0"/>
                <a:ea typeface="Courier New" pitchFamily="34" charset="-122"/>
                <a:cs typeface="Courier New" pitchFamily="34" charset="-120"/>
              </a:rPr>
              <a:t># off the left edge: wrap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li   t4, COLS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s0, t4, 2f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s0, 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la   t0, body_y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lbu  s1,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old_y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s1,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s1, s1, t3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bgez s1, 3f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s1, ROWS-1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3:  li   t4, ROWS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s1, t4, 4f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s1, 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4:</a:t>
            </a:r>
            <a:endParaRPr lang="en-US" sz="11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the same part of step</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old_x, old_y: the cell the head is leaving</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 will repaint it in the colour of the body</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is there a cell to erase?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000" dirty="0">
                <a:solidFill>
                  <a:srgbClr val="E6EDF2"/>
                </a:solidFill>
                <a:latin typeface="Courier New" pitchFamily="34" charset="0"/>
                <a:ea typeface="Courier New" pitchFamily="34" charset="-122"/>
                <a:cs typeface="Courier New" pitchFamily="34" charset="-120"/>
              </a:rPr>
              <a:t>    la   t0, food_x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xor  t1, t1, s0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food_y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t2,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xor  t2, t2, s1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or   s2, t1, t2             </a:t>
            </a:r>
            <a:pPr indent="0" marL="0">
              <a:buNone/>
            </a:pPr>
            <a:r>
              <a:rPr lang="en-US" sz="1000" dirty="0">
                <a:solidFill>
                  <a:srgbClr val="8FB3A0"/>
                </a:solidFill>
                <a:latin typeface="Courier New" pitchFamily="34" charset="0"/>
                <a:ea typeface="Courier New" pitchFamily="34" charset="-122"/>
                <a:cs typeface="Courier New" pitchFamily="34" charset="-120"/>
              </a:rPr>
              <a:t># s2 = 0 if the new head is on the food</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length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bnez s2, 5f                 </a:t>
            </a:r>
            <a:pPr indent="0" marL="0">
              <a:buNone/>
            </a:pPr>
            <a:r>
              <a:rPr lang="en-US" sz="1000" dirty="0">
                <a:solidFill>
                  <a:srgbClr val="8FB3A0"/>
                </a:solidFill>
                <a:latin typeface="Courier New" pitchFamily="34" charset="0"/>
                <a:ea typeface="Courier New" pitchFamily="34" charset="-122"/>
                <a:cs typeface="Courier New" pitchFamily="34" charset="-120"/>
              </a:rPr>
              <a:t># not eating: the tail moves on</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t2, 255</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bge  t1, t2, 5f             </a:t>
            </a:r>
            <a:pPr indent="0" marL="0">
              <a:buNone/>
            </a:pPr>
            <a:r>
              <a:rPr lang="en-US" sz="1000" dirty="0">
                <a:solidFill>
                  <a:srgbClr val="8FB3A0"/>
                </a:solidFill>
                <a:latin typeface="Courier New" pitchFamily="34" charset="0"/>
                <a:ea typeface="Courier New" pitchFamily="34" charset="-122"/>
                <a:cs typeface="Courier New" pitchFamily="34" charset="-120"/>
              </a:rPr>
              <a:t># the ring is full: no more growth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t1, t1,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t1, 0(t0)              </a:t>
            </a:r>
            <a:pPr indent="0" marL="0">
              <a:buNone/>
            </a:pPr>
            <a:r>
              <a:rPr lang="en-US" sz="1000" dirty="0">
                <a:solidFill>
                  <a:srgbClr val="8FB3A0"/>
                </a:solidFill>
                <a:latin typeface="Courier New" pitchFamily="34" charset="0"/>
                <a:ea typeface="Courier New" pitchFamily="34" charset="-122"/>
                <a:cs typeface="Courier New" pitchFamily="34" charset="-120"/>
              </a:rPr>
              <a:t># eating: one cell longer, the tail stays</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erase_on</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zero, 0(t0)            </a:t>
            </a:r>
            <a:pPr indent="0" marL="0">
              <a:buNone/>
            </a:pPr>
            <a:r>
              <a:rPr lang="en-US" sz="1000" dirty="0">
                <a:solidFill>
                  <a:srgbClr val="8FB3A0"/>
                </a:solidFill>
                <a:latin typeface="Courier New" pitchFamily="34" charset="0"/>
                <a:ea typeface="Courier New" pitchFamily="34" charset="-122"/>
                <a:cs typeface="Courier New" pitchFamily="34" charset="-120"/>
              </a:rPr>
              <a:t># ... so there is no cell to erase</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j    6f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5:  la   t0, head_i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t2,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sub  t2, t2,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t2, t2,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andi t2, t2, 255            </a:t>
            </a:r>
            <a:pPr indent="0" marL="0">
              <a:buNone/>
            </a:pPr>
            <a:r>
              <a:rPr lang="en-US" sz="1000" dirty="0">
                <a:solidFill>
                  <a:srgbClr val="8FB3A0"/>
                </a:solidFill>
                <a:latin typeface="Courier New" pitchFamily="34" charset="0"/>
                <a:ea typeface="Courier New" pitchFamily="34" charset="-122"/>
                <a:cs typeface="Courier New" pitchFamily="34" charset="-120"/>
              </a:rPr>
              <a:t># ring index of the tail</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t2</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t3,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t2</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t4, 0(t0)</a:t>
            </a:r>
            <a:endParaRPr lang="en-US" sz="10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Eating: the tail stays, nothing to erase</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erase_on = 0 says so to draw</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note the tail, call the end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    la   t0, erase_x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t3, 0(t0)              </a:t>
            </a:r>
            <a:pPr indent="0" marL="0">
              <a:buNone/>
            </a:pPr>
            <a:r>
              <a:rPr lang="en-US" sz="1250" dirty="0">
                <a:solidFill>
                  <a:srgbClr val="8FB3A0"/>
                </a:solidFill>
                <a:latin typeface="Courier New" pitchFamily="34" charset="0"/>
                <a:ea typeface="Courier New" pitchFamily="34" charset="-122"/>
                <a:cs typeface="Courier New" pitchFamily="34" charset="-120"/>
              </a:rPr>
              <a:t># remember the cell the tail leaves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erase_y</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t4,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erase_on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t5,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t5,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t4,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t3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tail = row * 40 + column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sb   zero, 0(t0)            </a:t>
            </a:r>
            <a:pPr indent="0" marL="0">
              <a:buNone/>
            </a:pPr>
            <a:r>
              <a:rPr lang="en-US" sz="1250" dirty="0">
                <a:solidFill>
                  <a:srgbClr val="8FB3A0"/>
                </a:solidFill>
                <a:latin typeface="Courier New" pitchFamily="34" charset="0"/>
                <a:ea typeface="Courier New" pitchFamily="34" charset="-122"/>
                <a:cs typeface="Courier New" pitchFamily="34" charset="-120"/>
              </a:rPr>
              <a:t># the tail cell is free again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6: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s1,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s0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new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lbu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7f                 </a:t>
            </a:r>
            <a:pPr indent="0" marL="0">
              <a:buNone/>
            </a:pPr>
            <a:r>
              <a:rPr lang="en-US" sz="1250" dirty="0">
                <a:solidFill>
                  <a:srgbClr val="8FB3A0"/>
                </a:solidFill>
                <a:latin typeface="Courier New" pitchFamily="34" charset="0"/>
                <a:ea typeface="Courier New" pitchFamily="34" charset="-122"/>
                <a:cs typeface="Courier New" pitchFamily="34" charset="-120"/>
              </a:rPr>
              <a:t># a free cell: go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game_is_over           </a:t>
            </a:r>
            <a:pPr indent="0" marL="0">
              <a:buNone/>
            </a:pPr>
            <a:r>
              <a:rPr lang="en-US" sz="1250" dirty="0">
                <a:solidFill>
                  <a:srgbClr val="8FB3A0"/>
                </a:solidFill>
                <a:latin typeface="Courier New" pitchFamily="34" charset="0"/>
                <a:ea typeface="Courier New" pitchFamily="34" charset="-122"/>
                <a:cs typeface="Courier New" pitchFamily="34" charset="-120"/>
              </a:rPr>
              <a:t># the worm bit itself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j    9f</a:t>
            </a:r>
            <a:endParaRPr lang="en-US" sz="12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tail leaves a cell: remember which one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erase_on = 1: draw must paint it black</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collision is now one call: game_is_over</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write the new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7:  li   t1, 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t1, 0(t0)              </a:t>
            </a:r>
            <a:pPr indent="0" marL="0">
              <a:buNone/>
            </a:pPr>
            <a:r>
              <a:rPr lang="en-US" sz="1450" dirty="0">
                <a:solidFill>
                  <a:srgbClr val="8FB3A0"/>
                </a:solidFill>
                <a:latin typeface="Courier New" pitchFamily="34" charset="0"/>
                <a:ea typeface="Courier New" pitchFamily="34" charset="-122"/>
                <a:cs typeface="Courier New" pitchFamily="34" charset="-120"/>
              </a:rPr>
              <a:t># occupy the new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head_i</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t1, t1, 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andi t1, t1, 255            </a:t>
            </a:r>
            <a:pPr indent="0" marL="0">
              <a:buNone/>
            </a:pPr>
            <a:r>
              <a:rPr lang="en-US" sz="1450" dirty="0">
                <a:solidFill>
                  <a:srgbClr val="8FB3A0"/>
                </a:solidFill>
                <a:latin typeface="Courier New" pitchFamily="34" charset="0"/>
                <a:ea typeface="Courier New" pitchFamily="34" charset="-122"/>
                <a:cs typeface="Courier New" pitchFamily="34" charset="-120"/>
              </a:rPr>
              <a:t># the ring wraps after entry 255</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body_x</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  t0, t0, t1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s0, 0(t0)              </a:t>
            </a:r>
            <a:pPr indent="0" marL="0">
              <a:buNone/>
            </a:pPr>
            <a:r>
              <a:rPr lang="en-US" sz="1450" dirty="0">
                <a:solidFill>
                  <a:srgbClr val="8FB3A0"/>
                </a:solidFill>
                <a:latin typeface="Courier New" pitchFamily="34" charset="0"/>
                <a:ea typeface="Courier New" pitchFamily="34" charset="-122"/>
                <a:cs typeface="Courier New" pitchFamily="34" charset="-120"/>
              </a:rPr>
              <a:t># write the new head into the ring</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body_y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  t0, t0, t1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s1, 0(t0)</a:t>
            </a:r>
            <a:endParaRPr lang="en-US" sz="145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As in Part 3, up to the two sb</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end of the function is on the next slide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something changed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    la   t0, dirty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t1, 1</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              </a:t>
            </a:r>
            <a:pPr indent="0" marL="0">
              <a:buNone/>
            </a:pPr>
            <a:r>
              <a:rPr lang="en-US" sz="1400" dirty="0">
                <a:solidFill>
                  <a:srgbClr val="8FB3A0"/>
                </a:solidFill>
                <a:latin typeface="Courier New" pitchFamily="34" charset="0"/>
                <a:ea typeface="Courier New" pitchFamily="34" charset="-122"/>
                <a:cs typeface="Courier New" pitchFamily="34" charset="-120"/>
              </a:rPr>
              <a:t># the screen must follow: a few cells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bnez s2, 9f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score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1</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place_food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a2, 72                 </a:t>
            </a:r>
            <a:pPr indent="0" marL="0">
              <a:buNone/>
            </a:pPr>
            <a:r>
              <a:rPr lang="en-US" sz="1400" dirty="0">
                <a:solidFill>
                  <a:srgbClr val="8FB3A0"/>
                </a:solidFill>
                <a:latin typeface="Courier New" pitchFamily="34" charset="0"/>
                <a:ea typeface="Courier New" pitchFamily="34" charset="-122"/>
                <a:cs typeface="Courier New" pitchFamily="34" charset="-120"/>
              </a:rPr>
              <a:t># a short high note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60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play_note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9:  lw   s2, 0(sp)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s1, 4(sp)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s0, 8(sp)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1: one step happened, draw has work</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meal: a point, new food, a short high note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li a2 and li a4, then call: arguments by contract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game_is_over: the transition, in one place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game_is_over: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PLAY --&gt; 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dirty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a new screen: draw everything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best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t2,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ble  t1, t2,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a new best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li   a2, 36                 </a:t>
            </a:r>
            <a:pPr indent="0" marL="0">
              <a:buNone/>
            </a:pPr>
            <a:r>
              <a:rPr lang="en-US" sz="1350" dirty="0">
                <a:solidFill>
                  <a:srgbClr val="8FB3A0"/>
                </a:solidFill>
                <a:latin typeface="Courier New" pitchFamily="34" charset="0"/>
                <a:ea typeface="Courier New" pitchFamily="34" charset="-122"/>
                <a:cs typeface="Courier New" pitchFamily="34" charset="-120"/>
              </a:rPr>
              <a:t># a long low 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400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play_note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PLAY to OVER, and the best score, as in Part 3</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2: a new screen must be drawn</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long low note: 36, for 400 milliseconds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the sound of defeat</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56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386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game looks exactly as after step 2</a:t>
            </a:r>
            <a:endParaRPr lang="en-US" sz="2400" dirty="0"/>
          </a:p>
        </p:txBody>
      </p:sp>
      <p:sp>
        <p:nvSpPr>
          <p:cNvPr id="6" name="Text 4"/>
          <p:cNvSpPr txBox="1"/>
          <p:nvPr/>
        </p:nvSpPr>
        <p:spPr>
          <a:xfrm>
            <a:off x="548640" y="23530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3476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meal sounds as before; biting yourself gives a long low note</a:t>
            </a:r>
            <a:endParaRPr lang="en-US" sz="2400" dirty="0"/>
          </a:p>
        </p:txBody>
      </p:sp>
      <p:sp>
        <p:nvSpPr>
          <p:cNvPr id="8" name="Text 6"/>
          <p:cNvSpPr txBox="1"/>
          <p:nvPr/>
        </p:nvSpPr>
        <p:spPr>
          <a:xfrm>
            <a:off x="548640" y="32491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088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the debugger watch erase_x and erase_y follow the tail, one step behind</a:t>
            </a:r>
            <a:endParaRPr lang="en-US" sz="2400" dirty="0"/>
          </a:p>
        </p:txBody>
      </p:sp>
      <p:sp>
        <p:nvSpPr>
          <p:cNvPr id="10" name="Text 8"/>
          <p:cNvSpPr txBox="1"/>
          <p:nvPr/>
        </p:nvSpPr>
        <p:spPr>
          <a:xfrm>
            <a:off x="548640" y="44500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317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dirty stays at 1 or 2: nobody reads it yet</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No visible change: the screen is still drawn completely at every frame. The new variables are written and not yet used.</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nothing, a little, or everything</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verm1_draw: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dirty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t1, 3f                 </a:t>
            </a:r>
            <a:pPr indent="0" marL="0">
              <a:buNone/>
            </a:pPr>
            <a:r>
              <a:rPr lang="en-US" sz="1450" dirty="0">
                <a:solidFill>
                  <a:srgbClr val="8FB3A0"/>
                </a:solidFill>
                <a:latin typeface="Courier New" pitchFamily="34" charset="0"/>
                <a:ea typeface="Courier New" pitchFamily="34" charset="-122"/>
                <a:cs typeface="Courier New" pitchFamily="34" charset="-120"/>
              </a:rPr>
              <a:t># nothing changed: nothing to 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t2, 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  t1, t2, 1f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draw_changes           </a:t>
            </a:r>
            <a:pPr indent="0" marL="0">
              <a:buNone/>
            </a:pPr>
            <a:r>
              <a:rPr lang="en-US" sz="1450" dirty="0">
                <a:solidFill>
                  <a:srgbClr val="8FB3A0"/>
                </a:solidFill>
                <a:latin typeface="Courier New" pitchFamily="34" charset="0"/>
                <a:ea typeface="Courier New" pitchFamily="34" charset="-122"/>
                <a:cs typeface="Courier New" pitchFamily="34" charset="-120"/>
              </a:rPr>
              <a:t># one step: a few cells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j    2f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1:  call draw_full              </a:t>
            </a:r>
            <a:pPr indent="0" marL="0">
              <a:buNone/>
            </a:pPr>
            <a:r>
              <a:rPr lang="en-US" sz="1450" dirty="0">
                <a:solidFill>
                  <a:srgbClr val="8FB3A0"/>
                </a:solidFill>
                <a:latin typeface="Courier New" pitchFamily="34" charset="0"/>
                <a:ea typeface="Courier New" pitchFamily="34" charset="-122"/>
                <a:cs typeface="Courier New" pitchFamily="34" charset="-120"/>
              </a:rPr>
              <a:t># a new screen: everything</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2: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3:  ret</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dirty = 0: return at once, no frame, no call</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dirty = 1: a step happened, draw the changes</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dirty = 2: a new screen, draw it all</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flag is cleared as soon as it is read</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draw_changes: three cells and the score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draw_changes: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a0,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draw_cell              </a:t>
            </a:r>
            <a:pPr indent="0" marL="0">
              <a:buNone/>
            </a:pPr>
            <a:r>
              <a:rPr lang="en-US" sz="1200" dirty="0">
                <a:solidFill>
                  <a:srgbClr val="8FB3A0"/>
                </a:solidFill>
                <a:latin typeface="Courier New" pitchFamily="34" charset="0"/>
                <a:ea typeface="Courier New" pitchFamily="34" charset="-122"/>
                <a:cs typeface="Courier New" pitchFamily="34" charset="-120"/>
              </a:rPr>
              <a:t># the cell the tail has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old_x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a0,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old_y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BODY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draw_cell              </a:t>
            </a:r>
            <a:pPr indent="0" marL="0">
              <a:buNone/>
            </a:pPr>
            <a:r>
              <a:rPr lang="en-US" sz="1200" dirty="0">
                <a:solidFill>
                  <a:srgbClr val="8FB3A0"/>
                </a:solidFill>
                <a:latin typeface="Courier New" pitchFamily="34" charset="0"/>
                <a:ea typeface="Courier New" pitchFamily="34" charset="-122"/>
                <a:cs typeface="Courier New" pitchFamily="34" charset="-120"/>
              </a:rPr>
              <a:t># the old head is now body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draw_head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draw_score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cell the tail left, if any: black</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old head: body colour</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Then the new head, the food, the score</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order matters: the head is drawn after the erase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draw_full: a whole screen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draw_full:</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BLACK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draw_score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  t1, t2, 1f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132                </a:t>
            </a:r>
            <a:pPr indent="0" marL="0">
              <a:buNone/>
            </a:pPr>
            <a:r>
              <a:rPr lang="en-US" sz="1500" dirty="0">
                <a:solidFill>
                  <a:srgbClr val="8FB3A0"/>
                </a:solidFill>
                <a:latin typeface="Courier New" pitchFamily="34" charset="0"/>
                <a:ea typeface="Courier New" pitchFamily="34" charset="-122"/>
                <a:cs typeface="Courier New" pitchFamily="34" charset="-120"/>
              </a:rPr>
              <a:t># TITLE: only an invitation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96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press_a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j    2f</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body of the old verm1_draw</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score is drawn on the title screen too</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TITLE: the invitation, and nothing else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draw_full: PLAY and OVER</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1:  call draw_worm              </a:t>
            </a:r>
            <a:pPr indent="0" marL="0">
              <a:buNone/>
            </a:pPr>
            <a:r>
              <a:rPr lang="en-US" sz="1500" dirty="0">
                <a:solidFill>
                  <a:srgbClr val="8FB3A0"/>
                </a:solidFill>
                <a:latin typeface="Courier New" pitchFamily="34" charset="0"/>
                <a:ea typeface="Courier New" pitchFamily="34" charset="-122"/>
                <a:cs typeface="Courier New" pitchFamily="34" charset="-120"/>
              </a:rPr>
              <a:t># PLAY and OVER: the whole scene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draw_food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OVER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  t1, t2, 2f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124</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96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game_over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2: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worm and the food, by their functions</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OVER adds the two words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draw_head: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head_i</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body_x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t0, t0, 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lbu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body_y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t0, t0, 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lbu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head is entry head_i of the ring</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 cell, bright green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draw_food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draw_food: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RED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three lines that were inside draw</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Now they have a name, and two callers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draw_text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draw_text:                      </a:t>
            </a:r>
            <a:pPr indent="0" marL="0">
              <a:buNone/>
            </a:pPr>
            <a:r>
              <a:rPr lang="en-US" sz="1300" dirty="0">
                <a:solidFill>
                  <a:srgbClr val="8FB3A0"/>
                </a:solidFill>
                <a:latin typeface="Courier New" pitchFamily="34" charset="0"/>
                <a:ea typeface="Courier New" pitchFamily="34" charset="-122"/>
                <a:cs typeface="Courier New" pitchFamily="34" charset="-120"/>
              </a:rPr>
              <a:t># a0 = x, a1 = y, a2 = address of the string</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WHITE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prg32_gfx_text8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helper of Part 3, on a slide of its own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init: ask for the first screen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.section .text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verm1_init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verm1_update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verm1_init: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state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            </a:t>
            </a:r>
            <a:pPr indent="0" marL="0">
              <a:buNone/>
            </a:pPr>
            <a:r>
              <a:rPr lang="en-US" sz="1450" dirty="0">
                <a:solidFill>
                  <a:srgbClr val="8FB3A0"/>
                </a:solidFill>
                <a:latin typeface="Courier New" pitchFamily="34" charset="0"/>
                <a:ea typeface="Courier New" pitchFamily="34" charset="-122"/>
                <a:cs typeface="Courier New" pitchFamily="34" charset="-120"/>
              </a:rPr>
              <a:t># start on the title screen</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prev_btn</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dirty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t1, 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t1, 0(t0)              </a:t>
            </a:r>
            <a:pPr indent="0" marL="0">
              <a:buNone/>
            </a:pPr>
            <a:r>
              <a:rPr lang="en-US" sz="1450" dirty="0">
                <a:solidFill>
                  <a:srgbClr val="8FB3A0"/>
                </a:solidFill>
                <a:latin typeface="Courier New" pitchFamily="34" charset="0"/>
                <a:ea typeface="Courier New" pitchFamily="34" charset="-122"/>
                <a:cs typeface="Courier New" pitchFamily="34" charset="-120"/>
              </a:rPr>
              <a:t># draw the whole title screen, once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2: the title screen must be drawn once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a new state is a new screen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    la   t0, state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t1, 0(t0)              </a:t>
            </a:r>
            <a:pPr indent="0" marL="0">
              <a:buNone/>
            </a:pPr>
            <a:r>
              <a:rPr lang="en-US" sz="1150" dirty="0">
                <a:solidFill>
                  <a:srgbClr val="8FB3A0"/>
                </a:solidFill>
                <a:latin typeface="Courier New" pitchFamily="34" charset="0"/>
                <a:ea typeface="Courier New" pitchFamily="34" charset="-122"/>
                <a:cs typeface="Courier New" pitchFamily="34" charset="-120"/>
              </a:rPr>
              <a:t># t1 = present state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t1, t2, u_play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andi t3, s1, BTN_A          </a:t>
            </a:r>
            <a:pPr indent="0" marL="0">
              <a:buNone/>
            </a:pPr>
            <a:r>
              <a:rPr lang="en-US" sz="1150" dirty="0">
                <a:solidFill>
                  <a:srgbClr val="8FB3A0"/>
                </a:solidFill>
                <a:latin typeface="Courier New" pitchFamily="34" charset="0"/>
                <a:ea typeface="Courier New" pitchFamily="34" charset="-122"/>
                <a:cs typeface="Courier New" pitchFamily="34" charset="-120"/>
              </a:rPr>
              <a:t># TITLE or OVER: wait for a new press of A</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TITLE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t1, t2, u_start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t2, 0(t0)              </a:t>
            </a:r>
            <a:pPr indent="0" marL="0">
              <a:buNone/>
            </a:pPr>
            <a:r>
              <a:rPr lang="en-US" sz="1150" dirty="0">
                <a:solidFill>
                  <a:srgbClr val="8FB3A0"/>
                </a:solidFill>
                <a:latin typeface="Courier New" pitchFamily="34" charset="0"/>
                <a:ea typeface="Courier New" pitchFamily="34" charset="-122"/>
                <a:cs typeface="Courier New" pitchFamily="34" charset="-120"/>
              </a:rPr>
              <a:t># OVER --A--&gt; TITLE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dirty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t1, 0(t0)              </a:t>
            </a:r>
            <a:pPr indent="0" marL="0">
              <a:buNone/>
            </a:pPr>
            <a:r>
              <a:rPr lang="en-US" sz="1150" dirty="0">
                <a:solidFill>
                  <a:srgbClr val="8FB3A0"/>
                </a:solidFill>
                <a:latin typeface="Courier New" pitchFamily="34" charset="0"/>
                <a:ea typeface="Courier New" pitchFamily="34" charset="-122"/>
                <a:cs typeface="Courier New" pitchFamily="34" charset="-120"/>
              </a:rPr>
              <a:t># a new screen: draw everything</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j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u_start: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new_game               </a:t>
            </a:r>
            <a:pPr indent="0" marL="0">
              <a:buNone/>
            </a:pPr>
            <a:r>
              <a:rPr lang="en-US" sz="1150" dirty="0">
                <a:solidFill>
                  <a:srgbClr val="8FB3A0"/>
                </a:solidFill>
                <a:latin typeface="Courier New" pitchFamily="34" charset="0"/>
                <a:ea typeface="Courier New" pitchFamily="34" charset="-122"/>
                <a:cs typeface="Courier New" pitchFamily="34" charset="-120"/>
              </a:rPr>
              <a:t># TITLE --A--&gt; 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j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mv   a0, s0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play_update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s1, 4(sp)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s0, 8(sp)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ret</a:t>
            </a:r>
            <a:endParaRPr lang="en-US" sz="115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OVER to TITLE: dirty = 2</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lines are added, after the store of the state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new_game: and here too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    la   t0, head_i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              </a:t>
            </a:r>
            <a:pPr indent="0" marL="0">
              <a:buNone/>
            </a:pPr>
            <a:r>
              <a:rPr lang="en-US" sz="1200" dirty="0">
                <a:solidFill>
                  <a:srgbClr val="8FB3A0"/>
                </a:solidFill>
                <a:latin typeface="Courier New" pitchFamily="34" charset="0"/>
                <a:ea typeface="Courier New" pitchFamily="34" charset="-122"/>
                <a:cs typeface="Courier New" pitchFamily="34" charset="-120"/>
              </a:rPr>
              <a:t># the head is entry 2 of the ring</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length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want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step_q8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score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place_food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PLAY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dirty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              </a:t>
            </a:r>
            <a:pPr indent="0" marL="0">
              <a:buNone/>
            </a:pPr>
            <a:r>
              <a:rPr lang="en-US" sz="1200" dirty="0">
                <a:solidFill>
                  <a:srgbClr val="8FB3A0"/>
                </a:solidFill>
                <a:latin typeface="Courier New" pitchFamily="34" charset="0"/>
                <a:ea typeface="Courier New" pitchFamily="34" charset="-122"/>
                <a:cs typeface="Courier New" pitchFamily="34" charset="-120"/>
              </a:rPr>
              <a:t># a new screen: draw everything</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TITLE to PLAY: dirty = 2</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lines are added, before the return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the finished Verm1</a:t>
            </a:r>
            <a:endParaRPr lang="en-US" sz="3200" dirty="0"/>
          </a:p>
        </p:txBody>
      </p:sp>
      <p:sp>
        <p:nvSpPr>
          <p:cNvPr id="3" name="Shape 1"/>
          <p:cNvSpPr/>
          <p:nvPr/>
        </p:nvSpPr>
        <p:spPr>
          <a:xfrm>
            <a:off x="548640" y="1417320"/>
            <a:ext cx="5410048"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4_play.png">    </p:cNvPr>
          <p:cNvPicPr>
            <a:picLocks noChangeAspect="1"/>
          </p:cNvPicPr>
          <p:nvPr/>
        </p:nvPicPr>
        <p:blipFill>
          <a:blip r:embed="rId1"/>
          <a:stretch>
            <a:fillRect/>
          </a:stretch>
        </p:blipFill>
        <p:spPr>
          <a:xfrm>
            <a:off x="803072" y="1554480"/>
            <a:ext cx="4901184" cy="3063240"/>
          </a:xfrm>
          <a:prstGeom prst="rect">
            <a:avLst/>
          </a:prstGeom>
        </p:spPr>
      </p:pic>
      <p:sp>
        <p:nvSpPr>
          <p:cNvPr id="5" name="Text 2"/>
          <p:cNvSpPr txBox="1"/>
          <p:nvPr/>
        </p:nvSpPr>
        <p:spPr>
          <a:xfrm>
            <a:off x="685800"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Score 004, seven cells</a:t>
            </a:r>
            <a:endParaRPr lang="en-US" sz="1500" dirty="0"/>
          </a:p>
        </p:txBody>
      </p:sp>
      <p:sp>
        <p:nvSpPr>
          <p:cNvPr id="6" name="Shape 3"/>
          <p:cNvSpPr/>
          <p:nvPr/>
        </p:nvSpPr>
        <p:spPr>
          <a:xfrm>
            <a:off x="6233008" y="1417320"/>
            <a:ext cx="5410048" cy="3931920"/>
          </a:xfrm>
          <a:prstGeom prst="roundRect">
            <a:avLst>
              <a:gd name="adj" fmla="val 1860"/>
            </a:avLst>
          </a:prstGeom>
          <a:solidFill>
            <a:srgbClr val="EEF2F4"/>
          </a:solidFill>
          <a:ln w="12700">
            <a:solidFill>
              <a:srgbClr val="EEF2F4"/>
            </a:solidFill>
            <a:prstDash val="solid"/>
          </a:ln>
        </p:spPr>
      </p:sp>
      <p:pic>
        <p:nvPicPr>
          <p:cNvPr id="7" name="Image 1" descr="/Users/raffaelemontella/devel/riscv-prg32/computer-architecture-with-prg32/tools/assets/verm1_p4_over.png">    </p:cNvPr>
          <p:cNvPicPr>
            <a:picLocks noChangeAspect="1"/>
          </p:cNvPicPr>
          <p:nvPr/>
        </p:nvPicPr>
        <p:blipFill>
          <a:blip r:embed="rId2"/>
          <a:stretch>
            <a:fillRect/>
          </a:stretch>
        </p:blipFill>
        <p:spPr>
          <a:xfrm>
            <a:off x="6487439" y="1554480"/>
            <a:ext cx="4901184" cy="3063240"/>
          </a:xfrm>
          <a:prstGeom prst="rect">
            <a:avLst/>
          </a:prstGeom>
        </p:spPr>
      </p:pic>
      <p:sp>
        <p:nvSpPr>
          <p:cNvPr id="8" name="Text 4"/>
          <p:cNvSpPr txBox="1"/>
          <p:nvPr/>
        </p:nvSpPr>
        <p:spPr>
          <a:xfrm>
            <a:off x="6370168"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end of a game</a:t>
            </a:r>
            <a:endParaRPr lang="en-US" sz="1500" dirty="0"/>
          </a:p>
        </p:txBody>
      </p:sp>
      <p:sp>
        <p:nvSpPr>
          <p:cNvPr id="9" name="Text 5"/>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Expected: the same game as after step 3, pixel for pixel. If you see trails or holes, a change was not recorded: use the debugger.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Appendix: the functions that did not change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Eight parts of the file are those of Part 3: keep them as they are</a:t>
            </a:r>
            <a:endParaRPr lang="en-US" sz="2400" dirty="0"/>
          </a:p>
        </p:txBody>
      </p:sp>
      <p:sp>
        <p:nvSpPr>
          <p:cNvPr id="5" name="Shape 3"/>
          <p:cNvSpPr/>
          <p:nvPr/>
        </p:nvSpPr>
        <p:spPr>
          <a:xfrm>
            <a:off x="548640" y="255117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2925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They are on the next slides, so that this deck contains the whole program</a:t>
            </a:r>
            <a:endParaRPr lang="en-US" sz="2400" dirty="0"/>
          </a:p>
        </p:txBody>
      </p:sp>
      <p:sp>
        <p:nvSpPr>
          <p:cNvPr id="7" name="Shape 5"/>
          <p:cNvSpPr/>
          <p:nvPr/>
        </p:nvSpPr>
        <p:spPr>
          <a:xfrm>
            <a:off x="548640" y="375208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016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update, new_game (first half), play_update (steering), step (lookup), place_food, draw_worm, draw_cell, .rodata</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update: buttons and edges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8(sp)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s1, 4(sp)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s0, a0                 </a:t>
            </a:r>
            <a:pPr indent="0" marL="0">
              <a:buNone/>
            </a:pPr>
            <a:r>
              <a:rPr lang="en-US" sz="1500" dirty="0">
                <a:solidFill>
                  <a:srgbClr val="8FB3A0"/>
                </a:solidFill>
                <a:latin typeface="Courier New" pitchFamily="34" charset="0"/>
                <a:ea typeface="Courier New" pitchFamily="34" charset="-122"/>
                <a:cs typeface="Courier New" pitchFamily="34" charset="-120"/>
              </a:rPr>
              <a:t># s0 = buttons held in this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prev_btn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buttons held one frame ago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not  t1,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  s1, s0, t1             </a:t>
            </a:r>
            <a:pPr indent="0" marL="0">
              <a:buNone/>
            </a:pPr>
            <a:r>
              <a:rPr lang="en-US" sz="1500" dirty="0">
                <a:solidFill>
                  <a:srgbClr val="8FB3A0"/>
                </a:solidFill>
                <a:latin typeface="Courier New" pitchFamily="34" charset="0"/>
                <a:ea typeface="Courier New" pitchFamily="34" charset="-122"/>
                <a:cs typeface="Courier New" pitchFamily="34" charset="-120"/>
              </a:rPr>
              <a:t># s1 = buttons pressed just now</a:t>
            </a:r>
            <a:endParaRPr lang="en-US" sz="15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edge detector of Part 3</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new_game: the map and the 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new_game: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COLS*ROWS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sb   zero, 0(t0)            </a:t>
            </a:r>
            <a:pPr indent="0" marL="0">
              <a:buNone/>
            </a:pPr>
            <a:r>
              <a:rPr lang="en-US" sz="1150" dirty="0">
                <a:solidFill>
                  <a:srgbClr val="8FB3A0"/>
                </a:solidFill>
                <a:latin typeface="Courier New" pitchFamily="34" charset="0"/>
                <a:ea typeface="Courier New" pitchFamily="34" charset="-122"/>
                <a:cs typeface="Courier New" pitchFamily="34" charset="-120"/>
              </a:rPr>
              <a:t># empty the grid, one byte per cell</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t0, t0,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bnez t1, 1b</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0                  </a:t>
            </a:r>
            <a:pPr indent="0" marL="0">
              <a:buNone/>
            </a:pPr>
            <a:r>
              <a:rPr lang="en-US" sz="1150" dirty="0">
                <a:solidFill>
                  <a:srgbClr val="8FB3A0"/>
                </a:solidFill>
                <a:latin typeface="Courier New" pitchFamily="34" charset="0"/>
                <a:ea typeface="Courier New" pitchFamily="34" charset="-122"/>
                <a:cs typeface="Courier New" pitchFamily="34" charset="-120"/>
              </a:rPr>
              <a:t># i = 0, 1, 2: three cells in row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la   t0, body_x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t2, t1,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t2, 0(t0)              </a:t>
            </a:r>
            <a:pPr indent="0" marL="0">
              <a:buNone/>
            </a:pPr>
            <a:r>
              <a:rPr lang="en-US" sz="1150" dirty="0">
                <a:solidFill>
                  <a:srgbClr val="8FB3A0"/>
                </a:solidFill>
                <a:latin typeface="Courier New" pitchFamily="34" charset="0"/>
                <a:ea typeface="Courier New" pitchFamily="34" charset="-122"/>
                <a:cs typeface="Courier New" pitchFamily="34" charset="-120"/>
              </a:rPr>
              <a:t># columns 3, 4, 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body_y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grid+12*COLS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              </a:t>
            </a:r>
            <a:pPr indent="0" marL="0">
              <a:buNone/>
            </a:pPr>
            <a:r>
              <a:rPr lang="en-US" sz="1150" dirty="0">
                <a:solidFill>
                  <a:srgbClr val="8FB3A0"/>
                </a:solidFill>
                <a:latin typeface="Courier New" pitchFamily="34" charset="0"/>
                <a:ea typeface="Courier New" pitchFamily="34" charset="-122"/>
                <a:cs typeface="Courier New" pitchFamily="34" charset="-120"/>
              </a:rPr>
              <a:t># mark the cell as occupied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t1, t3, 2b</a:t>
            </a:r>
            <a:endParaRPr lang="en-US" sz="11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first half of new_game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play_update: steering</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play_update:                    </a:t>
            </a:r>
            <a:pPr indent="0" marL="0">
              <a:buNone/>
            </a:pPr>
            <a:r>
              <a:rPr lang="en-US" sz="1200" dirty="0">
                <a:solidFill>
                  <a:srgbClr val="8FB3A0"/>
                </a:solidFill>
                <a:latin typeface="Courier New" pitchFamily="34" charset="0"/>
                <a:ea typeface="Courier New" pitchFamily="34" charset="-122"/>
                <a:cs typeface="Courier New" pitchFamily="34" charset="-120"/>
              </a:rPr>
              <a:t># a0 = buttons held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              </a:t>
            </a:r>
            <a:pPr indent="0" marL="0">
              <a:buNone/>
            </a:pPr>
            <a:r>
              <a:rPr lang="en-US" sz="1200" dirty="0">
                <a:solidFill>
                  <a:srgbClr val="8FB3A0"/>
                </a:solidFill>
                <a:latin typeface="Courier New" pitchFamily="34" charset="0"/>
                <a:ea typeface="Courier New" pitchFamily="34" charset="-122"/>
                <a:cs typeface="Courier New" pitchFamily="34" charset="-120"/>
              </a:rPr>
              <a:t># t1 = direction of the last step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want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              </a:t>
            </a:r>
            <a:pPr indent="0" marL="0">
              <a:buNone/>
            </a:pPr>
            <a:r>
              <a:rPr lang="en-US" sz="1200" dirty="0">
                <a:solidFill>
                  <a:srgbClr val="8FB3A0"/>
                </a:solidFill>
                <a:latin typeface="Courier New" pitchFamily="34" charset="0"/>
                <a:ea typeface="Courier New" pitchFamily="34" charset="-122"/>
                <a:cs typeface="Courier New" pitchFamily="34" charset="-120"/>
              </a:rPr>
              <a:t># t2 = wanted direction, so far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t3, a0, BTN_RIGHT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andi t3, a0, BTN_DOWN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andi t3, a0, BTN_LEFT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3f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3:  andi t3, a0, BTN_UP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4f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4:  xor  t3, t2, t1             </a:t>
            </a:r>
            <a:pPr indent="0" marL="0">
              <a:buNone/>
            </a:pPr>
            <a:r>
              <a:rPr lang="en-US" sz="1200" dirty="0">
                <a:solidFill>
                  <a:srgbClr val="8FB3A0"/>
                </a:solidFill>
                <a:latin typeface="Courier New" pitchFamily="34" charset="0"/>
                <a:ea typeface="Courier New" pitchFamily="34" charset="-122"/>
                <a:cs typeface="Courier New" pitchFamily="34" charset="-120"/>
              </a:rPr>
              <a:t># opposite directions differ in bit 1 only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t4,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  t3, t4, 5f             </a:t>
            </a:r>
            <a:pPr indent="0" marL="0">
              <a:buNone/>
            </a:pPr>
            <a:r>
              <a:rPr lang="en-US" sz="1200" dirty="0">
                <a:solidFill>
                  <a:srgbClr val="8FB3A0"/>
                </a:solidFill>
                <a:latin typeface="Courier New" pitchFamily="34" charset="0"/>
                <a:ea typeface="Courier New" pitchFamily="34" charset="-122"/>
                <a:cs typeface="Courier New" pitchFamily="34" charset="-120"/>
              </a:rPr>
              <a:t># a U-turn: ignore the request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5:</a:t>
            </a:r>
            <a:endParaRPr lang="en-US" sz="12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masks and the U-turn rule of Part 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step: the table lookup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step: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s0, 8(sp)              </a:t>
            </a:r>
            <a:pPr indent="0" marL="0">
              <a:buNone/>
            </a:pPr>
            <a:r>
              <a:rPr lang="en-US" sz="1300" dirty="0">
                <a:solidFill>
                  <a:srgbClr val="8FB3A0"/>
                </a:solidFill>
                <a:latin typeface="Courier New" pitchFamily="34" charset="0"/>
                <a:ea typeface="Courier New" pitchFamily="34" charset="-122"/>
                <a:cs typeface="Courier New" pitchFamily="34" charset="-120"/>
              </a:rPr>
              <a:t># s0 = column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s1, 4(sp)              </a:t>
            </a:r>
            <a:pPr indent="0" marL="0">
              <a:buNone/>
            </a:pPr>
            <a:r>
              <a:rPr lang="en-US" sz="1300" dirty="0">
                <a:solidFill>
                  <a:srgbClr val="8FB3A0"/>
                </a:solidFill>
                <a:latin typeface="Courier New" pitchFamily="34" charset="0"/>
                <a:ea typeface="Courier New" pitchFamily="34" charset="-122"/>
                <a:cs typeface="Courier New" pitchFamily="34" charset="-120"/>
              </a:rPr>
              <a:t># s1 = row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s2, 0(sp)              </a:t>
            </a:r>
            <a:pPr indent="0" marL="0">
              <a:buNone/>
            </a:pPr>
            <a:r>
              <a:rPr lang="en-US" sz="1300" dirty="0">
                <a:solidFill>
                  <a:srgbClr val="8FB3A0"/>
                </a:solidFill>
                <a:latin typeface="Courier New" pitchFamily="34" charset="0"/>
                <a:ea typeface="Courier New" pitchFamily="34" charset="-122"/>
                <a:cs typeface="Courier New" pitchFamily="34" charset="-120"/>
              </a:rPr>
              <a:t># s2 = 0 when the worm eats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want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dir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              </a:t>
            </a:r>
            <a:pPr indent="0" marL="0">
              <a:buNone/>
            </a:pPr>
            <a:r>
              <a:rPr lang="en-US" sz="1300" dirty="0">
                <a:solidFill>
                  <a:srgbClr val="8FB3A0"/>
                </a:solidFill>
                <a:latin typeface="Courier New" pitchFamily="34" charset="0"/>
                <a:ea typeface="Courier New" pitchFamily="34" charset="-122"/>
                <a:cs typeface="Courier New" pitchFamily="34" charset="-120"/>
              </a:rPr>
              <a:t># the wanted direction is now the 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t1, 2              </a:t>
            </a:r>
            <a:pPr indent="0" marL="0">
              <a:buNone/>
            </a:pPr>
            <a:r>
              <a:rPr lang="en-US" sz="1300" dirty="0">
                <a:solidFill>
                  <a:srgbClr val="8FB3A0"/>
                </a:solidFill>
                <a:latin typeface="Courier New" pitchFamily="34" charset="0"/>
                <a:ea typeface="Courier New" pitchFamily="34" charset="-122"/>
                <a:cs typeface="Courier New" pitchFamily="34" charset="-120"/>
              </a:rPr>
              <a:t># table offset = direction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0(t0)              </a:t>
            </a:r>
            <a:pPr indent="0" marL="0">
              <a:buNone/>
            </a:pPr>
            <a:r>
              <a:rPr lang="en-US" sz="1300" dirty="0">
                <a:solidFill>
                  <a:srgbClr val="8FB3A0"/>
                </a:solidFill>
                <a:latin typeface="Courier New" pitchFamily="34" charset="0"/>
                <a:ea typeface="Courier New" pitchFamily="34" charset="-122"/>
                <a:cs typeface="Courier New" pitchFamily="34" charset="-120"/>
              </a:rPr>
              <a:t># t2 = dx[direction]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              </a:t>
            </a:r>
            <a:pPr indent="0" marL="0">
              <a:buNone/>
            </a:pPr>
            <a:r>
              <a:rPr lang="en-US" sz="1300" dirty="0">
                <a:solidFill>
                  <a:srgbClr val="8FB3A0"/>
                </a:solidFill>
                <a:latin typeface="Courier New" pitchFamily="34" charset="0"/>
                <a:ea typeface="Courier New" pitchFamily="34" charset="-122"/>
                <a:cs typeface="Courier New" pitchFamily="34" charset="-120"/>
              </a:rPr>
              <a:t># t3 = dy[direction]</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frame and the tables dx, dy</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place_food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place_food: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COLS-1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mv   s0, a0                 </a:t>
            </a:r>
            <a:pPr indent="0" marL="0">
              <a:buNone/>
            </a:pPr>
            <a:r>
              <a:rPr lang="en-US" sz="1100" dirty="0">
                <a:solidFill>
                  <a:srgbClr val="8FB3A0"/>
                </a:solidFill>
                <a:latin typeface="Courier New" pitchFamily="34" charset="0"/>
                <a:ea typeface="Courier New" pitchFamily="34" charset="-122"/>
                <a:cs typeface="Courier New" pitchFamily="34" charset="-120"/>
              </a:rPr>
              <a:t># s0 = a column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ROWS-1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100" dirty="0">
                <a:solidFill>
                  <a:srgbClr val="8FB3A0"/>
                </a:solidFill>
                <a:latin typeface="Courier New" pitchFamily="34" charset="0"/>
                <a:ea typeface="Courier New" pitchFamily="34" charset="-122"/>
                <a:cs typeface="Courier New" pitchFamily="34" charset="-120"/>
              </a:rPr>
              <a:t># a0 = a row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t1, COLS</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mul  t2, a0,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t2, t2, s0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grid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t3,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t3, 1b                 </a:t>
            </a:r>
            <a:pPr indent="0" marL="0">
              <a:buNone/>
            </a:pPr>
            <a:r>
              <a:rPr lang="en-US" sz="1100" dirty="0">
                <a:solidFill>
                  <a:srgbClr val="8FB3A0"/>
                </a:solidFill>
                <a:latin typeface="Courier New" pitchFamily="34" charset="0"/>
                <a:ea typeface="Courier New" pitchFamily="34" charset="-122"/>
                <a:cs typeface="Courier New" pitchFamily="34" charset="-120"/>
              </a:rPr>
              <a:t># on the worm: try again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a0,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ret</a:t>
            </a:r>
            <a:endParaRPr lang="en-US" sz="11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random free cell</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draw_worm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000" dirty="0">
                <a:solidFill>
                  <a:srgbClr val="E6EDF2"/>
                </a:solidFill>
                <a:latin typeface="Courier New" pitchFamily="34" charset="0"/>
                <a:ea typeface="Courier New" pitchFamily="34" charset="-122"/>
                <a:cs typeface="Courier New" pitchFamily="34" charset="-120"/>
              </a:rPr>
              <a:t>draw_worm:</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s0, 0                  </a:t>
            </a:r>
            <a:pPr indent="0" marL="0">
              <a:buNone/>
            </a:pPr>
            <a:r>
              <a:rPr lang="en-US" sz="1000" dirty="0">
                <a:solidFill>
                  <a:srgbClr val="8FB3A0"/>
                </a:solidFill>
                <a:latin typeface="Courier New" pitchFamily="34" charset="0"/>
                <a:ea typeface="Courier New" pitchFamily="34" charset="-122"/>
                <a:cs typeface="Courier New" pitchFamily="34" charset="-120"/>
              </a:rPr>
              <a:t># s0 = i: segment 0 is the head</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1:  la   t0, length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bge  s0, t1, 3f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head_i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sub  t1, t1, s0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andi t1, t1, 255            </a:t>
            </a:r>
            <a:pPr indent="0" marL="0">
              <a:buNone/>
            </a:pPr>
            <a:r>
              <a:rPr lang="en-US" sz="1000" dirty="0">
                <a:solidFill>
                  <a:srgbClr val="8FB3A0"/>
                </a:solidFill>
                <a:latin typeface="Courier New" pitchFamily="34" charset="0"/>
                <a:ea typeface="Courier New" pitchFamily="34" charset="-122"/>
                <a:cs typeface="Courier New" pitchFamily="34" charset="-120"/>
              </a:rPr>
              <a:t># ring index of segment 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a0,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BODY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bnez s0, 2f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GREEN              </a:t>
            </a:r>
            <a:pPr indent="0" marL="0">
              <a:buNone/>
            </a:pPr>
            <a:r>
              <a:rPr lang="en-US" sz="1000" dirty="0">
                <a:solidFill>
                  <a:srgbClr val="8FB3A0"/>
                </a:solidFill>
                <a:latin typeface="Courier New" pitchFamily="34" charset="0"/>
                <a:ea typeface="Courier New" pitchFamily="34" charset="-122"/>
                <a:cs typeface="Courier New" pitchFamily="34" charset="-120"/>
              </a:rPr>
              <a:t># the head is brighter</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2:  call draw_cell</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s0, s0,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j    1b</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3:  lw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ret</a:t>
            </a:r>
            <a:endParaRPr lang="en-US" sz="10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Used by draw_full only, once per new screen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draw_cell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draw_cell:                      </a:t>
            </a:r>
            <a:pPr indent="0" marL="0">
              <a:buNone/>
            </a:pPr>
            <a:r>
              <a:rPr lang="en-US" sz="1450" dirty="0">
                <a:solidFill>
                  <a:srgbClr val="8FB3A0"/>
                </a:solidFill>
                <a:latin typeface="Courier New" pitchFamily="34" charset="0"/>
                <a:ea typeface="Courier New" pitchFamily="34" charset="-122"/>
                <a:cs typeface="Courier New" pitchFamily="34" charset="-120"/>
              </a:rPr>
              <a:t># a0 = column, a1 = row, a2 = colour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a0, a0, 3              </a:t>
            </a:r>
            <a:pPr indent="0" marL="0">
              <a:buNone/>
            </a:pPr>
            <a:r>
              <a:rPr lang="en-US" sz="1450" dirty="0">
                <a:solidFill>
                  <a:srgbClr val="8FB3A0"/>
                </a:solidFill>
                <a:latin typeface="Courier New" pitchFamily="34" charset="0"/>
                <a:ea typeface="Courier New" pitchFamily="34" charset="-122"/>
                <a:cs typeface="Courier New" pitchFamily="34" charset="-120"/>
              </a:rPr>
              <a:t># x = column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a1, a1, 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450" dirty="0">
                <a:solidFill>
                  <a:srgbClr val="8FB3A0"/>
                </a:solidFill>
                <a:latin typeface="Courier New" pitchFamily="34" charset="0"/>
                <a:ea typeface="Courier New" pitchFamily="34" charset="-122"/>
                <a:cs typeface="Courier New" pitchFamily="34" charset="-120"/>
              </a:rPr>
              <a:t># y = row * 8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a4, a2                 </a:t>
            </a:r>
            <a:pPr indent="0" marL="0">
              <a:buNone/>
            </a:pPr>
            <a:r>
              <a:rPr lang="en-US" sz="1450" dirty="0">
                <a:solidFill>
                  <a:srgbClr val="8FB3A0"/>
                </a:solidFill>
                <a:latin typeface="Courier New" pitchFamily="34" charset="0"/>
                <a:ea typeface="Courier New" pitchFamily="34" charset="-122"/>
                <a:cs typeface="Courier New" pitchFamily="34" charset="-120"/>
              </a:rPr>
              <a:t># the colour is the fifth argument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a2,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From cells to pixels, since Part 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.rodata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.section .rodata                </a:t>
            </a:r>
            <a:pPr indent="0" marL="0">
              <a:buNone/>
            </a:pPr>
            <a:r>
              <a:rPr lang="en-US" sz="1300" dirty="0">
                <a:solidFill>
                  <a:srgbClr val="8FB3A0"/>
                </a:solidFill>
                <a:latin typeface="Courier New" pitchFamily="34" charset="0"/>
                <a:ea typeface="Courier New" pitchFamily="34" charset="-122"/>
                <a:cs typeface="Courier New" pitchFamily="34" charset="-120"/>
              </a:rPr>
              <a:t># constants: they stay in the cartridge file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title:     .asciz "VERM1"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press_a:   .asciz "PRESS 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game_over: .asciz "GAME 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dx:        .word  1, 0, -1,  0  </a:t>
            </a:r>
            <a:pPr indent="0" marL="0">
              <a:buNone/>
            </a:pPr>
            <a:r>
              <a:rPr lang="en-US" sz="1300" dirty="0">
                <a:solidFill>
                  <a:srgbClr val="8FB3A0"/>
                </a:solidFill>
                <a:latin typeface="Courier New" pitchFamily="34" charset="0"/>
                <a:ea typeface="Courier New" pitchFamily="34" charset="-122"/>
                <a:cs typeface="Courier New" pitchFamily="34" charset="-120"/>
              </a:rPr>
              <a:t># right, down, left, up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dy:        .word  0, 1,  0, -1</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Strings and tables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finished game: the score and the best score in digits, a worm that goes faster as the score grows, a short note for a meal and a long low one for the end.</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starts a game; steer with the joystick</a:t>
            </a:r>
            <a:endParaRPr lang="en-US" sz="2400" dirty="0"/>
          </a:p>
        </p:txBody>
      </p:sp>
      <p:pic>
        <p:nvPicPr>
          <p:cNvPr id="7" name="Image 0" descr="/Users/raffaelemontella/devel/riscv-prg32/computer-architecture-with-prg32/tools/assets/verm1_p4_play.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Make it yours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pause: button B stops the game and writes PAUSE; B again resumes. A fourth state</a:t>
            </a:r>
            <a:endParaRPr lang="en-US" sz="2400" dirty="0"/>
          </a:p>
        </p:txBody>
      </p:sp>
      <p:sp>
        <p:nvSpPr>
          <p:cNvPr id="6" name="Text 4"/>
          <p:cNvSpPr txBox="1"/>
          <p:nvPr/>
        </p:nvSpPr>
        <p:spPr>
          <a:xfrm>
            <a:off x="548640" y="2345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27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melody on the title screen: a table of notes in .rodata, one note every 15 frames</a:t>
            </a:r>
            <a:endParaRPr lang="en-US" sz="2400" dirty="0"/>
          </a:p>
        </p:txBody>
      </p:sp>
      <p:sp>
        <p:nvSpPr>
          <p:cNvPr id="8" name="Text 6"/>
          <p:cNvSpPr txBox="1"/>
          <p:nvPr/>
        </p:nvSpPr>
        <p:spPr>
          <a:xfrm>
            <a:off x="548640" y="32562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79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Bonus food: every fifth piece is yellow, worth three points, and disappears after 100 frames</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Your own colours with prg32_palette_set, or your own rules: this is your game now</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The version you publish in Lecture 23 should have something that is yours. Change the title string, too.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4: The Finished Game: the code</dc:title>
  <dc:subject>Lecture 22</dc:subject>
  <dc:creator>Raffaele Montella</dc:creator>
  <cp:lastModifiedBy>Raffaele Montella</cp:lastModifiedBy>
  <cp:revision>1</cp:revision>
  <dcterms:created xsi:type="dcterms:W3CDTF">2026-10-13T08:56:24Z</dcterms:created>
  <dcterms:modified xsi:type="dcterms:W3CDTF">2026-10-13T08:56:24Z</dcterms:modified>
</cp:coreProperties>
</file>