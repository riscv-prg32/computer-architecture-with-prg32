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8266cb-8e89-2990-a603-c0fcea9d27fb}">
          <p14:sldIdLst>
            <p14:sldId id="256"/>
            <p14:sldId id="257"/>
          </p14:sldIdLst>
        </p14:section>
        <p14:section name="The listings" id="{14fc484f-93d6-adb8-3ddd-2c438c19598f}">
          <p14:sldIdLst>
            <p14:sldId id="258"/>
            <p14:sldId id="259"/>
          </p14:sldIdLst>
        </p14:section>
        <p14:section name="The complete program" id="{a13e0c81-f271-8108-3634-ba1842859b65}">
          <p14:sldIdLst>
            <p14:sldId id="260"/>
            <p14:sldId id="261"/>
            <p14:sldId id="262"/>
          </p14:sldIdLst>
        </p14:section>
        <p14:section name="Run it and test it" id="{dafaa600-0649-7a37-a0df-b1f48f080458}">
          <p14:sldIdLst>
            <p14:sldId id="263"/>
            <p14:sldId id="264"/>
            <p14:sldId id="265"/>
            <p14:sldId id="266"/>
            <p14:sldId id="267"/>
          </p14:sldIdLst>
        </p14:section>
        <p14:section name="Exercises" id="{1795ab38-223f-bb3d-deca-75d6ee7a66ff}">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04.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~/arc12/code/l04.S; tools/tests/cartridges/run.py builds it, runs it on PRG32-QT with scripted input and checks the pixels of the frame.
For the lecturer: Get the code once: git clone https://github.com/riscv-prg32/computer-architecture-with-prg32 ~/arc12. The program of this lecture is ~/arc12/code/l04.S;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array of four words, and the four instructions that read element 2. la loads the address of the first element. The index is multiplied by 4, the size of a word in bytes, with a shift to the left by 2: shifting by one position doubles a binary number. add forms the address of the element, and lw reads its value, 34. The expression scores[i] of a high-level language is exactly this. Note what is missing: nobody checks that the index is less than 4.
For the lecturer: The shift-as-multiplication property is proved in Lecture 05 (properties of binary strings). Ask: what does lw read if i = 4? Whatever follows the array in memory: the machine does not check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of algorithms that use chance. The first tests whether a number is prime by trying random values: if a test fails, the number is certainly composite; if thirty tests pass, it is prime with overwhelming probability. Trading a tiny chance of error for a great gain in speed is how cryptography works in practice. The second is a random walk: the path is different at every run, and a simulation averages many runs. The listing is pseudo-code, not a language you can compile.
For the lecturer: The Fermat test shown here is the simplest; real libraries use Miller-Rabin, which closes its loopholes. Both examples are from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exercises on the cartridge of Lecture 02. Compute an RGB565 value by hand before trying it: choose the three intensities, write the fields in binary, group by four. Print your name and count the bytes, including the terminator. Declare an array of colours with .word and read it with lw, as on the slide of the array. Finally look at the string and the array in the memory view of PRG32-QT: find the zero at the end, and check that each word shows its least significant byte first.
For the lecturer: Dark grey example: red 8 of 31, green 16 of 63, blue 8 of 31 = 01000 010000 01000 = 0x4208, the GREY of the textbook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code/l04.S, 56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array in memory, an element in a register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350" dirty="0">
                <a:solidFill>
                  <a:srgbClr val="8FB3A0"/>
                </a:solidFill>
                <a:latin typeface="Courier New" pitchFamily="34" charset="0"/>
                <a:ea typeface="Courier New" pitchFamily="34" charset="-122"/>
                <a:cs typeface="Courier New" pitchFamily="34" charset="-120"/>
              </a:rPr>
              <a:t># four 32-bit words, 16 bytes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scores      </a:t>
            </a:r>
            <a:pPr indent="0" marL="0">
              <a:buNone/>
            </a:pPr>
            <a:r>
              <a:rPr lang="en-US" sz="1350" dirty="0">
                <a:solidFill>
                  <a:srgbClr val="8FB3A0"/>
                </a:solidFill>
                <a:latin typeface="Courier New" pitchFamily="34" charset="0"/>
                <a:ea typeface="Courier New" pitchFamily="34" charset="-122"/>
                <a:cs typeface="Courier New" pitchFamily="34" charset="-120"/>
              </a:rPr>
              <a:t># t0 = ADDRESS of element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           </a:t>
            </a:r>
            <a:pPr indent="0" marL="0">
              <a:buNone/>
            </a:pPr>
            <a:r>
              <a:rPr lang="en-US" sz="1350" dirty="0">
                <a:solidFill>
                  <a:srgbClr val="8FB3A0"/>
                </a:solidFill>
                <a:latin typeface="Courier New" pitchFamily="34" charset="0"/>
                <a:ea typeface="Courier New" pitchFamily="34" charset="-122"/>
                <a:cs typeface="Courier New" pitchFamily="34" charset="-120"/>
              </a:rPr>
              <a:t># index i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t1, t1, 2       </a:t>
            </a:r>
            <a:pPr indent="0" marL="0">
              <a:buNone/>
            </a:pPr>
            <a:r>
              <a:rPr lang="en-US" sz="1350" dirty="0">
                <a:solidFill>
                  <a:srgbClr val="8FB3A0"/>
                </a:solidFill>
                <a:latin typeface="Courier New" pitchFamily="34" charset="0"/>
                <a:ea typeface="Courier New" pitchFamily="34" charset="-122"/>
                <a:cs typeface="Courier New" pitchFamily="34" charset="-120"/>
              </a:rPr>
              <a:t># offset = i * 4 bytes (shift left by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element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a0, 0(t0)       </a:t>
            </a:r>
            <a:pPr indent="0" marL="0">
              <a:buNone/>
            </a:pPr>
            <a:r>
              <a:rPr lang="en-US" sz="1350" dirty="0">
                <a:solidFill>
                  <a:srgbClr val="8FB3A0"/>
                </a:solidFill>
                <a:latin typeface="Courier New" pitchFamily="34" charset="0"/>
                <a:ea typeface="Courier New" pitchFamily="34" charset="-122"/>
                <a:cs typeface="Courier New" pitchFamily="34" charset="-120"/>
              </a:rPr>
              <a:t># a0 = VALUE of scores[2] = 34</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An array is a base address plus equal-sized elements</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Element i of a word array is at base + 4 x i, because a word is four bytes</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slli by 2 multiplies by four: a shift is a multiplication by a power of two</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high-level expression scores[i] is exactly these four instructions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probabilistic algorithm: is n prime?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is_probably_prime(n):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repeat 30 times: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 = random(2, n - 2)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if a^(n-1) mod n !=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COMPOSITE          #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return PROBABLY PRIME             # almost certain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random_walk():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while t &lt; t_final: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 = random(-1,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x = x + r * u                 # a different path every run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y = y + r * v</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 = t + 1</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first answer is always right; the second is right with overwhelming probability</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Trading a tiny chance of error for a huge gain in speed is how real cryptography tests primes</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random walk gives a different result at every run: simulations average many of them</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04: Representing Digital Information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l04.S: an array in memory, an element in a register</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horizontal bars, one per element of the array (32, 11, 34, 22,</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four pixels per unit); element 2, the one the listing loads, is yellow.</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l04.S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l04 --name l04 --out l04.prg32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l04_draw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l04_update: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l04_draw: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index i,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scores          </a:t>
            </a:r>
            <a:pPr indent="0" marL="0">
              <a:buNone/>
            </a:pPr>
            <a:r>
              <a:rPr lang="en-US" sz="1200" dirty="0">
                <a:solidFill>
                  <a:srgbClr val="8FB3A0"/>
                </a:solidFill>
                <a:latin typeface="Courier New" pitchFamily="34" charset="0"/>
                <a:ea typeface="Courier New" pitchFamily="34" charset="-122"/>
                <a:cs typeface="Courier New" pitchFamily="34" charset="-120"/>
              </a:rPr>
              <a:t># t0 = ADDRESS of element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t1, s0              </a:t>
            </a:r>
            <a:pPr indent="0" marL="0">
              <a:buNone/>
            </a:pPr>
            <a:r>
              <a:rPr lang="en-US" sz="1200" dirty="0">
                <a:solidFill>
                  <a:srgbClr val="8FB3A0"/>
                </a:solidFill>
                <a:latin typeface="Courier New" pitchFamily="34" charset="0"/>
                <a:ea typeface="Courier New" pitchFamily="34" charset="-122"/>
                <a:cs typeface="Courier New" pitchFamily="34" charset="-120"/>
              </a:rPr>
              <a:t># index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t1, 2           </a:t>
            </a:r>
            <a:pPr indent="0" marL="0">
              <a:buNone/>
            </a:pPr>
            <a:r>
              <a:rPr lang="en-US" sz="1200" dirty="0">
                <a:solidFill>
                  <a:srgbClr val="8FB3A0"/>
                </a:solidFill>
                <a:latin typeface="Courier New" pitchFamily="34" charset="0"/>
                <a:ea typeface="Courier New" pitchFamily="34" charset="-122"/>
                <a:cs typeface="Courier New" pitchFamily="34" charset="-120"/>
              </a:rPr>
              <a:t># offset = i * 4 bytes (shift left by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element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           </a:t>
            </a:r>
            <a:pPr indent="0" marL="0">
              <a:buNone/>
            </a:pPr>
            <a:r>
              <a:rPr lang="en-US" sz="1200" dirty="0">
                <a:solidFill>
                  <a:srgbClr val="8FB3A0"/>
                </a:solidFill>
                <a:latin typeface="Courier New" pitchFamily="34" charset="0"/>
                <a:ea typeface="Courier New" pitchFamily="34" charset="-122"/>
                <a:cs typeface="Courier New" pitchFamily="34" charset="-120"/>
              </a:rPr>
              <a:t># VALUE of scores[i]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a2, a2, 2           </a:t>
            </a:r>
            <a:pPr indent="0" marL="0">
              <a:buNone/>
            </a:pPr>
            <a:r>
              <a:rPr lang="en-US" sz="1200" dirty="0">
                <a:solidFill>
                  <a:srgbClr val="8FB3A0"/>
                </a:solidFill>
                <a:latin typeface="Courier New" pitchFamily="34" charset="0"/>
                <a:ea typeface="Courier New" pitchFamily="34" charset="-122"/>
                <a:cs typeface="Courier New" pitchFamily="34" charset="-120"/>
              </a:rPr>
              <a:t># width: four pixels per unit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scores[2] = 34: the element of the slide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20              </a:t>
            </a:r>
            <a:pPr indent="0" marL="0">
              <a:buNone/>
            </a:pPr>
            <a:r>
              <a:rPr lang="en-US" sz="1200" dirty="0">
                <a:solidFill>
                  <a:srgbClr val="8FB3A0"/>
                </a:solidFill>
                <a:latin typeface="Courier New" pitchFamily="34" charset="0"/>
                <a:ea typeface="Courier New" pitchFamily="34" charset="-122"/>
                <a:cs typeface="Courier New" pitchFamily="34" charset="-120"/>
              </a:rPr>
              <a:t># 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l04.S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scores: .word 32, 11, 34, 22     </a:t>
            </a:r>
            <a:pPr indent="0" marL="0">
              <a:buNone/>
            </a:pPr>
            <a:r>
              <a:rPr lang="en-US" sz="1800" dirty="0">
                <a:solidFill>
                  <a:srgbClr val="8FB3A0"/>
                </a:solidFill>
                <a:latin typeface="Courier New" pitchFamily="34" charset="0"/>
                <a:ea typeface="Courier New" pitchFamily="34" charset="-122"/>
                <a:cs typeface="Courier New" pitchFamily="34" charset="-120"/>
              </a:rPr>
              <a:t># four 32-bit words, 16 bytes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one per element of the array (32, 11, 34, 22, four pixels per unit); element 2, the one the listing loads, is yellow.</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l04 --out l04.prg32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l04 --name l04 --architecture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bar of Lecture 02 to magenta, then to a dark grey of your choice: compute the RGB565 value by hand first</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Print your name with prg32_gfx_text8. How many bytes does the string occupy?</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Declare an array of four colours with .word and draw four bars, one per colour, reading each colour with lw</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PRG32-QT open the memory view on your string and on your array: find the terminating zero and check the byte order</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Four bars in four colours; in the memory view the string ends with 00 and each .word shows its least significant byte first.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 the code</dc:title>
  <dc:subject>Lecture 04</dc:subject>
  <dc:creator>Raffaele Montella</dc:creator>
  <cp:lastModifiedBy>Raffaele Montella</cp:lastModifiedBy>
  <cp:revision>1</cp:revision>
  <dcterms:created xsi:type="dcterms:W3CDTF">2026-10-13T08:56:23Z</dcterms:created>
  <dcterms:modified xsi:type="dcterms:W3CDTF">2026-10-13T08:56:23Z</dcterms:modified>
</cp:coreProperties>
</file>