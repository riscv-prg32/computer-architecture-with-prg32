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6561cf8-6f8b-3b33-1d8e-d51c26e6c26d}">
          <p14:sldIdLst>
            <p14:sldId id="256"/>
            <p14:sldId id="257"/>
          </p14:sldIdLst>
        </p14:section>
        <p14:section name="Data structures" id="{6c1cabf6-e863-1a6b-0974-d75d49e23ae1}">
          <p14:sldIdLst>
            <p14:sldId id="258"/>
          </p14:sldIdLst>
        </p14:section>
        <p14:section name="Data and algorithms" id="{b7f1c34c-64e9-7732-ad43-ff02276673e1}">
          <p14:sldIdLst>
            <p14:sldId id="259"/>
          </p14:sldIdLst>
        </p14:section>
        <p14:section name="The complete program" id="{e817f068-c091-444c-04e5-0a1b34159234}">
          <p14:sldIdLst>
            <p14:sldId id="260"/>
            <p14:sldId id="261"/>
            <p14:sldId id="262"/>
          </p14:sldIdLst>
        </p14:section>
        <p14:section name="Run it and test it" id="{398e5736-cabc-c439-5122-2fce1387c387}">
          <p14:sldIdLst>
            <p14:sldId id="263"/>
            <p14:sldId id="264"/>
            <p14:sldId id="265"/>
            <p14:sldId id="266"/>
            <p14:sldId id="267"/>
          </p14:sldIdLst>
        </p14:section>
        <p14:section name="Exercises" id="{017f2a08-99b8-5849-6bb7-cd39c60384b7}">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code deck of Lecture 04. The lecture deck holds the concepts; this one holds everything you type and run: the listings with their explanation, the complete program, what it shows, and the way to test it on each of the three hosts.
Learning status: UNDERSTAND NOW, by the end of this lecture you explain it, trace it and apply it on your own; USE NOW, you follow and use the recipe today; how it works inside is explained later, or is not part of the course; UNDERSTAND LATER, recognise the name and what it is for; a later lecture explains it. A slide without a badge is context: a story, an example, a question, an exercise.
Learning status of this lecture. UNDERSTAND NOW: analog and digital; bit, byte, word; hexadecimal; positional notation; a colour is a number; characters and strings; little-endian byte order; data structures; arrays in memory; algorithms. USE NOW: shifts as multiplications (Lecture 05) and, used without being studied in this course, the complete program, the PRG32 tools. UNDERSTAND LATER: nothing. A slide without a badge is context: a story, an example, a question, an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deck contains, in the order of the slides. The program of the lecture is a file that you can build and run as it is: start from there, and come back to the listings to understand each part. The program of this lecture is ~/arc12/code/l04.S; tools/tests/cartridges/run.py builds it, runs it on PRG32-QT with scripted input and checks the pixels of the frame.
For the lecturer: Get the code once: git clone https://github.com/riscv-prg32/computer-architecture-with-prg32 ~/arc12. The program of this lecture is ~/arc12/code/l04.S; tools/tests/cartridges/run.py builds it, runs it on PRG32-QT with scripted input and checks the pixels of the frame. Every listing on these slides is read by the build from a tested file, or checked by tools/tests: see its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array of four words, and the four instructions that read element 2. la loads the address of the first element. The index is multiplied by 4, the size of a word in bytes, with a shift to the left by 2: shifting by one position doubles a binary number. add forms the address of the element, and lw reads its value, 34. The expression scores[i] of a high-level language is exactly this. Note what is missing: nobody checks that the index is less than 4.
UNDERSTAND NOW: arrays in memory. USE NOW: shifts as multiplications (studied in Lecture 05).
For the lecturer: The shift-as-multiplication property is proved in Lecture 05 (properties of binary strings). Ask: what does lw read if i = 4? Whatever follows the array in memory: the machine does not check bounds.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examples of algorithms that use chance. The first tests whether a number is prime by trying random values: if a test fails, the number is certainly composite; if thirty tests pass, it is prime with overwhelming probability. Trading a tiny chance of error for a great gain in speed is how cryptography works in practice. The second is a random walk: the path is different at every run, and a simulation averages many runs. The listing is pseudo-code, not a language you can compile.
UNDERSTAND NOW: algorithms.
For the lecturer: The Fermat test shown here is the simplest; real libraries use Miller-Rabin, which closes its loopholes. Both examples are from the source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USE NOW: the complete program (used, not studied, in this course).
For the lecturer: code/l04.S,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USE NOW: the complete program (used, not studied, in this course).
For the lecturer: code/l04.S,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USE NOW: the complete program (used, not studied, in this course).
For the lecturer: code/l04.S,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program shows when it runs, and what to press. Predict before you run: if the screen differs from this picture, the difference is information. The picture was written by the automatic test, not drawn by hand.
For the lecturer: The picture is the frame that the headless runner of PRG32-QT produced in the test of this program. On QEMU and on the board the game area is the same 320 by 200 pixels, between the two status 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quickest way: PRG32-QT on your own computer. Four steps, each with its command. PRG32-QT behaves like a board on port 8080, which is why the upload command says esp32c6. With debug mode enabled you can stop at any instruction and read registers and memory.
USE NOW: the PRG32 tools (used, not studied, in this course).
For the lecturer: Run by the tests: the cartridge of this slide is built with this command and executed on the headless runner of PRG32-QT. Without the toolchain: import the .prg32 file in PRG32-QT and choose Run Cartridge. Keys: arrows or WASD for the joystick, Z or J for A, X or K for B, Enter for Start, Escape to go back to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emulator. QEMU runs the real firmware on an emulated chip, so the cartridge must be built for the architecture qemu. Stage the cartridge while QEMU is closed. The firmware opens on the Setup menu: choose Run Cartridge and the slot. Remember that the keyboard is read by the terminal, not by the window with the picture.
USE NOW: the PRG32 tools (used, not studied, in this course).
For the lecturer: Checked by the tests up to the staging: the cartridge is built for the architecture qemu and accepted into the flash image of the emulator. What the emulator then shows is not checked automatically: Espressif QEMU needs its window. Since October 2026 the firmware starts on Setup: choose Run Cartridge, then cart0.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kit. The firmware is written once, through USB; after that cartridges travel over Wi-Fi. The upload command is the one used for PRG32-QT with the address of the board. This is the only host that the automatic tests do not run: try it, and report what you see.
USE NOW: the PRG32 tools (used, not studied, in this course).
For the lecturer: Not run by the tests: there is no board on the test machine. The cartridge for the architecture esp32c6 is built by the tests; the steps are those of the PRG32 documentation. If the serial port is not found pass it explicitly. To use the Wi-Fi of the classroom: python3 -m prg32 wifi set --ssid NAME --password PASSWORD --mode 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most common symptoms, what each means, and what to do. Read the message before changing anything: it nearly always names the cause.
USE NOW: the PRG32 tools (used, not studied, in this course).
For the lecturer: The first three rows cover most cases. When asking for help, paste the command and the whole message as text. docs/usage/troubleshooting.md of the PRG32 repository has the complete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exercises on the cartridge of Lecture 02. Compute an RGB565 value by hand before trying it: choose the three intensities, write the fields in binary, group by four. Print your name and count the bytes, including the terminator. Declare an array of colours with .word and read it with lw, as on the slide of the array. Finally look at the string and the array in the memory view of PRG32-QT: find the zero at the end, and check that each word shows its least significant byte first.
For the lecturer: Dark grey example: red 8 of 31, green 16 of 63, blue 8 of 31 = 01000 010000 01000 = 0x4208, the GREY of the textbook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04: Digital information (code)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04</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Representing Digital Information: the code</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Code deck: every listing explained, the complete program, and how to test it on PRG32-QT, on QEMU and on the board</a:t>
            </a:r>
            <a:endParaRPr lang="en-US" sz="1700" dirty="0"/>
          </a:p>
        </p:txBody>
      </p:sp>
      <p:sp>
        <p:nvSpPr>
          <p:cNvPr id="10" name="Text 8"/>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1" name="Text 9"/>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Code deck. The concepts, the figures and the questions are in the lecture deck:</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04-Computer_Architecture-Digital_Information.pptx</a:t>
            </a:r>
            <a:endParaRPr lang="en-US" sz="1300" dirty="0"/>
          </a:p>
        </p:txBody>
      </p:sp>
      <p:sp>
        <p:nvSpPr>
          <p:cNvPr id="12" name="Shape 10"/>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3" name="Image 0" descr="/Users/raffaelemontella/devel/riscv-prg32/computer-architecture-with-prg32/tools/assets/lab1_step2_hello.png">    </p:cNvPr>
          <p:cNvPicPr>
            <a:picLocks noChangeAspect="1"/>
          </p:cNvPicPr>
          <p:nvPr/>
        </p:nvPicPr>
        <p:blipFill>
          <a:blip r:embed="rId1"/>
          <a:stretch>
            <a:fillRect/>
          </a:stretch>
        </p:blipFill>
        <p:spPr>
          <a:xfrm>
            <a:off x="8716975" y="4280535"/>
            <a:ext cx="2834640" cy="1771650"/>
          </a:xfrm>
          <a:prstGeom prst="rect">
            <a:avLst/>
          </a:prstGeom>
        </p:spPr>
      </p:pic>
      <p:sp>
        <p:nvSpPr>
          <p:cNvPr id="14" name="Shape 11"/>
          <p:cNvSpPr/>
          <p:nvPr/>
        </p:nvSpPr>
        <p:spPr>
          <a:xfrm>
            <a:off x="9690303" y="91440"/>
            <a:ext cx="1952752" cy="274320"/>
          </a:xfrm>
          <a:prstGeom prst="rect">
            <a:avLst/>
          </a:prstGeom>
          <a:solidFill>
            <a:srgbClr val="F3E8FF"/>
          </a:solidFill>
          <a:ln w="12700">
            <a:solidFill>
              <a:srgbClr val="7E22CE"/>
            </a:solidFill>
            <a:prstDash val="dash"/>
          </a:ln>
        </p:spPr>
      </p:sp>
      <p:sp>
        <p:nvSpPr>
          <p:cNvPr id="15" name="Shape 12"/>
          <p:cNvSpPr/>
          <p:nvPr/>
        </p:nvSpPr>
        <p:spPr>
          <a:xfrm>
            <a:off x="9717735" y="128016"/>
            <a:ext cx="45720" cy="45720"/>
          </a:xfrm>
          <a:prstGeom prst="rect">
            <a:avLst/>
          </a:prstGeom>
          <a:solidFill>
            <a:srgbClr val="7E22CE"/>
          </a:solidFill>
          <a:ln w="12700">
            <a:solidFill>
              <a:srgbClr val="7E22CE"/>
            </a:solidFill>
            <a:prstDash val="solid"/>
          </a:ln>
        </p:spPr>
      </p:sp>
      <p:sp>
        <p:nvSpPr>
          <p:cNvPr id="16" name="Shape 13"/>
          <p:cNvSpPr/>
          <p:nvPr/>
        </p:nvSpPr>
        <p:spPr>
          <a:xfrm>
            <a:off x="9717735" y="205740"/>
            <a:ext cx="45720" cy="45720"/>
          </a:xfrm>
          <a:prstGeom prst="rect">
            <a:avLst/>
          </a:prstGeom>
          <a:solidFill>
            <a:srgbClr val="7E22CE"/>
          </a:solidFill>
          <a:ln w="12700">
            <a:solidFill>
              <a:srgbClr val="7E22CE"/>
            </a:solidFill>
            <a:prstDash val="solid"/>
          </a:ln>
        </p:spPr>
      </p:sp>
      <p:sp>
        <p:nvSpPr>
          <p:cNvPr id="17" name="Shape 14"/>
          <p:cNvSpPr/>
          <p:nvPr/>
        </p:nvSpPr>
        <p:spPr>
          <a:xfrm>
            <a:off x="9717735" y="283464"/>
            <a:ext cx="45720" cy="45720"/>
          </a:xfrm>
          <a:prstGeom prst="rect">
            <a:avLst/>
          </a:prstGeom>
          <a:solidFill>
            <a:srgbClr val="7E22CE"/>
          </a:solidFill>
          <a:ln w="12700">
            <a:solidFill>
              <a:srgbClr val="7E22CE"/>
            </a:solidFill>
            <a:prstDash val="solid"/>
          </a:ln>
        </p:spPr>
      </p:sp>
      <p:pic>
        <p:nvPicPr>
          <p:cNvPr id="18" name="Image 1" descr="preencoded.png">    </p:cNvPr>
          <p:cNvPicPr>
            <a:picLocks noChangeAspect="1"/>
          </p:cNvPicPr>
          <p:nvPr/>
        </p:nvPicPr>
        <p:blipFill>
          <a:blip r:embed="rId2"/>
          <a:stretch>
            <a:fillRect/>
          </a:stretch>
        </p:blipFill>
        <p:spPr>
          <a:xfrm>
            <a:off x="9818319" y="128016"/>
            <a:ext cx="201168" cy="201168"/>
          </a:xfrm>
          <a:prstGeom prst="rect">
            <a:avLst/>
          </a:prstGeom>
        </p:spPr>
      </p:pic>
      <p:sp>
        <p:nvSpPr>
          <p:cNvPr id="19" name="Text 15"/>
          <p:cNvSpPr txBox="1"/>
          <p:nvPr/>
        </p:nvSpPr>
        <p:spPr>
          <a:xfrm>
            <a:off x="10074351" y="91440"/>
            <a:ext cx="1532128"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endParaRPr lang="en-US" sz="1100" dirty="0"/>
          </a:p>
        </p:txBody>
      </p:sp>
      <p:sp>
        <p:nvSpPr>
          <p:cNvPr id="20" name="Shape 16"/>
          <p:cNvSpPr/>
          <p:nvPr/>
        </p:nvSpPr>
        <p:spPr>
          <a:xfrm>
            <a:off x="8407349" y="91440"/>
            <a:ext cx="1173226" cy="274320"/>
          </a:xfrm>
          <a:prstGeom prst="rect">
            <a:avLst/>
          </a:prstGeom>
          <a:solidFill>
            <a:srgbClr val="FEF3C7"/>
          </a:solidFill>
          <a:ln w="12700">
            <a:solidFill>
              <a:srgbClr val="B45309"/>
            </a:solidFill>
            <a:prstDash val="solid"/>
          </a:ln>
        </p:spPr>
      </p:sp>
      <p:sp>
        <p:nvSpPr>
          <p:cNvPr id="21" name="Shape 17"/>
          <p:cNvSpPr/>
          <p:nvPr/>
        </p:nvSpPr>
        <p:spPr>
          <a:xfrm>
            <a:off x="8407349" y="91440"/>
            <a:ext cx="27432" cy="274320"/>
          </a:xfrm>
          <a:prstGeom prst="rect">
            <a:avLst/>
          </a:prstGeom>
          <a:solidFill>
            <a:srgbClr val="B45309"/>
          </a:solidFill>
          <a:ln w="12700">
            <a:solidFill>
              <a:srgbClr val="B45309"/>
            </a:solidFill>
            <a:prstDash val="solid"/>
          </a:ln>
        </p:spPr>
      </p:sp>
      <p:sp>
        <p:nvSpPr>
          <p:cNvPr id="22" name="Shape 18"/>
          <p:cNvSpPr/>
          <p:nvPr/>
        </p:nvSpPr>
        <p:spPr>
          <a:xfrm>
            <a:off x="8462213" y="91440"/>
            <a:ext cx="27432" cy="274320"/>
          </a:xfrm>
          <a:prstGeom prst="rect">
            <a:avLst/>
          </a:prstGeom>
          <a:solidFill>
            <a:srgbClr val="B45309"/>
          </a:solidFill>
          <a:ln w="12700">
            <a:solidFill>
              <a:srgbClr val="B45309"/>
            </a:solidFill>
            <a:prstDash val="solid"/>
          </a:ln>
        </p:spPr>
      </p:sp>
      <p:pic>
        <p:nvPicPr>
          <p:cNvPr id="23" name="Image 2" descr="preencoded.png">    </p:cNvPr>
          <p:cNvPicPr>
            <a:picLocks noChangeAspect="1"/>
          </p:cNvPicPr>
          <p:nvPr/>
        </p:nvPicPr>
        <p:blipFill>
          <a:blip r:embed="rId3"/>
          <a:stretch>
            <a:fillRect/>
          </a:stretch>
        </p:blipFill>
        <p:spPr>
          <a:xfrm>
            <a:off x="8535365" y="128016"/>
            <a:ext cx="201168" cy="201168"/>
          </a:xfrm>
          <a:prstGeom prst="rect">
            <a:avLst/>
          </a:prstGeom>
        </p:spPr>
      </p:pic>
      <p:sp>
        <p:nvSpPr>
          <p:cNvPr id="24" name="Text 19"/>
          <p:cNvSpPr txBox="1"/>
          <p:nvPr/>
        </p:nvSpPr>
        <p:spPr>
          <a:xfrm>
            <a:off x="8791397" y="91440"/>
            <a:ext cx="75260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endParaRPr lang="en-US" sz="1100" dirty="0"/>
          </a:p>
        </p:txBody>
      </p:sp>
      <p:sp>
        <p:nvSpPr>
          <p:cNvPr id="25" name="Shape 20"/>
          <p:cNvSpPr/>
          <p:nvPr/>
        </p:nvSpPr>
        <p:spPr>
          <a:xfrm>
            <a:off x="6518097" y="91440"/>
            <a:ext cx="1779524" cy="274320"/>
          </a:xfrm>
          <a:prstGeom prst="rect">
            <a:avLst/>
          </a:prstGeom>
          <a:solidFill>
            <a:srgbClr val="E0F2FE"/>
          </a:solidFill>
          <a:ln w="12700">
            <a:solidFill>
              <a:srgbClr val="0369A1"/>
            </a:solidFill>
            <a:prstDash val="solid"/>
          </a:ln>
        </p:spPr>
      </p:sp>
      <p:sp>
        <p:nvSpPr>
          <p:cNvPr id="26" name="Shape 21"/>
          <p:cNvSpPr/>
          <p:nvPr/>
        </p:nvSpPr>
        <p:spPr>
          <a:xfrm>
            <a:off x="6518097" y="91440"/>
            <a:ext cx="73152" cy="274320"/>
          </a:xfrm>
          <a:prstGeom prst="rect">
            <a:avLst/>
          </a:prstGeom>
          <a:solidFill>
            <a:srgbClr val="0369A1"/>
          </a:solidFill>
          <a:ln w="12700">
            <a:solidFill>
              <a:srgbClr val="0369A1"/>
            </a:solidFill>
            <a:prstDash val="solid"/>
          </a:ln>
        </p:spPr>
      </p:sp>
      <p:pic>
        <p:nvPicPr>
          <p:cNvPr id="27" name="Image 3" descr="preencoded.png">    </p:cNvPr>
          <p:cNvPicPr>
            <a:picLocks noChangeAspect="1"/>
          </p:cNvPicPr>
          <p:nvPr/>
        </p:nvPicPr>
        <p:blipFill>
          <a:blip r:embed="rId4"/>
          <a:stretch>
            <a:fillRect/>
          </a:stretch>
        </p:blipFill>
        <p:spPr>
          <a:xfrm>
            <a:off x="6646113" y="128016"/>
            <a:ext cx="201168" cy="201168"/>
          </a:xfrm>
          <a:prstGeom prst="rect">
            <a:avLst/>
          </a:prstGeom>
        </p:spPr>
      </p:pic>
      <p:sp>
        <p:nvSpPr>
          <p:cNvPr id="28" name="Text 22"/>
          <p:cNvSpPr txBox="1"/>
          <p:nvPr/>
        </p:nvSpPr>
        <p:spPr>
          <a:xfrm>
            <a:off x="6902145" y="91440"/>
            <a:ext cx="135890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this deck</a:t>
            </a:r>
            <a:endParaRPr lang="en-US" sz="3200" dirty="0"/>
          </a:p>
        </p:txBody>
      </p:sp>
      <p:sp>
        <p:nvSpPr>
          <p:cNvPr id="3" name="Text 1"/>
          <p:cNvSpPr txBox="1"/>
          <p:nvPr/>
        </p:nvSpPr>
        <p:spPr>
          <a:xfrm>
            <a:off x="548640" y="161848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60020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2 listings of Lecture 04, one per slide: read the code, then the numbered remarks beside it</a:t>
            </a:r>
            <a:endParaRPr lang="en-US" sz="2200" dirty="0"/>
          </a:p>
        </p:txBody>
      </p:sp>
      <p:sp>
        <p:nvSpPr>
          <p:cNvPr id="5" name="Text 3"/>
          <p:cNvSpPr txBox="1"/>
          <p:nvPr/>
        </p:nvSpPr>
        <p:spPr>
          <a:xfrm>
            <a:off x="548640" y="275742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739136"/>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complete program: code/l04.S, 56 lines, printed in full</a:t>
            </a:r>
            <a:endParaRPr lang="en-US" sz="2200" dirty="0"/>
          </a:p>
        </p:txBody>
      </p:sp>
      <p:sp>
        <p:nvSpPr>
          <p:cNvPr id="7" name="Text 5"/>
          <p:cNvSpPr txBox="1"/>
          <p:nvPr/>
        </p:nvSpPr>
        <p:spPr>
          <a:xfrm>
            <a:off x="548640" y="365353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63524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What you should see when it runs, checked on the PRG32-QT headless runner</a:t>
            </a:r>
            <a:endParaRPr lang="en-US" sz="2200" dirty="0"/>
          </a:p>
        </p:txBody>
      </p:sp>
      <p:sp>
        <p:nvSpPr>
          <p:cNvPr id="9" name="Text 7"/>
          <p:cNvSpPr txBox="1"/>
          <p:nvPr/>
        </p:nvSpPr>
        <p:spPr>
          <a:xfrm>
            <a:off x="548640" y="454964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53136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How to test it, step by step: on PRG32-QT, on QEMU, on the board</a:t>
            </a:r>
            <a:endParaRPr lang="en-US" sz="2200" dirty="0"/>
          </a:p>
        </p:txBody>
      </p:sp>
      <p:sp>
        <p:nvSpPr>
          <p:cNvPr id="11" name="Text 9"/>
          <p:cNvSpPr txBox="1"/>
          <p:nvPr/>
        </p:nvSpPr>
        <p:spPr>
          <a:xfrm>
            <a:off x="548640" y="544576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42747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exercises: change the program, predict, run</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An array in memory, an element in a register</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350" dirty="0">
                <a:solidFill>
                  <a:srgbClr val="E6EDF2"/>
                </a:solidFill>
                <a:latin typeface="Courier New" pitchFamily="34" charset="0"/>
                <a:ea typeface="Courier New" pitchFamily="34" charset="-122"/>
                <a:cs typeface="Courier New" pitchFamily="34" charset="-120"/>
              </a:rPr>
              <a:t>.section .data</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scores: .word 32, 11, 34, 22     </a:t>
            </a:r>
            <a:pPr indent="0" marL="0">
              <a:buNone/>
            </a:pPr>
            <a:r>
              <a:rPr lang="en-US" sz="1350" dirty="0">
                <a:solidFill>
                  <a:srgbClr val="8FB3A0"/>
                </a:solidFill>
                <a:latin typeface="Courier New" pitchFamily="34" charset="0"/>
                <a:ea typeface="Courier New" pitchFamily="34" charset="-122"/>
                <a:cs typeface="Courier New" pitchFamily="34" charset="-120"/>
              </a:rPr>
              <a:t># four 32-bit words, 16 bytes</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.section .text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t0, scores      </a:t>
            </a:r>
            <a:pPr indent="0" marL="0">
              <a:buNone/>
            </a:pPr>
            <a:r>
              <a:rPr lang="en-US" sz="1350" dirty="0">
                <a:solidFill>
                  <a:srgbClr val="8FB3A0"/>
                </a:solidFill>
                <a:latin typeface="Courier New" pitchFamily="34" charset="0"/>
                <a:ea typeface="Courier New" pitchFamily="34" charset="-122"/>
                <a:cs typeface="Courier New" pitchFamily="34" charset="-120"/>
              </a:rPr>
              <a:t># t0 = ADDRESS of element 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t1, 2           </a:t>
            </a:r>
            <a:pPr indent="0" marL="0">
              <a:buNone/>
            </a:pPr>
            <a:r>
              <a:rPr lang="en-US" sz="1350" dirty="0">
                <a:solidFill>
                  <a:srgbClr val="8FB3A0"/>
                </a:solidFill>
                <a:latin typeface="Courier New" pitchFamily="34" charset="0"/>
                <a:ea typeface="Courier New" pitchFamily="34" charset="-122"/>
                <a:cs typeface="Courier New" pitchFamily="34" charset="-120"/>
              </a:rPr>
              <a:t># index i = 2</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slli t1, t1, 2       </a:t>
            </a:r>
            <a:pPr indent="0" marL="0">
              <a:buNone/>
            </a:pPr>
            <a:r>
              <a:rPr lang="en-US" sz="1350" dirty="0">
                <a:solidFill>
                  <a:srgbClr val="8FB3A0"/>
                </a:solidFill>
                <a:latin typeface="Courier New" pitchFamily="34" charset="0"/>
                <a:ea typeface="Courier New" pitchFamily="34" charset="-122"/>
                <a:cs typeface="Courier New" pitchFamily="34" charset="-120"/>
              </a:rPr>
              <a:t># offset = i * 4 bytes (shift left by 2)</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  t0, t0, t1      </a:t>
            </a:r>
            <a:pPr indent="0" marL="0">
              <a:buNone/>
            </a:pPr>
            <a:r>
              <a:rPr lang="en-US" sz="1350" dirty="0">
                <a:solidFill>
                  <a:srgbClr val="8FB3A0"/>
                </a:solidFill>
                <a:latin typeface="Courier New" pitchFamily="34" charset="0"/>
                <a:ea typeface="Courier New" pitchFamily="34" charset="-122"/>
                <a:cs typeface="Courier New" pitchFamily="34" charset="-120"/>
              </a:rPr>
              <a:t># ADDRESS of element i</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lw   a0, 0(t0)       </a:t>
            </a:r>
            <a:pPr indent="0" marL="0">
              <a:buNone/>
            </a:pPr>
            <a:r>
              <a:rPr lang="en-US" sz="1350" dirty="0">
                <a:solidFill>
                  <a:srgbClr val="8FB3A0"/>
                </a:solidFill>
                <a:latin typeface="Courier New" pitchFamily="34" charset="0"/>
                <a:ea typeface="Courier New" pitchFamily="34" charset="-122"/>
                <a:cs typeface="Courier New" pitchFamily="34" charset="-120"/>
              </a:rPr>
              <a:t># a0 = VALUE of scores[2] = 34</a:t>
            </a:r>
            <a:endParaRPr lang="en-US" sz="135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An array is a base address plus equal-sized elements</a:t>
            </a:r>
            <a:endParaRPr lang="en-US" sz="13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Element i of a word array is at base + 4 x i, because a word is four bytes</a:t>
            </a:r>
            <a:endParaRPr lang="en-US" sz="13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slli by 2 multiplies by four: a shift is a multiplication by a power of two</a:t>
            </a:r>
            <a:endParaRPr lang="en-US" sz="13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The high-level expression scores[i] is exactly these four instructions</a:t>
            </a:r>
            <a:endParaRPr lang="en-US" sz="1300" dirty="0"/>
          </a:p>
        </p:txBody>
      </p:sp>
      <p:sp>
        <p:nvSpPr>
          <p:cNvPr id="17" name="Shape 15"/>
          <p:cNvSpPr/>
          <p:nvPr/>
        </p:nvSpPr>
        <p:spPr>
          <a:xfrm>
            <a:off x="7668844" y="91440"/>
            <a:ext cx="3974211" cy="274320"/>
          </a:xfrm>
          <a:prstGeom prst="rect">
            <a:avLst/>
          </a:prstGeom>
          <a:solidFill>
            <a:srgbClr val="FEF3C7"/>
          </a:solidFill>
          <a:ln w="12700">
            <a:solidFill>
              <a:srgbClr val="B45309"/>
            </a:solidFill>
            <a:prstDash val="solid"/>
          </a:ln>
        </p:spPr>
      </p:sp>
      <p:sp>
        <p:nvSpPr>
          <p:cNvPr id="18" name="Shape 16"/>
          <p:cNvSpPr/>
          <p:nvPr/>
        </p:nvSpPr>
        <p:spPr>
          <a:xfrm>
            <a:off x="7668844" y="91440"/>
            <a:ext cx="27432" cy="274320"/>
          </a:xfrm>
          <a:prstGeom prst="rect">
            <a:avLst/>
          </a:prstGeom>
          <a:solidFill>
            <a:srgbClr val="B45309"/>
          </a:solidFill>
          <a:ln w="12700">
            <a:solidFill>
              <a:srgbClr val="B45309"/>
            </a:solidFill>
            <a:prstDash val="solid"/>
          </a:ln>
        </p:spPr>
      </p:sp>
      <p:sp>
        <p:nvSpPr>
          <p:cNvPr id="19" name="Shape 17"/>
          <p:cNvSpPr/>
          <p:nvPr/>
        </p:nvSpPr>
        <p:spPr>
          <a:xfrm>
            <a:off x="7723708"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7796860" y="128016"/>
            <a:ext cx="201168" cy="201168"/>
          </a:xfrm>
          <a:prstGeom prst="rect">
            <a:avLst/>
          </a:prstGeom>
        </p:spPr>
      </p:pic>
      <p:sp>
        <p:nvSpPr>
          <p:cNvPr id="21" name="Text 18"/>
          <p:cNvSpPr txBox="1"/>
          <p:nvPr/>
        </p:nvSpPr>
        <p:spPr>
          <a:xfrm>
            <a:off x="8052892" y="91440"/>
            <a:ext cx="3553587"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shifts as multiplications</a:t>
            </a:r>
            <a:pPr indent="0" marL="0">
              <a:buNone/>
            </a:pPr>
            <a:r>
              <a:rPr lang="en-US" sz="1100" b="1" dirty="0">
                <a:solidFill>
                  <a:srgbClr val="92400E"/>
                </a:solidFill>
                <a:latin typeface="Calibri" pitchFamily="34" charset="0"/>
                <a:ea typeface="Calibri" pitchFamily="34" charset="-122"/>
                <a:cs typeface="Calibri" pitchFamily="34" charset="-120"/>
              </a:rPr>
              <a:t> → Lecture 05</a:t>
            </a:r>
            <a:endParaRPr lang="en-US" sz="1100" dirty="0"/>
          </a:p>
        </p:txBody>
      </p:sp>
      <p:sp>
        <p:nvSpPr>
          <p:cNvPr id="22" name="Shape 19"/>
          <p:cNvSpPr/>
          <p:nvPr/>
        </p:nvSpPr>
        <p:spPr>
          <a:xfrm>
            <a:off x="4532071" y="91440"/>
            <a:ext cx="3027045" cy="274320"/>
          </a:xfrm>
          <a:prstGeom prst="rect">
            <a:avLst/>
          </a:prstGeom>
          <a:solidFill>
            <a:srgbClr val="E0F2FE"/>
          </a:solidFill>
          <a:ln w="12700">
            <a:solidFill>
              <a:srgbClr val="0369A1"/>
            </a:solidFill>
            <a:prstDash val="solid"/>
          </a:ln>
        </p:spPr>
      </p:sp>
      <p:sp>
        <p:nvSpPr>
          <p:cNvPr id="23" name="Shape 20"/>
          <p:cNvSpPr/>
          <p:nvPr/>
        </p:nvSpPr>
        <p:spPr>
          <a:xfrm>
            <a:off x="4532071" y="91440"/>
            <a:ext cx="73152" cy="274320"/>
          </a:xfrm>
          <a:prstGeom prst="rect">
            <a:avLst/>
          </a:prstGeom>
          <a:solidFill>
            <a:srgbClr val="0369A1"/>
          </a:solidFill>
          <a:ln w="12700">
            <a:solidFill>
              <a:srgbClr val="0369A1"/>
            </a:solidFill>
            <a:prstDash val="solid"/>
          </a:ln>
        </p:spPr>
      </p:sp>
      <p:pic>
        <p:nvPicPr>
          <p:cNvPr id="24" name="Image 1" descr="preencoded.png">    </p:cNvPr>
          <p:cNvPicPr>
            <a:picLocks noChangeAspect="1"/>
          </p:cNvPicPr>
          <p:nvPr/>
        </p:nvPicPr>
        <p:blipFill>
          <a:blip r:embed="rId2"/>
          <a:stretch>
            <a:fillRect/>
          </a:stretch>
        </p:blipFill>
        <p:spPr>
          <a:xfrm>
            <a:off x="4660087" y="128016"/>
            <a:ext cx="201168" cy="201168"/>
          </a:xfrm>
          <a:prstGeom prst="rect">
            <a:avLst/>
          </a:prstGeom>
        </p:spPr>
      </p:pic>
      <p:sp>
        <p:nvSpPr>
          <p:cNvPr id="25" name="Text 21"/>
          <p:cNvSpPr txBox="1"/>
          <p:nvPr/>
        </p:nvSpPr>
        <p:spPr>
          <a:xfrm>
            <a:off x="4916119" y="91440"/>
            <a:ext cx="260642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arrays in memory</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A probabilistic algorithm: is n prime?</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350" dirty="0">
                <a:solidFill>
                  <a:srgbClr val="E6EDF2"/>
                </a:solidFill>
                <a:latin typeface="Courier New" pitchFamily="34" charset="0"/>
                <a:ea typeface="Courier New" pitchFamily="34" charset="-122"/>
                <a:cs typeface="Courier New" pitchFamily="34" charset="-120"/>
              </a:rPr>
              <a:t>is_probably_prime(n):</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repeat 30 times:</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 = random(2, n - 2)</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if a^(n-1) mod n != 1:</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return COMPOSITE          # certain</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return PROBABLY PRIME             # almost certain</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random_walk():</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while t &lt; t_final:</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r = random(-1, 1)</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x = x + r * u                 # a different path every run</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y = y + r * v</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t = t + 1</a:t>
            </a:r>
            <a:endParaRPr lang="en-US" sz="1350" dirty="0"/>
          </a:p>
        </p:txBody>
      </p:sp>
      <p:sp>
        <p:nvSpPr>
          <p:cNvPr id="5" name="Shape 3"/>
          <p:cNvSpPr/>
          <p:nvPr/>
        </p:nvSpPr>
        <p:spPr>
          <a:xfrm>
            <a:off x="8229600" y="1417320"/>
            <a:ext cx="341345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1176528"/>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The first answer is always right; the second is right with overwhelming probability</a:t>
            </a:r>
            <a:endParaRPr lang="en-US" sz="1600" dirty="0"/>
          </a:p>
        </p:txBody>
      </p:sp>
      <p:sp>
        <p:nvSpPr>
          <p:cNvPr id="8" name="Shape 6"/>
          <p:cNvSpPr/>
          <p:nvPr/>
        </p:nvSpPr>
        <p:spPr>
          <a:xfrm>
            <a:off x="8229600" y="3069336"/>
            <a:ext cx="341345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839419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3206496"/>
            <a:ext cx="2544775" cy="1176528"/>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Trading a tiny chance of error for a huge gain in speed is how real cryptography tests primes</a:t>
            </a:r>
            <a:endParaRPr lang="en-US" sz="1600" dirty="0"/>
          </a:p>
        </p:txBody>
      </p:sp>
      <p:sp>
        <p:nvSpPr>
          <p:cNvPr id="11" name="Shape 9"/>
          <p:cNvSpPr/>
          <p:nvPr/>
        </p:nvSpPr>
        <p:spPr>
          <a:xfrm>
            <a:off x="8229600" y="4721352"/>
            <a:ext cx="341345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839419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858512"/>
            <a:ext cx="2544775" cy="1176528"/>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A random walk gives a different result at every run: simulations average many of them</a:t>
            </a:r>
            <a:endParaRPr lang="en-US" sz="1600" dirty="0"/>
          </a:p>
        </p:txBody>
      </p:sp>
      <p:sp>
        <p:nvSpPr>
          <p:cNvPr id="14" name="Shape 12"/>
          <p:cNvSpPr/>
          <p:nvPr/>
        </p:nvSpPr>
        <p:spPr>
          <a:xfrm>
            <a:off x="9009964" y="91440"/>
            <a:ext cx="2633091" cy="274320"/>
          </a:xfrm>
          <a:prstGeom prst="rect">
            <a:avLst/>
          </a:prstGeom>
          <a:solidFill>
            <a:srgbClr val="E0F2FE"/>
          </a:solidFill>
          <a:ln w="12700">
            <a:solidFill>
              <a:srgbClr val="0369A1"/>
            </a:solidFill>
            <a:prstDash val="solid"/>
          </a:ln>
        </p:spPr>
      </p:sp>
      <p:sp>
        <p:nvSpPr>
          <p:cNvPr id="15" name="Shape 13"/>
          <p:cNvSpPr/>
          <p:nvPr/>
        </p:nvSpPr>
        <p:spPr>
          <a:xfrm>
            <a:off x="9009964"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9137980" y="128016"/>
            <a:ext cx="201168" cy="201168"/>
          </a:xfrm>
          <a:prstGeom prst="rect">
            <a:avLst/>
          </a:prstGeom>
        </p:spPr>
      </p:pic>
      <p:sp>
        <p:nvSpPr>
          <p:cNvPr id="17" name="Text 14"/>
          <p:cNvSpPr txBox="1"/>
          <p:nvPr/>
        </p:nvSpPr>
        <p:spPr>
          <a:xfrm>
            <a:off x="9394012" y="91440"/>
            <a:ext cx="221246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algorithms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l04.S (1 of 3)</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250" dirty="0">
                <a:solidFill>
                  <a:srgbClr val="8FB3A0"/>
                </a:solidFill>
                <a:latin typeface="Courier New" pitchFamily="34" charset="0"/>
                <a:ea typeface="Courier New" pitchFamily="34" charset="-122"/>
                <a:cs typeface="Courier New" pitchFamily="34" charset="-120"/>
              </a:rPr>
              <a:t># ARC12 Computer Architecture - Lecture 04: Representing Digital Information</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l04.S: an array in memory, an element in a register</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On the screen: four horizontal bars, one per element of the array (32, 11, 34, 22,</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four pixels per unit); element 2, the one the listing loads, is yellow.</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Build: python3 -m prg32 cartridge build l04.S --portable \</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--entry-prefix l04 --name l04 --out l04.prg32</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.option norelax</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BLACK,  0x0000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WHITE,  0xffff</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YELLOW, 0xffe0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.section .text</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.global l04_init</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.global l04_update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.global l04_draw</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l04_init:</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ret</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l04_update: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ret</a:t>
            </a:r>
            <a:endParaRPr lang="en-US" sz="125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l04.S (2 of 3)</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200" dirty="0">
                <a:solidFill>
                  <a:srgbClr val="E6EDF2"/>
                </a:solidFill>
                <a:latin typeface="Courier New" pitchFamily="34" charset="0"/>
                <a:ea typeface="Courier New" pitchFamily="34" charset="-122"/>
                <a:cs typeface="Courier New" pitchFamily="34" charset="-120"/>
              </a:rPr>
              <a:t>l04_draw:</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sp, sp, -16</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ra, 12(sp)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s0, 8(sp)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a0, BLACK</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prg32_gfx_clear</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s0, 0               </a:t>
            </a:r>
            <a:pPr indent="0" marL="0">
              <a:buNone/>
            </a:pPr>
            <a:r>
              <a:rPr lang="en-US" sz="1200" dirty="0">
                <a:solidFill>
                  <a:srgbClr val="8FB3A0"/>
                </a:solidFill>
                <a:latin typeface="Courier New" pitchFamily="34" charset="0"/>
                <a:ea typeface="Courier New" pitchFamily="34" charset="-122"/>
                <a:cs typeface="Courier New" pitchFamily="34" charset="-120"/>
              </a:rPr>
              <a:t># index i, 0 to 3</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1:  la   t0, scores          </a:t>
            </a:r>
            <a:pPr indent="0" marL="0">
              <a:buNone/>
            </a:pPr>
            <a:r>
              <a:rPr lang="en-US" sz="1200" dirty="0">
                <a:solidFill>
                  <a:srgbClr val="8FB3A0"/>
                </a:solidFill>
                <a:latin typeface="Courier New" pitchFamily="34" charset="0"/>
                <a:ea typeface="Courier New" pitchFamily="34" charset="-122"/>
                <a:cs typeface="Courier New" pitchFamily="34" charset="-120"/>
              </a:rPr>
              <a:t># t0 = ADDRESS of element 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mv   t1, s0              </a:t>
            </a:r>
            <a:pPr indent="0" marL="0">
              <a:buNone/>
            </a:pPr>
            <a:r>
              <a:rPr lang="en-US" sz="1200" dirty="0">
                <a:solidFill>
                  <a:srgbClr val="8FB3A0"/>
                </a:solidFill>
                <a:latin typeface="Courier New" pitchFamily="34" charset="0"/>
                <a:ea typeface="Courier New" pitchFamily="34" charset="-122"/>
                <a:cs typeface="Courier New" pitchFamily="34" charset="-120"/>
              </a:rPr>
              <a:t># index i</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slli t1, t1, 2           </a:t>
            </a:r>
            <a:pPr indent="0" marL="0">
              <a:buNone/>
            </a:pPr>
            <a:r>
              <a:rPr lang="en-US" sz="1200" dirty="0">
                <a:solidFill>
                  <a:srgbClr val="8FB3A0"/>
                </a:solidFill>
                <a:latin typeface="Courier New" pitchFamily="34" charset="0"/>
                <a:ea typeface="Courier New" pitchFamily="34" charset="-122"/>
                <a:cs typeface="Courier New" pitchFamily="34" charset="-120"/>
              </a:rPr>
              <a:t># offset = i * 4 bytes (shift left by 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  t0, t0, t1          </a:t>
            </a:r>
            <a:pPr indent="0" marL="0">
              <a:buNone/>
            </a:pPr>
            <a:r>
              <a:rPr lang="en-US" sz="1200" dirty="0">
                <a:solidFill>
                  <a:srgbClr val="8FB3A0"/>
                </a:solidFill>
                <a:latin typeface="Courier New" pitchFamily="34" charset="0"/>
                <a:ea typeface="Courier New" pitchFamily="34" charset="-122"/>
                <a:cs typeface="Courier New" pitchFamily="34" charset="-120"/>
              </a:rPr>
              <a:t># ADDRESS of element i</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lw   a2, 0(t0)           </a:t>
            </a:r>
            <a:pPr indent="0" marL="0">
              <a:buNone/>
            </a:pPr>
            <a:r>
              <a:rPr lang="en-US" sz="1200" dirty="0">
                <a:solidFill>
                  <a:srgbClr val="8FB3A0"/>
                </a:solidFill>
                <a:latin typeface="Courier New" pitchFamily="34" charset="0"/>
                <a:ea typeface="Courier New" pitchFamily="34" charset="-122"/>
                <a:cs typeface="Courier New" pitchFamily="34" charset="-120"/>
              </a:rPr>
              <a:t># VALUE of scores[i]</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slli a2, a2, 2           </a:t>
            </a:r>
            <a:pPr indent="0" marL="0">
              <a:buNone/>
            </a:pPr>
            <a:r>
              <a:rPr lang="en-US" sz="1200" dirty="0">
                <a:solidFill>
                  <a:srgbClr val="8FB3A0"/>
                </a:solidFill>
                <a:latin typeface="Courier New" pitchFamily="34" charset="0"/>
                <a:ea typeface="Courier New" pitchFamily="34" charset="-122"/>
                <a:cs typeface="Courier New" pitchFamily="34" charset="-120"/>
              </a:rPr>
              <a:t># width: four pixels per unit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a4, WHITE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t0, 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bne  s0, t0, 2f</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a4, YELLOW          </a:t>
            </a:r>
            <a:pPr indent="0" marL="0">
              <a:buNone/>
            </a:pPr>
            <a:r>
              <a:rPr lang="en-US" sz="1200" dirty="0">
                <a:solidFill>
                  <a:srgbClr val="8FB3A0"/>
                </a:solidFill>
                <a:latin typeface="Courier New" pitchFamily="34" charset="0"/>
                <a:ea typeface="Courier New" pitchFamily="34" charset="-122"/>
                <a:cs typeface="Courier New" pitchFamily="34" charset="-120"/>
              </a:rPr>
              <a:t># scores[2] = 34: the element of the slide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2:  li   a0, 20              </a:t>
            </a:r>
            <a:pPr indent="0" marL="0">
              <a:buNone/>
            </a:pPr>
            <a:r>
              <a:rPr lang="en-US" sz="1200" dirty="0">
                <a:solidFill>
                  <a:srgbClr val="8FB3A0"/>
                </a:solidFill>
                <a:latin typeface="Courier New" pitchFamily="34" charset="0"/>
                <a:ea typeface="Courier New" pitchFamily="34" charset="-122"/>
                <a:cs typeface="Courier New" pitchFamily="34" charset="-120"/>
              </a:rPr>
              <a:t># x</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slli a1, s0, 5</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a1, a1, 30          </a:t>
            </a:r>
            <a:pPr indent="0" marL="0">
              <a:buNone/>
            </a:pPr>
            <a:r>
              <a:rPr lang="en-US" sz="1200" dirty="0">
                <a:solidFill>
                  <a:srgbClr val="8FB3A0"/>
                </a:solidFill>
                <a:latin typeface="Courier New" pitchFamily="34" charset="0"/>
                <a:ea typeface="Courier New" pitchFamily="34" charset="-122"/>
                <a:cs typeface="Courier New" pitchFamily="34" charset="-120"/>
              </a:rPr>
              <a:t># y = 30 + 32 * i</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a3, 16              </a:t>
            </a:r>
            <a:pPr indent="0" marL="0">
              <a:buNone/>
            </a:pPr>
            <a:r>
              <a:rPr lang="en-US" sz="1200" dirty="0">
                <a:solidFill>
                  <a:srgbClr val="8FB3A0"/>
                </a:solidFill>
                <a:latin typeface="Courier New" pitchFamily="34" charset="0"/>
                <a:ea typeface="Courier New" pitchFamily="34" charset="-122"/>
                <a:cs typeface="Courier New" pitchFamily="34" charset="-120"/>
              </a:rPr>
              <a:t># height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prg32_gfx_rect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s0, s0, 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t0, 4</a:t>
            </a:r>
            <a:endParaRPr lang="en-US" sz="12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l04.S (3 of 3)</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    blt  s0, t0, 1b</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s0, 8(sp)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ra, 12(sp)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.section .data</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scores: .word 32, 11, 34, 22     </a:t>
            </a:r>
            <a:pPr indent="0" marL="0">
              <a:buNone/>
            </a:pPr>
            <a:r>
              <a:rPr lang="en-US" sz="1800" dirty="0">
                <a:solidFill>
                  <a:srgbClr val="8FB3A0"/>
                </a:solidFill>
                <a:latin typeface="Courier New" pitchFamily="34" charset="0"/>
                <a:ea typeface="Courier New" pitchFamily="34" charset="-122"/>
                <a:cs typeface="Courier New" pitchFamily="34" charset="-120"/>
              </a:rPr>
              <a:t># four 32-bit words, 16 bytes</a:t>
            </a:r>
            <a:endParaRPr lang="en-US" sz="18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what you should see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5468112" cy="1709928"/>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On the screen</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four horizontal bars, one per element of the array (32, 11, 34, 22, four pixels per unit); element 2, the one the listing loads, is yellow.</a:t>
            </a:r>
            <a:endParaRPr lang="en-US" sz="2400" dirty="0"/>
          </a:p>
        </p:txBody>
      </p:sp>
      <p:sp>
        <p:nvSpPr>
          <p:cNvPr id="5" name="Shape 3"/>
          <p:cNvSpPr/>
          <p:nvPr/>
        </p:nvSpPr>
        <p:spPr>
          <a:xfrm>
            <a:off x="548640" y="3889248"/>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3767328"/>
            <a:ext cx="5468112" cy="73380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What to press</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nothing: the program runs by itself</a:t>
            </a:r>
            <a:endParaRPr lang="en-US" sz="2400" dirty="0"/>
          </a:p>
        </p:txBody>
      </p:sp>
      <p:pic>
        <p:nvPicPr>
          <p:cNvPr id="7" name="Image 0" descr="/Users/raffaelemontella/devel/riscv-prg32/computer-architecture-with-prg32/tools/assets/lab_l04.png">    </p:cNvPr>
          <p:cNvPicPr>
            <a:picLocks noChangeAspect="1"/>
          </p:cNvPicPr>
          <p:nvPr/>
        </p:nvPicPr>
        <p:blipFill>
          <a:blip r:embed="rId1"/>
          <a:stretch>
            <a:fillRect/>
          </a:stretch>
        </p:blipFill>
        <p:spPr>
          <a:xfrm>
            <a:off x="6766560" y="2042255"/>
            <a:ext cx="4876495" cy="3047810"/>
          </a:xfrm>
          <a:prstGeom prst="rect">
            <a:avLst/>
          </a:prstGeom>
        </p:spPr>
      </p:pic>
      <p:sp>
        <p:nvSpPr>
          <p:cNvPr id="8" name="Text 5"/>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The frame written by the automatic test on PRG32-QT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PRG32-QT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start PRG32-QT on this computer (it listens on port 8080)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in the PRG32 folder, with ESP-IDF active: build the cartridge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~/arc12/code/l04.S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l04 --name l04 --out l04.prg32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send it to PRG32-QT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l04.prg32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http://localhost:8080 --slot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look, press, compare with the previous slide</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PRG32-QT must be running: it answers on port 8080, like a board</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Build once, from the PRG32 folder, with ESP-IDF active in the terminal</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upload-and-run stores the cartridge in slot cart0 and starts it</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Enable debug mode in Settings to stop the program and read registers and memory</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build the firmware for QEMU (several minutes)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build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build the cartridge for the emulated chip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~/arc12/code/l04.S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l04 --name l04 --architecture qemu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l04-qemu.prg32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with QEMU closed, stage the cartridge into its flash image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upload l04-qemu.prg32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start the emulator; on Setup choose Run Cartridge, then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run</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emulator runs the real firmware on an emulated chip: build it once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cartridge is built for the architecture qemu: the same source, another file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Stage the cartridge with QEMU closed, then start it and choose Run Cartridge</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keys go to the terminal: arrows or WASD, Z or J for A, X or K for B</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the board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per board: write the firmware through the USB cable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build-and-flash</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join the Wi-Fi network of the board: PRG32, password prg32game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build the cartridge for the board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~/arc12/code/l04.S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l04 --name l04 --architecture esp32c6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l04-esp32c6.prg32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send it over Wi-Fi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l04-esp32c6.prg32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http://192.168.4.1 --slot cart0</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firmware is written once per board, through the USB cable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board creates the Wi-Fi network PRG32: join it with your computer</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same upload command as for PRG32-QT, with the address of the board</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 black screen: check the wiring of the display against the firmware</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If it does not work</a:t>
            </a:r>
            <a:endParaRPr 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25750"/>
                <a:gridCol w="3866236"/>
                <a:gridCol w="420243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You see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It means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Do this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missing entry point</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prefix is not the one in the source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--entry-prefix l04; check the three .global lines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idf.py: command not found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ESP-IDF is not active in this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run export.sh, or open the ESP-IDF PowerShell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upload: connection refused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host is not listening at that address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start PRG32-QT; use the address on its Setup screen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a black screen, or the menu again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 function does not return, or ra was not saved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debug mode: step through init, update, draw</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QEMU ignores the keys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keyboard goes to the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click the terminal that launched QEMU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9287967" y="91440"/>
            <a:ext cx="2355088" cy="274320"/>
          </a:xfrm>
          <a:prstGeom prst="rect">
            <a:avLst/>
          </a:prstGeom>
          <a:solidFill>
            <a:srgbClr val="FEF3C7"/>
          </a:solidFill>
          <a:ln w="12700">
            <a:solidFill>
              <a:srgbClr val="B45309"/>
            </a:solidFill>
            <a:prstDash val="solid"/>
          </a:ln>
        </p:spPr>
      </p:sp>
      <p:sp>
        <p:nvSpPr>
          <p:cNvPr id="5" name="Shape 2"/>
          <p:cNvSpPr/>
          <p:nvPr/>
        </p:nvSpPr>
        <p:spPr>
          <a:xfrm>
            <a:off x="9287967" y="91440"/>
            <a:ext cx="27432" cy="274320"/>
          </a:xfrm>
          <a:prstGeom prst="rect">
            <a:avLst/>
          </a:prstGeom>
          <a:solidFill>
            <a:srgbClr val="B45309"/>
          </a:solidFill>
          <a:ln w="12700">
            <a:solidFill>
              <a:srgbClr val="B45309"/>
            </a:solidFill>
            <a:prstDash val="solid"/>
          </a:ln>
        </p:spPr>
      </p:sp>
      <p:sp>
        <p:nvSpPr>
          <p:cNvPr id="6" name="Shape 3"/>
          <p:cNvSpPr/>
          <p:nvPr/>
        </p:nvSpPr>
        <p:spPr>
          <a:xfrm>
            <a:off x="9342831" y="91440"/>
            <a:ext cx="27432" cy="274320"/>
          </a:xfrm>
          <a:prstGeom prst="rect">
            <a:avLst/>
          </a:prstGeom>
          <a:solidFill>
            <a:srgbClr val="B45309"/>
          </a:solidFill>
          <a:ln w="12700">
            <a:solidFill>
              <a:srgbClr val="B45309"/>
            </a:solidFill>
            <a:prstDash val="solid"/>
          </a:ln>
        </p:spPr>
      </p:sp>
      <p:pic>
        <p:nvPicPr>
          <p:cNvPr id="7"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8" name="Text 4"/>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Exercises on PRG32</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Change the bar of Lecture 02 to magenta, then to a dark grey of your choice: compute the RGB565 value by hand first</a:t>
            </a:r>
            <a:endParaRPr lang="en-US" sz="2400" dirty="0"/>
          </a:p>
        </p:txBody>
      </p:sp>
      <p:sp>
        <p:nvSpPr>
          <p:cNvPr id="6" name="Text 4"/>
          <p:cNvSpPr txBox="1"/>
          <p:nvPr/>
        </p:nvSpPr>
        <p:spPr>
          <a:xfrm>
            <a:off x="548640" y="234594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327656"/>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Print your name with prg32_gfx_text8. How many bytes does the string occupy?</a:t>
            </a:r>
            <a:endParaRPr lang="en-US" sz="2400" dirty="0"/>
          </a:p>
        </p:txBody>
      </p:sp>
      <p:sp>
        <p:nvSpPr>
          <p:cNvPr id="8" name="Text 6"/>
          <p:cNvSpPr txBox="1"/>
          <p:nvPr/>
        </p:nvSpPr>
        <p:spPr>
          <a:xfrm>
            <a:off x="548640" y="325628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3237992"/>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Declare an array of four colours with .word and draw four bars, one per colour, reading each colour with lw</a:t>
            </a:r>
            <a:endParaRPr lang="en-US" sz="2400" dirty="0"/>
          </a:p>
        </p:txBody>
      </p:sp>
      <p:sp>
        <p:nvSpPr>
          <p:cNvPr id="10" name="Text 8"/>
          <p:cNvSpPr txBox="1"/>
          <p:nvPr/>
        </p:nvSpPr>
        <p:spPr>
          <a:xfrm>
            <a:off x="548640" y="41666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4148328"/>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In PRG32-QT open the memory view on your string and on your array: find the terminating zero and check the byte order</a:t>
            </a:r>
            <a:endParaRPr lang="en-US" sz="2400" dirty="0"/>
          </a:p>
        </p:txBody>
      </p:sp>
      <p:sp>
        <p:nvSpPr>
          <p:cNvPr id="12" name="Shape 10"/>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3" name="Text 11"/>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4" name="Text 12"/>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Four bars in four colours; in the memory view the string ends with 00 and each .word shows its least significant byte first.</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Representing Digital Information: the code</dc:title>
  <dc:subject>Lecture 04</dc:subject>
  <dc:creator>Raffaele Montella</dc:creator>
  <cp:lastModifiedBy>Raffaele Montella</cp:lastModifiedBy>
  <cp:revision>1</cp:revision>
  <dcterms:created xsi:type="dcterms:W3CDTF">2026-10-16T15:51:37Z</dcterms:created>
  <dcterms:modified xsi:type="dcterms:W3CDTF">2026-10-16T15:51:37Z</dcterms:modified>
</cp:coreProperties>
</file>