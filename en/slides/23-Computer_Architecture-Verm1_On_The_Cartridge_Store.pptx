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e45a11b-b93b-1b6d-2426-83d9d55d646f}">
          <p14:sldIdLst>
            <p14:sldId id="256"/>
            <p14:sldId id="257"/>
            <p14:sldId id="258"/>
            <p14:sldId id="259"/>
            <p14:sldId id="260"/>
          </p14:sldIdLst>
        </p14:section>
        <p14:section name="Step 2: an identity" id="{8daf8241-8cad-8007-ece1-a6e324cc27c8}">
          <p14:sldIdLst>
            <p14:sldId id="261"/>
            <p14:sldId id="262"/>
            <p14:sldId id="263"/>
          </p14:sldIdLst>
        </p14:section>
        <p14:section name="Step 5: publication" id="{a00314e3-e02b-212b-ee63-38c3973d66c0}">
          <p14:sldIdLst>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ends today, with the step that turns a program into a product. Your Verm1 runs on your desk; at the end of this lecture it will be a single file that anyone can install, on the kit, on QEMU or on PRG32-QT, with a name, an icon and your signature. The quotation, from the team that built the first Macintosh, says that a work is finished only when it has been delivered.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packaging and publishing; the portable cartridge. USE NOW: the PRG32 tools (used, not studied, in this course). UNDERSTAND LATER: nothing. A slide without a badge is context: a story, an example, a question, an exercise.
For the lecturer: Last lecture of the project; Lecture 24 closes the course with an outlook. A tutorial again: at the end every student has a bundle, verm1-1.0.0.zip, checked and ready for submission. Uploading is a personal act with a personal token: do it in the laboratory only with students who want to. Everything up to the upload is run by tools/tests/verm1_store.py on the reference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results. Your game built for two architectures from the same source. A manifest that gives it an identity: id, title, version, authors, licence. An icon and a colophon with credits and controls. A bundle, a single ZIP file, checked and ready for the Cartridge Store. And a clear idea of what happens after publication, and of what you answer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publish? A program that runs only on its author's computer is an exercise; one that others can install is a product. Publishing forces you to answer questions that an exercise lets you skip: what is it called, who made it, on what does it run, what may others do with it. The Cartridge Store is the shelf of PRG32, and every cartridge on it was written by someone who began where you began.
UNDERSTAND NOW: packaging and publishing.
For the lecturer: The Store is at store.prg32.uniparthenope.it; its software is open, github.com/riscv-prg32/CartridgeStore. PRG32-QT has a Store browser of its own. Show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from source to shelf in six stages: your source file; two cartridges, one per architecture; the metadata, that is identity, icon and credits; the bundle; the review by an editor; the Store. The first four of today's steps happen entirely on your computer. Only the fifth talks to the Store: until then nothing leaves your machine.
UNDERSTAND NOW: packaging and publishing.
For the lecturer: The flow of the lecture. Nothing leaves the student's computer before the publish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packaging, ask whether the game is finished. Six checks, each with a method and an instrument. It starts, plays and ends: play three whole games. No frame is late: watch the telemetry. Memory is consistent: pause at random and compare ring, map and screen. It runs on the second architecture, QEMU, and on the real kit if you have one. And it is yours: it has something the reference does not have. A cartridge never run on a target should not be published for that target.
UNDERSTAND NOW: packaging and publishing.
For the lecturer: The debugger is used one last time, as a quality instrument. A cartridge that was never run on a target should not be published for that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field commits you to something. The id is by custom a reverse domain name, and never changes: put your own name in it, because two students cannot publish the same one. The version follows the scheme major, minor, patch, and a published version is treated as permanent: a mistake is corrected with a new version. The authors are all those who wrote the game. The license says what others may do with it. The tags are how it will be found.
UNDERSTAND NOW: packaging and publishing.
For the lecturer: Two students cannot publish the same id: each uses an id of their own, for example it.uniparthenope.arc12.&lt;surname&gt;.verm1. Agree on the convention in class. Treat an id and a version, once published, as permanent: a mistake is corrected by a new version, not by a replacement. It is a rule of practice (semantic versioning), which the players who already installed 1.0.0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icon is a small PNG image that represents the game on the shelf. The reference one is 64 by 64 pixels: a worm and a piece of food in the colours of the game. Pixel art suits a machine of this resolution: draw large, cell by cell, with any editor that saves PNG. Save it as icon.png next to the manifest. And draw it yourself: an image taken from the web is somebody else's work.
UNDERSTAND NOW: packaging and publishing.
For the lecturer: The reference icon is verm1/store/icon.png. An icon taken from the web is somebody else's work: draw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tribute is not a copy. Verm1 is a tribute to Snake: the idea of a worm that grows is as old as Blockade, of 1976, and belongs to everyone. The name, the code, the icon and the sounds are ours. The rules of a game are not protected; code, pictures, music and names are. So before publishing, ask of every piece: did I make it myself? If not, does its licence allow me to publish it, and did I give credit? Your name goes on it: publish only what you would sign.
UNDERSTAND NOW: packaging and publishing.
For the lecturer: Game rules are not protected; code, pictures, music and names are. A short and concrete introduction to authorship, which engineers meet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next, in four stages. Pending: the bundle is kept as a submission, and is not yet on the shelf. Review: an editor checks that it installs, runs, is described honestly and contains nothing that is not yours. Published: the game appears in the Store for the architectures you declared. And if you find a bug: correct it, raise the version to 1.0.1, pack and submit again; version 1.0.0 remains as it was.
UNDERSTAND NOW: packaging and publishing.
For the lecturer: Moderation protects the players and the authors. A rejection comes with a reason: answer it with a new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submission checklist, seven points: played to the end on every architecture; abi-table for every file; id unique and yours, version new, honest descriptions; authors, licence and colophon complete; the right metadata inside each cartridge; the bundle tested on another computer; the token in no file. A checklist is not bureaucracy: it is the instrument with which experts avoid the mistakes of experts.
UNDERSTAND NOW: packaging and publishing.
For the lecturer: Print it. A checklist is not bureaucracy: it is how pilots and surgeons avoid the mistakes that experts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rule about versions: what has been published is treated as permanent.
Think of where the metadata ends up: inside one cartridge file. How many architectures does one cartridge file have?
For the lecturer: 1. Answer: B. A published version is treated as permanent: a correction is a new version with the same id.
2. Answer: B. The list of files belongs to the bundle; a single cartridge states its own architecture, given on the command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token is a credential, like a password. Which of the four places is not a file that gets shared?
For the lecturer: Answer: C. A token is a credential: it never goes into a file that is shared or versioned.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built in this course. A game of six hundred lines of assembly, grown from three functions that only returned. With it, every layer of the machine: bits and numbers, gates and tables, state and memory, the processor, the screen, the devices. A method: one runnable step at a time, and a look inside whenever something surprises you. And the last step, which makes it engineering: a product with a name, a version and an author. The next lecture looks beyond the kit.
Learning status, recap. UNDERSTAND NOW: packaging and publishing; the portable cartridge. USE NOW: the PRG32 tools (used, not studied, in this course). UNDERSTAND LATER: nothing. A slide without a badge is context: a story, an example, a question, an exercise.
For the lecturer: The project ends here; Lecture 24 looks beyond the kit, to the machines that run the same instructions at scale. The project deliverables are the source of the student's variant and its bundle; the oral examination can start from any line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23: Verm1: the Store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23</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on the Cartridge Store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000" dirty="0">
                <a:solidFill>
                  <a:srgbClr val="CFE3EA"/>
                </a:solidFill>
                <a:latin typeface="Calibri" pitchFamily="34" charset="0"/>
                <a:ea typeface="Calibri" pitchFamily="34" charset="-122"/>
                <a:cs typeface="Calibri" pitchFamily="34" charset="-120"/>
              </a:rPr>
              <a:t>From a program that runs on your desk to a bundle that anyone can install</a:t>
            </a:r>
            <a:endParaRPr lang="en-US" sz="20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“Real artists ship.”</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Steve Jobs, to the Macintosh team, 1983</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3" name="Text 11"/>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23-Computer_Architecture-Verm1_On_The_Cartridge_Store-Code.pptx</a:t>
            </a:r>
            <a:endParaRPr lang="en-US" sz="1300" dirty="0"/>
          </a:p>
        </p:txBody>
      </p:sp>
      <p:sp>
        <p:nvSpPr>
          <p:cNvPr id="14" name="Shape 12"/>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5" name="Image 0" descr="/Users/raffaelemontella/devel/riscv-prg32/computer-architecture-with-prg32/tools/assets/prg32qt_store.png">    </p:cNvPr>
          <p:cNvPicPr>
            <a:picLocks noChangeAspect="1"/>
          </p:cNvPicPr>
          <p:nvPr/>
        </p:nvPicPr>
        <p:blipFill>
          <a:blip r:embed="rId1"/>
          <a:stretch>
            <a:fillRect/>
          </a:stretch>
        </p:blipFill>
        <p:spPr>
          <a:xfrm>
            <a:off x="8810822" y="4251960"/>
            <a:ext cx="2646947" cy="1828800"/>
          </a:xfrm>
          <a:prstGeom prst="rect">
            <a:avLst/>
          </a:prstGeom>
        </p:spPr>
      </p:pic>
      <p:sp>
        <p:nvSpPr>
          <p:cNvPr id="16" name="Shape 13"/>
          <p:cNvSpPr/>
          <p:nvPr/>
        </p:nvSpPr>
        <p:spPr>
          <a:xfrm>
            <a:off x="9690303" y="91440"/>
            <a:ext cx="1952752" cy="274320"/>
          </a:xfrm>
          <a:prstGeom prst="rect">
            <a:avLst/>
          </a:prstGeom>
          <a:solidFill>
            <a:srgbClr val="F3E8FF"/>
          </a:solidFill>
          <a:ln w="12700">
            <a:solidFill>
              <a:srgbClr val="7E22CE"/>
            </a:solidFill>
            <a:prstDash val="dash"/>
          </a:ln>
        </p:spPr>
      </p:sp>
      <p:sp>
        <p:nvSpPr>
          <p:cNvPr id="17" name="Shape 14"/>
          <p:cNvSpPr/>
          <p:nvPr/>
        </p:nvSpPr>
        <p:spPr>
          <a:xfrm>
            <a:off x="9717735" y="128016"/>
            <a:ext cx="45720" cy="45720"/>
          </a:xfrm>
          <a:prstGeom prst="rect">
            <a:avLst/>
          </a:prstGeom>
          <a:solidFill>
            <a:srgbClr val="7E22CE"/>
          </a:solidFill>
          <a:ln w="12700">
            <a:solidFill>
              <a:srgbClr val="7E22CE"/>
            </a:solidFill>
            <a:prstDash val="solid"/>
          </a:ln>
        </p:spPr>
      </p:sp>
      <p:sp>
        <p:nvSpPr>
          <p:cNvPr id="18" name="Shape 15"/>
          <p:cNvSpPr/>
          <p:nvPr/>
        </p:nvSpPr>
        <p:spPr>
          <a:xfrm>
            <a:off x="9717735" y="205740"/>
            <a:ext cx="45720" cy="45720"/>
          </a:xfrm>
          <a:prstGeom prst="rect">
            <a:avLst/>
          </a:prstGeom>
          <a:solidFill>
            <a:srgbClr val="7E22CE"/>
          </a:solidFill>
          <a:ln w="12700">
            <a:solidFill>
              <a:srgbClr val="7E22CE"/>
            </a:solidFill>
            <a:prstDash val="solid"/>
          </a:ln>
        </p:spPr>
      </p:sp>
      <p:sp>
        <p:nvSpPr>
          <p:cNvPr id="19" name="Shape 16"/>
          <p:cNvSpPr/>
          <p:nvPr/>
        </p:nvSpPr>
        <p:spPr>
          <a:xfrm>
            <a:off x="9717735" y="283464"/>
            <a:ext cx="45720" cy="45720"/>
          </a:xfrm>
          <a:prstGeom prst="rect">
            <a:avLst/>
          </a:prstGeom>
          <a:solidFill>
            <a:srgbClr val="7E22CE"/>
          </a:solidFill>
          <a:ln w="12700">
            <a:solidFill>
              <a:srgbClr val="7E22CE"/>
            </a:solidFill>
            <a:prstDash val="solid"/>
          </a:ln>
        </p:spPr>
      </p:sp>
      <p:pic>
        <p:nvPicPr>
          <p:cNvPr id="20"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1" name="Text 17"/>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2" name="Shape 18"/>
          <p:cNvSpPr/>
          <p:nvPr/>
        </p:nvSpPr>
        <p:spPr>
          <a:xfrm>
            <a:off x="8407349" y="91440"/>
            <a:ext cx="1173226" cy="274320"/>
          </a:xfrm>
          <a:prstGeom prst="rect">
            <a:avLst/>
          </a:prstGeom>
          <a:solidFill>
            <a:srgbClr val="FEF3C7"/>
          </a:solidFill>
          <a:ln w="12700">
            <a:solidFill>
              <a:srgbClr val="B45309"/>
            </a:solidFill>
            <a:prstDash val="solid"/>
          </a:ln>
        </p:spPr>
      </p:sp>
      <p:sp>
        <p:nvSpPr>
          <p:cNvPr id="23" name="Shape 19"/>
          <p:cNvSpPr/>
          <p:nvPr/>
        </p:nvSpPr>
        <p:spPr>
          <a:xfrm>
            <a:off x="8407349" y="91440"/>
            <a:ext cx="27432" cy="274320"/>
          </a:xfrm>
          <a:prstGeom prst="rect">
            <a:avLst/>
          </a:prstGeom>
          <a:solidFill>
            <a:srgbClr val="B45309"/>
          </a:solidFill>
          <a:ln w="12700">
            <a:solidFill>
              <a:srgbClr val="B45309"/>
            </a:solidFill>
            <a:prstDash val="solid"/>
          </a:ln>
        </p:spPr>
      </p:sp>
      <p:sp>
        <p:nvSpPr>
          <p:cNvPr id="24" name="Shape 20"/>
          <p:cNvSpPr/>
          <p:nvPr/>
        </p:nvSpPr>
        <p:spPr>
          <a:xfrm>
            <a:off x="8462213" y="91440"/>
            <a:ext cx="27432" cy="274320"/>
          </a:xfrm>
          <a:prstGeom prst="rect">
            <a:avLst/>
          </a:prstGeom>
          <a:solidFill>
            <a:srgbClr val="B45309"/>
          </a:solidFill>
          <a:ln w="12700">
            <a:solidFill>
              <a:srgbClr val="B45309"/>
            </a:solidFill>
            <a:prstDash val="solid"/>
          </a:ln>
        </p:spPr>
      </p:sp>
      <p:pic>
        <p:nvPicPr>
          <p:cNvPr id="25"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6" name="Text 21"/>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7" name="Shape 22"/>
          <p:cNvSpPr/>
          <p:nvPr/>
        </p:nvSpPr>
        <p:spPr>
          <a:xfrm>
            <a:off x="6518097" y="91440"/>
            <a:ext cx="1779524" cy="274320"/>
          </a:xfrm>
          <a:prstGeom prst="rect">
            <a:avLst/>
          </a:prstGeom>
          <a:solidFill>
            <a:srgbClr val="E0F2FE"/>
          </a:solidFill>
          <a:ln w="12700">
            <a:solidFill>
              <a:srgbClr val="0369A1"/>
            </a:solidFill>
            <a:prstDash val="solid"/>
          </a:ln>
        </p:spPr>
      </p:sp>
      <p:sp>
        <p:nvSpPr>
          <p:cNvPr id="28" name="Shape 23"/>
          <p:cNvSpPr/>
          <p:nvPr/>
        </p:nvSpPr>
        <p:spPr>
          <a:xfrm>
            <a:off x="6518097" y="91440"/>
            <a:ext cx="73152" cy="274320"/>
          </a:xfrm>
          <a:prstGeom prst="rect">
            <a:avLst/>
          </a:prstGeom>
          <a:solidFill>
            <a:srgbClr val="0369A1"/>
          </a:solidFill>
          <a:ln w="12700">
            <a:solidFill>
              <a:srgbClr val="0369A1"/>
            </a:solidFill>
            <a:prstDash val="solid"/>
          </a:ln>
        </p:spPr>
      </p:sp>
      <p:pic>
        <p:nvPicPr>
          <p:cNvPr id="29"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30" name="Text 24"/>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have by the end</a:t>
            </a:r>
            <a:endParaRPr lang="en-US" sz="3200" dirty="0"/>
          </a:p>
        </p:txBody>
      </p:sp>
      <p:sp>
        <p:nvSpPr>
          <p:cNvPr id="3" name="Text 1"/>
          <p:cNvSpPr txBox="1"/>
          <p:nvPr/>
        </p:nvSpPr>
        <p:spPr>
          <a:xfrm>
            <a:off x="548640" y="143713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884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Your Verm1 built for two architectures, the ESP32-C6 kit and QEMU, from the same source</a:t>
            </a:r>
            <a:endParaRPr lang="en-US" sz="2200" dirty="0"/>
          </a:p>
        </p:txBody>
      </p:sp>
      <p:sp>
        <p:nvSpPr>
          <p:cNvPr id="5" name="Text 3"/>
          <p:cNvSpPr txBox="1"/>
          <p:nvPr/>
        </p:nvSpPr>
        <p:spPr>
          <a:xfrm>
            <a:off x="548640" y="25760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55778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manifest that gives the game an identity: id, title, version, authors, licence</a:t>
            </a:r>
            <a:endParaRPr lang="en-US" sz="2200" dirty="0"/>
          </a:p>
        </p:txBody>
      </p:sp>
      <p:sp>
        <p:nvSpPr>
          <p:cNvPr id="7" name="Text 5"/>
          <p:cNvSpPr txBox="1"/>
          <p:nvPr/>
        </p:nvSpPr>
        <p:spPr>
          <a:xfrm>
            <a:off x="548640" y="37150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9671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An icon, and a colophon with credits and controls</a:t>
            </a:r>
            <a:endParaRPr lang="en-US" sz="2200" dirty="0"/>
          </a:p>
        </p:txBody>
      </p:sp>
      <p:sp>
        <p:nvSpPr>
          <p:cNvPr id="9" name="Text 7"/>
          <p:cNvSpPr txBox="1"/>
          <p:nvPr/>
        </p:nvSpPr>
        <p:spPr>
          <a:xfrm>
            <a:off x="548640" y="46111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928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bundle, one ZIP file, checked and ready for the Cartridge Store</a:t>
            </a:r>
            <a:endParaRPr lang="en-US" sz="2200" dirty="0"/>
          </a:p>
        </p:txBody>
      </p:sp>
      <p:sp>
        <p:nvSpPr>
          <p:cNvPr id="11" name="Text 9"/>
          <p:cNvSpPr txBox="1"/>
          <p:nvPr/>
        </p:nvSpPr>
        <p:spPr>
          <a:xfrm>
            <a:off x="548640" y="55072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8894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clear idea of what happens after you press publish, and of what you are responsible for</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Why publish?</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program that runs only on its author's computer is an exercise; one that others can install is a product</a:t>
            </a:r>
            <a:endParaRPr lang="en-US" sz="2100" dirty="0"/>
          </a:p>
        </p:txBody>
      </p:sp>
      <p:sp>
        <p:nvSpPr>
          <p:cNvPr id="5" name="Shape 3"/>
          <p:cNvSpPr/>
          <p:nvPr/>
        </p:nvSpPr>
        <p:spPr>
          <a:xfrm>
            <a:off x="548640" y="2623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4697"/>
            <a:ext cx="5468112" cy="130149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Publishing forces the questions that an exercise lets you skip: what is it called, who made it, on what does it run, what may others do with it</a:t>
            </a:r>
            <a:endParaRPr lang="en-US" sz="2100" dirty="0"/>
          </a:p>
        </p:txBody>
      </p:sp>
      <p:sp>
        <p:nvSpPr>
          <p:cNvPr id="7" name="Shape 5"/>
          <p:cNvSpPr/>
          <p:nvPr/>
        </p:nvSpPr>
        <p:spPr>
          <a:xfrm>
            <a:off x="548640" y="405612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957447"/>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Cartridge Store is the shelf of PRG32: games and programs that install on the kit, on QEMU and on PRG32-QT</a:t>
            </a:r>
            <a:endParaRPr lang="en-US" sz="2100" dirty="0"/>
          </a:p>
        </p:txBody>
      </p:sp>
      <p:sp>
        <p:nvSpPr>
          <p:cNvPr id="9" name="Shape 7"/>
          <p:cNvSpPr/>
          <p:nvPr/>
        </p:nvSpPr>
        <p:spPr>
          <a:xfrm>
            <a:off x="548640" y="5163503"/>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064824"/>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Every cartridge there was written by someone who started where you started</a:t>
            </a:r>
            <a:endParaRPr lang="en-US" sz="2100" dirty="0"/>
          </a:p>
        </p:txBody>
      </p:sp>
      <p:sp>
        <p:nvSpPr>
          <p:cNvPr id="11" name="Shape 9"/>
          <p:cNvSpPr/>
          <p:nvPr/>
        </p:nvSpPr>
        <p:spPr>
          <a:xfrm>
            <a:off x="548640" y="5945505"/>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846826"/>
            <a:ext cx="5468112"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Yours can be next to them</a:t>
            </a:r>
            <a:endParaRPr lang="en-US" sz="2100" dirty="0"/>
          </a:p>
        </p:txBody>
      </p:sp>
      <p:pic>
        <p:nvPicPr>
          <p:cNvPr id="13" name="Image 0" descr="/Users/raffaelemontella/devel/riscv-prg32/computer-architecture-with-prg32/tools/assets/prg32qt_store.png">    </p:cNvPr>
          <p:cNvPicPr>
            <a:picLocks noChangeAspect="1"/>
          </p:cNvPicPr>
          <p:nvPr/>
        </p:nvPicPr>
        <p:blipFill>
          <a:blip r:embed="rId1"/>
          <a:stretch>
            <a:fillRect/>
          </a:stretch>
        </p:blipFill>
        <p:spPr>
          <a:xfrm>
            <a:off x="6766560" y="1881553"/>
            <a:ext cx="4876495" cy="3369215"/>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Cartridge Store, from PRG32-QT</a:t>
            </a:r>
            <a:endParaRPr lang="en-US" sz="1200" dirty="0"/>
          </a:p>
        </p:txBody>
      </p:sp>
      <p:sp>
        <p:nvSpPr>
          <p:cNvPr id="15" name="Shape 12"/>
          <p:cNvSpPr/>
          <p:nvPr/>
        </p:nvSpPr>
        <p:spPr>
          <a:xfrm>
            <a:off x="8090738" y="91440"/>
            <a:ext cx="3552317" cy="274320"/>
          </a:xfrm>
          <a:prstGeom prst="rect">
            <a:avLst/>
          </a:prstGeom>
          <a:solidFill>
            <a:srgbClr val="E0F2FE"/>
          </a:solidFill>
          <a:ln w="12700">
            <a:solidFill>
              <a:srgbClr val="0369A1"/>
            </a:solidFill>
            <a:prstDash val="solid"/>
          </a:ln>
        </p:spPr>
      </p:sp>
      <p:sp>
        <p:nvSpPr>
          <p:cNvPr id="16" name="Shape 13"/>
          <p:cNvSpPr/>
          <p:nvPr/>
        </p:nvSpPr>
        <p:spPr>
          <a:xfrm>
            <a:off x="8090738"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218754" y="128016"/>
            <a:ext cx="201168" cy="201168"/>
          </a:xfrm>
          <a:prstGeom prst="rect">
            <a:avLst/>
          </a:prstGeom>
        </p:spPr>
      </p:pic>
      <p:sp>
        <p:nvSpPr>
          <p:cNvPr id="18" name="Text 14"/>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From source to shelf</a:t>
            </a:r>
            <a:endParaRPr lang="en-US" sz="3200" dirty="0"/>
          </a:p>
        </p:txBody>
      </p:sp>
      <p:sp>
        <p:nvSpPr>
          <p:cNvPr id="3" name="Shape 1"/>
          <p:cNvSpPr/>
          <p:nvPr/>
        </p:nvSpPr>
        <p:spPr>
          <a:xfrm>
            <a:off x="548640" y="1874520"/>
            <a:ext cx="1544269" cy="2468880"/>
          </a:xfrm>
          <a:prstGeom prst="roundRect">
            <a:avLst>
              <a:gd name="adj" fmla="val 4737"/>
            </a:avLst>
          </a:prstGeom>
          <a:solidFill>
            <a:srgbClr val="EEF2F4"/>
          </a:solidFill>
          <a:ln w="12700">
            <a:solidFill>
              <a:srgbClr val="EEF2F4"/>
            </a:solidFill>
            <a:prstDash val="solid"/>
          </a:ln>
        </p:spPr>
      </p:sp>
      <p:sp>
        <p:nvSpPr>
          <p:cNvPr id="4" name="Text 2"/>
          <p:cNvSpPr txBox="1"/>
          <p:nvPr/>
        </p:nvSpPr>
        <p:spPr>
          <a:xfrm>
            <a:off x="685800" y="2057400"/>
            <a:ext cx="1269949"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verm1.S</a:t>
            </a:r>
            <a:endParaRPr lang="en-US" sz="1900" dirty="0"/>
          </a:p>
        </p:txBody>
      </p:sp>
      <p:sp>
        <p:nvSpPr>
          <p:cNvPr id="5" name="Text 3"/>
          <p:cNvSpPr txBox="1"/>
          <p:nvPr/>
        </p:nvSpPr>
        <p:spPr>
          <a:xfrm>
            <a:off x="685800" y="2880360"/>
            <a:ext cx="1269949"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your source</a:t>
            </a:r>
            <a:endParaRPr lang="en-US" sz="1700" dirty="0"/>
          </a:p>
        </p:txBody>
      </p:sp>
      <p:sp>
        <p:nvSpPr>
          <p:cNvPr id="6" name="Shape 4"/>
          <p:cNvSpPr/>
          <p:nvPr/>
        </p:nvSpPr>
        <p:spPr>
          <a:xfrm>
            <a:off x="2138629"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2458669" y="1874520"/>
            <a:ext cx="1544269" cy="2468880"/>
          </a:xfrm>
          <a:prstGeom prst="roundRect">
            <a:avLst>
              <a:gd name="adj" fmla="val 4737"/>
            </a:avLst>
          </a:prstGeom>
          <a:solidFill>
            <a:srgbClr val="EEF2F4"/>
          </a:solidFill>
          <a:ln w="12700">
            <a:solidFill>
              <a:srgbClr val="EEF2F4"/>
            </a:solidFill>
            <a:prstDash val="solid"/>
          </a:ln>
        </p:spPr>
      </p:sp>
      <p:sp>
        <p:nvSpPr>
          <p:cNvPr id="8" name="Text 6"/>
          <p:cNvSpPr txBox="1"/>
          <p:nvPr/>
        </p:nvSpPr>
        <p:spPr>
          <a:xfrm>
            <a:off x="2595829" y="2057400"/>
            <a:ext cx="1269949"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 cartridges</a:t>
            </a:r>
            <a:endParaRPr lang="en-US" sz="1500" dirty="0"/>
          </a:p>
        </p:txBody>
      </p:sp>
      <p:sp>
        <p:nvSpPr>
          <p:cNvPr id="9" name="Text 7"/>
          <p:cNvSpPr txBox="1"/>
          <p:nvPr/>
        </p:nvSpPr>
        <p:spPr>
          <a:xfrm>
            <a:off x="2595829" y="2880360"/>
            <a:ext cx="1269949"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one per architecture</a:t>
            </a:r>
            <a:endParaRPr lang="en-US" sz="1700" dirty="0"/>
          </a:p>
        </p:txBody>
      </p:sp>
      <p:sp>
        <p:nvSpPr>
          <p:cNvPr id="10" name="Shape 8"/>
          <p:cNvSpPr/>
          <p:nvPr/>
        </p:nvSpPr>
        <p:spPr>
          <a:xfrm>
            <a:off x="4048658"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4368698" y="1874520"/>
            <a:ext cx="1544269" cy="2468880"/>
          </a:xfrm>
          <a:prstGeom prst="roundRect">
            <a:avLst>
              <a:gd name="adj" fmla="val 4737"/>
            </a:avLst>
          </a:prstGeom>
          <a:solidFill>
            <a:srgbClr val="EEF2F4"/>
          </a:solidFill>
          <a:ln w="12700">
            <a:solidFill>
              <a:srgbClr val="EEF2F4"/>
            </a:solidFill>
            <a:prstDash val="solid"/>
          </a:ln>
        </p:spPr>
      </p:sp>
      <p:sp>
        <p:nvSpPr>
          <p:cNvPr id="12" name="Text 10"/>
          <p:cNvSpPr txBox="1"/>
          <p:nvPr/>
        </p:nvSpPr>
        <p:spPr>
          <a:xfrm>
            <a:off x="4505858" y="2057400"/>
            <a:ext cx="1269949"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metadata</a:t>
            </a:r>
            <a:endParaRPr lang="en-US" sz="1900" dirty="0"/>
          </a:p>
        </p:txBody>
      </p:sp>
      <p:sp>
        <p:nvSpPr>
          <p:cNvPr id="13" name="Text 11"/>
          <p:cNvSpPr txBox="1"/>
          <p:nvPr/>
        </p:nvSpPr>
        <p:spPr>
          <a:xfrm>
            <a:off x="4505858" y="2880360"/>
            <a:ext cx="1269949"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identity, icon, credits</a:t>
            </a:r>
            <a:endParaRPr lang="en-US" sz="1700" dirty="0"/>
          </a:p>
        </p:txBody>
      </p:sp>
      <p:sp>
        <p:nvSpPr>
          <p:cNvPr id="14" name="Shape 12"/>
          <p:cNvSpPr/>
          <p:nvPr/>
        </p:nvSpPr>
        <p:spPr>
          <a:xfrm>
            <a:off x="5958688"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6278728" y="1874520"/>
            <a:ext cx="1544269" cy="2468880"/>
          </a:xfrm>
          <a:prstGeom prst="roundRect">
            <a:avLst>
              <a:gd name="adj" fmla="val 4737"/>
            </a:avLst>
          </a:prstGeom>
          <a:solidFill>
            <a:srgbClr val="EEF2F4"/>
          </a:solidFill>
          <a:ln w="12700">
            <a:solidFill>
              <a:srgbClr val="EEF2F4"/>
            </a:solidFill>
            <a:prstDash val="solid"/>
          </a:ln>
        </p:spPr>
      </p:sp>
      <p:sp>
        <p:nvSpPr>
          <p:cNvPr id="16" name="Text 14"/>
          <p:cNvSpPr txBox="1"/>
          <p:nvPr/>
        </p:nvSpPr>
        <p:spPr>
          <a:xfrm>
            <a:off x="6415888" y="2057400"/>
            <a:ext cx="1269949"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bundle</a:t>
            </a:r>
            <a:endParaRPr lang="en-US" sz="1900" dirty="0"/>
          </a:p>
        </p:txBody>
      </p:sp>
      <p:sp>
        <p:nvSpPr>
          <p:cNvPr id="17" name="Text 15"/>
          <p:cNvSpPr txBox="1"/>
          <p:nvPr/>
        </p:nvSpPr>
        <p:spPr>
          <a:xfrm>
            <a:off x="6415888" y="2880360"/>
            <a:ext cx="1269949"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one ZIP file</a:t>
            </a:r>
            <a:endParaRPr lang="en-US" sz="1700" dirty="0"/>
          </a:p>
        </p:txBody>
      </p:sp>
      <p:sp>
        <p:nvSpPr>
          <p:cNvPr id="18" name="Shape 16"/>
          <p:cNvSpPr/>
          <p:nvPr/>
        </p:nvSpPr>
        <p:spPr>
          <a:xfrm>
            <a:off x="7868717" y="2962656"/>
            <a:ext cx="274320" cy="292608"/>
          </a:xfrm>
          <a:prstGeom prst="rightArrow">
            <a:avLst/>
          </a:prstGeom>
          <a:solidFill>
            <a:srgbClr val="5B6B78"/>
          </a:solidFill>
          <a:ln w="12700">
            <a:solidFill>
              <a:srgbClr val="5B6B78"/>
            </a:solidFill>
            <a:prstDash val="solid"/>
          </a:ln>
        </p:spPr>
      </p:sp>
      <p:sp>
        <p:nvSpPr>
          <p:cNvPr id="19" name="Shape 17"/>
          <p:cNvSpPr/>
          <p:nvPr/>
        </p:nvSpPr>
        <p:spPr>
          <a:xfrm>
            <a:off x="8188757" y="1874520"/>
            <a:ext cx="1544269" cy="2468880"/>
          </a:xfrm>
          <a:prstGeom prst="roundRect">
            <a:avLst>
              <a:gd name="adj" fmla="val 4737"/>
            </a:avLst>
          </a:prstGeom>
          <a:solidFill>
            <a:srgbClr val="EEF2F4"/>
          </a:solidFill>
          <a:ln w="12700">
            <a:solidFill>
              <a:srgbClr val="EEF2F4"/>
            </a:solidFill>
            <a:prstDash val="solid"/>
          </a:ln>
        </p:spPr>
      </p:sp>
      <p:sp>
        <p:nvSpPr>
          <p:cNvPr id="20" name="Text 18"/>
          <p:cNvSpPr txBox="1"/>
          <p:nvPr/>
        </p:nvSpPr>
        <p:spPr>
          <a:xfrm>
            <a:off x="8325917" y="2057400"/>
            <a:ext cx="1269949" cy="685800"/>
          </a:xfrm>
          <a:prstGeom prst="roundRect">
            <a:avLst>
              <a:gd name="adj" fmla="val 10667"/>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review</a:t>
            </a:r>
            <a:endParaRPr lang="en-US" sz="1900" dirty="0"/>
          </a:p>
        </p:txBody>
      </p:sp>
      <p:sp>
        <p:nvSpPr>
          <p:cNvPr id="21" name="Text 19"/>
          <p:cNvSpPr txBox="1"/>
          <p:nvPr/>
        </p:nvSpPr>
        <p:spPr>
          <a:xfrm>
            <a:off x="8325917" y="2880360"/>
            <a:ext cx="1269949"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an editor checks it</a:t>
            </a:r>
            <a:endParaRPr lang="en-US" sz="1700" dirty="0"/>
          </a:p>
        </p:txBody>
      </p:sp>
      <p:sp>
        <p:nvSpPr>
          <p:cNvPr id="22" name="Shape 20"/>
          <p:cNvSpPr/>
          <p:nvPr/>
        </p:nvSpPr>
        <p:spPr>
          <a:xfrm>
            <a:off x="9778746" y="2962656"/>
            <a:ext cx="274320" cy="292608"/>
          </a:xfrm>
          <a:prstGeom prst="rightArrow">
            <a:avLst/>
          </a:prstGeom>
          <a:solidFill>
            <a:srgbClr val="5B6B78"/>
          </a:solidFill>
          <a:ln w="12700">
            <a:solidFill>
              <a:srgbClr val="5B6B78"/>
            </a:solidFill>
            <a:prstDash val="solid"/>
          </a:ln>
        </p:spPr>
      </p:sp>
      <p:sp>
        <p:nvSpPr>
          <p:cNvPr id="23" name="Shape 21"/>
          <p:cNvSpPr/>
          <p:nvPr/>
        </p:nvSpPr>
        <p:spPr>
          <a:xfrm>
            <a:off x="10098786" y="1874520"/>
            <a:ext cx="1544269" cy="2468880"/>
          </a:xfrm>
          <a:prstGeom prst="roundRect">
            <a:avLst>
              <a:gd name="adj" fmla="val 4737"/>
            </a:avLst>
          </a:prstGeom>
          <a:solidFill>
            <a:srgbClr val="EEF2F4"/>
          </a:solidFill>
          <a:ln w="12700">
            <a:solidFill>
              <a:srgbClr val="EEF2F4"/>
            </a:solidFill>
            <a:prstDash val="solid"/>
          </a:ln>
        </p:spPr>
      </p:sp>
      <p:sp>
        <p:nvSpPr>
          <p:cNvPr id="24" name="Text 22"/>
          <p:cNvSpPr txBox="1"/>
          <p:nvPr/>
        </p:nvSpPr>
        <p:spPr>
          <a:xfrm>
            <a:off x="10235946" y="2057400"/>
            <a:ext cx="1269949" cy="685800"/>
          </a:xfrm>
          <a:prstGeom prst="roundRect">
            <a:avLst>
              <a:gd name="adj" fmla="val 10667"/>
            </a:avLst>
          </a:prstGeom>
          <a:solidFill>
            <a:srgbClr val="2E4A62"/>
          </a:solidFill>
          <a:ln>
            <a:solidFill>
              <a:srgbClr val="2E4A62"/>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Store</a:t>
            </a:r>
            <a:endParaRPr lang="en-US" sz="1900" dirty="0"/>
          </a:p>
        </p:txBody>
      </p:sp>
      <p:sp>
        <p:nvSpPr>
          <p:cNvPr id="25" name="Text 23"/>
          <p:cNvSpPr txBox="1"/>
          <p:nvPr/>
        </p:nvSpPr>
        <p:spPr>
          <a:xfrm>
            <a:off x="10235946" y="2880360"/>
            <a:ext cx="1269949"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anyone installs</a:t>
            </a:r>
            <a:endParaRPr lang="en-US" sz="1700" dirty="0"/>
          </a:p>
        </p:txBody>
      </p:sp>
      <p:sp>
        <p:nvSpPr>
          <p:cNvPr id="26" name="Shape 24"/>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27" name="Text 25"/>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Steps 1 to 4 of today happen on your computer. Only step 5 talks to the Store.</a:t>
            </a:r>
            <a:endParaRPr lang="en-US" sz="2000" dirty="0"/>
          </a:p>
        </p:txBody>
      </p:sp>
      <p:sp>
        <p:nvSpPr>
          <p:cNvPr id="28" name="Shape 26"/>
          <p:cNvSpPr/>
          <p:nvPr/>
        </p:nvSpPr>
        <p:spPr>
          <a:xfrm>
            <a:off x="8090738" y="91440"/>
            <a:ext cx="3552317" cy="274320"/>
          </a:xfrm>
          <a:prstGeom prst="rect">
            <a:avLst/>
          </a:prstGeom>
          <a:solidFill>
            <a:srgbClr val="E0F2FE"/>
          </a:solidFill>
          <a:ln w="12700">
            <a:solidFill>
              <a:srgbClr val="0369A1"/>
            </a:solidFill>
            <a:prstDash val="solid"/>
          </a:ln>
        </p:spPr>
      </p:sp>
      <p:sp>
        <p:nvSpPr>
          <p:cNvPr id="29" name="Shape 27"/>
          <p:cNvSpPr/>
          <p:nvPr/>
        </p:nvSpPr>
        <p:spPr>
          <a:xfrm>
            <a:off x="8090738" y="91440"/>
            <a:ext cx="73152" cy="274320"/>
          </a:xfrm>
          <a:prstGeom prst="rect">
            <a:avLst/>
          </a:prstGeom>
          <a:solidFill>
            <a:srgbClr val="0369A1"/>
          </a:solidFill>
          <a:ln w="12700">
            <a:solidFill>
              <a:srgbClr val="0369A1"/>
            </a:solidFill>
            <a:prstDash val="solid"/>
          </a:ln>
        </p:spPr>
      </p:sp>
      <p:pic>
        <p:nvPicPr>
          <p:cNvPr id="30"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31" name="Text 28"/>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Before you package: is it finished?</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72300"/>
                <a:gridCol w="5291183"/>
                <a:gridCol w="2730933"/>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Check</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How</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With</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It starts, plays and ends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play three whole games, lose in three different ways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PRG32-QT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No frame is late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telemetry during a long game: late frames stay at zero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PRG32-QT, debug mode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Memory is consistent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pause at random and compare the ring, the map and the screen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PRG32-QT, memory view</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It runs on the second architecture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build for QEMU, upload, play</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QEMU</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It runs on real hardware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upload to a kit, play with the real joystick and speaker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kit, if you have one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It is yours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 title, a rule or a look that the reference does not have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you</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8090738" y="91440"/>
            <a:ext cx="3552317" cy="274320"/>
          </a:xfrm>
          <a:prstGeom prst="rect">
            <a:avLst/>
          </a:prstGeom>
          <a:solidFill>
            <a:srgbClr val="E0F2FE"/>
          </a:solidFill>
          <a:ln w="12700">
            <a:solidFill>
              <a:srgbClr val="0369A1"/>
            </a:solidFill>
            <a:prstDash val="solid"/>
          </a:ln>
        </p:spPr>
      </p:sp>
      <p:sp>
        <p:nvSpPr>
          <p:cNvPr id="5" name="Shape 2"/>
          <p:cNvSpPr/>
          <p:nvPr/>
        </p:nvSpPr>
        <p:spPr>
          <a:xfrm>
            <a:off x="8090738"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7" name="Text 3"/>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fields, and what they commit you to</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536150"/>
                <a:gridCol w="5291183"/>
                <a:gridCol w="4267083"/>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Field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Rule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For Verm1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id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by custom a reverse domain name; it never changes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one per student: put your own name in it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version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major.minor.patch; treat a published version as permanent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1.0.0, then 1.0.1 for a fix</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title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what the player reads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Verm1, or the name of your variant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authors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people who wrote it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you, and whoever worked with you</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license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what others may do with it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MIT, if you want others to learn from it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tags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how it will be found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arcade, snake, assembly, education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8090738" y="91440"/>
            <a:ext cx="3552317" cy="274320"/>
          </a:xfrm>
          <a:prstGeom prst="rect">
            <a:avLst/>
          </a:prstGeom>
          <a:solidFill>
            <a:srgbClr val="E0F2FE"/>
          </a:solidFill>
          <a:ln w="12700">
            <a:solidFill>
              <a:srgbClr val="0369A1"/>
            </a:solidFill>
            <a:prstDash val="solid"/>
          </a:ln>
        </p:spPr>
      </p:sp>
      <p:sp>
        <p:nvSpPr>
          <p:cNvPr id="5" name="Shape 2"/>
          <p:cNvSpPr/>
          <p:nvPr/>
        </p:nvSpPr>
        <p:spPr>
          <a:xfrm>
            <a:off x="8090738"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7" name="Text 3"/>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An icon</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small PNG that represents the game on the shelf</a:t>
            </a:r>
            <a:endParaRPr lang="en-US" sz="22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5606"/>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Ours is 64 by 64 pixels: a worm and a piece of food, in the colours of the game</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Pixel art suits a machine of 320 by 200 pixels: draw it large, cell by cell</a:t>
            </a:r>
            <a:endParaRPr lang="en-US" sz="2200" dirty="0"/>
          </a:p>
        </p:txBody>
      </p:sp>
      <p:sp>
        <p:nvSpPr>
          <p:cNvPr id="9" name="Shape 7"/>
          <p:cNvSpPr/>
          <p:nvPr/>
        </p:nvSpPr>
        <p:spPr>
          <a:xfrm>
            <a:off x="548640" y="457860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217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Use any editor that saves PNG, or draw it with a program, as the reference icon was</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Save it as icon.png next to the manifest: the manifest names it under assets</a:t>
            </a:r>
            <a:endParaRPr lang="en-US" sz="2200" dirty="0"/>
          </a:p>
        </p:txBody>
      </p:sp>
      <p:pic>
        <p:nvPicPr>
          <p:cNvPr id="13" name="Image 0" descr="/Users/raffaelemontella/devel/riscv-prg32/computer-architecture-with-prg32/tools/assets/verm1_icon.png">    </p:cNvPr>
          <p:cNvPicPr>
            <a:picLocks noChangeAspect="1"/>
          </p:cNvPicPr>
          <p:nvPr/>
        </p:nvPicPr>
        <p:blipFill>
          <a:blip r:embed="rId1"/>
          <a:stretch>
            <a:fillRect/>
          </a:stretch>
        </p:blipFill>
        <p:spPr>
          <a:xfrm>
            <a:off x="7863840" y="1676552"/>
            <a:ext cx="3779215" cy="3779215"/>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icon.png, enlarged</a:t>
            </a:r>
            <a:endParaRPr lang="en-US" sz="1200" dirty="0"/>
          </a:p>
        </p:txBody>
      </p:sp>
      <p:sp>
        <p:nvSpPr>
          <p:cNvPr id="15" name="Shape 12"/>
          <p:cNvSpPr/>
          <p:nvPr/>
        </p:nvSpPr>
        <p:spPr>
          <a:xfrm>
            <a:off x="8090738" y="91440"/>
            <a:ext cx="3552317" cy="274320"/>
          </a:xfrm>
          <a:prstGeom prst="rect">
            <a:avLst/>
          </a:prstGeom>
          <a:solidFill>
            <a:srgbClr val="E0F2FE"/>
          </a:solidFill>
          <a:ln w="12700">
            <a:solidFill>
              <a:srgbClr val="0369A1"/>
            </a:solidFill>
            <a:prstDash val="solid"/>
          </a:ln>
        </p:spPr>
      </p:sp>
      <p:sp>
        <p:nvSpPr>
          <p:cNvPr id="16" name="Shape 13"/>
          <p:cNvSpPr/>
          <p:nvPr/>
        </p:nvSpPr>
        <p:spPr>
          <a:xfrm>
            <a:off x="8090738"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218754" y="128016"/>
            <a:ext cx="201168" cy="201168"/>
          </a:xfrm>
          <a:prstGeom prst="rect">
            <a:avLst/>
          </a:prstGeom>
        </p:spPr>
      </p:pic>
      <p:sp>
        <p:nvSpPr>
          <p:cNvPr id="18" name="Text 14"/>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tribute is not a copy</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Verm1 is a tribute to Snake: the idea of a growing worm is as old as Blockade, 1976, and free for all</a:t>
            </a:r>
            <a:endParaRPr lang="en-US" sz="2000" dirty="0"/>
          </a:p>
        </p:txBody>
      </p:sp>
      <p:sp>
        <p:nvSpPr>
          <p:cNvPr id="5" name="Shape 3"/>
          <p:cNvSpPr/>
          <p:nvPr/>
        </p:nvSpPr>
        <p:spPr>
          <a:xfrm>
            <a:off x="548640" y="23261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35264"/>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name, the code, the icon and the sounds are ours: nothing was taken from another game</a:t>
            </a:r>
            <a:endParaRPr lang="en-US" sz="2000" dirty="0"/>
          </a:p>
        </p:txBody>
      </p:sp>
      <p:sp>
        <p:nvSpPr>
          <p:cNvPr id="7" name="Shape 5"/>
          <p:cNvSpPr/>
          <p:nvPr/>
        </p:nvSpPr>
        <p:spPr>
          <a:xfrm>
            <a:off x="548640" y="314413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53207"/>
            <a:ext cx="6565392" cy="1173226"/>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Before you publish, ask of every piece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did I write or draw this myself?</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if not, does its licence allow me to publish it, and did I give credit?</a:t>
            </a:r>
            <a:endParaRPr lang="en-US" sz="2000" dirty="0"/>
          </a:p>
        </p:txBody>
      </p:sp>
      <p:sp>
        <p:nvSpPr>
          <p:cNvPr id="9" name="Shape 7"/>
          <p:cNvSpPr/>
          <p:nvPr/>
        </p:nvSpPr>
        <p:spPr>
          <a:xfrm>
            <a:off x="548640" y="451554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24617"/>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Names and characters of commercial games are trademarks: do not use them</a:t>
            </a:r>
            <a:endParaRPr lang="en-US" sz="2000" dirty="0"/>
          </a:p>
        </p:txBody>
      </p:sp>
      <p:sp>
        <p:nvSpPr>
          <p:cNvPr id="11" name="Shape 9"/>
          <p:cNvSpPr/>
          <p:nvPr/>
        </p:nvSpPr>
        <p:spPr>
          <a:xfrm>
            <a:off x="548640" y="533349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24256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licence you choose tells others what they may do with your work: MIT lets them study, change and share it, keeping your name</a:t>
            </a:r>
            <a:endParaRPr lang="en-US" sz="2000" dirty="0"/>
          </a:p>
        </p:txBody>
      </p:sp>
      <p:sp>
        <p:nvSpPr>
          <p:cNvPr id="13" name="Shape 11"/>
          <p:cNvSpPr/>
          <p:nvPr/>
        </p:nvSpPr>
        <p:spPr>
          <a:xfrm>
            <a:off x="7863840" y="1417320"/>
            <a:ext cx="3779215" cy="4754880"/>
          </a:xfrm>
          <a:prstGeom prst="roundRect">
            <a:avLst>
              <a:gd name="adj" fmla="val 1936"/>
            </a:avLst>
          </a:prstGeom>
          <a:solidFill>
            <a:srgbClr val="D8ECEE"/>
          </a:solidFill>
          <a:ln w="12700">
            <a:solidFill>
              <a:srgbClr val="D8ECEE"/>
            </a:solidFill>
            <a:prstDash val="solid"/>
          </a:ln>
        </p:spPr>
      </p:sp>
      <p:sp>
        <p:nvSpPr>
          <p:cNvPr id="14" name="Text 12"/>
          <p:cNvSpPr txBox="1"/>
          <p:nvPr/>
        </p:nvSpPr>
        <p:spPr>
          <a:xfrm>
            <a:off x="8138160" y="1645920"/>
            <a:ext cx="3230575" cy="548640"/>
          </a:xfrm>
          <a:prstGeom prst="rect">
            <a:avLst/>
          </a:prstGeom>
          <a:noFill/>
          <a:ln/>
        </p:spPr>
        <p:txBody>
          <a:bodyPr wrap="square" lIns="0" tIns="0" rIns="0" bIns="0" rtlCol="0" anchor="ctr"/>
          <a:lstStyle/>
          <a:p>
            <a:pPr indent="0" marL="0">
              <a:buNone/>
            </a:pPr>
            <a:r>
              <a:rPr lang="en-US" sz="1800" b="1" dirty="0">
                <a:solidFill>
                  <a:srgbClr val="2E4A62"/>
                </a:solidFill>
                <a:latin typeface="Calibri" pitchFamily="34" charset="0"/>
                <a:ea typeface="Calibri" pitchFamily="34" charset="-122"/>
                <a:cs typeface="Calibri" pitchFamily="34" charset="-120"/>
              </a:rPr>
              <a:t>The rule</a:t>
            </a:r>
            <a:endParaRPr lang="en-US" sz="1800" dirty="0"/>
          </a:p>
        </p:txBody>
      </p:sp>
      <p:sp>
        <p:nvSpPr>
          <p:cNvPr id="15" name="Text 13"/>
          <p:cNvSpPr txBox="1"/>
          <p:nvPr/>
        </p:nvSpPr>
        <p:spPr>
          <a:xfrm>
            <a:off x="8138160" y="2286000"/>
            <a:ext cx="3230575" cy="365760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Your name goes on it. Publish only what you would sign.</a:t>
            </a:r>
            <a:endParaRPr lang="en-US" sz="1900" dirty="0"/>
          </a:p>
        </p:txBody>
      </p:sp>
      <p:sp>
        <p:nvSpPr>
          <p:cNvPr id="16" name="Shape 14"/>
          <p:cNvSpPr/>
          <p:nvPr/>
        </p:nvSpPr>
        <p:spPr>
          <a:xfrm>
            <a:off x="8090738" y="91440"/>
            <a:ext cx="3552317" cy="274320"/>
          </a:xfrm>
          <a:prstGeom prst="rect">
            <a:avLst/>
          </a:prstGeom>
          <a:solidFill>
            <a:srgbClr val="E0F2FE"/>
          </a:solidFill>
          <a:ln w="12700">
            <a:solidFill>
              <a:srgbClr val="0369A1"/>
            </a:solidFill>
            <a:prstDash val="solid"/>
          </a:ln>
        </p:spPr>
      </p:sp>
      <p:sp>
        <p:nvSpPr>
          <p:cNvPr id="17" name="Shape 15"/>
          <p:cNvSpPr/>
          <p:nvPr/>
        </p:nvSpPr>
        <p:spPr>
          <a:xfrm>
            <a:off x="8090738"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19" name="Text 16"/>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happens next</a:t>
            </a:r>
            <a:endParaRPr lang="en-US" sz="3200" dirty="0"/>
          </a:p>
        </p:txBody>
      </p:sp>
      <p:sp>
        <p:nvSpPr>
          <p:cNvPr id="3" name="Shape 1"/>
          <p:cNvSpPr/>
          <p:nvPr/>
        </p:nvSpPr>
        <p:spPr>
          <a:xfrm>
            <a:off x="548640" y="1828800"/>
            <a:ext cx="2464994" cy="4251960"/>
          </a:xfrm>
          <a:prstGeom prst="roundRect">
            <a:avLst>
              <a:gd name="adj" fmla="val 2968"/>
            </a:avLst>
          </a:prstGeom>
          <a:solidFill>
            <a:srgbClr val="EEF2F4"/>
          </a:solidFill>
          <a:ln w="12700">
            <a:solidFill>
              <a:srgbClr val="EEF2F4"/>
            </a:solidFill>
            <a:prstDash val="solid"/>
          </a:ln>
        </p:spPr>
      </p:sp>
      <p:sp>
        <p:nvSpPr>
          <p:cNvPr id="4" name="Text 2"/>
          <p:cNvSpPr txBox="1"/>
          <p:nvPr/>
        </p:nvSpPr>
        <p:spPr>
          <a:xfrm>
            <a:off x="1506817"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731520"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Pending</a:t>
            </a:r>
            <a:endParaRPr lang="en-US" sz="1900" dirty="0"/>
          </a:p>
        </p:txBody>
      </p:sp>
      <p:sp>
        <p:nvSpPr>
          <p:cNvPr id="6" name="Text 4"/>
          <p:cNvSpPr txBox="1"/>
          <p:nvPr/>
        </p:nvSpPr>
        <p:spPr>
          <a:xfrm>
            <a:off x="731520"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Your bundle is stored as a submission: it is not yet on the shelf</a:t>
            </a:r>
            <a:endParaRPr lang="en-US" sz="1900" dirty="0"/>
          </a:p>
        </p:txBody>
      </p:sp>
      <p:sp>
        <p:nvSpPr>
          <p:cNvPr id="7" name="Shape 5"/>
          <p:cNvSpPr/>
          <p:nvPr/>
        </p:nvSpPr>
        <p:spPr>
          <a:xfrm>
            <a:off x="3077642" y="3808476"/>
            <a:ext cx="283464" cy="292608"/>
          </a:xfrm>
          <a:prstGeom prst="rightArrow">
            <a:avLst/>
          </a:prstGeom>
          <a:solidFill>
            <a:srgbClr val="C9D2D8"/>
          </a:solidFill>
          <a:ln w="12700">
            <a:solidFill>
              <a:srgbClr val="C9D2D8"/>
            </a:solidFill>
            <a:prstDash val="solid"/>
          </a:ln>
        </p:spPr>
      </p:sp>
      <p:sp>
        <p:nvSpPr>
          <p:cNvPr id="8" name="Shape 6"/>
          <p:cNvSpPr/>
          <p:nvPr/>
        </p:nvSpPr>
        <p:spPr>
          <a:xfrm>
            <a:off x="3425114" y="1828800"/>
            <a:ext cx="2464994" cy="4251960"/>
          </a:xfrm>
          <a:prstGeom prst="roundRect">
            <a:avLst>
              <a:gd name="adj" fmla="val 2968"/>
            </a:avLst>
          </a:prstGeom>
          <a:solidFill>
            <a:srgbClr val="EEF2F4"/>
          </a:solidFill>
          <a:ln w="12700">
            <a:solidFill>
              <a:srgbClr val="EEF2F4"/>
            </a:solidFill>
            <a:prstDash val="solid"/>
          </a:ln>
        </p:spPr>
      </p:sp>
      <p:sp>
        <p:nvSpPr>
          <p:cNvPr id="9" name="Text 7"/>
          <p:cNvSpPr txBox="1"/>
          <p:nvPr/>
        </p:nvSpPr>
        <p:spPr>
          <a:xfrm>
            <a:off x="4383291"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3607994"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Review</a:t>
            </a:r>
            <a:endParaRPr lang="en-US" sz="1900" dirty="0"/>
          </a:p>
        </p:txBody>
      </p:sp>
      <p:sp>
        <p:nvSpPr>
          <p:cNvPr id="11" name="Text 9"/>
          <p:cNvSpPr txBox="1"/>
          <p:nvPr/>
        </p:nvSpPr>
        <p:spPr>
          <a:xfrm>
            <a:off x="3607994"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An editor checks that it installs, runs, is described honestly and contains nothing that is not yours</a:t>
            </a:r>
            <a:endParaRPr lang="en-US" sz="1900" dirty="0"/>
          </a:p>
        </p:txBody>
      </p:sp>
      <p:sp>
        <p:nvSpPr>
          <p:cNvPr id="12" name="Shape 10"/>
          <p:cNvSpPr/>
          <p:nvPr/>
        </p:nvSpPr>
        <p:spPr>
          <a:xfrm>
            <a:off x="5954116" y="3808476"/>
            <a:ext cx="283464" cy="292608"/>
          </a:xfrm>
          <a:prstGeom prst="rightArrow">
            <a:avLst/>
          </a:prstGeom>
          <a:solidFill>
            <a:srgbClr val="C9D2D8"/>
          </a:solidFill>
          <a:ln w="12700">
            <a:solidFill>
              <a:srgbClr val="C9D2D8"/>
            </a:solidFill>
            <a:prstDash val="solid"/>
          </a:ln>
        </p:spPr>
      </p:sp>
      <p:sp>
        <p:nvSpPr>
          <p:cNvPr id="13" name="Shape 11"/>
          <p:cNvSpPr/>
          <p:nvPr/>
        </p:nvSpPr>
        <p:spPr>
          <a:xfrm>
            <a:off x="6301588" y="1828800"/>
            <a:ext cx="2464994" cy="4251960"/>
          </a:xfrm>
          <a:prstGeom prst="roundRect">
            <a:avLst>
              <a:gd name="adj" fmla="val 2968"/>
            </a:avLst>
          </a:prstGeom>
          <a:solidFill>
            <a:srgbClr val="EEF2F4"/>
          </a:solidFill>
          <a:ln w="12700">
            <a:solidFill>
              <a:srgbClr val="EEF2F4"/>
            </a:solidFill>
            <a:prstDash val="solid"/>
          </a:ln>
        </p:spPr>
      </p:sp>
      <p:sp>
        <p:nvSpPr>
          <p:cNvPr id="14" name="Text 12"/>
          <p:cNvSpPr txBox="1"/>
          <p:nvPr/>
        </p:nvSpPr>
        <p:spPr>
          <a:xfrm>
            <a:off x="7259765"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6484468"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Published</a:t>
            </a:r>
            <a:endParaRPr lang="en-US" sz="1900" dirty="0"/>
          </a:p>
        </p:txBody>
      </p:sp>
      <p:sp>
        <p:nvSpPr>
          <p:cNvPr id="16" name="Text 14"/>
          <p:cNvSpPr txBox="1"/>
          <p:nvPr/>
        </p:nvSpPr>
        <p:spPr>
          <a:xfrm>
            <a:off x="6484468"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The game appears in the Store, for the architectures you declared</a:t>
            </a:r>
            <a:endParaRPr lang="en-US" sz="1900" dirty="0"/>
          </a:p>
        </p:txBody>
      </p:sp>
      <p:sp>
        <p:nvSpPr>
          <p:cNvPr id="17" name="Shape 15"/>
          <p:cNvSpPr/>
          <p:nvPr/>
        </p:nvSpPr>
        <p:spPr>
          <a:xfrm>
            <a:off x="8830589" y="3808476"/>
            <a:ext cx="283464" cy="292608"/>
          </a:xfrm>
          <a:prstGeom prst="rightArrow">
            <a:avLst/>
          </a:prstGeom>
          <a:solidFill>
            <a:srgbClr val="C9D2D8"/>
          </a:solidFill>
          <a:ln w="12700">
            <a:solidFill>
              <a:srgbClr val="C9D2D8"/>
            </a:solidFill>
            <a:prstDash val="solid"/>
          </a:ln>
        </p:spPr>
      </p:sp>
      <p:sp>
        <p:nvSpPr>
          <p:cNvPr id="18" name="Shape 16"/>
          <p:cNvSpPr/>
          <p:nvPr/>
        </p:nvSpPr>
        <p:spPr>
          <a:xfrm>
            <a:off x="9178061" y="1828800"/>
            <a:ext cx="2464994" cy="4251960"/>
          </a:xfrm>
          <a:prstGeom prst="roundRect">
            <a:avLst>
              <a:gd name="adj" fmla="val 2968"/>
            </a:avLst>
          </a:prstGeom>
          <a:solidFill>
            <a:srgbClr val="EEF2F4"/>
          </a:solidFill>
          <a:ln w="12700">
            <a:solidFill>
              <a:srgbClr val="EEF2F4"/>
            </a:solidFill>
            <a:prstDash val="solid"/>
          </a:ln>
        </p:spPr>
      </p:sp>
      <p:sp>
        <p:nvSpPr>
          <p:cNvPr id="19" name="Text 17"/>
          <p:cNvSpPr txBox="1"/>
          <p:nvPr/>
        </p:nvSpPr>
        <p:spPr>
          <a:xfrm>
            <a:off x="10136238" y="1554480"/>
            <a:ext cx="548640"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9360941" y="2240280"/>
            <a:ext cx="2099234" cy="822960"/>
          </a:xfrm>
          <a:prstGeom prst="rect">
            <a:avLst/>
          </a:prstGeom>
          <a:noFill/>
          <a:ln/>
        </p:spPr>
        <p:txBody>
          <a:bodyPr wrap="square" lIns="0" tIns="0" rIns="0" bIns="0" rtlCol="0" anchor="ctr"/>
          <a:lstStyle/>
          <a:p>
            <a:pPr algn="ctr" indent="0" marL="0">
              <a:buNone/>
            </a:pPr>
            <a:r>
              <a:rPr lang="en-US" sz="1900" b="1" dirty="0">
                <a:solidFill>
                  <a:srgbClr val="2E4A62"/>
                </a:solidFill>
                <a:latin typeface="Calibri" pitchFamily="34" charset="0"/>
                <a:ea typeface="Calibri" pitchFamily="34" charset="-122"/>
                <a:cs typeface="Calibri" pitchFamily="34" charset="-120"/>
              </a:rPr>
              <a:t>A bug?</a:t>
            </a:r>
            <a:endParaRPr lang="en-US" sz="1900" dirty="0"/>
          </a:p>
        </p:txBody>
      </p:sp>
      <p:sp>
        <p:nvSpPr>
          <p:cNvPr id="21" name="Text 19"/>
          <p:cNvSpPr txBox="1"/>
          <p:nvPr/>
        </p:nvSpPr>
        <p:spPr>
          <a:xfrm>
            <a:off x="9360941" y="3200400"/>
            <a:ext cx="2099234" cy="269748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Fix it, raise the version to 1.0.1, pack and submit again: 1.0.0 stays as it was</a:t>
            </a:r>
            <a:endParaRPr lang="en-US" sz="1900" dirty="0"/>
          </a:p>
        </p:txBody>
      </p:sp>
      <p:sp>
        <p:nvSpPr>
          <p:cNvPr id="22" name="Shape 20"/>
          <p:cNvSpPr/>
          <p:nvPr/>
        </p:nvSpPr>
        <p:spPr>
          <a:xfrm>
            <a:off x="8090738" y="91440"/>
            <a:ext cx="3552317" cy="274320"/>
          </a:xfrm>
          <a:prstGeom prst="rect">
            <a:avLst/>
          </a:prstGeom>
          <a:solidFill>
            <a:srgbClr val="E0F2FE"/>
          </a:solidFill>
          <a:ln w="12700">
            <a:solidFill>
              <a:srgbClr val="0369A1"/>
            </a:solidFill>
            <a:prstDash val="solid"/>
          </a:ln>
        </p:spPr>
      </p:sp>
      <p:sp>
        <p:nvSpPr>
          <p:cNvPr id="23" name="Shape 21"/>
          <p:cNvSpPr/>
          <p:nvPr/>
        </p:nvSpPr>
        <p:spPr>
          <a:xfrm>
            <a:off x="8090738" y="91440"/>
            <a:ext cx="73152" cy="274320"/>
          </a:xfrm>
          <a:prstGeom prst="rect">
            <a:avLst/>
          </a:prstGeom>
          <a:solidFill>
            <a:srgbClr val="0369A1"/>
          </a:solidFill>
          <a:ln w="12700">
            <a:solidFill>
              <a:srgbClr val="0369A1"/>
            </a:solidFill>
            <a:prstDash val="solid"/>
          </a:ln>
        </p:spPr>
      </p:sp>
      <p:pic>
        <p:nvPicPr>
          <p:cNvPr id="24"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25" name="Text 22"/>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submission checklist</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682733"/>
                <a:gridCol w="10411682"/>
              </a:tblGrid>
              <a:tr h="0">
                <a:tc>
                  <a:txBody>
                    <a:bodyPr/>
                    <a:lstStyle/>
                    <a:p>
                      <a:pPr algn="l" indent="0" marL="0">
                        <a:buNone/>
                      </a:pP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Check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game was played to the end on every architecture in the manifest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cartridge summary says import_model: abi-table for every file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id is yours and unique; version is new; title, summary and description say what the game is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authors, licence and colophon are complete; every piece is yours or credited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inspect-metadata shows the right id, version and architecture in each cartridge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bundle was unzipped and tested on another computer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token is in no file, no screenshot and no repository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8090738" y="91440"/>
            <a:ext cx="3552317" cy="274320"/>
          </a:xfrm>
          <a:prstGeom prst="rect">
            <a:avLst/>
          </a:prstGeom>
          <a:solidFill>
            <a:srgbClr val="E0F2FE"/>
          </a:solidFill>
          <a:ln w="12700">
            <a:solidFill>
              <a:srgbClr val="0369A1"/>
            </a:solidFill>
            <a:prstDash val="solid"/>
          </a:ln>
        </p:spPr>
      </p:sp>
      <p:sp>
        <p:nvSpPr>
          <p:cNvPr id="5" name="Shape 2"/>
          <p:cNvSpPr/>
          <p:nvPr/>
        </p:nvSpPr>
        <p:spPr>
          <a:xfrm>
            <a:off x="8090738"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7" name="Text 3"/>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You published version 1.0.0 and found a bug. What do you do?</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upload 1.0.0 again</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publish 1.0.1</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change the id</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ask for the old file to be edited</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Why does metadata.json not contain the architectures entry?</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is optional</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metadata goes inside one cartridge, which has one architecture</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QEMU does not support it</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would be too long</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Where should the Store token be kept?</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in verm1.S, as a comment</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in the manifest</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in an environment variable of your shell</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in the README of the repository</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built in this course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game of six hundred lines of assembly, from three functions that only returned</a:t>
            </a:r>
            <a:endParaRPr lang="en-US" sz="22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560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With it, every layer of the machine: bits and numbers, gates and tables, state and memory, the processor, the screen, the devices</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method: one runnable step at a time, and a look inside whenever something surprises you</a:t>
            </a:r>
            <a:endParaRPr lang="en-US" sz="2200" dirty="0"/>
          </a:p>
        </p:txBody>
      </p:sp>
      <p:sp>
        <p:nvSpPr>
          <p:cNvPr id="9" name="Shape 7"/>
          <p:cNvSpPr/>
          <p:nvPr/>
        </p:nvSpPr>
        <p:spPr>
          <a:xfrm>
            <a:off x="548640" y="457860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2178"/>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And the last step that makes it engineering: a product with a name, a version and an author</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next game is yours to choose; the next lecture shows where the same instructions run at scale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on the Cartridge Store</dc:title>
  <dc:subject>Lecture 23</dc:subject>
  <dc:creator>Raffaele Montella</dc:creator>
  <cp:lastModifiedBy>Raffaele Montella</cp:lastModifiedBy>
  <cp:revision>1</cp:revision>
  <dcterms:created xsi:type="dcterms:W3CDTF">2026-10-16T16:46:57Z</dcterms:created>
  <dcterms:modified xsi:type="dcterms:W3CDTF">2026-10-16T16:46:57Z</dcterms:modified>
</cp:coreProperties>
</file>