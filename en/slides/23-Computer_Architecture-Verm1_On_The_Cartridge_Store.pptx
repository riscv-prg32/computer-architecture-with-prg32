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0fe445a-4da7-08e8-1be7-07456695f65c}">
          <p14:sldIdLst>
            <p14:sldId id="256"/>
            <p14:sldId id="257"/>
            <p14:sldId id="258"/>
            <p14:sldId id="259"/>
            <p14:sldId id="260"/>
          </p14:sldIdLst>
        </p14:section>
        <p14:section name="Step 1: one source, two cartridges" id="{47bfd9ed-15d7-2d92-7eb8-2b9976831449}">
          <p14:sldIdLst>
            <p14:sldId id="261"/>
            <p14:sldId id="262"/>
            <p14:sldId id="263"/>
          </p14:sldIdLst>
        </p14:section>
        <p14:section name="Step 2: an identity" id="{a8798922-e663-0664-619f-27cec9843cb5}">
          <p14:sldIdLst>
            <p14:sldId id="264"/>
            <p14:sldId id="265"/>
            <p14:sldId id="266"/>
            <p14:sldId id="267"/>
            <p14:sldId id="268"/>
            <p14:sldId id="269"/>
          </p14:sldIdLst>
        </p14:section>
        <p14:section name="Step 3: the cartridge carries its papers" id="{3e5e05a1-587b-3536-00b9-399734893e3e}">
          <p14:sldIdLst>
            <p14:sldId id="270"/>
            <p14:sldId id="271"/>
            <p14:sldId id="272"/>
          </p14:sldIdLst>
        </p14:section>
        <p14:section name="Step 4: the bundle" id="{b9eff3a2-25e1-cc24-ad7b-5cea5020dfd3}">
          <p14:sldIdLst>
            <p14:sldId id="273"/>
            <p14:sldId id="274"/>
            <p14:sldId id="275"/>
          </p14:sldIdLst>
        </p14:section>
        <p14:section name="Step 5: publication" id="{90f92e00-d941-ead6-b70e-e26e0b098401}">
          <p14:sldIdLst>
            <p14:sldId id="276"/>
            <p14:sldId id="277"/>
            <p14:sldId id="278"/>
            <p14:sldId id="279"/>
            <p14:sldId id="280"/>
            <p14:sldId id="281"/>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ends today, with the step that turns a program into a product. Your Verm1 runs on your desk; at the end of this lecture it will be a single file that anyone can install, on the kit, on QEMU or on PRG32-QT, with a name, an icon and your signature. The quotation, from the team that built the first Macintosh, says that a work is finished only when it has been delivered.
For the lecturer: Last lecture of the project; Lecture 24 closes the course with an outlook. A tutorial again: at the end every student has a bundle, verm1-1.0.0.zip, checked and ready for submission. Uploading is a personal act with a personal token: do it in the laboratory only with students who want to. Everything up to the upload is run by tools/tests/verm1_store.py on the reference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results. Your game built for two architectures from the same source. A manifest that gives it an identity: id, title, version, authors, licence. An icon and a colophon with credits and controls. A bundle, a single ZIP file, checked and ready for the Cartridge Store. And a clear idea of what happens after publication, and of what you answer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publish? A program that runs only on its author's computer is an exercise; one that others can install is a product. Publishing forces you to answer questions that an exercise lets you skip: what is it called, who made it, on what does it run, what may others do with it. The Cartridge Store is the shelf of PRG32, and every cartridge on it was written by someone who began where you began.
For the lecturer: The Store is at store.prg32.uniparthenope.it; its software is open, github.com/riscv-prg32/CartridgeStore. PRG32-QT has a Store browser of its own. Show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path from source to shelf in six stages: your source file; two cartridges, one per architecture; the metadata, that is identity, icon and credits; the bundle; the review by an editor; the Store. The first four of today's steps happen entirely on your computer. Only the fifth talks to the Store: until then nothing leaves your machine.
For the lecturer: The flow of the lecture. Nothing leaves the student's computer before the publish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packaging, ask whether the game is finished. Six checks, each with a method and an instrument. It starts, plays and ends: play three whole games. No frame is late: watch the telemetry. Memory is consistent: pause at random and compare ring, map and screen. It runs on the second architecture, QEMU, and on the real kit if you have one. And it is yours: it has something the reference does not have. A cartridge never run on a target should not be published for that target.
For the lecturer: The debugger is used one last time, as a quality instrument. A cartridge that was never run on a target should not be published for that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step: from one source, two cartridges, and a check on what was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build command of every lecture, with one more option: --architecture names the target for which the file is produced, first esp32c6 and then qemu. The output files follow a naming rule: the name of the game, a hyphen, the architecture. The source is the same for both. Look at the size the builder reports: the whole finished game is about six kilobytes of code.
For the lecturer: The builder answers: built verm1-esp32c6.prg32 name=verm1 load=0x40800000, and code=6216 for the reference game. Six kilobytes: less than this slide as a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cartridge summary prints what a cartridge file declares about itself. Look for one line: import_model must be abi-table. It means that the cartridge reaches the functions of the runtime through a table, and not through the fixed addresses of one particular firmware image. Such a cartridge is portable: it keeps working when the firmware is updated. The Store accepts portable cartridges. Repeat the check on the second file.
For the lecturer: A non-portable cartridge is linked against the addresses of one firmware image and breaks at the next update. The table is the ABI of PRG32: prg32_gfx_rect and the others are entries of it. Repeat the check on the QEMU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step gives the game an identity, with three small files that you write: a manifest, an icon and a colophon.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manifest is a JSON file that describes the game. Read the fields one by one. id is a name unique in the world. version is three numbers. title is what the player reads. summary is one line for the shelf and description a paragraph. Then authors, licence and tags. At the end, assets names the icon and architectures says which cartridge file serves which target. Create it with a text editor in the folder of your game.
For the lecturer: Create the file in ~/verm1 with a text editor. The description is cut on the slide. The abi line says which version of the metadata format this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field commits you to something. The id is by custom a reverse domain name, and never changes: put your own name in it, because two students cannot publish the same one. The version follows the scheme major, minor, patch, and a published version is treated as permanent: a mistake is corrected with a new version. The authors are all those who wrote the game. The license says what others may do with it. The tags are how it will be found.
For the lecturer: Two students cannot publish the same id: each uses an id of their own, for example it.uniparthenope.arc12.&lt;surname&gt;.verm1. Agree on the convention in class. Treat an id and a version, once published, as permanent: a mistake is corrected by a new version, not by a replacement. It is a rule of practice (semantic versioning), which the players who already installed 1.0.0 rely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icon is a small PNG image that represents the game on the shelf. The reference one is 64 by 64 pixels: a worm and a piece of food in the colours of the game. Pixel art suits a machine of this resolution: draw large, cell by cell, with any editor that saves PNG. Save it as icon.png next to the manifest. And draw it yourself: an image taken from the web is somebody else's work.
For the lecturer: The reference icon is verm1/store/icon.png. An icon taken from the web is somebody else's work: draw your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colophon is the credits page of the cartridge; the word comes from printing, where it is the note at the end of a book that says who made it. It lists roles and names, the controls, that is what each input does for the player, and the acknowledgements, where the reference game you started from remains cited. Replace the placeholder name everywhere and set the date.
For the lecturer: Colophon is the printers' word for the note at the end of a book that says who made it. Replace Your Name everywhere, and set the release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tribute is not a copy. Verm1 is a tribute to Snake: the idea of a worm that grows is as old as Blockade, of 1976, and belongs to everyone. The name, the code, the icon and the sounds are ours. The rules of a game are not protected; code, pictures, music and names are. So before publishing, ask of every piece: did I make it myself? If not, does its licence allow me to publish it, and did I give credit? Your name goes on it: publish only what you would sign.
For the lecturer: Game rules are not protected; code, pictures, music and names are. A short and concrete introduction to authorship, which engineers meet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step writes the identity inside each cartridge file, so that the file carries its papers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prepare metadata.json: a copy of the manifest without the two entries assets and architectures, which concern the bundle and not the single cartridge. Then store attach-metadata writes metadata, icon and colophon inside the cartridge: once per file, each with its own architecture. The program is not touched; the information is appended after it. From now on a cartridge copied by hand still says what it is and who made it.
For the lecturer: The tool answers: wrote verm1-esp32c6.prg32 legacy=6316 blocks=3. The three blocks are the metadata, the icon and the colophon, appended after the program; the program itself is untouched. Careful: giving the full manifest to --metadata makes the tool fail, because of the assets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Never trust a write that you have not read back. store inspect-metadata prints what is inside the cartridge: check the id, the title, the version and the architecture, and that trailer_present is true. Then run the cartridge once more: it must work exactly as before. Reading back what was written is the habit of the whole course, from the memory view of the debugger to this command.
For the lecturer: Output abridged. Reading back what was written is the habit of the whole course: the memory view of the debugger, and now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fourth step collects everything into a single file: the bundle.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store pack-bundle reads the manifest, collects the files it names and produces a ZIP file whose name carries the version. If a file is missing or misnamed, the tool stops here, on your computer, and not later at the Store. Look at the listing it prints: the manifest, the icon and the two cartridges. Your whole game, for two machines, is about sixteen kilobytes.
For the lecturer: Real output for the reference game, from tools/tests/verm1_store.py. The files must be in the same folder as the manifest.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the bundle, not your folder. Unzip it into an empty folder and work from there: import the ESP32-C6 cartridge into PRG32-QT and check that title, icon and credits are yours; upload the other to QEMU and play a game; if you have a kit, try it with the real joystick. Then ask a colleague to do the same on another computer. This catches the classic mistake: a bundle built before the last correction.
For the lecturer: Testing the packaged files, and not the ones in the working folder, catches the classic mistake: a bundle built before the last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fifth step is the only one that leaves your computer: publication.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actions. Sign in to the Store and create a token. Keep it in an environment variable of your shell. Then submit the bundle with store publish-bundle. The token is you: whoever has it publishes in your name. So it is a secret: it does not go in the source, in a file under version control, or in a screenshot. If you lose it or show it by mistake, revoke it and create a new one.
For the lecturer: This is the only step that was not run for these slides: it needs a personal account. Do it live with a volunteer, with the volunteer's own token, and never project the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happens next, in four stages. Pending: the bundle is kept as a submission, and is not yet on the shelf. Review: an editor checks that it installs, runs, is described honestly and contains nothing that is not yours. Published: the game appears in the Store for the architectures you declared. And if you find a bug: correct it, raise the version to 1.0.1, pack and submit again; version 1.0.0 remains as it was.
For the lecturer: Moderation protects the players and the authors. A rejection comes with a reason: answer it with a new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submission checklist, seven points: played to the end on every architecture; abi-table for every file; id unique and yours, version new, honest descriptions; authors, licence and colophon complete; the right metadata inside each cartridge; the bundle tested on another computer; the token in no file. A checklist is not bureaucracy: it is the instrument with which experts avoid the mistakes of experts.
For the lecturer: Print it. A checklist is not bureaucracy: it is how pilots and surgeons avoid the mistakes that experts make.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Remember the rule about versions: what has been published is treated as permanent.
For the lecturer: Answer: B. A published version is treated as permanent: a correction is a new version with the same 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of where the metadata ends up: inside one cartridge file. How many architectures does one cartridge file have?
For the lecturer: Answer: B. The list of files belongs to the bundle; a single cartridge states its own architecture, given on the command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token is a credential, like a password. Which of the four places is not a file that gets shared?
For the lecturer: Answer: C. A token is a credential: it never goes into a file that is shared or versioned.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release. Choose an id and a title, write the manifest and the colophon of your variant, draw your icon. Then build, attach, inspect and pack, and go through the checklist with a colleague as reviewer. The bundle is the deliverable of the project. Publication is optional and personal: if you want your game on the shelf, publish it and send the link to the class.
For the lecturer: Publication is optional and personal; the bundle is the deliverable of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you built in this course. A game of six hundred lines of assembly, grown from three functions that only returned. With it, every layer of the machine: bits and numbers, gates and tables, state and memory, the processor, the screen, the devices. A method: one runnable step at a time, and a look inside whenever something surprises you. And the last step, which makes it engineering: a product with a name, a version and an author. The next lecture looks beyond the kit.
For the lecturer: The project ends here; Lecture 24 looks beyond the kit, to the machines that run the same instructions at scale. The project deliverables are the source of the student's variant and its bundle; the oral examination can start from any line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23: Verm1: the Store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23</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on the Cartridge Store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000" dirty="0">
                <a:solidFill>
                  <a:srgbClr val="CFE3EA"/>
                </a:solidFill>
                <a:latin typeface="Calibri" pitchFamily="34" charset="0"/>
                <a:ea typeface="Calibri" pitchFamily="34" charset="-122"/>
                <a:cs typeface="Calibri" pitchFamily="34" charset="-120"/>
              </a:rPr>
              <a:t>From a program that runs on your desk to a bundle that anyone can install</a:t>
            </a:r>
            <a:endParaRPr lang="en-US" sz="20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“Real artists ship.”</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Steve Jobs, to the Macintosh team, 1983</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prg32qt_store.png">    </p:cNvPr>
          <p:cNvPicPr>
            <a:picLocks noChangeAspect="1"/>
          </p:cNvPicPr>
          <p:nvPr/>
        </p:nvPicPr>
        <p:blipFill>
          <a:blip r:embed="rId1"/>
          <a:stretch>
            <a:fillRect/>
          </a:stretch>
        </p:blipFill>
        <p:spPr>
          <a:xfrm>
            <a:off x="8810822" y="4251960"/>
            <a:ext cx="2646947"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have by the end</a:t>
            </a:r>
            <a:endParaRPr lang="en-US" sz="3200" dirty="0"/>
          </a:p>
        </p:txBody>
      </p:sp>
      <p:sp>
        <p:nvSpPr>
          <p:cNvPr id="3" name="Text 1"/>
          <p:cNvSpPr txBox="1"/>
          <p:nvPr/>
        </p:nvSpPr>
        <p:spPr>
          <a:xfrm>
            <a:off x="548640" y="143713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884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Your Verm1 built for two architectures, the ESP32-C6 kit and QEMU, from the same source</a:t>
            </a:r>
            <a:endParaRPr lang="en-US" sz="2200" dirty="0"/>
          </a:p>
        </p:txBody>
      </p:sp>
      <p:sp>
        <p:nvSpPr>
          <p:cNvPr id="5" name="Text 3"/>
          <p:cNvSpPr txBox="1"/>
          <p:nvPr/>
        </p:nvSpPr>
        <p:spPr>
          <a:xfrm>
            <a:off x="548640" y="25760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5577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manifest that gives the game an identity: id, title, version, authors, licence</a:t>
            </a:r>
            <a:endParaRPr lang="en-US" sz="2200" dirty="0"/>
          </a:p>
        </p:txBody>
      </p:sp>
      <p:sp>
        <p:nvSpPr>
          <p:cNvPr id="7" name="Text 5"/>
          <p:cNvSpPr txBox="1"/>
          <p:nvPr/>
        </p:nvSpPr>
        <p:spPr>
          <a:xfrm>
            <a:off x="548640" y="37150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9671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 icon, and a colophon with credits and controls</a:t>
            </a:r>
            <a:endParaRPr lang="en-US" sz="2200" dirty="0"/>
          </a:p>
        </p:txBody>
      </p:sp>
      <p:sp>
        <p:nvSpPr>
          <p:cNvPr id="9" name="Text 7"/>
          <p:cNvSpPr txBox="1"/>
          <p:nvPr/>
        </p:nvSpPr>
        <p:spPr>
          <a:xfrm>
            <a:off x="548640" y="46111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928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bundle, one ZIP file, checked and ready for the Cartridge Store</a:t>
            </a:r>
            <a:endParaRPr lang="en-US" sz="2200" dirty="0"/>
          </a:p>
        </p:txBody>
      </p:sp>
      <p:sp>
        <p:nvSpPr>
          <p:cNvPr id="11" name="Text 9"/>
          <p:cNvSpPr txBox="1"/>
          <p:nvPr/>
        </p:nvSpPr>
        <p:spPr>
          <a:xfrm>
            <a:off x="548640" y="55072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8894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clear idea of what happens after you press publish, and of what you are responsible for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publish?</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program that runs only on its author's computer is an exercise; one that others can install is a product</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5468112" cy="130149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Publishing forces the questions that an exercise lets you skip: what is it called, who made it, on what does it run, what may others do with it</a:t>
            </a:r>
            <a:endParaRPr lang="en-US" sz="2100" dirty="0"/>
          </a:p>
        </p:txBody>
      </p:sp>
      <p:sp>
        <p:nvSpPr>
          <p:cNvPr id="7" name="Shape 5"/>
          <p:cNvSpPr/>
          <p:nvPr/>
        </p:nvSpPr>
        <p:spPr>
          <a:xfrm>
            <a:off x="548640" y="405612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57447"/>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Cartridge Store is the shelf of PRG32: games and programs that install on the kit, on QEMU and on PRG32-QT</a:t>
            </a:r>
            <a:endParaRPr lang="en-US" sz="2100" dirty="0"/>
          </a:p>
        </p:txBody>
      </p:sp>
      <p:sp>
        <p:nvSpPr>
          <p:cNvPr id="9" name="Shape 7"/>
          <p:cNvSpPr/>
          <p:nvPr/>
        </p:nvSpPr>
        <p:spPr>
          <a:xfrm>
            <a:off x="548640" y="516350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064824"/>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Every cartridge there was written by someone who started where you started</a:t>
            </a:r>
            <a:endParaRPr lang="en-US" sz="2100" dirty="0"/>
          </a:p>
        </p:txBody>
      </p:sp>
      <p:sp>
        <p:nvSpPr>
          <p:cNvPr id="11" name="Shape 9"/>
          <p:cNvSpPr/>
          <p:nvPr/>
        </p:nvSpPr>
        <p:spPr>
          <a:xfrm>
            <a:off x="548640" y="5945505"/>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846826"/>
            <a:ext cx="5468112"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Yours can be next to them</a:t>
            </a:r>
            <a:endParaRPr lang="en-US" sz="2100" dirty="0"/>
          </a:p>
        </p:txBody>
      </p:sp>
      <p:pic>
        <p:nvPicPr>
          <p:cNvPr id="13" name="Image 0" descr="/Users/raffaelemontella/devel/riscv-prg32/computer-architecture-with-prg32/tools/assets/prg32qt_store.png">    </p:cNvPr>
          <p:cNvPicPr>
            <a:picLocks noChangeAspect="1"/>
          </p:cNvPicPr>
          <p:nvPr/>
        </p:nvPicPr>
        <p:blipFill>
          <a:blip r:embed="rId1"/>
          <a:stretch>
            <a:fillRect/>
          </a:stretch>
        </p:blipFill>
        <p:spPr>
          <a:xfrm>
            <a:off x="6766560" y="1881553"/>
            <a:ext cx="4876495" cy="3369215"/>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Cartridge Store, from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source to shelf</a:t>
            </a:r>
            <a:endParaRPr lang="en-US" sz="3200" dirty="0"/>
          </a:p>
        </p:txBody>
      </p:sp>
      <p:sp>
        <p:nvSpPr>
          <p:cNvPr id="3" name="Shape 1"/>
          <p:cNvSpPr/>
          <p:nvPr/>
        </p:nvSpPr>
        <p:spPr>
          <a:xfrm>
            <a:off x="548640" y="1874520"/>
            <a:ext cx="1544269" cy="2468880"/>
          </a:xfrm>
          <a:prstGeom prst="roundRect">
            <a:avLst>
              <a:gd name="adj" fmla="val 4737"/>
            </a:avLst>
          </a:prstGeom>
          <a:solidFill>
            <a:srgbClr val="EEF2F4"/>
          </a:solidFill>
          <a:ln w="12700">
            <a:solidFill>
              <a:srgbClr val="EEF2F4"/>
            </a:solidFill>
            <a:prstDash val="solid"/>
          </a:ln>
        </p:spPr>
      </p:sp>
      <p:sp>
        <p:nvSpPr>
          <p:cNvPr id="4" name="Text 2"/>
          <p:cNvSpPr txBox="1"/>
          <p:nvPr/>
        </p:nvSpPr>
        <p:spPr>
          <a:xfrm>
            <a:off x="685800" y="2057400"/>
            <a:ext cx="1269949"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verm1.S</a:t>
            </a:r>
            <a:endParaRPr lang="en-US" sz="1900" dirty="0"/>
          </a:p>
        </p:txBody>
      </p:sp>
      <p:sp>
        <p:nvSpPr>
          <p:cNvPr id="5" name="Text 3"/>
          <p:cNvSpPr txBox="1"/>
          <p:nvPr/>
        </p:nvSpPr>
        <p:spPr>
          <a:xfrm>
            <a:off x="685800" y="2880360"/>
            <a:ext cx="1269949"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your source</a:t>
            </a:r>
            <a:endParaRPr lang="en-US" sz="1700" dirty="0"/>
          </a:p>
        </p:txBody>
      </p:sp>
      <p:sp>
        <p:nvSpPr>
          <p:cNvPr id="6" name="Shape 4"/>
          <p:cNvSpPr/>
          <p:nvPr/>
        </p:nvSpPr>
        <p:spPr>
          <a:xfrm>
            <a:off x="2138629"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458669" y="1874520"/>
            <a:ext cx="1544269" cy="2468880"/>
          </a:xfrm>
          <a:prstGeom prst="roundRect">
            <a:avLst>
              <a:gd name="adj" fmla="val 4737"/>
            </a:avLst>
          </a:prstGeom>
          <a:solidFill>
            <a:srgbClr val="EEF2F4"/>
          </a:solidFill>
          <a:ln w="12700">
            <a:solidFill>
              <a:srgbClr val="EEF2F4"/>
            </a:solidFill>
            <a:prstDash val="solid"/>
          </a:ln>
        </p:spPr>
      </p:sp>
      <p:sp>
        <p:nvSpPr>
          <p:cNvPr id="8" name="Text 6"/>
          <p:cNvSpPr txBox="1"/>
          <p:nvPr/>
        </p:nvSpPr>
        <p:spPr>
          <a:xfrm>
            <a:off x="2595829" y="2057400"/>
            <a:ext cx="1269949"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 cartridges</a:t>
            </a:r>
            <a:endParaRPr lang="en-US" sz="1500" dirty="0"/>
          </a:p>
        </p:txBody>
      </p:sp>
      <p:sp>
        <p:nvSpPr>
          <p:cNvPr id="9" name="Text 7"/>
          <p:cNvSpPr txBox="1"/>
          <p:nvPr/>
        </p:nvSpPr>
        <p:spPr>
          <a:xfrm>
            <a:off x="2595829" y="2880360"/>
            <a:ext cx="1269949"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one per architecture</a:t>
            </a:r>
            <a:endParaRPr lang="en-US" sz="1700" dirty="0"/>
          </a:p>
        </p:txBody>
      </p:sp>
      <p:sp>
        <p:nvSpPr>
          <p:cNvPr id="10" name="Shape 8"/>
          <p:cNvSpPr/>
          <p:nvPr/>
        </p:nvSpPr>
        <p:spPr>
          <a:xfrm>
            <a:off x="4048658"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4368698" y="1874520"/>
            <a:ext cx="1544269" cy="2468880"/>
          </a:xfrm>
          <a:prstGeom prst="roundRect">
            <a:avLst>
              <a:gd name="adj" fmla="val 4737"/>
            </a:avLst>
          </a:prstGeom>
          <a:solidFill>
            <a:srgbClr val="EEF2F4"/>
          </a:solidFill>
          <a:ln w="12700">
            <a:solidFill>
              <a:srgbClr val="EEF2F4"/>
            </a:solidFill>
            <a:prstDash val="solid"/>
          </a:ln>
        </p:spPr>
      </p:sp>
      <p:sp>
        <p:nvSpPr>
          <p:cNvPr id="12" name="Text 10"/>
          <p:cNvSpPr txBox="1"/>
          <p:nvPr/>
        </p:nvSpPr>
        <p:spPr>
          <a:xfrm>
            <a:off x="4505858" y="2057400"/>
            <a:ext cx="1269949"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metadata</a:t>
            </a:r>
            <a:endParaRPr lang="en-US" sz="1900" dirty="0"/>
          </a:p>
        </p:txBody>
      </p:sp>
      <p:sp>
        <p:nvSpPr>
          <p:cNvPr id="13" name="Text 11"/>
          <p:cNvSpPr txBox="1"/>
          <p:nvPr/>
        </p:nvSpPr>
        <p:spPr>
          <a:xfrm>
            <a:off x="4505858" y="2880360"/>
            <a:ext cx="1269949"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identity, icon, credits</a:t>
            </a:r>
            <a:endParaRPr lang="en-US" sz="1700" dirty="0"/>
          </a:p>
        </p:txBody>
      </p:sp>
      <p:sp>
        <p:nvSpPr>
          <p:cNvPr id="14" name="Shape 12"/>
          <p:cNvSpPr/>
          <p:nvPr/>
        </p:nvSpPr>
        <p:spPr>
          <a:xfrm>
            <a:off x="5958688"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6278728" y="1874520"/>
            <a:ext cx="1544269" cy="2468880"/>
          </a:xfrm>
          <a:prstGeom prst="roundRect">
            <a:avLst>
              <a:gd name="adj" fmla="val 4737"/>
            </a:avLst>
          </a:prstGeom>
          <a:solidFill>
            <a:srgbClr val="EEF2F4"/>
          </a:solidFill>
          <a:ln w="12700">
            <a:solidFill>
              <a:srgbClr val="EEF2F4"/>
            </a:solidFill>
            <a:prstDash val="solid"/>
          </a:ln>
        </p:spPr>
      </p:sp>
      <p:sp>
        <p:nvSpPr>
          <p:cNvPr id="16" name="Text 14"/>
          <p:cNvSpPr txBox="1"/>
          <p:nvPr/>
        </p:nvSpPr>
        <p:spPr>
          <a:xfrm>
            <a:off x="6415888" y="2057400"/>
            <a:ext cx="1269949"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bundle</a:t>
            </a:r>
            <a:endParaRPr lang="en-US" sz="1900" dirty="0"/>
          </a:p>
        </p:txBody>
      </p:sp>
      <p:sp>
        <p:nvSpPr>
          <p:cNvPr id="17" name="Text 15"/>
          <p:cNvSpPr txBox="1"/>
          <p:nvPr/>
        </p:nvSpPr>
        <p:spPr>
          <a:xfrm>
            <a:off x="6415888" y="2880360"/>
            <a:ext cx="1269949"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one ZIP file</a:t>
            </a:r>
            <a:endParaRPr lang="en-US" sz="1700" dirty="0"/>
          </a:p>
        </p:txBody>
      </p:sp>
      <p:sp>
        <p:nvSpPr>
          <p:cNvPr id="18" name="Shape 16"/>
          <p:cNvSpPr/>
          <p:nvPr/>
        </p:nvSpPr>
        <p:spPr>
          <a:xfrm>
            <a:off x="7868717"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8188757" y="1874520"/>
            <a:ext cx="1544269" cy="2468880"/>
          </a:xfrm>
          <a:prstGeom prst="roundRect">
            <a:avLst>
              <a:gd name="adj" fmla="val 4737"/>
            </a:avLst>
          </a:prstGeom>
          <a:solidFill>
            <a:srgbClr val="EEF2F4"/>
          </a:solidFill>
          <a:ln w="12700">
            <a:solidFill>
              <a:srgbClr val="EEF2F4"/>
            </a:solidFill>
            <a:prstDash val="solid"/>
          </a:ln>
        </p:spPr>
      </p:sp>
      <p:sp>
        <p:nvSpPr>
          <p:cNvPr id="20" name="Text 18"/>
          <p:cNvSpPr txBox="1"/>
          <p:nvPr/>
        </p:nvSpPr>
        <p:spPr>
          <a:xfrm>
            <a:off x="8325917" y="2057400"/>
            <a:ext cx="1269949"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review</a:t>
            </a:r>
            <a:endParaRPr lang="en-US" sz="1900" dirty="0"/>
          </a:p>
        </p:txBody>
      </p:sp>
      <p:sp>
        <p:nvSpPr>
          <p:cNvPr id="21" name="Text 19"/>
          <p:cNvSpPr txBox="1"/>
          <p:nvPr/>
        </p:nvSpPr>
        <p:spPr>
          <a:xfrm>
            <a:off x="8325917" y="2880360"/>
            <a:ext cx="1269949"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an editor checks it</a:t>
            </a:r>
            <a:endParaRPr lang="en-US" sz="1700" dirty="0"/>
          </a:p>
        </p:txBody>
      </p:sp>
      <p:sp>
        <p:nvSpPr>
          <p:cNvPr id="22" name="Shape 20"/>
          <p:cNvSpPr/>
          <p:nvPr/>
        </p:nvSpPr>
        <p:spPr>
          <a:xfrm>
            <a:off x="9778746" y="2962656"/>
            <a:ext cx="274320" cy="292608"/>
          </a:xfrm>
          <a:prstGeom prst="rightArrow">
            <a:avLst/>
          </a:prstGeom>
          <a:solidFill>
            <a:srgbClr val="5B6B78"/>
          </a:solidFill>
          <a:ln w="12700">
            <a:solidFill>
              <a:srgbClr val="5B6B78"/>
            </a:solidFill>
            <a:prstDash val="solid"/>
          </a:ln>
        </p:spPr>
      </p:sp>
      <p:sp>
        <p:nvSpPr>
          <p:cNvPr id="23" name="Shape 21"/>
          <p:cNvSpPr/>
          <p:nvPr/>
        </p:nvSpPr>
        <p:spPr>
          <a:xfrm>
            <a:off x="10098786" y="1874520"/>
            <a:ext cx="1544269" cy="2468880"/>
          </a:xfrm>
          <a:prstGeom prst="roundRect">
            <a:avLst>
              <a:gd name="adj" fmla="val 4737"/>
            </a:avLst>
          </a:prstGeom>
          <a:solidFill>
            <a:srgbClr val="EEF2F4"/>
          </a:solidFill>
          <a:ln w="12700">
            <a:solidFill>
              <a:srgbClr val="EEF2F4"/>
            </a:solidFill>
            <a:prstDash val="solid"/>
          </a:ln>
        </p:spPr>
      </p:sp>
      <p:sp>
        <p:nvSpPr>
          <p:cNvPr id="24" name="Text 22"/>
          <p:cNvSpPr txBox="1"/>
          <p:nvPr/>
        </p:nvSpPr>
        <p:spPr>
          <a:xfrm>
            <a:off x="10235946" y="2057400"/>
            <a:ext cx="1269949" cy="685800"/>
          </a:xfrm>
          <a:prstGeom prst="roundRect">
            <a:avLst>
              <a:gd name="adj" fmla="val 10667"/>
            </a:avLst>
          </a:prstGeom>
          <a:solidFill>
            <a:srgbClr val="2E4A62"/>
          </a:solidFill>
          <a:ln>
            <a:solidFill>
              <a:srgbClr val="2E4A62"/>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Store</a:t>
            </a:r>
            <a:endParaRPr lang="en-US" sz="1900" dirty="0"/>
          </a:p>
        </p:txBody>
      </p:sp>
      <p:sp>
        <p:nvSpPr>
          <p:cNvPr id="25" name="Text 23"/>
          <p:cNvSpPr txBox="1"/>
          <p:nvPr/>
        </p:nvSpPr>
        <p:spPr>
          <a:xfrm>
            <a:off x="10235946" y="2880360"/>
            <a:ext cx="1269949"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anyone installs</a:t>
            </a:r>
            <a:endParaRPr lang="en-US" sz="1700" dirty="0"/>
          </a:p>
        </p:txBody>
      </p:sp>
      <p:sp>
        <p:nvSpPr>
          <p:cNvPr id="26" name="Shape 24"/>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7" name="Text 25"/>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Steps 1 to 4 of today happen on your computer. Only step 5 talks to the Store.</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Before you package: is it finished?</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72300"/>
                <a:gridCol w="5291183"/>
                <a:gridCol w="2730933"/>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Check</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How</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With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It starts, plays and ends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play three whole games, lose in three different ways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PRG32-QT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No frame is late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telemetry during a long game: late frames stay at zero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PRG32-QT, debug mode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Memory is consistent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pause at random and compare the ring, the map and the screen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PRG32-QT, memory view</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It runs on the second architecture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build for QEMU, upload, play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QEMU</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It runs on real hardware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upload to a kit, play with the real joystick and speaker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kit, if you have 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It is yours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 title, a rule or a look that the reference does not have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you</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01</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Step 1: one source, two cartridges</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Build for each architecture, and check what you built.</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Build for the kit and for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600" dirty="0">
                <a:solidFill>
                  <a:srgbClr val="E6EDF2"/>
                </a:solidFill>
                <a:latin typeface="Courier New" pitchFamily="34" charset="0"/>
                <a:ea typeface="Courier New" pitchFamily="34" charset="-122"/>
                <a:cs typeface="Courier New" pitchFamily="34" charset="-120"/>
              </a:rPr>
              <a:t>cd ~/PRG32         </a:t>
            </a:r>
            <a:pPr indent="0" marL="0">
              <a:buNone/>
            </a:pPr>
            <a:r>
              <a:rPr lang="en-US" sz="1600" dirty="0">
                <a:solidFill>
                  <a:srgbClr val="8FB3A0"/>
                </a:solidFill>
                <a:latin typeface="Courier New" pitchFamily="34" charset="0"/>
                <a:ea typeface="Courier New" pitchFamily="34" charset="-122"/>
                <a:cs typeface="Courier New" pitchFamily="34" charset="-120"/>
              </a:rPr>
              <a:t> # your PRG32 folder, toolchain active</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--entry-prefix verm1 --name verm1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--architecture esp32c6 --out ~/verm1/verm1-esp32c6.prg32</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--entry-prefix verm1 --name verm1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--architecture qemu --out ~/verm1/verm1-qemu.prg32</a:t>
            </a:r>
            <a:endParaRPr lang="en-US" sz="16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command of every lecture, with one more option</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--architecture names the target of the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names follow a rule: game-architecture.prg32</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finished Verm1 is about 6 kilobytes of code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is it portable?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50" dirty="0">
                <a:solidFill>
                  <a:srgbClr val="E6EDF2"/>
                </a:solidFill>
                <a:latin typeface="Courier New" pitchFamily="34" charset="0"/>
                <a:ea typeface="Courier New" pitchFamily="34" charset="-122"/>
                <a:cs typeface="Courier New" pitchFamily="34" charset="-120"/>
              </a:rPr>
              <a:t>python3 -m prg32 cartridge summary ~/verm1/verm1-esp32c6.prg32</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"import_model": "abi-table",</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a:t>
            </a:r>
            <a:endParaRPr lang="en-US" sz="15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summary prints what the file declares about itself</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abi-table: the cartridge reaches the runtime through a table of functions</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So it does not depend on one build of the firmware: it is portable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Store accepts portable cartridges</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02</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Step 2: an identity</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A manifest, an icon, a colophon.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manifest.json: who is this game?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"abi": "prg32-metadata-1.0",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"id": "it.uniparthenope.arc12.verm1",</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"title": "Verm1",</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"version": "1.0.0",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"summary": "A hungry worm on a 40 by 24 grid: a tribute to Snake.",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"description": "Verm1 (say \"vermone\") is the course-long project of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"authors": [{"name": "Your Name"}],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"license": "MIT",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"tags": ["arcade", "snake", "assembly", "education"],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"assets": {"icon": "icon.png"},</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"architectures":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{"id": "esp32c6", "file": "verm1-esp32c6.prg32"},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{"id": "qemu", "file": "verm1-qemu.prg32"}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id: a name that is unique in the world, and for ever</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version: three numbers, 1.0.0 for a first release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summary: one line for the shelf; description: a paragraph</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architectures: which file serves which target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fields, and what they commit you to</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536150"/>
                <a:gridCol w="5291183"/>
                <a:gridCol w="4267083"/>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Field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Rule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For Verm1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id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by custom a reverse domain name; it never changes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one per student: put your own name in 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version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major.minor.patch; treat a published version as permanent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1.0.0, then 1.0.1 for a fix</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title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what the player reads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Verm1, or the name of your variant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authors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people who wrote 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you, and whoever worked with you</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license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what others may do with 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MIT, if you want others to learn from 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tags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how it will be found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arcade, snake, assembly, education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An icon</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small PNG that represents the game on the shelf</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Ours is 64 by 64 pixels: a worm and a piece of food, in the colours of the game</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Pixel art suits a machine of 320 by 200 pixels: draw it large, cell by cell</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Use any editor that saves PNG, or draw it with a program, as the reference icon was</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Save it as icon.png next to the manifest: the manifest names it under assets</a:t>
            </a:r>
            <a:endParaRPr lang="en-US" sz="2200" dirty="0"/>
          </a:p>
        </p:txBody>
      </p:sp>
      <p:pic>
        <p:nvPicPr>
          <p:cNvPr id="13" name="Image 0" descr="/Users/raffaelemontella/devel/riscv-prg32/computer-architecture-with-prg32/tools/assets/verm1_icon.png">    </p:cNvPr>
          <p:cNvPicPr>
            <a:picLocks noChangeAspect="1"/>
          </p:cNvPicPr>
          <p:nvPr/>
        </p:nvPicPr>
        <p:blipFill>
          <a:blip r:embed="rId1"/>
          <a:stretch>
            <a:fillRect/>
          </a:stretch>
        </p:blipFill>
        <p:spPr>
          <a:xfrm>
            <a:off x="7863840" y="1676552"/>
            <a:ext cx="3779215" cy="3779215"/>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icon.png, enlarged</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colophon.json: credits and controls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"abi": "prg32-colophon-1.0",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"title": "Verm1",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"subtitle": "A tribute to Snake, in RISC-V assembly",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"version": "1.0.0",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"release_date": "2026-12-18",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"developer": {"name": "Your Name"},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"authors":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{"role": "game design", "name": "Your Name"},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{"role": "programming", "name": "Your Name"}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"license": "MIT",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"copyright": "Copyright 2026 Your Name",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"acknowledgements":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"Giuseppe Coviello, reference implementation of Verm1",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"ARC12 Computer Architecture, University of Naples Parthenope",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"The PRG32 community"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"controls":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{"input": "JOYSTICK", "action": "Steer the worm"},</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{"input": "A", "action": "Start, and return to the title after game over"}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"start_prompt": "Press A to play"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a:t>
            </a:r>
            <a:endParaRPr lang="en-US" sz="12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The colophon is the credits page of the cartridge</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Roles and names: give credit to everyone</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controls: what each input does, for the player</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acknowledgements: whom you thank; the reference game you started from stays there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tribute is not a copy</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Verm1 is a tribute to Snake: the idea of a growing worm is as old as Blockade, 1976, and free for all</a:t>
            </a:r>
            <a:endParaRPr lang="en-US" sz="2000" dirty="0"/>
          </a:p>
        </p:txBody>
      </p:sp>
      <p:sp>
        <p:nvSpPr>
          <p:cNvPr id="5" name="Shape 3"/>
          <p:cNvSpPr/>
          <p:nvPr/>
        </p:nvSpPr>
        <p:spPr>
          <a:xfrm>
            <a:off x="548640" y="23261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35264"/>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name, the code, the icon and the sounds are ours: nothing was taken from another game</a:t>
            </a:r>
            <a:endParaRPr lang="en-US" sz="2000" dirty="0"/>
          </a:p>
        </p:txBody>
      </p:sp>
      <p:sp>
        <p:nvSpPr>
          <p:cNvPr id="7" name="Shape 5"/>
          <p:cNvSpPr/>
          <p:nvPr/>
        </p:nvSpPr>
        <p:spPr>
          <a:xfrm>
            <a:off x="548640" y="31441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53207"/>
            <a:ext cx="6565392" cy="1173226"/>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Before you publish, ask of every piece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did I write or draw this myself?</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if not, does its licence allow me to publish it, and did I give credit?</a:t>
            </a:r>
            <a:endParaRPr lang="en-US" sz="2000" dirty="0"/>
          </a:p>
        </p:txBody>
      </p:sp>
      <p:sp>
        <p:nvSpPr>
          <p:cNvPr id="9" name="Shape 7"/>
          <p:cNvSpPr/>
          <p:nvPr/>
        </p:nvSpPr>
        <p:spPr>
          <a:xfrm>
            <a:off x="548640" y="451554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24617"/>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Names and characters of commercial games are trademarks: do not use them</a:t>
            </a:r>
            <a:endParaRPr lang="en-US" sz="2000" dirty="0"/>
          </a:p>
        </p:txBody>
      </p:sp>
      <p:sp>
        <p:nvSpPr>
          <p:cNvPr id="11" name="Shape 9"/>
          <p:cNvSpPr/>
          <p:nvPr/>
        </p:nvSpPr>
        <p:spPr>
          <a:xfrm>
            <a:off x="548640" y="533349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4256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licence you choose tells others what they may do with your work: MIT lets them study, change and share it, keeping your name</a:t>
            </a:r>
            <a:endParaRPr lang="en-US" sz="2000" dirty="0"/>
          </a:p>
        </p:txBody>
      </p:sp>
      <p:sp>
        <p:nvSpPr>
          <p:cNvPr id="13" name="Shape 11"/>
          <p:cNvSpPr/>
          <p:nvPr/>
        </p:nvSpPr>
        <p:spPr>
          <a:xfrm>
            <a:off x="7863840" y="1417320"/>
            <a:ext cx="3779215" cy="4754880"/>
          </a:xfrm>
          <a:prstGeom prst="roundRect">
            <a:avLst>
              <a:gd name="adj" fmla="val 1936"/>
            </a:avLst>
          </a:prstGeom>
          <a:solidFill>
            <a:srgbClr val="D8ECEE"/>
          </a:solidFill>
          <a:ln w="12700">
            <a:solidFill>
              <a:srgbClr val="D8ECEE"/>
            </a:solidFill>
            <a:prstDash val="solid"/>
          </a:ln>
        </p:spPr>
      </p:sp>
      <p:sp>
        <p:nvSpPr>
          <p:cNvPr id="14" name="Text 12"/>
          <p:cNvSpPr txBox="1"/>
          <p:nvPr/>
        </p:nvSpPr>
        <p:spPr>
          <a:xfrm>
            <a:off x="8138160" y="1645920"/>
            <a:ext cx="3230575" cy="548640"/>
          </a:xfrm>
          <a:prstGeom prst="rect">
            <a:avLst/>
          </a:prstGeom>
          <a:noFill/>
          <a:ln/>
        </p:spPr>
        <p:txBody>
          <a:bodyPr wrap="square" lIns="0" tIns="0" rIns="0" bIns="0" rtlCol="0" anchor="ctr"/>
          <a:lstStyle/>
          <a:p>
            <a:pPr indent="0" marL="0">
              <a:buNone/>
            </a:pPr>
            <a:r>
              <a:rPr lang="en-US" sz="1800" b="1" dirty="0">
                <a:solidFill>
                  <a:srgbClr val="2E4A62"/>
                </a:solidFill>
                <a:latin typeface="Calibri" pitchFamily="34" charset="0"/>
                <a:ea typeface="Calibri" pitchFamily="34" charset="-122"/>
                <a:cs typeface="Calibri" pitchFamily="34" charset="-120"/>
              </a:rPr>
              <a:t>The rule</a:t>
            </a:r>
            <a:endParaRPr lang="en-US" sz="1800" dirty="0"/>
          </a:p>
        </p:txBody>
      </p:sp>
      <p:sp>
        <p:nvSpPr>
          <p:cNvPr id="15" name="Text 13"/>
          <p:cNvSpPr txBox="1"/>
          <p:nvPr/>
        </p:nvSpPr>
        <p:spPr>
          <a:xfrm>
            <a:off x="8138160" y="2286000"/>
            <a:ext cx="3230575" cy="365760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Your name goes on it. Publish only what you would sign.</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03</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Step 3: the cartridge carries its papers</a:t>
            </a:r>
            <a:endParaRPr lang="en-US" sz="40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Attach the metadata to each file, and read it back.</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metadata.json, and attach</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8FB3A0"/>
                </a:solidFill>
                <a:latin typeface="Courier New" pitchFamily="34" charset="0"/>
                <a:ea typeface="Courier New" pitchFamily="34" charset="-122"/>
                <a:cs typeface="Courier New" pitchFamily="34" charset="-120"/>
              </a:rPr>
              <a:t># metadata.json = manifest.json WITHOUT the "assets" and "architectures" entries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python3 -m prg32 store attach-metadata ~/verm1/verm1-esp32c6.prg32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--metadata ~/verm1/metadata.json --icon ~/verm1/icon.png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--colophon ~/verm1/colophon.json --architecture esp32c6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--out ~/verm1/verm1-esp32c6.prg32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python3 -m prg32 store attach-metadata ~/verm1/verm1-qemu.prg32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--metadata ~/verm1/metadata.json --icon ~/verm1/icon.png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--colophon ~/verm1/colophon.json --architecture qemu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--out ~/verm1/verm1-qemu.prg32</a:t>
            </a:r>
            <a:endParaRPr lang="en-US" sz="12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Copy the manifest and delete two entries: assets, architectures</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attach writes title, icon and credits inside the cartridge</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 cartridge copied by hand still says what it is</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Once per file, with its own architecture</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 it back</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python3 -m prg32 store inspect-metadata ~/verm1/verm1-esp32c6.prg32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"id": "it.uniparthenope.arc12.verm1",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"license": "MIT",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"runtime": { "architecture": "esp32c6", ...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"summary": "A hungry worm on a 40 by 24 grid: a tribute to Snake.",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"title": "Verm1",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"version": "1.0.0"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"trailer_present": true,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"unknown_blocks":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a:t>
            </a:r>
            <a:endParaRPr lang="en-US" sz="13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Never trust a write you have not read back</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Check id, title, version and architecture</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trailer_present: the papers are in the file</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Run the cartridge once more: it must still work</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04</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Step 4: the bundle</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One ZIP file with everything the Store needs.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Pack</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python3 -m prg32 store pack-bundle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--manifest ~/verm1/manifest.json --out ~/verm1/verm1-1.0.0.zip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Bundle: ~/verm1/verm1-1.0.0.zip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manifest.json                   0.7 KB</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icon.png                        0.1 KB</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verm1-esp32c6.prg32             7.8 KB</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verm1-qemu.prg32                7.8 KB</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Total: 16.4 KB</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tool reads the manifest and collects the files it names</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 missing or misnamed file stops it here, not at the Store</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name carries the version: verm1-1.0.0.zip</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Your whole game, for two machines: 16 kilobytes</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test the bundle, not your folder</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Unzip verm1-1.0.0.zip into an empty folder</a:t>
            </a:r>
            <a:endParaRPr lang="en-US" sz="2200" dirty="0"/>
          </a:p>
        </p:txBody>
      </p:sp>
      <p:sp>
        <p:nvSpPr>
          <p:cNvPr id="6" name="Text 4"/>
          <p:cNvSpPr txBox="1"/>
          <p:nvPr/>
        </p:nvSpPr>
        <p:spPr>
          <a:xfrm>
            <a:off x="548640" y="201244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199415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PRG32-QT import verm1-esp32c6.prg32 from that folder and run it: title, icon and credits must be yours</a:t>
            </a:r>
            <a:endParaRPr lang="en-US" sz="2200" dirty="0"/>
          </a:p>
        </p:txBody>
      </p:sp>
      <p:sp>
        <p:nvSpPr>
          <p:cNvPr id="8" name="Text 6"/>
          <p:cNvSpPr txBox="1"/>
          <p:nvPr/>
        </p:nvSpPr>
        <p:spPr>
          <a:xfrm>
            <a:off x="548640" y="28321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81381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Upload verm1-qemu.prg32 to QEMU and play one game</a:t>
            </a:r>
            <a:endParaRPr lang="en-US" sz="2200" dirty="0"/>
          </a:p>
        </p:txBody>
      </p:sp>
      <p:sp>
        <p:nvSpPr>
          <p:cNvPr id="10" name="Text 8"/>
          <p:cNvSpPr txBox="1"/>
          <p:nvPr/>
        </p:nvSpPr>
        <p:spPr>
          <a:xfrm>
            <a:off x="548640" y="340893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39064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If you have a kit, upload the ESP32-C6 file and play with the real joystick</a:t>
            </a:r>
            <a:endParaRPr lang="en-US" sz="2200" dirty="0"/>
          </a:p>
        </p:txBody>
      </p:sp>
      <p:sp>
        <p:nvSpPr>
          <p:cNvPr id="12" name="Text 10"/>
          <p:cNvSpPr txBox="1"/>
          <p:nvPr/>
        </p:nvSpPr>
        <p:spPr>
          <a:xfrm>
            <a:off x="548640" y="4228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10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Ask a colleague to do the same on another computer: the first user who is not you</a:t>
            </a:r>
            <a:endParaRPr lang="en-US" sz="22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The game runs from the files in the bundle, on every target you declared, on a computer that is not yours.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05</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Step 5: publication</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A token, one command, and a review.</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Publish</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1. sign in to the Store and create a token on the Tokens page</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2. keep it in the environment of your shell: never in a file, never in Git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export PRG32_STORE_URL="https://store.prg32.uniparthenope.it"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export PRG32_STORE_TOKEN="paste-your-token-here"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3. submit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python3 -m prg32 store publish-bundle ~/verm1/verm1-1.0.0.zip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--store-url "$PRG32_STORE_URL" --token "$PRG32_STORE_TOKEN"</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token is you: whoever has it publishes in your name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It is a secret: not in the source, not in a screenshot</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submission is pending until an editor approves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Lost or shown by mistake: revoke it and make a new one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happens next</a:t>
            </a:r>
            <a:endParaRPr lang="en-US" sz="3200" dirty="0"/>
          </a:p>
        </p:txBody>
      </p:sp>
      <p:sp>
        <p:nvSpPr>
          <p:cNvPr id="3" name="Shape 1"/>
          <p:cNvSpPr/>
          <p:nvPr/>
        </p:nvSpPr>
        <p:spPr>
          <a:xfrm>
            <a:off x="548640" y="1828800"/>
            <a:ext cx="2464994" cy="4251960"/>
          </a:xfrm>
          <a:prstGeom prst="roundRect">
            <a:avLst>
              <a:gd name="adj" fmla="val 2968"/>
            </a:avLst>
          </a:prstGeom>
          <a:solidFill>
            <a:srgbClr val="EEF2F4"/>
          </a:solidFill>
          <a:ln w="12700">
            <a:solidFill>
              <a:srgbClr val="EEF2F4"/>
            </a:solidFill>
            <a:prstDash val="solid"/>
          </a:ln>
        </p:spPr>
      </p:sp>
      <p:sp>
        <p:nvSpPr>
          <p:cNvPr id="4" name="Text 2"/>
          <p:cNvSpPr txBox="1"/>
          <p:nvPr/>
        </p:nvSpPr>
        <p:spPr>
          <a:xfrm>
            <a:off x="1506817"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5" name="Text 3"/>
          <p:cNvSpPr txBox="1"/>
          <p:nvPr/>
        </p:nvSpPr>
        <p:spPr>
          <a:xfrm>
            <a:off x="731520"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Pending</a:t>
            </a:r>
            <a:endParaRPr lang="en-US" sz="1900" dirty="0"/>
          </a:p>
        </p:txBody>
      </p:sp>
      <p:sp>
        <p:nvSpPr>
          <p:cNvPr id="6" name="Text 4"/>
          <p:cNvSpPr txBox="1"/>
          <p:nvPr/>
        </p:nvSpPr>
        <p:spPr>
          <a:xfrm>
            <a:off x="731520"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Your bundle is stored as a submission: it is not yet on the shelf</a:t>
            </a:r>
            <a:endParaRPr lang="en-US" sz="1900" dirty="0"/>
          </a:p>
        </p:txBody>
      </p:sp>
      <p:sp>
        <p:nvSpPr>
          <p:cNvPr id="7" name="Shape 5"/>
          <p:cNvSpPr/>
          <p:nvPr/>
        </p:nvSpPr>
        <p:spPr>
          <a:xfrm>
            <a:off x="3077642" y="3808476"/>
            <a:ext cx="283464" cy="292608"/>
          </a:xfrm>
          <a:prstGeom prst="rightArrow">
            <a:avLst/>
          </a:prstGeom>
          <a:solidFill>
            <a:srgbClr val="C9D2D8"/>
          </a:solidFill>
          <a:ln w="12700">
            <a:solidFill>
              <a:srgbClr val="C9D2D8"/>
            </a:solidFill>
            <a:prstDash val="solid"/>
          </a:ln>
        </p:spPr>
      </p:sp>
      <p:sp>
        <p:nvSpPr>
          <p:cNvPr id="8" name="Shape 6"/>
          <p:cNvSpPr/>
          <p:nvPr/>
        </p:nvSpPr>
        <p:spPr>
          <a:xfrm>
            <a:off x="3425114" y="1828800"/>
            <a:ext cx="2464994" cy="4251960"/>
          </a:xfrm>
          <a:prstGeom prst="roundRect">
            <a:avLst>
              <a:gd name="adj" fmla="val 2968"/>
            </a:avLst>
          </a:prstGeom>
          <a:solidFill>
            <a:srgbClr val="EEF2F4"/>
          </a:solidFill>
          <a:ln w="12700">
            <a:solidFill>
              <a:srgbClr val="EEF2F4"/>
            </a:solidFill>
            <a:prstDash val="solid"/>
          </a:ln>
        </p:spPr>
      </p:sp>
      <p:sp>
        <p:nvSpPr>
          <p:cNvPr id="9" name="Text 7"/>
          <p:cNvSpPr txBox="1"/>
          <p:nvPr/>
        </p:nvSpPr>
        <p:spPr>
          <a:xfrm>
            <a:off x="4383291"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8"/>
          <p:cNvSpPr txBox="1"/>
          <p:nvPr/>
        </p:nvSpPr>
        <p:spPr>
          <a:xfrm>
            <a:off x="3607994"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Review</a:t>
            </a:r>
            <a:endParaRPr lang="en-US" sz="1900" dirty="0"/>
          </a:p>
        </p:txBody>
      </p:sp>
      <p:sp>
        <p:nvSpPr>
          <p:cNvPr id="11" name="Text 9"/>
          <p:cNvSpPr txBox="1"/>
          <p:nvPr/>
        </p:nvSpPr>
        <p:spPr>
          <a:xfrm>
            <a:off x="3607994"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An editor checks that it installs, runs, is described honestly and contains nothing that is not yours</a:t>
            </a:r>
            <a:endParaRPr lang="en-US" sz="1900" dirty="0"/>
          </a:p>
        </p:txBody>
      </p:sp>
      <p:sp>
        <p:nvSpPr>
          <p:cNvPr id="12" name="Shape 10"/>
          <p:cNvSpPr/>
          <p:nvPr/>
        </p:nvSpPr>
        <p:spPr>
          <a:xfrm>
            <a:off x="5954116" y="3808476"/>
            <a:ext cx="283464" cy="292608"/>
          </a:xfrm>
          <a:prstGeom prst="rightArrow">
            <a:avLst/>
          </a:prstGeom>
          <a:solidFill>
            <a:srgbClr val="C9D2D8"/>
          </a:solidFill>
          <a:ln w="12700">
            <a:solidFill>
              <a:srgbClr val="C9D2D8"/>
            </a:solidFill>
            <a:prstDash val="solid"/>
          </a:ln>
        </p:spPr>
      </p:sp>
      <p:sp>
        <p:nvSpPr>
          <p:cNvPr id="13" name="Shape 11"/>
          <p:cNvSpPr/>
          <p:nvPr/>
        </p:nvSpPr>
        <p:spPr>
          <a:xfrm>
            <a:off x="6301588" y="1828800"/>
            <a:ext cx="2464994" cy="4251960"/>
          </a:xfrm>
          <a:prstGeom prst="roundRect">
            <a:avLst>
              <a:gd name="adj" fmla="val 2968"/>
            </a:avLst>
          </a:prstGeom>
          <a:solidFill>
            <a:srgbClr val="EEF2F4"/>
          </a:solidFill>
          <a:ln w="12700">
            <a:solidFill>
              <a:srgbClr val="EEF2F4"/>
            </a:solidFill>
            <a:prstDash val="solid"/>
          </a:ln>
        </p:spPr>
      </p:sp>
      <p:sp>
        <p:nvSpPr>
          <p:cNvPr id="14" name="Text 12"/>
          <p:cNvSpPr txBox="1"/>
          <p:nvPr/>
        </p:nvSpPr>
        <p:spPr>
          <a:xfrm>
            <a:off x="7259765"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5" name="Text 13"/>
          <p:cNvSpPr txBox="1"/>
          <p:nvPr/>
        </p:nvSpPr>
        <p:spPr>
          <a:xfrm>
            <a:off x="6484468"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Published</a:t>
            </a:r>
            <a:endParaRPr lang="en-US" sz="1900" dirty="0"/>
          </a:p>
        </p:txBody>
      </p:sp>
      <p:sp>
        <p:nvSpPr>
          <p:cNvPr id="16" name="Text 14"/>
          <p:cNvSpPr txBox="1"/>
          <p:nvPr/>
        </p:nvSpPr>
        <p:spPr>
          <a:xfrm>
            <a:off x="6484468"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The game appears in the Store, for the architectures you declared</a:t>
            </a:r>
            <a:endParaRPr lang="en-US" sz="1900" dirty="0"/>
          </a:p>
        </p:txBody>
      </p:sp>
      <p:sp>
        <p:nvSpPr>
          <p:cNvPr id="17" name="Shape 15"/>
          <p:cNvSpPr/>
          <p:nvPr/>
        </p:nvSpPr>
        <p:spPr>
          <a:xfrm>
            <a:off x="8830589" y="3808476"/>
            <a:ext cx="283464" cy="292608"/>
          </a:xfrm>
          <a:prstGeom prst="rightArrow">
            <a:avLst/>
          </a:prstGeom>
          <a:solidFill>
            <a:srgbClr val="C9D2D8"/>
          </a:solidFill>
          <a:ln w="12700">
            <a:solidFill>
              <a:srgbClr val="C9D2D8"/>
            </a:solidFill>
            <a:prstDash val="solid"/>
          </a:ln>
        </p:spPr>
      </p:sp>
      <p:sp>
        <p:nvSpPr>
          <p:cNvPr id="18" name="Shape 16"/>
          <p:cNvSpPr/>
          <p:nvPr/>
        </p:nvSpPr>
        <p:spPr>
          <a:xfrm>
            <a:off x="9178061" y="1828800"/>
            <a:ext cx="2464994" cy="4251960"/>
          </a:xfrm>
          <a:prstGeom prst="roundRect">
            <a:avLst>
              <a:gd name="adj" fmla="val 2968"/>
            </a:avLst>
          </a:prstGeom>
          <a:solidFill>
            <a:srgbClr val="EEF2F4"/>
          </a:solidFill>
          <a:ln w="12700">
            <a:solidFill>
              <a:srgbClr val="EEF2F4"/>
            </a:solidFill>
            <a:prstDash val="solid"/>
          </a:ln>
        </p:spPr>
      </p:sp>
      <p:sp>
        <p:nvSpPr>
          <p:cNvPr id="19" name="Text 17"/>
          <p:cNvSpPr txBox="1"/>
          <p:nvPr/>
        </p:nvSpPr>
        <p:spPr>
          <a:xfrm>
            <a:off x="10136238"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0" name="Text 18"/>
          <p:cNvSpPr txBox="1"/>
          <p:nvPr/>
        </p:nvSpPr>
        <p:spPr>
          <a:xfrm>
            <a:off x="9360941"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A bug?</a:t>
            </a:r>
            <a:endParaRPr lang="en-US" sz="1900" dirty="0"/>
          </a:p>
        </p:txBody>
      </p:sp>
      <p:sp>
        <p:nvSpPr>
          <p:cNvPr id="21" name="Text 19"/>
          <p:cNvSpPr txBox="1"/>
          <p:nvPr/>
        </p:nvSpPr>
        <p:spPr>
          <a:xfrm>
            <a:off x="9360941"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Fix it, raise the version to 1.0.1, pack and submit again: 1.0.0 stays as it was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submission checklist</a:t>
            </a:r>
            <a:endParaRPr lang="en-US" sz="3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682733"/>
                <a:gridCol w="10411682"/>
              </a:tblGrid>
              <a:tr h="0">
                <a:tc>
                  <a:txBody>
                    <a:bodyPr/>
                    <a:lstStyle/>
                    <a:p>
                      <a:pPr algn="l" indent="0" marL="0">
                        <a:buNone/>
                      </a:pP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Check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game was played to the end on every architecture in the manifest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cartridge summary says import_model: abi-table for every file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id is yours and unique; version is new; title, summary and description say what the game is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authors, licence and colophon are complete; every piece is yours or credited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inspect-metadata shows the right id, version and architecture in each cartridge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bundle was unzipped and tested on another computer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token is in no file, no screenshot and no repository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You published version 1.0.0 and found a bug. What do you do?</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upload 1.0.0 again</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publish 1.0.1</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change the id</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ask for the old file to be edited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Why does metadata.json not contain the architectures entry?</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it is optional</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the metadata goes inside one cartridge, which has one architecture</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QEMU does not support it</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it would be too long</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Where should the Store token be kept?</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in verm1.S, as a comment</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in the manifest</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in an environment variable of your shell</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in the README of the repository</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Your release</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Choose your id and your title, write the manifest and the colophon for your variant of Verm1</a:t>
            </a:r>
            <a:endParaRPr lang="en-US" sz="2400" dirty="0"/>
          </a:p>
        </p:txBody>
      </p:sp>
      <p:sp>
        <p:nvSpPr>
          <p:cNvPr id="6" name="Text 4"/>
          <p:cNvSpPr txBox="1"/>
          <p:nvPr/>
        </p:nvSpPr>
        <p:spPr>
          <a:xfrm>
            <a:off x="548640" y="2447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42925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Draw your icon</a:t>
            </a:r>
            <a:endParaRPr lang="en-US" sz="2400" dirty="0"/>
          </a:p>
        </p:txBody>
      </p:sp>
      <p:sp>
        <p:nvSpPr>
          <p:cNvPr id="8" name="Text 6"/>
          <p:cNvSpPr txBox="1"/>
          <p:nvPr/>
        </p:nvSpPr>
        <p:spPr>
          <a:xfrm>
            <a:off x="548640" y="31546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1363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Build, attach, inspect, pack: produce your bundle and pass the checklist with a colleague as reviewer</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If you want your game on the shelf: publish it, and send the link to the class</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A bundle of your own game, reviewed by a colleague against the checklist.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built in this course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game of six hundred lines of assembly, from three functions that only returned</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With it, every layer of the machine: bits and numbers, gates and tables, state and memory, the processor, the screen, the devices</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method: one runnable step at a time, and a look inside whenever something surprises you</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And the last step that makes it engineering: a product with a name, a version and an author</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next game is yours to choose; the next lecture shows where the same instructions run at scale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on the Cartridge Store</dc:title>
  <dc:subject>Lecture 23</dc:subject>
  <dc:creator>Raffaele Montella</dc:creator>
  <cp:lastModifiedBy>Raffaele Montella</cp:lastModifiedBy>
  <cp:revision>1</cp:revision>
  <dcterms:created xsi:type="dcterms:W3CDTF">2026-10-12T11:28:39Z</dcterms:created>
  <dcterms:modified xsi:type="dcterms:W3CDTF">2026-10-12T11:28:39Z</dcterms:modified>
</cp:coreProperties>
</file>