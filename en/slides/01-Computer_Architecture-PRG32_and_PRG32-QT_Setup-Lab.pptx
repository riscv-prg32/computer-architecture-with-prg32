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621016a-6593-ed91-2d08-8ee7b864be28}">
          <p14:sldIdLst>
            <p14:sldId id="256"/>
            <p14:sldId id="257"/>
          </p14:sldIdLst>
        </p14:section>
        <p14:section name="Step 1: install PRG32-QT" id="{78705986-6a48-9869-5cd6-53d853b69f01}">
          <p14:sldIdLst>
            <p14:sldId id="258"/>
            <p14:sldId id="259"/>
            <p14:sldId id="260"/>
            <p14:sldId id="261"/>
            <p14:sldId id="262"/>
            <p14:sldId id="263"/>
          </p14:sldIdLst>
        </p14:section>
        <p14:section name="Step 2: install the toolchain" id="{2fc3abf4-dae2-8607-4012-b786d3b2e168}">
          <p14:sldIdLst>
            <p14:sldId id="264"/>
            <p14:sldId id="265"/>
            <p14:sldId id="266"/>
            <p14:sldId id="267"/>
            <p14:sldId id="268"/>
          </p14:sldIdLst>
        </p14:section>
        <p14:section name="Step 3: your first build" id="{251aa2bd-09cc-74b2-c2b7-43dc5d8b230d}">
          <p14:sldIdLst>
            <p14:sldId id="269"/>
            <p14:sldId id="270"/>
            <p14:sldId id="271"/>
            <p14:sldId id="272"/>
          </p14:sldIdLst>
        </p14:section>
        <p14:section name="Optional: QEMU and the kit" id="{1bc5a182-b640-faff-1128-f0867f5b4dcc}">
          <p14:sldIdLst>
            <p14:sldId id="273"/>
            <p14:sldId id="274"/>
          </p14:sldIdLst>
        </p14:section>
        <p14:section name="The complete program" id="{ae0e4788-4c6e-070b-0a0f-df119cf5d707}">
          <p14:sldIdLst>
            <p14:sldId id="275"/>
            <p14:sldId id="276"/>
            <p14:sldId id="277"/>
          </p14:sldIdLst>
        </p14:section>
        <p14:section name="Run it and test it" id="{1f05852d-ea23-3be4-2bd9-88216b48a55e}">
          <p14:sldIdLst>
            <p14:sldId id="278"/>
            <p14:sldId id="279"/>
            <p14:sldId id="280"/>
            <p14:sldId id="281"/>
            <p14:sldId id="282"/>
          </p14:sldIdLst>
        </p14:section>
        <p14:section name="Exercises" id="{1c51a86b-224c-3d09-ce41-ce0826fd1d9c}">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01.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program, source and machine code; the pieces of PRG32. USE NOW: the terminal, the PRG32 tools, the PRG32-QT debugger, the complete program (used, not studied, in this course). UNDERSTAND LATER: the init, update, draw contract (Lecture 02); registers (Lecture 02).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~/arc12/code/l01.S; tools/tests/cartridges/run.py builds it, runs it on PRG32-QT with scripted input and checks the pixels of the frame.
For the lecturer: Get the code once: git clone https://github.com/riscv-prg32/computer-architecture-with-prg32 ~/arc12. The program of this lecture is ~/arc12/code/l01.S;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locates the row corresponding to their operating system and downloads that file from the Releases page of the PRG32-QT repository, always choosing the latest release. Windows is served by an installer, macOS by a disk image (one for Apple Silicon and one for Intel processors), Linux and Raspberry Pi OS by a Debian package. All three are ways of delivering an application: a file that, once opened, copies the program into the right place on the computer. The version number 0.4.1 is that of October 2026; it may since have increased, but file names follow the same pattern. The slide on macOS explains how to determine which processor a Mac contains.
USE NOW: the PRG32 tools (used, not studied, in this course).
For the lecturer: From github.com/riscv-prg32/PRG32-QT, Releases, the latest one. 0.4.1 is the version of October 2026: the file names follow this pattern with the current number. The file SHA256SUMS-platforms.txt lists the checksums. Android and Android TV packages are on the same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Windows the installation consists of four actions: download the Setup file, run it, accept the proposed folder, and start PRG32 from the Start menu. Two warnings may appear, and both are expected. SmartScreen may display a blue dialogue because the installer does not come from the Microsoft Store; the remedy is More info, then Run anyway. The firewall, the part of the system that decides which programs may receive connections from the network, may request permission, which should be granted for private networks: PRG32-QT listens on port 8080 to receive cartridges from the tools, a facility used in step 3.
USE NOW: the PRG32 tools (used, not studied, in this course).
For the lecturer: The installer contains the Qt libraries and the compiler runtime: nothing else has to be installed. The firewall question appears because PRG32-QT listens on port 8080 for cartridges sent by the tools: step 3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Mac the first task is to identify the processor, from the Apple menu, About This Mac: "Chip Apple M..." calls for the ARM64 image, "Processor Intel" for the Intel one. The disk image is opened and PRG32 dragged onto Applications. On first launch macOS may refuse to open an application not distributed through the App Store; it can be opened with a right-click and Open, or authorised under Privacy and Security in System Settings. Incoming connections and access to the local network must then be accepted, since the application needs them to receive cartridges.
USE NOW: the PRG32 tools (used, not studied, in this course).
For the lecturer: The first-start step is needed if macOS says that the developer cannot be verified: the application is distributed outside the App Store. The two permissions are for the device interface on port 8080 and its announcement on the local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Linux the upper half of the listing installs the package: apt install with ./ preceding the file name installs that file together with its dependencies, the other software it needs in order to run, and the program is then available as /usr/bin/PRG32. The requirement to verify is Qt 6.5 or later (Qt is the library of ready-made windows, buttons and graphics on which PRG32-QT is built), which Debian 13 and Ubuntu 25.04 satisfy and Ubuntu 24.04 does not. The lower half is the alternative for older systems: building from source with the script provided in the repository. Lines beginning with # are comments and are not to be typed.
USE NOW: the PRG32 tools (used, not studied, in this course).
For the lecturer: The package depends on the Qt 6 QML, Multimedia and WebSockets packages of the distribution. Where the system Qt is older than 6.5, install Qt with the online installer of qt.io and build with it. On Raspberry Pi OS use the ARM64 package, or scripts/build-raspbian.sh.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execution. On starting PRG32-QT the Setup screen appears, identical to the one the firmware shows on the kit. Selecting Browse Store, choosing a game, downloading it and choosing Run Cartridge runs it; the arrow keys, Z and X control the game, and Escape returns to Setup. The three profiles under Settings should then be examined. The green box defines success: a game from the Store runs on the student's laptop. An empty catalogue indicates a network problem, not a fault of PRG32-QT.
For the lecturer: The default Store is store.prg32.uniparthenope.it. If the list stays empty the laptop is not reaching the Internet, or a proxy is in the way: Settings shows the Store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screens that should now have been seen: the Setup menu, the Store browser and Settings. They are identical on every operating system. If the student's screen matches, level 1 is complete, and any cartridge can henceforth be run and inspected. If it does not, the moment to ask is now rather than later, while the installation is still fresh.
For the lecturer: Screens from the PRG32 and PRG32-QT documentation (macOS).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Windows the first three steps use graphical installers: Git, the program that copies and tracks repositories; Python, a programming language in which the PRG32 tools are written; and the ESP-IDF Tools Installer, in which a release 5.4 or later and the targets esp32c3 and esp32c6 are selected. The installer creates a shortcut named ESP-IDF PowerShell; all work must be done in that window and never in a plain terminal, because only there is the environment activated: the settings that tell the terminal where the compiler and its tools are. The five commands that follow clone the PRG32 repository, that is, copy it onto the laptop, install two Python packages (libraries that the tools need) and run the doctor, a command that checks the installation. On Windows the interpreter is invoked as python, not python3.
USE NOW: the PRG32 tools (used, not studied, in this course).
For the lecturer: From the README of PRG32. An alternative for those who prefer an editor: Visual Studio Code with the Espressif ESP-IDF extension, which installs the same toolchain. Avoid folders with spaces or accented letters in their path: old build tools do not like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macOS the procedure has three blocks. Homebrew, a program that installs other programs from the terminal, installs the prerequisites. ESP-IDF is then cloned, and install.sh downloads the compilers for the two chips; this is the lengthy part. The line . ./export.sh begins with a dot followed by a space, and the dot is significant: it causes the script, a file of commands, to modify the current shell, the program that reads what is typed in the terminal, rather than a separate copy of it whose changes would vanish when it ends. The final block clones PRG32 and runs the doctor. The same commands work on Apple Silicon and on Intel machines.
USE NOW: the PRG32 tools (used, not studied, in this course).
For the lecturer: From the README of PRG32. git may first ask to install the Xcode command line tools: accept. The recursive clone and install.sh fetch a few gigabytes.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Debian and Ubuntu the first block is a single long apt command, split across three lines by backslashes, and must be copied in full. Steps 2 and 3 are identical to those for macOS. Other distributions provide the same packages under different names. The last callout concerns only owners of a kit: to reach the board's serial port, the connection through the USB cable, the user must belong to the group dialout, the list of users allowed to use it, and the change takes effect only after logging out and in again.
USE NOW: the PRG32 tools (used, not studied, in this course).
For the lecturer: From the README of PRG32. The dialout group gives access to the serial port of the board: log out and in again after the command. It is not needed for PRG32-QT or QEMU.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describes the daily routine and forestalls the most common error of the first weeks. In every new terminal, before anything else, ESP-IDF is activated with export.sh and the working directory set to the PRG32 folder. Two aliases, short names that stand for longer commands, reduce typing: get_idf performs the activation, and prg abbreviates python3 -m prg32. On Windows, opening ESP-IDF PowerShell achieves the same. The error is worth provoking once on purpose, by running the doctor in a fresh terminal without activation: having seen the message here, one recognises it immediately thereafter.
USE NOW: the PRG32 tools (used, not studied, in this course).
For the lecturer: The single most common mistake of the first weeks. Make the students close the terminal, open a new one and run doctor without activating: they must see the error once, here, and not during a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doctor verifies the installation and prints one line per check. [OK] idf.py found confirms that ESP-IDF is active; [OK] riscv32-esp-elf-gcc found that the RISC-V compiler is reachable; the lines concerning partitions that the PRG32 folder is complete. A line beginning with [ERROR] states what is wrong and how to correct it, and should be read to the end before help is sought. When every line reports OK, level 2 is complete. The final lines of the listing show the error produced in a terminal in which ESP-IDF has not been activated.
USE NOW: the PRG32 tools (used, not studied, in this course).
For the lecturer: Messages of the doctor of October 2026. The four cartridge slots, cart0 to cart3, are regions of the flash memory of the board: 131072 bytes each. If doctor passes, level 2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 cartridge build takes a source file and produces a .prg32 file. Three options, the words beginning with -- that adjust what a command does, merit understanding. --entry-prefix pong_c is the name that precedes _init, _update and _draw in the source, and thus identifies the three entry points. --portable produces a cartridge that runs on every host rather than on a single firmware image. --out names the output file. The tool reports the size of the code: a complete game of Pong occupies about three thousand bytes. The source is a C example from the repository, chosen so that the compiler can be tested before any program has been written.
USE NOW: the PRG32 tools (used, not studied, in this course). UNDERSTAND LATER: the init, update, draw contract (studied in Lecture 02).
For the lecturer: Pong in C from the examples of the repository: it proves that the compiler works without typing a program. In Lecture 02 the source is yours, in assembly, and the command is the same. On Windows write python and put the command on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PRG32-QT must be running. The first command, runtime, queries its state; a reply confirms that the connection works. The second, upload-and-run, stores the cartridge in slot cart0 and starts it, and the game appears in the PRG32-QT window. The command names the esp32c6 because, from the tool's point of view, PRG32-QT behaves as a board listening on port 8080. The same command, addressed to http://192.168.4.1, the network address of the board on its own Wi-Fi network, sends the game to a physical board. Without the tools, the file can also be imported from the PRG32-QT menu.
USE NOW: the PRG32 tools (used, not studied, in this course).
For the lecturer: Run for these slides on macOS. If localhost does not answer, read the address on the Setup screen of PRG32-QT and use it. Without the tools: in PRG32-QT import the file pong.prg32 and choose Run Cartridge. The same command with --url http://192.168.4.1 sends the game to a real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machine is now opened. In Settings, Run cartridges in RISC-V debug mode is enabled and the cartridge run again: the game appears on the left, the machine on the right. Pausing highlights one instruction, the next to be executed. Stepping a few times moves the highlight and changes some registers. Update and Draw jump to those two functions of the cartridge. Execution is then resumed and the speed lowered, to watch the game in slow motion. The registers are not expected to be understood today; the objective is to establish that the debugger opens and responds.
USE NOW: the PRG32-QT debugger (used, not studied, in this course). UNDERSTAND LATER: registers (studied in Lecture 02).
For the lecturer: A first look only: Lecture 02 explains what the registers are. The point today is that the debugger opens and responds. Debug mode stays on until you switch it off. Pause, resume and step are the three transport buttons of the debugger, drawn as on a video player: two bars, a triangle, a triangle with a bar. The slides and the tutorials call them Pause, Resume and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view: on the right, the assembly listing with the current instruction highlighted, the thirty-two registers, a window onto memory, and the per-frame counters. Every element of this picture will be explained in the coming lectures, beginning with the registers in Lecture 02. A student who sees this screen with a cartridge of their own making has completed the workshop.
USE NOW: the PRG32-QT debugger (used, not studied, in this course). UNDERSTAND LATER: registers (studied in Lecture 02).
For the lecturer: From the documentation of PRG32-QT.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3 comprises three parts: the libraries the emulator needs for its window, the emulator itself, and three commands of the tool. qemu build compiles the entire firmware, which takes several minutes the first time. qemu upload stages a cartridge into the flash image, and requires QEMU to be closed. qemu run starts the emulator, which opens on the Setup menu, from which Run Cartridge and then cart0 are chosen. Keystrokes, once again, go to the terminal rather than to the window with the image.
USE NOW: the PRG32 tools (used, not studied, in this course).
For the lecturer: From the README and docs/usage/qemu.md of PRG32. Not run for these slides. The first build downloads components and compiles the whole firmware. If upload fails, run QEMU once so that the flash image exists, close it, and upload again. Since October 2026 the firmware starts on the Setup menu by default, on QEMU and on the board: choose Run Cartridge, then the slot. The keys go to the terminal that launched QEMU, not to the window with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4 is the physical board. With the board connected by USB, build-and-flash compiles the firmware and writes it into the chip, an operation performed once per board. The board then starts on its Setup menu and creates a Wi-Fi network named PRG32. Once the laptop has joined that network, the familiar upload command works with the address 192.168.4.1, and no cable is needed thereafter. The last command makes the board join an existing network instead. On Linux the user must belong to the group dialout.
USE NOW: the PRG32 tools (used, not studied, in this course).
For the lecturer: From the documentation of PRG32. Not run for these slides. If the serial port is not found pass it explicitly: COMx on Windows, /dev/ttyACM0 on Linux, /dev/cu.usbmodem... on macOS. A black screen after flashing usually means that the QEMU firmware was flashed instead of the board's, or that the display is wired to other pins than those of the firmware: since October 2026 the defaults are GPIO8 for DC and GPIO9 for RST (they were GPIO1 and GPIO0), and idf.py menuconfig changes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for the next lecture. The five checks are to be completed. Three cartridges are to be downloaded from the Store and, in each, the first instruction of update located with the debugger. A further example is to be built. The fourth task is the genuine test: close everything, restart the computer, and return to a running cartridge without consulting these slides. A student who succeeds has internalised the activation procedure, and the workshop is truly theirs.
For the lecturer: The fourth task is the real test: it shows who has understood the activation of ESP-IDF.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01: PRG32 setup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01</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PRG32 and PRG32-QT: Setting Up Your Workshop: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01-Computer_Architecture-PRG32_and_PRG32-QT_Setup.pptx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prg32qt_debugger.png">    </p:cNvPr>
          <p:cNvPicPr>
            <a:picLocks noChangeAspect="1"/>
          </p:cNvPicPr>
          <p:nvPr/>
        </p:nvPicPr>
        <p:blipFill>
          <a:blip r:embed="rId1"/>
          <a:stretch>
            <a:fillRect/>
          </a:stretch>
        </p:blipFill>
        <p:spPr>
          <a:xfrm>
            <a:off x="8810277" y="4251960"/>
            <a:ext cx="2648036"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10 listings of Lecture 01,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code/l01.S, 57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Download the installer for your system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698138"/>
                <a:gridCol w="5379110"/>
                <a:gridCol w="2017166"/>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Your system</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File to download</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Kind</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Windows 10 or 11</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PRG32-QT-0.4.1-Windows-X64-Setup.exe</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installer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macOS, Apple Silicon (M1 and later)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PRG32-QT-0.4.1-macOS-ARM64.dmg</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disk image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macOS, Intel</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PRG32-QT-0.4.1-macOS-Intel-X64.dmg</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disk image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Linux, 64-bit PC</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PRG32-QT-0.4.1-Linux-X64.deb</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Debian package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Raspberry Pi OS, 64-bit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PRG32-QT-0.4.1-Raspberry-Pi-OS-ARM64.deb</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Debian package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github.com/riscv-prg32/PRG32-QT, then Releases. Take the latest version.</a:t>
            </a:r>
            <a:endParaRPr lang="en-US" sz="1500" dirty="0"/>
          </a:p>
        </p:txBody>
      </p:sp>
      <p:sp>
        <p:nvSpPr>
          <p:cNvPr id="5" name="Shape 2"/>
          <p:cNvSpPr/>
          <p:nvPr/>
        </p:nvSpPr>
        <p:spPr>
          <a:xfrm>
            <a:off x="9287967" y="91440"/>
            <a:ext cx="2355088" cy="274320"/>
          </a:xfrm>
          <a:prstGeom prst="rect">
            <a:avLst/>
          </a:prstGeom>
          <a:solidFill>
            <a:srgbClr val="FEF3C7"/>
          </a:solidFill>
          <a:ln w="12700">
            <a:solidFill>
              <a:srgbClr val="B45309"/>
            </a:solidFill>
            <a:prstDash val="solid"/>
          </a:ln>
        </p:spPr>
      </p:sp>
      <p:sp>
        <p:nvSpPr>
          <p:cNvPr id="6" name="Shape 3"/>
          <p:cNvSpPr/>
          <p:nvPr/>
        </p:nvSpPr>
        <p:spPr>
          <a:xfrm>
            <a:off x="9287967" y="91440"/>
            <a:ext cx="27432" cy="274320"/>
          </a:xfrm>
          <a:prstGeom prst="rect">
            <a:avLst/>
          </a:prstGeom>
          <a:solidFill>
            <a:srgbClr val="B45309"/>
          </a:solidFill>
          <a:ln w="12700">
            <a:solidFill>
              <a:srgbClr val="B45309"/>
            </a:solidFill>
            <a:prstDash val="solid"/>
          </a:ln>
        </p:spPr>
      </p:sp>
      <p:sp>
        <p:nvSpPr>
          <p:cNvPr id="7" name="Shape 4"/>
          <p:cNvSpPr/>
          <p:nvPr/>
        </p:nvSpPr>
        <p:spPr>
          <a:xfrm>
            <a:off x="9342831"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9" name="Text 5"/>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PRG32-QT on Windows</a:t>
            </a:r>
            <a:endParaRPr lang="en-US" sz="3200" dirty="0"/>
          </a:p>
        </p:txBody>
      </p:sp>
      <p:sp>
        <p:nvSpPr>
          <p:cNvPr id="3" name="Shape 1"/>
          <p:cNvSpPr/>
          <p:nvPr/>
        </p:nvSpPr>
        <p:spPr>
          <a:xfrm>
            <a:off x="548640" y="1828800"/>
            <a:ext cx="2464994" cy="4251960"/>
          </a:xfrm>
          <a:prstGeom prst="roundRect">
            <a:avLst>
              <a:gd name="adj" fmla="val 2968"/>
            </a:avLst>
          </a:prstGeom>
          <a:solidFill>
            <a:srgbClr val="EEF2F4"/>
          </a:solidFill>
          <a:ln w="12700">
            <a:solidFill>
              <a:srgbClr val="EEF2F4"/>
            </a:solidFill>
            <a:prstDash val="solid"/>
          </a:ln>
        </p:spPr>
      </p:sp>
      <p:sp>
        <p:nvSpPr>
          <p:cNvPr id="4" name="Text 2"/>
          <p:cNvSpPr txBox="1"/>
          <p:nvPr/>
        </p:nvSpPr>
        <p:spPr>
          <a:xfrm>
            <a:off x="1506817"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731520"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Download</a:t>
            </a:r>
            <a:endParaRPr lang="en-US" sz="1900" dirty="0"/>
          </a:p>
        </p:txBody>
      </p:sp>
      <p:sp>
        <p:nvSpPr>
          <p:cNvPr id="6" name="Text 4"/>
          <p:cNvSpPr txBox="1"/>
          <p:nvPr/>
        </p:nvSpPr>
        <p:spPr>
          <a:xfrm>
            <a:off x="731520"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The file ending in Windows-X64-Setup.exe, from the Releases page</a:t>
            </a:r>
            <a:endParaRPr lang="en-US" sz="1900" dirty="0"/>
          </a:p>
        </p:txBody>
      </p:sp>
      <p:sp>
        <p:nvSpPr>
          <p:cNvPr id="7" name="Shape 5"/>
          <p:cNvSpPr/>
          <p:nvPr/>
        </p:nvSpPr>
        <p:spPr>
          <a:xfrm>
            <a:off x="3077642" y="3808476"/>
            <a:ext cx="283464" cy="292608"/>
          </a:xfrm>
          <a:prstGeom prst="rightArrow">
            <a:avLst/>
          </a:prstGeom>
          <a:solidFill>
            <a:srgbClr val="C9D2D8"/>
          </a:solidFill>
          <a:ln w="12700">
            <a:solidFill>
              <a:srgbClr val="C9D2D8"/>
            </a:solidFill>
            <a:prstDash val="solid"/>
          </a:ln>
        </p:spPr>
      </p:sp>
      <p:sp>
        <p:nvSpPr>
          <p:cNvPr id="8" name="Shape 6"/>
          <p:cNvSpPr/>
          <p:nvPr/>
        </p:nvSpPr>
        <p:spPr>
          <a:xfrm>
            <a:off x="3425114" y="1828800"/>
            <a:ext cx="2464994" cy="4251960"/>
          </a:xfrm>
          <a:prstGeom prst="roundRect">
            <a:avLst>
              <a:gd name="adj" fmla="val 2968"/>
            </a:avLst>
          </a:prstGeom>
          <a:solidFill>
            <a:srgbClr val="EEF2F4"/>
          </a:solidFill>
          <a:ln w="12700">
            <a:solidFill>
              <a:srgbClr val="EEF2F4"/>
            </a:solidFill>
            <a:prstDash val="solid"/>
          </a:ln>
        </p:spPr>
      </p:sp>
      <p:sp>
        <p:nvSpPr>
          <p:cNvPr id="9" name="Text 7"/>
          <p:cNvSpPr txBox="1"/>
          <p:nvPr/>
        </p:nvSpPr>
        <p:spPr>
          <a:xfrm>
            <a:off x="4383291"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3607994"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Run it</a:t>
            </a:r>
            <a:endParaRPr lang="en-US" sz="1900" dirty="0"/>
          </a:p>
        </p:txBody>
      </p:sp>
      <p:sp>
        <p:nvSpPr>
          <p:cNvPr id="11" name="Text 9"/>
          <p:cNvSpPr txBox="1"/>
          <p:nvPr/>
        </p:nvSpPr>
        <p:spPr>
          <a:xfrm>
            <a:off x="3607994"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If Windows shows a blue SmartScreen warning: More info, then Run anyway</a:t>
            </a:r>
            <a:endParaRPr lang="en-US" sz="1900" dirty="0"/>
          </a:p>
        </p:txBody>
      </p:sp>
      <p:sp>
        <p:nvSpPr>
          <p:cNvPr id="12" name="Shape 10"/>
          <p:cNvSpPr/>
          <p:nvPr/>
        </p:nvSpPr>
        <p:spPr>
          <a:xfrm>
            <a:off x="5954116" y="3808476"/>
            <a:ext cx="283464" cy="292608"/>
          </a:xfrm>
          <a:prstGeom prst="rightArrow">
            <a:avLst/>
          </a:prstGeom>
          <a:solidFill>
            <a:srgbClr val="C9D2D8"/>
          </a:solidFill>
          <a:ln w="12700">
            <a:solidFill>
              <a:srgbClr val="C9D2D8"/>
            </a:solidFill>
            <a:prstDash val="solid"/>
          </a:ln>
        </p:spPr>
      </p:sp>
      <p:sp>
        <p:nvSpPr>
          <p:cNvPr id="13" name="Shape 11"/>
          <p:cNvSpPr/>
          <p:nvPr/>
        </p:nvSpPr>
        <p:spPr>
          <a:xfrm>
            <a:off x="6301588" y="1828800"/>
            <a:ext cx="2464994" cy="4251960"/>
          </a:xfrm>
          <a:prstGeom prst="roundRect">
            <a:avLst>
              <a:gd name="adj" fmla="val 2968"/>
            </a:avLst>
          </a:prstGeom>
          <a:solidFill>
            <a:srgbClr val="EEF2F4"/>
          </a:solidFill>
          <a:ln w="12700">
            <a:solidFill>
              <a:srgbClr val="EEF2F4"/>
            </a:solidFill>
            <a:prstDash val="solid"/>
          </a:ln>
        </p:spPr>
      </p:sp>
      <p:sp>
        <p:nvSpPr>
          <p:cNvPr id="14" name="Text 12"/>
          <p:cNvSpPr txBox="1"/>
          <p:nvPr/>
        </p:nvSpPr>
        <p:spPr>
          <a:xfrm>
            <a:off x="7259765"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6484468"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Install</a:t>
            </a:r>
            <a:endParaRPr lang="en-US" sz="1900" dirty="0"/>
          </a:p>
        </p:txBody>
      </p:sp>
      <p:sp>
        <p:nvSpPr>
          <p:cNvPr id="16" name="Text 14"/>
          <p:cNvSpPr txBox="1"/>
          <p:nvPr/>
        </p:nvSpPr>
        <p:spPr>
          <a:xfrm>
            <a:off x="6484468"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Accept the proposed folder: the installer brings everything the program needs</a:t>
            </a:r>
            <a:endParaRPr lang="en-US" sz="1900" dirty="0"/>
          </a:p>
        </p:txBody>
      </p:sp>
      <p:sp>
        <p:nvSpPr>
          <p:cNvPr id="17" name="Shape 15"/>
          <p:cNvSpPr/>
          <p:nvPr/>
        </p:nvSpPr>
        <p:spPr>
          <a:xfrm>
            <a:off x="8830589" y="3808476"/>
            <a:ext cx="283464" cy="292608"/>
          </a:xfrm>
          <a:prstGeom prst="rightArrow">
            <a:avLst/>
          </a:prstGeom>
          <a:solidFill>
            <a:srgbClr val="C9D2D8"/>
          </a:solidFill>
          <a:ln w="12700">
            <a:solidFill>
              <a:srgbClr val="C9D2D8"/>
            </a:solidFill>
            <a:prstDash val="solid"/>
          </a:ln>
        </p:spPr>
      </p:sp>
      <p:sp>
        <p:nvSpPr>
          <p:cNvPr id="18" name="Shape 16"/>
          <p:cNvSpPr/>
          <p:nvPr/>
        </p:nvSpPr>
        <p:spPr>
          <a:xfrm>
            <a:off x="9178061" y="1828800"/>
            <a:ext cx="2464994" cy="4251960"/>
          </a:xfrm>
          <a:prstGeom prst="roundRect">
            <a:avLst>
              <a:gd name="adj" fmla="val 2968"/>
            </a:avLst>
          </a:prstGeom>
          <a:solidFill>
            <a:srgbClr val="EEF2F4"/>
          </a:solidFill>
          <a:ln w="12700">
            <a:solidFill>
              <a:srgbClr val="EEF2F4"/>
            </a:solidFill>
            <a:prstDash val="solid"/>
          </a:ln>
        </p:spPr>
      </p:sp>
      <p:sp>
        <p:nvSpPr>
          <p:cNvPr id="19" name="Text 17"/>
          <p:cNvSpPr txBox="1"/>
          <p:nvPr/>
        </p:nvSpPr>
        <p:spPr>
          <a:xfrm>
            <a:off x="10136238"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9360941"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Start</a:t>
            </a:r>
            <a:endParaRPr lang="en-US" sz="1900" dirty="0"/>
          </a:p>
        </p:txBody>
      </p:sp>
      <p:sp>
        <p:nvSpPr>
          <p:cNvPr id="21" name="Text 19"/>
          <p:cNvSpPr txBox="1"/>
          <p:nvPr/>
        </p:nvSpPr>
        <p:spPr>
          <a:xfrm>
            <a:off x="9360941"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PRG32, from the Start menu. If the firewall asks, allow it on private networks</a:t>
            </a:r>
            <a:endParaRPr lang="en-US" sz="1900" dirty="0"/>
          </a:p>
        </p:txBody>
      </p:sp>
      <p:sp>
        <p:nvSpPr>
          <p:cNvPr id="22" name="Shape 20"/>
          <p:cNvSpPr/>
          <p:nvPr/>
        </p:nvSpPr>
        <p:spPr>
          <a:xfrm>
            <a:off x="9287967" y="91440"/>
            <a:ext cx="2355088" cy="274320"/>
          </a:xfrm>
          <a:prstGeom prst="rect">
            <a:avLst/>
          </a:prstGeom>
          <a:solidFill>
            <a:srgbClr val="FEF3C7"/>
          </a:solidFill>
          <a:ln w="12700">
            <a:solidFill>
              <a:srgbClr val="B45309"/>
            </a:solidFill>
            <a:prstDash val="solid"/>
          </a:ln>
        </p:spPr>
      </p:sp>
      <p:sp>
        <p:nvSpPr>
          <p:cNvPr id="23" name="Shape 21"/>
          <p:cNvSpPr/>
          <p:nvPr/>
        </p:nvSpPr>
        <p:spPr>
          <a:xfrm>
            <a:off x="9287967" y="91440"/>
            <a:ext cx="27432" cy="274320"/>
          </a:xfrm>
          <a:prstGeom prst="rect">
            <a:avLst/>
          </a:prstGeom>
          <a:solidFill>
            <a:srgbClr val="B45309"/>
          </a:solidFill>
          <a:ln w="12700">
            <a:solidFill>
              <a:srgbClr val="B45309"/>
            </a:solidFill>
            <a:prstDash val="solid"/>
          </a:ln>
        </p:spPr>
      </p:sp>
      <p:sp>
        <p:nvSpPr>
          <p:cNvPr id="24" name="Shape 22"/>
          <p:cNvSpPr/>
          <p:nvPr/>
        </p:nvSpPr>
        <p:spPr>
          <a:xfrm>
            <a:off x="9342831" y="91440"/>
            <a:ext cx="27432" cy="274320"/>
          </a:xfrm>
          <a:prstGeom prst="rect">
            <a:avLst/>
          </a:prstGeom>
          <a:solidFill>
            <a:srgbClr val="B45309"/>
          </a:solidFill>
          <a:ln w="12700">
            <a:solidFill>
              <a:srgbClr val="B45309"/>
            </a:solidFill>
            <a:prstDash val="solid"/>
          </a:ln>
        </p:spPr>
      </p:sp>
      <p:pic>
        <p:nvPicPr>
          <p:cNvPr id="25"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6" name="Text 23"/>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PRG32-QT on macOS</a:t>
            </a:r>
            <a:endParaRPr lang="en-US" sz="3200" dirty="0"/>
          </a:p>
        </p:txBody>
      </p:sp>
      <p:sp>
        <p:nvSpPr>
          <p:cNvPr id="3" name="Shape 1"/>
          <p:cNvSpPr/>
          <p:nvPr/>
        </p:nvSpPr>
        <p:spPr>
          <a:xfrm>
            <a:off x="548640" y="1828800"/>
            <a:ext cx="2464994" cy="4251960"/>
          </a:xfrm>
          <a:prstGeom prst="roundRect">
            <a:avLst>
              <a:gd name="adj" fmla="val 2968"/>
            </a:avLst>
          </a:prstGeom>
          <a:solidFill>
            <a:srgbClr val="EEF2F4"/>
          </a:solidFill>
          <a:ln w="12700">
            <a:solidFill>
              <a:srgbClr val="EEF2F4"/>
            </a:solidFill>
            <a:prstDash val="solid"/>
          </a:ln>
        </p:spPr>
      </p:sp>
      <p:sp>
        <p:nvSpPr>
          <p:cNvPr id="4" name="Text 2"/>
          <p:cNvSpPr txBox="1"/>
          <p:nvPr/>
        </p:nvSpPr>
        <p:spPr>
          <a:xfrm>
            <a:off x="1506817"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731520"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Which Mac?</a:t>
            </a:r>
            <a:endParaRPr lang="en-US" sz="1900" dirty="0"/>
          </a:p>
        </p:txBody>
      </p:sp>
      <p:sp>
        <p:nvSpPr>
          <p:cNvPr id="6" name="Text 4"/>
          <p:cNvSpPr txBox="1"/>
          <p:nvPr/>
        </p:nvSpPr>
        <p:spPr>
          <a:xfrm>
            <a:off x="731520"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Apple menu, About This Mac: Chip Apple M... means ARM64; Processor Intel means X64</a:t>
            </a:r>
            <a:endParaRPr lang="en-US" sz="1900" dirty="0"/>
          </a:p>
        </p:txBody>
      </p:sp>
      <p:sp>
        <p:nvSpPr>
          <p:cNvPr id="7" name="Shape 5"/>
          <p:cNvSpPr/>
          <p:nvPr/>
        </p:nvSpPr>
        <p:spPr>
          <a:xfrm>
            <a:off x="3077642" y="3808476"/>
            <a:ext cx="283464" cy="292608"/>
          </a:xfrm>
          <a:prstGeom prst="rightArrow">
            <a:avLst/>
          </a:prstGeom>
          <a:solidFill>
            <a:srgbClr val="C9D2D8"/>
          </a:solidFill>
          <a:ln w="12700">
            <a:solidFill>
              <a:srgbClr val="C9D2D8"/>
            </a:solidFill>
            <a:prstDash val="solid"/>
          </a:ln>
        </p:spPr>
      </p:sp>
      <p:sp>
        <p:nvSpPr>
          <p:cNvPr id="8" name="Shape 6"/>
          <p:cNvSpPr/>
          <p:nvPr/>
        </p:nvSpPr>
        <p:spPr>
          <a:xfrm>
            <a:off x="3425114" y="1828800"/>
            <a:ext cx="2464994" cy="4251960"/>
          </a:xfrm>
          <a:prstGeom prst="roundRect">
            <a:avLst>
              <a:gd name="adj" fmla="val 2968"/>
            </a:avLst>
          </a:prstGeom>
          <a:solidFill>
            <a:srgbClr val="EEF2F4"/>
          </a:solidFill>
          <a:ln w="12700">
            <a:solidFill>
              <a:srgbClr val="EEF2F4"/>
            </a:solidFill>
            <a:prstDash val="solid"/>
          </a:ln>
        </p:spPr>
      </p:sp>
      <p:sp>
        <p:nvSpPr>
          <p:cNvPr id="9" name="Text 7"/>
          <p:cNvSpPr txBox="1"/>
          <p:nvPr/>
        </p:nvSpPr>
        <p:spPr>
          <a:xfrm>
            <a:off x="4383291"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3607994"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Install</a:t>
            </a:r>
            <a:endParaRPr lang="en-US" sz="1900" dirty="0"/>
          </a:p>
        </p:txBody>
      </p:sp>
      <p:sp>
        <p:nvSpPr>
          <p:cNvPr id="11" name="Text 9"/>
          <p:cNvSpPr txBox="1"/>
          <p:nvPr/>
        </p:nvSpPr>
        <p:spPr>
          <a:xfrm>
            <a:off x="3607994"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Open the .dmg and drag PRG32 onto the Applications folder</a:t>
            </a:r>
            <a:endParaRPr lang="en-US" sz="1900" dirty="0"/>
          </a:p>
        </p:txBody>
      </p:sp>
      <p:sp>
        <p:nvSpPr>
          <p:cNvPr id="12" name="Shape 10"/>
          <p:cNvSpPr/>
          <p:nvPr/>
        </p:nvSpPr>
        <p:spPr>
          <a:xfrm>
            <a:off x="5954116" y="3808476"/>
            <a:ext cx="283464" cy="292608"/>
          </a:xfrm>
          <a:prstGeom prst="rightArrow">
            <a:avLst/>
          </a:prstGeom>
          <a:solidFill>
            <a:srgbClr val="C9D2D8"/>
          </a:solidFill>
          <a:ln w="12700">
            <a:solidFill>
              <a:srgbClr val="C9D2D8"/>
            </a:solidFill>
            <a:prstDash val="solid"/>
          </a:ln>
        </p:spPr>
      </p:sp>
      <p:sp>
        <p:nvSpPr>
          <p:cNvPr id="13" name="Shape 11"/>
          <p:cNvSpPr/>
          <p:nvPr/>
        </p:nvSpPr>
        <p:spPr>
          <a:xfrm>
            <a:off x="6301588" y="1828800"/>
            <a:ext cx="2464994" cy="4251960"/>
          </a:xfrm>
          <a:prstGeom prst="roundRect">
            <a:avLst>
              <a:gd name="adj" fmla="val 2968"/>
            </a:avLst>
          </a:prstGeom>
          <a:solidFill>
            <a:srgbClr val="EEF2F4"/>
          </a:solidFill>
          <a:ln w="12700">
            <a:solidFill>
              <a:srgbClr val="EEF2F4"/>
            </a:solidFill>
            <a:prstDash val="solid"/>
          </a:ln>
        </p:spPr>
      </p:sp>
      <p:sp>
        <p:nvSpPr>
          <p:cNvPr id="14" name="Text 12"/>
          <p:cNvSpPr txBox="1"/>
          <p:nvPr/>
        </p:nvSpPr>
        <p:spPr>
          <a:xfrm>
            <a:off x="7259765"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6484468"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First start</a:t>
            </a:r>
            <a:endParaRPr lang="en-US" sz="1900" dirty="0"/>
          </a:p>
        </p:txBody>
      </p:sp>
      <p:sp>
        <p:nvSpPr>
          <p:cNvPr id="16" name="Text 14"/>
          <p:cNvSpPr txBox="1"/>
          <p:nvPr/>
        </p:nvSpPr>
        <p:spPr>
          <a:xfrm>
            <a:off x="6484468"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Right-click PRG32 and choose Open; or System Settings, Privacy and Security, Open Anyway</a:t>
            </a:r>
            <a:endParaRPr lang="en-US" sz="1900" dirty="0"/>
          </a:p>
        </p:txBody>
      </p:sp>
      <p:sp>
        <p:nvSpPr>
          <p:cNvPr id="17" name="Shape 15"/>
          <p:cNvSpPr/>
          <p:nvPr/>
        </p:nvSpPr>
        <p:spPr>
          <a:xfrm>
            <a:off x="8830589" y="3808476"/>
            <a:ext cx="283464" cy="292608"/>
          </a:xfrm>
          <a:prstGeom prst="rightArrow">
            <a:avLst/>
          </a:prstGeom>
          <a:solidFill>
            <a:srgbClr val="C9D2D8"/>
          </a:solidFill>
          <a:ln w="12700">
            <a:solidFill>
              <a:srgbClr val="C9D2D8"/>
            </a:solidFill>
            <a:prstDash val="solid"/>
          </a:ln>
        </p:spPr>
      </p:sp>
      <p:sp>
        <p:nvSpPr>
          <p:cNvPr id="18" name="Shape 16"/>
          <p:cNvSpPr/>
          <p:nvPr/>
        </p:nvSpPr>
        <p:spPr>
          <a:xfrm>
            <a:off x="9178061" y="1828800"/>
            <a:ext cx="2464994" cy="4251960"/>
          </a:xfrm>
          <a:prstGeom prst="roundRect">
            <a:avLst>
              <a:gd name="adj" fmla="val 2968"/>
            </a:avLst>
          </a:prstGeom>
          <a:solidFill>
            <a:srgbClr val="EEF2F4"/>
          </a:solidFill>
          <a:ln w="12700">
            <a:solidFill>
              <a:srgbClr val="EEF2F4"/>
            </a:solidFill>
            <a:prstDash val="solid"/>
          </a:ln>
        </p:spPr>
      </p:sp>
      <p:sp>
        <p:nvSpPr>
          <p:cNvPr id="19" name="Text 17"/>
          <p:cNvSpPr txBox="1"/>
          <p:nvPr/>
        </p:nvSpPr>
        <p:spPr>
          <a:xfrm>
            <a:off x="10136238"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9360941"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Allow</a:t>
            </a:r>
            <a:endParaRPr lang="en-US" sz="1900" dirty="0"/>
          </a:p>
        </p:txBody>
      </p:sp>
      <p:sp>
        <p:nvSpPr>
          <p:cNvPr id="21" name="Text 19"/>
          <p:cNvSpPr txBox="1"/>
          <p:nvPr/>
        </p:nvSpPr>
        <p:spPr>
          <a:xfrm>
            <a:off x="9360941"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Accept incoming connections and local-network access when macOS asks</a:t>
            </a:r>
            <a:endParaRPr lang="en-US" sz="1900" dirty="0"/>
          </a:p>
        </p:txBody>
      </p:sp>
      <p:sp>
        <p:nvSpPr>
          <p:cNvPr id="22" name="Shape 20"/>
          <p:cNvSpPr/>
          <p:nvPr/>
        </p:nvSpPr>
        <p:spPr>
          <a:xfrm>
            <a:off x="9287967" y="91440"/>
            <a:ext cx="2355088" cy="274320"/>
          </a:xfrm>
          <a:prstGeom prst="rect">
            <a:avLst/>
          </a:prstGeom>
          <a:solidFill>
            <a:srgbClr val="FEF3C7"/>
          </a:solidFill>
          <a:ln w="12700">
            <a:solidFill>
              <a:srgbClr val="B45309"/>
            </a:solidFill>
            <a:prstDash val="solid"/>
          </a:ln>
        </p:spPr>
      </p:sp>
      <p:sp>
        <p:nvSpPr>
          <p:cNvPr id="23" name="Shape 21"/>
          <p:cNvSpPr/>
          <p:nvPr/>
        </p:nvSpPr>
        <p:spPr>
          <a:xfrm>
            <a:off x="9287967" y="91440"/>
            <a:ext cx="27432" cy="274320"/>
          </a:xfrm>
          <a:prstGeom prst="rect">
            <a:avLst/>
          </a:prstGeom>
          <a:solidFill>
            <a:srgbClr val="B45309"/>
          </a:solidFill>
          <a:ln w="12700">
            <a:solidFill>
              <a:srgbClr val="B45309"/>
            </a:solidFill>
            <a:prstDash val="solid"/>
          </a:ln>
        </p:spPr>
      </p:sp>
      <p:sp>
        <p:nvSpPr>
          <p:cNvPr id="24" name="Shape 22"/>
          <p:cNvSpPr/>
          <p:nvPr/>
        </p:nvSpPr>
        <p:spPr>
          <a:xfrm>
            <a:off x="9342831" y="91440"/>
            <a:ext cx="27432" cy="274320"/>
          </a:xfrm>
          <a:prstGeom prst="rect">
            <a:avLst/>
          </a:prstGeom>
          <a:solidFill>
            <a:srgbClr val="B45309"/>
          </a:solidFill>
          <a:ln w="12700">
            <a:solidFill>
              <a:srgbClr val="B45309"/>
            </a:solidFill>
            <a:prstDash val="solid"/>
          </a:ln>
        </p:spPr>
      </p:sp>
      <p:pic>
        <p:nvPicPr>
          <p:cNvPr id="25"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6" name="Text 23"/>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PRG32-QT on Linux</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Debian 13, Ubuntu 25.04 and later, or another system with Qt 6.5 or newer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~/Downloads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sudo apt install ./PRG32-QT-0.4.1-Linux-X64.deb</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PRG32 &amp;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older systems (Ubuntu 24.04 has Qt 6.4: too old): build from source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sudo apt install git cmake ninja-build g++ qt6-base-dev qt6-declarative-dev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qt6-multimedia-dev qt6-websockets-dev</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git clone https://github.com/riscv-prg32/PRG32-QT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PRG32-QT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./scripts/build-linux.sh</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apt install with ./ installs the file and what it needs</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program is /usr/bin/PRG32</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It needs Qt 6.5 or newer: check your distribution</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Building from source needs a recent Qt as well</a:t>
            </a:r>
            <a:endParaRPr lang="en-US" sz="15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your first cartridge, from the Store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Start PRG32-QT: the Setup screen appears, the same that the firmware shows on the kit</a:t>
            </a:r>
            <a:endParaRPr lang="en-US" sz="2200" dirty="0"/>
          </a:p>
        </p:txBody>
      </p:sp>
      <p:sp>
        <p:nvSpPr>
          <p:cNvPr id="6" name="Text 4"/>
          <p:cNvSpPr txBox="1"/>
          <p:nvPr/>
        </p:nvSpPr>
        <p:spPr>
          <a:xfrm>
            <a:off x="548640" y="231597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29768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Choose Browse Store: the catalogue of the Cartridge Store is downloaded</a:t>
            </a:r>
            <a:endParaRPr lang="en-US" sz="22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Pick a game, download it, and choose Run Cartridge</a:t>
            </a:r>
            <a:endParaRPr lang="en-US" sz="2200" dirty="0"/>
          </a:p>
        </p:txBody>
      </p:sp>
      <p:sp>
        <p:nvSpPr>
          <p:cNvPr id="10" name="Text 8"/>
          <p:cNvSpPr txBox="1"/>
          <p:nvPr/>
        </p:nvSpPr>
        <p:spPr>
          <a:xfrm>
            <a:off x="548640" y="35910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7276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Play it with the arrow keys, Z and X. Escape brings you back to Setup</a:t>
            </a:r>
            <a:endParaRPr lang="en-US" sz="2200" dirty="0"/>
          </a:p>
        </p:txBody>
      </p:sp>
      <p:sp>
        <p:nvSpPr>
          <p:cNvPr id="12" name="Text 10"/>
          <p:cNvSpPr txBox="1"/>
          <p:nvPr/>
        </p:nvSpPr>
        <p:spPr>
          <a:xfrm>
            <a:off x="548640" y="4228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10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Open Settings: look at the three performance profiles and at the layout choices</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A game from the Store runs on your laptop. This is level 1: from now on you can run any cartridge, and look inside it.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should see</a:t>
            </a:r>
            <a:endParaRPr lang="en-US" sz="3200" dirty="0"/>
          </a:p>
        </p:txBody>
      </p:sp>
      <p:sp>
        <p:nvSpPr>
          <p:cNvPr id="3" name="Shape 1"/>
          <p:cNvSpPr/>
          <p:nvPr/>
        </p:nvSpPr>
        <p:spPr>
          <a:xfrm>
            <a:off x="548640" y="1417320"/>
            <a:ext cx="3515258" cy="3931920"/>
          </a:xfrm>
          <a:prstGeom prst="roundRect">
            <a:avLst>
              <a:gd name="adj" fmla="val 2081"/>
            </a:avLst>
          </a:prstGeom>
          <a:solidFill>
            <a:srgbClr val="EEF2F4"/>
          </a:solidFill>
          <a:ln w="12700">
            <a:solidFill>
              <a:srgbClr val="EEF2F4"/>
            </a:solidFill>
            <a:prstDash val="solid"/>
          </a:ln>
        </p:spPr>
      </p:sp>
      <p:pic>
        <p:nvPicPr>
          <p:cNvPr id="4" name="Image 0" descr="/Users/raffaelemontella/devel/riscv-prg32/computer-architecture-with-prg32/tools/assets/menu_main.png">    </p:cNvPr>
          <p:cNvPicPr>
            <a:picLocks noChangeAspect="1"/>
          </p:cNvPicPr>
          <p:nvPr/>
        </p:nvPicPr>
        <p:blipFill>
          <a:blip r:embed="rId1"/>
          <a:stretch>
            <a:fillRect/>
          </a:stretch>
        </p:blipFill>
        <p:spPr>
          <a:xfrm>
            <a:off x="685800" y="1870748"/>
            <a:ext cx="3240938" cy="2430704"/>
          </a:xfrm>
          <a:prstGeom prst="rect">
            <a:avLst/>
          </a:prstGeom>
        </p:spPr>
      </p:pic>
      <p:sp>
        <p:nvSpPr>
          <p:cNvPr id="5" name="Text 2"/>
          <p:cNvSpPr txBox="1"/>
          <p:nvPr/>
        </p:nvSpPr>
        <p:spPr>
          <a:xfrm>
            <a:off x="685800"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The Setup menu</a:t>
            </a:r>
            <a:endParaRPr lang="en-US" sz="1500" dirty="0"/>
          </a:p>
        </p:txBody>
      </p:sp>
      <p:sp>
        <p:nvSpPr>
          <p:cNvPr id="6" name="Shape 3"/>
          <p:cNvSpPr/>
          <p:nvPr/>
        </p:nvSpPr>
        <p:spPr>
          <a:xfrm>
            <a:off x="4338218" y="1417320"/>
            <a:ext cx="3515258" cy="3931920"/>
          </a:xfrm>
          <a:prstGeom prst="roundRect">
            <a:avLst>
              <a:gd name="adj" fmla="val 2081"/>
            </a:avLst>
          </a:prstGeom>
          <a:solidFill>
            <a:srgbClr val="EEF2F4"/>
          </a:solidFill>
          <a:ln w="12700">
            <a:solidFill>
              <a:srgbClr val="EEF2F4"/>
            </a:solidFill>
            <a:prstDash val="solid"/>
          </a:ln>
        </p:spPr>
      </p:sp>
      <p:pic>
        <p:nvPicPr>
          <p:cNvPr id="7" name="Image 1" descr="/Users/raffaelemontella/devel/riscv-prg32/computer-architecture-with-prg32/tools/assets/prg32qt_store.png">    </p:cNvPr>
          <p:cNvPicPr>
            <a:picLocks noChangeAspect="1"/>
          </p:cNvPicPr>
          <p:nvPr/>
        </p:nvPicPr>
        <p:blipFill>
          <a:blip r:embed="rId2"/>
          <a:stretch>
            <a:fillRect/>
          </a:stretch>
        </p:blipFill>
        <p:spPr>
          <a:xfrm>
            <a:off x="4475378" y="1966503"/>
            <a:ext cx="3240938" cy="2239194"/>
          </a:xfrm>
          <a:prstGeom prst="rect">
            <a:avLst/>
          </a:prstGeom>
        </p:spPr>
      </p:pic>
      <p:sp>
        <p:nvSpPr>
          <p:cNvPr id="8" name="Text 4"/>
          <p:cNvSpPr txBox="1"/>
          <p:nvPr/>
        </p:nvSpPr>
        <p:spPr>
          <a:xfrm>
            <a:off x="4475378"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Browse Store</a:t>
            </a:r>
            <a:endParaRPr lang="en-US" sz="1500" dirty="0"/>
          </a:p>
        </p:txBody>
      </p:sp>
      <p:sp>
        <p:nvSpPr>
          <p:cNvPr id="9" name="Shape 5"/>
          <p:cNvSpPr/>
          <p:nvPr/>
        </p:nvSpPr>
        <p:spPr>
          <a:xfrm>
            <a:off x="8127797" y="1417320"/>
            <a:ext cx="3515258" cy="3931920"/>
          </a:xfrm>
          <a:prstGeom prst="roundRect">
            <a:avLst>
              <a:gd name="adj" fmla="val 2081"/>
            </a:avLst>
          </a:prstGeom>
          <a:solidFill>
            <a:srgbClr val="EEF2F4"/>
          </a:solidFill>
          <a:ln w="12700">
            <a:solidFill>
              <a:srgbClr val="EEF2F4"/>
            </a:solidFill>
            <a:prstDash val="solid"/>
          </a:ln>
        </p:spPr>
      </p:sp>
      <p:pic>
        <p:nvPicPr>
          <p:cNvPr id="10" name="Image 2" descr="/Users/raffaelemontella/devel/riscv-prg32/computer-architecture-with-prg32/tools/assets/prg32qt_settings.png">    </p:cNvPr>
          <p:cNvPicPr>
            <a:picLocks noChangeAspect="1"/>
          </p:cNvPicPr>
          <p:nvPr/>
        </p:nvPicPr>
        <p:blipFill>
          <a:blip r:embed="rId3"/>
          <a:stretch>
            <a:fillRect/>
          </a:stretch>
        </p:blipFill>
        <p:spPr>
          <a:xfrm>
            <a:off x="8264957" y="1966503"/>
            <a:ext cx="3240938" cy="2239194"/>
          </a:xfrm>
          <a:prstGeom prst="rect">
            <a:avLst/>
          </a:prstGeom>
        </p:spPr>
      </p:pic>
      <p:sp>
        <p:nvSpPr>
          <p:cNvPr id="11" name="Text 6"/>
          <p:cNvSpPr txBox="1"/>
          <p:nvPr/>
        </p:nvSpPr>
        <p:spPr>
          <a:xfrm>
            <a:off x="8264957"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Settings</a:t>
            </a:r>
            <a:endParaRPr lang="en-US" sz="1500" dirty="0"/>
          </a:p>
        </p:txBody>
      </p:sp>
      <p:sp>
        <p:nvSpPr>
          <p:cNvPr id="12" name="Text 7"/>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The same three screens on every system. If you are here, step 1 is done.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toolchain on Windows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00" dirty="0">
                <a:solidFill>
                  <a:srgbClr val="8FB3A0"/>
                </a:solidFill>
                <a:latin typeface="Courier New" pitchFamily="34" charset="0"/>
                <a:ea typeface="Courier New" pitchFamily="34" charset="-122"/>
                <a:cs typeface="Courier New" pitchFamily="34" charset="-120"/>
              </a:rPr>
              <a:t># 1. Install Git for Windows (git-scm.com) and Python 3 (python.org)</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2. Run the ESP-IDF Tools Installer (dl.espressif.com/dl/esp-idf):</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 choose an ESP-IDF release 5.4 or newer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 select the targets esp32c3 and esp32c6</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 optional: tick the QEMU RISC-V emulator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3. Open the shortcut "ESP-IDF PowerShell" that the installer created</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4. In that window: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cd $HOME\Documents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git clone https://github.com/riscv-prg32/PRG32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cd 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pip install pyaudio zeroconf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python -m prg32 doctor</a:t>
            </a:r>
            <a:endParaRPr lang="en-US" sz="14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Use the ESP-IDF PowerShell, never a plain terminal</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On Windows the command is python, not python3</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pip installs into the ESP-IDF environment: that is intended</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doctor checks the installation: see the next slides</a:t>
            </a:r>
            <a:endParaRPr lang="en-US" sz="13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toolchain on macOS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1. Homebrew (brew.sh), then the prerequisites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brew install git cmake ninja dfu-util ccache libusb python curl zip portaudio</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2. ESP-IDF 5.4 for the two chips (a large download)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$HOME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git clone -b v5.4 --recursive https://github.com/espressif/esp-idf.git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esp-idf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./install.sh esp32c3,esp32c6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./export.sh</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pip install pyaudio zeroconf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3. 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$HOME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git clone https://github.com/riscv-prg32/PRG32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python3 -m prg32 doctor</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Homebrew first: it provides git, cmake, python</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install.sh downloads the compilers: be patient</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dot before export.sh matters: it changes this terminal</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Works on Apple Silicon and on Intel</a:t>
            </a:r>
            <a:endParaRPr lang="en-US" sz="13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toolchain on Linux (Debian, Ubuntu)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1. Prerequisites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sudo apt update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sudo apt install -y git wget flex bison gperf python3 python3-venv python3-pip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python3-zeroconf cmake ninja-build ccache libffi-dev libssl-dev dfu-util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libusb-1.0-0 curl zip portaudio19-dev</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2. ESP-IDF 5.4 for the two chips (a large download)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cd $HOME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git clone -b v5.4 --recursive https://github.com/espressif/esp-idf.git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cd esp-idf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./install.sh esp32c3,esp32c6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./export.sh</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pip install pyaudio zeroconf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3. PRG32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cd $HOME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git clone https://github.com/riscv-prg32/PRG32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cd PRG32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python3 -m prg32 doctor</a:t>
            </a:r>
            <a:endParaRPr lang="en-US" sz="12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One long apt line: copy it whole</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Steps 2 and 3 are the same as on macOS</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Other distributions: the same packages, other names</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For the kit only: sudo usermod -aG dialout $USER</a:t>
            </a:r>
            <a:endParaRPr lang="en-US" sz="14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Every new terminal: switch ESP-IDF on</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8FB3A0"/>
                </a:solidFill>
                <a:latin typeface="Courier New" pitchFamily="34" charset="0"/>
                <a:ea typeface="Courier New" pitchFamily="34" charset="-122"/>
                <a:cs typeface="Courier New" pitchFamily="34" charset="-120"/>
              </a:rPr>
              <a:t># macOS and Linux: in every new terminal, before anything else</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$HOME/esp-idf/export.sh</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cd $HOME/PRG32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8FB3A0"/>
                </a:solidFill>
                <a:latin typeface="Courier New" pitchFamily="34" charset="0"/>
                <a:ea typeface="Courier New" pitchFamily="34" charset="-122"/>
                <a:cs typeface="Courier New" pitchFamily="34" charset="-120"/>
              </a:rPr>
              <a:t># save typing: add these two lines to ~/.zshrc or ~/.bashrc</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alias get_idf=". $HOME/esp-idf/export.sh"</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alias prg="python3 -m prg32"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8FB3A0"/>
                </a:solidFill>
                <a:latin typeface="Courier New" pitchFamily="34" charset="0"/>
                <a:ea typeface="Courier New" pitchFamily="34" charset="-122"/>
                <a:cs typeface="Courier New" pitchFamily="34" charset="-120"/>
              </a:rPr>
              <a:t># then, in a new terminal</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get_idf</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prg doctor</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8FB3A0"/>
                </a:solidFill>
                <a:latin typeface="Courier New" pitchFamily="34" charset="0"/>
                <a:ea typeface="Courier New" pitchFamily="34" charset="-122"/>
                <a:cs typeface="Courier New" pitchFamily="34" charset="-120"/>
              </a:rPr>
              <a:t># Windows: open "ESP-IDF PowerShell" from the Start menu, then</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cd $HOME\Documents\PRG32</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export.sh acts on the terminal it runs in, and only that one</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 new window is a new terminal: activate again</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aliases are a convenience, not a requirement</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Run the prg32 commands from the PRG32 folder</a:t>
            </a:r>
            <a:endParaRPr lang="en-US" sz="13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doctor: is everything in place?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 python3 -m prg32 doctor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[OK] idf.py found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[OK] riscv32-esp-elf-gcc found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[OK] partitions file found: .../PRG32/profiles/partitions_prg32.csv</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[OK] partition cart0 parsed (offset=0x210000, size=131072)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and when ESP-IDF is not active in this terminal: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[ERROR] idf.py missing (you must source ESP-IDF export.sh)</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idf.py: ESP-IDF is active</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riscv32-esp-elf-gcc: the RISC-V compiler is reachable</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partitions: the PRG32 folder is complete</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Any ERROR line says what to do: read it</a:t>
            </a:r>
            <a:endParaRPr lang="en-US" sz="14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Build a cartridge from the examples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in the PRG32 folder, ESP-IDF active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python3 -m prg32 cartridge build examples/games/pong/c/game.c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--portable --entry-prefix pong_c --name pong --out pong.prg32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[OK] built pong.prg32 name=pong load=0x40800000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[INFO] code=3004 mem=3028 audio=0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what did we build?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python3 -m prg32 cartridge summary pong.prg32</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cartridge build: source in, .prg32 out</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--entry-prefix: the name before _init, _update, _draw</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--portable: runs on every host, not on one firmware only</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 whole Pong: three thousand bytes</a:t>
            </a:r>
            <a:endParaRPr lang="en-US" sz="1500" dirty="0"/>
          </a:p>
        </p:txBody>
      </p:sp>
      <p:sp>
        <p:nvSpPr>
          <p:cNvPr id="17" name="Shape 15"/>
          <p:cNvSpPr/>
          <p:nvPr/>
        </p:nvSpPr>
        <p:spPr>
          <a:xfrm>
            <a:off x="6495364" y="91440"/>
            <a:ext cx="5147691" cy="274320"/>
          </a:xfrm>
          <a:prstGeom prst="rect">
            <a:avLst/>
          </a:prstGeom>
          <a:solidFill>
            <a:srgbClr val="F3E8FF"/>
          </a:solidFill>
          <a:ln w="12700">
            <a:solidFill>
              <a:srgbClr val="7E22CE"/>
            </a:solidFill>
            <a:prstDash val="dash"/>
          </a:ln>
        </p:spPr>
      </p:sp>
      <p:sp>
        <p:nvSpPr>
          <p:cNvPr id="18" name="Shape 16"/>
          <p:cNvSpPr/>
          <p:nvPr/>
        </p:nvSpPr>
        <p:spPr>
          <a:xfrm>
            <a:off x="6522796" y="128016"/>
            <a:ext cx="45720" cy="45720"/>
          </a:xfrm>
          <a:prstGeom prst="rect">
            <a:avLst/>
          </a:prstGeom>
          <a:solidFill>
            <a:srgbClr val="7E22CE"/>
          </a:solidFill>
          <a:ln w="12700">
            <a:solidFill>
              <a:srgbClr val="7E22CE"/>
            </a:solidFill>
            <a:prstDash val="solid"/>
          </a:ln>
        </p:spPr>
      </p:sp>
      <p:sp>
        <p:nvSpPr>
          <p:cNvPr id="19" name="Shape 17"/>
          <p:cNvSpPr/>
          <p:nvPr/>
        </p:nvSpPr>
        <p:spPr>
          <a:xfrm>
            <a:off x="6522796" y="205740"/>
            <a:ext cx="45720" cy="45720"/>
          </a:xfrm>
          <a:prstGeom prst="rect">
            <a:avLst/>
          </a:prstGeom>
          <a:solidFill>
            <a:srgbClr val="7E22CE"/>
          </a:solidFill>
          <a:ln w="12700">
            <a:solidFill>
              <a:srgbClr val="7E22CE"/>
            </a:solidFill>
            <a:prstDash val="solid"/>
          </a:ln>
        </p:spPr>
      </p:sp>
      <p:sp>
        <p:nvSpPr>
          <p:cNvPr id="20" name="Shape 18"/>
          <p:cNvSpPr/>
          <p:nvPr/>
        </p:nvSpPr>
        <p:spPr>
          <a:xfrm>
            <a:off x="6522796" y="283464"/>
            <a:ext cx="45720" cy="45720"/>
          </a:xfrm>
          <a:prstGeom prst="rect">
            <a:avLst/>
          </a:prstGeom>
          <a:solidFill>
            <a:srgbClr val="7E22CE"/>
          </a:solidFill>
          <a:ln w="12700">
            <a:solidFill>
              <a:srgbClr val="7E22CE"/>
            </a:solidFill>
            <a:prstDash val="solid"/>
          </a:ln>
        </p:spPr>
      </p:sp>
      <p:pic>
        <p:nvPicPr>
          <p:cNvPr id="21" name="Image 0" descr="preencoded.png">    </p:cNvPr>
          <p:cNvPicPr>
            <a:picLocks noChangeAspect="1"/>
          </p:cNvPicPr>
          <p:nvPr/>
        </p:nvPicPr>
        <p:blipFill>
          <a:blip r:embed="rId1"/>
          <a:stretch>
            <a:fillRect/>
          </a:stretch>
        </p:blipFill>
        <p:spPr>
          <a:xfrm>
            <a:off x="6623380" y="128016"/>
            <a:ext cx="201168" cy="201168"/>
          </a:xfrm>
          <a:prstGeom prst="rect">
            <a:avLst/>
          </a:prstGeom>
        </p:spPr>
      </p:pic>
      <p:sp>
        <p:nvSpPr>
          <p:cNvPr id="22" name="Text 19"/>
          <p:cNvSpPr txBox="1"/>
          <p:nvPr/>
        </p:nvSpPr>
        <p:spPr>
          <a:xfrm>
            <a:off x="6879412" y="91440"/>
            <a:ext cx="4727067"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the init, update, draw contract</a:t>
            </a:r>
            <a:pPr indent="0" marL="0">
              <a:buNone/>
            </a:pPr>
            <a:r>
              <a:rPr lang="en-US" sz="1100" b="1" dirty="0">
                <a:solidFill>
                  <a:srgbClr val="6B21A8"/>
                </a:solidFill>
                <a:latin typeface="Calibri" pitchFamily="34" charset="0"/>
                <a:ea typeface="Calibri" pitchFamily="34" charset="-122"/>
                <a:cs typeface="Calibri" pitchFamily="34" charset="-120"/>
              </a:rPr>
              <a:t> → Lecture 02</a:t>
            </a:r>
            <a:endParaRPr lang="en-US" sz="1100" dirty="0"/>
          </a:p>
        </p:txBody>
      </p:sp>
      <p:sp>
        <p:nvSpPr>
          <p:cNvPr id="23" name="Shape 20"/>
          <p:cNvSpPr/>
          <p:nvPr/>
        </p:nvSpPr>
        <p:spPr>
          <a:xfrm>
            <a:off x="4030548" y="91440"/>
            <a:ext cx="2355088" cy="274320"/>
          </a:xfrm>
          <a:prstGeom prst="rect">
            <a:avLst/>
          </a:prstGeom>
          <a:solidFill>
            <a:srgbClr val="FEF3C7"/>
          </a:solidFill>
          <a:ln w="12700">
            <a:solidFill>
              <a:srgbClr val="B45309"/>
            </a:solidFill>
            <a:prstDash val="solid"/>
          </a:ln>
        </p:spPr>
      </p:sp>
      <p:sp>
        <p:nvSpPr>
          <p:cNvPr id="24" name="Shape 21"/>
          <p:cNvSpPr/>
          <p:nvPr/>
        </p:nvSpPr>
        <p:spPr>
          <a:xfrm>
            <a:off x="4030548" y="91440"/>
            <a:ext cx="27432" cy="274320"/>
          </a:xfrm>
          <a:prstGeom prst="rect">
            <a:avLst/>
          </a:prstGeom>
          <a:solidFill>
            <a:srgbClr val="B45309"/>
          </a:solidFill>
          <a:ln w="12700">
            <a:solidFill>
              <a:srgbClr val="B45309"/>
            </a:solidFill>
            <a:prstDash val="solid"/>
          </a:ln>
        </p:spPr>
      </p:sp>
      <p:sp>
        <p:nvSpPr>
          <p:cNvPr id="25" name="Shape 22"/>
          <p:cNvSpPr/>
          <p:nvPr/>
        </p:nvSpPr>
        <p:spPr>
          <a:xfrm>
            <a:off x="4085412" y="91440"/>
            <a:ext cx="27432" cy="274320"/>
          </a:xfrm>
          <a:prstGeom prst="rect">
            <a:avLst/>
          </a:prstGeom>
          <a:solidFill>
            <a:srgbClr val="B45309"/>
          </a:solidFill>
          <a:ln w="12700">
            <a:solidFill>
              <a:srgbClr val="B45309"/>
            </a:solidFill>
            <a:prstDash val="solid"/>
          </a:ln>
        </p:spPr>
      </p:sp>
      <p:pic>
        <p:nvPicPr>
          <p:cNvPr id="26" name="Image 1" descr="preencoded.png">    </p:cNvPr>
          <p:cNvPicPr>
            <a:picLocks noChangeAspect="1"/>
          </p:cNvPicPr>
          <p:nvPr/>
        </p:nvPicPr>
        <p:blipFill>
          <a:blip r:embed="rId2"/>
          <a:stretch>
            <a:fillRect/>
          </a:stretch>
        </p:blipFill>
        <p:spPr>
          <a:xfrm>
            <a:off x="4158564" y="128016"/>
            <a:ext cx="201168" cy="201168"/>
          </a:xfrm>
          <a:prstGeom prst="rect">
            <a:avLst/>
          </a:prstGeom>
        </p:spPr>
      </p:pic>
      <p:sp>
        <p:nvSpPr>
          <p:cNvPr id="27" name="Text 23"/>
          <p:cNvSpPr txBox="1"/>
          <p:nvPr/>
        </p:nvSpPr>
        <p:spPr>
          <a:xfrm>
            <a:off x="4414596"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Send it to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750" dirty="0">
                <a:solidFill>
                  <a:srgbClr val="8FB3A0"/>
                </a:solidFill>
                <a:latin typeface="Courier New" pitchFamily="34" charset="0"/>
                <a:ea typeface="Courier New" pitchFamily="34" charset="-122"/>
                <a:cs typeface="Courier New" pitchFamily="34" charset="-120"/>
              </a:rPr>
              <a:t># PRG32-QT must be running on this computer</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8FB3A0"/>
                </a:solidFill>
                <a:latin typeface="Courier New" pitchFamily="34" charset="0"/>
                <a:ea typeface="Courier New" pitchFamily="34" charset="-122"/>
                <a:cs typeface="Courier New" pitchFamily="34" charset="-120"/>
              </a:rPr>
              <a:t># 1. is it listening?</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python3 -m prg32 runtime --url http://localhost:8080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8FB3A0"/>
                </a:solidFill>
                <a:latin typeface="Courier New" pitchFamily="34" charset="0"/>
                <a:ea typeface="Courier New" pitchFamily="34" charset="-122"/>
                <a:cs typeface="Courier New" pitchFamily="34" charset="-120"/>
              </a:rPr>
              <a:t># 2. upload the cartridge to slot cart0 and start it</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python3 -m prg32 esp32c6 upload-and-run pong.prg32 \</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--url http://localhost:8080 --slot cart0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{"loaded":false,"ok":true,"slot":"cart0","stored":true}</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{"ok":true,"slot":"cart0"}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[OK] Finished upload and run on ESP32C6</a:t>
            </a:r>
            <a:endParaRPr lang="en-US" sz="17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runtime prints its state: a quick connection test</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command says esp32c6: for the tool, PRG32-QT is a board</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Look inside: the debugger</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PRG32-QT open Settings and enable Run cartridges in RISC-V debug mode</a:t>
            </a:r>
            <a:endParaRPr lang="en-US" sz="2200" dirty="0"/>
          </a:p>
        </p:txBody>
      </p:sp>
      <p:sp>
        <p:nvSpPr>
          <p:cNvPr id="5" name="Text 3"/>
          <p:cNvSpPr txBox="1"/>
          <p:nvPr/>
        </p:nvSpPr>
        <p:spPr>
          <a:xfrm>
            <a:off x="548640" y="210454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08625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Run the cartridge again: the game is on the left, the machine on the right</a:t>
            </a:r>
            <a:endParaRPr lang="en-US" sz="2200" dirty="0"/>
          </a:p>
        </p:txBody>
      </p:sp>
      <p:sp>
        <p:nvSpPr>
          <p:cNvPr id="7" name="Text 5"/>
          <p:cNvSpPr txBox="1"/>
          <p:nvPr/>
        </p:nvSpPr>
        <p:spPr>
          <a:xfrm>
            <a:off x="548640" y="277347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2755189"/>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Press the pause button: the game freezes, and one instruction is highlighted in the listing</a:t>
            </a:r>
            <a:endParaRPr lang="en-US" sz="2200" dirty="0"/>
          </a:p>
        </p:txBody>
      </p:sp>
      <p:sp>
        <p:nvSpPr>
          <p:cNvPr id="9" name="Text 7"/>
          <p:cNvSpPr txBox="1"/>
          <p:nvPr/>
        </p:nvSpPr>
        <p:spPr>
          <a:xfrm>
            <a:off x="548640" y="368523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666947"/>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Press the step button a few times: the highlight moves, and some registers change value</a:t>
            </a:r>
            <a:endParaRPr lang="en-US" sz="2200" dirty="0"/>
          </a:p>
        </p:txBody>
      </p:sp>
      <p:sp>
        <p:nvSpPr>
          <p:cNvPr id="11" name="Text 9"/>
          <p:cNvSpPr txBox="1"/>
          <p:nvPr/>
        </p:nvSpPr>
        <p:spPr>
          <a:xfrm>
            <a:off x="548640" y="459699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57870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Press Update, then Draw: the listing jumps to those two functions of the cartridge</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Press the play button: the game goes on. Lower the speed to 0.1x and watch it in slow motion</a:t>
            </a:r>
            <a:endParaRPr lang="en-US" sz="2200" dirty="0"/>
          </a:p>
        </p:txBody>
      </p:sp>
      <p:sp>
        <p:nvSpPr>
          <p:cNvPr id="15" name="Shape 13"/>
          <p:cNvSpPr/>
          <p:nvPr/>
        </p:nvSpPr>
        <p:spPr>
          <a:xfrm>
            <a:off x="7939862" y="91440"/>
            <a:ext cx="3703193" cy="274320"/>
          </a:xfrm>
          <a:prstGeom prst="rect">
            <a:avLst/>
          </a:prstGeom>
          <a:solidFill>
            <a:srgbClr val="F3E8FF"/>
          </a:solidFill>
          <a:ln w="12700">
            <a:solidFill>
              <a:srgbClr val="7E22CE"/>
            </a:solidFill>
            <a:prstDash val="dash"/>
          </a:ln>
        </p:spPr>
      </p:sp>
      <p:sp>
        <p:nvSpPr>
          <p:cNvPr id="16" name="Shape 14"/>
          <p:cNvSpPr/>
          <p:nvPr/>
        </p:nvSpPr>
        <p:spPr>
          <a:xfrm>
            <a:off x="7967294" y="128016"/>
            <a:ext cx="45720" cy="45720"/>
          </a:xfrm>
          <a:prstGeom prst="rect">
            <a:avLst/>
          </a:prstGeom>
          <a:solidFill>
            <a:srgbClr val="7E22CE"/>
          </a:solidFill>
          <a:ln w="12700">
            <a:solidFill>
              <a:srgbClr val="7E22CE"/>
            </a:solidFill>
            <a:prstDash val="solid"/>
          </a:ln>
        </p:spPr>
      </p:sp>
      <p:sp>
        <p:nvSpPr>
          <p:cNvPr id="17" name="Shape 15"/>
          <p:cNvSpPr/>
          <p:nvPr/>
        </p:nvSpPr>
        <p:spPr>
          <a:xfrm>
            <a:off x="7967294" y="205740"/>
            <a:ext cx="45720" cy="45720"/>
          </a:xfrm>
          <a:prstGeom prst="rect">
            <a:avLst/>
          </a:prstGeom>
          <a:solidFill>
            <a:srgbClr val="7E22CE"/>
          </a:solidFill>
          <a:ln w="12700">
            <a:solidFill>
              <a:srgbClr val="7E22CE"/>
            </a:solidFill>
            <a:prstDash val="solid"/>
          </a:ln>
        </p:spPr>
      </p:sp>
      <p:sp>
        <p:nvSpPr>
          <p:cNvPr id="18" name="Shape 16"/>
          <p:cNvSpPr/>
          <p:nvPr/>
        </p:nvSpPr>
        <p:spPr>
          <a:xfrm>
            <a:off x="7967294" y="283464"/>
            <a:ext cx="45720" cy="45720"/>
          </a:xfrm>
          <a:prstGeom prst="rect">
            <a:avLst/>
          </a:prstGeom>
          <a:solidFill>
            <a:srgbClr val="7E22CE"/>
          </a:solidFill>
          <a:ln w="12700">
            <a:solidFill>
              <a:srgbClr val="7E22CE"/>
            </a:solidFill>
            <a:prstDash val="solid"/>
          </a:ln>
        </p:spPr>
      </p:sp>
      <p:pic>
        <p:nvPicPr>
          <p:cNvPr id="19" name="Image 0" descr="preencoded.png">    </p:cNvPr>
          <p:cNvPicPr>
            <a:picLocks noChangeAspect="1"/>
          </p:cNvPicPr>
          <p:nvPr/>
        </p:nvPicPr>
        <p:blipFill>
          <a:blip r:embed="rId1"/>
          <a:stretch>
            <a:fillRect/>
          </a:stretch>
        </p:blipFill>
        <p:spPr>
          <a:xfrm>
            <a:off x="8067878" y="128016"/>
            <a:ext cx="201168" cy="201168"/>
          </a:xfrm>
          <a:prstGeom prst="rect">
            <a:avLst/>
          </a:prstGeom>
        </p:spPr>
      </p:pic>
      <p:sp>
        <p:nvSpPr>
          <p:cNvPr id="20" name="Text 17"/>
          <p:cNvSpPr txBox="1"/>
          <p:nvPr/>
        </p:nvSpPr>
        <p:spPr>
          <a:xfrm>
            <a:off x="8323910" y="91440"/>
            <a:ext cx="3282569"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registers</a:t>
            </a:r>
            <a:pPr indent="0" marL="0">
              <a:buNone/>
            </a:pPr>
            <a:r>
              <a:rPr lang="en-US" sz="1100" b="1" dirty="0">
                <a:solidFill>
                  <a:srgbClr val="6B21A8"/>
                </a:solidFill>
                <a:latin typeface="Calibri" pitchFamily="34" charset="0"/>
                <a:ea typeface="Calibri" pitchFamily="34" charset="-122"/>
                <a:cs typeface="Calibri" pitchFamily="34" charset="-120"/>
              </a:rPr>
              <a:t> → Lecture 02</a:t>
            </a:r>
            <a:endParaRPr lang="en-US" sz="1100" dirty="0"/>
          </a:p>
        </p:txBody>
      </p:sp>
      <p:sp>
        <p:nvSpPr>
          <p:cNvPr id="21" name="Shape 18"/>
          <p:cNvSpPr/>
          <p:nvPr/>
        </p:nvSpPr>
        <p:spPr>
          <a:xfrm>
            <a:off x="5081092" y="91440"/>
            <a:ext cx="2749042" cy="274320"/>
          </a:xfrm>
          <a:prstGeom prst="rect">
            <a:avLst/>
          </a:prstGeom>
          <a:solidFill>
            <a:srgbClr val="FEF3C7"/>
          </a:solidFill>
          <a:ln w="12700">
            <a:solidFill>
              <a:srgbClr val="B45309"/>
            </a:solidFill>
            <a:prstDash val="solid"/>
          </a:ln>
        </p:spPr>
      </p:sp>
      <p:sp>
        <p:nvSpPr>
          <p:cNvPr id="22" name="Shape 19"/>
          <p:cNvSpPr/>
          <p:nvPr/>
        </p:nvSpPr>
        <p:spPr>
          <a:xfrm>
            <a:off x="5081092" y="91440"/>
            <a:ext cx="27432" cy="274320"/>
          </a:xfrm>
          <a:prstGeom prst="rect">
            <a:avLst/>
          </a:prstGeom>
          <a:solidFill>
            <a:srgbClr val="B45309"/>
          </a:solidFill>
          <a:ln w="12700">
            <a:solidFill>
              <a:srgbClr val="B45309"/>
            </a:solidFill>
            <a:prstDash val="solid"/>
          </a:ln>
        </p:spPr>
      </p:sp>
      <p:sp>
        <p:nvSpPr>
          <p:cNvPr id="23" name="Shape 20"/>
          <p:cNvSpPr/>
          <p:nvPr/>
        </p:nvSpPr>
        <p:spPr>
          <a:xfrm>
            <a:off x="5135956" y="91440"/>
            <a:ext cx="27432" cy="274320"/>
          </a:xfrm>
          <a:prstGeom prst="rect">
            <a:avLst/>
          </a:prstGeom>
          <a:solidFill>
            <a:srgbClr val="B45309"/>
          </a:solidFill>
          <a:ln w="12700">
            <a:solidFill>
              <a:srgbClr val="B45309"/>
            </a:solidFill>
            <a:prstDash val="solid"/>
          </a:ln>
        </p:spPr>
      </p:sp>
      <p:pic>
        <p:nvPicPr>
          <p:cNvPr id="24" name="Image 1" descr="preencoded.png">    </p:cNvPr>
          <p:cNvPicPr>
            <a:picLocks noChangeAspect="1"/>
          </p:cNvPicPr>
          <p:nvPr/>
        </p:nvPicPr>
        <p:blipFill>
          <a:blip r:embed="rId2"/>
          <a:stretch>
            <a:fillRect/>
          </a:stretch>
        </p:blipFill>
        <p:spPr>
          <a:xfrm>
            <a:off x="5209108" y="128016"/>
            <a:ext cx="201168" cy="201168"/>
          </a:xfrm>
          <a:prstGeom prst="rect">
            <a:avLst/>
          </a:prstGeom>
        </p:spPr>
      </p:pic>
      <p:sp>
        <p:nvSpPr>
          <p:cNvPr id="25" name="Text 21"/>
          <p:cNvSpPr txBox="1"/>
          <p:nvPr/>
        </p:nvSpPr>
        <p:spPr>
          <a:xfrm>
            <a:off x="5465140" y="91440"/>
            <a:ext cx="232841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PRG32-QT debugger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machine, open</a:t>
            </a:r>
            <a:endParaRPr lang="en-US" sz="3200" dirty="0"/>
          </a:p>
        </p:txBody>
      </p:sp>
      <p:sp>
        <p:nvSpPr>
          <p:cNvPr id="3" name="Shape 1"/>
          <p:cNvSpPr/>
          <p:nvPr/>
        </p:nvSpPr>
        <p:spPr>
          <a:xfrm>
            <a:off x="548640" y="1417320"/>
            <a:ext cx="11094415"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prg32qt_debugger_details.png">    </p:cNvPr>
          <p:cNvPicPr>
            <a:picLocks noChangeAspect="1"/>
          </p:cNvPicPr>
          <p:nvPr/>
        </p:nvPicPr>
        <p:blipFill>
          <a:blip r:embed="rId1"/>
          <a:stretch>
            <a:fillRect/>
          </a:stretch>
        </p:blipFill>
        <p:spPr>
          <a:xfrm>
            <a:off x="4846368" y="1554480"/>
            <a:ext cx="2498959" cy="3063240"/>
          </a:xfrm>
          <a:prstGeom prst="rect">
            <a:avLst/>
          </a:prstGeom>
        </p:spPr>
      </p:pic>
      <p:sp>
        <p:nvSpPr>
          <p:cNvPr id="5" name="Text 2"/>
          <p:cNvSpPr txBox="1"/>
          <p:nvPr/>
        </p:nvSpPr>
        <p:spPr>
          <a:xfrm>
            <a:off x="685800" y="4663440"/>
            <a:ext cx="10820095"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Assembly with the current instruction, the 32 registers, memory, and the counters of the frame</a:t>
            </a:r>
            <a:endParaRPr lang="en-US" sz="1500" dirty="0"/>
          </a:p>
        </p:txBody>
      </p:sp>
      <p:sp>
        <p:nvSpPr>
          <p:cNvPr id="6" name="Text 3"/>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If you see this with your own cartridge, you are ready for the rest of the course.</a:t>
            </a:r>
            <a:endParaRPr lang="en-US" sz="1900" dirty="0"/>
          </a:p>
        </p:txBody>
      </p:sp>
      <p:sp>
        <p:nvSpPr>
          <p:cNvPr id="7" name="Shape 4"/>
          <p:cNvSpPr/>
          <p:nvPr/>
        </p:nvSpPr>
        <p:spPr>
          <a:xfrm>
            <a:off x="7939862" y="91440"/>
            <a:ext cx="3703193" cy="274320"/>
          </a:xfrm>
          <a:prstGeom prst="rect">
            <a:avLst/>
          </a:prstGeom>
          <a:solidFill>
            <a:srgbClr val="F3E8FF"/>
          </a:solidFill>
          <a:ln w="12700">
            <a:solidFill>
              <a:srgbClr val="7E22CE"/>
            </a:solidFill>
            <a:prstDash val="dash"/>
          </a:ln>
        </p:spPr>
      </p:sp>
      <p:sp>
        <p:nvSpPr>
          <p:cNvPr id="8" name="Shape 5"/>
          <p:cNvSpPr/>
          <p:nvPr/>
        </p:nvSpPr>
        <p:spPr>
          <a:xfrm>
            <a:off x="7967294" y="128016"/>
            <a:ext cx="45720" cy="45720"/>
          </a:xfrm>
          <a:prstGeom prst="rect">
            <a:avLst/>
          </a:prstGeom>
          <a:solidFill>
            <a:srgbClr val="7E22CE"/>
          </a:solidFill>
          <a:ln w="12700">
            <a:solidFill>
              <a:srgbClr val="7E22CE"/>
            </a:solidFill>
            <a:prstDash val="solid"/>
          </a:ln>
        </p:spPr>
      </p:sp>
      <p:sp>
        <p:nvSpPr>
          <p:cNvPr id="9" name="Shape 6"/>
          <p:cNvSpPr/>
          <p:nvPr/>
        </p:nvSpPr>
        <p:spPr>
          <a:xfrm>
            <a:off x="7967294" y="205740"/>
            <a:ext cx="45720" cy="45720"/>
          </a:xfrm>
          <a:prstGeom prst="rect">
            <a:avLst/>
          </a:prstGeom>
          <a:solidFill>
            <a:srgbClr val="7E22CE"/>
          </a:solidFill>
          <a:ln w="12700">
            <a:solidFill>
              <a:srgbClr val="7E22CE"/>
            </a:solidFill>
            <a:prstDash val="solid"/>
          </a:ln>
        </p:spPr>
      </p:sp>
      <p:sp>
        <p:nvSpPr>
          <p:cNvPr id="10" name="Shape 7"/>
          <p:cNvSpPr/>
          <p:nvPr/>
        </p:nvSpPr>
        <p:spPr>
          <a:xfrm>
            <a:off x="7967294" y="283464"/>
            <a:ext cx="45720" cy="45720"/>
          </a:xfrm>
          <a:prstGeom prst="rect">
            <a:avLst/>
          </a:prstGeom>
          <a:solidFill>
            <a:srgbClr val="7E22CE"/>
          </a:solidFill>
          <a:ln w="12700">
            <a:solidFill>
              <a:srgbClr val="7E22CE"/>
            </a:solidFill>
            <a:prstDash val="solid"/>
          </a:ln>
        </p:spPr>
      </p:sp>
      <p:pic>
        <p:nvPicPr>
          <p:cNvPr id="11" name="Image 1" descr="preencoded.png">    </p:cNvPr>
          <p:cNvPicPr>
            <a:picLocks noChangeAspect="1"/>
          </p:cNvPicPr>
          <p:nvPr/>
        </p:nvPicPr>
        <p:blipFill>
          <a:blip r:embed="rId2"/>
          <a:stretch>
            <a:fillRect/>
          </a:stretch>
        </p:blipFill>
        <p:spPr>
          <a:xfrm>
            <a:off x="8067878" y="128016"/>
            <a:ext cx="201168" cy="201168"/>
          </a:xfrm>
          <a:prstGeom prst="rect">
            <a:avLst/>
          </a:prstGeom>
        </p:spPr>
      </p:pic>
      <p:sp>
        <p:nvSpPr>
          <p:cNvPr id="12" name="Text 8"/>
          <p:cNvSpPr txBox="1"/>
          <p:nvPr/>
        </p:nvSpPr>
        <p:spPr>
          <a:xfrm>
            <a:off x="8323910" y="91440"/>
            <a:ext cx="3282569"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registers</a:t>
            </a:r>
            <a:pPr indent="0" marL="0">
              <a:buNone/>
            </a:pPr>
            <a:r>
              <a:rPr lang="en-US" sz="1100" b="1" dirty="0">
                <a:solidFill>
                  <a:srgbClr val="6B21A8"/>
                </a:solidFill>
                <a:latin typeface="Calibri" pitchFamily="34" charset="0"/>
                <a:ea typeface="Calibri" pitchFamily="34" charset="-122"/>
                <a:cs typeface="Calibri" pitchFamily="34" charset="-120"/>
              </a:rPr>
              <a:t> → Lecture 02</a:t>
            </a:r>
            <a:endParaRPr lang="en-US" sz="1100" dirty="0"/>
          </a:p>
        </p:txBody>
      </p:sp>
      <p:sp>
        <p:nvSpPr>
          <p:cNvPr id="13" name="Shape 9"/>
          <p:cNvSpPr/>
          <p:nvPr/>
        </p:nvSpPr>
        <p:spPr>
          <a:xfrm>
            <a:off x="5081092" y="91440"/>
            <a:ext cx="2749042" cy="274320"/>
          </a:xfrm>
          <a:prstGeom prst="rect">
            <a:avLst/>
          </a:prstGeom>
          <a:solidFill>
            <a:srgbClr val="FEF3C7"/>
          </a:solidFill>
          <a:ln w="12700">
            <a:solidFill>
              <a:srgbClr val="B45309"/>
            </a:solidFill>
            <a:prstDash val="solid"/>
          </a:ln>
        </p:spPr>
      </p:sp>
      <p:sp>
        <p:nvSpPr>
          <p:cNvPr id="14" name="Shape 10"/>
          <p:cNvSpPr/>
          <p:nvPr/>
        </p:nvSpPr>
        <p:spPr>
          <a:xfrm>
            <a:off x="5081092" y="91440"/>
            <a:ext cx="27432" cy="274320"/>
          </a:xfrm>
          <a:prstGeom prst="rect">
            <a:avLst/>
          </a:prstGeom>
          <a:solidFill>
            <a:srgbClr val="B45309"/>
          </a:solidFill>
          <a:ln w="12700">
            <a:solidFill>
              <a:srgbClr val="B45309"/>
            </a:solidFill>
            <a:prstDash val="solid"/>
          </a:ln>
        </p:spPr>
      </p:sp>
      <p:sp>
        <p:nvSpPr>
          <p:cNvPr id="15" name="Shape 11"/>
          <p:cNvSpPr/>
          <p:nvPr/>
        </p:nvSpPr>
        <p:spPr>
          <a:xfrm>
            <a:off x="5135956" y="91440"/>
            <a:ext cx="27432" cy="274320"/>
          </a:xfrm>
          <a:prstGeom prst="rect">
            <a:avLst/>
          </a:prstGeom>
          <a:solidFill>
            <a:srgbClr val="B45309"/>
          </a:solidFill>
          <a:ln w="12700">
            <a:solidFill>
              <a:srgbClr val="B45309"/>
            </a:solidFill>
            <a:prstDash val="solid"/>
          </a:ln>
        </p:spPr>
      </p:sp>
      <p:pic>
        <p:nvPicPr>
          <p:cNvPr id="16" name="Image 2" descr="preencoded.png">    </p:cNvPr>
          <p:cNvPicPr>
            <a:picLocks noChangeAspect="1"/>
          </p:cNvPicPr>
          <p:nvPr/>
        </p:nvPicPr>
        <p:blipFill>
          <a:blip r:embed="rId3"/>
          <a:stretch>
            <a:fillRect/>
          </a:stretch>
        </p:blipFill>
        <p:spPr>
          <a:xfrm>
            <a:off x="5209108" y="128016"/>
            <a:ext cx="201168" cy="201168"/>
          </a:xfrm>
          <a:prstGeom prst="rect">
            <a:avLst/>
          </a:prstGeom>
        </p:spPr>
      </p:pic>
      <p:sp>
        <p:nvSpPr>
          <p:cNvPr id="17" name="Text 12"/>
          <p:cNvSpPr txBox="1"/>
          <p:nvPr/>
        </p:nvSpPr>
        <p:spPr>
          <a:xfrm>
            <a:off x="5465140" y="91440"/>
            <a:ext cx="232841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PRG32-QT debugger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Level 3: the QEMU emulator</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libraries for the window of the emulator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brew install libgcrypt glib pixman sdl2 libslirp                     </a:t>
            </a:r>
            <a:pPr indent="0" marL="0">
              <a:buNone/>
            </a:pPr>
            <a:r>
              <a:rPr lang="en-US" sz="1250" dirty="0">
                <a:solidFill>
                  <a:srgbClr val="8FB3A0"/>
                </a:solidFill>
                <a:latin typeface="Courier New" pitchFamily="34" charset="0"/>
                <a:ea typeface="Courier New" pitchFamily="34" charset="-122"/>
                <a:cs typeface="Courier New" pitchFamily="34" charset="-120"/>
              </a:rPr>
              <a:t> # macOS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sudo apt install -y libgcrypt20 libglib2.0-0 libpixman-1-0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libsdl2-2.0-0 libslirp0                                          </a:t>
            </a:r>
            <a:pPr indent="0" marL="0">
              <a:buNone/>
            </a:pPr>
            <a:r>
              <a:rPr lang="en-US" sz="1250" dirty="0">
                <a:solidFill>
                  <a:srgbClr val="8FB3A0"/>
                </a:solidFill>
                <a:latin typeface="Courier New" pitchFamily="34" charset="0"/>
                <a:ea typeface="Courier New" pitchFamily="34" charset="-122"/>
                <a:cs typeface="Courier New" pitchFamily="34" charset="-120"/>
              </a:rPr>
              <a:t> # Linux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the emulator itself (Windows: tick it in the ESP-IDF installer)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 $IDF_PATH/tools/idf_tools.py install qemu-riscv32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$IDF_PATH/export.sh</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build the firmware for QEMU, stage a cartridge, run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python3 -m prg32 qemu build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python3 -m prg32 qemu upload pong.prg32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python3 -m prg32 qemu run</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QEMU emulates a whole chip and runs the real firmware</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qemu build compiles the firmware: several minutes</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upload stages the cartridge: close QEMU first</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QEMU opens on Setup: Run Cartridge, cart0. Type in the terminal</a:t>
            </a:r>
            <a:endParaRPr lang="en-US" sz="13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Level 4: the kit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connect the board with a USB cable; ESP-IDF active, in the PRG32 folder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python3 -m prg32 esp32c6 build-and-flash</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the board starts and creates a Wi-Fi network</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name: PRG32     password: prg32game     address: 192.168.4.1</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join it with your laptop, then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python3 -m prg32 esp32c6 upload-and-run pong.prg32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--url http://192.168.4.1 --slot cart0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or let the board join the Wi-Fi of the classroom</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python3 -m prg32 wifi set --ssid "NAME" --password "PASSWORD" --mode sta</a:t>
            </a:r>
            <a:endParaRPr lang="en-US" sz="13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build-and-flash writes the firmware: once per board. It starts on Setup</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After that, games arrive over Wi-Fi: no more cables</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another address</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Linux: your user must be in the group dialout</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l01.S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01: PRG32 and PRG32-QT: Setting Up Your Workshop</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l01.S: a test pattern that proves the installation works</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four vertical bars, red, green, blue and white, and the words PRG32</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OK.</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l01.S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l01 --name l01 --out l01.prg32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BLACK, 0x0000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WHITE, 0xffff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l01_init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l01_update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l01_draw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l01_init: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l01_update: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l01.S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l01_draw: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s0, 0               </a:t>
            </a:r>
            <a:pPr indent="0" marL="0">
              <a:buNone/>
            </a:pPr>
            <a:r>
              <a:rPr lang="en-US" sz="1200" dirty="0">
                <a:solidFill>
                  <a:srgbClr val="8FB3A0"/>
                </a:solidFill>
                <a:latin typeface="Courier New" pitchFamily="34" charset="0"/>
                <a:ea typeface="Courier New" pitchFamily="34" charset="-122"/>
                <a:cs typeface="Courier New" pitchFamily="34" charset="-120"/>
              </a:rPr>
              <a:t># bar number, 0 to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la   t0, bars            </a:t>
            </a:r>
            <a:pPr indent="0" marL="0">
              <a:buNone/>
            </a:pPr>
            <a:r>
              <a:rPr lang="en-US" sz="1200" dirty="0">
                <a:solidFill>
                  <a:srgbClr val="8FB3A0"/>
                </a:solidFill>
                <a:latin typeface="Courier New" pitchFamily="34" charset="0"/>
                <a:ea typeface="Courier New" pitchFamily="34" charset="-122"/>
                <a:cs typeface="Courier New" pitchFamily="34" charset="-120"/>
              </a:rPr>
              <a:t># the table of the four colours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s0, 2           </a:t>
            </a:r>
            <a:pPr indent="0" marL="0">
              <a:buNone/>
            </a:pPr>
            <a:r>
              <a:rPr lang="en-US" sz="1200" dirty="0">
                <a:solidFill>
                  <a:srgbClr val="8FB3A0"/>
                </a:solidFill>
                <a:latin typeface="Courier New" pitchFamily="34" charset="0"/>
                <a:ea typeface="Courier New" pitchFamily="34" charset="-122"/>
                <a:cs typeface="Courier New" pitchFamily="34" charset="-120"/>
              </a:rPr>
              <a:t># 4 bytes per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a4, 0(t0)           </a:t>
            </a:r>
            <a:pPr indent="0" marL="0">
              <a:buNone/>
            </a:pPr>
            <a:r>
              <a:rPr lang="en-US" sz="1200" dirty="0">
                <a:solidFill>
                  <a:srgbClr val="8FB3A0"/>
                </a:solidFill>
                <a:latin typeface="Courier New" pitchFamily="34" charset="0"/>
                <a:ea typeface="Courier New" pitchFamily="34" charset="-122"/>
                <a:cs typeface="Courier New" pitchFamily="34" charset="-120"/>
              </a:rPr>
              <a:t># a4 = colour of bar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a0, s0, 6           </a:t>
            </a:r>
            <a:pPr indent="0" marL="0">
              <a:buNone/>
            </a:pPr>
            <a:r>
              <a:rPr lang="en-US" sz="1200" dirty="0">
                <a:solidFill>
                  <a:srgbClr val="8FB3A0"/>
                </a:solidFill>
                <a:latin typeface="Courier New" pitchFamily="34" charset="0"/>
                <a:ea typeface="Courier New" pitchFamily="34" charset="-122"/>
                <a:cs typeface="Courier New" pitchFamily="34" charset="-120"/>
              </a:rPr>
              <a:t># 64 * bar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40          </a:t>
            </a:r>
            <a:pPr indent="0" marL="0">
              <a:buNone/>
            </a:pPr>
            <a:r>
              <a:rPr lang="en-US" sz="1200" dirty="0">
                <a:solidFill>
                  <a:srgbClr val="8FB3A0"/>
                </a:solidFill>
                <a:latin typeface="Courier New" pitchFamily="34" charset="0"/>
                <a:ea typeface="Courier New" pitchFamily="34" charset="-122"/>
                <a:cs typeface="Courier New" pitchFamily="34" charset="-120"/>
              </a:rPr>
              <a:t># x = 40 + 64 * bar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40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48              </a:t>
            </a:r>
            <a:pPr indent="0" marL="0">
              <a:buNone/>
            </a:pPr>
            <a:r>
              <a:rPr lang="en-US" sz="1200" dirty="0">
                <a:solidFill>
                  <a:srgbClr val="8FB3A0"/>
                </a:solidFill>
                <a:latin typeface="Courier New" pitchFamily="34" charset="0"/>
                <a:ea typeface="Courier New" pitchFamily="34" charset="-122"/>
                <a:cs typeface="Courier New" pitchFamily="34" charset="-120"/>
              </a:rPr>
              <a:t># width</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100             </a:t>
            </a:r>
            <a:pPr indent="0" marL="0">
              <a:buNone/>
            </a:pPr>
            <a:r>
              <a:rPr lang="en-US" sz="1200" dirty="0">
                <a:solidFill>
                  <a:srgbClr val="8FB3A0"/>
                </a:solidFill>
                <a:latin typeface="Courier New" pitchFamily="34" charset="0"/>
                <a:ea typeface="Courier New" pitchFamily="34" charset="-122"/>
                <a:cs typeface="Courier New" pitchFamily="34" charset="-120"/>
              </a:rPr>
              <a:t># height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prg32_gfx_rect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s0, s0,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t0, 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blt  s0, t0, 1b</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124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160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a2, ok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WHITE</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l01.S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a4, BLACK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prg32_gfx_text8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.rodata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bars: .word 0xf800, 0x07e0, 0x001f, 0xffff     </a:t>
            </a:r>
            <a:pPr indent="0" marL="0">
              <a:buNone/>
            </a:pPr>
            <a:r>
              <a:rPr lang="en-US" sz="1800" dirty="0">
                <a:solidFill>
                  <a:srgbClr val="8FB3A0"/>
                </a:solidFill>
                <a:latin typeface="Courier New" pitchFamily="34" charset="0"/>
                <a:ea typeface="Courier New" pitchFamily="34" charset="-122"/>
                <a:cs typeface="Courier New" pitchFamily="34" charset="-120"/>
              </a:rPr>
              <a:t># red, green, blue, white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ok:   .asciz "PRG32 OK"</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four vertical bars, red, green, blue and white, and the words PRG32 OK.</a:t>
            </a:r>
            <a:endParaRPr lang="en-US" sz="2400" dirty="0"/>
          </a:p>
        </p:txBody>
      </p:sp>
      <p:sp>
        <p:nvSpPr>
          <p:cNvPr id="5" name="Shape 3"/>
          <p:cNvSpPr/>
          <p:nvPr/>
        </p:nvSpPr>
        <p:spPr>
          <a:xfrm>
            <a:off x="548640" y="323850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116580"/>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1.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l01 --name l01 --out l01.prg32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l01 --name l01 --architecture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l01 --name l01 --architecture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Before the next lecture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Finish the five checks of the Ready slide on your own laptop</a:t>
            </a:r>
            <a:endParaRPr lang="en-US" sz="2200" dirty="0"/>
          </a:p>
        </p:txBody>
      </p:sp>
      <p:sp>
        <p:nvSpPr>
          <p:cNvPr id="6" name="Text 4"/>
          <p:cNvSpPr txBox="1"/>
          <p:nvPr/>
        </p:nvSpPr>
        <p:spPr>
          <a:xfrm>
            <a:off x="548640" y="20731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05486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Download three cartridges from the Store, and find in each the first instruction of update with the debugger</a:t>
            </a:r>
            <a:endParaRPr lang="en-US" sz="22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Build one of the other examples in examples/games, and run it</a:t>
            </a:r>
            <a:endParaRPr lang="en-US" sz="2200" dirty="0"/>
          </a:p>
        </p:txBody>
      </p:sp>
      <p:sp>
        <p:nvSpPr>
          <p:cNvPr id="10" name="Text 8"/>
          <p:cNvSpPr txBox="1"/>
          <p:nvPr/>
        </p:nvSpPr>
        <p:spPr>
          <a:xfrm>
            <a:off x="548640" y="35910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727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Close everything, restart the computer, and get back to a running cartridge without these slides</a:t>
            </a:r>
            <a:endParaRPr lang="en-US" sz="2200" dirty="0"/>
          </a:p>
        </p:txBody>
      </p:sp>
      <p:sp>
        <p:nvSpPr>
          <p:cNvPr id="12" name="Text 10"/>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Optional: install QEMU and run the same cartridge there</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Your workshop survives a restart, and you can open it without help.</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PRG32 and PRG32-QT: Setting Up Your Workshop: the code</dc:title>
  <dc:subject>Lecture 01</dc:subject>
  <dc:creator>Raffaele Montella</dc:creator>
  <cp:lastModifiedBy>Raffaele Montella</cp:lastModifiedBy>
  <cp:revision>1</cp:revision>
  <dcterms:created xsi:type="dcterms:W3CDTF">2026-10-16T23:36:42Z</dcterms:created>
  <dcterms:modified xsi:type="dcterms:W3CDTF">2026-10-16T23:36:42Z</dcterms:modified>
</cp:coreProperties>
</file>