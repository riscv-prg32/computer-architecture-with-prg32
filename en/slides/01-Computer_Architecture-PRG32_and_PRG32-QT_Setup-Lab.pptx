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fabcdb-5393-c5bc-c74b-30fef51fed7a}">
          <p14:sldIdLst>
            <p14:sldId id="256"/>
            <p14:sldId id="257"/>
          </p14:sldIdLst>
        </p14:section>
        <p14:section name="Step 1: install PRG32-QT" id="{ac5bf12e-200a-3865-5c6d-9236bf367c3d}">
          <p14:sldIdLst>
            <p14:sldId id="258"/>
            <p14:sldId id="259"/>
            <p14:sldId id="260"/>
            <p14:sldId id="261"/>
            <p14:sldId id="262"/>
            <p14:sldId id="263"/>
          </p14:sldIdLst>
        </p14:section>
        <p14:section name="Step 2: install the toolchain" id="{0a1a4287-2248-4997-6b2c-a862c31c0bc2}">
          <p14:sldIdLst>
            <p14:sldId id="264"/>
            <p14:sldId id="265"/>
            <p14:sldId id="266"/>
            <p14:sldId id="267"/>
            <p14:sldId id="268"/>
          </p14:sldIdLst>
        </p14:section>
        <p14:section name="Step 3: your first build" id="{70ec6ba2-9dc0-3bf8-f554-25219a885774}">
          <p14:sldIdLst>
            <p14:sldId id="269"/>
            <p14:sldId id="270"/>
            <p14:sldId id="271"/>
            <p14:sldId id="272"/>
          </p14:sldIdLst>
        </p14:section>
        <p14:section name="Optional: QEMU and the kit" id="{6f2aaa1c-dec7-81e5-90d1-db6fec97bd01}">
          <p14:sldIdLst>
            <p14:sldId id="273"/>
            <p14:sldId id="274"/>
          </p14:sldIdLst>
        </p14:section>
        <p14:section name="The complete program" id="{1e1b160e-2370-82f5-f4ec-f6906dd8d274}">
          <p14:sldIdLst>
            <p14:sldId id="275"/>
            <p14:sldId id="276"/>
            <p14:sldId id="277"/>
          </p14:sldIdLst>
        </p14:section>
        <p14:section name="Run it and test it" id="{5e0cace4-b16e-0f4a-ae0e-a32333d6507a}">
          <p14:sldIdLst>
            <p14:sldId id="278"/>
            <p14:sldId id="279"/>
            <p14:sldId id="280"/>
            <p14:sldId id="281"/>
            <p14:sldId id="282"/>
          </p14:sldIdLst>
        </p14:section>
        <p14:section name="Exercises" id="{656f5cc4-55bd-33b7-2e1a-20c8f1e1b51f}">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~/arc12/code/l01.S; tools/tests/cartridges/run.py builds it, runs it on PRG32-QT with scripted input and checks the pixels of the frame.
For the lecturer: Get the code once: git clone https://github.com/riscv-prg32/computer-architecture-with-prg32 ~/arc12. The program of this lecture is ~/arc12/code/l01.S;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locates the row corresponding to their operating system and downloads that file from the Releases page of the PRG32-QT repository, always choosing the latest release. Windows is served by an installer, macOS by a disk image (one for Apple Silicon and one for Intel processors), Linux and Raspberry Pi OS by a Debian package. The version number 0.4.1 is that of October 2026; it may since have increased, but file names follow the same pattern. The slide on macOS explains how to determine which processor a Mac contains.
USE NOW: the PRG32 tools (used, not studied, in this course).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installation consists of four actions: download the Setup file, run it, accept the proposed folder, and start PRG32 from the Start menu. Two warnings may appear, and both are expected. SmartScreen may display a blue dialogue because the installer does not come from the Microsoft Store; the remedy is More info, then Run anyway. The firewall may request permission, which should be granted for private networks: PRG32-QT listens on port 8080 to receive cartridges from the tools, a facility used in step 3.
USE NOW: the PRG32 tools (used, not studied, in this course).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the first task is to identify the processor, from the Apple menu, About This Mac: "Chip Apple M..." calls for the ARM64 image, "Processor Intel" for the Intel one. The disk image is opened and PRG32 dragged onto Applications. On first launch macOS may refuse to open an application not distributed through the App Store; it can be opened with a right-click and Open, or authorised under Privacy and Security in System Settings. Incoming connections and access to the local network must then be accepted, since the application needs them to receive cartridges.
USE NOW: the PRG32 tools (used, not studied, in this course).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preceding the file name installs that file together with its dependencies, and the program is then available as /usr/bin/PRG32. The requirement to verify is Qt 6.5 or later, which Debian 13 and Ubuntu 25.04 satisfy and Ubuntu 24.04 does not. The lower half is the alternative for older systems: building from source with the script provided in the repository. Lines beginning with # are comments and are not to be typed.
USE NOW: the PRG32 tools (used, not studied, in this course).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execution. On starting PRG32-QT the Setup screen appears, identical to the one the firmware shows on the kit. Selecting Browse Store, choosing a game, downloading it and choosing Run Cartridge runs it; the arrow keys, Z and X control the game, and Escape returns to Setup. The three profiles under Settings should then be examined. The green box defines success: a game from the Store runs on the student's laptop. An empty catalogue indicates a network problem, not a fault of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that should now have been seen: the Setup menu, the Store browser and Settings. They are identical on every operating system. If the student's screen matches, level 1 is complete, and any cartridge can henceforth be run and inspected. If it does not, the moment to ask is now rather than later, while the installation is still fresh.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Python, and the ESP-IDF Tools Installer, in which a release 5.4 or later and the targets esp32c3 and esp32c6 are selected. The installer creates a shortcut named ESP-IDF PowerShell; all work must be done in that window and never in a plain terminal, because only there is the environment activated. The five commands that follow clone the PRG32 repository, install two Python packages and run the doctor. On Windows the interpreter is invoked as python, not python3.
USE NOW: the PRG32 tools (used, not studied, in this course).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 procedure has three blocks. Homebrew installs the prerequisites. ESP-IDF is then cloned, and install.sh downloads the compilers for the two chips; this is the lengthy part. The line . ./export.sh begins with a dot followed by a space, and the dot is significant: it causes the script to modify the current shell, rather than a child process whose changes would vanish on exit. The final block clones PRG32 and runs the doctor. The same commands work on Apple Silicon and on Intel machines.
USE NOW: the PRG32 tools (used, not studied, in this course).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a single long apt command, split across three lines by backslashes, and must be copied in full. Steps 2 and 3 are identical to those for macOS. Other distributions provide the same packages under different names. The last callout concerns only owners of a kit: to reach the board's serial port the user must belong to the group dialout, and the change takes effect only after logging out and in again.
USE NOW: the PRG32 tools (used, not studied, in this course).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describes the daily routine and forestalls the most common error of the first weeks. In every new terminal, before anything else, ESP-IDF is activated with export.sh and the working directory set to the PRG32 folder. Two aliases reduce typing: get_idf performs the activation, and prg abbreviates python3 -m prg32. On Windows, opening ESP-IDF PowerShell achieves the same. The error is worth provoking once on purpose, by running the doctor in a fresh terminal without activation: having seen the message here, one recognises it immediately thereafter.
USE NOW: the PRG32 tools (used, not studied, in this course).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verifies the installation and prints one line per check. [OK] idf.py found confirms that ESP-IDF is active; [OK] riscv32-esp-elf-gcc found that the RISC-V compiler is reachable; the lines concerning partitions that the PRG32 folder is complete. A line beginning with [ERROR] states what is wrong and how to correct it, and should be read to the end before help is sought. When every line reports OK, level 2 is complete. The final lines of the listing show the error produced in a terminal in which ESP-IDF has not been activated.
USE NOW: the PRG32 tools (used, not studied, in this course).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produces a .prg32 file. Three options merit understanding. --entry-prefix pong_c is the name that precedes _init, _update and _draw in the source, and thus identifies the three entry points. --portable produces a cartridge that runs on every host rather than on a single firmware image. --out names the output file. The tool reports the size of the code: a complete game of Pong occupies about three thousand bytes. The source is a C example from the repository, chosen so that the compiler can be tested before any program has been written.
USE NOW: the PRG32 tools (used, not studied, in this course). UNDERSTAND LATER: the init, update, draw contract (studied in Lecture 02).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queries its state; a reply confirms that the connection works. The second, upload-and-run, stores the cartridge in slot cart0 and starts it, and the game appears in the PRG32-QT window. The command names the esp32c6 because, from the tool's point of view, PRG32-QT behaves as a board listening on port 8080. The same command, addressed to http://192.168.4.1, sends the game to a physical board. Without the tools, the file can also be imported from the PRG32-QT menu.
USE NOW: the PRG32 tools (used, not studied, in this course).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is now opened. In Settings, Run cartridges in RISC-V debug mode is enabled and the cartridge run again: the game appears on the left, the machine on the right. Pausing highlights one instruction, the next to be executed. Stepping a few times moves the highlight and changes some registers. Update and Draw jump to those two functions of the cartridge. Execution is then resumed and the speed lowered, to watch the game in slow motion. The registers are not expected to be understood today; the objective is to establish that the debugger opens and responds.
USE NOW: the PRG32-QT debugger (used, not studied, in this course). UNDERSTAND LATER: registers (studied in Lecture 02).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view: on the right, the assembly listing with the current instruction highlighted, the thirty-two registers, a window onto memory, and the per-frame counters. Every element of this picture will be explained in the coming lectures, beginning with the registers in Lecture 02. A student who sees this screen with a cartridge of their own making has completed the workshop.
USE NOW: the PRG32-QT debugger (used, not studied, in this course). UNDERSTAND LATER: registers (studied in Lecture 02).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comprises three parts: the libraries the emulator needs for its window, the emulator itself, and three commands of the tool. qemu build compiles the entire firmware, which takes several minutes the first time. qemu upload stages a cartridge into the flash image, and requires QEMU to be closed. qemu run starts the emulator, which opens on the Setup menu, from which Run Cartridge and then cart0 are chosen. Keystrokes, once again, go to the terminal rather than to the window with the image.
USE NOW: the PRG32 tools (used, not studied, in this course).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physical board. With the board connected by USB, build-and-flash compiles the firmware and writes it into the chip, an operation performed once per board. The board then starts on its Setup menu and creates a Wi-Fi network named PRG32. Once the laptop has joined that network, the familiar upload command works with the address 192.168.4.1, and no cable is needed thereafter. The last command makes the board join an existing network instead. On Linux the user must belong to the group dialout.
USE NOW: the PRG32 tools (used, not studied, in this course).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for the next lecture. The five checks are to be completed. Three cartridges are to be downloaded from the Store and, in each, the first instruction of update located with the debugger. A further example is to be built. The fourth task is the genuine test: close everything, restart the computer, and return to a running cartridge without consulting these slides. A student who succeeds has internalised the activation procedure, and the workshop is truly theirs.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10 listings of Lecture 01,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code/l01.S, 57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5" name="Shape 2"/>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3"/>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4"/>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5"/>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17" name="Shape 15"/>
          <p:cNvSpPr/>
          <p:nvPr/>
        </p:nvSpPr>
        <p:spPr>
          <a:xfrm>
            <a:off x="6495364" y="91440"/>
            <a:ext cx="5147691" cy="274320"/>
          </a:xfrm>
          <a:prstGeom prst="rect">
            <a:avLst/>
          </a:prstGeom>
          <a:solidFill>
            <a:srgbClr val="F3E8FF"/>
          </a:solidFill>
          <a:ln w="12700">
            <a:solidFill>
              <a:srgbClr val="7E22CE"/>
            </a:solidFill>
            <a:prstDash val="dash"/>
          </a:ln>
        </p:spPr>
      </p:sp>
      <p:sp>
        <p:nvSpPr>
          <p:cNvPr id="18" name="Shape 16"/>
          <p:cNvSpPr/>
          <p:nvPr/>
        </p:nvSpPr>
        <p:spPr>
          <a:xfrm>
            <a:off x="6522796" y="128016"/>
            <a:ext cx="45720" cy="45720"/>
          </a:xfrm>
          <a:prstGeom prst="rect">
            <a:avLst/>
          </a:prstGeom>
          <a:solidFill>
            <a:srgbClr val="7E22CE"/>
          </a:solidFill>
          <a:ln w="12700">
            <a:solidFill>
              <a:srgbClr val="7E22CE"/>
            </a:solidFill>
            <a:prstDash val="solid"/>
          </a:ln>
        </p:spPr>
      </p:sp>
      <p:sp>
        <p:nvSpPr>
          <p:cNvPr id="19" name="Shape 17"/>
          <p:cNvSpPr/>
          <p:nvPr/>
        </p:nvSpPr>
        <p:spPr>
          <a:xfrm>
            <a:off x="6522796" y="205740"/>
            <a:ext cx="45720" cy="45720"/>
          </a:xfrm>
          <a:prstGeom prst="rect">
            <a:avLst/>
          </a:prstGeom>
          <a:solidFill>
            <a:srgbClr val="7E22CE"/>
          </a:solidFill>
          <a:ln w="12700">
            <a:solidFill>
              <a:srgbClr val="7E22CE"/>
            </a:solidFill>
            <a:prstDash val="solid"/>
          </a:ln>
        </p:spPr>
      </p:sp>
      <p:sp>
        <p:nvSpPr>
          <p:cNvPr id="20" name="Shape 18"/>
          <p:cNvSpPr/>
          <p:nvPr/>
        </p:nvSpPr>
        <p:spPr>
          <a:xfrm>
            <a:off x="6522796"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623380" y="128016"/>
            <a:ext cx="201168" cy="201168"/>
          </a:xfrm>
          <a:prstGeom prst="rect">
            <a:avLst/>
          </a:prstGeom>
        </p:spPr>
      </p:pic>
      <p:sp>
        <p:nvSpPr>
          <p:cNvPr id="22" name="Text 19"/>
          <p:cNvSpPr txBox="1"/>
          <p:nvPr/>
        </p:nvSpPr>
        <p:spPr>
          <a:xfrm>
            <a:off x="6879412" y="91440"/>
            <a:ext cx="47270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init, update, draw contract</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3" name="Shape 20"/>
          <p:cNvSpPr/>
          <p:nvPr/>
        </p:nvSpPr>
        <p:spPr>
          <a:xfrm>
            <a:off x="4030548" y="91440"/>
            <a:ext cx="2355088" cy="274320"/>
          </a:xfrm>
          <a:prstGeom prst="rect">
            <a:avLst/>
          </a:prstGeom>
          <a:solidFill>
            <a:srgbClr val="FEF3C7"/>
          </a:solidFill>
          <a:ln w="12700">
            <a:solidFill>
              <a:srgbClr val="B45309"/>
            </a:solidFill>
            <a:prstDash val="solid"/>
          </a:ln>
        </p:spPr>
      </p:sp>
      <p:sp>
        <p:nvSpPr>
          <p:cNvPr id="24" name="Shape 21"/>
          <p:cNvSpPr/>
          <p:nvPr/>
        </p:nvSpPr>
        <p:spPr>
          <a:xfrm>
            <a:off x="4030548" y="91440"/>
            <a:ext cx="27432" cy="274320"/>
          </a:xfrm>
          <a:prstGeom prst="rect">
            <a:avLst/>
          </a:prstGeom>
          <a:solidFill>
            <a:srgbClr val="B45309"/>
          </a:solidFill>
          <a:ln w="12700">
            <a:solidFill>
              <a:srgbClr val="B45309"/>
            </a:solidFill>
            <a:prstDash val="solid"/>
          </a:ln>
        </p:spPr>
      </p:sp>
      <p:sp>
        <p:nvSpPr>
          <p:cNvPr id="25" name="Shape 22"/>
          <p:cNvSpPr/>
          <p:nvPr/>
        </p:nvSpPr>
        <p:spPr>
          <a:xfrm>
            <a:off x="4085412" y="91440"/>
            <a:ext cx="27432" cy="274320"/>
          </a:xfrm>
          <a:prstGeom prst="rect">
            <a:avLst/>
          </a:prstGeom>
          <a:solidFill>
            <a:srgbClr val="B45309"/>
          </a:solidFill>
          <a:ln w="12700">
            <a:solidFill>
              <a:srgbClr val="B45309"/>
            </a:solidFill>
            <a:prstDash val="solid"/>
          </a:ln>
        </p:spPr>
      </p:sp>
      <p:pic>
        <p:nvPicPr>
          <p:cNvPr id="26" name="Image 1" descr="preencoded.png">    </p:cNvPr>
          <p:cNvPicPr>
            <a:picLocks noChangeAspect="1"/>
          </p:cNvPicPr>
          <p:nvPr/>
        </p:nvPicPr>
        <p:blipFill>
          <a:blip r:embed="rId2"/>
          <a:stretch>
            <a:fillRect/>
          </a:stretch>
        </p:blipFill>
        <p:spPr>
          <a:xfrm>
            <a:off x="4158564" y="128016"/>
            <a:ext cx="201168" cy="201168"/>
          </a:xfrm>
          <a:prstGeom prst="rect">
            <a:avLst/>
          </a:prstGeom>
        </p:spPr>
      </p:pic>
      <p:sp>
        <p:nvSpPr>
          <p:cNvPr id="27" name="Text 23"/>
          <p:cNvSpPr txBox="1"/>
          <p:nvPr/>
        </p:nvSpPr>
        <p:spPr>
          <a:xfrm>
            <a:off x="4414596"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15" name="Shape 13"/>
          <p:cNvSpPr/>
          <p:nvPr/>
        </p:nvSpPr>
        <p:spPr>
          <a:xfrm>
            <a:off x="7939862" y="91440"/>
            <a:ext cx="3703193" cy="274320"/>
          </a:xfrm>
          <a:prstGeom prst="rect">
            <a:avLst/>
          </a:prstGeom>
          <a:solidFill>
            <a:srgbClr val="F3E8FF"/>
          </a:solidFill>
          <a:ln w="12700">
            <a:solidFill>
              <a:srgbClr val="7E22CE"/>
            </a:solidFill>
            <a:prstDash val="dash"/>
          </a:ln>
        </p:spPr>
      </p:sp>
      <p:sp>
        <p:nvSpPr>
          <p:cNvPr id="16" name="Shape 14"/>
          <p:cNvSpPr/>
          <p:nvPr/>
        </p:nvSpPr>
        <p:spPr>
          <a:xfrm>
            <a:off x="7967294" y="128016"/>
            <a:ext cx="45720" cy="45720"/>
          </a:xfrm>
          <a:prstGeom prst="rect">
            <a:avLst/>
          </a:prstGeom>
          <a:solidFill>
            <a:srgbClr val="7E22CE"/>
          </a:solidFill>
          <a:ln w="12700">
            <a:solidFill>
              <a:srgbClr val="7E22CE"/>
            </a:solidFill>
            <a:prstDash val="solid"/>
          </a:ln>
        </p:spPr>
      </p:sp>
      <p:sp>
        <p:nvSpPr>
          <p:cNvPr id="17" name="Shape 15"/>
          <p:cNvSpPr/>
          <p:nvPr/>
        </p:nvSpPr>
        <p:spPr>
          <a:xfrm>
            <a:off x="7967294" y="205740"/>
            <a:ext cx="45720" cy="45720"/>
          </a:xfrm>
          <a:prstGeom prst="rect">
            <a:avLst/>
          </a:prstGeom>
          <a:solidFill>
            <a:srgbClr val="7E22CE"/>
          </a:solidFill>
          <a:ln w="12700">
            <a:solidFill>
              <a:srgbClr val="7E22CE"/>
            </a:solidFill>
            <a:prstDash val="solid"/>
          </a:ln>
        </p:spPr>
      </p:sp>
      <p:sp>
        <p:nvSpPr>
          <p:cNvPr id="18" name="Shape 16"/>
          <p:cNvSpPr/>
          <p:nvPr/>
        </p:nvSpPr>
        <p:spPr>
          <a:xfrm>
            <a:off x="7967294" y="283464"/>
            <a:ext cx="45720" cy="45720"/>
          </a:xfrm>
          <a:prstGeom prst="rect">
            <a:avLst/>
          </a:prstGeom>
          <a:solidFill>
            <a:srgbClr val="7E22CE"/>
          </a:solidFill>
          <a:ln w="12700">
            <a:solidFill>
              <a:srgbClr val="7E22CE"/>
            </a:solidFill>
            <a:prstDash val="solid"/>
          </a:ln>
        </p:spPr>
      </p:sp>
      <p:pic>
        <p:nvPicPr>
          <p:cNvPr id="19"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0" name="Text 17"/>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1" name="Shape 18"/>
          <p:cNvSpPr/>
          <p:nvPr/>
        </p:nvSpPr>
        <p:spPr>
          <a:xfrm>
            <a:off x="5081092" y="91440"/>
            <a:ext cx="2749042" cy="274320"/>
          </a:xfrm>
          <a:prstGeom prst="rect">
            <a:avLst/>
          </a:prstGeom>
          <a:solidFill>
            <a:srgbClr val="FEF3C7"/>
          </a:solidFill>
          <a:ln w="12700">
            <a:solidFill>
              <a:srgbClr val="B45309"/>
            </a:solidFill>
            <a:prstDash val="solid"/>
          </a:ln>
        </p:spPr>
      </p:sp>
      <p:sp>
        <p:nvSpPr>
          <p:cNvPr id="22" name="Shape 19"/>
          <p:cNvSpPr/>
          <p:nvPr/>
        </p:nvSpPr>
        <p:spPr>
          <a:xfrm>
            <a:off x="5081092" y="91440"/>
            <a:ext cx="27432" cy="274320"/>
          </a:xfrm>
          <a:prstGeom prst="rect">
            <a:avLst/>
          </a:prstGeom>
          <a:solidFill>
            <a:srgbClr val="B45309"/>
          </a:solidFill>
          <a:ln w="12700">
            <a:solidFill>
              <a:srgbClr val="B45309"/>
            </a:solidFill>
            <a:prstDash val="solid"/>
          </a:ln>
        </p:spPr>
      </p:sp>
      <p:sp>
        <p:nvSpPr>
          <p:cNvPr id="23" name="Shape 20"/>
          <p:cNvSpPr/>
          <p:nvPr/>
        </p:nvSpPr>
        <p:spPr>
          <a:xfrm>
            <a:off x="5135956" y="91440"/>
            <a:ext cx="27432" cy="274320"/>
          </a:xfrm>
          <a:prstGeom prst="rect">
            <a:avLst/>
          </a:prstGeom>
          <a:solidFill>
            <a:srgbClr val="B45309"/>
          </a:solidFill>
          <a:ln w="12700">
            <a:solidFill>
              <a:srgbClr val="B45309"/>
            </a:solidFill>
            <a:prstDash val="solid"/>
          </a:ln>
        </p:spPr>
      </p:sp>
      <p:pic>
        <p:nvPicPr>
          <p:cNvPr id="24" name="Image 1" descr="preencoded.png">    </p:cNvPr>
          <p:cNvPicPr>
            <a:picLocks noChangeAspect="1"/>
          </p:cNvPicPr>
          <p:nvPr/>
        </p:nvPicPr>
        <p:blipFill>
          <a:blip r:embed="rId2"/>
          <a:stretch>
            <a:fillRect/>
          </a:stretch>
        </p:blipFill>
        <p:spPr>
          <a:xfrm>
            <a:off x="5209108" y="128016"/>
            <a:ext cx="201168" cy="201168"/>
          </a:xfrm>
          <a:prstGeom prst="rect">
            <a:avLst/>
          </a:prstGeom>
        </p:spPr>
      </p:pic>
      <p:sp>
        <p:nvSpPr>
          <p:cNvPr id="25" name="Text 21"/>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7" name="Shape 4"/>
          <p:cNvSpPr/>
          <p:nvPr/>
        </p:nvSpPr>
        <p:spPr>
          <a:xfrm>
            <a:off x="7939862" y="91440"/>
            <a:ext cx="3703193" cy="274320"/>
          </a:xfrm>
          <a:prstGeom prst="rect">
            <a:avLst/>
          </a:prstGeom>
          <a:solidFill>
            <a:srgbClr val="F3E8FF"/>
          </a:solidFill>
          <a:ln w="12700">
            <a:solidFill>
              <a:srgbClr val="7E22CE"/>
            </a:solidFill>
            <a:prstDash val="dash"/>
          </a:ln>
        </p:spPr>
      </p:sp>
      <p:sp>
        <p:nvSpPr>
          <p:cNvPr id="8" name="Shape 5"/>
          <p:cNvSpPr/>
          <p:nvPr/>
        </p:nvSpPr>
        <p:spPr>
          <a:xfrm>
            <a:off x="7967294" y="128016"/>
            <a:ext cx="45720" cy="45720"/>
          </a:xfrm>
          <a:prstGeom prst="rect">
            <a:avLst/>
          </a:prstGeom>
          <a:solidFill>
            <a:srgbClr val="7E22CE"/>
          </a:solidFill>
          <a:ln w="12700">
            <a:solidFill>
              <a:srgbClr val="7E22CE"/>
            </a:solidFill>
            <a:prstDash val="solid"/>
          </a:ln>
        </p:spPr>
      </p:sp>
      <p:sp>
        <p:nvSpPr>
          <p:cNvPr id="9" name="Shape 6"/>
          <p:cNvSpPr/>
          <p:nvPr/>
        </p:nvSpPr>
        <p:spPr>
          <a:xfrm>
            <a:off x="7967294" y="205740"/>
            <a:ext cx="45720" cy="45720"/>
          </a:xfrm>
          <a:prstGeom prst="rect">
            <a:avLst/>
          </a:prstGeom>
          <a:solidFill>
            <a:srgbClr val="7E22CE"/>
          </a:solidFill>
          <a:ln w="12700">
            <a:solidFill>
              <a:srgbClr val="7E22CE"/>
            </a:solidFill>
            <a:prstDash val="solid"/>
          </a:ln>
        </p:spPr>
      </p:sp>
      <p:sp>
        <p:nvSpPr>
          <p:cNvPr id="10" name="Shape 7"/>
          <p:cNvSpPr/>
          <p:nvPr/>
        </p:nvSpPr>
        <p:spPr>
          <a:xfrm>
            <a:off x="7967294" y="283464"/>
            <a:ext cx="45720" cy="45720"/>
          </a:xfrm>
          <a:prstGeom prst="rect">
            <a:avLst/>
          </a:prstGeom>
          <a:solidFill>
            <a:srgbClr val="7E22CE"/>
          </a:solidFill>
          <a:ln w="12700">
            <a:solidFill>
              <a:srgbClr val="7E22CE"/>
            </a:solidFill>
            <a:prstDash val="solid"/>
          </a:ln>
        </p:spPr>
      </p:sp>
      <p:pic>
        <p:nvPicPr>
          <p:cNvPr id="11" name="Image 1" descr="preencoded.png">    </p:cNvPr>
          <p:cNvPicPr>
            <a:picLocks noChangeAspect="1"/>
          </p:cNvPicPr>
          <p:nvPr/>
        </p:nvPicPr>
        <p:blipFill>
          <a:blip r:embed="rId2"/>
          <a:stretch>
            <a:fillRect/>
          </a:stretch>
        </p:blipFill>
        <p:spPr>
          <a:xfrm>
            <a:off x="8067878" y="128016"/>
            <a:ext cx="201168" cy="201168"/>
          </a:xfrm>
          <a:prstGeom prst="rect">
            <a:avLst/>
          </a:prstGeom>
        </p:spPr>
      </p:pic>
      <p:sp>
        <p:nvSpPr>
          <p:cNvPr id="12" name="Text 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13" name="Shape 9"/>
          <p:cNvSpPr/>
          <p:nvPr/>
        </p:nvSpPr>
        <p:spPr>
          <a:xfrm>
            <a:off x="5081092" y="91440"/>
            <a:ext cx="2749042" cy="274320"/>
          </a:xfrm>
          <a:prstGeom prst="rect">
            <a:avLst/>
          </a:prstGeom>
          <a:solidFill>
            <a:srgbClr val="FEF3C7"/>
          </a:solidFill>
          <a:ln w="12700">
            <a:solidFill>
              <a:srgbClr val="B45309"/>
            </a:solidFill>
            <a:prstDash val="solid"/>
          </a:ln>
        </p:spPr>
      </p:sp>
      <p:sp>
        <p:nvSpPr>
          <p:cNvPr id="14" name="Shape 10"/>
          <p:cNvSpPr/>
          <p:nvPr/>
        </p:nvSpPr>
        <p:spPr>
          <a:xfrm>
            <a:off x="5081092" y="91440"/>
            <a:ext cx="27432" cy="274320"/>
          </a:xfrm>
          <a:prstGeom prst="rect">
            <a:avLst/>
          </a:prstGeom>
          <a:solidFill>
            <a:srgbClr val="B45309"/>
          </a:solidFill>
          <a:ln w="12700">
            <a:solidFill>
              <a:srgbClr val="B45309"/>
            </a:solidFill>
            <a:prstDash val="solid"/>
          </a:ln>
        </p:spPr>
      </p:sp>
      <p:sp>
        <p:nvSpPr>
          <p:cNvPr id="15" name="Shape 11"/>
          <p:cNvSpPr/>
          <p:nvPr/>
        </p:nvSpPr>
        <p:spPr>
          <a:xfrm>
            <a:off x="5135956" y="91440"/>
            <a:ext cx="27432" cy="274320"/>
          </a:xfrm>
          <a:prstGeom prst="rect">
            <a:avLst/>
          </a:prstGeom>
          <a:solidFill>
            <a:srgbClr val="B45309"/>
          </a:solidFill>
          <a:ln w="12700">
            <a:solidFill>
              <a:srgbClr val="B45309"/>
            </a:solidFill>
            <a:prstDash val="solid"/>
          </a:ln>
        </p:spPr>
      </p:sp>
      <p:pic>
        <p:nvPicPr>
          <p:cNvPr id="16" name="Image 2" descr="preencoded.png">    </p:cNvPr>
          <p:cNvPicPr>
            <a:picLocks noChangeAspect="1"/>
          </p:cNvPicPr>
          <p:nvPr/>
        </p:nvPicPr>
        <p:blipFill>
          <a:blip r:embed="rId3"/>
          <a:stretch>
            <a:fillRect/>
          </a:stretch>
        </p:blipFill>
        <p:spPr>
          <a:xfrm>
            <a:off x="5209108" y="128016"/>
            <a:ext cx="201168" cy="201168"/>
          </a:xfrm>
          <a:prstGeom prst="rect">
            <a:avLst/>
          </a:prstGeom>
        </p:spPr>
      </p:pic>
      <p:sp>
        <p:nvSpPr>
          <p:cNvPr id="17" name="Text 12"/>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vertical bars, red, green, blue and white, and the words PRG32 OK.</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 the code</dc:title>
  <dc:subject>Lecture 01</dc:subject>
  <dc:creator>Raffaele Montella</dc:creator>
  <cp:lastModifiedBy>Raffaele Montella</cp:lastModifiedBy>
  <cp:revision>1</cp:revision>
  <dcterms:created xsi:type="dcterms:W3CDTF">2026-10-16T20:22:23Z</dcterms:created>
  <dcterms:modified xsi:type="dcterms:W3CDTF">2026-10-16T20:22:23Z</dcterms:modified>
</cp:coreProperties>
</file>