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00f785-db41-103d-4c39-f6ff8f325fbb}">
          <p14:sldIdLst>
            <p14:sldId id="256"/>
            <p14:sldId id="257"/>
          </p14:sldIdLst>
        </p14:section>
        <p14:section name="The listings" id="{ded45d0f-eeb7-3b61-846b-2acdca27fa04}">
          <p14:sldIdLst>
            <p14:sldId id="258"/>
            <p14:sldId id="259"/>
          </p14:sldIdLst>
        </p14:section>
        <p14:section name="The complete program" id="{a9a34303-e966-09c9-528d-49ecf34c4611}">
          <p14:sldIdLst>
            <p14:sldId id="260"/>
            <p14:sldId id="261"/>
            <p14:sldId id="262"/>
            <p14:sldId id="263"/>
            <p14:sldId id="264"/>
            <p14:sldId id="265"/>
          </p14:sldIdLst>
        </p14:section>
        <p14:section name="Run it and test it" id="{0bb14746-0b61-09e2-6332-e31d29e0e4f2}">
          <p14:sldIdLst>
            <p14:sldId id="266"/>
            <p14:sldId id="267"/>
            <p14:sldId id="268"/>
            <p14:sldId id="269"/>
            <p14:sldId id="270"/>
          </p14:sldIdLst>
        </p14:section>
        <p14:section name="Exercises" id="{d88a94fb-8952-c64d-368b-08662c55b54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09.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~/arc12/code/l09.S; tools/tests/cartridges/run.py builds it, runs it on PRG32-QT with scripted input and checks the pixels of the frame.
For the lecturer: Get the code once: git clone https://github.com/riscv-prg32/computer-architecture-with-prg32 ~/arc12. The program of this lecture is ~/arc12/code/l09.S;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two bits can be 0, 1 or 2, so the result needs two bits. xor gives the low bit, which is 1 when the two inputs differ; and gives the high bit, the carry, which is 1 only when both are 1. The comment under the code is a truth table with two outputs: check its four rows. This pair of gates has a name, the half adder. The last callout states the problem of the day: here the gates were given; how do you find them when only the table is known?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an or for the carry out. The program is the schematic, read from left to right. It lets you practise both problems of Lecture 08. Analysis: single-step it in PRG32-QT for the eight input combinations and fill in the truth table. Synthesis: derive these gates from the table. With whole registers as inputs, the same five lines work on all thirty-two bit positions at once.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carry out with a map of three variables and count the gates saved. Minimise a function of four variables given as a list of minterms: remember the corners. Build NOT, AND and OR using only NAND gates and check each with a truth table. Then program the full adder on PRG32 and show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code/l09.S,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09: Elements of Boolean Algebra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l09.S: a full adder, one gate per instruction, on its eight input combinations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eight rows, one per combination of A, B and Cin (000 at the top):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three lamps for the inputs on the left, then S and Cout on the right. It is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truth table of the full adder.</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l09.S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l09 --name l09 --out l09.prg32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CYAN,   0x07ff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E6EDF2"/>
                </a:solidFill>
                <a:latin typeface="Courier New" pitchFamily="34" charset="0"/>
                <a:ea typeface="Courier New" pitchFamily="34" charset="-122"/>
                <a:cs typeface="Courier New" pitchFamily="34" charset="-120"/>
              </a:rPr>
              <a:t>l09_update:</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8FB3A0"/>
                </a:solidFill>
                <a:latin typeface="Courier New" pitchFamily="34" charset="0"/>
                <a:ea typeface="Courier New" pitchFamily="34" charset="-122"/>
                <a:cs typeface="Courier New" pitchFamily="34" charset="-120"/>
              </a:rPr>
              <a:t># full_adder: a0 = A, a1 = B, a2 = Cin (each 0 or 1); result: a3 = S, a4 = Cout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full_adder:</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t0, a0, a1      </a:t>
            </a:r>
            <a:pPr indent="0" marL="0">
              <a:buNone/>
            </a:pPr>
            <a:r>
              <a:rPr lang="en-US" sz="1700" dirty="0">
                <a:solidFill>
                  <a:srgbClr val="8FB3A0"/>
                </a:solidFill>
                <a:latin typeface="Courier New" pitchFamily="34" charset="0"/>
                <a:ea typeface="Courier New" pitchFamily="34" charset="-122"/>
                <a:cs typeface="Courier New" pitchFamily="34" charset="-120"/>
              </a:rPr>
              <a:t># t0   = A xor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a3, t0, a2      </a:t>
            </a:r>
            <a:pPr indent="0" marL="0">
              <a:buNone/>
            </a:pPr>
            <a:r>
              <a:rPr lang="en-US" sz="1700" dirty="0">
                <a:solidFill>
                  <a:srgbClr val="8FB3A0"/>
                </a:solidFill>
                <a:latin typeface="Courier New" pitchFamily="34" charset="0"/>
                <a:ea typeface="Courier New" pitchFamily="34" charset="-122"/>
                <a:cs typeface="Courier New" pitchFamily="34" charset="-120"/>
              </a:rPr>
              <a:t># S    = A xor B xor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t1, a0, a1      </a:t>
            </a:r>
            <a:pPr indent="0" marL="0">
              <a:buNone/>
            </a:pPr>
            <a:r>
              <a:rPr lang="en-US" sz="1700" dirty="0">
                <a:solidFill>
                  <a:srgbClr val="8FB3A0"/>
                </a:solidFill>
                <a:latin typeface="Courier New" pitchFamily="34" charset="0"/>
                <a:ea typeface="Courier New" pitchFamily="34" charset="-122"/>
                <a:cs typeface="Courier New" pitchFamily="34" charset="-120"/>
              </a:rPr>
              <a:t># t1   = A .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t2, t0, a2      </a:t>
            </a:r>
            <a:pPr indent="0" marL="0">
              <a:buNone/>
            </a:pPr>
            <a:r>
              <a:rPr lang="en-US" sz="1700" dirty="0">
                <a:solidFill>
                  <a:srgbClr val="8FB3A0"/>
                </a:solidFill>
                <a:latin typeface="Courier New" pitchFamily="34" charset="0"/>
                <a:ea typeface="Courier New" pitchFamily="34" charset="-122"/>
                <a:cs typeface="Courier New" pitchFamily="34" charset="-120"/>
              </a:rPr>
              <a:t># t2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or   a4, t1, t2      </a:t>
            </a:r>
            <a:pPr indent="0" marL="0">
              <a:buNone/>
            </a:pPr>
            <a:r>
              <a:rPr lang="en-US" sz="1700" dirty="0">
                <a:solidFill>
                  <a:srgbClr val="8FB3A0"/>
                </a:solidFill>
                <a:latin typeface="Courier New" pitchFamily="34" charset="0"/>
                <a:ea typeface="Courier New" pitchFamily="34" charset="-122"/>
                <a:cs typeface="Courier New" pitchFamily="34" charset="-120"/>
              </a:rPr>
              <a:t># Cout = A . B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8FB3A0"/>
                </a:solidFill>
                <a:latin typeface="Courier New" pitchFamily="34" charset="0"/>
                <a:ea typeface="Courier New" pitchFamily="34" charset="-122"/>
                <a:cs typeface="Courier New" pitchFamily="34" charset="-120"/>
              </a:rPr>
              <a:t># lamp: a0 = column, a1 = row, a2 = bit (0 or 1), a3 = colour when the bit is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lamp:</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a4, GREY</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beqz a2, 1f</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mv   a4, a3</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1:  slli a0, a0, 5</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a0, a0, 60          </a:t>
            </a:r>
            <a:pPr indent="0" marL="0">
              <a:buNone/>
            </a:pPr>
            <a:r>
              <a:rPr lang="en-US" sz="1700" dirty="0">
                <a:solidFill>
                  <a:srgbClr val="8FB3A0"/>
                </a:solidFill>
                <a:latin typeface="Courier New" pitchFamily="34" charset="0"/>
                <a:ea typeface="Courier New" pitchFamily="34" charset="-122"/>
                <a:cs typeface="Courier New" pitchFamily="34" charset="-120"/>
              </a:rPr>
              <a:t># x = 60 + 32 * column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a1, a1, 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t0,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  a1, a1, t0          </a:t>
            </a:r>
            <a:pPr indent="0" marL="0">
              <a:buNone/>
            </a:pPr>
            <a:r>
              <a:rPr lang="en-US" sz="1700" dirty="0">
                <a:solidFill>
                  <a:srgbClr val="8FB3A0"/>
                </a:solidFill>
                <a:latin typeface="Courier New" pitchFamily="34" charset="0"/>
                <a:ea typeface="Courier New" pitchFamily="34" charset="-122"/>
                <a:cs typeface="Courier New" pitchFamily="34" charset="-120"/>
              </a:rPr>
              <a:t># 40 * row ...</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           </a:t>
            </a:r>
            <a:pPr indent="0" marL="0">
              <a:buNone/>
            </a:pPr>
            <a:r>
              <a:rPr lang="en-US" sz="1700" dirty="0">
                <a:solidFill>
                  <a:srgbClr val="8FB3A0"/>
                </a:solidFill>
                <a:latin typeface="Courier New" pitchFamily="34" charset="0"/>
                <a:ea typeface="Courier New" pitchFamily="34" charset="-122"/>
                <a:cs typeface="Courier New" pitchFamily="34" charset="-120"/>
              </a:rPr>
              <a:t># ... / 2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a1, a1, 20          </a:t>
            </a:r>
            <a:pPr indent="0" marL="0">
              <a:buNone/>
            </a:pPr>
            <a:r>
              <a:rPr lang="en-US" sz="1700" dirty="0">
                <a:solidFill>
                  <a:srgbClr val="8FB3A0"/>
                </a:solidFill>
                <a:latin typeface="Courier New" pitchFamily="34" charset="0"/>
                <a:ea typeface="Courier New" pitchFamily="34" charset="-122"/>
                <a:cs typeface="Courier New" pitchFamily="34" charset="-120"/>
              </a:rPr>
              <a:t># y = 20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a2, 24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a3, 14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tail prg32_gfx_rect      </a:t>
            </a:r>
            <a:pPr indent="0" marL="0">
              <a:buNone/>
            </a:pPr>
            <a:r>
              <a:rPr lang="en-US" sz="1700" dirty="0">
                <a:solidFill>
                  <a:srgbClr val="8FB3A0"/>
                </a:solidFill>
                <a:latin typeface="Courier New" pitchFamily="34" charset="0"/>
                <a:ea typeface="Courier New" pitchFamily="34" charset="-122"/>
                <a:cs typeface="Courier New" pitchFamily="34" charset="-120"/>
              </a:rPr>
              <a:t># a tail call: rect returns to our caller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l09_draw: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-32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ra, 28(sp)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s0, 24(sp)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s1, 20(sp)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s2, 16(sp)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BLACK</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prg32_gfx_clear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s0, 0               </a:t>
            </a:r>
            <a:pPr indent="0" marL="0">
              <a:buNone/>
            </a:pPr>
            <a:r>
              <a:rPr lang="en-US" sz="1650" dirty="0">
                <a:solidFill>
                  <a:srgbClr val="8FB3A0"/>
                </a:solidFill>
                <a:latin typeface="Courier New" pitchFamily="34" charset="0"/>
                <a:ea typeface="Courier New" pitchFamily="34" charset="-122"/>
                <a:cs typeface="Courier New" pitchFamily="34" charset="-120"/>
              </a:rPr>
              <a:t># row = the three inputs as a number, 0 to 7</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srli a0, s0, 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a0, a0, 1           </a:t>
            </a:r>
            <a:pPr indent="0" marL="0">
              <a:buNone/>
            </a:pPr>
            <a:r>
              <a:rPr lang="en-US" sz="1650" dirty="0">
                <a:solidFill>
                  <a:srgbClr val="8FB3A0"/>
                </a:solidFill>
                <a:latin typeface="Courier New" pitchFamily="34" charset="0"/>
                <a:ea typeface="Courier New" pitchFamily="34" charset="-122"/>
                <a:cs typeface="Courier New" pitchFamily="34" charset="-120"/>
              </a:rPr>
              <a:t># A   = bit 2 of the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srli a1, s0,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a1, a1, 1           </a:t>
            </a:r>
            <a:pPr indent="0" marL="0">
              <a:buNone/>
            </a:pPr>
            <a:r>
              <a:rPr lang="en-US" sz="1650" dirty="0">
                <a:solidFill>
                  <a:srgbClr val="8FB3A0"/>
                </a:solidFill>
                <a:latin typeface="Courier New" pitchFamily="34" charset="0"/>
                <a:ea typeface="Courier New" pitchFamily="34" charset="-122"/>
                <a:cs typeface="Courier New" pitchFamily="34" charset="-120"/>
              </a:rPr>
              <a:t># B   = bit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a2, s0, 1           </a:t>
            </a:r>
            <a:pPr indent="0" marL="0">
              <a:buNone/>
            </a:pPr>
            <a:r>
              <a:rPr lang="en-US" sz="1650" dirty="0">
                <a:solidFill>
                  <a:srgbClr val="8FB3A0"/>
                </a:solidFill>
                <a:latin typeface="Courier New" pitchFamily="34" charset="0"/>
                <a:ea typeface="Courier New" pitchFamily="34" charset="-122"/>
                <a:cs typeface="Courier New" pitchFamily="34" charset="-120"/>
              </a:rPr>
              <a:t># Cin = bit 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full_adder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s1, a3              </a:t>
            </a:r>
            <a:pPr indent="0" marL="0">
              <a:buNone/>
            </a:pPr>
            <a:r>
              <a:rPr lang="en-US" sz="1650" dirty="0">
                <a:solidFill>
                  <a:srgbClr val="8FB3A0"/>
                </a:solidFill>
                <a:latin typeface="Courier New" pitchFamily="34" charset="0"/>
                <a:ea typeface="Courier New" pitchFamily="34" charset="-122"/>
                <a:cs typeface="Courier New" pitchFamily="34" charset="-120"/>
              </a:rPr>
              <a:t># keep S and Cout: they are in a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s2, a4              </a:t>
            </a:r>
            <a:pPr indent="0" marL="0">
              <a:buNone/>
            </a:pPr>
            <a:r>
              <a:rPr lang="en-US" sz="1650" dirty="0">
                <a:solidFill>
                  <a:srgbClr val="8FB3A0"/>
                </a:solidFill>
                <a:latin typeface="Courier New" pitchFamily="34" charset="0"/>
                <a:ea typeface="Courier New" pitchFamily="34" charset="-122"/>
                <a:cs typeface="Courier New" pitchFamily="34" charset="-120"/>
              </a:rPr>
              <a:t># which the next calls destroy</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li   a0, 0               </a:t>
            </a:r>
            <a:pPr indent="0" marL="0">
              <a:buNone/>
            </a:pPr>
            <a:r>
              <a:rPr lang="en-US" sz="1200" dirty="0">
                <a:solidFill>
                  <a:srgbClr val="8FB3A0"/>
                </a:solidFill>
                <a:latin typeface="Courier New" pitchFamily="34" charset="0"/>
                <a:ea typeface="Courier New" pitchFamily="34" charset="-122"/>
                <a:cs typeface="Courier New" pitchFamily="34" charset="-120"/>
              </a:rPr>
              <a:t># column 0: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               </a:t>
            </a:r>
            <a:pPr indent="0" marL="0">
              <a:buNone/>
            </a:pPr>
            <a:r>
              <a:rPr lang="en-US" sz="1200" dirty="0">
                <a:solidFill>
                  <a:srgbClr val="8FB3A0"/>
                </a:solidFill>
                <a:latin typeface="Courier New" pitchFamily="34" charset="0"/>
                <a:ea typeface="Courier New" pitchFamily="34" charset="-122"/>
                <a:cs typeface="Courier New" pitchFamily="34" charset="-120"/>
              </a:rPr>
              <a:t># column 1: 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               </a:t>
            </a:r>
            <a:pPr indent="0" marL="0">
              <a:buNone/>
            </a:pPr>
            <a:r>
              <a:rPr lang="en-US" sz="1200" dirty="0">
                <a:solidFill>
                  <a:srgbClr val="8FB3A0"/>
                </a:solidFill>
                <a:latin typeface="Courier New" pitchFamily="34" charset="0"/>
                <a:ea typeface="Courier New" pitchFamily="34" charset="-122"/>
                <a:cs typeface="Courier New" pitchFamily="34" charset="-120"/>
              </a:rPr>
              <a:t># column 2: Cin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4               </a:t>
            </a:r>
            <a:pPr indent="0" marL="0">
              <a:buNone/>
            </a:pPr>
            <a:r>
              <a:rPr lang="en-US" sz="1200" dirty="0">
                <a:solidFill>
                  <a:srgbClr val="8FB3A0"/>
                </a:solidFill>
                <a:latin typeface="Courier New" pitchFamily="34" charset="0"/>
                <a:ea typeface="Courier New" pitchFamily="34" charset="-122"/>
                <a:cs typeface="Courier New" pitchFamily="34" charset="-120"/>
              </a:rPr>
              <a:t># column 4: 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a2,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CYAN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5               </a:t>
            </a:r>
            <a:pPr indent="0" marL="0">
              <a:buNone/>
            </a:pPr>
            <a:r>
              <a:rPr lang="en-US" sz="1200" dirty="0">
                <a:solidFill>
                  <a:srgbClr val="8FB3A0"/>
                </a:solidFill>
                <a:latin typeface="Courier New" pitchFamily="34" charset="0"/>
                <a:ea typeface="Courier New" pitchFamily="34" charset="-122"/>
                <a:cs typeface="Courier New" pitchFamily="34" charset="-120"/>
              </a:rPr>
              <a:t># column 5: Cout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mv   a2,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CYAN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eight rows, one per combination of A, B and Cin (000 at the top): three lamps for the inputs on the left, then S and Cout on the right. It is the truth table of the full adder.</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l09 --out l09.prg32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09</dc:subject>
  <dc:creator>Raffaele Montella</dc:creator>
  <cp:lastModifiedBy>Raffaele Montella</cp:lastModifiedBy>
  <cp:revision>1</cp:revision>
  <dcterms:created xsi:type="dcterms:W3CDTF">2026-10-13T08:56:24Z</dcterms:created>
  <dcterms:modified xsi:type="dcterms:W3CDTF">2026-10-13T08:56:24Z</dcterms:modified>
</cp:coreProperties>
</file>