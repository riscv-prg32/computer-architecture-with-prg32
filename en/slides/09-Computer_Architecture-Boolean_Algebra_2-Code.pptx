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4529ca-2f4f-b752-7a1c-17211e3eddf4}">
          <p14:sldIdLst>
            <p14:sldId id="256"/>
            <p14:sldId id="257"/>
          </p14:sldIdLst>
        </p14:section>
        <p14:section name="Warm-up on the machine" id="{b8c70faa-a337-0f17-1724-5f52eff8bd0a}">
          <p14:sldIdLst>
            <p14:sldId id="258"/>
          </p14:sldIdLst>
        </p14:section>
        <p14:section name="Back to the machine" id="{ac77a652-09a5-de24-efd3-bf22c8323b1d}">
          <p14:sldIdLst>
            <p14:sldId id="259"/>
          </p14:sldIdLst>
        </p14:section>
        <p14:section name="The complete program" id="{61b528a4-7a60-b727-ac3b-1b8e52cad179}">
          <p14:sldIdLst>
            <p14:sldId id="260"/>
            <p14:sldId id="261"/>
            <p14:sldId id="262"/>
            <p14:sldId id="263"/>
            <p14:sldId id="264"/>
            <p14:sldId id="265"/>
          </p14:sldIdLst>
        </p14:section>
        <p14:section name="Run it and test it" id="{b1c3a2f9-e319-9899-878f-002c2f081c1b}">
          <p14:sldIdLst>
            <p14:sldId id="266"/>
            <p14:sldId id="267"/>
            <p14:sldId id="268"/>
            <p14:sldId id="269"/>
            <p14:sldId id="270"/>
          </p14:sldIdLst>
        </p14:section>
        <p14:section name="Exercises" id="{0b660cda-94ad-0bb4-e33c-dd239127661e}">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09.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~/arc12/code/l09.S; tools/tests/cartridges/run.py builds it, runs it on PRG32-QT with scripted input and checks the pixels of the frame.
For the lecturer: Get the code once: git clone https://github.com/riscv-prg32/computer-architecture-with-prg32 ~/arc12. The program of this lecture is ~/arc12/code/l09.S;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 of two bits can be 0, 1 or 2, so the result needs two bits. xor gives the low bit, which is 1 when the two inputs differ; and gives the high bit, the carry, which is 1 only when both are 1. The comment under the code is a truth table with two outputs: check its four rows. This pair of gates has a name, the half adder. The last callout states the problem of the day: here the gates were given; how do you find them when only the table is known?
For the lecturer: Run it in PRG32-QT with the four input pairs. Lecture 05 said that an adder is all a processor needs for arithmetic; this is its first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adder written as five instructions, one per gate: two xor for the sum, two and and an or for the carry out. The program is the schematic, read from left to right. It lets you practise both problems of Lecture 08. Analysis: single-step it in PRG32-QT for the eight input combinations and fill in the truth table. Synthesis: derive these gates from the table. With whole registers as inputs, the same five lines work on all thirty-two bit positions at once.
For the lecturer: Suggested laboratory activity: loop over the eight input combinations and draw the two output bits as lamps, as in lab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Write the canonical forms of the two outputs of the full adder. Minimise the carry out with a map of three variables and count the gates saved. Minimise a function of four variables given as a list of minterms: remember the corners. Build NOT, AND and OR using only NAND gates and check each with a truth table. Then program the full adder on PRG32 and show its outputs as lamps for the eight input combinations.
For the lecturer: Exercise 3: F = B'D' + B'C' + A'C'D (corners; top-left and bottom-left pairs with their neighbours; m1 with m5). Exercise 2: the canonical form of Cout has four minterms (3, 5, 6, 7); the map gives three clauses of two literals.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09: Boolean algebra (2)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Elements of Boolean Algebra: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09-Computer_Architecture-Boolean_Algebra_2.pptx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tetris.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09,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code/l09.S, 107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One-bit addition without add</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a0 and a1 hold one bit each: 0 or 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goal: compute a0 + a1, which needs two bits (0, 1 or 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xor  t0, a0, a1      </a:t>
            </a:r>
            <a:pPr indent="0" marL="0">
              <a:buNone/>
            </a:pPr>
            <a:r>
              <a:rPr lang="en-US" sz="1250" dirty="0">
                <a:solidFill>
                  <a:srgbClr val="8FB3A0"/>
                </a:solidFill>
                <a:latin typeface="Courier New" pitchFamily="34" charset="0"/>
                <a:ea typeface="Courier New" pitchFamily="34" charset="-122"/>
                <a:cs typeface="Courier New" pitchFamily="34" charset="-120"/>
              </a:rPr>
              <a:t># low bit of the sum:  1 when the bits differ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  t1, a0, a1      </a:t>
            </a:r>
            <a:pPr indent="0" marL="0">
              <a:buNone/>
            </a:pPr>
            <a:r>
              <a:rPr lang="en-US" sz="1250" dirty="0">
                <a:solidFill>
                  <a:srgbClr val="8FB3A0"/>
                </a:solidFill>
                <a:latin typeface="Courier New" pitchFamily="34" charset="0"/>
                <a:ea typeface="Courier New" pitchFamily="34" charset="-122"/>
                <a:cs typeface="Courier New" pitchFamily="34" charset="-120"/>
              </a:rPr>
              <a:t># high bit, the carry: 1 when both are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a0 a1 | t1 t0</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0  0 |  0  0        0 + 0 = 0</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0  1 |  0  1        0 + 1 = 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1  0 |  0  1        1 + 0 = 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1  1 |  1  0        1 + 1 = 2  (binary 10)</a:t>
            </a:r>
            <a:endParaRPr lang="en-US" sz="12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Two logic instructions add two bits: no arithmetic involved</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comment is a truth table with two outputs</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This pair of gates is called a half adder</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How do you find the gates when the table is given? That is today's method</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full adder, one gate per instruction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50" dirty="0">
                <a:solidFill>
                  <a:srgbClr val="8FB3A0"/>
                </a:solidFill>
                <a:latin typeface="Courier New" pitchFamily="34" charset="0"/>
                <a:ea typeface="Courier New" pitchFamily="34" charset="-122"/>
                <a:cs typeface="Courier New" pitchFamily="34" charset="-120"/>
              </a:rPr>
              <a:t># a0 = A, a1 = B, a2 = Cin   (each 0 or 1)</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result: a3 = S, a4 = Cout</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xor  t0, a0, a1      </a:t>
            </a:r>
            <a:pPr indent="0" marL="0">
              <a:buNone/>
            </a:pPr>
            <a:r>
              <a:rPr lang="en-US" sz="1550" dirty="0">
                <a:solidFill>
                  <a:srgbClr val="8FB3A0"/>
                </a:solidFill>
                <a:latin typeface="Courier New" pitchFamily="34" charset="0"/>
                <a:ea typeface="Courier New" pitchFamily="34" charset="-122"/>
                <a:cs typeface="Courier New" pitchFamily="34" charset="-120"/>
              </a:rPr>
              <a:t># t0   = A xor B</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xor  a3, t0, a2      </a:t>
            </a:r>
            <a:pPr indent="0" marL="0">
              <a:buNone/>
            </a:pPr>
            <a:r>
              <a:rPr lang="en-US" sz="1550" dirty="0">
                <a:solidFill>
                  <a:srgbClr val="8FB3A0"/>
                </a:solidFill>
                <a:latin typeface="Courier New" pitchFamily="34" charset="0"/>
                <a:ea typeface="Courier New" pitchFamily="34" charset="-122"/>
                <a:cs typeface="Courier New" pitchFamily="34" charset="-120"/>
              </a:rPr>
              <a:t># S    = A xor B xor Cin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and  t1, a0, a1      </a:t>
            </a:r>
            <a:pPr indent="0" marL="0">
              <a:buNone/>
            </a:pPr>
            <a:r>
              <a:rPr lang="en-US" sz="1550" dirty="0">
                <a:solidFill>
                  <a:srgbClr val="8FB3A0"/>
                </a:solidFill>
                <a:latin typeface="Courier New" pitchFamily="34" charset="0"/>
                <a:ea typeface="Courier New" pitchFamily="34" charset="-122"/>
                <a:cs typeface="Courier New" pitchFamily="34" charset="-120"/>
              </a:rPr>
              <a:t># t1   = A . B</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and  t2, t0, a2      </a:t>
            </a:r>
            <a:pPr indent="0" marL="0">
              <a:buNone/>
            </a:pPr>
            <a:r>
              <a:rPr lang="en-US" sz="1550" dirty="0">
                <a:solidFill>
                  <a:srgbClr val="8FB3A0"/>
                </a:solidFill>
                <a:latin typeface="Courier New" pitchFamily="34" charset="0"/>
                <a:ea typeface="Courier New" pitchFamily="34" charset="-122"/>
                <a:cs typeface="Courier New" pitchFamily="34" charset="-120"/>
              </a:rPr>
              <a:t># t2   = (A xor B) . Cin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or   a4, t1, t2      </a:t>
            </a:r>
            <a:pPr indent="0" marL="0">
              <a:buNone/>
            </a:pPr>
            <a:r>
              <a:rPr lang="en-US" sz="1550" dirty="0">
                <a:solidFill>
                  <a:srgbClr val="8FB3A0"/>
                </a:solidFill>
                <a:latin typeface="Courier New" pitchFamily="34" charset="0"/>
                <a:ea typeface="Courier New" pitchFamily="34" charset="-122"/>
                <a:cs typeface="Courier New" pitchFamily="34" charset="-120"/>
              </a:rPr>
              <a:t># Cout = A . B + (A xor B) . Cin</a:t>
            </a:r>
            <a:endParaRPr lang="en-US" sz="15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Five instructions, five gates: the program is the schematic, read from left to right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Analysis: single-step it in PRG32-QT and fill in the truth table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Synthesis: you derived these gates from the table with the method of this lecture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With whole registers as inputs, the same lines work on all thirty-two bit positions at once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09: Elements of Boolean Algebra</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l09.S: a full adder, one gate per instruction, on its eight input combinations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eight rows, one per combination of A, B and Cin (000 at the top):</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three lamps for the inputs on the left, then S and Cout on the right. It is the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truth table of the full adder.</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l09.S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l09 --name l09 --out l09.prg32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CYAN,   0x07ff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l09_init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l09_update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l09_draw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l09_init: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700" dirty="0">
                <a:solidFill>
                  <a:srgbClr val="E6EDF2"/>
                </a:solidFill>
                <a:latin typeface="Courier New" pitchFamily="34" charset="0"/>
                <a:ea typeface="Courier New" pitchFamily="34" charset="-122"/>
                <a:cs typeface="Courier New" pitchFamily="34" charset="-120"/>
              </a:rPr>
              <a:t>l09_update:</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ret</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8FB3A0"/>
                </a:solidFill>
                <a:latin typeface="Courier New" pitchFamily="34" charset="0"/>
                <a:ea typeface="Courier New" pitchFamily="34" charset="-122"/>
                <a:cs typeface="Courier New" pitchFamily="34" charset="-120"/>
              </a:rPr>
              <a:t># full_adder: a0 = A, a1 = B, a2 = Cin (each 0 or 1); result: a3 = S, a4 = Cout</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full_adder:</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xor  t0, a0, a1      </a:t>
            </a:r>
            <a:pPr indent="0" marL="0">
              <a:buNone/>
            </a:pPr>
            <a:r>
              <a:rPr lang="en-US" sz="1700" dirty="0">
                <a:solidFill>
                  <a:srgbClr val="8FB3A0"/>
                </a:solidFill>
                <a:latin typeface="Courier New" pitchFamily="34" charset="0"/>
                <a:ea typeface="Courier New" pitchFamily="34" charset="-122"/>
                <a:cs typeface="Courier New" pitchFamily="34" charset="-120"/>
              </a:rPr>
              <a:t># t0   = A xor B</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xor  a3, t0, a2      </a:t>
            </a:r>
            <a:pPr indent="0" marL="0">
              <a:buNone/>
            </a:pPr>
            <a:r>
              <a:rPr lang="en-US" sz="1700" dirty="0">
                <a:solidFill>
                  <a:srgbClr val="8FB3A0"/>
                </a:solidFill>
                <a:latin typeface="Courier New" pitchFamily="34" charset="0"/>
                <a:ea typeface="Courier New" pitchFamily="34" charset="-122"/>
                <a:cs typeface="Courier New" pitchFamily="34" charset="-120"/>
              </a:rPr>
              <a:t># S    = A xor B xor Cin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and  t1, a0, a1      </a:t>
            </a:r>
            <a:pPr indent="0" marL="0">
              <a:buNone/>
            </a:pPr>
            <a:r>
              <a:rPr lang="en-US" sz="1700" dirty="0">
                <a:solidFill>
                  <a:srgbClr val="8FB3A0"/>
                </a:solidFill>
                <a:latin typeface="Courier New" pitchFamily="34" charset="0"/>
                <a:ea typeface="Courier New" pitchFamily="34" charset="-122"/>
                <a:cs typeface="Courier New" pitchFamily="34" charset="-120"/>
              </a:rPr>
              <a:t># t1   = A . B</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and  t2, t0, a2      </a:t>
            </a:r>
            <a:pPr indent="0" marL="0">
              <a:buNone/>
            </a:pPr>
            <a:r>
              <a:rPr lang="en-US" sz="1700" dirty="0">
                <a:solidFill>
                  <a:srgbClr val="8FB3A0"/>
                </a:solidFill>
                <a:latin typeface="Courier New" pitchFamily="34" charset="0"/>
                <a:ea typeface="Courier New" pitchFamily="34" charset="-122"/>
                <a:cs typeface="Courier New" pitchFamily="34" charset="-120"/>
              </a:rPr>
              <a:t># t2   = (A xor B) . Cin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or   a4, t1, t2      </a:t>
            </a:r>
            <a:pPr indent="0" marL="0">
              <a:buNone/>
            </a:pPr>
            <a:r>
              <a:rPr lang="en-US" sz="1700" dirty="0">
                <a:solidFill>
                  <a:srgbClr val="8FB3A0"/>
                </a:solidFill>
                <a:latin typeface="Courier New" pitchFamily="34" charset="0"/>
                <a:ea typeface="Courier New" pitchFamily="34" charset="-122"/>
                <a:cs typeface="Courier New" pitchFamily="34" charset="-120"/>
              </a:rPr>
              <a:t># Cout = A . B + (A xor B) . Cin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ret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700" dirty="0">
                <a:solidFill>
                  <a:srgbClr val="8FB3A0"/>
                </a:solidFill>
                <a:latin typeface="Courier New" pitchFamily="34" charset="0"/>
                <a:ea typeface="Courier New" pitchFamily="34" charset="-122"/>
                <a:cs typeface="Courier New" pitchFamily="34" charset="-120"/>
              </a:rPr>
              <a:t># lamp: a0 = column, a1 = row, a2 = bit (0 or 1), a3 = colour when the bit is 1</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lamp:</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li   a4, GREY</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beqz a2, 1f</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mv   a4, a3</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1:  slli a0, a0, 5</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addi a0, a0, 60          </a:t>
            </a:r>
            <a:pPr indent="0" marL="0">
              <a:buNone/>
            </a:pPr>
            <a:r>
              <a:rPr lang="en-US" sz="1700" dirty="0">
                <a:solidFill>
                  <a:srgbClr val="8FB3A0"/>
                </a:solidFill>
                <a:latin typeface="Courier New" pitchFamily="34" charset="0"/>
                <a:ea typeface="Courier New" pitchFamily="34" charset="-122"/>
                <a:cs typeface="Courier New" pitchFamily="34" charset="-120"/>
              </a:rPr>
              <a:t># x = 60 + 32 * column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slli a1, a1, 4</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slli t0, a1, 1</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srli a1, a1, 1</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add  a1, a1, t0          </a:t>
            </a:r>
            <a:pPr indent="0" marL="0">
              <a:buNone/>
            </a:pPr>
            <a:r>
              <a:rPr lang="en-US" sz="1700" dirty="0">
                <a:solidFill>
                  <a:srgbClr val="8FB3A0"/>
                </a:solidFill>
                <a:latin typeface="Courier New" pitchFamily="34" charset="0"/>
                <a:ea typeface="Courier New" pitchFamily="34" charset="-122"/>
                <a:cs typeface="Courier New" pitchFamily="34" charset="-120"/>
              </a:rPr>
              <a:t># 40 * row ...</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srli a1, a1, 1           </a:t>
            </a:r>
            <a:pPr indent="0" marL="0">
              <a:buNone/>
            </a:pPr>
            <a:r>
              <a:rPr lang="en-US" sz="1700" dirty="0">
                <a:solidFill>
                  <a:srgbClr val="8FB3A0"/>
                </a:solidFill>
                <a:latin typeface="Courier New" pitchFamily="34" charset="0"/>
                <a:ea typeface="Courier New" pitchFamily="34" charset="-122"/>
                <a:cs typeface="Courier New" pitchFamily="34" charset="-120"/>
              </a:rPr>
              <a:t># ... / 2 = 20 * row</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addi a1, a1, 20          </a:t>
            </a:r>
            <a:pPr indent="0" marL="0">
              <a:buNone/>
            </a:pPr>
            <a:r>
              <a:rPr lang="en-US" sz="1700" dirty="0">
                <a:solidFill>
                  <a:srgbClr val="8FB3A0"/>
                </a:solidFill>
                <a:latin typeface="Courier New" pitchFamily="34" charset="0"/>
                <a:ea typeface="Courier New" pitchFamily="34" charset="-122"/>
                <a:cs typeface="Courier New" pitchFamily="34" charset="-120"/>
              </a:rPr>
              <a:t># y = 20 + 20 * row</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li   a2, 24</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li   a3, 14</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tail prg32_gfx_rect      </a:t>
            </a:r>
            <a:pPr indent="0" marL="0">
              <a:buNone/>
            </a:pPr>
            <a:r>
              <a:rPr lang="en-US" sz="1700" dirty="0">
                <a:solidFill>
                  <a:srgbClr val="8FB3A0"/>
                </a:solidFill>
                <a:latin typeface="Courier New" pitchFamily="34" charset="0"/>
                <a:ea typeface="Courier New" pitchFamily="34" charset="-122"/>
                <a:cs typeface="Courier New" pitchFamily="34" charset="-120"/>
              </a:rPr>
              <a:t># a tail call: rect returns to our caller</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l09_draw: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sp, sp, -32</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ra, 28(sp)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s0, 24(sp)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s1, 20(sp)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s2, 16(sp)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a0, BLACK</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prg32_gfx_clear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s0, 0               </a:t>
            </a:r>
            <a:pPr indent="0" marL="0">
              <a:buNone/>
            </a:pPr>
            <a:r>
              <a:rPr lang="en-US" sz="1650" dirty="0">
                <a:solidFill>
                  <a:srgbClr val="8FB3A0"/>
                </a:solidFill>
                <a:latin typeface="Courier New" pitchFamily="34" charset="0"/>
                <a:ea typeface="Courier New" pitchFamily="34" charset="-122"/>
                <a:cs typeface="Courier New" pitchFamily="34" charset="-120"/>
              </a:rPr>
              <a:t># row = the three inputs as a number, 0 to 7</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srli a0, s0, 2</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a0, a0, 1           </a:t>
            </a:r>
            <a:pPr indent="0" marL="0">
              <a:buNone/>
            </a:pPr>
            <a:r>
              <a:rPr lang="en-US" sz="1650" dirty="0">
                <a:solidFill>
                  <a:srgbClr val="8FB3A0"/>
                </a:solidFill>
                <a:latin typeface="Courier New" pitchFamily="34" charset="0"/>
                <a:ea typeface="Courier New" pitchFamily="34" charset="-122"/>
                <a:cs typeface="Courier New" pitchFamily="34" charset="-120"/>
              </a:rPr>
              <a:t># A   = bit 2 of the row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srli a1, s0,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a1, a1, 1           </a:t>
            </a:r>
            <a:pPr indent="0" marL="0">
              <a:buNone/>
            </a:pPr>
            <a:r>
              <a:rPr lang="en-US" sz="1650" dirty="0">
                <a:solidFill>
                  <a:srgbClr val="8FB3A0"/>
                </a:solidFill>
                <a:latin typeface="Courier New" pitchFamily="34" charset="0"/>
                <a:ea typeface="Courier New" pitchFamily="34" charset="-122"/>
                <a:cs typeface="Courier New" pitchFamily="34" charset="-120"/>
              </a:rPr>
              <a:t># B   = bit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a2, s0, 1           </a:t>
            </a:r>
            <a:pPr indent="0" marL="0">
              <a:buNone/>
            </a:pPr>
            <a:r>
              <a:rPr lang="en-US" sz="1650" dirty="0">
                <a:solidFill>
                  <a:srgbClr val="8FB3A0"/>
                </a:solidFill>
                <a:latin typeface="Courier New" pitchFamily="34" charset="0"/>
                <a:ea typeface="Courier New" pitchFamily="34" charset="-122"/>
                <a:cs typeface="Courier New" pitchFamily="34" charset="-120"/>
              </a:rPr>
              <a:t># Cin = bit 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full_adder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mv   s1, a3              </a:t>
            </a:r>
            <a:pPr indent="0" marL="0">
              <a:buNone/>
            </a:pPr>
            <a:r>
              <a:rPr lang="en-US" sz="1650" dirty="0">
                <a:solidFill>
                  <a:srgbClr val="8FB3A0"/>
                </a:solidFill>
                <a:latin typeface="Courier New" pitchFamily="34" charset="0"/>
                <a:ea typeface="Courier New" pitchFamily="34" charset="-122"/>
                <a:cs typeface="Courier New" pitchFamily="34" charset="-120"/>
              </a:rPr>
              <a:t># keep S and Cout: they are in a registers,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mv   s2, a4              </a:t>
            </a:r>
            <a:pPr indent="0" marL="0">
              <a:buNone/>
            </a:pPr>
            <a:r>
              <a:rPr lang="en-US" sz="1650" dirty="0">
                <a:solidFill>
                  <a:srgbClr val="8FB3A0"/>
                </a:solidFill>
                <a:latin typeface="Courier New" pitchFamily="34" charset="0"/>
                <a:ea typeface="Courier New" pitchFamily="34" charset="-122"/>
                <a:cs typeface="Courier New" pitchFamily="34" charset="-120"/>
              </a:rPr>
              <a:t># which the next calls destroy</a:t>
            </a:r>
            <a:endParaRPr lang="en-US" sz="16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    li   a0, 0               </a:t>
            </a:r>
            <a:pPr indent="0" marL="0">
              <a:buNone/>
            </a:pPr>
            <a:r>
              <a:rPr lang="en-US" sz="1200" dirty="0">
                <a:solidFill>
                  <a:srgbClr val="8FB3A0"/>
                </a:solidFill>
                <a:latin typeface="Courier New" pitchFamily="34" charset="0"/>
                <a:ea typeface="Courier New" pitchFamily="34" charset="-122"/>
                <a:cs typeface="Courier New" pitchFamily="34" charset="-120"/>
              </a:rPr>
              <a:t># column 0: 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srli a2, s0,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YELLOW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               </a:t>
            </a:r>
            <a:pPr indent="0" marL="0">
              <a:buNone/>
            </a:pPr>
            <a:r>
              <a:rPr lang="en-US" sz="1200" dirty="0">
                <a:solidFill>
                  <a:srgbClr val="8FB3A0"/>
                </a:solidFill>
                <a:latin typeface="Courier New" pitchFamily="34" charset="0"/>
                <a:ea typeface="Courier New" pitchFamily="34" charset="-122"/>
                <a:cs typeface="Courier New" pitchFamily="34" charset="-120"/>
              </a:rPr>
              <a:t># column 1: B</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srli a2,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YELLOW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               </a:t>
            </a:r>
            <a:pPr indent="0" marL="0">
              <a:buNone/>
            </a:pPr>
            <a:r>
              <a:rPr lang="en-US" sz="1200" dirty="0">
                <a:solidFill>
                  <a:srgbClr val="8FB3A0"/>
                </a:solidFill>
                <a:latin typeface="Courier New" pitchFamily="34" charset="0"/>
                <a:ea typeface="Courier New" pitchFamily="34" charset="-122"/>
                <a:cs typeface="Courier New" pitchFamily="34" charset="-120"/>
              </a:rPr>
              <a:t># column 2: Cin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YELLOW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4               </a:t>
            </a:r>
            <a:pPr indent="0" marL="0">
              <a:buNone/>
            </a:pPr>
            <a:r>
              <a:rPr lang="en-US" sz="1200" dirty="0">
                <a:solidFill>
                  <a:srgbClr val="8FB3A0"/>
                </a:solidFill>
                <a:latin typeface="Courier New" pitchFamily="34" charset="0"/>
                <a:ea typeface="Courier New" pitchFamily="34" charset="-122"/>
                <a:cs typeface="Courier New" pitchFamily="34" charset="-120"/>
              </a:rPr>
              <a:t># column 4: 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a2,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CYAN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5               </a:t>
            </a:r>
            <a:pPr indent="0" marL="0">
              <a:buNone/>
            </a:pPr>
            <a:r>
              <a:rPr lang="en-US" sz="1200" dirty="0">
                <a:solidFill>
                  <a:srgbClr val="8FB3A0"/>
                </a:solidFill>
                <a:latin typeface="Courier New" pitchFamily="34" charset="0"/>
                <a:ea typeface="Courier New" pitchFamily="34" charset="-122"/>
                <a:cs typeface="Courier New" pitchFamily="34" charset="-120"/>
              </a:rPr>
              <a:t># column 5: Cout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mv   a2,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CYAN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s0, s0,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eight rows, one per combination of A, B and Cin (000 at the top): three lamps for the inputs on the left, then S and Cout on the right. It is the truth table of the full adder.</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9.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l09 --name l09 --out l09.prg32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l09.prg32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l09 --name l09 --architecture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l09 --name l09 --architecture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l09-esp32c6.prg32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l09-esp32c6.prg32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l09;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the canonical forms P and S of the full adder outputs S and Cout</a:t>
            </a:r>
            <a:endParaRPr lang="en-US" sz="2200" dirty="0"/>
          </a:p>
        </p:txBody>
      </p:sp>
      <p:sp>
        <p:nvSpPr>
          <p:cNvPr id="6" name="Text 4"/>
          <p:cNvSpPr txBox="1"/>
          <p:nvPr/>
        </p:nvSpPr>
        <p:spPr>
          <a:xfrm>
            <a:off x="548640" y="20731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5486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Minimise Cout with a Karnaugh map of three variables. How many gates do you save?</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Minimise F = sum of m(0, 1, 2, 5, 8, 9, 10) with a map of four variables</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Build NOT, AND and OR using NAND only, and check each with a truth table</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Program the full adder on PRG32 and display S and Cout as lamps for the eight input combinations</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Cout = AB + ACin + BCin. On PRG32: eight pairs of lamps that reproduce the truth table of the full adder.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Elements of Boolean Algebra: the code</dc:title>
  <dc:subject>Lecture 09</dc:subject>
  <dc:creator>Raffaele Montella</dc:creator>
  <cp:lastModifiedBy>Raffaele Montella</cp:lastModifiedBy>
  <cp:revision>1</cp:revision>
  <dcterms:created xsi:type="dcterms:W3CDTF">2026-10-13T10:41:31Z</dcterms:created>
  <dcterms:modified xsi:type="dcterms:W3CDTF">2026-10-13T10:41:31Z</dcterms:modified>
</cp:coreProperties>
</file>