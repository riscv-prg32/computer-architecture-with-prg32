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62b4c2-3a34-61d3-ec58-ee53488d2a10}">
          <p14:sldIdLst>
            <p14:sldId id="256"/>
            <p14:sldId id="257"/>
          </p14:sldIdLst>
        </p14:section>
        <p14:section name="Step 1: install PRG32-QT" id="{678555cb-8cf2-a319-ee3a-2542301df75d}">
          <p14:sldIdLst>
            <p14:sldId id="258"/>
            <p14:sldId id="259"/>
            <p14:sldId id="260"/>
            <p14:sldId id="261"/>
            <p14:sldId id="262"/>
            <p14:sldId id="263"/>
          </p14:sldIdLst>
        </p14:section>
        <p14:section name="Step 2: install the toolchain" id="{2d3f9f67-f8bf-4093-e6ee-8b0768df44ec}">
          <p14:sldIdLst>
            <p14:sldId id="264"/>
            <p14:sldId id="265"/>
            <p14:sldId id="266"/>
            <p14:sldId id="267"/>
            <p14:sldId id="268"/>
          </p14:sldIdLst>
        </p14:section>
        <p14:section name="Step 3: your first build" id="{7bf823ae-9606-b5ed-de02-944f3d5bfbcc}">
          <p14:sldIdLst>
            <p14:sldId id="269"/>
            <p14:sldId id="270"/>
            <p14:sldId id="271"/>
            <p14:sldId id="272"/>
          </p14:sldIdLst>
        </p14:section>
        <p14:section name="Optional: QEMU and the kit" id="{c9135c03-1196-9764-45f1-e39ca6c9be05}">
          <p14:sldIdLst>
            <p14:sldId id="273"/>
            <p14:sldId id="274"/>
          </p14:sldIdLst>
        </p14:section>
        <p14:section name="The complete program" id="{6f162edc-265b-bae2-8df3-5d59f78f9813}">
          <p14:sldIdLst>
            <p14:sldId id="275"/>
            <p14:sldId id="276"/>
            <p14:sldId id="277"/>
          </p14:sldIdLst>
        </p14:section>
        <p14:section name="Run it and test it" id="{f5b8d32c-383f-3097-fc68-04c1ccb33721}">
          <p14:sldIdLst>
            <p14:sldId id="278"/>
            <p14:sldId id="279"/>
            <p14:sldId id="280"/>
            <p14:sldId id="281"/>
            <p14:sldId id="282"/>
          </p14:sldIdLst>
        </p14:section>
        <p14:section name="Exercises" id="{ad63b061-88c1-4245-8b20-ba756319bd78}">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01.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pieces of PRG32. USE NOW: the PRG32 tools, the PRG32-QT debugger, the complete program (used, not studied, in this course). UNDERSTAND LATER: the init, update, draw contract (Lecture 02); registers (Lecture 02).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~/arc12/code/l01.S; tools/tests/cartridges/run.py builds it, runs it on PRG32-QT with scripted input and checks the pixels of the frame.
For the lecturer: Get the code once: git clone https://github.com/riscv-prg32/computer-architecture-with-prg32 ~/arc12. The program of this lecture is ~/arc12/code/l01.S;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row of your system and download that file from the Releases page of the PRG32-QT repository, always from the latest release. Windows has an installer, macOS a disk image (one for Apple Silicon, one for Intel), Linux and Raspberry Pi OS a Debian package. The number 0.4.1 is the version of October 2026: by the time you read this it may be higher, and the file names follow the same pattern. If you are not sure which Mac you have, the macOS slide tells you how to find out.
USE NOW: the PRG32 tools (used, not studied, in this course).
For the lecturer: From github.com/riscv-prg32/PRG32-QT, Releases, the latest one. 0.4.1 is the version of October 2026: the file names follow this pattern with the current number. The file SHA256SUMS-platforms.txt lists the checksums. Android and Android TV packages are on the same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Windows there are four moves: download the Setup file, run it, accept the proposed folder, and start PRG32 from the Start menu. Two warnings may appear, and both are expected. SmartScreen may show a blue box because the installer is not from the Microsoft Store: choose More info, then Run anyway. The firewall may ask for permission: allow it on private networks. PRG32-QT listens on port 8080 to receive cartridges from the tools, and you will use this in step 3.
USE NOW: the PRG32 tools (used, not studied, in this course).
For the lecturer: The installer contains the Qt libraries and the compiler runtime: nothing else has to be installed. The firewall question appears because PRG32-QT listens on port 8080 for cartridges sent by the tools: step 3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Mac, first find out which processor you have: the Apple menu, About This Mac. "Chip Apple M..." means the ARM64 file; "Processor Intel" means the Intel one. Open the disk image and drag PRG32 onto Applications. At the first start macOS may refuse to open an application that does not come from the App Store: right-click it and choose Open, or use Privacy and Security in the System Settings. Then accept incoming connections and access to the local network, which the application needs to receive cartridges.
USE NOW: the PRG32 tools (used, not studied, in this course).
For the lecturer: The first-start step is needed if macOS says that the developer cannot be verified: the application is distributed outside the App Store. The two permissions are for the device interface on port 8080 and its announcement on the local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Linux the upper half of the listing installs the package: apt install with ./ before the file name installs the file together with what it depends on. The program is then /usr/bin/PRG32. The requirement to check is Qt 6.5 or newer: Debian 13 and Ubuntu 25.04 have it; Ubuntu 24.04 does not. The lower half is the alternative for older systems, building from source with the script in the repository. Lines that begin with # are comments: do not type them.
USE NOW: the PRG32 tools (used, not studied, in this course).
For the lecturer: The package depends on the Qt 6 QML, Multimedia and WebSockets packages of the distribution. Where the system Qt is older than 6.5, install Qt with the online installer of qt.io and build with it. On Raspberry Pi OS use the ARM64 package, or scripts/build-raspbian.sh.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run. Start PRG32-QT: the Setup screen is the same one the firmware shows on the kit. Choose Browse Store, pick a game, download it and choose Run Cartridge. Play with the arrow keys, Z and X; Escape brings you back. Then open Settings and look at the three profiles. The green box states what success looks like: a game from the Store runs on your laptop. If the catalogue stays empty, the problem is the network, not PRG32-QT.
For the lecturer: The default Store is store.prg32.uniparthenope.it. If the list stays empty the laptop is not reaching the Internet, or a proxy is in the way: Settings shows the Store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screens you should have seen: the Setup menu, the Store browser and Settings. They look the same on every operating system. Compare them with your own screen; if they match, level 1 is complete, and from now on you can run any cartridge and look inside it. If they do not, raise your hand now rather than later.
For the lecturer: Screens from the PRG32 and PRG32-QT documentation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Windows the first three steps use graphical installers: Git, Python, and the ESP-IDF Tools Installer, in which you choose a release 5.4 or newer and the targets esp32c3 and esp32c6. The installer creates a shortcut called ESP-IDF PowerShell: always work in that window, never in a plain terminal. The five commands clone the PRG32 repository, install two Python packages and run the doctor. On Windows the interpreter is called python, not python3.
USE NOW: the PRG32 tools (used, not studied, in this course).
For the lecturer: From the README of PRG32. An alternative for those who prefer an editor: Visual Studio Code with the Espressif ESP-IDF extension, which installs the same toolchain. Avoid folders with spaces or accented letters in their path: old build tools do not like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macOS there are three blocks. Homebrew installs the prerequisites. Then ESP-IDF is cloned and install.sh downloads the compilers for the two chips: be patient, it is the long part. The line . ./export.sh begins with a dot and a space, and the dot matters: it makes the script change the terminal you are in, instead of a copy that disappears. The last block clones PRG32 and runs the doctor. The same commands work on Apple Silicon and on Intel.
USE NOW: the PRG32 tools (used, not studied, in this course).
For the lecturer: From the README of PRG32. git may first ask to install the Xcode command line tools: accept. The recursive clone and install.sh fetch a few gigabytes.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Debian and Ubuntu the first block is one long apt command, split over three lines by the backslashes: copy it whole. Steps 2 and 3 are identical to those of macOS. On other distributions the packages are the same, with other names. The last callout concerns only those who have a kit: your user must belong to the group dialout to reach the serial port of the board, and you must log out and in again for the change to take effect.
USE NOW: the PRG32 tools (used, not studied, in this course).
For the lecturer: From the README of PRG32. The dialout group gives access to the serial port of the board: log out and in again after the command. It is not needed for PRG32-QT or QEMU.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daily routine, and it prevents the most common mistake of the first weeks. In every new terminal, before anything else, activate ESP-IDF with export.sh and move into the PRG32 folder. Two aliases save typing: get_idf activates, prg stands for python3 -m prg32. On Windows, opening ESP-IDF PowerShell does the same. Try it deliberately once: open a new terminal, run the doctor without activating, and read the error. Having seen it here, you will recognise it at once later.
USE NOW: the PRG32 tools (used, not studied, in this course).
For the lecturer: The single most common mistake of the first weeks. Make the students close the terminal, open a new one and run doctor without activating: they must see the error once, here, and not during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 checks the installation and prints one line per check. [OK] idf.py found means that ESP-IDF is active. [OK] riscv32-esp-elf-gcc found means that the RISC-V compiler can be reached. The lines about partitions mean that the PRG32 folder is complete. A line that begins with [ERROR] says what is wrong and what to do: read it to the end before asking for help. When every line is OK, level 2 is done. The last lines of the listing show the error you get in a terminal where ESP-IDF is not active.
USE NOW: the PRG32 tools (used, not studied, in this course).
For the lecturer: Messages of the doctor of October 2026. The four cartridge slots, cart0 to cart3, are regions of the flash memory of the board: 131072 bytes each. If doctor passes, level 2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cartridge build takes a source file and writes a .prg32 file. Three options are worth understanding. --entry-prefix pong_c is the name that precedes _init, _update and _draw in the source. --portable makes a cartridge that runs on every host, not only on one firmware image. --out names the result. The tool answers with the size of the code: a whole game of Pong is about three thousand bytes. The source here is C, taken from the examples, so that you test the compiler without writing a program.
USE NOW: the PRG32 tools (used, not studied, in this course). UNDERSTAND LATER: the init, update, draw contract (studied in Lecture 02).
For the lecturer: Pong in C from the examples of the repository: it proves that the compiler works without typing a program. In Lecture 02 the source is yours, in assembly, and the command is the same. On Windows write python and put the command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PRG32-QT must be running. The first command, runtime, asks it for its state: if it answers, the connection works. The second, upload-and-run, stores the cartridge in slot cart0 and starts it; the game appears in the window of PRG32-QT. The command says esp32c6 because, for the tool, PRG32-QT behaves like a board that listens on port 8080. The same command with the address of a real board, http://192.168.4.1, sends the game there. Without the tools you can also import the file from the menu of PRG32-QT.
USE NOW: the PRG32 tools (used, not studied, in this course).
For the lecturer: Run for these slides on macOS. If localhost does not answer, read the address on the Setup screen of PRG32-QT and use it. Without the tools: in PRG32-QT import the file pong.prg32 and choose Run Cartridge. The same command with --url http://192.168.4.1 sends the game to a real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open the machine. In Settings enable Run cartridges in RISC-V debug mode and run the cartridge again: the game is on the left, the machine on the right. Pause: one instruction is highlighted, the next to be executed. Step a few times: the highlight moves and some registers change. Update and Draw show those two functions of the cartridge. Resume, then lower the speed and watch the game in slow motion. You are not expected to understand the registers today; the point is that the debugger opens and obeys.
USE NOW: the PRG32-QT debugger (used, not studied, in this course). UNDERSTAND LATER: registers (studied in Lecture 02).
For the lecturer: A first look only: Lecture 02 explains what the registers are. The point today is that the debugger opens and responds. Debug mode stays on until you switch it off. Pause, resume and step are the three transport buttons of the debugger, drawn as on a video player: two bars, a triangle, a triangle with a bar. The slides and the tutorials call them Pause, Resume and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you should see: on the right the listing in assembly with the current instruction highlighted, the thirty-two registers, a window on memory and the counters of the frame. Every element of this picture will be explained in the coming lectures, starting with the registers in Lecture 02. If you see this screen with a cartridge that you built yourself, your workshop is complete.
USE NOW: the PRG32-QT debugger (used, not studied, in this course). UNDERSTAND LATER: registers (studied in Lecture 02).
For the lecturer: From the documentation of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3 has three parts: the libraries that the emulator needs for its window, the emulator itself, and three commands of the tool. qemu build compiles the whole firmware, which takes several minutes the first time. qemu upload stages a cartridge into the flash image, and QEMU must be closed while it runs. qemu run starts the emulator, which opens on the Setup menu: choose Run Cartridge and then cart0. Remember to type in the terminal, not in the window with the picture.
USE NOW: the PRG32 tools (used, not studied, in this course).
For the lecturer: From the README and docs/usage/qemu.md of PRG32. Not run for these slides. The first build downloads components and compiles the whole firmware. If upload fails, run QEMU once so that the flash image exists, close it, and upload again. Since October 2026 the firmware starts on the Setup menu by default, on QEMU and on the board: choose Run Cartridge, then the slot. The keys go to the terminal that launched QEMU, not to the window with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4 is the board. Connected by USB, build-and-flash compiles the firmware and writes it into the chip: once per board. The board then starts on the Setup menu and creates a Wi-Fi network called PRG32. Join it, and the upload command you already know works with the address 192.168.4.1: from then on, no cables. The last command makes the board join an existing network instead. On Linux your user must be in the group dialout.
USE NOW: the PRG32 tools (used, not studied, in this course).
For the lecturer: From the documentation of PRG32. Not run for these slides. If the serial port is not found pass it explicitly: COMx on Windows, /dev/ttyACM0 on Linux, /dev/cu.usbmodem... on macOS. A black screen after flashing usually means that the QEMU firmware was flashed instead of the board's, or that the display is wired to other pins than those of the firmware: since October 2026 the defaults are GPIO8 for DC and GPIO9 for RST (they were GPIO1 and GPIO0), and idf.py menuconfig changes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Complete the five checks. Download three cartridges from the Store and, in each, find the first instruction of update with the debugger. Build another example. The fourth task is the real test: close everything, restart the computer and get back to a running cartridge without these slides. If you can do it, you have understood activation, and your workshop is yours.
For the lecturer: The fourth task is the real test: it shows who has understood the activation of ESP-IDF.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01: PRG32 setup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PRG32 and PRG32-QT: Setting Up Your Workshop: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01-Computer_Architecture-PRG32_and_PRG32-QT_Setup.pptx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10 listings of Lecture 01,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code/l01.S, 57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Download the installer for your system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98138"/>
                <a:gridCol w="5379110"/>
                <a:gridCol w="2017166"/>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Your system</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File to download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Kind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Windows 10 or 11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PRG32-QT-0.4.1-Windows-X64-Setup.exe</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installer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macOS, Apple Silicon (M1 and later)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PRG32-QT-0.4.1-macOS-ARM64.dmg</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disk image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macOS, Intel</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PRG32-QT-0.4.1-macOS-Intel-X64.dmg</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disk image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Linux, 64-bit PC</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PRG32-QT-0.4.1-Linux-X64.deb</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Debian package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Raspberry Pi OS, 64-bit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PRG32-QT-0.4.1-Raspberry-Pi-OS-ARM64.deb</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Debian package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github.com/riscv-prg32/PRG32-QT, then Releases. Take the latest version.</a:t>
            </a:r>
            <a:endParaRPr lang="en-US" sz="1500" dirty="0"/>
          </a:p>
        </p:txBody>
      </p:sp>
      <p:sp>
        <p:nvSpPr>
          <p:cNvPr id="5" name="Shape 2"/>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3"/>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4"/>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5"/>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on Windows</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Download</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file ending in Windows-X64-Setup.exe, from the Releases page</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Run it</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If Windows shows a blue SmartScreen warning: More info, then Run anyway</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Install</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Accept the proposed folder: the installer brings everything the program needs</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Start</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PRG32, from the Start menu. If the firewall asks, allow it on private networks</a:t>
            </a:r>
            <a:endParaRPr lang="en-US" sz="1900" dirty="0"/>
          </a:p>
        </p:txBody>
      </p:sp>
      <p:sp>
        <p:nvSpPr>
          <p:cNvPr id="22" name="Shape 20"/>
          <p:cNvSpPr/>
          <p:nvPr/>
        </p:nvSpPr>
        <p:spPr>
          <a:xfrm>
            <a:off x="9287967" y="91440"/>
            <a:ext cx="2355088" cy="274320"/>
          </a:xfrm>
          <a:prstGeom prst="rect">
            <a:avLst/>
          </a:prstGeom>
          <a:solidFill>
            <a:srgbClr val="FEF3C7"/>
          </a:solidFill>
          <a:ln w="12700">
            <a:solidFill>
              <a:srgbClr val="B45309"/>
            </a:solidFill>
            <a:prstDash val="solid"/>
          </a:ln>
        </p:spPr>
      </p:sp>
      <p:sp>
        <p:nvSpPr>
          <p:cNvPr id="23" name="Shape 21"/>
          <p:cNvSpPr/>
          <p:nvPr/>
        </p:nvSpPr>
        <p:spPr>
          <a:xfrm>
            <a:off x="9287967" y="91440"/>
            <a:ext cx="27432" cy="274320"/>
          </a:xfrm>
          <a:prstGeom prst="rect">
            <a:avLst/>
          </a:prstGeom>
          <a:solidFill>
            <a:srgbClr val="B45309"/>
          </a:solidFill>
          <a:ln w="12700">
            <a:solidFill>
              <a:srgbClr val="B45309"/>
            </a:solidFill>
            <a:prstDash val="solid"/>
          </a:ln>
        </p:spPr>
      </p:sp>
      <p:sp>
        <p:nvSpPr>
          <p:cNvPr id="24" name="Shape 22"/>
          <p:cNvSpPr/>
          <p:nvPr/>
        </p:nvSpPr>
        <p:spPr>
          <a:xfrm>
            <a:off x="9342831" y="91440"/>
            <a:ext cx="27432" cy="274320"/>
          </a:xfrm>
          <a:prstGeom prst="rect">
            <a:avLst/>
          </a:prstGeom>
          <a:solidFill>
            <a:srgbClr val="B45309"/>
          </a:solidFill>
          <a:ln w="12700">
            <a:solidFill>
              <a:srgbClr val="B45309"/>
            </a:solidFill>
            <a:prstDash val="solid"/>
          </a:ln>
        </p:spPr>
      </p:sp>
      <p:pic>
        <p:nvPicPr>
          <p:cNvPr id="25"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6" name="Text 23"/>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on macOS</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Which Mac?</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Apple menu, About This Mac: Chip Apple M... means ARM64; Processor Intel means X64</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Install</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Open the .dmg and drag PRG32 onto the Applications folder</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First start</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Right-click PRG32 and choose Open; or System Settings, Privacy and Security, Open Anyway</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Allow</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Accept incoming connections and local-network access when macOS asks</a:t>
            </a:r>
            <a:endParaRPr lang="en-US" sz="1900" dirty="0"/>
          </a:p>
        </p:txBody>
      </p:sp>
      <p:sp>
        <p:nvSpPr>
          <p:cNvPr id="22" name="Shape 20"/>
          <p:cNvSpPr/>
          <p:nvPr/>
        </p:nvSpPr>
        <p:spPr>
          <a:xfrm>
            <a:off x="9287967" y="91440"/>
            <a:ext cx="2355088" cy="274320"/>
          </a:xfrm>
          <a:prstGeom prst="rect">
            <a:avLst/>
          </a:prstGeom>
          <a:solidFill>
            <a:srgbClr val="FEF3C7"/>
          </a:solidFill>
          <a:ln w="12700">
            <a:solidFill>
              <a:srgbClr val="B45309"/>
            </a:solidFill>
            <a:prstDash val="solid"/>
          </a:ln>
        </p:spPr>
      </p:sp>
      <p:sp>
        <p:nvSpPr>
          <p:cNvPr id="23" name="Shape 21"/>
          <p:cNvSpPr/>
          <p:nvPr/>
        </p:nvSpPr>
        <p:spPr>
          <a:xfrm>
            <a:off x="9287967" y="91440"/>
            <a:ext cx="27432" cy="274320"/>
          </a:xfrm>
          <a:prstGeom prst="rect">
            <a:avLst/>
          </a:prstGeom>
          <a:solidFill>
            <a:srgbClr val="B45309"/>
          </a:solidFill>
          <a:ln w="12700">
            <a:solidFill>
              <a:srgbClr val="B45309"/>
            </a:solidFill>
            <a:prstDash val="solid"/>
          </a:ln>
        </p:spPr>
      </p:sp>
      <p:sp>
        <p:nvSpPr>
          <p:cNvPr id="24" name="Shape 22"/>
          <p:cNvSpPr/>
          <p:nvPr/>
        </p:nvSpPr>
        <p:spPr>
          <a:xfrm>
            <a:off x="9342831" y="91440"/>
            <a:ext cx="27432" cy="274320"/>
          </a:xfrm>
          <a:prstGeom prst="rect">
            <a:avLst/>
          </a:prstGeom>
          <a:solidFill>
            <a:srgbClr val="B45309"/>
          </a:solidFill>
          <a:ln w="12700">
            <a:solidFill>
              <a:srgbClr val="B45309"/>
            </a:solidFill>
            <a:prstDash val="solid"/>
          </a:ln>
        </p:spPr>
      </p:sp>
      <p:pic>
        <p:nvPicPr>
          <p:cNvPr id="25"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6" name="Text 23"/>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on Linux</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Debian 13, Ubuntu 25.04 and later, or another system with Qt 6.5 or newer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~/Downloads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./PRG32-QT-0.4.1-Linux-X64.deb</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PRG32 &amp;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older systems (Ubuntu 24.04 has Qt 6.4: too old): build from source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git cmake ninja-build g++ qt6-base-dev qt6-declarative-dev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qt6-multimedia-dev qt6-websockets-dev</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https://github.com/riscv-prg32/PRG32-QT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PRG32-QT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./scripts/build-linux.sh</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apt install with ./ installs the file and what it needs</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program is /usr/bin/PRG32</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It needs Qt 6.5 or newer: check your distribution</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Building from source needs a recent Qt as well</a:t>
            </a:r>
            <a:endParaRPr lang="en-US" sz="15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your first cartridge, from the Store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Start PRG32-QT: the Setup screen appears, the same that the firmware shows on the kit</a:t>
            </a:r>
            <a:endParaRPr lang="en-US" sz="2200" dirty="0"/>
          </a:p>
        </p:txBody>
      </p:sp>
      <p:sp>
        <p:nvSpPr>
          <p:cNvPr id="6" name="Text 4"/>
          <p:cNvSpPr txBox="1"/>
          <p:nvPr/>
        </p:nvSpPr>
        <p:spPr>
          <a:xfrm>
            <a:off x="548640" y="23159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9768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Choose Browse Store: the catalogue of the Cartridge Store is downloaded</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Pick a game, download it, and choose Run Cartridge</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Play it with the arrow keys, Z and X. Escape brings you back to Setup</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Open Settings: look at the three performance profiles and at the layout choices</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 game from the Store runs on your laptop. This is level 1: from now on you can run any cartridge, and look inside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should see</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menu_main.png">    </p:cNvPr>
          <p:cNvPicPr>
            <a:picLocks noChangeAspect="1"/>
          </p:cNvPicPr>
          <p:nvPr/>
        </p:nvPicPr>
        <p:blipFill>
          <a:blip r:embed="rId1"/>
          <a:stretch>
            <a:fillRect/>
          </a:stretch>
        </p:blipFill>
        <p:spPr>
          <a:xfrm>
            <a:off x="685800" y="1870748"/>
            <a:ext cx="3240938" cy="2430704"/>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Setup menu</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prg32qt_store.png">    </p:cNvPr>
          <p:cNvPicPr>
            <a:picLocks noChangeAspect="1"/>
          </p:cNvPicPr>
          <p:nvPr/>
        </p:nvPicPr>
        <p:blipFill>
          <a:blip r:embed="rId2"/>
          <a:stretch>
            <a:fillRect/>
          </a:stretch>
        </p:blipFill>
        <p:spPr>
          <a:xfrm>
            <a:off x="4475378" y="1966503"/>
            <a:ext cx="3240938" cy="2239194"/>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Browse Store</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prg32qt_settings.png">    </p:cNvPr>
          <p:cNvPicPr>
            <a:picLocks noChangeAspect="1"/>
          </p:cNvPicPr>
          <p:nvPr/>
        </p:nvPicPr>
        <p:blipFill>
          <a:blip r:embed="rId3"/>
          <a:stretch>
            <a:fillRect/>
          </a:stretch>
        </p:blipFill>
        <p:spPr>
          <a:xfrm>
            <a:off x="8264957" y="1966503"/>
            <a:ext cx="3240938" cy="2239194"/>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Settings</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The same three screens on every system. If you are here, step 1 is done.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toolchain on Windows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1. Install Git for Windows (git-scm.com) and Python 3 (python.org)</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2. Run the ESP-IDF Tools Installer (dl.espressif.com/dl/esp-idf):</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choose an ESP-IDF release 5.4 or newer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select the targets esp32c3 and esp32c6</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optional: tick the QEMU RISC-V emulator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3. Open the shortcut "ESP-IDF PowerShell" that the installer created</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4. In that window: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cd $HOME\Documents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git clone https://github.com/riscv-prg32/PRG32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cd 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pip install pyaudio zeroconf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 -m prg32 doctor</a:t>
            </a:r>
            <a:endParaRPr lang="en-US" sz="14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Use the ESP-IDF PowerShell, never a plain terminal</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 Windows the command is python, not python3</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pip installs into the ESP-IDF environment: that is intended</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doctor checks the installation: see the next slides</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toolchain on macOS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1. Homebrew (brew.sh), then the prerequisites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brew install git cmake ninja dfu-util ccache libusb python curl zip portaudio</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2. ESP-IDF 5.4 for the two chips (a large download)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$HOME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-b v5.4 --recursive https://github.com/espressif/esp-idf.git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esp-idf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./install.sh esp32c3,esp32c6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./export.sh</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pip install pyaudio zeroconf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3. 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$HOME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https://github.com/riscv-prg32/PRG32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doctor</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Homebrew first: it provides git, cmake, python</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install.sh downloads the compilers: be patient</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dot before export.sh matters: it changes this terminal</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Works on Apple Silicon and on Intel</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toolchain on Linux (Debian, Ubuntu)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1. Prerequisites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sudo apt update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sudo apt install -y git wget flex bison gperf python3 python3-venv python3-pip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python3-zeroconf cmake ninja-build ccache libffi-dev libssl-dev dfu-util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libusb-1.0-0 curl zip portaudio19-dev</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2. ESP-IDF 5.4 for the two chips (a large download)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$HOME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git clone -b v5.4 --recursive https://github.com/espressif/esp-idf.git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esp-idf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./install.sh esp32c3,esp32c6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./export.sh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pip install pyaudio zeroconf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3. 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$HOME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git clone https://github.com/riscv-prg32/PRG32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python3 -m prg32 doctor</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One long apt line: copy it whole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Steps 2 and 3 are the same as on macOS</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Other distributions: the same packages, other names</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For the kit only: sudo usermod -aG dialout $USER</a:t>
            </a:r>
            <a:endParaRPr lang="en-US" sz="14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Every new terminal: switch ESP-IDF on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8FB3A0"/>
                </a:solidFill>
                <a:latin typeface="Courier New" pitchFamily="34" charset="0"/>
                <a:ea typeface="Courier New" pitchFamily="34" charset="-122"/>
                <a:cs typeface="Courier New" pitchFamily="34" charset="-120"/>
              </a:rPr>
              <a:t># macOS and Linux: in every new terminal, before anything else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$HOME/esp-idf/export.sh</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cd $HOME/PRG32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save typing: add these two lines to ~/.zshrc or ~/.bashrc</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alias get_idf=". $HOME/esp-idf/export.sh"</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alias prg="python3 -m 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then, in a new terminal</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get_idf</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prg doctor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Windows: open "ESP-IDF PowerShell" from the Start menu, then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cd $HOME\Documents\PRG32</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export.sh acts on the terminal it runs in, and only that one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new window is a new terminal: activate again</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aliases are a convenience, not a requirement</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Run the prg32 commands from the PRG32 folder</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doctor: is everything in place?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python3 -m prg32 doctor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idf.py found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riscv32-esp-elf-gcc found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partitions file found: .../PRG32/profiles/partitions_prg32.csv</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partition cart0 parsed (offset=0x210000, size=131072)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and when ESP-IDF is not active in this terminal: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[ERROR] idf.py missing (you must source ESP-IDF export.sh)</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idf.py: ESP-IDF is active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riscv32-esp-elf-gcc: the RISC-V compiler is reachable</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partitions: the PRG32 folder is complete</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Any ERROR line says what to do: read it</a:t>
            </a:r>
            <a:endParaRPr lang="en-US" sz="14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a cartridge from the examples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in the PRG32 folder, ESP-IDF active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python3 -m prg32 cartridge build examples/games/pong/c/game.c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--portable --entry-prefix pong_c --name pong --out pong.prg32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[OK] built pong.prg32 name=pong load=0x40800000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[INFO] code=3004 mem=3028 audio=0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what did we build?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python3 -m prg32 cartridge summary pong.prg32</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cartridge build: source in, .prg32 out</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--entry-prefix: the name before _init, _update, _draw</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--portable: runs on every host, not on one firmware only</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whole Pong: three thousand bytes</a:t>
            </a:r>
            <a:endParaRPr lang="en-US" sz="1500" dirty="0"/>
          </a:p>
        </p:txBody>
      </p:sp>
      <p:sp>
        <p:nvSpPr>
          <p:cNvPr id="17" name="Shape 15"/>
          <p:cNvSpPr/>
          <p:nvPr/>
        </p:nvSpPr>
        <p:spPr>
          <a:xfrm>
            <a:off x="6495364" y="91440"/>
            <a:ext cx="5147691" cy="274320"/>
          </a:xfrm>
          <a:prstGeom prst="rect">
            <a:avLst/>
          </a:prstGeom>
          <a:solidFill>
            <a:srgbClr val="F3E8FF"/>
          </a:solidFill>
          <a:ln w="12700">
            <a:solidFill>
              <a:srgbClr val="7E22CE"/>
            </a:solidFill>
            <a:prstDash val="dash"/>
          </a:ln>
        </p:spPr>
      </p:sp>
      <p:sp>
        <p:nvSpPr>
          <p:cNvPr id="18" name="Shape 16"/>
          <p:cNvSpPr/>
          <p:nvPr/>
        </p:nvSpPr>
        <p:spPr>
          <a:xfrm>
            <a:off x="6522796" y="128016"/>
            <a:ext cx="45720" cy="45720"/>
          </a:xfrm>
          <a:prstGeom prst="rect">
            <a:avLst/>
          </a:prstGeom>
          <a:solidFill>
            <a:srgbClr val="7E22CE"/>
          </a:solidFill>
          <a:ln w="12700">
            <a:solidFill>
              <a:srgbClr val="7E22CE"/>
            </a:solidFill>
            <a:prstDash val="solid"/>
          </a:ln>
        </p:spPr>
      </p:sp>
      <p:sp>
        <p:nvSpPr>
          <p:cNvPr id="19" name="Shape 17"/>
          <p:cNvSpPr/>
          <p:nvPr/>
        </p:nvSpPr>
        <p:spPr>
          <a:xfrm>
            <a:off x="6522796" y="205740"/>
            <a:ext cx="45720" cy="45720"/>
          </a:xfrm>
          <a:prstGeom prst="rect">
            <a:avLst/>
          </a:prstGeom>
          <a:solidFill>
            <a:srgbClr val="7E22CE"/>
          </a:solidFill>
          <a:ln w="12700">
            <a:solidFill>
              <a:srgbClr val="7E22CE"/>
            </a:solidFill>
            <a:prstDash val="solid"/>
          </a:ln>
        </p:spPr>
      </p:sp>
      <p:sp>
        <p:nvSpPr>
          <p:cNvPr id="20" name="Shape 18"/>
          <p:cNvSpPr/>
          <p:nvPr/>
        </p:nvSpPr>
        <p:spPr>
          <a:xfrm>
            <a:off x="6522796"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6623380" y="128016"/>
            <a:ext cx="201168" cy="201168"/>
          </a:xfrm>
          <a:prstGeom prst="rect">
            <a:avLst/>
          </a:prstGeom>
        </p:spPr>
      </p:pic>
      <p:sp>
        <p:nvSpPr>
          <p:cNvPr id="22" name="Text 19"/>
          <p:cNvSpPr txBox="1"/>
          <p:nvPr/>
        </p:nvSpPr>
        <p:spPr>
          <a:xfrm>
            <a:off x="6879412" y="91440"/>
            <a:ext cx="4727067"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the init, update, draw contract</a:t>
            </a:r>
            <a:pPr indent="0" marL="0">
              <a:buNone/>
            </a:pPr>
            <a:r>
              <a:rPr lang="en-US" sz="1100" b="1" dirty="0">
                <a:solidFill>
                  <a:srgbClr val="6B21A8"/>
                </a:solidFill>
                <a:latin typeface="Calibri" pitchFamily="34" charset="0"/>
                <a:ea typeface="Calibri" pitchFamily="34" charset="-122"/>
                <a:cs typeface="Calibri" pitchFamily="34" charset="-120"/>
              </a:rPr>
              <a:t> → Lecture 02</a:t>
            </a:r>
            <a:endParaRPr lang="en-US" sz="1100" dirty="0"/>
          </a:p>
        </p:txBody>
      </p:sp>
      <p:sp>
        <p:nvSpPr>
          <p:cNvPr id="23" name="Shape 20"/>
          <p:cNvSpPr/>
          <p:nvPr/>
        </p:nvSpPr>
        <p:spPr>
          <a:xfrm>
            <a:off x="4030548" y="91440"/>
            <a:ext cx="2355088" cy="274320"/>
          </a:xfrm>
          <a:prstGeom prst="rect">
            <a:avLst/>
          </a:prstGeom>
          <a:solidFill>
            <a:srgbClr val="FEF3C7"/>
          </a:solidFill>
          <a:ln w="12700">
            <a:solidFill>
              <a:srgbClr val="B45309"/>
            </a:solidFill>
            <a:prstDash val="solid"/>
          </a:ln>
        </p:spPr>
      </p:sp>
      <p:sp>
        <p:nvSpPr>
          <p:cNvPr id="24" name="Shape 21"/>
          <p:cNvSpPr/>
          <p:nvPr/>
        </p:nvSpPr>
        <p:spPr>
          <a:xfrm>
            <a:off x="4030548" y="91440"/>
            <a:ext cx="27432" cy="274320"/>
          </a:xfrm>
          <a:prstGeom prst="rect">
            <a:avLst/>
          </a:prstGeom>
          <a:solidFill>
            <a:srgbClr val="B45309"/>
          </a:solidFill>
          <a:ln w="12700">
            <a:solidFill>
              <a:srgbClr val="B45309"/>
            </a:solidFill>
            <a:prstDash val="solid"/>
          </a:ln>
        </p:spPr>
      </p:sp>
      <p:sp>
        <p:nvSpPr>
          <p:cNvPr id="25" name="Shape 22"/>
          <p:cNvSpPr/>
          <p:nvPr/>
        </p:nvSpPr>
        <p:spPr>
          <a:xfrm>
            <a:off x="4085412" y="91440"/>
            <a:ext cx="27432" cy="274320"/>
          </a:xfrm>
          <a:prstGeom prst="rect">
            <a:avLst/>
          </a:prstGeom>
          <a:solidFill>
            <a:srgbClr val="B45309"/>
          </a:solidFill>
          <a:ln w="12700">
            <a:solidFill>
              <a:srgbClr val="B45309"/>
            </a:solidFill>
            <a:prstDash val="solid"/>
          </a:ln>
        </p:spPr>
      </p:sp>
      <p:pic>
        <p:nvPicPr>
          <p:cNvPr id="26" name="Image 1" descr="preencoded.png">    </p:cNvPr>
          <p:cNvPicPr>
            <a:picLocks noChangeAspect="1"/>
          </p:cNvPicPr>
          <p:nvPr/>
        </p:nvPicPr>
        <p:blipFill>
          <a:blip r:embed="rId2"/>
          <a:stretch>
            <a:fillRect/>
          </a:stretch>
        </p:blipFill>
        <p:spPr>
          <a:xfrm>
            <a:off x="4158564" y="128016"/>
            <a:ext cx="201168" cy="201168"/>
          </a:xfrm>
          <a:prstGeom prst="rect">
            <a:avLst/>
          </a:prstGeom>
        </p:spPr>
      </p:pic>
      <p:sp>
        <p:nvSpPr>
          <p:cNvPr id="27" name="Text 23"/>
          <p:cNvSpPr txBox="1"/>
          <p:nvPr/>
        </p:nvSpPr>
        <p:spPr>
          <a:xfrm>
            <a:off x="4414596"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Send it to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750" dirty="0">
                <a:solidFill>
                  <a:srgbClr val="8FB3A0"/>
                </a:solidFill>
                <a:latin typeface="Courier New" pitchFamily="34" charset="0"/>
                <a:ea typeface="Courier New" pitchFamily="34" charset="-122"/>
                <a:cs typeface="Courier New" pitchFamily="34" charset="-120"/>
              </a:rPr>
              <a:t># PRG32-QT must be running on this computer</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1. is it listening?</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python3 -m prg32 runtime --url http://localhost:8080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2. upload the cartridge to slot cart0 and start it</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python3 -m prg32 esp32c6 upload-and-run pong.prg32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--url http://localhost:8080 --slot cart0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{"loaded":false,"ok":true,"slot":"cart0","stored":true}</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{"ok":true,"slot":"cart0"}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[OK] Finished upload and run on ESP32C6</a:t>
            </a:r>
            <a:endParaRPr lang="en-US" sz="17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runtime prints its state: a quick connection test</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command says esp32c6: for the tool, PRG32-QT is a board</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Look inside: the debugger</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open Settings and enable Run cartridges in RISC-V debug mode</a:t>
            </a:r>
            <a:endParaRPr lang="en-US" sz="2200" dirty="0"/>
          </a:p>
        </p:txBody>
      </p:sp>
      <p:sp>
        <p:nvSpPr>
          <p:cNvPr id="5" name="Text 3"/>
          <p:cNvSpPr txBox="1"/>
          <p:nvPr/>
        </p:nvSpPr>
        <p:spPr>
          <a:xfrm>
            <a:off x="548640" y="21045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08625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Run the cartridge again: the game is on the left, the machine on the right</a:t>
            </a:r>
            <a:endParaRPr lang="en-US" sz="2200" dirty="0"/>
          </a:p>
        </p:txBody>
      </p:sp>
      <p:sp>
        <p:nvSpPr>
          <p:cNvPr id="7" name="Text 5"/>
          <p:cNvSpPr txBox="1"/>
          <p:nvPr/>
        </p:nvSpPr>
        <p:spPr>
          <a:xfrm>
            <a:off x="548640" y="277347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755189"/>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the pause button: the game freezes, and one instruction is highlighted in the listing</a:t>
            </a:r>
            <a:endParaRPr lang="en-US" sz="2200" dirty="0"/>
          </a:p>
        </p:txBody>
      </p:sp>
      <p:sp>
        <p:nvSpPr>
          <p:cNvPr id="9" name="Text 7"/>
          <p:cNvSpPr txBox="1"/>
          <p:nvPr/>
        </p:nvSpPr>
        <p:spPr>
          <a:xfrm>
            <a:off x="548640" y="368523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666947"/>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the step button a few times: the highlight moves, and some registers change value</a:t>
            </a:r>
            <a:endParaRPr lang="en-US" sz="2200" dirty="0"/>
          </a:p>
        </p:txBody>
      </p:sp>
      <p:sp>
        <p:nvSpPr>
          <p:cNvPr id="11" name="Text 9"/>
          <p:cNvSpPr txBox="1"/>
          <p:nvPr/>
        </p:nvSpPr>
        <p:spPr>
          <a:xfrm>
            <a:off x="548640" y="459699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57870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Update, then Draw: the listing jumps to those two functions of the cartridge</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the play button: the game goes on. Lower the speed to 0.1x and watch it in slow motion</a:t>
            </a:r>
            <a:endParaRPr lang="en-US" sz="2200" dirty="0"/>
          </a:p>
        </p:txBody>
      </p:sp>
      <p:sp>
        <p:nvSpPr>
          <p:cNvPr id="15" name="Shape 13"/>
          <p:cNvSpPr/>
          <p:nvPr/>
        </p:nvSpPr>
        <p:spPr>
          <a:xfrm>
            <a:off x="7939862" y="91440"/>
            <a:ext cx="3703193" cy="274320"/>
          </a:xfrm>
          <a:prstGeom prst="rect">
            <a:avLst/>
          </a:prstGeom>
          <a:solidFill>
            <a:srgbClr val="F3E8FF"/>
          </a:solidFill>
          <a:ln w="12700">
            <a:solidFill>
              <a:srgbClr val="7E22CE"/>
            </a:solidFill>
            <a:prstDash val="dash"/>
          </a:ln>
        </p:spPr>
      </p:sp>
      <p:sp>
        <p:nvSpPr>
          <p:cNvPr id="16" name="Shape 14"/>
          <p:cNvSpPr/>
          <p:nvPr/>
        </p:nvSpPr>
        <p:spPr>
          <a:xfrm>
            <a:off x="7967294" y="128016"/>
            <a:ext cx="45720" cy="45720"/>
          </a:xfrm>
          <a:prstGeom prst="rect">
            <a:avLst/>
          </a:prstGeom>
          <a:solidFill>
            <a:srgbClr val="7E22CE"/>
          </a:solidFill>
          <a:ln w="12700">
            <a:solidFill>
              <a:srgbClr val="7E22CE"/>
            </a:solidFill>
            <a:prstDash val="solid"/>
          </a:ln>
        </p:spPr>
      </p:sp>
      <p:sp>
        <p:nvSpPr>
          <p:cNvPr id="17" name="Shape 15"/>
          <p:cNvSpPr/>
          <p:nvPr/>
        </p:nvSpPr>
        <p:spPr>
          <a:xfrm>
            <a:off x="7967294" y="205740"/>
            <a:ext cx="45720" cy="45720"/>
          </a:xfrm>
          <a:prstGeom prst="rect">
            <a:avLst/>
          </a:prstGeom>
          <a:solidFill>
            <a:srgbClr val="7E22CE"/>
          </a:solidFill>
          <a:ln w="12700">
            <a:solidFill>
              <a:srgbClr val="7E22CE"/>
            </a:solidFill>
            <a:prstDash val="solid"/>
          </a:ln>
        </p:spPr>
      </p:sp>
      <p:sp>
        <p:nvSpPr>
          <p:cNvPr id="18" name="Shape 16"/>
          <p:cNvSpPr/>
          <p:nvPr/>
        </p:nvSpPr>
        <p:spPr>
          <a:xfrm>
            <a:off x="7967294" y="283464"/>
            <a:ext cx="45720" cy="45720"/>
          </a:xfrm>
          <a:prstGeom prst="rect">
            <a:avLst/>
          </a:prstGeom>
          <a:solidFill>
            <a:srgbClr val="7E22CE"/>
          </a:solidFill>
          <a:ln w="12700">
            <a:solidFill>
              <a:srgbClr val="7E22CE"/>
            </a:solidFill>
            <a:prstDash val="solid"/>
          </a:ln>
        </p:spPr>
      </p:sp>
      <p:pic>
        <p:nvPicPr>
          <p:cNvPr id="19" name="Image 0" descr="preencoded.png">    </p:cNvPr>
          <p:cNvPicPr>
            <a:picLocks noChangeAspect="1"/>
          </p:cNvPicPr>
          <p:nvPr/>
        </p:nvPicPr>
        <p:blipFill>
          <a:blip r:embed="rId1"/>
          <a:stretch>
            <a:fillRect/>
          </a:stretch>
        </p:blipFill>
        <p:spPr>
          <a:xfrm>
            <a:off x="8067878" y="128016"/>
            <a:ext cx="201168" cy="201168"/>
          </a:xfrm>
          <a:prstGeom prst="rect">
            <a:avLst/>
          </a:prstGeom>
        </p:spPr>
      </p:pic>
      <p:sp>
        <p:nvSpPr>
          <p:cNvPr id="20" name="Text 17"/>
          <p:cNvSpPr txBox="1"/>
          <p:nvPr/>
        </p:nvSpPr>
        <p:spPr>
          <a:xfrm>
            <a:off x="8323910" y="91440"/>
            <a:ext cx="328256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registers</a:t>
            </a:r>
            <a:pPr indent="0" marL="0">
              <a:buNone/>
            </a:pPr>
            <a:r>
              <a:rPr lang="en-US" sz="1100" b="1" dirty="0">
                <a:solidFill>
                  <a:srgbClr val="6B21A8"/>
                </a:solidFill>
                <a:latin typeface="Calibri" pitchFamily="34" charset="0"/>
                <a:ea typeface="Calibri" pitchFamily="34" charset="-122"/>
                <a:cs typeface="Calibri" pitchFamily="34" charset="-120"/>
              </a:rPr>
              <a:t> → Lecture 02</a:t>
            </a:r>
            <a:endParaRPr lang="en-US" sz="1100" dirty="0"/>
          </a:p>
        </p:txBody>
      </p:sp>
      <p:sp>
        <p:nvSpPr>
          <p:cNvPr id="21" name="Shape 18"/>
          <p:cNvSpPr/>
          <p:nvPr/>
        </p:nvSpPr>
        <p:spPr>
          <a:xfrm>
            <a:off x="5081092" y="91440"/>
            <a:ext cx="2749042" cy="274320"/>
          </a:xfrm>
          <a:prstGeom prst="rect">
            <a:avLst/>
          </a:prstGeom>
          <a:solidFill>
            <a:srgbClr val="FEF3C7"/>
          </a:solidFill>
          <a:ln w="12700">
            <a:solidFill>
              <a:srgbClr val="B45309"/>
            </a:solidFill>
            <a:prstDash val="solid"/>
          </a:ln>
        </p:spPr>
      </p:sp>
      <p:sp>
        <p:nvSpPr>
          <p:cNvPr id="22" name="Shape 19"/>
          <p:cNvSpPr/>
          <p:nvPr/>
        </p:nvSpPr>
        <p:spPr>
          <a:xfrm>
            <a:off x="5081092" y="91440"/>
            <a:ext cx="27432" cy="274320"/>
          </a:xfrm>
          <a:prstGeom prst="rect">
            <a:avLst/>
          </a:prstGeom>
          <a:solidFill>
            <a:srgbClr val="B45309"/>
          </a:solidFill>
          <a:ln w="12700">
            <a:solidFill>
              <a:srgbClr val="B45309"/>
            </a:solidFill>
            <a:prstDash val="solid"/>
          </a:ln>
        </p:spPr>
      </p:sp>
      <p:sp>
        <p:nvSpPr>
          <p:cNvPr id="23" name="Shape 20"/>
          <p:cNvSpPr/>
          <p:nvPr/>
        </p:nvSpPr>
        <p:spPr>
          <a:xfrm>
            <a:off x="5135956" y="91440"/>
            <a:ext cx="27432" cy="274320"/>
          </a:xfrm>
          <a:prstGeom prst="rect">
            <a:avLst/>
          </a:prstGeom>
          <a:solidFill>
            <a:srgbClr val="B45309"/>
          </a:solidFill>
          <a:ln w="12700">
            <a:solidFill>
              <a:srgbClr val="B45309"/>
            </a:solidFill>
            <a:prstDash val="solid"/>
          </a:ln>
        </p:spPr>
      </p:sp>
      <p:pic>
        <p:nvPicPr>
          <p:cNvPr id="24" name="Image 1" descr="preencoded.png">    </p:cNvPr>
          <p:cNvPicPr>
            <a:picLocks noChangeAspect="1"/>
          </p:cNvPicPr>
          <p:nvPr/>
        </p:nvPicPr>
        <p:blipFill>
          <a:blip r:embed="rId2"/>
          <a:stretch>
            <a:fillRect/>
          </a:stretch>
        </p:blipFill>
        <p:spPr>
          <a:xfrm>
            <a:off x="5209108" y="128016"/>
            <a:ext cx="201168" cy="201168"/>
          </a:xfrm>
          <a:prstGeom prst="rect">
            <a:avLst/>
          </a:prstGeom>
        </p:spPr>
      </p:pic>
      <p:sp>
        <p:nvSpPr>
          <p:cNvPr id="25" name="Text 21"/>
          <p:cNvSpPr txBox="1"/>
          <p:nvPr/>
        </p:nvSpPr>
        <p:spPr>
          <a:xfrm>
            <a:off x="5465140"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machine, open</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prg32qt_debugger_details.png">    </p:cNvPr>
          <p:cNvPicPr>
            <a:picLocks noChangeAspect="1"/>
          </p:cNvPicPr>
          <p:nvPr/>
        </p:nvPicPr>
        <p:blipFill>
          <a:blip r:embed="rId1"/>
          <a:stretch>
            <a:fillRect/>
          </a:stretch>
        </p:blipFill>
        <p:spPr>
          <a:xfrm>
            <a:off x="4846368" y="1554480"/>
            <a:ext cx="2498959"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Assembly with the current instruction, the 32 registers, memory, and the counters of the frame</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If you see this with your own cartridge, you are ready for the rest of the course.</a:t>
            </a:r>
            <a:endParaRPr lang="en-US" sz="1900" dirty="0"/>
          </a:p>
        </p:txBody>
      </p:sp>
      <p:sp>
        <p:nvSpPr>
          <p:cNvPr id="7" name="Shape 4"/>
          <p:cNvSpPr/>
          <p:nvPr/>
        </p:nvSpPr>
        <p:spPr>
          <a:xfrm>
            <a:off x="7939862" y="91440"/>
            <a:ext cx="3703193" cy="274320"/>
          </a:xfrm>
          <a:prstGeom prst="rect">
            <a:avLst/>
          </a:prstGeom>
          <a:solidFill>
            <a:srgbClr val="F3E8FF"/>
          </a:solidFill>
          <a:ln w="12700">
            <a:solidFill>
              <a:srgbClr val="7E22CE"/>
            </a:solidFill>
            <a:prstDash val="dash"/>
          </a:ln>
        </p:spPr>
      </p:sp>
      <p:sp>
        <p:nvSpPr>
          <p:cNvPr id="8" name="Shape 5"/>
          <p:cNvSpPr/>
          <p:nvPr/>
        </p:nvSpPr>
        <p:spPr>
          <a:xfrm>
            <a:off x="7967294" y="128016"/>
            <a:ext cx="45720" cy="45720"/>
          </a:xfrm>
          <a:prstGeom prst="rect">
            <a:avLst/>
          </a:prstGeom>
          <a:solidFill>
            <a:srgbClr val="7E22CE"/>
          </a:solidFill>
          <a:ln w="12700">
            <a:solidFill>
              <a:srgbClr val="7E22CE"/>
            </a:solidFill>
            <a:prstDash val="solid"/>
          </a:ln>
        </p:spPr>
      </p:sp>
      <p:sp>
        <p:nvSpPr>
          <p:cNvPr id="9" name="Shape 6"/>
          <p:cNvSpPr/>
          <p:nvPr/>
        </p:nvSpPr>
        <p:spPr>
          <a:xfrm>
            <a:off x="7967294" y="205740"/>
            <a:ext cx="45720" cy="45720"/>
          </a:xfrm>
          <a:prstGeom prst="rect">
            <a:avLst/>
          </a:prstGeom>
          <a:solidFill>
            <a:srgbClr val="7E22CE"/>
          </a:solidFill>
          <a:ln w="12700">
            <a:solidFill>
              <a:srgbClr val="7E22CE"/>
            </a:solidFill>
            <a:prstDash val="solid"/>
          </a:ln>
        </p:spPr>
      </p:sp>
      <p:sp>
        <p:nvSpPr>
          <p:cNvPr id="10" name="Shape 7"/>
          <p:cNvSpPr/>
          <p:nvPr/>
        </p:nvSpPr>
        <p:spPr>
          <a:xfrm>
            <a:off x="7967294" y="283464"/>
            <a:ext cx="45720" cy="45720"/>
          </a:xfrm>
          <a:prstGeom prst="rect">
            <a:avLst/>
          </a:prstGeom>
          <a:solidFill>
            <a:srgbClr val="7E22CE"/>
          </a:solidFill>
          <a:ln w="12700">
            <a:solidFill>
              <a:srgbClr val="7E22CE"/>
            </a:solidFill>
            <a:prstDash val="solid"/>
          </a:ln>
        </p:spPr>
      </p:sp>
      <p:pic>
        <p:nvPicPr>
          <p:cNvPr id="11" name="Image 1" descr="preencoded.png">    </p:cNvPr>
          <p:cNvPicPr>
            <a:picLocks noChangeAspect="1"/>
          </p:cNvPicPr>
          <p:nvPr/>
        </p:nvPicPr>
        <p:blipFill>
          <a:blip r:embed="rId2"/>
          <a:stretch>
            <a:fillRect/>
          </a:stretch>
        </p:blipFill>
        <p:spPr>
          <a:xfrm>
            <a:off x="8067878" y="128016"/>
            <a:ext cx="201168" cy="201168"/>
          </a:xfrm>
          <a:prstGeom prst="rect">
            <a:avLst/>
          </a:prstGeom>
        </p:spPr>
      </p:pic>
      <p:sp>
        <p:nvSpPr>
          <p:cNvPr id="12" name="Text 8"/>
          <p:cNvSpPr txBox="1"/>
          <p:nvPr/>
        </p:nvSpPr>
        <p:spPr>
          <a:xfrm>
            <a:off x="8323910" y="91440"/>
            <a:ext cx="328256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registers</a:t>
            </a:r>
            <a:pPr indent="0" marL="0">
              <a:buNone/>
            </a:pPr>
            <a:r>
              <a:rPr lang="en-US" sz="1100" b="1" dirty="0">
                <a:solidFill>
                  <a:srgbClr val="6B21A8"/>
                </a:solidFill>
                <a:latin typeface="Calibri" pitchFamily="34" charset="0"/>
                <a:ea typeface="Calibri" pitchFamily="34" charset="-122"/>
                <a:cs typeface="Calibri" pitchFamily="34" charset="-120"/>
              </a:rPr>
              <a:t> → Lecture 02</a:t>
            </a:r>
            <a:endParaRPr lang="en-US" sz="1100" dirty="0"/>
          </a:p>
        </p:txBody>
      </p:sp>
      <p:sp>
        <p:nvSpPr>
          <p:cNvPr id="13" name="Shape 9"/>
          <p:cNvSpPr/>
          <p:nvPr/>
        </p:nvSpPr>
        <p:spPr>
          <a:xfrm>
            <a:off x="5081092" y="91440"/>
            <a:ext cx="2749042" cy="274320"/>
          </a:xfrm>
          <a:prstGeom prst="rect">
            <a:avLst/>
          </a:prstGeom>
          <a:solidFill>
            <a:srgbClr val="FEF3C7"/>
          </a:solidFill>
          <a:ln w="12700">
            <a:solidFill>
              <a:srgbClr val="B45309"/>
            </a:solidFill>
            <a:prstDash val="solid"/>
          </a:ln>
        </p:spPr>
      </p:sp>
      <p:sp>
        <p:nvSpPr>
          <p:cNvPr id="14" name="Shape 10"/>
          <p:cNvSpPr/>
          <p:nvPr/>
        </p:nvSpPr>
        <p:spPr>
          <a:xfrm>
            <a:off x="5081092" y="91440"/>
            <a:ext cx="27432" cy="274320"/>
          </a:xfrm>
          <a:prstGeom prst="rect">
            <a:avLst/>
          </a:prstGeom>
          <a:solidFill>
            <a:srgbClr val="B45309"/>
          </a:solidFill>
          <a:ln w="12700">
            <a:solidFill>
              <a:srgbClr val="B45309"/>
            </a:solidFill>
            <a:prstDash val="solid"/>
          </a:ln>
        </p:spPr>
      </p:sp>
      <p:sp>
        <p:nvSpPr>
          <p:cNvPr id="15" name="Shape 11"/>
          <p:cNvSpPr/>
          <p:nvPr/>
        </p:nvSpPr>
        <p:spPr>
          <a:xfrm>
            <a:off x="5135956" y="91440"/>
            <a:ext cx="27432" cy="274320"/>
          </a:xfrm>
          <a:prstGeom prst="rect">
            <a:avLst/>
          </a:prstGeom>
          <a:solidFill>
            <a:srgbClr val="B45309"/>
          </a:solidFill>
          <a:ln w="12700">
            <a:solidFill>
              <a:srgbClr val="B45309"/>
            </a:solidFill>
            <a:prstDash val="solid"/>
          </a:ln>
        </p:spPr>
      </p:sp>
      <p:pic>
        <p:nvPicPr>
          <p:cNvPr id="16" name="Image 2" descr="preencoded.png">    </p:cNvPr>
          <p:cNvPicPr>
            <a:picLocks noChangeAspect="1"/>
          </p:cNvPicPr>
          <p:nvPr/>
        </p:nvPicPr>
        <p:blipFill>
          <a:blip r:embed="rId3"/>
          <a:stretch>
            <a:fillRect/>
          </a:stretch>
        </p:blipFill>
        <p:spPr>
          <a:xfrm>
            <a:off x="5209108" y="128016"/>
            <a:ext cx="201168" cy="201168"/>
          </a:xfrm>
          <a:prstGeom prst="rect">
            <a:avLst/>
          </a:prstGeom>
        </p:spPr>
      </p:pic>
      <p:sp>
        <p:nvSpPr>
          <p:cNvPr id="17" name="Text 12"/>
          <p:cNvSpPr txBox="1"/>
          <p:nvPr/>
        </p:nvSpPr>
        <p:spPr>
          <a:xfrm>
            <a:off x="5465140"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Level 3: the QEMU emulator</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libraries for the window of the emulator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brew install libgcrypt glib pixman sdl2 libslirp                     </a:t>
            </a:r>
            <a:pPr indent="0" marL="0">
              <a:buNone/>
            </a:pPr>
            <a:r>
              <a:rPr lang="en-US" sz="1250" dirty="0">
                <a:solidFill>
                  <a:srgbClr val="8FB3A0"/>
                </a:solidFill>
                <a:latin typeface="Courier New" pitchFamily="34" charset="0"/>
                <a:ea typeface="Courier New" pitchFamily="34" charset="-122"/>
                <a:cs typeface="Courier New" pitchFamily="34" charset="-120"/>
              </a:rPr>
              <a:t> # macOS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-y libgcrypt20 libglib2.0-0 libpixman-1-0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libsdl2-2.0-0 libslirp0                                          </a:t>
            </a:r>
            <a:pPr indent="0" marL="0">
              <a:buNone/>
            </a:pPr>
            <a:r>
              <a:rPr lang="en-US" sz="1250" dirty="0">
                <a:solidFill>
                  <a:srgbClr val="8FB3A0"/>
                </a:solidFill>
                <a:latin typeface="Courier New" pitchFamily="34" charset="0"/>
                <a:ea typeface="Courier New" pitchFamily="34" charset="-122"/>
                <a:cs typeface="Courier New" pitchFamily="34" charset="-120"/>
              </a:rPr>
              <a:t> # Linux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the emulator itself (Windows: tick it in the ESP-IDF installer)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 $IDF_PATH/tools/idf_tools.py install qemu-riscv32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$IDF_PATH/export.sh</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the firmware for QEMU, stage a cartridge, run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build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upload pong.prg32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run</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QEMU emulates a whole chip and runs the real firmware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qemu build compiles the firmware: several minutes</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upload stages the cartridge: close QEMU first</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QEMU opens on Setup: Run Cartridge, cart0. Type in the terminal</a:t>
            </a:r>
            <a:endParaRPr lang="en-US" sz="13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Level 4: the kit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connect the board with a USB cable; ESP-IDF active, in the PRG32 folder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esp32c6 build-and-flash</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the board starts and creates a Wi-Fi network</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name: PRG32     password: prg32game     address: 192.168.4.1</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join it with your laptop, then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esp32c6 upload-and-run pong.prg32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--url http://192.168.4.1 --slot cart0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or let the board join the Wi-Fi of the classroom</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wifi set --ssid "NAME" --password "PASSWORD" --mode sta</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build-and-flash writes the firmware: once per board. It starts on Setup</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After that, games arrive over Wi-Fi: no more cables</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another address</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Linux: your user must be in the group dialout</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l01.S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01: PRG32 and PRG32-QT: Setting Up Your Workshop</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l01.S: a test pattern that proves the installation works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four vertical bars, red, green, blue and white, and the words PRG32</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OK.</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l01.S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l01 --name l01 --out l01.prg32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WHITE, 0xffff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l01.S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l01_draw: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bar number,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bars            </a:t>
            </a:r>
            <a:pPr indent="0" marL="0">
              <a:buNone/>
            </a:pPr>
            <a:r>
              <a:rPr lang="en-US" sz="1200" dirty="0">
                <a:solidFill>
                  <a:srgbClr val="8FB3A0"/>
                </a:solidFill>
                <a:latin typeface="Courier New" pitchFamily="34" charset="0"/>
                <a:ea typeface="Courier New" pitchFamily="34" charset="-122"/>
                <a:cs typeface="Courier New" pitchFamily="34" charset="-120"/>
              </a:rPr>
              <a:t># the table of the four colours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           </a:t>
            </a:r>
            <a:pPr indent="0" marL="0">
              <a:buNone/>
            </a:pPr>
            <a:r>
              <a:rPr lang="en-US" sz="1200" dirty="0">
                <a:solidFill>
                  <a:srgbClr val="8FB3A0"/>
                </a:solidFill>
                <a:latin typeface="Courier New" pitchFamily="34" charset="0"/>
                <a:ea typeface="Courier New" pitchFamily="34" charset="-122"/>
                <a:cs typeface="Courier New" pitchFamily="34" charset="-120"/>
              </a:rPr>
              <a:t># 4 bytes per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a4, 0(t0)           </a:t>
            </a:r>
            <a:pPr indent="0" marL="0">
              <a:buNone/>
            </a:pPr>
            <a:r>
              <a:rPr lang="en-US" sz="1200" dirty="0">
                <a:solidFill>
                  <a:srgbClr val="8FB3A0"/>
                </a:solidFill>
                <a:latin typeface="Courier New" pitchFamily="34" charset="0"/>
                <a:ea typeface="Courier New" pitchFamily="34" charset="-122"/>
                <a:cs typeface="Courier New" pitchFamily="34" charset="-120"/>
              </a:rPr>
              <a:t># a4 = colour of bar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a0, s0, 6           </a:t>
            </a:r>
            <a:pPr indent="0" marL="0">
              <a:buNone/>
            </a:pPr>
            <a:r>
              <a:rPr lang="en-US" sz="1200" dirty="0">
                <a:solidFill>
                  <a:srgbClr val="8FB3A0"/>
                </a:solidFill>
                <a:latin typeface="Courier New" pitchFamily="34" charset="0"/>
                <a:ea typeface="Courier New" pitchFamily="34" charset="-122"/>
                <a:cs typeface="Courier New" pitchFamily="34" charset="-120"/>
              </a:rPr>
              <a:t># 64 * bar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40          </a:t>
            </a:r>
            <a:pPr indent="0" marL="0">
              <a:buNone/>
            </a:pPr>
            <a:r>
              <a:rPr lang="en-US" sz="1200" dirty="0">
                <a:solidFill>
                  <a:srgbClr val="8FB3A0"/>
                </a:solidFill>
                <a:latin typeface="Courier New" pitchFamily="34" charset="0"/>
                <a:ea typeface="Courier New" pitchFamily="34" charset="-122"/>
                <a:cs typeface="Courier New" pitchFamily="34" charset="-120"/>
              </a:rPr>
              <a:t># x = 40 + 64 * bar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40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48              </a:t>
            </a:r>
            <a:pPr indent="0" marL="0">
              <a:buNone/>
            </a:pPr>
            <a:r>
              <a:rPr lang="en-US" sz="1200" dirty="0">
                <a:solidFill>
                  <a:srgbClr val="8FB3A0"/>
                </a:solidFill>
                <a:latin typeface="Courier New" pitchFamily="34" charset="0"/>
                <a:ea typeface="Courier New" pitchFamily="34" charset="-122"/>
                <a:cs typeface="Courier New" pitchFamily="34" charset="-120"/>
              </a:rPr>
              <a:t># width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100             </a:t>
            </a:r>
            <a:pPr indent="0" marL="0">
              <a:buNone/>
            </a:pPr>
            <a:r>
              <a:rPr lang="en-US" sz="1200" dirty="0">
                <a:solidFill>
                  <a:srgbClr val="8FB3A0"/>
                </a:solidFill>
                <a:latin typeface="Courier New" pitchFamily="34" charset="0"/>
                <a:ea typeface="Courier New" pitchFamily="34" charset="-122"/>
                <a:cs typeface="Courier New" pitchFamily="34" charset="-120"/>
              </a:rPr>
              <a:t># height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s0,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blt  s0, t0, 1b</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124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160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ok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l01.S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a4,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prg32_gfx_text8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bars: .word 0xf800, 0x07e0, 0x001f, 0xffff     </a:t>
            </a:r>
            <a:pPr indent="0" marL="0">
              <a:buNone/>
            </a:pPr>
            <a:r>
              <a:rPr lang="en-US" sz="1800" dirty="0">
                <a:solidFill>
                  <a:srgbClr val="8FB3A0"/>
                </a:solidFill>
                <a:latin typeface="Courier New" pitchFamily="34" charset="0"/>
                <a:ea typeface="Courier New" pitchFamily="34" charset="-122"/>
                <a:cs typeface="Courier New" pitchFamily="34" charset="-120"/>
              </a:rPr>
              <a:t># red, green, blue, white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ok:   .asciz "PRG32 OK"</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vertical bars, red, green, blue and white, and the words PRG32 OK.</a:t>
            </a:r>
            <a:endParaRPr lang="en-US" sz="2400" dirty="0"/>
          </a:p>
        </p:txBody>
      </p:sp>
      <p:sp>
        <p:nvSpPr>
          <p:cNvPr id="5" name="Shape 3"/>
          <p:cNvSpPr/>
          <p:nvPr/>
        </p:nvSpPr>
        <p:spPr>
          <a:xfrm>
            <a:off x="548640" y="323850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1658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l01 --out l01.prg32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Before the next lecture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Finish the five checks of the Ready slide on your own laptop</a:t>
            </a:r>
            <a:endParaRPr lang="en-US" sz="2200" dirty="0"/>
          </a:p>
        </p:txBody>
      </p:sp>
      <p:sp>
        <p:nvSpPr>
          <p:cNvPr id="6" name="Text 4"/>
          <p:cNvSpPr txBox="1"/>
          <p:nvPr/>
        </p:nvSpPr>
        <p:spPr>
          <a:xfrm>
            <a:off x="548640" y="20731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5486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Download three cartridges from the Store, and find in each the first instruction of update with the debugger</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Build one of the other examples in examples/games, and run it</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Close everything, restart the computer, and get back to a running cartridge without these slides</a:t>
            </a:r>
            <a:endParaRPr lang="en-US" sz="22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Optional: install QEMU and run the same cartridge there</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Your workshop survives a restart, and you can open it without help.</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PRG32 and PRG32-QT: Setting Up Your Workshop: the code</dc:title>
  <dc:subject>Lecture 01</dc:subject>
  <dc:creator>Raffaele Montella</dc:creator>
  <cp:lastModifiedBy>Raffaele Montella</cp:lastModifiedBy>
  <cp:revision>1</cp:revision>
  <dcterms:created xsi:type="dcterms:W3CDTF">2026-10-16T16:46:55Z</dcterms:created>
  <dcterms:modified xsi:type="dcterms:W3CDTF">2026-10-16T16:46:55Z</dcterms:modified>
</cp:coreProperties>
</file>