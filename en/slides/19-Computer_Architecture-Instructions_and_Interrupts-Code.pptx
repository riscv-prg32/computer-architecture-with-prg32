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3cf1007-81ee-4ea6-3a1d-4d0c359ea572}">
          <p14:sldIdLst>
            <p14:sldId id="256"/>
            <p14:sldId id="257"/>
          </p14:sldIdLst>
        </p14:section>
        <p14:section name="The listings" id="{43dc47a5-a699-fd80-f0f6-1f92a9efe684}">
          <p14:sldIdLst>
            <p14:sldId id="258"/>
            <p14:sldId id="259"/>
            <p14:sldId id="260"/>
            <p14:sldId id="261"/>
            <p14:sldId id="262"/>
          </p14:sldIdLst>
        </p14:section>
        <p14:section name="The complete program" id="{db5b08d0-b0c9-efda-12c6-253727c4d4c1}">
          <p14:sldIdLst>
            <p14:sldId id="263"/>
            <p14:sldId id="264"/>
            <p14:sldId id="265"/>
            <p14:sldId id="266"/>
            <p14:sldId id="267"/>
            <p14:sldId id="268"/>
          </p14:sldIdLst>
        </p14:section>
        <p14:section name="Run it and test it" id="{57a44520-b5b6-9ce0-bcc8-01d549bac75b}">
          <p14:sldIdLst>
            <p14:sldId id="269"/>
            <p14:sldId id="270"/>
            <p14:sldId id="271"/>
            <p14:sldId id="272"/>
            <p14:sldId id="273"/>
          </p14:sldIdLst>
        </p14:section>
        <p14:section name="Exercises" id="{17dca10f-3fdd-f67e-3a74-ac1f910a9939}">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19.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~/arc12/code/l19.S; tools/tests/cartridges/run.py builds it, runs it on PRG32-QT with scripted input and checks the pixels of the frame.
For the lecturer: Get the code once: git clone https://github.com/riscv-prg32/computer-architecture-with-prg32 ~/arc12. The program of this lecture is ~/arc12/code/l19.S;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words of memory, four addresses apart: this is first_update, the function that increments a counter. On the left the addresses, in the middle the machine code, on the right what you wrote. The processor has only the middle column. Three questions organise the lecture. How does it know that the first word is a load and the second an addition? Which steps does it take for each? And while it executes them, how does it notice that a button was pressed or a timer expired?
For the lecturer: The la that precedes these instructions is omitted, and the encodings are the uncompressed 32-bit ones: with the C extension the assembler may choose 16-bit forms for some of them. Addresses are relative to the start of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instructions decoded by hand. Write the eight hexadecimal digits in binary; cut off the last seven bits, the opcode, which tells you the format; then cut the remaining fields. For 0x006283B3 the opcode says register to register, the fields give x7, x5 and x6, and funct3 with funct7 say addition: add t2, t0, t1. For 0x0002A303 the opcode says load, the immediate is 0, the base is x5, the destination x6: lw t1, 0(t0). Do it once with pencil and paper.
For the lecturer: Method: write the eight hexadecimal digits in binary, cut off the last seven bits (the opcode), look up the format, then cut the fields. The decoders of Lecture 11 do the same thing in a fraction of a nanosecond.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fetch phase in four register transfers, using the registers of the model of Lecture 18. The content of the PC goes to MA, the memory address register. The memory is read and the word arrives in MB, the buffer. The word is copied into D, the decoding register. The PC is increased by 4, because an instruction occupies four bytes, so that it points to the next one. Each row is a transfer on the internal bus, commanded by the control unit.
For the lecturer: Fase fetch. PC, D, MA and MB are the registers of the reference model of Lecture 18; the transfers travel on the internal bus. In the original deck the machine had 16-bit words and the PC advanced by 2; in RV32 a word is four bytes, so the PC advances by 4 (by 2 after a compressed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four phases, side by side for two instructions. For add, decoding reads the two registers into the operand registers of the ALU, execution adds them, the memory phase is skipped, and the sum is written in t2. For lw, the second operand is the immediate, the sum is an address, the memory phase reads the word at that address, and the word read is written in t1. The same adder serves both: only the commands of the control unit differ.
For the lecturer: O1, O2 and U are the registers of the ALU. The same adder computes a sum for add and an address for lw: only the control signals differ. A store ends at the memory phase; a branch ends at execute, by choosing the next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handler in outline. It makes room on the stack and saves the registers it is going to use: the software part of the context. It reads mcause with csrr and tests its sign: the top bit is the sign bit, so bgez separates exceptions from interrupts with one instruction. After serving the event it restores the registers, releases the stack and executes mret. The interrupted program must not notice anything: one register left dirty here is a bug that appears at random, anywhere.
For the lecturer: An outline, not the PRG32 source: a real handler saves all the caller-saved registers, usually on a separate stack reached through mscratch. csrr t0, mcause is the pseudo-instruction for csrrs t0, mcause,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Decode two words by hand, with format, fields and assembly. Encode sub t0, t1, t2 and sw a0, 8(sp): the inverse path. Write the register transfers of the whole cycle for a store and for a branch. Draw the pipeline diagram of six instructions on four stages and say when the sixth finishes. And in PRG32-QT stop in first_update, step, and compare the machine code shown with your decoding of the warm-up.
For the lecturer: 0x00A28293: imm 10, rs1 x5, funct3 000, rd x5, opcode 0010011. 0x40628333: funct7 0100000, rs2 x6, rs1 x5, funct3 000, rd x6, opcode 0110011. sub t0, t1, t2 = 0x407302B3. sw a0, 8(sp) = 0x00A12423. Six instructions on four stages complete at cycle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19: Instructions and interrupts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Instructions and Interrupts: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game_asteroids.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19,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code/l19.S, 112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words in memory</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address     machine code     what you wrote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0x000       0x0002A303       lw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0x004       0x00130313       addi t1, t1,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0x008       0x0062A023       sw   t1,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0x00C       0x00008067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This is first_update of Lecture 02 as it sits in memory: four numbers, four addresses apart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How does the processor know that the first is a load and the second an addition?</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Which steps does it take for each of them?</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And while it runs them, how does it notice that a button was pressed or a timer expired?</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Decoding by hand</a:t>
            </a:r>
            <a:endParaRPr lang="en-US" sz="3200" dirty="0"/>
          </a:p>
        </p:txBody>
      </p:sp>
      <p:sp>
        <p:nvSpPr>
          <p:cNvPr id="3" name="Text 1"/>
          <p:cNvSpPr txBox="1"/>
          <p:nvPr/>
        </p:nvSpPr>
        <p:spPr>
          <a:xfrm>
            <a:off x="548640" y="132588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0x006283B3</a:t>
            </a:r>
            <a:endParaRPr lang="en-US" sz="2200" dirty="0"/>
          </a:p>
        </p:txBody>
      </p:sp>
      <p:sp>
        <p:nvSpPr>
          <p:cNvPr id="4" name="Text 2"/>
          <p:cNvSpPr txBox="1"/>
          <p:nvPr/>
        </p:nvSpPr>
        <p:spPr>
          <a:xfrm>
            <a:off x="8229600" y="132588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add t2, t0, t1</a:t>
            </a:r>
            <a:endParaRPr lang="en-US" sz="2200" dirty="0"/>
          </a:p>
        </p:txBody>
      </p:sp>
      <p:sp>
        <p:nvSpPr>
          <p:cNvPr id="5" name="Text 3"/>
          <p:cNvSpPr txBox="1"/>
          <p:nvPr/>
        </p:nvSpPr>
        <p:spPr>
          <a:xfrm>
            <a:off x="548640" y="2194560"/>
            <a:ext cx="2394823"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a:t>
            </a:r>
            <a:endParaRPr lang="en-US" sz="1600" dirty="0"/>
          </a:p>
        </p:txBody>
      </p:sp>
      <p:sp>
        <p:nvSpPr>
          <p:cNvPr id="6" name="Text 4"/>
          <p:cNvSpPr txBox="1"/>
          <p:nvPr/>
        </p:nvSpPr>
        <p:spPr>
          <a:xfrm>
            <a:off x="548640"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funct7</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 not sub</a:t>
            </a:r>
            <a:endParaRPr lang="en-US" sz="1300" dirty="0"/>
          </a:p>
        </p:txBody>
      </p:sp>
      <p:sp>
        <p:nvSpPr>
          <p:cNvPr id="7" name="Text 5"/>
          <p:cNvSpPr txBox="1"/>
          <p:nvPr/>
        </p:nvSpPr>
        <p:spPr>
          <a:xfrm>
            <a:off x="585216"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8" name="Text 6"/>
          <p:cNvSpPr txBox="1"/>
          <p:nvPr/>
        </p:nvSpPr>
        <p:spPr>
          <a:xfrm>
            <a:off x="1746051"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25</a:t>
            </a:r>
            <a:endParaRPr lang="en-US" sz="1050" dirty="0"/>
          </a:p>
        </p:txBody>
      </p:sp>
      <p:sp>
        <p:nvSpPr>
          <p:cNvPr id="9" name="Text 7"/>
          <p:cNvSpPr txBox="1"/>
          <p:nvPr/>
        </p:nvSpPr>
        <p:spPr>
          <a:xfrm>
            <a:off x="2943463"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10" name="Text 8"/>
          <p:cNvSpPr txBox="1"/>
          <p:nvPr/>
        </p:nvSpPr>
        <p:spPr>
          <a:xfrm>
            <a:off x="2943463"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rs2</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11" name="Text 9"/>
          <p:cNvSpPr txBox="1"/>
          <p:nvPr/>
        </p:nvSpPr>
        <p:spPr>
          <a:xfrm>
            <a:off x="2980039"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24</a:t>
            </a:r>
            <a:endParaRPr lang="en-US" sz="1050" dirty="0"/>
          </a:p>
        </p:txBody>
      </p:sp>
      <p:sp>
        <p:nvSpPr>
          <p:cNvPr id="12" name="Text 10"/>
          <p:cNvSpPr txBox="1"/>
          <p:nvPr/>
        </p:nvSpPr>
        <p:spPr>
          <a:xfrm>
            <a:off x="3798757"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13" name="Text 11"/>
          <p:cNvSpPr txBox="1"/>
          <p:nvPr/>
        </p:nvSpPr>
        <p:spPr>
          <a:xfrm>
            <a:off x="4654050"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14" name="Text 12"/>
          <p:cNvSpPr txBox="1"/>
          <p:nvPr/>
        </p:nvSpPr>
        <p:spPr>
          <a:xfrm>
            <a:off x="4654050"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15" name="Text 13"/>
          <p:cNvSpPr txBox="1"/>
          <p:nvPr/>
        </p:nvSpPr>
        <p:spPr>
          <a:xfrm>
            <a:off x="4690626"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6" name="Text 14"/>
          <p:cNvSpPr txBox="1"/>
          <p:nvPr/>
        </p:nvSpPr>
        <p:spPr>
          <a:xfrm>
            <a:off x="5509344"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7" name="Text 15"/>
          <p:cNvSpPr txBox="1"/>
          <p:nvPr/>
        </p:nvSpPr>
        <p:spPr>
          <a:xfrm>
            <a:off x="6364638" y="219456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a:t>
            </a:r>
            <a:endParaRPr lang="en-US" sz="1600" dirty="0"/>
          </a:p>
        </p:txBody>
      </p:sp>
      <p:sp>
        <p:nvSpPr>
          <p:cNvPr id="18" name="Text 16"/>
          <p:cNvSpPr txBox="1"/>
          <p:nvPr/>
        </p:nvSpPr>
        <p:spPr>
          <a:xfrm>
            <a:off x="6364638" y="279806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a:t>
            </a:r>
            <a:endParaRPr lang="en-US" sz="1300" dirty="0"/>
          </a:p>
        </p:txBody>
      </p:sp>
      <p:sp>
        <p:nvSpPr>
          <p:cNvPr id="19" name="Text 17"/>
          <p:cNvSpPr txBox="1"/>
          <p:nvPr/>
        </p:nvSpPr>
        <p:spPr>
          <a:xfrm>
            <a:off x="6401214" y="195681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20" name="Text 18"/>
          <p:cNvSpPr txBox="1"/>
          <p:nvPr/>
        </p:nvSpPr>
        <p:spPr>
          <a:xfrm>
            <a:off x="6951141" y="195681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21" name="Text 19"/>
          <p:cNvSpPr txBox="1"/>
          <p:nvPr/>
        </p:nvSpPr>
        <p:spPr>
          <a:xfrm>
            <a:off x="7537645" y="219456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00111</a:t>
            </a:r>
            <a:endParaRPr lang="en-US" sz="1600" dirty="0"/>
          </a:p>
        </p:txBody>
      </p:sp>
      <p:sp>
        <p:nvSpPr>
          <p:cNvPr id="22" name="Text 20"/>
          <p:cNvSpPr txBox="1"/>
          <p:nvPr/>
        </p:nvSpPr>
        <p:spPr>
          <a:xfrm>
            <a:off x="7537645"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x7 = t2</a:t>
            </a:r>
            <a:endParaRPr lang="en-US" sz="1300" dirty="0"/>
          </a:p>
        </p:txBody>
      </p:sp>
      <p:sp>
        <p:nvSpPr>
          <p:cNvPr id="23" name="Text 21"/>
          <p:cNvSpPr txBox="1"/>
          <p:nvPr/>
        </p:nvSpPr>
        <p:spPr>
          <a:xfrm>
            <a:off x="7574221"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24" name="Text 22"/>
          <p:cNvSpPr txBox="1"/>
          <p:nvPr/>
        </p:nvSpPr>
        <p:spPr>
          <a:xfrm>
            <a:off x="8392939"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25" name="Text 23"/>
          <p:cNvSpPr txBox="1"/>
          <p:nvPr/>
        </p:nvSpPr>
        <p:spPr>
          <a:xfrm>
            <a:off x="9248232" y="219456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0110011</a:t>
            </a:r>
            <a:endParaRPr lang="en-US" sz="1600" dirty="0"/>
          </a:p>
        </p:txBody>
      </p:sp>
      <p:sp>
        <p:nvSpPr>
          <p:cNvPr id="26" name="Text 24"/>
          <p:cNvSpPr txBox="1"/>
          <p:nvPr/>
        </p:nvSpPr>
        <p:spPr>
          <a:xfrm>
            <a:off x="9248232"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register-register</a:t>
            </a:r>
            <a:endParaRPr lang="en-US" sz="1300" dirty="0"/>
          </a:p>
        </p:txBody>
      </p:sp>
      <p:sp>
        <p:nvSpPr>
          <p:cNvPr id="27" name="Text 25"/>
          <p:cNvSpPr txBox="1"/>
          <p:nvPr/>
        </p:nvSpPr>
        <p:spPr>
          <a:xfrm>
            <a:off x="9284808"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8" name="Text 26"/>
          <p:cNvSpPr txBox="1"/>
          <p:nvPr/>
        </p:nvSpPr>
        <p:spPr>
          <a:xfrm>
            <a:off x="10445644"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9" name="Text 27"/>
          <p:cNvSpPr txBox="1"/>
          <p:nvPr/>
        </p:nvSpPr>
        <p:spPr>
          <a:xfrm>
            <a:off x="548640" y="379476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0x0002A303</a:t>
            </a:r>
            <a:endParaRPr lang="en-US" sz="2200" dirty="0"/>
          </a:p>
        </p:txBody>
      </p:sp>
      <p:sp>
        <p:nvSpPr>
          <p:cNvPr id="30" name="Text 28"/>
          <p:cNvSpPr txBox="1"/>
          <p:nvPr/>
        </p:nvSpPr>
        <p:spPr>
          <a:xfrm>
            <a:off x="8229600" y="379476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lw t1, 0(t0)</a:t>
            </a:r>
            <a:endParaRPr lang="en-US" sz="2200" dirty="0"/>
          </a:p>
        </p:txBody>
      </p:sp>
      <p:sp>
        <p:nvSpPr>
          <p:cNvPr id="31" name="Text 29"/>
          <p:cNvSpPr txBox="1"/>
          <p:nvPr/>
        </p:nvSpPr>
        <p:spPr>
          <a:xfrm>
            <a:off x="548640" y="4663440"/>
            <a:ext cx="4105410" cy="54864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000000000000</a:t>
            </a:r>
            <a:endParaRPr lang="en-US" sz="1600" dirty="0"/>
          </a:p>
        </p:txBody>
      </p:sp>
      <p:sp>
        <p:nvSpPr>
          <p:cNvPr id="32" name="Text 30"/>
          <p:cNvSpPr txBox="1"/>
          <p:nvPr/>
        </p:nvSpPr>
        <p:spPr>
          <a:xfrm>
            <a:off x="548640" y="5266944"/>
            <a:ext cx="4105410"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immediate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offset 0</a:t>
            </a:r>
            <a:endParaRPr lang="en-US" sz="1300" dirty="0"/>
          </a:p>
        </p:txBody>
      </p:sp>
      <p:sp>
        <p:nvSpPr>
          <p:cNvPr id="33" name="Text 31"/>
          <p:cNvSpPr txBox="1"/>
          <p:nvPr/>
        </p:nvSpPr>
        <p:spPr>
          <a:xfrm>
            <a:off x="585216" y="4425696"/>
            <a:ext cx="205270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34" name="Text 32"/>
          <p:cNvSpPr txBox="1"/>
          <p:nvPr/>
        </p:nvSpPr>
        <p:spPr>
          <a:xfrm>
            <a:off x="2601345" y="4425696"/>
            <a:ext cx="2016129"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35" name="Text 33"/>
          <p:cNvSpPr txBox="1"/>
          <p:nvPr/>
        </p:nvSpPr>
        <p:spPr>
          <a:xfrm>
            <a:off x="4654050" y="466344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36" name="Text 34"/>
          <p:cNvSpPr txBox="1"/>
          <p:nvPr/>
        </p:nvSpPr>
        <p:spPr>
          <a:xfrm>
            <a:off x="4654050"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37" name="Text 35"/>
          <p:cNvSpPr txBox="1"/>
          <p:nvPr/>
        </p:nvSpPr>
        <p:spPr>
          <a:xfrm>
            <a:off x="4690626"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38" name="Text 36"/>
          <p:cNvSpPr txBox="1"/>
          <p:nvPr/>
        </p:nvSpPr>
        <p:spPr>
          <a:xfrm>
            <a:off x="5509344"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39" name="Text 37"/>
          <p:cNvSpPr txBox="1"/>
          <p:nvPr/>
        </p:nvSpPr>
        <p:spPr>
          <a:xfrm>
            <a:off x="6364638" y="466344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010</a:t>
            </a:r>
            <a:endParaRPr lang="en-US" sz="1600" dirty="0"/>
          </a:p>
        </p:txBody>
      </p:sp>
      <p:sp>
        <p:nvSpPr>
          <p:cNvPr id="40" name="Text 38"/>
          <p:cNvSpPr txBox="1"/>
          <p:nvPr/>
        </p:nvSpPr>
        <p:spPr>
          <a:xfrm>
            <a:off x="6364638" y="526694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 word</a:t>
            </a:r>
            <a:endParaRPr lang="en-US" sz="1300" dirty="0"/>
          </a:p>
        </p:txBody>
      </p:sp>
      <p:sp>
        <p:nvSpPr>
          <p:cNvPr id="41" name="Text 39"/>
          <p:cNvSpPr txBox="1"/>
          <p:nvPr/>
        </p:nvSpPr>
        <p:spPr>
          <a:xfrm>
            <a:off x="6401214" y="442569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42" name="Text 40"/>
          <p:cNvSpPr txBox="1"/>
          <p:nvPr/>
        </p:nvSpPr>
        <p:spPr>
          <a:xfrm>
            <a:off x="6951141" y="442569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43" name="Text 41"/>
          <p:cNvSpPr txBox="1"/>
          <p:nvPr/>
        </p:nvSpPr>
        <p:spPr>
          <a:xfrm>
            <a:off x="7537645" y="466344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44" name="Text 42"/>
          <p:cNvSpPr txBox="1"/>
          <p:nvPr/>
        </p:nvSpPr>
        <p:spPr>
          <a:xfrm>
            <a:off x="7537645"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45" name="Text 43"/>
          <p:cNvSpPr txBox="1"/>
          <p:nvPr/>
        </p:nvSpPr>
        <p:spPr>
          <a:xfrm>
            <a:off x="7574221"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46" name="Text 44"/>
          <p:cNvSpPr txBox="1"/>
          <p:nvPr/>
        </p:nvSpPr>
        <p:spPr>
          <a:xfrm>
            <a:off x="8392939"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47" name="Text 45"/>
          <p:cNvSpPr txBox="1"/>
          <p:nvPr/>
        </p:nvSpPr>
        <p:spPr>
          <a:xfrm>
            <a:off x="9248232" y="466344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0000011</a:t>
            </a:r>
            <a:endParaRPr lang="en-US" sz="1600" dirty="0"/>
          </a:p>
        </p:txBody>
      </p:sp>
      <p:sp>
        <p:nvSpPr>
          <p:cNvPr id="48" name="Text 46"/>
          <p:cNvSpPr txBox="1"/>
          <p:nvPr/>
        </p:nvSpPr>
        <p:spPr>
          <a:xfrm>
            <a:off x="9248232" y="526694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load</a:t>
            </a:r>
            <a:endParaRPr lang="en-US" sz="1300" dirty="0"/>
          </a:p>
        </p:txBody>
      </p:sp>
      <p:sp>
        <p:nvSpPr>
          <p:cNvPr id="49" name="Text 47"/>
          <p:cNvSpPr txBox="1"/>
          <p:nvPr/>
        </p:nvSpPr>
        <p:spPr>
          <a:xfrm>
            <a:off x="9284808" y="442569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50" name="Text 48"/>
          <p:cNvSpPr txBox="1"/>
          <p:nvPr/>
        </p:nvSpPr>
        <p:spPr>
          <a:xfrm>
            <a:off x="10445644" y="442569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fetch phase, transfer by transfer</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3273762"/>
                <a:gridCol w="7002213"/>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Step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Register transfer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Meaning</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MA := PC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address of the instruction goes to the memory address register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read enable; MB := M[MA]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memory puts the instruction on the data bus; it is latched in the buffer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 := MB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instruction is copied into the decoding register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PC := PC + 4</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PC now points to the next instruction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rest of the cycle for two instructions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4365016"/>
                <a:gridCol w="5092518"/>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Phase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add t2, t0, t1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lw t1, 0(t0)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decode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R[t1]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0  (the immediate)</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execute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  (an address)</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memory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MA := U;  read enable;  MB := M[MA]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write back</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R[t2] := 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R[t1] := MB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The same ALU adds two registers for add and forms an address for lw. The control unit, by decoding the opcode, decides which transfers happen.</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trap handler, in outline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trap_entry: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t0, 0(sp)            </a:t>
            </a:r>
            <a:pPr indent="0" marL="0">
              <a:buNone/>
            </a:pPr>
            <a:r>
              <a:rPr lang="en-US" sz="1300" dirty="0">
                <a:solidFill>
                  <a:srgbClr val="8FB3A0"/>
                </a:solidFill>
                <a:latin typeface="Courier New" pitchFamily="34" charset="0"/>
                <a:ea typeface="Courier New" pitchFamily="34" charset="-122"/>
                <a:cs typeface="Courier New" pitchFamily="34" charset="-120"/>
              </a:rPr>
              <a:t># software context: save what we use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csrr t0, mcause           </a:t>
            </a:r>
            <a:pPr indent="0" marL="0">
              <a:buNone/>
            </a:pPr>
            <a:r>
              <a:rPr lang="en-US" sz="1300" dirty="0">
                <a:solidFill>
                  <a:srgbClr val="8FB3A0"/>
                </a:solidFill>
                <a:latin typeface="Courier New" pitchFamily="34" charset="0"/>
                <a:ea typeface="Courier New" pitchFamily="34" charset="-122"/>
                <a:cs typeface="Courier New" pitchFamily="34" charset="-120"/>
              </a:rPr>
              <a:t># why are we here?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bgez t0, exception        </a:t>
            </a:r>
            <a:pPr indent="0" marL="0">
              <a:buNone/>
            </a:pPr>
            <a:r>
              <a:rPr lang="en-US" sz="1300" dirty="0">
                <a:solidFill>
                  <a:srgbClr val="8FB3A0"/>
                </a:solidFill>
                <a:latin typeface="Courier New" pitchFamily="34" charset="0"/>
                <a:ea typeface="Courier New" pitchFamily="34" charset="-122"/>
                <a:cs typeface="Courier New" pitchFamily="34" charset="-120"/>
              </a:rPr>
              <a:t># top bit 0: an exception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                       </a:t>
            </a:r>
            <a:pPr indent="0" marL="0">
              <a:buNone/>
            </a:pPr>
            <a:r>
              <a:rPr lang="en-US" sz="1300" dirty="0">
                <a:solidFill>
                  <a:srgbClr val="8FB3A0"/>
                </a:solidFill>
                <a:latin typeface="Courier New" pitchFamily="34" charset="0"/>
                <a:ea typeface="Courier New" pitchFamily="34" charset="-122"/>
                <a:cs typeface="Courier New" pitchFamily="34" charset="-120"/>
              </a:rPr>
              <a:t># top bit 1: find the device, serve 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t0, 0(sp)            </a:t>
            </a:r>
            <a:pPr indent="0" marL="0">
              <a:buNone/>
            </a:pPr>
            <a:r>
              <a:rPr lang="en-US" sz="1300" dirty="0">
                <a:solidFill>
                  <a:srgbClr val="8FB3A0"/>
                </a:solidFill>
                <a:latin typeface="Courier New" pitchFamily="34" charset="0"/>
                <a:ea typeface="Courier New" pitchFamily="34" charset="-122"/>
                <a:cs typeface="Courier New" pitchFamily="34" charset="-120"/>
              </a:rPr>
              <a:t># restore the context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mret                      </a:t>
            </a:r>
            <a:pPr indent="0" marL="0">
              <a:buNone/>
            </a:pPr>
            <a:r>
              <a:rPr lang="en-US" sz="1300" dirty="0">
                <a:solidFill>
                  <a:srgbClr val="8FB3A0"/>
                </a:solidFill>
                <a:latin typeface="Courier New" pitchFamily="34" charset="0"/>
                <a:ea typeface="Courier New" pitchFamily="34" charset="-122"/>
                <a:cs typeface="Courier New" pitchFamily="34" charset="-120"/>
              </a:rPr>
              <a:t># MIE := MPIE, PC := mepc</a:t>
            </a:r>
            <a:endParaRPr lang="en-US" sz="13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interrupted program must not notice: every register the handler touches is saved and restored</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mcause read as a signed number is negative for interrupts: bgez separates the two families</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mret is the only way back: it re-enables interrupts and reloads the PC in one step</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of the kit contains exactly such a routine; your cartridge is interrupted many times per frame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(1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ARC12 Computer Architecture - Lecture 19: Instructions and Interrupts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l19.S: four words in memory: a function read back as machine code</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screen: four rows of 32 lamps, the machine code of lw t1, 0(t0) / addi t1,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t1, 1 / sw t1, 0(t0) / ret, and beside each a green square: the word in memory is</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the one decoded by hand in the lecture.</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Build: python3 -m prg32 cartridge build l19.S --portable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--entry-prefix l19 --name l19 --out l19.prg32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GREY,   0x4208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YELLOW, 0xffe0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l19_draw</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l19_init: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ret</a:t>
            </a:r>
            <a:endParaRPr lang="en-US" sz="12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(2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l19_update: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The function of Lecture 02, kept in its uncompressed 32-bit forms.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push</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norvc</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sample: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t1, 0(t0)           </a:t>
            </a:r>
            <a:pPr indent="0" marL="0">
              <a:buNone/>
            </a:pPr>
            <a:r>
              <a:rPr lang="en-US" sz="1800" dirty="0">
                <a:solidFill>
                  <a:srgbClr val="8FB3A0"/>
                </a:solidFill>
                <a:latin typeface="Courier New" pitchFamily="34" charset="0"/>
                <a:ea typeface="Courier New" pitchFamily="34" charset="-122"/>
                <a:cs typeface="Courier New" pitchFamily="34" charset="-120"/>
              </a:rPr>
              <a:t># 0x0002A303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1           </a:t>
            </a:r>
            <a:pPr indent="0" marL="0">
              <a:buNone/>
            </a:pPr>
            <a:r>
              <a:rPr lang="en-US" sz="1800" dirty="0">
                <a:solidFill>
                  <a:srgbClr val="8FB3A0"/>
                </a:solidFill>
                <a:latin typeface="Courier New" pitchFamily="34" charset="0"/>
                <a:ea typeface="Courier New" pitchFamily="34" charset="-122"/>
                <a:cs typeface="Courier New" pitchFamily="34" charset="-120"/>
              </a:rPr>
              <a:t># 0x00130313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t1, 0(t0)           </a:t>
            </a:r>
            <a:pPr indent="0" marL="0">
              <a:buNone/>
            </a:pPr>
            <a:r>
              <a:rPr lang="en-US" sz="1800" dirty="0">
                <a:solidFill>
                  <a:srgbClr val="8FB3A0"/>
                </a:solidFill>
                <a:latin typeface="Courier New" pitchFamily="34" charset="0"/>
                <a:ea typeface="Courier New" pitchFamily="34" charset="-122"/>
                <a:cs typeface="Courier New" pitchFamily="34" charset="-120"/>
              </a:rPr>
              <a:t># 0x0062A023</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                      </a:t>
            </a:r>
            <a:pPr indent="0" marL="0">
              <a:buNone/>
            </a:pPr>
            <a:r>
              <a:rPr lang="en-US" sz="1800" dirty="0">
                <a:solidFill>
                  <a:srgbClr val="8FB3A0"/>
                </a:solidFill>
                <a:latin typeface="Courier New" pitchFamily="34" charset="0"/>
                <a:ea typeface="Courier New" pitchFamily="34" charset="-122"/>
                <a:cs typeface="Courier New" pitchFamily="34" charset="-120"/>
              </a:rPr>
              <a:t># 0x00008067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pop</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(3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l19_draw: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BLACK</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s0, 0               </a:t>
            </a:r>
            <a:pPr indent="0" marL="0">
              <a:buNone/>
            </a:pPr>
            <a:r>
              <a:rPr lang="en-US" sz="1200" dirty="0">
                <a:solidFill>
                  <a:srgbClr val="8FB3A0"/>
                </a:solidFill>
                <a:latin typeface="Courier New" pitchFamily="34" charset="0"/>
                <a:ea typeface="Courier New" pitchFamily="34" charset="-122"/>
                <a:cs typeface="Courier New" pitchFamily="34" charset="-120"/>
              </a:rPr>
              <a:t># which instruction, 0 to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la   t0, sample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           </a:t>
            </a:r>
            <a:pPr indent="0" marL="0">
              <a:buNone/>
            </a:pPr>
            <a:r>
              <a:rPr lang="en-US" sz="1200" dirty="0">
                <a:solidFill>
                  <a:srgbClr val="8FB3A0"/>
                </a:solidFill>
                <a:latin typeface="Courier New" pitchFamily="34" charset="0"/>
                <a:ea typeface="Courier New" pitchFamily="34" charset="-122"/>
                <a:cs typeface="Courier New" pitchFamily="34" charset="-120"/>
              </a:rPr>
              <a:t># instructions are 4 bytes apart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s1, 0(t0)           </a:t>
            </a:r>
            <a:pPr indent="0" marL="0">
              <a:buNone/>
            </a:pPr>
            <a:r>
              <a:rPr lang="en-US" sz="1200" dirty="0">
                <a:solidFill>
                  <a:srgbClr val="8FB3A0"/>
                </a:solidFill>
                <a:latin typeface="Courier New" pitchFamily="34" charset="0"/>
                <a:ea typeface="Courier New" pitchFamily="34" charset="-122"/>
                <a:cs typeface="Courier New" pitchFamily="34" charset="-120"/>
              </a:rPr>
              <a:t># the instruction, fetched as a datum</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a0,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a1, s0, 5</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a1, a1, 30          </a:t>
            </a:r>
            <a:pPr indent="0" marL="0">
              <a:buNone/>
            </a:pPr>
            <a:r>
              <a:rPr lang="en-US" sz="1200" dirty="0">
                <a:solidFill>
                  <a:srgbClr val="8FB3A0"/>
                </a:solidFill>
                <a:latin typeface="Courier New" pitchFamily="34" charset="0"/>
                <a:ea typeface="Courier New" pitchFamily="34" charset="-122"/>
                <a:cs typeface="Courier New" pitchFamily="34" charset="-120"/>
              </a:rPr>
              <a:t># y = 30 + 32 *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t0, expected        </a:t>
            </a:r>
            <a:pPr indent="0" marL="0">
              <a:buNone/>
            </a:pPr>
            <a:r>
              <a:rPr lang="en-US" sz="1200" dirty="0">
                <a:solidFill>
                  <a:srgbClr val="8FB3A0"/>
                </a:solidFill>
                <a:latin typeface="Courier New" pitchFamily="34" charset="0"/>
                <a:ea typeface="Courier New" pitchFamily="34" charset="-122"/>
                <a:cs typeface="Courier New" pitchFamily="34" charset="-120"/>
              </a:rPr>
              <a:t># compare with the encoding worked out by hand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slli t1, s0,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t0, t0, t1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t2, 0(t0)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RED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bne  s1, t2,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li   a0, 306</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(4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slli a1, s0,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a1, a1, 30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s0, s0,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4</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s0,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(5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lamps32: show the 32 bits of a word as a row of lamps, bit 31 on the left.</a:t>
            </a:r>
            <a:endParaRPr lang="en-US" sz="1200" dirty="0"/>
          </a:p>
          <a:p>
            <a:pPr indent="0" marL="0">
              <a:buNone/>
            </a:pPr>
            <a:r>
              <a:rPr lang="en-US" sz="1200" dirty="0">
                <a:solidFill>
                  <a:srgbClr val="8FB3A0"/>
                </a:solidFill>
                <a:latin typeface="Courier New" pitchFamily="34" charset="0"/>
                <a:ea typeface="Courier New" pitchFamily="34" charset="-122"/>
                <a:cs typeface="Courier New" pitchFamily="34" charset="-120"/>
              </a:rPr>
              <a:t>#   a0 = the word, a1 = y of the row.  A lamp is yellow for 1, grey for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lamps32: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28(sp)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s0, 24(sp)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s1, 20(sp)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s2, 16(sp)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s0, a0              </a:t>
            </a:r>
            <a:pPr indent="0" marL="0">
              <a:buNone/>
            </a:pPr>
            <a:r>
              <a:rPr lang="en-US" sz="1200" dirty="0">
                <a:solidFill>
                  <a:srgbClr val="8FB3A0"/>
                </a:solidFill>
                <a:latin typeface="Courier New" pitchFamily="34" charset="0"/>
                <a:ea typeface="Courier New" pitchFamily="34" charset="-122"/>
                <a:cs typeface="Courier New" pitchFamily="34" charset="-120"/>
              </a:rPr>
              <a:t># the word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s1, a1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s2, 0               </a:t>
            </a:r>
            <a:pPr indent="0" marL="0">
              <a:buNone/>
            </a:pPr>
            <a:r>
              <a:rPr lang="en-US" sz="1200" dirty="0">
                <a:solidFill>
                  <a:srgbClr val="8FB3A0"/>
                </a:solidFill>
                <a:latin typeface="Courier New" pitchFamily="34" charset="0"/>
                <a:ea typeface="Courier New" pitchFamily="34" charset="-122"/>
                <a:cs typeface="Courier New" pitchFamily="34" charset="-120"/>
              </a:rPr>
              <a:t># lamp number, 0 on the left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1:  li   t0, 31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  t0, t0, s2          </a:t>
            </a:r>
            <a:pPr indent="0" marL="0">
              <a:buNone/>
            </a:pPr>
            <a:r>
              <a:rPr lang="en-US" sz="1200" dirty="0">
                <a:solidFill>
                  <a:srgbClr val="8FB3A0"/>
                </a:solidFill>
                <a:latin typeface="Courier New" pitchFamily="34" charset="0"/>
                <a:ea typeface="Courier New" pitchFamily="34" charset="-122"/>
                <a:cs typeface="Courier New" pitchFamily="34" charset="-120"/>
              </a:rPr>
              <a:t># lamp i shows bit 31 -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  t1, s0, t0          </a:t>
            </a:r>
            <a:pPr indent="0" marL="0">
              <a:buNone/>
            </a:pPr>
            <a:r>
              <a:rPr lang="en-US" sz="1200" dirty="0">
                <a:solidFill>
                  <a:srgbClr val="8FB3A0"/>
                </a:solidFill>
                <a:latin typeface="Courier New" pitchFamily="34" charset="0"/>
                <a:ea typeface="Courier New" pitchFamily="34" charset="-122"/>
                <a:cs typeface="Courier New" pitchFamily="34" charset="-120"/>
              </a:rPr>
              <a:t># bring that bit down to bit 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t1, t1, 1           </a:t>
            </a:r>
            <a:pPr indent="0" marL="0">
              <a:buNone/>
            </a:pPr>
            <a:r>
              <a:rPr lang="en-US" sz="1200" dirty="0">
                <a:solidFill>
                  <a:srgbClr val="8FB3A0"/>
                </a:solidFill>
                <a:latin typeface="Courier New" pitchFamily="34" charset="0"/>
                <a:ea typeface="Courier New" pitchFamily="34" charset="-122"/>
                <a:cs typeface="Courier New" pitchFamily="34" charset="-120"/>
              </a:rPr>
              <a:t># keep it, clear all the others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GREY            </a:t>
            </a:r>
            <a:pPr indent="0" marL="0">
              <a:buNone/>
            </a:pPr>
            <a:r>
              <a:rPr lang="en-US" sz="1200" dirty="0">
                <a:solidFill>
                  <a:srgbClr val="8FB3A0"/>
                </a:solidFill>
                <a:latin typeface="Courier New" pitchFamily="34" charset="0"/>
                <a:ea typeface="Courier New" pitchFamily="34" charset="-122"/>
                <a:cs typeface="Courier New" pitchFamily="34" charset="-120"/>
              </a:rPr>
              <a:t># lamp off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beqz t1, 2f</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YELLOW          </a:t>
            </a:r>
            <a:pPr indent="0" marL="0">
              <a:buNone/>
            </a:pPr>
            <a:r>
              <a:rPr lang="en-US" sz="1200" dirty="0">
                <a:solidFill>
                  <a:srgbClr val="8FB3A0"/>
                </a:solidFill>
                <a:latin typeface="Courier New" pitchFamily="34" charset="0"/>
                <a:ea typeface="Courier New" pitchFamily="34" charset="-122"/>
                <a:cs typeface="Courier New" pitchFamily="34" charset="-120"/>
              </a:rPr>
              <a:t># lamp on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2:  slli a0, s2, 3</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  a0, a0, s2          </a:t>
            </a:r>
            <a:pPr indent="0" marL="0">
              <a:buNone/>
            </a:pPr>
            <a:r>
              <a:rPr lang="en-US" sz="1200" dirty="0">
                <a:solidFill>
                  <a:srgbClr val="8FB3A0"/>
                </a:solidFill>
                <a:latin typeface="Courier New" pitchFamily="34" charset="0"/>
                <a:ea typeface="Courier New" pitchFamily="34" charset="-122"/>
                <a:cs typeface="Courier New" pitchFamily="34" charset="-120"/>
              </a:rPr>
              <a:t>#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a0, a0, 16          </a:t>
            </a:r>
            <a:pPr indent="0" marL="0">
              <a:buNone/>
            </a:pPr>
            <a:r>
              <a:rPr lang="en-US" sz="1200" dirty="0">
                <a:solidFill>
                  <a:srgbClr val="8FB3A0"/>
                </a:solidFill>
                <a:latin typeface="Courier New" pitchFamily="34" charset="0"/>
                <a:ea typeface="Courier New" pitchFamily="34" charset="-122"/>
                <a:cs typeface="Courier New" pitchFamily="34" charset="-120"/>
              </a:rPr>
              <a:t># x = 16 + 9 * i</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a2, 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8</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l19.S (6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call prg32_gfx_rect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s2, s2,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s2,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.rodata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expected: .word 0x0002A303, 0x00130313, 0x0062A023, 0x00008067</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four rows of 32 lamps, the machine code of lw t1, 0(t0) / addi t1, t1, 1 / sw t1, 0(t0) / ret, and beside each a green square: the word in memory is the one decoded by hand in the lecture.</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9.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l19 --out l19.prg32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l19.prg32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l19 --name l19 --architecture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l19-esp32c6.prg32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l19-esp32c6.prg32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l19;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Decode 0x00A28293 and 0x40628333 by hand: format, fields, assembly</a:t>
            </a:r>
            <a:endParaRPr lang="en-US" sz="2200" dirty="0"/>
          </a:p>
        </p:txBody>
      </p:sp>
      <p:sp>
        <p:nvSpPr>
          <p:cNvPr id="6" name="Text 4"/>
          <p:cNvSpPr txBox="1"/>
          <p:nvPr/>
        </p:nvSpPr>
        <p:spPr>
          <a:xfrm>
            <a:off x="548640" y="20124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415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Encode sub t0, t1, t2 and sw a0, 8(sp)</a:t>
            </a:r>
            <a:endParaRPr lang="en-US" sz="2200" dirty="0"/>
          </a:p>
        </p:txBody>
      </p:sp>
      <p:sp>
        <p:nvSpPr>
          <p:cNvPr id="8" name="Text 6"/>
          <p:cNvSpPr txBox="1"/>
          <p:nvPr/>
        </p:nvSpPr>
        <p:spPr>
          <a:xfrm>
            <a:off x="548640" y="25892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57098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the register transfers of the whole cycle for sw t1, 0(t0) and for beq t0, t1, target</a:t>
            </a:r>
            <a:endParaRPr lang="en-US" sz="2200" dirty="0"/>
          </a:p>
        </p:txBody>
      </p:sp>
      <p:sp>
        <p:nvSpPr>
          <p:cNvPr id="10" name="Text 8"/>
          <p:cNvSpPr txBox="1"/>
          <p:nvPr/>
        </p:nvSpPr>
        <p:spPr>
          <a:xfrm>
            <a:off x="548640" y="340893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39064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Draw the pipeline diagram for six instructions on a four-stage pipeline: when does the sixth complete?</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set a breakpoint in first_update, step, and compare the machine code shown with your decoding of the warm-up</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addi t0, t0, 10 and sub t1, t0, t1. On PRG32-QT: the four words of the warm-up, or their compressed equivalents.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Instructions and Interrupts: the code</dc:title>
  <dc:subject>Lecture 19</dc:subject>
  <dc:creator>Raffaele Montella</dc:creator>
  <cp:lastModifiedBy>Raffaele Montella</cp:lastModifiedBy>
  <cp:revision>1</cp:revision>
  <dcterms:created xsi:type="dcterms:W3CDTF">2026-10-13T08:56:24Z</dcterms:created>
  <dcterms:modified xsi:type="dcterms:W3CDTF">2026-10-13T08:56:24Z</dcterms:modified>
</cp:coreProperties>
</file>