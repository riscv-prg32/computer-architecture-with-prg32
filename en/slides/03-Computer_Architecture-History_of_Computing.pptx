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1cba1e-7535-1c79-cb99-59ac03bb95f7}">
          <p14:sldIdLst>
            <p14:sldId id="256"/>
            <p14:sldId id="257"/>
          </p14:sldIdLst>
        </p14:section>
        <p14:section name="What is informatics?" id="{584ba2d7-4128-902b-b82b-50edfd2b10a4}">
          <p14:sldIdLst>
            <p14:sldId id="258"/>
            <p14:sldId id="259"/>
          </p14:sldIdLst>
        </p14:section>
        <p14:section name="Before electricity" id="{a276add6-9147-dcbd-fe09-daaa3e3c8cab}">
          <p14:sldIdLst>
            <p14:sldId id="260"/>
            <p14:sldId id="261"/>
            <p14:sldId id="262"/>
            <p14:sldId id="263"/>
          </p14:sldIdLst>
        </p14:section>
        <p14:section name="The twentieth century" id="{6ea0ee08-ccf5-bf28-503a-1d2de334d0a1}">
          <p14:sldIdLst>
            <p14:sldId id="264"/>
            <p14:sldId id="265"/>
            <p14:sldId id="266"/>
          </p14:sldIdLst>
        </p14:section>
        <p14:section name="From home computers to RISC-V" id="{0024c251-4438-71c8-84ff-fab1b8f2917f}">
          <p14:sldIdLst>
            <p14:sldId id="267"/>
            <p14:sldId id="268"/>
            <p14:sldId id="269"/>
          </p14:sldIdLst>
        </p14:section>
        <p14:section name="Informatics as an applied science" id="{89fb472e-3f42-de6b-3461-3ba7545c83a6}">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ran a RISC-V program; this one asks where that machine comes from. It is not a chronology to be memorised. The history is presented as a sequence of conceptual contributions, each adding one idea that is still embodied in the chip of the PRG32 kit: physical representation, mechanised procedure, the program as data, the reduced instruction set, the open standard. The epigraph is the canonical first program, from the book that introduced the C language: since then every programmer has begun by making a machine say hello, as the student did with HELLO PRG32.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
Roadmap. Today's outcomes: (1) define informatics and explain why it is not only about computers; (2) name the units of the von Neumann architecture and its stored-program idea; (3) say what distinguishes RISC from CISC and why RISC-V is open. Builds on: only what Lecture 01 set up. Next: Lecture 04, Representing Digital Information.
For the lecturer: The students have already run a RISC-V program (Lecture 02). This lecture tells them where that machine comes from: every stage of the story adds one idea that is still inside the 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The first is conceptual: defining informatics and explaining why it is not the science of computers. The second and third are historical: placing the principal machines and people on a timeline, and naming the four units of the von Neumann architecture, which will be recognised in the machine already programmed. The fourth accounts for the name of the processor used in the course: what RISC means, and why RISC-V is open. The fifth situates the discipline among science, engineering and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has three components, each worth weighing. Applied science: informatics employs the results of the basic sciences to solve problems. Treatment of information: its object is information, not the machine. Automated procedures: the treatment is carried out by procedures that require no human judgement in their execution. The Italian word informatica, from the French information automatique, expresses this directly; the English computer science places the instrument in the name and invites a misunderstanding, which the remark attributed to Edsger Dijkstra corrects: computer science is no more about computers than astronomy is about telescopes.
UNDERSTAND NOW: what informatics is.
For the lecturer: « L'informatica non riguarda i computer più di quanto l'astronomia riguardi i telescopi. » The Italian form of a remark attributed to Edsger W. Dijkstra: computer science is no more about computers than astronomy is about telescopes.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has two complementary dimensions. Theoretical informatics studies its foundations: what can be computed at all, at what cost, and by which algorithms, an algorithm being a finite set of operations that transforms an input A into an output B. Applied informatics builds the technologies and information systems that permeate the economy and society, and must manage their costs, among them the digital divide between those who have access and competence and those who do not. This course participates in both: Boolean algebra is theory, a cartridge is application, and the course is constructed so that each illuminates the other.
UNDERSTAND NOW: what informatics is.
For the lecturer: The word cloud of the original slide: design, analysis, languages, development, databases, networks, computing, multimedia, web, cloud, apps, IoT, AI, machine learning, mobile, algorithms, embedded, video games, graphics,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ancient devices illustrate the first idea. In the abacus, Roman or Chinese, a number is a configuration of beads: the data are physically represented and the operations are movements of the hand. The Antikythera mechanism, built in Greece around the second or first century BC, goes further: a train of gears computes the positions of the Sun and the Moon and predicts eclipses. A number is the angle of a wheel, and the calculation is embodied in the ratios of the gears. The sentence beneath the pictures states the principle that the next lecture develops: representation precedes calculation.
For the lecturer: The dating of the Antikythera mechanism is debated: most estimates fall between about 205 and 60 BC.
Pictures: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ninth and the thirteenth century the Islamic world contributes instruments, methods and vocabulary. Instruments: the astrolabe and the torquetum, for astronomy. Methods: al-Kindi devises frequency analysis, the first systematic technique of cryptanalysis. Machines: the automatic flute player of the Banu Musa brothers and the automata of al-Jazari are driven by interchangeable sequences, an early form of program. Vocabulary: algorithm derives from the name of al-Khwarizmi, and algebra from the title of his treatise.
For the lecturer: The source slide dated the period to the 11th-12th century; the people named here span the 9th to the early 13th.
Pictures: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development run in parallel between 1600 and 1800. The first is mechanical calculation: Napier's logarithms, Pascal's machine that adds with automatic carry propagation, Leibniz's machine for the four operations. The second is logic: Leibniz describes binary arithmetic in 1703, and in 1854 Boole recasts logic as an algebra, the very algebra studied in Lectures 08 and 09. A third thread appears in 1804: Jacquard's loom weaves a pattern stored on punched cards. Changing the cards makes the same machine perform a different task, which is the essence of programmability.
For the lecturer: Corrections to the source slide: Boole's Laws of Thought is 1854 (not 1864); Leibniz's paper on binary arithmetic was published in 1703.
Pictures: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designs two machines. The Difference Engine computes mathematical tables automatically. The Analytical Engine is far more ambitious, and its components bear names that should already sound familiar: a mill that performs arithmetic, a control mechanism, a store that holds numbers, and an output device, with programs and data supplied on punched cards as in the loom. It was never completed. For it Ada Lovelace wrote a procedure to compute the Bernoulli numbers, published in 1843; on this ground she is regarded as the first programmer in history.
For the lecturer: Ada Lovelace's notes on the Analytical Engine (1843) contain what is regarded as the first published program, for computing Bernoulli numbers.
Pictures: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theory precedes the machines. In 1936 Alan Turing defines an abstract machine capable of carrying out any computation, and thereby gives a precise meaning to the notion of computability. In the 1930s Nakajima and Shannon show that Boolean algebra describes circuits built from switches; this is the bridge between logic and electronics on which all digital design rests, and the reason Boolean algebra occupies two lectures of this course. In 1941 Konrad Zuse completes the Z3, the first working program-controlled computer.
UNDERSTAND LATER: Boolean algebra (studied in Lecture 08).
For the lecturer: The Boolean algebra of Lectures 08 and 09 is exactly the Nakajima-Shannon bridge between logic and circuits.
Pictures: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slide of the lecture. In 1945 von Neumann describes an architecture founded on one decisive idea: program and data reside in the same memory, so that a program is itself data. The diagram shows the four units: the memory; the control unit, which governs the sequence of operations; the arithmetic logic unit with its accumulator; and input and output. Lecture 02 can now be reread in these terms: the ALU executed addi, the memory held both counter and the instruction word 0x00130313, and the joystick and display are input and output. The chip of the kit remains, in its essentials, a von Neumann machine.
UNDERSTAND NOW: the von Neumann architecture.
For the lecturer: Find the four units in Lecture 02: the registers and the ALU executed addi; memory held counter and the instructions themselves (0x00130313); the joystick and the display are input and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decades in a single picture, from the machines of the Second World War to the computers embedded in everyday objects. Read from left to right, the captions trace a progressive change of scale: one machine for a nation, then for many users, then one per department, one per person, one in the pocket, and finally computers everywhere. Each decade made the computer smaller, cheaper and closer to its users. The sentence at the bottom draws the conclusion: none of these transitions altered the stored-program principle.
For the lecturer: 1943-45: ENIAC (USA) and Colossus (UK). 1949: EDVAC (USA). The source slide also showed the Macintosh, the Amiga, the IBM PC, the iPad and a self-driving car: the pictures are in tools/assets if you want to add them.
Pictures: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should be read as a debate between two philosophies of processor design. (Processors are built from transistors, tiny electronic switches; the next slide counts them.) The early microprocessors, and the x86 family introduced in 1978, follow the CISC approach: many instructions, some of considerable complexity. Around 1980 research groups at Berkeley and Stanford showed that a small number of simple, regular instructions yields faster machines; this is RISC, the reduced instruction set computer. ARM applied the approach to low-power design in 1985. In 2010 the fifth Berkeley design, RISC-V, took the further step of making the instruction set architecture an open standard, which Europe now regards as strategic.
UNDERSTAND NOW: RISC and an open ISA.
For the lecturer: RISC = Reduced Instruction Set Computer; CISC = Complex Instruction Set Computer. Patterson and Hennessy received the 2017 Turing Award for the RISC approach. This slide is new with respect to the Italian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transistor is a tiny electronic switch, the building block of every chip (Lecture 10 shows how it works). In 1971 the Intel 4004, the first processor on a single chip, contained 2,300 of them; a contemporary laptop processor contains tens of billions, some ten million times as many. For five decades the number doubled approximately every two years. This is Moore's law, an empirical observation about an industry rather than a law of nature, and its physical limits are now close. When additional transistors no longer come without cost, performance must come from better architectures. This is why the subject of this course matters more today than it did twenty years ago.
For the lecturer: Gordon Moore's observation dates from 1965 (revised in 1975). Do not present it as a law of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across forty years. The Commodore 64 had an 8-bit processor with three registers, a clock of about 1 MHz and 64 KB of memory; the ESP32-C6 has a 32-bit processor with thirty-two registers, a 160 MHz clock and a 4 GB address space. Yet the screen has the same resolution, 320 by 200 pixels, and the same spirit: a machine small enough to be understood entirely by one person. The difference most relevant to the student lies in the row of the instruction set: proprietary then, an open standard now.
For the lecturer: The source deck ended with the easy6502 simulator (skilldrick.github.io/easy6502), still a pleasant visit. PRG32 keeps the same immediacy, 320 by 200 included, on the architecture the students will meet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storm followed from left to right illustrates the position of informatics. It is first a natural phenomenon. Physics and mathematics describe it by equations. Informatics turns the equations into algorithms and simulations. Engineering supplies the supercomputers, networks and sensors that execute them reliably. The economy receives forecasts and services of value to people. Informatics is the indispensable middle link: without it the equations remain on paper. The example is not hypothetical: the weather and sea forecasts of the Department are produced daily in exactly this way.
For the lecturer: The source slide showed portraits and pictures for each stage (equations, forecast maps, a hurricane, the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pictures show the racks of the University's Research Computing Facilities, their daily product, the forecasts of meteo@uniparthenope, and the page listing the machines. A cluster is a collection of computers cooperating on a single problem. The concepts are those practised on the kit, namely registers, memory and instructions, at a vastly greater scale and with the additional problem of coordinating the parts. Lecture 24 returns to these machines, and the closing event of the course includes a visit to them.
For the lecturer: The closing event of the course includes a visit to the supercomputing systems of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should look for the defining idea rather than a detail. The number of registers and the duration of an instruction vary between processors, and input and output are one of the four units, not an option. What defines the architecture is that instructions reside in the same memory as data and are fetched and executed in sequence.
For the second, speed is a property of a particular chip, not of an instruction set, and RISC-V was not the first RISC design: Berkeley RISC, MIPS and ARM preceded it. Nor is it confined to microcontrollers. What is new is the licence: the instruction set is an open standard that anyone may implement.
For the lecturer: 1. Answer: B. The stored-program concept: instructions are data in memory, fetched and executed one after another.
2. Answer: C. RISC-V is an open standard instruction set architecture; anyone may design and sell a RISC-V processor without an architecture licence. It was not the first RISC (Berkeley RISC, MIPS, ARM came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names belong to the history, in different roles. Babbage designed the machine. Turing defined computation, a century later. Zuse built the first working programmable computer. The person who wrote a procedure for a machine, and published it in 1843, is Ada Lovelace.
For the lecturer: Answer: C. Ada Lovelace, for her 1843 notes on the Analytical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Italian has two words for the machine, calcolatore and elaboratore, both older than the borrowed computer. Stored program names von Neumann's idea. The control unit and the arithmetic logic unit, ALU, are two of the four units, and reappear in the lectures on the processor. High-performance computing, HPC, is the field of the clusters just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Computing is older than electronics: representation and procedure came first. The stored-program computer of 1945 is the machine still programmed today. RISC made processors simple enough to be understood as a whole, and RISC-V made them open. And informatics is pervasive, because information belongs to every field. The readings develop the same history at greater length. The next lecture takes the first formal step: how information becomes bits.
Learning status, recap.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 Closing thread: The machine you programmed in Lecture 02 is a von Neumann machine: program and data in one memory. RISC-V is the latest step of a long debate on how simple instructions should be. Next: how anything at all becomes bits. Exit ticket (two to four minutes, alone, on paper): 1. Explain the sentence attributed to Dijkstra, 'Computer science is no more about computers than astronomy is about telescopes', using the definition of informatics given in the lecture. 2. Where is the program of a cartridge kept while it runs, and why does this make a von Neumann machine different from a machine programmed by rewiring cables?
For the lecturer: Next lecture: how information becomes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From the abacus to an open processor you can program yourself</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03-Computer_Architecture-History_of_Computing-Lab.pptx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informatics and say why it is not the science of computers</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the key machines and people on a timeline, from the abacus to the stored-program computer</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four units of the von Neumann architecture and find them in the machine you programmed last time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RISC means and why RISC-V is an open instruction set</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where informatics sits between science, engineering and the economy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definition</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The applied science that deals with the treatment of information by means of automated procedures.</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Italian informatica, from the French informatique: information automatique</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English: computer science, and increasingly informatics</a:t>
            </a:r>
            <a:endParaRPr lang="en-US" sz="2400" dirty="0"/>
          </a:p>
        </p:txBody>
      </p:sp>
      <p:sp>
        <p:nvSpPr>
          <p:cNvPr id="10" name="Shape 8"/>
          <p:cNvSpPr/>
          <p:nvPr/>
        </p:nvSpPr>
        <p:spPr>
          <a:xfrm>
            <a:off x="548640" y="5517896"/>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3959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tool: elaboratore in Italian, ordinateur in French, computer in English</a:t>
            </a:r>
            <a:endParaRPr lang="en-US" sz="2400" dirty="0"/>
          </a:p>
        </p:txBody>
      </p:sp>
      <p:sp>
        <p:nvSpPr>
          <p:cNvPr id="12" name="Shape 10"/>
          <p:cNvSpPr/>
          <p:nvPr/>
        </p:nvSpPr>
        <p:spPr>
          <a:xfrm>
            <a:off x="8419033" y="91440"/>
            <a:ext cx="3224022" cy="274320"/>
          </a:xfrm>
          <a:prstGeom prst="rect">
            <a:avLst/>
          </a:prstGeom>
          <a:solidFill>
            <a:srgbClr val="E0F2FE"/>
          </a:solidFill>
          <a:ln w="12700">
            <a:solidFill>
              <a:srgbClr val="0369A1"/>
            </a:solidFill>
            <a:prstDash val="solid"/>
          </a:ln>
        </p:spPr>
      </p:sp>
      <p:sp>
        <p:nvSpPr>
          <p:cNvPr id="13" name="Shape 11"/>
          <p:cNvSpPr/>
          <p:nvPr/>
        </p:nvSpPr>
        <p:spPr>
          <a:xfrm>
            <a:off x="841903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5" name="Text 1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what informatics 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souls, one discipline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Theoretical informatics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theoretical foundations of information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Computation at the logical level: what can be computed, and at what cost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Algorithms: a finite set of operations that describe the transformation from A to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informatics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Enabling technologies and information systems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Pervasive: a driver of economic development and of the ICT sector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STEM discipline at the heart of an industrial revolution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a social cost to manage: the digital divide</a:t>
            </a:r>
            <a:endParaRPr lang="en-US" sz="2100" dirty="0"/>
          </a:p>
        </p:txBody>
      </p:sp>
      <p:sp>
        <p:nvSpPr>
          <p:cNvPr id="9" name="Shape 7"/>
          <p:cNvSpPr/>
          <p:nvPr/>
        </p:nvSpPr>
        <p:spPr>
          <a:xfrm>
            <a:off x="8419033" y="91440"/>
            <a:ext cx="3224022" cy="274320"/>
          </a:xfrm>
          <a:prstGeom prst="rect">
            <a:avLst/>
          </a:prstGeom>
          <a:solidFill>
            <a:srgbClr val="E0F2FE"/>
          </a:solidFill>
          <a:ln w="12700">
            <a:solidFill>
              <a:srgbClr val="0369A1"/>
            </a:solidFill>
            <a:prstDash val="solid"/>
          </a:ln>
        </p:spPr>
      </p:sp>
      <p:sp>
        <p:nvSpPr>
          <p:cNvPr id="10" name="Shape 8"/>
          <p:cNvSpPr/>
          <p:nvPr/>
        </p:nvSpPr>
        <p:spPr>
          <a:xfrm>
            <a:off x="8419033"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2" name="Text 9"/>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what informatics 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Origins: the abacus and the Antikythera mechanism</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Roman hand abacus: a physical representation of data and operations</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Chinese suanpan: Babylonians, Chinese, Greeks and Romans all used counting frames</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Antikythera mechanism, 2nd-1st century BC: the oldest known geared calculator</a:t>
            </a:r>
            <a:endParaRPr lang="en-US" sz="12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 modern model: its dials computed astronomical positions and eclipses</a:t>
            </a:r>
            <a:endParaRPr lang="en-US" sz="12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 number becomes a position of beads or the angle of a gear: representation comes before calculation.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medieval Islamic world (9th to 13th century)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Astronomical instruments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mechanical astrolabe; the torquetum</a:t>
            </a:r>
            <a:endParaRPr lang="en-US" sz="2200" dirty="0"/>
          </a:p>
        </p:txBody>
      </p:sp>
      <p:sp>
        <p:nvSpPr>
          <p:cNvPr id="5" name="Shape 3"/>
          <p:cNvSpPr/>
          <p:nvPr/>
        </p:nvSpPr>
        <p:spPr>
          <a:xfrm>
            <a:off x="548640" y="23631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705"/>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contribution to cryptography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cryptanalysis and frequency analysis (al-Kindi, 9th century)</a:t>
            </a:r>
            <a:endParaRPr lang="en-US" sz="2200" dirty="0"/>
          </a:p>
        </p:txBody>
      </p:sp>
      <p:sp>
        <p:nvSpPr>
          <p:cNvPr id="7" name="Shape 5"/>
          <p:cNvSpPr/>
          <p:nvPr/>
        </p:nvSpPr>
        <p:spPr>
          <a:xfrm>
            <a:off x="548640" y="34969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90477"/>
            <a:ext cx="6565392"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Programmable machines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automatic flute player of the Banu Musa brothers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weight-driven clocks and automata of al-Jazari (1206)</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word algorithm comes from the name of al-Khwarizmi, as algebra comes from the title of his book</a:t>
            </a:r>
            <a:endParaRPr lang="en-US" sz="22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brass astrolabe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1600 to 1800: mechanical calculators and logic</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first mechanical calculators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logarithm tables (Napier,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Blaise Pascal's Pascaline (1642): addition with carry</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Leibniz's stepped reckoner (1673): the four operations</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 and formal mathematics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describes binary arithmetic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logic becomes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Programmable machines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Jacquard's loom (1804): the pattern is stored on punched cards</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Pascaline: each wheel is one decimal digit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1800s: Charles Babbage and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Difference Engine: automatic computation of mathematical tables</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Analytical Engine: a mill (arithmetic unit), a control unit, a store (memory) and an output device</a:t>
            </a:r>
            <a:endParaRPr lang="en-US" sz="12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Programs and data on punched cards, borrowed from the Jacquard loom</a:t>
            </a:r>
            <a:endParaRPr lang="en-US" sz="14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devised a method for programming the Analytical Engine: she is regarded as the first programmer in history.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Theory first: Turing, Shannon and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an abstract universal machine defines what can be computed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 Bletchley Park he works on breaking the German Enigma cipher</a:t>
            </a:r>
            <a:endParaRPr lang="en-US" sz="2000" dirty="0"/>
          </a:p>
        </p:txBody>
      </p:sp>
      <p:sp>
        <p:nvSpPr>
          <p:cNvPr id="5" name="Shape 3"/>
          <p:cNvSpPr/>
          <p:nvPr/>
        </p:nvSpPr>
        <p:spPr>
          <a:xfrm>
            <a:off x="548640" y="32807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89859"/>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and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switching-circuit theory (1930s): Boolean algebra describes circuits of switches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principle on which all digital design rests</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the first working computer controlled by a program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shown in 1998 to be Turing-complete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one of the first computers to be sold commercially</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Enigma cipher machine</a:t>
            </a:r>
            <a:endParaRPr lang="en-US" sz="1200" dirty="0"/>
          </a:p>
        </p:txBody>
      </p:sp>
      <p:sp>
        <p:nvSpPr>
          <p:cNvPr id="11" name="Shape 8"/>
          <p:cNvSpPr/>
          <p:nvPr/>
        </p:nvSpPr>
        <p:spPr>
          <a:xfrm>
            <a:off x="7545908" y="91440"/>
            <a:ext cx="4097147" cy="274320"/>
          </a:xfrm>
          <a:prstGeom prst="rect">
            <a:avLst/>
          </a:prstGeom>
          <a:solidFill>
            <a:srgbClr val="F3E8FF"/>
          </a:solidFill>
          <a:ln w="12700">
            <a:solidFill>
              <a:srgbClr val="7E22CE"/>
            </a:solidFill>
            <a:prstDash val="dash"/>
          </a:ln>
        </p:spPr>
      </p:sp>
      <p:sp>
        <p:nvSpPr>
          <p:cNvPr id="12" name="Shape 9"/>
          <p:cNvSpPr/>
          <p:nvPr/>
        </p:nvSpPr>
        <p:spPr>
          <a:xfrm>
            <a:off x="7573340" y="128016"/>
            <a:ext cx="45720" cy="45720"/>
          </a:xfrm>
          <a:prstGeom prst="rect">
            <a:avLst/>
          </a:prstGeom>
          <a:solidFill>
            <a:srgbClr val="7E22CE"/>
          </a:solidFill>
          <a:ln w="12700">
            <a:solidFill>
              <a:srgbClr val="7E22CE"/>
            </a:solidFill>
            <a:prstDash val="solid"/>
          </a:ln>
        </p:spPr>
      </p:sp>
      <p:sp>
        <p:nvSpPr>
          <p:cNvPr id="13" name="Shape 10"/>
          <p:cNvSpPr/>
          <p:nvPr/>
        </p:nvSpPr>
        <p:spPr>
          <a:xfrm>
            <a:off x="7573340" y="205740"/>
            <a:ext cx="45720" cy="45720"/>
          </a:xfrm>
          <a:prstGeom prst="rect">
            <a:avLst/>
          </a:prstGeom>
          <a:solidFill>
            <a:srgbClr val="7E22CE"/>
          </a:solidFill>
          <a:ln w="12700">
            <a:solidFill>
              <a:srgbClr val="7E22CE"/>
            </a:solidFill>
            <a:prstDash val="solid"/>
          </a:ln>
        </p:spPr>
      </p:sp>
      <p:sp>
        <p:nvSpPr>
          <p:cNvPr id="14" name="Shape 11"/>
          <p:cNvSpPr/>
          <p:nvPr/>
        </p:nvSpPr>
        <p:spPr>
          <a:xfrm>
            <a:off x="7573340" y="283464"/>
            <a:ext cx="45720" cy="45720"/>
          </a:xfrm>
          <a:prstGeom prst="rect">
            <a:avLst/>
          </a:prstGeom>
          <a:solidFill>
            <a:srgbClr val="7E22CE"/>
          </a:solidFill>
          <a:ln w="12700">
            <a:solidFill>
              <a:srgbClr val="7E22CE"/>
            </a:solidFill>
            <a:prstDash val="solid"/>
          </a:ln>
        </p:spPr>
      </p:sp>
      <p:pic>
        <p:nvPicPr>
          <p:cNvPr id="15" name="Image 1" descr="preencoded.png">    </p:cNvPr>
          <p:cNvPicPr>
            <a:picLocks noChangeAspect="1"/>
          </p:cNvPicPr>
          <p:nvPr/>
        </p:nvPicPr>
        <p:blipFill>
          <a:blip r:embed="rId2"/>
          <a:stretch>
            <a:fillRect/>
          </a:stretch>
        </p:blipFill>
        <p:spPr>
          <a:xfrm>
            <a:off x="7673924" y="128016"/>
            <a:ext cx="201168" cy="201168"/>
          </a:xfrm>
          <a:prstGeom prst="rect">
            <a:avLst/>
          </a:prstGeom>
        </p:spPr>
      </p:pic>
      <p:sp>
        <p:nvSpPr>
          <p:cNvPr id="16" name="Text 12"/>
          <p:cNvSpPr txBox="1"/>
          <p:nvPr/>
        </p:nvSpPr>
        <p:spPr>
          <a:xfrm>
            <a:off x="7929956" y="91440"/>
            <a:ext cx="367652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Boolean algebra</a:t>
            </a:r>
            <a:pPr indent="0" marL="0">
              <a:buNone/>
            </a:pPr>
            <a:r>
              <a:rPr lang="en-US" sz="1100" b="1" dirty="0">
                <a:solidFill>
                  <a:srgbClr val="6B21A8"/>
                </a:solidFill>
                <a:latin typeface="Calibri" pitchFamily="34" charset="0"/>
                <a:ea typeface="Calibri" pitchFamily="34" charset="-122"/>
                <a:cs typeface="Calibri" pitchFamily="34" charset="-120"/>
              </a:rPr>
              <a:t> → Lecture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the stored-program computer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hardware architecture for programmable digital computers (EDVAC report, 1945)</a:t>
            </a:r>
            <a:endParaRPr lang="en-US" sz="2200" dirty="0"/>
          </a:p>
        </p:txBody>
      </p:sp>
      <p:sp>
        <p:nvSpPr>
          <p:cNvPr id="5" name="Shape 3"/>
          <p:cNvSpPr/>
          <p:nvPr/>
        </p:nvSpPr>
        <p:spPr>
          <a:xfrm>
            <a:off x="548640" y="23575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1117"/>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and data share the same memory: a program is data</a:t>
            </a:r>
            <a:endParaRPr lang="en-US" sz="2200" dirty="0"/>
          </a:p>
        </p:txBody>
      </p:sp>
      <p:sp>
        <p:nvSpPr>
          <p:cNvPr id="7" name="Shape 5"/>
          <p:cNvSpPr/>
          <p:nvPr/>
        </p:nvSpPr>
        <p:spPr>
          <a:xfrm>
            <a:off x="548640" y="31913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4915"/>
            <a:ext cx="5833872" cy="225348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Four essential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control unit: governs the sequence of operations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arithmetic logic unit (ALU), with its accumulator register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memory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input and output</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you programmed is still a von Neumann machine</a:t>
            </a:r>
            <a:endParaRPr lang="en-US" sz="22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 and data</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Control</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unit</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Input</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2" name="Shape 20"/>
          <p:cNvSpPr/>
          <p:nvPr/>
        </p:nvSpPr>
        <p:spPr>
          <a:xfrm>
            <a:off x="7828102" y="91440"/>
            <a:ext cx="3814953" cy="274320"/>
          </a:xfrm>
          <a:prstGeom prst="rect">
            <a:avLst/>
          </a:prstGeom>
          <a:solidFill>
            <a:srgbClr val="E0F2FE"/>
          </a:solidFill>
          <a:ln w="12700">
            <a:solidFill>
              <a:srgbClr val="0369A1"/>
            </a:solidFill>
            <a:prstDash val="solid"/>
          </a:ln>
        </p:spPr>
      </p:sp>
      <p:sp>
        <p:nvSpPr>
          <p:cNvPr id="23" name="Shape 21"/>
          <p:cNvSpPr/>
          <p:nvPr/>
        </p:nvSpPr>
        <p:spPr>
          <a:xfrm>
            <a:off x="7828102"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5" name="Text 22"/>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Eight decades of computers</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Wartime</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Military and government</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Mainframe computing</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one machine, many users</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Minicomputers</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department</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computing</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person</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The 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connect</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Smartphones and tablets</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in the pocket</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computing as a service</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and AI</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everywhere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Each decade made the computer smaller, cheaper and closer to people; none of them changed the stored-program idea.</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Microprocessors: from CISC to RISC to an open standard</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Milestone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Why it matters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first commercial microprocessor: 2,300 transistors on one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cheap 8-bit CPU: Apple II, Commodore 64, the home-computer 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start of x86, a complex instruction set (CISC) still in today's PCs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Berkeley RISC and Stanford MIPS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few, simple, regular instructions run faster: the RISC idea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for low power: today in nearly every phone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starts at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fifth Berkeley RISC design becomes an open instruction set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then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shared specification, governed from Switzerland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European Chips Act; the DARE project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as a strategy for European technological sovereignty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RISC and an open ISA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Moore's law in one number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the Intel 4004 has 2,300 transistors</a:t>
            </a:r>
            <a:endParaRPr lang="en-US" sz="2200" dirty="0"/>
          </a:p>
        </p:txBody>
      </p:sp>
      <p:sp>
        <p:nvSpPr>
          <p:cNvPr id="5" name="Shape 3"/>
          <p:cNvSpPr/>
          <p:nvPr/>
        </p:nvSpPr>
        <p:spPr>
          <a:xfrm>
            <a:off x="548640" y="22863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9955"/>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a laptop processor has tens of billions</a:t>
            </a:r>
            <a:endParaRPr lang="en-US" sz="2200" dirty="0"/>
          </a:p>
        </p:txBody>
      </p:sp>
      <p:sp>
        <p:nvSpPr>
          <p:cNvPr id="7" name="Shape 5"/>
          <p:cNvSpPr/>
          <p:nvPr/>
        </p:nvSpPr>
        <p:spPr>
          <a:xfrm>
            <a:off x="548640" y="30490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259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fifty years the number of transistors on a chip doubled about every two years</a:t>
            </a:r>
            <a:endParaRPr lang="en-US" sz="2200" dirty="0"/>
          </a:p>
        </p:txBody>
      </p:sp>
      <p:sp>
        <p:nvSpPr>
          <p:cNvPr id="9" name="Shape 7"/>
          <p:cNvSpPr/>
          <p:nvPr/>
        </p:nvSpPr>
        <p:spPr>
          <a:xfrm>
            <a:off x="548640" y="415251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46093"/>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physical limits are now close: progress comes from better architectures, specialised accelerators and open designs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why architecture, the subject of this course, matters more than ever</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growth in transistors per chip from the Intel 4004 (1971) to a current laptop processor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home-computer spirit, on a modern open CPU</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Commodore 64 (1982), MOS 6510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PRG32 on ESP32-C6, RISC-V</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Word size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8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X, Y (plus stack pointer, status,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general-purpose registers, x0 to x31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1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160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Address space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64 KB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4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Instruction set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56 instructions, proprietary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40 base instructions plus extensions, open standard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pixels, 16 colours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viewport, 256-entry RGB565 palette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You program it by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typing on the machine itself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building a cartridge and uploading 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Same screen size, same immediacy: forty years apart. The 6502 is still fun to explore at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informatics sits</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Natural phenomenon</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storm forms over the sea</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Basic sciences</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physics and mathematics describe it with equations</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sciences</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informatics turns the equations into algorithms and simulations</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Engineering</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supercomputers, networks and sensors run them reliably</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forecasts and services reach people and create value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An example from this Department: the weather and marine forecasts of meteo.uniparthenope.it, computed every day on our own high-performance systems.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High-performance computing at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racks of the Research Computing Facilities of the University</a:t>
            </a:r>
            <a:endParaRPr lang="en-US" sz="14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What they compute every day: the forecasts of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ideas you practise on a 160 MHz microcontroller scale up to clusters: registers, memory, instructions, only many more of them.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idea is the heart of the von Neumann architecture?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has exactly four registers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 and data are stored in the same memory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instruction takes one clock cycle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Input and output are optional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makes RISC-V different from x86 and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the fastest instruction set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was the first RISC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instruction set is an open standard, free to implement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works only on microcontrollers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Who is regarded as the first programmer in history?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Computing is older than electronics: representation and procedure came first</a:t>
            </a:r>
            <a:endParaRPr lang="en-US" sz="2200" dirty="0"/>
          </a:p>
        </p:txBody>
      </p:sp>
      <p:sp>
        <p:nvSpPr>
          <p:cNvPr id="5" name="Shape 3"/>
          <p:cNvSpPr/>
          <p:nvPr/>
        </p:nvSpPr>
        <p:spPr>
          <a:xfrm>
            <a:off x="548640" y="22085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21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stored-program computer of 1945 is still the machine we program today</a:t>
            </a:r>
            <a:endParaRPr lang="en-US" sz="2200" dirty="0"/>
          </a:p>
        </p:txBody>
      </p:sp>
      <p:sp>
        <p:nvSpPr>
          <p:cNvPr id="7" name="Shape 5"/>
          <p:cNvSpPr/>
          <p:nvPr/>
        </p:nvSpPr>
        <p:spPr>
          <a:xfrm>
            <a:off x="548640" y="28934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8701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RISC made processors simple enough to understand whole; RISC-V made them open</a:t>
            </a:r>
            <a:endParaRPr lang="en-US" sz="22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1273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Informatics is pervasive: digital information belongs to every field, data are its currency, algorithms turn data into decisions</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1: Why a Game, Why RISC-V, Why Now</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dc:title>
  <dc:subject>Lecture 03</dc:subject>
  <dc:creator>Raffaele Montella</dc:creator>
  <cp:lastModifiedBy>Raffaele Montella</cp:lastModifiedBy>
  <cp:revision>1</cp:revision>
  <dcterms:created xsi:type="dcterms:W3CDTF">2026-10-17T07:16:48Z</dcterms:created>
  <dcterms:modified xsi:type="dcterms:W3CDTF">2026-10-17T07:16:48Z</dcterms:modified>
</cp:coreProperties>
</file>