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c3fe40e-50f6-a48a-66dc-5dbd46f0cb56}">
          <p14:sldIdLst>
            <p14:sldId id="256"/>
            <p14:sldId id="257"/>
          </p14:sldIdLst>
        </p14:section>
        <p14:section name="What is informatics?" id="{2fbdca63-aa20-4553-5e19-ac4ac8d9d2a8}">
          <p14:sldIdLst>
            <p14:sldId id="258"/>
            <p14:sldId id="259"/>
          </p14:sldIdLst>
        </p14:section>
        <p14:section name="Before electricity" id="{910f0d5f-5e2e-a338-dced-c15f64e85f8c}">
          <p14:sldIdLst>
            <p14:sldId id="260"/>
            <p14:sldId id="261"/>
            <p14:sldId id="262"/>
            <p14:sldId id="263"/>
          </p14:sldIdLst>
        </p14:section>
        <p14:section name="The twentieth century" id="{027d2195-3063-968d-80c9-bd45fcea6b3d}">
          <p14:sldIdLst>
            <p14:sldId id="264"/>
            <p14:sldId id="265"/>
            <p14:sldId id="266"/>
          </p14:sldIdLst>
        </p14:section>
        <p14:section name="From home computers to RISC-V" id="{9b8ae40c-55f7-3a51-f545-ddde9488df13}">
          <p14:sldIdLst>
            <p14:sldId id="267"/>
            <p14:sldId id="268"/>
            <p14:sldId id="269"/>
          </p14:sldIdLst>
        </p14:section>
        <p14:section name="Informatics as an applied science" id="{336db5f6-26a2-4800-a703-e21317b950b3}">
          <p14:sldIdLst>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time you ran a RISC-V program. This lecture asks where that machine comes from. It is not a list of dates to memorise: each stage of the story adds one idea, and every one of those ideas is still inside the chip of the PRG32 kit. The quotation on the cover is the most famous first program, from the book that introduced the C language: every programmer since has started by making a machine say hello, as you did with HELLO PRG32.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what informatics is; the von Neumann architecture; RISC and an open ISA. USE NOW: the complete program, the PRG32 tools (used, not studied, in this course). UNDERSTAND LATER: Boolean algebra (Lecture 08). A slide without a badge is context: a story, an example, a question, an exercise.
For the lecturer: The students have already run a RISC-V program (Lecture 02). This lecture tells them where that machine comes from: every stage of the story adds one idea that is still inside the ESP32-C6.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The first is a definition: what informatics is, and why it is not the science of computers. The second and third are historical: placing the main machines and people on a timeline, and naming the four units of the von Neumann architecture, which you will find again in the machine you programmed. The fourth explains the name of our processor: what RISC means, and why RISC-V is open. The fifth places the discipline between science, engineering and the economy.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definition has three parts worth weighing. Applied science: it uses the results of the basic sciences to solve problems. Treatment of information: the object is information, not the machine. Automated procedures: the treatment is done by procedures that can be carried out without human judgement. The Italian word informatica says it directly, from the French information automatique. English prefers computer science, which puts the instrument in the name and creates a misunderstanding. A remark attributed to Edsger Dijkstra corrects it: computer science is no more about computers than astronomy is about telescopes.
UNDERSTAND NOW: what informatics is.
For the lecturer: « L'informatica non riguarda i computer più di quanto l'astronomia riguardi i telescopi. » The Italian form of a remark attributed to Edsger W. Dijkstra: computer science is no more about computers than astronomy is about telescopes.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discipline has two souls. Theoretical informatics studies the foundations: what can be computed at all, at what cost, and with which algorithms, where an algorithm is a finite set of operations that transforms A into B. Applied informatics builds the technologies and the information systems that run through the economy and society, with a cost to manage: the digital divide between those who have access and skills and those who do not. This course belongs to both: Boolean algebra is theory, a cartridge is application.
UNDERSTAND NOW: what informatics is.
For the lecturer: The word cloud of the original slide: design, analysis, languages, development, databases, networks, computing, multimedia, web, cloud, apps, IoT, AI, machine learning, mobile, algorithms, embedded, video games, graphics, programming.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ancient devices. In the abacus, Roman or Chinese, a number is a position of beads: the data are physically represented, and the operations are movements of the hand. The Antikythera mechanism, built in Greece around the second or first century BC, goes further: a train of gears computes the positions of the Sun and the Moon and predicts eclipses. A number is the angle of a wheel, and the calculation is built into the ratios of the gears. Keep the sentence under the pictures: representation comes before calculation.
For the lecturer: The dating of the Antikythera mechanism is debated: most estimates fall between about 205 and 60 BC.
Pictures: Number Stories, p51-illustration.png, David Eugene Smith, Public domain, Wikimedia Commons; Abacus 5.jpg, Loadmaster (David R. Tribble), CC BY-SA 3.0, Wikimedia Commons; NAMA Machine d'Anticythère 1.jpg, Marsyas, CC BY 2.5, Wikimedia Commons; Antikythera mechanism clockface, 1st-2nd century BC, Greece (model).jpg, Gts-tg, CC BY-SA 4.0,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Between the ninth and the thirteenth century the Islamic world contributes instruments, methods and words. Instruments: the astrolabe and the torquetum, for astronomy. Methods: al-Kindi invents frequency analysis, the first systematic technique for breaking a cipher. Machines: the automatic flute player of the Banu Musa brothers and the automata of al-Jazari are driven by sequences that can be changed, an early form of program. And words: algorithm comes from the name of al-Khwarizmi, algebra from the title of his book.
For the lecturer: The source slide dated the period to the 11th-12th century; the people named here span the 9th to the early 13th.
Pictures: Astrolabe planisférique closeup800x600x300.jpg, Pom², CC BY-SA 3.0,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lines of development run in parallel from 1600 to 1800. The first is mechanical calculation: Napier's logarithms, Pascal's machine that adds with an automatic carry, Leibniz's machine for the four operations. The second is logic: Leibniz describes binary arithmetic in 1703, and in 1854 Boole turns logic into an algebra, the one you will study in Lectures 08 and 09. A third thread appears in 1804: Jacquard's loom weaves a pattern stored on punched cards. Change the cards and the same machine does something else.
For the lecturer: Corrections to the source slide: Boole's Laws of Thought is 1854 (not 1864); Leibniz's paper on binary arithmetic was published in 1703.
Pictures: Arts et Metiers Pascaline dsc03869.jpg, David.Monniaux, CC BY-SA 3.0,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Charles Babbage designs two machines. The Difference Engine computes mathematical tables automatically. The Analytical Engine is far more ambitious, and its parts have names that should already sound familiar: a mill that does the arithmetic, a control unit, a store that holds numbers, an output device; programs and data arrive on punched cards, as in the loom. It was never completed. Ada Lovelace wrote for it a method to compute Bernoulli numbers, published in 1843: for this she is regarded as the first programmer in history.
For the lecturer: Ada Lovelace's notes on the Analytical Engine (1843) contain what is regarded as the first published program, for computing Bernoulli numbers.
Pictures: Babbage Difference Engine.jpg, geni, CC BY-SA 4.0, Wikimedia Commons; Babbages Analytical Engine, 1834-1871. (9660574685).jpg, Science Museum London / Science and Society Picture Library, CC BY-SA 2.0, Wikimedia Commons; A Jacquard loom showing information punchcards, National Museum of Scotland.jpg, Stephencdickson, CC BY-SA 4.0,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theory comes before the machines. In 1936 Alan Turing defines an abstract machine that can carry out any computation, and with it the very notion of what is computable. In the 1930s Nakajima and Shannon show that Boolean algebra describes circuits made of switches: this is the bridge between logic and electronics on which all digital design rests, and it is the reason why you will study Boolean algebra. In 1941 Konrad Zuse completes the Z3, the first working computer controlled by a program.
UNDERSTAND LATER: Boolean algebra (studied in Lecture 08).
For the lecturer: The Boolean algebra of Lectures 08 and 09 is exactly the Nakajima-Shannon bridge between logic and circuits.
Pictures: Enigma I cipher machine Museum of Communication Berlin cropped.jpg, Museum für Kommunikation Berlin, CC BY 4.0,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slide of the lecture. In 1945 von Neumann describes an architecture with one decisive idea: program and data are kept in the same memory, so a program is itself data. The diagram shows the four units: the memory, the control unit that governs the sequence of operations, the arithmetic logic unit with its accumulator, and input and output. Now look back at Lecture 02: the ALU executed addi, the memory held both counter and the instruction 0x00130313, the joystick and the display are input and output. The chip of the kit is still a von Neumann machine.
UNDERSTAND NOW: the von Neumann architecture.
For the lecturer: Find the four units in Lecture 02: the registers and the ALU executed addi; memory held counter and the instructions themselves (0x00130313); the joystick and the display are input and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decades in one picture, from the machines of the war to the computers hidden in everyday objects. Read the captions from left to right: one machine for a whole country, then for many users, then one per department, one per person, one in the pocket, and finally computers everywhere. Each decade made the computer smaller, cheaper and closer to people. The sentence at the bottom is the point: none of these steps changed the idea of the stored program.
For the lecturer: 1943-45: ENIAC (USA) and Colossus (UK). 1949: EDVAC (USA). The source slide also showed the Macintosh, the Amiga, the IBM PC, the iPad and a self-driving car: the pictures are in tools/assets if you want to add them.
Pictures: Glen Beck and Betty Snyder program the ENIAC in building 328 at the Ballistic Research Laboratory.jpg, U.S. Army, Public domain, Wikimedia Commons; Edvac.jpg, U.S. Army, Public domain, Wikimedia Commons; Dept of Agriculture Computer Room.jpg, Warren K. Leffler (U.S. News &amp; World Report, Library of Congress), Public domain, Wikimedia Commons; DEC PDP-11 Minicomputer in extended variant (edited).jpg, Loz Pycock, CC BY-SA 2.0, Wikimedia Commons; Commodore-64-Computer-FL.jpg, Evan-Amos, Public domain, Wikimedia Commons; 19-inch rackmount Ethernet switches and patch panels.jpg, Dsimic, CC BY-SA 4.0, Wikimedia Commons; Original iPhone docked.jpg, Andrew from London, UK, CC BY-SA 2.0, Wikimedia Commons; Racks Amravati Data Center.jpg, PiDatacenters, CC BY-SA 4.0, Wikimedia Commons; Alexa Amazon Echo Smart Speaker - Flashing Purple Ring (Creative Commons) (51048330138).jpg, Smart Home Perfected, CC BY 2.0,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as a debate between two ways of designing a processor. The first microprocessors, and the x86 family born in 1978, follow the CISC approach: many instructions, some very complex. Around 1980 Berkeley and Stanford show that few, simple, regular instructions make faster machines: this is RISC, a reduced instruction set. ARM applies it to low power in 1985. In 2010 the fifth Berkeley design, RISC-V, takes the further step of making the instruction set an open standard, which Europe now treats as strategic.
UNDERSTAND NOW: RISC and an open ISA.
For the lecturer: RISC = Reduced Instruction Set Computer; CISC = Complex Instruction Set Computer. Patterson and Hennessy received the 2017 Turing Award for the RISC approach. This slide is new with respect to the Italian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1971 the Intel 4004 had 2,300 transistors; a laptop processor today has tens of billions, ten million times as many. For fifty years the number doubled about every two years. This is Moore's law, which is an observation about an industry and not a law of nature, and its physical limits are now close. When more transistors no longer come for free, progress must come from better architectures. That is why the subject of this course matters more today than twenty years ago.
For the lecturer: Gordon Moore's observation dates from 1965 (revised in 1975). Do not present it as a law of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comparison across forty years. The Commodore 64 had an 8-bit processor with three registers, a clock of about 1 MHz and 64 KB of memory; the ESP32-C6 has 32 bits, thirty-two registers, 160 MHz and an address space of 4 GB. Yet the screen is the same size, 320 by 200 pixels, and so is the spirit: a machine small enough for one person to understand entirely. The difference that matters to you is in the row of the instruction set: proprietary then, an open standard now.
For the lecturer: The source deck ended with the easy6502 simulator (skilldrick.github.io/easy6502), still a pleasant visit. PRG32 keeps the same immediacy, 320 by 200 included, on the architecture the students will meet in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a storm from left to right. It is first a natural phenomenon. Physics and mathematics describe it with equations. Informatics turns the equations into algorithms and simulations. Engineering provides the supercomputers, networks and sensors that run them reliably. The economy receives forecasts and services that have value for people. Informatics is the link in the middle: without it the equations stay on paper. The example is real: the weather and sea forecasts of the Department are computed every day in this way.
For the lecturer: The source slide showed portraits and pictures for each stage (equations, forecast maps, a hurricane, the mobile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pictures show the racks of the Research Computing Facilities of the University, what they produce every day, the weather forecasts of meteo@uniparthenope, and the page that lists the machines. A cluster is many computers that work together on one problem. The ideas are those you practise on the kit: registers, memory, instructions, only in far greater number and with the added problem of making the parts cooperate. The last lecture of the course returns to these machines, and the closing event includes a visit to them.
For the lecturer: The closing event of the course includes a visit to the supercomputing systems of the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for the idea, not for a detail. The number of registers and the duration of an instruction vary from one processor to another, and input and output are one of the four units, not an option. What defines the architecture is that instructions are kept in the same memory as data, and are fetched and executed one after another.
Speed is a property of a particular chip, not of an instruction set, and RISC-V was not the first RISC: Berkeley RISC, MIPS and ARM came before. Nor is it limited to microcontrollers. What is new is the licence: the instruction set is an open standard that anyone may implement.
For the lecturer: 1. Answer: B. The stored-program concept: instructions are data in memory, fetched and executed one after another.
2. Answer: C. RISC-V is an open standard instruction set architecture; anyone may design and sell a RISC-V processor without an architecture licence. It was not the first RISC (Berkeley RISC, MIPS, ARM came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names belong to the story, with different roles. Babbage designed the machine. Turing defined computation, a century later. Zuse built the first working programmable computer. The person who wrote a procedure for a machine, and published it in 1843, is Ada Lovelace.
For the lecturer: Answer: C. Ada Lovelace, for her 1843 notes on the Analytical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terms. Note that Italian has two words for the machine, calcolatore and elaboratore, both older than the borrowed computer. Stored program is the idea of von Neumann. The control unit and the arithmetic logic unit, ALU, are two of the four units, and you will meet them again in the lectures on the processor. High-performance computing, HPC, is the field of the clusters you have just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conclusions. Computing is older than electronics: representation and procedure came first. The stored-program computer of 1945 is the machine we still program. RISC made processors simple enough to be understood whole, and RISC-V made them open. And informatics is everywhere, because information belongs to every field. The readings give the same story at greater length. The next lecture takes the first formal step: how information becomes bits.
Learning status, recap. UNDERSTAND NOW: what informatics is; the von Neumann architecture; RISC and an open ISA. USE NOW: the complete program, the PRG32 tools (used, not studied, in this course). UNDERSTAND LATER: Boolean algebra (Lecture 08). A slide without a badge is context: a story, an example, a question, an exercise.
For the lecturer: Next lecture: how information becomes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03: History of computing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image" Target="../media/image-11-5.jpg"/><Relationship Id="rId6" Type="http://schemas.openxmlformats.org/officeDocument/2006/relationships/image" Target="../media/image-11-6.jpg"/><Relationship Id="rId7" Type="http://schemas.openxmlformats.org/officeDocument/2006/relationships/image" Target="../media/image-11-7.jpg"/><Relationship Id="rId8" Type="http://schemas.openxmlformats.org/officeDocument/2006/relationships/image" Target="../media/image-11-8.jpg"/><Relationship Id="rId9" Type="http://schemas.openxmlformats.org/officeDocument/2006/relationships/image" Target="../media/image-11-9.jpg"/><Relationship Id="rId10" Type="http://schemas.openxmlformats.org/officeDocument/2006/relationships/slideLayout" Target="../slideLayouts/slideLayout2.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03</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History of Computing</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2200" dirty="0">
                <a:solidFill>
                  <a:srgbClr val="CFE3EA"/>
                </a:solidFill>
                <a:latin typeface="Calibri" pitchFamily="34" charset="0"/>
                <a:ea typeface="Calibri" pitchFamily="34" charset="-122"/>
                <a:cs typeface="Calibri" pitchFamily="34" charset="-120"/>
              </a:rPr>
              <a:t>From the abacus to an open processor you can program yourself</a:t>
            </a:r>
            <a:endParaRPr lang="en-US" sz="22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ourier New" pitchFamily="34" charset="0"/>
                <a:ea typeface="Courier New" pitchFamily="34" charset="-122"/>
                <a:cs typeface="Courier New" pitchFamily="34" charset="-120"/>
              </a:rPr>
              <a:t>“printf("Hello, world!");”</a:t>
            </a:r>
            <a:endParaRPr lang="en-US" sz="1900" dirty="0"/>
          </a:p>
          <a:p>
            <a:pPr indent="0" marL="0">
              <a:buNone/>
            </a:pPr>
            <a:r>
              <a:rPr lang="en-US" sz="1200" dirty="0">
                <a:solidFill>
                  <a:srgbClr val="CFE3EA"/>
                </a:solidFill>
                <a:latin typeface="Courier New" pitchFamily="34" charset="0"/>
                <a:ea typeface="Courier New" pitchFamily="34" charset="-122"/>
                <a:cs typeface="Courier New" pitchFamily="34" charset="-120"/>
              </a:rPr>
              <a:t>Brian Kernighan and Dennis Ritchie, The C Programming Language, 1978</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Lecture deck. The listings, the complete program and how to test it are in the code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03-Computer_Architecture-History_of_Computing-Code.pptx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game_spaceinvaders.png">    </p:cNvPr>
          <p:cNvPicPr>
            <a:picLocks noChangeAspect="1"/>
          </p:cNvPicPr>
          <p:nvPr/>
        </p:nvPicPr>
        <p:blipFill>
          <a:blip r:embed="rId1"/>
          <a:stretch>
            <a:fillRect/>
          </a:stretch>
        </p:blipFill>
        <p:spPr>
          <a:xfrm>
            <a:off x="8915095" y="4251960"/>
            <a:ext cx="2438400" cy="1828800"/>
          </a:xfrm>
          <a:prstGeom prst="rect">
            <a:avLst/>
          </a:prstGeom>
        </p:spPr>
      </p:pic>
      <p:sp>
        <p:nvSpPr>
          <p:cNvPr id="15" name="Shape 12"/>
          <p:cNvSpPr/>
          <p:nvPr/>
        </p:nvSpPr>
        <p:spPr>
          <a:xfrm>
            <a:off x="9690303" y="91440"/>
            <a:ext cx="1952752" cy="274320"/>
          </a:xfrm>
          <a:prstGeom prst="rect">
            <a:avLst/>
          </a:prstGeom>
          <a:solidFill>
            <a:srgbClr val="F3E8FF"/>
          </a:solidFill>
          <a:ln w="12700">
            <a:solidFill>
              <a:srgbClr val="7E22CE"/>
            </a:solidFill>
            <a:prstDash val="dash"/>
          </a:ln>
        </p:spPr>
      </p:sp>
      <p:sp>
        <p:nvSpPr>
          <p:cNvPr id="16" name="Shape 13"/>
          <p:cNvSpPr/>
          <p:nvPr/>
        </p:nvSpPr>
        <p:spPr>
          <a:xfrm>
            <a:off x="9717735" y="128016"/>
            <a:ext cx="45720" cy="45720"/>
          </a:xfrm>
          <a:prstGeom prst="rect">
            <a:avLst/>
          </a:prstGeom>
          <a:solidFill>
            <a:srgbClr val="7E22CE"/>
          </a:solidFill>
          <a:ln w="12700">
            <a:solidFill>
              <a:srgbClr val="7E22CE"/>
            </a:solidFill>
            <a:prstDash val="solid"/>
          </a:ln>
        </p:spPr>
      </p:sp>
      <p:sp>
        <p:nvSpPr>
          <p:cNvPr id="17" name="Shape 14"/>
          <p:cNvSpPr/>
          <p:nvPr/>
        </p:nvSpPr>
        <p:spPr>
          <a:xfrm>
            <a:off x="9717735" y="205740"/>
            <a:ext cx="45720" cy="45720"/>
          </a:xfrm>
          <a:prstGeom prst="rect">
            <a:avLst/>
          </a:prstGeom>
          <a:solidFill>
            <a:srgbClr val="7E22CE"/>
          </a:solidFill>
          <a:ln w="12700">
            <a:solidFill>
              <a:srgbClr val="7E22CE"/>
            </a:solidFill>
            <a:prstDash val="solid"/>
          </a:ln>
        </p:spPr>
      </p:sp>
      <p:sp>
        <p:nvSpPr>
          <p:cNvPr id="18" name="Shape 15"/>
          <p:cNvSpPr/>
          <p:nvPr/>
        </p:nvSpPr>
        <p:spPr>
          <a:xfrm>
            <a:off x="9717735"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0" name="Text 16"/>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1" name="Shape 17"/>
          <p:cNvSpPr/>
          <p:nvPr/>
        </p:nvSpPr>
        <p:spPr>
          <a:xfrm>
            <a:off x="8407349" y="91440"/>
            <a:ext cx="1173226" cy="274320"/>
          </a:xfrm>
          <a:prstGeom prst="rect">
            <a:avLst/>
          </a:prstGeom>
          <a:solidFill>
            <a:srgbClr val="FEF3C7"/>
          </a:solidFill>
          <a:ln w="12700">
            <a:solidFill>
              <a:srgbClr val="B45309"/>
            </a:solidFill>
            <a:prstDash val="solid"/>
          </a:ln>
        </p:spPr>
      </p:sp>
      <p:sp>
        <p:nvSpPr>
          <p:cNvPr id="22" name="Shape 18"/>
          <p:cNvSpPr/>
          <p:nvPr/>
        </p:nvSpPr>
        <p:spPr>
          <a:xfrm>
            <a:off x="8407349" y="91440"/>
            <a:ext cx="27432" cy="274320"/>
          </a:xfrm>
          <a:prstGeom prst="rect">
            <a:avLst/>
          </a:prstGeom>
          <a:solidFill>
            <a:srgbClr val="B45309"/>
          </a:solidFill>
          <a:ln w="12700">
            <a:solidFill>
              <a:srgbClr val="B45309"/>
            </a:solidFill>
            <a:prstDash val="solid"/>
          </a:ln>
        </p:spPr>
      </p:sp>
      <p:sp>
        <p:nvSpPr>
          <p:cNvPr id="23" name="Shape 19"/>
          <p:cNvSpPr/>
          <p:nvPr/>
        </p:nvSpPr>
        <p:spPr>
          <a:xfrm>
            <a:off x="846221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5" name="Text 20"/>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6" name="Shape 21"/>
          <p:cNvSpPr/>
          <p:nvPr/>
        </p:nvSpPr>
        <p:spPr>
          <a:xfrm>
            <a:off x="6518097" y="91440"/>
            <a:ext cx="1779524" cy="274320"/>
          </a:xfrm>
          <a:prstGeom prst="rect">
            <a:avLst/>
          </a:prstGeom>
          <a:solidFill>
            <a:srgbClr val="E0F2FE"/>
          </a:solidFill>
          <a:ln w="12700">
            <a:solidFill>
              <a:srgbClr val="0369A1"/>
            </a:solidFill>
            <a:prstDash val="solid"/>
          </a:ln>
        </p:spPr>
      </p:sp>
      <p:sp>
        <p:nvSpPr>
          <p:cNvPr id="27" name="Shape 22"/>
          <p:cNvSpPr/>
          <p:nvPr/>
        </p:nvSpPr>
        <p:spPr>
          <a:xfrm>
            <a:off x="651809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9" name="Text 23"/>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be able to do by the end</a:t>
            </a:r>
            <a:endParaRPr lang="en-US" sz="3200" dirty="0"/>
          </a:p>
        </p:txBody>
      </p:sp>
      <p:sp>
        <p:nvSpPr>
          <p:cNvPr id="3" name="Text 1"/>
          <p:cNvSpPr txBox="1"/>
          <p:nvPr/>
        </p:nvSpPr>
        <p:spPr>
          <a:xfrm>
            <a:off x="548640" y="143713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884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Define informatics and say why it is not the science of computers</a:t>
            </a:r>
            <a:endParaRPr lang="en-US" sz="2200" dirty="0"/>
          </a:p>
        </p:txBody>
      </p:sp>
      <p:sp>
        <p:nvSpPr>
          <p:cNvPr id="5" name="Text 3"/>
          <p:cNvSpPr txBox="1"/>
          <p:nvPr/>
        </p:nvSpPr>
        <p:spPr>
          <a:xfrm>
            <a:off x="548640" y="23332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314956"/>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Place the key machines and people on a timeline, from the abacus to the stored-program computer</a:t>
            </a:r>
            <a:endParaRPr lang="en-US" sz="2200" dirty="0"/>
          </a:p>
        </p:txBody>
      </p:sp>
      <p:sp>
        <p:nvSpPr>
          <p:cNvPr id="7" name="Text 5"/>
          <p:cNvSpPr txBox="1"/>
          <p:nvPr/>
        </p:nvSpPr>
        <p:spPr>
          <a:xfrm>
            <a:off x="548640" y="347218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45389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Name the four units of the von Neumann architecture and find them in the machine you programmed last time</a:t>
            </a:r>
            <a:endParaRPr lang="en-US" sz="2200" dirty="0"/>
          </a:p>
        </p:txBody>
      </p:sp>
      <p:sp>
        <p:nvSpPr>
          <p:cNvPr id="9" name="Text 7"/>
          <p:cNvSpPr txBox="1"/>
          <p:nvPr/>
        </p:nvSpPr>
        <p:spPr>
          <a:xfrm>
            <a:off x="548640" y="46111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9282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what RISC means and why RISC-V is an open instruction set</a:t>
            </a:r>
            <a:endParaRPr lang="en-US" sz="2200" dirty="0"/>
          </a:p>
        </p:txBody>
      </p:sp>
      <p:sp>
        <p:nvSpPr>
          <p:cNvPr id="11" name="Text 9"/>
          <p:cNvSpPr txBox="1"/>
          <p:nvPr/>
        </p:nvSpPr>
        <p:spPr>
          <a:xfrm>
            <a:off x="548640" y="550722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8894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Describe where informatics sits between science, engineering and the economy</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definition</a:t>
            </a:r>
            <a:endParaRPr lang="en-US" sz="3200" dirty="0"/>
          </a:p>
        </p:txBody>
      </p:sp>
      <p:sp>
        <p:nvSpPr>
          <p:cNvPr id="3" name="Shape 1"/>
          <p:cNvSpPr/>
          <p:nvPr/>
        </p:nvSpPr>
        <p:spPr>
          <a:xfrm>
            <a:off x="548640" y="1417320"/>
            <a:ext cx="11094415" cy="1596136"/>
          </a:xfrm>
          <a:prstGeom prst="roundRect">
            <a:avLst>
              <a:gd name="adj" fmla="val 4583"/>
            </a:avLst>
          </a:prstGeom>
          <a:solidFill>
            <a:srgbClr val="F6E7D2"/>
          </a:solidFill>
          <a:ln w="12700">
            <a:solidFill>
              <a:srgbClr val="F6E7D2"/>
            </a:solidFill>
            <a:prstDash val="solid"/>
          </a:ln>
        </p:spPr>
      </p:sp>
      <p:sp>
        <p:nvSpPr>
          <p:cNvPr id="4" name="Text 2"/>
          <p:cNvSpPr txBox="1"/>
          <p:nvPr/>
        </p:nvSpPr>
        <p:spPr>
          <a:xfrm>
            <a:off x="914400" y="1600200"/>
            <a:ext cx="10362895" cy="411480"/>
          </a:xfrm>
          <a:prstGeom prst="rect">
            <a:avLst/>
          </a:prstGeom>
          <a:noFill/>
          <a:ln/>
        </p:spPr>
        <p:txBody>
          <a:bodyPr wrap="square" lIns="0" tIns="0" rIns="0" bIns="0" rtlCol="0" anchor="ctr"/>
          <a:lstStyle/>
          <a:p>
            <a:pPr indent="0" marL="0">
              <a:buNone/>
            </a:pPr>
            <a:r>
              <a:rPr lang="en-US" sz="1600" b="1" dirty="0">
                <a:solidFill>
                  <a:srgbClr val="C7791B"/>
                </a:solidFill>
                <a:latin typeface="Calibri" pitchFamily="34" charset="0"/>
                <a:ea typeface="Calibri" pitchFamily="34" charset="-122"/>
                <a:cs typeface="Calibri" pitchFamily="34" charset="-120"/>
              </a:rPr>
              <a:t>Informatics</a:t>
            </a:r>
            <a:endParaRPr lang="en-US" sz="1600" dirty="0"/>
          </a:p>
        </p:txBody>
      </p:sp>
      <p:sp>
        <p:nvSpPr>
          <p:cNvPr id="5" name="Text 3"/>
          <p:cNvSpPr txBox="1"/>
          <p:nvPr/>
        </p:nvSpPr>
        <p:spPr>
          <a:xfrm>
            <a:off x="914400" y="2057400"/>
            <a:ext cx="10362895" cy="773176"/>
          </a:xfrm>
          <a:prstGeom prst="rect">
            <a:avLst/>
          </a:prstGeom>
          <a:noFill/>
          <a:ln/>
        </p:spPr>
        <p:txBody>
          <a:bodyPr wrap="square" lIns="0" tIns="0" rIns="0" bIns="0" rtlCol="0" anchor="ctr"/>
          <a:lstStyle/>
          <a:p>
            <a:pPr indent="0" marL="0">
              <a:buNone/>
            </a:pPr>
            <a:r>
              <a:rPr lang="en-US" sz="2400" i="1" dirty="0">
                <a:solidFill>
                  <a:srgbClr val="1B2530"/>
                </a:solidFill>
                <a:latin typeface="Cambria" pitchFamily="34" charset="0"/>
                <a:ea typeface="Cambria" pitchFamily="34" charset="-122"/>
                <a:cs typeface="Cambria" pitchFamily="34" charset="-120"/>
              </a:rPr>
              <a:t>The applied science that deals with the treatment of information by means of automated procedures.</a:t>
            </a:r>
            <a:endParaRPr lang="en-US" sz="2400" dirty="0"/>
          </a:p>
        </p:txBody>
      </p:sp>
      <p:sp>
        <p:nvSpPr>
          <p:cNvPr id="6" name="Shape 4"/>
          <p:cNvSpPr/>
          <p:nvPr/>
        </p:nvSpPr>
        <p:spPr>
          <a:xfrm>
            <a:off x="548640" y="3487928"/>
            <a:ext cx="146304" cy="146304"/>
          </a:xfrm>
          <a:prstGeom prst="rect">
            <a:avLst/>
          </a:prstGeom>
          <a:solidFill>
            <a:srgbClr val="0E7C86"/>
          </a:solidFill>
          <a:ln w="12700">
            <a:solidFill>
              <a:srgbClr val="0E7C86"/>
            </a:solidFill>
            <a:prstDash val="solid"/>
          </a:ln>
        </p:spPr>
      </p:sp>
      <p:sp>
        <p:nvSpPr>
          <p:cNvPr id="7" name="Text 5"/>
          <p:cNvSpPr txBox="1"/>
          <p:nvPr/>
        </p:nvSpPr>
        <p:spPr>
          <a:xfrm>
            <a:off x="932688" y="3366008"/>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Italian informatica, from the French informatique: information automatique</a:t>
            </a:r>
            <a:endParaRPr lang="en-US" sz="2400" dirty="0"/>
          </a:p>
        </p:txBody>
      </p:sp>
      <p:sp>
        <p:nvSpPr>
          <p:cNvPr id="8" name="Shape 6"/>
          <p:cNvSpPr/>
          <p:nvPr/>
        </p:nvSpPr>
        <p:spPr>
          <a:xfrm>
            <a:off x="548640" y="4688840"/>
            <a:ext cx="146304" cy="146304"/>
          </a:xfrm>
          <a:prstGeom prst="rect">
            <a:avLst/>
          </a:prstGeom>
          <a:solidFill>
            <a:srgbClr val="C7791B"/>
          </a:solidFill>
          <a:ln w="12700">
            <a:solidFill>
              <a:srgbClr val="C7791B"/>
            </a:solidFill>
            <a:prstDash val="solid"/>
          </a:ln>
        </p:spPr>
      </p:sp>
      <p:sp>
        <p:nvSpPr>
          <p:cNvPr id="9" name="Text 7"/>
          <p:cNvSpPr txBox="1"/>
          <p:nvPr/>
        </p:nvSpPr>
        <p:spPr>
          <a:xfrm>
            <a:off x="932688" y="4566920"/>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In English: computer science, and increasingly informatics</a:t>
            </a:r>
            <a:endParaRPr lang="en-US" sz="2400" dirty="0"/>
          </a:p>
        </p:txBody>
      </p:sp>
      <p:sp>
        <p:nvSpPr>
          <p:cNvPr id="10" name="Shape 8"/>
          <p:cNvSpPr/>
          <p:nvPr/>
        </p:nvSpPr>
        <p:spPr>
          <a:xfrm>
            <a:off x="548640" y="5517896"/>
            <a:ext cx="146304" cy="146304"/>
          </a:xfrm>
          <a:prstGeom prst="rect">
            <a:avLst/>
          </a:prstGeom>
          <a:solidFill>
            <a:srgbClr val="0E7C86"/>
          </a:solidFill>
          <a:ln w="12700">
            <a:solidFill>
              <a:srgbClr val="0E7C86"/>
            </a:solidFill>
            <a:prstDash val="solid"/>
          </a:ln>
        </p:spPr>
      </p:sp>
      <p:sp>
        <p:nvSpPr>
          <p:cNvPr id="11" name="Text 9"/>
          <p:cNvSpPr txBox="1"/>
          <p:nvPr/>
        </p:nvSpPr>
        <p:spPr>
          <a:xfrm>
            <a:off x="932688" y="5395976"/>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tool: elaboratore in Italian, ordinateur in French, computer in English</a:t>
            </a:r>
            <a:endParaRPr lang="en-US" sz="2400" dirty="0"/>
          </a:p>
        </p:txBody>
      </p:sp>
      <p:sp>
        <p:nvSpPr>
          <p:cNvPr id="12" name="Shape 10"/>
          <p:cNvSpPr/>
          <p:nvPr/>
        </p:nvSpPr>
        <p:spPr>
          <a:xfrm>
            <a:off x="8419033" y="91440"/>
            <a:ext cx="3224022" cy="274320"/>
          </a:xfrm>
          <a:prstGeom prst="rect">
            <a:avLst/>
          </a:prstGeom>
          <a:solidFill>
            <a:srgbClr val="E0F2FE"/>
          </a:solidFill>
          <a:ln w="12700">
            <a:solidFill>
              <a:srgbClr val="0369A1"/>
            </a:solidFill>
            <a:prstDash val="solid"/>
          </a:ln>
        </p:spPr>
      </p:sp>
      <p:sp>
        <p:nvSpPr>
          <p:cNvPr id="13" name="Shape 11"/>
          <p:cNvSpPr/>
          <p:nvPr/>
        </p:nvSpPr>
        <p:spPr>
          <a:xfrm>
            <a:off x="8419033" y="91440"/>
            <a:ext cx="73152" cy="274320"/>
          </a:xfrm>
          <a:prstGeom prst="rect">
            <a:avLst/>
          </a:prstGeom>
          <a:solidFill>
            <a:srgbClr val="0369A1"/>
          </a:solidFill>
          <a:ln w="12700">
            <a:solidFill>
              <a:srgbClr val="0369A1"/>
            </a:solidFill>
            <a:prstDash val="solid"/>
          </a:ln>
        </p:spPr>
      </p:sp>
      <p:pic>
        <p:nvPicPr>
          <p:cNvPr id="14" name="Image 0" descr="preencoded.png">    </p:cNvPr>
          <p:cNvPicPr>
            <a:picLocks noChangeAspect="1"/>
          </p:cNvPicPr>
          <p:nvPr/>
        </p:nvPicPr>
        <p:blipFill>
          <a:blip r:embed="rId1"/>
          <a:stretch>
            <a:fillRect/>
          </a:stretch>
        </p:blipFill>
        <p:spPr>
          <a:xfrm>
            <a:off x="8547049" y="128016"/>
            <a:ext cx="201168" cy="201168"/>
          </a:xfrm>
          <a:prstGeom prst="rect">
            <a:avLst/>
          </a:prstGeom>
        </p:spPr>
      </p:pic>
      <p:sp>
        <p:nvSpPr>
          <p:cNvPr id="15" name="Text 12"/>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what informatics is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Two souls, one discipline</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Theoretical informatics</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The theoretical foundations of information</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Computation at the logical level: what can be computed, and at what cost</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Algorithms: a finite set of operations that describe the transformation from A to B</a:t>
            </a:r>
            <a:endParaRPr lang="en-US" sz="21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Applied informatics</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Enabling technologies and information systems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Pervasive: a driver of economic development and of the ICT sector</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A STEM discipline at the heart of an industrial revolution</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With a social cost to manage: the digital divide</a:t>
            </a:r>
            <a:endParaRPr lang="en-US" sz="2100" dirty="0"/>
          </a:p>
        </p:txBody>
      </p:sp>
      <p:sp>
        <p:nvSpPr>
          <p:cNvPr id="9" name="Shape 7"/>
          <p:cNvSpPr/>
          <p:nvPr/>
        </p:nvSpPr>
        <p:spPr>
          <a:xfrm>
            <a:off x="8419033" y="91440"/>
            <a:ext cx="3224022" cy="274320"/>
          </a:xfrm>
          <a:prstGeom prst="rect">
            <a:avLst/>
          </a:prstGeom>
          <a:solidFill>
            <a:srgbClr val="E0F2FE"/>
          </a:solidFill>
          <a:ln w="12700">
            <a:solidFill>
              <a:srgbClr val="0369A1"/>
            </a:solidFill>
            <a:prstDash val="solid"/>
          </a:ln>
        </p:spPr>
      </p:sp>
      <p:sp>
        <p:nvSpPr>
          <p:cNvPr id="10" name="Shape 8"/>
          <p:cNvSpPr/>
          <p:nvPr/>
        </p:nvSpPr>
        <p:spPr>
          <a:xfrm>
            <a:off x="8419033" y="91440"/>
            <a:ext cx="73152" cy="274320"/>
          </a:xfrm>
          <a:prstGeom prst="rect">
            <a:avLst/>
          </a:prstGeom>
          <a:solidFill>
            <a:srgbClr val="0369A1"/>
          </a:solidFill>
          <a:ln w="12700">
            <a:solidFill>
              <a:srgbClr val="0369A1"/>
            </a:solidFill>
            <a:prstDash val="solid"/>
          </a:ln>
        </p:spPr>
      </p:sp>
      <p:pic>
        <p:nvPicPr>
          <p:cNvPr id="11" name="Image 0" descr="preencoded.png">    </p:cNvPr>
          <p:cNvPicPr>
            <a:picLocks noChangeAspect="1"/>
          </p:cNvPicPr>
          <p:nvPr/>
        </p:nvPicPr>
        <p:blipFill>
          <a:blip r:embed="rId1"/>
          <a:stretch>
            <a:fillRect/>
          </a:stretch>
        </p:blipFill>
        <p:spPr>
          <a:xfrm>
            <a:off x="8547049" y="128016"/>
            <a:ext cx="201168" cy="201168"/>
          </a:xfrm>
          <a:prstGeom prst="rect">
            <a:avLst/>
          </a:prstGeom>
        </p:spPr>
      </p:pic>
      <p:sp>
        <p:nvSpPr>
          <p:cNvPr id="12" name="Text 9"/>
          <p:cNvSpPr txBox="1"/>
          <p:nvPr/>
        </p:nvSpPr>
        <p:spPr>
          <a:xfrm>
            <a:off x="8803081" y="91440"/>
            <a:ext cx="280339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what informatics is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Origins: the abacus and the Antikythera mechanism</a:t>
            </a:r>
            <a:endParaRPr lang="en-US" sz="3200" dirty="0"/>
          </a:p>
        </p:txBody>
      </p:sp>
      <p:sp>
        <p:nvSpPr>
          <p:cNvPr id="3" name="Shape 1"/>
          <p:cNvSpPr/>
          <p:nvPr/>
        </p:nvSpPr>
        <p:spPr>
          <a:xfrm>
            <a:off x="548640" y="1417320"/>
            <a:ext cx="2567864" cy="3931920"/>
          </a:xfrm>
          <a:prstGeom prst="roundRect">
            <a:avLst>
              <a:gd name="adj" fmla="val 2849"/>
            </a:avLst>
          </a:prstGeom>
          <a:solidFill>
            <a:srgbClr val="EEF2F4"/>
          </a:solidFill>
          <a:ln w="12700">
            <a:solidFill>
              <a:srgbClr val="EEF2F4"/>
            </a:solidFill>
            <a:prstDash val="solid"/>
          </a:ln>
        </p:spPr>
      </p:sp>
      <p:pic>
        <p:nvPicPr>
          <p:cNvPr id="4" name="Image 0" descr="/Users/raffaelemontella/devel/riscv-prg32/computer-architecture-with-prg32/tools/assets/abacus_roman.jpg">    </p:cNvPr>
          <p:cNvPicPr>
            <a:picLocks noChangeAspect="1"/>
          </p:cNvPicPr>
          <p:nvPr/>
        </p:nvPicPr>
        <p:blipFill>
          <a:blip r:embed="rId1"/>
          <a:stretch>
            <a:fillRect/>
          </a:stretch>
        </p:blipFill>
        <p:spPr>
          <a:xfrm>
            <a:off x="685800" y="2234158"/>
            <a:ext cx="2293544" cy="1703885"/>
          </a:xfrm>
          <a:prstGeom prst="rect">
            <a:avLst/>
          </a:prstGeom>
        </p:spPr>
      </p:pic>
      <p:sp>
        <p:nvSpPr>
          <p:cNvPr id="5" name="Text 2"/>
          <p:cNvSpPr txBox="1"/>
          <p:nvPr/>
        </p:nvSpPr>
        <p:spPr>
          <a:xfrm>
            <a:off x="685800" y="4663440"/>
            <a:ext cx="2293544" cy="594360"/>
          </a:xfrm>
          <a:prstGeom prst="rect">
            <a:avLst/>
          </a:prstGeom>
          <a:noFill/>
          <a:ln/>
        </p:spPr>
        <p:txBody>
          <a:bodyPr wrap="square" lIns="0" tIns="0" rIns="0" bIns="0" rtlCol="0" anchor="ctr"/>
          <a:lstStyle/>
          <a:p>
            <a:pPr algn="ctr" indent="0" marL="0">
              <a:buNone/>
            </a:pPr>
            <a:r>
              <a:rPr lang="en-US" sz="1200" dirty="0">
                <a:solidFill>
                  <a:srgbClr val="1B2530"/>
                </a:solidFill>
                <a:latin typeface="Calibri" pitchFamily="34" charset="0"/>
                <a:ea typeface="Calibri" pitchFamily="34" charset="-122"/>
                <a:cs typeface="Calibri" pitchFamily="34" charset="-120"/>
              </a:rPr>
              <a:t>Roman hand abacus: a physical representation of data and operations</a:t>
            </a:r>
            <a:endParaRPr lang="en-US" sz="1200" dirty="0"/>
          </a:p>
        </p:txBody>
      </p:sp>
      <p:sp>
        <p:nvSpPr>
          <p:cNvPr id="6" name="Shape 3"/>
          <p:cNvSpPr/>
          <p:nvPr/>
        </p:nvSpPr>
        <p:spPr>
          <a:xfrm>
            <a:off x="3390824" y="1417320"/>
            <a:ext cx="2567864" cy="3931920"/>
          </a:xfrm>
          <a:prstGeom prst="roundRect">
            <a:avLst>
              <a:gd name="adj" fmla="val 2849"/>
            </a:avLst>
          </a:prstGeom>
          <a:solidFill>
            <a:srgbClr val="EEF2F4"/>
          </a:solidFill>
          <a:ln w="12700">
            <a:solidFill>
              <a:srgbClr val="EEF2F4"/>
            </a:solidFill>
            <a:prstDash val="solid"/>
          </a:ln>
        </p:spPr>
      </p:sp>
      <p:pic>
        <p:nvPicPr>
          <p:cNvPr id="7" name="Image 1" descr="/Users/raffaelemontella/devel/riscv-prg32/computer-architecture-with-prg32/tools/assets/abacus_chinese.jpg">    </p:cNvPr>
          <p:cNvPicPr>
            <a:picLocks noChangeAspect="1"/>
          </p:cNvPicPr>
          <p:nvPr/>
        </p:nvPicPr>
        <p:blipFill>
          <a:blip r:embed="rId2"/>
          <a:stretch>
            <a:fillRect/>
          </a:stretch>
        </p:blipFill>
        <p:spPr>
          <a:xfrm>
            <a:off x="3527984" y="2226021"/>
            <a:ext cx="2293544" cy="1720158"/>
          </a:xfrm>
          <a:prstGeom prst="rect">
            <a:avLst/>
          </a:prstGeom>
        </p:spPr>
      </p:pic>
      <p:sp>
        <p:nvSpPr>
          <p:cNvPr id="8" name="Text 4"/>
          <p:cNvSpPr txBox="1"/>
          <p:nvPr/>
        </p:nvSpPr>
        <p:spPr>
          <a:xfrm>
            <a:off x="3527984" y="4663440"/>
            <a:ext cx="2293544" cy="594360"/>
          </a:xfrm>
          <a:prstGeom prst="rect">
            <a:avLst/>
          </a:prstGeom>
          <a:noFill/>
          <a:ln/>
        </p:spPr>
        <p:txBody>
          <a:bodyPr wrap="square" lIns="0" tIns="0" rIns="0" bIns="0" rtlCol="0" anchor="ctr"/>
          <a:lstStyle/>
          <a:p>
            <a:pPr algn="ctr" indent="0" marL="0">
              <a:buNone/>
            </a:pPr>
            <a:r>
              <a:rPr lang="en-US" sz="1200" dirty="0">
                <a:solidFill>
                  <a:srgbClr val="1B2530"/>
                </a:solidFill>
                <a:latin typeface="Calibri" pitchFamily="34" charset="0"/>
                <a:ea typeface="Calibri" pitchFamily="34" charset="-122"/>
                <a:cs typeface="Calibri" pitchFamily="34" charset="-120"/>
              </a:rPr>
              <a:t>Chinese suanpan: Babylonians, Chinese, Greeks and Romans all used counting frames</a:t>
            </a:r>
            <a:endParaRPr lang="en-US" sz="1200" dirty="0"/>
          </a:p>
        </p:txBody>
      </p:sp>
      <p:sp>
        <p:nvSpPr>
          <p:cNvPr id="9" name="Shape 5"/>
          <p:cNvSpPr/>
          <p:nvPr/>
        </p:nvSpPr>
        <p:spPr>
          <a:xfrm>
            <a:off x="6233008" y="1417320"/>
            <a:ext cx="2567864" cy="3931920"/>
          </a:xfrm>
          <a:prstGeom prst="roundRect">
            <a:avLst>
              <a:gd name="adj" fmla="val 2849"/>
            </a:avLst>
          </a:prstGeom>
          <a:solidFill>
            <a:srgbClr val="EEF2F4"/>
          </a:solidFill>
          <a:ln w="12700">
            <a:solidFill>
              <a:srgbClr val="EEF2F4"/>
            </a:solidFill>
            <a:prstDash val="solid"/>
          </a:ln>
        </p:spPr>
      </p:sp>
      <p:pic>
        <p:nvPicPr>
          <p:cNvPr id="10" name="Image 2" descr="/Users/raffaelemontella/devel/riscv-prg32/computer-architecture-with-prg32/tools/assets/antikythera.jpg">    </p:cNvPr>
          <p:cNvPicPr>
            <a:picLocks noChangeAspect="1"/>
          </p:cNvPicPr>
          <p:nvPr/>
        </p:nvPicPr>
        <p:blipFill>
          <a:blip r:embed="rId3"/>
          <a:stretch>
            <a:fillRect/>
          </a:stretch>
        </p:blipFill>
        <p:spPr>
          <a:xfrm>
            <a:off x="6370168" y="2063303"/>
            <a:ext cx="2293544" cy="2045593"/>
          </a:xfrm>
          <a:prstGeom prst="rect">
            <a:avLst/>
          </a:prstGeom>
        </p:spPr>
      </p:pic>
      <p:sp>
        <p:nvSpPr>
          <p:cNvPr id="11" name="Text 6"/>
          <p:cNvSpPr txBox="1"/>
          <p:nvPr/>
        </p:nvSpPr>
        <p:spPr>
          <a:xfrm>
            <a:off x="6370168" y="4663440"/>
            <a:ext cx="2293544" cy="594360"/>
          </a:xfrm>
          <a:prstGeom prst="rect">
            <a:avLst/>
          </a:prstGeom>
          <a:noFill/>
          <a:ln/>
        </p:spPr>
        <p:txBody>
          <a:bodyPr wrap="square" lIns="0" tIns="0" rIns="0" bIns="0" rtlCol="0" anchor="ctr"/>
          <a:lstStyle/>
          <a:p>
            <a:pPr algn="ctr" indent="0" marL="0">
              <a:buNone/>
            </a:pPr>
            <a:r>
              <a:rPr lang="en-US" sz="1200" dirty="0">
                <a:solidFill>
                  <a:srgbClr val="1B2530"/>
                </a:solidFill>
                <a:latin typeface="Calibri" pitchFamily="34" charset="0"/>
                <a:ea typeface="Calibri" pitchFamily="34" charset="-122"/>
                <a:cs typeface="Calibri" pitchFamily="34" charset="-120"/>
              </a:rPr>
              <a:t>Antikythera mechanism, 2nd-1st century BC: the oldest known geared calculator</a:t>
            </a:r>
            <a:endParaRPr lang="en-US" sz="1200" dirty="0"/>
          </a:p>
        </p:txBody>
      </p:sp>
      <p:sp>
        <p:nvSpPr>
          <p:cNvPr id="12" name="Shape 7"/>
          <p:cNvSpPr/>
          <p:nvPr/>
        </p:nvSpPr>
        <p:spPr>
          <a:xfrm>
            <a:off x="9075191" y="1417320"/>
            <a:ext cx="2567864" cy="3931920"/>
          </a:xfrm>
          <a:prstGeom prst="roundRect">
            <a:avLst>
              <a:gd name="adj" fmla="val 2849"/>
            </a:avLst>
          </a:prstGeom>
          <a:solidFill>
            <a:srgbClr val="EEF2F4"/>
          </a:solidFill>
          <a:ln w="12700">
            <a:solidFill>
              <a:srgbClr val="EEF2F4"/>
            </a:solidFill>
            <a:prstDash val="solid"/>
          </a:ln>
        </p:spPr>
      </p:sp>
      <p:pic>
        <p:nvPicPr>
          <p:cNvPr id="13" name="Image 3" descr="/Users/raffaelemontella/devel/riscv-prg32/computer-architecture-with-prg32/tools/assets/antikythera_plate.jpg">    </p:cNvPr>
          <p:cNvPicPr>
            <a:picLocks noChangeAspect="1"/>
          </p:cNvPicPr>
          <p:nvPr/>
        </p:nvPicPr>
        <p:blipFill>
          <a:blip r:embed="rId4"/>
          <a:stretch>
            <a:fillRect/>
          </a:stretch>
        </p:blipFill>
        <p:spPr>
          <a:xfrm>
            <a:off x="9212351" y="1557071"/>
            <a:ext cx="2293544" cy="3058058"/>
          </a:xfrm>
          <a:prstGeom prst="rect">
            <a:avLst/>
          </a:prstGeom>
        </p:spPr>
      </p:pic>
      <p:sp>
        <p:nvSpPr>
          <p:cNvPr id="14" name="Text 8"/>
          <p:cNvSpPr txBox="1"/>
          <p:nvPr/>
        </p:nvSpPr>
        <p:spPr>
          <a:xfrm>
            <a:off x="9212351" y="4663440"/>
            <a:ext cx="2293544" cy="594360"/>
          </a:xfrm>
          <a:prstGeom prst="rect">
            <a:avLst/>
          </a:prstGeom>
          <a:noFill/>
          <a:ln/>
        </p:spPr>
        <p:txBody>
          <a:bodyPr wrap="square" lIns="0" tIns="0" rIns="0" bIns="0" rtlCol="0" anchor="ctr"/>
          <a:lstStyle/>
          <a:p>
            <a:pPr algn="ctr" indent="0" marL="0">
              <a:buNone/>
            </a:pPr>
            <a:r>
              <a:rPr lang="en-US" sz="1200" dirty="0">
                <a:solidFill>
                  <a:srgbClr val="1B2530"/>
                </a:solidFill>
                <a:latin typeface="Calibri" pitchFamily="34" charset="0"/>
                <a:ea typeface="Calibri" pitchFamily="34" charset="-122"/>
                <a:cs typeface="Calibri" pitchFamily="34" charset="-120"/>
              </a:rPr>
              <a:t>A modern model: its dials computed astronomical positions and eclipses</a:t>
            </a:r>
            <a:endParaRPr lang="en-US" sz="1200" dirty="0"/>
          </a:p>
        </p:txBody>
      </p:sp>
      <p:sp>
        <p:nvSpPr>
          <p:cNvPr id="15" name="Text 9"/>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A number becomes a position of beads or the angle of a gear: representation comes before calculation.</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medieval Islamic world (9th to 13th century)</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71830"/>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Astronomical instruments</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the mechanical astrolabe; the torquetum</a:t>
            </a:r>
            <a:endParaRPr lang="en-US" sz="2200" dirty="0"/>
          </a:p>
        </p:txBody>
      </p:sp>
      <p:sp>
        <p:nvSpPr>
          <p:cNvPr id="5" name="Shape 3"/>
          <p:cNvSpPr/>
          <p:nvPr/>
        </p:nvSpPr>
        <p:spPr>
          <a:xfrm>
            <a:off x="548640" y="2363131"/>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56705"/>
            <a:ext cx="6565392" cy="96621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contribution to cryptography</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cryptanalysis and frequency analysis (al-Kindi, 9th century)</a:t>
            </a:r>
            <a:endParaRPr lang="en-US" sz="2200" dirty="0"/>
          </a:p>
        </p:txBody>
      </p:sp>
      <p:sp>
        <p:nvSpPr>
          <p:cNvPr id="7" name="Shape 5"/>
          <p:cNvSpPr/>
          <p:nvPr/>
        </p:nvSpPr>
        <p:spPr>
          <a:xfrm>
            <a:off x="548640" y="349690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90477"/>
            <a:ext cx="6565392" cy="159156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Programmable machines</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the automatic flute player of the Banu Musa brothers</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the weight-driven clocks and automata of al-Jazari (1206)</a:t>
            </a:r>
            <a:endParaRPr lang="en-US" sz="2200" dirty="0"/>
          </a:p>
        </p:txBody>
      </p:sp>
      <p:sp>
        <p:nvSpPr>
          <p:cNvPr id="9" name="Shape 7"/>
          <p:cNvSpPr/>
          <p:nvPr/>
        </p:nvSpPr>
        <p:spPr>
          <a:xfrm>
            <a:off x="548640" y="525602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149596"/>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word algorithm comes from the name of al-Khwarizmi, as algebra comes from the title of his book</a:t>
            </a:r>
            <a:endParaRPr lang="en-US" sz="2200" dirty="0"/>
          </a:p>
        </p:txBody>
      </p:sp>
      <p:pic>
        <p:nvPicPr>
          <p:cNvPr id="11" name="Image 0" descr="/Users/raffaelemontella/devel/riscv-prg32/computer-architecture-with-prg32/tools/assets/astrolabe.jpg">    </p:cNvPr>
          <p:cNvPicPr>
            <a:picLocks noChangeAspect="1"/>
          </p:cNvPicPr>
          <p:nvPr/>
        </p:nvPicPr>
        <p:blipFill>
          <a:blip r:embed="rId1"/>
          <a:stretch>
            <a:fillRect/>
          </a:stretch>
        </p:blipFill>
        <p:spPr>
          <a:xfrm>
            <a:off x="7863840" y="2148954"/>
            <a:ext cx="3779215" cy="2834411"/>
          </a:xfrm>
          <a:prstGeom prst="rect">
            <a:avLst/>
          </a:prstGeom>
        </p:spPr>
      </p:pic>
      <p:sp>
        <p:nvSpPr>
          <p:cNvPr id="12" name="Text 9"/>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A brass astrolabe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From 1600 to 1800: mechanical calculators and logic</a:t>
            </a:r>
            <a:endParaRPr lang="en-US" sz="3200" dirty="0"/>
          </a:p>
        </p:txBody>
      </p:sp>
      <p:sp>
        <p:nvSpPr>
          <p:cNvPr id="3" name="Shape 1"/>
          <p:cNvSpPr/>
          <p:nvPr/>
        </p:nvSpPr>
        <p:spPr>
          <a:xfrm>
            <a:off x="548640" y="1531493"/>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2015490"/>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The first mechanical calculators</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logarithm tables (Napier, 1614)</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Blaise Pascal's Pascaline (1642): addition with carry</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Leibniz's stepped reckoner (1673): the four operations</a:t>
            </a:r>
            <a:endParaRPr lang="en-US" sz="2300" dirty="0"/>
          </a:p>
        </p:txBody>
      </p:sp>
      <p:sp>
        <p:nvSpPr>
          <p:cNvPr id="5" name="Shape 3"/>
          <p:cNvSpPr/>
          <p:nvPr/>
        </p:nvSpPr>
        <p:spPr>
          <a:xfrm>
            <a:off x="548640" y="373075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616579"/>
            <a:ext cx="6565392" cy="1359154"/>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Logic and formal mathematics</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Leibniz describes binary arithmetic (1703)</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George Boole, The Laws of Thought (1854): logic becomes algebra</a:t>
            </a:r>
            <a:endParaRPr lang="en-US" sz="2300" dirty="0"/>
          </a:p>
        </p:txBody>
      </p:sp>
      <p:sp>
        <p:nvSpPr>
          <p:cNvPr id="7" name="Shape 5"/>
          <p:cNvSpPr/>
          <p:nvPr/>
        </p:nvSpPr>
        <p:spPr>
          <a:xfrm>
            <a:off x="548640" y="527367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5159502"/>
            <a:ext cx="6565392" cy="1012698"/>
          </a:xfrm>
          <a:prstGeom prst="rect">
            <a:avLst/>
          </a:prstGeom>
          <a:noFill/>
          <a:ln/>
        </p:spPr>
        <p:txBody>
          <a:bodyPr wrap="square" lIns="0" tIns="0" rIns="0" bIns="0" rtlCol="0" anchor="t"/>
          <a:lstStyle/>
          <a:p>
            <a:pPr indent="0" marL="0">
              <a:spcAft>
                <a:spcPts val="200"/>
              </a:spcAft>
              <a:buNone/>
            </a:pPr>
            <a:r>
              <a:rPr lang="en-US" sz="2300" dirty="0">
                <a:solidFill>
                  <a:srgbClr val="1B2530"/>
                </a:solidFill>
                <a:latin typeface="Calibri" pitchFamily="34" charset="0"/>
                <a:ea typeface="Calibri" pitchFamily="34" charset="-122"/>
                <a:cs typeface="Calibri" pitchFamily="34" charset="-120"/>
              </a:rPr>
              <a:t>Programmable machines</a:t>
            </a:r>
            <a:endParaRPr lang="en-US" sz="2300" dirty="0"/>
          </a:p>
          <a:p>
            <a:pPr indent="0" marL="0">
              <a:spcAft>
                <a:spcPts val="200"/>
              </a:spcAft>
              <a:buNone/>
            </a:pPr>
            <a:r>
              <a:rPr lang="en-US" sz="2000" dirty="0">
                <a:solidFill>
                  <a:srgbClr val="5B6B78"/>
                </a:solidFill>
                <a:latin typeface="Calibri" pitchFamily="34" charset="0"/>
                <a:ea typeface="Calibri" pitchFamily="34" charset="-122"/>
                <a:cs typeface="Calibri" pitchFamily="34" charset="-120"/>
              </a:rPr>
              <a:t>– Jacquard's loom (1804): the pattern is stored on punched cards</a:t>
            </a:r>
            <a:endParaRPr lang="en-US" sz="2300" dirty="0"/>
          </a:p>
        </p:txBody>
      </p:sp>
      <p:pic>
        <p:nvPicPr>
          <p:cNvPr id="9" name="Image 0" descr="/Users/raffaelemontella/devel/riscv-prg32/computer-architecture-with-prg32/tools/assets/pascaline.jpg">    </p:cNvPr>
          <p:cNvPicPr>
            <a:picLocks noChangeAspect="1"/>
          </p:cNvPicPr>
          <p:nvPr/>
        </p:nvPicPr>
        <p:blipFill>
          <a:blip r:embed="rId1"/>
          <a:stretch>
            <a:fillRect/>
          </a:stretch>
        </p:blipFill>
        <p:spPr>
          <a:xfrm>
            <a:off x="7863840" y="2531305"/>
            <a:ext cx="3779215" cy="2069711"/>
          </a:xfrm>
          <a:prstGeom prst="rect">
            <a:avLst/>
          </a:prstGeom>
        </p:spPr>
      </p:pic>
      <p:sp>
        <p:nvSpPr>
          <p:cNvPr id="10" name="Text 7"/>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A Pascaline: each wheel is one decimal digit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1800s: Charles Babbage and Ada Lovelace</a:t>
            </a:r>
            <a:endParaRPr lang="en-US" sz="3200" dirty="0"/>
          </a:p>
        </p:txBody>
      </p:sp>
      <p:sp>
        <p:nvSpPr>
          <p:cNvPr id="3" name="Shape 1"/>
          <p:cNvSpPr/>
          <p:nvPr/>
        </p:nvSpPr>
        <p:spPr>
          <a:xfrm>
            <a:off x="548640" y="1417320"/>
            <a:ext cx="3515258" cy="3931920"/>
          </a:xfrm>
          <a:prstGeom prst="roundRect">
            <a:avLst>
              <a:gd name="adj" fmla="val 2081"/>
            </a:avLst>
          </a:prstGeom>
          <a:solidFill>
            <a:srgbClr val="EEF2F4"/>
          </a:solidFill>
          <a:ln w="12700">
            <a:solidFill>
              <a:srgbClr val="EEF2F4"/>
            </a:solidFill>
            <a:prstDash val="solid"/>
          </a:ln>
        </p:spPr>
      </p:sp>
      <p:pic>
        <p:nvPicPr>
          <p:cNvPr id="4" name="Image 0" descr="/Users/raffaelemontella/devel/riscv-prg32/computer-architecture-with-prg32/tools/assets/difference_engine.jpg">    </p:cNvPr>
          <p:cNvPicPr>
            <a:picLocks noChangeAspect="1"/>
          </p:cNvPicPr>
          <p:nvPr/>
        </p:nvPicPr>
        <p:blipFill>
          <a:blip r:embed="rId1"/>
          <a:stretch>
            <a:fillRect/>
          </a:stretch>
        </p:blipFill>
        <p:spPr>
          <a:xfrm>
            <a:off x="685800" y="1913792"/>
            <a:ext cx="3240938" cy="2344616"/>
          </a:xfrm>
          <a:prstGeom prst="rect">
            <a:avLst/>
          </a:prstGeom>
        </p:spPr>
      </p:pic>
      <p:sp>
        <p:nvSpPr>
          <p:cNvPr id="5" name="Text 2"/>
          <p:cNvSpPr txBox="1"/>
          <p:nvPr/>
        </p:nvSpPr>
        <p:spPr>
          <a:xfrm>
            <a:off x="685800"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Difference Engine: automatic computation of mathematical tables</a:t>
            </a:r>
            <a:endParaRPr lang="en-US" sz="1500" dirty="0"/>
          </a:p>
        </p:txBody>
      </p:sp>
      <p:sp>
        <p:nvSpPr>
          <p:cNvPr id="6" name="Shape 3"/>
          <p:cNvSpPr/>
          <p:nvPr/>
        </p:nvSpPr>
        <p:spPr>
          <a:xfrm>
            <a:off x="4338218" y="1417320"/>
            <a:ext cx="3515258" cy="3931920"/>
          </a:xfrm>
          <a:prstGeom prst="roundRect">
            <a:avLst>
              <a:gd name="adj" fmla="val 2081"/>
            </a:avLst>
          </a:prstGeom>
          <a:solidFill>
            <a:srgbClr val="EEF2F4"/>
          </a:solidFill>
          <a:ln w="12700">
            <a:solidFill>
              <a:srgbClr val="EEF2F4"/>
            </a:solidFill>
            <a:prstDash val="solid"/>
          </a:ln>
        </p:spPr>
      </p:sp>
      <p:pic>
        <p:nvPicPr>
          <p:cNvPr id="7" name="Image 1" descr="/Users/raffaelemontella/devel/riscv-prg32/computer-architecture-with-prg32/tools/assets/analytical_engine.jpg">    </p:cNvPr>
          <p:cNvPicPr>
            <a:picLocks noChangeAspect="1"/>
          </p:cNvPicPr>
          <p:nvPr/>
        </p:nvPicPr>
        <p:blipFill>
          <a:blip r:embed="rId2"/>
          <a:stretch>
            <a:fillRect/>
          </a:stretch>
        </p:blipFill>
        <p:spPr>
          <a:xfrm>
            <a:off x="4475378" y="1818245"/>
            <a:ext cx="3240938" cy="2535710"/>
          </a:xfrm>
          <a:prstGeom prst="rect">
            <a:avLst/>
          </a:prstGeom>
        </p:spPr>
      </p:pic>
      <p:sp>
        <p:nvSpPr>
          <p:cNvPr id="8" name="Text 4"/>
          <p:cNvSpPr txBox="1"/>
          <p:nvPr/>
        </p:nvSpPr>
        <p:spPr>
          <a:xfrm>
            <a:off x="4475378" y="4663440"/>
            <a:ext cx="3240938" cy="594360"/>
          </a:xfrm>
          <a:prstGeom prst="rect">
            <a:avLst/>
          </a:prstGeom>
          <a:noFill/>
          <a:ln/>
        </p:spPr>
        <p:txBody>
          <a:bodyPr wrap="square" lIns="0" tIns="0" rIns="0" bIns="0" rtlCol="0" anchor="ctr"/>
          <a:lstStyle/>
          <a:p>
            <a:pPr algn="ctr" indent="0" marL="0">
              <a:buNone/>
            </a:pPr>
            <a:r>
              <a:rPr lang="en-US" sz="1200" dirty="0">
                <a:solidFill>
                  <a:srgbClr val="1B2530"/>
                </a:solidFill>
                <a:latin typeface="Calibri" pitchFamily="34" charset="0"/>
                <a:ea typeface="Calibri" pitchFamily="34" charset="-122"/>
                <a:cs typeface="Calibri" pitchFamily="34" charset="-120"/>
              </a:rPr>
              <a:t>Analytical Engine: a mill (arithmetic unit), a control unit, a store (memory) and an output device</a:t>
            </a:r>
            <a:endParaRPr lang="en-US" sz="1200" dirty="0"/>
          </a:p>
        </p:txBody>
      </p:sp>
      <p:sp>
        <p:nvSpPr>
          <p:cNvPr id="9" name="Shape 5"/>
          <p:cNvSpPr/>
          <p:nvPr/>
        </p:nvSpPr>
        <p:spPr>
          <a:xfrm>
            <a:off x="8127797" y="1417320"/>
            <a:ext cx="3515258" cy="3931920"/>
          </a:xfrm>
          <a:prstGeom prst="roundRect">
            <a:avLst>
              <a:gd name="adj" fmla="val 2081"/>
            </a:avLst>
          </a:prstGeom>
          <a:solidFill>
            <a:srgbClr val="EEF2F4"/>
          </a:solidFill>
          <a:ln w="12700">
            <a:solidFill>
              <a:srgbClr val="EEF2F4"/>
            </a:solidFill>
            <a:prstDash val="solid"/>
          </a:ln>
        </p:spPr>
      </p:sp>
      <p:pic>
        <p:nvPicPr>
          <p:cNvPr id="10" name="Image 2" descr="/Users/raffaelemontella/devel/riscv-prg32/computer-architecture-with-prg32/tools/assets/punched_cards.jpg">    </p:cNvPr>
          <p:cNvPicPr>
            <a:picLocks noChangeAspect="1"/>
          </p:cNvPicPr>
          <p:nvPr/>
        </p:nvPicPr>
        <p:blipFill>
          <a:blip r:embed="rId3"/>
          <a:stretch>
            <a:fillRect/>
          </a:stretch>
        </p:blipFill>
        <p:spPr>
          <a:xfrm>
            <a:off x="8264957" y="2007475"/>
            <a:ext cx="3240938" cy="2157250"/>
          </a:xfrm>
          <a:prstGeom prst="rect">
            <a:avLst/>
          </a:prstGeom>
        </p:spPr>
      </p:pic>
      <p:sp>
        <p:nvSpPr>
          <p:cNvPr id="11" name="Text 6"/>
          <p:cNvSpPr txBox="1"/>
          <p:nvPr/>
        </p:nvSpPr>
        <p:spPr>
          <a:xfrm>
            <a:off x="8264957" y="4663440"/>
            <a:ext cx="3240938" cy="59436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Programs and data on punched cards, borrowed from the Jacquard loom</a:t>
            </a:r>
            <a:endParaRPr lang="en-US" sz="1400" dirty="0"/>
          </a:p>
        </p:txBody>
      </p:sp>
      <p:sp>
        <p:nvSpPr>
          <p:cNvPr id="12" name="Text 7"/>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Ada Lovelace devised a method for programming the Analytical Engine: she is regarded as the first programmer in history.</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Theory first: Turing, Shannon and Nakajima</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436624"/>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Alan Turing</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1936: an abstract universal machine defines what can be computed</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at Bletchley Park he works on breaking the German Enigma cipher</a:t>
            </a:r>
            <a:endParaRPr lang="en-US" sz="2000" dirty="0"/>
          </a:p>
        </p:txBody>
      </p:sp>
      <p:sp>
        <p:nvSpPr>
          <p:cNvPr id="5" name="Shape 3"/>
          <p:cNvSpPr/>
          <p:nvPr/>
        </p:nvSpPr>
        <p:spPr>
          <a:xfrm>
            <a:off x="548640" y="3280791"/>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189859"/>
            <a:ext cx="6565392" cy="1173226"/>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Akira Nakajima and Claude Shannon</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switching-circuit theory (1930s): Boolean algebra describes circuits of switches</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the principle on which all digital design rests</a:t>
            </a:r>
            <a:endParaRPr lang="en-US" sz="2000" dirty="0"/>
          </a:p>
        </p:txBody>
      </p:sp>
      <p:sp>
        <p:nvSpPr>
          <p:cNvPr id="7" name="Shape 5"/>
          <p:cNvSpPr/>
          <p:nvPr/>
        </p:nvSpPr>
        <p:spPr>
          <a:xfrm>
            <a:off x="548640" y="478993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4699000"/>
            <a:ext cx="6565392" cy="147320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Konrad Zuse</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Z3 (1941): the first working computer controlled by a program</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shown in 1998 to be Turing-complete</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Z4: one of the first computers to be sold commercially</a:t>
            </a:r>
            <a:endParaRPr lang="en-US" sz="2000" dirty="0"/>
          </a:p>
        </p:txBody>
      </p:sp>
      <p:pic>
        <p:nvPicPr>
          <p:cNvPr id="9" name="Image 0" descr="/Users/raffaelemontella/devel/riscv-prg32/computer-architecture-with-prg32/tools/assets/enigma.jpg">    </p:cNvPr>
          <p:cNvPicPr>
            <a:picLocks noChangeAspect="1"/>
          </p:cNvPicPr>
          <p:nvPr/>
        </p:nvPicPr>
        <p:blipFill>
          <a:blip r:embed="rId1"/>
          <a:stretch>
            <a:fillRect/>
          </a:stretch>
        </p:blipFill>
        <p:spPr>
          <a:xfrm>
            <a:off x="7863840" y="2054474"/>
            <a:ext cx="3779215" cy="3023372"/>
          </a:xfrm>
          <a:prstGeom prst="rect">
            <a:avLst/>
          </a:prstGeom>
        </p:spPr>
      </p:pic>
      <p:sp>
        <p:nvSpPr>
          <p:cNvPr id="10" name="Text 7"/>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An Enigma cipher machine</a:t>
            </a:r>
            <a:endParaRPr lang="en-US" sz="1200" dirty="0"/>
          </a:p>
        </p:txBody>
      </p:sp>
      <p:sp>
        <p:nvSpPr>
          <p:cNvPr id="11" name="Shape 8"/>
          <p:cNvSpPr/>
          <p:nvPr/>
        </p:nvSpPr>
        <p:spPr>
          <a:xfrm>
            <a:off x="7545908" y="91440"/>
            <a:ext cx="4097147" cy="274320"/>
          </a:xfrm>
          <a:prstGeom prst="rect">
            <a:avLst/>
          </a:prstGeom>
          <a:solidFill>
            <a:srgbClr val="F3E8FF"/>
          </a:solidFill>
          <a:ln w="12700">
            <a:solidFill>
              <a:srgbClr val="7E22CE"/>
            </a:solidFill>
            <a:prstDash val="dash"/>
          </a:ln>
        </p:spPr>
      </p:sp>
      <p:sp>
        <p:nvSpPr>
          <p:cNvPr id="12" name="Shape 9"/>
          <p:cNvSpPr/>
          <p:nvPr/>
        </p:nvSpPr>
        <p:spPr>
          <a:xfrm>
            <a:off x="7573340" y="128016"/>
            <a:ext cx="45720" cy="45720"/>
          </a:xfrm>
          <a:prstGeom prst="rect">
            <a:avLst/>
          </a:prstGeom>
          <a:solidFill>
            <a:srgbClr val="7E22CE"/>
          </a:solidFill>
          <a:ln w="12700">
            <a:solidFill>
              <a:srgbClr val="7E22CE"/>
            </a:solidFill>
            <a:prstDash val="solid"/>
          </a:ln>
        </p:spPr>
      </p:sp>
      <p:sp>
        <p:nvSpPr>
          <p:cNvPr id="13" name="Shape 10"/>
          <p:cNvSpPr/>
          <p:nvPr/>
        </p:nvSpPr>
        <p:spPr>
          <a:xfrm>
            <a:off x="7573340" y="205740"/>
            <a:ext cx="45720" cy="45720"/>
          </a:xfrm>
          <a:prstGeom prst="rect">
            <a:avLst/>
          </a:prstGeom>
          <a:solidFill>
            <a:srgbClr val="7E22CE"/>
          </a:solidFill>
          <a:ln w="12700">
            <a:solidFill>
              <a:srgbClr val="7E22CE"/>
            </a:solidFill>
            <a:prstDash val="solid"/>
          </a:ln>
        </p:spPr>
      </p:sp>
      <p:sp>
        <p:nvSpPr>
          <p:cNvPr id="14" name="Shape 11"/>
          <p:cNvSpPr/>
          <p:nvPr/>
        </p:nvSpPr>
        <p:spPr>
          <a:xfrm>
            <a:off x="7573340" y="283464"/>
            <a:ext cx="45720" cy="45720"/>
          </a:xfrm>
          <a:prstGeom prst="rect">
            <a:avLst/>
          </a:prstGeom>
          <a:solidFill>
            <a:srgbClr val="7E22CE"/>
          </a:solidFill>
          <a:ln w="12700">
            <a:solidFill>
              <a:srgbClr val="7E22CE"/>
            </a:solidFill>
            <a:prstDash val="solid"/>
          </a:ln>
        </p:spPr>
      </p:sp>
      <p:pic>
        <p:nvPicPr>
          <p:cNvPr id="15" name="Image 1" descr="preencoded.png">    </p:cNvPr>
          <p:cNvPicPr>
            <a:picLocks noChangeAspect="1"/>
          </p:cNvPicPr>
          <p:nvPr/>
        </p:nvPicPr>
        <p:blipFill>
          <a:blip r:embed="rId2"/>
          <a:stretch>
            <a:fillRect/>
          </a:stretch>
        </p:blipFill>
        <p:spPr>
          <a:xfrm>
            <a:off x="7673924" y="128016"/>
            <a:ext cx="201168" cy="201168"/>
          </a:xfrm>
          <a:prstGeom prst="rect">
            <a:avLst/>
          </a:prstGeom>
        </p:spPr>
      </p:pic>
      <p:sp>
        <p:nvSpPr>
          <p:cNvPr id="16" name="Text 12"/>
          <p:cNvSpPr txBox="1"/>
          <p:nvPr/>
        </p:nvSpPr>
        <p:spPr>
          <a:xfrm>
            <a:off x="7929956" y="91440"/>
            <a:ext cx="3676523"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pPr indent="0" marL="0">
              <a:buNone/>
            </a:pPr>
            <a:r>
              <a:rPr lang="en-US" sz="1100" dirty="0">
                <a:solidFill>
                  <a:srgbClr val="6B21A8"/>
                </a:solidFill>
                <a:latin typeface="Calibri" pitchFamily="34" charset="0"/>
                <a:ea typeface="Calibri" pitchFamily="34" charset="-122"/>
                <a:cs typeface="Calibri" pitchFamily="34" charset="-120"/>
              </a:rPr>
              <a:t> · Boolean algebra</a:t>
            </a:r>
            <a:pPr indent="0" marL="0">
              <a:buNone/>
            </a:pPr>
            <a:r>
              <a:rPr lang="en-US" sz="1100" b="1" dirty="0">
                <a:solidFill>
                  <a:srgbClr val="6B21A8"/>
                </a:solidFill>
                <a:latin typeface="Calibri" pitchFamily="34" charset="0"/>
                <a:ea typeface="Calibri" pitchFamily="34" charset="-122"/>
                <a:cs typeface="Calibri" pitchFamily="34" charset="-120"/>
              </a:rPr>
              <a:t> → Lecture 08</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John von Neumann: the stored-program computer</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83387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hardware architecture for programmable digital computers (EDVAC report, 1945)</a:t>
            </a:r>
            <a:endParaRPr lang="en-US" sz="2200" dirty="0"/>
          </a:p>
        </p:txBody>
      </p:sp>
      <p:sp>
        <p:nvSpPr>
          <p:cNvPr id="5" name="Shape 3"/>
          <p:cNvSpPr/>
          <p:nvPr/>
        </p:nvSpPr>
        <p:spPr>
          <a:xfrm>
            <a:off x="548640" y="2357543"/>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51117"/>
            <a:ext cx="583387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Program and data share the same memory: a program is data</a:t>
            </a:r>
            <a:endParaRPr lang="en-US" sz="2200" dirty="0"/>
          </a:p>
        </p:txBody>
      </p:sp>
      <p:sp>
        <p:nvSpPr>
          <p:cNvPr id="7" name="Shape 5"/>
          <p:cNvSpPr/>
          <p:nvPr/>
        </p:nvSpPr>
        <p:spPr>
          <a:xfrm>
            <a:off x="548640" y="3191341"/>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084915"/>
            <a:ext cx="5833872" cy="225348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Four essential units</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control unit: governs the sequence of operations</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arithmetic logic unit (ALU), with its accumulator register</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memory</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input and output</a:t>
            </a:r>
            <a:endParaRPr lang="en-US" sz="2200" dirty="0"/>
          </a:p>
        </p:txBody>
      </p:sp>
      <p:sp>
        <p:nvSpPr>
          <p:cNvPr id="9" name="Shape 7"/>
          <p:cNvSpPr/>
          <p:nvPr/>
        </p:nvSpPr>
        <p:spPr>
          <a:xfrm>
            <a:off x="548640" y="5596890"/>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490464"/>
            <a:ext cx="583387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ESP32-C6 you programmed is still a von Neumann machine</a:t>
            </a:r>
            <a:endParaRPr lang="en-US" sz="2200" dirty="0"/>
          </a:p>
        </p:txBody>
      </p:sp>
      <p:sp>
        <p:nvSpPr>
          <p:cNvPr id="11" name="Shape 9"/>
          <p:cNvSpPr/>
          <p:nvPr/>
        </p:nvSpPr>
        <p:spPr>
          <a:xfrm>
            <a:off x="7132320" y="1417320"/>
            <a:ext cx="4526280" cy="4754880"/>
          </a:xfrm>
          <a:prstGeom prst="roundRect">
            <a:avLst>
              <a:gd name="adj" fmla="val 1616"/>
            </a:avLst>
          </a:prstGeom>
          <a:solidFill>
            <a:srgbClr val="EEF2F4"/>
          </a:solidFill>
          <a:ln w="12700">
            <a:solidFill>
              <a:srgbClr val="EEF2F4"/>
            </a:solidFill>
            <a:prstDash val="solid"/>
          </a:ln>
        </p:spPr>
      </p:sp>
      <p:sp>
        <p:nvSpPr>
          <p:cNvPr id="12" name="Text 10"/>
          <p:cNvSpPr txBox="1"/>
          <p:nvPr/>
        </p:nvSpPr>
        <p:spPr>
          <a:xfrm>
            <a:off x="7315200" y="1691640"/>
            <a:ext cx="4160520" cy="914400"/>
          </a:xfrm>
          <a:prstGeom prst="roundRect">
            <a:avLst>
              <a:gd name="adj" fmla="val 8000"/>
            </a:avLst>
          </a:prstGeom>
          <a:solidFill>
            <a:srgbClr val="2E4A62"/>
          </a:solidFill>
          <a:ln>
            <a:solidFill>
              <a:srgbClr val="2E4A62"/>
            </a:solid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Memory</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program and data</a:t>
            </a:r>
            <a:endParaRPr lang="en-US" sz="1600" dirty="0"/>
          </a:p>
        </p:txBody>
      </p:sp>
      <p:sp>
        <p:nvSpPr>
          <p:cNvPr id="13" name="Text 11"/>
          <p:cNvSpPr txBox="1"/>
          <p:nvPr/>
        </p:nvSpPr>
        <p:spPr>
          <a:xfrm>
            <a:off x="7315200" y="3246120"/>
            <a:ext cx="1920240" cy="1371600"/>
          </a:xfrm>
          <a:prstGeom prst="roundRect">
            <a:avLst>
              <a:gd name="adj" fmla="val 5333"/>
            </a:avLst>
          </a:prstGeom>
          <a:solidFill>
            <a:srgbClr val="0E7C86"/>
          </a:solidFill>
          <a:ln>
            <a:solidFill>
              <a:srgbClr val="0E7C86"/>
            </a:solid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Control</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unit</a:t>
            </a:r>
            <a:endParaRPr lang="en-US" sz="1600" dirty="0"/>
          </a:p>
        </p:txBody>
      </p:sp>
      <p:sp>
        <p:nvSpPr>
          <p:cNvPr id="14" name="Text 12"/>
          <p:cNvSpPr txBox="1"/>
          <p:nvPr/>
        </p:nvSpPr>
        <p:spPr>
          <a:xfrm>
            <a:off x="9555480" y="3246120"/>
            <a:ext cx="1920240" cy="1371600"/>
          </a:xfrm>
          <a:prstGeom prst="roundRect">
            <a:avLst>
              <a:gd name="adj" fmla="val 5333"/>
            </a:avLst>
          </a:prstGeom>
          <a:solidFill>
            <a:srgbClr val="C7791B"/>
          </a:solidFill>
          <a:ln>
            <a:solidFill>
              <a:srgbClr val="C7791B"/>
            </a:solid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ALU</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(accumulator)</a:t>
            </a:r>
            <a:endParaRPr lang="en-US" sz="1600" dirty="0"/>
          </a:p>
        </p:txBody>
      </p:sp>
      <p:sp>
        <p:nvSpPr>
          <p:cNvPr id="15" name="Text 13"/>
          <p:cNvSpPr txBox="1"/>
          <p:nvPr/>
        </p:nvSpPr>
        <p:spPr>
          <a:xfrm>
            <a:off x="7315200" y="5166360"/>
            <a:ext cx="1920240" cy="731520"/>
          </a:xfrm>
          <a:prstGeom prst="roundRect">
            <a:avLst>
              <a:gd name="adj" fmla="val 10000"/>
            </a:avLst>
          </a:prstGeom>
          <a:solidFill>
            <a:srgbClr val="2F7D4F"/>
          </a:solidFill>
          <a:ln>
            <a:solidFill>
              <a:srgbClr val="2F7D4F"/>
            </a:solid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Input</a:t>
            </a:r>
            <a:endParaRPr lang="en-US" sz="1600" dirty="0"/>
          </a:p>
        </p:txBody>
      </p:sp>
      <p:sp>
        <p:nvSpPr>
          <p:cNvPr id="16" name="Text 14"/>
          <p:cNvSpPr txBox="1"/>
          <p:nvPr/>
        </p:nvSpPr>
        <p:spPr>
          <a:xfrm>
            <a:off x="9555480" y="5166360"/>
            <a:ext cx="1920240" cy="731520"/>
          </a:xfrm>
          <a:prstGeom prst="roundRect">
            <a:avLst>
              <a:gd name="adj" fmla="val 10000"/>
            </a:avLst>
          </a:prstGeom>
          <a:solidFill>
            <a:srgbClr val="2F7D4F"/>
          </a:solidFill>
          <a:ln>
            <a:solidFill>
              <a:srgbClr val="2F7D4F"/>
            </a:solidFill>
          </a:ln>
        </p:spPr>
        <p:txBody>
          <a:bodyPr wrap="square" lIns="50800" tIns="50800" rIns="50800" bIns="508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Output</a:t>
            </a:r>
            <a:endParaRPr lang="en-US" sz="1600" dirty="0"/>
          </a:p>
        </p:txBody>
      </p:sp>
      <p:sp>
        <p:nvSpPr>
          <p:cNvPr id="17" name="Shape 15"/>
          <p:cNvSpPr/>
          <p:nvPr/>
        </p:nvSpPr>
        <p:spPr>
          <a:xfrm flipV="1">
            <a:off x="8275320" y="2651760"/>
            <a:ext cx="0" cy="548640"/>
          </a:xfrm>
          <a:prstGeom prst="line">
            <a:avLst/>
          </a:prstGeom>
          <a:noFill/>
          <a:ln w="25400">
            <a:solidFill>
              <a:srgbClr val="5B6B78"/>
            </a:solidFill>
            <a:prstDash val="solid"/>
            <a:tailEnd type="triangle"/>
          </a:ln>
        </p:spPr>
      </p:sp>
      <p:sp>
        <p:nvSpPr>
          <p:cNvPr id="18" name="Shape 16"/>
          <p:cNvSpPr/>
          <p:nvPr/>
        </p:nvSpPr>
        <p:spPr>
          <a:xfrm>
            <a:off x="10515600" y="2651760"/>
            <a:ext cx="0" cy="548640"/>
          </a:xfrm>
          <a:prstGeom prst="line">
            <a:avLst/>
          </a:prstGeom>
          <a:noFill/>
          <a:ln w="25400">
            <a:solidFill>
              <a:srgbClr val="5B6B78"/>
            </a:solidFill>
            <a:prstDash val="solid"/>
            <a:tailEnd type="triangle"/>
          </a:ln>
        </p:spPr>
      </p:sp>
      <p:sp>
        <p:nvSpPr>
          <p:cNvPr id="19" name="Shape 17"/>
          <p:cNvSpPr/>
          <p:nvPr/>
        </p:nvSpPr>
        <p:spPr>
          <a:xfrm>
            <a:off x="9262872" y="3931920"/>
            <a:ext cx="265176" cy="0"/>
          </a:xfrm>
          <a:prstGeom prst="line">
            <a:avLst/>
          </a:prstGeom>
          <a:noFill/>
          <a:ln w="25400">
            <a:solidFill>
              <a:srgbClr val="5B6B78"/>
            </a:solidFill>
            <a:prstDash val="solid"/>
            <a:tailEnd type="triangle"/>
          </a:ln>
        </p:spPr>
      </p:sp>
      <p:sp>
        <p:nvSpPr>
          <p:cNvPr id="20" name="Shape 18"/>
          <p:cNvSpPr/>
          <p:nvPr/>
        </p:nvSpPr>
        <p:spPr>
          <a:xfrm flipV="1">
            <a:off x="8275320" y="4663440"/>
            <a:ext cx="0" cy="457200"/>
          </a:xfrm>
          <a:prstGeom prst="line">
            <a:avLst/>
          </a:prstGeom>
          <a:noFill/>
          <a:ln w="25400">
            <a:solidFill>
              <a:srgbClr val="5B6B78"/>
            </a:solidFill>
            <a:prstDash val="solid"/>
            <a:tailEnd type="triangle"/>
          </a:ln>
        </p:spPr>
      </p:sp>
      <p:sp>
        <p:nvSpPr>
          <p:cNvPr id="21" name="Shape 19"/>
          <p:cNvSpPr/>
          <p:nvPr/>
        </p:nvSpPr>
        <p:spPr>
          <a:xfrm>
            <a:off x="10515600" y="4663440"/>
            <a:ext cx="0" cy="457200"/>
          </a:xfrm>
          <a:prstGeom prst="line">
            <a:avLst/>
          </a:prstGeom>
          <a:noFill/>
          <a:ln w="25400">
            <a:solidFill>
              <a:srgbClr val="5B6B78"/>
            </a:solidFill>
            <a:prstDash val="solid"/>
            <a:tailEnd type="triangle"/>
          </a:ln>
        </p:spPr>
      </p:sp>
      <p:sp>
        <p:nvSpPr>
          <p:cNvPr id="22" name="Shape 20"/>
          <p:cNvSpPr/>
          <p:nvPr/>
        </p:nvSpPr>
        <p:spPr>
          <a:xfrm>
            <a:off x="7828102" y="91440"/>
            <a:ext cx="3814953" cy="274320"/>
          </a:xfrm>
          <a:prstGeom prst="rect">
            <a:avLst/>
          </a:prstGeom>
          <a:solidFill>
            <a:srgbClr val="E0F2FE"/>
          </a:solidFill>
          <a:ln w="12700">
            <a:solidFill>
              <a:srgbClr val="0369A1"/>
            </a:solidFill>
            <a:prstDash val="solid"/>
          </a:ln>
        </p:spPr>
      </p:sp>
      <p:sp>
        <p:nvSpPr>
          <p:cNvPr id="23" name="Shape 21"/>
          <p:cNvSpPr/>
          <p:nvPr/>
        </p:nvSpPr>
        <p:spPr>
          <a:xfrm>
            <a:off x="7828102" y="91440"/>
            <a:ext cx="73152" cy="274320"/>
          </a:xfrm>
          <a:prstGeom prst="rect">
            <a:avLst/>
          </a:prstGeom>
          <a:solidFill>
            <a:srgbClr val="0369A1"/>
          </a:solidFill>
          <a:ln w="12700">
            <a:solidFill>
              <a:srgbClr val="0369A1"/>
            </a:solidFill>
            <a:prstDash val="solid"/>
          </a:ln>
        </p:spPr>
      </p:sp>
      <p:pic>
        <p:nvPicPr>
          <p:cNvPr id="24" name="Image 0" descr="preencoded.png">    </p:cNvPr>
          <p:cNvPicPr>
            <a:picLocks noChangeAspect="1"/>
          </p:cNvPicPr>
          <p:nvPr/>
        </p:nvPicPr>
        <p:blipFill>
          <a:blip r:embed="rId1"/>
          <a:stretch>
            <a:fillRect/>
          </a:stretch>
        </p:blipFill>
        <p:spPr>
          <a:xfrm>
            <a:off x="7956118" y="128016"/>
            <a:ext cx="201168" cy="201168"/>
          </a:xfrm>
          <a:prstGeom prst="rect">
            <a:avLst/>
          </a:prstGeom>
        </p:spPr>
      </p:pic>
      <p:sp>
        <p:nvSpPr>
          <p:cNvPr id="25" name="Text 22"/>
          <p:cNvSpPr txBox="1"/>
          <p:nvPr/>
        </p:nvSpPr>
        <p:spPr>
          <a:xfrm>
            <a:off x="8212150" y="91440"/>
            <a:ext cx="339432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von Neumann architecture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Eight decades of computers</a:t>
            </a:r>
            <a:endParaRPr lang="en-US" sz="3200" dirty="0"/>
          </a:p>
        </p:txBody>
      </p:sp>
      <p:sp>
        <p:nvSpPr>
          <p:cNvPr id="3" name="Shape 1"/>
          <p:cNvSpPr/>
          <p:nvPr/>
        </p:nvSpPr>
        <p:spPr>
          <a:xfrm>
            <a:off x="548640" y="3675888"/>
            <a:ext cx="11094415" cy="0"/>
          </a:xfrm>
          <a:prstGeom prst="line">
            <a:avLst/>
          </a:prstGeom>
          <a:noFill/>
          <a:ln w="38100">
            <a:solidFill>
              <a:srgbClr val="C9D2D8"/>
            </a:solidFill>
            <a:prstDash val="solid"/>
          </a:ln>
        </p:spPr>
      </p:sp>
      <p:sp>
        <p:nvSpPr>
          <p:cNvPr id="4" name="Shape 2"/>
          <p:cNvSpPr/>
          <p:nvPr/>
        </p:nvSpPr>
        <p:spPr>
          <a:xfrm>
            <a:off x="548640" y="1417320"/>
            <a:ext cx="1135177" cy="1737360"/>
          </a:xfrm>
          <a:prstGeom prst="roundRect">
            <a:avLst>
              <a:gd name="adj" fmla="val 6444"/>
            </a:avLst>
          </a:prstGeom>
          <a:solidFill>
            <a:srgbClr val="EEF2F4"/>
          </a:solidFill>
          <a:ln w="12700">
            <a:solidFill>
              <a:srgbClr val="EEF2F4"/>
            </a:solidFill>
            <a:prstDash val="solid"/>
          </a:ln>
        </p:spPr>
      </p:sp>
      <p:pic>
        <p:nvPicPr>
          <p:cNvPr id="5" name="Image 0" descr="/Users/raffaelemontella/devel/riscv-prg32/computer-architecture-with-prg32/tools/assets/eniac.png">    </p:cNvPr>
          <p:cNvPicPr>
            <a:picLocks noChangeAspect="1"/>
          </p:cNvPicPr>
          <p:nvPr/>
        </p:nvPicPr>
        <p:blipFill>
          <a:blip r:embed="rId1"/>
          <a:stretch>
            <a:fillRect/>
          </a:stretch>
        </p:blipFill>
        <p:spPr>
          <a:xfrm>
            <a:off x="621792" y="1908220"/>
            <a:ext cx="988873" cy="755561"/>
          </a:xfrm>
          <a:prstGeom prst="rect">
            <a:avLst/>
          </a:prstGeom>
        </p:spPr>
      </p:pic>
      <p:sp>
        <p:nvSpPr>
          <p:cNvPr id="6" name="Text 3"/>
          <p:cNvSpPr txBox="1"/>
          <p:nvPr/>
        </p:nvSpPr>
        <p:spPr>
          <a:xfrm>
            <a:off x="732180" y="3401568"/>
            <a:ext cx="768096"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'40</a:t>
            </a:r>
            <a:endParaRPr lang="en-US" sz="1900" dirty="0"/>
          </a:p>
        </p:txBody>
      </p:sp>
      <p:sp>
        <p:nvSpPr>
          <p:cNvPr id="7" name="Text 4"/>
          <p:cNvSpPr txBox="1"/>
          <p:nvPr/>
        </p:nvSpPr>
        <p:spPr>
          <a:xfrm>
            <a:off x="548640" y="4114800"/>
            <a:ext cx="1135177" cy="777240"/>
          </a:xfrm>
          <a:prstGeom prst="rect">
            <a:avLst/>
          </a:prstGeom>
          <a:noFill/>
          <a:ln/>
        </p:spPr>
        <p:txBody>
          <a:bodyPr wrap="square" lIns="0" tIns="0" rIns="0" bIns="0" rtlCol="0" anchor="ctr"/>
          <a:lstStyle/>
          <a:p>
            <a:pPr algn="ctr" indent="0" marL="0">
              <a:buNone/>
            </a:pPr>
            <a:r>
              <a:rPr lang="en-US" sz="1450" b="1" dirty="0">
                <a:solidFill>
                  <a:srgbClr val="2E4A62"/>
                </a:solidFill>
                <a:latin typeface="Calibri" pitchFamily="34" charset="0"/>
                <a:ea typeface="Calibri" pitchFamily="34" charset="-122"/>
                <a:cs typeface="Calibri" pitchFamily="34" charset="-120"/>
              </a:rPr>
              <a:t>Wartime</a:t>
            </a:r>
            <a:endParaRPr lang="en-US" sz="1450" dirty="0"/>
          </a:p>
        </p:txBody>
      </p:sp>
      <p:sp>
        <p:nvSpPr>
          <p:cNvPr id="8" name="Text 5"/>
          <p:cNvSpPr txBox="1"/>
          <p:nvPr/>
        </p:nvSpPr>
        <p:spPr>
          <a:xfrm>
            <a:off x="548640" y="4937760"/>
            <a:ext cx="1135177" cy="731520"/>
          </a:xfrm>
          <a:prstGeom prst="rect">
            <a:avLst/>
          </a:prstGeom>
          <a:noFill/>
          <a:ln/>
        </p:spPr>
        <p:txBody>
          <a:bodyPr wrap="square" lIns="0" tIns="0" rIns="0" bIns="0" rtlCol="0" anchor="t"/>
          <a:lstStyle/>
          <a:p>
            <a:pPr algn="ctr" indent="0" marL="0">
              <a:buNone/>
            </a:pPr>
            <a:r>
              <a:rPr lang="en-US" sz="1250" dirty="0">
                <a:solidFill>
                  <a:srgbClr val="5B6B78"/>
                </a:solidFill>
                <a:latin typeface="Calibri" pitchFamily="34" charset="0"/>
                <a:ea typeface="Calibri" pitchFamily="34" charset="-122"/>
                <a:cs typeface="Calibri" pitchFamily="34" charset="-120"/>
              </a:rPr>
              <a:t>ENIAC, Colossus</a:t>
            </a:r>
            <a:endParaRPr lang="en-US" sz="1250" dirty="0"/>
          </a:p>
        </p:txBody>
      </p:sp>
      <p:sp>
        <p:nvSpPr>
          <p:cNvPr id="9" name="Shape 6"/>
          <p:cNvSpPr/>
          <p:nvPr/>
        </p:nvSpPr>
        <p:spPr>
          <a:xfrm>
            <a:off x="1793545" y="1417320"/>
            <a:ext cx="1135177" cy="1737360"/>
          </a:xfrm>
          <a:prstGeom prst="roundRect">
            <a:avLst>
              <a:gd name="adj" fmla="val 6444"/>
            </a:avLst>
          </a:prstGeom>
          <a:solidFill>
            <a:srgbClr val="EEF2F4"/>
          </a:solidFill>
          <a:ln w="12700">
            <a:solidFill>
              <a:srgbClr val="EEF2F4"/>
            </a:solidFill>
            <a:prstDash val="solid"/>
          </a:ln>
        </p:spPr>
      </p:sp>
      <p:pic>
        <p:nvPicPr>
          <p:cNvPr id="10" name="Image 1" descr="/Users/raffaelemontella/devel/riscv-prg32/computer-architecture-with-prg32/tools/assets/edvac.jpg">    </p:cNvPr>
          <p:cNvPicPr>
            <a:picLocks noChangeAspect="1"/>
          </p:cNvPicPr>
          <p:nvPr/>
        </p:nvPicPr>
        <p:blipFill>
          <a:blip r:embed="rId2"/>
          <a:stretch>
            <a:fillRect/>
          </a:stretch>
        </p:blipFill>
        <p:spPr>
          <a:xfrm>
            <a:off x="1866697" y="1644470"/>
            <a:ext cx="988873" cy="1283060"/>
          </a:xfrm>
          <a:prstGeom prst="rect">
            <a:avLst/>
          </a:prstGeom>
        </p:spPr>
      </p:pic>
      <p:sp>
        <p:nvSpPr>
          <p:cNvPr id="11" name="Text 7"/>
          <p:cNvSpPr txBox="1"/>
          <p:nvPr/>
        </p:nvSpPr>
        <p:spPr>
          <a:xfrm>
            <a:off x="1977085" y="3401568"/>
            <a:ext cx="768096"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'50</a:t>
            </a:r>
            <a:endParaRPr lang="en-US" sz="1900" dirty="0"/>
          </a:p>
        </p:txBody>
      </p:sp>
      <p:sp>
        <p:nvSpPr>
          <p:cNvPr id="12" name="Text 8"/>
          <p:cNvSpPr txBox="1"/>
          <p:nvPr/>
        </p:nvSpPr>
        <p:spPr>
          <a:xfrm>
            <a:off x="1793545" y="4114800"/>
            <a:ext cx="1135177" cy="777240"/>
          </a:xfrm>
          <a:prstGeom prst="rect">
            <a:avLst/>
          </a:prstGeom>
          <a:noFill/>
          <a:ln/>
        </p:spPr>
        <p:txBody>
          <a:bodyPr wrap="square" lIns="0" tIns="0" rIns="0" bIns="0" rtlCol="0" anchor="ctr"/>
          <a:lstStyle/>
          <a:p>
            <a:pPr algn="ctr" indent="0" marL="0">
              <a:buNone/>
            </a:pPr>
            <a:r>
              <a:rPr lang="en-US" sz="1450" b="1" dirty="0">
                <a:solidFill>
                  <a:srgbClr val="2E4A62"/>
                </a:solidFill>
                <a:latin typeface="Calibri" pitchFamily="34" charset="0"/>
                <a:ea typeface="Calibri" pitchFamily="34" charset="-122"/>
                <a:cs typeface="Calibri" pitchFamily="34" charset="-120"/>
              </a:rPr>
              <a:t>Military and government</a:t>
            </a:r>
            <a:endParaRPr lang="en-US" sz="1450" dirty="0"/>
          </a:p>
        </p:txBody>
      </p:sp>
      <p:sp>
        <p:nvSpPr>
          <p:cNvPr id="13" name="Text 9"/>
          <p:cNvSpPr txBox="1"/>
          <p:nvPr/>
        </p:nvSpPr>
        <p:spPr>
          <a:xfrm>
            <a:off x="1793545" y="4937760"/>
            <a:ext cx="1135177" cy="731520"/>
          </a:xfrm>
          <a:prstGeom prst="rect">
            <a:avLst/>
          </a:prstGeom>
          <a:noFill/>
          <a:ln/>
        </p:spPr>
        <p:txBody>
          <a:bodyPr wrap="square" lIns="0" tIns="0" rIns="0" bIns="0" rtlCol="0" anchor="t"/>
          <a:lstStyle/>
          <a:p>
            <a:pPr algn="ctr" indent="0" marL="0">
              <a:buNone/>
            </a:pPr>
            <a:r>
              <a:rPr lang="en-US" sz="1250" dirty="0">
                <a:solidFill>
                  <a:srgbClr val="5B6B78"/>
                </a:solidFill>
                <a:latin typeface="Calibri" pitchFamily="34" charset="0"/>
                <a:ea typeface="Calibri" pitchFamily="34" charset="-122"/>
                <a:cs typeface="Calibri" pitchFamily="34" charset="-120"/>
              </a:rPr>
              <a:t>EDVAC, 1949</a:t>
            </a:r>
            <a:endParaRPr lang="en-US" sz="1250" dirty="0"/>
          </a:p>
        </p:txBody>
      </p:sp>
      <p:sp>
        <p:nvSpPr>
          <p:cNvPr id="14" name="Shape 10"/>
          <p:cNvSpPr/>
          <p:nvPr/>
        </p:nvSpPr>
        <p:spPr>
          <a:xfrm>
            <a:off x="3038450" y="1417320"/>
            <a:ext cx="1135177" cy="1737360"/>
          </a:xfrm>
          <a:prstGeom prst="roundRect">
            <a:avLst>
              <a:gd name="adj" fmla="val 6444"/>
            </a:avLst>
          </a:prstGeom>
          <a:solidFill>
            <a:srgbClr val="EEF2F4"/>
          </a:solidFill>
          <a:ln w="12700">
            <a:solidFill>
              <a:srgbClr val="EEF2F4"/>
            </a:solidFill>
            <a:prstDash val="solid"/>
          </a:ln>
        </p:spPr>
      </p:sp>
      <p:pic>
        <p:nvPicPr>
          <p:cNvPr id="15" name="Image 2" descr="/Users/raffaelemontella/devel/riscv-prg32/computer-architecture-with-prg32/tools/assets/mainframe.jpg">    </p:cNvPr>
          <p:cNvPicPr>
            <a:picLocks noChangeAspect="1"/>
          </p:cNvPicPr>
          <p:nvPr/>
        </p:nvPicPr>
        <p:blipFill>
          <a:blip r:embed="rId3"/>
          <a:stretch>
            <a:fillRect/>
          </a:stretch>
        </p:blipFill>
        <p:spPr>
          <a:xfrm>
            <a:off x="3111602" y="1942212"/>
            <a:ext cx="988873" cy="687576"/>
          </a:xfrm>
          <a:prstGeom prst="rect">
            <a:avLst/>
          </a:prstGeom>
        </p:spPr>
      </p:pic>
      <p:sp>
        <p:nvSpPr>
          <p:cNvPr id="16" name="Text 11"/>
          <p:cNvSpPr txBox="1"/>
          <p:nvPr/>
        </p:nvSpPr>
        <p:spPr>
          <a:xfrm>
            <a:off x="3221990" y="3401568"/>
            <a:ext cx="768096" cy="548640"/>
          </a:xfrm>
          <a:prstGeom prst="roundRect">
            <a:avLst>
              <a:gd name="adj" fmla="val 13333"/>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'60</a:t>
            </a:r>
            <a:endParaRPr lang="en-US" sz="1900" dirty="0"/>
          </a:p>
        </p:txBody>
      </p:sp>
      <p:sp>
        <p:nvSpPr>
          <p:cNvPr id="17" name="Text 12"/>
          <p:cNvSpPr txBox="1"/>
          <p:nvPr/>
        </p:nvSpPr>
        <p:spPr>
          <a:xfrm>
            <a:off x="3038450" y="4114800"/>
            <a:ext cx="1135177" cy="777240"/>
          </a:xfrm>
          <a:prstGeom prst="rect">
            <a:avLst/>
          </a:prstGeom>
          <a:noFill/>
          <a:ln/>
        </p:spPr>
        <p:txBody>
          <a:bodyPr wrap="square" lIns="0" tIns="0" rIns="0" bIns="0" rtlCol="0" anchor="ctr"/>
          <a:lstStyle/>
          <a:p>
            <a:pPr algn="ctr" indent="0" marL="0">
              <a:buNone/>
            </a:pPr>
            <a:r>
              <a:rPr lang="en-US" sz="1450" b="1" dirty="0">
                <a:solidFill>
                  <a:srgbClr val="2E4A62"/>
                </a:solidFill>
                <a:latin typeface="Calibri" pitchFamily="34" charset="0"/>
                <a:ea typeface="Calibri" pitchFamily="34" charset="-122"/>
                <a:cs typeface="Calibri" pitchFamily="34" charset="-120"/>
              </a:rPr>
              <a:t>Mainframe computing</a:t>
            </a:r>
            <a:endParaRPr lang="en-US" sz="1450" dirty="0"/>
          </a:p>
        </p:txBody>
      </p:sp>
      <p:sp>
        <p:nvSpPr>
          <p:cNvPr id="18" name="Text 13"/>
          <p:cNvSpPr txBox="1"/>
          <p:nvPr/>
        </p:nvSpPr>
        <p:spPr>
          <a:xfrm>
            <a:off x="3038450" y="4937760"/>
            <a:ext cx="1135177" cy="731520"/>
          </a:xfrm>
          <a:prstGeom prst="rect">
            <a:avLst/>
          </a:prstGeom>
          <a:noFill/>
          <a:ln/>
        </p:spPr>
        <p:txBody>
          <a:bodyPr wrap="square" lIns="0" tIns="0" rIns="0" bIns="0" rtlCol="0" anchor="t"/>
          <a:lstStyle/>
          <a:p>
            <a:pPr algn="ctr" indent="0" marL="0">
              <a:buNone/>
            </a:pPr>
            <a:r>
              <a:rPr lang="en-US" sz="1250" dirty="0">
                <a:solidFill>
                  <a:srgbClr val="5B6B78"/>
                </a:solidFill>
                <a:latin typeface="Calibri" pitchFamily="34" charset="0"/>
                <a:ea typeface="Calibri" pitchFamily="34" charset="-122"/>
                <a:cs typeface="Calibri" pitchFamily="34" charset="-120"/>
              </a:rPr>
              <a:t>one machine, many users</a:t>
            </a:r>
            <a:endParaRPr lang="en-US" sz="1250" dirty="0"/>
          </a:p>
        </p:txBody>
      </p:sp>
      <p:sp>
        <p:nvSpPr>
          <p:cNvPr id="19" name="Shape 14"/>
          <p:cNvSpPr/>
          <p:nvPr/>
        </p:nvSpPr>
        <p:spPr>
          <a:xfrm>
            <a:off x="4283354" y="1417320"/>
            <a:ext cx="1135177" cy="1737360"/>
          </a:xfrm>
          <a:prstGeom prst="roundRect">
            <a:avLst>
              <a:gd name="adj" fmla="val 6444"/>
            </a:avLst>
          </a:prstGeom>
          <a:solidFill>
            <a:srgbClr val="EEF2F4"/>
          </a:solidFill>
          <a:ln w="12700">
            <a:solidFill>
              <a:srgbClr val="EEF2F4"/>
            </a:solidFill>
            <a:prstDash val="solid"/>
          </a:ln>
        </p:spPr>
      </p:sp>
      <p:pic>
        <p:nvPicPr>
          <p:cNvPr id="20" name="Image 3" descr="/Users/raffaelemontella/devel/riscv-prg32/computer-architecture-with-prg32/tools/assets/minicomputer.jpg">    </p:cNvPr>
          <p:cNvPicPr>
            <a:picLocks noChangeAspect="1"/>
          </p:cNvPicPr>
          <p:nvPr/>
        </p:nvPicPr>
        <p:blipFill>
          <a:blip r:embed="rId4"/>
          <a:stretch>
            <a:fillRect/>
          </a:stretch>
        </p:blipFill>
        <p:spPr>
          <a:xfrm>
            <a:off x="4356506" y="1830964"/>
            <a:ext cx="988873" cy="910072"/>
          </a:xfrm>
          <a:prstGeom prst="rect">
            <a:avLst/>
          </a:prstGeom>
        </p:spPr>
      </p:pic>
      <p:sp>
        <p:nvSpPr>
          <p:cNvPr id="21" name="Text 15"/>
          <p:cNvSpPr txBox="1"/>
          <p:nvPr/>
        </p:nvSpPr>
        <p:spPr>
          <a:xfrm>
            <a:off x="4466895" y="3401568"/>
            <a:ext cx="768096" cy="548640"/>
          </a:xfrm>
          <a:prstGeom prst="roundRect">
            <a:avLst>
              <a:gd name="adj" fmla="val 13333"/>
            </a:avLst>
          </a:prstGeom>
          <a:solidFill>
            <a:srgbClr val="2F7D4F"/>
          </a:solidFill>
          <a:ln>
            <a:solidFill>
              <a:srgbClr val="2F7D4F"/>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'70</a:t>
            </a:r>
            <a:endParaRPr lang="en-US" sz="1900" dirty="0"/>
          </a:p>
        </p:txBody>
      </p:sp>
      <p:sp>
        <p:nvSpPr>
          <p:cNvPr id="22" name="Text 16"/>
          <p:cNvSpPr txBox="1"/>
          <p:nvPr/>
        </p:nvSpPr>
        <p:spPr>
          <a:xfrm>
            <a:off x="4283354" y="4114800"/>
            <a:ext cx="1135177" cy="777240"/>
          </a:xfrm>
          <a:prstGeom prst="rect">
            <a:avLst/>
          </a:prstGeom>
          <a:noFill/>
          <a:ln/>
        </p:spPr>
        <p:txBody>
          <a:bodyPr wrap="square" lIns="0" tIns="0" rIns="0" bIns="0" rtlCol="0" anchor="ctr"/>
          <a:lstStyle/>
          <a:p>
            <a:pPr algn="ctr" indent="0" marL="0">
              <a:buNone/>
            </a:pPr>
            <a:r>
              <a:rPr lang="en-US" sz="1450" b="1" dirty="0">
                <a:solidFill>
                  <a:srgbClr val="2E4A62"/>
                </a:solidFill>
                <a:latin typeface="Calibri" pitchFamily="34" charset="0"/>
                <a:ea typeface="Calibri" pitchFamily="34" charset="-122"/>
                <a:cs typeface="Calibri" pitchFamily="34" charset="-120"/>
              </a:rPr>
              <a:t>Minicomputers</a:t>
            </a:r>
            <a:endParaRPr lang="en-US" sz="1450" dirty="0"/>
          </a:p>
        </p:txBody>
      </p:sp>
      <p:sp>
        <p:nvSpPr>
          <p:cNvPr id="23" name="Text 17"/>
          <p:cNvSpPr txBox="1"/>
          <p:nvPr/>
        </p:nvSpPr>
        <p:spPr>
          <a:xfrm>
            <a:off x="4283354" y="4937760"/>
            <a:ext cx="1135177" cy="731520"/>
          </a:xfrm>
          <a:prstGeom prst="rect">
            <a:avLst/>
          </a:prstGeom>
          <a:noFill/>
          <a:ln/>
        </p:spPr>
        <p:txBody>
          <a:bodyPr wrap="square" lIns="0" tIns="0" rIns="0" bIns="0" rtlCol="0" anchor="t"/>
          <a:lstStyle/>
          <a:p>
            <a:pPr algn="ctr" indent="0" marL="0">
              <a:buNone/>
            </a:pPr>
            <a:r>
              <a:rPr lang="en-US" sz="1250" dirty="0">
                <a:solidFill>
                  <a:srgbClr val="5B6B78"/>
                </a:solidFill>
                <a:latin typeface="Calibri" pitchFamily="34" charset="0"/>
                <a:ea typeface="Calibri" pitchFamily="34" charset="-122"/>
                <a:cs typeface="Calibri" pitchFamily="34" charset="-120"/>
              </a:rPr>
              <a:t>a computer per department</a:t>
            </a:r>
            <a:endParaRPr lang="en-US" sz="1250" dirty="0"/>
          </a:p>
        </p:txBody>
      </p:sp>
      <p:sp>
        <p:nvSpPr>
          <p:cNvPr id="24" name="Shape 18"/>
          <p:cNvSpPr/>
          <p:nvPr/>
        </p:nvSpPr>
        <p:spPr>
          <a:xfrm>
            <a:off x="5528259" y="1417320"/>
            <a:ext cx="1135177" cy="1737360"/>
          </a:xfrm>
          <a:prstGeom prst="roundRect">
            <a:avLst>
              <a:gd name="adj" fmla="val 6444"/>
            </a:avLst>
          </a:prstGeom>
          <a:solidFill>
            <a:srgbClr val="EEF2F4"/>
          </a:solidFill>
          <a:ln w="12700">
            <a:solidFill>
              <a:srgbClr val="EEF2F4"/>
            </a:solidFill>
            <a:prstDash val="solid"/>
          </a:ln>
        </p:spPr>
      </p:sp>
      <p:pic>
        <p:nvPicPr>
          <p:cNvPr id="25" name="Image 4" descr="/Users/raffaelemontella/devel/riscv-prg32/computer-architecture-with-prg32/tools/assets/c64.jpg">    </p:cNvPr>
          <p:cNvPicPr>
            <a:picLocks noChangeAspect="1"/>
          </p:cNvPicPr>
          <p:nvPr/>
        </p:nvPicPr>
        <p:blipFill>
          <a:blip r:embed="rId5"/>
          <a:stretch>
            <a:fillRect/>
          </a:stretch>
        </p:blipFill>
        <p:spPr>
          <a:xfrm>
            <a:off x="5601411" y="2006721"/>
            <a:ext cx="988873" cy="558559"/>
          </a:xfrm>
          <a:prstGeom prst="rect">
            <a:avLst/>
          </a:prstGeom>
        </p:spPr>
      </p:pic>
      <p:sp>
        <p:nvSpPr>
          <p:cNvPr id="26" name="Text 19"/>
          <p:cNvSpPr txBox="1"/>
          <p:nvPr/>
        </p:nvSpPr>
        <p:spPr>
          <a:xfrm>
            <a:off x="5711800" y="3401568"/>
            <a:ext cx="768096" cy="548640"/>
          </a:xfrm>
          <a:prstGeom prst="roundRect">
            <a:avLst>
              <a:gd name="adj" fmla="val 13333"/>
            </a:avLst>
          </a:prstGeom>
          <a:solidFill>
            <a:srgbClr val="B23A48"/>
          </a:solidFill>
          <a:ln>
            <a:solidFill>
              <a:srgbClr val="B23A48"/>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'80</a:t>
            </a:r>
            <a:endParaRPr lang="en-US" sz="1900" dirty="0"/>
          </a:p>
        </p:txBody>
      </p:sp>
      <p:sp>
        <p:nvSpPr>
          <p:cNvPr id="27" name="Text 20"/>
          <p:cNvSpPr txBox="1"/>
          <p:nvPr/>
        </p:nvSpPr>
        <p:spPr>
          <a:xfrm>
            <a:off x="5528259" y="4114800"/>
            <a:ext cx="1135177" cy="777240"/>
          </a:xfrm>
          <a:prstGeom prst="rect">
            <a:avLst/>
          </a:prstGeom>
          <a:noFill/>
          <a:ln/>
        </p:spPr>
        <p:txBody>
          <a:bodyPr wrap="square" lIns="0" tIns="0" rIns="0" bIns="0" rtlCol="0" anchor="ctr"/>
          <a:lstStyle/>
          <a:p>
            <a:pPr algn="ctr" indent="0" marL="0">
              <a:buNone/>
            </a:pPr>
            <a:r>
              <a:rPr lang="en-US" sz="1450" b="1" dirty="0">
                <a:solidFill>
                  <a:srgbClr val="2E4A62"/>
                </a:solidFill>
                <a:latin typeface="Calibri" pitchFamily="34" charset="0"/>
                <a:ea typeface="Calibri" pitchFamily="34" charset="-122"/>
                <a:cs typeface="Calibri" pitchFamily="34" charset="-120"/>
              </a:rPr>
              <a:t>Personal computing</a:t>
            </a:r>
            <a:endParaRPr lang="en-US" sz="1450" dirty="0"/>
          </a:p>
        </p:txBody>
      </p:sp>
      <p:sp>
        <p:nvSpPr>
          <p:cNvPr id="28" name="Text 21"/>
          <p:cNvSpPr txBox="1"/>
          <p:nvPr/>
        </p:nvSpPr>
        <p:spPr>
          <a:xfrm>
            <a:off x="5528259" y="4937760"/>
            <a:ext cx="1135177" cy="731520"/>
          </a:xfrm>
          <a:prstGeom prst="rect">
            <a:avLst/>
          </a:prstGeom>
          <a:noFill/>
          <a:ln/>
        </p:spPr>
        <p:txBody>
          <a:bodyPr wrap="square" lIns="0" tIns="0" rIns="0" bIns="0" rtlCol="0" anchor="t"/>
          <a:lstStyle/>
          <a:p>
            <a:pPr algn="ctr" indent="0" marL="0">
              <a:buNone/>
            </a:pPr>
            <a:r>
              <a:rPr lang="en-US" sz="1250" dirty="0">
                <a:solidFill>
                  <a:srgbClr val="5B6B78"/>
                </a:solidFill>
                <a:latin typeface="Calibri" pitchFamily="34" charset="0"/>
                <a:ea typeface="Calibri" pitchFamily="34" charset="-122"/>
                <a:cs typeface="Calibri" pitchFamily="34" charset="-120"/>
              </a:rPr>
              <a:t>a computer per person</a:t>
            </a:r>
            <a:endParaRPr lang="en-US" sz="1250" dirty="0"/>
          </a:p>
        </p:txBody>
      </p:sp>
      <p:sp>
        <p:nvSpPr>
          <p:cNvPr id="29" name="Shape 22"/>
          <p:cNvSpPr/>
          <p:nvPr/>
        </p:nvSpPr>
        <p:spPr>
          <a:xfrm>
            <a:off x="6773164" y="1417320"/>
            <a:ext cx="1135177" cy="1737360"/>
          </a:xfrm>
          <a:prstGeom prst="roundRect">
            <a:avLst>
              <a:gd name="adj" fmla="val 6444"/>
            </a:avLst>
          </a:prstGeom>
          <a:solidFill>
            <a:srgbClr val="EEF2F4"/>
          </a:solidFill>
          <a:ln w="12700">
            <a:solidFill>
              <a:srgbClr val="EEF2F4"/>
            </a:solidFill>
            <a:prstDash val="solid"/>
          </a:ln>
        </p:spPr>
      </p:sp>
      <p:pic>
        <p:nvPicPr>
          <p:cNvPr id="30" name="Image 5" descr="/Users/raffaelemontella/devel/riscv-prg32/computer-architecture-with-prg32/tools/assets/network.jpg">    </p:cNvPr>
          <p:cNvPicPr>
            <a:picLocks noChangeAspect="1"/>
          </p:cNvPicPr>
          <p:nvPr/>
        </p:nvPicPr>
        <p:blipFill>
          <a:blip r:embed="rId6"/>
          <a:stretch>
            <a:fillRect/>
          </a:stretch>
        </p:blipFill>
        <p:spPr>
          <a:xfrm>
            <a:off x="6846316" y="1915173"/>
            <a:ext cx="988873" cy="741655"/>
          </a:xfrm>
          <a:prstGeom prst="rect">
            <a:avLst/>
          </a:prstGeom>
        </p:spPr>
      </p:pic>
      <p:sp>
        <p:nvSpPr>
          <p:cNvPr id="31" name="Text 23"/>
          <p:cNvSpPr txBox="1"/>
          <p:nvPr/>
        </p:nvSpPr>
        <p:spPr>
          <a:xfrm>
            <a:off x="6956704" y="3401568"/>
            <a:ext cx="768096" cy="548640"/>
          </a:xfrm>
          <a:prstGeom prst="roundRect">
            <a:avLst>
              <a:gd name="adj" fmla="val 13333"/>
            </a:avLst>
          </a:prstGeom>
          <a:solidFill>
            <a:srgbClr val="2E4A62"/>
          </a:solidFill>
          <a:ln>
            <a:solidFill>
              <a:srgbClr val="2E4A62"/>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'90</a:t>
            </a:r>
            <a:endParaRPr lang="en-US" sz="1900" dirty="0"/>
          </a:p>
        </p:txBody>
      </p:sp>
      <p:sp>
        <p:nvSpPr>
          <p:cNvPr id="32" name="Text 24"/>
          <p:cNvSpPr txBox="1"/>
          <p:nvPr/>
        </p:nvSpPr>
        <p:spPr>
          <a:xfrm>
            <a:off x="6773164" y="4114800"/>
            <a:ext cx="1135177" cy="777240"/>
          </a:xfrm>
          <a:prstGeom prst="rect">
            <a:avLst/>
          </a:prstGeom>
          <a:noFill/>
          <a:ln/>
        </p:spPr>
        <p:txBody>
          <a:bodyPr wrap="square" lIns="0" tIns="0" rIns="0" bIns="0" rtlCol="0" anchor="ctr"/>
          <a:lstStyle/>
          <a:p>
            <a:pPr algn="ctr" indent="0" marL="0">
              <a:buNone/>
            </a:pPr>
            <a:r>
              <a:rPr lang="en-US" sz="1450" b="1" dirty="0">
                <a:solidFill>
                  <a:srgbClr val="2E4A62"/>
                </a:solidFill>
                <a:latin typeface="Calibri" pitchFamily="34" charset="0"/>
                <a:ea typeface="Calibri" pitchFamily="34" charset="-122"/>
                <a:cs typeface="Calibri" pitchFamily="34" charset="-120"/>
              </a:rPr>
              <a:t>The Internet</a:t>
            </a:r>
            <a:endParaRPr lang="en-US" sz="1450" dirty="0"/>
          </a:p>
        </p:txBody>
      </p:sp>
      <p:sp>
        <p:nvSpPr>
          <p:cNvPr id="33" name="Text 25"/>
          <p:cNvSpPr txBox="1"/>
          <p:nvPr/>
        </p:nvSpPr>
        <p:spPr>
          <a:xfrm>
            <a:off x="6773164" y="4937760"/>
            <a:ext cx="1135177" cy="731520"/>
          </a:xfrm>
          <a:prstGeom prst="rect">
            <a:avLst/>
          </a:prstGeom>
          <a:noFill/>
          <a:ln/>
        </p:spPr>
        <p:txBody>
          <a:bodyPr wrap="square" lIns="0" tIns="0" rIns="0" bIns="0" rtlCol="0" anchor="t"/>
          <a:lstStyle/>
          <a:p>
            <a:pPr algn="ctr" indent="0" marL="0">
              <a:buNone/>
            </a:pPr>
            <a:r>
              <a:rPr lang="en-US" sz="1250" dirty="0">
                <a:solidFill>
                  <a:srgbClr val="5B6B78"/>
                </a:solidFill>
                <a:latin typeface="Calibri" pitchFamily="34" charset="0"/>
                <a:ea typeface="Calibri" pitchFamily="34" charset="-122"/>
                <a:cs typeface="Calibri" pitchFamily="34" charset="-120"/>
              </a:rPr>
              <a:t>computers connect</a:t>
            </a:r>
            <a:endParaRPr lang="en-US" sz="1250" dirty="0"/>
          </a:p>
        </p:txBody>
      </p:sp>
      <p:sp>
        <p:nvSpPr>
          <p:cNvPr id="34" name="Shape 26"/>
          <p:cNvSpPr/>
          <p:nvPr/>
        </p:nvSpPr>
        <p:spPr>
          <a:xfrm>
            <a:off x="8018069" y="1417320"/>
            <a:ext cx="1135177" cy="1737360"/>
          </a:xfrm>
          <a:prstGeom prst="roundRect">
            <a:avLst>
              <a:gd name="adj" fmla="val 6444"/>
            </a:avLst>
          </a:prstGeom>
          <a:solidFill>
            <a:srgbClr val="EEF2F4"/>
          </a:solidFill>
          <a:ln w="12700">
            <a:solidFill>
              <a:srgbClr val="EEF2F4"/>
            </a:solidFill>
            <a:prstDash val="solid"/>
          </a:ln>
        </p:spPr>
      </p:sp>
      <p:pic>
        <p:nvPicPr>
          <p:cNvPr id="35" name="Image 6" descr="/Users/raffaelemontella/devel/riscv-prg32/computer-architecture-with-prg32/tools/assets/iphone.jpg">    </p:cNvPr>
          <p:cNvPicPr>
            <a:picLocks noChangeAspect="1"/>
          </p:cNvPicPr>
          <p:nvPr/>
        </p:nvPicPr>
        <p:blipFill>
          <a:blip r:embed="rId7"/>
          <a:stretch>
            <a:fillRect/>
          </a:stretch>
        </p:blipFill>
        <p:spPr>
          <a:xfrm>
            <a:off x="8091221" y="1540083"/>
            <a:ext cx="988873" cy="1491834"/>
          </a:xfrm>
          <a:prstGeom prst="rect">
            <a:avLst/>
          </a:prstGeom>
        </p:spPr>
      </p:pic>
      <p:sp>
        <p:nvSpPr>
          <p:cNvPr id="36" name="Text 27"/>
          <p:cNvSpPr txBox="1"/>
          <p:nvPr/>
        </p:nvSpPr>
        <p:spPr>
          <a:xfrm>
            <a:off x="8201609" y="3401568"/>
            <a:ext cx="768096"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'00</a:t>
            </a:r>
            <a:endParaRPr lang="en-US" sz="1900" dirty="0"/>
          </a:p>
        </p:txBody>
      </p:sp>
      <p:sp>
        <p:nvSpPr>
          <p:cNvPr id="37" name="Text 28"/>
          <p:cNvSpPr txBox="1"/>
          <p:nvPr/>
        </p:nvSpPr>
        <p:spPr>
          <a:xfrm>
            <a:off x="8018069" y="4114800"/>
            <a:ext cx="1135177" cy="777240"/>
          </a:xfrm>
          <a:prstGeom prst="rect">
            <a:avLst/>
          </a:prstGeom>
          <a:noFill/>
          <a:ln/>
        </p:spPr>
        <p:txBody>
          <a:bodyPr wrap="square" lIns="0" tIns="0" rIns="0" bIns="0" rtlCol="0" anchor="ctr"/>
          <a:lstStyle/>
          <a:p>
            <a:pPr algn="ctr" indent="0" marL="0">
              <a:buNone/>
            </a:pPr>
            <a:r>
              <a:rPr lang="en-US" sz="1450" b="1" dirty="0">
                <a:solidFill>
                  <a:srgbClr val="2E4A62"/>
                </a:solidFill>
                <a:latin typeface="Calibri" pitchFamily="34" charset="0"/>
                <a:ea typeface="Calibri" pitchFamily="34" charset="-122"/>
                <a:cs typeface="Calibri" pitchFamily="34" charset="-120"/>
              </a:rPr>
              <a:t>Smartphones and tablets</a:t>
            </a:r>
            <a:endParaRPr lang="en-US" sz="1450" dirty="0"/>
          </a:p>
        </p:txBody>
      </p:sp>
      <p:sp>
        <p:nvSpPr>
          <p:cNvPr id="38" name="Text 29"/>
          <p:cNvSpPr txBox="1"/>
          <p:nvPr/>
        </p:nvSpPr>
        <p:spPr>
          <a:xfrm>
            <a:off x="8018069" y="4937760"/>
            <a:ext cx="1135177" cy="731520"/>
          </a:xfrm>
          <a:prstGeom prst="rect">
            <a:avLst/>
          </a:prstGeom>
          <a:noFill/>
          <a:ln/>
        </p:spPr>
        <p:txBody>
          <a:bodyPr wrap="square" lIns="0" tIns="0" rIns="0" bIns="0" rtlCol="0" anchor="t"/>
          <a:lstStyle/>
          <a:p>
            <a:pPr algn="ctr" indent="0" marL="0">
              <a:buNone/>
            </a:pPr>
            <a:r>
              <a:rPr lang="en-US" sz="1250" dirty="0">
                <a:solidFill>
                  <a:srgbClr val="5B6B78"/>
                </a:solidFill>
                <a:latin typeface="Calibri" pitchFamily="34" charset="0"/>
                <a:ea typeface="Calibri" pitchFamily="34" charset="-122"/>
                <a:cs typeface="Calibri" pitchFamily="34" charset="-120"/>
              </a:rPr>
              <a:t>a computer in the pocket</a:t>
            </a:r>
            <a:endParaRPr lang="en-US" sz="1250" dirty="0"/>
          </a:p>
        </p:txBody>
      </p:sp>
      <p:sp>
        <p:nvSpPr>
          <p:cNvPr id="39" name="Shape 30"/>
          <p:cNvSpPr/>
          <p:nvPr/>
        </p:nvSpPr>
        <p:spPr>
          <a:xfrm>
            <a:off x="9262974" y="1417320"/>
            <a:ext cx="1135177" cy="1737360"/>
          </a:xfrm>
          <a:prstGeom prst="roundRect">
            <a:avLst>
              <a:gd name="adj" fmla="val 6444"/>
            </a:avLst>
          </a:prstGeom>
          <a:solidFill>
            <a:srgbClr val="EEF2F4"/>
          </a:solidFill>
          <a:ln w="12700">
            <a:solidFill>
              <a:srgbClr val="EEF2F4"/>
            </a:solidFill>
            <a:prstDash val="solid"/>
          </a:ln>
        </p:spPr>
      </p:sp>
      <p:pic>
        <p:nvPicPr>
          <p:cNvPr id="40" name="Image 7" descr="/Users/raffaelemontella/devel/riscv-prg32/computer-architecture-with-prg32/tools/assets/datacenter.jpg">    </p:cNvPr>
          <p:cNvPicPr>
            <a:picLocks noChangeAspect="1"/>
          </p:cNvPicPr>
          <p:nvPr/>
        </p:nvPicPr>
        <p:blipFill>
          <a:blip r:embed="rId8"/>
          <a:stretch>
            <a:fillRect/>
          </a:stretch>
        </p:blipFill>
        <p:spPr>
          <a:xfrm>
            <a:off x="9336126" y="1956118"/>
            <a:ext cx="988873" cy="659764"/>
          </a:xfrm>
          <a:prstGeom prst="rect">
            <a:avLst/>
          </a:prstGeom>
        </p:spPr>
      </p:pic>
      <p:sp>
        <p:nvSpPr>
          <p:cNvPr id="41" name="Text 31"/>
          <p:cNvSpPr txBox="1"/>
          <p:nvPr/>
        </p:nvSpPr>
        <p:spPr>
          <a:xfrm>
            <a:off x="9446514" y="3401568"/>
            <a:ext cx="768096"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'10</a:t>
            </a:r>
            <a:endParaRPr lang="en-US" sz="1900" dirty="0"/>
          </a:p>
        </p:txBody>
      </p:sp>
      <p:sp>
        <p:nvSpPr>
          <p:cNvPr id="42" name="Text 32"/>
          <p:cNvSpPr txBox="1"/>
          <p:nvPr/>
        </p:nvSpPr>
        <p:spPr>
          <a:xfrm>
            <a:off x="9262974" y="4114800"/>
            <a:ext cx="1135177" cy="777240"/>
          </a:xfrm>
          <a:prstGeom prst="rect">
            <a:avLst/>
          </a:prstGeom>
          <a:noFill/>
          <a:ln/>
        </p:spPr>
        <p:txBody>
          <a:bodyPr wrap="square" lIns="0" tIns="0" rIns="0" bIns="0" rtlCol="0" anchor="ctr"/>
          <a:lstStyle/>
          <a:p>
            <a:pPr algn="ctr" indent="0" marL="0">
              <a:buNone/>
            </a:pPr>
            <a:r>
              <a:rPr lang="en-US" sz="1450" b="1" dirty="0">
                <a:solidFill>
                  <a:srgbClr val="2E4A62"/>
                </a:solidFill>
                <a:latin typeface="Calibri" pitchFamily="34" charset="0"/>
                <a:ea typeface="Calibri" pitchFamily="34" charset="-122"/>
                <a:cs typeface="Calibri" pitchFamily="34" charset="-120"/>
              </a:rPr>
              <a:t>Cloud computing</a:t>
            </a:r>
            <a:endParaRPr lang="en-US" sz="1450" dirty="0"/>
          </a:p>
        </p:txBody>
      </p:sp>
      <p:sp>
        <p:nvSpPr>
          <p:cNvPr id="43" name="Text 33"/>
          <p:cNvSpPr txBox="1"/>
          <p:nvPr/>
        </p:nvSpPr>
        <p:spPr>
          <a:xfrm>
            <a:off x="9262974" y="4937760"/>
            <a:ext cx="1135177" cy="731520"/>
          </a:xfrm>
          <a:prstGeom prst="rect">
            <a:avLst/>
          </a:prstGeom>
          <a:noFill/>
          <a:ln/>
        </p:spPr>
        <p:txBody>
          <a:bodyPr wrap="square" lIns="0" tIns="0" rIns="0" bIns="0" rtlCol="0" anchor="t"/>
          <a:lstStyle/>
          <a:p>
            <a:pPr algn="ctr" indent="0" marL="0">
              <a:buNone/>
            </a:pPr>
            <a:r>
              <a:rPr lang="en-US" sz="1250" dirty="0">
                <a:solidFill>
                  <a:srgbClr val="5B6B78"/>
                </a:solidFill>
                <a:latin typeface="Calibri" pitchFamily="34" charset="0"/>
                <a:ea typeface="Calibri" pitchFamily="34" charset="-122"/>
                <a:cs typeface="Calibri" pitchFamily="34" charset="-120"/>
              </a:rPr>
              <a:t>computing as a service</a:t>
            </a:r>
            <a:endParaRPr lang="en-US" sz="1250" dirty="0"/>
          </a:p>
        </p:txBody>
      </p:sp>
      <p:sp>
        <p:nvSpPr>
          <p:cNvPr id="44" name="Shape 34"/>
          <p:cNvSpPr/>
          <p:nvPr/>
        </p:nvSpPr>
        <p:spPr>
          <a:xfrm>
            <a:off x="10507878" y="1417320"/>
            <a:ext cx="1135177" cy="1737360"/>
          </a:xfrm>
          <a:prstGeom prst="roundRect">
            <a:avLst>
              <a:gd name="adj" fmla="val 6444"/>
            </a:avLst>
          </a:prstGeom>
          <a:solidFill>
            <a:srgbClr val="EEF2F4"/>
          </a:solidFill>
          <a:ln w="12700">
            <a:solidFill>
              <a:srgbClr val="EEF2F4"/>
            </a:solidFill>
            <a:prstDash val="solid"/>
          </a:ln>
        </p:spPr>
      </p:sp>
      <p:pic>
        <p:nvPicPr>
          <p:cNvPr id="45" name="Image 8" descr="/Users/raffaelemontella/devel/riscv-prg32/computer-architecture-with-prg32/tools/assets/smart_speaker.jpg">    </p:cNvPr>
          <p:cNvPicPr>
            <a:picLocks noChangeAspect="1"/>
          </p:cNvPicPr>
          <p:nvPr/>
        </p:nvPicPr>
        <p:blipFill>
          <a:blip r:embed="rId9"/>
          <a:stretch>
            <a:fillRect/>
          </a:stretch>
        </p:blipFill>
        <p:spPr>
          <a:xfrm>
            <a:off x="10581030" y="1915173"/>
            <a:ext cx="988873" cy="741655"/>
          </a:xfrm>
          <a:prstGeom prst="rect">
            <a:avLst/>
          </a:prstGeom>
        </p:spPr>
      </p:pic>
      <p:sp>
        <p:nvSpPr>
          <p:cNvPr id="46" name="Text 35"/>
          <p:cNvSpPr txBox="1"/>
          <p:nvPr/>
        </p:nvSpPr>
        <p:spPr>
          <a:xfrm>
            <a:off x="10691419" y="3401568"/>
            <a:ext cx="768096" cy="548640"/>
          </a:xfrm>
          <a:prstGeom prst="roundRect">
            <a:avLst>
              <a:gd name="adj" fmla="val 13333"/>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'20</a:t>
            </a:r>
            <a:endParaRPr lang="en-US" sz="1900" dirty="0"/>
          </a:p>
        </p:txBody>
      </p:sp>
      <p:sp>
        <p:nvSpPr>
          <p:cNvPr id="47" name="Text 36"/>
          <p:cNvSpPr txBox="1"/>
          <p:nvPr/>
        </p:nvSpPr>
        <p:spPr>
          <a:xfrm>
            <a:off x="10507878" y="4114800"/>
            <a:ext cx="1135177" cy="777240"/>
          </a:xfrm>
          <a:prstGeom prst="rect">
            <a:avLst/>
          </a:prstGeom>
          <a:noFill/>
          <a:ln/>
        </p:spPr>
        <p:txBody>
          <a:bodyPr wrap="square" lIns="0" tIns="0" rIns="0" bIns="0" rtlCol="0" anchor="ctr"/>
          <a:lstStyle/>
          <a:p>
            <a:pPr algn="ctr" indent="0" marL="0">
              <a:buNone/>
            </a:pPr>
            <a:r>
              <a:rPr lang="en-US" sz="1450" b="1" dirty="0">
                <a:solidFill>
                  <a:srgbClr val="2E4A62"/>
                </a:solidFill>
                <a:latin typeface="Calibri" pitchFamily="34" charset="0"/>
                <a:ea typeface="Calibri" pitchFamily="34" charset="-122"/>
                <a:cs typeface="Calibri" pitchFamily="34" charset="-120"/>
              </a:rPr>
              <a:t>IoT and AI</a:t>
            </a:r>
            <a:endParaRPr lang="en-US" sz="1450" dirty="0"/>
          </a:p>
        </p:txBody>
      </p:sp>
      <p:sp>
        <p:nvSpPr>
          <p:cNvPr id="48" name="Text 37"/>
          <p:cNvSpPr txBox="1"/>
          <p:nvPr/>
        </p:nvSpPr>
        <p:spPr>
          <a:xfrm>
            <a:off x="10507878" y="4937760"/>
            <a:ext cx="1135177" cy="731520"/>
          </a:xfrm>
          <a:prstGeom prst="rect">
            <a:avLst/>
          </a:prstGeom>
          <a:noFill/>
          <a:ln/>
        </p:spPr>
        <p:txBody>
          <a:bodyPr wrap="square" lIns="0" tIns="0" rIns="0" bIns="0" rtlCol="0" anchor="t"/>
          <a:lstStyle/>
          <a:p>
            <a:pPr algn="ctr" indent="0" marL="0">
              <a:buNone/>
            </a:pPr>
            <a:r>
              <a:rPr lang="en-US" sz="1250" dirty="0">
                <a:solidFill>
                  <a:srgbClr val="5B6B78"/>
                </a:solidFill>
                <a:latin typeface="Calibri" pitchFamily="34" charset="0"/>
                <a:ea typeface="Calibri" pitchFamily="34" charset="-122"/>
                <a:cs typeface="Calibri" pitchFamily="34" charset="-120"/>
              </a:rPr>
              <a:t>computers everywhere</a:t>
            </a:r>
            <a:endParaRPr lang="en-US" sz="1250" dirty="0"/>
          </a:p>
        </p:txBody>
      </p:sp>
      <p:sp>
        <p:nvSpPr>
          <p:cNvPr id="49" name="Text 38"/>
          <p:cNvSpPr txBox="1"/>
          <p:nvPr/>
        </p:nvSpPr>
        <p:spPr>
          <a:xfrm>
            <a:off x="548640" y="5715000"/>
            <a:ext cx="11094415" cy="457200"/>
          </a:xfrm>
          <a:prstGeom prst="rect">
            <a:avLst/>
          </a:prstGeom>
          <a:noFill/>
          <a:ln/>
        </p:spPr>
        <p:txBody>
          <a:bodyPr wrap="square" lIns="0" tIns="0" rIns="0" bIns="0" rtlCol="0" anchor="ctr"/>
          <a:lstStyle/>
          <a:p>
            <a:pPr indent="0" marL="0">
              <a:buNone/>
            </a:pPr>
            <a:r>
              <a:rPr lang="en-US" sz="1600" i="1" dirty="0">
                <a:solidFill>
                  <a:srgbClr val="1B2530"/>
                </a:solidFill>
                <a:latin typeface="Calibri" pitchFamily="34" charset="0"/>
                <a:ea typeface="Calibri" pitchFamily="34" charset="-122"/>
                <a:cs typeface="Calibri" pitchFamily="34" charset="-120"/>
              </a:rPr>
              <a:t>Each decade made the computer smaller, cheaper and closer to people; none of them changed the stored-program idea.</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Microprocessors: from CISC to RISC to an open standard</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182192"/>
                <a:gridCol w="3819389"/>
                <a:gridCol w="6092835"/>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Year</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Milestone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Why it matters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1971</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Intel 4004</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first commercial microprocessor: 2,300 transistors on one chip</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1975</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MOS 6502</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cheap 8-bit CPU: Apple II, Commodore 64, the home-computer era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1978</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Intel 8086</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start of x86, a complex instruction set (CISC) still in today's PCs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1980-82</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Berkeley RISC and Stanford MIPS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few, simple, regular instructions run faster: the RISC idea</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1985</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ARM1</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RISC for low power: today in nearly every phone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2010</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RISC-V starts at UC Berkeley</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fifth Berkeley RISC design becomes an open instruction set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2015-20</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RISC-V Foundation, then RISC-V International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shared specification, governed from Switzerland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2023-25</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European Chips Act; the DARE project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RISC-V as a strategy for European technological sovereignty</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Shape 1"/>
          <p:cNvSpPr/>
          <p:nvPr/>
        </p:nvSpPr>
        <p:spPr>
          <a:xfrm>
            <a:off x="8353374" y="91440"/>
            <a:ext cx="3289681" cy="274320"/>
          </a:xfrm>
          <a:prstGeom prst="rect">
            <a:avLst/>
          </a:prstGeom>
          <a:solidFill>
            <a:srgbClr val="E0F2FE"/>
          </a:solidFill>
          <a:ln w="12700">
            <a:solidFill>
              <a:srgbClr val="0369A1"/>
            </a:solidFill>
            <a:prstDash val="solid"/>
          </a:ln>
        </p:spPr>
      </p:sp>
      <p:sp>
        <p:nvSpPr>
          <p:cNvPr id="5" name="Shape 2"/>
          <p:cNvSpPr/>
          <p:nvPr/>
        </p:nvSpPr>
        <p:spPr>
          <a:xfrm>
            <a:off x="8353374"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481390" y="128016"/>
            <a:ext cx="201168" cy="201168"/>
          </a:xfrm>
          <a:prstGeom prst="rect">
            <a:avLst/>
          </a:prstGeom>
        </p:spPr>
      </p:pic>
      <p:sp>
        <p:nvSpPr>
          <p:cNvPr id="7" name="Text 3"/>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RISC and an open ISA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Moore's law in one number</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1971: the Intel 4004 has 2,300 transistors</a:t>
            </a:r>
            <a:endParaRPr lang="en-US" sz="2200" dirty="0"/>
          </a:p>
        </p:txBody>
      </p:sp>
      <p:sp>
        <p:nvSpPr>
          <p:cNvPr id="5" name="Shape 3"/>
          <p:cNvSpPr/>
          <p:nvPr/>
        </p:nvSpPr>
        <p:spPr>
          <a:xfrm>
            <a:off x="548640" y="2286381"/>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79955"/>
            <a:ext cx="6565392"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Today a laptop processor has tens of billions</a:t>
            </a:r>
            <a:endParaRPr lang="en-US" sz="2200" dirty="0"/>
          </a:p>
        </p:txBody>
      </p:sp>
      <p:sp>
        <p:nvSpPr>
          <p:cNvPr id="7" name="Shape 5"/>
          <p:cNvSpPr/>
          <p:nvPr/>
        </p:nvSpPr>
        <p:spPr>
          <a:xfrm>
            <a:off x="548640" y="3049016"/>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94259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For fifty years the number of transistors on a chip doubled about every two years</a:t>
            </a:r>
            <a:endParaRPr lang="en-US" sz="2200" dirty="0"/>
          </a:p>
        </p:txBody>
      </p:sp>
      <p:sp>
        <p:nvSpPr>
          <p:cNvPr id="9" name="Shape 7"/>
          <p:cNvSpPr/>
          <p:nvPr/>
        </p:nvSpPr>
        <p:spPr>
          <a:xfrm>
            <a:off x="548640" y="4152519"/>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046093"/>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physical limits are now close: progress comes from better architectures, specialised accelerators and open designs</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This is why architecture, the subject of this course, matters more than ever</a:t>
            </a:r>
            <a:endParaRPr lang="en-US" sz="22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x 10,000,000</a:t>
            </a:r>
            <a:endParaRPr lang="en-US" sz="48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the growth in transistors per chip from the Intel 4004 (1971) to a current laptop processor</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home-computer spirit, on a modern open CPU</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82508"/>
                <a:gridCol w="4183140"/>
                <a:gridCol w="4728767"/>
              </a:tblGrid>
              <a:tr h="0">
                <a:tc>
                  <a:txBody>
                    <a:bodyPr/>
                    <a:lstStyle/>
                    <a:p>
                      <a:pPr algn="l" indent="0" marL="0">
                        <a:buNone/>
                      </a:pP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Commodore 64 (1982), MOS 6510</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PRG32 on ESP32-C6, RISC-V</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Word size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8 bits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32 bits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Registers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 X, Y (plus stack pointer, status, PC)</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32 general-purpose registers, x0 to x31</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Clock</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about 1 MHz</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160 MHz</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Address space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64 KB</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4 GB</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Instruction set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56 instructions, proprietary</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about 40 base instructions plus extensions, open standard</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Screen</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320 by 200 pixels, 16 colours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320 by 200 viewport, 256-entry RGB565 palette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You program it by</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typing on the machine itself</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building a cartridge and uploading it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400" i="1" dirty="0">
                <a:solidFill>
                  <a:srgbClr val="5B6B78"/>
                </a:solidFill>
                <a:latin typeface="Calibri" pitchFamily="34" charset="0"/>
                <a:ea typeface="Calibri" pitchFamily="34" charset="-122"/>
                <a:cs typeface="Calibri" pitchFamily="34" charset="-120"/>
              </a:rPr>
              <a:t>Same screen size, same immediacy: forty years apart. The 6502 is still fun to explore at skilldrick.github.io/easy6502</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Where informatics sits</a:t>
            </a:r>
            <a:endParaRPr lang="en-US" sz="3200" dirty="0"/>
          </a:p>
        </p:txBody>
      </p:sp>
      <p:sp>
        <p:nvSpPr>
          <p:cNvPr id="3" name="Shape 1"/>
          <p:cNvSpPr/>
          <p:nvPr/>
        </p:nvSpPr>
        <p:spPr>
          <a:xfrm>
            <a:off x="548640" y="1874520"/>
            <a:ext cx="1926275" cy="2468880"/>
          </a:xfrm>
          <a:prstGeom prst="roundRect">
            <a:avLst>
              <a:gd name="adj" fmla="val 3798"/>
            </a:avLst>
          </a:prstGeom>
          <a:solidFill>
            <a:srgbClr val="EEF2F4"/>
          </a:solidFill>
          <a:ln w="12700">
            <a:solidFill>
              <a:srgbClr val="EEF2F4"/>
            </a:solidFill>
            <a:prstDash val="solid"/>
          </a:ln>
        </p:spPr>
      </p:sp>
      <p:sp>
        <p:nvSpPr>
          <p:cNvPr id="4" name="Text 2"/>
          <p:cNvSpPr txBox="1"/>
          <p:nvPr/>
        </p:nvSpPr>
        <p:spPr>
          <a:xfrm>
            <a:off x="685800" y="2057400"/>
            <a:ext cx="1651955" cy="685800"/>
          </a:xfrm>
          <a:prstGeom prst="roundRect">
            <a:avLst>
              <a:gd name="adj" fmla="val 10667"/>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Natural phenomenon</a:t>
            </a:r>
            <a:endParaRPr lang="en-US" sz="1900" dirty="0"/>
          </a:p>
        </p:txBody>
      </p:sp>
      <p:sp>
        <p:nvSpPr>
          <p:cNvPr id="5" name="Text 3"/>
          <p:cNvSpPr txBox="1"/>
          <p:nvPr/>
        </p:nvSpPr>
        <p:spPr>
          <a:xfrm>
            <a:off x="685800"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a storm forms over the sea</a:t>
            </a:r>
            <a:endParaRPr lang="en-US" sz="1700" dirty="0"/>
          </a:p>
        </p:txBody>
      </p:sp>
      <p:sp>
        <p:nvSpPr>
          <p:cNvPr id="6" name="Shape 4"/>
          <p:cNvSpPr/>
          <p:nvPr/>
        </p:nvSpPr>
        <p:spPr>
          <a:xfrm>
            <a:off x="2520635" y="2962656"/>
            <a:ext cx="274320" cy="292608"/>
          </a:xfrm>
          <a:prstGeom prst="rightArrow">
            <a:avLst/>
          </a:prstGeom>
          <a:solidFill>
            <a:srgbClr val="5B6B78"/>
          </a:solidFill>
          <a:ln w="12700">
            <a:solidFill>
              <a:srgbClr val="5B6B78"/>
            </a:solidFill>
            <a:prstDash val="solid"/>
          </a:ln>
        </p:spPr>
      </p:sp>
      <p:sp>
        <p:nvSpPr>
          <p:cNvPr id="7" name="Shape 5"/>
          <p:cNvSpPr/>
          <p:nvPr/>
        </p:nvSpPr>
        <p:spPr>
          <a:xfrm>
            <a:off x="2840675" y="1874520"/>
            <a:ext cx="1926275" cy="2468880"/>
          </a:xfrm>
          <a:prstGeom prst="roundRect">
            <a:avLst>
              <a:gd name="adj" fmla="val 3798"/>
            </a:avLst>
          </a:prstGeom>
          <a:solidFill>
            <a:srgbClr val="EEF2F4"/>
          </a:solidFill>
          <a:ln w="12700">
            <a:solidFill>
              <a:srgbClr val="EEF2F4"/>
            </a:solidFill>
            <a:prstDash val="solid"/>
          </a:ln>
        </p:spPr>
      </p:sp>
      <p:sp>
        <p:nvSpPr>
          <p:cNvPr id="8" name="Text 6"/>
          <p:cNvSpPr txBox="1"/>
          <p:nvPr/>
        </p:nvSpPr>
        <p:spPr>
          <a:xfrm>
            <a:off x="2977835" y="2057400"/>
            <a:ext cx="1651955" cy="685800"/>
          </a:xfrm>
          <a:prstGeom prst="roundRect">
            <a:avLst>
              <a:gd name="adj" fmla="val 10667"/>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Basic sciences</a:t>
            </a:r>
            <a:endParaRPr lang="en-US" sz="1900" dirty="0"/>
          </a:p>
        </p:txBody>
      </p:sp>
      <p:sp>
        <p:nvSpPr>
          <p:cNvPr id="9" name="Text 7"/>
          <p:cNvSpPr txBox="1"/>
          <p:nvPr/>
        </p:nvSpPr>
        <p:spPr>
          <a:xfrm>
            <a:off x="2977835"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physics and mathematics describe it with equations</a:t>
            </a:r>
            <a:endParaRPr lang="en-US" sz="1700" dirty="0"/>
          </a:p>
        </p:txBody>
      </p:sp>
      <p:sp>
        <p:nvSpPr>
          <p:cNvPr id="10" name="Shape 8"/>
          <p:cNvSpPr/>
          <p:nvPr/>
        </p:nvSpPr>
        <p:spPr>
          <a:xfrm>
            <a:off x="4812670" y="2962656"/>
            <a:ext cx="274320" cy="292608"/>
          </a:xfrm>
          <a:prstGeom prst="rightArrow">
            <a:avLst/>
          </a:prstGeom>
          <a:solidFill>
            <a:srgbClr val="5B6B78"/>
          </a:solidFill>
          <a:ln w="12700">
            <a:solidFill>
              <a:srgbClr val="5B6B78"/>
            </a:solidFill>
            <a:prstDash val="solid"/>
          </a:ln>
        </p:spPr>
      </p:sp>
      <p:sp>
        <p:nvSpPr>
          <p:cNvPr id="11" name="Shape 9"/>
          <p:cNvSpPr/>
          <p:nvPr/>
        </p:nvSpPr>
        <p:spPr>
          <a:xfrm>
            <a:off x="5132710" y="1874520"/>
            <a:ext cx="1926275" cy="2468880"/>
          </a:xfrm>
          <a:prstGeom prst="roundRect">
            <a:avLst>
              <a:gd name="adj" fmla="val 3798"/>
            </a:avLst>
          </a:prstGeom>
          <a:solidFill>
            <a:srgbClr val="EEF2F4"/>
          </a:solidFill>
          <a:ln w="12700">
            <a:solidFill>
              <a:srgbClr val="EEF2F4"/>
            </a:solidFill>
            <a:prstDash val="solid"/>
          </a:ln>
        </p:spPr>
      </p:sp>
      <p:sp>
        <p:nvSpPr>
          <p:cNvPr id="12" name="Text 10"/>
          <p:cNvSpPr txBox="1"/>
          <p:nvPr/>
        </p:nvSpPr>
        <p:spPr>
          <a:xfrm>
            <a:off x="5269870" y="2057400"/>
            <a:ext cx="1651955" cy="685800"/>
          </a:xfrm>
          <a:prstGeom prst="roundRect">
            <a:avLst>
              <a:gd name="adj" fmla="val 10667"/>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Applied sciences</a:t>
            </a:r>
            <a:endParaRPr lang="en-US" sz="1900" dirty="0"/>
          </a:p>
        </p:txBody>
      </p:sp>
      <p:sp>
        <p:nvSpPr>
          <p:cNvPr id="13" name="Text 11"/>
          <p:cNvSpPr txBox="1"/>
          <p:nvPr/>
        </p:nvSpPr>
        <p:spPr>
          <a:xfrm>
            <a:off x="5269870"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informatics turns the equations into algorithms and simulations</a:t>
            </a:r>
            <a:endParaRPr lang="en-US" sz="1700" dirty="0"/>
          </a:p>
        </p:txBody>
      </p:sp>
      <p:sp>
        <p:nvSpPr>
          <p:cNvPr id="14" name="Shape 12"/>
          <p:cNvSpPr/>
          <p:nvPr/>
        </p:nvSpPr>
        <p:spPr>
          <a:xfrm>
            <a:off x="7104705" y="2962656"/>
            <a:ext cx="274320" cy="292608"/>
          </a:xfrm>
          <a:prstGeom prst="rightArrow">
            <a:avLst/>
          </a:prstGeom>
          <a:solidFill>
            <a:srgbClr val="5B6B78"/>
          </a:solidFill>
          <a:ln w="12700">
            <a:solidFill>
              <a:srgbClr val="5B6B78"/>
            </a:solidFill>
            <a:prstDash val="solid"/>
          </a:ln>
        </p:spPr>
      </p:sp>
      <p:sp>
        <p:nvSpPr>
          <p:cNvPr id="15" name="Shape 13"/>
          <p:cNvSpPr/>
          <p:nvPr/>
        </p:nvSpPr>
        <p:spPr>
          <a:xfrm>
            <a:off x="7424745" y="1874520"/>
            <a:ext cx="1926275" cy="2468880"/>
          </a:xfrm>
          <a:prstGeom prst="roundRect">
            <a:avLst>
              <a:gd name="adj" fmla="val 3798"/>
            </a:avLst>
          </a:prstGeom>
          <a:solidFill>
            <a:srgbClr val="EEF2F4"/>
          </a:solidFill>
          <a:ln w="12700">
            <a:solidFill>
              <a:srgbClr val="EEF2F4"/>
            </a:solidFill>
            <a:prstDash val="solid"/>
          </a:ln>
        </p:spPr>
      </p:sp>
      <p:sp>
        <p:nvSpPr>
          <p:cNvPr id="16" name="Text 14"/>
          <p:cNvSpPr txBox="1"/>
          <p:nvPr/>
        </p:nvSpPr>
        <p:spPr>
          <a:xfrm>
            <a:off x="7561905" y="2057400"/>
            <a:ext cx="1651955" cy="685800"/>
          </a:xfrm>
          <a:prstGeom prst="roundRect">
            <a:avLst>
              <a:gd name="adj" fmla="val 10667"/>
            </a:avLst>
          </a:prstGeom>
          <a:solidFill>
            <a:srgbClr val="2F7D4F"/>
          </a:solidFill>
          <a:ln>
            <a:solidFill>
              <a:srgbClr val="2F7D4F"/>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Engineering</a:t>
            </a:r>
            <a:endParaRPr lang="en-US" sz="1900" dirty="0"/>
          </a:p>
        </p:txBody>
      </p:sp>
      <p:sp>
        <p:nvSpPr>
          <p:cNvPr id="17" name="Text 15"/>
          <p:cNvSpPr txBox="1"/>
          <p:nvPr/>
        </p:nvSpPr>
        <p:spPr>
          <a:xfrm>
            <a:off x="7561905"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supercomputers, networks and sensors run them reliably</a:t>
            </a:r>
            <a:endParaRPr lang="en-US" sz="1700" dirty="0"/>
          </a:p>
        </p:txBody>
      </p:sp>
      <p:sp>
        <p:nvSpPr>
          <p:cNvPr id="18" name="Shape 16"/>
          <p:cNvSpPr/>
          <p:nvPr/>
        </p:nvSpPr>
        <p:spPr>
          <a:xfrm>
            <a:off x="9396740" y="2962656"/>
            <a:ext cx="274320" cy="292608"/>
          </a:xfrm>
          <a:prstGeom prst="rightArrow">
            <a:avLst/>
          </a:prstGeom>
          <a:solidFill>
            <a:srgbClr val="5B6B78"/>
          </a:solidFill>
          <a:ln w="12700">
            <a:solidFill>
              <a:srgbClr val="5B6B78"/>
            </a:solidFill>
            <a:prstDash val="solid"/>
          </a:ln>
        </p:spPr>
      </p:sp>
      <p:sp>
        <p:nvSpPr>
          <p:cNvPr id="19" name="Shape 17"/>
          <p:cNvSpPr/>
          <p:nvPr/>
        </p:nvSpPr>
        <p:spPr>
          <a:xfrm>
            <a:off x="9716780" y="1874520"/>
            <a:ext cx="1926275" cy="2468880"/>
          </a:xfrm>
          <a:prstGeom prst="roundRect">
            <a:avLst>
              <a:gd name="adj" fmla="val 3798"/>
            </a:avLst>
          </a:prstGeom>
          <a:solidFill>
            <a:srgbClr val="EEF2F4"/>
          </a:solidFill>
          <a:ln w="12700">
            <a:solidFill>
              <a:srgbClr val="EEF2F4"/>
            </a:solidFill>
            <a:prstDash val="solid"/>
          </a:ln>
        </p:spPr>
      </p:sp>
      <p:sp>
        <p:nvSpPr>
          <p:cNvPr id="20" name="Text 18"/>
          <p:cNvSpPr txBox="1"/>
          <p:nvPr/>
        </p:nvSpPr>
        <p:spPr>
          <a:xfrm>
            <a:off x="9853940" y="2057400"/>
            <a:ext cx="1651955" cy="685800"/>
          </a:xfrm>
          <a:prstGeom prst="roundRect">
            <a:avLst>
              <a:gd name="adj" fmla="val 10667"/>
            </a:avLst>
          </a:prstGeom>
          <a:solidFill>
            <a:srgbClr val="B23A48"/>
          </a:solidFill>
          <a:ln>
            <a:solidFill>
              <a:srgbClr val="B23A48"/>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Economy</a:t>
            </a:r>
            <a:endParaRPr lang="en-US" sz="1900" dirty="0"/>
          </a:p>
        </p:txBody>
      </p:sp>
      <p:sp>
        <p:nvSpPr>
          <p:cNvPr id="21" name="Text 19"/>
          <p:cNvSpPr txBox="1"/>
          <p:nvPr/>
        </p:nvSpPr>
        <p:spPr>
          <a:xfrm>
            <a:off x="9853940"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forecasts and services reach people and create value</a:t>
            </a:r>
            <a:endParaRPr lang="en-US" sz="1700" dirty="0"/>
          </a:p>
        </p:txBody>
      </p:sp>
      <p:sp>
        <p:nvSpPr>
          <p:cNvPr id="22" name="Shape 20"/>
          <p:cNvSpPr/>
          <p:nvPr/>
        </p:nvSpPr>
        <p:spPr>
          <a:xfrm>
            <a:off x="548640" y="4709160"/>
            <a:ext cx="11094415" cy="1463040"/>
          </a:xfrm>
          <a:prstGeom prst="roundRect">
            <a:avLst>
              <a:gd name="adj" fmla="val 5000"/>
            </a:avLst>
          </a:prstGeom>
          <a:solidFill>
            <a:srgbClr val="D8ECEE"/>
          </a:solidFill>
          <a:ln w="12700">
            <a:solidFill>
              <a:srgbClr val="D8ECEE"/>
            </a:solidFill>
            <a:prstDash val="solid"/>
          </a:ln>
        </p:spPr>
      </p:sp>
      <p:sp>
        <p:nvSpPr>
          <p:cNvPr id="23" name="Text 21"/>
          <p:cNvSpPr txBox="1"/>
          <p:nvPr/>
        </p:nvSpPr>
        <p:spPr>
          <a:xfrm>
            <a:off x="822960" y="4800600"/>
            <a:ext cx="10545775" cy="1280160"/>
          </a:xfrm>
          <a:prstGeom prst="rect">
            <a:avLst/>
          </a:prstGeom>
          <a:noFill/>
          <a:ln/>
        </p:spPr>
        <p:txBody>
          <a:bodyPr wrap="square" lIns="0" tIns="0" rIns="0" bIns="0" rtlCol="0" anchor="ctr"/>
          <a:lstStyle/>
          <a:p>
            <a:pPr indent="0" marL="0">
              <a:buNone/>
            </a:pPr>
            <a:r>
              <a:rPr lang="en-US" sz="2000" dirty="0">
                <a:solidFill>
                  <a:srgbClr val="1B2530"/>
                </a:solidFill>
                <a:latin typeface="Calibri" pitchFamily="34" charset="0"/>
                <a:ea typeface="Calibri" pitchFamily="34" charset="-122"/>
                <a:cs typeface="Calibri" pitchFamily="34" charset="-120"/>
              </a:rPr>
              <a:t>An example from this Department: the weather and marine forecasts of meteo.uniparthenope.it, computed every day on our own high-performance systems.</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High-performance computing at Parthenope</a:t>
            </a:r>
            <a:endParaRPr lang="en-US" sz="3200" dirty="0"/>
          </a:p>
        </p:txBody>
      </p:sp>
      <p:sp>
        <p:nvSpPr>
          <p:cNvPr id="3" name="Shape 1"/>
          <p:cNvSpPr/>
          <p:nvPr/>
        </p:nvSpPr>
        <p:spPr>
          <a:xfrm>
            <a:off x="548640" y="1417320"/>
            <a:ext cx="3515258" cy="3931920"/>
          </a:xfrm>
          <a:prstGeom prst="roundRect">
            <a:avLst>
              <a:gd name="adj" fmla="val 2081"/>
            </a:avLst>
          </a:prstGeom>
          <a:solidFill>
            <a:srgbClr val="EEF2F4"/>
          </a:solidFill>
          <a:ln w="12700">
            <a:solidFill>
              <a:srgbClr val="EEF2F4"/>
            </a:solidFill>
            <a:prstDash val="solid"/>
          </a:ln>
        </p:spPr>
      </p:sp>
      <p:pic>
        <p:nvPicPr>
          <p:cNvPr id="4" name="Image 0" descr="/Users/raffaelemontella/devel/riscv-prg32/computer-architecture-with-prg32/tools/assets/rcf_cluster.jpg">    </p:cNvPr>
          <p:cNvPicPr>
            <a:picLocks noChangeAspect="1"/>
          </p:cNvPicPr>
          <p:nvPr/>
        </p:nvPicPr>
        <p:blipFill>
          <a:blip r:embed="rId1"/>
          <a:stretch>
            <a:fillRect/>
          </a:stretch>
        </p:blipFill>
        <p:spPr>
          <a:xfrm>
            <a:off x="685800" y="2537166"/>
            <a:ext cx="3240938" cy="1097868"/>
          </a:xfrm>
          <a:prstGeom prst="rect">
            <a:avLst/>
          </a:prstGeom>
        </p:spPr>
      </p:pic>
      <p:sp>
        <p:nvSpPr>
          <p:cNvPr id="5" name="Text 2"/>
          <p:cNvSpPr txBox="1"/>
          <p:nvPr/>
        </p:nvSpPr>
        <p:spPr>
          <a:xfrm>
            <a:off x="685800" y="4663440"/>
            <a:ext cx="3240938" cy="594360"/>
          </a:xfrm>
          <a:prstGeom prst="rect">
            <a:avLst/>
          </a:prstGeom>
          <a:noFill/>
          <a:ln/>
        </p:spPr>
        <p:txBody>
          <a:bodyPr wrap="square" lIns="0" tIns="0" rIns="0" bIns="0" rtlCol="0" anchor="ctr"/>
          <a:lstStyle/>
          <a:p>
            <a:pPr algn="ctr" indent="0" marL="0">
              <a:buNone/>
            </a:pPr>
            <a:r>
              <a:rPr lang="en-US" sz="1400" dirty="0">
                <a:solidFill>
                  <a:srgbClr val="1B2530"/>
                </a:solidFill>
                <a:latin typeface="Calibri" pitchFamily="34" charset="0"/>
                <a:ea typeface="Calibri" pitchFamily="34" charset="-122"/>
                <a:cs typeface="Calibri" pitchFamily="34" charset="-120"/>
              </a:rPr>
              <a:t>The racks of the Research Computing Facilities of the University</a:t>
            </a:r>
            <a:endParaRPr lang="en-US" sz="1400" dirty="0"/>
          </a:p>
        </p:txBody>
      </p:sp>
      <p:sp>
        <p:nvSpPr>
          <p:cNvPr id="6" name="Shape 3"/>
          <p:cNvSpPr/>
          <p:nvPr/>
        </p:nvSpPr>
        <p:spPr>
          <a:xfrm>
            <a:off x="4338218" y="1417320"/>
            <a:ext cx="3515258" cy="3931920"/>
          </a:xfrm>
          <a:prstGeom prst="roundRect">
            <a:avLst>
              <a:gd name="adj" fmla="val 2081"/>
            </a:avLst>
          </a:prstGeom>
          <a:solidFill>
            <a:srgbClr val="EEF2F4"/>
          </a:solidFill>
          <a:ln w="12700">
            <a:solidFill>
              <a:srgbClr val="EEF2F4"/>
            </a:solidFill>
            <a:prstDash val="solid"/>
          </a:ln>
        </p:spPr>
      </p:sp>
      <p:pic>
        <p:nvPicPr>
          <p:cNvPr id="7" name="Image 1" descr="/Users/raffaelemontella/devel/riscv-prg32/computer-architecture-with-prg32/tools/assets/cluster_1.jpg">    </p:cNvPr>
          <p:cNvPicPr>
            <a:picLocks noChangeAspect="1"/>
          </p:cNvPicPr>
          <p:nvPr/>
        </p:nvPicPr>
        <p:blipFill>
          <a:blip r:embed="rId2"/>
          <a:stretch>
            <a:fillRect/>
          </a:stretch>
        </p:blipFill>
        <p:spPr>
          <a:xfrm>
            <a:off x="4947133" y="1554480"/>
            <a:ext cx="2297430" cy="3063240"/>
          </a:xfrm>
          <a:prstGeom prst="rect">
            <a:avLst/>
          </a:prstGeom>
        </p:spPr>
      </p:pic>
      <p:sp>
        <p:nvSpPr>
          <p:cNvPr id="8" name="Text 4"/>
          <p:cNvSpPr txBox="1"/>
          <p:nvPr/>
        </p:nvSpPr>
        <p:spPr>
          <a:xfrm>
            <a:off x="4475378"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What they compute every day: the forecasts of meteo@uniparthenope</a:t>
            </a:r>
            <a:endParaRPr lang="en-US" sz="1500" dirty="0"/>
          </a:p>
        </p:txBody>
      </p:sp>
      <p:sp>
        <p:nvSpPr>
          <p:cNvPr id="9" name="Shape 5"/>
          <p:cNvSpPr/>
          <p:nvPr/>
        </p:nvSpPr>
        <p:spPr>
          <a:xfrm>
            <a:off x="8127797" y="1417320"/>
            <a:ext cx="3515258" cy="3931920"/>
          </a:xfrm>
          <a:prstGeom prst="roundRect">
            <a:avLst>
              <a:gd name="adj" fmla="val 2081"/>
            </a:avLst>
          </a:prstGeom>
          <a:solidFill>
            <a:srgbClr val="EEF2F4"/>
          </a:solidFill>
          <a:ln w="12700">
            <a:solidFill>
              <a:srgbClr val="EEF2F4"/>
            </a:solidFill>
            <a:prstDash val="solid"/>
          </a:ln>
        </p:spPr>
      </p:sp>
      <p:pic>
        <p:nvPicPr>
          <p:cNvPr id="10" name="Image 2" descr="/Users/raffaelemontella/devel/riscv-prg32/computer-architecture-with-prg32/tools/assets/rcf_page.png">    </p:cNvPr>
          <p:cNvPicPr>
            <a:picLocks noChangeAspect="1"/>
          </p:cNvPicPr>
          <p:nvPr/>
        </p:nvPicPr>
        <p:blipFill>
          <a:blip r:embed="rId3"/>
          <a:stretch>
            <a:fillRect/>
          </a:stretch>
        </p:blipFill>
        <p:spPr>
          <a:xfrm>
            <a:off x="8575891" y="1554480"/>
            <a:ext cx="2619070" cy="3063240"/>
          </a:xfrm>
          <a:prstGeom prst="rect">
            <a:avLst/>
          </a:prstGeom>
        </p:spPr>
      </p:pic>
      <p:sp>
        <p:nvSpPr>
          <p:cNvPr id="11" name="Text 6"/>
          <p:cNvSpPr txBox="1"/>
          <p:nvPr/>
        </p:nvSpPr>
        <p:spPr>
          <a:xfrm>
            <a:off x="8264957" y="4663440"/>
            <a:ext cx="3240938" cy="594360"/>
          </a:xfrm>
          <a:prstGeom prst="rect">
            <a:avLst/>
          </a:prstGeom>
          <a:noFill/>
          <a:ln/>
        </p:spPr>
        <p:txBody>
          <a:bodyPr wrap="square" lIns="0" tIns="0" rIns="0" bIns="0" rtlCol="0" anchor="ctr"/>
          <a:lstStyle/>
          <a:p>
            <a:pPr algn="ctr" indent="0" marL="0">
              <a:buNone/>
            </a:pPr>
            <a:r>
              <a:rPr lang="en-US" sz="1500" dirty="0">
                <a:solidFill>
                  <a:srgbClr val="1B2530"/>
                </a:solidFill>
                <a:latin typeface="Calibri" pitchFamily="34" charset="0"/>
                <a:ea typeface="Calibri" pitchFamily="34" charset="-122"/>
                <a:cs typeface="Calibri" pitchFamily="34" charset="-120"/>
              </a:rPr>
              <a:t>Research Computing Facilities: rcf.uniparthenope.it</a:t>
            </a:r>
            <a:endParaRPr lang="en-US" sz="1500" dirty="0"/>
          </a:p>
        </p:txBody>
      </p:sp>
      <p:sp>
        <p:nvSpPr>
          <p:cNvPr id="12" name="Text 7"/>
          <p:cNvSpPr txBox="1"/>
          <p:nvPr/>
        </p:nvSpPr>
        <p:spPr>
          <a:xfrm>
            <a:off x="548640" y="5486400"/>
            <a:ext cx="11094415" cy="685800"/>
          </a:xfrm>
          <a:prstGeom prst="rect">
            <a:avLst/>
          </a:prstGeom>
          <a:noFill/>
          <a:ln/>
        </p:spPr>
        <p:txBody>
          <a:bodyPr wrap="square" lIns="0" tIns="0" rIns="0" bIns="0" rtlCol="0" anchor="ctr"/>
          <a:lstStyle/>
          <a:p>
            <a:pPr indent="0" marL="0">
              <a:buNone/>
            </a:pPr>
            <a:r>
              <a:rPr lang="en-US" sz="1900" dirty="0">
                <a:solidFill>
                  <a:srgbClr val="1B2530"/>
                </a:solidFill>
                <a:latin typeface="Calibri" pitchFamily="34" charset="0"/>
                <a:ea typeface="Calibri" pitchFamily="34" charset="-122"/>
                <a:cs typeface="Calibri" pitchFamily="34" charset="-120"/>
              </a:rPr>
              <a:t>The same ideas you practise on a 160 MHz microcontroller scale up to clusters: registers, memory, instructions, only many more of them.</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Which idea is the heart of the von Neumann architecture?</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processor has exactly four registers</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Program and data are stored in the same memory</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Every instruction takes one clock cycle</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Input and output are optional</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What makes RISC-V different from x86 and ARM?</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is the fastest instruction set</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was the first RISC architecture</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Its instruction set is an open standard, free to implement</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It works only on microcontrollers</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Who is regarded as the first programmer in history?</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Charles Babbage</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Alan Turing</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Ada Lovelace</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Konrad Zuse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Glossary: English and Italian</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993731"/>
                <a:gridCol w="2641527"/>
                <a:gridCol w="2817629"/>
                <a:gridCol w="2641527"/>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computer science / informatics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informatica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stored program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programma memorizzato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computer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calcolatore, elaboratore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control unit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unità di controllo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punched card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scheda perforata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arithmetic logic unit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unità aritmetico-logica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loom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telaio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instruction set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insieme (set) di istruzioni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mainframe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mainframe, grande elaboratore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high-performance computing</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calcolo ad alte prestazioni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Conclusions and reading</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Computing is older than electronics: representation and procedure came first</a:t>
            </a:r>
            <a:endParaRPr lang="en-US" sz="2200" dirty="0"/>
          </a:p>
        </p:txBody>
      </p:sp>
      <p:sp>
        <p:nvSpPr>
          <p:cNvPr id="5" name="Shape 3"/>
          <p:cNvSpPr/>
          <p:nvPr/>
        </p:nvSpPr>
        <p:spPr>
          <a:xfrm>
            <a:off x="548640" y="2208593"/>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02168"/>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stored-program computer of 1945 is still the machine we program today</a:t>
            </a:r>
            <a:endParaRPr lang="en-US" sz="2200" dirty="0"/>
          </a:p>
        </p:txBody>
      </p:sp>
      <p:sp>
        <p:nvSpPr>
          <p:cNvPr id="7" name="Shape 5"/>
          <p:cNvSpPr/>
          <p:nvPr/>
        </p:nvSpPr>
        <p:spPr>
          <a:xfrm>
            <a:off x="548640" y="2893441"/>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787015"/>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RISC made processors simple enough to understand whole; RISC-V made them open</a:t>
            </a:r>
            <a:endParaRPr lang="en-US" sz="2200" dirty="0"/>
          </a:p>
        </p:txBody>
      </p:sp>
      <p:sp>
        <p:nvSpPr>
          <p:cNvPr id="9" name="Shape 7"/>
          <p:cNvSpPr/>
          <p:nvPr/>
        </p:nvSpPr>
        <p:spPr>
          <a:xfrm>
            <a:off x="548640" y="3919156"/>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812730"/>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Informatics is pervasive: digital information belongs to every field, data are its currency, algorithms turn data into decisions</a:t>
            </a:r>
            <a:endParaRPr lang="en-US" sz="2200" dirty="0"/>
          </a:p>
        </p:txBody>
      </p:sp>
      <p:sp>
        <p:nvSpPr>
          <p:cNvPr id="11" name="Shape 9"/>
          <p:cNvSpPr/>
          <p:nvPr/>
        </p:nvSpPr>
        <p:spPr>
          <a:xfrm>
            <a:off x="548640" y="494487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838446"/>
            <a:ext cx="10710367" cy="133375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Reading</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Patterson, Hennessy: Computer Organization and Design, RISC-V Edition, chapter 1</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Playing with RISC-V, chapter 1: Why a Game, Why RISC-V, Why Now</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Charles Petzold: Code. The Hidden Language of Computer Hardware and Software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History of Computing</dc:title>
  <dc:subject>Lecture 03</dc:subject>
  <dc:creator>Raffaele Montella</dc:creator>
  <cp:lastModifiedBy>Raffaele Montella</cp:lastModifiedBy>
  <cp:revision>1</cp:revision>
  <dcterms:created xsi:type="dcterms:W3CDTF">2026-10-16T15:51:37Z</dcterms:created>
  <dcterms:modified xsi:type="dcterms:W3CDTF">2026-10-16T15:51:37Z</dcterms:modified>
</cp:coreProperties>
</file>