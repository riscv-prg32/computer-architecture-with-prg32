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0cb011-0c2b-7aa4-47aa-b06ba7c85b43}">
          <p14:sldIdLst>
            <p14:sldId id="256"/>
            <p14:sldId id="257"/>
          </p14:sldIdLst>
        </p14:section>
        <p14:section name="What is informatics?" id="{21252a55-fa68-373b-d46f-9f2dc86613c0}">
          <p14:sldIdLst>
            <p14:sldId id="258"/>
            <p14:sldId id="259"/>
          </p14:sldIdLst>
        </p14:section>
        <p14:section name="Before electricity" id="{53b6fe90-668f-6806-1937-ecef9974333e}">
          <p14:sldIdLst>
            <p14:sldId id="260"/>
            <p14:sldId id="261"/>
            <p14:sldId id="262"/>
            <p14:sldId id="263"/>
          </p14:sldIdLst>
        </p14:section>
        <p14:section name="The twentieth century" id="{2f583623-70e7-95ea-f8e5-abb0eb0df8c2}">
          <p14:sldIdLst>
            <p14:sldId id="264"/>
            <p14:sldId id="265"/>
            <p14:sldId id="266"/>
          </p14:sldIdLst>
        </p14:section>
        <p14:section name="From home computers to RISC-V" id="{096341da-692b-166c-d0ae-482fe49f817c}">
          <p14:sldIdLst>
            <p14:sldId id="267"/>
            <p14:sldId id="268"/>
            <p14:sldId id="269"/>
          </p14:sldIdLst>
        </p14:section>
        <p14:section name="Informatics as an applied science" id="{91af784d-e1e4-6d74-a775-774865884dbd}">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ran a RISC-V program; this one asks where that machine comes from. It is not a chronology to be memorised. The history is presented as a sequence of conceptual contributions, each adding one idea that is still embodied in the chip of the PRG32 kit: physical representation, mechanised procedure, the program as data, the reduced instruction set, the open standard. The epigraph is the canonical first program, from the book that introduced the C language: since then every programmer has begun by making a machine say hello, as the student did with HELLO PRG32.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The first is conceptual: defining informatics and explaining why it is not the science of computers. The second and third are historical: placing the principal machines and people on a timeline, and naming the four units of the von Neumann architecture, which will be recognised in the machine already programmed. The fourth accounts for the name of the processor used in the course: what RISC means, and why RISC-V is open. The fifth situates the discipline among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components, each worth weighing. Applied science: informatics employs the results of the basic sciences to solve problems. Treatment of information: its object is information, not the machine. Automated procedures: the treatment is carried out by procedures that require no human judgement in their execution. The Italian word informatica, from the French information automatique, expresses this directly; the English computer science places the instrument in the name and invites a misunderstanding, which the remark attributed to Edsger Dijkstra corrects: computer science is no more about computers than astronomy is about telescopes.
UNDERSTAND NOW: what informatics is.
For the lecturer: « L'informatica non riguarda i computer più di quanto l'astronomia riguardi i telescopi. » The Italian form of a remark attributed to Edsger W. Dijkstra: computer science is no more about computers than astronomy is about telescopes.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complementary dimensions. Theoretical informatics studies its foundations: what can be computed at all, at what cost, and by which algorithms, an algorithm being a finite set of operations that transforms an input A into an output B. Applied informatics builds the technologies and information systems that permeate the economy and society, and must manage their costs, among them the digital divide between those who have access and competence and those who do not. This course participates in both: Boolean algebra is theory, a cartridge is application, and the course is constructed so that each illuminates the other.
UNDERSTAND NOW: what informatics is.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illustrate the first idea. In the abacus, Roman or Chinese, a number is a configuration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embodied in the ratios of the gears. The sentence beneath the pictures states the principle that the next lecture develops: representation precedes calculation.
For the lecturer: The dating of the Antikythera mechanism is debated: most estimates fall between about 205 and 60 BC.
Pictures: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vocabulary. Instruments: the astrolabe and the torquetum, for astronomy. Methods: al-Kindi devises frequency analysis, the first systematic technique of cryptanalysis. Machines: the automatic flute player of the Banu Musa brothers and the automata of al-Jazari are driven by interchangeable sequences, an early form of program. Vocabulary: algorithm derives from the name of al-Khwarizmi, and algebra from the title of his treatise.
For the lecturer: The source slide dated the period to the 11th-12th century; the people named here span the 9th to the early 13th.
Pictures: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between 1600 and 1800. The first is mechanical calculation: Napier's logarithms, Pascal's machine that adds with automatic carry propagation, Leibniz's machine for the four operations. The second is logic: Leibniz describes binary arithmetic in 1703, and in 1854 Boole recasts logic as an algebra, the very algebra studied in Lectures 08 and 09. A third thread appears in 1804: Jacquard's loom weaves a pattern stored on punched cards. Changing the cards makes the same machine perform a different task, which is the essence of programmability.
For the lecturer: Corrections to the source slide: Boole's Laws of Thought is 1854 (not 1864); Leibniz's paper on binary arithmetic was published in 1703.
Pictures: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components bear names that should already sound familiar: a mill that performs arithmetic, a control mechanism, a store that holds numbers, and an output device, with programs and data supplied on punched cards as in the loom. It was never completed. For it Ada Lovelace wrote a procedure to compute the Bernoulli numbers, published in 1843; on this ground she is regarded as the first programmer in history.
For the lecturer: Ada Lovelace's notes on the Analytical Engine (1843) contain what is regarded as the first published program, for computing Bernoulli numbers.
Pictures: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precedes the machines. In 1936 Alan Turing defines an abstract machine capable of carrying out any computation, and thereby gives a precise meaning to the notion of computability. In the 1930s Nakajima and Shannon show that Boolean algebra describes circuits built from switches; this is the bridge between logic and electronics on which all digital design rests, and the reason Boolean algebra occupies two lectures of this course. In 1941 Konrad Zuse completes the Z3, the first working program-controlled computer.
UNDERSTAND LATER: Boolean algebra (studied in Lecture 08).
For the lecturer: The Boolean algebra of Lectures 08 and 09 is exactly the Nakajima-Shannon bridge between logic and circuits.
Pictures: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founded on one decisive idea: program and data reside in the same memory, so that a program is itself data. The diagram shows the four units: the memory; the control unit, which governs the sequence of operations; the arithmetic logic unit with its accumulator; and input and output. Lecture 02 can now be reread in these terms: the ALU executed addi, the memory held both counter and the instruction word 0x00130313, and the joystick and display are input and output. The chip of the kit remains, in its essentials, a von Neumann machine.
UNDERSTAND NOW: the von Neumann architecture.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a single picture, from the machines of the Second World War to the computers embedded in everyday objects. Read from left to right, the captions trace a progressive change of scale: one machine for a nation, then for many users, then one per department, one per person, one in the pocket, and finally computers everywhere. Each decade made the computer smaller, cheaper and closer to its users. The sentence at the bottom draws the conclusion: none of these transitions altered the stored-program principle.
For the lecturer: 1943-45: ENIAC (USA) and Colossus (UK). 1949: EDVAC (USA). The source slide also showed the Macintosh, the Amiga, the IBM PC, the iPad and a self-driving car: the pictures are in tools/assets if you want to add them.
Pictures: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should be read as a debate between two philosophies of processor design. The early microprocessors, and the x86 family introduced in 1978, follow the CISC approach: many instructions, some of considerable complexity. Around 1980 research groups at Berkeley and Stanford showed that a small number of simple, regular instructions yields faster machines; this is RISC, the reduced instruction set computer. ARM applied the approach to low-power design in 1985. In 2010 the fifth Berkeley design, RISC-V, took the further step of making the instruction set architecture an open standard, which Europe now regards as strategic.
UNDERSTAND NOW: RISC and an open ISA.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1971 the Intel 4004 contained 2,300 transistors; a contemporary laptop processor contains tens of billions, some ten million times as many. For five decades the number doubled approximately every two years. This is Moore's law, an empirical observation about an industry rather than a law of nature, and its physical limits are now close. When additional transistors no longer come without cost, performance must come from better architectures. This is why the subject of this course matters more today than it did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a 32-bit processor with thirty-two registers, a 160 MHz clock and a 4 GB address space. Yet the screen has the same resolution, 320 by 200 pixels, and the same spirit: a machine small enough to be understood entirely by one person. The difference most relevant to the student lies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storm followed from left to right illustrates the position of informatics. It is first a natural phenomenon. Physics and mathematics describe it by equations. Informatics turns the equations into algorithms and simulations. Engineering supplies the supercomputers, networks and sensors that execute them reliably. The economy receives forecasts and services of value to people. Informatics is the indispensable middle link: without it the equations remain on paper. The example is not hypothetical: the weather and sea forecasts of the Department are produced daily in exactly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the racks of the University's Research Computing Facilities, their daily product, the forecasts of meteo@uniparthenope, and the page listing the machines. A cluster is a collection of computers cooperating on a single problem. The concepts are those practised on the kit, namely registers, memory and instructions, at a vastly greater scale and with the additional problem of coordinating the parts. Lecture 24 returns to these machines, and the closing event of the course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should look for the defining idea rather than a detail. The number of registers and the duration of an instruction vary between processors, and input and output are one of the four units, not an option. What defines the architecture is that instructions reside in the same memory as data and are fetched and executed in sequence.
For the second, speed is a property of a particular chip, not of an instruction set, and RISC-V was not the first RISC design: Berkeley RISC, MIPS and ARM preceded it. Nor is it confined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history, in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Italian has two words for the machine, calcolatore and elaboratore, both older than the borrowed computer. Stored program names von Neumann's idea. The control unit and the arithmetic logic unit, ALU, are two of the four units, and reappear in the lectures on the processor. High-performance computing, HPC, is the field of the clusters just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still programmed today. RISC made processors simple enough to be understood as a whole, and RISC-V made them open. And informatics is pervasive, because information belongs to every field. The readings develop the same history at greater length. The next lecture takes the first formal step: how information becomes bits.
Learning status, recap.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12"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 modern model: 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11" name="Shape 8"/>
          <p:cNvSpPr/>
          <p:nvPr/>
        </p:nvSpPr>
        <p:spPr>
          <a:xfrm>
            <a:off x="7545908" y="91440"/>
            <a:ext cx="4097147" cy="274320"/>
          </a:xfrm>
          <a:prstGeom prst="rect">
            <a:avLst/>
          </a:prstGeom>
          <a:solidFill>
            <a:srgbClr val="F3E8FF"/>
          </a:solidFill>
          <a:ln w="12700">
            <a:solidFill>
              <a:srgbClr val="7E22CE"/>
            </a:solidFill>
            <a:prstDash val="dash"/>
          </a:ln>
        </p:spPr>
      </p:sp>
      <p:sp>
        <p:nvSpPr>
          <p:cNvPr id="12" name="Shape 9"/>
          <p:cNvSpPr/>
          <p:nvPr/>
        </p:nvSpPr>
        <p:spPr>
          <a:xfrm>
            <a:off x="7573340" y="128016"/>
            <a:ext cx="45720" cy="45720"/>
          </a:xfrm>
          <a:prstGeom prst="rect">
            <a:avLst/>
          </a:prstGeom>
          <a:solidFill>
            <a:srgbClr val="7E22CE"/>
          </a:solidFill>
          <a:ln w="12700">
            <a:solidFill>
              <a:srgbClr val="7E22CE"/>
            </a:solidFill>
            <a:prstDash val="solid"/>
          </a:ln>
        </p:spPr>
      </p:sp>
      <p:sp>
        <p:nvSpPr>
          <p:cNvPr id="13" name="Shape 10"/>
          <p:cNvSpPr/>
          <p:nvPr/>
        </p:nvSpPr>
        <p:spPr>
          <a:xfrm>
            <a:off x="7573340" y="205740"/>
            <a:ext cx="45720" cy="45720"/>
          </a:xfrm>
          <a:prstGeom prst="rect">
            <a:avLst/>
          </a:prstGeom>
          <a:solidFill>
            <a:srgbClr val="7E22CE"/>
          </a:solidFill>
          <a:ln w="12700">
            <a:solidFill>
              <a:srgbClr val="7E22CE"/>
            </a:solidFill>
            <a:prstDash val="solid"/>
          </a:ln>
        </p:spPr>
      </p:sp>
      <p:sp>
        <p:nvSpPr>
          <p:cNvPr id="14" name="Shape 11"/>
          <p:cNvSpPr/>
          <p:nvPr/>
        </p:nvSpPr>
        <p:spPr>
          <a:xfrm>
            <a:off x="7573340"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7673924" y="128016"/>
            <a:ext cx="201168" cy="201168"/>
          </a:xfrm>
          <a:prstGeom prst="rect">
            <a:avLst/>
          </a:prstGeom>
        </p:spPr>
      </p:pic>
      <p:sp>
        <p:nvSpPr>
          <p:cNvPr id="16" name="Text 12"/>
          <p:cNvSpPr txBox="1"/>
          <p:nvPr/>
        </p:nvSpPr>
        <p:spPr>
          <a:xfrm>
            <a:off x="7929956" y="91440"/>
            <a:ext cx="367652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Boolean algebra</a:t>
            </a:r>
            <a:pPr indent="0" marL="0">
              <a:buNone/>
            </a:pPr>
            <a:r>
              <a:rPr lang="en-US" sz="1100" b="1" dirty="0">
                <a:solidFill>
                  <a:srgbClr val="6B21A8"/>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828102" y="91440"/>
            <a:ext cx="3814953" cy="274320"/>
          </a:xfrm>
          <a:prstGeom prst="rect">
            <a:avLst/>
          </a:prstGeom>
          <a:solidFill>
            <a:srgbClr val="E0F2FE"/>
          </a:solidFill>
          <a:ln w="12700">
            <a:solidFill>
              <a:srgbClr val="0369A1"/>
            </a:solidFill>
            <a:prstDash val="solid"/>
          </a:ln>
        </p:spPr>
      </p:sp>
      <p:sp>
        <p:nvSpPr>
          <p:cNvPr id="23" name="Shape 21"/>
          <p:cNvSpPr/>
          <p:nvPr/>
        </p:nvSpPr>
        <p:spPr>
          <a:xfrm>
            <a:off x="7828102"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5" name="Text 22"/>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RISC and an open ISA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racks of the Research Computing Facilities of the University</a:t>
            </a:r>
            <a:endParaRPr lang="en-US" sz="14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What they compute every day: the forecasts of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2026-10-16T20:22:23Z</dcterms:created>
  <dcterms:modified xsi:type="dcterms:W3CDTF">2026-10-16T20:22:23Z</dcterms:modified>
</cp:coreProperties>
</file>