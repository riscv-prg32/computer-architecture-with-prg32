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91dea28-88d3-a426-67ab-2bc85a076d28}">
          <p14:sldIdLst>
            <p14:sldId id="256"/>
            <p14:sldId id="257"/>
          </p14:sldIdLst>
        </p14:section>
        <p14:section name="What is informatics?" id="{acf0a394-8526-9f9d-199f-725cd755f31f}">
          <p14:sldIdLst>
            <p14:sldId id="258"/>
            <p14:sldId id="259"/>
            <p14:sldId id="260"/>
            <p14:sldId id="261"/>
          </p14:sldIdLst>
        </p14:section>
        <p14:section name="Before electricity" id="{8bf31246-2ed4-6665-da7a-802386d25f4a}">
          <p14:sldIdLst>
            <p14:sldId id="262"/>
            <p14:sldId id="263"/>
            <p14:sldId id="264"/>
            <p14:sldId id="265"/>
            <p14:sldId id="266"/>
          </p14:sldIdLst>
        </p14:section>
        <p14:section name="The twentieth century" id="{4026c952-baa3-832c-6a99-128a9a2a019f}">
          <p14:sldIdLst>
            <p14:sldId id="267"/>
            <p14:sldId id="268"/>
            <p14:sldId id="269"/>
            <p14:sldId id="270"/>
          </p14:sldIdLst>
        </p14:section>
        <p14:section name="From home computers to RISC-V" id="{63fc2750-60ee-74dd-0ca1-79b32b8992f1}">
          <p14:sldIdLst>
            <p14:sldId id="271"/>
            <p14:sldId id="272"/>
            <p14:sldId id="273"/>
            <p14:sldId id="274"/>
            <p14:sldId id="275"/>
          </p14:sldIdLst>
        </p14:section>
        <p14:section name="Informatics as an applied science" id="{771db3c8-4e82-6767-45da-484043331b33}">
          <p14:sldIdLst>
            <p14:sldId id="276"/>
            <p14:sldId id="277"/>
            <p14:sldId id="278"/>
            <p14:sldId id="279"/>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time you ran a RISC-V program. This lecture asks where that machine comes from. It is not a list of dates to memorise: each stage of the story adds one idea, and every one of those ideas is still inside the chip of the PRG32 kit. The quotation on the cover is the most famous first program, from the book that introduced the C language: every programmer since has started by making a machine say hello, as you did with HELLO PRG32.
For the lecturer: The students have already run a RISC-V program (Lecture 02). This lecture tells them where that machine comes from: every stage of the story adds one idea that is still inside the 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objectives. The first is a definition: what informatics is, and why it is not the science of computers. The second and third are historical: placing the main machines and people on a timeline, and naming the four units of the von Neumann architecture, which you will find again in the machine you programmed. The fourth explains the name of our processor: what RISC means, and why RISC-V is open. The fifth places the discipline between science, engineering and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history, the subject itself. What do we mean by informatics? Three slides give a definition, a famous warning about what it is not, and the two souls of the discipline.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has three parts worth weighing. Applied science: it uses the results of the basic sciences to solve problems. Treatment of information: the object is information, not the machine. Automated procedures: the treatment is done by procedures that can be carried out without human judgement. The Italian word informatica says it directly, from the French information automatique. English prefers computer science, which puts the instrument in the name and creates the misunderstanding that the next slide corrects.
For the lecturer: « L'informatica non riguarda i computer più di quanto l'astronomia riguardi i telescopi. » The next slide carries the quotation.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attributed to Dijkstra compares the computer to the telescope: an astronomer studies the sky, not the instrument. In the same way informatics studies information and the procedures that transform it. So why does this course look so closely at the instrument? Because an instrument that you do not understand limits what you can do with it. We open the machine so that it stops being a mystery, and you can then use it with judgement.
For the lecturer: The machine is the instrument, not the subject. In this course we study the instrument closely precisely so that it stops being a mystery.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discipline has two souls. Theoretical informatics studies the foundations: what can be computed at all, at what cost, and with which algorithms, where an algorithm is a finite set of operations that transforms A into B. Applied informatics builds the technologies and the information systems that run through the economy and society, with a cost to manage: the digital divide between those who have access and skills and those who do not. This course belongs to both: Boolean algebra is theory, a cartridge is application.
For the lecturer: The word cloud of the original slide: design, analysis, languages, development, databases, networks, computing, multimedia, web, cloud, apps, IoT, AI, machine learning, mobile, algorithms, embedded, video games, graphics, programming.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story begins long before electricity. For three thousand years people have built devices to help them calculate. Watch for two ideas that recur in the next slides: how a number is represented in a physical object, and how a sequence of operations is prescribed to a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ancient devices. In the abacus, Roman or Chinese, a number is a position of beads: the data are physically represented, and the operations are movements of the hand. The Antikythera mechanism, built in Greece around the second or first century BC, goes further: a train of gears computes the positions of the Sun and the Moon and predicts eclipses. A number is the angle of a wheel, and the calculation is built into the ratios of the gears. Keep the sentence under the pictures: representation comes before calculation.
For the lecturer: The dating of the Antikythera mechanism is debated: most estimates fall between about 205 and 60 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the ninth and the thirteenth century the Islamic world contributes instruments, methods and words. Instruments: the astrolabe and the torquetum, for astronomy. Methods: al-Kindi invents frequency analysis, the first systematic technique for breaking a cipher. Machines: the automatic flute player of the Banu Musa brothers and the automata of al-Jazari are driven by sequences that can be changed, an early form of program. And words: algorithm comes from the name of al-Khwarizmi, algebra from the title of his book.
For the lecturer: The source slide dated the period to the 11th-12th century; the people named here span the 9th to the early 13th.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development run in parallel from 1600 to 1800. The first is mechanical calculation: Napier's logarithms, Pascal's machine that adds with an automatic carry, Leibniz's machine for the four operations. The second is logic: Leibniz describes binary arithmetic in 1703, and in 1854 Boole turns logic into an algebra, the one you will study in Lectures 08 and 09. A third thread appears in 1804: Jacquard's loom weaves a pattern stored on punched cards. Change the cards and the same machine does something else.
For the lecturer: Corrections to the source slide: Boole's Laws of Thought is 1854 (not 1864); Leibniz's paper on binary arithmetic was published in 1703.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designs two machines. The Difference Engine computes mathematical tables automatically. The Analytical Engine is far more ambitious, and its parts have names that should already sound familiar: a mill that does the arithmetic, a control unit, a store that holds numbers, an output device; programs and data arrive on punched cards, as in the loom. It was never completed. Ada Lovelace wrote for it a method to compute Bernoulli numbers, published in 1843: for this she is regarded as the first programmer in history.
For the lecturer: Ada Lovelace's notes on the Analytical Engine (1843) contain what is regarded as the first published program, for computing Bernoulli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twentieth century the idea of a universal machine is first defined on paper and then built. Three slides: the theory, the architecture that carries von Neumann's name, and eight decades of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theory comes before the machines. In 1936 Alan Turing defines an abstract machine that can carry out any computation, and with it the very notion of what is computable. In the 1930s Nakajima and Shannon show that Boolean algebra describes circuits made of switches: this is the bridge between logic and electronics on which all digital design rests, and it is the reason why you will study Boolean algebra. In 1941 Konrad Zuse completes the Z3, the first working computer controlled by a program.
For the lecturer: The Boolean algebra of Lectures 08 and 09 is exactly the Nakajima-Shannon bridge between logic and circuits.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central slide of the lecture. In 1945 von Neumann describes an architecture with one decisive idea: program and data are kept in the same memory, so a program is itself data. The diagram shows the four units: the memory, the control unit that governs the sequence of operations, the arithmetic logic unit with its accumulator, and input and output. Now look back at Lecture 02: the ALU executed addi, the memory held both counter and the instruction 0x00130313, the joystick and the display are input and output. The chip of the kit is still a von Neumann machine.
For the lecturer: Find the four units in Lecture 02: the registers and the ALU executed addi; memory held counter and the instructions themselves (0x00130313); the joystick and the display are input and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decades in one picture, from the machines of the war to the computers hidden in everyday objects. Read the captions from left to right: one machine for a whole country, then for many users, then one per department, one per person, one in the pocket, and finally computers everywhere. Each decade made the computer smaller, cheaper and closer to people. The sentence at the bottom is the point: none of these steps changed the idea of the stored program.
For the lecturer: 1943-45: ENIAC (USA) and Colossus (UK). 1949: EDVAC (USA). The source slide also showed the Macintosh, the Amiga, the IBM PC, the iPad and a self-driving car: the pictures are in tools/assets if you want to add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part of the story explains the processor of the kit. Why does it have a few simple instructions? Why is its instruction set open? And what does it have in common with the home computers of forty years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table as a debate between two ways of designing a processor. The first microprocessors, and the x86 family born in 1978, follow the CISC approach: many instructions, some very complex. Around 1980 Berkeley and Stanford show that few, simple, regular instructions make faster machines: this is RISC, a reduced instruction set. ARM applies it to low power in 1985. In 2010 the fifth Berkeley design, RISC-V, takes the further step of making the instruction set an open standard, which Europe now treats as strategic.
For the lecturer: RISC = Reduced Instruction Set Computer; CISC = Complex Instruction Set Computer. Patterson and Hennessy received the 2017 Turing Award for the RISC approach. This slide is new with respect to the Italian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1971 the Intel 4004 had 2,300 transistors; a laptop processor today has tens of billions, ten million times as many. For fifty years the number doubled about every two years. This is Moore's law, which is an observation about an industry and not a law of nature, and its physical limits are now close. When more transistors no longer come for free, progress must come from better architectures. That is why the subject of this course matters more today than twenty years ago.
For the lecturer: Gordon Moore's observation dates from 1965 (revised in 1975). Do not present it as a law of nature.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comparison across forty years. The Commodore 64 had an 8-bit processor with three registers, a clock of about 1 MHz and 64 KB of memory; the ESP32-C6 has 32 bits, thirty-two registers, 160 MHz and an address space of 4 GB. Yet the screen is the same size, 320 by 200 pixels, and so is the spirit: a machine small enough for one person to understand entirely. The difference that matters to you is in the row of the instruction set: proprietary then, an open standard now.
For the lecturer: The source deck ended with the easy6502 simulator (skilldrick.github.io/easy6502), still a pleasant visit. PRG32 keeps the same immediacy, 320 by 200 included, on the architecture the students will meet in industry.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Pong, Breakout, Tetris and Asteroids are example cartridges of PRG32. They are used in this course as specimens, the way a biologist uses a simple organism: each is small enough to be read entirely, and yet contains everything that matters in a program: state, input, arithmetic, decisions and a loop. When you later study a topic, ask yourself where it appears in one of these games.
For the lecturer: All four are example cartridges in the PRG32 repository (examples/games).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lecture closes by placing informatics among the other disciplines, with an example that comes from this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 a storm from left to right. It is first a natural phenomenon. Physics and mathematics describe it with equations. Informatics turns the equations into algorithms and simulations. Engineering provides the supercomputers, networks and sensors that run them reliably. The economy receives forecasts and services that have value for people. Informatics is the link in the middle: without it the equations stay on paper. The example is real: the weather and sea forecasts of the Department are computed every day in this way.
For the lecturer: The source slide showed portraits and pictures for each stage (equations, forecast maps, a hurricane, the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pictures show a teaching cluster of the University and the page of its research computing facilities. A cluster is many computers that work together on one problem. The ideas are those you practise on the kit: registers, memory, instructions, only in far greater number and with the added problem of making the parts cooperate. The last lecture of the course returns to these machines, and the closing event includes a visit to them.
For the lecturer: The closing event of the course includes a visit to the supercomputing systems of the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the idea, not for a detail. The number of registers and the duration of an instruction vary from one processor to another, and input and output are one of the four units, not an option. What defines the architecture is that instructions are kept in the same memory as data, and are fetched and executed one after another.
For the lecturer: Answer: B. The stored-program concept: instructions are data in memory, fetched and executed one after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Speed is a property of a particular chip, not of an instruction set, and RISC-V was not the first RISC: Berkeley RISC, MIPS and ARM came before. Nor is it limited to microcontrollers. What is new is the licence: the instruction set is an open standard that anyone may implement.
For the lecturer: Answer: C. RISC-V is an open standard instruction set architecture; anyone may design and sell a RISC-V processor without an architecture licence. It was not the first RISC (Berkeley RISC, MIPS, ARM came earlier).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names belong to the story, with different roles. Babbage designed the machine. Turing defined computation, a century later. Zuse built the first working programmable computer. The person who wrote a procedure for a machine, and published it in 1843, is Ada Lovelace.
For the lecturer: Answer: C. Ada Lovelace, for her 1843 notes on the Analytical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exercises. The first asks you to draw the four units and to place in each something from the program of Lecture 02: it checks that the architecture is not an abstract diagram for you. The second asks you to classify six inventions as ways of representing information or of prescribing operations; the stored program is the interesting case, because it unifies the two. The third is on the machine: use the counters of the debugger to compare how many instructions two games execute per frame.
For the lecturer: Representing: abacus, Pascaline (digits as wheel positions), Boole's algebra. Prescribing: the Jacquard loom, the cards of the Analytical Engine, the stored program, which unifies the two: a program is itself represented information. The third exercise has no fixed answer: the counters depend on the game and on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terms. Note that Italian has two words for the machine, calcolatore and elaboratore, both older than the borrowed computer. Stored program is the idea of von Neumann. The control unit and the arithmetic logic unit, ALU, are two of the four units, and you will meet them again in the lectures on the processor. High-performance computing, HPC, is the field of the clusters you have just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conclusions. Computing is older than electronics: representation and procedure came first. The stored-program computer of 1945 is the machine we still program. RISC made processors simple enough to be understood whole, and RISC-V made them open. And informatics is everywhere, because information belongs to every field. The readings give the same story at greater length. The next lecture takes the first formal step: how information becomes bits.
For the lecturer: Next lecture: how information becomes bits.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image" Target="../media/image-15-9.jpg"/><Relationship Id="rId10" Type="http://schemas.openxmlformats.org/officeDocument/2006/relationships/slideLayout" Target="../slideLayouts/slideLayout2.xml"/><Relationship Id="rId11"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2.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From the abacus to an open processor you can program yourself</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and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713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884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Define informatics and say why it is not the science of computers</a:t>
            </a:r>
            <a:endParaRPr lang="en-US" sz="2200" dirty="0"/>
          </a:p>
        </p:txBody>
      </p:sp>
      <p:sp>
        <p:nvSpPr>
          <p:cNvPr id="5" name="Text 3"/>
          <p:cNvSpPr txBox="1"/>
          <p:nvPr/>
        </p:nvSpPr>
        <p:spPr>
          <a:xfrm>
            <a:off x="548640" y="23332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149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Place the key machines and people on a timeline, from the abacus to the stored-program computer</a:t>
            </a:r>
            <a:endParaRPr lang="en-US" sz="2200" dirty="0"/>
          </a:p>
        </p:txBody>
      </p:sp>
      <p:sp>
        <p:nvSpPr>
          <p:cNvPr id="7" name="Text 5"/>
          <p:cNvSpPr txBox="1"/>
          <p:nvPr/>
        </p:nvSpPr>
        <p:spPr>
          <a:xfrm>
            <a:off x="548640" y="34721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45389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Name the four units of the von Neumann architecture and find them in the machine you programmed last time</a:t>
            </a:r>
            <a:endParaRPr lang="en-US" sz="2200" dirty="0"/>
          </a:p>
        </p:txBody>
      </p:sp>
      <p:sp>
        <p:nvSpPr>
          <p:cNvPr id="9" name="Text 7"/>
          <p:cNvSpPr txBox="1"/>
          <p:nvPr/>
        </p:nvSpPr>
        <p:spPr>
          <a:xfrm>
            <a:off x="548640" y="461111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9282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what RISC means and why RISC-V is an open instruction set</a:t>
            </a:r>
            <a:endParaRPr lang="en-US" sz="2200" dirty="0"/>
          </a:p>
        </p:txBody>
      </p:sp>
      <p:sp>
        <p:nvSpPr>
          <p:cNvPr id="11" name="Text 9"/>
          <p:cNvSpPr txBox="1"/>
          <p:nvPr/>
        </p:nvSpPr>
        <p:spPr>
          <a:xfrm>
            <a:off x="548640" y="55072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8894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Describe where informatics sits between science, engineering and the economy</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01</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What is informatics?</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definition</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Informatics</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The applied science that deals with the treatment of information by means of automated procedures.</a:t>
            </a:r>
            <a:endParaRPr lang="en-US" sz="2400" dirty="0"/>
          </a:p>
        </p:txBody>
      </p:sp>
      <p:sp>
        <p:nvSpPr>
          <p:cNvPr id="6" name="Shape 4"/>
          <p:cNvSpPr/>
          <p:nvPr/>
        </p:nvSpPr>
        <p:spPr>
          <a:xfrm>
            <a:off x="548640" y="3487928"/>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6600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Italian informatica, from the French informatique: information automatique</a:t>
            </a:r>
            <a:endParaRPr lang="en-US" sz="2400" dirty="0"/>
          </a:p>
        </p:txBody>
      </p:sp>
      <p:sp>
        <p:nvSpPr>
          <p:cNvPr id="8" name="Shape 6"/>
          <p:cNvSpPr/>
          <p:nvPr/>
        </p:nvSpPr>
        <p:spPr>
          <a:xfrm>
            <a:off x="548640" y="4688840"/>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56692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English: computer science, and increasingly informatics</a:t>
            </a:r>
            <a:endParaRPr lang="en-US" sz="2400" dirty="0"/>
          </a:p>
        </p:txBody>
      </p:sp>
      <p:sp>
        <p:nvSpPr>
          <p:cNvPr id="10" name="Shape 8"/>
          <p:cNvSpPr/>
          <p:nvPr/>
        </p:nvSpPr>
        <p:spPr>
          <a:xfrm>
            <a:off x="548640" y="5517896"/>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395976"/>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tool: elaboratore in Italian, ordinateur in French, computer in English</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554480"/>
            <a:ext cx="11094415" cy="27432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Computer science is no more about computers than astronomy is about telescopes.</a:t>
            </a:r>
            <a:endParaRPr lang="en-US" sz="4400" dirty="0"/>
          </a:p>
        </p:txBody>
      </p:sp>
      <p:sp>
        <p:nvSpPr>
          <p:cNvPr id="6" name="Text 4"/>
          <p:cNvSpPr txBox="1"/>
          <p:nvPr/>
        </p:nvSpPr>
        <p:spPr>
          <a:xfrm>
            <a:off x="548640" y="4480560"/>
            <a:ext cx="11094415" cy="137160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Attributed to Edsger W. Dijkstra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 souls, one discipline</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Theoretical informatics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The theoretical foundations of information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Computation at the logical level: what can be computed, and at what cost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Algorithms: a finite set of operations that describe the transformation from A to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informatics</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Enabling technologies and information systems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Pervasive: a driver of economic development and of the ICT sector</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 STEM discipline at the heart of an industrial revolution</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With a social cost to manage: the digital divide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02</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Before electricity</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Three thousand years of machines that help people calculate.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Origins: the abacus and the Antikythera mechanism</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172505"/>
            <a:ext cx="2293544" cy="1827190"/>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Roman hand abacus: a physical representation of data and operations</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Chinese suanpan: Babylonians, Chinese, Greeks and Romans all used counting frames</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4224"/>
            <a:ext cx="2293544" cy="2043752"/>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Antikythera mechanism, 2nd-1st century BC: the oldest known geared calculator</a:t>
            </a:r>
            <a:endParaRPr lang="en-US" sz="12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509572" y="1554480"/>
            <a:ext cx="1699103" cy="3063240"/>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Its dials computed astronomical positions and eclipses</a:t>
            </a:r>
            <a:endParaRPr lang="en-US" sz="12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 number becomes a position of beads or the angle of a gear: representation comes before calculation.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medieval Islamic world (9th to 13th century)</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Astronomical instruments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mechanical astrolabe; the torquetum</a:t>
            </a:r>
            <a:endParaRPr lang="en-US" sz="2200" dirty="0"/>
          </a:p>
        </p:txBody>
      </p:sp>
      <p:sp>
        <p:nvSpPr>
          <p:cNvPr id="5" name="Shape 3"/>
          <p:cNvSpPr/>
          <p:nvPr/>
        </p:nvSpPr>
        <p:spPr>
          <a:xfrm>
            <a:off x="548640" y="236313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705"/>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contribution to cryptography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cryptanalysis and frequency analysis (al-Kindi, 9th century)</a:t>
            </a:r>
            <a:endParaRPr lang="en-US" sz="2200" dirty="0"/>
          </a:p>
        </p:txBody>
      </p:sp>
      <p:sp>
        <p:nvSpPr>
          <p:cNvPr id="7" name="Shape 5"/>
          <p:cNvSpPr/>
          <p:nvPr/>
        </p:nvSpPr>
        <p:spPr>
          <a:xfrm>
            <a:off x="548640" y="349690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90477"/>
            <a:ext cx="6565392" cy="159156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Programmable machines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automatic flute player of the Banu Musa brothers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weight-driven clocks and automata of al-Jazari (1206)</a:t>
            </a:r>
            <a:endParaRPr lang="en-US" sz="2200" dirty="0"/>
          </a:p>
        </p:txBody>
      </p:sp>
      <p:sp>
        <p:nvSpPr>
          <p:cNvPr id="9" name="Shape 7"/>
          <p:cNvSpPr/>
          <p:nvPr/>
        </p:nvSpPr>
        <p:spPr>
          <a:xfrm>
            <a:off x="548640" y="525602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49596"/>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word algorithm comes from the name of al-Khwarizmi, as algebra comes from the title of his book</a:t>
            </a:r>
            <a:endParaRPr lang="en-US" sz="22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1835059"/>
            <a:ext cx="3779215" cy="3462203"/>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brass astrolabe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From 1600 to 1800: mechanical calculators and logic</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first mechanical calculators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logarithm tables (Napier,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Blaise Pascal's Pascaline (1642): addition with carry</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Leibniz's stepped reckoner (1673): the four operations</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 and formal mathematics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describes binary arithmetic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logic becomes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Programmable machines</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Jacquard's loom (1804): the pattern is stored on punched cards</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0925"/>
            <a:ext cx="3779215" cy="2070470"/>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 Pascaline: each wheel is one decimal digit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1800s: Charles Babbage and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892303"/>
            <a:ext cx="3240938" cy="238759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Difference Engine: automatic computation of mathematical tables</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501828" y="1554480"/>
            <a:ext cx="3188039"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Analytical Engine: a mill (arithmetic unit), a control unit, a store (memory) and an output device</a:t>
            </a:r>
            <a:endParaRPr lang="en-US" sz="12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9001690" y="1554480"/>
            <a:ext cx="1767472"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400" dirty="0">
                <a:solidFill>
                  <a:srgbClr val="1B2530"/>
                </a:solidFill>
                <a:latin typeface="Calibri" pitchFamily="34" charset="0"/>
                <a:ea typeface="Calibri" pitchFamily="34" charset="-122"/>
                <a:cs typeface="Calibri" pitchFamily="34" charset="-120"/>
              </a:rPr>
              <a:t>Programs and data on punched cards, borrowed from the Jacquard loom</a:t>
            </a:r>
            <a:endParaRPr lang="en-US" sz="14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devised a method for programming the Analytical Engine: she is regarded as the first programmer in history.</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03</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twentieth century</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The idea of a universal machine, and the machines that made it real.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Theory first: Turing, Shannon and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an abstract universal machine defines what can be computed</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at Bletchley Park he works on breaking the German Enigma cipher</a:t>
            </a:r>
            <a:endParaRPr lang="en-US" sz="2000" dirty="0"/>
          </a:p>
        </p:txBody>
      </p:sp>
      <p:sp>
        <p:nvSpPr>
          <p:cNvPr id="5" name="Shape 3"/>
          <p:cNvSpPr/>
          <p:nvPr/>
        </p:nvSpPr>
        <p:spPr>
          <a:xfrm>
            <a:off x="548640" y="328079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189859"/>
            <a:ext cx="6565392" cy="1173226"/>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and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switching-circuit theory (1930s): Boolean algebra describes circuits of switches</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the principle on which all digital design rests</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the first working computer controlled by a program</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shown in 1998 to be Turing-complete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one of the first computers to be sold commercially</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8278425" y="1417320"/>
            <a:ext cx="2950046" cy="4297680"/>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An Enigma cipher machine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the stored-program computer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hardware architecture for programmable digital computers (EDVAC report, 1945)</a:t>
            </a:r>
            <a:endParaRPr lang="en-US" sz="2200" dirty="0"/>
          </a:p>
        </p:txBody>
      </p:sp>
      <p:sp>
        <p:nvSpPr>
          <p:cNvPr id="5" name="Shape 3"/>
          <p:cNvSpPr/>
          <p:nvPr/>
        </p:nvSpPr>
        <p:spPr>
          <a:xfrm>
            <a:off x="548640" y="235754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1117"/>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Program and data share the same memory: a program is data</a:t>
            </a:r>
            <a:endParaRPr lang="en-US" sz="2200" dirty="0"/>
          </a:p>
        </p:txBody>
      </p:sp>
      <p:sp>
        <p:nvSpPr>
          <p:cNvPr id="7" name="Shape 5"/>
          <p:cNvSpPr/>
          <p:nvPr/>
        </p:nvSpPr>
        <p:spPr>
          <a:xfrm>
            <a:off x="548640" y="31913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84915"/>
            <a:ext cx="5833872" cy="225348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Four essential units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control unit: governs the sequence of operations</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arithmetic logic unit (ALU), with its accumulator register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memory</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input and output</a:t>
            </a:r>
            <a:endParaRPr lang="en-US" sz="2200" dirty="0"/>
          </a:p>
        </p:txBody>
      </p:sp>
      <p:sp>
        <p:nvSpPr>
          <p:cNvPr id="9" name="Shape 7"/>
          <p:cNvSpPr/>
          <p:nvPr/>
        </p:nvSpPr>
        <p:spPr>
          <a:xfrm>
            <a:off x="548640" y="559689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90464"/>
            <a:ext cx="583387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ESP32-C6 you programmed is still a von Neumann machine</a:t>
            </a:r>
            <a:endParaRPr lang="en-US" sz="22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Memory</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 and data</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Control</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unit</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Input</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Output</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Eight decades of computers</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2008174"/>
            <a:ext cx="988873" cy="555652"/>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Wartime</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132"/>
            <a:ext cx="988873" cy="1283737"/>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Military and government</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61483"/>
            <a:ext cx="988873" cy="649035"/>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Mainframe computing</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one machine, many users</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626377"/>
            <a:ext cx="988873" cy="1319246"/>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Minicomputers</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department</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643"/>
            <a:ext cx="988873" cy="558713"/>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computing</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per person</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47882"/>
            <a:ext cx="988873" cy="676237"/>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The 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connect</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158724" y="1490472"/>
            <a:ext cx="853867" cy="1591056"/>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Smartphones and tablets</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a computer in the pocket</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2072098"/>
            <a:ext cx="988873" cy="427803"/>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computing as a service</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791564"/>
            <a:ext cx="988873" cy="988873"/>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and AI</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computers everywhere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Each decade made the computer smaller, cheaper and closer to people; none of them changed the stored-program idea.</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04</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From home computers to RISC-V</a:t>
            </a:r>
            <a:endParaRPr lang="en-US" sz="4400" dirty="0"/>
          </a:p>
        </p:txBody>
      </p:sp>
      <p:sp>
        <p:nvSpPr>
          <p:cNvPr id="7" name="Text 5"/>
          <p:cNvSpPr txBox="1"/>
          <p:nvPr/>
        </p:nvSpPr>
        <p:spPr>
          <a:xfrm>
            <a:off x="548640" y="4343400"/>
            <a:ext cx="11094415" cy="1097280"/>
          </a:xfrm>
          <a:prstGeom prst="rect">
            <a:avLst/>
          </a:prstGeom>
          <a:noFill/>
          <a:ln/>
        </p:spPr>
        <p:txBody>
          <a:bodyPr wrap="square" lIns="0" tIns="0" rIns="0" bIns="0" rtlCol="0" anchor="t"/>
          <a:lstStyle/>
          <a:p>
            <a:pPr indent="0" marL="0">
              <a:buNone/>
            </a:pPr>
            <a:r>
              <a:rPr lang="en-US" sz="2200" dirty="0">
                <a:solidFill>
                  <a:srgbClr val="CFE3EA"/>
                </a:solidFill>
                <a:latin typeface="Calibri" pitchFamily="34" charset="0"/>
                <a:ea typeface="Calibri" pitchFamily="34" charset="-122"/>
                <a:cs typeface="Calibri" pitchFamily="34" charset="-120"/>
              </a:rPr>
              <a:t>Why the processor in your kit is the way it is.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Microprocessors: from CISC to RISC to an open standard</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Year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Milestone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Why it matters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first commercial microprocessor: 2,300 transistors on one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cheap 8-bit CPU: Apple II, Commodore 64, the home-computer 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start of x86, a complex instruction set (CISC) still in today's PCs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Berkeley RISC and Stanford MIPS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few, simple, regular instructions run faster: the RISC idea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for low power: today in nearly every phone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starts at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fifth Berkeley RISC design becomes an open instruction set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then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shared specification, governed from Switzerland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European Chips Act; the DARE project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as a strategy for European technological sovereignty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Moore's law in one number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the Intel 4004 has 2,300 transistors</a:t>
            </a:r>
            <a:endParaRPr lang="en-US" sz="2200" dirty="0"/>
          </a:p>
        </p:txBody>
      </p:sp>
      <p:sp>
        <p:nvSpPr>
          <p:cNvPr id="5" name="Shape 3"/>
          <p:cNvSpPr/>
          <p:nvPr/>
        </p:nvSpPr>
        <p:spPr>
          <a:xfrm>
            <a:off x="548640" y="228638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79955"/>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Today a laptop processor has tens of billions</a:t>
            </a:r>
            <a:endParaRPr lang="en-US" sz="2200" dirty="0"/>
          </a:p>
        </p:txBody>
      </p:sp>
      <p:sp>
        <p:nvSpPr>
          <p:cNvPr id="7" name="Shape 5"/>
          <p:cNvSpPr/>
          <p:nvPr/>
        </p:nvSpPr>
        <p:spPr>
          <a:xfrm>
            <a:off x="548640" y="3049016"/>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94259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fifty years the number of transistors on a chip doubled about every two years</a:t>
            </a:r>
            <a:endParaRPr lang="en-US" sz="2200" dirty="0"/>
          </a:p>
        </p:txBody>
      </p:sp>
      <p:sp>
        <p:nvSpPr>
          <p:cNvPr id="9" name="Shape 7"/>
          <p:cNvSpPr/>
          <p:nvPr/>
        </p:nvSpPr>
        <p:spPr>
          <a:xfrm>
            <a:off x="548640" y="4152519"/>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46093"/>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physical limits are now close: progress comes from better architectures, specialised accelerators and open designs</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why architecture, the subject of this course, matters more than ever</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growth in transistors per chip from the Intel 4004 (1971) to a current laptop processor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home-computer spirit, on a modern open CPU</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Commodore 64 (1982), MOS 6510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PRG32 on ESP32-C6, RISC-V</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Word size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8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bits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Registers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 X, Y (plus stack pointer, status, PC)</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 general-purpose registers, x0 to x31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Clock</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1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160 MHz</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Address space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64 KB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4 GB</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Instruction set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56 instructions, proprietary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about 40 base instructions plus extensions, open standard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Screen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pixels, 16 colours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320 by 200 viewport, 256-entry RGB565 palette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You program it by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typing on the machine itself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building a cartridge and uploading it</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Same screen size, same immediacy: forty years apart. The 6502 is still fun to explore at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Retro games as specimens</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game_pong.png">    </p:cNvPr>
          <p:cNvPicPr>
            <a:picLocks noChangeAspect="1"/>
          </p:cNvPicPr>
          <p:nvPr/>
        </p:nvPicPr>
        <p:blipFill>
          <a:blip r:embed="rId1"/>
          <a:stretch>
            <a:fillRect/>
          </a:stretch>
        </p:blipFill>
        <p:spPr>
          <a:xfrm>
            <a:off x="685800" y="2226021"/>
            <a:ext cx="2293544" cy="1720158"/>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Pong</a:t>
            </a:r>
            <a:endParaRPr lang="en-US" sz="15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game_breakout.pn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Breakout</a:t>
            </a:r>
            <a:endParaRPr lang="en-US" sz="15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game_tetris.png">    </p:cNvPr>
          <p:cNvPicPr>
            <a:picLocks noChangeAspect="1"/>
          </p:cNvPicPr>
          <p:nvPr/>
        </p:nvPicPr>
        <p:blipFill>
          <a:blip r:embed="rId3"/>
          <a:stretch>
            <a:fillRect/>
          </a:stretch>
        </p:blipFill>
        <p:spPr>
          <a:xfrm>
            <a:off x="6370168" y="2226021"/>
            <a:ext cx="2293544" cy="1720158"/>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Tetris</a:t>
            </a:r>
            <a:endParaRPr lang="en-US" sz="15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game_asteroids.png">    </p:cNvPr>
          <p:cNvPicPr>
            <a:picLocks noChangeAspect="1"/>
          </p:cNvPicPr>
          <p:nvPr/>
        </p:nvPicPr>
        <p:blipFill>
          <a:blip r:embed="rId4"/>
          <a:stretch>
            <a:fillRect/>
          </a:stretch>
        </p:blipFill>
        <p:spPr>
          <a:xfrm>
            <a:off x="9212351" y="2226021"/>
            <a:ext cx="2293544" cy="17201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Asteroids</a:t>
            </a:r>
            <a:endParaRPr lang="en-US" sz="15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 retro game is small enough to hold in your head and rich enough to exercise state, input, arithmetic, decisions and a loop: the whole course.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548640" y="640080"/>
            <a:ext cx="168250" cy="168250"/>
          </a:xfrm>
          <a:prstGeom prst="rect">
            <a:avLst/>
          </a:prstGeom>
          <a:solidFill>
            <a:srgbClr val="0E7C86"/>
          </a:solidFill>
          <a:ln w="12700">
            <a:solidFill>
              <a:srgbClr val="0E7C86"/>
            </a:solidFill>
            <a:prstDash val="solid"/>
          </a:ln>
        </p:spPr>
      </p:sp>
      <p:sp>
        <p:nvSpPr>
          <p:cNvPr id="3" name="Shape 1"/>
          <p:cNvSpPr/>
          <p:nvPr/>
        </p:nvSpPr>
        <p:spPr>
          <a:xfrm>
            <a:off x="731520" y="640080"/>
            <a:ext cx="168250" cy="168250"/>
          </a:xfrm>
          <a:prstGeom prst="rect">
            <a:avLst/>
          </a:prstGeom>
          <a:solidFill>
            <a:srgbClr val="C7791B"/>
          </a:solidFill>
          <a:ln w="12700">
            <a:solidFill>
              <a:srgbClr val="C7791B"/>
            </a:solidFill>
            <a:prstDash val="solid"/>
          </a:ln>
        </p:spPr>
      </p:sp>
      <p:sp>
        <p:nvSpPr>
          <p:cNvPr id="4" name="Shape 2"/>
          <p:cNvSpPr/>
          <p:nvPr/>
        </p:nvSpPr>
        <p:spPr>
          <a:xfrm>
            <a:off x="731520" y="822960"/>
            <a:ext cx="168250" cy="168250"/>
          </a:xfrm>
          <a:prstGeom prst="rect">
            <a:avLst/>
          </a:prstGeom>
          <a:solidFill>
            <a:srgbClr val="0E7C86"/>
          </a:solidFill>
          <a:ln w="12700">
            <a:solidFill>
              <a:srgbClr val="0E7C86"/>
            </a:solidFill>
            <a:prstDash val="solid"/>
          </a:ln>
        </p:spPr>
      </p:sp>
      <p:sp>
        <p:nvSpPr>
          <p:cNvPr id="5" name="Text 3"/>
          <p:cNvSpPr txBox="1"/>
          <p:nvPr/>
        </p:nvSpPr>
        <p:spPr>
          <a:xfrm>
            <a:off x="548640" y="1828800"/>
            <a:ext cx="2743200" cy="1097280"/>
          </a:xfrm>
          <a:prstGeom prst="rect">
            <a:avLst/>
          </a:prstGeom>
          <a:noFill/>
          <a:ln/>
        </p:spPr>
        <p:txBody>
          <a:bodyPr wrap="square" lIns="0" tIns="0" rIns="0" bIns="0" rtlCol="0" anchor="ctr"/>
          <a:lstStyle/>
          <a:p>
            <a:pPr indent="0" marL="0">
              <a:buNone/>
            </a:pPr>
            <a:r>
              <a:rPr lang="en-US" sz="7200" b="1" dirty="0">
                <a:solidFill>
                  <a:srgbClr val="C7791B"/>
                </a:solidFill>
                <a:latin typeface="Cambria" pitchFamily="34" charset="0"/>
                <a:ea typeface="Cambria" pitchFamily="34" charset="-122"/>
                <a:cs typeface="Cambria" pitchFamily="34" charset="-120"/>
              </a:rPr>
              <a:t>05</a:t>
            </a:r>
            <a:endParaRPr lang="en-US" sz="7200" dirty="0"/>
          </a:p>
        </p:txBody>
      </p:sp>
      <p:sp>
        <p:nvSpPr>
          <p:cNvPr id="6" name="Text 4"/>
          <p:cNvSpPr txBox="1"/>
          <p:nvPr/>
        </p:nvSpPr>
        <p:spPr>
          <a:xfrm>
            <a:off x="548640" y="3017520"/>
            <a:ext cx="11094415" cy="11887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Informatics as an applied science</a:t>
            </a:r>
            <a:endParaRPr lang="en-US" sz="4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Where informatics sits</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Natural phenomenon</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a storm forms over the sea</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Basic sciences</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physics and mathematics describe it with equations</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Applied sciences</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informatics turns the equations into algorithms and simulations</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Engineering</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supercomputers, networks and sensors run them reliably</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Economy</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forecasts and services reach people and create value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An example from this Department: the weather and marine forecasts of meteo.uniparthenope.it, computed every day on our own high-performance systems.</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High-performance computing at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cluster_1.jpg">    </p:cNvPr>
          <p:cNvPicPr>
            <a:picLocks noChangeAspect="1"/>
          </p:cNvPicPr>
          <p:nvPr/>
        </p:nvPicPr>
        <p:blipFill>
          <a:blip r:embed="rId1"/>
          <a:stretch>
            <a:fillRect/>
          </a:stretch>
        </p:blipFill>
        <p:spPr>
          <a:xfrm>
            <a:off x="685800" y="1870748"/>
            <a:ext cx="3240938" cy="2430704"/>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A teaching cluster: mini PCs with GPUs on a 10 Gbit network</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2.jpg">    </p:cNvPr>
          <p:cNvPicPr>
            <a:picLocks noChangeAspect="1"/>
          </p:cNvPicPr>
          <p:nvPr/>
        </p:nvPicPr>
        <p:blipFill>
          <a:blip r:embed="rId2"/>
          <a:stretch>
            <a:fillRect/>
          </a:stretch>
        </p:blipFill>
        <p:spPr>
          <a:xfrm>
            <a:off x="4475378" y="1870748"/>
            <a:ext cx="3240938" cy="2430704"/>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The same cluster running a parallel simulation</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The same ideas you practise on a 160 MHz microcontroller scale up to clusters: registers, memory, instructions, only many more of them.</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Which idea is the heart of the von Neumann architecture?</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The processor has exactly four registers</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Program and data are stored in the same memory</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Every instruction takes one clock cycle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Input and output are optional</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What makes RISC-V different from x86 and ARM?</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is the fastest instruction set</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was the first RISC architecture</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Its instruction set is an open standard, free to implement</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It works only on microcontrollers</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Who is regarded as the first programmer in history?</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four units of the von Neumann architecture and write, inside each, one thing of the program of Lecture 02 that lives or happens there</a:t>
            </a:r>
            <a:endParaRPr lang="en-US" sz="2200" dirty="0"/>
          </a:p>
        </p:txBody>
      </p:sp>
      <p:sp>
        <p:nvSpPr>
          <p:cNvPr id="6" name="Text 4"/>
          <p:cNvSpPr txBox="1"/>
          <p:nvPr/>
        </p:nvSpPr>
        <p:spPr>
          <a:xfrm>
            <a:off x="548640" y="232079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02510"/>
            <a:ext cx="10436047"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each of these, say whether it is a new way of representing information or of prescribing operations: the abacus, the Jacquard loom, the Pascaline, Boole's algebra, the punched cards of the Analytical Engine, the stored program</a:t>
            </a:r>
            <a:endParaRPr lang="en-US" sz="2200" dirty="0"/>
          </a:p>
        </p:txBody>
      </p:sp>
      <p:sp>
        <p:nvSpPr>
          <p:cNvPr id="8" name="Text 6"/>
          <p:cNvSpPr txBox="1"/>
          <p:nvPr/>
        </p:nvSpPr>
        <p:spPr>
          <a:xfrm>
            <a:off x="548640" y="38877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869436"/>
            <a:ext cx="10436047"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two of the four retro games from the Store, or build them from examples/games; with the counters of the debugger find how many instructions each executes per frame, and compare</a:t>
            </a:r>
            <a:endParaRPr lang="en-US" sz="2200" dirty="0"/>
          </a:p>
        </p:txBody>
      </p:sp>
      <p:sp>
        <p:nvSpPr>
          <p:cNvPr id="10" name="Shape 8"/>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1" name="Text 9"/>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2" name="Text 10"/>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Registers and ALU: addi executed. Memory: counter and the instructions themselves. Control unit: the fetch of each instruction. Input/output: the bar on the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Computing is older than electronics: representation and procedure came first</a:t>
            </a:r>
            <a:endParaRPr lang="en-US" sz="2200" dirty="0"/>
          </a:p>
        </p:txBody>
      </p:sp>
      <p:sp>
        <p:nvSpPr>
          <p:cNvPr id="5" name="Shape 3"/>
          <p:cNvSpPr/>
          <p:nvPr/>
        </p:nvSpPr>
        <p:spPr>
          <a:xfrm>
            <a:off x="548640" y="220859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10216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stored-program computer of 1945 is still the machine we program today</a:t>
            </a:r>
            <a:endParaRPr lang="en-US" sz="2200" dirty="0"/>
          </a:p>
        </p:txBody>
      </p:sp>
      <p:sp>
        <p:nvSpPr>
          <p:cNvPr id="7" name="Shape 5"/>
          <p:cNvSpPr/>
          <p:nvPr/>
        </p:nvSpPr>
        <p:spPr>
          <a:xfrm>
            <a:off x="548640" y="289344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87015"/>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RISC made processors simple enough to understand whole; RISC-V made them open</a:t>
            </a:r>
            <a:endParaRPr lang="en-US" sz="2200" dirty="0"/>
          </a:p>
        </p:txBody>
      </p:sp>
      <p:sp>
        <p:nvSpPr>
          <p:cNvPr id="9" name="Shape 7"/>
          <p:cNvSpPr/>
          <p:nvPr/>
        </p:nvSpPr>
        <p:spPr>
          <a:xfrm>
            <a:off x="548640" y="391915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81273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Informatics is pervasive: digital information belongs to every field, data are its currency, algorithms turn data into decisions</a:t>
            </a:r>
            <a:endParaRPr lang="en-US" sz="2200" dirty="0"/>
          </a:p>
        </p:txBody>
      </p:sp>
      <p:sp>
        <p:nvSpPr>
          <p:cNvPr id="11" name="Shape 9"/>
          <p:cNvSpPr/>
          <p:nvPr/>
        </p:nvSpPr>
        <p:spPr>
          <a:xfrm>
            <a:off x="548640" y="49448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38446"/>
            <a:ext cx="10710367" cy="133375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chapter 1</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1: Why a Game, Why RISC-V, Why Now</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dc:title>
  <dc:subject>Lecture 03</dc:subject>
  <dc:creator>Raffaele Montella</dc:creator>
  <cp:lastModifiedBy>Raffaele Montella</cp:lastModifiedBy>
  <cp:revision>1</cp:revision>
  <dcterms:created xsi:type="dcterms:W3CDTF">2026-10-12T11:28:38Z</dcterms:created>
  <dcterms:modified xsi:type="dcterms:W3CDTF">2026-10-12T11:28:38Z</dcterms:modified>
</cp:coreProperties>
</file>