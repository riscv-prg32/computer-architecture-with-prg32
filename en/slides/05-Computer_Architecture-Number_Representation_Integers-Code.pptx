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76d5a7a-956a-306b-c55e-2275d7ed1a09}">
          <p14:sldIdLst>
            <p14:sldId id="256"/>
            <p14:sldId id="257"/>
          </p14:sldIdLst>
        </p14:section>
        <p14:section name="Warm-up on the machine" id="{5e6741bb-8968-f7de-dea8-d115bcc4f5a7}">
          <p14:sldIdLst>
            <p14:sldId id="258"/>
          </p14:sldIdLst>
        </p14:section>
        <p14:section name="Natural numbers and overflow" id="{e6fafd12-30eb-09b2-267f-0eb07276e021}">
          <p14:sldIdLst>
            <p14:sldId id="259"/>
          </p14:sldIdLst>
        </p14:section>
        <p14:section name="Signed integers" id="{6cf32fa1-5a5b-3e03-9c17-3e49b1f63f37}">
          <p14:sldIdLst>
            <p14:sldId id="260"/>
          </p14:sldIdLst>
        </p14:section>
        <p14:section name="Back to the machine" id="{5c5616c2-78e4-e170-6509-1fa4aa58b5bc}">
          <p14:sldIdLst>
            <p14:sldId id="261"/>
            <p14:sldId id="262"/>
            <p14:sldId id="263"/>
            <p14:sldId id="264"/>
          </p14:sldIdLst>
        </p14:section>
        <p14:section name="The complete program" id="{709555a5-1d78-35e6-2068-f39b2b94205c}">
          <p14:sldIdLst>
            <p14:sldId id="265"/>
            <p14:sldId id="266"/>
            <p14:sldId id="267"/>
            <p14:sldId id="268"/>
            <p14:sldId id="269"/>
          </p14:sldIdLst>
        </p14:section>
        <p14:section name="Run it and test it" id="{b0c03113-1d23-c119-85f9-6fcc157916d8}">
          <p14:sldIdLst>
            <p14:sldId id="270"/>
            <p14:sldId id="271"/>
            <p14:sldId id="272"/>
            <p14:sldId id="273"/>
            <p14:sldId id="274"/>
          </p14:sldIdLst>
        </p14:section>
        <p14:section name="Exercises" id="{7519c38a-bb60-a782-994a-2074b113bddb}">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05. The lecture deck holds the concepts; this one holds everything you type and run: the listings with their explanation, the complete program, what it shows, and the way to test it on each of the three hosts.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two's complement; base conversions; naturals and overflow; shifts as multiplications; sign and magnitude; signed or unsigned instructions; sign extension. USE NOW: the PRG32 runtime calls, the complete program, the PRG32 tools (used, not studied, in this course). UNDERSTAND LATER: nothing. A slide without a badge is context: a story, an example, a question, an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deck contains, in the order of the slides. The program of the lecture is a file that you can build and run as it is: start from there, and come back to the listings to understand each part. The program of this lecture is ~/arc12/code/l05.S; tools/tests/cartridges/run.py builds it, runs it on PRG32-QT with scripted input and checks the pixels of the frame.
For the lecturer: Get the code once: git clone https://github.com/riscv-prg32/computer-architecture-with-prg32 ~/arc12. The program of this lecture is ~/arc12/code/l05.S;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reads the buttons, loads marker_x from memory, subtracts 1 if LEFT is pressed and stores it back: the load, modify, store of Lecture 02. Hold LEFT and the printed value goes 00000002, 00000001, 00000000, and then FFFFFFFF. Is it a bug? Is FFFFFFFF the number 4,294,967,295, or is it minus one? The fourth callout gives the answer in advance: both, depending on how the bits are read. The rest of the lecture is the set of rules behind that sentence.
UNDERSTAND NOW: two's complement. USE NOW: the PRG32 runtime calls (used, not studied, in this course).
For the lecturer: Adapted from textbook lab 06-asm-state-and-input (step2_move.S) with SPEED 1 and a console print. Where to look: on the board and in QEMU the console is drawn on the screen, as 0x00000002 ... 0xffffffff; PRG32-QT does not draw the console, it collects it in its log, as 00000002 ... FFFFFFFF. Run it live before any theory, and write the students' guesses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properties of binary strings, each with a use. Adding zeros on the left does not change the value. Shifting left by k positions multiplies by 2 to the k: 00101, five, becomes 01010, ten. Shifting right by k divides by 2 to the k and discards the remainder. A shift is far cheaper for a circuit than a multiplication, and the code on the right shows the trick that compilers use: ten times x is eight times x plus two times x, two shifts and an addition.
UNDERSTAND NOW: shifts as multiplications.
For the lecturer: You used slli t1, t1, 2 in Lecture 04 to multiply an array index by four. Shifts are also the basis of fixed-point arithmetic (Lecture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change the sign of a number there are two methods. First: complement every bit, then add 1; six, 0110, becomes 1001 and then 1010, minus six. Second, faster by hand: starting from the right, copy the bits up to and including the first 1, and complement all the others. The code shows that RISC-V does not even need an instruction for this: neg is a pseudo-instruction for sub from the register zero. One exception: the most negative number has no positive partner, and negating it returns the number itself.
UNDERSTAND NOW: two's complement.
For the lecturer: Why method 1 works: the complement of x is (2^n - 1) - x, so adding 1 gives 2^n - x. The source slide described method 2 'from the left'; the rule scans from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warm-up can be explained completely. The marker was at 0, and addi with minus 1 moved one step back on a wheel of 2 to the 32 positions: the register now holds thirty-two ones. Read as unsigned they are 4,294,967,295; in two's complement they are minus 1. The function that prints shows the pattern and takes no side. The marker disappears because it is drawn off the screen in both readings. It was never a bug of the processor: the program lacked a decision.
UNDERSTAND NOW: signed or unsigned instructions.
For the lecturer: Not a bug in the processor: a missing decision in the program. The fix is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RISC-V registers have no type: thirty-two bits are signed or unsigned only for the instruction that reads them. The table shows where the two readings need different instructions. Addition, subtraction and the low part of a product are the same. Comparisons, branches, right shifts, loads of a byte, and division come in pairs: slt and sltu, blt and bltu, sra and srl, lb and lbu, div and divu. The letter u in the name always means unsigned. Choosing the wrong member of a pair is a classic error.
UNDERSTAND NOW: signed or unsigned instructions.
For the lecturer: RISC-V registers have no type. The same 32 bits are signed or unsigned only in the eye of the instruction that reads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corrected program keeps the marker on the screen. After the two possible steps, bgez asks whether the position is greater than or equal to zero, reading it as a signed number: if not, the position is set to 0. Then ble compares it with the maximum, 304, again as signed, and limits it. This is called clamping. Note the method: a game does not detect the overflow afterwards; it keeps its values inside a range where overflow cannot happen. One sw at the end stores the adjusted value.
UNDERSTAND NOW: signed or unsigned instructions.
For the lecturer: Source: textbook lab 06-asm-state-and-input, step3_clamp.S. Ask what happens with bgeu or bltu instead: an instructive bug to 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processors have a carry flag and an overflow flag; RISC-V has neither, and an overflow is detected with a comparison. Unsigned: after add, if the sum is smaller than one of the operands, the sum has wrapped around; sltu tests it in one instruction. Signed: adding a negative number must make the sum smaller, adding a non-negative one must not; if the two facts disagree, there was an overflow. Compare with the wheel: the first test detects the crossing at the top, the second the crossing at the bottom.
UNDERSTAND NOW: signed or unsigned instructions.
For the lecturer: Both idioms are the ones suggested in the RISC-V specification. Compare with the wheel: sltu detects crossing the top, the signed test detects crossing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USE NOW: the complete program (used, not studied, in this course).
For the lecturer: code/l05.S,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USE NOW: the complete program (used, not studied, in this course).
For the lecturer: code/l05.S,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USE NOW: the complete program (used, not studied, in this course).
For the lecturer: code/l05.S,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USE NOW: the complete program (used, not studied, in this course).
For the lecturer: code/l05.S,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USE NOW: the complete program (used, not studied, in this course).
For the lecturer: code/l05.S,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program shows when it runs, and what to press. Predict before you run: if the screen differs from this picture, the difference is information. The picture was written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quickest way: PRG32-QT on your own computer. Four steps, each with its command. PRG32-QT behaves like a board on port 8080, which is why the upload command says esp32c6. With debug mode enabled you can stop at any instruction and read registers and memory.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runs the real firmware on an emulated chip, so the cartridge must be built for the architecture qemu. Stage the cartridge while QEMU is closed. The firmware opens on the Setup menu: choose Run Cartridge and the slot. Remember that the keyboard is read by the terminal, not by the window with the picture.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kit. The firmware is written once, through USB; after that cartridges travel over Wi-Fi. The upload command is the one used for PRG32-QT with the address of the board. This is the only host that the automatic tests do not run: try it, and report what you see.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common symptoms, what each means, and what to do. Read the message before changing anything: it nearly always names the cause.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three on paper and two on the machine. Convert 2026 and the fraction 0.1; write minus 100 in two representations; compute three sums on eight bits and say which overflow. Then, in the clamp code, replace the signed branches with the unsigned ones and predict the behaviour before running: it is an instructive bug. Finally write an update that adds 0x10000000 at each frame and signals the signed overflow. The expected results are in the green box: cover it until you have your own.
For the lecturer: 2026 = 3752 octal. -100: sign and magnitude 1110 0100, two's complement 1001 1100. 90 + 60 = 150 overflows; -90 - 60 = -150 overflows; 90 - 60 = 30 does not. 0.1 = 0.00011001(1001...).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05: Number representation (integers)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05</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Number Representation: Integers: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05-Computer_Architecture-Number_Representation_Integers.pptx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lab2_step2_move.png">    </p:cNvPr>
          <p:cNvPicPr>
            <a:picLocks noChangeAspect="1"/>
          </p:cNvPicPr>
          <p:nvPr/>
        </p:nvPicPr>
        <p:blipFill>
          <a:blip r:embed="rId1"/>
          <a:stretch>
            <a:fillRect/>
          </a:stretch>
        </p:blipFill>
        <p:spPr>
          <a:xfrm>
            <a:off x="8716975" y="4280535"/>
            <a:ext cx="2834640" cy="1771650"/>
          </a:xfrm>
          <a:prstGeom prst="rect">
            <a:avLst/>
          </a:prstGeom>
        </p:spPr>
      </p:pic>
      <p:sp>
        <p:nvSpPr>
          <p:cNvPr id="14" name="Shape 11"/>
          <p:cNvSpPr/>
          <p:nvPr/>
        </p:nvSpPr>
        <p:spPr>
          <a:xfrm>
            <a:off x="9690303" y="91440"/>
            <a:ext cx="1952752" cy="274320"/>
          </a:xfrm>
          <a:prstGeom prst="rect">
            <a:avLst/>
          </a:prstGeom>
          <a:solidFill>
            <a:srgbClr val="F3E8FF"/>
          </a:solidFill>
          <a:ln w="12700">
            <a:solidFill>
              <a:srgbClr val="7E22CE"/>
            </a:solidFill>
            <a:prstDash val="dash"/>
          </a:ln>
        </p:spPr>
      </p:sp>
      <p:sp>
        <p:nvSpPr>
          <p:cNvPr id="15" name="Shape 12"/>
          <p:cNvSpPr/>
          <p:nvPr/>
        </p:nvSpPr>
        <p:spPr>
          <a:xfrm>
            <a:off x="9717735" y="128016"/>
            <a:ext cx="45720" cy="45720"/>
          </a:xfrm>
          <a:prstGeom prst="rect">
            <a:avLst/>
          </a:prstGeom>
          <a:solidFill>
            <a:srgbClr val="7E22CE"/>
          </a:solidFill>
          <a:ln w="12700">
            <a:solidFill>
              <a:srgbClr val="7E22CE"/>
            </a:solidFill>
            <a:prstDash val="solid"/>
          </a:ln>
        </p:spPr>
      </p:sp>
      <p:sp>
        <p:nvSpPr>
          <p:cNvPr id="16" name="Shape 13"/>
          <p:cNvSpPr/>
          <p:nvPr/>
        </p:nvSpPr>
        <p:spPr>
          <a:xfrm>
            <a:off x="9717735" y="205740"/>
            <a:ext cx="45720" cy="45720"/>
          </a:xfrm>
          <a:prstGeom prst="rect">
            <a:avLst/>
          </a:prstGeom>
          <a:solidFill>
            <a:srgbClr val="7E22CE"/>
          </a:solidFill>
          <a:ln w="12700">
            <a:solidFill>
              <a:srgbClr val="7E22CE"/>
            </a:solidFill>
            <a:prstDash val="solid"/>
          </a:ln>
        </p:spPr>
      </p:sp>
      <p:sp>
        <p:nvSpPr>
          <p:cNvPr id="17" name="Shape 14"/>
          <p:cNvSpPr/>
          <p:nvPr/>
        </p:nvSpPr>
        <p:spPr>
          <a:xfrm>
            <a:off x="9717735"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19" name="Text 15"/>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0" name="Shape 16"/>
          <p:cNvSpPr/>
          <p:nvPr/>
        </p:nvSpPr>
        <p:spPr>
          <a:xfrm>
            <a:off x="8407349" y="91440"/>
            <a:ext cx="1173226" cy="274320"/>
          </a:xfrm>
          <a:prstGeom prst="rect">
            <a:avLst/>
          </a:prstGeom>
          <a:solidFill>
            <a:srgbClr val="FEF3C7"/>
          </a:solidFill>
          <a:ln w="12700">
            <a:solidFill>
              <a:srgbClr val="B45309"/>
            </a:solidFill>
            <a:prstDash val="solid"/>
          </a:ln>
        </p:spPr>
      </p:sp>
      <p:sp>
        <p:nvSpPr>
          <p:cNvPr id="21" name="Shape 17"/>
          <p:cNvSpPr/>
          <p:nvPr/>
        </p:nvSpPr>
        <p:spPr>
          <a:xfrm>
            <a:off x="8407349" y="91440"/>
            <a:ext cx="27432" cy="274320"/>
          </a:xfrm>
          <a:prstGeom prst="rect">
            <a:avLst/>
          </a:prstGeom>
          <a:solidFill>
            <a:srgbClr val="B45309"/>
          </a:solidFill>
          <a:ln w="12700">
            <a:solidFill>
              <a:srgbClr val="B45309"/>
            </a:solidFill>
            <a:prstDash val="solid"/>
          </a:ln>
        </p:spPr>
      </p:sp>
      <p:sp>
        <p:nvSpPr>
          <p:cNvPr id="22" name="Shape 18"/>
          <p:cNvSpPr/>
          <p:nvPr/>
        </p:nvSpPr>
        <p:spPr>
          <a:xfrm>
            <a:off x="846221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4" name="Text 19"/>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5" name="Shape 20"/>
          <p:cNvSpPr/>
          <p:nvPr/>
        </p:nvSpPr>
        <p:spPr>
          <a:xfrm>
            <a:off x="6518097" y="91440"/>
            <a:ext cx="1779524" cy="274320"/>
          </a:xfrm>
          <a:prstGeom prst="rect">
            <a:avLst/>
          </a:prstGeom>
          <a:solidFill>
            <a:srgbClr val="E0F2FE"/>
          </a:solidFill>
          <a:ln w="12700">
            <a:solidFill>
              <a:srgbClr val="0369A1"/>
            </a:solidFill>
            <a:prstDash val="solid"/>
          </a:ln>
        </p:spPr>
      </p:sp>
      <p:sp>
        <p:nvSpPr>
          <p:cNvPr id="26" name="Shape 21"/>
          <p:cNvSpPr/>
          <p:nvPr/>
        </p:nvSpPr>
        <p:spPr>
          <a:xfrm>
            <a:off x="651809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8" name="Text 22"/>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5 listings of Lecture 05, one per slide: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code/l05.S, 93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Hold LEFT and watch the number</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steer_update: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prg32_input_read      </a:t>
            </a:r>
            <a:pPr indent="0" marL="0">
              <a:buNone/>
            </a:pPr>
            <a:r>
              <a:rPr lang="en-US" sz="1500" dirty="0">
                <a:solidFill>
                  <a:srgbClr val="8FB3A0"/>
                </a:solidFill>
                <a:latin typeface="Courier New" pitchFamily="34" charset="0"/>
                <a:ea typeface="Courier New" pitchFamily="34" charset="-122"/>
                <a:cs typeface="Courier New" pitchFamily="34" charset="-120"/>
              </a:rPr>
              <a:t># a0 = button mask</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mv   t0, a0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t1, marker_x</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t2, 0(t1)             </a:t>
            </a:r>
            <a:pPr indent="0" marL="0">
              <a:buNone/>
            </a:pPr>
            <a:r>
              <a:rPr lang="en-US" sz="1500" dirty="0">
                <a:solidFill>
                  <a:srgbClr val="8FB3A0"/>
                </a:solidFill>
                <a:latin typeface="Courier New" pitchFamily="34" charset="0"/>
                <a:ea typeface="Courier New" pitchFamily="34" charset="-122"/>
                <a:cs typeface="Courier New" pitchFamily="34" charset="-120"/>
              </a:rPr>
              <a:t># t2 = marker_x, starts at 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andi t3, t0, BTN_LEFT      </a:t>
            </a:r>
            <a:pPr indent="0" marL="0">
              <a:buNone/>
            </a:pPr>
            <a:r>
              <a:rPr lang="en-US" sz="1500" dirty="0">
                <a:solidFill>
                  <a:srgbClr val="8FB3A0"/>
                </a:solidFill>
                <a:latin typeface="Courier New" pitchFamily="34" charset="0"/>
                <a:ea typeface="Courier New" pitchFamily="34" charset="-122"/>
                <a:cs typeface="Courier New" pitchFamily="34" charset="-120"/>
              </a:rPr>
              <a:t># is LEFT pressed?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beqz t3, 1f</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t2, t2, -1            </a:t>
            </a:r>
            <a:pPr indent="0" marL="0">
              <a:buNone/>
            </a:pPr>
            <a:r>
              <a:rPr lang="en-US" sz="1500" dirty="0">
                <a:solidFill>
                  <a:srgbClr val="8FB3A0"/>
                </a:solidFill>
                <a:latin typeface="Courier New" pitchFamily="34" charset="0"/>
                <a:ea typeface="Courier New" pitchFamily="34" charset="-122"/>
                <a:cs typeface="Courier New" pitchFamily="34" charset="-120"/>
              </a:rPr>
              <a:t># one step to the left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1:  sw   t2, 0(t1)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draw prints marker_x with prg32_console_hex32</a:t>
            </a:r>
            <a:endParaRPr lang="en-US" sz="15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Hold LEFT: the value shown goes 00000002, 00000001, 00000000 ...</a:t>
            </a:r>
            <a:endParaRPr lang="en-US" sz="16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 and then FFFFFFFF. Is it a bug?</a:t>
            </a:r>
            <a:endParaRPr lang="en-US" sz="16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Is 0xFFFFFFFF the number 4,294,967,295 or the number -1?</a:t>
            </a:r>
            <a:endParaRPr lang="en-US" sz="16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Both. It depends on how you read the bits: this lecture gives the rules</a:t>
            </a:r>
            <a:endParaRPr lang="en-US" sz="1600" dirty="0"/>
          </a:p>
        </p:txBody>
      </p:sp>
      <p:sp>
        <p:nvSpPr>
          <p:cNvPr id="17" name="Shape 15"/>
          <p:cNvSpPr/>
          <p:nvPr/>
        </p:nvSpPr>
        <p:spPr>
          <a:xfrm>
            <a:off x="8762695" y="91440"/>
            <a:ext cx="2880360" cy="274320"/>
          </a:xfrm>
          <a:prstGeom prst="rect">
            <a:avLst/>
          </a:prstGeom>
          <a:solidFill>
            <a:srgbClr val="FEF3C7"/>
          </a:solidFill>
          <a:ln w="12700">
            <a:solidFill>
              <a:srgbClr val="B45309"/>
            </a:solidFill>
            <a:prstDash val="solid"/>
          </a:ln>
        </p:spPr>
      </p:sp>
      <p:sp>
        <p:nvSpPr>
          <p:cNvPr id="18" name="Shape 16"/>
          <p:cNvSpPr/>
          <p:nvPr/>
        </p:nvSpPr>
        <p:spPr>
          <a:xfrm>
            <a:off x="8762695" y="91440"/>
            <a:ext cx="27432" cy="274320"/>
          </a:xfrm>
          <a:prstGeom prst="rect">
            <a:avLst/>
          </a:prstGeom>
          <a:solidFill>
            <a:srgbClr val="B45309"/>
          </a:solidFill>
          <a:ln w="12700">
            <a:solidFill>
              <a:srgbClr val="B45309"/>
            </a:solidFill>
            <a:prstDash val="solid"/>
          </a:ln>
        </p:spPr>
      </p:sp>
      <p:sp>
        <p:nvSpPr>
          <p:cNvPr id="19" name="Shape 17"/>
          <p:cNvSpPr/>
          <p:nvPr/>
        </p:nvSpPr>
        <p:spPr>
          <a:xfrm>
            <a:off x="8817559"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890711" y="128016"/>
            <a:ext cx="201168" cy="201168"/>
          </a:xfrm>
          <a:prstGeom prst="rect">
            <a:avLst/>
          </a:prstGeom>
        </p:spPr>
      </p:pic>
      <p:sp>
        <p:nvSpPr>
          <p:cNvPr id="21" name="Text 18"/>
          <p:cNvSpPr txBox="1"/>
          <p:nvPr/>
        </p:nvSpPr>
        <p:spPr>
          <a:xfrm>
            <a:off x="9146743" y="91440"/>
            <a:ext cx="2459736"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runtime calls</a:t>
            </a:r>
            <a:endParaRPr lang="en-US" sz="1100" dirty="0"/>
          </a:p>
        </p:txBody>
      </p:sp>
      <p:sp>
        <p:nvSpPr>
          <p:cNvPr id="22" name="Shape 19"/>
          <p:cNvSpPr/>
          <p:nvPr/>
        </p:nvSpPr>
        <p:spPr>
          <a:xfrm>
            <a:off x="5625922" y="91440"/>
            <a:ext cx="3027045" cy="274320"/>
          </a:xfrm>
          <a:prstGeom prst="rect">
            <a:avLst/>
          </a:prstGeom>
          <a:solidFill>
            <a:srgbClr val="E0F2FE"/>
          </a:solidFill>
          <a:ln w="12700">
            <a:solidFill>
              <a:srgbClr val="0369A1"/>
            </a:solidFill>
            <a:prstDash val="solid"/>
          </a:ln>
        </p:spPr>
      </p:sp>
      <p:sp>
        <p:nvSpPr>
          <p:cNvPr id="23" name="Shape 20"/>
          <p:cNvSpPr/>
          <p:nvPr/>
        </p:nvSpPr>
        <p:spPr>
          <a:xfrm>
            <a:off x="5625922" y="91440"/>
            <a:ext cx="73152" cy="274320"/>
          </a:xfrm>
          <a:prstGeom prst="rect">
            <a:avLst/>
          </a:prstGeom>
          <a:solidFill>
            <a:srgbClr val="0369A1"/>
          </a:solidFill>
          <a:ln w="12700">
            <a:solidFill>
              <a:srgbClr val="0369A1"/>
            </a:solidFill>
            <a:prstDash val="solid"/>
          </a:ln>
        </p:spPr>
      </p:sp>
      <p:pic>
        <p:nvPicPr>
          <p:cNvPr id="24" name="Image 1" descr="preencoded.png">    </p:cNvPr>
          <p:cNvPicPr>
            <a:picLocks noChangeAspect="1"/>
          </p:cNvPicPr>
          <p:nvPr/>
        </p:nvPicPr>
        <p:blipFill>
          <a:blip r:embed="rId2"/>
          <a:stretch>
            <a:fillRect/>
          </a:stretch>
        </p:blipFill>
        <p:spPr>
          <a:xfrm>
            <a:off x="5753938" y="128016"/>
            <a:ext cx="201168" cy="201168"/>
          </a:xfrm>
          <a:prstGeom prst="rect">
            <a:avLst/>
          </a:prstGeom>
        </p:spPr>
      </p:pic>
      <p:sp>
        <p:nvSpPr>
          <p:cNvPr id="25" name="Text 21"/>
          <p:cNvSpPr txBox="1"/>
          <p:nvPr/>
        </p:nvSpPr>
        <p:spPr>
          <a:xfrm>
            <a:off x="6009970"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two's complement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Properties of binary strings</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468112" cy="101269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Extension on the left with zeros does not change the value</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5 = 101 = 00101</a:t>
            </a:r>
            <a:endParaRPr lang="en-US" sz="2200" dirty="0"/>
          </a:p>
        </p:txBody>
      </p:sp>
      <p:sp>
        <p:nvSpPr>
          <p:cNvPr id="5" name="Shape 3"/>
          <p:cNvSpPr/>
          <p:nvPr/>
        </p:nvSpPr>
        <p:spPr>
          <a:xfrm>
            <a:off x="548640" y="266970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63283"/>
            <a:ext cx="5468112" cy="101269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Multiplying by 2^k is a shift left by k positions</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00101 x 2 = 01010: five becomes ten</a:t>
            </a:r>
            <a:endParaRPr lang="en-US" sz="2200" dirty="0"/>
          </a:p>
        </p:txBody>
      </p:sp>
      <p:sp>
        <p:nvSpPr>
          <p:cNvPr id="7" name="Shape 5"/>
          <p:cNvSpPr/>
          <p:nvPr/>
        </p:nvSpPr>
        <p:spPr>
          <a:xfrm>
            <a:off x="548640" y="3815673"/>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709247"/>
            <a:ext cx="5468112" cy="130708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Integer division by 2^k is a shift right by k positions</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00101 / 2 = 00010: five becomes two, the remainder is lost</a:t>
            </a:r>
            <a:endParaRPr lang="en-US" sz="2200" dirty="0"/>
          </a:p>
        </p:txBody>
      </p:sp>
      <p:sp>
        <p:nvSpPr>
          <p:cNvPr id="9" name="Shape 7"/>
          <p:cNvSpPr/>
          <p:nvPr/>
        </p:nvSpPr>
        <p:spPr>
          <a:xfrm>
            <a:off x="548640" y="525602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149596"/>
            <a:ext cx="546811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Shifts are much cheaper than multiplications: compilers use them whenever they can</a:t>
            </a:r>
            <a:endParaRPr lang="en-US" sz="2200" dirty="0"/>
          </a:p>
        </p:txBody>
      </p:sp>
      <p:sp>
        <p:nvSpPr>
          <p:cNvPr id="11" name="Shape 9"/>
          <p:cNvSpPr/>
          <p:nvPr/>
        </p:nvSpPr>
        <p:spPr>
          <a:xfrm>
            <a:off x="6766560" y="1417320"/>
            <a:ext cx="4876495" cy="3566160"/>
          </a:xfrm>
          <a:prstGeom prst="roundRect">
            <a:avLst>
              <a:gd name="adj" fmla="val 2051"/>
            </a:avLst>
          </a:prstGeom>
          <a:solidFill>
            <a:srgbClr val="12202B"/>
          </a:solidFill>
          <a:ln w="12700">
            <a:solidFill>
              <a:srgbClr val="12202B"/>
            </a:solidFill>
            <a:prstDash val="solid"/>
          </a:ln>
        </p:spPr>
      </p:sp>
      <p:sp>
        <p:nvSpPr>
          <p:cNvPr id="12" name="Text 10"/>
          <p:cNvSpPr txBox="1"/>
          <p:nvPr/>
        </p:nvSpPr>
        <p:spPr>
          <a:xfrm>
            <a:off x="6995160" y="1600200"/>
            <a:ext cx="4419295" cy="3200400"/>
          </a:xfrm>
          <a:prstGeom prst="rect">
            <a:avLst/>
          </a:prstGeom>
          <a:noFill/>
          <a:ln/>
        </p:spPr>
        <p:txBody>
          <a:bodyPr wrap="square" lIns="0" tIns="0" rIns="0" bIns="0" rtlCol="0" anchor="t"/>
          <a:lstStyle/>
          <a:p>
            <a:pPr indent="0" marL="0">
              <a:buNone/>
            </a:pPr>
            <a:r>
              <a:rPr lang="en-US" sz="1600" dirty="0">
                <a:solidFill>
                  <a:srgbClr val="8FB3A0"/>
                </a:solidFill>
                <a:latin typeface="Courier New" pitchFamily="34" charset="0"/>
                <a:ea typeface="Courier New" pitchFamily="34" charset="-122"/>
                <a:cs typeface="Courier New" pitchFamily="34" charset="-120"/>
              </a:rPr>
              <a:t># multiply by 4</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slli t0, t0, 2</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divide by 2 (unsigned)</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srli t0, t0, 1</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x * 10 = x*8 + x*2</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slli t1, t0, 3</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slli t2, t0, 1</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add  t0, t1, t2</a:t>
            </a:r>
            <a:endParaRPr lang="en-US" sz="1600" dirty="0"/>
          </a:p>
        </p:txBody>
      </p:sp>
      <p:sp>
        <p:nvSpPr>
          <p:cNvPr id="13" name="Shape 11"/>
          <p:cNvSpPr/>
          <p:nvPr/>
        </p:nvSpPr>
        <p:spPr>
          <a:xfrm>
            <a:off x="8025079" y="91440"/>
            <a:ext cx="3617976" cy="274320"/>
          </a:xfrm>
          <a:prstGeom prst="rect">
            <a:avLst/>
          </a:prstGeom>
          <a:solidFill>
            <a:srgbClr val="E0F2FE"/>
          </a:solidFill>
          <a:ln w="12700">
            <a:solidFill>
              <a:srgbClr val="0369A1"/>
            </a:solidFill>
            <a:prstDash val="solid"/>
          </a:ln>
        </p:spPr>
      </p:sp>
      <p:sp>
        <p:nvSpPr>
          <p:cNvPr id="14" name="Shape 12"/>
          <p:cNvSpPr/>
          <p:nvPr/>
        </p:nvSpPr>
        <p:spPr>
          <a:xfrm>
            <a:off x="8025079" y="91440"/>
            <a:ext cx="73152" cy="274320"/>
          </a:xfrm>
          <a:prstGeom prst="rect">
            <a:avLst/>
          </a:prstGeom>
          <a:solidFill>
            <a:srgbClr val="0369A1"/>
          </a:solidFill>
          <a:ln w="12700">
            <a:solidFill>
              <a:srgbClr val="0369A1"/>
            </a:solidFill>
            <a:prstDash val="solid"/>
          </a:ln>
        </p:spPr>
      </p:sp>
      <p:pic>
        <p:nvPicPr>
          <p:cNvPr id="15" name="Image 0" descr="preencoded.png">    </p:cNvPr>
          <p:cNvPicPr>
            <a:picLocks noChangeAspect="1"/>
          </p:cNvPicPr>
          <p:nvPr/>
        </p:nvPicPr>
        <p:blipFill>
          <a:blip r:embed="rId1"/>
          <a:stretch>
            <a:fillRect/>
          </a:stretch>
        </p:blipFill>
        <p:spPr>
          <a:xfrm>
            <a:off x="8153095" y="128016"/>
            <a:ext cx="201168" cy="201168"/>
          </a:xfrm>
          <a:prstGeom prst="rect">
            <a:avLst/>
          </a:prstGeom>
        </p:spPr>
      </p:pic>
      <p:sp>
        <p:nvSpPr>
          <p:cNvPr id="16" name="Text 13"/>
          <p:cNvSpPr txBox="1"/>
          <p:nvPr/>
        </p:nvSpPr>
        <p:spPr>
          <a:xfrm>
            <a:off x="8409127" y="91440"/>
            <a:ext cx="319735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shifts as multiplications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Negating a number</a:t>
            </a:r>
            <a:endParaRPr lang="en-US" sz="3200" dirty="0"/>
          </a:p>
        </p:txBody>
      </p:sp>
      <p:sp>
        <p:nvSpPr>
          <p:cNvPr id="3" name="Shape 1"/>
          <p:cNvSpPr/>
          <p:nvPr/>
        </p:nvSpPr>
        <p:spPr>
          <a:xfrm>
            <a:off x="548640" y="15286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37767"/>
            <a:ext cx="5468112" cy="30988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By definition -x is represented by 2^n - x</a:t>
            </a:r>
            <a:endParaRPr lang="en-US" sz="2000" dirty="0"/>
          </a:p>
        </p:txBody>
      </p:sp>
      <p:sp>
        <p:nvSpPr>
          <p:cNvPr id="5" name="Shape 3"/>
          <p:cNvSpPr/>
          <p:nvPr/>
        </p:nvSpPr>
        <p:spPr>
          <a:xfrm>
            <a:off x="548640" y="229577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04847"/>
            <a:ext cx="5468112" cy="609854"/>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Method 1: complement every bit, then add 1</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6 = 0110, complement 1001, plus one: 1010 = -6</a:t>
            </a:r>
            <a:endParaRPr lang="en-US" sz="2000" dirty="0"/>
          </a:p>
        </p:txBody>
      </p:sp>
      <p:sp>
        <p:nvSpPr>
          <p:cNvPr id="7" name="Shape 5"/>
          <p:cNvSpPr/>
          <p:nvPr/>
        </p:nvSpPr>
        <p:spPr>
          <a:xfrm>
            <a:off x="548640" y="3362833"/>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271901"/>
            <a:ext cx="5468112" cy="1493012"/>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Method 2: starting from the right, copy the bits up to and including the first 1, complement all the others</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5 = 0101 gives 1011 = -5; 1 = 0001 gives 1111 = -1</a:t>
            </a:r>
            <a:endParaRPr lang="en-US" sz="2000" dirty="0"/>
          </a:p>
        </p:txBody>
      </p:sp>
      <p:sp>
        <p:nvSpPr>
          <p:cNvPr id="9" name="Shape 7"/>
          <p:cNvSpPr/>
          <p:nvPr/>
        </p:nvSpPr>
        <p:spPr>
          <a:xfrm>
            <a:off x="548640" y="531304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222113"/>
            <a:ext cx="5468112" cy="92964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Negating twice returns the original number, with one exception: the most negative number has no positive partner</a:t>
            </a:r>
            <a:endParaRPr lang="en-US" sz="2000" dirty="0"/>
          </a:p>
        </p:txBody>
      </p:sp>
      <p:sp>
        <p:nvSpPr>
          <p:cNvPr id="11" name="Shape 9"/>
          <p:cNvSpPr/>
          <p:nvPr/>
        </p:nvSpPr>
        <p:spPr>
          <a:xfrm>
            <a:off x="6766560" y="1417320"/>
            <a:ext cx="4876495" cy="2468880"/>
          </a:xfrm>
          <a:prstGeom prst="roundRect">
            <a:avLst>
              <a:gd name="adj" fmla="val 2963"/>
            </a:avLst>
          </a:prstGeom>
          <a:solidFill>
            <a:srgbClr val="12202B"/>
          </a:solidFill>
          <a:ln w="12700">
            <a:solidFill>
              <a:srgbClr val="12202B"/>
            </a:solidFill>
            <a:prstDash val="solid"/>
          </a:ln>
        </p:spPr>
      </p:sp>
      <p:sp>
        <p:nvSpPr>
          <p:cNvPr id="12" name="Text 10"/>
          <p:cNvSpPr txBox="1"/>
          <p:nvPr/>
        </p:nvSpPr>
        <p:spPr>
          <a:xfrm>
            <a:off x="6995160" y="1600200"/>
            <a:ext cx="4419295" cy="2103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neg t0, t1 is a pseudo-instruction:</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sub  t0, zero, t1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the same thing by hand: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not  t0, t1        </a:t>
            </a:r>
            <a:pPr indent="0" marL="0">
              <a:buNone/>
            </a:pPr>
            <a:r>
              <a:rPr lang="en-US" sz="1500" dirty="0">
                <a:solidFill>
                  <a:srgbClr val="8FB3A0"/>
                </a:solidFill>
                <a:latin typeface="Courier New" pitchFamily="34" charset="0"/>
                <a:ea typeface="Courier New" pitchFamily="34" charset="-122"/>
                <a:cs typeface="Courier New" pitchFamily="34" charset="-120"/>
              </a:rPr>
              <a:t># complement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addi t0, t0, 1     </a:t>
            </a:r>
            <a:pPr indent="0" marL="0">
              <a:buNone/>
            </a:pPr>
            <a:r>
              <a:rPr lang="en-US" sz="1500" dirty="0">
                <a:solidFill>
                  <a:srgbClr val="8FB3A0"/>
                </a:solidFill>
                <a:latin typeface="Courier New" pitchFamily="34" charset="0"/>
                <a:ea typeface="Courier New" pitchFamily="34" charset="-122"/>
                <a:cs typeface="Courier New" pitchFamily="34" charset="-120"/>
              </a:rPr>
              <a:t># plus one</a:t>
            </a:r>
            <a:endParaRPr lang="en-US" sz="1500" dirty="0"/>
          </a:p>
        </p:txBody>
      </p:sp>
      <p:sp>
        <p:nvSpPr>
          <p:cNvPr id="13" name="Shape 11"/>
          <p:cNvSpPr/>
          <p:nvPr/>
        </p:nvSpPr>
        <p:spPr>
          <a:xfrm>
            <a:off x="8616010" y="91440"/>
            <a:ext cx="3027045" cy="274320"/>
          </a:xfrm>
          <a:prstGeom prst="rect">
            <a:avLst/>
          </a:prstGeom>
          <a:solidFill>
            <a:srgbClr val="E0F2FE"/>
          </a:solidFill>
          <a:ln w="12700">
            <a:solidFill>
              <a:srgbClr val="0369A1"/>
            </a:solidFill>
            <a:prstDash val="solid"/>
          </a:ln>
        </p:spPr>
      </p:sp>
      <p:sp>
        <p:nvSpPr>
          <p:cNvPr id="14" name="Shape 12"/>
          <p:cNvSpPr/>
          <p:nvPr/>
        </p:nvSpPr>
        <p:spPr>
          <a:xfrm>
            <a:off x="8616010" y="91440"/>
            <a:ext cx="73152" cy="274320"/>
          </a:xfrm>
          <a:prstGeom prst="rect">
            <a:avLst/>
          </a:prstGeom>
          <a:solidFill>
            <a:srgbClr val="0369A1"/>
          </a:solidFill>
          <a:ln w="12700">
            <a:solidFill>
              <a:srgbClr val="0369A1"/>
            </a:solidFill>
            <a:prstDash val="solid"/>
          </a:ln>
        </p:spPr>
      </p:sp>
      <p:pic>
        <p:nvPicPr>
          <p:cNvPr id="15"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16" name="Text 13"/>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two's complement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warm-up, explained</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marker_x held 0; addi t2, t2, -1 moved one step back on a wheel with 2^32 positions</a:t>
            </a:r>
            <a:endParaRPr lang="en-US" sz="2200" dirty="0"/>
          </a:p>
        </p:txBody>
      </p:sp>
      <p:sp>
        <p:nvSpPr>
          <p:cNvPr id="5" name="Shape 3"/>
          <p:cNvSpPr/>
          <p:nvPr/>
        </p:nvSpPr>
        <p:spPr>
          <a:xfrm>
            <a:off x="548640" y="237407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67649"/>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register now holds thirty-two ones: 0xFFFFFFFF</a:t>
            </a:r>
            <a:endParaRPr lang="en-US" sz="2200" dirty="0"/>
          </a:p>
        </p:txBody>
      </p:sp>
      <p:sp>
        <p:nvSpPr>
          <p:cNvPr id="7" name="Shape 5"/>
          <p:cNvSpPr/>
          <p:nvPr/>
        </p:nvSpPr>
        <p:spPr>
          <a:xfrm>
            <a:off x="548640" y="3224403"/>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117977"/>
            <a:ext cx="6565392" cy="101269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Read as unsigned it is 4,294,967,295; read in two's complement it is -1</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the adder did the same thing in both cases</a:t>
            </a:r>
            <a:endParaRPr lang="en-US" sz="2200" dirty="0"/>
          </a:p>
        </p:txBody>
      </p:sp>
      <p:sp>
        <p:nvSpPr>
          <p:cNvPr id="9" name="Shape 7"/>
          <p:cNvSpPr/>
          <p:nvPr/>
        </p:nvSpPr>
        <p:spPr>
          <a:xfrm>
            <a:off x="548640" y="440569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299268"/>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prg32_console_hex32 prints the pattern, not an interpretation: it is neither right nor wrong</a:t>
            </a:r>
            <a:endParaRPr lang="en-US" sz="2200" dirty="0"/>
          </a:p>
        </p:txBody>
      </p:sp>
      <p:sp>
        <p:nvSpPr>
          <p:cNvPr id="11" name="Shape 9"/>
          <p:cNvSpPr/>
          <p:nvPr/>
        </p:nvSpPr>
        <p:spPr>
          <a:xfrm>
            <a:off x="548640" y="525602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149596"/>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marker disappears because prg32_gfx_rect is asked to draw at a huge x, or at -1: off the screen either way</a:t>
            </a:r>
            <a:endParaRPr lang="en-US" sz="2200" dirty="0"/>
          </a:p>
        </p:txBody>
      </p:sp>
      <p:pic>
        <p:nvPicPr>
          <p:cNvPr id="13" name="Image 0" descr="/Users/raffaelemontella/devel/riscv-prg32/computer-architecture-with-prg32/tools/assets/lab2_step2_move.png">    </p:cNvPr>
          <p:cNvPicPr>
            <a:picLocks noChangeAspect="1"/>
          </p:cNvPicPr>
          <p:nvPr/>
        </p:nvPicPr>
        <p:blipFill>
          <a:blip r:embed="rId1"/>
          <a:stretch>
            <a:fillRect/>
          </a:stretch>
        </p:blipFill>
        <p:spPr>
          <a:xfrm>
            <a:off x="7863840" y="2385155"/>
            <a:ext cx="3779215" cy="2362010"/>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Lab 06, step 2: seven lamps for the button bits and a marker</a:t>
            </a:r>
            <a:endParaRPr lang="en-US" sz="1200" dirty="0"/>
          </a:p>
        </p:txBody>
      </p:sp>
      <p:sp>
        <p:nvSpPr>
          <p:cNvPr id="15" name="Shape 12"/>
          <p:cNvSpPr/>
          <p:nvPr/>
        </p:nvSpPr>
        <p:spPr>
          <a:xfrm>
            <a:off x="7631125" y="91440"/>
            <a:ext cx="4011930" cy="274320"/>
          </a:xfrm>
          <a:prstGeom prst="rect">
            <a:avLst/>
          </a:prstGeom>
          <a:solidFill>
            <a:srgbClr val="E0F2FE"/>
          </a:solidFill>
          <a:ln w="12700">
            <a:solidFill>
              <a:srgbClr val="0369A1"/>
            </a:solidFill>
            <a:prstDash val="solid"/>
          </a:ln>
        </p:spPr>
      </p:sp>
      <p:sp>
        <p:nvSpPr>
          <p:cNvPr id="16" name="Shape 13"/>
          <p:cNvSpPr/>
          <p:nvPr/>
        </p:nvSpPr>
        <p:spPr>
          <a:xfrm>
            <a:off x="7631125" y="91440"/>
            <a:ext cx="73152" cy="274320"/>
          </a:xfrm>
          <a:prstGeom prst="rect">
            <a:avLst/>
          </a:prstGeom>
          <a:solidFill>
            <a:srgbClr val="0369A1"/>
          </a:solidFill>
          <a:ln w="12700">
            <a:solidFill>
              <a:srgbClr val="0369A1"/>
            </a:solidFill>
            <a:prstDash val="solid"/>
          </a:ln>
        </p:spPr>
      </p:sp>
      <p:pic>
        <p:nvPicPr>
          <p:cNvPr id="17" name="Image 1" descr="preencoded.png">    </p:cNvPr>
          <p:cNvPicPr>
            <a:picLocks noChangeAspect="1"/>
          </p:cNvPicPr>
          <p:nvPr/>
        </p:nvPicPr>
        <p:blipFill>
          <a:blip r:embed="rId2"/>
          <a:stretch>
            <a:fillRect/>
          </a:stretch>
        </p:blipFill>
        <p:spPr>
          <a:xfrm>
            <a:off x="7759141" y="128016"/>
            <a:ext cx="201168" cy="201168"/>
          </a:xfrm>
          <a:prstGeom prst="rect">
            <a:avLst/>
          </a:prstGeom>
        </p:spPr>
      </p:pic>
      <p:sp>
        <p:nvSpPr>
          <p:cNvPr id="18" name="Text 14"/>
          <p:cNvSpPr txBox="1"/>
          <p:nvPr/>
        </p:nvSpPr>
        <p:spPr>
          <a:xfrm>
            <a:off x="8015173" y="91440"/>
            <a:ext cx="359130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signed or unsigned instructions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Signed or unsigned? You choose with the instruction</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364384"/>
                <a:gridCol w="2182508"/>
                <a:gridCol w="2182508"/>
                <a:gridCol w="4365016"/>
              </a:tblGrid>
              <a:tr h="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Operation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Signed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Unsigned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Why they differ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add, subtract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add, addi, sub</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the same</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two's complement: one adder for both</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multiply (low word)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mul</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the same</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the low 32 bits do not depend on the sign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compare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slt, slti</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sltu, sltiu</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is 0xFFFFFFFF less than 0? yes if signed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branch</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blt, bge</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bltu, bgeu</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the same question, as a jump</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shift right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sra, srai</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srl, srli</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copy the sign bit, or insert zeros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load a byte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lb</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lbu</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sign extension or zero extension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divide, remainder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div, rem</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divu, remu</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magnitudes are read differently</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7631125" y="91440"/>
            <a:ext cx="4011930" cy="274320"/>
          </a:xfrm>
          <a:prstGeom prst="rect">
            <a:avLst/>
          </a:prstGeom>
          <a:solidFill>
            <a:srgbClr val="E0F2FE"/>
          </a:solidFill>
          <a:ln w="12700">
            <a:solidFill>
              <a:srgbClr val="0369A1"/>
            </a:solidFill>
            <a:prstDash val="solid"/>
          </a:ln>
        </p:spPr>
      </p:sp>
      <p:sp>
        <p:nvSpPr>
          <p:cNvPr id="5" name="Shape 2"/>
          <p:cNvSpPr/>
          <p:nvPr/>
        </p:nvSpPr>
        <p:spPr>
          <a:xfrm>
            <a:off x="7631125"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7759141" y="128016"/>
            <a:ext cx="201168" cy="201168"/>
          </a:xfrm>
          <a:prstGeom prst="rect">
            <a:avLst/>
          </a:prstGeom>
        </p:spPr>
      </p:pic>
      <p:sp>
        <p:nvSpPr>
          <p:cNvPr id="7" name="Text 3"/>
          <p:cNvSpPr txBox="1"/>
          <p:nvPr/>
        </p:nvSpPr>
        <p:spPr>
          <a:xfrm>
            <a:off x="8015173" y="91440"/>
            <a:ext cx="359130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signed or unsigned instructions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Keeping the marker on the screen</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    andi t3, t0, BTN_LEFT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beqz t3, 1f</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t2, t2, -SPEED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1:  andi t3, t0, BTN_RIGHT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beqz t3, 2f</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t2, t2, SPEED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bgez t2, 3f            </a:t>
            </a:r>
            <a:pPr indent="0" marL="0">
              <a:buNone/>
            </a:pPr>
            <a:r>
              <a:rPr lang="en-US" sz="1450" dirty="0">
                <a:solidFill>
                  <a:srgbClr val="8FB3A0"/>
                </a:solidFill>
                <a:latin typeface="Courier New" pitchFamily="34" charset="0"/>
                <a:ea typeface="Courier New" pitchFamily="34" charset="-122"/>
                <a:cs typeface="Courier New" pitchFamily="34" charset="-120"/>
              </a:rPr>
              <a:t># x &lt; 0 ?  clamp to 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t2, 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3:  li   t3, MAX_X         </a:t>
            </a:r>
            <a:pPr indent="0" marL="0">
              <a:buNone/>
            </a:pPr>
            <a:r>
              <a:rPr lang="en-US" sz="1450" dirty="0">
                <a:solidFill>
                  <a:srgbClr val="8FB3A0"/>
                </a:solidFill>
                <a:latin typeface="Courier New" pitchFamily="34" charset="0"/>
                <a:ea typeface="Courier New" pitchFamily="34" charset="-122"/>
                <a:cs typeface="Courier New" pitchFamily="34" charset="-120"/>
              </a:rPr>
              <a:t># .equ MAX_X, 304</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ble  t2, t3, 4f        </a:t>
            </a:r>
            <a:pPr indent="0" marL="0">
              <a:buNone/>
            </a:pPr>
            <a:r>
              <a:rPr lang="en-US" sz="1450" dirty="0">
                <a:solidFill>
                  <a:srgbClr val="8FB3A0"/>
                </a:solidFill>
                <a:latin typeface="Courier New" pitchFamily="34" charset="0"/>
                <a:ea typeface="Courier New" pitchFamily="34" charset="-122"/>
                <a:cs typeface="Courier New" pitchFamily="34" charset="-120"/>
              </a:rPr>
              <a:t># x &gt; 304 ?  clamp to 304</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mv   t2, t3</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4:</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t2, 0(t1)         </a:t>
            </a:r>
            <a:pPr indent="0" marL="0">
              <a:buNone/>
            </a:pPr>
            <a:r>
              <a:rPr lang="en-US" sz="1450" dirty="0">
                <a:solidFill>
                  <a:srgbClr val="8FB3A0"/>
                </a:solidFill>
                <a:latin typeface="Courier New" pitchFamily="34" charset="0"/>
                <a:ea typeface="Courier New" pitchFamily="34" charset="-122"/>
                <a:cs typeface="Courier New" pitchFamily="34" charset="-120"/>
              </a:rPr>
              <a:t># one store, after all adjustments</a:t>
            </a:r>
            <a:endParaRPr lang="en-US" sz="14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bgez reads t2 as a signed number: it tests the sign bit</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ble is a signed comparison too: -1 is less than 304. With bleu, 0xFFFFFFFF would be far greater</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game does not detect overflow after the fact: it keeps values inside a range where overflow cannot happen</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-SPEED is an immediate: twelve bits in two's complement, from -2048 to +2047</a:t>
            </a:r>
            <a:endParaRPr lang="en-US" sz="1200" dirty="0"/>
          </a:p>
        </p:txBody>
      </p:sp>
      <p:sp>
        <p:nvSpPr>
          <p:cNvPr id="17" name="Shape 15"/>
          <p:cNvSpPr/>
          <p:nvPr/>
        </p:nvSpPr>
        <p:spPr>
          <a:xfrm>
            <a:off x="7631125" y="91440"/>
            <a:ext cx="4011930" cy="274320"/>
          </a:xfrm>
          <a:prstGeom prst="rect">
            <a:avLst/>
          </a:prstGeom>
          <a:solidFill>
            <a:srgbClr val="E0F2FE"/>
          </a:solidFill>
          <a:ln w="12700">
            <a:solidFill>
              <a:srgbClr val="0369A1"/>
            </a:solidFill>
            <a:prstDash val="solid"/>
          </a:ln>
        </p:spPr>
      </p:sp>
      <p:sp>
        <p:nvSpPr>
          <p:cNvPr id="18" name="Shape 16"/>
          <p:cNvSpPr/>
          <p:nvPr/>
        </p:nvSpPr>
        <p:spPr>
          <a:xfrm>
            <a:off x="7631125"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7759141" y="128016"/>
            <a:ext cx="201168" cy="201168"/>
          </a:xfrm>
          <a:prstGeom prst="rect">
            <a:avLst/>
          </a:prstGeom>
        </p:spPr>
      </p:pic>
      <p:sp>
        <p:nvSpPr>
          <p:cNvPr id="20" name="Text 17"/>
          <p:cNvSpPr txBox="1"/>
          <p:nvPr/>
        </p:nvSpPr>
        <p:spPr>
          <a:xfrm>
            <a:off x="8015173" y="91440"/>
            <a:ext cx="359130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signed or unsigned instructions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Detecting overflow without flags</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50" dirty="0">
                <a:solidFill>
                  <a:srgbClr val="8FB3A0"/>
                </a:solidFill>
                <a:latin typeface="Courier New" pitchFamily="34" charset="0"/>
                <a:ea typeface="Courier New" pitchFamily="34" charset="-122"/>
                <a:cs typeface="Courier New" pitchFamily="34" charset="-120"/>
              </a:rPr>
              <a:t># unsigned: did the sum wrap around?</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  t2, t0, t1        </a:t>
            </a:r>
            <a:pPr indent="0" marL="0">
              <a:buNone/>
            </a:pPr>
            <a:r>
              <a:rPr lang="en-US" sz="1350" dirty="0">
                <a:solidFill>
                  <a:srgbClr val="8FB3A0"/>
                </a:solidFill>
                <a:latin typeface="Courier New" pitchFamily="34" charset="0"/>
                <a:ea typeface="Courier New" pitchFamily="34" charset="-122"/>
                <a:cs typeface="Courier New" pitchFamily="34" charset="-120"/>
              </a:rPr>
              <a:t># t2 = t0 + t1   (modulo 2^32)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sltu t3, t2, t0        </a:t>
            </a:r>
            <a:pPr indent="0" marL="0">
              <a:buNone/>
            </a:pPr>
            <a:r>
              <a:rPr lang="en-US" sz="1350" dirty="0">
                <a:solidFill>
                  <a:srgbClr val="8FB3A0"/>
                </a:solidFill>
                <a:latin typeface="Courier New" pitchFamily="34" charset="0"/>
                <a:ea typeface="Courier New" pitchFamily="34" charset="-122"/>
                <a:cs typeface="Courier New" pitchFamily="34" charset="-120"/>
              </a:rPr>
              <a:t># t3 = 1 if the sum is smaller than</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pPr indent="0" marL="0">
              <a:buNone/>
            </a:pPr>
            <a:r>
              <a:rPr lang="en-US" sz="1350" dirty="0">
                <a:solidFill>
                  <a:srgbClr val="8FB3A0"/>
                </a:solidFill>
                <a:latin typeface="Courier New" pitchFamily="34" charset="0"/>
                <a:ea typeface="Courier New" pitchFamily="34" charset="-122"/>
                <a:cs typeface="Courier New" pitchFamily="34" charset="-120"/>
              </a:rPr>
              <a:t>#        an operand: a carry was lost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signed: did the sign come out wrong?</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  t2, t0, t1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slti t3, t1, 0         </a:t>
            </a:r>
            <a:pPr indent="0" marL="0">
              <a:buNone/>
            </a:pPr>
            <a:r>
              <a:rPr lang="en-US" sz="1350" dirty="0">
                <a:solidFill>
                  <a:srgbClr val="8FB3A0"/>
                </a:solidFill>
                <a:latin typeface="Courier New" pitchFamily="34" charset="0"/>
                <a:ea typeface="Courier New" pitchFamily="34" charset="-122"/>
                <a:cs typeface="Courier New" pitchFamily="34" charset="-120"/>
              </a:rPr>
              <a:t># t3 = 1 if t1 is negative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slt  t4, t2, t0        </a:t>
            </a:r>
            <a:pPr indent="0" marL="0">
              <a:buNone/>
            </a:pPr>
            <a:r>
              <a:rPr lang="en-US" sz="1350" dirty="0">
                <a:solidFill>
                  <a:srgbClr val="8FB3A0"/>
                </a:solidFill>
                <a:latin typeface="Courier New" pitchFamily="34" charset="0"/>
                <a:ea typeface="Courier New" pitchFamily="34" charset="-122"/>
                <a:cs typeface="Courier New" pitchFamily="34" charset="-120"/>
              </a:rPr>
              <a:t># t4 = 1 if the sum is less than 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bne  t3, t4, overflow  </a:t>
            </a:r>
            <a:pPr indent="0" marL="0">
              <a:buNone/>
            </a:pPr>
            <a:r>
              <a:rPr lang="en-US" sz="1350" dirty="0">
                <a:solidFill>
                  <a:srgbClr val="8FB3A0"/>
                </a:solidFill>
                <a:latin typeface="Courier New" pitchFamily="34" charset="0"/>
                <a:ea typeface="Courier New" pitchFamily="34" charset="-122"/>
                <a:cs typeface="Courier New" pitchFamily="34" charset="-120"/>
              </a:rPr>
              <a:t># they must agree</a:t>
            </a:r>
            <a:endParaRPr lang="en-US" sz="1350" dirty="0"/>
          </a:p>
        </p:txBody>
      </p:sp>
      <p:sp>
        <p:nvSpPr>
          <p:cNvPr id="5" name="Shape 3"/>
          <p:cNvSpPr/>
          <p:nvPr/>
        </p:nvSpPr>
        <p:spPr>
          <a:xfrm>
            <a:off x="8229600" y="1417320"/>
            <a:ext cx="341345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1176528"/>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RISC-V has no carry flag and no overflow flag: fewer hidden states, a simpler processor</a:t>
            </a:r>
            <a:endParaRPr lang="en-US" sz="1600" dirty="0"/>
          </a:p>
        </p:txBody>
      </p:sp>
      <p:sp>
        <p:nvSpPr>
          <p:cNvPr id="8" name="Shape 6"/>
          <p:cNvSpPr/>
          <p:nvPr/>
        </p:nvSpPr>
        <p:spPr>
          <a:xfrm>
            <a:off x="8229600" y="3069336"/>
            <a:ext cx="341345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839419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3206496"/>
            <a:ext cx="2544775" cy="1176528"/>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Unsigned: a sum that wrapped is always smaller than either operand</a:t>
            </a:r>
            <a:endParaRPr lang="en-US" sz="1600" dirty="0"/>
          </a:p>
        </p:txBody>
      </p:sp>
      <p:sp>
        <p:nvSpPr>
          <p:cNvPr id="11" name="Shape 9"/>
          <p:cNvSpPr/>
          <p:nvPr/>
        </p:nvSpPr>
        <p:spPr>
          <a:xfrm>
            <a:off x="8229600" y="4721352"/>
            <a:ext cx="341345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839419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858512"/>
            <a:ext cx="2544775" cy="1176528"/>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Signed: adding a negative number must make the sum smaller; adding a non-negative one must not</a:t>
            </a:r>
            <a:endParaRPr lang="en-US" sz="1600" dirty="0"/>
          </a:p>
        </p:txBody>
      </p:sp>
      <p:sp>
        <p:nvSpPr>
          <p:cNvPr id="14" name="Shape 12"/>
          <p:cNvSpPr/>
          <p:nvPr/>
        </p:nvSpPr>
        <p:spPr>
          <a:xfrm>
            <a:off x="7631125" y="91440"/>
            <a:ext cx="4011930" cy="274320"/>
          </a:xfrm>
          <a:prstGeom prst="rect">
            <a:avLst/>
          </a:prstGeom>
          <a:solidFill>
            <a:srgbClr val="E0F2FE"/>
          </a:solidFill>
          <a:ln w="12700">
            <a:solidFill>
              <a:srgbClr val="0369A1"/>
            </a:solidFill>
            <a:prstDash val="solid"/>
          </a:ln>
        </p:spPr>
      </p:sp>
      <p:sp>
        <p:nvSpPr>
          <p:cNvPr id="15" name="Shape 13"/>
          <p:cNvSpPr/>
          <p:nvPr/>
        </p:nvSpPr>
        <p:spPr>
          <a:xfrm>
            <a:off x="7631125"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7759141" y="128016"/>
            <a:ext cx="201168" cy="201168"/>
          </a:xfrm>
          <a:prstGeom prst="rect">
            <a:avLst/>
          </a:prstGeom>
        </p:spPr>
      </p:pic>
      <p:sp>
        <p:nvSpPr>
          <p:cNvPr id="17" name="Text 14"/>
          <p:cNvSpPr txBox="1"/>
          <p:nvPr/>
        </p:nvSpPr>
        <p:spPr>
          <a:xfrm>
            <a:off x="8015173" y="91440"/>
            <a:ext cx="359130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signed or unsigned instructions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l05.S (1 of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00" dirty="0">
                <a:solidFill>
                  <a:srgbClr val="8FB3A0"/>
                </a:solidFill>
                <a:latin typeface="Courier New" pitchFamily="34" charset="0"/>
                <a:ea typeface="Courier New" pitchFamily="34" charset="-122"/>
                <a:cs typeface="Courier New" pitchFamily="34" charset="-120"/>
              </a:rPr>
              <a:t># ARC12 Computer Architecture - Lecture 05: Number Representation: Integers</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l05.S: hold LEFT and watch a number go below zero</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On the screen: the 32 bits of marker_x as lamps. It starts at 2 (one lamp); each</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frame with LEFT held subtracts 1: after 2, 1 and 0 every lamp lights up, 0xFFFFFFFF,</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which is -1.</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Build: python3 -m prg32 cartridge build l05.S --portable \</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--entry-prefix l05 --name l05 --out l05.prg32</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.option norelax</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BLACK,  0x0000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GREY,   0x4208</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YELLOW, 0xffe0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BTN_LEFT, 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.section .text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l05_init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l05_update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l05_draw</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l05_init: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l05.S (2 of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l05_update: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prg32_input_read      </a:t>
            </a:r>
            <a:pPr indent="0" marL="0">
              <a:buNone/>
            </a:pPr>
            <a:r>
              <a:rPr lang="en-US" sz="1800" dirty="0">
                <a:solidFill>
                  <a:srgbClr val="8FB3A0"/>
                </a:solidFill>
                <a:latin typeface="Courier New" pitchFamily="34" charset="0"/>
                <a:ea typeface="Courier New" pitchFamily="34" charset="-122"/>
                <a:cs typeface="Courier New" pitchFamily="34" charset="-120"/>
              </a:rPr>
              <a:t># a0 = button mask</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mv   t0, a0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t1, marker_x</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t2, 0(t1)             </a:t>
            </a:r>
            <a:pPr indent="0" marL="0">
              <a:buNone/>
            </a:pPr>
            <a:r>
              <a:rPr lang="en-US" sz="1800" dirty="0">
                <a:solidFill>
                  <a:srgbClr val="8FB3A0"/>
                </a:solidFill>
                <a:latin typeface="Courier New" pitchFamily="34" charset="0"/>
                <a:ea typeface="Courier New" pitchFamily="34" charset="-122"/>
                <a:cs typeface="Courier New" pitchFamily="34" charset="-120"/>
              </a:rPr>
              <a:t># t2 = marker_x, starts at 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andi t3, t0, BTN_LEFT      </a:t>
            </a:r>
            <a:pPr indent="0" marL="0">
              <a:buNone/>
            </a:pPr>
            <a:r>
              <a:rPr lang="en-US" sz="1800" dirty="0">
                <a:solidFill>
                  <a:srgbClr val="8FB3A0"/>
                </a:solidFill>
                <a:latin typeface="Courier New" pitchFamily="34" charset="0"/>
                <a:ea typeface="Courier New" pitchFamily="34" charset="-122"/>
                <a:cs typeface="Courier New" pitchFamily="34" charset="-120"/>
              </a:rPr>
              <a:t># is LEFT pressed?</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beqz t3, 1f</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t2, t2, -1            </a:t>
            </a:r>
            <a:pPr indent="0" marL="0">
              <a:buNone/>
            </a:pPr>
            <a:r>
              <a:rPr lang="en-US" sz="1800" dirty="0">
                <a:solidFill>
                  <a:srgbClr val="8FB3A0"/>
                </a:solidFill>
                <a:latin typeface="Courier New" pitchFamily="34" charset="0"/>
                <a:ea typeface="Courier New" pitchFamily="34" charset="-122"/>
                <a:cs typeface="Courier New" pitchFamily="34" charset="-120"/>
              </a:rPr>
              <a:t># one step to the left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1:  sw   t2, 0(t1)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l05.S (3 of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l05_draw: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a0, BLACK</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prg32_gfx_clear</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prg32_console_clear   </a:t>
            </a:r>
            <a:pPr indent="0" marL="0">
              <a:buNone/>
            </a:pPr>
            <a:r>
              <a:rPr lang="en-US" sz="1800" dirty="0">
                <a:solidFill>
                  <a:srgbClr val="8FB3A0"/>
                </a:solidFill>
                <a:latin typeface="Courier New" pitchFamily="34" charset="0"/>
                <a:ea typeface="Courier New" pitchFamily="34" charset="-122"/>
                <a:cs typeface="Courier New" pitchFamily="34" charset="-120"/>
              </a:rPr>
              <a:t># the number in hexadecimal, on the console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marker_x          </a:t>
            </a:r>
            <a:pPr indent="0" marL="0">
              <a:buNone/>
            </a:pPr>
            <a:r>
              <a:rPr lang="en-US" sz="1800" dirty="0">
                <a:solidFill>
                  <a:srgbClr val="8FB3A0"/>
                </a:solidFill>
                <a:latin typeface="Courier New" pitchFamily="34" charset="0"/>
                <a:ea typeface="Courier New" pitchFamily="34" charset="-122"/>
                <a:cs typeface="Courier New" pitchFamily="34" charset="-120"/>
              </a:rPr>
              <a:t># (the board and QEMU show it on the screen,</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a0, 0(t0)             </a:t>
            </a:r>
            <a:pPr indent="0" marL="0">
              <a:buNone/>
            </a:pPr>
            <a:r>
              <a:rPr lang="en-US" sz="1800" dirty="0">
                <a:solidFill>
                  <a:srgbClr val="8FB3A0"/>
                </a:solidFill>
                <a:latin typeface="Courier New" pitchFamily="34" charset="0"/>
                <a:ea typeface="Courier New" pitchFamily="34" charset="-122"/>
                <a:cs typeface="Courier New" pitchFamily="34" charset="-120"/>
              </a:rPr>
              <a:t>#  PRG32-QT in its log)</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prg32_console_hex32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marker_x          </a:t>
            </a:r>
            <a:pPr indent="0" marL="0">
              <a:buNone/>
            </a:pPr>
            <a:r>
              <a:rPr lang="en-US" sz="1800" dirty="0">
                <a:solidFill>
                  <a:srgbClr val="8FB3A0"/>
                </a:solidFill>
                <a:latin typeface="Courier New" pitchFamily="34" charset="0"/>
                <a:ea typeface="Courier New" pitchFamily="34" charset="-122"/>
                <a:cs typeface="Courier New" pitchFamily="34" charset="-120"/>
              </a:rPr>
              <a:t># and the same number, bit by bit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a0,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a1, 96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lamps32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l05.S (4 of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00" dirty="0">
                <a:solidFill>
                  <a:srgbClr val="8FB3A0"/>
                </a:solidFill>
                <a:latin typeface="Courier New" pitchFamily="34" charset="0"/>
                <a:ea typeface="Courier New" pitchFamily="34" charset="-122"/>
                <a:cs typeface="Courier New" pitchFamily="34" charset="-120"/>
              </a:rPr>
              <a:t># lamps32: show the 32 bits of a word as a row of lamps, bit 31 on the left.</a:t>
            </a:r>
            <a:endParaRPr lang="en-US" sz="1200" dirty="0"/>
          </a:p>
          <a:p>
            <a:pPr indent="0" marL="0">
              <a:buNone/>
            </a:pPr>
            <a:r>
              <a:rPr lang="en-US" sz="1200" dirty="0">
                <a:solidFill>
                  <a:srgbClr val="8FB3A0"/>
                </a:solidFill>
                <a:latin typeface="Courier New" pitchFamily="34" charset="0"/>
                <a:ea typeface="Courier New" pitchFamily="34" charset="-122"/>
                <a:cs typeface="Courier New" pitchFamily="34" charset="-120"/>
              </a:rPr>
              <a:t>#   a0 = the word, a1 = y of the row.  A lamp is yellow for 1, grey for 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lamps32: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28(sp)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s0, 24(sp)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s1, 20(sp)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s2, 16(sp)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s0, a0              </a:t>
            </a:r>
            <a:pPr indent="0" marL="0">
              <a:buNone/>
            </a:pPr>
            <a:r>
              <a:rPr lang="en-US" sz="1200" dirty="0">
                <a:solidFill>
                  <a:srgbClr val="8FB3A0"/>
                </a:solidFill>
                <a:latin typeface="Courier New" pitchFamily="34" charset="0"/>
                <a:ea typeface="Courier New" pitchFamily="34" charset="-122"/>
                <a:cs typeface="Courier New" pitchFamily="34" charset="-120"/>
              </a:rPr>
              <a:t># the word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s1, a1              </a:t>
            </a:r>
            <a:pPr indent="0" marL="0">
              <a:buNone/>
            </a:pPr>
            <a:r>
              <a:rPr lang="en-US" sz="1200" dirty="0">
                <a:solidFill>
                  <a:srgbClr val="8FB3A0"/>
                </a:solidFill>
                <a:latin typeface="Courier New" pitchFamily="34" charset="0"/>
                <a:ea typeface="Courier New" pitchFamily="34" charset="-122"/>
                <a:cs typeface="Courier New" pitchFamily="34" charset="-120"/>
              </a:rPr>
              <a:t># 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s2, 0               </a:t>
            </a:r>
            <a:pPr indent="0" marL="0">
              <a:buNone/>
            </a:pPr>
            <a:r>
              <a:rPr lang="en-US" sz="1200" dirty="0">
                <a:solidFill>
                  <a:srgbClr val="8FB3A0"/>
                </a:solidFill>
                <a:latin typeface="Courier New" pitchFamily="34" charset="0"/>
                <a:ea typeface="Courier New" pitchFamily="34" charset="-122"/>
                <a:cs typeface="Courier New" pitchFamily="34" charset="-120"/>
              </a:rPr>
              <a:t># lamp number, 0 on the left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li   t0, 31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sub  t0, t0, s2          </a:t>
            </a:r>
            <a:pPr indent="0" marL="0">
              <a:buNone/>
            </a:pPr>
            <a:r>
              <a:rPr lang="en-US" sz="1200" dirty="0">
                <a:solidFill>
                  <a:srgbClr val="8FB3A0"/>
                </a:solidFill>
                <a:latin typeface="Courier New" pitchFamily="34" charset="0"/>
                <a:ea typeface="Courier New" pitchFamily="34" charset="-122"/>
                <a:cs typeface="Courier New" pitchFamily="34" charset="-120"/>
              </a:rPr>
              <a:t># lamp i shows bit 31 -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srl  t1, s0, t0          </a:t>
            </a:r>
            <a:pPr indent="0" marL="0">
              <a:buNone/>
            </a:pPr>
            <a:r>
              <a:rPr lang="en-US" sz="1200" dirty="0">
                <a:solidFill>
                  <a:srgbClr val="8FB3A0"/>
                </a:solidFill>
                <a:latin typeface="Courier New" pitchFamily="34" charset="0"/>
                <a:ea typeface="Courier New" pitchFamily="34" charset="-122"/>
                <a:cs typeface="Courier New" pitchFamily="34" charset="-120"/>
              </a:rPr>
              <a:t># bring that bit down to bit 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andi t1, t1, 1           </a:t>
            </a:r>
            <a:pPr indent="0" marL="0">
              <a:buNone/>
            </a:pPr>
            <a:r>
              <a:rPr lang="en-US" sz="1200" dirty="0">
                <a:solidFill>
                  <a:srgbClr val="8FB3A0"/>
                </a:solidFill>
                <a:latin typeface="Courier New" pitchFamily="34" charset="0"/>
                <a:ea typeface="Courier New" pitchFamily="34" charset="-122"/>
                <a:cs typeface="Courier New" pitchFamily="34" charset="-120"/>
              </a:rPr>
              <a:t># keep it, clear all the others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GREY            </a:t>
            </a:r>
            <a:pPr indent="0" marL="0">
              <a:buNone/>
            </a:pPr>
            <a:r>
              <a:rPr lang="en-US" sz="1200" dirty="0">
                <a:solidFill>
                  <a:srgbClr val="8FB3A0"/>
                </a:solidFill>
                <a:latin typeface="Courier New" pitchFamily="34" charset="0"/>
                <a:ea typeface="Courier New" pitchFamily="34" charset="-122"/>
                <a:cs typeface="Courier New" pitchFamily="34" charset="-120"/>
              </a:rPr>
              <a:t># lamp off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t1, 2f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YELLOW          </a:t>
            </a:r>
            <a:pPr indent="0" marL="0">
              <a:buNone/>
            </a:pPr>
            <a:r>
              <a:rPr lang="en-US" sz="1200" dirty="0">
                <a:solidFill>
                  <a:srgbClr val="8FB3A0"/>
                </a:solidFill>
                <a:latin typeface="Courier New" pitchFamily="34" charset="0"/>
                <a:ea typeface="Courier New" pitchFamily="34" charset="-122"/>
                <a:cs typeface="Courier New" pitchFamily="34" charset="-120"/>
              </a:rPr>
              <a:t># lamp on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2:  slli a0, s2, 3</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  a0, a0, s2          </a:t>
            </a:r>
            <a:pPr indent="0" marL="0">
              <a:buNone/>
            </a:pPr>
            <a:r>
              <a:rPr lang="en-US" sz="1200" dirty="0">
                <a:solidFill>
                  <a:srgbClr val="8FB3A0"/>
                </a:solidFill>
                <a:latin typeface="Courier New" pitchFamily="34" charset="0"/>
                <a:ea typeface="Courier New" pitchFamily="34" charset="-122"/>
                <a:cs typeface="Courier New" pitchFamily="34" charset="-120"/>
              </a:rPr>
              <a:t># 9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a0, a0, 16          </a:t>
            </a:r>
            <a:pPr indent="0" marL="0">
              <a:buNone/>
            </a:pPr>
            <a:r>
              <a:rPr lang="en-US" sz="1200" dirty="0">
                <a:solidFill>
                  <a:srgbClr val="8FB3A0"/>
                </a:solidFill>
                <a:latin typeface="Courier New" pitchFamily="34" charset="0"/>
                <a:ea typeface="Courier New" pitchFamily="34" charset="-122"/>
                <a:cs typeface="Courier New" pitchFamily="34" charset="-120"/>
              </a:rPr>
              <a:t># x = 16 + 9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a1, s1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a2, 8</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8</a:t>
            </a:r>
            <a:endParaRPr lang="en-US" sz="12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l05.S (5 of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call prg32_gfx_rect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s2, s2,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t0, 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blt  s2, t0, 1b</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s2, 16(sp)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s1, 20(sp)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s0, 24(sp)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28(sp)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.section .data</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marker_x: .word 2</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203530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the 32 bits of marker_x as lamps. It starts at 2 (one lamp); each frame with LEFT held subtracts 1: after 2, 1 and 0 every lamp lights up, 0xFFFFFFFF, which is -1.</a:t>
            </a:r>
            <a:endParaRPr lang="en-US" sz="2400" dirty="0"/>
          </a:p>
        </p:txBody>
      </p:sp>
      <p:sp>
        <p:nvSpPr>
          <p:cNvPr id="5" name="Shape 3"/>
          <p:cNvSpPr/>
          <p:nvPr/>
        </p:nvSpPr>
        <p:spPr>
          <a:xfrm>
            <a:off x="548640" y="421462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4092702"/>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hold LEFT for a few frames</a:t>
            </a:r>
            <a:endParaRPr lang="en-US" sz="2400" dirty="0"/>
          </a:p>
        </p:txBody>
      </p:sp>
      <p:pic>
        <p:nvPicPr>
          <p:cNvPr id="7" name="Image 0" descr="/Users/raffaelemontella/devel/riscv-prg32/computer-architecture-with-prg32/tools/assets/lab_l05.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~/arc12/code/l05.S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l05 --name l05 --out l05.prg32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l05.prg32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~/arc12/code/l05.S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l05 --name l05 --architecture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l05-qemu.prg32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l05-qemu.prg32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~/arc12/code/l05.S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l05 --name l05 --architecture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l05-esp32c6.prg32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l05-esp32c6.prg32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l05;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Convert 2026 to binary, octal and hexadecimal; convert 0.1 to binary up to eight fractional bits</a:t>
            </a:r>
            <a:endParaRPr lang="en-US" sz="2000" dirty="0"/>
          </a:p>
        </p:txBody>
      </p:sp>
      <p:sp>
        <p:nvSpPr>
          <p:cNvPr id="6" name="Text 4"/>
          <p:cNvSpPr txBox="1"/>
          <p:nvPr/>
        </p:nvSpPr>
        <p:spPr>
          <a:xfrm>
            <a:off x="548640" y="223977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221484"/>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Write -100 on 8 bits in sign and magnitude and in two's complement</a:t>
            </a:r>
            <a:endParaRPr lang="en-US" sz="2000" dirty="0"/>
          </a:p>
        </p:txBody>
      </p:sp>
      <p:sp>
        <p:nvSpPr>
          <p:cNvPr id="8" name="Text 6"/>
          <p:cNvSpPr txBox="1"/>
          <p:nvPr/>
        </p:nvSpPr>
        <p:spPr>
          <a:xfrm>
            <a:off x="548640" y="28630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844800"/>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Compute on 8 bits in two's complement: 90 + 60, -90 - 60, 90 - 60. Which overflow?</a:t>
            </a:r>
            <a:endParaRPr lang="en-US" sz="2000" dirty="0"/>
          </a:p>
        </p:txBody>
      </p:sp>
      <p:sp>
        <p:nvSpPr>
          <p:cNvPr id="10" name="Text 8"/>
          <p:cNvSpPr txBox="1"/>
          <p:nvPr/>
        </p:nvSpPr>
        <p:spPr>
          <a:xfrm>
            <a:off x="548640" y="348640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468116"/>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In the clamp code replace bgez and ble with their unsigned versions, predict the behaviour, then run it</a:t>
            </a:r>
            <a:endParaRPr lang="en-US" sz="2000" dirty="0"/>
          </a:p>
        </p:txBody>
      </p:sp>
      <p:sp>
        <p:nvSpPr>
          <p:cNvPr id="12" name="Text 10"/>
          <p:cNvSpPr txBox="1"/>
          <p:nvPr/>
        </p:nvSpPr>
        <p:spPr>
          <a:xfrm>
            <a:off x="548640" y="42905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7228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Write an update that adds 0x10000000 to a counter each frame and lights a red rectangle when the signed sum overflows</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On paper: 2026 = 0x7EA = 111 1110 1010. On PRG32: the red rectangle flashes once every sixteen frames, when the counter passes from 0x7... to 0x8...</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Number Representation: Integers: the code</dc:title>
  <dc:subject>Lecture 05</dc:subject>
  <dc:creator>Raffaele Montella</dc:creator>
  <cp:lastModifiedBy>Raffaele Montella</cp:lastModifiedBy>
  <cp:revision>1</cp:revision>
  <dcterms:created xsi:type="dcterms:W3CDTF">2026-10-16T16:46:56Z</dcterms:created>
  <dcterms:modified xsi:type="dcterms:W3CDTF">2026-10-16T16:46:56Z</dcterms:modified>
</cp:coreProperties>
</file>