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22efe62-7aa1-dbcf-48c2-7b483619461f}">
          <p14:sldIdLst>
            <p14:sldId id="256"/>
            <p14:sldId id="257"/>
          </p14:sldIdLst>
        </p14:section>
        <p14:section name="Peripherals and controllers" id="{02706fb6-11d4-8c24-2c9a-2013aae7ecc5}">
          <p14:sldIdLst>
            <p14:sldId id="258"/>
            <p14:sldId id="259"/>
          </p14:sldIdLst>
        </p14:section>
        <p14:section name="Buses" id="{1c22d38e-5795-7c39-b6e0-48528171e6b5}">
          <p14:sldIdLst>
            <p14:sldId id="260"/>
            <p14:sldId id="261"/>
            <p14:sldId id="262"/>
          </p14:sldIdLst>
        </p14:section>
        <p14:section name="The video card" id="{d1140f6b-ef81-5cf8-d843-af225611711e}">
          <p14:sldIdLst>
            <p14:sldId id="263"/>
            <p14:sldId id="264"/>
            <p14:sldId id="265"/>
            <p14:sldId id="266"/>
            <p14:sldId id="267"/>
            <p14:sldId id="268"/>
            <p14:sldId id="269"/>
          </p14:sldIdLst>
        </p14:section>
        <p14:section name="GPU and GPGPU" id="{590b0f1b-5135-1fa7-a58e-7ea32c9658ee}">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lecture the course leaves the processor and turns to what surrounds it. The subject is the path of an image: from a number in memory to a point of light on the screen. On the way you meet two general ideas, the controller of a peripheral and the bus, and one specific machine, the video card, with its processor, the GPU. The kit has no video card at all, and this is an advantage: every step that a card would hide is done by code you can read.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frame buffer; device controllers; buses and bandwidth; the video card; GPU and GPGPU. USE NOW: the complete program, the PRG32 tools (used, not studied, in this course). UNDERSTAND LATER: nothing. A slide without a badge is context: a story, an example, a question, an exercise.
For the lecturer: Spiral: one call draws one pixel on PRG32; the lecture follows that pixel from the frame buffer to the display, then generalises to buses, video cards, GPUs and GPGPU. The kit has no video card: its processor does everything, which makes every step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Explain what a peripheral controller is and why devices must be synchronised with the processor. Characterise a bus by its width, speed and transfer rate. Describe the job of a video card: frame buffer, resolution, colour depth and output interface. Compute how much memory a frame needs and how long it takes to send it along a bus. And explain what a GPU does and what it means to use it for general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Peripherals serve the interaction between the user and the system. They have limited autonomy: the processor controls and coordinates them. And they work asynchronously, at their own pace, so mechanisms of synchronisation are needed: to know when an input datum is available, and when an output device has finished. The terminal, the most common instrument of interaction, is really two independent devices, a keyboard and a video; it is the processor that copies to the video what arrives from the keyboard.
UNDERSTAND NOW: device controllers.
For the lecturer: Keyboard and video are not directly connected: the processor reproduces on the video what arrives from the keyboard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peripheral is never connected to the processor directly: between them is a controller. Look at the diagram: the processor and the memory are on the bus, and so are the controllers; each controller has its device on the other side. The controller manages the dialogue with the device and presents a few registers on the bus, which the processor reads and writes like memory. When an operation ends it usually raises an interrupt, as in the previous lecture. The video card is the controller of the monitor.
UNDERSTAND NOW: device controllers.
For the lecturer: On the ESP32-C6 the controllers (SPI, I2S, GPIO, USB) are on the same chip as the processor, and their registers are memory-mapped (Lecture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a communication channel shared by several units, and its characteristics decide the performance of the whole system. Its width is the number of bits of the data bus. Its speed is the frequency at which it works. Their product is the transfer rate: a 32-bit bus at 66 MHz carries 4 bytes 66 million times per second, 264 megabytes per second. A bus is also a standard: signals, connectors and a protocol on which all the units agree.
UNDERSTAND NOW: buses and bandwidth.
For the lecturer: The example is the PCI bus: 4 bytes x 66 million cycles per second = 264 MB/s. Interface: the hardware module that encodes the data electrically or optically. Protocol: the higher-level description of how the dialogue takes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buses, and what they cost. The advantages: new devices are added easily; a peripheral can move to another computer with the same bus; one set of wires connects many peripherals; the cost per byte is low. The disadvantages: the bandwidth of the bus limits the transfer speed; the maximum speed falls as the bus gets longer and as more devices are attached; and, being shared, the bus carries only one transfer at a time.
UNDERSTAND NOW: buses and bandwidth.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years of buses in one table. Read it by columns. The early buses, ISA, PCI, AGP for the video card alone, IDE and SCSI for disks, were parallel: many wires side by side. Their successors, PCI Express, Serial ATA, USB, are serial: few wires, much faster. It is the lesson of Lecture 14. The last row is the kit: SPI, I2C and I2S are the small serial buses that connect chips on the same board.
UNDERSTAND NOW: buses and bandwidth.
For the lecturer: USB: universal serial bus. PCI: peripheral component interconnect. AGP: accelerated graphics port. IDE: integrated device electronics. ISA: industry standard architecture. SCSI: small computer system interface. PCMCIA and FireWire were in the original list. The move from parallel to serial is the lesson of Lecture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of a video card is to send the monitor the information to display. It translates the representation of the image that the processor produces into a form the monitor can show. It has memory of its own, the video memory, which holds the frame: the frame buffer. Every time the screen is redrawn, the card reads that memory and sends the signal for the colour of each pixel. And it has its own processing capability, which the last part of the lecture examines.
UNDERSTAND NOW: the video card.
For the lecturer: DAC: digital-to-analogue converter, needed for analogue monitors. On PRG32 the 'video card' is a region of RAM plus the SPI peripheral: no separate hardware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generations of monitors. A cathode-ray monitor has an analogue input: the card must convert the digital image into analogue signals with a component called RAMDAC, and noise and distortion enter along the cable. A liquid-crystal monitor has a digital input: the card adapts colours and resolution, and each pixel of the output corresponds exactly to one pixel of the screen. The conversion to analogue, and its defects, disappear.
UNDERSTAND NOW: the video card.
For the lecturer: RAMDAC: random access memory digital-analog converter. DVI could also carry analogue VGA signals for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outputs, in order of time. VGA, analogue, for cathode-ray monitors. DVI, the first digital output, which arrived with LCD monitors. HDMI, digital, which also carries audio. DisplayPort, digital, which also travels on USB-C connectors. The last row is the kit: the display is reached over an SPI bus, and the chip on the display module, an ILI9341, plays the part of the monitor's electronics for a panel of 320 by 240 pixels.
UNDERSTAND NOW: the video card.
For the lecturer: High-Definition Multimedia Interface; Digital Visual Interface; Video Graphics Array. The ILI9341 is the chip on the display module: it has its own memory for the frame and drives the liquid crystals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Resolution is the size of the grid of pixels, columns by rows. The table goes from 320 by 200, 64,000 pixels, the resolution of the Commodore 64 and of the PRG32 viewport, to 4K with more than eight million. The third column is the aspect ratio: the traditional 4:3 has given way to 16:9. Resolution determines the definition of the image, and also how many pixels must be stored and sent for every frame.
UNDERSTAND NOW: the video card.
For the lecturer: The table of the original deck also listed 800 x 600, 1280 x 1024 (5:4) and 1600 x 1200. The traditional 4:3 ratio has given way to the panoramic 16:9. The 4K row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 depth is the number of bits per pixel. With 4 bits there are 16 colours; with 8 bits, 256, and each value is usually an index into a table of colours, the palette; with 16 bits, 65,536, in the RGB565 format you know; with 24 bits, more than sixteen million, 256 shades for each primary. Memory for a frame is pixels times bytes per pixel. PRG32 uses the two middle rows together: an 8-bit frame buffer of indices and a palette of 256 RGB565 colours.
UNDERSTAND NOW: the video card.
For the lecturer: In True Color every colour is obtained from 256 shades of each of the three additive primaries. PRG32 uses both middle rows: an 8-bit frame buffer of palette indices, and a palette of 256 RGB565 colours (Lecture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the pixel on the kit, in five boxes: your code, the frame buffer in RAM, the palette that turns an index into a colour, the SPI bus, the display. The table does the arithmetic. One frame at one byte per pixel is 64,000 bytes; at two bytes it would be a quarter of the chip's RAM. On the bus each pixel travels as 16 bits: about a million bits per frame, 38 milliseconds at 27 MHz. Hence the two engineering answers: an indexed frame buffer, and sending only what changed.
UNDERSTAND NOW: the frame buffer.
For the lecturer: Figures from the PRG32 repository (docs/hardware/ili9341.md): 64,000-byte 8-bit indexed frame buffer, 512-byte palette, default SPI clock of 27 MHz, DMA transfers and dirty-rectangle tracking. 1,024,000 / 27,000,000 = 37.9 ms. The FPS counter of the demo cartridges shows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arithmetic, at the scale of a PC, explains the history of video hardware. More definition means more memory for each frame, and the flow of data towards the card risks saturating the bus. The two answers were more memory on the card itself, and a wider or dedicated bus: AGP first, PCI Express today. The figure on the right gives the scale: a 4K screen at 60 frames per second is about one and a half gigabytes of pixels every second.
UNDERSTAND NOW: the video card.
For the lecturer: With AGP the graphics processor used part of the main memory through direct access. PCI Express (2004) replaced it with more bandwidth and more power. SLI (NVIDIA) and CrossFire (AMD) linked up to four cards; today a single card, or many cards in a server, are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graphical interfaces spread, computing images took a growing share of processor time. To relieve the CPU, video cards received dedicated processors: graphics processing units. They accelerate raster operations, such as copying blocks of pixels, and 3D graphics: transformations, textures, lighting. Programs reach them through libraries, and a device driver adapts the software to the primitives of each GPU. On the kit there is no GPU: a rectangle is a loop of stores executed by the RISC-V core, and you can see its cost.
UNDERSTAND NOW: GPU and GPGPU.
For the lecturer: On PRG32 there is no GPU: prg32_gfx_rect is a loop of store instructions executed by the RISC-V core. This is why the frame rate of a busy cartridge drops, and why the students can see the cost of every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GPU applies the same operation, in parallel, to whole matrices of pixels. Nothing obliges those numbers to be pixels: GPGPU is the use of graphics processors for general computation. A GPU has a very large number of simple cores, and is programmed with models such as CUDA and OpenCL. Scientific simulation, data analysis and, above all today, the training and use of neural networks run on GPUs. The picture recalls the parallel sum of Lecture 04: the same operation on many data at once.
UNDERSTAND NOW: GPU and GPGPU.
For the lecturer: Compute Unified Device Architecture. The parallel sum of Lecture 04 is the simplest GPGPU example. The weather and marine models of the Department run on GPU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for a frame is the number of pixels times the bytes per pixel. First compute the pixels, then remember how many bytes 24 bits are.
Transfer rate is width times frequency. Convert the width into bytes before multiplying.
For the lecturer: 1. Answer: C. 307,200 pixels x 3 bytes = 921,600 bytes.
2. Answer: B. 2 bytes x 50 million transfers per second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"Indexed" is the key word. The byte does not describe the colour: it says where to find it.
Expand the acronym: the first two letters stand for "general-purpose".
For the lecturer: 1. Answer: C. The byte is an index; the actual colour is looked up in a table of 256 entries, the palette.
2. Answer: B. General-purpose computing on graphics processing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peripheral is a periferica; its controller keeps the English name. Bus width and transfer rate are larghezza del bus and velocità di trasferimento. Colour depth is profondità di colore. A palette is a tavolozza, though programmers say palette. A device driver is the software that adapts programs to a specific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a computer. Each is managed by a controller that interfaces it to the bus. A bus is characterised by width, speed and transfer rate, and its bandwidth is a limit to design around. A video card displays graphics and text: a frame buffer, a resolution, a colour depth, an output. And its processors, the GPUs, are used today for high-performance computing. The next lecture covers the other devices of input and output.
Learning status, recap. UNDERSTAND NOW: the frame buffer; device controllers; buses and bandwidth; the video card; GPU and GPGPU. USE NOW: the complete program, the PRG32 tools (used, not studied, in this course). UNDERSTAND LATER: nothing. A slide without a badge is context: a story, an example, a question, an exercise.
For the lecturer: Next lecture: input and output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20: The video card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Buses and the Video Card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a byte in memory to a pixel on the screen; graphics processors and general-purpose computing on them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“...nothing is more serious than gaming...”</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20-Computer_Architecture-Video_Card-Code.pptx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peripheral controller is and why devices need synchronisation with the processor</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Characterise a bus by width, speed and transfer rate, and list its advantages and limits</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job of a video card: frame buffer, resolution, colour depth, output interface</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the memory a frame needs and the time it takes to send it over a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GPU does and what general-purpose computing on GPUs is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Input/output devices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Peripherals are used for the interaction between the user and the system</a:t>
            </a:r>
            <a:endParaRPr lang="en-US" sz="2400" dirty="0"/>
          </a:p>
        </p:txBody>
      </p:sp>
      <p:sp>
        <p:nvSpPr>
          <p:cNvPr id="5" name="Shape 3"/>
          <p:cNvSpPr/>
          <p:nvPr/>
        </p:nvSpPr>
        <p:spPr>
          <a:xfrm>
            <a:off x="548640" y="2634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30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have limited autonomy: they are controlled and coordinated by the processor</a:t>
            </a:r>
            <a:endParaRPr lang="en-US" sz="24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0883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work asynchronously with respect to the processor, so synchronisation mechanisms are needed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input datum will be available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output device has finished producing its data</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terminal, the most common instrument of interaction, is made of two independent devices: the keyboard and the video</a:t>
            </a:r>
            <a:endParaRPr lang="en-US" sz="2400" dirty="0"/>
          </a:p>
        </p:txBody>
      </p:sp>
      <p:sp>
        <p:nvSpPr>
          <p:cNvPr id="11" name="Shape 9"/>
          <p:cNvSpPr/>
          <p:nvPr/>
        </p:nvSpPr>
        <p:spPr>
          <a:xfrm>
            <a:off x="8484692" y="91440"/>
            <a:ext cx="3158363" cy="274320"/>
          </a:xfrm>
          <a:prstGeom prst="rect">
            <a:avLst/>
          </a:prstGeom>
          <a:solidFill>
            <a:srgbClr val="E0F2FE"/>
          </a:solidFill>
          <a:ln w="12700">
            <a:solidFill>
              <a:srgbClr val="0369A1"/>
            </a:solidFill>
            <a:prstDash val="solid"/>
          </a:ln>
        </p:spPr>
      </p:sp>
      <p:sp>
        <p:nvSpPr>
          <p:cNvPr id="12" name="Shape 10"/>
          <p:cNvSpPr/>
          <p:nvPr/>
        </p:nvSpPr>
        <p:spPr>
          <a:xfrm>
            <a:off x="8484692"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4" name="Text 11"/>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device controllers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Controllers</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data bus, address bus, control</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keyboard,</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storage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disks</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Peripherals are interfaced to the processor through dedicated controllers</a:t>
            </a:r>
            <a:endParaRPr lang="en-US" sz="1700" dirty="0"/>
          </a:p>
        </p:txBody>
      </p:sp>
      <p:sp>
        <p:nvSpPr>
          <p:cNvPr id="23" name="Shape 21"/>
          <p:cNvSpPr/>
          <p:nvPr/>
        </p:nvSpPr>
        <p:spPr>
          <a:xfrm>
            <a:off x="7132320" y="2410333"/>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342642"/>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controller manages the communication between the device and all the other components, processor included</a:t>
            </a:r>
            <a:endParaRPr lang="en-US" sz="1700" dirty="0"/>
          </a:p>
        </p:txBody>
      </p:sp>
      <p:sp>
        <p:nvSpPr>
          <p:cNvPr id="25" name="Shape 23"/>
          <p:cNvSpPr/>
          <p:nvPr/>
        </p:nvSpPr>
        <p:spPr>
          <a:xfrm>
            <a:off x="7132320" y="3599053"/>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531362"/>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It presents a few registers on the bus: the processor reads and writes them like memory</a:t>
            </a:r>
            <a:endParaRPr lang="en-US" sz="1700" dirty="0"/>
          </a:p>
        </p:txBody>
      </p:sp>
      <p:sp>
        <p:nvSpPr>
          <p:cNvPr id="27" name="Shape 25"/>
          <p:cNvSpPr/>
          <p:nvPr/>
        </p:nvSpPr>
        <p:spPr>
          <a:xfrm>
            <a:off x="7132320" y="452437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45668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Generally a controller signals the end of the operation in progress by raising a signal: an interrupt (Lecture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video card is the controller of the monitor</a:t>
            </a:r>
            <a:endParaRPr lang="en-US" sz="1700" dirty="0"/>
          </a:p>
        </p:txBody>
      </p:sp>
      <p:sp>
        <p:nvSpPr>
          <p:cNvPr id="31" name="Shape 29"/>
          <p:cNvSpPr/>
          <p:nvPr/>
        </p:nvSpPr>
        <p:spPr>
          <a:xfrm>
            <a:off x="8484692" y="91440"/>
            <a:ext cx="3158363" cy="274320"/>
          </a:xfrm>
          <a:prstGeom prst="rect">
            <a:avLst/>
          </a:prstGeom>
          <a:solidFill>
            <a:srgbClr val="E0F2FE"/>
          </a:solidFill>
          <a:ln w="12700">
            <a:solidFill>
              <a:srgbClr val="0369A1"/>
            </a:solidFill>
            <a:prstDash val="solid"/>
          </a:ln>
        </p:spPr>
      </p:sp>
      <p:sp>
        <p:nvSpPr>
          <p:cNvPr id="32" name="Shape 30"/>
          <p:cNvSpPr/>
          <p:nvPr/>
        </p:nvSpPr>
        <p:spPr>
          <a:xfrm>
            <a:off x="8484692"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34" name="Text 31"/>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device controllers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characterises a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communication channel shared by several units; its characteristics decisively influence the performance of the whole system</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Width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number of bits of the data bus</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working frequency of the bus; the number of bytes per clock cycle</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rate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megabytes transmitted per second: a 32-bit bus at 66 MHz carries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standard: signals, connectors and a protocol that all the units agree on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bits at 66 MHz: width times frequency gives the transfer rate</a:t>
            </a:r>
            <a:endParaRPr lang="en-US" sz="1900" dirty="0"/>
          </a:p>
        </p:txBody>
      </p:sp>
      <p:sp>
        <p:nvSpPr>
          <p:cNvPr id="16" name="Shape 14"/>
          <p:cNvSpPr/>
          <p:nvPr/>
        </p:nvSpPr>
        <p:spPr>
          <a:xfrm>
            <a:off x="8419033" y="91440"/>
            <a:ext cx="3224022" cy="274320"/>
          </a:xfrm>
          <a:prstGeom prst="rect">
            <a:avLst/>
          </a:prstGeom>
          <a:solidFill>
            <a:srgbClr val="E0F2FE"/>
          </a:solidFill>
          <a:ln w="12700">
            <a:solidFill>
              <a:srgbClr val="0369A1"/>
            </a:solidFill>
            <a:prstDash val="solid"/>
          </a:ln>
        </p:spPr>
      </p:sp>
      <p:sp>
        <p:nvSpPr>
          <p:cNvPr id="17" name="Shape 15"/>
          <p:cNvSpPr/>
          <p:nvPr/>
        </p:nvSpPr>
        <p:spPr>
          <a:xfrm>
            <a:off x="841903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9" name="Text 16"/>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bandwidth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advantages and disadvantages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Advantages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New devices can easily be added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Peripherals can be moved from one computer to another that uses the same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set of wires connects several peripherals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Low cost per byte transmitted</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Disadvantages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bandwidth of the bus limits the transfer speed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maximum speed depends on the length of the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and on the number of devices connected to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shared resource: only one transfer at a time</a:t>
            </a:r>
            <a:endParaRPr lang="en-US" sz="2100" dirty="0"/>
          </a:p>
        </p:txBody>
      </p:sp>
      <p:sp>
        <p:nvSpPr>
          <p:cNvPr id="9" name="Shape 7"/>
          <p:cNvSpPr/>
          <p:nvPr/>
        </p:nvSpPr>
        <p:spPr>
          <a:xfrm>
            <a:off x="8419033" y="91440"/>
            <a:ext cx="3224022" cy="274320"/>
          </a:xfrm>
          <a:prstGeom prst="rect">
            <a:avLst/>
          </a:prstGeom>
          <a:solidFill>
            <a:srgbClr val="E0F2FE"/>
          </a:solidFill>
          <a:ln w="12700">
            <a:solidFill>
              <a:srgbClr val="0369A1"/>
            </a:solidFill>
            <a:prstDash val="solid"/>
          </a:ln>
        </p:spPr>
      </p:sp>
      <p:sp>
        <p:nvSpPr>
          <p:cNvPr id="10" name="Shape 8"/>
          <p:cNvSpPr/>
          <p:nvPr/>
        </p:nvSpPr>
        <p:spPr>
          <a:xfrm>
            <a:off x="8419033"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2" name="Text 9"/>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bandwidth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through the years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Used for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16 to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 of early PCs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disused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32 or 64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dedicated port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video card alone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1 to 16 lanes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video cards, fast storage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each generation doubles the speed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disks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Serial ATA and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almost every external device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from 12 Mbit/s to tens of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a few wires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chips on the same board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the buses of the PRG32 kit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bandwidth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video card does</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function: to send to the monitor the information to display</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translates the representation of the image produced by the processor into a format the monitor can show</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contains memory of its own, the video memory, which holds the frame: the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the screen must be redrawn, it reads the digital representation of the image and sends the monitor the signal for the colour of each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has processing capability of its own</a:t>
            </a:r>
            <a:endParaRPr lang="en-US" sz="2200" dirty="0"/>
          </a:p>
        </p:txBody>
      </p:sp>
      <p:sp>
        <p:nvSpPr>
          <p:cNvPr id="13" name="Shape 11"/>
          <p:cNvSpPr/>
          <p:nvPr/>
        </p:nvSpPr>
        <p:spPr>
          <a:xfrm>
            <a:off x="8747328" y="91440"/>
            <a:ext cx="2895727" cy="274320"/>
          </a:xfrm>
          <a:prstGeom prst="rect">
            <a:avLst/>
          </a:prstGeom>
          <a:solidFill>
            <a:srgbClr val="E0F2FE"/>
          </a:solidFill>
          <a:ln w="12700">
            <a:solidFill>
              <a:srgbClr val="0369A1"/>
            </a:solidFill>
            <a:prstDash val="solid"/>
          </a:ln>
        </p:spPr>
      </p:sp>
      <p:sp>
        <p:nvSpPr>
          <p:cNvPr id="14" name="Shape 12"/>
          <p:cNvSpPr/>
          <p:nvPr/>
        </p:nvSpPr>
        <p:spPr>
          <a:xfrm>
            <a:off x="8747328"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16" name="Text 1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Analogue and digital monitors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CRT monitor, analogue input</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converts the digital image into analogue signals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conversion is done by a component called RAMDAC</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VGA output (1987): designed for cathode-ray tubes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Problems: electrical noise, distortion, errors in placing the pixels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LCD monitor, digital input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adapts colours and resolution of the image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Provides local memory to use as a buffer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Supports graphics acceleration, for example 3D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DVI: each pixel of the output corresponds to one pixel of the screen, at its native resolution</a:t>
            </a:r>
            <a:endParaRPr lang="en-US" sz="2100" dirty="0"/>
          </a:p>
        </p:txBody>
      </p:sp>
      <p:sp>
        <p:nvSpPr>
          <p:cNvPr id="9" name="Shape 7"/>
          <p:cNvSpPr/>
          <p:nvPr/>
        </p:nvSpPr>
        <p:spPr>
          <a:xfrm>
            <a:off x="8747328" y="91440"/>
            <a:ext cx="2895727" cy="274320"/>
          </a:xfrm>
          <a:prstGeom prst="rect">
            <a:avLst/>
          </a:prstGeom>
          <a:solidFill>
            <a:srgbClr val="E0F2FE"/>
          </a:solidFill>
          <a:ln w="12700">
            <a:solidFill>
              <a:srgbClr val="0369A1"/>
            </a:solidFill>
            <a:prstDash val="solid"/>
          </a:ln>
        </p:spPr>
      </p:sp>
      <p:sp>
        <p:nvSpPr>
          <p:cNvPr id="10" name="Shape 8"/>
          <p:cNvSpPr/>
          <p:nvPr/>
        </p:nvSpPr>
        <p:spPr>
          <a:xfrm>
            <a:off x="8747328"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12" name="Text 9"/>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Video outputs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Signal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for CRT monitors; kept for years for compatibility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(and 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introduced with LCD monitors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replaces the earlier standards; carries audio too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and other data; also over USB-C connectors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to a display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serial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PRG32 kit: an ILI9341 panel of 320 by 240 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5"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7"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Resolution: the size of the pixel grid</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Aspect ratio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VGA games, the PRG32 viewport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monitors of the 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resolution determines the definition of the image, and how many pixels must be stored and sent for every frame.</a:t>
            </a:r>
            <a:endParaRPr lang="en-US" sz="1500" dirty="0"/>
          </a:p>
        </p:txBody>
      </p:sp>
      <p:sp>
        <p:nvSpPr>
          <p:cNvPr id="5" name="Shape 2"/>
          <p:cNvSpPr/>
          <p:nvPr/>
        </p:nvSpPr>
        <p:spPr>
          <a:xfrm>
            <a:off x="8747328" y="91440"/>
            <a:ext cx="2895727" cy="274320"/>
          </a:xfrm>
          <a:prstGeom prst="rect">
            <a:avLst/>
          </a:prstGeom>
          <a:solidFill>
            <a:srgbClr val="E0F2FE"/>
          </a:solidFill>
          <a:ln w="12700">
            <a:solidFill>
              <a:srgbClr val="0369A1"/>
            </a:solidFill>
            <a:prstDash val="solid"/>
          </a:ln>
        </p:spPr>
      </p:sp>
      <p:sp>
        <p:nvSpPr>
          <p:cNvPr id="6" name="Shape 3"/>
          <p:cNvSpPr/>
          <p:nvPr/>
        </p:nvSpPr>
        <p:spPr>
          <a:xfrm>
            <a:off x="8747328"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8" name="Text 4"/>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Colour depth: bits per pixel</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Colours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Bytes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standard 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256-colour mode: each value is an index into 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shades of each of red, green and blue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5"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7"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Following the pixel on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your code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entries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of 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SPI bus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 with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Quantity</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Value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memory for one frame, one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the same frame at two bytes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bytes: a quarter of all the RAM of the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bits sent to the display for a whole frame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pixels x 16 bits = 1,024,000 bits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time on the bus at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about 38 ms: at most some 26 full frames per second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Two engineering answers: an indexed frame buffer halves the memory, and only the rows that changed are sent.</a:t>
            </a:r>
            <a:endParaRPr lang="en-US" sz="1500" dirty="0"/>
          </a:p>
        </p:txBody>
      </p:sp>
      <p:sp>
        <p:nvSpPr>
          <p:cNvPr id="14" name="Shape 11"/>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2"/>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 and bandwidth: the pressure on video hardware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memory and the processor time needed by ever more demanding graphics, 3D video games above all, imposed a rapid evolution on video cards</a:t>
            </a:r>
            <a:endParaRPr lang="en-US" sz="2000" dirty="0"/>
          </a:p>
        </p:txBody>
      </p:sp>
      <p:sp>
        <p:nvSpPr>
          <p:cNvPr id="5" name="Shape 3"/>
          <p:cNvSpPr/>
          <p:nvPr/>
        </p:nvSpPr>
        <p:spPr>
          <a:xfrm>
            <a:off x="548640" y="26360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51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As the definition of the images grows, so does the memory needed to represent a frame</a:t>
            </a:r>
            <a:endParaRPr lang="en-US" sz="2000" dirty="0"/>
          </a:p>
        </p:txBody>
      </p:sp>
      <p:sp>
        <p:nvSpPr>
          <p:cNvPr id="7" name="Shape 5"/>
          <p:cNvSpPr/>
          <p:nvPr/>
        </p:nvSpPr>
        <p:spPr>
          <a:xfrm>
            <a:off x="548640" y="34540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6308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flow of data from the memory to the video card risks saturating the capacity of the bus</a:t>
            </a:r>
            <a:endParaRPr lang="en-US" sz="2000" dirty="0"/>
          </a:p>
        </p:txBody>
      </p:sp>
      <p:sp>
        <p:nvSpPr>
          <p:cNvPr id="9" name="Shape 7"/>
          <p:cNvSpPr/>
          <p:nvPr/>
        </p:nvSpPr>
        <p:spPr>
          <a:xfrm>
            <a:off x="548640" y="427196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0"/>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Two lines of attack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more and more memory on the card itself: the video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wider or dedicated bus: AGP yesterday, PCI Express today</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Several cards could even be connected together to share the work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million pixels x 3 bytes x 60 frames: about 1.5 GB of pixels every second</a:t>
            </a:r>
            <a:endParaRPr lang="en-US" sz="1900" dirty="0"/>
          </a:p>
        </p:txBody>
      </p:sp>
      <p:sp>
        <p:nvSpPr>
          <p:cNvPr id="16" name="Shape 14"/>
          <p:cNvSpPr/>
          <p:nvPr/>
        </p:nvSpPr>
        <p:spPr>
          <a:xfrm>
            <a:off x="8747328" y="91440"/>
            <a:ext cx="2895727" cy="274320"/>
          </a:xfrm>
          <a:prstGeom prst="rect">
            <a:avLst/>
          </a:prstGeom>
          <a:solidFill>
            <a:srgbClr val="E0F2FE"/>
          </a:solidFill>
          <a:ln w="12700">
            <a:solidFill>
              <a:srgbClr val="0369A1"/>
            </a:solidFill>
            <a:prstDash val="solid"/>
          </a:ln>
        </p:spPr>
      </p:sp>
      <p:sp>
        <p:nvSpPr>
          <p:cNvPr id="17" name="Shape 15"/>
          <p:cNvSpPr/>
          <p:nvPr/>
        </p:nvSpPr>
        <p:spPr>
          <a:xfrm>
            <a:off x="874732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19" name="Text 16"/>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graphics processing unit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share of processor time spent computing images grew with the use of graphical interfaces</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 relieve the CPU, video cards were given dedicated processors: GPUs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They accelerate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raster graphics: copying blocks of pixels (blitting), operations on textures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3D graphics: transformations, texture mapping, lighting</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Programs use them through libraries: OpenGL, Direct3D, and today Vulkan and Metal</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driver adapts the software running on the CPU to the primitives offered by the GPU; what is not supported is emulated by the CPU, slowly</a:t>
            </a:r>
            <a:endParaRPr lang="en-US" sz="20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No GPU on the kit: every pixel is a store instruction</a:t>
            </a:r>
            <a:endParaRPr lang="en-US" sz="1200" dirty="0"/>
          </a:p>
        </p:txBody>
      </p:sp>
      <p:sp>
        <p:nvSpPr>
          <p:cNvPr id="15" name="Shape 12"/>
          <p:cNvSpPr/>
          <p:nvPr/>
        </p:nvSpPr>
        <p:spPr>
          <a:xfrm>
            <a:off x="8812987" y="91440"/>
            <a:ext cx="2830068" cy="274320"/>
          </a:xfrm>
          <a:prstGeom prst="rect">
            <a:avLst/>
          </a:prstGeom>
          <a:solidFill>
            <a:srgbClr val="E0F2FE"/>
          </a:solidFill>
          <a:ln w="12700">
            <a:solidFill>
              <a:srgbClr val="0369A1"/>
            </a:solidFill>
            <a:prstDash val="solid"/>
          </a:ln>
        </p:spPr>
      </p:sp>
      <p:sp>
        <p:nvSpPr>
          <p:cNvPr id="16" name="Shape 13"/>
          <p:cNvSpPr/>
          <p:nvPr/>
        </p:nvSpPr>
        <p:spPr>
          <a:xfrm>
            <a:off x="881298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941003" y="128016"/>
            <a:ext cx="201168" cy="201168"/>
          </a:xfrm>
          <a:prstGeom prst="rect">
            <a:avLst/>
          </a:prstGeom>
        </p:spPr>
      </p:pic>
      <p:sp>
        <p:nvSpPr>
          <p:cNvPr id="18" name="Text 14"/>
          <p:cNvSpPr txBox="1"/>
          <p:nvPr/>
        </p:nvSpPr>
        <p:spPr>
          <a:xfrm>
            <a:off x="9197035" y="91440"/>
            <a:ext cx="240944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General-purpose computing on GPUs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Modern GPUs execute the same operation in parallel on whole matrices of pixels</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GPGPU: using GPUs for applications of a general kind, not necessarily graphical</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very large number of simple cores per GPU: hundreds, thousands</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Programming models: CUDA (NVIDIA) and OpenCL, an open standard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Scientific simulation, data analysis and, above all today, the training and use of neural networks run on GPUs</a:t>
            </a:r>
            <a:endParaRPr lang="en-US" sz="22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265761"/>
            <a:ext cx="4876495" cy="260079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same operation on many data at once</a:t>
            </a:r>
            <a:endParaRPr lang="en-US" sz="1200" dirty="0"/>
          </a:p>
        </p:txBody>
      </p:sp>
      <p:sp>
        <p:nvSpPr>
          <p:cNvPr id="15" name="Shape 12"/>
          <p:cNvSpPr/>
          <p:nvPr/>
        </p:nvSpPr>
        <p:spPr>
          <a:xfrm>
            <a:off x="8812987" y="91440"/>
            <a:ext cx="2830068" cy="274320"/>
          </a:xfrm>
          <a:prstGeom prst="rect">
            <a:avLst/>
          </a:prstGeom>
          <a:solidFill>
            <a:srgbClr val="E0F2FE"/>
          </a:solidFill>
          <a:ln w="12700">
            <a:solidFill>
              <a:srgbClr val="0369A1"/>
            </a:solidFill>
            <a:prstDash val="solid"/>
          </a:ln>
        </p:spPr>
      </p:sp>
      <p:sp>
        <p:nvSpPr>
          <p:cNvPr id="16" name="Shape 13"/>
          <p:cNvSpPr/>
          <p:nvPr/>
        </p:nvSpPr>
        <p:spPr>
          <a:xfrm>
            <a:off x="881298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941003" y="128016"/>
            <a:ext cx="201168" cy="201168"/>
          </a:xfrm>
          <a:prstGeom prst="rect">
            <a:avLst/>
          </a:prstGeom>
        </p:spPr>
      </p:pic>
      <p:sp>
        <p:nvSpPr>
          <p:cNvPr id="18" name="Text 14"/>
          <p:cNvSpPr txBox="1"/>
          <p:nvPr/>
        </p:nvSpPr>
        <p:spPr>
          <a:xfrm>
            <a:off x="9197035" y="91440"/>
            <a:ext cx="240944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much memory does a frame of 640 x 480 pixels need in True Color (24 bits)?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307,200 bytes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614,400 bytes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921,600 bytes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7,372,800 bytes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16-bit bus works at 50 MHz, one transfer per cycle. What is its transfer rate?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50 MB/s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MB/s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MB/s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800 MB/s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an 8-bit indexed frame buffer, the byte of a pixel contains: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red component</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brightness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position of its colour in a palette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x coordinate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is GPGPU?</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faster video output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Using graphics processors for non-graphical computation</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bus for video cards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kind of video memory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200" dirty="0"/>
          </a:p>
        </p:txBody>
      </p:sp>
      <p:sp>
        <p:nvSpPr>
          <p:cNvPr id="5" name="Shape 3"/>
          <p:cNvSpPr/>
          <p:nvPr/>
        </p:nvSpPr>
        <p:spPr>
          <a:xfrm>
            <a:off x="548640" y="20127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632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Devices are managed by a controller that interfaces them to the bus</a:t>
            </a:r>
            <a:endParaRPr lang="en-US" sz="2200" dirty="0"/>
          </a:p>
        </p:txBody>
      </p:sp>
      <p:sp>
        <p:nvSpPr>
          <p:cNvPr id="7" name="Shape 5"/>
          <p:cNvSpPr/>
          <p:nvPr/>
        </p:nvSpPr>
        <p:spPr>
          <a:xfrm>
            <a:off x="548640" y="25017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9532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bus is characterised by width, speed and transfer rate; its bandwidth is a limit to design around</a:t>
            </a:r>
            <a:endParaRPr lang="en-US" sz="2200" dirty="0"/>
          </a:p>
        </p:txBody>
      </p:sp>
      <p:sp>
        <p:nvSpPr>
          <p:cNvPr id="9" name="Shape 7"/>
          <p:cNvSpPr/>
          <p:nvPr/>
        </p:nvSpPr>
        <p:spPr>
          <a:xfrm>
            <a:off x="548640" y="333161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2519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Video cards make it possible to display graphics and text: a frame buffer, a resolution, a colour depth, an output</a:t>
            </a:r>
            <a:endParaRPr lang="en-US" sz="2200" dirty="0"/>
          </a:p>
        </p:txBody>
      </p:sp>
      <p:sp>
        <p:nvSpPr>
          <p:cNvPr id="11" name="Shape 9"/>
          <p:cNvSpPr/>
          <p:nvPr/>
        </p:nvSpPr>
        <p:spPr>
          <a:xfrm>
            <a:off x="548640" y="416148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5505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Their processors, the GPUs, are also used for high-performance computing</a:t>
            </a:r>
            <a:endParaRPr lang="en-US" sz="2200" dirty="0"/>
          </a:p>
        </p:txBody>
      </p:sp>
      <p:sp>
        <p:nvSpPr>
          <p:cNvPr id="13" name="Shape 11"/>
          <p:cNvSpPr/>
          <p:nvPr/>
        </p:nvSpPr>
        <p:spPr>
          <a:xfrm>
            <a:off x="548640" y="4650486"/>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Tanenbaum, Austin: Structured Computer Organization, chapters 2 and 3 (buses, displays)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7: the graphics game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docs/hardware/ili9341.md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Buses and the Video Card</dc:title>
  <dc:subject>Lecture 20</dc:subject>
  <dc:creator>Raffaele Montella</dc:creator>
  <cp:lastModifiedBy>Raffaele Montella</cp:lastModifiedBy>
  <cp:revision>1</cp:revision>
  <dcterms:created xsi:type="dcterms:W3CDTF">2026-10-16T15:51:38Z</dcterms:created>
  <dcterms:modified xsi:type="dcterms:W3CDTF">2026-10-16T15:51:38Z</dcterms:modified>
</cp:coreProperties>
</file>