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442993-74f7-92a6-9f0a-c6dc8f53404d}">
          <p14:sldIdLst>
            <p14:sldId id="256"/>
            <p14:sldId id="257"/>
          </p14:sldIdLst>
        </p14:section>
        <p14:section name="Peripherals and controllers" id="{bd82e8d0-648a-9bb9-5142-3de12543cd21}">
          <p14:sldIdLst>
            <p14:sldId id="258"/>
            <p14:sldId id="259"/>
          </p14:sldIdLst>
        </p14:section>
        <p14:section name="Buses" id="{629a6d30-5b57-37bf-a14d-5845eea951a5}">
          <p14:sldIdLst>
            <p14:sldId id="260"/>
            <p14:sldId id="261"/>
            <p14:sldId id="262"/>
          </p14:sldIdLst>
        </p14:section>
        <p14:section name="The video card" id="{6c2b63c5-9f36-35d5-d747-275f019325c3}">
          <p14:sldIdLst>
            <p14:sldId id="263"/>
            <p14:sldId id="264"/>
            <p14:sldId id="265"/>
            <p14:sldId id="266"/>
            <p14:sldId id="267"/>
            <p14:sldId id="268"/>
            <p14:sldId id="269"/>
          </p14:sldIdLst>
        </p14:section>
        <p14:section name="GPU and GPGPU" id="{baca0ee9-d43e-18cc-61f9-c4d6d093dfe9}">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lecture the course leaves the processor and turns to its surroundings. The subject is the path of an image, from a number in memory to a point of light on the screen. Along the way two general ideas are encountered, the peripheral controller and the bus, together with one specific machine, the video card and its processor, the GPU. The kit has no video card at all, and for teaching purposes this is an advantage: every step that a card would conceal is performed by code that can be read, and its cost measured.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frame buffer; device controllers; buses and bandwidth; the video card; GPU and GPGPU. USE NOW: the complete program, the PRG32 tools (used, not studied, in this course). UNDERSTAND LATER: nothing. A slide without a badge is context: a story, an example, a question, an exercise.
Roadmap. Today's outcomes: (1) explain why devices sit behind controllers and how the processor talks to them; (2) compute the size of a frame buffer and the bandwidth of a video signal; (3) describe what a video card and a GPU do. Builds on: only what Lecture 01 set up. Next: Lecture 21, Input and Output.
For the lecturer: Spiral: one call draws one pixel on PRG32; the lecture follows that pixel from the frame buffer to the display, then generalises to buses, video cards, GPUs and GPGPU. The kit has no video card: its processor does everything, which makes every step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learning outcomes. Explaining what a peripheral controller is and why devices must be synchronised with the processor. Characterising a bus by its width, speed and transfer rate. Describing the function of a video card: frame buffer, resolution, colour depth and output interface. Computing the memory a frame requires and the time needed to send it across a bus. And explaining what a GPU does and what it means to use it for general-purpose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Peripherals serve the interaction between the user and the system. They enjoy limited autonomy, being controlled and coordinated by the processor. And they operate asynchronously, at their own pace, so synchronisation mechanisms are required: to know when an input datum is available, and when an output device has completed its task. The terminal, the most common instrument of interaction, consists in fact of two independent devices, a keyboard and a display; it is the processor that copies to the display what arrives from the keyboard.
UNDERSTAND NOW: device controllers.
For the lecturer: Keyboard and video are not directly connected: the processor reproduces on the video what arrives from the keyboard (Lecture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peripheral is never connected directly to the processor: a controller is interposed. In the diagram, processor and memory sit on the bus, and so do the controllers, each with its device on the far side. The controller manages the dialogue with the device and presents a few registers on the bus, which the processor reads and writes as memory, by the memory-mapped I/O of Lecture 15. When an operation completes, the controller typically raises an interrupt, as in the previous lecture. The video card is the controller of the monitor.
UNDERSTAND NOW: device controllers.
For the lecturer: On the ESP32-C6 the controllers (SPI, I2S, GPIO, USB) are on the same chip as the processor, and their registers are memory-mapped (Lecture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 is a communication channel shared by several units, and its characteristics determine the performance of the whole system. Its width is the number of bits of the data bus; its speed is the frequency at which it operates; their product is the transfer rate. A 32-bit bus at 66 MHz carries 4 bytes 66 million times per second, 264 megabytes per second. A bus is also a standard: signals, connectors and a protocol on which all the attached units agree.
UNDERSTAND NOW: buses and bandwidth.
For the lecturer: The example is the PCI bus: 4 bytes x 66 million cycles per second = 264 MB/s. Interface: the hardware module that encodes the data electrically or optically. Protocol: the higher-level description of how the dialogue takes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merits and costs of buses. The advantages: new devices are added easily; a peripheral can be moved to another computer with the same bus; one set of wires connects many peripherals; the cost per byte transferred is low. The disadvantages: the bandwidth of the bus bounds the transfer speed; the maximum speed decreases as the bus grows longer and as more devices are attached; and, being shared, the bus carries only one transfer at a time, the limitation already observed for the common bus of Lecture 14.
UNDERSTAND NOW: buses and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years of buses in one table, best read by columns. The early buses, ISA, PCI, AGP for the video card alone, IDE and SCSI for disks, were parallel, with many wires side by side. Their successors, PCI Express, Serial ATA and USB, are serial: few wires, far higher speeds. This is the trend stated in Lecture 14, now documented historically. The last row is the kit: SPI, I2C and I2S are the small serial buses that connect chips on the same board.
UNDERSTAND NOW: buses and bandwidth.
For the lecturer: USB: universal serial bus. PCI: peripheral component interconnect. AGP: accelerated graphics port. IDE: integrated device electronics. ISA: industry standard architecture. SCSI: small computer system interface. PCMCIA and FireWire were in the original list. The move from parallel to serial is the lesson of Lecture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of a video card is to supply the monitor with the information to be displayed. It translates the representation of the image produced by the processor into a form the monitor can render. It has a memory of its own, the video memory, which holds the frame, the frame buffer. At every refresh of the screen the card reads that memory and emits the signal encoding the colour of each pixel. It also has its own processing capability, which the last part of the lecture examines.
UNDERSTAND NOW: the video card.
For the lecturer: DAC: digital-to-analogue converter, needed for analogue monitors. On PRG32 the 'video card' is a region of RAM plus the SPI peripheral: no separate hardware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generations of monitor. A cathode-ray monitor has an analogue input: the card must convert the digital image into analogue signals with a component called the RAMDAC, and noise and distortion enter along the cable. A liquid-crystal monitor has a digital input: the card adapts colours and resolution, and each output pixel corresponds exactly to one pixel of the panel. The conversion to analogue, and its defects, disappear, an instance of the advantage of digital representation argued in Lecture 10.
UNDERSTAND NOW: the video card.
For the lecturer: RAMDAC: random access memory digital-analog converter. DVI could also carry analogue VGA signals for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outputs, in chronological order. VGA, analogue, for cathode-ray monitors. DVI, the first digital output, which arrived with LCD monitors. HDMI, digital, which also carries audio. DisplayPort, digital, which can also travel over USB-C connectors. The last row is the kit: the display is reached over an SPI bus, and the chip on the display module, an ILI9341, plays the role of the monitor electronics for a panel of 320 by 240 pixels, with its own memory for the frame.
UNDERSTAND NOW: the video card.
For the lecturer: High-Definition Multimedia Interface; Digital Visual Interface; Video Graphics Array. The ILI9341 is the chip on the display module: it has its own memory for the frame and drives the liquid crystals (Lecture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Resolution is the size of the pixel grid, columns by rows. The table ranges from 320 by 200, 64,000 pixels, the resolution of the Commodore 64 and of the PRG32 viewport, to 4K, with more than eight million. The third column gives the aspect ratio, where the traditional 4:3 has given way to 16:9. Resolution determines the definition of the image, and also the number of pixels that must be stored and transmitted for each frame.
UNDERSTAND NOW: the video card.
For the lecturer: The table of the original deck also listed 800 x 600, 1280 x 1024 (5:4) and 1600 x 1200. The traditional 4:3 ratio has given way to the panoramic 16:9. The 4K row is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depth is the number of bits per pixel. With 4 bits there are 16 colours; with 8 bits, 256, each value usually an index into a colour table, the palette; with 16 bits, 65,536, in the familiar RGB565 format; with 24 bits, more than sixteen million, with 256 levels for each primary. The memory required by a frame is the number of pixels times the bytes per pixel. PRG32 combines the two middle rows: an 8-bit frame buffer of indices and a palette of 256 RGB565 colours, trading colour freedom for memory.
UNDERSTAND NOW: the video card.
For the lecturer: In True Color every colour is obtained from 256 shades of each of the three additive primaries. PRG32 uses both middle rows: an 8-bit frame buffer of palette indices, and a palette of 256 RGB565 colours (Lecture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of a pixel on the kit, in five stages: the program, the frame buffer in RAM, the palette that maps an index to a colour, the SPI bus, the display. The table carries out the arithmetic. One frame at one byte per pixel occupies 64,000 bytes; at two bytes it would consume a quarter of the chip's RAM. On the bus each pixel travels as 16 bits, about a million bits per frame, or 38 milliseconds at 27 MHz. Two engineering responses follow: an indexed frame buffer, and transmitting only what has changed, which Verm1 Part 4 implements.
UNDERSTAND NOW: the frame buffer.
For the lecturer: Figures from the PRG32 repository (docs/hardware/ili9341.md): 64,000-byte 8-bit indexed frame buffer, 512-byte palette, default SPI clock of 27 MHz, DMA transfers and dirty-rectangle tracking. 1,024,000 / 27,000,000 = 37.9 ms. The FPS counter of the demo cartridges shows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arithmetic at the scale of a PC explains the history of video hardware. Higher definition requires more memory per frame, and the stream of data towards the card threatens to saturate the bus. The two responses were more memory on the card itself and a wider or dedicated bus: AGP first, PCI Express today. The figure on the right conveys the scale: a 4K screen at 60 frames per second amounts to about one and a half gigabytes of pixels every second.
UNDERSTAND NOW: the video card.
For the lecturer: With AGP the graphics processor used part of the main memory through direct access. PCI Express (2004) replaced it with more bandwidth and more power. SLI (NVIDIA) and CrossFire (AMD) linked up to four cards; today a single card, or many cards in a server, are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graphical interfaces spread, computing images consumed a growing share of processor time. To relieve the CPU, video cards acquired dedicated processors, graphics processing units, which accelerate raster operations, such as copying blocks of pixels, and 3D graphics: transformations, textures, lighting. Programs reach them through libraries, and a device driver adapts the software to the primitives of each GPU. The kit has no GPU: a rectangle is a loop of stores executed by the RISC-V core, and its cost is directly observable.
UNDERSTAND NOW: GPU and GPGPU.
For the lecturer: On PRG32 there is no GPU: prg32_gfx_rect is a loop of store instructions executed by the RISC-V core. This is why the frame rate of a busy cartridge drops, and why the students can see the cost of every 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GPU applies the same operation in parallel to whole matrices of pixels, and nothing requires those numbers to be pixels: GPGPU is the use of graphics processors for general computation. A GPU contains a very large number of simple cores and is programmed with models such as CUDA and OpenCL. Scientific simulation, data analysis and, above all today, the training and inference of neural networks run on GPUs. The picture recalls the parallel sum of Lecture 04: one operation applied to many data at once. Lecture 24 returns to this model of computation.
UNDERSTAND NOW: GPU and GPGPU.
For the lecturer: Compute Unified Device Architecture. The parallel sum of Lecture 04 is the simplest GPGPU example. The weather and marine models of the Department run on GPU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the memory required by a frame is the number of pixels times the bytes per pixel. The pixels are computed first, then one recalls how many bytes 24 bits represent.
For the second: the transfer rate is width times frequency, with the width converted to bytes before multiplying.
For the lecturer: 1. Answer: C. 307,200 pixels x 3 bytes = 921,600 bytes.
2. Answer: B. 2 bytes x 50 million transfers per second = 100 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"indexed" is the key word: the byte does not describe the colour but indicates where to find it.
For the second, the acronym is expanded: its first two letters stand for "general-purpose".
For the lecturer: 1. Answer: C. The byte is an index; the actual colour is looked up in a table of 256 entries, the palette.
2. Answer: B. General-purpose computing on graphics processing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A peripheral is a periferica; its controller retains the English name. Bus width and transfer rate are larghezza del bus and velocità di trasferimento. Colour depth is profondità di colore. A palette is a tavolozza, though programmers say palette. A device driver is the software that adapts programs to a specific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Input/output devices are a fundamental part of a computer. Each is managed by a controller that interfaces it to the bus. A bus is characterised by width, speed and transfer rate, and its bandwidth is a constraint that designs must respect. A video card displays graphics and text through a frame buffer, a resolution, a colour depth and an output interface. And its processors, the GPUs, are today used for high-performance computing. The next lecture covers the other input and output devices.
Learning status, recap. UNDERSTAND NOW: the frame buffer; device controllers; buses and bandwidth; the video card; GPU and GPGPU. USE NOW: the complete program, the PRG32 tools (used, not studied, in this course). UNDERSTAND LATER: nothing. A slide without a badge is context: a story, an example, a question, an exercise. Closing thread: Every rectangle drawn since Lecture 02 ended in a frame buffer that a controller sends to the screen many times a second. Next: the other devices: displays, keyboards, printers. Exit ticket (two to four minutes, alone, on paper): 1. Why is a device never connected directly to the processor? Say what its controller does and how the processor talks to it. 2. A screen of 320 x 200 pixels uses 16 bits per pixel and is redrawn 30 times per second. How much frame-buffer memory is needed, and how many bytes per second must reach the screen?
For the lecturer: Next lecture: input and output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20: The video card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Buses and the Video Card</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From a byte in memory to a pixel on the screen; graphics processors and general-purpose computing on them</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“...nothing is more serious than gaming...”</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attributed to Jean Cocteau (1889-1963)</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20-Computer_Architecture-Video_Card-Lab.pptx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a peripheral controller is and why devices need synchronisation with the processor</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Characterise a bus by width, speed and transfer rate, and list its advantages and limits</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the job of a video card: frame buffer, resolution, colour depth, output interface</a:t>
            </a:r>
            <a:endParaRPr lang="en-US" sz="2200" dirty="0"/>
          </a:p>
        </p:txBody>
      </p:sp>
      <p:sp>
        <p:nvSpPr>
          <p:cNvPr id="9" name="Text 7"/>
          <p:cNvSpPr txBox="1"/>
          <p:nvPr/>
        </p:nvSpPr>
        <p:spPr>
          <a:xfrm>
            <a:off x="548640" y="467258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65429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Compute the memory a frame needs and the time it takes to send it over a bus</a:t>
            </a:r>
            <a:endParaRPr lang="en-US" sz="2200" dirty="0"/>
          </a:p>
        </p:txBody>
      </p:sp>
      <p:sp>
        <p:nvSpPr>
          <p:cNvPr id="11" name="Text 9"/>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a GPU does and what general-purpose computing on GPUs is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Input/output devices</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Peripherals are used for the interaction between the user and the system</a:t>
            </a:r>
            <a:endParaRPr lang="en-US" sz="2400" dirty="0"/>
          </a:p>
        </p:txBody>
      </p:sp>
      <p:sp>
        <p:nvSpPr>
          <p:cNvPr id="5" name="Shape 3"/>
          <p:cNvSpPr/>
          <p:nvPr/>
        </p:nvSpPr>
        <p:spPr>
          <a:xfrm>
            <a:off x="548640" y="2634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1307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They have limited autonomy: they are controlled and coordinated by the processor</a:t>
            </a:r>
            <a:endParaRPr lang="en-US" sz="24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08832"/>
            <a:ext cx="10710367" cy="14676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They work asynchronously with respect to the processor, so synchronisation mechanisms are needed</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to know when an input datum will be available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to know when an output device has finished producing its data</a:t>
            </a:r>
            <a:endParaRPr lang="en-US" sz="2400" dirty="0"/>
          </a:p>
        </p:txBody>
      </p:sp>
      <p:sp>
        <p:nvSpPr>
          <p:cNvPr id="9" name="Shape 7"/>
          <p:cNvSpPr/>
          <p:nvPr/>
        </p:nvSpPr>
        <p:spPr>
          <a:xfrm>
            <a:off x="548640" y="555040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terminal, the most common instrument of interaction, is made of two independent devices: the keyboard and the video</a:t>
            </a:r>
            <a:endParaRPr lang="en-US" sz="2400" dirty="0"/>
          </a:p>
        </p:txBody>
      </p:sp>
      <p:sp>
        <p:nvSpPr>
          <p:cNvPr id="11" name="Shape 9"/>
          <p:cNvSpPr/>
          <p:nvPr/>
        </p:nvSpPr>
        <p:spPr>
          <a:xfrm>
            <a:off x="8484692" y="91440"/>
            <a:ext cx="3158363" cy="274320"/>
          </a:xfrm>
          <a:prstGeom prst="rect">
            <a:avLst/>
          </a:prstGeom>
          <a:solidFill>
            <a:srgbClr val="E0F2FE"/>
          </a:solidFill>
          <a:ln w="12700">
            <a:solidFill>
              <a:srgbClr val="0369A1"/>
            </a:solidFill>
            <a:prstDash val="solid"/>
          </a:ln>
        </p:spPr>
      </p:sp>
      <p:sp>
        <p:nvSpPr>
          <p:cNvPr id="12" name="Shape 10"/>
          <p:cNvSpPr/>
          <p:nvPr/>
        </p:nvSpPr>
        <p:spPr>
          <a:xfrm>
            <a:off x="8484692"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14" name="Text 11"/>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device controllers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Controllers</a:t>
            </a:r>
            <a:endParaRPr lang="en-US" sz="3200" dirty="0"/>
          </a:p>
        </p:txBody>
      </p:sp>
      <p:sp>
        <p:nvSpPr>
          <p:cNvPr id="3" name="Text 1"/>
          <p:cNvSpPr txBox="1"/>
          <p:nvPr/>
        </p:nvSpPr>
        <p:spPr>
          <a:xfrm>
            <a:off x="731520" y="1691640"/>
            <a:ext cx="2011680" cy="822960"/>
          </a:xfrm>
          <a:prstGeom prst="roundRect">
            <a:avLst>
              <a:gd name="adj" fmla="val 6667"/>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processor</a:t>
            </a:r>
            <a:endParaRPr lang="en-US" sz="1600" dirty="0"/>
          </a:p>
        </p:txBody>
      </p:sp>
      <p:sp>
        <p:nvSpPr>
          <p:cNvPr id="4" name="Text 2"/>
          <p:cNvSpPr txBox="1"/>
          <p:nvPr/>
        </p:nvSpPr>
        <p:spPr>
          <a:xfrm>
            <a:off x="3291840" y="1691640"/>
            <a:ext cx="2011680" cy="822960"/>
          </a:xfrm>
          <a:prstGeom prst="roundRect">
            <a:avLst>
              <a:gd name="adj" fmla="val 6667"/>
            </a:avLst>
          </a:prstGeom>
          <a:solidFill>
            <a:srgbClr val="6B4FA0"/>
          </a:solidFill>
          <a:ln>
            <a:solidFill>
              <a:srgbClr val="6B4FA0"/>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memory</a:t>
            </a:r>
            <a:endParaRPr lang="en-US" sz="1600" dirty="0"/>
          </a:p>
        </p:txBody>
      </p:sp>
      <p:sp>
        <p:nvSpPr>
          <p:cNvPr id="5" name="Shape 3"/>
          <p:cNvSpPr/>
          <p:nvPr/>
        </p:nvSpPr>
        <p:spPr>
          <a:xfrm>
            <a:off x="548640" y="3246120"/>
            <a:ext cx="6126480" cy="0"/>
          </a:xfrm>
          <a:prstGeom prst="line">
            <a:avLst/>
          </a:prstGeom>
          <a:noFill/>
          <a:ln w="76200">
            <a:solidFill>
              <a:srgbClr val="C7791B"/>
            </a:solidFill>
            <a:prstDash val="solid"/>
          </a:ln>
        </p:spPr>
      </p:sp>
      <p:sp>
        <p:nvSpPr>
          <p:cNvPr id="6" name="Text 4"/>
          <p:cNvSpPr txBox="1"/>
          <p:nvPr/>
        </p:nvSpPr>
        <p:spPr>
          <a:xfrm>
            <a:off x="548640" y="3337560"/>
            <a:ext cx="3657600" cy="274320"/>
          </a:xfrm>
          <a:prstGeom prst="rect">
            <a:avLst/>
          </a:prstGeom>
          <a:noFill/>
          <a:ln/>
        </p:spPr>
        <p:txBody>
          <a:bodyPr wrap="square" lIns="0" tIns="0" rIns="0" bIns="0" rtlCol="0" anchor="t"/>
          <a:lstStyle/>
          <a:p>
            <a:pPr indent="0" marL="0">
              <a:buNone/>
            </a:pPr>
            <a:r>
              <a:rPr lang="en-US" sz="1300" b="1" dirty="0">
                <a:solidFill>
                  <a:srgbClr val="C7791B"/>
                </a:solidFill>
                <a:latin typeface="Calibri" pitchFamily="34" charset="0"/>
                <a:ea typeface="Calibri" pitchFamily="34" charset="-122"/>
                <a:cs typeface="Calibri" pitchFamily="34" charset="-120"/>
              </a:rPr>
              <a:t>data bus, address bus, control</a:t>
            </a:r>
            <a:endParaRPr lang="en-US" sz="1300" dirty="0"/>
          </a:p>
        </p:txBody>
      </p:sp>
      <p:sp>
        <p:nvSpPr>
          <p:cNvPr id="7" name="Shape 5"/>
          <p:cNvSpPr/>
          <p:nvPr/>
        </p:nvSpPr>
        <p:spPr>
          <a:xfrm>
            <a:off x="1737360" y="2542032"/>
            <a:ext cx="0" cy="658368"/>
          </a:xfrm>
          <a:prstGeom prst="line">
            <a:avLst/>
          </a:prstGeom>
          <a:noFill/>
          <a:ln w="31750">
            <a:solidFill>
              <a:srgbClr val="5B6B78"/>
            </a:solidFill>
            <a:prstDash val="solid"/>
          </a:ln>
        </p:spPr>
      </p:sp>
      <p:sp>
        <p:nvSpPr>
          <p:cNvPr id="8" name="Shape 6"/>
          <p:cNvSpPr/>
          <p:nvPr/>
        </p:nvSpPr>
        <p:spPr>
          <a:xfrm>
            <a:off x="4297680" y="2542032"/>
            <a:ext cx="0" cy="658368"/>
          </a:xfrm>
          <a:prstGeom prst="line">
            <a:avLst/>
          </a:prstGeom>
          <a:noFill/>
          <a:ln w="31750">
            <a:solidFill>
              <a:srgbClr val="5B6B78"/>
            </a:solidFill>
            <a:prstDash val="solid"/>
          </a:ln>
        </p:spPr>
      </p:sp>
      <p:sp>
        <p:nvSpPr>
          <p:cNvPr id="9" name="Text 7"/>
          <p:cNvSpPr txBox="1"/>
          <p:nvPr/>
        </p:nvSpPr>
        <p:spPr>
          <a:xfrm>
            <a:off x="731520" y="4069080"/>
            <a:ext cx="173736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video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controller</a:t>
            </a:r>
            <a:endParaRPr lang="en-US" sz="1400" dirty="0"/>
          </a:p>
        </p:txBody>
      </p:sp>
      <p:sp>
        <p:nvSpPr>
          <p:cNvPr id="10" name="Shape 8"/>
          <p:cNvSpPr/>
          <p:nvPr/>
        </p:nvSpPr>
        <p:spPr>
          <a:xfrm>
            <a:off x="1600200" y="3291840"/>
            <a:ext cx="0" cy="749808"/>
          </a:xfrm>
          <a:prstGeom prst="line">
            <a:avLst/>
          </a:prstGeom>
          <a:noFill/>
          <a:ln w="31750">
            <a:solidFill>
              <a:srgbClr val="5B6B78"/>
            </a:solidFill>
            <a:prstDash val="solid"/>
          </a:ln>
        </p:spPr>
      </p:sp>
      <p:sp>
        <p:nvSpPr>
          <p:cNvPr id="11" name="Text 9"/>
          <p:cNvSpPr txBox="1"/>
          <p:nvPr/>
        </p:nvSpPr>
        <p:spPr>
          <a:xfrm>
            <a:off x="731520" y="5349240"/>
            <a:ext cx="1737360" cy="731520"/>
          </a:xfrm>
          <a:prstGeom prst="roundRect">
            <a:avLst>
              <a:gd name="adj" fmla="val 7500"/>
            </a:avLst>
          </a:prstGeom>
          <a:solidFill>
            <a:srgbClr val="2F7D4F"/>
          </a:solidFill>
          <a:ln>
            <a:solidFill>
              <a:srgbClr val="2F7D4F"/>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monitor</a:t>
            </a:r>
            <a:endParaRPr lang="en-US" sz="1400" dirty="0"/>
          </a:p>
        </p:txBody>
      </p:sp>
      <p:sp>
        <p:nvSpPr>
          <p:cNvPr id="12" name="Shape 10"/>
          <p:cNvSpPr/>
          <p:nvPr/>
        </p:nvSpPr>
        <p:spPr>
          <a:xfrm>
            <a:off x="1600200" y="4919472"/>
            <a:ext cx="0" cy="402336"/>
          </a:xfrm>
          <a:prstGeom prst="line">
            <a:avLst/>
          </a:prstGeom>
          <a:noFill/>
          <a:ln w="31750">
            <a:solidFill>
              <a:srgbClr val="5B6B78"/>
            </a:solidFill>
            <a:prstDash val="solid"/>
          </a:ln>
        </p:spPr>
      </p:sp>
      <p:sp>
        <p:nvSpPr>
          <p:cNvPr id="13" name="Text 11"/>
          <p:cNvSpPr txBox="1"/>
          <p:nvPr/>
        </p:nvSpPr>
        <p:spPr>
          <a:xfrm>
            <a:off x="2834640" y="4069080"/>
            <a:ext cx="173736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USB</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controller</a:t>
            </a:r>
            <a:endParaRPr lang="en-US" sz="1400" dirty="0"/>
          </a:p>
        </p:txBody>
      </p:sp>
      <p:sp>
        <p:nvSpPr>
          <p:cNvPr id="14" name="Shape 12"/>
          <p:cNvSpPr/>
          <p:nvPr/>
        </p:nvSpPr>
        <p:spPr>
          <a:xfrm>
            <a:off x="3703320" y="3291840"/>
            <a:ext cx="0" cy="749808"/>
          </a:xfrm>
          <a:prstGeom prst="line">
            <a:avLst/>
          </a:prstGeom>
          <a:noFill/>
          <a:ln w="31750">
            <a:solidFill>
              <a:srgbClr val="5B6B78"/>
            </a:solidFill>
            <a:prstDash val="solid"/>
          </a:ln>
        </p:spPr>
      </p:sp>
      <p:sp>
        <p:nvSpPr>
          <p:cNvPr id="15" name="Text 13"/>
          <p:cNvSpPr txBox="1"/>
          <p:nvPr/>
        </p:nvSpPr>
        <p:spPr>
          <a:xfrm>
            <a:off x="2834640" y="5349240"/>
            <a:ext cx="1737360" cy="731520"/>
          </a:xfrm>
          <a:prstGeom prst="roundRect">
            <a:avLst>
              <a:gd name="adj" fmla="val 7500"/>
            </a:avLst>
          </a:prstGeom>
          <a:solidFill>
            <a:srgbClr val="2F7D4F"/>
          </a:solidFill>
          <a:ln>
            <a:solidFill>
              <a:srgbClr val="2F7D4F"/>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keyboard,</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mouse</a:t>
            </a:r>
            <a:endParaRPr lang="en-US" sz="1400" dirty="0"/>
          </a:p>
        </p:txBody>
      </p:sp>
      <p:sp>
        <p:nvSpPr>
          <p:cNvPr id="16" name="Shape 14"/>
          <p:cNvSpPr/>
          <p:nvPr/>
        </p:nvSpPr>
        <p:spPr>
          <a:xfrm>
            <a:off x="3703320" y="4919472"/>
            <a:ext cx="0" cy="402336"/>
          </a:xfrm>
          <a:prstGeom prst="line">
            <a:avLst/>
          </a:prstGeom>
          <a:noFill/>
          <a:ln w="31750">
            <a:solidFill>
              <a:srgbClr val="5B6B78"/>
            </a:solidFill>
            <a:prstDash val="solid"/>
          </a:ln>
        </p:spPr>
      </p:sp>
      <p:sp>
        <p:nvSpPr>
          <p:cNvPr id="17" name="Text 15"/>
          <p:cNvSpPr txBox="1"/>
          <p:nvPr/>
        </p:nvSpPr>
        <p:spPr>
          <a:xfrm>
            <a:off x="4937760" y="4069080"/>
            <a:ext cx="173736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storage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controller</a:t>
            </a:r>
            <a:endParaRPr lang="en-US" sz="1400" dirty="0"/>
          </a:p>
        </p:txBody>
      </p:sp>
      <p:sp>
        <p:nvSpPr>
          <p:cNvPr id="18" name="Shape 16"/>
          <p:cNvSpPr/>
          <p:nvPr/>
        </p:nvSpPr>
        <p:spPr>
          <a:xfrm>
            <a:off x="5806440" y="3291840"/>
            <a:ext cx="0" cy="749808"/>
          </a:xfrm>
          <a:prstGeom prst="line">
            <a:avLst/>
          </a:prstGeom>
          <a:noFill/>
          <a:ln w="31750">
            <a:solidFill>
              <a:srgbClr val="5B6B78"/>
            </a:solidFill>
            <a:prstDash val="solid"/>
          </a:ln>
        </p:spPr>
      </p:sp>
      <p:sp>
        <p:nvSpPr>
          <p:cNvPr id="19" name="Text 17"/>
          <p:cNvSpPr txBox="1"/>
          <p:nvPr/>
        </p:nvSpPr>
        <p:spPr>
          <a:xfrm>
            <a:off x="4937760" y="5349240"/>
            <a:ext cx="1737360" cy="731520"/>
          </a:xfrm>
          <a:prstGeom prst="roundRect">
            <a:avLst>
              <a:gd name="adj" fmla="val 7500"/>
            </a:avLst>
          </a:prstGeom>
          <a:solidFill>
            <a:srgbClr val="2F7D4F"/>
          </a:solidFill>
          <a:ln>
            <a:solidFill>
              <a:srgbClr val="2F7D4F"/>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disks</a:t>
            </a:r>
            <a:endParaRPr lang="en-US" sz="1400" dirty="0"/>
          </a:p>
        </p:txBody>
      </p:sp>
      <p:sp>
        <p:nvSpPr>
          <p:cNvPr id="20" name="Shape 18"/>
          <p:cNvSpPr/>
          <p:nvPr/>
        </p:nvSpPr>
        <p:spPr>
          <a:xfrm>
            <a:off x="5806440" y="4919472"/>
            <a:ext cx="0" cy="402336"/>
          </a:xfrm>
          <a:prstGeom prst="line">
            <a:avLst/>
          </a:prstGeom>
          <a:noFill/>
          <a:ln w="31750">
            <a:solidFill>
              <a:srgbClr val="5B6B78"/>
            </a:solidFill>
            <a:prstDash val="solid"/>
          </a:ln>
        </p:spPr>
      </p:sp>
      <p:sp>
        <p:nvSpPr>
          <p:cNvPr id="21" name="Shape 19"/>
          <p:cNvSpPr/>
          <p:nvPr/>
        </p:nvSpPr>
        <p:spPr>
          <a:xfrm>
            <a:off x="7132320" y="1485011"/>
            <a:ext cx="146304" cy="146304"/>
          </a:xfrm>
          <a:prstGeom prst="rect">
            <a:avLst/>
          </a:prstGeom>
          <a:solidFill>
            <a:srgbClr val="0E7C86"/>
          </a:solidFill>
          <a:ln w="12700">
            <a:solidFill>
              <a:srgbClr val="0E7C86"/>
            </a:solidFill>
            <a:prstDash val="solid"/>
          </a:ln>
        </p:spPr>
      </p:sp>
      <p:sp>
        <p:nvSpPr>
          <p:cNvPr id="22" name="Text 20"/>
          <p:cNvSpPr txBox="1"/>
          <p:nvPr/>
        </p:nvSpPr>
        <p:spPr>
          <a:xfrm>
            <a:off x="7516368" y="1417320"/>
            <a:ext cx="4126687"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Peripherals are interfaced to the processor through dedicated controllers</a:t>
            </a:r>
            <a:endParaRPr lang="en-US" sz="1700" dirty="0"/>
          </a:p>
        </p:txBody>
      </p:sp>
      <p:sp>
        <p:nvSpPr>
          <p:cNvPr id="23" name="Shape 21"/>
          <p:cNvSpPr/>
          <p:nvPr/>
        </p:nvSpPr>
        <p:spPr>
          <a:xfrm>
            <a:off x="7132320" y="2410333"/>
            <a:ext cx="146304" cy="146304"/>
          </a:xfrm>
          <a:prstGeom prst="rect">
            <a:avLst/>
          </a:prstGeom>
          <a:solidFill>
            <a:srgbClr val="C7791B"/>
          </a:solidFill>
          <a:ln w="12700">
            <a:solidFill>
              <a:srgbClr val="C7791B"/>
            </a:solidFill>
            <a:prstDash val="solid"/>
          </a:ln>
        </p:spPr>
      </p:sp>
      <p:sp>
        <p:nvSpPr>
          <p:cNvPr id="24" name="Text 22"/>
          <p:cNvSpPr txBox="1"/>
          <p:nvPr/>
        </p:nvSpPr>
        <p:spPr>
          <a:xfrm>
            <a:off x="7516368" y="2342642"/>
            <a:ext cx="4126687" cy="1053592"/>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controller manages the communication between the device and all the other components, processor included</a:t>
            </a:r>
            <a:endParaRPr lang="en-US" sz="1700" dirty="0"/>
          </a:p>
        </p:txBody>
      </p:sp>
      <p:sp>
        <p:nvSpPr>
          <p:cNvPr id="25" name="Shape 23"/>
          <p:cNvSpPr/>
          <p:nvPr/>
        </p:nvSpPr>
        <p:spPr>
          <a:xfrm>
            <a:off x="7132320" y="3599053"/>
            <a:ext cx="146304" cy="146304"/>
          </a:xfrm>
          <a:prstGeom prst="rect">
            <a:avLst/>
          </a:prstGeom>
          <a:solidFill>
            <a:srgbClr val="0E7C86"/>
          </a:solidFill>
          <a:ln w="12700">
            <a:solidFill>
              <a:srgbClr val="0E7C86"/>
            </a:solidFill>
            <a:prstDash val="solid"/>
          </a:ln>
        </p:spPr>
      </p:sp>
      <p:sp>
        <p:nvSpPr>
          <p:cNvPr id="26" name="Text 24"/>
          <p:cNvSpPr txBox="1"/>
          <p:nvPr/>
        </p:nvSpPr>
        <p:spPr>
          <a:xfrm>
            <a:off x="7516368" y="3531362"/>
            <a:ext cx="4126687"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It presents a few registers on the bus: the processor reads and writes them like memory</a:t>
            </a:r>
            <a:endParaRPr lang="en-US" sz="1700" dirty="0"/>
          </a:p>
        </p:txBody>
      </p:sp>
      <p:sp>
        <p:nvSpPr>
          <p:cNvPr id="27" name="Shape 25"/>
          <p:cNvSpPr/>
          <p:nvPr/>
        </p:nvSpPr>
        <p:spPr>
          <a:xfrm>
            <a:off x="7132320" y="4524375"/>
            <a:ext cx="146304" cy="146304"/>
          </a:xfrm>
          <a:prstGeom prst="rect">
            <a:avLst/>
          </a:prstGeom>
          <a:solidFill>
            <a:srgbClr val="C7791B"/>
          </a:solidFill>
          <a:ln w="12700">
            <a:solidFill>
              <a:srgbClr val="C7791B"/>
            </a:solidFill>
            <a:prstDash val="solid"/>
          </a:ln>
        </p:spPr>
      </p:sp>
      <p:sp>
        <p:nvSpPr>
          <p:cNvPr id="28" name="Text 26"/>
          <p:cNvSpPr txBox="1"/>
          <p:nvPr/>
        </p:nvSpPr>
        <p:spPr>
          <a:xfrm>
            <a:off x="7516368" y="4456684"/>
            <a:ext cx="4126687" cy="1053592"/>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Generally a controller signals the end of the operation in progress by raising a signal: an interrupt (Lecture 19)</a:t>
            </a:r>
            <a:endParaRPr lang="en-US" sz="1700" dirty="0"/>
          </a:p>
        </p:txBody>
      </p:sp>
      <p:sp>
        <p:nvSpPr>
          <p:cNvPr id="29" name="Shape 27"/>
          <p:cNvSpPr/>
          <p:nvPr/>
        </p:nvSpPr>
        <p:spPr>
          <a:xfrm>
            <a:off x="7132320" y="5713095"/>
            <a:ext cx="146304" cy="146304"/>
          </a:xfrm>
          <a:prstGeom prst="rect">
            <a:avLst/>
          </a:prstGeom>
          <a:solidFill>
            <a:srgbClr val="0E7C86"/>
          </a:solidFill>
          <a:ln w="12700">
            <a:solidFill>
              <a:srgbClr val="0E7C86"/>
            </a:solidFill>
            <a:prstDash val="solid"/>
          </a:ln>
        </p:spPr>
      </p:sp>
      <p:sp>
        <p:nvSpPr>
          <p:cNvPr id="30" name="Text 28"/>
          <p:cNvSpPr txBox="1"/>
          <p:nvPr/>
        </p:nvSpPr>
        <p:spPr>
          <a:xfrm>
            <a:off x="7516368" y="5645404"/>
            <a:ext cx="412668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video card is the controller of the monitor</a:t>
            </a:r>
            <a:endParaRPr lang="en-US" sz="1700" dirty="0"/>
          </a:p>
        </p:txBody>
      </p:sp>
      <p:sp>
        <p:nvSpPr>
          <p:cNvPr id="31" name="Shape 29"/>
          <p:cNvSpPr/>
          <p:nvPr/>
        </p:nvSpPr>
        <p:spPr>
          <a:xfrm>
            <a:off x="8484692" y="91440"/>
            <a:ext cx="3158363" cy="274320"/>
          </a:xfrm>
          <a:prstGeom prst="rect">
            <a:avLst/>
          </a:prstGeom>
          <a:solidFill>
            <a:srgbClr val="E0F2FE"/>
          </a:solidFill>
          <a:ln w="12700">
            <a:solidFill>
              <a:srgbClr val="0369A1"/>
            </a:solidFill>
            <a:prstDash val="solid"/>
          </a:ln>
        </p:spPr>
      </p:sp>
      <p:sp>
        <p:nvSpPr>
          <p:cNvPr id="32" name="Shape 30"/>
          <p:cNvSpPr/>
          <p:nvPr/>
        </p:nvSpPr>
        <p:spPr>
          <a:xfrm>
            <a:off x="8484692" y="91440"/>
            <a:ext cx="73152" cy="274320"/>
          </a:xfrm>
          <a:prstGeom prst="rect">
            <a:avLst/>
          </a:prstGeom>
          <a:solidFill>
            <a:srgbClr val="0369A1"/>
          </a:solidFill>
          <a:ln w="12700">
            <a:solidFill>
              <a:srgbClr val="0369A1"/>
            </a:solidFill>
            <a:prstDash val="solid"/>
          </a:ln>
        </p:spPr>
      </p:sp>
      <p:pic>
        <p:nvPicPr>
          <p:cNvPr id="33" name="Image 0" descr="preencoded.png">    </p:cNvPr>
          <p:cNvPicPr>
            <a:picLocks noChangeAspect="1"/>
          </p:cNvPicPr>
          <p:nvPr/>
        </p:nvPicPr>
        <p:blipFill>
          <a:blip r:embed="rId1"/>
          <a:stretch>
            <a:fillRect/>
          </a:stretch>
        </p:blipFill>
        <p:spPr>
          <a:xfrm>
            <a:off x="8612708" y="128016"/>
            <a:ext cx="201168" cy="201168"/>
          </a:xfrm>
          <a:prstGeom prst="rect">
            <a:avLst/>
          </a:prstGeom>
        </p:spPr>
      </p:pic>
      <p:sp>
        <p:nvSpPr>
          <p:cNvPr id="34" name="Text 31"/>
          <p:cNvSpPr txBox="1"/>
          <p:nvPr/>
        </p:nvSpPr>
        <p:spPr>
          <a:xfrm>
            <a:off x="8868740" y="91440"/>
            <a:ext cx="273773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device controllers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characterises a bus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bus is a communication channel shared by several units; its characteristics decisively influence the performance of the whole system</a:t>
            </a:r>
            <a:endParaRPr lang="en-US" sz="2100" dirty="0"/>
          </a:p>
        </p:txBody>
      </p:sp>
      <p:sp>
        <p:nvSpPr>
          <p:cNvPr id="5" name="Shape 3"/>
          <p:cNvSpPr/>
          <p:nvPr/>
        </p:nvSpPr>
        <p:spPr>
          <a:xfrm>
            <a:off x="548640" y="265404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55367"/>
            <a:ext cx="656539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Width</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number of bits of the data bus</a:t>
            </a:r>
            <a:endParaRPr lang="en-US" sz="2100" dirty="0"/>
          </a:p>
        </p:txBody>
      </p:sp>
      <p:sp>
        <p:nvSpPr>
          <p:cNvPr id="7" name="Shape 5"/>
          <p:cNvSpPr/>
          <p:nvPr/>
        </p:nvSpPr>
        <p:spPr>
          <a:xfrm>
            <a:off x="548640" y="345681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58134"/>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Speed</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working frequency of the bus; the number of bytes per clock cycle</a:t>
            </a:r>
            <a:endParaRPr lang="en-US" sz="2100" dirty="0"/>
          </a:p>
        </p:txBody>
      </p:sp>
      <p:sp>
        <p:nvSpPr>
          <p:cNvPr id="9" name="Shape 7"/>
          <p:cNvSpPr/>
          <p:nvPr/>
        </p:nvSpPr>
        <p:spPr>
          <a:xfrm>
            <a:off x="548640" y="453847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39793"/>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Transfer rate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megabytes transmitted per second: a 32-bit bus at 66 MHz carries 264 MB/s</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bus is a standard: signals, connectors and a protocol that all the units agree on</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264 MB/s</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32 bits at 66 MHz: width times frequency gives the transfer rate</a:t>
            </a:r>
            <a:endParaRPr lang="en-US" sz="1900" dirty="0"/>
          </a:p>
        </p:txBody>
      </p:sp>
      <p:sp>
        <p:nvSpPr>
          <p:cNvPr id="16" name="Shape 14"/>
          <p:cNvSpPr/>
          <p:nvPr/>
        </p:nvSpPr>
        <p:spPr>
          <a:xfrm>
            <a:off x="8419033" y="91440"/>
            <a:ext cx="3224022" cy="274320"/>
          </a:xfrm>
          <a:prstGeom prst="rect">
            <a:avLst/>
          </a:prstGeom>
          <a:solidFill>
            <a:srgbClr val="E0F2FE"/>
          </a:solidFill>
          <a:ln w="12700">
            <a:solidFill>
              <a:srgbClr val="0369A1"/>
            </a:solidFill>
            <a:prstDash val="solid"/>
          </a:ln>
        </p:spPr>
      </p:sp>
      <p:sp>
        <p:nvSpPr>
          <p:cNvPr id="17" name="Shape 15"/>
          <p:cNvSpPr/>
          <p:nvPr/>
        </p:nvSpPr>
        <p:spPr>
          <a:xfrm>
            <a:off x="8419033"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19" name="Text 16"/>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buses and bandwidth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Buses: advantages and disadvantages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Advantages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New devices can easily be added</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Peripherals can be moved from one computer to another that uses the same bus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single set of wires connects several peripherals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Low cost per byte transmitted</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Disadvantages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bandwidth of the bus limits the transfer speed</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maximum speed depends on the length of the bus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and on the number of devices connected to it</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shared resource: only one transfer at a time</a:t>
            </a:r>
            <a:endParaRPr lang="en-US" sz="2100" dirty="0"/>
          </a:p>
        </p:txBody>
      </p:sp>
      <p:sp>
        <p:nvSpPr>
          <p:cNvPr id="9" name="Shape 7"/>
          <p:cNvSpPr/>
          <p:nvPr/>
        </p:nvSpPr>
        <p:spPr>
          <a:xfrm>
            <a:off x="8419033" y="91440"/>
            <a:ext cx="3224022" cy="274320"/>
          </a:xfrm>
          <a:prstGeom prst="rect">
            <a:avLst/>
          </a:prstGeom>
          <a:solidFill>
            <a:srgbClr val="E0F2FE"/>
          </a:solidFill>
          <a:ln w="12700">
            <a:solidFill>
              <a:srgbClr val="0369A1"/>
            </a:solidFill>
            <a:prstDash val="solid"/>
          </a:ln>
        </p:spPr>
      </p:sp>
      <p:sp>
        <p:nvSpPr>
          <p:cNvPr id="10" name="Shape 8"/>
          <p:cNvSpPr/>
          <p:nvPr/>
        </p:nvSpPr>
        <p:spPr>
          <a:xfrm>
            <a:off x="8419033"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12" name="Text 9"/>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buses and bandwidth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Buses through the years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2546259"/>
                <a:gridCol w="2910011"/>
                <a:gridCol w="3455638"/>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Bus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Kind</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Used for</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Today</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ISA, EISA, VESA</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 16 to 32 bits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expansion cards of early PCs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disused</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PCI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 32 or 64 bits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expansion cards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replaced by PCI Express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AGP</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 dedicated port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the video card alone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replaced by PCI Express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PCI Express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serial, 1 to 16 lanes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video cards, fast storage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current: each generation doubles the speed</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IDE (ATA), SCSI</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parallel</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disks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replaced by Serial ATA and NVMe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USB</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serial</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almost every external device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current: from 12 Mbit/s to tens of Gbit/s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SPI, I2C, I2S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serial, a few wires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chips on the same board</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current: the buses of the PRG32 kit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419033" y="91440"/>
            <a:ext cx="3224022" cy="274320"/>
          </a:xfrm>
          <a:prstGeom prst="rect">
            <a:avLst/>
          </a:prstGeom>
          <a:solidFill>
            <a:srgbClr val="E0F2FE"/>
          </a:solidFill>
          <a:ln w="12700">
            <a:solidFill>
              <a:srgbClr val="0369A1"/>
            </a:solidFill>
            <a:prstDash val="solid"/>
          </a:ln>
        </p:spPr>
      </p:sp>
      <p:sp>
        <p:nvSpPr>
          <p:cNvPr id="5" name="Shape 2"/>
          <p:cNvSpPr/>
          <p:nvPr/>
        </p:nvSpPr>
        <p:spPr>
          <a:xfrm>
            <a:off x="841903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7" name="Text 3"/>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buses and bandwidth</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a video card does</a:t>
            </a:r>
            <a:endParaRPr lang="en-US" sz="3200" dirty="0"/>
          </a:p>
        </p:txBody>
      </p:sp>
      <p:sp>
        <p:nvSpPr>
          <p:cNvPr id="3" name="Shape 1"/>
          <p:cNvSpPr/>
          <p:nvPr/>
        </p:nvSpPr>
        <p:spPr>
          <a:xfrm>
            <a:off x="548640" y="1623314"/>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51688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Its function: to send to the monitor the information to display</a:t>
            </a:r>
            <a:endParaRPr lang="en-US" sz="2200" dirty="0"/>
          </a:p>
        </p:txBody>
      </p:sp>
      <p:sp>
        <p:nvSpPr>
          <p:cNvPr id="5" name="Shape 3"/>
          <p:cNvSpPr/>
          <p:nvPr/>
        </p:nvSpPr>
        <p:spPr>
          <a:xfrm>
            <a:off x="548640" y="24213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495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translates the representation of the image produced by the processor into a format the monitor can show</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contains memory of its own, the video memory, which holds the frame: the frame buffer</a:t>
            </a:r>
            <a:endParaRPr lang="en-US" sz="2200" dirty="0"/>
          </a:p>
        </p:txBody>
      </p:sp>
      <p:sp>
        <p:nvSpPr>
          <p:cNvPr id="9" name="Shape 7"/>
          <p:cNvSpPr/>
          <p:nvPr/>
        </p:nvSpPr>
        <p:spPr>
          <a:xfrm>
            <a:off x="548640" y="46992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9282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time the screen must be redrawn, it reads the digital representation of the image and sends the monitor the signal for the colour of each pixel</a:t>
            </a:r>
            <a:endParaRPr lang="en-US" sz="2200" dirty="0"/>
          </a:p>
        </p:txBody>
      </p:sp>
      <p:sp>
        <p:nvSpPr>
          <p:cNvPr id="11" name="Shape 9"/>
          <p:cNvSpPr/>
          <p:nvPr/>
        </p:nvSpPr>
        <p:spPr>
          <a:xfrm>
            <a:off x="548640" y="58381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73176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has processing capability of its own</a:t>
            </a:r>
            <a:endParaRPr lang="en-US" sz="2200" dirty="0"/>
          </a:p>
        </p:txBody>
      </p:sp>
      <p:sp>
        <p:nvSpPr>
          <p:cNvPr id="13" name="Shape 11"/>
          <p:cNvSpPr/>
          <p:nvPr/>
        </p:nvSpPr>
        <p:spPr>
          <a:xfrm>
            <a:off x="8747328" y="91440"/>
            <a:ext cx="2895727" cy="274320"/>
          </a:xfrm>
          <a:prstGeom prst="rect">
            <a:avLst/>
          </a:prstGeom>
          <a:solidFill>
            <a:srgbClr val="E0F2FE"/>
          </a:solidFill>
          <a:ln w="12700">
            <a:solidFill>
              <a:srgbClr val="0369A1"/>
            </a:solidFill>
            <a:prstDash val="solid"/>
          </a:ln>
        </p:spPr>
      </p:sp>
      <p:sp>
        <p:nvSpPr>
          <p:cNvPr id="14" name="Shape 12"/>
          <p:cNvSpPr/>
          <p:nvPr/>
        </p:nvSpPr>
        <p:spPr>
          <a:xfrm>
            <a:off x="8747328"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16" name="Text 13"/>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video card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Analogue and digital monitors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CRT monitor, analogue input</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card converts the digital image into analogue signals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conversion is done by a component called RAMDAC</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VGA output (1987): designed for cathode-ray tubes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Problems: electrical noise, distortion, errors in placing the pixels</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LCD monitor, digital input</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card adapts colours and resolution of the image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Provides local memory to use as a buffer</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Supports graphics acceleration, for example 3D</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DVI: each pixel of the output corresponds to one pixel of the screen, at its native resolution</a:t>
            </a:r>
            <a:endParaRPr lang="en-US" sz="2100" dirty="0"/>
          </a:p>
        </p:txBody>
      </p:sp>
      <p:sp>
        <p:nvSpPr>
          <p:cNvPr id="9" name="Shape 7"/>
          <p:cNvSpPr/>
          <p:nvPr/>
        </p:nvSpPr>
        <p:spPr>
          <a:xfrm>
            <a:off x="8747328" y="91440"/>
            <a:ext cx="2895727" cy="274320"/>
          </a:xfrm>
          <a:prstGeom prst="rect">
            <a:avLst/>
          </a:prstGeom>
          <a:solidFill>
            <a:srgbClr val="E0F2FE"/>
          </a:solidFill>
          <a:ln w="12700">
            <a:solidFill>
              <a:srgbClr val="0369A1"/>
            </a:solidFill>
            <a:prstDash val="solid"/>
          </a:ln>
        </p:spPr>
      </p:sp>
      <p:sp>
        <p:nvSpPr>
          <p:cNvPr id="10" name="Shape 8"/>
          <p:cNvSpPr/>
          <p:nvPr/>
        </p:nvSpPr>
        <p:spPr>
          <a:xfrm>
            <a:off x="8747328"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12" name="Text 9"/>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video card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Video outputs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91886"/>
                <a:gridCol w="1091254"/>
                <a:gridCol w="2546259"/>
                <a:gridCol w="43650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Interface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Year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Signal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Notes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VGA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1987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analogue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for CRT monitors; kept for years for compatibility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DVI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1999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 (and analogue)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introduced with LCD monitors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HDMI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2003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replaces the earlier standards; carries audio too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DisplayPort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2006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video, audio and other data; also over USB-C connectors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SPI to a display controller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digital, serial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PRG32 kit: an ILI9341 panel of 320 by 240 pixels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747328" y="91440"/>
            <a:ext cx="2895727" cy="274320"/>
          </a:xfrm>
          <a:prstGeom prst="rect">
            <a:avLst/>
          </a:prstGeom>
          <a:solidFill>
            <a:srgbClr val="E0F2FE"/>
          </a:solidFill>
          <a:ln w="12700">
            <a:solidFill>
              <a:srgbClr val="0369A1"/>
            </a:solidFill>
            <a:prstDash val="solid"/>
          </a:ln>
        </p:spPr>
      </p:sp>
      <p:sp>
        <p:nvSpPr>
          <p:cNvPr id="5" name="Shape 2"/>
          <p:cNvSpPr/>
          <p:nvPr/>
        </p:nvSpPr>
        <p:spPr>
          <a:xfrm>
            <a:off x="8747328"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7" name="Text 3"/>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video card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Resolution: the size of the pixel grid</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2000632"/>
                <a:gridCol w="1818757"/>
                <a:gridCol w="5092518"/>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Resolution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Pixels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Aspect ratio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320 x 200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64,000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Commodore 64, VGA games, the PRG32 viewport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640 x 480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307,200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1024 x 768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786,432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monitors of the 1990s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1920 x 1080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2,073,600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Full HD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3840 x 2160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8,294,400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The resolution determines the definition of the image, and how many pixels must be stored and sent for every frame.</a:t>
            </a:r>
            <a:endParaRPr lang="en-US" sz="1500" dirty="0"/>
          </a:p>
        </p:txBody>
      </p:sp>
      <p:sp>
        <p:nvSpPr>
          <p:cNvPr id="5" name="Shape 2"/>
          <p:cNvSpPr/>
          <p:nvPr/>
        </p:nvSpPr>
        <p:spPr>
          <a:xfrm>
            <a:off x="8747328" y="91440"/>
            <a:ext cx="2895727" cy="274320"/>
          </a:xfrm>
          <a:prstGeom prst="rect">
            <a:avLst/>
          </a:prstGeom>
          <a:solidFill>
            <a:srgbClr val="E0F2FE"/>
          </a:solidFill>
          <a:ln w="12700">
            <a:solidFill>
              <a:srgbClr val="0369A1"/>
            </a:solidFill>
            <a:prstDash val="solid"/>
          </a:ln>
        </p:spPr>
      </p:sp>
      <p:sp>
        <p:nvSpPr>
          <p:cNvPr id="6" name="Shape 3"/>
          <p:cNvSpPr/>
          <p:nvPr/>
        </p:nvSpPr>
        <p:spPr>
          <a:xfrm>
            <a:off x="8747328"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8" name="Text 4"/>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video card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Colour depth: bits per pixel</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2182508"/>
                <a:gridCol w="2182508"/>
                <a:gridCol w="5092518"/>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Depth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Colours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Bytes per pixel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standard VGA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8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256-colour mode: each value is an index into a palette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16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65,536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High Color: RGB565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24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16,777,216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True Color: 256 shades of each of red, green and blue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747328" y="91440"/>
            <a:ext cx="2895727" cy="274320"/>
          </a:xfrm>
          <a:prstGeom prst="rect">
            <a:avLst/>
          </a:prstGeom>
          <a:solidFill>
            <a:srgbClr val="E0F2FE"/>
          </a:solidFill>
          <a:ln w="12700">
            <a:solidFill>
              <a:srgbClr val="0369A1"/>
            </a:solidFill>
            <a:prstDash val="solid"/>
          </a:ln>
        </p:spPr>
      </p:sp>
      <p:sp>
        <p:nvSpPr>
          <p:cNvPr id="5" name="Shape 2"/>
          <p:cNvSpPr/>
          <p:nvPr/>
        </p:nvSpPr>
        <p:spPr>
          <a:xfrm>
            <a:off x="8747328"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7" name="Text 3"/>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video card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Following the pixel on PRG32</a:t>
            </a:r>
            <a:endParaRPr lang="en-US" sz="3200" dirty="0"/>
          </a:p>
        </p:txBody>
      </p:sp>
      <p:sp>
        <p:nvSpPr>
          <p:cNvPr id="3" name="Text 1"/>
          <p:cNvSpPr txBox="1"/>
          <p:nvPr/>
        </p:nvSpPr>
        <p:spPr>
          <a:xfrm>
            <a:off x="548640" y="1783080"/>
            <a:ext cx="1828800" cy="1280160"/>
          </a:xfrm>
          <a:prstGeom prst="roundRect">
            <a:avLst>
              <a:gd name="adj" fmla="val 4286"/>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your code</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prg32_gfx_pixel</a:t>
            </a:r>
            <a:endParaRPr lang="en-US" sz="1600" dirty="0"/>
          </a:p>
        </p:txBody>
      </p:sp>
      <p:sp>
        <p:nvSpPr>
          <p:cNvPr id="4" name="Shape 2"/>
          <p:cNvSpPr/>
          <p:nvPr/>
        </p:nvSpPr>
        <p:spPr>
          <a:xfrm>
            <a:off x="2414016" y="2423160"/>
            <a:ext cx="414452" cy="0"/>
          </a:xfrm>
          <a:prstGeom prst="line">
            <a:avLst/>
          </a:prstGeom>
          <a:noFill/>
          <a:ln w="31750">
            <a:solidFill>
              <a:srgbClr val="5B6B78"/>
            </a:solidFill>
            <a:prstDash val="solid"/>
            <a:tailEnd type="triangle"/>
          </a:ln>
        </p:spPr>
      </p:sp>
      <p:sp>
        <p:nvSpPr>
          <p:cNvPr id="5" name="Text 3"/>
          <p:cNvSpPr txBox="1"/>
          <p:nvPr/>
        </p:nvSpPr>
        <p:spPr>
          <a:xfrm>
            <a:off x="2865044" y="1783080"/>
            <a:ext cx="1828800" cy="1280160"/>
          </a:xfrm>
          <a:prstGeom prst="roundRect">
            <a:avLst>
              <a:gd name="adj" fmla="val 4286"/>
            </a:avLst>
          </a:prstGeom>
          <a:solidFill>
            <a:srgbClr val="6B4FA0"/>
          </a:solidFill>
          <a:ln>
            <a:solidFill>
              <a:srgbClr val="6B4FA0"/>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frame buffer</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320 x 200 bytes</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in RAM</a:t>
            </a:r>
            <a:endParaRPr lang="en-US" sz="1600" dirty="0"/>
          </a:p>
        </p:txBody>
      </p:sp>
      <p:sp>
        <p:nvSpPr>
          <p:cNvPr id="6" name="Shape 4"/>
          <p:cNvSpPr/>
          <p:nvPr/>
        </p:nvSpPr>
        <p:spPr>
          <a:xfrm>
            <a:off x="4730420" y="2423160"/>
            <a:ext cx="414452" cy="0"/>
          </a:xfrm>
          <a:prstGeom prst="line">
            <a:avLst/>
          </a:prstGeom>
          <a:noFill/>
          <a:ln w="31750">
            <a:solidFill>
              <a:srgbClr val="5B6B78"/>
            </a:solidFill>
            <a:prstDash val="solid"/>
            <a:tailEnd type="triangle"/>
          </a:ln>
        </p:spPr>
      </p:sp>
      <p:sp>
        <p:nvSpPr>
          <p:cNvPr id="7" name="Text 5"/>
          <p:cNvSpPr txBox="1"/>
          <p:nvPr/>
        </p:nvSpPr>
        <p:spPr>
          <a:xfrm>
            <a:off x="5181448" y="1783080"/>
            <a:ext cx="1828800" cy="1280160"/>
          </a:xfrm>
          <a:prstGeom prst="roundRect">
            <a:avLst>
              <a:gd name="adj" fmla="val 4286"/>
            </a:avLst>
          </a:prstGeom>
          <a:solidFill>
            <a:srgbClr val="C7791B"/>
          </a:solidFill>
          <a:ln>
            <a:solidFill>
              <a:srgbClr val="C7791B"/>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palette</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256 entries</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of RGB565</a:t>
            </a:r>
            <a:endParaRPr lang="en-US" sz="1600" dirty="0"/>
          </a:p>
        </p:txBody>
      </p:sp>
      <p:sp>
        <p:nvSpPr>
          <p:cNvPr id="8" name="Shape 6"/>
          <p:cNvSpPr/>
          <p:nvPr/>
        </p:nvSpPr>
        <p:spPr>
          <a:xfrm>
            <a:off x="7046824" y="2423160"/>
            <a:ext cx="414452" cy="0"/>
          </a:xfrm>
          <a:prstGeom prst="line">
            <a:avLst/>
          </a:prstGeom>
          <a:noFill/>
          <a:ln w="31750">
            <a:solidFill>
              <a:srgbClr val="5B6B78"/>
            </a:solidFill>
            <a:prstDash val="solid"/>
            <a:tailEnd type="triangle"/>
          </a:ln>
        </p:spPr>
      </p:sp>
      <p:sp>
        <p:nvSpPr>
          <p:cNvPr id="9" name="Text 7"/>
          <p:cNvSpPr txBox="1"/>
          <p:nvPr/>
        </p:nvSpPr>
        <p:spPr>
          <a:xfrm>
            <a:off x="7497851" y="1783080"/>
            <a:ext cx="1828800" cy="1280160"/>
          </a:xfrm>
          <a:prstGeom prst="roundRect">
            <a:avLst>
              <a:gd name="adj" fmla="val 4286"/>
            </a:avLst>
          </a:prstGeom>
          <a:solidFill>
            <a:srgbClr val="B23A48"/>
          </a:solidFill>
          <a:ln>
            <a:solidFill>
              <a:srgbClr val="B23A48"/>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SPI bus</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27 MHz,</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serial, with DMA</a:t>
            </a:r>
            <a:endParaRPr lang="en-US" sz="1600" dirty="0"/>
          </a:p>
        </p:txBody>
      </p:sp>
      <p:sp>
        <p:nvSpPr>
          <p:cNvPr id="10" name="Shape 8"/>
          <p:cNvSpPr/>
          <p:nvPr/>
        </p:nvSpPr>
        <p:spPr>
          <a:xfrm>
            <a:off x="9363227" y="2423160"/>
            <a:ext cx="414452" cy="0"/>
          </a:xfrm>
          <a:prstGeom prst="line">
            <a:avLst/>
          </a:prstGeom>
          <a:noFill/>
          <a:ln w="31750">
            <a:solidFill>
              <a:srgbClr val="5B6B78"/>
            </a:solidFill>
            <a:prstDash val="solid"/>
            <a:tailEnd type="triangle"/>
          </a:ln>
        </p:spPr>
      </p:sp>
      <p:sp>
        <p:nvSpPr>
          <p:cNvPr id="11" name="Text 9"/>
          <p:cNvSpPr txBox="1"/>
          <p:nvPr/>
        </p:nvSpPr>
        <p:spPr>
          <a:xfrm>
            <a:off x="9814255" y="1783080"/>
            <a:ext cx="1828800" cy="1280160"/>
          </a:xfrm>
          <a:prstGeom prst="roundRect">
            <a:avLst>
              <a:gd name="adj" fmla="val 4286"/>
            </a:avLst>
          </a:prstGeom>
          <a:solidFill>
            <a:srgbClr val="2F7D4F"/>
          </a:solidFill>
          <a:ln>
            <a:solidFill>
              <a:srgbClr val="2F7D4F"/>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display</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ILI9341,</a:t>
            </a:r>
            <a:endParaRPr lang="en-US" sz="1600" dirty="0"/>
          </a:p>
          <a:p>
            <a:pPr algn="ctr" indent="0" marL="0">
              <a:buNone/>
            </a:pPr>
            <a:r>
              <a:rPr lang="en-US" sz="1250" dirty="0">
                <a:solidFill>
                  <a:srgbClr val="FFFFFF"/>
                </a:solidFill>
                <a:latin typeface="Calibri" pitchFamily="34" charset="0"/>
                <a:ea typeface="Calibri" pitchFamily="34" charset="-122"/>
                <a:cs typeface="Calibri" pitchFamily="34" charset="-120"/>
              </a:rPr>
              <a:t>320 x 240</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11094415" cy="914400"/>
        </p:xfrm>
        <a:graphic>
          <a:graphicData uri="http://schemas.openxmlformats.org/drawingml/2006/table">
            <a:tbl>
              <a:tblPr/>
              <a:tblGrid>
                <a:gridCol w="4937760"/>
                <a:gridCol w="6156655"/>
              </a:tblGrid>
              <a:tr h="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Quantity</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Value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memory for one frame, one byte per pixel</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320 x 200 x 1 = 64,000 bytes</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the same frame at two bytes per pixel</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128,000 bytes: a quarter of all the RAM of the chip</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bits sent to the display for a whole frame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64,000 pixels x 16 bits = 1,024,000 bits</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50" b="1" dirty="0">
                          <a:solidFill>
                            <a:srgbClr val="1B2530"/>
                          </a:solidFill>
                          <a:latin typeface="Calibri" pitchFamily="34" charset="0"/>
                          <a:ea typeface="Calibri" pitchFamily="34" charset="-122"/>
                          <a:cs typeface="Calibri" pitchFamily="34" charset="-120"/>
                        </a:rPr>
                        <a:t>time on the bus at 27 MHz</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about 38 ms: at most some 26 full frames per second</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548640" y="5715000"/>
            <a:ext cx="11094415" cy="457200"/>
          </a:xfrm>
          <a:prstGeom prst="rect">
            <a:avLst/>
          </a:prstGeom>
          <a:noFill/>
          <a:ln/>
        </p:spPr>
        <p:txBody>
          <a:bodyPr wrap="square" lIns="0" tIns="0" rIns="0" bIns="0" rtlCol="0" anchor="ctr"/>
          <a:lstStyle/>
          <a:p>
            <a:pPr indent="0" marL="0">
              <a:buNone/>
            </a:pPr>
            <a:r>
              <a:rPr lang="en-US" sz="1500" i="1" dirty="0">
                <a:solidFill>
                  <a:srgbClr val="1B2530"/>
                </a:solidFill>
                <a:latin typeface="Calibri" pitchFamily="34" charset="0"/>
                <a:ea typeface="Calibri" pitchFamily="34" charset="-122"/>
                <a:cs typeface="Calibri" pitchFamily="34" charset="-120"/>
              </a:rPr>
              <a:t>Two engineering answers: an indexed frame buffer halves the memory, and only the rows that changed are sent.</a:t>
            </a:r>
            <a:endParaRPr lang="en-US" sz="1500" dirty="0"/>
          </a:p>
        </p:txBody>
      </p:sp>
      <p:sp>
        <p:nvSpPr>
          <p:cNvPr id="14" name="Shape 11"/>
          <p:cNvSpPr/>
          <p:nvPr/>
        </p:nvSpPr>
        <p:spPr>
          <a:xfrm>
            <a:off x="8616010" y="91440"/>
            <a:ext cx="3027045" cy="274320"/>
          </a:xfrm>
          <a:prstGeom prst="rect">
            <a:avLst/>
          </a:prstGeom>
          <a:solidFill>
            <a:srgbClr val="E0F2FE"/>
          </a:solidFill>
          <a:ln w="12700">
            <a:solidFill>
              <a:srgbClr val="0369A1"/>
            </a:solidFill>
            <a:prstDash val="solid"/>
          </a:ln>
        </p:spPr>
      </p:sp>
      <p:sp>
        <p:nvSpPr>
          <p:cNvPr id="15" name="Shape 12"/>
          <p:cNvSpPr/>
          <p:nvPr/>
        </p:nvSpPr>
        <p:spPr>
          <a:xfrm>
            <a:off x="8616010"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7" name="Text 13"/>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Memory and bandwidth: the pressure on video hardware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memory and the processor time needed by ever more demanding graphics, 3D video games above all, imposed a rapid evolution on video cards</a:t>
            </a:r>
            <a:endParaRPr lang="en-US" sz="2000" dirty="0"/>
          </a:p>
        </p:txBody>
      </p:sp>
      <p:sp>
        <p:nvSpPr>
          <p:cNvPr id="5" name="Shape 3"/>
          <p:cNvSpPr/>
          <p:nvPr/>
        </p:nvSpPr>
        <p:spPr>
          <a:xfrm>
            <a:off x="548640" y="26360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45144"/>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As the definition of the images grows, so does the memory needed to represent a frame</a:t>
            </a:r>
            <a:endParaRPr lang="en-US" sz="2000" dirty="0"/>
          </a:p>
        </p:txBody>
      </p:sp>
      <p:sp>
        <p:nvSpPr>
          <p:cNvPr id="7" name="Shape 5"/>
          <p:cNvSpPr/>
          <p:nvPr/>
        </p:nvSpPr>
        <p:spPr>
          <a:xfrm>
            <a:off x="548640" y="345401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63087"/>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flow of data from the memory to the video card risks saturating the capacity of the bus</a:t>
            </a:r>
            <a:endParaRPr lang="en-US" sz="2000" dirty="0"/>
          </a:p>
        </p:txBody>
      </p:sp>
      <p:sp>
        <p:nvSpPr>
          <p:cNvPr id="9" name="Shape 7"/>
          <p:cNvSpPr/>
          <p:nvPr/>
        </p:nvSpPr>
        <p:spPr>
          <a:xfrm>
            <a:off x="548640" y="427196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81030"/>
            <a:ext cx="6565392" cy="1173226"/>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Two lines of attack</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more and more memory on the card itself: the video memory</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 wider or dedicated bus: AGP yesterday, PCI Express today</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Several cards could even be connected together to share the work</a:t>
            </a:r>
            <a:endParaRPr lang="en-US" sz="20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4K, 60 Hz</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8.3 million pixels x 3 bytes x 60 frames: about 1.5 GB of pixels every second</a:t>
            </a:r>
            <a:endParaRPr lang="en-US" sz="1900" dirty="0"/>
          </a:p>
        </p:txBody>
      </p:sp>
      <p:sp>
        <p:nvSpPr>
          <p:cNvPr id="16" name="Shape 14"/>
          <p:cNvSpPr/>
          <p:nvPr/>
        </p:nvSpPr>
        <p:spPr>
          <a:xfrm>
            <a:off x="8747328" y="91440"/>
            <a:ext cx="2895727" cy="274320"/>
          </a:xfrm>
          <a:prstGeom prst="rect">
            <a:avLst/>
          </a:prstGeom>
          <a:solidFill>
            <a:srgbClr val="E0F2FE"/>
          </a:solidFill>
          <a:ln w="12700">
            <a:solidFill>
              <a:srgbClr val="0369A1"/>
            </a:solidFill>
            <a:prstDash val="solid"/>
          </a:ln>
        </p:spPr>
      </p:sp>
      <p:sp>
        <p:nvSpPr>
          <p:cNvPr id="17" name="Shape 15"/>
          <p:cNvSpPr/>
          <p:nvPr/>
        </p:nvSpPr>
        <p:spPr>
          <a:xfrm>
            <a:off x="8747328"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19" name="Text 16"/>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video card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graphics processing unit</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share of processor time spent computing images grew with the use of graphical interfaces</a:t>
            </a:r>
            <a:endParaRPr lang="en-US" sz="2000" dirty="0"/>
          </a:p>
        </p:txBody>
      </p:sp>
      <p:sp>
        <p:nvSpPr>
          <p:cNvPr id="5" name="Shape 3"/>
          <p:cNvSpPr/>
          <p:nvPr/>
        </p:nvSpPr>
        <p:spPr>
          <a:xfrm>
            <a:off x="548640" y="23261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35264"/>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To relieve the CPU, video cards were given dedicated processors: GPUs</a:t>
            </a:r>
            <a:endParaRPr lang="en-US" sz="2000" dirty="0"/>
          </a:p>
        </p:txBody>
      </p:sp>
      <p:sp>
        <p:nvSpPr>
          <p:cNvPr id="7" name="Shape 5"/>
          <p:cNvSpPr/>
          <p:nvPr/>
        </p:nvSpPr>
        <p:spPr>
          <a:xfrm>
            <a:off x="548640" y="314413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53207"/>
            <a:ext cx="6565392" cy="1173226"/>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They accelerate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raster graphics: copying blocks of pixels (blitting), operations on textures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3D graphics: transformations, texture mapping, lighting</a:t>
            </a:r>
            <a:endParaRPr lang="en-US" sz="2000" dirty="0"/>
          </a:p>
        </p:txBody>
      </p:sp>
      <p:sp>
        <p:nvSpPr>
          <p:cNvPr id="9" name="Shape 7"/>
          <p:cNvSpPr/>
          <p:nvPr/>
        </p:nvSpPr>
        <p:spPr>
          <a:xfrm>
            <a:off x="548640" y="451554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24617"/>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Programs use them through libraries: OpenGL, Direct3D, and today Vulkan and Metal</a:t>
            </a:r>
            <a:endParaRPr lang="en-US" sz="2000" dirty="0"/>
          </a:p>
        </p:txBody>
      </p:sp>
      <p:sp>
        <p:nvSpPr>
          <p:cNvPr id="11" name="Shape 9"/>
          <p:cNvSpPr/>
          <p:nvPr/>
        </p:nvSpPr>
        <p:spPr>
          <a:xfrm>
            <a:off x="548640" y="533349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4256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device driver adapts the software running on the CPU to the primitives offered by the GPU; what is not supported is emulated by the CPU, slowly</a:t>
            </a:r>
            <a:endParaRPr lang="en-US" sz="2000" dirty="0"/>
          </a:p>
        </p:txBody>
      </p:sp>
      <p:pic>
        <p:nvPicPr>
          <p:cNvPr id="13" name="Image 0" descr="/Users/raffaelemontella/devel/riscv-prg32/computer-architecture-with-prg32/tools/assets/game_tetris.pn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No GPU on the kit: every pixel is a store instruction</a:t>
            </a:r>
            <a:endParaRPr lang="en-US" sz="1200" dirty="0"/>
          </a:p>
        </p:txBody>
      </p:sp>
      <p:sp>
        <p:nvSpPr>
          <p:cNvPr id="15" name="Shape 12"/>
          <p:cNvSpPr/>
          <p:nvPr/>
        </p:nvSpPr>
        <p:spPr>
          <a:xfrm>
            <a:off x="8812987" y="91440"/>
            <a:ext cx="2830068" cy="274320"/>
          </a:xfrm>
          <a:prstGeom prst="rect">
            <a:avLst/>
          </a:prstGeom>
          <a:solidFill>
            <a:srgbClr val="E0F2FE"/>
          </a:solidFill>
          <a:ln w="12700">
            <a:solidFill>
              <a:srgbClr val="0369A1"/>
            </a:solidFill>
            <a:prstDash val="solid"/>
          </a:ln>
        </p:spPr>
      </p:sp>
      <p:sp>
        <p:nvSpPr>
          <p:cNvPr id="16" name="Shape 13"/>
          <p:cNvSpPr/>
          <p:nvPr/>
        </p:nvSpPr>
        <p:spPr>
          <a:xfrm>
            <a:off x="8812987"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941003" y="128016"/>
            <a:ext cx="201168" cy="201168"/>
          </a:xfrm>
          <a:prstGeom prst="rect">
            <a:avLst/>
          </a:prstGeom>
        </p:spPr>
      </p:pic>
      <p:sp>
        <p:nvSpPr>
          <p:cNvPr id="18" name="Text 14"/>
          <p:cNvSpPr txBox="1"/>
          <p:nvPr/>
        </p:nvSpPr>
        <p:spPr>
          <a:xfrm>
            <a:off x="9197035" y="91440"/>
            <a:ext cx="240944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GPU and GPGPU</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General-purpose computing on GPUs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Modern GPUs execute the same operation in parallel on whole matrices of pixels</a:t>
            </a:r>
            <a:endParaRPr lang="en-US" sz="2200" dirty="0"/>
          </a:p>
        </p:txBody>
      </p:sp>
      <p:sp>
        <p:nvSpPr>
          <p:cNvPr id="5" name="Shape 3"/>
          <p:cNvSpPr/>
          <p:nvPr/>
        </p:nvSpPr>
        <p:spPr>
          <a:xfrm>
            <a:off x="548640" y="24568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0389"/>
            <a:ext cx="546811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GPGPU: using GPUs for applications of a general kind, not necessarily graphical</a:t>
            </a:r>
            <a:endParaRPr lang="en-US" sz="2200" dirty="0"/>
          </a:p>
        </p:txBody>
      </p:sp>
      <p:sp>
        <p:nvSpPr>
          <p:cNvPr id="7" name="Shape 5"/>
          <p:cNvSpPr/>
          <p:nvPr/>
        </p:nvSpPr>
        <p:spPr>
          <a:xfrm>
            <a:off x="548640" y="33898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83458"/>
            <a:ext cx="546811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very large number of simple cores per GPU: hundreds, thousands</a:t>
            </a:r>
            <a:endParaRPr lang="en-US" sz="2200" dirty="0"/>
          </a:p>
        </p:txBody>
      </p:sp>
      <p:sp>
        <p:nvSpPr>
          <p:cNvPr id="9" name="Shape 7"/>
          <p:cNvSpPr/>
          <p:nvPr/>
        </p:nvSpPr>
        <p:spPr>
          <a:xfrm>
            <a:off x="548640" y="432295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16527"/>
            <a:ext cx="546811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Programming models: CUDA (NVIDIA) and OpenCL, an open standard</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546811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Scientific simulation, data analysis and, above all today, the training and use of neural networks run on GPUs</a:t>
            </a:r>
            <a:endParaRPr lang="en-US" sz="2200" dirty="0"/>
          </a:p>
        </p:txBody>
      </p:sp>
      <p:pic>
        <p:nvPicPr>
          <p:cNvPr id="13" name="Image 0" descr="/Users/raffaelemontella/devel/riscv-prg32/computer-architecture-with-prg32/tools/assets/gpgpu_sum.png">    </p:cNvPr>
          <p:cNvPicPr>
            <a:picLocks noChangeAspect="1"/>
          </p:cNvPicPr>
          <p:nvPr/>
        </p:nvPicPr>
        <p:blipFill>
          <a:blip r:embed="rId1"/>
          <a:stretch>
            <a:fillRect/>
          </a:stretch>
        </p:blipFill>
        <p:spPr>
          <a:xfrm>
            <a:off x="6766560" y="2265761"/>
            <a:ext cx="4876495" cy="2600797"/>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same operation on many data at once</a:t>
            </a:r>
            <a:endParaRPr lang="en-US" sz="1200" dirty="0"/>
          </a:p>
        </p:txBody>
      </p:sp>
      <p:sp>
        <p:nvSpPr>
          <p:cNvPr id="15" name="Shape 12"/>
          <p:cNvSpPr/>
          <p:nvPr/>
        </p:nvSpPr>
        <p:spPr>
          <a:xfrm>
            <a:off x="8812987" y="91440"/>
            <a:ext cx="2830068" cy="274320"/>
          </a:xfrm>
          <a:prstGeom prst="rect">
            <a:avLst/>
          </a:prstGeom>
          <a:solidFill>
            <a:srgbClr val="E0F2FE"/>
          </a:solidFill>
          <a:ln w="12700">
            <a:solidFill>
              <a:srgbClr val="0369A1"/>
            </a:solidFill>
            <a:prstDash val="solid"/>
          </a:ln>
        </p:spPr>
      </p:sp>
      <p:sp>
        <p:nvSpPr>
          <p:cNvPr id="16" name="Shape 13"/>
          <p:cNvSpPr/>
          <p:nvPr/>
        </p:nvSpPr>
        <p:spPr>
          <a:xfrm>
            <a:off x="8812987"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941003" y="128016"/>
            <a:ext cx="201168" cy="201168"/>
          </a:xfrm>
          <a:prstGeom prst="rect">
            <a:avLst/>
          </a:prstGeom>
        </p:spPr>
      </p:pic>
      <p:sp>
        <p:nvSpPr>
          <p:cNvPr id="18" name="Text 14"/>
          <p:cNvSpPr txBox="1"/>
          <p:nvPr/>
        </p:nvSpPr>
        <p:spPr>
          <a:xfrm>
            <a:off x="9197035" y="91440"/>
            <a:ext cx="240944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GPU and GPGPU</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much memory does a frame of 640 x 480 pixels need in True Color (24 bits)?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307,200 bytes</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614,400 bytes</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921,600 bytes</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7,372,800 bytes</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 16-bit bus works at 50 MHz, one transfer per cycle. What is its transfer rate?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50 MB/s</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100 MB/s</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400 MB/s</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800 MB/s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an 8-bit indexed frame buffer, the byte of a pixel contains: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its red component</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its brightness</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position of its colour in a palette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its x coordinate</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What is GPGPU?</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faster video output</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Using graphics processors for non-graphical computation</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bus for video cards</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kind of video memory</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53553"/>
                <a:gridCol w="3640355"/>
                <a:gridCol w="2426903"/>
                <a:gridCol w="277360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peripheral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periferica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resolution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risoluzione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controller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controller (unità di controllo della periferica)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colour depth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profondità di colore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bus width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larghezza del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palette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tavolozza (palette)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transfer rate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velocità di trasferimento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video 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memoria video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video card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scheda video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device driver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driver di periferica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Input/output devices are a fundamental component of computers</a:t>
            </a:r>
            <a:endParaRPr lang="en-US" sz="2200" dirty="0"/>
          </a:p>
        </p:txBody>
      </p:sp>
      <p:sp>
        <p:nvSpPr>
          <p:cNvPr id="5" name="Shape 3"/>
          <p:cNvSpPr/>
          <p:nvPr/>
        </p:nvSpPr>
        <p:spPr>
          <a:xfrm>
            <a:off x="548640" y="201274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06321"/>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Devices are managed by a controller that interfaces them to the bus</a:t>
            </a:r>
            <a:endParaRPr lang="en-US" sz="2200" dirty="0"/>
          </a:p>
        </p:txBody>
      </p:sp>
      <p:sp>
        <p:nvSpPr>
          <p:cNvPr id="7" name="Shape 5"/>
          <p:cNvSpPr/>
          <p:nvPr/>
        </p:nvSpPr>
        <p:spPr>
          <a:xfrm>
            <a:off x="548640" y="250174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39532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bus is characterised by width, speed and transfer rate; its bandwidth is a limit to design around</a:t>
            </a:r>
            <a:endParaRPr lang="en-US" sz="2200" dirty="0"/>
          </a:p>
        </p:txBody>
      </p:sp>
      <p:sp>
        <p:nvSpPr>
          <p:cNvPr id="9" name="Shape 7"/>
          <p:cNvSpPr/>
          <p:nvPr/>
        </p:nvSpPr>
        <p:spPr>
          <a:xfrm>
            <a:off x="548640" y="333161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22519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Video cards make it possible to display graphics and text: a frame buffer, a resolution, a colour depth, an output</a:t>
            </a:r>
            <a:endParaRPr lang="en-US" sz="2200" dirty="0"/>
          </a:p>
        </p:txBody>
      </p:sp>
      <p:sp>
        <p:nvSpPr>
          <p:cNvPr id="11" name="Shape 9"/>
          <p:cNvSpPr/>
          <p:nvPr/>
        </p:nvSpPr>
        <p:spPr>
          <a:xfrm>
            <a:off x="548640" y="4161485"/>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55059"/>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Their processors, the GPUs, are also used for high-performance computing</a:t>
            </a:r>
            <a:endParaRPr lang="en-US" sz="2200" dirty="0"/>
          </a:p>
        </p:txBody>
      </p:sp>
      <p:sp>
        <p:nvSpPr>
          <p:cNvPr id="13" name="Shape 11"/>
          <p:cNvSpPr/>
          <p:nvPr/>
        </p:nvSpPr>
        <p:spPr>
          <a:xfrm>
            <a:off x="548640" y="4650486"/>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544060"/>
            <a:ext cx="10710367" cy="1628140"/>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Reading</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Tanenbaum, Austin: Structured Computer Organization, chapters 2 and 3 (buses, displays)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Playing with RISC-V, chapter 7: the graphics game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PRG32 repository: docs/hardware/ili9341.md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Buses and the Video Card</dc:title>
  <dc:subject>Lecture 20</dc:subject>
  <dc:creator>Raffaele Montella</dc:creator>
  <cp:lastModifiedBy>Raffaele Montella</cp:lastModifiedBy>
  <cp:revision>1</cp:revision>
  <dcterms:created xsi:type="dcterms:W3CDTF">2026-10-17T07:16:49Z</dcterms:created>
  <dcterms:modified xsi:type="dcterms:W3CDTF">2026-10-17T07:16:49Z</dcterms:modified>
</cp:coreProperties>
</file>