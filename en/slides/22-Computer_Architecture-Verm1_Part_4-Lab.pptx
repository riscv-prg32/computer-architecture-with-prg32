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9183c17-dbd1-97d8-94e1-fa108cec635e}">
          <p14:sldIdLst>
            <p14:sldId id="256"/>
            <p14:sldId id="257"/>
          </p14:sldIdLst>
        </p14:section>
        <p14:section name="The listings" id="{35ac6205-f3a5-6c20-6cb1-d7104b8bbe34}">
          <p14:sldIdLst>
            <p14:sldId id="258"/>
          </p14:sldIdLst>
        </p14:section>
        <p14:section name="Step 1: the score in digits" id="{7e4dff15-44b1-9904-278d-59f96f52e2b2}">
          <p14:sldIdLst>
            <p14:sldId id="259"/>
            <p14:sldId id="260"/>
            <p14:sldId id="261"/>
            <p14:sldId id="262"/>
          </p14:sldIdLst>
        </p14:section>
        <p14:section name="Step 2: levels" id="{29b73423-889d-6c5c-b50c-dbea359203ff}">
          <p14:sldIdLst>
            <p14:sldId id="263"/>
            <p14:sldId id="264"/>
            <p14:sldId id="265"/>
          </p14:sldIdLst>
        </p14:section>
        <p14:section name="Step 3: step tells what it changed" id="{04446ca7-8609-72fd-ed43-eb57dc224d85}">
          <p14:sldIdLst>
            <p14:sldId id="266"/>
            <p14:sldId id="267"/>
            <p14:sldId id="268"/>
            <p14:sldId id="269"/>
            <p14:sldId id="270"/>
            <p14:sldId id="271"/>
            <p14:sldId id="272"/>
            <p14:sldId id="273"/>
          </p14:sldIdLst>
        </p14:section>
        <p14:section name="Step 4: draw only what changed" id="{065d26de-31d4-c183-3cd9-70f8136fb60e}">
          <p14:sldIdLst>
            <p14:sldId id="274"/>
            <p14:sldId id="275"/>
            <p14:sldId id="276"/>
            <p14:sldId id="277"/>
            <p14:sldId id="278"/>
            <p14:sldId id="279"/>
            <p14:sldId id="280"/>
            <p14:sldId id="281"/>
            <p14:sldId id="282"/>
            <p14:sldId id="283"/>
            <p14:sldId id="284"/>
          </p14:sldIdLst>
        </p14:section>
        <p14:section name="Step 5: measure" id="{a2e9f36a-737d-3a39-53fd-b572d7cd4508}">
          <p14:sldIdLst>
            <p14:sldId id="285"/>
            <p14:sldId id="286"/>
            <p14:sldId id="287"/>
            <p14:sldId id="288"/>
            <p14:sldId id="289"/>
            <p14:sldId id="290"/>
            <p14:sldId id="291"/>
            <p14:sldId id="292"/>
            <p14:sldId id="293"/>
          </p14:sldIdLst>
        </p14:section>
        <p14:section name="Run it and test it" id="{2a379276-b45c-450c-86ee-dd6821156f59}">
          <p14:sldIdLst>
            <p14:sldId id="294"/>
            <p14:sldId id="295"/>
            <p14:sldId id="296"/>
            <p14:sldId id="297"/>
            <p14:sldId id="298"/>
          </p14:sldIdLst>
        </p14:section>
        <p14:section name="Exercises" id="{127894be-f452-ffda-7ee1-0d41a2925b11}">
          <p14:sldIdLst>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22.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quotient and remainder; characters and strings; fixed point; the calling convention; arrays in memory; finite-state machines; the frame buffer; the processor cycle. USE NOW: the PRG32 tools, the PRG32-QT debugger (used, not studied, in this course). UNDERSTAND LATER: nothing. A slide without a badge is context: a story, an example, a question, an exercise.
Roadmap. Today's outcomes: (1) turn a number into decimal digits with divu and remu; (2) draw only what changed, with a dirty flag; (3) finish the game: levels, sound, speed. Builds on: characters and strings (Lecture 04); fixed point (Lecture 06); the calling convention (Lecture 18); arrays in memory (Lecture 04); finite-state machines (Lecture 13). Next: Lecture 23, Verm1 on the Cartridge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reference program is ~/arc12/verm1/verm1_part4.S; tools/tests/verm1_check.py builds it and plays it with a scripted player, and verm1_steps.py runs the intermediate checkpoints.
For the lecturer: Get the code once: git clone https://github.com/riscv-prg32/computer-architecture-with-prg32 ~/arc12. The reference program is ~/arc12/verm1/verm1_part4.S; tools/tests/verm1_check.py builds it and plays it with a scripted player, and verm1_steps.py runs the intermediate checkpoints.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two commands as always. Before anything is changed, Part 3 is run in debug mode and the telemetry recorded during a game: retired instructions, frames per second, late frames. These figures are the baseline of the measurement that concludes the lecture; without them no claim of improvement could be substantiated.
USE NOW: the PRG32 tools (used, not studied, in this course).
For the lecturer: The same two commands. Before you start, run Part 3 in debug mode and write down what the telemetry shows during a game: retired instructions, frames per second, late frames. You will need the numbers in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to_decimal states its contract in a comment: the value in a0, the address of three characters in a1. It performs the same operation three times: remu yields the remainder of division by ten, 48 is added to it, sb stores the byte, and divu leaves the quotient for the next round. The offsets are 2, 1 and 0, from units to hundreds. The function is a leaf: it calls nothing and uses only temporaries, so it needs no stack frame. Division instructions are slow on a small processor, tens of cycles each, but ten of them per step are negligible.
UNDERSTAND NOW: quotient and remainder.
For the lecturer: Values above 999 would show only their last three digits: a limit that no player will meet soon. The division instructions are slow, tens of clock cycles each on a small processor, and ten per step of the worm are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draw_score replaces that of Part 3. It calls to_decimal twice, once for the score and once for the best score, each time with an address within a string where the digits belong: best_txt+5 skips the word BEST and the following space. The two strings are then drawn like any other text. Because text is drawn with its background colour, the new digits overwrite the old ones without any need to clear them first.
UNDERSTAND NOW: characters and strings.
For the lecturer: score_txt and best_txt are strings in .data, not .rodata: the program writes into them. Text is drawn with its background colour, so new digits cover the old ones without clearing.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.data section. Two strings that the program fills in, placed in .data rather than .rodata precisely because the program writes into them. Six new variables follow: dirty, the previous position of the head, and the cell to be erased. They are not used until the third step, but are typed now so that the section is written once.
UNDERSTAND NOW: characters and strings.
For the lecturer: Type all of it now. The six variables from dirty to erase_y are not used until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and run. The top line reads VERM1 000 and, on the right, BEST 000; each meal increments the first; on losing, BEST shows the score attained. In the debugger, score_txt can be inspected in memory: after three meals its bytes are 30 30 33 00, the characters produced by the student's own division.
For the lecturer: This intermediate program, Part 3 with the new draw_score, to_decimal and .data, is built and run by tests/verm1_steps.py.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constant SPEED_Q8 is replaced by two: a minimum of 32 and a maximum of 96. Both are fixed-point values in 256ths of a cell per frame, as in Part 2: 32 means one step every eight frames, 96 three steps every eight frames.
UNDERSTAND NOW: fixed point.
For the lecturer: Replace the constants of Part 3. Only the two SPEED lines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timer at the end of play_update. The speed is 32 plus four times the score, computed with a shift by two positions and an addition. A comparison then retains the smaller of this value and the maximum. The rest is the familiar timer: the speed is added to an accumulator, and a step is taken whenever it exceeds 256. A quantity that follows a line and then remains at a bound is said to saturate, the same idea as the clamping of Lecture 05.
UNDERSTAND NOW: fixed point.
For the lecturer: Replace the timer at the end of play_update. A saturation: the value follows a line and then stays at the limit, like the clamp of the first laboratory. With fixed point the speed changes by a sixty-fourth of a cell per frame at each meal: no integer speed could be so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and run: the worm starts more slowly than in Part 3 and accelerates at every meal. With the debugger, the frames between two steps at score zero can be counted: eight, as predicted. Reaching sixteen points, the speed can be verified to remain constant. A maximum of 256, one step per frame, may then be tried by the adventurous.
For the lecturer: Checked by tests/verm1_steps.py: 8 steps in the first 64 frames of a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play_note replaces eat_sound. The caller chooses the note and the duration, in a2 and a4; the function supplies channel, instrument and volume and calls prg32_audio_note. The choice of registers is deliberate: note and duration already sit where the runtime function expects them, so nothing needs to be moved. Designing a contract around the callee's interface saves instructions, a small but characteristic instance of interface design.
UNDERSTAND NOW: the calling convention.
For the lecturer: The arguments stay in the registers where prg32_audio_note expects them: a2 is the note and a4 the duration in both functions. Designing a contract around the callee saves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beginning of step, with two stores added: before the head moves, its coordinates are written into old_x and old_y. That cell is about to cease being the head and become body, and draw will need to repaint it.
UNDERSTAND NOW: arrays in memory.
For the lecturer: Two stores are added to the code of Part 3: the lines that write old_x and old_y.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 taken on a meal. When the worm eats, the tail does not move, so there is no cell to erase, and erase_on is set to zero to record the fact.
UNDERSTAND NOW: arrays in memory.
For the lecturer: Two lines are added: the store of zero into erase_on.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worm does not eat, the tail vacates a cell: its coordinates are saved in erase_x and erase_y, and erase_on is set to 1. Further on, the collision with the body is no longer handled inline: it has become a single call to game_is_over.
UNDERSTAND NOW: arrays in memory.
For the lecturer: The beginning is new, seven lines; the end is shorter than in Part 3, because the transition to OVER has become a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head is written into the ring and into the map exactly as in Part 3. The slide appears only because the function continues on the next one.
UNDERSTAND NOW: arrays in memory.
For the lecturer: Unchanged lines, shown because the function continues.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end of step. First dirty is set to 1, because a step has occurred and draw has work to do. Then, if the worm has eaten: one more point, new food, and a short high note, number 72 for 60 milliseconds, requested with two li instructions and a call, arguments passed by contract.
UNDERSTAND NOW: the calling convention.
For the lecturer: This replaces the end of step. Note 72 for 60 milliseconds: the sound of Part 2, through the new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game_is_over gathers in one place everything the transition from PLAY to OVER entails: the new state, the update of the best score, dirty set to 2 because an entire new screen must be drawn, and a long low note, number 36 for 400 milliseconds. A transition of the state machine merits a function of its own, so that its effects cannot be scattered or partially forgotten.
UNDERSTAND NOW: finite-state machines.
For the lecturer: A transition of the state machine deserves a function of its own: state, outputs and sound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and run: the game looks exactly as it did after the second step. What changes can be heard: a low note on biting oneself. In the debugger, erase_x and erase_y can be seen to follow the tail one step behind, and dirty to hold 1 or 2: it is written, and nothing reads it yet.
For the lecturer: This intermediate program is built and run by tests/verm1_steps.py: verm1_draw of Part 3 with step, play_note and game_is_over of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verm1_draw reads dirty and clears it at once. If it was zero, the function returns immediately: no stack frame, no call, five machine instructions. If it was 1, a step has occurred and draw_changes is called. If it was 2, the state has changed and draw_full redraws everything. The most frequent case is the cheapest, which is the hallmark of a well-conceived optimisation.
UNDERSTAND NOW: the frame buffer.
For the lecturer: Replace verm1_draw. The frame is created only if there is something to do: the common case, nothing changed, costs five machine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draw_changes paints at most three cells. If erase_on is set, the cell vacated by the tail is painted black. The old head is repainted in the colour of the body. Then the new head, the food and the score are drawn. The order matters: the head may enter exactly the cell the tail has just left, so the erasure must precede the drawing of the head.
UNDERSTAND NOW: the frame buffer.
For the lecturer: The head may enter the cell that the tail has just left: erasing first and drawing the head afterwards gives the right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draw_full is the body of the former verm1_draw: it clears the screen and draws the score, and in the TITLE state adds the invitation and returns. It is called once per change of state, not at every frame.
UNDERSTAND NOW: the frame buffer.
For the lecturer: Called once for each change of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draw_full: in PLAY and OVER it draws the worm and the food through their functions, and in OVER it adds the two words of the game-over screen.
UNDERSTAND NOW: the frame buffer.
For the lecturer: The second half of draw_full.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draw_head draws one cell in bright green, the entry head_i of the ring. It is a small function with a single responsibility, used by draw_changes.
UNDERSTAND NOW: the frame buffer.
For the lecturer: A small function used by draw_changes.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draw_food: the three lines formerly inside draw now have a name and two callers, the full drawing and the partial one.
UNDERSTAND NOW: the frame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draw_text, the helper of Part 3, unchanged. It is shown on a slide of its own because in Part 3 it shared one with the game-over text.
For the lecturer: Unchanged: it was shown together with the game-over text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verm1_init with three lines added: dirty starts at 2, because the title screen must be drawn once.
UNDERSTAND NOW: finite-state machines.
For the lecturer: Replace verm1_init: three lines are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verm1_update, the transition from OVER back to TITLE now also sets dirty to 2: a new state requires a new screen.
UNDERSTAND NOW: finite-state machines.
For the lecturer: Replace the same part of verm1_update.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in new_game, for the transition from TITLE to PLAY. This is the governing rule of the technique: every transition requests a full drawing, every step a partial one. Forgetting one produces the characteristic defect of incremental rendering, a screen that depicts a state no longer true.
UNDERSTAND NOW: finite-state machines.
For the lecturer: Every transition of the machine asks for a full drawing; every step asks for a partial one. Forgetting one of them is the typical bug of this technique: the screen shows a state that is no longer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finished Verm1. It must be the same game as after the third step, pixel for pixel: the optimisation must be invisible. Trails or holes indicate that some change was not recorded, and the debugger should be used to find it, starting from the three variables that step writes.
For the lecturer: Screenshots produced by tools/tests/verm1_check.py.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appendix follows: the eight parts of the file unchanged since Part 3. They are included so that this deck contains the whole program, and they are to be kept as they stand.
For the lecturer: Reference file for this part: verm1/verm1_part4.S (565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verm1_update: the reading of the buttons and the edge detector of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half of new_game: the map is cleared and the worm laid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steering within play_update: the button masks and the rule forbidding the U-turn, from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beginning of step: the stack frame and the lookup of the direction in the tables dx and 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place_food: a random cell, drawn again until a free one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draw_worm, which traverses the ring backwards. It is now used only by draw_full, once per new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draw_cell, from cells to pixels: the same function since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.rodata section: the strings and the direction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for making the game one's own. A pause on button B, which requires a fourth state. A melody on the title screen, read from a table of notes. Bonus food that is worth more and disappears after a time. One's own colours, or one's own rules. The version published in the next lecture should contain something of the author's, beginning with the title.
For the lecturer: Pause: a state PAUSED with transitions on the edge of B (0x20), and dirty = 2 at both transitions. Melody: an index and a frame counter in .data; the table is read like dx.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22: Verm1, part 4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22</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Part 4: The Finished Game: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Verm1 reference implementation contributed by Giuseppe Coviello</a:t>
            </a:r>
            <a:endParaRPr lang="en-US" sz="12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22-Computer_Architecture-Verm1_Part_4.pptx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verm1_p4_play.png">    </p:cNvPr>
          <p:cNvPicPr>
            <a:picLocks noChangeAspect="1"/>
          </p:cNvPicPr>
          <p:nvPr/>
        </p:nvPicPr>
        <p:blipFill>
          <a:blip r:embed="rId1"/>
          <a:stretch>
            <a:fillRect/>
          </a:stretch>
        </p:blipFill>
        <p:spPr>
          <a:xfrm>
            <a:off x="8716975" y="4280535"/>
            <a:ext cx="2834640" cy="177165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31 listings of Lecture 22, one per slide: read the code, then the numbered remarks beside it</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program is your verm1.S; the reference is verm1/verm1_part4.S, 565 lines, shown here region by region</a:t>
            </a:r>
            <a:endParaRPr lang="en-US" sz="2200" dirty="0"/>
          </a:p>
        </p:txBody>
      </p:sp>
      <p:sp>
        <p:nvSpPr>
          <p:cNvPr id="7" name="Text 5"/>
          <p:cNvSpPr txBox="1"/>
          <p:nvPr/>
        </p:nvSpPr>
        <p:spPr>
          <a:xfrm>
            <a:off x="548640" y="3836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8181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working loop, again</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1. build the cartridge (from your PRG32 folder, toolchain active)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--entry-prefix verm1 --name verm1 --out ~/verm1/verm1.prg32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 send it to PRG32-QT, running on the same computer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esp32c6 upload-and-run ~/verm1/verm1.prg32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--url http://localhost:8080 --slot cart0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or: in PRG32-QT, import the file verm1.prg32 and choose Run Cartridge</a:t>
            </a:r>
            <a:endParaRPr lang="en-US" sz="1800" dirty="0"/>
          </a:p>
        </p:txBody>
      </p:sp>
      <p:sp>
        <p:nvSpPr>
          <p:cNvPr id="5" name="Shape 3"/>
          <p:cNvSpPr/>
          <p:nvPr/>
        </p:nvSpPr>
        <p:spPr>
          <a:xfrm>
            <a:off x="9287967" y="91440"/>
            <a:ext cx="2355088" cy="274320"/>
          </a:xfrm>
          <a:prstGeom prst="rect">
            <a:avLst/>
          </a:prstGeom>
          <a:solidFill>
            <a:srgbClr val="FEF3C7"/>
          </a:solidFill>
          <a:ln w="12700">
            <a:solidFill>
              <a:srgbClr val="B45309"/>
            </a:solidFill>
            <a:prstDash val="solid"/>
          </a:ln>
        </p:spPr>
      </p:sp>
      <p:sp>
        <p:nvSpPr>
          <p:cNvPr id="6" name="Shape 4"/>
          <p:cNvSpPr/>
          <p:nvPr/>
        </p:nvSpPr>
        <p:spPr>
          <a:xfrm>
            <a:off x="9287967" y="91440"/>
            <a:ext cx="27432" cy="274320"/>
          </a:xfrm>
          <a:prstGeom prst="rect">
            <a:avLst/>
          </a:prstGeom>
          <a:solidFill>
            <a:srgbClr val="B45309"/>
          </a:solidFill>
          <a:ln w="12700">
            <a:solidFill>
              <a:srgbClr val="B45309"/>
            </a:solidFill>
            <a:prstDash val="solid"/>
          </a:ln>
        </p:spPr>
      </p:sp>
      <p:sp>
        <p:nvSpPr>
          <p:cNvPr id="7" name="Shape 5"/>
          <p:cNvSpPr/>
          <p:nvPr/>
        </p:nvSpPr>
        <p:spPr>
          <a:xfrm>
            <a:off x="9342831"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9" name="Text 6"/>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to_decimal: divide by ten, three times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to_decimal:                     </a:t>
            </a:r>
            <a:pPr indent="0" marL="0">
              <a:buNone/>
            </a:pPr>
            <a:r>
              <a:rPr lang="en-US" sz="1300" dirty="0">
                <a:solidFill>
                  <a:srgbClr val="8FB3A0"/>
                </a:solidFill>
                <a:latin typeface="Courier New" pitchFamily="34" charset="0"/>
                <a:ea typeface="Courier New" pitchFamily="34" charset="-122"/>
                <a:cs typeface="Courier New" pitchFamily="34" charset="-120"/>
              </a:rPr>
              <a:t># a0 = value 0..999, a1 = address of 3 chars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t0, 10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remu t1, a0, t0             </a:t>
            </a:r>
            <a:pPr indent="0" marL="0">
              <a:buNone/>
            </a:pPr>
            <a:r>
              <a:rPr lang="en-US" sz="1300" dirty="0">
                <a:solidFill>
                  <a:srgbClr val="8FB3A0"/>
                </a:solidFill>
                <a:latin typeface="Courier New" pitchFamily="34" charset="0"/>
                <a:ea typeface="Courier New" pitchFamily="34" charset="-122"/>
                <a:cs typeface="Courier New" pitchFamily="34" charset="-120"/>
              </a:rPr>
              <a:t># the units: the remainder of value / 10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t1, t1, 48             </a:t>
            </a:r>
            <a:pPr indent="0" marL="0">
              <a:buNone/>
            </a:pPr>
            <a:r>
              <a:rPr lang="en-US" sz="1300" dirty="0">
                <a:solidFill>
                  <a:srgbClr val="8FB3A0"/>
                </a:solidFill>
                <a:latin typeface="Courier New" pitchFamily="34" charset="0"/>
                <a:ea typeface="Courier New" pitchFamily="34" charset="-122"/>
                <a:cs typeface="Courier New" pitchFamily="34" charset="-120"/>
              </a:rPr>
              <a:t># 48 is the ASCII code of '0'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sb   t1, 2(a1)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divu a0, a0, 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remu t1, a0, t0             </a:t>
            </a:r>
            <a:pPr indent="0" marL="0">
              <a:buNone/>
            </a:pPr>
            <a:r>
              <a:rPr lang="en-US" sz="1300" dirty="0">
                <a:solidFill>
                  <a:srgbClr val="8FB3A0"/>
                </a:solidFill>
                <a:latin typeface="Courier New" pitchFamily="34" charset="0"/>
                <a:ea typeface="Courier New" pitchFamily="34" charset="-122"/>
                <a:cs typeface="Courier New" pitchFamily="34" charset="-120"/>
              </a:rPr>
              <a:t># the tens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t1, t1, 48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sb   t1, 1(a1)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divu a0, a0, 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remu t1, a0, t0             </a:t>
            </a:r>
            <a:pPr indent="0" marL="0">
              <a:buNone/>
            </a:pPr>
            <a:r>
              <a:rPr lang="en-US" sz="1300" dirty="0">
                <a:solidFill>
                  <a:srgbClr val="8FB3A0"/>
                </a:solidFill>
                <a:latin typeface="Courier New" pitchFamily="34" charset="0"/>
                <a:ea typeface="Courier New" pitchFamily="34" charset="-122"/>
                <a:cs typeface="Courier New" pitchFamily="34" charset="-120"/>
              </a:rPr>
              <a:t># the hundreds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t1, t1, 48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sb   t1, 0(a1)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                         </a:t>
            </a:r>
            <a:pPr indent="0" marL="0">
              <a:buNone/>
            </a:pPr>
            <a:r>
              <a:rPr lang="en-US" sz="1300" dirty="0">
                <a:solidFill>
                  <a:srgbClr val="8FB3A0"/>
                </a:solidFill>
                <a:latin typeface="Courier New" pitchFamily="34" charset="0"/>
                <a:ea typeface="Courier New" pitchFamily="34" charset="-122"/>
                <a:cs typeface="Courier New" pitchFamily="34" charset="-120"/>
              </a:rPr>
              <a:t># a leaf function: no stack frame needed</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Contract: a0 = value, a1 = where the 3 characters go</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remu gives the digit, divu what is left</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sb stores a byte: offsets 2, 1, 0 from a1</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 leaf: only t registers, no frame at all</a:t>
            </a:r>
            <a:endParaRPr lang="en-US" sz="1500" dirty="0"/>
          </a:p>
        </p:txBody>
      </p:sp>
      <p:sp>
        <p:nvSpPr>
          <p:cNvPr id="17" name="Shape 15"/>
          <p:cNvSpPr/>
          <p:nvPr/>
        </p:nvSpPr>
        <p:spPr>
          <a:xfrm>
            <a:off x="8222056" y="91440"/>
            <a:ext cx="3420999" cy="274320"/>
          </a:xfrm>
          <a:prstGeom prst="rect">
            <a:avLst/>
          </a:prstGeom>
          <a:solidFill>
            <a:srgbClr val="E0F2FE"/>
          </a:solidFill>
          <a:ln w="12700">
            <a:solidFill>
              <a:srgbClr val="0369A1"/>
            </a:solidFill>
            <a:prstDash val="solid"/>
          </a:ln>
        </p:spPr>
      </p:sp>
      <p:sp>
        <p:nvSpPr>
          <p:cNvPr id="18" name="Shape 16"/>
          <p:cNvSpPr/>
          <p:nvPr/>
        </p:nvSpPr>
        <p:spPr>
          <a:xfrm>
            <a:off x="8222056"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20" name="Text 17"/>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quotient and remainder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draw_score: two numbers, two texts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draw_score: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score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a0,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a1, score_txt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to_decimal             </a:t>
            </a:r>
            <a:pPr indent="0" marL="0">
              <a:buNone/>
            </a:pPr>
            <a:r>
              <a:rPr lang="en-US" sz="1300" dirty="0">
                <a:solidFill>
                  <a:srgbClr val="8FB3A0"/>
                </a:solidFill>
                <a:latin typeface="Courier New" pitchFamily="34" charset="0"/>
                <a:ea typeface="Courier New" pitchFamily="34" charset="-122"/>
                <a:cs typeface="Courier New" pitchFamily="34" charset="-120"/>
              </a:rPr>
              <a:t># the score, as three characters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a0, 56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a1, 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a2, score_txt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draw_text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best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a0,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a1, best_txt+5         </a:t>
            </a:r>
            <a:pPr indent="0" marL="0">
              <a:buNone/>
            </a:pPr>
            <a:r>
              <a:rPr lang="en-US" sz="1300" dirty="0">
                <a:solidFill>
                  <a:srgbClr val="8FB3A0"/>
                </a:solidFill>
                <a:latin typeface="Courier New" pitchFamily="34" charset="0"/>
                <a:ea typeface="Courier New" pitchFamily="34" charset="-122"/>
                <a:cs typeface="Courier New" pitchFamily="34" charset="-120"/>
              </a:rPr>
              <a:t># after the letters "BEST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to_decimal</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a0, 256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a1, 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a2, best_txt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draw_text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Replace draw_score of Part 3: the marks go</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digits are written into a string in RAM</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best_txt+5: skip BEST and the space, five characters</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Then the string is drawn like any other</a:t>
            </a:r>
            <a:endParaRPr lang="en-US" sz="1500" dirty="0"/>
          </a:p>
        </p:txBody>
      </p:sp>
      <p:sp>
        <p:nvSpPr>
          <p:cNvPr id="17" name="Shape 15"/>
          <p:cNvSpPr/>
          <p:nvPr/>
        </p:nvSpPr>
        <p:spPr>
          <a:xfrm>
            <a:off x="8222056" y="91440"/>
            <a:ext cx="3420999" cy="274320"/>
          </a:xfrm>
          <a:prstGeom prst="rect">
            <a:avLst/>
          </a:prstGeom>
          <a:solidFill>
            <a:srgbClr val="E0F2FE"/>
          </a:solidFill>
          <a:ln w="12700">
            <a:solidFill>
              <a:srgbClr val="0369A1"/>
            </a:solidFill>
            <a:prstDash val="solid"/>
          </a:ln>
        </p:spPr>
      </p:sp>
      <p:sp>
        <p:nvSpPr>
          <p:cNvPr id="18" name="Shape 16"/>
          <p:cNvSpPr/>
          <p:nvPr/>
        </p:nvSpPr>
        <p:spPr>
          <a:xfrm>
            <a:off x="8222056"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20" name="Text 17"/>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characters and strings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.data: the variables of Part 4</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.section .data                  </a:t>
            </a:r>
            <a:pPr indent="0" marL="0">
              <a:buNone/>
            </a:pPr>
            <a:r>
              <a:rPr lang="en-US" sz="1250" dirty="0">
                <a:solidFill>
                  <a:srgbClr val="8FB3A0"/>
                </a:solidFill>
                <a:latin typeface="Courier New" pitchFamily="34" charset="0"/>
                <a:ea typeface="Courier New" pitchFamily="34" charset="-122"/>
                <a:cs typeface="Courier New" pitchFamily="34" charset="-120"/>
              </a:rPr>
              <a:t># variables: they live in RAM</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state:     .word TITLE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prev_btn:  .word 0              </a:t>
            </a:r>
            <a:pPr indent="0" marL="0">
              <a:buNone/>
            </a:pPr>
            <a:r>
              <a:rPr lang="en-US" sz="1250" dirty="0">
                <a:solidFill>
                  <a:srgbClr val="8FB3A0"/>
                </a:solidFill>
                <a:latin typeface="Courier New" pitchFamily="34" charset="0"/>
                <a:ea typeface="Courier New" pitchFamily="34" charset="-122"/>
                <a:cs typeface="Courier New" pitchFamily="34" charset="-120"/>
              </a:rPr>
              <a:t># the buttons one frame ago</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dir: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want: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step_q8: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score: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best:      .word 0              </a:t>
            </a:r>
            <a:pPr indent="0" marL="0">
              <a:buNone/>
            </a:pPr>
            <a:r>
              <a:rPr lang="en-US" sz="1250" dirty="0">
                <a:solidFill>
                  <a:srgbClr val="8FB3A0"/>
                </a:solidFill>
                <a:latin typeface="Courier New" pitchFamily="34" charset="0"/>
                <a:ea typeface="Courier New" pitchFamily="34" charset="-122"/>
                <a:cs typeface="Courier New" pitchFamily="34" charset="-120"/>
              </a:rPr>
              <a:t># lost when the power goes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food_x: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food_y: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head_i:    .word 0              </a:t>
            </a:r>
            <a:pPr indent="0" marL="0">
              <a:buNone/>
            </a:pPr>
            <a:r>
              <a:rPr lang="en-US" sz="1250" dirty="0">
                <a:solidFill>
                  <a:srgbClr val="8FB3A0"/>
                </a:solidFill>
                <a:latin typeface="Courier New" pitchFamily="34" charset="0"/>
                <a:ea typeface="Courier New" pitchFamily="34" charset="-122"/>
                <a:cs typeface="Courier New" pitchFamily="34" charset="-120"/>
              </a:rPr>
              <a:t># ring index of the head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length:    .word 0              </a:t>
            </a:r>
            <a:pPr indent="0" marL="0">
              <a:buNone/>
            </a:pPr>
            <a:r>
              <a:rPr lang="en-US" sz="1250" dirty="0">
                <a:solidFill>
                  <a:srgbClr val="8FB3A0"/>
                </a:solidFill>
                <a:latin typeface="Courier New" pitchFamily="34" charset="0"/>
                <a:ea typeface="Courier New" pitchFamily="34" charset="-122"/>
                <a:cs typeface="Courier New" pitchFamily="34" charset="-120"/>
              </a:rPr>
              <a:t># number of cells of the worm</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body_x:    .space 256           </a:t>
            </a:r>
            <a:pPr indent="0" marL="0">
              <a:buNone/>
            </a:pPr>
            <a:r>
              <a:rPr lang="en-US" sz="1250" dirty="0">
                <a:solidFill>
                  <a:srgbClr val="8FB3A0"/>
                </a:solidFill>
                <a:latin typeface="Courier New" pitchFamily="34" charset="0"/>
                <a:ea typeface="Courier New" pitchFamily="34" charset="-122"/>
                <a:cs typeface="Courier New" pitchFamily="34" charset="-120"/>
              </a:rPr>
              <a:t># the ring: one byte per segment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body_y:    .space 256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grid:      .space COLS*ROWS     </a:t>
            </a:r>
            <a:pPr indent="0" marL="0">
              <a:buNone/>
            </a:pPr>
            <a:r>
              <a:rPr lang="en-US" sz="1250" dirty="0">
                <a:solidFill>
                  <a:srgbClr val="8FB3A0"/>
                </a:solidFill>
                <a:latin typeface="Courier New" pitchFamily="34" charset="0"/>
                <a:ea typeface="Courier New" pitchFamily="34" charset="-122"/>
                <a:cs typeface="Courier New" pitchFamily="34" charset="-120"/>
              </a:rPr>
              <a:t># one byte per cell: 1 = worm</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dirty:     .word 2              </a:t>
            </a:r>
            <a:pPr indent="0" marL="0">
              <a:buNone/>
            </a:pPr>
            <a:r>
              <a:rPr lang="en-US" sz="1250" dirty="0">
                <a:solidFill>
                  <a:srgbClr val="8FB3A0"/>
                </a:solidFill>
                <a:latin typeface="Courier New" pitchFamily="34" charset="0"/>
                <a:ea typeface="Courier New" pitchFamily="34" charset="-122"/>
                <a:cs typeface="Courier New" pitchFamily="34" charset="-120"/>
              </a:rPr>
              <a:t># 0 nothing to draw, 1 a step, 2 everything</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old_x:     .word 0              </a:t>
            </a:r>
            <a:pPr indent="0" marL="0">
              <a:buNone/>
            </a:pPr>
            <a:r>
              <a:rPr lang="en-US" sz="1250" dirty="0">
                <a:solidFill>
                  <a:srgbClr val="8FB3A0"/>
                </a:solidFill>
                <a:latin typeface="Courier New" pitchFamily="34" charset="0"/>
                <a:ea typeface="Courier New" pitchFamily="34" charset="-122"/>
                <a:cs typeface="Courier New" pitchFamily="34" charset="-120"/>
              </a:rPr>
              <a:t># where the head was before the step</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old_y: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erase_on:  .word 0              </a:t>
            </a:r>
            <a:pPr indent="0" marL="0">
              <a:buNone/>
            </a:pPr>
            <a:r>
              <a:rPr lang="en-US" sz="1250" dirty="0">
                <a:solidFill>
                  <a:srgbClr val="8FB3A0"/>
                </a:solidFill>
                <a:latin typeface="Courier New" pitchFamily="34" charset="0"/>
                <a:ea typeface="Courier New" pitchFamily="34" charset="-122"/>
                <a:cs typeface="Courier New" pitchFamily="34" charset="-120"/>
              </a:rPr>
              <a:t># 1 if the tail left a cell</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erase_x: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erase_y:   .word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score_txt: .asciz "000"         </a:t>
            </a:r>
            <a:pPr indent="0" marL="0">
              <a:buNone/>
            </a:pPr>
            <a:r>
              <a:rPr lang="en-US" sz="1250" dirty="0">
                <a:solidFill>
                  <a:srgbClr val="8FB3A0"/>
                </a:solidFill>
                <a:latin typeface="Courier New" pitchFamily="34" charset="0"/>
                <a:ea typeface="Courier New" pitchFamily="34" charset="-122"/>
                <a:cs typeface="Courier New" pitchFamily="34" charset="-120"/>
              </a:rPr>
              <a:t># filled in by to_decimal</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best_txt:  .asciz "BEST 000"</a:t>
            </a:r>
            <a:endParaRPr lang="en-US" sz="12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Replace the .data of Part 3</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Two strings that the program fills in</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dirty, old and erase: used in steps 3 and 4</a:t>
            </a:r>
            <a:endParaRPr lang="en-US" sz="1700" dirty="0"/>
          </a:p>
        </p:txBody>
      </p:sp>
      <p:sp>
        <p:nvSpPr>
          <p:cNvPr id="14" name="Shape 12"/>
          <p:cNvSpPr/>
          <p:nvPr/>
        </p:nvSpPr>
        <p:spPr>
          <a:xfrm>
            <a:off x="8222056" y="91440"/>
            <a:ext cx="3420999" cy="274320"/>
          </a:xfrm>
          <a:prstGeom prst="rect">
            <a:avLst/>
          </a:prstGeom>
          <a:solidFill>
            <a:srgbClr val="E0F2FE"/>
          </a:solidFill>
          <a:ln w="12700">
            <a:solidFill>
              <a:srgbClr val="0369A1"/>
            </a:solidFill>
            <a:prstDash val="solid"/>
          </a:ln>
        </p:spPr>
      </p:sp>
      <p:sp>
        <p:nvSpPr>
          <p:cNvPr id="15" name="Shape 13"/>
          <p:cNvSpPr/>
          <p:nvPr/>
        </p:nvSpPr>
        <p:spPr>
          <a:xfrm>
            <a:off x="8222056"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17" name="Text 14"/>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characters and strings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digits</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Build and run, press A: the top line reads VERM1 000 and, on the right, BEST 000</a:t>
            </a:r>
            <a:endParaRPr lang="en-US" sz="2400" dirty="0"/>
          </a:p>
        </p:txBody>
      </p:sp>
      <p:sp>
        <p:nvSpPr>
          <p:cNvPr id="6" name="Text 4"/>
          <p:cNvSpPr txBox="1"/>
          <p:nvPr/>
        </p:nvSpPr>
        <p:spPr>
          <a:xfrm>
            <a:off x="548640" y="25491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530856"/>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Play and eat: 001, 002, ...</a:t>
            </a:r>
            <a:endParaRPr lang="en-US" sz="2400" dirty="0"/>
          </a:p>
        </p:txBody>
      </p:sp>
      <p:sp>
        <p:nvSpPr>
          <p:cNvPr id="8" name="Text 6"/>
          <p:cNvSpPr txBox="1"/>
          <p:nvPr/>
        </p:nvSpPr>
        <p:spPr>
          <a:xfrm>
            <a:off x="548640" y="33578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339592"/>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Lose: on the game-over screen BEST shows your score</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In the debugger find score_txt in memory and read its bytes: 30 30 33 00 after three meals</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The score and the best score in digits; everything else as in Part 3.</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Constants: two speeds instead of one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.option norelax</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BLACK, 0x0000          </a:t>
            </a:r>
            <a:pPr indent="0" marL="0">
              <a:buNone/>
            </a:pPr>
            <a:r>
              <a:rPr lang="en-US" sz="1200" dirty="0">
                <a:solidFill>
                  <a:srgbClr val="8FB3A0"/>
                </a:solidFill>
                <a:latin typeface="Courier New" pitchFamily="34" charset="0"/>
                <a:ea typeface="Courier New" pitchFamily="34" charset="-122"/>
                <a:cs typeface="Courier New" pitchFamily="34" charset="-120"/>
              </a:rPr>
              <a:t># RGB565 colours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WHITE, 0xffff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GREEN, 0x07e0          </a:t>
            </a:r>
            <a:pPr indent="0" marL="0">
              <a:buNone/>
            </a:pPr>
            <a:r>
              <a:rPr lang="en-US" sz="1200" dirty="0">
                <a:solidFill>
                  <a:srgbClr val="8FB3A0"/>
                </a:solidFill>
                <a:latin typeface="Courier New" pitchFamily="34" charset="0"/>
                <a:ea typeface="Courier New" pitchFamily="34" charset="-122"/>
                <a:cs typeface="Courier New" pitchFamily="34" charset="-120"/>
              </a:rPr>
              <a:t># the head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BODY,  0x03e0          </a:t>
            </a:r>
            <a:pPr indent="0" marL="0">
              <a:buNone/>
            </a:pPr>
            <a:r>
              <a:rPr lang="en-US" sz="1200" dirty="0">
                <a:solidFill>
                  <a:srgbClr val="8FB3A0"/>
                </a:solidFill>
                <a:latin typeface="Courier New" pitchFamily="34" charset="0"/>
                <a:ea typeface="Courier New" pitchFamily="34" charset="-122"/>
                <a:cs typeface="Courier New" pitchFamily="34" charset="-120"/>
              </a:rPr>
              <a:t># the body: a darker green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RED,   0xf800          </a:t>
            </a:r>
            <a:pPr indent="0" marL="0">
              <a:buNone/>
            </a:pPr>
            <a:r>
              <a:rPr lang="en-US" sz="1200" dirty="0">
                <a:solidFill>
                  <a:srgbClr val="8FB3A0"/>
                </a:solidFill>
                <a:latin typeface="Courier New" pitchFamily="34" charset="0"/>
                <a:ea typeface="Courier New" pitchFamily="34" charset="-122"/>
                <a:cs typeface="Courier New" pitchFamily="34" charset="-120"/>
              </a:rPr>
              <a:t># the food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CELL,  8               </a:t>
            </a:r>
            <a:pPr indent="0" marL="0">
              <a:buNone/>
            </a:pPr>
            <a:r>
              <a:rPr lang="en-US" sz="1200" dirty="0">
                <a:solidFill>
                  <a:srgbClr val="8FB3A0"/>
                </a:solidFill>
                <a:latin typeface="Courier New" pitchFamily="34" charset="0"/>
                <a:ea typeface="Courier New" pitchFamily="34" charset="-122"/>
                <a:cs typeface="Courier New" pitchFamily="34" charset="-120"/>
              </a:rPr>
              <a:t># a cell is 8 x 8 pixels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COLS,  40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ROWS,  24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TOP,   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SPEED_MIN, 32          </a:t>
            </a:r>
            <a:pPr indent="0" marL="0">
              <a:buNone/>
            </a:pPr>
            <a:r>
              <a:rPr lang="en-US" sz="1200" dirty="0">
                <a:solidFill>
                  <a:srgbClr val="8FB3A0"/>
                </a:solidFill>
                <a:latin typeface="Courier New" pitchFamily="34" charset="0"/>
                <a:ea typeface="Courier New" pitchFamily="34" charset="-122"/>
                <a:cs typeface="Courier New" pitchFamily="34" charset="-120"/>
              </a:rPr>
              <a:t># 32/256 of a cell per frame at the start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SPEED_MAX, 96          </a:t>
            </a:r>
            <a:pPr indent="0" marL="0">
              <a:buNone/>
            </a:pPr>
            <a:r>
              <a:rPr lang="en-US" sz="1200" dirty="0">
                <a:solidFill>
                  <a:srgbClr val="8FB3A0"/>
                </a:solidFill>
                <a:latin typeface="Courier New" pitchFamily="34" charset="0"/>
                <a:ea typeface="Courier New" pitchFamily="34" charset="-122"/>
                <a:cs typeface="Courier New" pitchFamily="34" charset="-120"/>
              </a:rPr>
              <a:t># the worm never goes faster than this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BTN_LEFT,  0x01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BTN_RIGHT, 0x02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BTN_UP,    0x04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BTN_DOWN,  0x08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BTN_A,     0x10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DIR_RIGHT, 0           </a:t>
            </a:r>
            <a:pPr indent="0" marL="0">
              <a:buNone/>
            </a:pPr>
            <a:r>
              <a:rPr lang="en-US" sz="1200" dirty="0">
                <a:solidFill>
                  <a:srgbClr val="8FB3A0"/>
                </a:solidFill>
                <a:latin typeface="Courier New" pitchFamily="34" charset="0"/>
                <a:ea typeface="Courier New" pitchFamily="34" charset="-122"/>
                <a:cs typeface="Courier New" pitchFamily="34" charset="-120"/>
              </a:rPr>
              <a:t># bit 0 = vertical, bit 1 = backwards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DIR_DOWN,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DIR_LEFT,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DIR_UP,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TITLE, 0               </a:t>
            </a:r>
            <a:pPr indent="0" marL="0">
              <a:buNone/>
            </a:pPr>
            <a:r>
              <a:rPr lang="en-US" sz="1200" dirty="0">
                <a:solidFill>
                  <a:srgbClr val="8FB3A0"/>
                </a:solidFill>
                <a:latin typeface="Courier New" pitchFamily="34" charset="0"/>
                <a:ea typeface="Courier New" pitchFamily="34" charset="-122"/>
                <a:cs typeface="Courier New" pitchFamily="34" charset="-120"/>
              </a:rPr>
              <a:t># the three states of the game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PLAY,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OVER,  2</a:t>
            </a:r>
            <a:endParaRPr lang="en-US" sz="12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SPEED_Q8 is replaced by a minimum and a maximum</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32/256: one step every 8 frames at the start</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96/256: three steps every 8 frames at most</a:t>
            </a:r>
            <a:endParaRPr lang="en-US" sz="1700" dirty="0"/>
          </a:p>
        </p:txBody>
      </p:sp>
      <p:sp>
        <p:nvSpPr>
          <p:cNvPr id="14" name="Shape 12"/>
          <p:cNvSpPr/>
          <p:nvPr/>
        </p:nvSpPr>
        <p:spPr>
          <a:xfrm>
            <a:off x="8944305" y="91440"/>
            <a:ext cx="2698750" cy="274320"/>
          </a:xfrm>
          <a:prstGeom prst="rect">
            <a:avLst/>
          </a:prstGeom>
          <a:solidFill>
            <a:srgbClr val="E0F2FE"/>
          </a:solidFill>
          <a:ln w="12700">
            <a:solidFill>
              <a:srgbClr val="0369A1"/>
            </a:solidFill>
            <a:prstDash val="solid"/>
          </a:ln>
        </p:spPr>
      </p:sp>
      <p:sp>
        <p:nvSpPr>
          <p:cNvPr id="15" name="Shape 13"/>
          <p:cNvSpPr/>
          <p:nvPr/>
        </p:nvSpPr>
        <p:spPr>
          <a:xfrm>
            <a:off x="894430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17" name="Text 14"/>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fixed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play_update: a speed that grows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    la   t0, score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t3,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slli t3, t3, 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t3, t3, SPEED_MIN      </a:t>
            </a:r>
            <a:pPr indent="0" marL="0">
              <a:buNone/>
            </a:pPr>
            <a:r>
              <a:rPr lang="en-US" sz="1300" dirty="0">
                <a:solidFill>
                  <a:srgbClr val="8FB3A0"/>
                </a:solidFill>
                <a:latin typeface="Courier New" pitchFamily="34" charset="0"/>
                <a:ea typeface="Courier New" pitchFamily="34" charset="-122"/>
                <a:cs typeface="Courier New" pitchFamily="34" charset="-120"/>
              </a:rPr>
              <a:t># speed = 32 + 4 * score, in 1/256 of a cell</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t4, SPEED_MAX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ble  t3, t4, 8f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mv   t3, t4                 </a:t>
            </a:r>
            <a:pPr indent="0" marL="0">
              <a:buNone/>
            </a:pPr>
            <a:r>
              <a:rPr lang="en-US" sz="1300" dirty="0">
                <a:solidFill>
                  <a:srgbClr val="8FB3A0"/>
                </a:solidFill>
                <a:latin typeface="Courier New" pitchFamily="34" charset="0"/>
                <a:ea typeface="Courier New" pitchFamily="34" charset="-122"/>
                <a:cs typeface="Courier New" pitchFamily="34" charset="-120"/>
              </a:rPr>
              <a:t># ... but never more than 96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8:  la   t0, step_q8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t1, t1, t3             </a:t>
            </a:r>
            <a:pPr indent="0" marL="0">
              <a:buNone/>
            </a:pPr>
            <a:r>
              <a:rPr lang="en-US" sz="1300" dirty="0">
                <a:solidFill>
                  <a:srgbClr val="8FB3A0"/>
                </a:solidFill>
                <a:latin typeface="Courier New" pitchFamily="34" charset="0"/>
                <a:ea typeface="Courier New" pitchFamily="34" charset="-122"/>
                <a:cs typeface="Courier New" pitchFamily="34" charset="-120"/>
              </a:rPr>
              <a:t># add a fraction of a cell</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t2, 256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blt  t1, t2, 6f             </a:t>
            </a:r>
            <a:pPr indent="0" marL="0">
              <a:buNone/>
            </a:pPr>
            <a:r>
              <a:rPr lang="en-US" sz="1300" dirty="0">
                <a:solidFill>
                  <a:srgbClr val="8FB3A0"/>
                </a:solidFill>
                <a:latin typeface="Courier New" pitchFamily="34" charset="0"/>
                <a:ea typeface="Courier New" pitchFamily="34" charset="-122"/>
                <a:cs typeface="Courier New" pitchFamily="34" charset="-120"/>
              </a:rPr>
              <a:t># less than one whole cell: wait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sub  t1, t1, t2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step                   </a:t>
            </a:r>
            <a:pPr indent="0" marL="0">
              <a:buNone/>
            </a:pPr>
            <a:r>
              <a:rPr lang="en-US" sz="1300" dirty="0">
                <a:solidFill>
                  <a:srgbClr val="8FB3A0"/>
                </a:solidFill>
                <a:latin typeface="Courier New" pitchFamily="34" charset="0"/>
                <a:ea typeface="Courier New" pitchFamily="34" charset="-122"/>
                <a:cs typeface="Courier New" pitchFamily="34" charset="-120"/>
              </a:rPr>
              <a:t># one whole cell: move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j    7f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6:  sw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7: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speed = 32 + 4 x score: a shift and an add</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ble and mv: the smaller of speed and 96</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rest is the timer you know</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limit is reached at 16 points</a:t>
            </a:r>
            <a:endParaRPr lang="en-US" sz="1600" dirty="0"/>
          </a:p>
        </p:txBody>
      </p:sp>
      <p:sp>
        <p:nvSpPr>
          <p:cNvPr id="17" name="Shape 15"/>
          <p:cNvSpPr/>
          <p:nvPr/>
        </p:nvSpPr>
        <p:spPr>
          <a:xfrm>
            <a:off x="8944305" y="91440"/>
            <a:ext cx="2698750" cy="274320"/>
          </a:xfrm>
          <a:prstGeom prst="rect">
            <a:avLst/>
          </a:prstGeom>
          <a:solidFill>
            <a:srgbClr val="E0F2FE"/>
          </a:solidFill>
          <a:ln w="12700">
            <a:solidFill>
              <a:srgbClr val="0369A1"/>
            </a:solidFill>
            <a:prstDash val="solid"/>
          </a:ln>
        </p:spPr>
      </p:sp>
      <p:sp>
        <p:nvSpPr>
          <p:cNvPr id="18" name="Shape 16"/>
          <p:cNvSpPr/>
          <p:nvPr/>
        </p:nvSpPr>
        <p:spPr>
          <a:xfrm>
            <a:off x="894430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20" name="Text 17"/>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fixed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faster and faster</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Build and run: the worm starts slower than in Part 3, and gains speed at every meal</a:t>
            </a:r>
            <a:endParaRPr lang="en-US" sz="2400" dirty="0"/>
          </a:p>
        </p:txBody>
      </p:sp>
      <p:sp>
        <p:nvSpPr>
          <p:cNvPr id="6" name="Text 4"/>
          <p:cNvSpPr txBox="1"/>
          <p:nvPr/>
        </p:nvSpPr>
        <p:spPr>
          <a:xfrm>
            <a:off x="548640" y="25491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5308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Count the frames between two steps with the debugger at score 0: eight</a:t>
            </a:r>
            <a:endParaRPr lang="en-US" sz="2400" dirty="0"/>
          </a:p>
        </p:txBody>
      </p:sp>
      <p:sp>
        <p:nvSpPr>
          <p:cNvPr id="8" name="Text 6"/>
          <p:cNvSpPr txBox="1"/>
          <p:nvPr/>
        </p:nvSpPr>
        <p:spPr>
          <a:xfrm>
            <a:off x="548640" y="36626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644392"/>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Reach 16 points: the speed no longer changes</a:t>
            </a:r>
            <a:endParaRPr lang="en-US" sz="2400" dirty="0"/>
          </a:p>
        </p:txBody>
      </p:sp>
      <p:sp>
        <p:nvSpPr>
          <p:cNvPr id="10" name="Text 8"/>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Try SPEED_MAX = 256, if you dare</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A slow start, one step every 8 frames, and a visible acceleration over the first meals.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play_note: one function, any note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play_note:                      </a:t>
            </a:r>
            <a:pPr indent="0" marL="0">
              <a:buNone/>
            </a:pPr>
            <a:r>
              <a:rPr lang="en-US" sz="1450" dirty="0">
                <a:solidFill>
                  <a:srgbClr val="8FB3A0"/>
                </a:solidFill>
                <a:latin typeface="Courier New" pitchFamily="34" charset="0"/>
                <a:ea typeface="Courier New" pitchFamily="34" charset="-122"/>
                <a:cs typeface="Courier New" pitchFamily="34" charset="-120"/>
              </a:rPr>
              <a:t># a2 = MIDI note, a4 = milliseconds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a0, 0                  </a:t>
            </a:r>
            <a:pPr indent="0" marL="0">
              <a:buNone/>
            </a:pPr>
            <a:r>
              <a:rPr lang="en-US" sz="1450" dirty="0">
                <a:solidFill>
                  <a:srgbClr val="8FB3A0"/>
                </a:solidFill>
                <a:latin typeface="Courier New" pitchFamily="34" charset="0"/>
                <a:ea typeface="Courier New" pitchFamily="34" charset="-122"/>
                <a:cs typeface="Courier New" pitchFamily="34" charset="-120"/>
              </a:rPr>
              <a:t># channel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a1, 0                  </a:t>
            </a:r>
            <a:pPr indent="0" marL="0">
              <a:buNone/>
            </a:pPr>
            <a:r>
              <a:rPr lang="en-US" sz="1450" dirty="0">
                <a:solidFill>
                  <a:srgbClr val="8FB3A0"/>
                </a:solidFill>
                <a:latin typeface="Courier New" pitchFamily="34" charset="0"/>
                <a:ea typeface="Courier New" pitchFamily="34" charset="-122"/>
                <a:cs typeface="Courier New" pitchFamily="34" charset="-120"/>
              </a:rPr>
              <a:t># instrument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a3, 255                </a:t>
            </a:r>
            <a:pPr indent="0" marL="0">
              <a:buNone/>
            </a:pPr>
            <a:r>
              <a:rPr lang="en-US" sz="1450" dirty="0">
                <a:solidFill>
                  <a:srgbClr val="8FB3A0"/>
                </a:solidFill>
                <a:latin typeface="Courier New" pitchFamily="34" charset="0"/>
                <a:ea typeface="Courier New" pitchFamily="34" charset="-122"/>
                <a:cs typeface="Courier New" pitchFamily="34" charset="-120"/>
              </a:rPr>
              <a:t># volume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prg32_audio_note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Replace eat_sound with play_note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caller chooses note and duration: a2 and a4</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function fills in the other three arguments</a:t>
            </a:r>
            <a:endParaRPr lang="en-US" sz="1700" dirty="0"/>
          </a:p>
        </p:txBody>
      </p:sp>
      <p:sp>
        <p:nvSpPr>
          <p:cNvPr id="14" name="Shape 12"/>
          <p:cNvSpPr/>
          <p:nvPr/>
        </p:nvSpPr>
        <p:spPr>
          <a:xfrm>
            <a:off x="8222056" y="91440"/>
            <a:ext cx="3420999" cy="274320"/>
          </a:xfrm>
          <a:prstGeom prst="rect">
            <a:avLst/>
          </a:prstGeom>
          <a:solidFill>
            <a:srgbClr val="E0F2FE"/>
          </a:solidFill>
          <a:ln w="12700">
            <a:solidFill>
              <a:srgbClr val="0369A1"/>
            </a:solidFill>
            <a:prstDash val="solid"/>
          </a:ln>
        </p:spPr>
      </p:sp>
      <p:sp>
        <p:nvSpPr>
          <p:cNvPr id="15" name="Shape 13"/>
          <p:cNvSpPr/>
          <p:nvPr/>
        </p:nvSpPr>
        <p:spPr>
          <a:xfrm>
            <a:off x="8222056"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17" name="Text 14"/>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calling convention</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step: remember the old head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    la   t0, head_i</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t5, 0(t0)              </a:t>
            </a:r>
            <a:pPr indent="0" marL="0">
              <a:buNone/>
            </a:pPr>
            <a:r>
              <a:rPr lang="en-US" sz="1150" dirty="0">
                <a:solidFill>
                  <a:srgbClr val="8FB3A0"/>
                </a:solidFill>
                <a:latin typeface="Courier New" pitchFamily="34" charset="0"/>
                <a:ea typeface="Courier New" pitchFamily="34" charset="-122"/>
                <a:cs typeface="Courier New" pitchFamily="34" charset="-120"/>
              </a:rPr>
              <a:t># t5 = ring index of the head</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body_x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t5</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lbu  s0, 0(t0)              </a:t>
            </a:r>
            <a:pPr indent="0" marL="0">
              <a:buNone/>
            </a:pPr>
            <a:r>
              <a:rPr lang="en-US" sz="1150" dirty="0">
                <a:solidFill>
                  <a:srgbClr val="8FB3A0"/>
                </a:solidFill>
                <a:latin typeface="Courier New" pitchFamily="34" charset="0"/>
                <a:ea typeface="Courier New" pitchFamily="34" charset="-122"/>
                <a:cs typeface="Courier New" pitchFamily="34" charset="-120"/>
              </a:rPr>
              <a:t># one byte: the column of the head</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old_x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s0, 0(t0)              </a:t>
            </a:r>
            <a:pPr indent="0" marL="0">
              <a:buNone/>
            </a:pPr>
            <a:r>
              <a:rPr lang="en-US" sz="1150" dirty="0">
                <a:solidFill>
                  <a:srgbClr val="8FB3A0"/>
                </a:solidFill>
                <a:latin typeface="Courier New" pitchFamily="34" charset="0"/>
                <a:ea typeface="Courier New" pitchFamily="34" charset="-122"/>
                <a:cs typeface="Courier New" pitchFamily="34" charset="-120"/>
              </a:rPr>
              <a:t># remember where the head was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s0, s0, t2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bgez s0, 1f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s0, COLS-1             </a:t>
            </a:r>
            <a:pPr indent="0" marL="0">
              <a:buNone/>
            </a:pPr>
            <a:r>
              <a:rPr lang="en-US" sz="1150" dirty="0">
                <a:solidFill>
                  <a:srgbClr val="8FB3A0"/>
                </a:solidFill>
                <a:latin typeface="Courier New" pitchFamily="34" charset="0"/>
                <a:ea typeface="Courier New" pitchFamily="34" charset="-122"/>
                <a:cs typeface="Courier New" pitchFamily="34" charset="-120"/>
              </a:rPr>
              <a:t># off the left edge: wrap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1:  li   t4, COLS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blt  s0, t4, 2f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s0, 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2:  la   t0, body_y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t5</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lbu  s1,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old_y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s1,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s1, s1, t3</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bgez s1, 3f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s1, ROWS-1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3:  li   t4, ROWS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blt  s1, t4, 4f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s1, 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4:</a:t>
            </a:r>
            <a:endParaRPr lang="en-US" sz="11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Replace the same part of step</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old_x, old_y: the cell the head is leaving</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draw will repaint it in the colour of the body</a:t>
            </a:r>
            <a:endParaRPr lang="en-US" sz="1700" dirty="0"/>
          </a:p>
        </p:txBody>
      </p:sp>
      <p:sp>
        <p:nvSpPr>
          <p:cNvPr id="14" name="Shape 12"/>
          <p:cNvSpPr/>
          <p:nvPr/>
        </p:nvSpPr>
        <p:spPr>
          <a:xfrm>
            <a:off x="8616010" y="91440"/>
            <a:ext cx="3027045" cy="274320"/>
          </a:xfrm>
          <a:prstGeom prst="rect">
            <a:avLst/>
          </a:prstGeom>
          <a:solidFill>
            <a:srgbClr val="E0F2FE"/>
          </a:solidFill>
          <a:ln w="12700">
            <a:solidFill>
              <a:srgbClr val="0369A1"/>
            </a:solidFill>
            <a:prstDash val="solid"/>
          </a:ln>
        </p:spPr>
      </p:sp>
      <p:sp>
        <p:nvSpPr>
          <p:cNvPr id="15" name="Shape 13"/>
          <p:cNvSpPr/>
          <p:nvPr/>
        </p:nvSpPr>
        <p:spPr>
          <a:xfrm>
            <a:off x="8616010"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17" name="Text 14"/>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step: is there a cell to erase?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000" dirty="0">
                <a:solidFill>
                  <a:srgbClr val="E6EDF2"/>
                </a:solidFill>
                <a:latin typeface="Courier New" pitchFamily="34" charset="0"/>
                <a:ea typeface="Courier New" pitchFamily="34" charset="-122"/>
                <a:cs typeface="Courier New" pitchFamily="34" charset="-120"/>
              </a:rPr>
              <a:t>    la   t0, food_x</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xor  t1, t1, s0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food_y</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t2,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xor  t2, t2, s1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or   s2, t1, t2             </a:t>
            </a:r>
            <a:pPr indent="0" marL="0">
              <a:buNone/>
            </a:pPr>
            <a:r>
              <a:rPr lang="en-US" sz="1000" dirty="0">
                <a:solidFill>
                  <a:srgbClr val="8FB3A0"/>
                </a:solidFill>
                <a:latin typeface="Courier New" pitchFamily="34" charset="0"/>
                <a:ea typeface="Courier New" pitchFamily="34" charset="-122"/>
                <a:cs typeface="Courier New" pitchFamily="34" charset="-120"/>
              </a:rPr>
              <a:t># s2 = 0 if the new head is on the food</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length</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bnez s2, 5f                 </a:t>
            </a:r>
            <a:pPr indent="0" marL="0">
              <a:buNone/>
            </a:pPr>
            <a:r>
              <a:rPr lang="en-US" sz="1000" dirty="0">
                <a:solidFill>
                  <a:srgbClr val="8FB3A0"/>
                </a:solidFill>
                <a:latin typeface="Courier New" pitchFamily="34" charset="0"/>
                <a:ea typeface="Courier New" pitchFamily="34" charset="-122"/>
                <a:cs typeface="Courier New" pitchFamily="34" charset="-120"/>
              </a:rPr>
              <a:t># not eating: the tail moves on</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t2, 255</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bge  t1, t2, 5f             </a:t>
            </a:r>
            <a:pPr indent="0" marL="0">
              <a:buNone/>
            </a:pPr>
            <a:r>
              <a:rPr lang="en-US" sz="1000" dirty="0">
                <a:solidFill>
                  <a:srgbClr val="8FB3A0"/>
                </a:solidFill>
                <a:latin typeface="Courier New" pitchFamily="34" charset="0"/>
                <a:ea typeface="Courier New" pitchFamily="34" charset="-122"/>
                <a:cs typeface="Courier New" pitchFamily="34" charset="-120"/>
              </a:rPr>
              <a:t># the ring is full: no more growth</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t1, t1, 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sw   t1, 0(t0)              </a:t>
            </a:r>
            <a:pPr indent="0" marL="0">
              <a:buNone/>
            </a:pPr>
            <a:r>
              <a:rPr lang="en-US" sz="1000" dirty="0">
                <a:solidFill>
                  <a:srgbClr val="8FB3A0"/>
                </a:solidFill>
                <a:latin typeface="Courier New" pitchFamily="34" charset="0"/>
                <a:ea typeface="Courier New" pitchFamily="34" charset="-122"/>
                <a:cs typeface="Courier New" pitchFamily="34" charset="-120"/>
              </a:rPr>
              <a:t># eating: one cell longer, the tail stays</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erase_on</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sw   zero, 0(t0)            </a:t>
            </a:r>
            <a:pPr indent="0" marL="0">
              <a:buNone/>
            </a:pPr>
            <a:r>
              <a:rPr lang="en-US" sz="1000" dirty="0">
                <a:solidFill>
                  <a:srgbClr val="8FB3A0"/>
                </a:solidFill>
                <a:latin typeface="Courier New" pitchFamily="34" charset="0"/>
                <a:ea typeface="Courier New" pitchFamily="34" charset="-122"/>
                <a:cs typeface="Courier New" pitchFamily="34" charset="-120"/>
              </a:rPr>
              <a:t># ... so there is no cell to erase</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j    6f</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5:  la   t0, head_i</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t2,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sub  t2, t2, t1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t2, t2, 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andi t2, t2, 255            </a:t>
            </a:r>
            <a:pPr indent="0" marL="0">
              <a:buNone/>
            </a:pPr>
            <a:r>
              <a:rPr lang="en-US" sz="1000" dirty="0">
                <a:solidFill>
                  <a:srgbClr val="8FB3A0"/>
                </a:solidFill>
                <a:latin typeface="Courier New" pitchFamily="34" charset="0"/>
                <a:ea typeface="Courier New" pitchFamily="34" charset="-122"/>
                <a:cs typeface="Courier New" pitchFamily="34" charset="-120"/>
              </a:rPr>
              <a:t># ring index of the tail</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body_x</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  t0, t0, t2</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lbu  t3,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body_y</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  t0, t0, t2</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lbu  t4, 0(t0)</a:t>
            </a:r>
            <a:endParaRPr lang="en-US" sz="100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Eating: the tail stays, nothing to erase</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erase_on = 0 says so to draw</a:t>
            </a:r>
            <a:endParaRPr lang="en-US" sz="1700" dirty="0"/>
          </a:p>
        </p:txBody>
      </p:sp>
      <p:sp>
        <p:nvSpPr>
          <p:cNvPr id="11" name="Shape 9"/>
          <p:cNvSpPr/>
          <p:nvPr/>
        </p:nvSpPr>
        <p:spPr>
          <a:xfrm>
            <a:off x="8616010" y="91440"/>
            <a:ext cx="3027045" cy="274320"/>
          </a:xfrm>
          <a:prstGeom prst="rect">
            <a:avLst/>
          </a:prstGeom>
          <a:solidFill>
            <a:srgbClr val="E0F2FE"/>
          </a:solidFill>
          <a:ln w="12700">
            <a:solidFill>
              <a:srgbClr val="0369A1"/>
            </a:solidFill>
            <a:prstDash val="solid"/>
          </a:ln>
        </p:spPr>
      </p:sp>
      <p:sp>
        <p:nvSpPr>
          <p:cNvPr id="12" name="Shape 10"/>
          <p:cNvSpPr/>
          <p:nvPr/>
        </p:nvSpPr>
        <p:spPr>
          <a:xfrm>
            <a:off x="8616010"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14" name="Text 11"/>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step: note the tail, call the end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    la   t0, erase_x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t3, 0(t0)              </a:t>
            </a:r>
            <a:pPr indent="0" marL="0">
              <a:buNone/>
            </a:pPr>
            <a:r>
              <a:rPr lang="en-US" sz="1250" dirty="0">
                <a:solidFill>
                  <a:srgbClr val="8FB3A0"/>
                </a:solidFill>
                <a:latin typeface="Courier New" pitchFamily="34" charset="0"/>
                <a:ea typeface="Courier New" pitchFamily="34" charset="-122"/>
                <a:cs typeface="Courier New" pitchFamily="34" charset="-120"/>
              </a:rPr>
              <a:t># remember the cell the tail leaves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erase_y</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t4,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erase_on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t5, 1</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t5,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t5, COLS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mul  t4, t4, t5</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t4, t4, t3             </a:t>
            </a:r>
            <a:pPr indent="0" marL="0">
              <a:buNone/>
            </a:pPr>
            <a:r>
              <a:rPr lang="en-US" sz="1250" dirty="0">
                <a:solidFill>
                  <a:srgbClr val="8FB3A0"/>
                </a:solidFill>
                <a:latin typeface="Courier New" pitchFamily="34" charset="0"/>
                <a:ea typeface="Courier New" pitchFamily="34" charset="-122"/>
                <a:cs typeface="Courier New" pitchFamily="34" charset="-120"/>
              </a:rPr>
              <a:t># cell number of the tail = row * 40 + column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grid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t0, t0, t4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sb   zero, 0(t0)            </a:t>
            </a:r>
            <a:pPr indent="0" marL="0">
              <a:buNone/>
            </a:pPr>
            <a:r>
              <a:rPr lang="en-US" sz="1250" dirty="0">
                <a:solidFill>
                  <a:srgbClr val="8FB3A0"/>
                </a:solidFill>
                <a:latin typeface="Courier New" pitchFamily="34" charset="0"/>
                <a:ea typeface="Courier New" pitchFamily="34" charset="-122"/>
                <a:cs typeface="Courier New" pitchFamily="34" charset="-120"/>
              </a:rPr>
              <a:t># the tail cell is free again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6:  li   t5, COLS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mul  t4, s1, t5</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t4, t4, s0             </a:t>
            </a:r>
            <a:pPr indent="0" marL="0">
              <a:buNone/>
            </a:pPr>
            <a:r>
              <a:rPr lang="en-US" sz="1250" dirty="0">
                <a:solidFill>
                  <a:srgbClr val="8FB3A0"/>
                </a:solidFill>
                <a:latin typeface="Courier New" pitchFamily="34" charset="0"/>
                <a:ea typeface="Courier New" pitchFamily="34" charset="-122"/>
                <a:cs typeface="Courier New" pitchFamily="34" charset="-120"/>
              </a:rPr>
              <a:t># cell number of the new head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grid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t0, t0, t4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lbu  t1,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beqz t1, 7f                 </a:t>
            </a:r>
            <a:pPr indent="0" marL="0">
              <a:buNone/>
            </a:pPr>
            <a:r>
              <a:rPr lang="en-US" sz="1250" dirty="0">
                <a:solidFill>
                  <a:srgbClr val="8FB3A0"/>
                </a:solidFill>
                <a:latin typeface="Courier New" pitchFamily="34" charset="0"/>
                <a:ea typeface="Courier New" pitchFamily="34" charset="-122"/>
                <a:cs typeface="Courier New" pitchFamily="34" charset="-120"/>
              </a:rPr>
              <a:t># a free cell: go on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call game_is_over           </a:t>
            </a:r>
            <a:pPr indent="0" marL="0">
              <a:buNone/>
            </a:pPr>
            <a:r>
              <a:rPr lang="en-US" sz="1250" dirty="0">
                <a:solidFill>
                  <a:srgbClr val="8FB3A0"/>
                </a:solidFill>
                <a:latin typeface="Courier New" pitchFamily="34" charset="0"/>
                <a:ea typeface="Courier New" pitchFamily="34" charset="-122"/>
                <a:cs typeface="Courier New" pitchFamily="34" charset="-120"/>
              </a:rPr>
              <a:t># the worm bit itself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j    9f</a:t>
            </a:r>
            <a:endParaRPr lang="en-US" sz="12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tail leaves a cell: remember which one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erase_on = 1: draw must paint it black</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collision is now one call: game_is_over</a:t>
            </a:r>
            <a:endParaRPr lang="en-US" sz="1700" dirty="0"/>
          </a:p>
        </p:txBody>
      </p:sp>
      <p:sp>
        <p:nvSpPr>
          <p:cNvPr id="14" name="Shape 12"/>
          <p:cNvSpPr/>
          <p:nvPr/>
        </p:nvSpPr>
        <p:spPr>
          <a:xfrm>
            <a:off x="8616010" y="91440"/>
            <a:ext cx="3027045" cy="274320"/>
          </a:xfrm>
          <a:prstGeom prst="rect">
            <a:avLst/>
          </a:prstGeom>
          <a:solidFill>
            <a:srgbClr val="E0F2FE"/>
          </a:solidFill>
          <a:ln w="12700">
            <a:solidFill>
              <a:srgbClr val="0369A1"/>
            </a:solidFill>
            <a:prstDash val="solid"/>
          </a:ln>
        </p:spPr>
      </p:sp>
      <p:sp>
        <p:nvSpPr>
          <p:cNvPr id="15" name="Shape 13"/>
          <p:cNvSpPr/>
          <p:nvPr/>
        </p:nvSpPr>
        <p:spPr>
          <a:xfrm>
            <a:off x="8616010"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17" name="Text 14"/>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step: write the new head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7:  li   t1, 1</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sb   t1, 0(t0)              </a:t>
            </a:r>
            <a:pPr indent="0" marL="0">
              <a:buNone/>
            </a:pPr>
            <a:r>
              <a:rPr lang="en-US" sz="1450" dirty="0">
                <a:solidFill>
                  <a:srgbClr val="8FB3A0"/>
                </a:solidFill>
                <a:latin typeface="Courier New" pitchFamily="34" charset="0"/>
                <a:ea typeface="Courier New" pitchFamily="34" charset="-122"/>
                <a:cs typeface="Courier New" pitchFamily="34" charset="-120"/>
              </a:rPr>
              <a:t># occupy the new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head_i</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t1,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t1, t1, 1</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andi t1, t1, 255            </a:t>
            </a:r>
            <a:pPr indent="0" marL="0">
              <a:buNone/>
            </a:pPr>
            <a:r>
              <a:rPr lang="en-US" sz="1450" dirty="0">
                <a:solidFill>
                  <a:srgbClr val="8FB3A0"/>
                </a:solidFill>
                <a:latin typeface="Courier New" pitchFamily="34" charset="0"/>
                <a:ea typeface="Courier New" pitchFamily="34" charset="-122"/>
                <a:cs typeface="Courier New" pitchFamily="34" charset="-120"/>
              </a:rPr>
              <a:t># the ring wraps after entry 255</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t1,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body_x</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  t0, t0, t1</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sb   s0, 0(t0)              </a:t>
            </a:r>
            <a:pPr indent="0" marL="0">
              <a:buNone/>
            </a:pPr>
            <a:r>
              <a:rPr lang="en-US" sz="1450" dirty="0">
                <a:solidFill>
                  <a:srgbClr val="8FB3A0"/>
                </a:solidFill>
                <a:latin typeface="Courier New" pitchFamily="34" charset="0"/>
                <a:ea typeface="Courier New" pitchFamily="34" charset="-122"/>
                <a:cs typeface="Courier New" pitchFamily="34" charset="-120"/>
              </a:rPr>
              <a:t># write the new head into the ring</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body_y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  t0, t0, t1</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sb   s1, 0(t0)</a:t>
            </a:r>
            <a:endParaRPr lang="en-US" sz="145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As in Part 3, up to the two sb</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end of the function is on the next slide</a:t>
            </a:r>
            <a:endParaRPr lang="en-US" sz="1700" dirty="0"/>
          </a:p>
        </p:txBody>
      </p:sp>
      <p:sp>
        <p:nvSpPr>
          <p:cNvPr id="11" name="Shape 9"/>
          <p:cNvSpPr/>
          <p:nvPr/>
        </p:nvSpPr>
        <p:spPr>
          <a:xfrm>
            <a:off x="8616010" y="91440"/>
            <a:ext cx="3027045" cy="274320"/>
          </a:xfrm>
          <a:prstGeom prst="rect">
            <a:avLst/>
          </a:prstGeom>
          <a:solidFill>
            <a:srgbClr val="E0F2FE"/>
          </a:solidFill>
          <a:ln w="12700">
            <a:solidFill>
              <a:srgbClr val="0369A1"/>
            </a:solidFill>
            <a:prstDash val="solid"/>
          </a:ln>
        </p:spPr>
      </p:sp>
      <p:sp>
        <p:nvSpPr>
          <p:cNvPr id="12" name="Shape 10"/>
          <p:cNvSpPr/>
          <p:nvPr/>
        </p:nvSpPr>
        <p:spPr>
          <a:xfrm>
            <a:off x="8616010"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14" name="Text 11"/>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step: something changed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    la   t0, dirty</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t1, 1</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t1, 0(t0)              </a:t>
            </a:r>
            <a:pPr indent="0" marL="0">
              <a:buNone/>
            </a:pPr>
            <a:r>
              <a:rPr lang="en-US" sz="1400" dirty="0">
                <a:solidFill>
                  <a:srgbClr val="8FB3A0"/>
                </a:solidFill>
                <a:latin typeface="Courier New" pitchFamily="34" charset="0"/>
                <a:ea typeface="Courier New" pitchFamily="34" charset="-122"/>
                <a:cs typeface="Courier New" pitchFamily="34" charset="-120"/>
              </a:rPr>
              <a:t># the screen must follow: a few cells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bnez s2, 9f</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score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t1,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t1, t1, 1</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t1,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place_food</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a2, 72                 </a:t>
            </a:r>
            <a:pPr indent="0" marL="0">
              <a:buNone/>
            </a:pPr>
            <a:r>
              <a:rPr lang="en-US" sz="1400" dirty="0">
                <a:solidFill>
                  <a:srgbClr val="8FB3A0"/>
                </a:solidFill>
                <a:latin typeface="Courier New" pitchFamily="34" charset="0"/>
                <a:ea typeface="Courier New" pitchFamily="34" charset="-122"/>
                <a:cs typeface="Courier New" pitchFamily="34" charset="-120"/>
              </a:rPr>
              <a:t># a short high note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a4, 60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play_note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9:  lw   s2, 0(sp)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s1, 4(sp)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s0, 8(sp)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ra, 12(sp)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sp, sp, 16</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dirty = 1: one step happened, draw has work</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meal: a point, new food, a short high note</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li a2 and li a4, then call: arguments by contract</a:t>
            </a:r>
            <a:endParaRPr lang="en-US" sz="1700" dirty="0"/>
          </a:p>
        </p:txBody>
      </p:sp>
      <p:sp>
        <p:nvSpPr>
          <p:cNvPr id="14" name="Shape 12"/>
          <p:cNvSpPr/>
          <p:nvPr/>
        </p:nvSpPr>
        <p:spPr>
          <a:xfrm>
            <a:off x="8222056" y="91440"/>
            <a:ext cx="3420999" cy="274320"/>
          </a:xfrm>
          <a:prstGeom prst="rect">
            <a:avLst/>
          </a:prstGeom>
          <a:solidFill>
            <a:srgbClr val="E0F2FE"/>
          </a:solidFill>
          <a:ln w="12700">
            <a:solidFill>
              <a:srgbClr val="0369A1"/>
            </a:solidFill>
            <a:prstDash val="solid"/>
          </a:ln>
        </p:spPr>
      </p:sp>
      <p:sp>
        <p:nvSpPr>
          <p:cNvPr id="15" name="Shape 13"/>
          <p:cNvSpPr/>
          <p:nvPr/>
        </p:nvSpPr>
        <p:spPr>
          <a:xfrm>
            <a:off x="8222056"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17" name="Text 14"/>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calling convention</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game_is_over: the transition, in one place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game_is_over: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state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OVER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              </a:t>
            </a:r>
            <a:pPr indent="0" marL="0">
              <a:buNone/>
            </a:pPr>
            <a:r>
              <a:rPr lang="en-US" sz="1350" dirty="0">
                <a:solidFill>
                  <a:srgbClr val="8FB3A0"/>
                </a:solidFill>
                <a:latin typeface="Courier New" pitchFamily="34" charset="0"/>
                <a:ea typeface="Courier New" pitchFamily="34" charset="-122"/>
                <a:cs typeface="Courier New" pitchFamily="34" charset="-120"/>
              </a:rPr>
              <a:t># PLAY --&gt; OVER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dirty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              </a:t>
            </a:r>
            <a:pPr indent="0" marL="0">
              <a:buNone/>
            </a:pPr>
            <a:r>
              <a:rPr lang="en-US" sz="1350" dirty="0">
                <a:solidFill>
                  <a:srgbClr val="8FB3A0"/>
                </a:solidFill>
                <a:latin typeface="Courier New" pitchFamily="34" charset="0"/>
                <a:ea typeface="Courier New" pitchFamily="34" charset="-122"/>
                <a:cs typeface="Courier New" pitchFamily="34" charset="-120"/>
              </a:rPr>
              <a:t># a new screen: draw everything</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score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best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t2,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ble  t1, t2, 1f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              </a:t>
            </a:r>
            <a:pPr indent="0" marL="0">
              <a:buNone/>
            </a:pPr>
            <a:r>
              <a:rPr lang="en-US" sz="1350" dirty="0">
                <a:solidFill>
                  <a:srgbClr val="8FB3A0"/>
                </a:solidFill>
                <a:latin typeface="Courier New" pitchFamily="34" charset="0"/>
                <a:ea typeface="Courier New" pitchFamily="34" charset="-122"/>
                <a:cs typeface="Courier New" pitchFamily="34" charset="-120"/>
              </a:rPr>
              <a:t># a new best score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li   a2, 36                 </a:t>
            </a:r>
            <a:pPr indent="0" marL="0">
              <a:buNone/>
            </a:pPr>
            <a:r>
              <a:rPr lang="en-US" sz="1350" dirty="0">
                <a:solidFill>
                  <a:srgbClr val="8FB3A0"/>
                </a:solidFill>
                <a:latin typeface="Courier New" pitchFamily="34" charset="0"/>
                <a:ea typeface="Courier New" pitchFamily="34" charset="-122"/>
                <a:cs typeface="Courier New" pitchFamily="34" charset="-120"/>
              </a:rPr>
              <a:t># a long low note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400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play_note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PLAY to OVER, and the best score, as in Part 3</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dirty = 2: a new screen must be drawn</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long low note: 36, for 400 milliseconds</a:t>
            </a:r>
            <a:endParaRPr lang="en-US" sz="1700" dirty="0"/>
          </a:p>
        </p:txBody>
      </p:sp>
      <p:sp>
        <p:nvSpPr>
          <p:cNvPr id="14" name="Shape 12"/>
          <p:cNvSpPr/>
          <p:nvPr/>
        </p:nvSpPr>
        <p:spPr>
          <a:xfrm>
            <a:off x="8287715" y="91440"/>
            <a:ext cx="3355340" cy="274320"/>
          </a:xfrm>
          <a:prstGeom prst="rect">
            <a:avLst/>
          </a:prstGeom>
          <a:solidFill>
            <a:srgbClr val="E0F2FE"/>
          </a:solidFill>
          <a:ln w="12700">
            <a:solidFill>
              <a:srgbClr val="0369A1"/>
            </a:solidFill>
            <a:prstDash val="solid"/>
          </a:ln>
        </p:spPr>
      </p:sp>
      <p:sp>
        <p:nvSpPr>
          <p:cNvPr id="15" name="Shape 13"/>
          <p:cNvSpPr/>
          <p:nvPr/>
        </p:nvSpPr>
        <p:spPr>
          <a:xfrm>
            <a:off x="828771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7" name="Text 14"/>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the sound of defeat</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569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38656"/>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Build and run: the game looks exactly as after step 2</a:t>
            </a:r>
            <a:endParaRPr lang="en-US" sz="2400" dirty="0"/>
          </a:p>
        </p:txBody>
      </p:sp>
      <p:sp>
        <p:nvSpPr>
          <p:cNvPr id="6" name="Text 4"/>
          <p:cNvSpPr txBox="1"/>
          <p:nvPr/>
        </p:nvSpPr>
        <p:spPr>
          <a:xfrm>
            <a:off x="548640" y="235305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334768"/>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 meal sounds as before; biting yourself gives a long low note</a:t>
            </a:r>
            <a:endParaRPr lang="en-US" sz="2400" dirty="0"/>
          </a:p>
        </p:txBody>
      </p:sp>
      <p:sp>
        <p:nvSpPr>
          <p:cNvPr id="8" name="Text 6"/>
          <p:cNvSpPr txBox="1"/>
          <p:nvPr/>
        </p:nvSpPr>
        <p:spPr>
          <a:xfrm>
            <a:off x="548640" y="32491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23088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In the debugger watch erase_x and erase_y follow the tail, one step behind</a:t>
            </a:r>
            <a:endParaRPr lang="en-US" sz="2400" dirty="0"/>
          </a:p>
        </p:txBody>
      </p:sp>
      <p:sp>
        <p:nvSpPr>
          <p:cNvPr id="10" name="Text 8"/>
          <p:cNvSpPr txBox="1"/>
          <p:nvPr/>
        </p:nvSpPr>
        <p:spPr>
          <a:xfrm>
            <a:off x="548640" y="44500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431792"/>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dirty stays at 1 or 2: nobody reads it yet</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No visible change: the screen is still drawn completely at every frame. The new variables are written and not yet used.</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draw: nothing, a little, or everything</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verm1_draw:</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dirty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t1,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beqz t1, 3f                 </a:t>
            </a:r>
            <a:pPr indent="0" marL="0">
              <a:buNone/>
            </a:pPr>
            <a:r>
              <a:rPr lang="en-US" sz="1450" dirty="0">
                <a:solidFill>
                  <a:srgbClr val="8FB3A0"/>
                </a:solidFill>
                <a:latin typeface="Courier New" pitchFamily="34" charset="0"/>
                <a:ea typeface="Courier New" pitchFamily="34" charset="-122"/>
                <a:cs typeface="Courier New" pitchFamily="34" charset="-120"/>
              </a:rPr>
              <a:t># nothing changed: nothing to draw</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zero,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t2, 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beq  t1, t2, 1f</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draw_changes           </a:t>
            </a:r>
            <a:pPr indent="0" marL="0">
              <a:buNone/>
            </a:pPr>
            <a:r>
              <a:rPr lang="en-US" sz="1450" dirty="0">
                <a:solidFill>
                  <a:srgbClr val="8FB3A0"/>
                </a:solidFill>
                <a:latin typeface="Courier New" pitchFamily="34" charset="0"/>
                <a:ea typeface="Courier New" pitchFamily="34" charset="-122"/>
                <a:cs typeface="Courier New" pitchFamily="34" charset="-120"/>
              </a:rPr>
              <a:t># one step: a few cells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j    2f</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1:  call draw_full              </a:t>
            </a:r>
            <a:pPr indent="0" marL="0">
              <a:buNone/>
            </a:pPr>
            <a:r>
              <a:rPr lang="en-US" sz="1450" dirty="0">
                <a:solidFill>
                  <a:srgbClr val="8FB3A0"/>
                </a:solidFill>
                <a:latin typeface="Courier New" pitchFamily="34" charset="0"/>
                <a:ea typeface="Courier New" pitchFamily="34" charset="-122"/>
                <a:cs typeface="Courier New" pitchFamily="34" charset="-120"/>
              </a:rPr>
              <a:t># a new screen: everything</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2:  lw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3:  ret</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dirty = 0: return at once, no frame, no call</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dirty = 1: a step happened, draw the changes</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dirty = 2: a new screen, draw it all</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flag is cleared as soon as it is read</a:t>
            </a:r>
            <a:endParaRPr lang="en-US" sz="1600" dirty="0"/>
          </a:p>
        </p:txBody>
      </p:sp>
      <p:sp>
        <p:nvSpPr>
          <p:cNvPr id="17" name="Shape 15"/>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6"/>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0" name="Text 17"/>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frame buffer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draw_changes: three cells and the score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draw_changes: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erase_on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t1,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t1, 1f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erase_x</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a0,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erase_y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a1,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draw_cell              </a:t>
            </a:r>
            <a:pPr indent="0" marL="0">
              <a:buNone/>
            </a:pPr>
            <a:r>
              <a:rPr lang="en-US" sz="1200" dirty="0">
                <a:solidFill>
                  <a:srgbClr val="8FB3A0"/>
                </a:solidFill>
                <a:latin typeface="Courier New" pitchFamily="34" charset="0"/>
                <a:ea typeface="Courier New" pitchFamily="34" charset="-122"/>
                <a:cs typeface="Courier New" pitchFamily="34" charset="-120"/>
              </a:rPr>
              <a:t># the cell the tail has 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la   t0, old_x</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a0,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old_y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a1,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BODY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draw_cell              </a:t>
            </a:r>
            <a:pPr indent="0" marL="0">
              <a:buNone/>
            </a:pPr>
            <a:r>
              <a:rPr lang="en-US" sz="1200" dirty="0">
                <a:solidFill>
                  <a:srgbClr val="8FB3A0"/>
                </a:solidFill>
                <a:latin typeface="Courier New" pitchFamily="34" charset="0"/>
                <a:ea typeface="Courier New" pitchFamily="34" charset="-122"/>
                <a:cs typeface="Courier New" pitchFamily="34" charset="-120"/>
              </a:rPr>
              <a:t># the old head is now body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draw_head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draw_food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draw_score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ret</a:t>
            </a:r>
            <a:endParaRPr lang="en-US" sz="12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cell the tail left, if any: black</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old head: body colour</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Then the new head, the food, the score</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order matters: the head is drawn after the erase</a:t>
            </a:r>
            <a:endParaRPr lang="en-US" sz="1500" dirty="0"/>
          </a:p>
        </p:txBody>
      </p:sp>
      <p:sp>
        <p:nvSpPr>
          <p:cNvPr id="17" name="Shape 15"/>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6"/>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0" name="Text 17"/>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frame buffer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draw_full: a whole screen</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draw_full:</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BLACK</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prg32_gfx_clear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a1,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a2, title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draw_text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draw_score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state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t2, TITLE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bne  t1, t2, 1f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132                </a:t>
            </a:r>
            <a:pPr indent="0" marL="0">
              <a:buNone/>
            </a:pPr>
            <a:r>
              <a:rPr lang="en-US" sz="1500" dirty="0">
                <a:solidFill>
                  <a:srgbClr val="8FB3A0"/>
                </a:solidFill>
                <a:latin typeface="Courier New" pitchFamily="34" charset="0"/>
                <a:ea typeface="Courier New" pitchFamily="34" charset="-122"/>
                <a:cs typeface="Courier New" pitchFamily="34" charset="-120"/>
              </a:rPr>
              <a:t># TITLE: only an invitation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a1, 96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a2, press_a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draw_text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j    2f</a:t>
            </a:r>
            <a:endParaRPr lang="en-US" sz="15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body of the old verm1_draw</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score is drawn on the title screen too</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TITLE: the invitation, and nothing else</a:t>
            </a:r>
            <a:endParaRPr lang="en-US" sz="1700" dirty="0"/>
          </a:p>
        </p:txBody>
      </p:sp>
      <p:sp>
        <p:nvSpPr>
          <p:cNvPr id="14" name="Shape 12"/>
          <p:cNvSpPr/>
          <p:nvPr/>
        </p:nvSpPr>
        <p:spPr>
          <a:xfrm>
            <a:off x="8616010" y="91440"/>
            <a:ext cx="3027045" cy="274320"/>
          </a:xfrm>
          <a:prstGeom prst="rect">
            <a:avLst/>
          </a:prstGeom>
          <a:solidFill>
            <a:srgbClr val="E0F2FE"/>
          </a:solidFill>
          <a:ln w="12700">
            <a:solidFill>
              <a:srgbClr val="0369A1"/>
            </a:solidFill>
            <a:prstDash val="solid"/>
          </a:ln>
        </p:spPr>
      </p:sp>
      <p:sp>
        <p:nvSpPr>
          <p:cNvPr id="15" name="Shape 13"/>
          <p:cNvSpPr/>
          <p:nvPr/>
        </p:nvSpPr>
        <p:spPr>
          <a:xfrm>
            <a:off x="8616010"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17" name="Text 14"/>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frame buffer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draw_full: PLAY and OVER</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1:  call draw_worm              </a:t>
            </a:r>
            <a:pPr indent="0" marL="0">
              <a:buNone/>
            </a:pPr>
            <a:r>
              <a:rPr lang="en-US" sz="1500" dirty="0">
                <a:solidFill>
                  <a:srgbClr val="8FB3A0"/>
                </a:solidFill>
                <a:latin typeface="Courier New" pitchFamily="34" charset="0"/>
                <a:ea typeface="Courier New" pitchFamily="34" charset="-122"/>
                <a:cs typeface="Courier New" pitchFamily="34" charset="-120"/>
              </a:rPr>
              <a:t># PLAY and OVER: the whole scene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draw_food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state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t2, OVER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bne  t1, t2, 2f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124</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a1, 96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a2, game_over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draw_text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2:  lw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worm and the food, by their functions</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OVER adds the two words</a:t>
            </a:r>
            <a:endParaRPr lang="en-US" sz="1700" dirty="0"/>
          </a:p>
        </p:txBody>
      </p:sp>
      <p:sp>
        <p:nvSpPr>
          <p:cNvPr id="11" name="Shape 9"/>
          <p:cNvSpPr/>
          <p:nvPr/>
        </p:nvSpPr>
        <p:spPr>
          <a:xfrm>
            <a:off x="8616010" y="91440"/>
            <a:ext cx="3027045" cy="274320"/>
          </a:xfrm>
          <a:prstGeom prst="rect">
            <a:avLst/>
          </a:prstGeom>
          <a:solidFill>
            <a:srgbClr val="E0F2FE"/>
          </a:solidFill>
          <a:ln w="12700">
            <a:solidFill>
              <a:srgbClr val="0369A1"/>
            </a:solidFill>
            <a:prstDash val="solid"/>
          </a:ln>
        </p:spPr>
      </p:sp>
      <p:sp>
        <p:nvSpPr>
          <p:cNvPr id="12" name="Shape 10"/>
          <p:cNvSpPr/>
          <p:nvPr/>
        </p:nvSpPr>
        <p:spPr>
          <a:xfrm>
            <a:off x="8616010"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14" name="Text 11"/>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frame buffer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draw_head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draw_head: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head_i</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t1,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body_x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  t0, t0, t1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lbu  a0,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body_y</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  t0, t0, t1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lbu  a1,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GREEN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draw_cell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head is entry head_i of the ring</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One cell, bright green</a:t>
            </a:r>
            <a:endParaRPr lang="en-US" sz="1700" dirty="0"/>
          </a:p>
        </p:txBody>
      </p:sp>
      <p:sp>
        <p:nvSpPr>
          <p:cNvPr id="11" name="Shape 9"/>
          <p:cNvSpPr/>
          <p:nvPr/>
        </p:nvSpPr>
        <p:spPr>
          <a:xfrm>
            <a:off x="8616010" y="91440"/>
            <a:ext cx="3027045" cy="274320"/>
          </a:xfrm>
          <a:prstGeom prst="rect">
            <a:avLst/>
          </a:prstGeom>
          <a:solidFill>
            <a:srgbClr val="E0F2FE"/>
          </a:solidFill>
          <a:ln w="12700">
            <a:solidFill>
              <a:srgbClr val="0369A1"/>
            </a:solidFill>
            <a:prstDash val="solid"/>
          </a:ln>
        </p:spPr>
      </p:sp>
      <p:sp>
        <p:nvSpPr>
          <p:cNvPr id="12" name="Shape 10"/>
          <p:cNvSpPr/>
          <p:nvPr/>
        </p:nvSpPr>
        <p:spPr>
          <a:xfrm>
            <a:off x="8616010"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14" name="Text 11"/>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frame buffer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draw_food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draw_food: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food_x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a0,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food_y</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RED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draw_cell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three lines that were inside draw</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Now they have a name, and two callers</a:t>
            </a:r>
            <a:endParaRPr lang="en-US" sz="1700" dirty="0"/>
          </a:p>
        </p:txBody>
      </p:sp>
      <p:sp>
        <p:nvSpPr>
          <p:cNvPr id="11" name="Shape 9"/>
          <p:cNvSpPr/>
          <p:nvPr/>
        </p:nvSpPr>
        <p:spPr>
          <a:xfrm>
            <a:off x="8616010" y="91440"/>
            <a:ext cx="3027045" cy="274320"/>
          </a:xfrm>
          <a:prstGeom prst="rect">
            <a:avLst/>
          </a:prstGeom>
          <a:solidFill>
            <a:srgbClr val="E0F2FE"/>
          </a:solidFill>
          <a:ln w="12700">
            <a:solidFill>
              <a:srgbClr val="0369A1"/>
            </a:solidFill>
            <a:prstDash val="solid"/>
          </a:ln>
        </p:spPr>
      </p:sp>
      <p:sp>
        <p:nvSpPr>
          <p:cNvPr id="12" name="Shape 10"/>
          <p:cNvSpPr/>
          <p:nvPr/>
        </p:nvSpPr>
        <p:spPr>
          <a:xfrm>
            <a:off x="8616010"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14" name="Text 11"/>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frame buffer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draw_text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draw_text:                      </a:t>
            </a:r>
            <a:pPr indent="0" marL="0">
              <a:buNone/>
            </a:pPr>
            <a:r>
              <a:rPr lang="en-US" sz="1300" dirty="0">
                <a:solidFill>
                  <a:srgbClr val="8FB3A0"/>
                </a:solidFill>
                <a:latin typeface="Courier New" pitchFamily="34" charset="0"/>
                <a:ea typeface="Courier New" pitchFamily="34" charset="-122"/>
                <a:cs typeface="Courier New" pitchFamily="34" charset="-120"/>
              </a:rPr>
              <a:t># a0 = x, a1 = y, a2 = address of the string</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a3, WHITE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BLACK</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prg32_gfx_text8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helper of Part 3, on a slide of its own</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init: ask for the first screen</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.section .text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.global verm1_init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.global verm1_update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.global verm1_draw</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verm1_init: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state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zero, 0(t0)            </a:t>
            </a:r>
            <a:pPr indent="0" marL="0">
              <a:buNone/>
            </a:pPr>
            <a:r>
              <a:rPr lang="en-US" sz="1450" dirty="0">
                <a:solidFill>
                  <a:srgbClr val="8FB3A0"/>
                </a:solidFill>
                <a:latin typeface="Courier New" pitchFamily="34" charset="0"/>
                <a:ea typeface="Courier New" pitchFamily="34" charset="-122"/>
                <a:cs typeface="Courier New" pitchFamily="34" charset="-120"/>
              </a:rPr>
              <a:t># start on the title screen</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prev_btn</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zero,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dirty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t1, 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t1, 0(t0)              </a:t>
            </a:r>
            <a:pPr indent="0" marL="0">
              <a:buNone/>
            </a:pPr>
            <a:r>
              <a:rPr lang="en-US" sz="1450" dirty="0">
                <a:solidFill>
                  <a:srgbClr val="8FB3A0"/>
                </a:solidFill>
                <a:latin typeface="Courier New" pitchFamily="34" charset="0"/>
                <a:ea typeface="Courier New" pitchFamily="34" charset="-122"/>
                <a:cs typeface="Courier New" pitchFamily="34" charset="-120"/>
              </a:rPr>
              <a:t># draw the whole title screen, once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dirty = 2: the title screen must be drawn once</a:t>
            </a:r>
            <a:endParaRPr lang="en-US" sz="1700" dirty="0"/>
          </a:p>
        </p:txBody>
      </p:sp>
      <p:sp>
        <p:nvSpPr>
          <p:cNvPr id="8" name="Shape 6"/>
          <p:cNvSpPr/>
          <p:nvPr/>
        </p:nvSpPr>
        <p:spPr>
          <a:xfrm>
            <a:off x="8287715" y="91440"/>
            <a:ext cx="3355340" cy="274320"/>
          </a:xfrm>
          <a:prstGeom prst="rect">
            <a:avLst/>
          </a:prstGeom>
          <a:solidFill>
            <a:srgbClr val="E0F2FE"/>
          </a:solidFill>
          <a:ln w="12700">
            <a:solidFill>
              <a:srgbClr val="0369A1"/>
            </a:solidFill>
            <a:prstDash val="solid"/>
          </a:ln>
        </p:spPr>
      </p:sp>
      <p:sp>
        <p:nvSpPr>
          <p:cNvPr id="9" name="Shape 7"/>
          <p:cNvSpPr/>
          <p:nvPr/>
        </p:nvSpPr>
        <p:spPr>
          <a:xfrm>
            <a:off x="8287715" y="91440"/>
            <a:ext cx="73152" cy="274320"/>
          </a:xfrm>
          <a:prstGeom prst="rect">
            <a:avLst/>
          </a:prstGeom>
          <a:solidFill>
            <a:srgbClr val="0369A1"/>
          </a:solidFill>
          <a:ln w="12700">
            <a:solidFill>
              <a:srgbClr val="0369A1"/>
            </a:solidFill>
            <a:prstDash val="solid"/>
          </a:ln>
        </p:spPr>
      </p:sp>
      <p:pic>
        <p:nvPicPr>
          <p:cNvPr id="10"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1" name="Text 8"/>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update: a new state is a new screen</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    la   t0, state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t1, 0(t0)              </a:t>
            </a:r>
            <a:pPr indent="0" marL="0">
              <a:buNone/>
            </a:pPr>
            <a:r>
              <a:rPr lang="en-US" sz="1150" dirty="0">
                <a:solidFill>
                  <a:srgbClr val="8FB3A0"/>
                </a:solidFill>
                <a:latin typeface="Courier New" pitchFamily="34" charset="0"/>
                <a:ea typeface="Courier New" pitchFamily="34" charset="-122"/>
                <a:cs typeface="Courier New" pitchFamily="34" charset="-120"/>
              </a:rPr>
              <a:t># t1 = present state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PLAY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  t1, t2, u_play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andi t3, s1, BTN_A          </a:t>
            </a:r>
            <a:pPr indent="0" marL="0">
              <a:buNone/>
            </a:pPr>
            <a:r>
              <a:rPr lang="en-US" sz="1150" dirty="0">
                <a:solidFill>
                  <a:srgbClr val="8FB3A0"/>
                </a:solidFill>
                <a:latin typeface="Courier New" pitchFamily="34" charset="0"/>
                <a:ea typeface="Courier New" pitchFamily="34" charset="-122"/>
                <a:cs typeface="Courier New" pitchFamily="34" charset="-120"/>
              </a:rPr>
              <a:t># TITLE or OVER: wait for a new press of A</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beqz t3, u_done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TITLE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  t1, t2, u_start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t2, 0(t0)              </a:t>
            </a:r>
            <a:pPr indent="0" marL="0">
              <a:buNone/>
            </a:pPr>
            <a:r>
              <a:rPr lang="en-US" sz="1150" dirty="0">
                <a:solidFill>
                  <a:srgbClr val="8FB3A0"/>
                </a:solidFill>
                <a:latin typeface="Courier New" pitchFamily="34" charset="0"/>
                <a:ea typeface="Courier New" pitchFamily="34" charset="-122"/>
                <a:cs typeface="Courier New" pitchFamily="34" charset="-120"/>
              </a:rPr>
              <a:t># OVER --A--&gt; TITLE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dirty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t1, 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t1, 0(t0)              </a:t>
            </a:r>
            <a:pPr indent="0" marL="0">
              <a:buNone/>
            </a:pPr>
            <a:r>
              <a:rPr lang="en-US" sz="1150" dirty="0">
                <a:solidFill>
                  <a:srgbClr val="8FB3A0"/>
                </a:solidFill>
                <a:latin typeface="Courier New" pitchFamily="34" charset="0"/>
                <a:ea typeface="Courier New" pitchFamily="34" charset="-122"/>
                <a:cs typeface="Courier New" pitchFamily="34" charset="-120"/>
              </a:rPr>
              <a:t># a new screen: draw everything</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j    u_done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u_start: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new_game               </a:t>
            </a:r>
            <a:pPr indent="0" marL="0">
              <a:buNone/>
            </a:pPr>
            <a:r>
              <a:rPr lang="en-US" sz="1150" dirty="0">
                <a:solidFill>
                  <a:srgbClr val="8FB3A0"/>
                </a:solidFill>
                <a:latin typeface="Courier New" pitchFamily="34" charset="0"/>
                <a:ea typeface="Courier New" pitchFamily="34" charset="-122"/>
                <a:cs typeface="Courier New" pitchFamily="34" charset="-120"/>
              </a:rPr>
              <a:t># TITLE --A--&gt; PLAY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j    u_done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u_play: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mv   a0, s0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play_update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u_done: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s1, 4(sp)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s0, 8(sp)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ret</a:t>
            </a:r>
            <a:endParaRPr lang="en-US" sz="115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OVER to TITLE: dirty = 2</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Three lines are added, after the store of the state</a:t>
            </a:r>
            <a:endParaRPr lang="en-US" sz="1700" dirty="0"/>
          </a:p>
        </p:txBody>
      </p:sp>
      <p:sp>
        <p:nvSpPr>
          <p:cNvPr id="11" name="Shape 9"/>
          <p:cNvSpPr/>
          <p:nvPr/>
        </p:nvSpPr>
        <p:spPr>
          <a:xfrm>
            <a:off x="8287715" y="91440"/>
            <a:ext cx="3355340" cy="274320"/>
          </a:xfrm>
          <a:prstGeom prst="rect">
            <a:avLst/>
          </a:prstGeom>
          <a:solidFill>
            <a:srgbClr val="E0F2FE"/>
          </a:solidFill>
          <a:ln w="12700">
            <a:solidFill>
              <a:srgbClr val="0369A1"/>
            </a:solidFill>
            <a:prstDash val="solid"/>
          </a:ln>
        </p:spPr>
      </p:sp>
      <p:sp>
        <p:nvSpPr>
          <p:cNvPr id="12" name="Shape 10"/>
          <p:cNvSpPr/>
          <p:nvPr/>
        </p:nvSpPr>
        <p:spPr>
          <a:xfrm>
            <a:off x="8287715"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4" name="Text 11"/>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new_game: and here too</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    la   t0, head_i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t1,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t1, 0(t0)              </a:t>
            </a:r>
            <a:pPr indent="0" marL="0">
              <a:buNone/>
            </a:pPr>
            <a:r>
              <a:rPr lang="en-US" sz="1200" dirty="0">
                <a:solidFill>
                  <a:srgbClr val="8FB3A0"/>
                </a:solidFill>
                <a:latin typeface="Courier New" pitchFamily="34" charset="0"/>
                <a:ea typeface="Courier New" pitchFamily="34" charset="-122"/>
                <a:cs typeface="Courier New" pitchFamily="34" charset="-120"/>
              </a:rPr>
              <a:t># the head is entry 2 of the ring</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length</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t1,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t1,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dir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zero,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want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zero,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step_q8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zero,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score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zero,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place_food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state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t1, PLAY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t1,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dirty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t1,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t1, 0(t0)              </a:t>
            </a:r>
            <a:pPr indent="0" marL="0">
              <a:buNone/>
            </a:pPr>
            <a:r>
              <a:rPr lang="en-US" sz="1200" dirty="0">
                <a:solidFill>
                  <a:srgbClr val="8FB3A0"/>
                </a:solidFill>
                <a:latin typeface="Courier New" pitchFamily="34" charset="0"/>
                <a:ea typeface="Courier New" pitchFamily="34" charset="-122"/>
                <a:cs typeface="Courier New" pitchFamily="34" charset="-120"/>
              </a:rPr>
              <a:t># a new screen: draw everything</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ret</a:t>
            </a:r>
            <a:endParaRPr lang="en-US" sz="120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TITLE to PLAY: dirty = 2</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Three lines are added, before the return</a:t>
            </a:r>
            <a:endParaRPr lang="en-US" sz="1700" dirty="0"/>
          </a:p>
        </p:txBody>
      </p:sp>
      <p:sp>
        <p:nvSpPr>
          <p:cNvPr id="11" name="Shape 9"/>
          <p:cNvSpPr/>
          <p:nvPr/>
        </p:nvSpPr>
        <p:spPr>
          <a:xfrm>
            <a:off x="8287715" y="91440"/>
            <a:ext cx="3355340" cy="274320"/>
          </a:xfrm>
          <a:prstGeom prst="rect">
            <a:avLst/>
          </a:prstGeom>
          <a:solidFill>
            <a:srgbClr val="E0F2FE"/>
          </a:solidFill>
          <a:ln w="12700">
            <a:solidFill>
              <a:srgbClr val="0369A1"/>
            </a:solidFill>
            <a:prstDash val="solid"/>
          </a:ln>
        </p:spPr>
      </p:sp>
      <p:sp>
        <p:nvSpPr>
          <p:cNvPr id="12" name="Shape 10"/>
          <p:cNvSpPr/>
          <p:nvPr/>
        </p:nvSpPr>
        <p:spPr>
          <a:xfrm>
            <a:off x="8287715"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4" name="Text 11"/>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the finished Verm1</a:t>
            </a:r>
            <a:endParaRPr lang="en-US" sz="3200" dirty="0"/>
          </a:p>
        </p:txBody>
      </p:sp>
      <p:sp>
        <p:nvSpPr>
          <p:cNvPr id="3" name="Shape 1"/>
          <p:cNvSpPr/>
          <p:nvPr/>
        </p:nvSpPr>
        <p:spPr>
          <a:xfrm>
            <a:off x="548640" y="1417320"/>
            <a:ext cx="5410048" cy="3931920"/>
          </a:xfrm>
          <a:prstGeom prst="roundRect">
            <a:avLst>
              <a:gd name="adj" fmla="val 1860"/>
            </a:avLst>
          </a:prstGeom>
          <a:solidFill>
            <a:srgbClr val="EEF2F4"/>
          </a:solidFill>
          <a:ln w="12700">
            <a:solidFill>
              <a:srgbClr val="EEF2F4"/>
            </a:solidFill>
            <a:prstDash val="solid"/>
          </a:ln>
        </p:spPr>
      </p:sp>
      <p:pic>
        <p:nvPicPr>
          <p:cNvPr id="4" name="Image 0" descr="/Users/raffaelemontella/devel/riscv-prg32/computer-architecture-with-prg32/tools/assets/verm1_p4_play.png">    </p:cNvPr>
          <p:cNvPicPr>
            <a:picLocks noChangeAspect="1"/>
          </p:cNvPicPr>
          <p:nvPr/>
        </p:nvPicPr>
        <p:blipFill>
          <a:blip r:embed="rId1"/>
          <a:stretch>
            <a:fillRect/>
          </a:stretch>
        </p:blipFill>
        <p:spPr>
          <a:xfrm>
            <a:off x="803072" y="1554480"/>
            <a:ext cx="4901184" cy="3063240"/>
          </a:xfrm>
          <a:prstGeom prst="rect">
            <a:avLst/>
          </a:prstGeom>
        </p:spPr>
      </p:pic>
      <p:sp>
        <p:nvSpPr>
          <p:cNvPr id="5" name="Text 2"/>
          <p:cNvSpPr txBox="1"/>
          <p:nvPr/>
        </p:nvSpPr>
        <p:spPr>
          <a:xfrm>
            <a:off x="685800" y="4663440"/>
            <a:ext cx="513572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Score 004, seven cells</a:t>
            </a:r>
            <a:endParaRPr lang="en-US" sz="1500" dirty="0"/>
          </a:p>
        </p:txBody>
      </p:sp>
      <p:sp>
        <p:nvSpPr>
          <p:cNvPr id="6" name="Shape 3"/>
          <p:cNvSpPr/>
          <p:nvPr/>
        </p:nvSpPr>
        <p:spPr>
          <a:xfrm>
            <a:off x="6233008" y="1417320"/>
            <a:ext cx="5410048" cy="3931920"/>
          </a:xfrm>
          <a:prstGeom prst="roundRect">
            <a:avLst>
              <a:gd name="adj" fmla="val 1860"/>
            </a:avLst>
          </a:prstGeom>
          <a:solidFill>
            <a:srgbClr val="EEF2F4"/>
          </a:solidFill>
          <a:ln w="12700">
            <a:solidFill>
              <a:srgbClr val="EEF2F4"/>
            </a:solidFill>
            <a:prstDash val="solid"/>
          </a:ln>
        </p:spPr>
      </p:sp>
      <p:pic>
        <p:nvPicPr>
          <p:cNvPr id="7" name="Image 1" descr="/Users/raffaelemontella/devel/riscv-prg32/computer-architecture-with-prg32/tools/assets/verm1_p4_over.png">    </p:cNvPr>
          <p:cNvPicPr>
            <a:picLocks noChangeAspect="1"/>
          </p:cNvPicPr>
          <p:nvPr/>
        </p:nvPicPr>
        <p:blipFill>
          <a:blip r:embed="rId2"/>
          <a:stretch>
            <a:fillRect/>
          </a:stretch>
        </p:blipFill>
        <p:spPr>
          <a:xfrm>
            <a:off x="6487439" y="1554480"/>
            <a:ext cx="4901184" cy="3063240"/>
          </a:xfrm>
          <a:prstGeom prst="rect">
            <a:avLst/>
          </a:prstGeom>
        </p:spPr>
      </p:pic>
      <p:sp>
        <p:nvSpPr>
          <p:cNvPr id="8" name="Text 4"/>
          <p:cNvSpPr txBox="1"/>
          <p:nvPr/>
        </p:nvSpPr>
        <p:spPr>
          <a:xfrm>
            <a:off x="6370168" y="4663440"/>
            <a:ext cx="513572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The end of a game</a:t>
            </a:r>
            <a:endParaRPr lang="en-US" sz="1500" dirty="0"/>
          </a:p>
        </p:txBody>
      </p:sp>
      <p:sp>
        <p:nvSpPr>
          <p:cNvPr id="9" name="Text 5"/>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Expected: the same game as after step 3, pixel for pixel. If you see trails or holes, a change was not recorded: use the debugger.</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Appendix: the functions that did not change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Eight parts of the file are those of Part 3: keep them as they are</a:t>
            </a:r>
            <a:endParaRPr lang="en-US" sz="2400" dirty="0"/>
          </a:p>
        </p:txBody>
      </p:sp>
      <p:sp>
        <p:nvSpPr>
          <p:cNvPr id="5" name="Shape 3"/>
          <p:cNvSpPr/>
          <p:nvPr/>
        </p:nvSpPr>
        <p:spPr>
          <a:xfrm>
            <a:off x="548640" y="255117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29256"/>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They are on the next slides, so that this deck contains the whole program</a:t>
            </a:r>
            <a:endParaRPr lang="en-US" sz="2400" dirty="0"/>
          </a:p>
        </p:txBody>
      </p:sp>
      <p:sp>
        <p:nvSpPr>
          <p:cNvPr id="7" name="Shape 5"/>
          <p:cNvSpPr/>
          <p:nvPr/>
        </p:nvSpPr>
        <p:spPr>
          <a:xfrm>
            <a:off x="548640" y="375208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3016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update, new_game (first half), play_update (steering), step (lookup), place_food, draw_worm, draw_cell, .rodata</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update: buttons and edges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verm1_update: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s0, 8(sp)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s1, 4(sp)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prg32_input_read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mv   s0, a0                 </a:t>
            </a:r>
            <a:pPr indent="0" marL="0">
              <a:buNone/>
            </a:pPr>
            <a:r>
              <a:rPr lang="en-US" sz="1500" dirty="0">
                <a:solidFill>
                  <a:srgbClr val="8FB3A0"/>
                </a:solidFill>
                <a:latin typeface="Courier New" pitchFamily="34" charset="0"/>
                <a:ea typeface="Courier New" pitchFamily="34" charset="-122"/>
                <a:cs typeface="Courier New" pitchFamily="34" charset="-120"/>
              </a:rPr>
              <a:t># s0 = buttons held in this frame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prev_btn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              </a:t>
            </a:r>
            <a:pPr indent="0" marL="0">
              <a:buNone/>
            </a:pPr>
            <a:r>
              <a:rPr lang="en-US" sz="1500" dirty="0">
                <a:solidFill>
                  <a:srgbClr val="8FB3A0"/>
                </a:solidFill>
                <a:latin typeface="Courier New" pitchFamily="34" charset="0"/>
                <a:ea typeface="Courier New" pitchFamily="34" charset="-122"/>
                <a:cs typeface="Courier New" pitchFamily="34" charset="-120"/>
              </a:rPr>
              <a:t># t1 = buttons held one frame ago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s0,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not  t1, t1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and  s1, s0, t1             </a:t>
            </a:r>
            <a:pPr indent="0" marL="0">
              <a:buNone/>
            </a:pPr>
            <a:r>
              <a:rPr lang="en-US" sz="1500" dirty="0">
                <a:solidFill>
                  <a:srgbClr val="8FB3A0"/>
                </a:solidFill>
                <a:latin typeface="Courier New" pitchFamily="34" charset="0"/>
                <a:ea typeface="Courier New" pitchFamily="34" charset="-122"/>
                <a:cs typeface="Courier New" pitchFamily="34" charset="-120"/>
              </a:rPr>
              <a:t># s1 = buttons pressed just now</a:t>
            </a:r>
            <a:endParaRPr lang="en-US" sz="15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edge detector of Part 3</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new_game: the map and the worm</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new_game: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grid</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t1, COLS*ROWS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1:  sb   zero, 0(t0)            </a:t>
            </a:r>
            <a:pPr indent="0" marL="0">
              <a:buNone/>
            </a:pPr>
            <a:r>
              <a:rPr lang="en-US" sz="1150" dirty="0">
                <a:solidFill>
                  <a:srgbClr val="8FB3A0"/>
                </a:solidFill>
                <a:latin typeface="Courier New" pitchFamily="34" charset="0"/>
                <a:ea typeface="Courier New" pitchFamily="34" charset="-122"/>
                <a:cs typeface="Courier New" pitchFamily="34" charset="-120"/>
              </a:rPr>
              <a:t># empty the grid, one byte per cell</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t0, t0,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t1, t1,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bnez t1, 1b</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t1, 0                  </a:t>
            </a:r>
            <a:pPr indent="0" marL="0">
              <a:buNone/>
            </a:pPr>
            <a:r>
              <a:rPr lang="en-US" sz="1150" dirty="0">
                <a:solidFill>
                  <a:srgbClr val="8FB3A0"/>
                </a:solidFill>
                <a:latin typeface="Courier New" pitchFamily="34" charset="0"/>
                <a:ea typeface="Courier New" pitchFamily="34" charset="-122"/>
                <a:cs typeface="Courier New" pitchFamily="34" charset="-120"/>
              </a:rPr>
              <a:t># i = 0, 1, 2: three cells in row 12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2:  la   t0, body_x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t2, t1, 3</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sb   t2, 0(t0)              </a:t>
            </a:r>
            <a:pPr indent="0" marL="0">
              <a:buNone/>
            </a:pPr>
            <a:r>
              <a:rPr lang="en-US" sz="1150" dirty="0">
                <a:solidFill>
                  <a:srgbClr val="8FB3A0"/>
                </a:solidFill>
                <a:latin typeface="Courier New" pitchFamily="34" charset="0"/>
                <a:ea typeface="Courier New" pitchFamily="34" charset="-122"/>
                <a:cs typeface="Courier New" pitchFamily="34" charset="-120"/>
              </a:rPr>
              <a:t># columns 3, 4, 5</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body_y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t3, 12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sb   t3,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grid+12*COLS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t3,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sb   t3, 0(t0)              </a:t>
            </a:r>
            <a:pPr indent="0" marL="0">
              <a:buNone/>
            </a:pPr>
            <a:r>
              <a:rPr lang="en-US" sz="1150" dirty="0">
                <a:solidFill>
                  <a:srgbClr val="8FB3A0"/>
                </a:solidFill>
                <a:latin typeface="Courier New" pitchFamily="34" charset="0"/>
                <a:ea typeface="Courier New" pitchFamily="34" charset="-122"/>
                <a:cs typeface="Courier New" pitchFamily="34" charset="-120"/>
              </a:rPr>
              <a:t># mark the cell as occupied</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t1, t1,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t3, 3</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blt  t1, t3, 2b</a:t>
            </a:r>
            <a:endParaRPr lang="en-US" sz="115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first half of new_game</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play_update: steering</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play_update:                    </a:t>
            </a:r>
            <a:pPr indent="0" marL="0">
              <a:buNone/>
            </a:pPr>
            <a:r>
              <a:rPr lang="en-US" sz="1200" dirty="0">
                <a:solidFill>
                  <a:srgbClr val="8FB3A0"/>
                </a:solidFill>
                <a:latin typeface="Courier New" pitchFamily="34" charset="0"/>
                <a:ea typeface="Courier New" pitchFamily="34" charset="-122"/>
                <a:cs typeface="Courier New" pitchFamily="34" charset="-120"/>
              </a:rPr>
              <a:t># a0 = buttons held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dir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t1, 0(t0)              </a:t>
            </a:r>
            <a:pPr indent="0" marL="0">
              <a:buNone/>
            </a:pPr>
            <a:r>
              <a:rPr lang="en-US" sz="1200" dirty="0">
                <a:solidFill>
                  <a:srgbClr val="8FB3A0"/>
                </a:solidFill>
                <a:latin typeface="Courier New" pitchFamily="34" charset="0"/>
                <a:ea typeface="Courier New" pitchFamily="34" charset="-122"/>
                <a:cs typeface="Courier New" pitchFamily="34" charset="-120"/>
              </a:rPr>
              <a:t># t1 = direction of the last step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want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t2, 0(t0)              </a:t>
            </a:r>
            <a:pPr indent="0" marL="0">
              <a:buNone/>
            </a:pPr>
            <a:r>
              <a:rPr lang="en-US" sz="1200" dirty="0">
                <a:solidFill>
                  <a:srgbClr val="8FB3A0"/>
                </a:solidFill>
                <a:latin typeface="Courier New" pitchFamily="34" charset="0"/>
                <a:ea typeface="Courier New" pitchFamily="34" charset="-122"/>
                <a:cs typeface="Courier New" pitchFamily="34" charset="-120"/>
              </a:rPr>
              <a:t># t2 = wanted direction, so far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t3, a0, BTN_RIGHT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1f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DIR_RIGHT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andi t3, a0, BTN_DOWN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DIR_DOWN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andi t3, a0, BTN_LEFT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3f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3:  andi t3, a0, BTN_UP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4f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DIR_UP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4:  xor  t3, t2, t1             </a:t>
            </a:r>
            <a:pPr indent="0" marL="0">
              <a:buNone/>
            </a:pPr>
            <a:r>
              <a:rPr lang="en-US" sz="1200" dirty="0">
                <a:solidFill>
                  <a:srgbClr val="8FB3A0"/>
                </a:solidFill>
                <a:latin typeface="Courier New" pitchFamily="34" charset="0"/>
                <a:ea typeface="Courier New" pitchFamily="34" charset="-122"/>
                <a:cs typeface="Courier New" pitchFamily="34" charset="-120"/>
              </a:rPr>
              <a:t># opposite directions differ in bit 1 only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t4,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  t3, t4, 5f             </a:t>
            </a:r>
            <a:pPr indent="0" marL="0">
              <a:buNone/>
            </a:pPr>
            <a:r>
              <a:rPr lang="en-US" sz="1200" dirty="0">
                <a:solidFill>
                  <a:srgbClr val="8FB3A0"/>
                </a:solidFill>
                <a:latin typeface="Courier New" pitchFamily="34" charset="0"/>
                <a:ea typeface="Courier New" pitchFamily="34" charset="-122"/>
                <a:cs typeface="Courier New" pitchFamily="34" charset="-120"/>
              </a:rPr>
              <a:t># a U-turn: ignore the request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t2,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5:</a:t>
            </a:r>
            <a:endParaRPr lang="en-US" sz="12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masks and the U-turn rule of Part 2</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step: the table lookup</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step: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s0, 8(sp)              </a:t>
            </a:r>
            <a:pPr indent="0" marL="0">
              <a:buNone/>
            </a:pPr>
            <a:r>
              <a:rPr lang="en-US" sz="1300" dirty="0">
                <a:solidFill>
                  <a:srgbClr val="8FB3A0"/>
                </a:solidFill>
                <a:latin typeface="Courier New" pitchFamily="34" charset="0"/>
                <a:ea typeface="Courier New" pitchFamily="34" charset="-122"/>
                <a:cs typeface="Courier New" pitchFamily="34" charset="-120"/>
              </a:rPr>
              <a:t># s0 = column of the new head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s1, 4(sp)              </a:t>
            </a:r>
            <a:pPr indent="0" marL="0">
              <a:buNone/>
            </a:pPr>
            <a:r>
              <a:rPr lang="en-US" sz="1300" dirty="0">
                <a:solidFill>
                  <a:srgbClr val="8FB3A0"/>
                </a:solidFill>
                <a:latin typeface="Courier New" pitchFamily="34" charset="0"/>
                <a:ea typeface="Courier New" pitchFamily="34" charset="-122"/>
                <a:cs typeface="Courier New" pitchFamily="34" charset="-120"/>
              </a:rPr>
              <a:t># s1 = row of the new head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s2, 0(sp)              </a:t>
            </a:r>
            <a:pPr indent="0" marL="0">
              <a:buNone/>
            </a:pPr>
            <a:r>
              <a:rPr lang="en-US" sz="1300" dirty="0">
                <a:solidFill>
                  <a:srgbClr val="8FB3A0"/>
                </a:solidFill>
                <a:latin typeface="Courier New" pitchFamily="34" charset="0"/>
                <a:ea typeface="Courier New" pitchFamily="34" charset="-122"/>
                <a:cs typeface="Courier New" pitchFamily="34" charset="-120"/>
              </a:rPr>
              <a:t># s2 = 0 when the worm eats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want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dir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t1, 0(t0)              </a:t>
            </a:r>
            <a:pPr indent="0" marL="0">
              <a:buNone/>
            </a:pPr>
            <a:r>
              <a:rPr lang="en-US" sz="1300" dirty="0">
                <a:solidFill>
                  <a:srgbClr val="8FB3A0"/>
                </a:solidFill>
                <a:latin typeface="Courier New" pitchFamily="34" charset="0"/>
                <a:ea typeface="Courier New" pitchFamily="34" charset="-122"/>
                <a:cs typeface="Courier New" pitchFamily="34" charset="-120"/>
              </a:rPr>
              <a:t># the wanted direction is now the direction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slli t1, t1, 2              </a:t>
            </a:r>
            <a:pPr indent="0" marL="0">
              <a:buNone/>
            </a:pPr>
            <a:r>
              <a:rPr lang="en-US" sz="1300" dirty="0">
                <a:solidFill>
                  <a:srgbClr val="8FB3A0"/>
                </a:solidFill>
                <a:latin typeface="Courier New" pitchFamily="34" charset="0"/>
                <a:ea typeface="Courier New" pitchFamily="34" charset="-122"/>
                <a:cs typeface="Courier New" pitchFamily="34" charset="-120"/>
              </a:rPr>
              <a:t># table offset = direction * 4 bytes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t2, 0(t0)              </a:t>
            </a:r>
            <a:pPr indent="0" marL="0">
              <a:buNone/>
            </a:pPr>
            <a:r>
              <a:rPr lang="en-US" sz="1300" dirty="0">
                <a:solidFill>
                  <a:srgbClr val="8FB3A0"/>
                </a:solidFill>
                <a:latin typeface="Courier New" pitchFamily="34" charset="0"/>
                <a:ea typeface="Courier New" pitchFamily="34" charset="-122"/>
                <a:cs typeface="Courier New" pitchFamily="34" charset="-120"/>
              </a:rPr>
              <a:t># t2 = dx[direction]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t3, 0(t0)              </a:t>
            </a:r>
            <a:pPr indent="0" marL="0">
              <a:buNone/>
            </a:pPr>
            <a:r>
              <a:rPr lang="en-US" sz="1300" dirty="0">
                <a:solidFill>
                  <a:srgbClr val="8FB3A0"/>
                </a:solidFill>
                <a:latin typeface="Courier New" pitchFamily="34" charset="0"/>
                <a:ea typeface="Courier New" pitchFamily="34" charset="-122"/>
                <a:cs typeface="Courier New" pitchFamily="34" charset="-120"/>
              </a:rPr>
              <a:t># t3 = dy[direction]</a:t>
            </a:r>
            <a:endParaRPr lang="en-US" sz="13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frame and the tables dx, dy</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place_food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00" dirty="0">
                <a:solidFill>
                  <a:srgbClr val="E6EDF2"/>
                </a:solidFill>
                <a:latin typeface="Courier New" pitchFamily="34" charset="0"/>
                <a:ea typeface="Courier New" pitchFamily="34" charset="-122"/>
                <a:cs typeface="Courier New" pitchFamily="34" charset="-120"/>
              </a:rPr>
              <a:t>place_food: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sp, sp, -16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ra, 12(sp)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s0, 8(sp)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1:  li   a0,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COLS-1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prg32_random_number</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mv   s0, a0                 </a:t>
            </a:r>
            <a:pPr indent="0" marL="0">
              <a:buNone/>
            </a:pPr>
            <a:r>
              <a:rPr lang="en-US" sz="1100" dirty="0">
                <a:solidFill>
                  <a:srgbClr val="8FB3A0"/>
                </a:solidFill>
                <a:latin typeface="Courier New" pitchFamily="34" charset="0"/>
                <a:ea typeface="Courier New" pitchFamily="34" charset="-122"/>
                <a:cs typeface="Courier New" pitchFamily="34" charset="-120"/>
              </a:rPr>
              <a:t># s0 = a column</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a0,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ROWS-1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prg32_random_number    </a:t>
            </a:r>
            <a:pPr indent="0" marL="0">
              <a:buNone/>
            </a:pPr>
            <a:r>
              <a:rPr lang="en-US" sz="1100" dirty="0">
                <a:solidFill>
                  <a:srgbClr val="8FB3A0"/>
                </a:solidFill>
                <a:latin typeface="Courier New" pitchFamily="34" charset="0"/>
                <a:ea typeface="Courier New" pitchFamily="34" charset="-122"/>
                <a:cs typeface="Courier New" pitchFamily="34" charset="-120"/>
              </a:rPr>
              <a:t># a0 = a row</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t1, COLS</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mul  t2, a0, t1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t2, t2, s0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grid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t0, t0, t2</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lbu  t3,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bnez t3, 1b                 </a:t>
            </a:r>
            <a:pPr indent="0" marL="0">
              <a:buNone/>
            </a:pPr>
            <a:r>
              <a:rPr lang="en-US" sz="1100" dirty="0">
                <a:solidFill>
                  <a:srgbClr val="8FB3A0"/>
                </a:solidFill>
                <a:latin typeface="Courier New" pitchFamily="34" charset="0"/>
                <a:ea typeface="Courier New" pitchFamily="34" charset="-122"/>
                <a:cs typeface="Courier New" pitchFamily="34" charset="-120"/>
              </a:rPr>
              <a:t># on the worm: try again</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food_x</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s0,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food_y</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a0,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s0, 8(sp)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ra, 12(sp)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sp, sp, 16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ret</a:t>
            </a:r>
            <a:endParaRPr lang="en-US" sz="11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random free cell</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draw_worm</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000" dirty="0">
                <a:solidFill>
                  <a:srgbClr val="E6EDF2"/>
                </a:solidFill>
                <a:latin typeface="Courier New" pitchFamily="34" charset="0"/>
                <a:ea typeface="Courier New" pitchFamily="34" charset="-122"/>
                <a:cs typeface="Courier New" pitchFamily="34" charset="-120"/>
              </a:rPr>
              <a:t>draw_worm:</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sp, sp, -16</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sw   ra, 12(sp)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sw   s0, 8(sp)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s0, 0                  </a:t>
            </a:r>
            <a:pPr indent="0" marL="0">
              <a:buNone/>
            </a:pPr>
            <a:r>
              <a:rPr lang="en-US" sz="1000" dirty="0">
                <a:solidFill>
                  <a:srgbClr val="8FB3A0"/>
                </a:solidFill>
                <a:latin typeface="Courier New" pitchFamily="34" charset="0"/>
                <a:ea typeface="Courier New" pitchFamily="34" charset="-122"/>
                <a:cs typeface="Courier New" pitchFamily="34" charset="-120"/>
              </a:rPr>
              <a:t># s0 = i: segment 0 is the head</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1:  la   t0, length</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bge  s0, t1, 3f</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head_i</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sub  t1, t1, s0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andi t1, t1, 255            </a:t>
            </a:r>
            <a:pPr indent="0" marL="0">
              <a:buNone/>
            </a:pPr>
            <a:r>
              <a:rPr lang="en-US" sz="1000" dirty="0">
                <a:solidFill>
                  <a:srgbClr val="8FB3A0"/>
                </a:solidFill>
                <a:latin typeface="Courier New" pitchFamily="34" charset="0"/>
                <a:ea typeface="Courier New" pitchFamily="34" charset="-122"/>
                <a:cs typeface="Courier New" pitchFamily="34" charset="-120"/>
              </a:rPr>
              <a:t># ring index of segment i</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body_x</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  t0, t0, t1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lbu  a0,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body_y</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  t0, t0, t1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lbu  a1,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a2, BODY</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bnez s0, 2f</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a2, GREEN              </a:t>
            </a:r>
            <a:pPr indent="0" marL="0">
              <a:buNone/>
            </a:pPr>
            <a:r>
              <a:rPr lang="en-US" sz="1000" dirty="0">
                <a:solidFill>
                  <a:srgbClr val="8FB3A0"/>
                </a:solidFill>
                <a:latin typeface="Courier New" pitchFamily="34" charset="0"/>
                <a:ea typeface="Courier New" pitchFamily="34" charset="-122"/>
                <a:cs typeface="Courier New" pitchFamily="34" charset="-120"/>
              </a:rPr>
              <a:t># the head is brighter</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2:  call draw_cell</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s0, s0, 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j    1b</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3:  lw   s0, 8(sp)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ra, 12(sp)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sp, sp, 16</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ret</a:t>
            </a:r>
            <a:endParaRPr lang="en-US" sz="10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Used by draw_full only, once per new screen</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draw_cell</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draw_cell:                      </a:t>
            </a:r>
            <a:pPr indent="0" marL="0">
              <a:buNone/>
            </a:pPr>
            <a:r>
              <a:rPr lang="en-US" sz="1450" dirty="0">
                <a:solidFill>
                  <a:srgbClr val="8FB3A0"/>
                </a:solidFill>
                <a:latin typeface="Courier New" pitchFamily="34" charset="0"/>
                <a:ea typeface="Courier New" pitchFamily="34" charset="-122"/>
                <a:cs typeface="Courier New" pitchFamily="34" charset="-120"/>
              </a:rPr>
              <a:t># a0 = column, a1 = row, a2 = colour</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slli a0, a0, 3              </a:t>
            </a:r>
            <a:pPr indent="0" marL="0">
              <a:buNone/>
            </a:pPr>
            <a:r>
              <a:rPr lang="en-US" sz="1450" dirty="0">
                <a:solidFill>
                  <a:srgbClr val="8FB3A0"/>
                </a:solidFill>
                <a:latin typeface="Courier New" pitchFamily="34" charset="0"/>
                <a:ea typeface="Courier New" pitchFamily="34" charset="-122"/>
                <a:cs typeface="Courier New" pitchFamily="34" charset="-120"/>
              </a:rPr>
              <a:t># x = column * 8</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slli a1, a1, 3</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a1, a1, TOP            </a:t>
            </a:r>
            <a:pPr indent="0" marL="0">
              <a:buNone/>
            </a:pPr>
            <a:r>
              <a:rPr lang="en-US" sz="1450" dirty="0">
                <a:solidFill>
                  <a:srgbClr val="8FB3A0"/>
                </a:solidFill>
                <a:latin typeface="Courier New" pitchFamily="34" charset="0"/>
                <a:ea typeface="Courier New" pitchFamily="34" charset="-122"/>
                <a:cs typeface="Courier New" pitchFamily="34" charset="-120"/>
              </a:rPr>
              <a:t># y = row * 8 + 8</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mv   a4, a2                 </a:t>
            </a:r>
            <a:pPr indent="0" marL="0">
              <a:buNone/>
            </a:pPr>
            <a:r>
              <a:rPr lang="en-US" sz="1450" dirty="0">
                <a:solidFill>
                  <a:srgbClr val="8FB3A0"/>
                </a:solidFill>
                <a:latin typeface="Courier New" pitchFamily="34" charset="0"/>
                <a:ea typeface="Courier New" pitchFamily="34" charset="-122"/>
                <a:cs typeface="Courier New" pitchFamily="34" charset="-120"/>
              </a:rPr>
              <a:t># the colour is the fifth argument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a2,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a3,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prg32_gfx_rect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From cells to pixels, since Part 2</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.rodata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.section .rodata                </a:t>
            </a:r>
            <a:pPr indent="0" marL="0">
              <a:buNone/>
            </a:pPr>
            <a:r>
              <a:rPr lang="en-US" sz="1300" dirty="0">
                <a:solidFill>
                  <a:srgbClr val="8FB3A0"/>
                </a:solidFill>
                <a:latin typeface="Courier New" pitchFamily="34" charset="0"/>
                <a:ea typeface="Courier New" pitchFamily="34" charset="-122"/>
                <a:cs typeface="Courier New" pitchFamily="34" charset="-120"/>
              </a:rPr>
              <a:t># constants: they stay in the cartridge file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title:     .asciz "VERM1"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press_a:   .asciz "PRESS A"</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game_over: .asciz "GAME OVER"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dx:        .word  1, 0, -1,  0  </a:t>
            </a:r>
            <a:pPr indent="0" marL="0">
              <a:buNone/>
            </a:pPr>
            <a:r>
              <a:rPr lang="en-US" sz="1300" dirty="0">
                <a:solidFill>
                  <a:srgbClr val="8FB3A0"/>
                </a:solidFill>
                <a:latin typeface="Courier New" pitchFamily="34" charset="0"/>
                <a:ea typeface="Courier New" pitchFamily="34" charset="-122"/>
                <a:cs typeface="Courier New" pitchFamily="34" charset="-120"/>
              </a:rPr>
              <a:t># right, down, left, up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dy:        .word  0, 1,  0, -1</a:t>
            </a:r>
            <a:endParaRPr lang="en-US" sz="13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Strings and tables</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03530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the finished game: the score and the best score in digits, a worm that goes faster as the score grows, a short note for a meal and a long low one for the end.</a:t>
            </a:r>
            <a:endParaRPr lang="en-US" sz="2400" dirty="0"/>
          </a:p>
        </p:txBody>
      </p:sp>
      <p:sp>
        <p:nvSpPr>
          <p:cNvPr id="5" name="Shape 3"/>
          <p:cNvSpPr/>
          <p:nvPr/>
        </p:nvSpPr>
        <p:spPr>
          <a:xfrm>
            <a:off x="548640" y="4214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092702"/>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starts a game; steer with the joystick</a:t>
            </a:r>
            <a:endParaRPr lang="en-US" sz="2400" dirty="0"/>
          </a:p>
        </p:txBody>
      </p:sp>
      <p:pic>
        <p:nvPicPr>
          <p:cNvPr id="7" name="Image 0" descr="/Users/raffaelemontella/devel/riscv-prg32/computer-architecture-with-prg32/tools/assets/verm1_p4_play.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verm1 --out verm1.prg32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verm1;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Make it yours</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 pause: button B stops the game and writes PAUSE; B again resumes. A fourth state</a:t>
            </a:r>
            <a:endParaRPr lang="en-US" sz="2400" dirty="0"/>
          </a:p>
        </p:txBody>
      </p:sp>
      <p:sp>
        <p:nvSpPr>
          <p:cNvPr id="6" name="Text 4"/>
          <p:cNvSpPr txBox="1"/>
          <p:nvPr/>
        </p:nvSpPr>
        <p:spPr>
          <a:xfrm>
            <a:off x="548640" y="23459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3276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 melody on the title screen: a table of notes in .rodata, one note every 15 frames</a:t>
            </a:r>
            <a:endParaRPr lang="en-US" sz="2400" dirty="0"/>
          </a:p>
        </p:txBody>
      </p:sp>
      <p:sp>
        <p:nvSpPr>
          <p:cNvPr id="8" name="Text 6"/>
          <p:cNvSpPr txBox="1"/>
          <p:nvPr/>
        </p:nvSpPr>
        <p:spPr>
          <a:xfrm>
            <a:off x="548640" y="32562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2379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Bonus food: every fifth piece is yellow, worth three points, and disappears after 100 frames</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Your own colours with prg32_palette_set, or your own rules: this is your game now</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The version you publish in Lecture 23 should have something that is yours. Change the title string, too.</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Verm1, Part 4: The Finished Game: the code</dc:title>
  <dc:subject>Lecture 22</dc:subject>
  <dc:creator>Raffaele Montella</dc:creator>
  <cp:lastModifiedBy>Raffaele Montella</cp:lastModifiedBy>
  <cp:revision>1</cp:revision>
  <dcterms:created xsi:type="dcterms:W3CDTF">2026-10-17T07:16:49Z</dcterms:created>
  <dcterms:modified xsi:type="dcterms:W3CDTF">2026-10-17T07:16:49Z</dcterms:modified>
</cp:coreProperties>
</file>