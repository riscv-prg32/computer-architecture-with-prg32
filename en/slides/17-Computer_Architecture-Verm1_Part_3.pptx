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e3b765-5eca-afec-4864-567d3315e4be}">
          <p14:sldIdLst>
            <p14:sldId id="256"/>
            <p14:sldId id="257"/>
            <p14:sldId id="258"/>
            <p14:sldId id="259"/>
          </p14:sldIdLst>
        </p14:section>
        <p14:section name="The design, before the code" id="{889f849f-a162-5e12-34bb-0279c67f7141}">
          <p14:sldIdLst>
            <p14:sldId id="260"/>
            <p14:sldId id="261"/>
            <p14:sldId id="262"/>
          </p14:sldIdLst>
        </p14:section>
        <p14:section name="Step 5: look at memory move" id="{de226359-bc53-d3ff-09b4-15c68047605f}">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genuine game. Until now the worm was a single cell and nothing could go wrong. Today memory enters the project: the worm acquires a body that follows the head and grows, biting itself ends the game, and the program gains a title screen and a game-over screen. Fred Brooks's sentence on the cover is the guiding principle of the session: choose the data structures well, and the code nearly writes itself. Two such structures are introduced, a ring and a map, and the tutorial is in large part a study of how their design shapes the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Roadmap. Today's outcomes: (1) implement the game as a state machine with three states; (2) keep the body in a ring buffer and the grid in an array of bytes; (3) detect a collision by reading the grid. Builds on: arrays in memory (Lecture 04); finite-state machines (Lecture 13); .text, .rodata, .data (Lecture 07); latches and flip-flops (Lecture 13); fixed point (Lecture 06). Next: Lecture 18, The Processor.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worm with a body that follows the head and grows by one cell at every meal. A game that can be lost. Three screens, title, game and game over, linked by button A. Food that never appears on the worm. And a best score, retained as long as the cartridge remains in memory. This is the largest step of the project: the file roughly doubles in length, so the steps should be followed in order and the program run whenever a slide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rather than a level, becomes "A pressed now and not one frame ago". The register that holds a value until the next clock becomes prev_btn. Memory as an array of bytes, from Lecture 15, becomes the body and the map of the world. And the distinction between what stays in the file and what lives in RAM, from Lecture 16,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to be built: the title with its invitation, the game with a worm of seven cells after four meals, and the game-over screen. They are one program in three states. The session begins from a working Part 2; a student whose file does not run copies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holding the column and row of one segment. Nothing is ever shifted. Two numbers describe the worm: head_i, the index of the head, and length, the number of entries in use, so that the tail is entry head_i - length + 1. A step writes one new entry after the head and advances head_i; if the worm has eaten the tail stays, otherwise it advances too. After entry 255 comes entry 0, an AND with 255: the array is a ring, or circular buffer. Each step costs constant time, whatever the length of the worm.
UNDERSTAND NOW: arrays in memory.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determine whether the new head touches the body, the program could compare it with every segment, up to 255 comparisons per step. It keeps instead a map of the world: one byte for each of the 960 cells, 1 if a segment occupies it and 0 otherwise. The cell in column c of row r is byte r × 40 + c. A step sets one byte and clears another, and the collision test becomes a single load. This is the classic trade of memory for time. Its price is an invariant that must be maintained: map and ring must always agree.
UNDERSTAND NOW: arrays in memory.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passes to PLAY when A is pressed; PLAY passes to OVER when the worm bites itself; OVER returns to TITLE when A is pressed. The table adds the action associated with each transition. One detail determines whether the machine works: "A pressed" must mean down now and up one frame ago, an edge rather than a level. Otherwise holding A would traverse the states at one per frame, the defect anticipated in the warm-up of Lecture 13.
UNDERSTAND NOW: finite-state machines.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breakpoint is placed on the first instruction of step and execution resumed: the program now halts once per step of the worm. The memory view is opened at the address of body_x: after the initial 03 04 05, a new byte appears at each step. Turning downwards, body_x repeats the same column while body_y, 256 bytes further on, counts the rows. After a meal, head_i and length are compared before and after: both have increased by one. The old bytes are never erased, so the ring records the history of the last 256 steps.
USE NOW: the PRG32-QT debugger (used, not studied, in this course).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yields 0x10, and the transition occurs. In subsequent frames A remains down, but prev_btn is now 0x10 as well, and the result is zero. One edge, one transition, however long the button is held: the edge detector of Lecture 13, with a word of memory as the flip-flop and the frame as the clock.
USE NOW: the PRG32-QT debugger (used, not studied, in this course).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be answered with the debugger. Where is state, and what does it contain during play and after losing? Is the map consistent with the ring, that is, does the byte at row × 40 + column of the head contain 1? What did the fatal step observe: at the lbu after the second mul in step, t1 is 1 exactly once, at the bite. The last line states a principle that generalises well beyond this game: a program is correct when its memory is correct, and its invariants are what make memory checkable.
USE NOW: the PRG32-QT debugger (used, not studied, in this course).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tail is computed first: head_i - length + 1 is 1 - 4 + 1 = -2, which masked with 255 becomes 254. From there four entries are counted forwards, wrapping after 255.
For the second, the formula of the map applies: row × 40 + column. The two must not be interchanged; the option with 283 is 7 × 40 + 3.
For the lecturer: 1. Answer: C. From the tail, head_i - length + 1 = -2, that is 254 after AND 255, up to the head: 254, 255, 0, 1.
2.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reasons in terms of edges. A is down for many frames, but only in the first of them is it "down now and up one frame ago".
For the second: in one step the tail vacates a cell and the head enters one. If they are the same cell, the question is which of the two operations must come first for the move to be legal.
For the lecturer: 1. Answer: B. Only the frame in which A goes down gives s1 = 0x10: one edge, one transition.
2.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Verm1 is now a game, with an objective, a risk, a beginning and an end, and every line of it can be explained. It is sequential logic and memory expressed as a program: a machine with three states, a ring of bytes, a map. Three aspects remain rough: the whole screen is redrawn at every frame, the score is a row of marks, and the speed never changes. The next four lectures open the machine that executes the code, and Part 4 completes the game.
Learning status, recap.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Closing thread: The game now has a memory and states: the sequential machines of Lecture 13, written in software. Next: the processor that runs all of this. Exit ticket (two to four minutes, alone, on paper): 1. Verm1 has three states: TITLE, PLAY, OVER. Draw the transitions and label each with the event that causes it. 2. The body is a ring of 256 entries. head_i is 255 and the worm moves one step. What is the new head_i, and why does Verm1 compute it with andi t1, t1, 255?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24701"/>
            <a:ext cx="5760720" cy="1558006"/>
          </a:xfrm>
          <a:prstGeom prst="rect">
            <a:avLst/>
          </a:prstGeom>
        </p:spPr>
      </p:pic>
      <p:pic>
        <p:nvPicPr>
          <p:cNvPr id="9" name="Image 2" descr="preencoded.png">    </p:cNvPr>
          <p:cNvPicPr>
            <a:picLocks noChangeAspect="1"/>
          </p:cNvPicPr>
          <p:nvPr/>
        </p:nvPicPr>
        <p:blipFill>
          <a:blip r:embed="rId3"/>
          <a:stretch>
            <a:fillRect/>
          </a:stretch>
        </p:blipFill>
        <p:spPr>
          <a:xfrm>
            <a:off x="548640" y="3070621"/>
            <a:ext cx="5760720" cy="1558006"/>
          </a:xfrm>
          <a:prstGeom prst="rect">
            <a:avLst/>
          </a:prstGeom>
        </p:spPr>
      </p:pic>
      <p:pic>
        <p:nvPicPr>
          <p:cNvPr id="10" name="Image 3" descr="preencoded.png">    </p:cNvPr>
          <p:cNvPicPr>
            <a:picLocks noChangeAspect="1"/>
          </p:cNvPicPr>
          <p:nvPr/>
        </p:nvPicPr>
        <p:blipFill>
          <a:blip r:embed="rId4"/>
          <a:stretch>
            <a:fillRect/>
          </a:stretch>
        </p:blipFill>
        <p:spPr>
          <a:xfrm>
            <a:off x="548640" y="4716541"/>
            <a:ext cx="5760720" cy="1558006"/>
          </a:xfrm>
          <a:prstGeom prst="rect">
            <a:avLst/>
          </a:prstGeom>
        </p:spPr>
      </p:pic>
      <p:sp>
        <p:nvSpPr>
          <p:cNvPr id="11" name="Shape 4"/>
          <p:cNvSpPr/>
          <p:nvPr/>
        </p:nvSpPr>
        <p:spPr>
          <a:xfrm>
            <a:off x="6492240" y="1515999"/>
            <a:ext cx="146304" cy="146304"/>
          </a:xfrm>
          <a:prstGeom prst="rect">
            <a:avLst/>
          </a:prstGeom>
          <a:solidFill>
            <a:srgbClr val="0E7C86"/>
          </a:solidFill>
          <a:ln w="12700">
            <a:solidFill>
              <a:srgbClr val="0E7C86"/>
            </a:solidFill>
            <a:prstDash val="solid"/>
          </a:ln>
        </p:spPr>
      </p:sp>
      <p:sp>
        <p:nvSpPr>
          <p:cNvPr id="12" name="Text 5"/>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13" name="Shape 6"/>
          <p:cNvSpPr/>
          <p:nvPr/>
        </p:nvSpPr>
        <p:spPr>
          <a:xfrm>
            <a:off x="6492240" y="2628328"/>
            <a:ext cx="146304" cy="146304"/>
          </a:xfrm>
          <a:prstGeom prst="rect">
            <a:avLst/>
          </a:prstGeom>
          <a:solidFill>
            <a:srgbClr val="C7791B"/>
          </a:solidFill>
          <a:ln w="12700">
            <a:solidFill>
              <a:srgbClr val="C7791B"/>
            </a:solidFill>
            <a:prstDash val="solid"/>
          </a:ln>
        </p:spPr>
      </p:sp>
      <p:sp>
        <p:nvSpPr>
          <p:cNvPr id="14" name="Text 7"/>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5" name="Shape 8"/>
          <p:cNvSpPr/>
          <p:nvPr/>
        </p:nvSpPr>
        <p:spPr>
          <a:xfrm>
            <a:off x="6492240" y="3740658"/>
            <a:ext cx="146304" cy="146304"/>
          </a:xfrm>
          <a:prstGeom prst="rect">
            <a:avLst/>
          </a:prstGeom>
          <a:solidFill>
            <a:srgbClr val="0E7C86"/>
          </a:solidFill>
          <a:ln w="12700">
            <a:solidFill>
              <a:srgbClr val="0E7C86"/>
            </a:solidFill>
            <a:prstDash val="solid"/>
          </a:ln>
        </p:spPr>
      </p:sp>
      <p:sp>
        <p:nvSpPr>
          <p:cNvPr id="16" name="Text 9"/>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7" name="Shape 10"/>
          <p:cNvSpPr/>
          <p:nvPr/>
        </p:nvSpPr>
        <p:spPr>
          <a:xfrm>
            <a:off x="6492240" y="4833176"/>
            <a:ext cx="146304" cy="146304"/>
          </a:xfrm>
          <a:prstGeom prst="rect">
            <a:avLst/>
          </a:prstGeom>
          <a:solidFill>
            <a:srgbClr val="C7791B"/>
          </a:solidFill>
          <a:ln w="12700">
            <a:solidFill>
              <a:srgbClr val="C7791B"/>
            </a:solidFill>
            <a:prstDash val="solid"/>
          </a:ln>
        </p:spPr>
      </p:sp>
      <p:sp>
        <p:nvSpPr>
          <p:cNvPr id="18" name="Text 11"/>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9" name="Shape 12"/>
          <p:cNvSpPr/>
          <p:nvPr/>
        </p:nvSpPr>
        <p:spPr>
          <a:xfrm>
            <a:off x="6492240" y="5620131"/>
            <a:ext cx="146304" cy="146304"/>
          </a:xfrm>
          <a:prstGeom prst="rect">
            <a:avLst/>
          </a:prstGeom>
          <a:solidFill>
            <a:srgbClr val="0E7C86"/>
          </a:solidFill>
          <a:ln w="12700">
            <a:solidFill>
              <a:srgbClr val="0E7C86"/>
            </a:solidFill>
            <a:prstDash val="solid"/>
          </a:ln>
        </p:spPr>
      </p:sp>
      <p:sp>
        <p:nvSpPr>
          <p:cNvPr id="20" name="Text 13"/>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8" name="Image 1" descr="preencoded.png">    </p:cNvPr>
          <p:cNvPicPr>
            <a:picLocks noChangeAspect="1"/>
          </p:cNvPicPr>
          <p:nvPr/>
        </p:nvPicPr>
        <p:blipFill>
          <a:blip r:embed="rId2"/>
          <a:stretch>
            <a:fillRect/>
          </a:stretch>
        </p:blipFill>
        <p:spPr>
          <a:xfrm>
            <a:off x="560682" y="1417320"/>
            <a:ext cx="5736635" cy="3154680"/>
          </a:xfrm>
          <a:prstGeom prst="rect">
            <a:avLst/>
          </a:prstGeom>
        </p:spPr>
      </p:pic>
      <p:sp>
        <p:nvSpPr>
          <p:cNvPr id="9" name="Shape 4"/>
          <p:cNvSpPr/>
          <p:nvPr/>
        </p:nvSpPr>
        <p:spPr>
          <a:xfrm>
            <a:off x="6766560" y="1523746"/>
            <a:ext cx="146304" cy="146304"/>
          </a:xfrm>
          <a:prstGeom prst="rect">
            <a:avLst/>
          </a:prstGeom>
          <a:solidFill>
            <a:srgbClr val="0E7C86"/>
          </a:solidFill>
          <a:ln w="12700">
            <a:solidFill>
              <a:srgbClr val="0E7C86"/>
            </a:solidFill>
            <a:prstDash val="solid"/>
          </a:ln>
        </p:spPr>
      </p:sp>
      <p:sp>
        <p:nvSpPr>
          <p:cNvPr id="10" name="Text 5"/>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11" name="Shape 6"/>
          <p:cNvSpPr/>
          <p:nvPr/>
        </p:nvSpPr>
        <p:spPr>
          <a:xfrm>
            <a:off x="6766560" y="2120815"/>
            <a:ext cx="146304" cy="146304"/>
          </a:xfrm>
          <a:prstGeom prst="rect">
            <a:avLst/>
          </a:prstGeom>
          <a:solidFill>
            <a:srgbClr val="C7791B"/>
          </a:solidFill>
          <a:ln w="12700">
            <a:solidFill>
              <a:srgbClr val="C7791B"/>
            </a:solidFill>
            <a:prstDash val="solid"/>
          </a:ln>
        </p:spPr>
      </p:sp>
      <p:sp>
        <p:nvSpPr>
          <p:cNvPr id="12" name="Text 7"/>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13" name="Shape 8"/>
          <p:cNvSpPr/>
          <p:nvPr/>
        </p:nvSpPr>
        <p:spPr>
          <a:xfrm>
            <a:off x="6766560" y="3058753"/>
            <a:ext cx="146304" cy="146304"/>
          </a:xfrm>
          <a:prstGeom prst="rect">
            <a:avLst/>
          </a:prstGeom>
          <a:solidFill>
            <a:srgbClr val="0E7C86"/>
          </a:solidFill>
          <a:ln w="12700">
            <a:solidFill>
              <a:srgbClr val="0E7C86"/>
            </a:solidFill>
            <a:prstDash val="solid"/>
          </a:ln>
        </p:spPr>
      </p:sp>
      <p:sp>
        <p:nvSpPr>
          <p:cNvPr id="14" name="Text 9"/>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5" name="Shape 10"/>
          <p:cNvSpPr/>
          <p:nvPr/>
        </p:nvSpPr>
        <p:spPr>
          <a:xfrm>
            <a:off x="6766560" y="3996690"/>
            <a:ext cx="146304" cy="146304"/>
          </a:xfrm>
          <a:prstGeom prst="rect">
            <a:avLst/>
          </a:prstGeom>
          <a:solidFill>
            <a:srgbClr val="C7791B"/>
          </a:solidFill>
          <a:ln w="12700">
            <a:solidFill>
              <a:srgbClr val="C7791B"/>
            </a:solidFill>
            <a:prstDash val="solid"/>
          </a:ln>
        </p:spPr>
      </p:sp>
      <p:sp>
        <p:nvSpPr>
          <p:cNvPr id="16" name="Text 11"/>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5" name="Shape 2"/>
          <p:cNvSpPr/>
          <p:nvPr/>
        </p:nvSpPr>
        <p:spPr>
          <a:xfrm>
            <a:off x="8894013" y="91440"/>
            <a:ext cx="2749042" cy="274320"/>
          </a:xfrm>
          <a:prstGeom prst="rect">
            <a:avLst/>
          </a:prstGeom>
          <a:solidFill>
            <a:srgbClr val="FEF3C7"/>
          </a:solidFill>
          <a:ln w="12700">
            <a:solidFill>
              <a:srgbClr val="B45309"/>
            </a:solidFill>
            <a:prstDash val="solid"/>
          </a:ln>
        </p:spPr>
      </p:sp>
      <p:sp>
        <p:nvSpPr>
          <p:cNvPr id="6" name="Shape 3"/>
          <p:cNvSpPr/>
          <p:nvPr/>
        </p:nvSpPr>
        <p:spPr>
          <a:xfrm>
            <a:off x="8894013" y="91440"/>
            <a:ext cx="27432" cy="274320"/>
          </a:xfrm>
          <a:prstGeom prst="rect">
            <a:avLst/>
          </a:prstGeom>
          <a:solidFill>
            <a:srgbClr val="B45309"/>
          </a:solidFill>
          <a:ln w="12700">
            <a:solidFill>
              <a:srgbClr val="B45309"/>
            </a:solidFill>
            <a:prstDash val="solid"/>
          </a:ln>
        </p:spPr>
      </p:sp>
      <p:sp>
        <p:nvSpPr>
          <p:cNvPr id="7" name="Shape 4"/>
          <p:cNvSpPr/>
          <p:nvPr/>
        </p:nvSpPr>
        <p:spPr>
          <a:xfrm>
            <a:off x="8948877"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9" name="Text 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1, 2, 3, 4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0, 1, 2, 3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254, 255, 0, 1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253, 254, 255, 0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127</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283</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307</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and ends at once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once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nothing, until A is released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states cycle at every frame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save an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the head can enter the cell the tail leaves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sb is faster than lbu</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order does not matter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2026-10-17T07:16:49Z</dcterms:created>
  <dcterms:modified xsi:type="dcterms:W3CDTF">2026-10-17T07:16:49Z</dcterms:modified>
</cp:coreProperties>
</file>