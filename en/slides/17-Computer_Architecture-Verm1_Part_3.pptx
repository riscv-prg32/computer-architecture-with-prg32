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6695093-abf2-637a-4c21-bdd5627f59e5}">
          <p14:sldIdLst>
            <p14:sldId id="256"/>
            <p14:sldId id="257"/>
            <p14:sldId id="258"/>
            <p14:sldId id="259"/>
          </p14:sldIdLst>
        </p14:section>
        <p14:section name="The design, before the code" id="{f08ae81f-1bc6-388d-5ae7-41941bf71226}">
          <p14:sldIdLst>
            <p14:sldId id="260"/>
            <p14:sldId id="261"/>
            <p14:sldId id="262"/>
          </p14:sldIdLst>
        </p14:section>
        <p14:section name="Step 5: look at memory move" id="{75a8d0e4-7b90-958b-cbc9-47811313499a}">
          <p14:sldIdLst>
            <p14:sldId id="263"/>
            <p14:sldId id="264"/>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tutorial turns Verm1 into a real game. Until now the worm was a single cell and nothing could go wrong. Today memory enters the project: the worm gets a body that follows the head and grows, biting itself ends the game, and the program acquires a title screen and a game-over screen. Brooks's sentence on the cover is the motto of the day: choose the data structures well, and the code almost writes itself. You will meet two of them, a ring and a map.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arrays in memory; finite-state machines; .text, .rodata, .data; latches and flip-flops; fixed point. USE NOW: the calling convention (Lecture 18) and, used without being studied in this course, the PRG32 tools, the PRG32-QT debugger. UNDERSTAND LATER: nothing. A slide without a badge is context: a story, an example, a question, an exercise.
For the lecturer: Third project tutorial. It uses Lectures 13 to 16: finite state machines and edge detection (13), registers that hold the previous value (14), memory as an array of bytes, addresses and indices (15), what is kept in the cartridge file and what is lost at power-off (16). The reference file is verm1/verm1_part3.S. The quotation is the second half of Brooks's remark on flowcharts and tables: with 'data structures' for 'tables' it is the motto of this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results. A worm with a body that follows the head and grows by one cell at every meal. A game that can be lost. Three screens, title, game and game over, linked by button A. Food that never appears on the worm. And a best score, kept as long as the cartridge stays in memory. It is the largest step of the project: the file roughly doubles in length, so follow the steps and run the program every time a slide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ideas of the block on state and memory, and where they appear today. The finite-state machine of Lecture 13 becomes the three states of the game. The edge, a change and not a level, becomes "A pressed now and not one frame ago". The register that keeps a value for the next clock becomes prev_btn. Memory as an array of bytes becomes the body and the map of the world. And the difference between what stays in the file and what lives in RAM becomes .rodata, .data and the best score.
For the lecturer: The frame is the clock of our machine: update computes the next state from the present state and the inputs, exactly as in Lecture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screens you are going to build: the title with its invitation, the game with a worm of seven cells after four meals, and the game over. They are one program in three states. Start from a Part 2 that runs; if yours does not, copy the reference file of Part 2.
For the lecturer: Screenshots produced by tools/tests/verm1_check.py with a scripted player.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body is stored in two arrays of 256 bytes, body_x and body_y: entry k holds the column and the row of one segment. Nothing is ever shifted. Two numbers describe the worm: head_i, the entry of the head, and length, the number of entries in use; the tail is entry head_i - length + 1. A step writes one new entry after the head and advances head_i. If the worm has eaten the tail stays; otherwise it advances too. After entry 255 comes entry 0, which is an AND with 255: the array is a ring.
UNDERSTAND NOW: arrays in memory.
For the lecturer: A circular buffer, the structure behind every FIFO (first in, first out) queue; the address arithmetic is that of Lecture 15. Moving a worm of 200 cells costs the same as moving one of 3. The size 256 is chosen so that the wrap is one AND: a power of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know whether the new head touches the body, the program could compare it with every segment: up to 255 comparisons at each step. Instead it keeps a map of the world: one byte for each of the 960 cells, 1 if a segment is there and 0 if not. The cell in column c of row r is byte number r times 40 plus c. A step sets one byte and clears one, and the collision test becomes a single load. It is the classic exchange of memory for time. The price: map and ring must always agree.
UNDERSTAND NOW: arrays in memory.
For the lecturer: Memory for time: the classic exchange. The map and the ring say the same thing in two ways, and the program must keep them consistent: every write to one is paired with a write to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diagram of the game, as in Lecture 13: TITLE goes to PLAY when A is pressed; PLAY goes to OVER when the worm bites itself; OVER goes back to TITLE when A is pressed. The table adds the action of each transition. One detail decides whether the machine works: "A pressed" means down now and up one frame ago, an edge and not a level. Otherwise holding A would run through the states one per frame.
UNDERSTAND NOW: finite-state machines.
For the lecturer: The diagram and the table of Lecture 13, for our game. In every other case the state does not change. Draw it on the board before showing the code: the code is a transcription.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a breakpoint on the first instruction of step and resume: the program now stops once per step of the worm. Open the memory at the address of body_x: after the initial 03 04 05 a new byte appears at each step. Turn downwards: body_x repeats the same column, while body_y, 256 bytes further on, counts the rows. Eat, and compare head_i and length before and after: both have grown by one. The old bytes are never erased: the ring holds the history of the last 256 steps.
USE NOW: the PRG32-QT debugger (used, not studied, in this course).
For the lecturer: The bytes of the old positions are never erased: the ring keeps the whole history of the last 256 steps, and length says how much of it is still worm. After 256 steps the writing starts again from the first byte.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edge of button A, frame by frame. While A is up everything is zero. In the frame in which A goes down, s0 is 0x10 and prev_btn is still 0: the AND with the negation gives 0x10, and the transition happens. In the following frames A is still down, but prev_btn is now 0x10 too, and the result is zero. One edge, one transition, however long the button is held.
USE NOW: the PRG32-QT debugger (used, not studied, in this course).
For the lecturer: Put a breakpoint on and s1, s0, t1 in verm1_update, hold A and press Resume three times: s1 is 0x10 in one frame only. The test of the reference file holds A for 28 frames and checks that exactly one transition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questions to answer with the debugger. Where is state, and what does it contain while you play and lose? Is the map consistent with the ring: does the byte at row times 40 plus column of the head contain 1? What did the fatal step see: at the lbu after the second mul in step, t1 is 1 exactly once, at the bite. The last line is a principle: a program is right when its memory is right.
USE NOW: the PRG32-QT debugger (used, not studied, in this course).
For the lecturer: The third question is the most instructive: s0 and s1 hold the cell the head wanted to enter, and the screen shows that it is part of the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 the tail first: head_i - length + 1 is 1 minus 4 plus 1, minus 2. Masked with 255 it becomes 254. From there count four entries forward, wrapping after 255.
The formula of the map: row times 40 plus column. Do not swap the two: the option with 283 is 7 times 40 plus 3.
For the lecturer: 1. Answer: C. From the tail, head_i - length + 1 = -2, that is 254 after AND 255, up to the head: 254, 255, 0, 1.
2. Answer: B. 3 x 40 + 7 = 127.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in terms of edges. A is down for many frames, but only in the first of them is it "down now and up one frame ago".
In one step the tail leaves a cell and the head enters one. If they are the same cell, which of the two operations must be done first for the move to be legal?
For the lecturer: 1. Answer: B. Only the frame in which A goes down gives s1 = 0x10: one edge, one transition.
2. Answer: B. In the same step the tail moves away: that cell is free for the 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you are. Verm1 is now a game, with a goal, a risk, a beginning and an end, and you can explain every line of it. It is sequential logic and memory written as a program: a machine with three states, a ring of bytes, a map. Three things are still rough: the whole screen is redrawn at every frame, the score is a row of marks, the speed never changes. The next four lectures open the machine that runs your code, and Part 4 finishes the game.
Learning status, recap. UNDERSTAND NOW: arrays in memory; finite-state machines; .text, .rodata, .data; latches and flip-flops; fixed point. USE NOW: the calling convention (Lecture 18) and, used without being studied in this course, the PRG32 tools, the PRG32-QT debugger. UNDERSTAND LATER: nothing. A slide without a badge is context: a story, an example, a question, an exercise.
For the lecturer: The students now have about 450 lines of assembly that they wrote and can explain. The next four lectures open the machine that runs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17: Verm1, part 3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17</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Verm1, Part 3: A Body, Rules and States</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Memory enters the game: a ring of bytes, a map of the world, a machine with three states</a:t>
            </a:r>
            <a:endParaRPr lang="en-US" sz="17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“Show me your tables, and I won't usually need your flowcharts; they'll be obvious.”</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Fred Brooks, The Mythical Man-Month</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t"/>
          <a:lstStyle/>
          <a:p>
            <a:pPr indent="0" marL="0">
              <a:buNone/>
            </a:pPr>
            <a:r>
              <a:rPr lang="en-US" sz="1200" i="1" dirty="0">
                <a:solidFill>
                  <a:srgbClr val="CFE3EA"/>
                </a:solidFill>
                <a:latin typeface="Calibri" pitchFamily="34" charset="0"/>
                <a:ea typeface="Calibri" pitchFamily="34" charset="-122"/>
                <a:cs typeface="Calibri" pitchFamily="34" charset="-120"/>
              </a:rPr>
              <a:t>Verm1 reference implementation contributed by Giuseppe Coviello</a:t>
            </a:r>
            <a:endParaRPr lang="en-US" sz="1200" dirty="0"/>
          </a:p>
        </p:txBody>
      </p:sp>
      <p:sp>
        <p:nvSpPr>
          <p:cNvPr id="13" name="Text 11"/>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Lecture deck. The listings, the complete program and how to test it are in the code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17-Computer_Architecture-Verm1_Part_3-Code.pptx</a:t>
            </a:r>
            <a:endParaRPr lang="en-US" sz="1300" dirty="0"/>
          </a:p>
        </p:txBody>
      </p:sp>
      <p:sp>
        <p:nvSpPr>
          <p:cNvPr id="14" name="Shape 12"/>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5" name="Image 0" descr="/Users/raffaelemontella/devel/riscv-prg32/computer-architecture-with-prg32/tools/assets/verm1_p3_play.png">    </p:cNvPr>
          <p:cNvPicPr>
            <a:picLocks noChangeAspect="1"/>
          </p:cNvPicPr>
          <p:nvPr/>
        </p:nvPicPr>
        <p:blipFill>
          <a:blip r:embed="rId1"/>
          <a:stretch>
            <a:fillRect/>
          </a:stretch>
        </p:blipFill>
        <p:spPr>
          <a:xfrm>
            <a:off x="8716975" y="4280535"/>
            <a:ext cx="2834640" cy="1771650"/>
          </a:xfrm>
          <a:prstGeom prst="rect">
            <a:avLst/>
          </a:prstGeom>
        </p:spPr>
      </p:pic>
      <p:sp>
        <p:nvSpPr>
          <p:cNvPr id="16" name="Shape 13"/>
          <p:cNvSpPr/>
          <p:nvPr/>
        </p:nvSpPr>
        <p:spPr>
          <a:xfrm>
            <a:off x="9690303" y="91440"/>
            <a:ext cx="1952752" cy="274320"/>
          </a:xfrm>
          <a:prstGeom prst="rect">
            <a:avLst/>
          </a:prstGeom>
          <a:solidFill>
            <a:srgbClr val="F3E8FF"/>
          </a:solidFill>
          <a:ln w="12700">
            <a:solidFill>
              <a:srgbClr val="7E22CE"/>
            </a:solidFill>
            <a:prstDash val="dash"/>
          </a:ln>
        </p:spPr>
      </p:sp>
      <p:sp>
        <p:nvSpPr>
          <p:cNvPr id="17" name="Shape 14"/>
          <p:cNvSpPr/>
          <p:nvPr/>
        </p:nvSpPr>
        <p:spPr>
          <a:xfrm>
            <a:off x="9717735" y="128016"/>
            <a:ext cx="45720" cy="45720"/>
          </a:xfrm>
          <a:prstGeom prst="rect">
            <a:avLst/>
          </a:prstGeom>
          <a:solidFill>
            <a:srgbClr val="7E22CE"/>
          </a:solidFill>
          <a:ln w="12700">
            <a:solidFill>
              <a:srgbClr val="7E22CE"/>
            </a:solidFill>
            <a:prstDash val="solid"/>
          </a:ln>
        </p:spPr>
      </p:sp>
      <p:sp>
        <p:nvSpPr>
          <p:cNvPr id="18" name="Shape 15"/>
          <p:cNvSpPr/>
          <p:nvPr/>
        </p:nvSpPr>
        <p:spPr>
          <a:xfrm>
            <a:off x="9717735" y="205740"/>
            <a:ext cx="45720" cy="45720"/>
          </a:xfrm>
          <a:prstGeom prst="rect">
            <a:avLst/>
          </a:prstGeom>
          <a:solidFill>
            <a:srgbClr val="7E22CE"/>
          </a:solidFill>
          <a:ln w="12700">
            <a:solidFill>
              <a:srgbClr val="7E22CE"/>
            </a:solidFill>
            <a:prstDash val="solid"/>
          </a:ln>
        </p:spPr>
      </p:sp>
      <p:sp>
        <p:nvSpPr>
          <p:cNvPr id="19" name="Shape 16"/>
          <p:cNvSpPr/>
          <p:nvPr/>
        </p:nvSpPr>
        <p:spPr>
          <a:xfrm>
            <a:off x="9717735" y="283464"/>
            <a:ext cx="45720" cy="45720"/>
          </a:xfrm>
          <a:prstGeom prst="rect">
            <a:avLst/>
          </a:prstGeom>
          <a:solidFill>
            <a:srgbClr val="7E22CE"/>
          </a:solidFill>
          <a:ln w="12700">
            <a:solidFill>
              <a:srgbClr val="7E22CE"/>
            </a:solidFill>
            <a:prstDash val="solid"/>
          </a:ln>
        </p:spPr>
      </p:sp>
      <p:pic>
        <p:nvPicPr>
          <p:cNvPr id="20"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21" name="Text 17"/>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2" name="Shape 18"/>
          <p:cNvSpPr/>
          <p:nvPr/>
        </p:nvSpPr>
        <p:spPr>
          <a:xfrm>
            <a:off x="8407349" y="91440"/>
            <a:ext cx="1173226" cy="274320"/>
          </a:xfrm>
          <a:prstGeom prst="rect">
            <a:avLst/>
          </a:prstGeom>
          <a:solidFill>
            <a:srgbClr val="FEF3C7"/>
          </a:solidFill>
          <a:ln w="12700">
            <a:solidFill>
              <a:srgbClr val="B45309"/>
            </a:solidFill>
            <a:prstDash val="solid"/>
          </a:ln>
        </p:spPr>
      </p:sp>
      <p:sp>
        <p:nvSpPr>
          <p:cNvPr id="23" name="Shape 19"/>
          <p:cNvSpPr/>
          <p:nvPr/>
        </p:nvSpPr>
        <p:spPr>
          <a:xfrm>
            <a:off x="8407349" y="91440"/>
            <a:ext cx="27432" cy="274320"/>
          </a:xfrm>
          <a:prstGeom prst="rect">
            <a:avLst/>
          </a:prstGeom>
          <a:solidFill>
            <a:srgbClr val="B45309"/>
          </a:solidFill>
          <a:ln w="12700">
            <a:solidFill>
              <a:srgbClr val="B45309"/>
            </a:solidFill>
            <a:prstDash val="solid"/>
          </a:ln>
        </p:spPr>
      </p:sp>
      <p:sp>
        <p:nvSpPr>
          <p:cNvPr id="24" name="Shape 20"/>
          <p:cNvSpPr/>
          <p:nvPr/>
        </p:nvSpPr>
        <p:spPr>
          <a:xfrm>
            <a:off x="8462213" y="91440"/>
            <a:ext cx="27432" cy="274320"/>
          </a:xfrm>
          <a:prstGeom prst="rect">
            <a:avLst/>
          </a:prstGeom>
          <a:solidFill>
            <a:srgbClr val="B45309"/>
          </a:solidFill>
          <a:ln w="12700">
            <a:solidFill>
              <a:srgbClr val="B45309"/>
            </a:solidFill>
            <a:prstDash val="solid"/>
          </a:ln>
        </p:spPr>
      </p:sp>
      <p:pic>
        <p:nvPicPr>
          <p:cNvPr id="25"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6" name="Text 21"/>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7" name="Shape 22"/>
          <p:cNvSpPr/>
          <p:nvPr/>
        </p:nvSpPr>
        <p:spPr>
          <a:xfrm>
            <a:off x="6518097" y="91440"/>
            <a:ext cx="1779524" cy="274320"/>
          </a:xfrm>
          <a:prstGeom prst="rect">
            <a:avLst/>
          </a:prstGeom>
          <a:solidFill>
            <a:srgbClr val="E0F2FE"/>
          </a:solidFill>
          <a:ln w="12700">
            <a:solidFill>
              <a:srgbClr val="0369A1"/>
            </a:solidFill>
            <a:prstDash val="solid"/>
          </a:ln>
        </p:spPr>
      </p:sp>
      <p:sp>
        <p:nvSpPr>
          <p:cNvPr id="28" name="Shape 23"/>
          <p:cNvSpPr/>
          <p:nvPr/>
        </p:nvSpPr>
        <p:spPr>
          <a:xfrm>
            <a:off x="6518097" y="91440"/>
            <a:ext cx="73152" cy="274320"/>
          </a:xfrm>
          <a:prstGeom prst="rect">
            <a:avLst/>
          </a:prstGeom>
          <a:solidFill>
            <a:srgbClr val="0369A1"/>
          </a:solidFill>
          <a:ln w="12700">
            <a:solidFill>
              <a:srgbClr val="0369A1"/>
            </a:solidFill>
            <a:prstDash val="solid"/>
          </a:ln>
        </p:spPr>
      </p:sp>
      <p:pic>
        <p:nvPicPr>
          <p:cNvPr id="29"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30" name="Text 24"/>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you will have by the end</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worm with a body that follows the head and grows by one cell at every meal</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game that can be lost: the worm must not bite itself</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Three screens: a title, the game, a game over, linked by button A</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Food that never appears on the worm</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best score, kept as long as the cartridge stays in memory</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Part 3 takes from the lectures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455005"/>
                <a:gridCol w="5092518"/>
                <a:gridCol w="4546891"/>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From</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Idea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Where it appears today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Lecture 13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 finite state machine: states, inputs, transitions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TITLE, PLAY, OVER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Lecture 13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an edge is a change, not a level</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 pressed now and not one frame ago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Lecture 14</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 register keeps a value for the next clock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prev_btn: the buttons of the last frame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Lecture 15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memory is an array of bytes: address = base + index</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body, the map of the world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Lecture 16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what stays in the file and what lives in RAM</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.rodata and .data; the best score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Where you are going</a:t>
            </a:r>
            <a:endParaRPr lang="en-US" sz="3200" dirty="0"/>
          </a:p>
        </p:txBody>
      </p:sp>
      <p:sp>
        <p:nvSpPr>
          <p:cNvPr id="3" name="Shape 1"/>
          <p:cNvSpPr/>
          <p:nvPr/>
        </p:nvSpPr>
        <p:spPr>
          <a:xfrm>
            <a:off x="548640" y="1417320"/>
            <a:ext cx="3515258" cy="3931920"/>
          </a:xfrm>
          <a:prstGeom prst="roundRect">
            <a:avLst>
              <a:gd name="adj" fmla="val 2081"/>
            </a:avLst>
          </a:prstGeom>
          <a:solidFill>
            <a:srgbClr val="EEF2F4"/>
          </a:solidFill>
          <a:ln w="12700">
            <a:solidFill>
              <a:srgbClr val="EEF2F4"/>
            </a:solidFill>
            <a:prstDash val="solid"/>
          </a:ln>
        </p:spPr>
      </p:sp>
      <p:pic>
        <p:nvPicPr>
          <p:cNvPr id="4" name="Image 0" descr="/Users/raffaelemontella/devel/riscv-prg32/computer-architecture-with-prg32/tools/assets/verm1_p3_title.png">    </p:cNvPr>
          <p:cNvPicPr>
            <a:picLocks noChangeAspect="1"/>
          </p:cNvPicPr>
          <p:nvPr/>
        </p:nvPicPr>
        <p:blipFill>
          <a:blip r:embed="rId1"/>
          <a:stretch>
            <a:fillRect/>
          </a:stretch>
        </p:blipFill>
        <p:spPr>
          <a:xfrm>
            <a:off x="685800" y="2073307"/>
            <a:ext cx="3240938" cy="2025587"/>
          </a:xfrm>
          <a:prstGeom prst="rect">
            <a:avLst/>
          </a:prstGeom>
        </p:spPr>
      </p:pic>
      <p:sp>
        <p:nvSpPr>
          <p:cNvPr id="5" name="Text 2"/>
          <p:cNvSpPr txBox="1"/>
          <p:nvPr/>
        </p:nvSpPr>
        <p:spPr>
          <a:xfrm>
            <a:off x="685800" y="4663440"/>
            <a:ext cx="324093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TITLE</a:t>
            </a:r>
            <a:endParaRPr lang="en-US" sz="1500" dirty="0"/>
          </a:p>
        </p:txBody>
      </p:sp>
      <p:sp>
        <p:nvSpPr>
          <p:cNvPr id="6" name="Shape 3"/>
          <p:cNvSpPr/>
          <p:nvPr/>
        </p:nvSpPr>
        <p:spPr>
          <a:xfrm>
            <a:off x="4338218" y="1417320"/>
            <a:ext cx="3515258" cy="3931920"/>
          </a:xfrm>
          <a:prstGeom prst="roundRect">
            <a:avLst>
              <a:gd name="adj" fmla="val 2081"/>
            </a:avLst>
          </a:prstGeom>
          <a:solidFill>
            <a:srgbClr val="EEF2F4"/>
          </a:solidFill>
          <a:ln w="12700">
            <a:solidFill>
              <a:srgbClr val="EEF2F4"/>
            </a:solidFill>
            <a:prstDash val="solid"/>
          </a:ln>
        </p:spPr>
      </p:sp>
      <p:pic>
        <p:nvPicPr>
          <p:cNvPr id="7" name="Image 1" descr="/Users/raffaelemontella/devel/riscv-prg32/computer-architecture-with-prg32/tools/assets/verm1_p3_play.png">    </p:cNvPr>
          <p:cNvPicPr>
            <a:picLocks noChangeAspect="1"/>
          </p:cNvPicPr>
          <p:nvPr/>
        </p:nvPicPr>
        <p:blipFill>
          <a:blip r:embed="rId2"/>
          <a:stretch>
            <a:fillRect/>
          </a:stretch>
        </p:blipFill>
        <p:spPr>
          <a:xfrm>
            <a:off x="4475378" y="2073307"/>
            <a:ext cx="3240938" cy="2025587"/>
          </a:xfrm>
          <a:prstGeom prst="rect">
            <a:avLst/>
          </a:prstGeom>
        </p:spPr>
      </p:pic>
      <p:sp>
        <p:nvSpPr>
          <p:cNvPr id="8" name="Text 4"/>
          <p:cNvSpPr txBox="1"/>
          <p:nvPr/>
        </p:nvSpPr>
        <p:spPr>
          <a:xfrm>
            <a:off x="4475378" y="4663440"/>
            <a:ext cx="324093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PLAY: seven cells after four meals</a:t>
            </a:r>
            <a:endParaRPr lang="en-US" sz="1500" dirty="0"/>
          </a:p>
        </p:txBody>
      </p:sp>
      <p:sp>
        <p:nvSpPr>
          <p:cNvPr id="9" name="Shape 5"/>
          <p:cNvSpPr/>
          <p:nvPr/>
        </p:nvSpPr>
        <p:spPr>
          <a:xfrm>
            <a:off x="8127797" y="1417320"/>
            <a:ext cx="3515258" cy="3931920"/>
          </a:xfrm>
          <a:prstGeom prst="roundRect">
            <a:avLst>
              <a:gd name="adj" fmla="val 2081"/>
            </a:avLst>
          </a:prstGeom>
          <a:solidFill>
            <a:srgbClr val="EEF2F4"/>
          </a:solidFill>
          <a:ln w="12700">
            <a:solidFill>
              <a:srgbClr val="EEF2F4"/>
            </a:solidFill>
            <a:prstDash val="solid"/>
          </a:ln>
        </p:spPr>
      </p:sp>
      <p:pic>
        <p:nvPicPr>
          <p:cNvPr id="10" name="Image 2" descr="/Users/raffaelemontella/devel/riscv-prg32/computer-architecture-with-prg32/tools/assets/verm1_p3_over.png">    </p:cNvPr>
          <p:cNvPicPr>
            <a:picLocks noChangeAspect="1"/>
          </p:cNvPicPr>
          <p:nvPr/>
        </p:nvPicPr>
        <p:blipFill>
          <a:blip r:embed="rId3"/>
          <a:stretch>
            <a:fillRect/>
          </a:stretch>
        </p:blipFill>
        <p:spPr>
          <a:xfrm>
            <a:off x="8264957" y="2073307"/>
            <a:ext cx="3240938" cy="2025587"/>
          </a:xfrm>
          <a:prstGeom prst="rect">
            <a:avLst/>
          </a:prstGeom>
        </p:spPr>
      </p:pic>
      <p:sp>
        <p:nvSpPr>
          <p:cNvPr id="11" name="Text 6"/>
          <p:cNvSpPr txBox="1"/>
          <p:nvPr/>
        </p:nvSpPr>
        <p:spPr>
          <a:xfrm>
            <a:off x="8264957" y="4663440"/>
            <a:ext cx="324093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OVER</a:t>
            </a:r>
            <a:endParaRPr lang="en-US" sz="1500" dirty="0"/>
          </a:p>
        </p:txBody>
      </p:sp>
      <p:sp>
        <p:nvSpPr>
          <p:cNvPr id="12" name="Text 7"/>
          <p:cNvSpPr txBox="1"/>
          <p:nvPr/>
        </p:nvSpPr>
        <p:spPr>
          <a:xfrm>
            <a:off x="548640" y="5486400"/>
            <a:ext cx="11094415" cy="685800"/>
          </a:xfrm>
          <a:prstGeom prst="rect">
            <a:avLst/>
          </a:prstGeom>
          <a:noFill/>
          <a:ln/>
        </p:spPr>
        <p:txBody>
          <a:bodyPr wrap="square" lIns="0" tIns="0" rIns="0" bIns="0" rtlCol="0" anchor="ctr"/>
          <a:lstStyle/>
          <a:p>
            <a:pPr indent="0" marL="0">
              <a:buNone/>
            </a:pPr>
            <a:r>
              <a:rPr lang="en-US" sz="1900" dirty="0">
                <a:solidFill>
                  <a:srgbClr val="1B2530"/>
                </a:solidFill>
                <a:latin typeface="Calibri" pitchFamily="34" charset="0"/>
                <a:ea typeface="Calibri" pitchFamily="34" charset="-122"/>
                <a:cs typeface="Calibri" pitchFamily="34" charset="-120"/>
              </a:rPr>
              <a:t>Three screens, one program. Start from a Part 2 that runs; if yours does not, copy verm1_part2.S.</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body is a ring of 256 entries</a:t>
            </a:r>
            <a:endParaRPr lang="en-US" sz="3200" dirty="0"/>
          </a:p>
        </p:txBody>
      </p:sp>
      <p:sp>
        <p:nvSpPr>
          <p:cNvPr id="3" name="Shape 1"/>
          <p:cNvSpPr/>
          <p:nvPr/>
        </p:nvSpPr>
        <p:spPr>
          <a:xfrm>
            <a:off x="8616010" y="91440"/>
            <a:ext cx="3027045" cy="274320"/>
          </a:xfrm>
          <a:prstGeom prst="rect">
            <a:avLst/>
          </a:prstGeom>
          <a:solidFill>
            <a:srgbClr val="E0F2FE"/>
          </a:solidFill>
          <a:ln w="12700">
            <a:solidFill>
              <a:srgbClr val="0369A1"/>
            </a:solidFill>
            <a:prstDash val="solid"/>
          </a:ln>
        </p:spPr>
      </p:sp>
      <p:sp>
        <p:nvSpPr>
          <p:cNvPr id="4" name="Shape 2"/>
          <p:cNvSpPr/>
          <p:nvPr/>
        </p:nvSpPr>
        <p:spPr>
          <a:xfrm>
            <a:off x="8616010" y="91440"/>
            <a:ext cx="73152" cy="274320"/>
          </a:xfrm>
          <a:prstGeom prst="rect">
            <a:avLst/>
          </a:prstGeom>
          <a:solidFill>
            <a:srgbClr val="0369A1"/>
          </a:solidFill>
          <a:ln w="12700">
            <a:solidFill>
              <a:srgbClr val="0369A1"/>
            </a:solidFill>
            <a:prstDash val="solid"/>
          </a:ln>
        </p:spPr>
      </p:sp>
      <p:pic>
        <p:nvPicPr>
          <p:cNvPr id="5"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6" name="Text 3"/>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arrays in memory</a:t>
            </a:r>
            <a:endParaRPr lang="en-US" sz="1100" dirty="0"/>
          </a:p>
        </p:txBody>
      </p:sp>
      <p:pic>
        <p:nvPicPr>
          <p:cNvPr id="8" name="Image 1" descr="preencoded.png">    </p:cNvPr>
          <p:cNvPicPr>
            <a:picLocks noChangeAspect="1"/>
          </p:cNvPicPr>
          <p:nvPr/>
        </p:nvPicPr>
        <p:blipFill>
          <a:blip r:embed="rId2"/>
          <a:stretch>
            <a:fillRect/>
          </a:stretch>
        </p:blipFill>
        <p:spPr>
          <a:xfrm>
            <a:off x="548640" y="1424701"/>
            <a:ext cx="5760720" cy="1558006"/>
          </a:xfrm>
          <a:prstGeom prst="rect">
            <a:avLst/>
          </a:prstGeom>
        </p:spPr>
      </p:pic>
      <p:pic>
        <p:nvPicPr>
          <p:cNvPr id="9" name="Image 2" descr="preencoded.png">    </p:cNvPr>
          <p:cNvPicPr>
            <a:picLocks noChangeAspect="1"/>
          </p:cNvPicPr>
          <p:nvPr/>
        </p:nvPicPr>
        <p:blipFill>
          <a:blip r:embed="rId3"/>
          <a:stretch>
            <a:fillRect/>
          </a:stretch>
        </p:blipFill>
        <p:spPr>
          <a:xfrm>
            <a:off x="548640" y="3070621"/>
            <a:ext cx="5760720" cy="1558006"/>
          </a:xfrm>
          <a:prstGeom prst="rect">
            <a:avLst/>
          </a:prstGeom>
        </p:spPr>
      </p:pic>
      <p:pic>
        <p:nvPicPr>
          <p:cNvPr id="10" name="Image 3" descr="preencoded.png">    </p:cNvPr>
          <p:cNvPicPr>
            <a:picLocks noChangeAspect="1"/>
          </p:cNvPicPr>
          <p:nvPr/>
        </p:nvPicPr>
        <p:blipFill>
          <a:blip r:embed="rId4"/>
          <a:stretch>
            <a:fillRect/>
          </a:stretch>
        </p:blipFill>
        <p:spPr>
          <a:xfrm>
            <a:off x="548640" y="4716541"/>
            <a:ext cx="5760720" cy="1558006"/>
          </a:xfrm>
          <a:prstGeom prst="rect">
            <a:avLst/>
          </a:prstGeom>
        </p:spPr>
      </p:pic>
      <p:sp>
        <p:nvSpPr>
          <p:cNvPr id="11" name="Shape 4"/>
          <p:cNvSpPr/>
          <p:nvPr/>
        </p:nvSpPr>
        <p:spPr>
          <a:xfrm>
            <a:off x="6492240" y="1515999"/>
            <a:ext cx="146304" cy="146304"/>
          </a:xfrm>
          <a:prstGeom prst="rect">
            <a:avLst/>
          </a:prstGeom>
          <a:solidFill>
            <a:srgbClr val="0E7C86"/>
          </a:solidFill>
          <a:ln w="12700">
            <a:solidFill>
              <a:srgbClr val="0E7C86"/>
            </a:solidFill>
            <a:prstDash val="solid"/>
          </a:ln>
        </p:spPr>
      </p:sp>
      <p:sp>
        <p:nvSpPr>
          <p:cNvPr id="12" name="Text 5"/>
          <p:cNvSpPr txBox="1"/>
          <p:nvPr/>
        </p:nvSpPr>
        <p:spPr>
          <a:xfrm>
            <a:off x="6876288" y="1417320"/>
            <a:ext cx="4766767"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Two arrays of bytes, body_x and body_y: entry k holds the cell of one segment</a:t>
            </a:r>
            <a:endParaRPr lang="en-US" sz="2100" dirty="0"/>
          </a:p>
        </p:txBody>
      </p:sp>
      <p:sp>
        <p:nvSpPr>
          <p:cNvPr id="13" name="Shape 6"/>
          <p:cNvSpPr/>
          <p:nvPr/>
        </p:nvSpPr>
        <p:spPr>
          <a:xfrm>
            <a:off x="6492240" y="2628328"/>
            <a:ext cx="146304" cy="146304"/>
          </a:xfrm>
          <a:prstGeom prst="rect">
            <a:avLst/>
          </a:prstGeom>
          <a:solidFill>
            <a:srgbClr val="C7791B"/>
          </a:solidFill>
          <a:ln w="12700">
            <a:solidFill>
              <a:srgbClr val="C7791B"/>
            </a:solidFill>
            <a:prstDash val="solid"/>
          </a:ln>
        </p:spPr>
      </p:sp>
      <p:sp>
        <p:nvSpPr>
          <p:cNvPr id="14" name="Text 7"/>
          <p:cNvSpPr txBox="1"/>
          <p:nvPr/>
        </p:nvSpPr>
        <p:spPr>
          <a:xfrm>
            <a:off x="6876288" y="2529650"/>
            <a:ext cx="4766767"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Nothing is ever shifted: a step writes one new entry and moves an index</a:t>
            </a:r>
            <a:endParaRPr lang="en-US" sz="2100" dirty="0"/>
          </a:p>
        </p:txBody>
      </p:sp>
      <p:sp>
        <p:nvSpPr>
          <p:cNvPr id="15" name="Shape 8"/>
          <p:cNvSpPr/>
          <p:nvPr/>
        </p:nvSpPr>
        <p:spPr>
          <a:xfrm>
            <a:off x="6492240" y="3740658"/>
            <a:ext cx="146304" cy="146304"/>
          </a:xfrm>
          <a:prstGeom prst="rect">
            <a:avLst/>
          </a:prstGeom>
          <a:solidFill>
            <a:srgbClr val="0E7C86"/>
          </a:solidFill>
          <a:ln w="12700">
            <a:solidFill>
              <a:srgbClr val="0E7C86"/>
            </a:solidFill>
            <a:prstDash val="solid"/>
          </a:ln>
        </p:spPr>
      </p:sp>
      <p:sp>
        <p:nvSpPr>
          <p:cNvPr id="16" name="Text 9"/>
          <p:cNvSpPr txBox="1"/>
          <p:nvPr/>
        </p:nvSpPr>
        <p:spPr>
          <a:xfrm>
            <a:off x="6876288" y="3641979"/>
            <a:ext cx="4766767" cy="956310"/>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Two numbers describe the worm</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head_i: the entry of the head</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length: how many entries are in use</a:t>
            </a:r>
            <a:endParaRPr lang="en-US" sz="2100" dirty="0"/>
          </a:p>
        </p:txBody>
      </p:sp>
      <p:sp>
        <p:nvSpPr>
          <p:cNvPr id="17" name="Shape 10"/>
          <p:cNvSpPr/>
          <p:nvPr/>
        </p:nvSpPr>
        <p:spPr>
          <a:xfrm>
            <a:off x="6492240" y="4833176"/>
            <a:ext cx="146304" cy="146304"/>
          </a:xfrm>
          <a:prstGeom prst="rect">
            <a:avLst/>
          </a:prstGeom>
          <a:solidFill>
            <a:srgbClr val="C7791B"/>
          </a:solidFill>
          <a:ln w="12700">
            <a:solidFill>
              <a:srgbClr val="C7791B"/>
            </a:solidFill>
            <a:prstDash val="solid"/>
          </a:ln>
        </p:spPr>
      </p:sp>
      <p:sp>
        <p:nvSpPr>
          <p:cNvPr id="18" name="Text 11"/>
          <p:cNvSpPr txBox="1"/>
          <p:nvPr/>
        </p:nvSpPr>
        <p:spPr>
          <a:xfrm>
            <a:off x="6876288" y="4734497"/>
            <a:ext cx="47667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tail is entry head_i - length + 1</a:t>
            </a:r>
            <a:endParaRPr lang="en-US" sz="2100" dirty="0"/>
          </a:p>
        </p:txBody>
      </p:sp>
      <p:sp>
        <p:nvSpPr>
          <p:cNvPr id="19" name="Shape 12"/>
          <p:cNvSpPr/>
          <p:nvPr/>
        </p:nvSpPr>
        <p:spPr>
          <a:xfrm>
            <a:off x="6492240" y="5620131"/>
            <a:ext cx="146304" cy="146304"/>
          </a:xfrm>
          <a:prstGeom prst="rect">
            <a:avLst/>
          </a:prstGeom>
          <a:solidFill>
            <a:srgbClr val="0E7C86"/>
          </a:solidFill>
          <a:ln w="12700">
            <a:solidFill>
              <a:srgbClr val="0E7C86"/>
            </a:solidFill>
            <a:prstDash val="solid"/>
          </a:ln>
        </p:spPr>
      </p:sp>
      <p:sp>
        <p:nvSpPr>
          <p:cNvPr id="20" name="Text 13"/>
          <p:cNvSpPr txBox="1"/>
          <p:nvPr/>
        </p:nvSpPr>
        <p:spPr>
          <a:xfrm>
            <a:off x="6876288" y="5521452"/>
            <a:ext cx="47667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After entry 255 comes entry 0: index AND 255. A ring</a:t>
            </a:r>
            <a:endParaRPr lang="en-US" sz="2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world is a map of 960 bytes</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Does the new head touch the body? Looking at every segment costs up to 255 comparisons</a:t>
            </a:r>
            <a:endParaRPr lang="en-US" sz="2200" dirty="0"/>
          </a:p>
        </p:txBody>
      </p:sp>
      <p:sp>
        <p:nvSpPr>
          <p:cNvPr id="5" name="Shape 3"/>
          <p:cNvSpPr/>
          <p:nvPr/>
        </p:nvSpPr>
        <p:spPr>
          <a:xfrm>
            <a:off x="548640" y="246176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55342"/>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Instead keep a map: one byte per cell, 1 if a segment is there, 0 if not</a:t>
            </a:r>
            <a:endParaRPr lang="en-US" sz="2200" dirty="0"/>
          </a:p>
        </p:txBody>
      </p:sp>
      <p:sp>
        <p:nvSpPr>
          <p:cNvPr id="7" name="Shape 5"/>
          <p:cNvSpPr/>
          <p:nvPr/>
        </p:nvSpPr>
        <p:spPr>
          <a:xfrm>
            <a:off x="548640" y="3399790"/>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293364"/>
            <a:ext cx="6565392" cy="1002792"/>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cell in column c of row r is byte number</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r x 40 + c, from 0 to 959</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its address is grid + r x 40 + c</a:t>
            </a:r>
            <a:endParaRPr lang="en-US" sz="2200" dirty="0"/>
          </a:p>
        </p:txBody>
      </p:sp>
      <p:sp>
        <p:nvSpPr>
          <p:cNvPr id="9" name="Shape 7"/>
          <p:cNvSpPr/>
          <p:nvPr/>
        </p:nvSpPr>
        <p:spPr>
          <a:xfrm>
            <a:off x="548640" y="4658868"/>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552442"/>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step sets one byte, the new head, and clears one, the old tail</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collision test is a single load, whatever the length of the worm</a:t>
            </a:r>
            <a:endParaRPr lang="en-US" sz="22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5900" b="1" dirty="0">
                <a:solidFill>
                  <a:srgbClr val="FFFFFF"/>
                </a:solidFill>
                <a:latin typeface="Cambria" pitchFamily="34" charset="0"/>
                <a:ea typeface="Cambria" pitchFamily="34" charset="-122"/>
                <a:cs typeface="Cambria" pitchFamily="34" charset="-120"/>
              </a:rPr>
              <a:t>r x 40 + c</a:t>
            </a:r>
            <a:endParaRPr lang="en-US" sz="59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A two-dimensional world in a one-dimensional memory: the address computation of Lecture 15</a:t>
            </a:r>
            <a:endParaRPr lang="en-US" sz="1900" dirty="0"/>
          </a:p>
        </p:txBody>
      </p:sp>
      <p:sp>
        <p:nvSpPr>
          <p:cNvPr id="16" name="Shape 14"/>
          <p:cNvSpPr/>
          <p:nvPr/>
        </p:nvSpPr>
        <p:spPr>
          <a:xfrm>
            <a:off x="8616010" y="91440"/>
            <a:ext cx="3027045" cy="274320"/>
          </a:xfrm>
          <a:prstGeom prst="rect">
            <a:avLst/>
          </a:prstGeom>
          <a:solidFill>
            <a:srgbClr val="E0F2FE"/>
          </a:solidFill>
          <a:ln w="12700">
            <a:solidFill>
              <a:srgbClr val="0369A1"/>
            </a:solidFill>
            <a:prstDash val="solid"/>
          </a:ln>
        </p:spPr>
      </p:sp>
      <p:sp>
        <p:nvSpPr>
          <p:cNvPr id="17" name="Shape 15"/>
          <p:cNvSpPr/>
          <p:nvPr/>
        </p:nvSpPr>
        <p:spPr>
          <a:xfrm>
            <a:off x="8616010"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19" name="Text 16"/>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arrays in memory</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game is a machine with three states</a:t>
            </a:r>
            <a:endParaRPr lang="en-US" sz="3200" dirty="0"/>
          </a:p>
        </p:txBody>
      </p:sp>
      <p:sp>
        <p:nvSpPr>
          <p:cNvPr id="3" name="Shape 1"/>
          <p:cNvSpPr/>
          <p:nvPr/>
        </p:nvSpPr>
        <p:spPr>
          <a:xfrm>
            <a:off x="8287715" y="91440"/>
            <a:ext cx="3355340" cy="274320"/>
          </a:xfrm>
          <a:prstGeom prst="rect">
            <a:avLst/>
          </a:prstGeom>
          <a:solidFill>
            <a:srgbClr val="E0F2FE"/>
          </a:solidFill>
          <a:ln w="12700">
            <a:solidFill>
              <a:srgbClr val="0369A1"/>
            </a:solidFill>
            <a:prstDash val="solid"/>
          </a:ln>
        </p:spPr>
      </p:sp>
      <p:sp>
        <p:nvSpPr>
          <p:cNvPr id="4" name="Shape 2"/>
          <p:cNvSpPr/>
          <p:nvPr/>
        </p:nvSpPr>
        <p:spPr>
          <a:xfrm>
            <a:off x="8287715" y="91440"/>
            <a:ext cx="73152" cy="274320"/>
          </a:xfrm>
          <a:prstGeom prst="rect">
            <a:avLst/>
          </a:prstGeom>
          <a:solidFill>
            <a:srgbClr val="0369A1"/>
          </a:solidFill>
          <a:ln w="12700">
            <a:solidFill>
              <a:srgbClr val="0369A1"/>
            </a:solidFill>
            <a:prstDash val="solid"/>
          </a:ln>
        </p:spPr>
      </p:sp>
      <p:pic>
        <p:nvPicPr>
          <p:cNvPr id="5"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6" name="Text 3"/>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finite-state machines</a:t>
            </a:r>
            <a:endParaRPr lang="en-US" sz="1100" dirty="0"/>
          </a:p>
        </p:txBody>
      </p:sp>
      <p:pic>
        <p:nvPicPr>
          <p:cNvPr id="8" name="Image 1" descr="preencoded.png">    </p:cNvPr>
          <p:cNvPicPr>
            <a:picLocks noChangeAspect="1"/>
          </p:cNvPicPr>
          <p:nvPr/>
        </p:nvPicPr>
        <p:blipFill>
          <a:blip r:embed="rId2"/>
          <a:stretch>
            <a:fillRect/>
          </a:stretch>
        </p:blipFill>
        <p:spPr>
          <a:xfrm>
            <a:off x="560682" y="1417320"/>
            <a:ext cx="5736635" cy="3154680"/>
          </a:xfrm>
          <a:prstGeom prst="rect">
            <a:avLst/>
          </a:prstGeom>
        </p:spPr>
      </p:pic>
      <p:sp>
        <p:nvSpPr>
          <p:cNvPr id="9" name="Shape 4"/>
          <p:cNvSpPr/>
          <p:nvPr/>
        </p:nvSpPr>
        <p:spPr>
          <a:xfrm>
            <a:off x="6766560" y="1523746"/>
            <a:ext cx="146304" cy="146304"/>
          </a:xfrm>
          <a:prstGeom prst="rect">
            <a:avLst/>
          </a:prstGeom>
          <a:solidFill>
            <a:srgbClr val="0E7C86"/>
          </a:solidFill>
          <a:ln w="12700">
            <a:solidFill>
              <a:srgbClr val="0E7C86"/>
            </a:solidFill>
            <a:prstDash val="solid"/>
          </a:ln>
        </p:spPr>
      </p:sp>
      <p:sp>
        <p:nvSpPr>
          <p:cNvPr id="10" name="Text 5"/>
          <p:cNvSpPr txBox="1"/>
          <p:nvPr/>
        </p:nvSpPr>
        <p:spPr>
          <a:xfrm>
            <a:off x="7150608" y="1417320"/>
            <a:ext cx="449244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state is one word in memory</a:t>
            </a:r>
            <a:endParaRPr lang="en-US" sz="2200" dirty="0"/>
          </a:p>
        </p:txBody>
      </p:sp>
      <p:sp>
        <p:nvSpPr>
          <p:cNvPr id="11" name="Shape 6"/>
          <p:cNvSpPr/>
          <p:nvPr/>
        </p:nvSpPr>
        <p:spPr>
          <a:xfrm>
            <a:off x="6766560" y="2120815"/>
            <a:ext cx="146304" cy="146304"/>
          </a:xfrm>
          <a:prstGeom prst="rect">
            <a:avLst/>
          </a:prstGeom>
          <a:solidFill>
            <a:srgbClr val="C7791B"/>
          </a:solidFill>
          <a:ln w="12700">
            <a:solidFill>
              <a:srgbClr val="C7791B"/>
            </a:solidFill>
            <a:prstDash val="solid"/>
          </a:ln>
        </p:spPr>
      </p:sp>
      <p:sp>
        <p:nvSpPr>
          <p:cNvPr id="12" name="Text 7"/>
          <p:cNvSpPr txBox="1"/>
          <p:nvPr/>
        </p:nvSpPr>
        <p:spPr>
          <a:xfrm>
            <a:off x="7150608" y="2014389"/>
            <a:ext cx="44924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update looks at the state first, then at the inputs</a:t>
            </a:r>
            <a:endParaRPr lang="en-US" sz="2200" dirty="0"/>
          </a:p>
        </p:txBody>
      </p:sp>
      <p:sp>
        <p:nvSpPr>
          <p:cNvPr id="13" name="Shape 8"/>
          <p:cNvSpPr/>
          <p:nvPr/>
        </p:nvSpPr>
        <p:spPr>
          <a:xfrm>
            <a:off x="6766560" y="3058753"/>
            <a:ext cx="146304" cy="146304"/>
          </a:xfrm>
          <a:prstGeom prst="rect">
            <a:avLst/>
          </a:prstGeom>
          <a:solidFill>
            <a:srgbClr val="0E7C86"/>
          </a:solidFill>
          <a:ln w="12700">
            <a:solidFill>
              <a:srgbClr val="0E7C86"/>
            </a:solidFill>
            <a:prstDash val="solid"/>
          </a:ln>
        </p:spPr>
      </p:sp>
      <p:sp>
        <p:nvSpPr>
          <p:cNvPr id="14" name="Text 9"/>
          <p:cNvSpPr txBox="1"/>
          <p:nvPr/>
        </p:nvSpPr>
        <p:spPr>
          <a:xfrm>
            <a:off x="7150608" y="2952327"/>
            <a:ext cx="44924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pressed means: down now, up one frame ago</a:t>
            </a:r>
            <a:endParaRPr lang="en-US" sz="2200" dirty="0"/>
          </a:p>
        </p:txBody>
      </p:sp>
      <p:sp>
        <p:nvSpPr>
          <p:cNvPr id="15" name="Shape 10"/>
          <p:cNvSpPr/>
          <p:nvPr/>
        </p:nvSpPr>
        <p:spPr>
          <a:xfrm>
            <a:off x="6766560" y="3996690"/>
            <a:ext cx="146304" cy="146304"/>
          </a:xfrm>
          <a:prstGeom prst="rect">
            <a:avLst/>
          </a:prstGeom>
          <a:solidFill>
            <a:srgbClr val="C7791B"/>
          </a:solidFill>
          <a:ln w="12700">
            <a:solidFill>
              <a:srgbClr val="C7791B"/>
            </a:solidFill>
            <a:prstDash val="solid"/>
          </a:ln>
        </p:spPr>
      </p:sp>
      <p:sp>
        <p:nvSpPr>
          <p:cNvPr id="16" name="Text 11"/>
          <p:cNvSpPr txBox="1"/>
          <p:nvPr/>
        </p:nvSpPr>
        <p:spPr>
          <a:xfrm>
            <a:off x="7150608" y="3890264"/>
            <a:ext cx="44924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Holding A must not skip the title: an edge, not a level</a:t>
            </a:r>
            <a:endParaRPr lang="en-US" sz="2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4754880"/>
          <a:ext cx="11155680" cy="914400"/>
        </p:xfrm>
        <a:graphic>
          <a:graphicData uri="http://schemas.openxmlformats.org/drawingml/2006/table">
            <a:tbl>
              <a:tblPr/>
              <a:tblGrid>
                <a:gridCol w="2011680"/>
                <a:gridCol w="3108960"/>
                <a:gridCol w="2377440"/>
                <a:gridCol w="365760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Present state</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Next state</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Action</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400" b="1" dirty="0">
                          <a:solidFill>
                            <a:srgbClr val="1B2530"/>
                          </a:solidFill>
                          <a:latin typeface="Calibri" pitchFamily="34" charset="0"/>
                          <a:ea typeface="Calibri" pitchFamily="34" charset="-122"/>
                          <a:cs typeface="Calibri" pitchFamily="34" charset="-120"/>
                        </a:rPr>
                        <a:t>TITLE</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A pressed</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PLAY</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new_game</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400" b="1" dirty="0">
                          <a:solidFill>
                            <a:srgbClr val="1B2530"/>
                          </a:solidFill>
                          <a:latin typeface="Calibri" pitchFamily="34" charset="0"/>
                          <a:ea typeface="Calibri" pitchFamily="34" charset="-122"/>
                          <a:cs typeface="Calibri" pitchFamily="34" charset="-120"/>
                        </a:rPr>
                        <a:t>PLAY</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new head on the body</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OVER</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update the best score</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400" b="1" dirty="0">
                          <a:solidFill>
                            <a:srgbClr val="1B2530"/>
                          </a:solidFill>
                          <a:latin typeface="Calibri" pitchFamily="34" charset="0"/>
                          <a:ea typeface="Calibri" pitchFamily="34" charset="-122"/>
                          <a:cs typeface="Calibri" pitchFamily="34" charset="-120"/>
                        </a:rPr>
                        <a:t>OVER</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A pressed</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TITLE</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Watch the ring turn</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Run in debug mode, press A to start a game, then pause</a:t>
            </a:r>
            <a:endParaRPr lang="en-US" sz="2200" dirty="0"/>
          </a:p>
        </p:txBody>
      </p:sp>
      <p:sp>
        <p:nvSpPr>
          <p:cNvPr id="5" name="Text 3"/>
          <p:cNvSpPr txBox="1"/>
          <p:nvPr/>
        </p:nvSpPr>
        <p:spPr>
          <a:xfrm>
            <a:off x="548640" y="220167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18338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Press Update and put a breakpoint on the first instruction of step</a:t>
            </a:r>
            <a:endParaRPr lang="en-US" sz="2200" dirty="0"/>
          </a:p>
        </p:txBody>
      </p:sp>
      <p:sp>
        <p:nvSpPr>
          <p:cNvPr id="7" name="Text 5"/>
          <p:cNvSpPr txBox="1"/>
          <p:nvPr/>
        </p:nvSpPr>
        <p:spPr>
          <a:xfrm>
            <a:off x="548640" y="29677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29494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Resume: the program stops once per step of the worm, not once per frame</a:t>
            </a:r>
            <a:endParaRPr lang="en-US" sz="2200" dirty="0"/>
          </a:p>
        </p:txBody>
      </p:sp>
      <p:sp>
        <p:nvSpPr>
          <p:cNvPr id="9" name="Text 7"/>
          <p:cNvSpPr txBox="1"/>
          <p:nvPr/>
        </p:nvSpPr>
        <p:spPr>
          <a:xfrm>
            <a:off x="548640" y="373380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3715512"/>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Type the address of body_x in the Memory field: the bytes 03 04 05 of the start, then 06, 07 ... one new byte per step</a:t>
            </a:r>
            <a:endParaRPr lang="en-US" sz="2200" dirty="0"/>
          </a:p>
        </p:txBody>
      </p:sp>
      <p:sp>
        <p:nvSpPr>
          <p:cNvPr id="11" name="Text 9"/>
          <p:cNvSpPr txBox="1"/>
          <p:nvPr/>
        </p:nvSpPr>
        <p:spPr>
          <a:xfrm>
            <a:off x="548640" y="47426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47244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Go down for a few steps: body_x repeats the same column, and body_y, 256 bytes further, counts the rows</a:t>
            </a:r>
            <a:endParaRPr lang="en-US" sz="2200" dirty="0"/>
          </a:p>
        </p:txBody>
      </p:sp>
      <p:sp>
        <p:nvSpPr>
          <p:cNvPr id="13" name="Text 11"/>
          <p:cNvSpPr txBox="1"/>
          <p:nvPr/>
        </p:nvSpPr>
        <p:spPr>
          <a:xfrm>
            <a:off x="548640" y="575157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4" name="Text 12"/>
          <p:cNvSpPr txBox="1"/>
          <p:nvPr/>
        </p:nvSpPr>
        <p:spPr>
          <a:xfrm>
            <a:off x="1207008" y="573328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Eat, and compare head_i and length before and after: both grow by one</a:t>
            </a:r>
            <a:endParaRPr lang="en-US" sz="2200" dirty="0"/>
          </a:p>
        </p:txBody>
      </p:sp>
      <p:sp>
        <p:nvSpPr>
          <p:cNvPr id="15" name="Shape 13"/>
          <p:cNvSpPr/>
          <p:nvPr/>
        </p:nvSpPr>
        <p:spPr>
          <a:xfrm>
            <a:off x="8894013" y="91440"/>
            <a:ext cx="2749042" cy="274320"/>
          </a:xfrm>
          <a:prstGeom prst="rect">
            <a:avLst/>
          </a:prstGeom>
          <a:solidFill>
            <a:srgbClr val="FEF3C7"/>
          </a:solidFill>
          <a:ln w="12700">
            <a:solidFill>
              <a:srgbClr val="B45309"/>
            </a:solidFill>
            <a:prstDash val="solid"/>
          </a:ln>
        </p:spPr>
      </p:sp>
      <p:sp>
        <p:nvSpPr>
          <p:cNvPr id="16" name="Shape 14"/>
          <p:cNvSpPr/>
          <p:nvPr/>
        </p:nvSpPr>
        <p:spPr>
          <a:xfrm>
            <a:off x="8894013" y="91440"/>
            <a:ext cx="27432" cy="274320"/>
          </a:xfrm>
          <a:prstGeom prst="rect">
            <a:avLst/>
          </a:prstGeom>
          <a:solidFill>
            <a:srgbClr val="B45309"/>
          </a:solidFill>
          <a:ln w="12700">
            <a:solidFill>
              <a:srgbClr val="B45309"/>
            </a:solidFill>
            <a:prstDash val="solid"/>
          </a:ln>
        </p:spPr>
      </p:sp>
      <p:sp>
        <p:nvSpPr>
          <p:cNvPr id="17" name="Shape 15"/>
          <p:cNvSpPr/>
          <p:nvPr/>
        </p:nvSpPr>
        <p:spPr>
          <a:xfrm>
            <a:off x="8948877" y="91440"/>
            <a:ext cx="27432" cy="274320"/>
          </a:xfrm>
          <a:prstGeom prst="rect">
            <a:avLst/>
          </a:prstGeom>
          <a:solidFill>
            <a:srgbClr val="B45309"/>
          </a:solidFill>
          <a:ln w="12700">
            <a:solidFill>
              <a:srgbClr val="B45309"/>
            </a:solidFill>
            <a:prstDash val="solid"/>
          </a:ln>
        </p:spPr>
      </p:sp>
      <p:pic>
        <p:nvPicPr>
          <p:cNvPr id="18" name="Image 0" descr="preencoded.png">    </p:cNvPr>
          <p:cNvPicPr>
            <a:picLocks noChangeAspect="1"/>
          </p:cNvPicPr>
          <p:nvPr/>
        </p:nvPicPr>
        <p:blipFill>
          <a:blip r:embed="rId1"/>
          <a:stretch>
            <a:fillRect/>
          </a:stretch>
        </p:blipFill>
        <p:spPr>
          <a:xfrm>
            <a:off x="9022029" y="128016"/>
            <a:ext cx="201168" cy="201168"/>
          </a:xfrm>
          <a:prstGeom prst="rect">
            <a:avLst/>
          </a:prstGeom>
        </p:spPr>
      </p:pic>
      <p:sp>
        <p:nvSpPr>
          <p:cNvPr id="19" name="Text 16"/>
          <p:cNvSpPr txBox="1"/>
          <p:nvPr/>
        </p:nvSpPr>
        <p:spPr>
          <a:xfrm>
            <a:off x="9278061" y="91440"/>
            <a:ext cx="2328418"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PRG32-QT debugger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Catch the edge of button A</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065064"/>
                <a:gridCol w="1065064"/>
                <a:gridCol w="1420085"/>
                <a:gridCol w="1508840"/>
                <a:gridCol w="1597596"/>
                <a:gridCol w="2840170"/>
                <a:gridCol w="1597596"/>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Frame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A 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s0 (now)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prev_btn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NOT prev</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s1 = s0 AND NOT prev</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Effect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up</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0x00</a:t>
                      </a:r>
                      <a:endParaRPr lang="en-US" sz="15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0x00</a:t>
                      </a:r>
                      <a:endParaRPr lang="en-US" sz="15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0xff...ff</a:t>
                      </a:r>
                      <a:endParaRPr lang="en-US" sz="15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0x00</a:t>
                      </a:r>
                      <a:endParaRPr lang="en-US" sz="15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n + 1</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down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0x10</a:t>
                      </a:r>
                      <a:endParaRPr lang="en-US" sz="15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0x00</a:t>
                      </a:r>
                      <a:endParaRPr lang="en-US" sz="15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0xff...ff</a:t>
                      </a:r>
                      <a:endParaRPr lang="en-US" sz="15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0x10</a:t>
                      </a:r>
                      <a:endParaRPr lang="en-US" sz="15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transition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n + 2</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down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0x10</a:t>
                      </a:r>
                      <a:endParaRPr lang="en-US" sz="15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0x10</a:t>
                      </a:r>
                      <a:endParaRPr lang="en-US" sz="15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0xff...ef</a:t>
                      </a:r>
                      <a:endParaRPr lang="en-US" sz="15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0x00</a:t>
                      </a:r>
                      <a:endParaRPr lang="en-US" sz="15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n + 3</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up</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0x00</a:t>
                      </a:r>
                      <a:endParaRPr lang="en-US" sz="15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0x10</a:t>
                      </a:r>
                      <a:endParaRPr lang="en-US" sz="15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0xff...ef</a:t>
                      </a:r>
                      <a:endParaRPr lang="en-US" sz="15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0x00</a:t>
                      </a:r>
                      <a:endParaRPr lang="en-US" sz="15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s1 is 0x10 in one frame only: the frame in which the button goes down.</a:t>
            </a:r>
            <a:endParaRPr lang="en-US" sz="1500" dirty="0"/>
          </a:p>
        </p:txBody>
      </p:sp>
      <p:sp>
        <p:nvSpPr>
          <p:cNvPr id="5" name="Shape 2"/>
          <p:cNvSpPr/>
          <p:nvPr/>
        </p:nvSpPr>
        <p:spPr>
          <a:xfrm>
            <a:off x="8894013" y="91440"/>
            <a:ext cx="2749042" cy="274320"/>
          </a:xfrm>
          <a:prstGeom prst="rect">
            <a:avLst/>
          </a:prstGeom>
          <a:solidFill>
            <a:srgbClr val="FEF3C7"/>
          </a:solidFill>
          <a:ln w="12700">
            <a:solidFill>
              <a:srgbClr val="B45309"/>
            </a:solidFill>
            <a:prstDash val="solid"/>
          </a:ln>
        </p:spPr>
      </p:sp>
      <p:sp>
        <p:nvSpPr>
          <p:cNvPr id="6" name="Shape 3"/>
          <p:cNvSpPr/>
          <p:nvPr/>
        </p:nvSpPr>
        <p:spPr>
          <a:xfrm>
            <a:off x="8894013" y="91440"/>
            <a:ext cx="27432" cy="274320"/>
          </a:xfrm>
          <a:prstGeom prst="rect">
            <a:avLst/>
          </a:prstGeom>
          <a:solidFill>
            <a:srgbClr val="B45309"/>
          </a:solidFill>
          <a:ln w="12700">
            <a:solidFill>
              <a:srgbClr val="B45309"/>
            </a:solidFill>
            <a:prstDash val="solid"/>
          </a:ln>
        </p:spPr>
      </p:sp>
      <p:sp>
        <p:nvSpPr>
          <p:cNvPr id="7" name="Shape 4"/>
          <p:cNvSpPr/>
          <p:nvPr/>
        </p:nvSpPr>
        <p:spPr>
          <a:xfrm>
            <a:off x="8948877"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22029" y="128016"/>
            <a:ext cx="201168" cy="201168"/>
          </a:xfrm>
          <a:prstGeom prst="rect">
            <a:avLst/>
          </a:prstGeom>
        </p:spPr>
      </p:pic>
      <p:sp>
        <p:nvSpPr>
          <p:cNvPr id="9" name="Text 5"/>
          <p:cNvSpPr txBox="1"/>
          <p:nvPr/>
        </p:nvSpPr>
        <p:spPr>
          <a:xfrm>
            <a:off x="9278061" y="91440"/>
            <a:ext cx="2328418"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PRG32-QT debugger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Three questions for the debugger</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46811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Where is state? After la t0, state in verm1_update, t0 holds its address. Watch 00, 01, 02 as you play and lose</a:t>
            </a:r>
            <a:endParaRPr lang="en-US" sz="2200" dirty="0"/>
          </a:p>
        </p:txBody>
      </p:sp>
      <p:sp>
        <p:nvSpPr>
          <p:cNvPr id="5" name="Shape 3"/>
          <p:cNvSpPr/>
          <p:nvPr/>
        </p:nvSpPr>
        <p:spPr>
          <a:xfrm>
            <a:off x="548640" y="276783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661412"/>
            <a:ext cx="5468112" cy="1363472"/>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Is the map consistent with the ring? Pause, read the head from body_x and body_y, compute row x 40 + column, and look at that byte of grid</a:t>
            </a:r>
            <a:endParaRPr lang="en-US" sz="2200" dirty="0"/>
          </a:p>
        </p:txBody>
      </p:sp>
      <p:sp>
        <p:nvSpPr>
          <p:cNvPr id="7" name="Shape 5"/>
          <p:cNvSpPr/>
          <p:nvPr/>
        </p:nvSpPr>
        <p:spPr>
          <a:xfrm>
            <a:off x="548640" y="435279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4246372"/>
            <a:ext cx="546811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did the fatal step see? Break on the lbu that follows the second mul in step: t1 is 1 exactly once, at the bite</a:t>
            </a:r>
            <a:endParaRPr lang="en-US" sz="2200" dirty="0"/>
          </a:p>
        </p:txBody>
      </p:sp>
      <p:sp>
        <p:nvSpPr>
          <p:cNvPr id="9" name="Shape 7"/>
          <p:cNvSpPr/>
          <p:nvPr/>
        </p:nvSpPr>
        <p:spPr>
          <a:xfrm>
            <a:off x="548640" y="5596890"/>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490464"/>
            <a:ext cx="546811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program is right when its memory is right: learn to read it</a:t>
            </a:r>
            <a:endParaRPr lang="en-US" sz="2200" dirty="0"/>
          </a:p>
        </p:txBody>
      </p:sp>
      <p:pic>
        <p:nvPicPr>
          <p:cNvPr id="11" name="Image 0" descr="/Users/raffaelemontella/devel/riscv-prg32/computer-architecture-with-prg32/tools/assets/prg32qt_debugger_details.png">    </p:cNvPr>
          <p:cNvPicPr>
            <a:picLocks noChangeAspect="1"/>
          </p:cNvPicPr>
          <p:nvPr/>
        </p:nvPicPr>
        <p:blipFill>
          <a:blip r:embed="rId1"/>
          <a:stretch>
            <a:fillRect/>
          </a:stretch>
        </p:blipFill>
        <p:spPr>
          <a:xfrm>
            <a:off x="7451807" y="1417320"/>
            <a:ext cx="3506002" cy="4297680"/>
          </a:xfrm>
          <a:prstGeom prst="rect">
            <a:avLst/>
          </a:prstGeom>
        </p:spPr>
      </p:pic>
      <p:sp>
        <p:nvSpPr>
          <p:cNvPr id="12" name="Text 9"/>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PRG32-QT: listing, registers, memory</a:t>
            </a:r>
            <a:endParaRPr lang="en-US" sz="1200" dirty="0"/>
          </a:p>
        </p:txBody>
      </p:sp>
      <p:sp>
        <p:nvSpPr>
          <p:cNvPr id="13" name="Shape 10"/>
          <p:cNvSpPr/>
          <p:nvPr/>
        </p:nvSpPr>
        <p:spPr>
          <a:xfrm>
            <a:off x="8894013" y="91440"/>
            <a:ext cx="2749042" cy="274320"/>
          </a:xfrm>
          <a:prstGeom prst="rect">
            <a:avLst/>
          </a:prstGeom>
          <a:solidFill>
            <a:srgbClr val="FEF3C7"/>
          </a:solidFill>
          <a:ln w="12700">
            <a:solidFill>
              <a:srgbClr val="B45309"/>
            </a:solidFill>
            <a:prstDash val="solid"/>
          </a:ln>
        </p:spPr>
      </p:sp>
      <p:sp>
        <p:nvSpPr>
          <p:cNvPr id="14" name="Shape 11"/>
          <p:cNvSpPr/>
          <p:nvPr/>
        </p:nvSpPr>
        <p:spPr>
          <a:xfrm>
            <a:off x="8894013" y="91440"/>
            <a:ext cx="27432" cy="274320"/>
          </a:xfrm>
          <a:prstGeom prst="rect">
            <a:avLst/>
          </a:prstGeom>
          <a:solidFill>
            <a:srgbClr val="B45309"/>
          </a:solidFill>
          <a:ln w="12700">
            <a:solidFill>
              <a:srgbClr val="B45309"/>
            </a:solidFill>
            <a:prstDash val="solid"/>
          </a:ln>
        </p:spPr>
      </p:sp>
      <p:sp>
        <p:nvSpPr>
          <p:cNvPr id="15" name="Shape 12"/>
          <p:cNvSpPr/>
          <p:nvPr/>
        </p:nvSpPr>
        <p:spPr>
          <a:xfrm>
            <a:off x="8948877" y="91440"/>
            <a:ext cx="27432" cy="274320"/>
          </a:xfrm>
          <a:prstGeom prst="rect">
            <a:avLst/>
          </a:prstGeom>
          <a:solidFill>
            <a:srgbClr val="B45309"/>
          </a:solidFill>
          <a:ln w="12700">
            <a:solidFill>
              <a:srgbClr val="B45309"/>
            </a:solidFill>
            <a:prstDash val="solid"/>
          </a:ln>
        </p:spPr>
      </p:sp>
      <p:pic>
        <p:nvPicPr>
          <p:cNvPr id="16" name="Image 1" descr="preencoded.png">    </p:cNvPr>
          <p:cNvPicPr>
            <a:picLocks noChangeAspect="1"/>
          </p:cNvPicPr>
          <p:nvPr/>
        </p:nvPicPr>
        <p:blipFill>
          <a:blip r:embed="rId2"/>
          <a:stretch>
            <a:fillRect/>
          </a:stretch>
        </p:blipFill>
        <p:spPr>
          <a:xfrm>
            <a:off x="9022029" y="128016"/>
            <a:ext cx="201168" cy="201168"/>
          </a:xfrm>
          <a:prstGeom prst="rect">
            <a:avLst/>
          </a:prstGeom>
        </p:spPr>
      </p:pic>
      <p:sp>
        <p:nvSpPr>
          <p:cNvPr id="17" name="Text 13"/>
          <p:cNvSpPr txBox="1"/>
          <p:nvPr/>
        </p:nvSpPr>
        <p:spPr>
          <a:xfrm>
            <a:off x="9278061" y="91440"/>
            <a:ext cx="2328418"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PRG32-QT debugger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head_i = 1 and length = 4. Which entries of the ring hold the worm?</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1, 2, 3, 4</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0, 1, 2, 3</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254, 255, 0, 1</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253, 254, 255, 0</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Which byte of grid describes the cell in column 7 of row 3?</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byte 37</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byte 127</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byte 283</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byte 307</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The player holds A down for two seconds on the title screen. What happens?</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game starts and ends at once</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game starts once</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nothing, until A is released</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states cycle at every frame</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Why is the tail's byte cleared before the head's byte is tested?</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to save an instruction</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so that the head can enter the cell the tail leaves</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because sb is faster than lbu</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order does not matter</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Where we are, and what comes next</a:t>
            </a:r>
            <a:endParaRPr lang="en-US" sz="3200" dirty="0"/>
          </a:p>
        </p:txBody>
      </p:sp>
      <p:sp>
        <p:nvSpPr>
          <p:cNvPr id="3" name="Shape 1"/>
          <p:cNvSpPr/>
          <p:nvPr/>
        </p:nvSpPr>
        <p:spPr>
          <a:xfrm>
            <a:off x="548640" y="1623314"/>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516888"/>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Verm1 is a game: it has a goal, a risk, a beginning and an end</a:t>
            </a:r>
            <a:endParaRPr lang="en-US" sz="2200" dirty="0"/>
          </a:p>
        </p:txBody>
      </p:sp>
      <p:sp>
        <p:nvSpPr>
          <p:cNvPr id="5" name="Shape 3"/>
          <p:cNvSpPr/>
          <p:nvPr/>
        </p:nvSpPr>
        <p:spPr>
          <a:xfrm>
            <a:off x="548640" y="242138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14956"/>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machine with three states, a ring of bytes, a map: sequential logic and memory, written as a program</a:t>
            </a:r>
            <a:endParaRPr lang="en-US" sz="2200" dirty="0"/>
          </a:p>
        </p:txBody>
      </p:sp>
      <p:sp>
        <p:nvSpPr>
          <p:cNvPr id="7" name="Shape 5"/>
          <p:cNvSpPr/>
          <p:nvPr/>
        </p:nvSpPr>
        <p:spPr>
          <a:xfrm>
            <a:off x="548640" y="356031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53892"/>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Missing: it redraws the whole screen at every frame, the score is a row of marks, the speed never changes</a:t>
            </a:r>
            <a:endParaRPr lang="en-US" sz="2200" dirty="0"/>
          </a:p>
        </p:txBody>
      </p:sp>
      <p:sp>
        <p:nvSpPr>
          <p:cNvPr id="9" name="Shape 7"/>
          <p:cNvSpPr/>
          <p:nvPr/>
        </p:nvSpPr>
        <p:spPr>
          <a:xfrm>
            <a:off x="548640" y="469925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592828"/>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Lectures 18 to 21 give the tools: how the processor executes, calls and division, how the video and the sound work</a:t>
            </a:r>
            <a:endParaRPr lang="en-US" sz="2200" dirty="0"/>
          </a:p>
        </p:txBody>
      </p:sp>
      <p:sp>
        <p:nvSpPr>
          <p:cNvPr id="11" name="Shape 9"/>
          <p:cNvSpPr/>
          <p:nvPr/>
        </p:nvSpPr>
        <p:spPr>
          <a:xfrm>
            <a:off x="548640" y="58381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731764"/>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Part 4: the finished game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Verm1, Part 3: A Body, Rules and States</dc:title>
  <dc:subject>Lecture 17</dc:subject>
  <dc:creator>Raffaele Montella</dc:creator>
  <cp:lastModifiedBy>Raffaele Montella</cp:lastModifiedBy>
  <cp:revision>1</cp:revision>
  <dcterms:created xsi:type="dcterms:W3CDTF">2026-10-16T16:46:56Z</dcterms:created>
  <dcterms:modified xsi:type="dcterms:W3CDTF">2026-10-16T16:46:56Z</dcterms:modified>
</cp:coreProperties>
</file>