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c474fe-ad95-f978-fe8c-362efa593536}">
          <p14:sldIdLst>
            <p14:sldId id="256"/>
            <p14:sldId id="257"/>
            <p14:sldId id="258"/>
            <p14:sldId id="259"/>
            <p14:sldId id="260"/>
          </p14:sldIdLst>
        </p14:section>
        <p14:section name="The design, before the code" id="{23d5f18a-8d36-04fc-dad5-e495e5f22786}">
          <p14:sldIdLst>
            <p14:sldId id="261"/>
            <p14:sldId id="262"/>
            <p14:sldId id="263"/>
            <p14:sldId id="264"/>
          </p14:sldIdLst>
        </p14:section>
        <p14:section name="Step 1: the memory of the game" id="{bd79c03c-f78b-c591-cb53-4c073333a369}">
          <p14:sldIdLst>
            <p14:sldId id="265"/>
            <p14:sldId id="266"/>
            <p14:sldId id="267"/>
            <p14:sldId id="268"/>
          </p14:sldIdLst>
        </p14:section>
        <p14:section name="Step 2: three states" id="{1803b8d6-7e86-cea2-9037-4a38cc6c3cc2}">
          <p14:sldIdLst>
            <p14:sldId id="269"/>
            <p14:sldId id="270"/>
            <p14:sldId id="271"/>
            <p14:sldId id="272"/>
            <p14:sldId id="273"/>
            <p14:sldId id="274"/>
            <p14:sldId id="275"/>
            <p14:sldId id="276"/>
          </p14:sldIdLst>
        </p14:section>
        <p14:section name="Step 3: a worm in memory" id="{e68e3809-3269-174f-02af-69cea3bdb367}">
          <p14:sldIdLst>
            <p14:sldId id="277"/>
            <p14:sldId id="278"/>
            <p14:sldId id="279"/>
            <p14:sldId id="280"/>
            <p14:sldId id="281"/>
            <p14:sldId id="282"/>
            <p14:sldId id="283"/>
          </p14:sldIdLst>
        </p14:section>
        <p14:section name="Step 4: rules" id="{e14268b8-8086-5800-51ad-30e11945616b}">
          <p14:sldIdLst>
            <p14:sldId id="284"/>
            <p14:sldId id="285"/>
            <p14:sldId id="286"/>
            <p14:sldId id="287"/>
            <p14:sldId id="288"/>
            <p14:sldId id="289"/>
            <p14:sldId id="290"/>
            <p14:sldId id="291"/>
            <p14:sldId id="292"/>
            <p14:sldId id="293"/>
          </p14:sldIdLst>
        </p14:section>
        <p14:section name="Step 5: look at memory move" id="{0c160140-22b2-197a-6dde-0f26a14f174c}">
          <p14:sldIdLst>
            <p14:sldId id="294"/>
            <p14:sldId id="295"/>
            <p14:sldId id="296"/>
            <p14:sldId id="297"/>
            <p14:sldId id="298"/>
            <p14:sldId id="299"/>
            <p14:sldId id="300"/>
            <p14:sldId id="301"/>
            <p14:sldId id="302"/>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real game. Until now the worm was a single cell and nothing could go wrong. Today memory enters the project: the worm gets a body that follows the head and grows, biting itself ends the game, and the program acquires a title screen and a game-over screen. Brooks's sentence on the cover is the motto of the day: choose the data structures well, and the code almost writes itself. You will meet two of them, a ring and a map.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worm with a body that follows the head and grows by one cell at every meal. A game that can be lost. Three screens, title, game and game over, linked by button A. Food that never appears on the worm. And a best score, kept as long as the cartridge stays in memory. It is the largest step of the project: the file roughly doubles in length, so follow the steps and run the program every time a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and not a level, becomes "A pressed now and not one frame ago". The register that keeps a value for the next clock becomes prev_btn. Memory as an array of bytes becomes the body and the map of the world. And the difference between what stays in the file and what lives in RAM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you are going to build: the title with its invitation, the game with a worm of seven cells after four meals, and the game over. They are one program in three states. Start from a Part 2 that runs; if yours does not, copy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a great deal, so do not wait until the end to build: build and run after every slide entitled "Run it". If something breaks, the mistake is in the lines added since the last run.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code, the design: two data structures and one diagram. Spend time here. If the ring, the map and the three states are clear, the listings that follow are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holds the column and the row of one segment. Nothing is ever shifted. Two numbers describe the worm: head_i, the entry of the head, and length, the number of entries in use; the tail is entry head_i - length + 1. A step writes one new entry after the head and advances head_i. If the worm has eaten the tail stays; otherwise it advances too. After entry 255 comes entry 0, which is an AND with 255: the array is a ring.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know whether the new head touches the body, the program could compare it with every segment: up to 255 comparisons at each step. Instead it keeps a map of the world: one byte for each of the 960 cells, 1 if a segment is there and 0 if not. The cell in column c of row r is byte number r times 40 plus c. A step sets one byte and clears one, and the collision test becomes a single load. It is the classic exchange of memory for time. The price: map and ring must always agree.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goes to PLAY when A is pressed; PLAY goes to OVER when the worm bites itself; OVER goes back to TITLE when A is pressed. The table adds the action of each transition. One detail decides whether the machine works: "A pressed" means down now and up one frame ago, an edge and not a level. Otherwise holding A would run through the states one per frame.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declares the memory of the game: new constants, what stays in the cartridge file, and what lives in RAM. Nothing runs differently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word of buttons. The three states are simply the numbers 0, 1 and 2, with names. The lines .section and .global, which used to close this block, move to the next slide.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power-off.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one: 256 for body_x, 256 for body_y, 960 for the map. best holds the best score: it survives from one game to the next, but not a power-off, because it lives in RAM. A portable cartridge has no permanent memory of its own: an honest limit.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builds the machine with three states first, with the functions that do the real work replaced by empty ones. The skeleton runs before anything is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does one thing only: it chooses the first state, TITLE. Preparing the game is the job of a new function, new_game, called when the player presses A. Delete from your file the old verm1_update, step and verm1_draw: the next slides replace them. Keep place_food, eat_sound and draw_cell.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this frame; prev_btn, in memory, holds those of the previous frame. The expression "now AND NOT before" gives a 1 only in the positions where a press has just begun, and the result goes into s1. Then prev_btn is updated. It is the edge detector of Lecture 13: a register that delays by one clock, and an AND gate with one input inverted.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line by line. The state is read first, and it decides who looks at the inputs. In TITLE a new press of A calls new_game. In OVER a new press of A stores TITLE. In PLAY the buttons that are held, the levels and not the edges, are passed to play_update, because steering must work while a button is kept down. The labels have names here, u_play, u_start, u_done, because numbers would be hard to follow.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shows a different picture in each state. The title line is always drawn. In TITLE only the invitation PRESS A appears, centred: 132 is the x that centres seven characters of 8 pixels. In PLAY and OVER the function draws the score, the worm and the food. Note that draw changes nothing: its output depends only on the state and on the memory, as in a Moore machine.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state OVER two words are written over the scene. A small helper, draw_text, fills in the two colour arguments, white on black, and passes the first three through, so that each call to draw text needs two lines less. Small helpers like this make a program shorter and easier to change.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at once, except new_game, which just stores PLAY. Thanks to them the program builds and the machine can be tried before its parts are written. It is the method of the first lecture: start with returns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see the title line and PRESS A. Press A: the invitation disappears and a red cell appears in the top-left corner, because the variables of the food are still zero. Nothing moves and the game cannot end: PLAY has no rules yet. In the debugger, find the variable state and watch it go from 0 to 1 when you press A: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puts a worm into memory, in both structures, and draws it. It still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sets the 960 bytes of the map to zero, one sb at a time. Then the worm is laid down: three segments in columns 3, 4 and 5 of row 12. Each segment is written twice: its column and row in the ring, and a 1 in the map. The expression grid+12*COLS is computed by the assembler. Since each entry is one byte, the index is added to the base address without any shift.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sets the variables: head_i is 2 and length is 3, which together describe the worm just laid; direction, timer and score start from zero; the first food is placed. The last instruction stores PLAY in the state. The order is deliberate: the transition is complete only when everything is ready.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walks the ring backwards from the head: segment number i is entry head_i - i, masked with 255. Column and row are loaded with lbu, which reads one byte as an unsigned number, and passed to draw_cell. Segment 0, the head, is drawn in a brighter green than the others. The loop ends when i reaches the length.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was inside verm1_draw, now a function of its own: one small mark for each point. It uses s0 as its counter, so it saves it at the beginning and restores it at the end.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is left: play_update, which still does nothing. The worm exists in memory and on the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Now look at memory with the debugger. At the address of body_x the first bytes are 03 04 05. In the map, at row 12 times 40 plus 3, there are three bytes at 01 in a sea of zeros. You are looking at the two structures of slide 7 and slide 8, filled.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writes the rules. One step of the worm has three phases, and their order is the whole point: decide where the head will go, look at what is there, and only then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your verm1_update of Part 2 under a new name: the four button tests and the U-turn rule. One difference: the buttons arrive as an argument in a0, so there is no call to read them.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add the speed, and when a whole cell has accumulated call step.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keep their values across the calls that follow: s0 and s1 for the cell of the new head, s2 for the result of the food test. So the frame saves ra and three s registers. The lookup of dx and dy is that of Part 2.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are added, and the result wraps at the edges as in Part 2. The new cell is now in s0 and s1. Nothing has been written: first the program must look.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is on the food. If the worm eats, the length grows by one and the tail stays where it is. If not, the tail must leave: its entry is head_i - length + 1, and its column and row are loaded. Growing and not moving the tail are the same thing: that is the whole trick of Snake.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number of a byte is row times 40 plus column, computed with mul and add. First the byte of the tail is cleared; then the byte of the new head is tested. The order matters: in the same step the tail moves away, so the head may enter the cell that the tail has just left. If the byte is 1 the worm has bitten itself: the state becomes OVER and the best score is updated.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plus 1 masked with 255, and column and row in the new entry of the ring. Then, if s2 is zero, the reward: a point, new food, a sound. After a collision the function skips all of this, so the screen shows the worm as it was before the fatal step.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looks at its byte in the map, and if the cell is occupied draws again, until a free one comes out. The column waits in s0 while the second random number is requested. The loop is short: even with the longest worm fewer than two attempts are needed on average.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the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uses the debugger to watch the data structures at work: the ring that turns, the edge of a button, the byte that decides a collision.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 breakpoint on the first instruction of step and resume: the program now stops once per step of the worm. Open the memory at the address of body_x: after the initial 03 04 05 a new byte appears at each step. Turn downwards: body_x repeats the same column, while body_y, 256 bytes further on, counts the rows. Eat, and compare head_i and length before and after: both have grown by one. The old bytes are never erased: the ring holds the history of the last 256 steps.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gives 0x10, and the transition happens. In the following frames A is still down, but prev_btn is now 0x10 too, and the result is zero. One edge, one transition, however long the button is held.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answer with the debugger. Where is state, and what does it contain while you play and lose? Is the map consistent with the ring: does the byte at row times 40 plus column of the head contain 1? What did the fatal step see: at the lbu after the second mul in step, t1 is 1 exactly once, at the bite. The last line is a principle: a program is right when its memory is right.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the tail first: head_i - length + 1 is 1 minus 4 plus 1, minus 2. Masked with 255 it becomes 254. From there count four entries forward, wrapping after 255.
For the lecturer: Answer: C. From the tail, head_i - length + 1 = -2, that is 254 after AND 255, up to the head: 254, 255, 0,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 of the map: row times 40 plus column. Do not swap the two: the option with 283 is 7 times 40 plus 3.
For the lecturer: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terms of edges. A is down for many frames, but only in the first of them is it "down now and up one frame ago".
For the lecturer: Answer: B. Only the frame in which A goes down gives s1 = 0x10: one edge, 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step the tail leaves a cell and the head enters one. If they are the same cell, which of the two operations must be done first for the move to be legal?
For the lecturer: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Walls: the worm dies at the edge instead of wrapping. A longer worm at the start, perhaps depending on the best score. Poison: a second, blue cell that makes the worm one cell shorter. And the best score shown as marks on the game-over screen. Each touches one or two functions. Keep a copy of the working Part 3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did not change with respect to Part 2: eat_sound and draw_cell. They are reprinted on the next two slides, marked UNCHANGED, so that this deck contains the whole program. The complete file is the sum of the slides marked NEW and CHANGED, plus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for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come in, the cell coordinates are converted to pixels, and one rectangle is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Verm1 is now a game, with a goal, a risk, a beginning and an end, and you can explain every line of it. It is sequential logic and memory written as a program: a machine with three states, a ring of bytes, a map. Three things are still rough: the whole screen is redrawn at every frame, the score is a row of marks, the speed never changes. The next four lectures open the machine that runs your code, and Part 4 finishes the game.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design, before the code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Two data structures and one diagram.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pic>
        <p:nvPicPr>
          <p:cNvPr id="4" name="Image 0" descr="preencoded.png">    </p:cNvPr>
          <p:cNvPicPr>
            <a:picLocks noChangeAspect="1"/>
          </p:cNvPicPr>
          <p:nvPr/>
        </p:nvPicPr>
        <p:blipFill>
          <a:blip r:embed="rId1"/>
          <a:stretch>
            <a:fillRect/>
          </a:stretch>
        </p:blipFill>
        <p:spPr>
          <a:xfrm>
            <a:off x="548640" y="1424701"/>
            <a:ext cx="5760720" cy="1558006"/>
          </a:xfrm>
          <a:prstGeom prst="rect">
            <a:avLst/>
          </a:prstGeom>
        </p:spPr>
      </p:pic>
      <p:pic>
        <p:nvPicPr>
          <p:cNvPr id="5" name="Image 1" descr="preencoded.png">    </p:cNvPr>
          <p:cNvPicPr>
            <a:picLocks noChangeAspect="1"/>
          </p:cNvPicPr>
          <p:nvPr/>
        </p:nvPicPr>
        <p:blipFill>
          <a:blip r:embed="rId2"/>
          <a:stretch>
            <a:fillRect/>
          </a:stretch>
        </p:blipFill>
        <p:spPr>
          <a:xfrm>
            <a:off x="548640" y="3070621"/>
            <a:ext cx="5760720" cy="1558006"/>
          </a:xfrm>
          <a:prstGeom prst="rect">
            <a:avLst/>
          </a:prstGeom>
        </p:spPr>
      </p:pic>
      <p:pic>
        <p:nvPicPr>
          <p:cNvPr id="6" name="Image 2" descr="preencoded.png">    </p:cNvPr>
          <p:cNvPicPr>
            <a:picLocks noChangeAspect="1"/>
          </p:cNvPicPr>
          <p:nvPr/>
        </p:nvPicPr>
        <p:blipFill>
          <a:blip r:embed="rId3"/>
          <a:stretch>
            <a:fillRect/>
          </a:stretch>
        </p:blipFill>
        <p:spPr>
          <a:xfrm>
            <a:off x="548640" y="4716541"/>
            <a:ext cx="5760720" cy="1558006"/>
          </a:xfrm>
          <a:prstGeom prst="rect">
            <a:avLst/>
          </a:prstGeom>
        </p:spPr>
      </p:pic>
      <p:sp>
        <p:nvSpPr>
          <p:cNvPr id="7" name="Shape 1"/>
          <p:cNvSpPr/>
          <p:nvPr/>
        </p:nvSpPr>
        <p:spPr>
          <a:xfrm>
            <a:off x="6492240" y="1515999"/>
            <a:ext cx="146304" cy="146304"/>
          </a:xfrm>
          <a:prstGeom prst="rect">
            <a:avLst/>
          </a:prstGeom>
          <a:solidFill>
            <a:srgbClr val="0E7C86"/>
          </a:solidFill>
          <a:ln w="12700">
            <a:solidFill>
              <a:srgbClr val="0E7C86"/>
            </a:solidFill>
            <a:prstDash val="solid"/>
          </a:ln>
        </p:spPr>
      </p:sp>
      <p:sp>
        <p:nvSpPr>
          <p:cNvPr id="8" name="Text 2"/>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9" name="Shape 3"/>
          <p:cNvSpPr/>
          <p:nvPr/>
        </p:nvSpPr>
        <p:spPr>
          <a:xfrm>
            <a:off x="6492240" y="2628328"/>
            <a:ext cx="146304" cy="146304"/>
          </a:xfrm>
          <a:prstGeom prst="rect">
            <a:avLst/>
          </a:prstGeom>
          <a:solidFill>
            <a:srgbClr val="C7791B"/>
          </a:solidFill>
          <a:ln w="12700">
            <a:solidFill>
              <a:srgbClr val="C7791B"/>
            </a:solidFill>
            <a:prstDash val="solid"/>
          </a:ln>
        </p:spPr>
      </p:sp>
      <p:sp>
        <p:nvSpPr>
          <p:cNvPr id="10" name="Text 4"/>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1" name="Shape 5"/>
          <p:cNvSpPr/>
          <p:nvPr/>
        </p:nvSpPr>
        <p:spPr>
          <a:xfrm>
            <a:off x="6492240" y="3740658"/>
            <a:ext cx="146304" cy="146304"/>
          </a:xfrm>
          <a:prstGeom prst="rect">
            <a:avLst/>
          </a:prstGeom>
          <a:solidFill>
            <a:srgbClr val="0E7C86"/>
          </a:solidFill>
          <a:ln w="12700">
            <a:solidFill>
              <a:srgbClr val="0E7C86"/>
            </a:solidFill>
            <a:prstDash val="solid"/>
          </a:ln>
        </p:spPr>
      </p:sp>
      <p:sp>
        <p:nvSpPr>
          <p:cNvPr id="12" name="Text 6"/>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3" name="Shape 7"/>
          <p:cNvSpPr/>
          <p:nvPr/>
        </p:nvSpPr>
        <p:spPr>
          <a:xfrm>
            <a:off x="6492240" y="4833176"/>
            <a:ext cx="146304" cy="146304"/>
          </a:xfrm>
          <a:prstGeom prst="rect">
            <a:avLst/>
          </a:prstGeom>
          <a:solidFill>
            <a:srgbClr val="C7791B"/>
          </a:solidFill>
          <a:ln w="12700">
            <a:solidFill>
              <a:srgbClr val="C7791B"/>
            </a:solidFill>
            <a:prstDash val="solid"/>
          </a:ln>
        </p:spPr>
      </p:sp>
      <p:sp>
        <p:nvSpPr>
          <p:cNvPr id="14" name="Text 8"/>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5" name="Shape 9"/>
          <p:cNvSpPr/>
          <p:nvPr/>
        </p:nvSpPr>
        <p:spPr>
          <a:xfrm>
            <a:off x="6492240" y="5620131"/>
            <a:ext cx="146304" cy="146304"/>
          </a:xfrm>
          <a:prstGeom prst="rect">
            <a:avLst/>
          </a:prstGeom>
          <a:solidFill>
            <a:srgbClr val="0E7C86"/>
          </a:solidFill>
          <a:ln w="12700">
            <a:solidFill>
              <a:srgbClr val="0E7C86"/>
            </a:solidFill>
            <a:prstDash val="solid"/>
          </a:ln>
        </p:spPr>
      </p:sp>
      <p:sp>
        <p:nvSpPr>
          <p:cNvPr id="16" name="Text 10"/>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pic>
        <p:nvPicPr>
          <p:cNvPr id="4" name="Image 0" descr="preencoded.png">    </p:cNvPr>
          <p:cNvPicPr>
            <a:picLocks noChangeAspect="1"/>
          </p:cNvPicPr>
          <p:nvPr/>
        </p:nvPicPr>
        <p:blipFill>
          <a:blip r:embed="rId1"/>
          <a:stretch>
            <a:fillRect/>
          </a:stretch>
        </p:blipFill>
        <p:spPr>
          <a:xfrm>
            <a:off x="560682" y="1417320"/>
            <a:ext cx="5736635" cy="3154680"/>
          </a:xfrm>
          <a:prstGeom prst="rect">
            <a:avLst/>
          </a:prstGeom>
        </p:spPr>
      </p:pic>
      <p:sp>
        <p:nvSpPr>
          <p:cNvPr id="5" name="Shape 1"/>
          <p:cNvSpPr/>
          <p:nvPr/>
        </p:nvSpPr>
        <p:spPr>
          <a:xfrm>
            <a:off x="6766560" y="1523746"/>
            <a:ext cx="146304" cy="146304"/>
          </a:xfrm>
          <a:prstGeom prst="rect">
            <a:avLst/>
          </a:prstGeom>
          <a:solidFill>
            <a:srgbClr val="0E7C86"/>
          </a:solidFill>
          <a:ln w="12700">
            <a:solidFill>
              <a:srgbClr val="0E7C86"/>
            </a:solidFill>
            <a:prstDash val="solid"/>
          </a:ln>
        </p:spPr>
      </p:sp>
      <p:sp>
        <p:nvSpPr>
          <p:cNvPr id="6" name="Text 2"/>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7" name="Shape 3"/>
          <p:cNvSpPr/>
          <p:nvPr/>
        </p:nvSpPr>
        <p:spPr>
          <a:xfrm>
            <a:off x="6766560" y="2120815"/>
            <a:ext cx="146304" cy="146304"/>
          </a:xfrm>
          <a:prstGeom prst="rect">
            <a:avLst/>
          </a:prstGeom>
          <a:solidFill>
            <a:srgbClr val="C7791B"/>
          </a:solidFill>
          <a:ln w="12700">
            <a:solidFill>
              <a:srgbClr val="C7791B"/>
            </a:solidFill>
            <a:prstDash val="solid"/>
          </a:ln>
        </p:spPr>
      </p:sp>
      <p:sp>
        <p:nvSpPr>
          <p:cNvPr id="8" name="Text 4"/>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9" name="Shape 5"/>
          <p:cNvSpPr/>
          <p:nvPr/>
        </p:nvSpPr>
        <p:spPr>
          <a:xfrm>
            <a:off x="6766560" y="3058753"/>
            <a:ext cx="146304" cy="146304"/>
          </a:xfrm>
          <a:prstGeom prst="rect">
            <a:avLst/>
          </a:prstGeom>
          <a:solidFill>
            <a:srgbClr val="0E7C86"/>
          </a:solidFill>
          <a:ln w="12700">
            <a:solidFill>
              <a:srgbClr val="0E7C86"/>
            </a:solidFill>
            <a:prstDash val="solid"/>
          </a:ln>
        </p:spPr>
      </p:sp>
      <p:sp>
        <p:nvSpPr>
          <p:cNvPr id="10" name="Text 6"/>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1" name="Shape 7"/>
          <p:cNvSpPr/>
          <p:nvPr/>
        </p:nvSpPr>
        <p:spPr>
          <a:xfrm>
            <a:off x="6766560" y="3996690"/>
            <a:ext cx="146304" cy="146304"/>
          </a:xfrm>
          <a:prstGeom prst="rect">
            <a:avLst/>
          </a:prstGeom>
          <a:solidFill>
            <a:srgbClr val="C7791B"/>
          </a:solidFill>
          <a:ln w="12700">
            <a:solidFill>
              <a:srgbClr val="C7791B"/>
            </a:solidFill>
            <a:prstDash val="solid"/>
          </a:ln>
        </p:spPr>
      </p:sp>
      <p:sp>
        <p:nvSpPr>
          <p:cNvPr id="12" name="Text 8"/>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1: the memory of the game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Names, constants in the file, variables in RAM.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three states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machine first, with functions that do nothing yet.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3: a worm in memory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Fill the ring and the map, and draw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4: rules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step of the worm: decide, look, write.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5: look at memory move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PRG32-QT shows the ring and the machine.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1, 2, 3, 4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0, 1, 2, 3</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254, 255, 0, 1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253, 254, 255, 0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byte 37</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byte 127</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byte 283</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byte 307</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game starts and ends at once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game starts once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nothing, until A is released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states cycle at every frame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to save an instruction</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so that the head can enter the cell the tail leaves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because sb is faster than lbu</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order does not matter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2026-10-12T11:28:39Z</dcterms:created>
  <dcterms:modified xsi:type="dcterms:W3CDTF">2026-10-12T11:28:39Z</dcterms:modified>
</cp:coreProperties>
</file>