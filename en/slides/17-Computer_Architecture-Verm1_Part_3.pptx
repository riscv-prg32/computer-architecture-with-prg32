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5693cb-6635-772a-1a37-9e81daf21991}">
          <p14:sldIdLst>
            <p14:sldId id="256"/>
            <p14:sldId id="257"/>
            <p14:sldId id="258"/>
            <p14:sldId id="259"/>
          </p14:sldIdLst>
        </p14:section>
        <p14:section name="The design, before the code" id="{1ccac3a7-1ba2-b083-64b7-ea78ddc47b58}">
          <p14:sldIdLst>
            <p14:sldId id="260"/>
            <p14:sldId id="261"/>
            <p14:sldId id="262"/>
          </p14:sldIdLst>
        </p14:section>
        <p14:section name="Step 5: look at memory move" id="{e5cd6e3b-e683-3ca6-93df-c6fc3469c8c4}">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real game. Until now the worm was a single cell and nothing could go wrong. Today memory enters the project: the worm gets a body that follows the head and grows, biting itself ends the game, and the program acquires a title screen and a game-over screen. Brooks's sentence on the cover is the motto of the day: choose the data structures well, and the code almost writes itself. You will meet two of them, a ring and a map.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worm with a body that follows the head and grows by one cell at every meal. A game that can be lost. Three screens, title, game and game over, linked by button A. Food that never appears on the worm. And a best score, kept as long as the cartridge stays in memory. It is the largest step of the project: the file roughly doubles in length, so follow the steps and run the program every time a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and not a level, becomes "A pressed now and not one frame ago". The register that keeps a value for the next clock becomes prev_btn. Memory as an array of bytes becomes the body and the map of the world. And the difference between what stays in the file and what lives in RAM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you are going to build: the title with its invitation, the game with a worm of seven cells after four meals, and the game over. They are one program in three states. Start from a Part 2 that runs; if yours does not, copy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holds the column and the row of one segment. Nothing is ever shifted. Two numbers describe the worm: head_i, the entry of the head, and length, the number of entries in use; the tail is entry head_i - length + 1. A step writes one new entry after the head and advances head_i. If the worm has eaten the tail stays; otherwise it advances too. After entry 255 comes entry 0, which is an AND with 255: the array is a ring.
UNDERSTAND NOW: arrays in memory.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know whether the new head touches the body, the program could compare it with every segment: up to 255 comparisons at each step. Instead it keeps a map of the world: one byte for each of the 960 cells, 1 if a segment is there and 0 if not. The cell in column c of row r is byte number r times 40 plus c. A step sets one byte and clears one, and the collision test becomes a single load. It is the classic exchange of memory for time. The price: map and ring must always agree.
UNDERSTAND NOW: arrays in memory.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goes to PLAY when A is pressed; PLAY goes to OVER when the worm bites itself; OVER goes back to TITLE when A is pressed. The table adds the action of each transition. One detail decides whether the machine works: "A pressed" means down now and up one frame ago, an edge and not a level. Otherwise holding A would run through the states one per frame.
UNDERSTAND NOW: finite-state machines.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a breakpoint on the first instruction of step and resume: the program now stops once per step of the worm. Open the memory at the address of body_x: after the initial 03 04 05 a new byte appears at each step. Turn downwards: body_x repeats the same column, while body_y, 256 bytes further on, counts the rows. Eat, and compare head_i and length before and after: both have grown by one. The old bytes are never erased: the ring holds the history of the last 256 steps.
USE NOW: the PRG32-QT debugger (used, not studied, in this course).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gives 0x10, and the transition happens. In the following frames A is still down, but prev_btn is now 0x10 too, and the result is zero. One edge, one transition, however long the button is held.
USE NOW: the PRG32-QT debugger (used, not studied, in this course).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answer with the debugger. Where is state, and what does it contain while you play and lose? Is the map consistent with the ring: does the byte at row times 40 plus column of the head contain 1? What did the fatal step see: at the lbu after the second mul in step, t1 is 1 exactly once, at the bite. The last line is a principle: a program is right when its memory is right.
USE NOW: the PRG32-QT debugger (used, not studied, in this course).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the tail first: head_i - length + 1 is 1 minus 4 plus 1, minus 2. Masked with 255 it becomes 254. From there count four entries forward, wrapping after 255.
The formula of the map: row times 40 plus column. Do not swap the two: the option with 283 is 7 times 40 plus 3.
For the lecturer: 1. Answer: C. From the tail, head_i - length + 1 = -2, that is 254 after AND 255, up to the head: 254, 255, 0, 1.
2.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terms of edges. A is down for many frames, but only in the first of them is it "down now and up one frame ago".
In one step the tail leaves a cell and the head enters one. If they are the same cell, which of the two operations must be done first for the move to be legal?
For the lecturer: 1. Answer: B. Only the frame in which A goes down gives s1 = 0x10: one edge, one transition.
2.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Verm1 is now a game, with a goal, a risk, a beginning and an end, and you can explain every line of it. It is sequential logic and memory written as a program: a machine with three states, a ring of bytes, a map. Three things are still rough: the whole screen is redrawn at every frame, the score is a row of marks, the speed never changes. The next four lectures open the machine that runs your code, and Part 4 finishes the game.
Learning status, recap.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24701"/>
            <a:ext cx="5760720" cy="1558006"/>
          </a:xfrm>
          <a:prstGeom prst="rect">
            <a:avLst/>
          </a:prstGeom>
        </p:spPr>
      </p:pic>
      <p:pic>
        <p:nvPicPr>
          <p:cNvPr id="9" name="Image 2" descr="preencoded.png">    </p:cNvPr>
          <p:cNvPicPr>
            <a:picLocks noChangeAspect="1"/>
          </p:cNvPicPr>
          <p:nvPr/>
        </p:nvPicPr>
        <p:blipFill>
          <a:blip r:embed="rId3"/>
          <a:stretch>
            <a:fillRect/>
          </a:stretch>
        </p:blipFill>
        <p:spPr>
          <a:xfrm>
            <a:off x="548640" y="3070621"/>
            <a:ext cx="5760720" cy="1558006"/>
          </a:xfrm>
          <a:prstGeom prst="rect">
            <a:avLst/>
          </a:prstGeom>
        </p:spPr>
      </p:pic>
      <p:pic>
        <p:nvPicPr>
          <p:cNvPr id="10" name="Image 3" descr="preencoded.png">    </p:cNvPr>
          <p:cNvPicPr>
            <a:picLocks noChangeAspect="1"/>
          </p:cNvPicPr>
          <p:nvPr/>
        </p:nvPicPr>
        <p:blipFill>
          <a:blip r:embed="rId4"/>
          <a:stretch>
            <a:fillRect/>
          </a:stretch>
        </p:blipFill>
        <p:spPr>
          <a:xfrm>
            <a:off x="548640" y="4716541"/>
            <a:ext cx="5760720" cy="1558006"/>
          </a:xfrm>
          <a:prstGeom prst="rect">
            <a:avLst/>
          </a:prstGeom>
        </p:spPr>
      </p:pic>
      <p:sp>
        <p:nvSpPr>
          <p:cNvPr id="11" name="Shape 4"/>
          <p:cNvSpPr/>
          <p:nvPr/>
        </p:nvSpPr>
        <p:spPr>
          <a:xfrm>
            <a:off x="6492240" y="1515999"/>
            <a:ext cx="146304" cy="146304"/>
          </a:xfrm>
          <a:prstGeom prst="rect">
            <a:avLst/>
          </a:prstGeom>
          <a:solidFill>
            <a:srgbClr val="0E7C86"/>
          </a:solidFill>
          <a:ln w="12700">
            <a:solidFill>
              <a:srgbClr val="0E7C86"/>
            </a:solidFill>
            <a:prstDash val="solid"/>
          </a:ln>
        </p:spPr>
      </p:sp>
      <p:sp>
        <p:nvSpPr>
          <p:cNvPr id="12" name="Text 5"/>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13" name="Shape 6"/>
          <p:cNvSpPr/>
          <p:nvPr/>
        </p:nvSpPr>
        <p:spPr>
          <a:xfrm>
            <a:off x="6492240" y="2628328"/>
            <a:ext cx="146304" cy="146304"/>
          </a:xfrm>
          <a:prstGeom prst="rect">
            <a:avLst/>
          </a:prstGeom>
          <a:solidFill>
            <a:srgbClr val="C7791B"/>
          </a:solidFill>
          <a:ln w="12700">
            <a:solidFill>
              <a:srgbClr val="C7791B"/>
            </a:solidFill>
            <a:prstDash val="solid"/>
          </a:ln>
        </p:spPr>
      </p:sp>
      <p:sp>
        <p:nvSpPr>
          <p:cNvPr id="14" name="Text 7"/>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5" name="Shape 8"/>
          <p:cNvSpPr/>
          <p:nvPr/>
        </p:nvSpPr>
        <p:spPr>
          <a:xfrm>
            <a:off x="6492240" y="3740658"/>
            <a:ext cx="146304" cy="146304"/>
          </a:xfrm>
          <a:prstGeom prst="rect">
            <a:avLst/>
          </a:prstGeom>
          <a:solidFill>
            <a:srgbClr val="0E7C86"/>
          </a:solidFill>
          <a:ln w="12700">
            <a:solidFill>
              <a:srgbClr val="0E7C86"/>
            </a:solidFill>
            <a:prstDash val="solid"/>
          </a:ln>
        </p:spPr>
      </p:sp>
      <p:sp>
        <p:nvSpPr>
          <p:cNvPr id="16" name="Text 9"/>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7" name="Shape 10"/>
          <p:cNvSpPr/>
          <p:nvPr/>
        </p:nvSpPr>
        <p:spPr>
          <a:xfrm>
            <a:off x="6492240" y="4833176"/>
            <a:ext cx="146304" cy="146304"/>
          </a:xfrm>
          <a:prstGeom prst="rect">
            <a:avLst/>
          </a:prstGeom>
          <a:solidFill>
            <a:srgbClr val="C7791B"/>
          </a:solidFill>
          <a:ln w="12700">
            <a:solidFill>
              <a:srgbClr val="C7791B"/>
            </a:solidFill>
            <a:prstDash val="solid"/>
          </a:ln>
        </p:spPr>
      </p:sp>
      <p:sp>
        <p:nvSpPr>
          <p:cNvPr id="18" name="Text 11"/>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9" name="Shape 12"/>
          <p:cNvSpPr/>
          <p:nvPr/>
        </p:nvSpPr>
        <p:spPr>
          <a:xfrm>
            <a:off x="6492240" y="5620131"/>
            <a:ext cx="146304" cy="146304"/>
          </a:xfrm>
          <a:prstGeom prst="rect">
            <a:avLst/>
          </a:prstGeom>
          <a:solidFill>
            <a:srgbClr val="0E7C86"/>
          </a:solidFill>
          <a:ln w="12700">
            <a:solidFill>
              <a:srgbClr val="0E7C86"/>
            </a:solidFill>
            <a:prstDash val="solid"/>
          </a:ln>
        </p:spPr>
      </p:sp>
      <p:sp>
        <p:nvSpPr>
          <p:cNvPr id="20" name="Text 13"/>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8" name="Image 1" descr="preencoded.png">    </p:cNvPr>
          <p:cNvPicPr>
            <a:picLocks noChangeAspect="1"/>
          </p:cNvPicPr>
          <p:nvPr/>
        </p:nvPicPr>
        <p:blipFill>
          <a:blip r:embed="rId2"/>
          <a:stretch>
            <a:fillRect/>
          </a:stretch>
        </p:blipFill>
        <p:spPr>
          <a:xfrm>
            <a:off x="560682" y="1417320"/>
            <a:ext cx="5736635" cy="3154680"/>
          </a:xfrm>
          <a:prstGeom prst="rect">
            <a:avLst/>
          </a:prstGeom>
        </p:spPr>
      </p:pic>
      <p:sp>
        <p:nvSpPr>
          <p:cNvPr id="9" name="Shape 4"/>
          <p:cNvSpPr/>
          <p:nvPr/>
        </p:nvSpPr>
        <p:spPr>
          <a:xfrm>
            <a:off x="6766560" y="1523746"/>
            <a:ext cx="146304" cy="146304"/>
          </a:xfrm>
          <a:prstGeom prst="rect">
            <a:avLst/>
          </a:prstGeom>
          <a:solidFill>
            <a:srgbClr val="0E7C86"/>
          </a:solidFill>
          <a:ln w="12700">
            <a:solidFill>
              <a:srgbClr val="0E7C86"/>
            </a:solidFill>
            <a:prstDash val="solid"/>
          </a:ln>
        </p:spPr>
      </p:sp>
      <p:sp>
        <p:nvSpPr>
          <p:cNvPr id="10" name="Text 5"/>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11" name="Shape 6"/>
          <p:cNvSpPr/>
          <p:nvPr/>
        </p:nvSpPr>
        <p:spPr>
          <a:xfrm>
            <a:off x="6766560" y="2120815"/>
            <a:ext cx="146304" cy="146304"/>
          </a:xfrm>
          <a:prstGeom prst="rect">
            <a:avLst/>
          </a:prstGeom>
          <a:solidFill>
            <a:srgbClr val="C7791B"/>
          </a:solidFill>
          <a:ln w="12700">
            <a:solidFill>
              <a:srgbClr val="C7791B"/>
            </a:solidFill>
            <a:prstDash val="solid"/>
          </a:ln>
        </p:spPr>
      </p:sp>
      <p:sp>
        <p:nvSpPr>
          <p:cNvPr id="12" name="Text 7"/>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13" name="Shape 8"/>
          <p:cNvSpPr/>
          <p:nvPr/>
        </p:nvSpPr>
        <p:spPr>
          <a:xfrm>
            <a:off x="6766560" y="3058753"/>
            <a:ext cx="146304" cy="146304"/>
          </a:xfrm>
          <a:prstGeom prst="rect">
            <a:avLst/>
          </a:prstGeom>
          <a:solidFill>
            <a:srgbClr val="0E7C86"/>
          </a:solidFill>
          <a:ln w="12700">
            <a:solidFill>
              <a:srgbClr val="0E7C86"/>
            </a:solidFill>
            <a:prstDash val="solid"/>
          </a:ln>
        </p:spPr>
      </p:sp>
      <p:sp>
        <p:nvSpPr>
          <p:cNvPr id="14" name="Text 9"/>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5" name="Shape 10"/>
          <p:cNvSpPr/>
          <p:nvPr/>
        </p:nvSpPr>
        <p:spPr>
          <a:xfrm>
            <a:off x="6766560" y="3996690"/>
            <a:ext cx="146304" cy="146304"/>
          </a:xfrm>
          <a:prstGeom prst="rect">
            <a:avLst/>
          </a:prstGeom>
          <a:solidFill>
            <a:srgbClr val="C7791B"/>
          </a:solidFill>
          <a:ln w="12700">
            <a:solidFill>
              <a:srgbClr val="C7791B"/>
            </a:solidFill>
            <a:prstDash val="solid"/>
          </a:ln>
        </p:spPr>
      </p:sp>
      <p:sp>
        <p:nvSpPr>
          <p:cNvPr id="16" name="Text 11"/>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5" name="Shape 2"/>
          <p:cNvSpPr/>
          <p:nvPr/>
        </p:nvSpPr>
        <p:spPr>
          <a:xfrm>
            <a:off x="8894013" y="91440"/>
            <a:ext cx="2749042" cy="274320"/>
          </a:xfrm>
          <a:prstGeom prst="rect">
            <a:avLst/>
          </a:prstGeom>
          <a:solidFill>
            <a:srgbClr val="FEF3C7"/>
          </a:solidFill>
          <a:ln w="12700">
            <a:solidFill>
              <a:srgbClr val="B45309"/>
            </a:solidFill>
            <a:prstDash val="solid"/>
          </a:ln>
        </p:spPr>
      </p:sp>
      <p:sp>
        <p:nvSpPr>
          <p:cNvPr id="6" name="Shape 3"/>
          <p:cNvSpPr/>
          <p:nvPr/>
        </p:nvSpPr>
        <p:spPr>
          <a:xfrm>
            <a:off x="8894013" y="91440"/>
            <a:ext cx="27432" cy="274320"/>
          </a:xfrm>
          <a:prstGeom prst="rect">
            <a:avLst/>
          </a:prstGeom>
          <a:solidFill>
            <a:srgbClr val="B45309"/>
          </a:solidFill>
          <a:ln w="12700">
            <a:solidFill>
              <a:srgbClr val="B45309"/>
            </a:solidFill>
            <a:prstDash val="solid"/>
          </a:ln>
        </p:spPr>
      </p:sp>
      <p:sp>
        <p:nvSpPr>
          <p:cNvPr id="7" name="Shape 4"/>
          <p:cNvSpPr/>
          <p:nvPr/>
        </p:nvSpPr>
        <p:spPr>
          <a:xfrm>
            <a:off x="8948877"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9" name="Text 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1, 2, 3, 4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0, 1, 2, 3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254, 255, 0, 1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253, 254, 255, 0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127</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283</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307</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and ends at once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once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nothing, until A is released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states cycle at every frame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save an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the head can enter the cell the tail leaves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sb is faster than lbu</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order does not matter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2026-10-16T15:51:38Z</dcterms:created>
  <dcterms:modified xsi:type="dcterms:W3CDTF">2026-10-16T15:51:38Z</dcterms:modified>
</cp:coreProperties>
</file>