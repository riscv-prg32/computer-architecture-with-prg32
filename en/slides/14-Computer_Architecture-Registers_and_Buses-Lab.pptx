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a92a3d-fc1e-5c01-ce4d-3376e446be7a}">
          <p14:sldIdLst>
            <p14:sldId id="256"/>
            <p14:sldId id="257"/>
          </p14:sldIdLst>
        </p14:section>
        <p14:section name="Warm-up on the machine" id="{d60e1369-8b19-8031-a5d5-6bcc5181acfd}">
          <p14:sldIdLst>
            <p14:sldId id="258"/>
          </p14:sldIdLst>
        </p14:section>
        <p14:section name="Back to the machine" id="{54107c52-3bd1-7e69-4aed-d277a48b37f0}">
          <p14:sldIdLst>
            <p14:sldId id="259"/>
            <p14:sldId id="260"/>
          </p14:sldIdLst>
        </p14:section>
        <p14:section name="The complete program" id="{fb22db90-f208-810c-c549-3d8f926f91a7}">
          <p14:sldIdLst>
            <p14:sldId id="261"/>
            <p14:sldId id="262"/>
            <p14:sldId id="263"/>
            <p14:sldId id="264"/>
            <p14:sldId id="265"/>
            <p14:sldId id="266"/>
          </p14:sldIdLst>
        </p14:section>
        <p14:section name="Run it and test it" id="{38297457-1dc5-7d12-b24a-fc8265457b82}">
          <p14:sldIdLst>
            <p14:sldId id="267"/>
            <p14:sldId id="268"/>
            <p14:sldId id="269"/>
            <p14:sldId id="270"/>
            <p14:sldId id="271"/>
          </p14:sldIdLst>
        </p14:section>
        <p14:section name="Exercises" id="{c70bdef5-712a-ee50-d401-4ce697aa94e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14.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Roadmap. Today's outcomes: (1) explain how registers share a bus through three-state buffers; (2) use a shift register for serial transfer. Builds on: registers as flip-flops (Lecture 13). Next: Lecture 15,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~/arc12/code/l14.S; tools/tests/cartridges/run.py builds it, runs it on PRG32-QT with scripted input and checks the pixels of the frame.
For the lecturer: Get the code once: git clone https://github.com/riscv-prg32/computer-architecture-with-prg32 ~/arc12. The program of this lecture is ~/arc12/code/l14.S;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loop transmits a byte one bit at a time, most significant bit first. At each iteration the byte is shifted right by 7 and masked with 1, isolating its top bit; that bit would be placed on a data line and a clock line pulsed; the byte is then shifted left by one, so that the next bit moves into the top position. After eight iterations the whole byte has been sent. The loop is a shift register realised in software. The two elided lines would write to memory-mapped GPIO registers, a mechanism explained in Lecture 15. The chip of the kit contains dedicated hardware that performs the same operation millions of times per second.
UNDERSTAND NOW: shift registers. UNDERSTAND LATER: memory-mapped I/O (studied in Lecture 15).
For the lecturer: Written for this lecture. On the kit the display uses SPI and the amplifier I2S: both are serial buses driven by shift registers inside the chip. The two elided lines would write to memory-mapped GPIO registers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buses of the kit. Within the chip the bus is parallel. The display is connected by SPI, a serial bus with a clock line, a data line, a chip-select line and a line distinguishing data from commands; every pixel of every frame travels across it bit by bit. The amplifier is connected by I2S, another serial bus, which carries 22,050 audio samples per second. The buttons use one wire each, a decoded representation. USB, also serial, carries the firmware and the debug console. The kit thus exemplifies the general trend stated in the lecture: parallel inside the chip, serial between chips.
UNDERSTAND NOW: buses and three-state gates.
For the lecturer: From the hardware description of the PRG32 repository (docs/hardware). Chip select is the CS of the small memory of the lecture deck: several devices can share the same serial bus because only the selected one listens.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instructions move every bit of a register in a single step: slli and srli fill with zeros, srai with copies of the sign bit, while sll, srl and sra take the shift amount from a register. In hardware this is not a chain of flip-flops, which would require one clock pulse per position, but a barrel shifter, a combinational network of layers of multiplexers, and one of the units of the ALU. The code on the right shows the two conversions, parallel to serial and serial to parallel.
UNDERSTAND NOW: shift registers.
For the lecturer: A true shift register needs n clock pulses for n positions; the barrel shifter of the ALU is combinational and does it within one clock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Draw a 4-bit serial-in, parallel-out shift register and trace its content over four clock pulses. Write the enable and load signals that copy one register into another over a common bus. Complete the warm-up with the receiving loop, which reconstructs the byte. On PRG32, display a byte as eight lamps and shift it every half second. Finally, make the bit that leaves on one side re-enter on the other: a rotation, which in hardware is called a ring counter.
For the lecturer: Exercise 3: slli a1, a1, 1 then or with the received bit, eight times. Exercise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code/l14.S, 94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a byte one bit at a time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display and the sound chip of the kit are connected by a few wires, not by thirty-two</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word must therefore travel one bit after another: a serial transfer</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loop is a shift register in software: shift, take one bit, repeat</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ESP32-C6 has hardware that does exactly this, millions of times per second</a:t>
            </a:r>
            <a:endParaRPr lang="en-US" sz="1300" dirty="0"/>
          </a:p>
        </p:txBody>
      </p:sp>
      <p:sp>
        <p:nvSpPr>
          <p:cNvPr id="17" name="Shape 15"/>
          <p:cNvSpPr/>
          <p:nvPr/>
        </p:nvSpPr>
        <p:spPr>
          <a:xfrm>
            <a:off x="7414590" y="91440"/>
            <a:ext cx="4228465" cy="274320"/>
          </a:xfrm>
          <a:prstGeom prst="rect">
            <a:avLst/>
          </a:prstGeom>
          <a:solidFill>
            <a:srgbClr val="F3E8FF"/>
          </a:solidFill>
          <a:ln w="12700">
            <a:solidFill>
              <a:srgbClr val="7E22CE"/>
            </a:solidFill>
            <a:prstDash val="dash"/>
          </a:ln>
        </p:spPr>
      </p:sp>
      <p:sp>
        <p:nvSpPr>
          <p:cNvPr id="18" name="Shape 16"/>
          <p:cNvSpPr/>
          <p:nvPr/>
        </p:nvSpPr>
        <p:spPr>
          <a:xfrm>
            <a:off x="7442022" y="128016"/>
            <a:ext cx="45720" cy="45720"/>
          </a:xfrm>
          <a:prstGeom prst="rect">
            <a:avLst/>
          </a:prstGeom>
          <a:solidFill>
            <a:srgbClr val="7E22CE"/>
          </a:solidFill>
          <a:ln w="12700">
            <a:solidFill>
              <a:srgbClr val="7E22CE"/>
            </a:solidFill>
            <a:prstDash val="solid"/>
          </a:ln>
        </p:spPr>
      </p:sp>
      <p:sp>
        <p:nvSpPr>
          <p:cNvPr id="19" name="Shape 17"/>
          <p:cNvSpPr/>
          <p:nvPr/>
        </p:nvSpPr>
        <p:spPr>
          <a:xfrm>
            <a:off x="7442022" y="205740"/>
            <a:ext cx="45720" cy="45720"/>
          </a:xfrm>
          <a:prstGeom prst="rect">
            <a:avLst/>
          </a:prstGeom>
          <a:solidFill>
            <a:srgbClr val="7E22CE"/>
          </a:solidFill>
          <a:ln w="12700">
            <a:solidFill>
              <a:srgbClr val="7E22CE"/>
            </a:solidFill>
            <a:prstDash val="solid"/>
          </a:ln>
        </p:spPr>
      </p:sp>
      <p:sp>
        <p:nvSpPr>
          <p:cNvPr id="20" name="Shape 18"/>
          <p:cNvSpPr/>
          <p:nvPr/>
        </p:nvSpPr>
        <p:spPr>
          <a:xfrm>
            <a:off x="7442022"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22" name="Text 19"/>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memory-mapped I/O</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23" name="Shape 20"/>
          <p:cNvSpPr/>
          <p:nvPr/>
        </p:nvSpPr>
        <p:spPr>
          <a:xfrm>
            <a:off x="4343476" y="91440"/>
            <a:ext cx="2961386" cy="274320"/>
          </a:xfrm>
          <a:prstGeom prst="rect">
            <a:avLst/>
          </a:prstGeom>
          <a:solidFill>
            <a:srgbClr val="E0F2FE"/>
          </a:solidFill>
          <a:ln w="12700">
            <a:solidFill>
              <a:srgbClr val="0369A1"/>
            </a:solidFill>
            <a:prstDash val="solid"/>
          </a:ln>
        </p:spPr>
      </p:sp>
      <p:sp>
        <p:nvSpPr>
          <p:cNvPr id="24" name="Shape 21"/>
          <p:cNvSpPr/>
          <p:nvPr/>
        </p:nvSpPr>
        <p:spPr>
          <a:xfrm>
            <a:off x="4343476"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471492" y="128016"/>
            <a:ext cx="201168" cy="201168"/>
          </a:xfrm>
          <a:prstGeom prst="rect">
            <a:avLst/>
          </a:prstGeom>
        </p:spPr>
      </p:pic>
      <p:sp>
        <p:nvSpPr>
          <p:cNvPr id="26" name="Text 22"/>
          <p:cNvSpPr txBox="1"/>
          <p:nvPr/>
        </p:nvSpPr>
        <p:spPr>
          <a:xfrm>
            <a:off x="4727524"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on the PRG32 kit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Connection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Kind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travels on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inside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data lines, address and control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data and register transfers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data out, chip select, data/command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every pixel of every frame, bit by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sound amplifier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bit clock, word select,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audio samples, 22,050 per second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and buttons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wire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input pin each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decoded representation: one line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to the laptop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differential pair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 data wires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firmware and the debug console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2"/>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Shifts in RISC-V: a shift register in one instruction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and srli move all the bits of a register by a given number of positions, filling with zeros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fills with copies of the sign bit (Lecture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and sra take the amount from a second register</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a shift by any amount in one step is done by a barrel shifter: layers of multiplexers, not a chain of flip-flops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shifter is one of the units of the ALU of Lecture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15" name="Shape 13"/>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4"/>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5"/>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top row: the eight bits of 0xA5 in the order in which they leave, most significant first (lit, dark, lit, dark, dark, lit, dark, lit). Bottom row: the byte rebuilt by the receiver. A green square says that it is equal to the byte sent.</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a 4-bit serial-in, parallel-out shift register with D flip-flops, and fill in its contents over four clock pulses for the input 1, 0, 1, 1</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registers share a common bus: write the enable and load signals needed to copy register B into register A</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warm-up: write the loop that receives eight bits from a line and rebuilds the byte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On PRG32, show a byte as eight lamps and shift it left by one position every half second</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Make the bit that leaves on the left come back in on the right (a rotation): a ring counter</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pattern of lamps that walks to the left and, in the last exercise, goes round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 the code</dc:title>
  <dc:subject>Lecture 14</dc:subject>
  <dc:creator>Raffaele Montella</dc:creator>
  <cp:lastModifiedBy>Raffaele Montella</cp:lastModifiedBy>
  <cp:revision>1</cp:revision>
  <dcterms:created xsi:type="dcterms:W3CDTF">2026-10-17T07:16:48Z</dcterms:created>
  <dcterms:modified xsi:type="dcterms:W3CDTF">2026-10-17T07:16:48Z</dcterms:modified>
</cp:coreProperties>
</file>