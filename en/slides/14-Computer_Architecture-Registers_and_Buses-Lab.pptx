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b25177d-bf06-fb4f-fb58-819d41b54851}">
          <p14:sldIdLst>
            <p14:sldId id="256"/>
            <p14:sldId id="257"/>
          </p14:sldIdLst>
        </p14:section>
        <p14:section name="Warm-up on the machine" id="{e59d45a6-3618-4bc6-fd58-65ce217f22fb}">
          <p14:sldIdLst>
            <p14:sldId id="258"/>
          </p14:sldIdLst>
        </p14:section>
        <p14:section name="Back to the machine" id="{6853fd1e-2490-4076-11d9-347a73789eb5}">
          <p14:sldIdLst>
            <p14:sldId id="259"/>
            <p14:sldId id="260"/>
          </p14:sldIdLst>
        </p14:section>
        <p14:section name="The complete program" id="{48233310-d70c-a8f5-b083-1333f2593cd6}">
          <p14:sldIdLst>
            <p14:sldId id="261"/>
            <p14:sldId id="262"/>
            <p14:sldId id="263"/>
            <p14:sldId id="264"/>
            <p14:sldId id="265"/>
            <p14:sldId id="266"/>
          </p14:sldIdLst>
        </p14:section>
        <p14:section name="Run it and test it" id="{ff25c06c-dd67-4c2b-b1af-622f049fa7ea}">
          <p14:sldIdLst>
            <p14:sldId id="267"/>
            <p14:sldId id="268"/>
            <p14:sldId id="269"/>
            <p14:sldId id="270"/>
            <p14:sldId id="271"/>
          </p14:sldIdLst>
        </p14:section>
        <p14:section name="Exercises" id="{42c02844-e130-4b10-f11f-6d6d0bf9a995}">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14. Where the lecture deck develops the concepts, this deck contains everything that is written and executed: each listing with its commentary, the complete program of the lecture, the output it is expected to produce, and the procedure for testing it on each of the three hosts. The two decks are meant to be read together: the concepts explain the code, and the code gives the concepts an observable consequence.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shift registers; registers as flip-flops; buses and three-state gates. USE NOW: the complete program, the PRG32 tools (used, not studied, in this course). UNDERSTAND LATER: memory-mapped I/O (Lecture 15); memories and addresses (Lecture 15). A slide without a badge is context: a story, an example, a question, an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contents of the deck, in the order of the slides. The program of the lecture is a complete source file that can be built and executed as it stands. The recommended approach is to run it first, observe its behaviour, and then return to the individual listings to understand how each part contributes to that behaviour. The program of this lecture is ~/arc12/code/l14.S; tools/tests/cartridges/run.py builds it, runs it on PRG32-QT with scripted input and checks the pixels of the frame.
For the lecturer: Get the code once: git clone https://github.com/riscv-prg32/computer-architecture-with-prg32 ~/arc12. The program of this lecture is ~/arc12/code/l14.S; tools/tests/cartridges/run.py builds it, runs it on PRG32-QT with scripted input and checks the pixels of the frame.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warm-up loop transmits a byte one bit at a time, most significant bit first. At each iteration the byte is shifted right by 7 and masked with 1, isolating its top bit; that bit would be placed on a data line and a clock line pulsed; the byte is then shifted left by one, so that the next bit moves into the top position. After eight iterations the whole byte has been sent. The loop is a shift register realised in software. The two elided lines would write to memory-mapped GPIO registers, a mechanism explained in Lecture 15. The chip of the kit contains dedicated hardware that performs the same operation millions of times per second.
UNDERSTAND NOW: shift registers. UNDERSTAND LATER: memory-mapped I/O (studied in Lecture 15).
For the lecturer: Written for this lecture. On the kit the display uses SPI and the amplifier I2S: both are serial buses driven by shift registers inside the chip. The two elided lines would write to memory-mapped GPIO registers (Lecture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buses of the kit. Within the chip the bus is parallel. The display is connected by SPI, a serial bus with a clock line, a data line, a chip-select line and a line distinguishing data from commands; every pixel of every frame travels across it bit by bit. The amplifier is connected by I2S, another serial bus, which carries 22,050 audio samples per second. The buttons use one wire each, a decoded representation. USB, also serial, carries the firmware and the debug console. The kit thus exemplifies the general trend stated in the lecture: parallel inside the chip, serial between chips.
UNDERSTAND NOW: buses and three-state gates.
For the lecturer: From the hardware description of the PRG32 repository (docs/hardware). Chip select is the CS of the small memory of the lecture deck: several devices can share the same serial bus because only the selected one listens.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shift instructions move every bit of a register in a single step: slli and srli fill with zeros, srai with copies of the sign bit, while sll, srl and sra take the shift amount from a register. In hardware this is not a chain of flip-flops, which would require one clock pulse per position, but a barrel shifter, a combinational network of layers of multiplexers, and one of the units of the ALU. The code on the right shows the two conversions, parallel to serial and serial to parallel.
UNDERSTAND NOW: shift registers.
For the lecturer: A true shift register needs n clock pulses for n positions; the barrel shifter of the ALU is combinational and does it within one clock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code/l14.S,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code/l14.S,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code/l14.S,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code/l14.S,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code/l14.S,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code/l14.S,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behaviour of the program, and the input it requires. The outcome should be predicted before the program is run: any discrepancy between prediction and screen is information about one's model of the machine, and is worth explaining before it is corrected. The image was produced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direct route: PRG32-QT on one's own computer, in four steps, each with its command. PRG32-QT presents itself to the tools as a board listening on port 8080, which is why the upload command names the esp32c6. With debug mode enabled, execution can be halted at any instruction and the registers and memory inspected.
USE NOW: the PRG32 tools (used, not studied, in this course).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executes the actual firmware on an emulated chip, so the cartridge must be built for the qemu architecture and staged while QEMU is not running. The firmware starts on its Setup menu, from which Run Cartridge and the slot are selected. Keyboard input is read by the terminal from which QEMU was launched, not by the window that displays the image.
USE NOW: the PRG32 tools (used, not studied, in this course).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physical kit. The firmware is written once, over USB; thereafter cartridges are transferred over Wi-Fi with the same upload command used for PRG32-QT, addressed to the board. This is the only host not exercised by the automatic tests, so observations made on the board are particularly valuable and should be reported.
USE NOW: the PRG32 tools (used, not studied, in this course).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frequent symptoms, their meaning, and the corrective action. The error message should be read in full before anything is changed: in nearly every case it names the cause. When asking for help, the command and the complete message should be reported verbatim.
USE NOW: the PRG32 tools (used, not studied, in this course).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exercises. Draw a 4-bit serial-in, parallel-out shift register and trace its content over four clock pulses. Write the enable and load signals that copy one register into another over a common bus. Complete the warm-up with the receiving loop, which reconstructs the byte. On PRG32, display a byte as eight lamps and shift it every half second. Finally, make the bit that leaves on one side re-enter on the other: a rotation, which in hardware is called a ring counter.
For the lecturer: Exercise 3: slli a1, a1, 1 then or with the received bit, eight times. Exercise 5: srli t1, a0, 7; andi t1, t1, 1; slli a0, a0, 1; or a0, a0, t1; andi a0, a0, 255.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14: Registers and buses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14</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Elementary Machines: Registers and Buses: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Code deck. The concepts, the figures and the questions are in the lecture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14-Computer_Architecture-Registers_and_Buses.pptx</a:t>
            </a:r>
            <a:endParaRPr lang="en-US" sz="13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menu_main.png">    </p:cNvPr>
          <p:cNvPicPr>
            <a:picLocks noChangeAspect="1"/>
          </p:cNvPicPr>
          <p:nvPr/>
        </p:nvPicPr>
        <p:blipFill>
          <a:blip r:embed="rId1"/>
          <a:stretch>
            <a:fillRect/>
          </a:stretch>
        </p:blipFill>
        <p:spPr>
          <a:xfrm>
            <a:off x="8915095" y="4251960"/>
            <a:ext cx="2438400" cy="1828800"/>
          </a:xfrm>
          <a:prstGeom prst="rect">
            <a:avLst/>
          </a:prstGeom>
        </p:spPr>
      </p:pic>
      <p:sp>
        <p:nvSpPr>
          <p:cNvPr id="14" name="Shape 11"/>
          <p:cNvSpPr/>
          <p:nvPr/>
        </p:nvSpPr>
        <p:spPr>
          <a:xfrm>
            <a:off x="9690303" y="91440"/>
            <a:ext cx="1952752" cy="274320"/>
          </a:xfrm>
          <a:prstGeom prst="rect">
            <a:avLst/>
          </a:prstGeom>
          <a:solidFill>
            <a:srgbClr val="F3E8FF"/>
          </a:solidFill>
          <a:ln w="12700">
            <a:solidFill>
              <a:srgbClr val="7E22CE"/>
            </a:solidFill>
            <a:prstDash val="dash"/>
          </a:ln>
        </p:spPr>
      </p:sp>
      <p:sp>
        <p:nvSpPr>
          <p:cNvPr id="15" name="Shape 12"/>
          <p:cNvSpPr/>
          <p:nvPr/>
        </p:nvSpPr>
        <p:spPr>
          <a:xfrm>
            <a:off x="9717735" y="128016"/>
            <a:ext cx="45720" cy="45720"/>
          </a:xfrm>
          <a:prstGeom prst="rect">
            <a:avLst/>
          </a:prstGeom>
          <a:solidFill>
            <a:srgbClr val="7E22CE"/>
          </a:solidFill>
          <a:ln w="12700">
            <a:solidFill>
              <a:srgbClr val="7E22CE"/>
            </a:solidFill>
            <a:prstDash val="solid"/>
          </a:ln>
        </p:spPr>
      </p:sp>
      <p:sp>
        <p:nvSpPr>
          <p:cNvPr id="16" name="Shape 13"/>
          <p:cNvSpPr/>
          <p:nvPr/>
        </p:nvSpPr>
        <p:spPr>
          <a:xfrm>
            <a:off x="9717735" y="205740"/>
            <a:ext cx="45720" cy="45720"/>
          </a:xfrm>
          <a:prstGeom prst="rect">
            <a:avLst/>
          </a:prstGeom>
          <a:solidFill>
            <a:srgbClr val="7E22CE"/>
          </a:solidFill>
          <a:ln w="12700">
            <a:solidFill>
              <a:srgbClr val="7E22CE"/>
            </a:solidFill>
            <a:prstDash val="solid"/>
          </a:ln>
        </p:spPr>
      </p:sp>
      <p:sp>
        <p:nvSpPr>
          <p:cNvPr id="17" name="Shape 14"/>
          <p:cNvSpPr/>
          <p:nvPr/>
        </p:nvSpPr>
        <p:spPr>
          <a:xfrm>
            <a:off x="9717735" y="283464"/>
            <a:ext cx="45720" cy="45720"/>
          </a:xfrm>
          <a:prstGeom prst="rect">
            <a:avLst/>
          </a:prstGeom>
          <a:solidFill>
            <a:srgbClr val="7E22CE"/>
          </a:solidFill>
          <a:ln w="12700">
            <a:solidFill>
              <a:srgbClr val="7E22CE"/>
            </a:solidFill>
            <a:prstDash val="solid"/>
          </a:ln>
        </p:spPr>
      </p:sp>
      <p:pic>
        <p:nvPicPr>
          <p:cNvPr id="18"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19" name="Text 15"/>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0" name="Shape 16"/>
          <p:cNvSpPr/>
          <p:nvPr/>
        </p:nvSpPr>
        <p:spPr>
          <a:xfrm>
            <a:off x="8407349" y="91440"/>
            <a:ext cx="1173226" cy="274320"/>
          </a:xfrm>
          <a:prstGeom prst="rect">
            <a:avLst/>
          </a:prstGeom>
          <a:solidFill>
            <a:srgbClr val="FEF3C7"/>
          </a:solidFill>
          <a:ln w="12700">
            <a:solidFill>
              <a:srgbClr val="B45309"/>
            </a:solidFill>
            <a:prstDash val="solid"/>
          </a:ln>
        </p:spPr>
      </p:sp>
      <p:sp>
        <p:nvSpPr>
          <p:cNvPr id="21" name="Shape 17"/>
          <p:cNvSpPr/>
          <p:nvPr/>
        </p:nvSpPr>
        <p:spPr>
          <a:xfrm>
            <a:off x="8407349" y="91440"/>
            <a:ext cx="27432" cy="274320"/>
          </a:xfrm>
          <a:prstGeom prst="rect">
            <a:avLst/>
          </a:prstGeom>
          <a:solidFill>
            <a:srgbClr val="B45309"/>
          </a:solidFill>
          <a:ln w="12700">
            <a:solidFill>
              <a:srgbClr val="B45309"/>
            </a:solidFill>
            <a:prstDash val="solid"/>
          </a:ln>
        </p:spPr>
      </p:sp>
      <p:sp>
        <p:nvSpPr>
          <p:cNvPr id="22" name="Shape 18"/>
          <p:cNvSpPr/>
          <p:nvPr/>
        </p:nvSpPr>
        <p:spPr>
          <a:xfrm>
            <a:off x="8462213" y="91440"/>
            <a:ext cx="27432" cy="274320"/>
          </a:xfrm>
          <a:prstGeom prst="rect">
            <a:avLst/>
          </a:prstGeom>
          <a:solidFill>
            <a:srgbClr val="B45309"/>
          </a:solidFill>
          <a:ln w="12700">
            <a:solidFill>
              <a:srgbClr val="B45309"/>
            </a:solidFill>
            <a:prstDash val="solid"/>
          </a:ln>
        </p:spPr>
      </p:sp>
      <p:pic>
        <p:nvPicPr>
          <p:cNvPr id="23"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4" name="Text 19"/>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5" name="Shape 20"/>
          <p:cNvSpPr/>
          <p:nvPr/>
        </p:nvSpPr>
        <p:spPr>
          <a:xfrm>
            <a:off x="6518097" y="91440"/>
            <a:ext cx="1779524" cy="274320"/>
          </a:xfrm>
          <a:prstGeom prst="rect">
            <a:avLst/>
          </a:prstGeom>
          <a:solidFill>
            <a:srgbClr val="E0F2FE"/>
          </a:solidFill>
          <a:ln w="12700">
            <a:solidFill>
              <a:srgbClr val="0369A1"/>
            </a:solidFill>
            <a:prstDash val="solid"/>
          </a:ln>
        </p:spPr>
      </p:sp>
      <p:sp>
        <p:nvSpPr>
          <p:cNvPr id="26" name="Shape 21"/>
          <p:cNvSpPr/>
          <p:nvPr/>
        </p:nvSpPr>
        <p:spPr>
          <a:xfrm>
            <a:off x="6518097" y="91440"/>
            <a:ext cx="73152" cy="274320"/>
          </a:xfrm>
          <a:prstGeom prst="rect">
            <a:avLst/>
          </a:prstGeom>
          <a:solidFill>
            <a:srgbClr val="0369A1"/>
          </a:solidFill>
          <a:ln w="12700">
            <a:solidFill>
              <a:srgbClr val="0369A1"/>
            </a:solidFill>
            <a:prstDash val="solid"/>
          </a:ln>
        </p:spPr>
      </p:sp>
      <p:pic>
        <p:nvPicPr>
          <p:cNvPr id="27"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8" name="Text 22"/>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6184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60020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2 listings of Lecture 14, one per slide: read the code, then the numbered remarks beside it</a:t>
            </a:r>
            <a:endParaRPr lang="en-US" sz="2200" dirty="0"/>
          </a:p>
        </p:txBody>
      </p:sp>
      <p:sp>
        <p:nvSpPr>
          <p:cNvPr id="5" name="Text 3"/>
          <p:cNvSpPr txBox="1"/>
          <p:nvPr/>
        </p:nvSpPr>
        <p:spPr>
          <a:xfrm>
            <a:off x="548640" y="27574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73913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complete program: code/l14.S, 94 lines, printed in full</a:t>
            </a:r>
            <a:endParaRPr lang="en-US" sz="2200" dirty="0"/>
          </a:p>
        </p:txBody>
      </p:sp>
      <p:sp>
        <p:nvSpPr>
          <p:cNvPr id="7" name="Text 5"/>
          <p:cNvSpPr txBox="1"/>
          <p:nvPr/>
        </p:nvSpPr>
        <p:spPr>
          <a:xfrm>
            <a:off x="548640" y="365353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63524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54964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53136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4457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2747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Send a byte one bit at a time</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350" dirty="0">
                <a:solidFill>
                  <a:srgbClr val="8FB3A0"/>
                </a:solidFill>
                <a:latin typeface="Courier New" pitchFamily="34" charset="0"/>
                <a:ea typeface="Courier New" pitchFamily="34" charset="-122"/>
                <a:cs typeface="Courier New" pitchFamily="34" charset="-120"/>
              </a:rPr>
              <a:t># a0 = the byte to send, most significant bit first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t0, 8               </a:t>
            </a:r>
            <a:pPr indent="0" marL="0">
              <a:buNone/>
            </a:pPr>
            <a:r>
              <a:rPr lang="en-US" sz="1350" dirty="0">
                <a:solidFill>
                  <a:srgbClr val="8FB3A0"/>
                </a:solidFill>
                <a:latin typeface="Courier New" pitchFamily="34" charset="0"/>
                <a:ea typeface="Courier New" pitchFamily="34" charset="-122"/>
                <a:cs typeface="Courier New" pitchFamily="34" charset="-120"/>
              </a:rPr>
              <a:t># eight bits to go</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1:  srli t1, a0, 7           </a:t>
            </a:r>
            <a:pPr indent="0" marL="0">
              <a:buNone/>
            </a:pPr>
            <a:r>
              <a:rPr lang="en-US" sz="1350" dirty="0">
                <a:solidFill>
                  <a:srgbClr val="8FB3A0"/>
                </a:solidFill>
                <a:latin typeface="Courier New" pitchFamily="34" charset="0"/>
                <a:ea typeface="Courier New" pitchFamily="34" charset="-122"/>
                <a:cs typeface="Courier New" pitchFamily="34" charset="-120"/>
              </a:rPr>
              <a:t># bring bit 7 down to bit 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andi t1, t1, 1           </a:t>
            </a:r>
            <a:pPr indent="0" marL="0">
              <a:buNone/>
            </a:pPr>
            <a:r>
              <a:rPr lang="en-US" sz="1350" dirty="0">
                <a:solidFill>
                  <a:srgbClr val="8FB3A0"/>
                </a:solidFill>
                <a:latin typeface="Courier New" pitchFamily="34" charset="0"/>
                <a:ea typeface="Courier New" pitchFamily="34" charset="-122"/>
                <a:cs typeface="Courier New" pitchFamily="34" charset="-120"/>
              </a:rPr>
              <a:t># t1 = the bit to put on the wire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                      </a:t>
            </a:r>
            <a:pPr indent="0" marL="0">
              <a:buNone/>
            </a:pPr>
            <a:r>
              <a:rPr lang="en-US" sz="1350" dirty="0">
                <a:solidFill>
                  <a:srgbClr val="8FB3A0"/>
                </a:solidFill>
                <a:latin typeface="Courier New" pitchFamily="34" charset="0"/>
                <a:ea typeface="Courier New" pitchFamily="34" charset="-122"/>
                <a:cs typeface="Courier New" pitchFamily="34" charset="-120"/>
              </a:rPr>
              <a:t># drive the data line with t1,</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                      </a:t>
            </a:r>
            <a:pPr indent="0" marL="0">
              <a:buNone/>
            </a:pPr>
            <a:r>
              <a:rPr lang="en-US" sz="1350" dirty="0">
                <a:solidFill>
                  <a:srgbClr val="8FB3A0"/>
                </a:solidFill>
                <a:latin typeface="Courier New" pitchFamily="34" charset="0"/>
                <a:ea typeface="Courier New" pitchFamily="34" charset="-122"/>
                <a:cs typeface="Courier New" pitchFamily="34" charset="-120"/>
              </a:rPr>
              <a:t># then pulse the clock line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slli a0, a0, 1           </a:t>
            </a:r>
            <a:pPr indent="0" marL="0">
              <a:buNone/>
            </a:pPr>
            <a:r>
              <a:rPr lang="en-US" sz="1350" dirty="0">
                <a:solidFill>
                  <a:srgbClr val="8FB3A0"/>
                </a:solidFill>
                <a:latin typeface="Courier New" pitchFamily="34" charset="0"/>
                <a:ea typeface="Courier New" pitchFamily="34" charset="-122"/>
                <a:cs typeface="Courier New" pitchFamily="34" charset="-120"/>
              </a:rPr>
              <a:t># shift left: the next bit moves up</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t0, t0, -1</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bnez t0, 1b</a:t>
            </a:r>
            <a:endParaRPr lang="en-US" sz="135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The display and the sound chip of the kit are connected by a few wires, not by thirty-two</a:t>
            </a:r>
            <a:endParaRPr lang="en-US" sz="13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A word must therefore travel one bit after another: a serial transfer</a:t>
            </a:r>
            <a:endParaRPr lang="en-US" sz="13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The loop is a shift register in software: shift, take one bit, repeat</a:t>
            </a:r>
            <a:endParaRPr lang="en-US" sz="13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The ESP32-C6 has hardware that does exactly this, millions of times per second</a:t>
            </a:r>
            <a:endParaRPr lang="en-US" sz="1300" dirty="0"/>
          </a:p>
        </p:txBody>
      </p:sp>
      <p:sp>
        <p:nvSpPr>
          <p:cNvPr id="17" name="Shape 15"/>
          <p:cNvSpPr/>
          <p:nvPr/>
        </p:nvSpPr>
        <p:spPr>
          <a:xfrm>
            <a:off x="7414590" y="91440"/>
            <a:ext cx="4228465" cy="274320"/>
          </a:xfrm>
          <a:prstGeom prst="rect">
            <a:avLst/>
          </a:prstGeom>
          <a:solidFill>
            <a:srgbClr val="F3E8FF"/>
          </a:solidFill>
          <a:ln w="12700">
            <a:solidFill>
              <a:srgbClr val="7E22CE"/>
            </a:solidFill>
            <a:prstDash val="dash"/>
          </a:ln>
        </p:spPr>
      </p:sp>
      <p:sp>
        <p:nvSpPr>
          <p:cNvPr id="18" name="Shape 16"/>
          <p:cNvSpPr/>
          <p:nvPr/>
        </p:nvSpPr>
        <p:spPr>
          <a:xfrm>
            <a:off x="7442022" y="128016"/>
            <a:ext cx="45720" cy="45720"/>
          </a:xfrm>
          <a:prstGeom prst="rect">
            <a:avLst/>
          </a:prstGeom>
          <a:solidFill>
            <a:srgbClr val="7E22CE"/>
          </a:solidFill>
          <a:ln w="12700">
            <a:solidFill>
              <a:srgbClr val="7E22CE"/>
            </a:solidFill>
            <a:prstDash val="solid"/>
          </a:ln>
        </p:spPr>
      </p:sp>
      <p:sp>
        <p:nvSpPr>
          <p:cNvPr id="19" name="Shape 17"/>
          <p:cNvSpPr/>
          <p:nvPr/>
        </p:nvSpPr>
        <p:spPr>
          <a:xfrm>
            <a:off x="7442022" y="205740"/>
            <a:ext cx="45720" cy="45720"/>
          </a:xfrm>
          <a:prstGeom prst="rect">
            <a:avLst/>
          </a:prstGeom>
          <a:solidFill>
            <a:srgbClr val="7E22CE"/>
          </a:solidFill>
          <a:ln w="12700">
            <a:solidFill>
              <a:srgbClr val="7E22CE"/>
            </a:solidFill>
            <a:prstDash val="solid"/>
          </a:ln>
        </p:spPr>
      </p:sp>
      <p:sp>
        <p:nvSpPr>
          <p:cNvPr id="20" name="Shape 18"/>
          <p:cNvSpPr/>
          <p:nvPr/>
        </p:nvSpPr>
        <p:spPr>
          <a:xfrm>
            <a:off x="7442022" y="283464"/>
            <a:ext cx="45720" cy="45720"/>
          </a:xfrm>
          <a:prstGeom prst="rect">
            <a:avLst/>
          </a:prstGeom>
          <a:solidFill>
            <a:srgbClr val="7E22CE"/>
          </a:solidFill>
          <a:ln w="12700">
            <a:solidFill>
              <a:srgbClr val="7E22CE"/>
            </a:solidFill>
            <a:prstDash val="solid"/>
          </a:ln>
        </p:spPr>
      </p:sp>
      <p:pic>
        <p:nvPicPr>
          <p:cNvPr id="21" name="Image 0" descr="preencoded.png">    </p:cNvPr>
          <p:cNvPicPr>
            <a:picLocks noChangeAspect="1"/>
          </p:cNvPicPr>
          <p:nvPr/>
        </p:nvPicPr>
        <p:blipFill>
          <a:blip r:embed="rId1"/>
          <a:stretch>
            <a:fillRect/>
          </a:stretch>
        </p:blipFill>
        <p:spPr>
          <a:xfrm>
            <a:off x="7542606" y="128016"/>
            <a:ext cx="201168" cy="201168"/>
          </a:xfrm>
          <a:prstGeom prst="rect">
            <a:avLst/>
          </a:prstGeom>
        </p:spPr>
      </p:pic>
      <p:sp>
        <p:nvSpPr>
          <p:cNvPr id="22" name="Text 19"/>
          <p:cNvSpPr txBox="1"/>
          <p:nvPr/>
        </p:nvSpPr>
        <p:spPr>
          <a:xfrm>
            <a:off x="7798638" y="91440"/>
            <a:ext cx="3807841"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pPr indent="0" marL="0">
              <a:buNone/>
            </a:pPr>
            <a:r>
              <a:rPr lang="en-US" sz="1100" dirty="0">
                <a:solidFill>
                  <a:srgbClr val="6B21A8"/>
                </a:solidFill>
                <a:latin typeface="Calibri" pitchFamily="34" charset="0"/>
                <a:ea typeface="Calibri" pitchFamily="34" charset="-122"/>
                <a:cs typeface="Calibri" pitchFamily="34" charset="-120"/>
              </a:rPr>
              <a:t> · memory-mapped I/O</a:t>
            </a:r>
            <a:pPr indent="0" marL="0">
              <a:buNone/>
            </a:pPr>
            <a:r>
              <a:rPr lang="en-US" sz="1100" b="1" dirty="0">
                <a:solidFill>
                  <a:srgbClr val="6B21A8"/>
                </a:solidFill>
                <a:latin typeface="Calibri" pitchFamily="34" charset="0"/>
                <a:ea typeface="Calibri" pitchFamily="34" charset="-122"/>
                <a:cs typeface="Calibri" pitchFamily="34" charset="-120"/>
              </a:rPr>
              <a:t> → Lecture 15</a:t>
            </a:r>
            <a:endParaRPr lang="en-US" sz="1100" dirty="0"/>
          </a:p>
        </p:txBody>
      </p:sp>
      <p:sp>
        <p:nvSpPr>
          <p:cNvPr id="23" name="Shape 20"/>
          <p:cNvSpPr/>
          <p:nvPr/>
        </p:nvSpPr>
        <p:spPr>
          <a:xfrm>
            <a:off x="4343476" y="91440"/>
            <a:ext cx="2961386" cy="274320"/>
          </a:xfrm>
          <a:prstGeom prst="rect">
            <a:avLst/>
          </a:prstGeom>
          <a:solidFill>
            <a:srgbClr val="E0F2FE"/>
          </a:solidFill>
          <a:ln w="12700">
            <a:solidFill>
              <a:srgbClr val="0369A1"/>
            </a:solidFill>
            <a:prstDash val="solid"/>
          </a:ln>
        </p:spPr>
      </p:sp>
      <p:sp>
        <p:nvSpPr>
          <p:cNvPr id="24" name="Shape 21"/>
          <p:cNvSpPr/>
          <p:nvPr/>
        </p:nvSpPr>
        <p:spPr>
          <a:xfrm>
            <a:off x="4343476" y="91440"/>
            <a:ext cx="73152" cy="274320"/>
          </a:xfrm>
          <a:prstGeom prst="rect">
            <a:avLst/>
          </a:prstGeom>
          <a:solidFill>
            <a:srgbClr val="0369A1"/>
          </a:solidFill>
          <a:ln w="12700">
            <a:solidFill>
              <a:srgbClr val="0369A1"/>
            </a:solidFill>
            <a:prstDash val="solid"/>
          </a:ln>
        </p:spPr>
      </p:sp>
      <p:pic>
        <p:nvPicPr>
          <p:cNvPr id="25" name="Image 1" descr="preencoded.png">    </p:cNvPr>
          <p:cNvPicPr>
            <a:picLocks noChangeAspect="1"/>
          </p:cNvPicPr>
          <p:nvPr/>
        </p:nvPicPr>
        <p:blipFill>
          <a:blip r:embed="rId2"/>
          <a:stretch>
            <a:fillRect/>
          </a:stretch>
        </p:blipFill>
        <p:spPr>
          <a:xfrm>
            <a:off x="4471492" y="128016"/>
            <a:ext cx="201168" cy="201168"/>
          </a:xfrm>
          <a:prstGeom prst="rect">
            <a:avLst/>
          </a:prstGeom>
        </p:spPr>
      </p:pic>
      <p:sp>
        <p:nvSpPr>
          <p:cNvPr id="26" name="Text 22"/>
          <p:cNvSpPr txBox="1"/>
          <p:nvPr/>
        </p:nvSpPr>
        <p:spPr>
          <a:xfrm>
            <a:off x="4727524" y="91440"/>
            <a:ext cx="2540762"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shift registers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Buses on the PRG32 kit</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546259"/>
                <a:gridCol w="2091570"/>
                <a:gridCol w="3273762"/>
                <a:gridCol w="3182824"/>
              </a:tblGrid>
              <a:tr h="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Connection</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Kind</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Lines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What travels on it</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inside the ESP32-C6</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parallel</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32 data lines, address and control</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instructions, data and register transfers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display (ILI9341)</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serial, SPI</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clock, data out, chip select, data/command</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every pixel of every frame, bit by bit</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sound amplifier</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serial, I2S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bit clock, word select, data</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audio samples, 22,050 per second</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joystick and buttons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one wire per button</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one input pin each</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a decoded representation: one line per button</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USB to the laptop</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serial, differential pair</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two data wires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the firmware and the debug console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7893761" y="91440"/>
            <a:ext cx="3749294" cy="274320"/>
          </a:xfrm>
          <a:prstGeom prst="rect">
            <a:avLst/>
          </a:prstGeom>
          <a:solidFill>
            <a:srgbClr val="E0F2FE"/>
          </a:solidFill>
          <a:ln w="12700">
            <a:solidFill>
              <a:srgbClr val="0369A1"/>
            </a:solidFill>
            <a:prstDash val="solid"/>
          </a:ln>
        </p:spPr>
      </p:sp>
      <p:sp>
        <p:nvSpPr>
          <p:cNvPr id="5" name="Shape 2"/>
          <p:cNvSpPr/>
          <p:nvPr/>
        </p:nvSpPr>
        <p:spPr>
          <a:xfrm>
            <a:off x="7893761"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8021777" y="128016"/>
            <a:ext cx="201168" cy="201168"/>
          </a:xfrm>
          <a:prstGeom prst="rect">
            <a:avLst/>
          </a:prstGeom>
        </p:spPr>
      </p:pic>
      <p:sp>
        <p:nvSpPr>
          <p:cNvPr id="7" name="Text 3"/>
          <p:cNvSpPr txBox="1"/>
          <p:nvPr/>
        </p:nvSpPr>
        <p:spPr>
          <a:xfrm>
            <a:off x="8277809" y="91440"/>
            <a:ext cx="332867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buses and three-state gates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Shifts in RISC-V: a shift register in one instruction</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46811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slli and srli move all the bits of a register by a given number of positions, filling with zeros</a:t>
            </a:r>
            <a:endParaRPr lang="en-US" sz="2100" dirty="0"/>
          </a:p>
        </p:txBody>
      </p:sp>
      <p:sp>
        <p:nvSpPr>
          <p:cNvPr id="5" name="Shape 3"/>
          <p:cNvSpPr/>
          <p:nvPr/>
        </p:nvSpPr>
        <p:spPr>
          <a:xfrm>
            <a:off x="548640" y="262337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524697"/>
            <a:ext cx="546811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srai fills with copies of the sign bit (Lecture 05)</a:t>
            </a:r>
            <a:endParaRPr lang="en-US" sz="2100" dirty="0"/>
          </a:p>
        </p:txBody>
      </p:sp>
      <p:sp>
        <p:nvSpPr>
          <p:cNvPr id="7" name="Shape 5"/>
          <p:cNvSpPr/>
          <p:nvPr/>
        </p:nvSpPr>
        <p:spPr>
          <a:xfrm>
            <a:off x="548640" y="340537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306699"/>
            <a:ext cx="546811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sll, srl and sra take the amount from a second register</a:t>
            </a:r>
            <a:endParaRPr lang="en-US" sz="2100" dirty="0"/>
          </a:p>
        </p:txBody>
      </p:sp>
      <p:sp>
        <p:nvSpPr>
          <p:cNvPr id="9" name="Shape 7"/>
          <p:cNvSpPr/>
          <p:nvPr/>
        </p:nvSpPr>
        <p:spPr>
          <a:xfrm>
            <a:off x="548640" y="4187381"/>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088702"/>
            <a:ext cx="5468112" cy="1301496"/>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In hardware a shift by any amount in one step is done by a barrel shifter: layers of multiplexers, not a chain of flip-flops</a:t>
            </a:r>
            <a:endParaRPr lang="en-US" sz="2100" dirty="0"/>
          </a:p>
        </p:txBody>
      </p:sp>
      <p:sp>
        <p:nvSpPr>
          <p:cNvPr id="11" name="Shape 9"/>
          <p:cNvSpPr/>
          <p:nvPr/>
        </p:nvSpPr>
        <p:spPr>
          <a:xfrm>
            <a:off x="548640" y="5620131"/>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21452"/>
            <a:ext cx="546811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The shifter is one of the units of the ALU of Lecture 11</a:t>
            </a:r>
            <a:endParaRPr lang="en-US" sz="2100" dirty="0"/>
          </a:p>
        </p:txBody>
      </p:sp>
      <p:sp>
        <p:nvSpPr>
          <p:cNvPr id="13" name="Shape 11"/>
          <p:cNvSpPr/>
          <p:nvPr/>
        </p:nvSpPr>
        <p:spPr>
          <a:xfrm>
            <a:off x="6766560" y="1417320"/>
            <a:ext cx="4876495" cy="3108960"/>
          </a:xfrm>
          <a:prstGeom prst="roundRect">
            <a:avLst>
              <a:gd name="adj" fmla="val 2353"/>
            </a:avLst>
          </a:prstGeom>
          <a:solidFill>
            <a:srgbClr val="12202B"/>
          </a:solidFill>
          <a:ln w="12700">
            <a:solidFill>
              <a:srgbClr val="12202B"/>
            </a:solidFill>
            <a:prstDash val="solid"/>
          </a:ln>
        </p:spPr>
      </p:sp>
      <p:sp>
        <p:nvSpPr>
          <p:cNvPr id="14" name="Text 12"/>
          <p:cNvSpPr txBox="1"/>
          <p:nvPr/>
        </p:nvSpPr>
        <p:spPr>
          <a:xfrm>
            <a:off x="6995160" y="1600200"/>
            <a:ext cx="4419295" cy="2743200"/>
          </a:xfrm>
          <a:prstGeom prst="rect">
            <a:avLst/>
          </a:prstGeom>
          <a:noFill/>
          <a:ln/>
        </p:spPr>
        <p:txBody>
          <a:bodyPr wrap="square" lIns="0" tIns="0" rIns="0" bIns="0" rtlCol="0" anchor="t"/>
          <a:lstStyle/>
          <a:p>
            <a:pPr indent="0" marL="0">
              <a:buNone/>
            </a:pPr>
            <a:r>
              <a:rPr lang="en-US" sz="1600" dirty="0">
                <a:solidFill>
                  <a:srgbClr val="8FB3A0"/>
                </a:solidFill>
                <a:latin typeface="Courier New" pitchFamily="34" charset="0"/>
                <a:ea typeface="Courier New" pitchFamily="34" charset="-122"/>
                <a:cs typeface="Courier New" pitchFamily="34" charset="-120"/>
              </a:rPr>
              <a:t># parallel to serial, LSB first</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andi t1, a0, 1     </a:t>
            </a:r>
            <a:pPr indent="0" marL="0">
              <a:buNone/>
            </a:pPr>
            <a:r>
              <a:rPr lang="en-US" sz="1600" dirty="0">
                <a:solidFill>
                  <a:srgbClr val="8FB3A0"/>
                </a:solidFill>
                <a:latin typeface="Courier New" pitchFamily="34" charset="0"/>
                <a:ea typeface="Courier New" pitchFamily="34" charset="-122"/>
                <a:cs typeface="Courier New" pitchFamily="34" charset="-120"/>
              </a:rPr>
              <a:t># take bit 0</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srli a0, a0, 1     </a:t>
            </a:r>
            <a:pPr indent="0" marL="0">
              <a:buNone/>
            </a:pPr>
            <a:r>
              <a:rPr lang="en-US" sz="1600" dirty="0">
                <a:solidFill>
                  <a:srgbClr val="8FB3A0"/>
                </a:solidFill>
                <a:latin typeface="Courier New" pitchFamily="34" charset="0"/>
                <a:ea typeface="Courier New" pitchFamily="34" charset="-122"/>
                <a:cs typeface="Courier New" pitchFamily="34" charset="-120"/>
              </a:rPr>
              <a:t># next bit</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8FB3A0"/>
                </a:solidFill>
                <a:latin typeface="Courier New" pitchFamily="34" charset="0"/>
                <a:ea typeface="Courier New" pitchFamily="34" charset="-122"/>
                <a:cs typeface="Courier New" pitchFamily="34" charset="-120"/>
              </a:rPr>
              <a:t># serial to parallel, MSB first</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slli a1, a1, 1     </a:t>
            </a:r>
            <a:pPr indent="0" marL="0">
              <a:buNone/>
            </a:pPr>
            <a:r>
              <a:rPr lang="en-US" sz="1600" dirty="0">
                <a:solidFill>
                  <a:srgbClr val="8FB3A0"/>
                </a:solidFill>
                <a:latin typeface="Courier New" pitchFamily="34" charset="0"/>
                <a:ea typeface="Courier New" pitchFamily="34" charset="-122"/>
                <a:cs typeface="Courier New" pitchFamily="34" charset="-120"/>
              </a:rPr>
              <a:t># make room</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or   a1, a1, t1    </a:t>
            </a:r>
            <a:pPr indent="0" marL="0">
              <a:buNone/>
            </a:pPr>
            <a:r>
              <a:rPr lang="en-US" sz="1600" dirty="0">
                <a:solidFill>
                  <a:srgbClr val="8FB3A0"/>
                </a:solidFill>
                <a:latin typeface="Courier New" pitchFamily="34" charset="0"/>
                <a:ea typeface="Courier New" pitchFamily="34" charset="-122"/>
                <a:cs typeface="Courier New" pitchFamily="34" charset="-120"/>
              </a:rPr>
              <a:t># insert bit</a:t>
            </a:r>
            <a:endParaRPr lang="en-US" sz="1600" dirty="0"/>
          </a:p>
        </p:txBody>
      </p:sp>
      <p:sp>
        <p:nvSpPr>
          <p:cNvPr id="15" name="Shape 13"/>
          <p:cNvSpPr/>
          <p:nvPr/>
        </p:nvSpPr>
        <p:spPr>
          <a:xfrm>
            <a:off x="8681669" y="91440"/>
            <a:ext cx="2961386" cy="274320"/>
          </a:xfrm>
          <a:prstGeom prst="rect">
            <a:avLst/>
          </a:prstGeom>
          <a:solidFill>
            <a:srgbClr val="E0F2FE"/>
          </a:solidFill>
          <a:ln w="12700">
            <a:solidFill>
              <a:srgbClr val="0369A1"/>
            </a:solidFill>
            <a:prstDash val="solid"/>
          </a:ln>
        </p:spPr>
      </p:sp>
      <p:sp>
        <p:nvSpPr>
          <p:cNvPr id="16" name="Shape 14"/>
          <p:cNvSpPr/>
          <p:nvPr/>
        </p:nvSpPr>
        <p:spPr>
          <a:xfrm>
            <a:off x="8681669" y="91440"/>
            <a:ext cx="73152" cy="274320"/>
          </a:xfrm>
          <a:prstGeom prst="rect">
            <a:avLst/>
          </a:prstGeom>
          <a:solidFill>
            <a:srgbClr val="0369A1"/>
          </a:solidFill>
          <a:ln w="12700">
            <a:solidFill>
              <a:srgbClr val="0369A1"/>
            </a:solidFill>
            <a:prstDash val="solid"/>
          </a:ln>
        </p:spPr>
      </p:sp>
      <p:pic>
        <p:nvPicPr>
          <p:cNvPr id="17" name="Image 0" descr="preencoded.png">    </p:cNvPr>
          <p:cNvPicPr>
            <a:picLocks noChangeAspect="1"/>
          </p:cNvPicPr>
          <p:nvPr/>
        </p:nvPicPr>
        <p:blipFill>
          <a:blip r:embed="rId1"/>
          <a:stretch>
            <a:fillRect/>
          </a:stretch>
        </p:blipFill>
        <p:spPr>
          <a:xfrm>
            <a:off x="8809685" y="128016"/>
            <a:ext cx="201168" cy="201168"/>
          </a:xfrm>
          <a:prstGeom prst="rect">
            <a:avLst/>
          </a:prstGeom>
        </p:spPr>
      </p:pic>
      <p:sp>
        <p:nvSpPr>
          <p:cNvPr id="18" name="Text 15"/>
          <p:cNvSpPr txBox="1"/>
          <p:nvPr/>
        </p:nvSpPr>
        <p:spPr>
          <a:xfrm>
            <a:off x="9065717" y="91440"/>
            <a:ext cx="2540762"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shift registers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l14.S (1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350" dirty="0">
                <a:solidFill>
                  <a:srgbClr val="8FB3A0"/>
                </a:solidFill>
                <a:latin typeface="Courier New" pitchFamily="34" charset="0"/>
                <a:ea typeface="Courier New" pitchFamily="34" charset="-122"/>
                <a:cs typeface="Courier New" pitchFamily="34" charset="-120"/>
              </a:rPr>
              <a:t># ARC12 Computer Architecture - Lecture 14: Elementary Machines: Registers and Buses</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l14.S: a byte sent one bit at a time, and rebuilt at the other end</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On the screen: top row: the eight bits of 0xA5 in the order in which they leave,</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most significant first (lit, dark, lit, dark, dark, lit, dark, lit). Bottom row: the</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byte rebuilt by the receiver. A green square says that it is equal to the byte sent.</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Build: python3 -m prg32 cartridge build l14.S --portable \</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--entry-prefix l14 --name l14 --out l14.prg32</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.option norelax</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.equ BLACK,  0x0000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.equ GREY,   0x4208</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.equ YELLOW, 0xffe0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.equ GREEN,  0x07e0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.equ RED,    0xf800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.equ BYTE,   0xA5            </a:t>
            </a:r>
            <a:pPr indent="0" marL="0">
              <a:buNone/>
            </a:pPr>
            <a:r>
              <a:rPr lang="en-US" sz="1350" dirty="0">
                <a:solidFill>
                  <a:srgbClr val="8FB3A0"/>
                </a:solidFill>
                <a:latin typeface="Courier New" pitchFamily="34" charset="0"/>
                <a:ea typeface="Courier New" pitchFamily="34" charset="-122"/>
                <a:cs typeface="Courier New" pitchFamily="34" charset="-120"/>
              </a:rPr>
              <a:t># the byte to send: 1010 0101</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.section .text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.global l14_init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.global l14_update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.global l14_draw</a:t>
            </a:r>
            <a:endParaRPr lang="en-US" sz="135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l14.S (2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l14_init: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l14_update: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lamp: a0 = position 0 to 7, a1 = y, a2 = bit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lamp: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a4, GREY</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beqz a2, 1f</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a4, YELLOW</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1:  slli a0, a0, 5</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a0, a0, 36          </a:t>
            </a:r>
            <a:pPr indent="0" marL="0">
              <a:buNone/>
            </a:pPr>
            <a:r>
              <a:rPr lang="en-US" sz="1800" dirty="0">
                <a:solidFill>
                  <a:srgbClr val="8FB3A0"/>
                </a:solidFill>
                <a:latin typeface="Courier New" pitchFamily="34" charset="0"/>
                <a:ea typeface="Courier New" pitchFamily="34" charset="-122"/>
                <a:cs typeface="Courier New" pitchFamily="34" charset="-120"/>
              </a:rPr>
              <a:t># x = 36 + 32 * position</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a2, 24</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a3, 24</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tail prg32_gfx_rect</a:t>
            </a:r>
            <a:endParaRPr lang="en-US" sz="18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l14.S (3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l14_draw:</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ra, 28(sp)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s0, 24(sp)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s1, 20(sp)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s2, 16(sp)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s3,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a0, BLACK</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prg32_gfx_clear</a:t>
            </a:r>
            <a:endParaRPr lang="en-US" sz="18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l14.S (4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    li   s0, BYTE            </a:t>
            </a:r>
            <a:pPr indent="0" marL="0">
              <a:buNone/>
            </a:pPr>
            <a:r>
              <a:rPr lang="en-US" sz="1800" dirty="0">
                <a:solidFill>
                  <a:srgbClr val="8FB3A0"/>
                </a:solidFill>
                <a:latin typeface="Courier New" pitchFamily="34" charset="0"/>
                <a:ea typeface="Courier New" pitchFamily="34" charset="-122"/>
                <a:cs typeface="Courier New" pitchFamily="34" charset="-120"/>
              </a:rPr>
              <a:t># a0 of the slide: the byte to send</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s1, 0               </a:t>
            </a:r>
            <a:pPr indent="0" marL="0">
              <a:buNone/>
            </a:pPr>
            <a:r>
              <a:rPr lang="en-US" sz="1800" dirty="0">
                <a:solidFill>
                  <a:srgbClr val="8FB3A0"/>
                </a:solidFill>
                <a:latin typeface="Courier New" pitchFamily="34" charset="0"/>
                <a:ea typeface="Courier New" pitchFamily="34" charset="-122"/>
                <a:cs typeface="Courier New" pitchFamily="34" charset="-120"/>
              </a:rPr>
              <a:t># the receiver's shift register</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s2, 0               </a:t>
            </a:r>
            <a:pPr indent="0" marL="0">
              <a:buNone/>
            </a:pPr>
            <a:r>
              <a:rPr lang="en-US" sz="1800" dirty="0">
                <a:solidFill>
                  <a:srgbClr val="8FB3A0"/>
                </a:solidFill>
                <a:latin typeface="Courier New" pitchFamily="34" charset="0"/>
                <a:ea typeface="Courier New" pitchFamily="34" charset="-122"/>
                <a:cs typeface="Courier New" pitchFamily="34" charset="-120"/>
              </a:rPr>
              <a:t># how many bits have gone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1:  srli t1, s0, 7           </a:t>
            </a:r>
            <a:pPr indent="0" marL="0">
              <a:buNone/>
            </a:pPr>
            <a:r>
              <a:rPr lang="en-US" sz="1800" dirty="0">
                <a:solidFill>
                  <a:srgbClr val="8FB3A0"/>
                </a:solidFill>
                <a:latin typeface="Courier New" pitchFamily="34" charset="0"/>
                <a:ea typeface="Courier New" pitchFamily="34" charset="-122"/>
                <a:cs typeface="Courier New" pitchFamily="34" charset="-120"/>
              </a:rPr>
              <a:t># bring bit 7 down to bit 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andi s3, t1, 1           </a:t>
            </a:r>
            <a:pPr indent="0" marL="0">
              <a:buNone/>
            </a:pPr>
            <a:r>
              <a:rPr lang="en-US" sz="1800" dirty="0">
                <a:solidFill>
                  <a:srgbClr val="8FB3A0"/>
                </a:solidFill>
                <a:latin typeface="Courier New" pitchFamily="34" charset="0"/>
                <a:ea typeface="Courier New" pitchFamily="34" charset="-122"/>
                <a:cs typeface="Courier New" pitchFamily="34" charset="-120"/>
              </a:rPr>
              <a:t># s3 = the bit to put on the wire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mv   a0, s2              </a:t>
            </a:r>
            <a:pPr indent="0" marL="0">
              <a:buNone/>
            </a:pPr>
            <a:r>
              <a:rPr lang="en-US" sz="1800" dirty="0">
                <a:solidFill>
                  <a:srgbClr val="8FB3A0"/>
                </a:solidFill>
                <a:latin typeface="Courier New" pitchFamily="34" charset="0"/>
                <a:ea typeface="Courier New" pitchFamily="34" charset="-122"/>
                <a:cs typeface="Courier New" pitchFamily="34" charset="-120"/>
              </a:rPr>
              <a:t># ... here the wire is a lamp: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a1, 40              </a:t>
            </a:r>
            <a:pPr indent="0" marL="0">
              <a:buNone/>
            </a:pPr>
            <a:r>
              <a:rPr lang="en-US" sz="1800" dirty="0">
                <a:solidFill>
                  <a:srgbClr val="8FB3A0"/>
                </a:solidFill>
                <a:latin typeface="Courier New" pitchFamily="34" charset="0"/>
                <a:ea typeface="Courier New" pitchFamily="34" charset="-122"/>
                <a:cs typeface="Courier New" pitchFamily="34" charset="-120"/>
              </a:rPr>
              <a:t>#     position = the order of sending</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mv   a2, s3</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lamp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slli s1, s1, 1           </a:t>
            </a:r>
            <a:pPr indent="0" marL="0">
              <a:buNone/>
            </a:pPr>
            <a:r>
              <a:rPr lang="en-US" sz="1800" dirty="0">
                <a:solidFill>
                  <a:srgbClr val="8FB3A0"/>
                </a:solidFill>
                <a:latin typeface="Courier New" pitchFamily="34" charset="0"/>
                <a:ea typeface="Courier New" pitchFamily="34" charset="-122"/>
                <a:cs typeface="Courier New" pitchFamily="34" charset="-120"/>
              </a:rPr>
              <a:t># receiver: make room (serial to parallel)</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or   s1, s1, s3          </a:t>
            </a:r>
            <a:pPr indent="0" marL="0">
              <a:buNone/>
            </a:pPr>
            <a:r>
              <a:rPr lang="en-US" sz="1800" dirty="0">
                <a:solidFill>
                  <a:srgbClr val="8FB3A0"/>
                </a:solidFill>
                <a:latin typeface="Courier New" pitchFamily="34" charset="0"/>
                <a:ea typeface="Courier New" pitchFamily="34" charset="-122"/>
                <a:cs typeface="Courier New" pitchFamily="34" charset="-120"/>
              </a:rPr>
              <a:t>#           insert the bit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slli s0, s0, 1           </a:t>
            </a:r>
            <a:pPr indent="0" marL="0">
              <a:buNone/>
            </a:pPr>
            <a:r>
              <a:rPr lang="en-US" sz="1800" dirty="0">
                <a:solidFill>
                  <a:srgbClr val="8FB3A0"/>
                </a:solidFill>
                <a:latin typeface="Courier New" pitchFamily="34" charset="0"/>
                <a:ea typeface="Courier New" pitchFamily="34" charset="-122"/>
                <a:cs typeface="Courier New" pitchFamily="34" charset="-120"/>
              </a:rPr>
              <a:t># sender: shift left, the next bit moves up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andi s0, s0, 255         </a:t>
            </a:r>
            <a:pPr indent="0" marL="0">
              <a:buNone/>
            </a:pPr>
            <a:r>
              <a:rPr lang="en-US" sz="1800" dirty="0">
                <a:solidFill>
                  <a:srgbClr val="8FB3A0"/>
                </a:solidFill>
                <a:latin typeface="Courier New" pitchFamily="34" charset="0"/>
                <a:ea typeface="Courier New" pitchFamily="34" charset="-122"/>
                <a:cs typeface="Courier New" pitchFamily="34" charset="-120"/>
              </a:rPr>
              <a:t>#         (keep eight bits)</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s2, s2, 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t0, 8               </a:t>
            </a:r>
            <a:pPr indent="0" marL="0">
              <a:buNone/>
            </a:pPr>
            <a:r>
              <a:rPr lang="en-US" sz="1800" dirty="0">
                <a:solidFill>
                  <a:srgbClr val="8FB3A0"/>
                </a:solidFill>
                <a:latin typeface="Courier New" pitchFamily="34" charset="0"/>
                <a:ea typeface="Courier New" pitchFamily="34" charset="-122"/>
                <a:cs typeface="Courier New" pitchFamily="34" charset="-120"/>
              </a:rPr>
              <a:t># eight bits to go</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blt  s2, t0, 1b</a:t>
            </a:r>
            <a:endParaRPr lang="en-US" sz="18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l14.S (5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    li   s2, 0               </a:t>
            </a:r>
            <a:pPr indent="0" marL="0">
              <a:buNone/>
            </a:pPr>
            <a:r>
              <a:rPr lang="en-US" sz="1800" dirty="0">
                <a:solidFill>
                  <a:srgbClr val="8FB3A0"/>
                </a:solidFill>
                <a:latin typeface="Courier New" pitchFamily="34" charset="0"/>
                <a:ea typeface="Courier New" pitchFamily="34" charset="-122"/>
                <a:cs typeface="Courier New" pitchFamily="34" charset="-120"/>
              </a:rPr>
              <a:t># show the byte that the receiver rebuilt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2:  li   t0, 7</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sub  t0, t0, s2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srl  a2, s1, 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andi a2, a2, 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mv   a0, s2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a1, 100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lamp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s2, s2, 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t0, 8</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blt  s2, t0, 2b</a:t>
            </a:r>
            <a:endParaRPr lang="en-US" sz="18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l14.S (6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    li   a4, RED             </a:t>
            </a:r>
            <a:pPr indent="0" marL="0">
              <a:buNone/>
            </a:pPr>
            <a:r>
              <a:rPr lang="en-US" sz="1800" dirty="0">
                <a:solidFill>
                  <a:srgbClr val="8FB3A0"/>
                </a:solidFill>
                <a:latin typeface="Courier New" pitchFamily="34" charset="0"/>
                <a:ea typeface="Courier New" pitchFamily="34" charset="-122"/>
                <a:cs typeface="Courier New" pitchFamily="34" charset="-120"/>
              </a:rPr>
              <a:t># is it the byte that was sent?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t0, BYTE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bne  s1, t0, 3f</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a4, GREEN</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3:  li   a0, 152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a1, 150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a2,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a3,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prg32_gfx_rect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s3,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s2, 16(sp)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s1, 20(sp)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s0, 24(sp)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28(sp)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2686050"/>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top row: the eight bits of 0xA5 in the order in which they leave, most significant first (lit, dark, lit, dark, dark, lit, dark, lit). Bottom row: the byte rebuilt by the receiver. A green square says that it is equal to the byte sent.</a:t>
            </a:r>
            <a:endParaRPr lang="en-US" sz="2400" dirty="0"/>
          </a:p>
        </p:txBody>
      </p:sp>
      <p:sp>
        <p:nvSpPr>
          <p:cNvPr id="5" name="Shape 3"/>
          <p:cNvSpPr/>
          <p:nvPr/>
        </p:nvSpPr>
        <p:spPr>
          <a:xfrm>
            <a:off x="548640" y="4865370"/>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4743450"/>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nothing: the program runs by itself</a:t>
            </a:r>
            <a:endParaRPr lang="en-US" sz="2400" dirty="0"/>
          </a:p>
        </p:txBody>
      </p:sp>
      <p:pic>
        <p:nvPicPr>
          <p:cNvPr id="7" name="Image 0" descr="/Users/raffaelemontella/devel/riscv-prg32/computer-architecture-with-prg32/tools/assets/lab_l14.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~/arc12/code/l14.S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l14 --name l14 --out l14.prg32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l14.prg32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~/arc12/code/l14.S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l14 --name l14 --architecture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l14-qemu.prg32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l14-qemu.prg32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~/arc12/code/l14.S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l14 --name l14 --architecture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l14-esp32c6.prg32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l14-esp32c6.prg32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l14;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9287967" y="91440"/>
            <a:ext cx="2355088" cy="274320"/>
          </a:xfrm>
          <a:prstGeom prst="rect">
            <a:avLst/>
          </a:prstGeom>
          <a:solidFill>
            <a:srgbClr val="FEF3C7"/>
          </a:solidFill>
          <a:ln w="12700">
            <a:solidFill>
              <a:srgbClr val="B45309"/>
            </a:solidFill>
            <a:prstDash val="solid"/>
          </a:ln>
        </p:spPr>
      </p:sp>
      <p:sp>
        <p:nvSpPr>
          <p:cNvPr id="5" name="Shape 2"/>
          <p:cNvSpPr/>
          <p:nvPr/>
        </p:nvSpPr>
        <p:spPr>
          <a:xfrm>
            <a:off x="9287967" y="91440"/>
            <a:ext cx="27432" cy="274320"/>
          </a:xfrm>
          <a:prstGeom prst="rect">
            <a:avLst/>
          </a:prstGeom>
          <a:solidFill>
            <a:srgbClr val="B45309"/>
          </a:solidFill>
          <a:ln w="12700">
            <a:solidFill>
              <a:srgbClr val="B45309"/>
            </a:solidFill>
            <a:prstDash val="solid"/>
          </a:ln>
        </p:spPr>
      </p:sp>
      <p:sp>
        <p:nvSpPr>
          <p:cNvPr id="6" name="Shape 3"/>
          <p:cNvSpPr/>
          <p:nvPr/>
        </p:nvSpPr>
        <p:spPr>
          <a:xfrm>
            <a:off x="9342831"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8" name="Text 4"/>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Exercises: paper first, then PRG32</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Draw a 4-bit serial-in, parallel-out shift register with D flip-flops, and fill in its contents over four clock pulses for the input 1, 0, 1, 1</a:t>
            </a:r>
            <a:endParaRPr lang="en-US" sz="1900" dirty="0"/>
          </a:p>
        </p:txBody>
      </p:sp>
      <p:sp>
        <p:nvSpPr>
          <p:cNvPr id="6" name="Text 4"/>
          <p:cNvSpPr txBox="1"/>
          <p:nvPr/>
        </p:nvSpPr>
        <p:spPr>
          <a:xfrm>
            <a:off x="548640" y="2157095"/>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138807"/>
            <a:ext cx="1043604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Three registers share a common bus: write the enable and load signals needed to copy register B into register A</a:t>
            </a:r>
            <a:endParaRPr lang="en-US" sz="1900" dirty="0"/>
          </a:p>
        </p:txBody>
      </p:sp>
      <p:sp>
        <p:nvSpPr>
          <p:cNvPr id="8" name="Text 6"/>
          <p:cNvSpPr txBox="1"/>
          <p:nvPr/>
        </p:nvSpPr>
        <p:spPr>
          <a:xfrm>
            <a:off x="548640" y="287858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860294"/>
            <a:ext cx="1043604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Complete the warm-up: write the loop that receives eight bits from a line and rebuilds the byte</a:t>
            </a:r>
            <a:endParaRPr lang="en-US" sz="1900" dirty="0"/>
          </a:p>
        </p:txBody>
      </p:sp>
      <p:sp>
        <p:nvSpPr>
          <p:cNvPr id="10" name="Text 8"/>
          <p:cNvSpPr txBox="1"/>
          <p:nvPr/>
        </p:nvSpPr>
        <p:spPr>
          <a:xfrm>
            <a:off x="548640" y="3600069"/>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581781"/>
            <a:ext cx="1043604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On PRG32, show a byte as eight lamps and shift it left by one position every half second</a:t>
            </a:r>
            <a:endParaRPr lang="en-US" sz="1900" dirty="0"/>
          </a:p>
        </p:txBody>
      </p:sp>
      <p:sp>
        <p:nvSpPr>
          <p:cNvPr id="12" name="Text 10"/>
          <p:cNvSpPr txBox="1"/>
          <p:nvPr/>
        </p:nvSpPr>
        <p:spPr>
          <a:xfrm>
            <a:off x="548640" y="432155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303268"/>
            <a:ext cx="1043604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Make the bit that leaves on the left come back in on the right (a rotation): a ring counter</a:t>
            </a:r>
            <a:endParaRPr lang="en-US" sz="19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On PRG32: a pattern of lamps that walks to the left and, in the last exercise, goes round for ever.</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Elementary Machines: Registers and Buses: the code</dc:title>
  <dc:subject>Lecture 14</dc:subject>
  <dc:creator>Raffaele Montella</dc:creator>
  <cp:lastModifiedBy>Raffaele Montella</cp:lastModifiedBy>
  <cp:revision>1</cp:revision>
  <dcterms:created xsi:type="dcterms:W3CDTF">2026-10-16T23:36:43Z</dcterms:created>
  <dcterms:modified xsi:type="dcterms:W3CDTF">2026-10-16T23:36:43Z</dcterms:modified>
</cp:coreProperties>
</file>