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8a339f6-9933-6656-961b-c653aca4f1c2}">
          <p14:sldIdLst>
            <p14:sldId id="256"/>
            <p14:sldId id="257"/>
          </p14:sldIdLst>
        </p14:section>
        <p14:section name="Warm-up on the machine" id="{459c4370-05ce-ab0a-2620-aaf56ce31b68}">
          <p14:sldIdLst>
            <p14:sldId id="258"/>
          </p14:sldIdLst>
        </p14:section>
        <p14:section name="Fixed point" id="{49e5419a-ae1b-d5db-f107-c1efb4168675}">
          <p14:sldIdLst>
            <p14:sldId id="259"/>
          </p14:sldIdLst>
        </p14:section>
        <p14:section name="Floating point" id="{29dce294-8613-56ca-c0eb-00d40e70ffde}">
          <p14:sldIdLst>
            <p14:sldId id="260"/>
          </p14:sldIdLst>
        </p14:section>
        <p14:section name="The complete program" id="{5c274695-69a9-3163-6720-ab740939043a}">
          <p14:sldIdLst>
            <p14:sldId id="261"/>
            <p14:sldId id="262"/>
            <p14:sldId id="263"/>
          </p14:sldIdLst>
        </p14:section>
        <p14:section name="Run it and test it" id="{b56e4d3e-39c7-606a-838a-9ffc8bb53126}">
          <p14:sldIdLst>
            <p14:sldId id="264"/>
            <p14:sldId id="265"/>
            <p14:sldId id="266"/>
            <p14:sldId id="267"/>
            <p14:sldId id="268"/>
          </p14:sldIdLst>
        </p14:section>
        <p14:section name="Exercises" id="{5b345c5e-271f-7816-67ef-bb7529f792bf}">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06. The lecture deck holds the concepts; this one holds everything you type and run: the listings with their explanation, the complete program, what it shows, and the way to test it on each of the three hosts.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fixed point; one's complement and excess-k; IEEE 754 floating point; the name RV32IMAC. USE NOW: the complete program, the PRG32 tools (used, not studied, in this course).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~/arc12/code/l06.S; tools/tests/cartridges/run.py builds it, runs it on PRG32-QT with scripted input and checks the pixels of the frame.
For the lecturer: Get the code once: git clone https://github.com/riscv-prg32/computer-architecture-with-prg32 ~/arc12. The program of this lecture is ~/arc12/code/l06.S;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pixel per frame is too fast, and zero is no movement at all: the ball needs 0.375 pixels per frame. The trick is to store the position multiplied by 256. ball_update adds 96 at each frame, and 96 divided by 256 is 0.375. ball_draw needs whole pixels, so it shifts the value right by 8 positions, that is, divides by 256, with srai. All the arithmetic is done with integer instructions. The suffix _q8 in the names is a reminder that the value carries eight fractional bits.
UNDERSTAND NOW: fixed point.
For the lecturer: Written for this lecture in the style of the textbook examples; the same idea is behind prg32_playfield_parallax(layer, x_q8, y_q8) in the PRG32 API. Run it with SPEED_Q8 = 96, then 16, then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ball seen bit by bit. The word 0x00002A60 is divided into 24 bits of integer part, 0x2A, that is 42 pixels, and 8 bits of fraction, 0x60, that is 96/256 = 0.375. As an integer the word is 10848, and 10848 divided by 256 is 42.375. The table gives the rules: addition and subtraction work as for integers, because the points are aligned; to obtain whole pixels, shift right by f; after a multiplication, shift right by f, because the product has twice the fractional bits.
UNDERSTAND NOW: fixed point.
For the lecturer: 42 x 256 = 10752; 10752 + 96 = 10848 = 0x2A60. After one more frame the value is 0x2AC0 (42.75), then 0x2B20 (43.125): the ball crosses a pixel boundary every two or three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Floating-point numbers behave almost like the real numbers, and the "almost" causes real bugs. 0.1 has no finite binary expansion, so it is stored approximately, and 0.1 plus 0.2 is not exactly 0.3, as the code shows. Hence the rule: never test two floating-point results for equality; compare their difference with a tolerance. Addition is not even associative. For money and for positions in a game, scaled integers, that is fixed point, are often the right tool.
UNDERSTAND NOW: IEEE 754 floating point.
For the lecturer: The double-precision sum 0.1 + 0.2 is 0.30000000000000004. Try it in any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code/l06.S,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code/l06.S,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code/l06.S,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On paper: write minus 6 in the four encodings; encode 10.5 and 0.15625 in single precision; decode 0xBF800000. On PRG32: run the ball with three speeds and count after how many frames it moves by one pixel, then give it a vertical speed and make it bounce by changing the sign of the speed with neg at the edges. The results are in the green box; work them out before looking.
For the lecturer: -6: 1110, 1001, 1010, 0010. 10.5 = 1010.1 = 1.0101 x 2^3: E = 130. 0.15625 = 0.00101 = 1.01 x 2^-3: E = 124. 0xBF800000: S = 1, E = 127, F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06: Number representation (reals)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06</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Number Representation: Real Numbers: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06-Computer_Architecture-Number_Representation_Reals.pptx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raycaster.png">    </p:cNvPr>
          <p:cNvPicPr>
            <a:picLocks noChangeAspect="1"/>
          </p:cNvPicPr>
          <p:nvPr/>
        </p:nvPicPr>
        <p:blipFill>
          <a:blip r:embed="rId1"/>
          <a:stretch>
            <a:fillRect/>
          </a:stretch>
        </p:blipFill>
        <p:spPr>
          <a:xfrm>
            <a:off x="8915095" y="4251960"/>
            <a:ext cx="2438400"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 listings of Lecture 06,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code/l06.S, 47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Three-eighths of a pixel, with integers only</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.equ SPEED_Q8, 96            </a:t>
            </a:r>
            <a:pPr indent="0" marL="0">
              <a:buNone/>
            </a:pPr>
            <a:r>
              <a:rPr lang="en-US" sz="1400" dirty="0">
                <a:solidFill>
                  <a:srgbClr val="8FB3A0"/>
                </a:solidFill>
                <a:latin typeface="Courier New" pitchFamily="34" charset="0"/>
                <a:ea typeface="Courier New" pitchFamily="34" charset="-122"/>
                <a:cs typeface="Courier New" pitchFamily="34" charset="-120"/>
              </a:rPr>
              <a:t># 96 / 256 = 0.375 pixel per frame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ball_update: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ball_x_q8</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           </a:t>
            </a:r>
            <a:pPr indent="0" marL="0">
              <a:buNone/>
            </a:pPr>
            <a:r>
              <a:rPr lang="en-US" sz="1400" dirty="0">
                <a:solidFill>
                  <a:srgbClr val="8FB3A0"/>
                </a:solidFill>
                <a:latin typeface="Courier New" pitchFamily="34" charset="0"/>
                <a:ea typeface="Courier New" pitchFamily="34" charset="-122"/>
                <a:cs typeface="Courier New" pitchFamily="34" charset="-120"/>
              </a:rPr>
              <a:t># position, in 1/256 of a pixel</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t1, t1, SPEED_Q8    </a:t>
            </a:r>
            <a:pPr indent="0" marL="0">
              <a:buNone/>
            </a:pPr>
            <a:r>
              <a:rPr lang="en-US" sz="1400" dirty="0">
                <a:solidFill>
                  <a:srgbClr val="8FB3A0"/>
                </a:solidFill>
                <a:latin typeface="Courier New" pitchFamily="34" charset="0"/>
                <a:ea typeface="Courier New" pitchFamily="34" charset="-122"/>
                <a:cs typeface="Courier New" pitchFamily="34" charset="-120"/>
              </a:rPr>
              <a:t># add a fraction of a pixel</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t1,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ball_draw: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ball_x_q8</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srai a0, t1, 8           </a:t>
            </a:r>
            <a:pPr indent="0" marL="0">
              <a:buNone/>
            </a:pPr>
            <a:r>
              <a:rPr lang="en-US" sz="1400" dirty="0">
                <a:solidFill>
                  <a:srgbClr val="8FB3A0"/>
                </a:solidFill>
                <a:latin typeface="Courier New" pitchFamily="34" charset="0"/>
                <a:ea typeface="Courier New" pitchFamily="34" charset="-122"/>
                <a:cs typeface="Courier New" pitchFamily="34" charset="-120"/>
              </a:rPr>
              <a:t># x in whole pixels: drop 8 bits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prg32_gfx_rect</a:t>
            </a:r>
            <a:endParaRPr lang="en-US" sz="14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One pixel per frame is too fast, zero is too slow: the ball needs 0.375</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processor of the kit is RV32IMAC: integer instructions only, no floating point</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Trick: store the position multiplied by 256, and divide by 256 only to draw</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This is fixed point. Where does the trick come from, and when is it not enough?</a:t>
            </a:r>
            <a:endParaRPr lang="en-US" sz="1300" dirty="0"/>
          </a:p>
        </p:txBody>
      </p:sp>
      <p:sp>
        <p:nvSpPr>
          <p:cNvPr id="17" name="Shape 15"/>
          <p:cNvSpPr/>
          <p:nvPr/>
        </p:nvSpPr>
        <p:spPr>
          <a:xfrm>
            <a:off x="8944305" y="91440"/>
            <a:ext cx="2698750" cy="274320"/>
          </a:xfrm>
          <a:prstGeom prst="rect">
            <a:avLst/>
          </a:prstGeom>
          <a:solidFill>
            <a:srgbClr val="E0F2FE"/>
          </a:solidFill>
          <a:ln w="12700">
            <a:solidFill>
              <a:srgbClr val="0369A1"/>
            </a:solidFill>
            <a:prstDash val="solid"/>
          </a:ln>
        </p:spPr>
      </p:sp>
      <p:sp>
        <p:nvSpPr>
          <p:cNvPr id="18" name="Shape 16"/>
          <p:cNvSpPr/>
          <p:nvPr/>
        </p:nvSpPr>
        <p:spPr>
          <a:xfrm>
            <a:off x="894430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20" name="Text 17"/>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ball, bit by bit: Q24.8</a:t>
            </a:r>
            <a:endParaRPr lang="en-US" sz="3200" dirty="0"/>
          </a:p>
        </p:txBody>
      </p:sp>
      <p:sp>
        <p:nvSpPr>
          <p:cNvPr id="3" name="Text 1"/>
          <p:cNvSpPr txBox="1"/>
          <p:nvPr/>
        </p:nvSpPr>
        <p:spPr>
          <a:xfrm>
            <a:off x="548640" y="1371600"/>
            <a:ext cx="11094415" cy="457200"/>
          </a:xfrm>
          <a:prstGeom prst="rect">
            <a:avLst/>
          </a:prstGeom>
          <a:noFill/>
          <a:ln/>
        </p:spPr>
        <p:txBody>
          <a:bodyPr wrap="square" lIns="0" tIns="0" rIns="0" bIns="0" rtlCol="0" anchor="t"/>
          <a:lstStyle/>
          <a:p>
            <a:pPr algn="ctr" indent="0" marL="0">
              <a:buNone/>
            </a:pPr>
            <a:r>
              <a:rPr lang="en-US" sz="2200" b="1" dirty="0">
                <a:solidFill>
                  <a:srgbClr val="2E4A62"/>
                </a:solidFill>
                <a:latin typeface="Courier New" pitchFamily="34" charset="0"/>
                <a:ea typeface="Courier New" pitchFamily="34" charset="-122"/>
                <a:cs typeface="Courier New" pitchFamily="34" charset="-120"/>
              </a:rPr>
              <a:t>ball_x_q8 = 0x00002A60 = 10848</a:t>
            </a:r>
            <a:endParaRPr lang="en-US" sz="2200" dirty="0"/>
          </a:p>
        </p:txBody>
      </p:sp>
      <p:sp>
        <p:nvSpPr>
          <p:cNvPr id="4" name="Text 2"/>
          <p:cNvSpPr txBox="1"/>
          <p:nvPr/>
        </p:nvSpPr>
        <p:spPr>
          <a:xfrm>
            <a:off x="1097280" y="2331720"/>
            <a:ext cx="7319271" cy="73152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0000 0000 0000 0000 0010 1010</a:t>
            </a:r>
            <a:endParaRPr lang="en-US" sz="1800" dirty="0"/>
          </a:p>
        </p:txBody>
      </p:sp>
      <p:sp>
        <p:nvSpPr>
          <p:cNvPr id="5" name="Text 3"/>
          <p:cNvSpPr txBox="1"/>
          <p:nvPr/>
        </p:nvSpPr>
        <p:spPr>
          <a:xfrm>
            <a:off x="1097280" y="3118104"/>
            <a:ext cx="7319271"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integer part: 24 bits</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0x00002A = 42 pixels</a:t>
            </a:r>
            <a:endParaRPr lang="en-US" sz="1500" dirty="0"/>
          </a:p>
        </p:txBody>
      </p:sp>
      <p:sp>
        <p:nvSpPr>
          <p:cNvPr id="6" name="Text 4"/>
          <p:cNvSpPr txBox="1"/>
          <p:nvPr/>
        </p:nvSpPr>
        <p:spPr>
          <a:xfrm>
            <a:off x="1133856" y="2093976"/>
            <a:ext cx="3659636"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7" name="Text 5"/>
          <p:cNvSpPr txBox="1"/>
          <p:nvPr/>
        </p:nvSpPr>
        <p:spPr>
          <a:xfrm>
            <a:off x="4756916" y="2093976"/>
            <a:ext cx="3623060"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8</a:t>
            </a:r>
            <a:endParaRPr lang="en-US" sz="1050" dirty="0"/>
          </a:p>
        </p:txBody>
      </p:sp>
      <p:sp>
        <p:nvSpPr>
          <p:cNvPr id="8" name="Text 6"/>
          <p:cNvSpPr txBox="1"/>
          <p:nvPr/>
        </p:nvSpPr>
        <p:spPr>
          <a:xfrm>
            <a:off x="8416551" y="2331720"/>
            <a:ext cx="2677864" cy="731520"/>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0110 0000</a:t>
            </a:r>
            <a:endParaRPr lang="en-US" sz="1800" dirty="0"/>
          </a:p>
        </p:txBody>
      </p:sp>
      <p:sp>
        <p:nvSpPr>
          <p:cNvPr id="9" name="Text 7"/>
          <p:cNvSpPr txBox="1"/>
          <p:nvPr/>
        </p:nvSpPr>
        <p:spPr>
          <a:xfrm>
            <a:off x="8416551" y="3118104"/>
            <a:ext cx="2677864"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fraction: 8 bits</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0x60 = 96/256 = 0.375</a:t>
            </a:r>
            <a:endParaRPr lang="en-US" sz="1500" dirty="0"/>
          </a:p>
        </p:txBody>
      </p:sp>
      <p:sp>
        <p:nvSpPr>
          <p:cNvPr id="10" name="Text 8"/>
          <p:cNvSpPr txBox="1"/>
          <p:nvPr/>
        </p:nvSpPr>
        <p:spPr>
          <a:xfrm>
            <a:off x="8453127" y="2093976"/>
            <a:ext cx="1338932"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11" name="Text 9"/>
          <p:cNvSpPr txBox="1"/>
          <p:nvPr/>
        </p:nvSpPr>
        <p:spPr>
          <a:xfrm>
            <a:off x="9755483" y="2093976"/>
            <a:ext cx="1302356"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12" name="Text 10"/>
          <p:cNvSpPr txBox="1"/>
          <p:nvPr/>
        </p:nvSpPr>
        <p:spPr>
          <a:xfrm>
            <a:off x="548640" y="3931920"/>
            <a:ext cx="11094415" cy="457200"/>
          </a:xfrm>
          <a:prstGeom prst="rect">
            <a:avLst/>
          </a:prstGeom>
          <a:noFill/>
          <a:ln/>
        </p:spPr>
        <p:txBody>
          <a:bodyPr wrap="square" lIns="0" tIns="0" rIns="0" bIns="0" rtlCol="0" anchor="t"/>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10848 / 256 = 42.375</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617720"/>
          <a:ext cx="11094415" cy="914400"/>
        </p:xfrm>
        <a:graphic>
          <a:graphicData uri="http://schemas.openxmlformats.org/drawingml/2006/table">
            <a:tbl>
              <a:tblPr/>
              <a:tblGrid>
                <a:gridCol w="2926080"/>
                <a:gridCol w="4023360"/>
                <a:gridCol w="4144975"/>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Operation</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In fixed point</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RISC-V</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add, subtract</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as integers: the points are aligned</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add, sub, addi</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to whole pixels</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shift right by f, keeping the sign</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srai a0, t1, 8</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multiply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multiply, then shift right by f</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mul, then srai</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14" name="Shape 11"/>
          <p:cNvSpPr/>
          <p:nvPr/>
        </p:nvSpPr>
        <p:spPr>
          <a:xfrm>
            <a:off x="8944305" y="91440"/>
            <a:ext cx="2698750" cy="274320"/>
          </a:xfrm>
          <a:prstGeom prst="rect">
            <a:avLst/>
          </a:prstGeom>
          <a:solidFill>
            <a:srgbClr val="E0F2FE"/>
          </a:solidFill>
          <a:ln w="12700">
            <a:solidFill>
              <a:srgbClr val="0369A1"/>
            </a:solidFill>
            <a:prstDash val="solid"/>
          </a:ln>
        </p:spPr>
      </p:sp>
      <p:sp>
        <p:nvSpPr>
          <p:cNvPr id="15" name="Shape 12"/>
          <p:cNvSpPr/>
          <p:nvPr/>
        </p:nvSpPr>
        <p:spPr>
          <a:xfrm>
            <a:off x="894430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17" name="Text 13"/>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Floating point is not the real numbers</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0.1 has no finite binary expansion: it is stored approximately, like 0.8 in Lecture 05</a:t>
            </a:r>
            <a:endParaRPr lang="en-US" sz="2100" dirty="0"/>
          </a:p>
        </p:txBody>
      </p:sp>
      <p:sp>
        <p:nvSpPr>
          <p:cNvPr id="5" name="Shape 3"/>
          <p:cNvSpPr/>
          <p:nvPr/>
        </p:nvSpPr>
        <p:spPr>
          <a:xfrm>
            <a:off x="548640" y="26233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4697"/>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Never test two floating-point results for equality: compare their difference with a tolerance</a:t>
            </a:r>
            <a:endParaRPr lang="en-US" sz="21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2073"/>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Addition is not associative: (a + b) + c can differ from a + (b + c)</a:t>
            </a:r>
            <a:endParaRPr lang="en-US" sz="2100" dirty="0"/>
          </a:p>
        </p:txBody>
      </p:sp>
      <p:sp>
        <p:nvSpPr>
          <p:cNvPr id="9" name="Shape 7"/>
          <p:cNvSpPr/>
          <p:nvPr/>
        </p:nvSpPr>
        <p:spPr>
          <a:xfrm>
            <a:off x="548640" y="451275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14076"/>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Adding a very small number to a very large one can leave the large one unchanged</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For money and for game positions, scaled integers are often the right tool</a:t>
            </a:r>
            <a:endParaRPr lang="en-US" sz="2100" dirty="0"/>
          </a:p>
        </p:txBody>
      </p:sp>
      <p:sp>
        <p:nvSpPr>
          <p:cNvPr id="13" name="Shape 11"/>
          <p:cNvSpPr/>
          <p:nvPr/>
        </p:nvSpPr>
        <p:spPr>
          <a:xfrm>
            <a:off x="6766560" y="1417320"/>
            <a:ext cx="4876495" cy="3108960"/>
          </a:xfrm>
          <a:prstGeom prst="roundRect">
            <a:avLst>
              <a:gd name="adj" fmla="val 2353"/>
            </a:avLst>
          </a:prstGeom>
          <a:solidFill>
            <a:srgbClr val="12202B"/>
          </a:solidFill>
          <a:ln w="12700">
            <a:solidFill>
              <a:srgbClr val="12202B"/>
            </a:solidFill>
            <a:prstDash val="solid"/>
          </a:ln>
        </p:spPr>
      </p:sp>
      <p:sp>
        <p:nvSpPr>
          <p:cNvPr id="14" name="Text 12"/>
          <p:cNvSpPr txBox="1"/>
          <p:nvPr/>
        </p:nvSpPr>
        <p:spPr>
          <a:xfrm>
            <a:off x="6995160" y="1600200"/>
            <a:ext cx="4419295" cy="2743200"/>
          </a:xfrm>
          <a:prstGeom prst="rect">
            <a:avLst/>
          </a:prstGeom>
          <a:noFill/>
          <a:ln/>
        </p:spPr>
        <p:txBody>
          <a:bodyPr wrap="square" lIns="0" tIns="0" rIns="0" bIns="0" rtlCol="0" anchor="t"/>
          <a:lstStyle/>
          <a:p>
            <a:pPr indent="0" marL="0">
              <a:buNone/>
            </a:pPr>
            <a:r>
              <a:rPr lang="en-US" sz="1600" dirty="0">
                <a:solidFill>
                  <a:srgbClr val="E6EDF2"/>
                </a:solidFill>
                <a:latin typeface="Courier New" pitchFamily="34" charset="0"/>
                <a:ea typeface="Courier New" pitchFamily="34" charset="-122"/>
                <a:cs typeface="Courier New" pitchFamily="34" charset="-120"/>
              </a:rPr>
              <a:t>double a = 0.1 + 0.2;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a == 0.3 ?   false</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a = 0.30000000000000004</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better:</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fabs(a - 0.3) &lt; 1e-9</a:t>
            </a:r>
            <a:endParaRPr lang="en-US" sz="1600" dirty="0"/>
          </a:p>
        </p:txBody>
      </p:sp>
      <p:sp>
        <p:nvSpPr>
          <p:cNvPr id="15" name="Shape 13"/>
          <p:cNvSpPr/>
          <p:nvPr/>
        </p:nvSpPr>
        <p:spPr>
          <a:xfrm>
            <a:off x="8156397" y="91440"/>
            <a:ext cx="3486658" cy="274320"/>
          </a:xfrm>
          <a:prstGeom prst="rect">
            <a:avLst/>
          </a:prstGeom>
          <a:solidFill>
            <a:srgbClr val="E0F2FE"/>
          </a:solidFill>
          <a:ln w="12700">
            <a:solidFill>
              <a:srgbClr val="0369A1"/>
            </a:solidFill>
            <a:prstDash val="solid"/>
          </a:ln>
        </p:spPr>
      </p:sp>
      <p:sp>
        <p:nvSpPr>
          <p:cNvPr id="16" name="Shape 14"/>
          <p:cNvSpPr/>
          <p:nvPr/>
        </p:nvSpPr>
        <p:spPr>
          <a:xfrm>
            <a:off x="8156397" y="91440"/>
            <a:ext cx="73152" cy="274320"/>
          </a:xfrm>
          <a:prstGeom prst="rect">
            <a:avLst/>
          </a:prstGeom>
          <a:solidFill>
            <a:srgbClr val="0369A1"/>
          </a:solidFill>
          <a:ln w="12700">
            <a:solidFill>
              <a:srgbClr val="0369A1"/>
            </a:solidFill>
            <a:prstDash val="solid"/>
          </a:ln>
        </p:spPr>
      </p:sp>
      <p:pic>
        <p:nvPicPr>
          <p:cNvPr id="17"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18" name="Text 15"/>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IEEE 754 floating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l06.S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600" dirty="0">
                <a:solidFill>
                  <a:srgbClr val="8FB3A0"/>
                </a:solidFill>
                <a:latin typeface="Courier New" pitchFamily="34" charset="0"/>
                <a:ea typeface="Courier New" pitchFamily="34" charset="-122"/>
                <a:cs typeface="Courier New" pitchFamily="34" charset="-120"/>
              </a:rPr>
              <a:t># ARC12 Computer Architecture - Lecture 06: Number Representation: Real Numbers</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l06.S: three-eighths of a pixel per frame, with integers only</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On the screen: a white square that crosses the screen slowly from the left: one</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pixel every 2.67 frames.</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Build: python3 -m prg32 cartridge build l06.S --portable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--entry-prefix l06 --name l06 --out l06.prg32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.option norelax</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.equ SPEED_Q8, 96            </a:t>
            </a:r>
            <a:pPr indent="0" marL="0">
              <a:buNone/>
            </a:pPr>
            <a:r>
              <a:rPr lang="en-US" sz="1600" dirty="0">
                <a:solidFill>
                  <a:srgbClr val="8FB3A0"/>
                </a:solidFill>
                <a:latin typeface="Courier New" pitchFamily="34" charset="0"/>
                <a:ea typeface="Courier New" pitchFamily="34" charset="-122"/>
                <a:cs typeface="Courier New" pitchFamily="34" charset="-120"/>
              </a:rPr>
              <a:t># 96 / 256 = 0.375 pixel per frame</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.section .text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.global l06_init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.global l06_update</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.global l06_draw</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l06_init: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ret</a:t>
            </a:r>
            <a:endParaRPr lang="en-US" sz="16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l06.S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l06_update: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ball_update: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ball_x_q8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t1, 0(t0)           </a:t>
            </a:r>
            <a:pPr indent="0" marL="0">
              <a:buNone/>
            </a:pPr>
            <a:r>
              <a:rPr lang="en-US" sz="1800" dirty="0">
                <a:solidFill>
                  <a:srgbClr val="8FB3A0"/>
                </a:solidFill>
                <a:latin typeface="Courier New" pitchFamily="34" charset="0"/>
                <a:ea typeface="Courier New" pitchFamily="34" charset="-122"/>
                <a:cs typeface="Courier New" pitchFamily="34" charset="-120"/>
              </a:rPr>
              <a:t># position, in 1/256 of a pixel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t1, t1, SPEED_Q8    </a:t>
            </a:r>
            <a:pPr indent="0" marL="0">
              <a:buNone/>
            </a:pPr>
            <a:r>
              <a:rPr lang="en-US" sz="1800" dirty="0">
                <a:solidFill>
                  <a:srgbClr val="8FB3A0"/>
                </a:solidFill>
                <a:latin typeface="Courier New" pitchFamily="34" charset="0"/>
                <a:ea typeface="Courier New" pitchFamily="34" charset="-122"/>
                <a:cs typeface="Courier New" pitchFamily="34" charset="-120"/>
              </a:rPr>
              <a:t># add a fraction of a pixel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t1,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l06.S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l06_draw: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ball_draw: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a0, 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prg32_gfx_clear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ball_x_q8</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srai a0, t1, 8           </a:t>
            </a:r>
            <a:pPr indent="0" marL="0">
              <a:buNone/>
            </a:pPr>
            <a:r>
              <a:rPr lang="en-US" sz="1400" dirty="0">
                <a:solidFill>
                  <a:srgbClr val="8FB3A0"/>
                </a:solidFill>
                <a:latin typeface="Courier New" pitchFamily="34" charset="0"/>
                <a:ea typeface="Courier New" pitchFamily="34" charset="-122"/>
                <a:cs typeface="Courier New" pitchFamily="34" charset="-120"/>
              </a:rPr>
              <a:t># x in whole pixels: drop 8 bits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a1, 100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a2, 8</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a3, 8</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a4, 0xffff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prg32_gfx_rect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.data</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ball_x_q8: .word 0           </a:t>
            </a:r>
            <a:pPr indent="0" marL="0">
              <a:buNone/>
            </a:pPr>
            <a:r>
              <a:rPr lang="en-US" sz="1400" dirty="0">
                <a:solidFill>
                  <a:srgbClr val="8FB3A0"/>
                </a:solidFill>
                <a:latin typeface="Courier New" pitchFamily="34" charset="0"/>
                <a:ea typeface="Courier New" pitchFamily="34" charset="-122"/>
                <a:cs typeface="Courier New" pitchFamily="34" charset="-120"/>
              </a:rPr>
              <a:t># Q24.8: 24 bits of pixels, 8 bits of fraction</a:t>
            </a:r>
            <a:endParaRPr lang="en-US" sz="14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384554"/>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white square that crosses the screen slowly from the left: one pixel every 2.67 frames.</a:t>
            </a:r>
            <a:endParaRPr lang="en-US" sz="2400" dirty="0"/>
          </a:p>
        </p:txBody>
      </p:sp>
      <p:sp>
        <p:nvSpPr>
          <p:cNvPr id="5" name="Shape 3"/>
          <p:cNvSpPr/>
          <p:nvPr/>
        </p:nvSpPr>
        <p:spPr>
          <a:xfrm>
            <a:off x="548640" y="356387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441954"/>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06.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~/arc12/code/l06.S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l06 --name l06 --out l06.prg32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~/arc12/code/l06.S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l06 --name l06 --architecture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l06-qemu.prg32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l06-qemu.prg32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~/arc12/code/l06.S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l06 --name l06 --architecture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l06-esp32c6.prg32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l06-esp32c6.prg32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l06;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-6 on four bits in sign and magnitude, one's complement, two's complement and excess-8</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Encode 10.5 and 0.15625 in IEEE 754 single precision; give the result in hexadecimal</a:t>
            </a:r>
            <a:endParaRPr lang="en-US" sz="20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Decode 0xBF800000</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Run the ball with SPEED_Q8 = 96, 16 and 1. After how many frames does it move by one pixel in each case?</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Give the ball a vertical speed too, and make it bounce: negate the speed with neg when it reaches an edge</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0x41280000, 0x3E200000 and -1.0. On PRG32: the ball advances one pixel every 2.67, 16 and 256 frames; with the bounce it moves diagonally and stays on screen.</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Number Representation: Real Numbers: the code</dc:title>
  <dc:subject>Lecture 06</dc:subject>
  <dc:creator>Raffaele Montella</dc:creator>
  <cp:lastModifiedBy>Raffaele Montella</cp:lastModifiedBy>
  <cp:revision>1</cp:revision>
  <dcterms:created xsi:type="dcterms:W3CDTF">2026-10-16T15:51:37Z</dcterms:created>
  <dcterms:modified xsi:type="dcterms:W3CDTF">2026-10-16T15:51:37Z</dcterms:modified>
</cp:coreProperties>
</file>