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c7b1c92-0175-bec2-9c15-2f4be39a3faf}">
          <p14:sldIdLst>
            <p14:sldId id="256"/>
            <p14:sldId id="257"/>
          </p14:sldIdLst>
        </p14:section>
        <p14:section name="The listings" id="{e68492a3-d6ef-0180-b6ac-377aa7d8d618}">
          <p14:sldIdLst>
            <p14:sldId id="258"/>
            <p14:sldId id="259"/>
            <p14:sldId id="260"/>
          </p14:sldIdLst>
        </p14:section>
        <p14:section name="The complete program" id="{e89976e4-4c75-0f70-43ad-ed501a47500b}">
          <p14:sldIdLst>
            <p14:sldId id="261"/>
            <p14:sldId id="262"/>
            <p14:sldId id="263"/>
            <p14:sldId id="264"/>
            <p14:sldId id="265"/>
            <p14:sldId id="266"/>
          </p14:sldIdLst>
        </p14:section>
        <p14:section name="Run it and test it" id="{ba6d7af6-e6c7-cae3-31ec-d97389cb548d}">
          <p14:sldIdLst>
            <p14:sldId id="267"/>
            <p14:sldId id="268"/>
            <p14:sldId id="269"/>
            <p14:sldId id="270"/>
            <p14:sldId id="271"/>
          </p14:sldIdLst>
        </p14:section>
        <p14:section name="Exercises" id="{abe915f4-f141-5446-1f3d-fa997fb037a9}">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14. The lecture deck holds the concepts; this one holds everything you type and run: the listings with their explanation, the complete program, what it shows, and the way to test it on each of the three 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program of this lecture is ~/arc12/code/l14.S; tools/tests/cartridges/run.py builds it, runs it on PRG32-QT with scripted input and checks the pixels of the frame.
For the lecturer: Get the code once: git clone https://github.com/riscv-prg32/computer-architecture-with-prg32 ~/arc12. The program of this lecture is ~/arc12/code/l14.S;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sends a byte one bit at a time, most significant bit first. At each turn the byte is shifted right by 7 and masked with 1, which isolates its top bit; that bit would be put on a data line and a clock line pulsed; then the byte is shifted left by one, so that the next bit moves into the top position. After eight turns the whole byte has gone. The loop is a shift register in software. The chip of the kit contains hardware that does the same thing, millions of times per second.
For the lecturer: Written for this lecture. On the kit the display uses SPI and the amplifier I2S: both are serial buses driven by shift registers inside the chip. The two elided lines would write to memory-mapped GPIO registers (Lecture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buses of the kit. Inside the chip the bus is parallel. The display is connected by SPI, a serial bus with a clock, a data line, a chip select and a line that distinguishes data from commands: every pixel of every frame travels on it bit by bit. The amplifier is connected by I2S, another serial bus, which carries 22,050 audio samples per second. The buttons use one wire each: a decoded representation. USB, serial as well, carries the firmware and the debug console.
For the lecturer: From the hardware description of the PRG32 repository (docs/hardware). Chip select is the CS of the small memory on the previous slide: several devices can share the same serial bus because only the selected one listens.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shift instructions move all the bits of a register in a single step: slli and srli fill with zeros, srai with copies of the sign bit; sll, srl and sra take the number of positions from a register. In hardware this is not a chain of flip-flops, which would need one clock pulse per position, but a barrel shifter, a combinational network of layers of multiplexers, and it is one of the units of the ALU. The code on the right shows the two conversions between parallel and serial.
For the lecturer: A true shift register needs n clock pulses for n positions; the barrel shifter of the ALU is combinational and does it within one clock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Draw a 4-bit serial-in, parallel-out shift register and follow its content over four clock pulses. Write the enable and load signals that copy one register into another on a common bus. Complete the warm-up with the receiving loop. On PRG32, show a byte as eight lamps and shift it every half second. Finally make the bit that leaves on one side come back on the other: a rotation, also called a ring counter.
For the lecturer: Exercise 3: slli a1, a1, 1 then or with the received bit, eight times. Exercise 5: srli t1, a0, 7; andi t1, t1, 1; slli a0, a0, 1; or a0, a0, t1; andi a0, a0, 255.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14: Registers and buses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14</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Elementary Machines: Registers and Buses: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Shape 9"/>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2" name="Image 0" descr="/Users/raffaelemontella/devel/riscv-prg32/computer-architecture-with-prg32/tools/assets/menu_main.png">    </p:cNvPr>
          <p:cNvPicPr>
            <a:picLocks noChangeAspect="1"/>
          </p:cNvPicPr>
          <p:nvPr/>
        </p:nvPicPr>
        <p:blipFill>
          <a:blip r:embed="rId1"/>
          <a:stretch>
            <a:fillRect/>
          </a:stretch>
        </p:blipFill>
        <p:spPr>
          <a:xfrm>
            <a:off x="8915095" y="4251960"/>
            <a:ext cx="2438400" cy="182880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2 listings of Lecture 14,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code/l14.S, 94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Send a byte one bit at a time</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a0 = the byte to send, most significant bit first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t0, 8               </a:t>
            </a:r>
            <a:pPr indent="0" marL="0">
              <a:buNone/>
            </a:pPr>
            <a:r>
              <a:rPr lang="en-US" sz="1350" dirty="0">
                <a:solidFill>
                  <a:srgbClr val="8FB3A0"/>
                </a:solidFill>
                <a:latin typeface="Courier New" pitchFamily="34" charset="0"/>
                <a:ea typeface="Courier New" pitchFamily="34" charset="-122"/>
                <a:cs typeface="Courier New" pitchFamily="34" charset="-120"/>
              </a:rPr>
              <a:t># eight bits to go</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srli t1, a0, 7           </a:t>
            </a:r>
            <a:pPr indent="0" marL="0">
              <a:buNone/>
            </a:pPr>
            <a:r>
              <a:rPr lang="en-US" sz="1350" dirty="0">
                <a:solidFill>
                  <a:srgbClr val="8FB3A0"/>
                </a:solidFill>
                <a:latin typeface="Courier New" pitchFamily="34" charset="0"/>
                <a:ea typeface="Courier New" pitchFamily="34" charset="-122"/>
                <a:cs typeface="Courier New" pitchFamily="34" charset="-120"/>
              </a:rPr>
              <a:t># bring bit 7 down to bit 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andi t1, t1, 1           </a:t>
            </a:r>
            <a:pPr indent="0" marL="0">
              <a:buNone/>
            </a:pPr>
            <a:r>
              <a:rPr lang="en-US" sz="1350" dirty="0">
                <a:solidFill>
                  <a:srgbClr val="8FB3A0"/>
                </a:solidFill>
                <a:latin typeface="Courier New" pitchFamily="34" charset="0"/>
                <a:ea typeface="Courier New" pitchFamily="34" charset="-122"/>
                <a:cs typeface="Courier New" pitchFamily="34" charset="-120"/>
              </a:rPr>
              <a:t># t1 = the bit to put on the wire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                      </a:t>
            </a:r>
            <a:pPr indent="0" marL="0">
              <a:buNone/>
            </a:pPr>
            <a:r>
              <a:rPr lang="en-US" sz="1350" dirty="0">
                <a:solidFill>
                  <a:srgbClr val="8FB3A0"/>
                </a:solidFill>
                <a:latin typeface="Courier New" pitchFamily="34" charset="0"/>
                <a:ea typeface="Courier New" pitchFamily="34" charset="-122"/>
                <a:cs typeface="Courier New" pitchFamily="34" charset="-120"/>
              </a:rPr>
              <a:t># drive the data line with t1,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                      </a:t>
            </a:r>
            <a:pPr indent="0" marL="0">
              <a:buNone/>
            </a:pPr>
            <a:r>
              <a:rPr lang="en-US" sz="1350" dirty="0">
                <a:solidFill>
                  <a:srgbClr val="8FB3A0"/>
                </a:solidFill>
                <a:latin typeface="Courier New" pitchFamily="34" charset="0"/>
                <a:ea typeface="Courier New" pitchFamily="34" charset="-122"/>
                <a:cs typeface="Courier New" pitchFamily="34" charset="-120"/>
              </a:rPr>
              <a:t># then pulse the clock line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slli a0, a0, 1           </a:t>
            </a:r>
            <a:pPr indent="0" marL="0">
              <a:buNone/>
            </a:pPr>
            <a:r>
              <a:rPr lang="en-US" sz="1350" dirty="0">
                <a:solidFill>
                  <a:srgbClr val="8FB3A0"/>
                </a:solidFill>
                <a:latin typeface="Courier New" pitchFamily="34" charset="0"/>
                <a:ea typeface="Courier New" pitchFamily="34" charset="-122"/>
                <a:cs typeface="Courier New" pitchFamily="34" charset="-120"/>
              </a:rPr>
              <a:t># shift left: the next bit moves up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t0, t0, -1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bnez t0, 1b</a:t>
            </a:r>
            <a:endParaRPr lang="en-US" sz="13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display and the sound chip of the kit are connected by a few wires, not by thirty-two</a:t>
            </a:r>
            <a:endParaRPr lang="en-US" sz="13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A word must therefore travel one bit after another: a serial transfer</a:t>
            </a:r>
            <a:endParaRPr lang="en-US" sz="13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loop is a shift register in software: shift, take one bit, repeat</a:t>
            </a:r>
            <a:endParaRPr lang="en-US" sz="13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ESP32-C6 has hardware that does exactly this, millions of times per second</a:t>
            </a:r>
            <a:endParaRPr lang="en-US" sz="1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Buses on the PRG32 kit</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546259"/>
                <a:gridCol w="2091570"/>
                <a:gridCol w="3273762"/>
                <a:gridCol w="3182824"/>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Connection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Kind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Lines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What travels on it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inside the ESP32-C6</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parallel</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32 data lines, address and control</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instructions, data and register transfers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display (ILI9341)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serial, SPI</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clock, data out, chip select, data/command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every pixel of every frame, bit by bit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sound amplifier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serial, I2S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bit clock, word select, data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audio samples, 22,050 per second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joystick and buttons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one wire per button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one input pin each</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 decoded representation: one line per button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USB to the laptop</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serial, differential pair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two data wires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firmware and the debug console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Shifts in RISC-V: a shift register in one instruction</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slli and srli move all the bits of a register by a given number of positions, filling with zeros</a:t>
            </a:r>
            <a:endParaRPr lang="en-US" sz="2100" dirty="0"/>
          </a:p>
        </p:txBody>
      </p:sp>
      <p:sp>
        <p:nvSpPr>
          <p:cNvPr id="5" name="Shape 3"/>
          <p:cNvSpPr/>
          <p:nvPr/>
        </p:nvSpPr>
        <p:spPr>
          <a:xfrm>
            <a:off x="548640" y="262337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24697"/>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srai fills with copies of the sign bit (Lecture 05)</a:t>
            </a:r>
            <a:endParaRPr lang="en-US" sz="2100" dirty="0"/>
          </a:p>
        </p:txBody>
      </p:sp>
      <p:sp>
        <p:nvSpPr>
          <p:cNvPr id="7" name="Shape 5"/>
          <p:cNvSpPr/>
          <p:nvPr/>
        </p:nvSpPr>
        <p:spPr>
          <a:xfrm>
            <a:off x="548640" y="340537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06699"/>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sll, srl and sra take the amount from a second register</a:t>
            </a:r>
            <a:endParaRPr lang="en-US" sz="2100" dirty="0"/>
          </a:p>
        </p:txBody>
      </p:sp>
      <p:sp>
        <p:nvSpPr>
          <p:cNvPr id="9" name="Shape 7"/>
          <p:cNvSpPr/>
          <p:nvPr/>
        </p:nvSpPr>
        <p:spPr>
          <a:xfrm>
            <a:off x="548640" y="418738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088702"/>
            <a:ext cx="5468112" cy="1301496"/>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In hardware a shift by any amount in one step is done by a barrel shifter: layers of multiplexers, not a chain of flip-flops</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shifter is one of the units of the ALU of Lecture 11</a:t>
            </a:r>
            <a:endParaRPr lang="en-US" sz="2100" dirty="0"/>
          </a:p>
        </p:txBody>
      </p:sp>
      <p:sp>
        <p:nvSpPr>
          <p:cNvPr id="13" name="Shape 11"/>
          <p:cNvSpPr/>
          <p:nvPr/>
        </p:nvSpPr>
        <p:spPr>
          <a:xfrm>
            <a:off x="6766560" y="1417320"/>
            <a:ext cx="4876495" cy="3108960"/>
          </a:xfrm>
          <a:prstGeom prst="roundRect">
            <a:avLst>
              <a:gd name="adj" fmla="val 2353"/>
            </a:avLst>
          </a:prstGeom>
          <a:solidFill>
            <a:srgbClr val="12202B"/>
          </a:solidFill>
          <a:ln w="12700">
            <a:solidFill>
              <a:srgbClr val="12202B"/>
            </a:solidFill>
            <a:prstDash val="solid"/>
          </a:ln>
        </p:spPr>
      </p:sp>
      <p:sp>
        <p:nvSpPr>
          <p:cNvPr id="14" name="Text 12"/>
          <p:cNvSpPr txBox="1"/>
          <p:nvPr/>
        </p:nvSpPr>
        <p:spPr>
          <a:xfrm>
            <a:off x="6995160" y="1600200"/>
            <a:ext cx="4419295" cy="2743200"/>
          </a:xfrm>
          <a:prstGeom prst="rect">
            <a:avLst/>
          </a:prstGeom>
          <a:noFill/>
          <a:ln/>
        </p:spPr>
        <p:txBody>
          <a:bodyPr wrap="square" lIns="0" tIns="0" rIns="0" bIns="0" rtlCol="0" anchor="t"/>
          <a:lstStyle/>
          <a:p>
            <a:pPr indent="0" marL="0">
              <a:buNone/>
            </a:pPr>
            <a:r>
              <a:rPr lang="en-US" sz="1600" dirty="0">
                <a:solidFill>
                  <a:srgbClr val="8FB3A0"/>
                </a:solidFill>
                <a:latin typeface="Courier New" pitchFamily="34" charset="0"/>
                <a:ea typeface="Courier New" pitchFamily="34" charset="-122"/>
                <a:cs typeface="Courier New" pitchFamily="34" charset="-120"/>
              </a:rPr>
              <a:t># parallel to serial, LSB first</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andi t1, a0, 1     </a:t>
            </a:r>
            <a:pPr indent="0" marL="0">
              <a:buNone/>
            </a:pPr>
            <a:r>
              <a:rPr lang="en-US" sz="1600" dirty="0">
                <a:solidFill>
                  <a:srgbClr val="8FB3A0"/>
                </a:solidFill>
                <a:latin typeface="Courier New" pitchFamily="34" charset="0"/>
                <a:ea typeface="Courier New" pitchFamily="34" charset="-122"/>
                <a:cs typeface="Courier New" pitchFamily="34" charset="-120"/>
              </a:rPr>
              <a:t># take bit 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srli a0, a0, 1     </a:t>
            </a:r>
            <a:pPr indent="0" marL="0">
              <a:buNone/>
            </a:pPr>
            <a:r>
              <a:rPr lang="en-US" sz="1600" dirty="0">
                <a:solidFill>
                  <a:srgbClr val="8FB3A0"/>
                </a:solidFill>
                <a:latin typeface="Courier New" pitchFamily="34" charset="0"/>
                <a:ea typeface="Courier New" pitchFamily="34" charset="-122"/>
                <a:cs typeface="Courier New" pitchFamily="34" charset="-120"/>
              </a:rPr>
              <a:t># next bit</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serial to parallel, MSB first</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slli a1, a1, 1     </a:t>
            </a:r>
            <a:pPr indent="0" marL="0">
              <a:buNone/>
            </a:pPr>
            <a:r>
              <a:rPr lang="en-US" sz="1600" dirty="0">
                <a:solidFill>
                  <a:srgbClr val="8FB3A0"/>
                </a:solidFill>
                <a:latin typeface="Courier New" pitchFamily="34" charset="0"/>
                <a:ea typeface="Courier New" pitchFamily="34" charset="-122"/>
                <a:cs typeface="Courier New" pitchFamily="34" charset="-120"/>
              </a:rPr>
              <a:t># make room</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or   a1, a1, t1    </a:t>
            </a:r>
            <a:pPr indent="0" marL="0">
              <a:buNone/>
            </a:pPr>
            <a:r>
              <a:rPr lang="en-US" sz="1600" dirty="0">
                <a:solidFill>
                  <a:srgbClr val="8FB3A0"/>
                </a:solidFill>
                <a:latin typeface="Courier New" pitchFamily="34" charset="0"/>
                <a:ea typeface="Courier New" pitchFamily="34" charset="-122"/>
                <a:cs typeface="Courier New" pitchFamily="34" charset="-120"/>
              </a:rPr>
              <a:t># insert bit</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l14.S (1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ARC12 Computer Architecture - Lecture 14: Elementary Machines: Registers and Buses</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l14.S: a byte sent one bit at a time, and rebuilt at the other end</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On the screen: top row: the eight bits of 0xA5 in the order in which they leave,</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most significant first (lit, dark, lit, dark, dark, lit, dark, lit). Bottom row: the</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byte rebuilt by the receiver. A green square says that it is equal to the byte sent.</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Build: python3 -m prg32 cartridge build l14.S --portable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--entry-prefix l14 --name l14 --out l14.prg32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.option norelax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BLACK,  0x0000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GREY,   0x4208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YELLOW, 0xffe0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GREEN,  0x07e0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RED,    0xf800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BYTE,   0xA5            </a:t>
            </a:r>
            <a:pPr indent="0" marL="0">
              <a:buNone/>
            </a:pPr>
            <a:r>
              <a:rPr lang="en-US" sz="1350" dirty="0">
                <a:solidFill>
                  <a:srgbClr val="8FB3A0"/>
                </a:solidFill>
                <a:latin typeface="Courier New" pitchFamily="34" charset="0"/>
                <a:ea typeface="Courier New" pitchFamily="34" charset="-122"/>
                <a:cs typeface="Courier New" pitchFamily="34" charset="-120"/>
              </a:rPr>
              <a:t># the byte to send: 1010 0101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.section .text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l14_init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l14_update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l14_draw</a:t>
            </a:r>
            <a:endParaRPr lang="en-US" sz="13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l14.S (2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l14_init: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l14_update: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lamp: a0 = position 0 to 7, a1 = y, a2 = bit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lamp: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a4, GREY</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beqz a2, 1f</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a4, YELLOW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1:  slli a0, a0, 5</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a0, a0, 36          </a:t>
            </a:r>
            <a:pPr indent="0" marL="0">
              <a:buNone/>
            </a:pPr>
            <a:r>
              <a:rPr lang="en-US" sz="1800" dirty="0">
                <a:solidFill>
                  <a:srgbClr val="8FB3A0"/>
                </a:solidFill>
                <a:latin typeface="Courier New" pitchFamily="34" charset="0"/>
                <a:ea typeface="Courier New" pitchFamily="34" charset="-122"/>
                <a:cs typeface="Courier New" pitchFamily="34" charset="-120"/>
              </a:rPr>
              <a:t># x = 36 + 32 * position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24</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a3, 24</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tail prg32_gfx_rect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l14.S (3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l14_draw: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28(sp)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s0, 24(sp)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s1, 20(sp)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s2, 16(sp)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s3,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a0, BLACK</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prg32_gfx_clear</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l14.S (4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li   s0, BYTE            </a:t>
            </a:r>
            <a:pPr indent="0" marL="0">
              <a:buNone/>
            </a:pPr>
            <a:r>
              <a:rPr lang="en-US" sz="1800" dirty="0">
                <a:solidFill>
                  <a:srgbClr val="8FB3A0"/>
                </a:solidFill>
                <a:latin typeface="Courier New" pitchFamily="34" charset="0"/>
                <a:ea typeface="Courier New" pitchFamily="34" charset="-122"/>
                <a:cs typeface="Courier New" pitchFamily="34" charset="-120"/>
              </a:rPr>
              <a:t># a0 of the slide: the byte to send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s1, 0               </a:t>
            </a:r>
            <a:pPr indent="0" marL="0">
              <a:buNone/>
            </a:pPr>
            <a:r>
              <a:rPr lang="en-US" sz="1800" dirty="0">
                <a:solidFill>
                  <a:srgbClr val="8FB3A0"/>
                </a:solidFill>
                <a:latin typeface="Courier New" pitchFamily="34" charset="0"/>
                <a:ea typeface="Courier New" pitchFamily="34" charset="-122"/>
                <a:cs typeface="Courier New" pitchFamily="34" charset="-120"/>
              </a:rPr>
              <a:t># the receiver's shift register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s2, 0               </a:t>
            </a:r>
            <a:pPr indent="0" marL="0">
              <a:buNone/>
            </a:pPr>
            <a:r>
              <a:rPr lang="en-US" sz="1800" dirty="0">
                <a:solidFill>
                  <a:srgbClr val="8FB3A0"/>
                </a:solidFill>
                <a:latin typeface="Courier New" pitchFamily="34" charset="0"/>
                <a:ea typeface="Courier New" pitchFamily="34" charset="-122"/>
                <a:cs typeface="Courier New" pitchFamily="34" charset="-120"/>
              </a:rPr>
              <a:t># how many bits have gone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1:  srli t1, s0, 7           </a:t>
            </a:r>
            <a:pPr indent="0" marL="0">
              <a:buNone/>
            </a:pPr>
            <a:r>
              <a:rPr lang="en-US" sz="1800" dirty="0">
                <a:solidFill>
                  <a:srgbClr val="8FB3A0"/>
                </a:solidFill>
                <a:latin typeface="Courier New" pitchFamily="34" charset="0"/>
                <a:ea typeface="Courier New" pitchFamily="34" charset="-122"/>
                <a:cs typeface="Courier New" pitchFamily="34" charset="-120"/>
              </a:rPr>
              <a:t># bring bit 7 down to bit 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andi s3, t1, 1           </a:t>
            </a:r>
            <a:pPr indent="0" marL="0">
              <a:buNone/>
            </a:pPr>
            <a:r>
              <a:rPr lang="en-US" sz="1800" dirty="0">
                <a:solidFill>
                  <a:srgbClr val="8FB3A0"/>
                </a:solidFill>
                <a:latin typeface="Courier New" pitchFamily="34" charset="0"/>
                <a:ea typeface="Courier New" pitchFamily="34" charset="-122"/>
                <a:cs typeface="Courier New" pitchFamily="34" charset="-120"/>
              </a:rPr>
              <a:t># s3 = the bit to put on the wire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mv   a0, s2              </a:t>
            </a:r>
            <a:pPr indent="0" marL="0">
              <a:buNone/>
            </a:pPr>
            <a:r>
              <a:rPr lang="en-US" sz="1800" dirty="0">
                <a:solidFill>
                  <a:srgbClr val="8FB3A0"/>
                </a:solidFill>
                <a:latin typeface="Courier New" pitchFamily="34" charset="0"/>
                <a:ea typeface="Courier New" pitchFamily="34" charset="-122"/>
                <a:cs typeface="Courier New" pitchFamily="34" charset="-120"/>
              </a:rPr>
              <a:t># ... here the wire is a lamp: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a1, 40              </a:t>
            </a:r>
            <a:pPr indent="0" marL="0">
              <a:buNone/>
            </a:pPr>
            <a:r>
              <a:rPr lang="en-US" sz="1800" dirty="0">
                <a:solidFill>
                  <a:srgbClr val="8FB3A0"/>
                </a:solidFill>
                <a:latin typeface="Courier New" pitchFamily="34" charset="0"/>
                <a:ea typeface="Courier New" pitchFamily="34" charset="-122"/>
                <a:cs typeface="Courier New" pitchFamily="34" charset="-120"/>
              </a:rPr>
              <a:t>#     position = the order of sending</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mv   a2, s3</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lamp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slli s1, s1, 1           </a:t>
            </a:r>
            <a:pPr indent="0" marL="0">
              <a:buNone/>
            </a:pPr>
            <a:r>
              <a:rPr lang="en-US" sz="1800" dirty="0">
                <a:solidFill>
                  <a:srgbClr val="8FB3A0"/>
                </a:solidFill>
                <a:latin typeface="Courier New" pitchFamily="34" charset="0"/>
                <a:ea typeface="Courier New" pitchFamily="34" charset="-122"/>
                <a:cs typeface="Courier New" pitchFamily="34" charset="-120"/>
              </a:rPr>
              <a:t># receiver: make room (serial to parallel)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or   s1, s1, s3          </a:t>
            </a:r>
            <a:pPr indent="0" marL="0">
              <a:buNone/>
            </a:pPr>
            <a:r>
              <a:rPr lang="en-US" sz="1800" dirty="0">
                <a:solidFill>
                  <a:srgbClr val="8FB3A0"/>
                </a:solidFill>
                <a:latin typeface="Courier New" pitchFamily="34" charset="0"/>
                <a:ea typeface="Courier New" pitchFamily="34" charset="-122"/>
                <a:cs typeface="Courier New" pitchFamily="34" charset="-120"/>
              </a:rPr>
              <a:t>#           insert the bit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slli s0, s0, 1           </a:t>
            </a:r>
            <a:pPr indent="0" marL="0">
              <a:buNone/>
            </a:pPr>
            <a:r>
              <a:rPr lang="en-US" sz="1800" dirty="0">
                <a:solidFill>
                  <a:srgbClr val="8FB3A0"/>
                </a:solidFill>
                <a:latin typeface="Courier New" pitchFamily="34" charset="0"/>
                <a:ea typeface="Courier New" pitchFamily="34" charset="-122"/>
                <a:cs typeface="Courier New" pitchFamily="34" charset="-120"/>
              </a:rPr>
              <a:t># sender: shift left, the next bit moves up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andi s0, s0, 255         </a:t>
            </a:r>
            <a:pPr indent="0" marL="0">
              <a:buNone/>
            </a:pPr>
            <a:r>
              <a:rPr lang="en-US" sz="1800" dirty="0">
                <a:solidFill>
                  <a:srgbClr val="8FB3A0"/>
                </a:solidFill>
                <a:latin typeface="Courier New" pitchFamily="34" charset="0"/>
                <a:ea typeface="Courier New" pitchFamily="34" charset="-122"/>
                <a:cs typeface="Courier New" pitchFamily="34" charset="-120"/>
              </a:rPr>
              <a:t>#         (keep eight bits)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s2, s2,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8               </a:t>
            </a:r>
            <a:pPr indent="0" marL="0">
              <a:buNone/>
            </a:pPr>
            <a:r>
              <a:rPr lang="en-US" sz="1800" dirty="0">
                <a:solidFill>
                  <a:srgbClr val="8FB3A0"/>
                </a:solidFill>
                <a:latin typeface="Courier New" pitchFamily="34" charset="0"/>
                <a:ea typeface="Courier New" pitchFamily="34" charset="-122"/>
                <a:cs typeface="Courier New" pitchFamily="34" charset="-120"/>
              </a:rPr>
              <a:t># eight bits to go</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s2, t0, 1b</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l14.S (5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li   s2, 0               </a:t>
            </a:r>
            <a:pPr indent="0" marL="0">
              <a:buNone/>
            </a:pPr>
            <a:r>
              <a:rPr lang="en-US" sz="1800" dirty="0">
                <a:solidFill>
                  <a:srgbClr val="8FB3A0"/>
                </a:solidFill>
                <a:latin typeface="Courier New" pitchFamily="34" charset="0"/>
                <a:ea typeface="Courier New" pitchFamily="34" charset="-122"/>
                <a:cs typeface="Courier New" pitchFamily="34" charset="-120"/>
              </a:rPr>
              <a:t># show the byte that the receiver rebuilt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2:  li   t0, 7</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sub  t0, t0, s2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srl  a2, s1, 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andi a2, a2,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mv   a0, s2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a1, 100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lamp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s2, s2,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8</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s2, t0, 2b</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l14.S (6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li   a4, RED             </a:t>
            </a:r>
            <a:pPr indent="0" marL="0">
              <a:buNone/>
            </a:pPr>
            <a:r>
              <a:rPr lang="en-US" sz="1800" dirty="0">
                <a:solidFill>
                  <a:srgbClr val="8FB3A0"/>
                </a:solidFill>
                <a:latin typeface="Courier New" pitchFamily="34" charset="0"/>
                <a:ea typeface="Courier New" pitchFamily="34" charset="-122"/>
                <a:cs typeface="Courier New" pitchFamily="34" charset="-120"/>
              </a:rPr>
              <a:t># is it the byte that was sent?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BYTE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bne  s1, t0, 3f</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a4, GREEN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3:  li   a0, 152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a1, 150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a3,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prg32_gfx_rect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s3,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s2, 16(sp)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s1, 20(sp)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24(sp)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28(sp)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68605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top row: the eight bits of 0xA5 in the order in which they leave, most significant first (lit, dark, lit, dark, dark, lit, dark, lit). Bottom row: the byte rebuilt by the receiver. A green square says that it is equal to the byte sent.</a:t>
            </a:r>
            <a:endParaRPr lang="en-US" sz="2400" dirty="0"/>
          </a:p>
        </p:txBody>
      </p:sp>
      <p:sp>
        <p:nvSpPr>
          <p:cNvPr id="5" name="Shape 3"/>
          <p:cNvSpPr/>
          <p:nvPr/>
        </p:nvSpPr>
        <p:spPr>
          <a:xfrm>
            <a:off x="548640" y="486537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743450"/>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14.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l14 --name l14 --out l14.prg32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l14.prg32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l14 --name l14 --architecture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l14-qemu.prg32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l14-qemu.prg32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l14 --name l14 --architecture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l14-esp32c6.prg32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l14-esp32c6.prg32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l14;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Draw a 4-bit serial-in, parallel-out shift register with D flip-flops, and fill in its contents over four clock pulses for the input 1, 0, 1, 1</a:t>
            </a:r>
            <a:endParaRPr lang="en-US" sz="1900" dirty="0"/>
          </a:p>
        </p:txBody>
      </p:sp>
      <p:sp>
        <p:nvSpPr>
          <p:cNvPr id="6" name="Text 4"/>
          <p:cNvSpPr txBox="1"/>
          <p:nvPr/>
        </p:nvSpPr>
        <p:spPr>
          <a:xfrm>
            <a:off x="548640" y="2157095"/>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38807"/>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Three registers share a common bus: write the enable and load signals needed to copy register B into register A</a:t>
            </a:r>
            <a:endParaRPr lang="en-US" sz="1900" dirty="0"/>
          </a:p>
        </p:txBody>
      </p:sp>
      <p:sp>
        <p:nvSpPr>
          <p:cNvPr id="8" name="Text 6"/>
          <p:cNvSpPr txBox="1"/>
          <p:nvPr/>
        </p:nvSpPr>
        <p:spPr>
          <a:xfrm>
            <a:off x="548640" y="287858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860294"/>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Complete the warm-up: write the loop that receives eight bits from a line and rebuilds the byte</a:t>
            </a:r>
            <a:endParaRPr lang="en-US" sz="1900" dirty="0"/>
          </a:p>
        </p:txBody>
      </p:sp>
      <p:sp>
        <p:nvSpPr>
          <p:cNvPr id="10" name="Text 8"/>
          <p:cNvSpPr txBox="1"/>
          <p:nvPr/>
        </p:nvSpPr>
        <p:spPr>
          <a:xfrm>
            <a:off x="548640" y="3600069"/>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81781"/>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On PRG32, show a byte as eight lamps and shift it left by one position every half second</a:t>
            </a:r>
            <a:endParaRPr lang="en-US" sz="1900" dirty="0"/>
          </a:p>
        </p:txBody>
      </p:sp>
      <p:sp>
        <p:nvSpPr>
          <p:cNvPr id="12" name="Text 10"/>
          <p:cNvSpPr txBox="1"/>
          <p:nvPr/>
        </p:nvSpPr>
        <p:spPr>
          <a:xfrm>
            <a:off x="548640" y="432155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303268"/>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Make the bit that leaves on the left come back in on the right (a rotation): a ring counter</a:t>
            </a:r>
            <a:endParaRPr lang="en-US" sz="19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PRG32: a pattern of lamps that walks to the left and, in the last exercise, goes round for ever.</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Elementary Machines: Registers and Buses: the code</dc:title>
  <dc:subject>Lecture 14</dc:subject>
  <dc:creator>Raffaele Montella</dc:creator>
  <cp:lastModifiedBy>Raffaele Montella</cp:lastModifiedBy>
  <cp:revision>1</cp:revision>
  <dcterms:created xsi:type="dcterms:W3CDTF">2026-10-13T08:56:24Z</dcterms:created>
  <dcterms:modified xsi:type="dcterms:W3CDTF">2026-10-13T08:56:24Z</dcterms:modified>
</cp:coreProperties>
</file>