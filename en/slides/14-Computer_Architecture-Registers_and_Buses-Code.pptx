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e4e82a17-cae0-07b7-e29f-84951c8588f5}">
          <p14:sldIdLst>
            <p14:sldId id="256"/>
            <p14:sldId id="257"/>
          </p14:sldIdLst>
        </p14:section>
        <p14:section name="Warm-up on the machine" id="{723bb51f-8d8c-fa2d-e862-b4eb4e7ba079}">
          <p14:sldIdLst>
            <p14:sldId id="258"/>
          </p14:sldIdLst>
        </p14:section>
        <p14:section name="Back to the machine" id="{5e2bb0b8-5780-7718-4caa-6384dc6f2de4}">
          <p14:sldIdLst>
            <p14:sldId id="259"/>
            <p14:sldId id="260"/>
          </p14:sldIdLst>
        </p14:section>
        <p14:section name="The complete program" id="{bea1e546-fc3e-c72e-511f-9c4b3434c351}">
          <p14:sldIdLst>
            <p14:sldId id="261"/>
            <p14:sldId id="262"/>
            <p14:sldId id="263"/>
            <p14:sldId id="264"/>
            <p14:sldId id="265"/>
            <p14:sldId id="266"/>
          </p14:sldIdLst>
        </p14:section>
        <p14:section name="Run it and test it" id="{5f77eeb2-50a6-08f4-ab96-d57a86bae19d}">
          <p14:sldIdLst>
            <p14:sldId id="267"/>
            <p14:sldId id="268"/>
            <p14:sldId id="269"/>
            <p14:sldId id="270"/>
            <p14:sldId id="271"/>
          </p14:sldIdLst>
        </p14:section>
        <p14:section name="Exercises" id="{5a6699b1-ead8-3cd8-ab40-cea0f3b6f985}">
          <p14:sldIdLst>
            <p14:sldId id="27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code deck of Lecture 14. The lecture deck holds the concepts; this one holds everything you type and run: the listings with their explanation, the complete program, what it shows, and the way to test it on each of the three hosts.
Learning status: UNDERSTAND NOW, by the end of this lecture you explain it, trace it and apply it on your own; USE NOW, you follow and use the recipe today; how it works inside is explained later, or is not part of the course; UNDERSTAND LATER, recognise the name and what it is for; a later lecture explains it. A slide without a badge is context: a story, an example, a question, an exercise.
Learning status of this lecture. UNDERSTAND NOW: shift registers; registers as flip-flops; buses and three-state gates. USE NOW: the complete program, the PRG32 tools (used, not studied, in this course). UNDERSTAND LATER: memory-mapped I/O (Lecture 15); memories and addresses (Lecture 15). A slide without a badge is context: a story, an example, a question, an exercise.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deck contains, in the order of the slides. The program of the lecture is a file that you can build and run as it is: start from there, and come back to the listings to understand each part. The program of this lecture is ~/arc12/code/l14.S; tools/tests/cartridges/run.py builds it, runs it on PRG32-QT with scripted input and checks the pixels of the frame.
For the lecturer: Get the code once: git clone https://github.com/riscv-prg32/computer-architecture-with-prg32 ~/arc12. The program of this lecture is ~/arc12/code/l14.S; tools/tests/cartridges/run.py builds it, runs it on PRG32-QT with scripted input and checks the pixels of the frame. Every listing on these slides is read by the build from a tested file, or checked by tools/tests: see its README.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loop sends a byte one bit at a time, most significant bit first. At each turn the byte is shifted right by 7 and masked with 1, which isolates its top bit; that bit would be put on a data line and a clock line pulsed; then the byte is shifted left by one, so that the next bit moves into the top position. After eight turns the whole byte has gone. The loop is a shift register in software. The chip of the kit contains hardware that does the same thing, millions of times per second.
UNDERSTAND NOW: shift registers. UNDERSTAND LATER: memory-mapped I/O (studied in Lecture 15).
For the lecturer: Written for this lecture. On the kit the display uses SPI and the amplifier I2S: both are serial buses driven by shift registers inside the chip. The two elided lines would write to memory-mapped GPIO registers (Lecture 15).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buses of the kit. Inside the chip the bus is parallel. The display is connected by SPI, a serial bus with a clock, a data line, a chip select and a line that distinguishes data from commands: every pixel of every frame travels on it bit by bit. The amplifier is connected by I2S, another serial bus, which carries 22,050 audio samples per second. The buttons use one wire each: a decoded representation. USB, serial as well, carries the firmware and the debug console.
UNDERSTAND NOW: buses and three-state gates.
For the lecturer: From the hardware description of the PRG32 repository (docs/hardware). Chip select is the CS of the small memory of the lecture deck: several devices can share the same serial bus because only the selected one listens.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shift instructions move all the bits of a register in a single step: slli and srli fill with zeros, srai with copies of the sign bit; sll, srl and sra take the number of positions from a register. In hardware this is not a chain of flip-flops, which would need one clock pulse per position, but a barrel shifter, a combinational network of layers of multiplexers, and it is one of the units of the ALU. The code on the right shows the two conversions between parallel and serial.
UNDERSTAND NOW: shift registers.
For the lecturer: A true shift register needs n clock pulses for n positions; the barrel shifter of the ALU is combinational and does it within one clock period.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One page of the complete program, exactly as it is in the repository. Read it from the top: the header says what the program shows and how to build it; the three functions init, update and draw follow, then the data. Lines that you met in the listings of the lecture have the same comments here.
USE NOW: the complete program (used, not studied, in this course).
For the lecturer: code/l14.S, as built and run by the tests. The comments are part of the program: read them with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What the program shows when it runs, and what to press. Predict before you run: if the screen differs from this picture, the difference is information. The picture was written by the automatic test, not drawn by hand.
For the lecturer: The picture is the frame that the headless runner of PRG32-QT produced in the test of this program. On QEMU and on the board the game area is the same 320 by 200 pixels, between the two status bands.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quickest way: PRG32-QT on your own computer. Four steps, each with its command. PRG32-QT behaves like a board on port 8080, which is why the upload command says esp32c6. With debug mode enabled you can stop at any instruction and read registers and memory.
USE NOW: the PRG32 tools (used, not studied, in this course).
For the lecturer: Run by the tests: the cartridge of this slide is built with this command and executed on the headless runner of PRG32-QT. Without the toolchain: import the .prg32 file in PRG32-QT and choose Run Cartridge. Keys: arrows or WASD for the joystick, Z or J for A, X or K for B, Enter for Start, Escape to go back to Setup.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emulator. QEMU runs the real firmware on an emulated chip, so the cartridge must be built for the architecture qemu. Stage the cartridge while QEMU is closed. The firmware opens on the Setup menu: choose Run Cartridge and the slot. Remember that the keyboard is read by the terminal, not by the window with the picture.
USE NOW: the PRG32 tools (used, not studied, in this course).
For the lecturer: Checked by the tests up to the staging: the cartridge is built for the architecture qemu and accepted into the flash image of the emulator. What the emulator then shows is not checked automatically: Espressif QEMU needs its window. Since October 2026 the firmware starts on Setup: choose Run Cartridge, then cart0.</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same program on the kit. The firmware is written once, through USB; after that cartridges travel over Wi-Fi. The upload command is the one used for PRG32-QT with the address of the board. This is the only host that the automatic tests do not run: try it, and report what you see.
USE NOW: the PRG32 tools (used, not studied, in this course).
For the lecturer: Not run by the tests: there is no board on the test machine. The cartridge for the architecture esp32c6 is built by the tests; the steps are those of the PRG32 documentation. If the serial port is not found pass it explicitly. To use the Wi-Fi of the classroom: python3 -m prg32 wifi set --ssid NAME --password PASSWORD --mode sta.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five most common symptoms, what each means, and what to do. Read the message before changing anything: it nearly always names the cause.
USE NOW: the PRG32 tools (used, not studied, in this course).
For the lecturer: The first three rows cover most cases. When asking for help, paste the command and the whole message as text. docs/usage/troubleshooting.md of the PRG32 repository has the complete list.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Five exercises. Draw a 4-bit serial-in, parallel-out shift register and follow its content over four clock pulses. Write the enable and load signals that copy one register into another on a common bus. Complete the warm-up with the receiving loop. On PRG32, show a byte as eight lamps and shift it every half second. Finally make the bit that leaves on one side come back on the other: a rotation, also called a ring counter.
For the lecturer: Exercise 3: slli a1, a1, 1 then or with the received bit, eight times. Exercise 5: srli t1, a0, 7; andi t1, t1, 1; slli a0, a0, 1; or a0, a0, t1; andi a0, a0, 255.</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LIGH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19088"/>
            <a:ext cx="9601200" cy="274320"/>
          </a:xfrm>
          <a:prstGeom prst="rect">
            <a:avLst/>
          </a:prstGeom>
          <a:noFill/>
          <a:ln/>
        </p:spPr>
        <p:txBody>
          <a:bodyPr wrap="square" lIns="0" tIns="0" rIns="0" bIns="0" rtlCol="0" anchor="ctr"/>
          <a:lstStyle/>
          <a:p>
            <a:pPr indent="0" marL="0">
              <a:buNone/>
            </a:pPr>
            <a:r>
              <a:rPr lang="en-US" sz="1000" dirty="0">
                <a:solidFill>
                  <a:srgbClr val="5B6B78"/>
                </a:solidFill>
                <a:latin typeface="Calibri" pitchFamily="34" charset="0"/>
                <a:ea typeface="Calibri" pitchFamily="34" charset="-122"/>
                <a:cs typeface="Calibri" pitchFamily="34" charset="-120"/>
              </a:rPr>
              <a:t>ARC12 Computer Architecture  |  Lecture 14: Registers and buses (code)  |  A.Y. 2026/27</a:t>
            </a:r>
            <a:endParaRPr lang="en-US" sz="1000" dirty="0"/>
          </a:p>
        </p:txBody>
      </p:sp>
      <p:sp>
        <p:nvSpPr>
          <p:cNvPr id="3" name="Text 1"/>
          <p:cNvSpPr/>
          <p:nvPr>
            <p:ph idx="101" type="title" hasCustomPrompt="1"/>
          </p:nvPr>
        </p:nvSpPr>
        <p:spPr>
          <a:xfrm>
            <a:off x="548640" y="365760"/>
            <a:ext cx="11094415" cy="868680"/>
          </a:xfrm>
          <a:prstGeom prst="rect">
            <a:avLst/>
          </a:prstGeom>
          <a:noFill/>
          <a:ln/>
        </p:spPr>
        <p:txBody>
          <a:bodyPr wrap="square" rtlCol="0"/>
          <a:lstStyle>
            <a:lvl1pPr algn="l" indent="0" marL="0">
              <a:buNone/>
              <a:defRPr lang="en-US" sz="3200" b="1" dirty="0">
                <a:solidFill>
                  <a:srgbClr val="2E4A62"/>
                </a:solidFill>
                <a:latin typeface="Cambria" pitchFamily="34" charset="0"/>
                <a:ea typeface="Cambria" pitchFamily="34" charset="-122"/>
                <a:cs typeface="Cambria" pitchFamily="34" charset="-120"/>
              </a:defRPr>
            </a:lvl1pPr>
          </a:lstStyle>
          <a:p>
            <a:pPr algn="l" indent="0" marL="0">
              <a:buNone/>
            </a:pPr>
            <a:endParaRPr lang="en-US" sz="3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DARK">
    <p:bg>
      <p:bgPr>
        <a:solidFill>
          <a:srgbClr val="1B2530"/>
        </a:solidFill>
      </p:bgPr>
    </p:bg>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1003</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slideLayout" Target="../slideLayouts/slideLayout3.xml"/><Relationship Id="rId6"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2.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2.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slideLayout" Target="../slideLayouts/slideLayout2.xml"/><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2.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2.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2.xml"/><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2.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slideLayout" Target="../slideLayouts/slideLayout2.xm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image-11-1.png"/><Relationship Id="rId2" Type="http://schemas.openxmlformats.org/officeDocument/2006/relationships/slideLayout" Target="../slideLayouts/slideLayout2.xml"/><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slideLayout" Target="../slideLayouts/slideLayout2.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image-13-1.png"/><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image-14-1.png"/><Relationship Id="rId2" Type="http://schemas.openxmlformats.org/officeDocument/2006/relationships/slideLayout" Target="../slideLayouts/slideLayout2.xm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2.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slideLayout" Target="../slideLayouts/slideLayout2.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Shape 0"/>
          <p:cNvSpPr/>
          <p:nvPr/>
        </p:nvSpPr>
        <p:spPr>
          <a:xfrm>
            <a:off x="548640" y="640080"/>
            <a:ext cx="201900" cy="201900"/>
          </a:xfrm>
          <a:prstGeom prst="rect">
            <a:avLst/>
          </a:prstGeom>
          <a:solidFill>
            <a:srgbClr val="0E7C86"/>
          </a:solidFill>
          <a:ln w="12700">
            <a:solidFill>
              <a:srgbClr val="0E7C86"/>
            </a:solidFill>
            <a:prstDash val="solid"/>
          </a:ln>
        </p:spPr>
      </p:sp>
      <p:sp>
        <p:nvSpPr>
          <p:cNvPr id="3" name="Shape 1"/>
          <p:cNvSpPr/>
          <p:nvPr/>
        </p:nvSpPr>
        <p:spPr>
          <a:xfrm>
            <a:off x="768096" y="640080"/>
            <a:ext cx="201900" cy="201900"/>
          </a:xfrm>
          <a:prstGeom prst="rect">
            <a:avLst/>
          </a:prstGeom>
          <a:solidFill>
            <a:srgbClr val="C7791B"/>
          </a:solidFill>
          <a:ln w="12700">
            <a:solidFill>
              <a:srgbClr val="C7791B"/>
            </a:solidFill>
            <a:prstDash val="solid"/>
          </a:ln>
        </p:spPr>
      </p:sp>
      <p:sp>
        <p:nvSpPr>
          <p:cNvPr id="4" name="Shape 2"/>
          <p:cNvSpPr/>
          <p:nvPr/>
        </p:nvSpPr>
        <p:spPr>
          <a:xfrm>
            <a:off x="768096" y="859536"/>
            <a:ext cx="201900" cy="201900"/>
          </a:xfrm>
          <a:prstGeom prst="rect">
            <a:avLst/>
          </a:prstGeom>
          <a:solidFill>
            <a:srgbClr val="0E7C86"/>
          </a:solidFill>
          <a:ln w="12700">
            <a:solidFill>
              <a:srgbClr val="0E7C86"/>
            </a:solidFill>
            <a:prstDash val="solid"/>
          </a:ln>
        </p:spPr>
      </p:sp>
      <p:sp>
        <p:nvSpPr>
          <p:cNvPr id="5" name="Shape 3"/>
          <p:cNvSpPr/>
          <p:nvPr/>
        </p:nvSpPr>
        <p:spPr>
          <a:xfrm>
            <a:off x="987552" y="859536"/>
            <a:ext cx="201900" cy="201900"/>
          </a:xfrm>
          <a:prstGeom prst="rect">
            <a:avLst/>
          </a:prstGeom>
          <a:solidFill>
            <a:srgbClr val="C7791B"/>
          </a:solidFill>
          <a:ln w="12700">
            <a:solidFill>
              <a:srgbClr val="C7791B"/>
            </a:solidFill>
            <a:prstDash val="solid"/>
          </a:ln>
        </p:spPr>
      </p:sp>
      <p:sp>
        <p:nvSpPr>
          <p:cNvPr id="6" name="Shape 4"/>
          <p:cNvSpPr/>
          <p:nvPr/>
        </p:nvSpPr>
        <p:spPr>
          <a:xfrm>
            <a:off x="548640" y="1078992"/>
            <a:ext cx="201900" cy="201900"/>
          </a:xfrm>
          <a:prstGeom prst="rect">
            <a:avLst/>
          </a:prstGeom>
          <a:solidFill>
            <a:srgbClr val="0E7C86"/>
          </a:solidFill>
          <a:ln w="12700">
            <a:solidFill>
              <a:srgbClr val="0E7C86"/>
            </a:solidFill>
            <a:prstDash val="solid"/>
          </a:ln>
        </p:spPr>
      </p:sp>
      <p:sp>
        <p:nvSpPr>
          <p:cNvPr id="7" name="Text 5"/>
          <p:cNvSpPr txBox="1"/>
          <p:nvPr/>
        </p:nvSpPr>
        <p:spPr>
          <a:xfrm>
            <a:off x="548640" y="1600200"/>
            <a:ext cx="11094415" cy="365760"/>
          </a:xfrm>
          <a:prstGeom prst="rect">
            <a:avLst/>
          </a:prstGeom>
          <a:noFill/>
          <a:ln/>
        </p:spPr>
        <p:txBody>
          <a:bodyPr wrap="square" lIns="0" tIns="0" rIns="0" bIns="0" rtlCol="0" anchor="t"/>
          <a:lstStyle/>
          <a:p>
            <a:pPr indent="0" marL="0">
              <a:buNone/>
            </a:pPr>
            <a:r>
              <a:rPr lang="en-US" sz="1600" b="1" spc="300" kern="0" dirty="0">
                <a:solidFill>
                  <a:srgbClr val="C7791B"/>
                </a:solidFill>
                <a:latin typeface="Calibri" pitchFamily="34" charset="0"/>
                <a:ea typeface="Calibri" pitchFamily="34" charset="-122"/>
                <a:cs typeface="Calibri" pitchFamily="34" charset="-120"/>
              </a:rPr>
              <a:t>ARC12 COMPUTER ARCHITECTURE  ·  LECTURE 14</a:t>
            </a:r>
            <a:endParaRPr lang="en-US" sz="1600" dirty="0"/>
          </a:p>
        </p:txBody>
      </p:sp>
      <p:sp>
        <p:nvSpPr>
          <p:cNvPr id="8" name="Text 6"/>
          <p:cNvSpPr txBox="1"/>
          <p:nvPr/>
        </p:nvSpPr>
        <p:spPr>
          <a:xfrm>
            <a:off x="548640" y="2011680"/>
            <a:ext cx="9722815" cy="1554480"/>
          </a:xfrm>
          <a:prstGeom prst="rect">
            <a:avLst/>
          </a:prstGeom>
          <a:noFill/>
          <a:ln/>
        </p:spPr>
        <p:txBody>
          <a:bodyPr wrap="square" lIns="0" tIns="0" rIns="0" bIns="0" rtlCol="0" anchor="ctr"/>
          <a:lstStyle/>
          <a:p>
            <a:pPr indent="0" marL="0">
              <a:buNone/>
            </a:pPr>
            <a:r>
              <a:rPr lang="en-US" sz="4800" b="1" dirty="0">
                <a:solidFill>
                  <a:srgbClr val="FFFFFF"/>
                </a:solidFill>
                <a:latin typeface="Cambria" pitchFamily="34" charset="0"/>
                <a:ea typeface="Cambria" pitchFamily="34" charset="-122"/>
                <a:cs typeface="Cambria" pitchFamily="34" charset="-120"/>
              </a:rPr>
              <a:t>Elementary Machines: Registers and Buses: the code</a:t>
            </a:r>
            <a:endParaRPr lang="en-US" sz="4800" dirty="0"/>
          </a:p>
        </p:txBody>
      </p:sp>
      <p:sp>
        <p:nvSpPr>
          <p:cNvPr id="9" name="Text 7"/>
          <p:cNvSpPr txBox="1"/>
          <p:nvPr/>
        </p:nvSpPr>
        <p:spPr>
          <a:xfrm>
            <a:off x="548640" y="3611880"/>
            <a:ext cx="9722815" cy="548640"/>
          </a:xfrm>
          <a:prstGeom prst="rect">
            <a:avLst/>
          </a:prstGeom>
          <a:noFill/>
          <a:ln/>
        </p:spPr>
        <p:txBody>
          <a:bodyPr wrap="square" lIns="0" tIns="0" rIns="0" bIns="0" rtlCol="0" anchor="ctr"/>
          <a:lstStyle/>
          <a:p>
            <a:pPr indent="0" marL="0">
              <a:buNone/>
            </a:pPr>
            <a:r>
              <a:rPr lang="en-US" sz="1700" dirty="0">
                <a:solidFill>
                  <a:srgbClr val="CFE3EA"/>
                </a:solidFill>
                <a:latin typeface="Calibri" pitchFamily="34" charset="0"/>
                <a:ea typeface="Calibri" pitchFamily="34" charset="-122"/>
                <a:cs typeface="Calibri" pitchFamily="34" charset="-120"/>
              </a:rPr>
              <a:t>Code deck: every listing explained, the complete program, and how to test it on PRG32-QT, on QEMU and on the board</a:t>
            </a:r>
            <a:endParaRPr lang="en-US" sz="1700" dirty="0"/>
          </a:p>
        </p:txBody>
      </p:sp>
      <p:sp>
        <p:nvSpPr>
          <p:cNvPr id="10" name="Text 8"/>
          <p:cNvSpPr txBox="1"/>
          <p:nvPr/>
        </p:nvSpPr>
        <p:spPr>
          <a:xfrm>
            <a:off x="548640" y="5486400"/>
            <a:ext cx="8229600" cy="914400"/>
          </a:xfrm>
          <a:prstGeom prst="rect">
            <a:avLst/>
          </a:prstGeom>
          <a:noFill/>
          <a:ln/>
        </p:spPr>
        <p:txBody>
          <a:bodyPr wrap="square" lIns="0" tIns="0" rIns="0" bIns="0" rtlCol="0" anchor="t"/>
          <a:lstStyle/>
          <a:p>
            <a:pPr indent="0" marL="0">
              <a:buNone/>
            </a:pPr>
            <a:r>
              <a:rPr lang="en-US" sz="1700" b="1" dirty="0">
                <a:solidFill>
                  <a:srgbClr val="FFFFFF"/>
                </a:solidFill>
                <a:latin typeface="Calibri" pitchFamily="34" charset="0"/>
                <a:ea typeface="Calibri" pitchFamily="34" charset="-122"/>
                <a:cs typeface="Calibri" pitchFamily="34" charset="-120"/>
              </a:rPr>
              <a:t>Prof. Raffaele Montella, PhD</a:t>
            </a:r>
            <a:endParaRPr lang="en-US" sz="1700" dirty="0"/>
          </a:p>
          <a:p>
            <a:pPr indent="0" marL="0">
              <a:buNone/>
            </a:pPr>
            <a:r>
              <a:rPr lang="en-US" sz="1400" dirty="0">
                <a:solidFill>
                  <a:srgbClr val="CFE3EA"/>
                </a:solidFill>
                <a:latin typeface="Calibri" pitchFamily="34" charset="0"/>
                <a:ea typeface="Calibri" pitchFamily="34" charset="-122"/>
                <a:cs typeface="Calibri" pitchFamily="34" charset="-120"/>
              </a:rPr>
              <a:t>University of Naples “Parthenope”  ·  A.Y. 2026/27</a:t>
            </a:r>
            <a:endParaRPr lang="en-US" sz="1700" dirty="0"/>
          </a:p>
          <a:p>
            <a:pPr indent="0" marL="0">
              <a:buNone/>
            </a:pPr>
            <a:r>
              <a:rPr lang="en-US" sz="1300" dirty="0">
                <a:solidFill>
                  <a:srgbClr val="CFE3EA"/>
                </a:solidFill>
                <a:latin typeface="Calibri" pitchFamily="34" charset="0"/>
                <a:ea typeface="Calibri" pitchFamily="34" charset="-122"/>
                <a:cs typeface="Calibri" pitchFamily="34" charset="-120"/>
              </a:rPr>
              <a:t>raffaelemontella.it  ·  raffaele.montella@uniparthenope.it</a:t>
            </a:r>
            <a:endParaRPr lang="en-US" sz="1700" dirty="0"/>
          </a:p>
        </p:txBody>
      </p:sp>
      <p:sp>
        <p:nvSpPr>
          <p:cNvPr id="11" name="Text 9"/>
          <p:cNvSpPr txBox="1"/>
          <p:nvPr/>
        </p:nvSpPr>
        <p:spPr>
          <a:xfrm>
            <a:off x="4693615" y="566928"/>
            <a:ext cx="6949440" cy="640080"/>
          </a:xfrm>
          <a:prstGeom prst="rect">
            <a:avLst/>
          </a:prstGeom>
          <a:noFill/>
          <a:ln/>
        </p:spPr>
        <p:txBody>
          <a:bodyPr wrap="square" lIns="0" tIns="0" rIns="0" bIns="0" rtlCol="0" anchor="t"/>
          <a:lstStyle/>
          <a:p>
            <a:pPr algn="r" indent="0" marL="0">
              <a:buNone/>
            </a:pPr>
            <a:r>
              <a:rPr lang="en-US" sz="1300" dirty="0">
                <a:solidFill>
                  <a:srgbClr val="CFE3EA"/>
                </a:solidFill>
                <a:latin typeface="Calibri" pitchFamily="34" charset="0"/>
                <a:ea typeface="Calibri" pitchFamily="34" charset="-122"/>
                <a:cs typeface="Calibri" pitchFamily="34" charset="-120"/>
              </a:rPr>
              <a:t>Code deck. The concepts, the figures and the questions are in the lecture deck:</a:t>
            </a:r>
            <a:endParaRPr lang="en-US" sz="1300" dirty="0"/>
          </a:p>
          <a:p>
            <a:pPr algn="r" indent="0" marL="0">
              <a:buNone/>
            </a:pPr>
            <a:r>
              <a:rPr lang="en-US" sz="1300" dirty="0">
                <a:solidFill>
                  <a:srgbClr val="CFE3EA"/>
                </a:solidFill>
                <a:latin typeface="Calibri" pitchFamily="34" charset="0"/>
                <a:ea typeface="Calibri" pitchFamily="34" charset="-122"/>
                <a:cs typeface="Calibri" pitchFamily="34" charset="-120"/>
              </a:rPr>
              <a:t>14-Computer_Architecture-Registers_and_Buses.pptx</a:t>
            </a:r>
            <a:endParaRPr lang="en-US" sz="1300" dirty="0"/>
          </a:p>
        </p:txBody>
      </p:sp>
      <p:sp>
        <p:nvSpPr>
          <p:cNvPr id="12" name="Shape 10"/>
          <p:cNvSpPr/>
          <p:nvPr/>
        </p:nvSpPr>
        <p:spPr>
          <a:xfrm>
            <a:off x="8625535" y="4160520"/>
            <a:ext cx="3017520" cy="2011680"/>
          </a:xfrm>
          <a:prstGeom prst="roundRect">
            <a:avLst>
              <a:gd name="adj" fmla="val 3636"/>
            </a:avLst>
          </a:prstGeom>
          <a:solidFill>
            <a:srgbClr val="000000"/>
          </a:solidFill>
          <a:ln w="12700">
            <a:solidFill>
              <a:srgbClr val="000000"/>
            </a:solidFill>
            <a:prstDash val="solid"/>
          </a:ln>
        </p:spPr>
      </p:sp>
      <p:pic>
        <p:nvPicPr>
          <p:cNvPr id="13" name="Image 0" descr="/Users/raffaelemontella/devel/riscv-prg32/computer-architecture-with-prg32/tools/assets/menu_main.png">    </p:cNvPr>
          <p:cNvPicPr>
            <a:picLocks noChangeAspect="1"/>
          </p:cNvPicPr>
          <p:nvPr/>
        </p:nvPicPr>
        <p:blipFill>
          <a:blip r:embed="rId1"/>
          <a:stretch>
            <a:fillRect/>
          </a:stretch>
        </p:blipFill>
        <p:spPr>
          <a:xfrm>
            <a:off x="8915095" y="4251960"/>
            <a:ext cx="2438400" cy="1828800"/>
          </a:xfrm>
          <a:prstGeom prst="rect">
            <a:avLst/>
          </a:prstGeom>
        </p:spPr>
      </p:pic>
      <p:sp>
        <p:nvSpPr>
          <p:cNvPr id="14" name="Shape 11"/>
          <p:cNvSpPr/>
          <p:nvPr/>
        </p:nvSpPr>
        <p:spPr>
          <a:xfrm>
            <a:off x="9690303" y="91440"/>
            <a:ext cx="1952752" cy="274320"/>
          </a:xfrm>
          <a:prstGeom prst="rect">
            <a:avLst/>
          </a:prstGeom>
          <a:solidFill>
            <a:srgbClr val="F3E8FF"/>
          </a:solidFill>
          <a:ln w="12700">
            <a:solidFill>
              <a:srgbClr val="7E22CE"/>
            </a:solidFill>
            <a:prstDash val="dash"/>
          </a:ln>
        </p:spPr>
      </p:sp>
      <p:sp>
        <p:nvSpPr>
          <p:cNvPr id="15" name="Shape 12"/>
          <p:cNvSpPr/>
          <p:nvPr/>
        </p:nvSpPr>
        <p:spPr>
          <a:xfrm>
            <a:off x="9717735" y="128016"/>
            <a:ext cx="45720" cy="45720"/>
          </a:xfrm>
          <a:prstGeom prst="rect">
            <a:avLst/>
          </a:prstGeom>
          <a:solidFill>
            <a:srgbClr val="7E22CE"/>
          </a:solidFill>
          <a:ln w="12700">
            <a:solidFill>
              <a:srgbClr val="7E22CE"/>
            </a:solidFill>
            <a:prstDash val="solid"/>
          </a:ln>
        </p:spPr>
      </p:sp>
      <p:sp>
        <p:nvSpPr>
          <p:cNvPr id="16" name="Shape 13"/>
          <p:cNvSpPr/>
          <p:nvPr/>
        </p:nvSpPr>
        <p:spPr>
          <a:xfrm>
            <a:off x="9717735" y="205740"/>
            <a:ext cx="45720" cy="45720"/>
          </a:xfrm>
          <a:prstGeom prst="rect">
            <a:avLst/>
          </a:prstGeom>
          <a:solidFill>
            <a:srgbClr val="7E22CE"/>
          </a:solidFill>
          <a:ln w="12700">
            <a:solidFill>
              <a:srgbClr val="7E22CE"/>
            </a:solidFill>
            <a:prstDash val="solid"/>
          </a:ln>
        </p:spPr>
      </p:sp>
      <p:sp>
        <p:nvSpPr>
          <p:cNvPr id="17" name="Shape 14"/>
          <p:cNvSpPr/>
          <p:nvPr/>
        </p:nvSpPr>
        <p:spPr>
          <a:xfrm>
            <a:off x="9717735" y="283464"/>
            <a:ext cx="45720" cy="45720"/>
          </a:xfrm>
          <a:prstGeom prst="rect">
            <a:avLst/>
          </a:prstGeom>
          <a:solidFill>
            <a:srgbClr val="7E22CE"/>
          </a:solidFill>
          <a:ln w="12700">
            <a:solidFill>
              <a:srgbClr val="7E22CE"/>
            </a:solidFill>
            <a:prstDash val="solid"/>
          </a:ln>
        </p:spPr>
      </p:sp>
      <p:pic>
        <p:nvPicPr>
          <p:cNvPr id="18" name="Image 1" descr="preencoded.png">    </p:cNvPr>
          <p:cNvPicPr>
            <a:picLocks noChangeAspect="1"/>
          </p:cNvPicPr>
          <p:nvPr/>
        </p:nvPicPr>
        <p:blipFill>
          <a:blip r:embed="rId2"/>
          <a:stretch>
            <a:fillRect/>
          </a:stretch>
        </p:blipFill>
        <p:spPr>
          <a:xfrm>
            <a:off x="9818319" y="128016"/>
            <a:ext cx="201168" cy="201168"/>
          </a:xfrm>
          <a:prstGeom prst="rect">
            <a:avLst/>
          </a:prstGeom>
        </p:spPr>
      </p:pic>
      <p:sp>
        <p:nvSpPr>
          <p:cNvPr id="19" name="Text 15"/>
          <p:cNvSpPr txBox="1"/>
          <p:nvPr/>
        </p:nvSpPr>
        <p:spPr>
          <a:xfrm>
            <a:off x="10074351" y="91440"/>
            <a:ext cx="1532128"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endParaRPr lang="en-US" sz="1100" dirty="0"/>
          </a:p>
        </p:txBody>
      </p:sp>
      <p:sp>
        <p:nvSpPr>
          <p:cNvPr id="20" name="Shape 16"/>
          <p:cNvSpPr/>
          <p:nvPr/>
        </p:nvSpPr>
        <p:spPr>
          <a:xfrm>
            <a:off x="8407349" y="91440"/>
            <a:ext cx="1173226" cy="274320"/>
          </a:xfrm>
          <a:prstGeom prst="rect">
            <a:avLst/>
          </a:prstGeom>
          <a:solidFill>
            <a:srgbClr val="FEF3C7"/>
          </a:solidFill>
          <a:ln w="12700">
            <a:solidFill>
              <a:srgbClr val="B45309"/>
            </a:solidFill>
            <a:prstDash val="solid"/>
          </a:ln>
        </p:spPr>
      </p:sp>
      <p:sp>
        <p:nvSpPr>
          <p:cNvPr id="21" name="Shape 17"/>
          <p:cNvSpPr/>
          <p:nvPr/>
        </p:nvSpPr>
        <p:spPr>
          <a:xfrm>
            <a:off x="8407349" y="91440"/>
            <a:ext cx="27432" cy="274320"/>
          </a:xfrm>
          <a:prstGeom prst="rect">
            <a:avLst/>
          </a:prstGeom>
          <a:solidFill>
            <a:srgbClr val="B45309"/>
          </a:solidFill>
          <a:ln w="12700">
            <a:solidFill>
              <a:srgbClr val="B45309"/>
            </a:solidFill>
            <a:prstDash val="solid"/>
          </a:ln>
        </p:spPr>
      </p:sp>
      <p:sp>
        <p:nvSpPr>
          <p:cNvPr id="22" name="Shape 18"/>
          <p:cNvSpPr/>
          <p:nvPr/>
        </p:nvSpPr>
        <p:spPr>
          <a:xfrm>
            <a:off x="8462213" y="91440"/>
            <a:ext cx="27432" cy="274320"/>
          </a:xfrm>
          <a:prstGeom prst="rect">
            <a:avLst/>
          </a:prstGeom>
          <a:solidFill>
            <a:srgbClr val="B45309"/>
          </a:solidFill>
          <a:ln w="12700">
            <a:solidFill>
              <a:srgbClr val="B45309"/>
            </a:solidFill>
            <a:prstDash val="solid"/>
          </a:ln>
        </p:spPr>
      </p:sp>
      <p:pic>
        <p:nvPicPr>
          <p:cNvPr id="23" name="Image 2" descr="preencoded.png">    </p:cNvPr>
          <p:cNvPicPr>
            <a:picLocks noChangeAspect="1"/>
          </p:cNvPicPr>
          <p:nvPr/>
        </p:nvPicPr>
        <p:blipFill>
          <a:blip r:embed="rId3"/>
          <a:stretch>
            <a:fillRect/>
          </a:stretch>
        </p:blipFill>
        <p:spPr>
          <a:xfrm>
            <a:off x="8535365" y="128016"/>
            <a:ext cx="201168" cy="201168"/>
          </a:xfrm>
          <a:prstGeom prst="rect">
            <a:avLst/>
          </a:prstGeom>
        </p:spPr>
      </p:pic>
      <p:sp>
        <p:nvSpPr>
          <p:cNvPr id="24" name="Text 19"/>
          <p:cNvSpPr txBox="1"/>
          <p:nvPr/>
        </p:nvSpPr>
        <p:spPr>
          <a:xfrm>
            <a:off x="8791397" y="91440"/>
            <a:ext cx="752602"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endParaRPr lang="en-US" sz="1100" dirty="0"/>
          </a:p>
        </p:txBody>
      </p:sp>
      <p:sp>
        <p:nvSpPr>
          <p:cNvPr id="25" name="Shape 20"/>
          <p:cNvSpPr/>
          <p:nvPr/>
        </p:nvSpPr>
        <p:spPr>
          <a:xfrm>
            <a:off x="6518097" y="91440"/>
            <a:ext cx="1779524" cy="274320"/>
          </a:xfrm>
          <a:prstGeom prst="rect">
            <a:avLst/>
          </a:prstGeom>
          <a:solidFill>
            <a:srgbClr val="E0F2FE"/>
          </a:solidFill>
          <a:ln w="12700">
            <a:solidFill>
              <a:srgbClr val="0369A1"/>
            </a:solidFill>
            <a:prstDash val="solid"/>
          </a:ln>
        </p:spPr>
      </p:sp>
      <p:sp>
        <p:nvSpPr>
          <p:cNvPr id="26" name="Shape 21"/>
          <p:cNvSpPr/>
          <p:nvPr/>
        </p:nvSpPr>
        <p:spPr>
          <a:xfrm>
            <a:off x="6518097" y="91440"/>
            <a:ext cx="73152" cy="274320"/>
          </a:xfrm>
          <a:prstGeom prst="rect">
            <a:avLst/>
          </a:prstGeom>
          <a:solidFill>
            <a:srgbClr val="0369A1"/>
          </a:solidFill>
          <a:ln w="12700">
            <a:solidFill>
              <a:srgbClr val="0369A1"/>
            </a:solidFill>
            <a:prstDash val="solid"/>
          </a:ln>
        </p:spPr>
      </p:sp>
      <p:pic>
        <p:nvPicPr>
          <p:cNvPr id="27" name="Image 3" descr="preencoded.png">    </p:cNvPr>
          <p:cNvPicPr>
            <a:picLocks noChangeAspect="1"/>
          </p:cNvPicPr>
          <p:nvPr/>
        </p:nvPicPr>
        <p:blipFill>
          <a:blip r:embed="rId4"/>
          <a:stretch>
            <a:fillRect/>
          </a:stretch>
        </p:blipFill>
        <p:spPr>
          <a:xfrm>
            <a:off x="6646113" y="128016"/>
            <a:ext cx="201168" cy="201168"/>
          </a:xfrm>
          <a:prstGeom prst="rect">
            <a:avLst/>
          </a:prstGeom>
        </p:spPr>
      </p:pic>
      <p:sp>
        <p:nvSpPr>
          <p:cNvPr id="28" name="Text 22"/>
          <p:cNvSpPr txBox="1"/>
          <p:nvPr/>
        </p:nvSpPr>
        <p:spPr>
          <a:xfrm>
            <a:off x="6902145" y="91440"/>
            <a:ext cx="135890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CFE3EA"/>
                </a:solidFill>
                <a:latin typeface="Calibri"/>
                <a:ea typeface="Calibri"/>
                <a:cs typeface="Calibri"/>
              </a:defRPr>
            </a:lvl1pPr>
          </a:lstStyle>
          <a:p>
            <a:pPr algn="r"/>
            <a:fld id="{F7021451-1387-4CA6-816F-3879F97B5CBC}" type="slidenum">
              <a:rPr b="0" lang="en-US"/>
              <a:t>1</a:t>
            </a:fld>
            <a:endParaRPr lang="en-US"/>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In this deck</a:t>
            </a:r>
            <a:endParaRPr lang="en-US" sz="3200" dirty="0"/>
          </a:p>
        </p:txBody>
      </p:sp>
      <p:sp>
        <p:nvSpPr>
          <p:cNvPr id="3" name="Text 1"/>
          <p:cNvSpPr txBox="1"/>
          <p:nvPr/>
        </p:nvSpPr>
        <p:spPr>
          <a:xfrm>
            <a:off x="548640" y="161848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4" name="Text 2"/>
          <p:cNvSpPr txBox="1"/>
          <p:nvPr/>
        </p:nvSpPr>
        <p:spPr>
          <a:xfrm>
            <a:off x="1207008" y="1600200"/>
            <a:ext cx="10436047" cy="681736"/>
          </a:xfrm>
          <a:prstGeom prst="rect">
            <a:avLst/>
          </a:prstGeom>
          <a:noFill/>
          <a:ln/>
        </p:spPr>
        <p:txBody>
          <a:bodyPr wrap="square" lIns="0" tIns="0" rIns="0" bIns="0" rtlCol="0" anchor="t"/>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2 listings of Lecture 14, one per slide: read the code, then the numbered remarks beside it</a:t>
            </a:r>
            <a:endParaRPr lang="en-US" sz="2200" dirty="0"/>
          </a:p>
        </p:txBody>
      </p:sp>
      <p:sp>
        <p:nvSpPr>
          <p:cNvPr id="5" name="Text 3"/>
          <p:cNvSpPr txBox="1"/>
          <p:nvPr/>
        </p:nvSpPr>
        <p:spPr>
          <a:xfrm>
            <a:off x="548640" y="2757424"/>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6" name="Text 4"/>
          <p:cNvSpPr txBox="1"/>
          <p:nvPr/>
        </p:nvSpPr>
        <p:spPr>
          <a:xfrm>
            <a:off x="1207008" y="2739136"/>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complete program: code/l14.S, 94 lines, printed in full</a:t>
            </a:r>
            <a:endParaRPr lang="en-US" sz="2200" dirty="0"/>
          </a:p>
        </p:txBody>
      </p:sp>
      <p:sp>
        <p:nvSpPr>
          <p:cNvPr id="7" name="Text 5"/>
          <p:cNvSpPr txBox="1"/>
          <p:nvPr/>
        </p:nvSpPr>
        <p:spPr>
          <a:xfrm>
            <a:off x="548640" y="365353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8" name="Text 6"/>
          <p:cNvSpPr txBox="1"/>
          <p:nvPr/>
        </p:nvSpPr>
        <p:spPr>
          <a:xfrm>
            <a:off x="1207008" y="3635248"/>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What you should see when it runs, checked on the PRG32-QT headless runner</a:t>
            </a:r>
            <a:endParaRPr lang="en-US" sz="2200" dirty="0"/>
          </a:p>
        </p:txBody>
      </p:sp>
      <p:sp>
        <p:nvSpPr>
          <p:cNvPr id="9" name="Text 7"/>
          <p:cNvSpPr txBox="1"/>
          <p:nvPr/>
        </p:nvSpPr>
        <p:spPr>
          <a:xfrm>
            <a:off x="548640" y="454964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0" name="Text 8"/>
          <p:cNvSpPr txBox="1"/>
          <p:nvPr/>
        </p:nvSpPr>
        <p:spPr>
          <a:xfrm>
            <a:off x="1207008" y="4531360"/>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How to test it, step by step: on PRG32-QT, on QEMU, on the board</a:t>
            </a:r>
            <a:endParaRPr lang="en-US" sz="2200" dirty="0"/>
          </a:p>
        </p:txBody>
      </p:sp>
      <p:sp>
        <p:nvSpPr>
          <p:cNvPr id="11" name="Text 9"/>
          <p:cNvSpPr txBox="1"/>
          <p:nvPr/>
        </p:nvSpPr>
        <p:spPr>
          <a:xfrm>
            <a:off x="548640" y="5445760"/>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2" name="Text 10"/>
          <p:cNvSpPr txBox="1"/>
          <p:nvPr/>
        </p:nvSpPr>
        <p:spPr>
          <a:xfrm>
            <a:off x="1207008" y="5427472"/>
            <a:ext cx="10436047" cy="438912"/>
          </a:xfrm>
          <a:prstGeom prst="rect">
            <a:avLst/>
          </a:prstGeom>
          <a:noFill/>
          <a:ln/>
        </p:spPr>
        <p:txBody>
          <a:bodyPr wrap="square" lIns="0" tIns="0" rIns="0" bIns="0" rtlCol="0" anchor="ctr"/>
          <a:lstStyle/>
          <a:p>
            <a:pPr indent="0" marL="0">
              <a:spcAft>
                <a:spcPts val="200"/>
              </a:spcAft>
              <a:buNone/>
            </a:pPr>
            <a:r>
              <a:rPr lang="en-US" sz="2200" dirty="0">
                <a:solidFill>
                  <a:srgbClr val="1B2530"/>
                </a:solidFill>
                <a:latin typeface="Calibri" pitchFamily="34" charset="0"/>
                <a:ea typeface="Calibri" pitchFamily="34" charset="-122"/>
                <a:cs typeface="Calibri" pitchFamily="34" charset="-120"/>
              </a:rPr>
              <a:t>The exercises: change the program, predict, run</a:t>
            </a:r>
            <a:endParaRPr lang="en-US" sz="2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Send a byte one bit at a time</a:t>
            </a:r>
            <a:endParaRPr lang="en-US" sz="3200" dirty="0"/>
          </a:p>
        </p:txBody>
      </p:sp>
      <p:sp>
        <p:nvSpPr>
          <p:cNvPr id="3" name="Shape 1"/>
          <p:cNvSpPr/>
          <p:nvPr/>
        </p:nvSpPr>
        <p:spPr>
          <a:xfrm>
            <a:off x="548640" y="1417320"/>
            <a:ext cx="740664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6949440"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a0 = the byte to send, most significant bit first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li   t0, 8               </a:t>
            </a:r>
            <a:pPr indent="0" marL="0">
              <a:buNone/>
            </a:pPr>
            <a:r>
              <a:rPr lang="en-US" sz="1350" dirty="0">
                <a:solidFill>
                  <a:srgbClr val="8FB3A0"/>
                </a:solidFill>
                <a:latin typeface="Courier New" pitchFamily="34" charset="0"/>
                <a:ea typeface="Courier New" pitchFamily="34" charset="-122"/>
                <a:cs typeface="Courier New" pitchFamily="34" charset="-120"/>
              </a:rPr>
              <a:t># eight bits to go</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1:  srli t1, a0, 7           </a:t>
            </a:r>
            <a:pPr indent="0" marL="0">
              <a:buNone/>
            </a:pPr>
            <a:r>
              <a:rPr lang="en-US" sz="1350" dirty="0">
                <a:solidFill>
                  <a:srgbClr val="8FB3A0"/>
                </a:solidFill>
                <a:latin typeface="Courier New" pitchFamily="34" charset="0"/>
                <a:ea typeface="Courier New" pitchFamily="34" charset="-122"/>
                <a:cs typeface="Courier New" pitchFamily="34" charset="-120"/>
              </a:rPr>
              <a:t># bring bit 7 down to bit 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andi t1, t1, 1           </a:t>
            </a:r>
            <a:pPr indent="0" marL="0">
              <a:buNone/>
            </a:pPr>
            <a:r>
              <a:rPr lang="en-US" sz="1350" dirty="0">
                <a:solidFill>
                  <a:srgbClr val="8FB3A0"/>
                </a:solidFill>
                <a:latin typeface="Courier New" pitchFamily="34" charset="0"/>
                <a:ea typeface="Courier New" pitchFamily="34" charset="-122"/>
                <a:cs typeface="Courier New" pitchFamily="34" charset="-120"/>
              </a:rPr>
              <a:t># t1 = the bit to put on the wire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drive the data line with t1,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                      </a:t>
            </a:r>
            <a:pPr indent="0" marL="0">
              <a:buNone/>
            </a:pPr>
            <a:r>
              <a:rPr lang="en-US" sz="1350" dirty="0">
                <a:solidFill>
                  <a:srgbClr val="8FB3A0"/>
                </a:solidFill>
                <a:latin typeface="Courier New" pitchFamily="34" charset="0"/>
                <a:ea typeface="Courier New" pitchFamily="34" charset="-122"/>
                <a:cs typeface="Courier New" pitchFamily="34" charset="-120"/>
              </a:rPr>
              <a:t># then pulse the clock line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slli a0, a0, 1           </a:t>
            </a:r>
            <a:pPr indent="0" marL="0">
              <a:buNone/>
            </a:pPr>
            <a:r>
              <a:rPr lang="en-US" sz="1350" dirty="0">
                <a:solidFill>
                  <a:srgbClr val="8FB3A0"/>
                </a:solidFill>
                <a:latin typeface="Courier New" pitchFamily="34" charset="0"/>
                <a:ea typeface="Courier New" pitchFamily="34" charset="-122"/>
                <a:cs typeface="Courier New" pitchFamily="34" charset="-120"/>
              </a:rPr>
              <a:t># shift left: the next bit moves up</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addi t0, t0, -1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bnez t0, 1b</a:t>
            </a:r>
            <a:endParaRPr lang="en-US" sz="1350" dirty="0"/>
          </a:p>
        </p:txBody>
      </p:sp>
      <p:sp>
        <p:nvSpPr>
          <p:cNvPr id="5" name="Shape 3"/>
          <p:cNvSpPr/>
          <p:nvPr/>
        </p:nvSpPr>
        <p:spPr>
          <a:xfrm>
            <a:off x="8229600" y="1417320"/>
            <a:ext cx="341345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839419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8915400" y="1554480"/>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display and the sound chip of the kit are connected by a few wires, not by thirty-two</a:t>
            </a:r>
            <a:endParaRPr lang="en-US" sz="1300" dirty="0"/>
          </a:p>
        </p:txBody>
      </p:sp>
      <p:sp>
        <p:nvSpPr>
          <p:cNvPr id="8" name="Shape 6"/>
          <p:cNvSpPr/>
          <p:nvPr/>
        </p:nvSpPr>
        <p:spPr>
          <a:xfrm>
            <a:off x="8229600" y="2656332"/>
            <a:ext cx="341345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839419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8915400" y="2793492"/>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A word must therefore travel one bit after another: a serial transfer</a:t>
            </a:r>
            <a:endParaRPr lang="en-US" sz="1300" dirty="0"/>
          </a:p>
        </p:txBody>
      </p:sp>
      <p:sp>
        <p:nvSpPr>
          <p:cNvPr id="11" name="Shape 9"/>
          <p:cNvSpPr/>
          <p:nvPr/>
        </p:nvSpPr>
        <p:spPr>
          <a:xfrm>
            <a:off x="8229600" y="3895344"/>
            <a:ext cx="341345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839419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8915400" y="4032504"/>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loop is a shift register in software: shift, take one bit, repeat</a:t>
            </a:r>
            <a:endParaRPr lang="en-US" sz="1300" dirty="0"/>
          </a:p>
        </p:txBody>
      </p:sp>
      <p:sp>
        <p:nvSpPr>
          <p:cNvPr id="14" name="Shape 12"/>
          <p:cNvSpPr/>
          <p:nvPr/>
        </p:nvSpPr>
        <p:spPr>
          <a:xfrm>
            <a:off x="8229600" y="5134356"/>
            <a:ext cx="341345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839419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8915400" y="5271516"/>
            <a:ext cx="2544775" cy="763524"/>
          </a:xfrm>
          <a:prstGeom prst="rect">
            <a:avLst/>
          </a:prstGeom>
          <a:noFill/>
          <a:ln/>
        </p:spPr>
        <p:txBody>
          <a:bodyPr wrap="square" lIns="0" tIns="0" rIns="0" bIns="0" rtlCol="0" anchor="ctr"/>
          <a:lstStyle/>
          <a:p>
            <a:pPr indent="0" marL="0">
              <a:buNone/>
            </a:pPr>
            <a:r>
              <a:rPr lang="en-US" sz="1300" dirty="0">
                <a:solidFill>
                  <a:srgbClr val="1B2530"/>
                </a:solidFill>
                <a:latin typeface="Calibri" pitchFamily="34" charset="0"/>
                <a:ea typeface="Calibri" pitchFamily="34" charset="-122"/>
                <a:cs typeface="Calibri" pitchFamily="34" charset="-120"/>
              </a:rPr>
              <a:t>The ESP32-C6 has hardware that does exactly this, millions of times per second</a:t>
            </a:r>
            <a:endParaRPr lang="en-US" sz="1300" dirty="0"/>
          </a:p>
        </p:txBody>
      </p:sp>
      <p:sp>
        <p:nvSpPr>
          <p:cNvPr id="17" name="Shape 15"/>
          <p:cNvSpPr/>
          <p:nvPr/>
        </p:nvSpPr>
        <p:spPr>
          <a:xfrm>
            <a:off x="7414590" y="91440"/>
            <a:ext cx="4228465" cy="274320"/>
          </a:xfrm>
          <a:prstGeom prst="rect">
            <a:avLst/>
          </a:prstGeom>
          <a:solidFill>
            <a:srgbClr val="F3E8FF"/>
          </a:solidFill>
          <a:ln w="12700">
            <a:solidFill>
              <a:srgbClr val="7E22CE"/>
            </a:solidFill>
            <a:prstDash val="dash"/>
          </a:ln>
        </p:spPr>
      </p:sp>
      <p:sp>
        <p:nvSpPr>
          <p:cNvPr id="18" name="Shape 16"/>
          <p:cNvSpPr/>
          <p:nvPr/>
        </p:nvSpPr>
        <p:spPr>
          <a:xfrm>
            <a:off x="7442022" y="128016"/>
            <a:ext cx="45720" cy="45720"/>
          </a:xfrm>
          <a:prstGeom prst="rect">
            <a:avLst/>
          </a:prstGeom>
          <a:solidFill>
            <a:srgbClr val="7E22CE"/>
          </a:solidFill>
          <a:ln w="12700">
            <a:solidFill>
              <a:srgbClr val="7E22CE"/>
            </a:solidFill>
            <a:prstDash val="solid"/>
          </a:ln>
        </p:spPr>
      </p:sp>
      <p:sp>
        <p:nvSpPr>
          <p:cNvPr id="19" name="Shape 17"/>
          <p:cNvSpPr/>
          <p:nvPr/>
        </p:nvSpPr>
        <p:spPr>
          <a:xfrm>
            <a:off x="7442022" y="205740"/>
            <a:ext cx="45720" cy="45720"/>
          </a:xfrm>
          <a:prstGeom prst="rect">
            <a:avLst/>
          </a:prstGeom>
          <a:solidFill>
            <a:srgbClr val="7E22CE"/>
          </a:solidFill>
          <a:ln w="12700">
            <a:solidFill>
              <a:srgbClr val="7E22CE"/>
            </a:solidFill>
            <a:prstDash val="solid"/>
          </a:ln>
        </p:spPr>
      </p:sp>
      <p:sp>
        <p:nvSpPr>
          <p:cNvPr id="20" name="Shape 18"/>
          <p:cNvSpPr/>
          <p:nvPr/>
        </p:nvSpPr>
        <p:spPr>
          <a:xfrm>
            <a:off x="7442022" y="283464"/>
            <a:ext cx="45720" cy="45720"/>
          </a:xfrm>
          <a:prstGeom prst="rect">
            <a:avLst/>
          </a:prstGeom>
          <a:solidFill>
            <a:srgbClr val="7E22CE"/>
          </a:solidFill>
          <a:ln w="12700">
            <a:solidFill>
              <a:srgbClr val="7E22CE"/>
            </a:solidFill>
            <a:prstDash val="solid"/>
          </a:ln>
        </p:spPr>
      </p:sp>
      <p:pic>
        <p:nvPicPr>
          <p:cNvPr id="21" name="Image 0" descr="preencoded.png">    </p:cNvPr>
          <p:cNvPicPr>
            <a:picLocks noChangeAspect="1"/>
          </p:cNvPicPr>
          <p:nvPr/>
        </p:nvPicPr>
        <p:blipFill>
          <a:blip r:embed="rId1"/>
          <a:stretch>
            <a:fillRect/>
          </a:stretch>
        </p:blipFill>
        <p:spPr>
          <a:xfrm>
            <a:off x="7542606" y="128016"/>
            <a:ext cx="201168" cy="201168"/>
          </a:xfrm>
          <a:prstGeom prst="rect">
            <a:avLst/>
          </a:prstGeom>
        </p:spPr>
      </p:pic>
      <p:sp>
        <p:nvSpPr>
          <p:cNvPr id="22" name="Text 19"/>
          <p:cNvSpPr txBox="1"/>
          <p:nvPr/>
        </p:nvSpPr>
        <p:spPr>
          <a:xfrm>
            <a:off x="7798638" y="91440"/>
            <a:ext cx="3807841" cy="274320"/>
          </a:xfrm>
          <a:prstGeom prst="rect">
            <a:avLst/>
          </a:prstGeom>
          <a:noFill/>
          <a:ln/>
        </p:spPr>
        <p:txBody>
          <a:bodyPr wrap="square" lIns="0" tIns="0" rIns="0" bIns="0" rtlCol="0" anchor="ctr"/>
          <a:lstStyle/>
          <a:p>
            <a:pPr indent="0" marL="0">
              <a:buNone/>
            </a:pPr>
            <a:r>
              <a:rPr lang="en-US" sz="1100" b="1" dirty="0">
                <a:solidFill>
                  <a:srgbClr val="6B21A8"/>
                </a:solidFill>
                <a:latin typeface="Calibri" pitchFamily="34" charset="0"/>
                <a:ea typeface="Calibri" pitchFamily="34" charset="-122"/>
                <a:cs typeface="Calibri" pitchFamily="34" charset="-120"/>
              </a:rPr>
              <a:t>UNDERSTAND LATER</a:t>
            </a:r>
            <a:pPr indent="0" marL="0">
              <a:buNone/>
            </a:pPr>
            <a:r>
              <a:rPr lang="en-US" sz="1100" dirty="0">
                <a:solidFill>
                  <a:srgbClr val="6B21A8"/>
                </a:solidFill>
                <a:latin typeface="Calibri" pitchFamily="34" charset="0"/>
                <a:ea typeface="Calibri" pitchFamily="34" charset="-122"/>
                <a:cs typeface="Calibri" pitchFamily="34" charset="-120"/>
              </a:rPr>
              <a:t> · memory-mapped I/O</a:t>
            </a:r>
            <a:pPr indent="0" marL="0">
              <a:buNone/>
            </a:pPr>
            <a:r>
              <a:rPr lang="en-US" sz="1100" b="1" dirty="0">
                <a:solidFill>
                  <a:srgbClr val="6B21A8"/>
                </a:solidFill>
                <a:latin typeface="Calibri" pitchFamily="34" charset="0"/>
                <a:ea typeface="Calibri" pitchFamily="34" charset="-122"/>
                <a:cs typeface="Calibri" pitchFamily="34" charset="-120"/>
              </a:rPr>
              <a:t> → Lecture 15</a:t>
            </a:r>
            <a:endParaRPr lang="en-US" sz="1100" dirty="0"/>
          </a:p>
        </p:txBody>
      </p:sp>
      <p:sp>
        <p:nvSpPr>
          <p:cNvPr id="23" name="Shape 20"/>
          <p:cNvSpPr/>
          <p:nvPr/>
        </p:nvSpPr>
        <p:spPr>
          <a:xfrm>
            <a:off x="4343476" y="91440"/>
            <a:ext cx="2961386" cy="274320"/>
          </a:xfrm>
          <a:prstGeom prst="rect">
            <a:avLst/>
          </a:prstGeom>
          <a:solidFill>
            <a:srgbClr val="E0F2FE"/>
          </a:solidFill>
          <a:ln w="12700">
            <a:solidFill>
              <a:srgbClr val="0369A1"/>
            </a:solidFill>
            <a:prstDash val="solid"/>
          </a:ln>
        </p:spPr>
      </p:sp>
      <p:sp>
        <p:nvSpPr>
          <p:cNvPr id="24" name="Shape 21"/>
          <p:cNvSpPr/>
          <p:nvPr/>
        </p:nvSpPr>
        <p:spPr>
          <a:xfrm>
            <a:off x="4343476" y="91440"/>
            <a:ext cx="73152" cy="274320"/>
          </a:xfrm>
          <a:prstGeom prst="rect">
            <a:avLst/>
          </a:prstGeom>
          <a:solidFill>
            <a:srgbClr val="0369A1"/>
          </a:solidFill>
          <a:ln w="12700">
            <a:solidFill>
              <a:srgbClr val="0369A1"/>
            </a:solidFill>
            <a:prstDash val="solid"/>
          </a:ln>
        </p:spPr>
      </p:sp>
      <p:pic>
        <p:nvPicPr>
          <p:cNvPr id="25" name="Image 1" descr="preencoded.png">    </p:cNvPr>
          <p:cNvPicPr>
            <a:picLocks noChangeAspect="1"/>
          </p:cNvPicPr>
          <p:nvPr/>
        </p:nvPicPr>
        <p:blipFill>
          <a:blip r:embed="rId2"/>
          <a:stretch>
            <a:fillRect/>
          </a:stretch>
        </p:blipFill>
        <p:spPr>
          <a:xfrm>
            <a:off x="4471492" y="128016"/>
            <a:ext cx="201168" cy="201168"/>
          </a:xfrm>
          <a:prstGeom prst="rect">
            <a:avLst/>
          </a:prstGeom>
        </p:spPr>
      </p:pic>
      <p:sp>
        <p:nvSpPr>
          <p:cNvPr id="26" name="Text 22"/>
          <p:cNvSpPr txBox="1"/>
          <p:nvPr/>
        </p:nvSpPr>
        <p:spPr>
          <a:xfrm>
            <a:off x="4727524"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Buses on the PRG32 kit</a:t>
            </a:r>
            <a:endParaRPr lang="en-US" sz="32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2546259"/>
                <a:gridCol w="2091570"/>
                <a:gridCol w="3273762"/>
                <a:gridCol w="3182824"/>
              </a:tblGrid>
              <a:tr h="0">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Connection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Kind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Lines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900" b="1" dirty="0">
                          <a:solidFill>
                            <a:srgbClr val="FFFFFF"/>
                          </a:solidFill>
                          <a:latin typeface="Calibri" pitchFamily="34" charset="0"/>
                          <a:ea typeface="Calibri" pitchFamily="34" charset="-122"/>
                          <a:cs typeface="Calibri" pitchFamily="34" charset="-120"/>
                        </a:rPr>
                        <a:t>What travels on 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inside the ESP32-C6</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parallel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32 data lines, address and control</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instructions, data and register transfers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display (ILI9341)</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SPI</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clock, data out, chip select, data/command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every pixel of every frame, bit by bit</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sound amplifier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I2S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bit clock, word select, data</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audio samples, 22,050 per second</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joystick and buttons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wire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one input pin each</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a decoded representation: one line per button</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900" b="1" dirty="0">
                          <a:solidFill>
                            <a:srgbClr val="1B2530"/>
                          </a:solidFill>
                          <a:latin typeface="Calibri" pitchFamily="34" charset="0"/>
                          <a:ea typeface="Calibri" pitchFamily="34" charset="-122"/>
                          <a:cs typeface="Calibri" pitchFamily="34" charset="-120"/>
                        </a:rPr>
                        <a:t>USB to the laptop</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serial, differential pair</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two data wires</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900" dirty="0">
                          <a:solidFill>
                            <a:srgbClr val="1B2530"/>
                          </a:solidFill>
                          <a:latin typeface="Calibri" pitchFamily="34" charset="0"/>
                          <a:ea typeface="Calibri" pitchFamily="34" charset="-122"/>
                          <a:cs typeface="Calibri" pitchFamily="34" charset="-120"/>
                        </a:rPr>
                        <a:t>the firmware and the debug console</a:t>
                      </a:r>
                      <a:endParaRPr lang="en-US" sz="19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7893761" y="91440"/>
            <a:ext cx="3749294" cy="274320"/>
          </a:xfrm>
          <a:prstGeom prst="rect">
            <a:avLst/>
          </a:prstGeom>
          <a:solidFill>
            <a:srgbClr val="E0F2FE"/>
          </a:solidFill>
          <a:ln w="12700">
            <a:solidFill>
              <a:srgbClr val="0369A1"/>
            </a:solidFill>
            <a:prstDash val="solid"/>
          </a:ln>
        </p:spPr>
      </p:sp>
      <p:sp>
        <p:nvSpPr>
          <p:cNvPr id="5" name="Shape 2"/>
          <p:cNvSpPr/>
          <p:nvPr/>
        </p:nvSpPr>
        <p:spPr>
          <a:xfrm>
            <a:off x="7893761" y="91440"/>
            <a:ext cx="73152" cy="274320"/>
          </a:xfrm>
          <a:prstGeom prst="rect">
            <a:avLst/>
          </a:prstGeom>
          <a:solidFill>
            <a:srgbClr val="0369A1"/>
          </a:solidFill>
          <a:ln w="12700">
            <a:solidFill>
              <a:srgbClr val="0369A1"/>
            </a:solidFill>
            <a:prstDash val="solid"/>
          </a:ln>
        </p:spPr>
      </p:sp>
      <p:pic>
        <p:nvPicPr>
          <p:cNvPr id="6" name="Image 0" descr="preencoded.png">    </p:cNvPr>
          <p:cNvPicPr>
            <a:picLocks noChangeAspect="1"/>
          </p:cNvPicPr>
          <p:nvPr/>
        </p:nvPicPr>
        <p:blipFill>
          <a:blip r:embed="rId1"/>
          <a:stretch>
            <a:fillRect/>
          </a:stretch>
        </p:blipFill>
        <p:spPr>
          <a:xfrm>
            <a:off x="8021777" y="128016"/>
            <a:ext cx="201168" cy="201168"/>
          </a:xfrm>
          <a:prstGeom prst="rect">
            <a:avLst/>
          </a:prstGeom>
        </p:spPr>
      </p:pic>
      <p:sp>
        <p:nvSpPr>
          <p:cNvPr id="7" name="Text 3"/>
          <p:cNvSpPr txBox="1"/>
          <p:nvPr/>
        </p:nvSpPr>
        <p:spPr>
          <a:xfrm>
            <a:off x="8277809" y="91440"/>
            <a:ext cx="3328670"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buses and three-state gates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Shifts in RISC-V: a shift register in one instruction</a:t>
            </a:r>
            <a:endParaRPr lang="en-US" sz="3200" dirty="0"/>
          </a:p>
        </p:txBody>
      </p:sp>
      <p:sp>
        <p:nvSpPr>
          <p:cNvPr id="3" name="Shape 1"/>
          <p:cNvSpPr/>
          <p:nvPr/>
        </p:nvSpPr>
        <p:spPr>
          <a:xfrm>
            <a:off x="548640" y="1515999"/>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417320"/>
            <a:ext cx="5468112" cy="976122"/>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slli and srli move all the bits of a register by a given number of positions, filling with zeros</a:t>
            </a:r>
            <a:endParaRPr lang="en-US" sz="2100" dirty="0"/>
          </a:p>
        </p:txBody>
      </p:sp>
      <p:sp>
        <p:nvSpPr>
          <p:cNvPr id="5" name="Shape 3"/>
          <p:cNvSpPr/>
          <p:nvPr/>
        </p:nvSpPr>
        <p:spPr>
          <a:xfrm>
            <a:off x="548640" y="2623375"/>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2524697"/>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srai fills with copies of the sign bit (Lecture 05)</a:t>
            </a:r>
            <a:endParaRPr lang="en-US" sz="2100" dirty="0"/>
          </a:p>
        </p:txBody>
      </p:sp>
      <p:sp>
        <p:nvSpPr>
          <p:cNvPr id="7" name="Shape 5"/>
          <p:cNvSpPr/>
          <p:nvPr/>
        </p:nvSpPr>
        <p:spPr>
          <a:xfrm>
            <a:off x="548640" y="3405378"/>
            <a:ext cx="146304" cy="146304"/>
          </a:xfrm>
          <a:prstGeom prst="rect">
            <a:avLst/>
          </a:prstGeom>
          <a:solidFill>
            <a:srgbClr val="0E7C86"/>
          </a:solidFill>
          <a:ln w="12700">
            <a:solidFill>
              <a:srgbClr val="0E7C86"/>
            </a:solidFill>
            <a:prstDash val="solid"/>
          </a:ln>
        </p:spPr>
      </p:sp>
      <p:sp>
        <p:nvSpPr>
          <p:cNvPr id="8" name="Text 6"/>
          <p:cNvSpPr txBox="1"/>
          <p:nvPr/>
        </p:nvSpPr>
        <p:spPr>
          <a:xfrm>
            <a:off x="932688" y="3306699"/>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sll, srl and sra take the amount from a second register</a:t>
            </a:r>
            <a:endParaRPr lang="en-US" sz="2100" dirty="0"/>
          </a:p>
        </p:txBody>
      </p:sp>
      <p:sp>
        <p:nvSpPr>
          <p:cNvPr id="9" name="Shape 7"/>
          <p:cNvSpPr/>
          <p:nvPr/>
        </p:nvSpPr>
        <p:spPr>
          <a:xfrm>
            <a:off x="548640" y="4187381"/>
            <a:ext cx="146304" cy="146304"/>
          </a:xfrm>
          <a:prstGeom prst="rect">
            <a:avLst/>
          </a:prstGeom>
          <a:solidFill>
            <a:srgbClr val="C7791B"/>
          </a:solidFill>
          <a:ln w="12700">
            <a:solidFill>
              <a:srgbClr val="C7791B"/>
            </a:solidFill>
            <a:prstDash val="solid"/>
          </a:ln>
        </p:spPr>
      </p:sp>
      <p:sp>
        <p:nvSpPr>
          <p:cNvPr id="10" name="Text 8"/>
          <p:cNvSpPr txBox="1"/>
          <p:nvPr/>
        </p:nvSpPr>
        <p:spPr>
          <a:xfrm>
            <a:off x="932688" y="4088702"/>
            <a:ext cx="5468112" cy="1301496"/>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In hardware a shift by any amount in one step is done by a barrel shifter: layers of multiplexers, not a chain of flip-flops</a:t>
            </a:r>
            <a:endParaRPr lang="en-US" sz="2100" dirty="0"/>
          </a:p>
        </p:txBody>
      </p:sp>
      <p:sp>
        <p:nvSpPr>
          <p:cNvPr id="11" name="Shape 9"/>
          <p:cNvSpPr/>
          <p:nvPr/>
        </p:nvSpPr>
        <p:spPr>
          <a:xfrm>
            <a:off x="548640" y="5620131"/>
            <a:ext cx="146304" cy="146304"/>
          </a:xfrm>
          <a:prstGeom prst="rect">
            <a:avLst/>
          </a:prstGeom>
          <a:solidFill>
            <a:srgbClr val="0E7C86"/>
          </a:solidFill>
          <a:ln w="12700">
            <a:solidFill>
              <a:srgbClr val="0E7C86"/>
            </a:solidFill>
            <a:prstDash val="solid"/>
          </a:ln>
        </p:spPr>
      </p:sp>
      <p:sp>
        <p:nvSpPr>
          <p:cNvPr id="12" name="Text 10"/>
          <p:cNvSpPr txBox="1"/>
          <p:nvPr/>
        </p:nvSpPr>
        <p:spPr>
          <a:xfrm>
            <a:off x="932688" y="5521452"/>
            <a:ext cx="5468112" cy="650748"/>
          </a:xfrm>
          <a:prstGeom prst="rect">
            <a:avLst/>
          </a:prstGeom>
          <a:noFill/>
          <a:ln/>
        </p:spPr>
        <p:txBody>
          <a:bodyPr wrap="square" lIns="0" tIns="0" rIns="0" bIns="0" rtlCol="0" anchor="t"/>
          <a:lstStyle/>
          <a:p>
            <a:pPr indent="0" marL="0">
              <a:spcAft>
                <a:spcPts val="200"/>
              </a:spcAft>
              <a:buNone/>
            </a:pPr>
            <a:r>
              <a:rPr lang="en-US" sz="2100" dirty="0">
                <a:solidFill>
                  <a:srgbClr val="1B2530"/>
                </a:solidFill>
                <a:latin typeface="Calibri" pitchFamily="34" charset="0"/>
                <a:ea typeface="Calibri" pitchFamily="34" charset="-122"/>
                <a:cs typeface="Calibri" pitchFamily="34" charset="-120"/>
              </a:rPr>
              <a:t>The shifter is one of the units of the ALU of Lecture 11</a:t>
            </a:r>
            <a:endParaRPr lang="en-US" sz="2100" dirty="0"/>
          </a:p>
        </p:txBody>
      </p:sp>
      <p:sp>
        <p:nvSpPr>
          <p:cNvPr id="13" name="Shape 11"/>
          <p:cNvSpPr/>
          <p:nvPr/>
        </p:nvSpPr>
        <p:spPr>
          <a:xfrm>
            <a:off x="6766560" y="1417320"/>
            <a:ext cx="4876495" cy="3108960"/>
          </a:xfrm>
          <a:prstGeom prst="roundRect">
            <a:avLst>
              <a:gd name="adj" fmla="val 2353"/>
            </a:avLst>
          </a:prstGeom>
          <a:solidFill>
            <a:srgbClr val="12202B"/>
          </a:solidFill>
          <a:ln w="12700">
            <a:solidFill>
              <a:srgbClr val="12202B"/>
            </a:solidFill>
            <a:prstDash val="solid"/>
          </a:ln>
        </p:spPr>
      </p:sp>
      <p:sp>
        <p:nvSpPr>
          <p:cNvPr id="14" name="Text 12"/>
          <p:cNvSpPr txBox="1"/>
          <p:nvPr/>
        </p:nvSpPr>
        <p:spPr>
          <a:xfrm>
            <a:off x="6995160" y="1600200"/>
            <a:ext cx="4419295" cy="2743200"/>
          </a:xfrm>
          <a:prstGeom prst="rect">
            <a:avLst/>
          </a:prstGeom>
          <a:noFill/>
          <a:ln/>
        </p:spPr>
        <p:txBody>
          <a:bodyPr wrap="square" lIns="0" tIns="0" rIns="0" bIns="0" rtlCol="0" anchor="t"/>
          <a:lstStyle/>
          <a:p>
            <a:pPr indent="0" marL="0">
              <a:buNone/>
            </a:pPr>
            <a:r>
              <a:rPr lang="en-US" sz="1600" dirty="0">
                <a:solidFill>
                  <a:srgbClr val="8FB3A0"/>
                </a:solidFill>
                <a:latin typeface="Courier New" pitchFamily="34" charset="0"/>
                <a:ea typeface="Courier New" pitchFamily="34" charset="-122"/>
                <a:cs typeface="Courier New" pitchFamily="34" charset="-120"/>
              </a:rPr>
              <a:t># parallel to serial, LSB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andi t1, a0, 1     </a:t>
            </a:r>
            <a:pPr indent="0" marL="0">
              <a:buNone/>
            </a:pPr>
            <a:r>
              <a:rPr lang="en-US" sz="1600" dirty="0">
                <a:solidFill>
                  <a:srgbClr val="8FB3A0"/>
                </a:solidFill>
                <a:latin typeface="Courier New" pitchFamily="34" charset="0"/>
                <a:ea typeface="Courier New" pitchFamily="34" charset="-122"/>
                <a:cs typeface="Courier New" pitchFamily="34" charset="-120"/>
              </a:rPr>
              <a:t># take bit 0</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srli a0, a0, 1     </a:t>
            </a:r>
            <a:pPr indent="0" marL="0">
              <a:buNone/>
            </a:pPr>
            <a:r>
              <a:rPr lang="en-US" sz="1600" dirty="0">
                <a:solidFill>
                  <a:srgbClr val="8FB3A0"/>
                </a:solidFill>
                <a:latin typeface="Courier New" pitchFamily="34" charset="0"/>
                <a:ea typeface="Courier New" pitchFamily="34" charset="-122"/>
                <a:cs typeface="Courier New" pitchFamily="34" charset="-120"/>
              </a:rPr>
              <a:t># next bit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 </a:t>
            </a:r>
            <a:endParaRPr lang="en-US" sz="1600" dirty="0"/>
          </a:p>
          <a:p>
            <a:pPr indent="0" marL="0">
              <a:buNone/>
            </a:pPr>
            <a:r>
              <a:rPr lang="en-US" sz="1600" dirty="0">
                <a:solidFill>
                  <a:srgbClr val="8FB3A0"/>
                </a:solidFill>
                <a:latin typeface="Courier New" pitchFamily="34" charset="0"/>
                <a:ea typeface="Courier New" pitchFamily="34" charset="-122"/>
                <a:cs typeface="Courier New" pitchFamily="34" charset="-120"/>
              </a:rPr>
              <a:t># serial to parallel, MSB first</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slli a1, a1, 1     </a:t>
            </a:r>
            <a:pPr indent="0" marL="0">
              <a:buNone/>
            </a:pPr>
            <a:r>
              <a:rPr lang="en-US" sz="1600" dirty="0">
                <a:solidFill>
                  <a:srgbClr val="8FB3A0"/>
                </a:solidFill>
                <a:latin typeface="Courier New" pitchFamily="34" charset="0"/>
                <a:ea typeface="Courier New" pitchFamily="34" charset="-122"/>
                <a:cs typeface="Courier New" pitchFamily="34" charset="-120"/>
              </a:rPr>
              <a:t># make room</a:t>
            </a:r>
            <a:endParaRPr lang="en-US" sz="1600" dirty="0"/>
          </a:p>
          <a:p>
            <a:pPr indent="0" marL="0">
              <a:buNone/>
            </a:pPr>
            <a:r>
              <a:rPr lang="en-US" sz="1600" dirty="0">
                <a:solidFill>
                  <a:srgbClr val="E6EDF2"/>
                </a:solidFill>
                <a:latin typeface="Courier New" pitchFamily="34" charset="0"/>
                <a:ea typeface="Courier New" pitchFamily="34" charset="-122"/>
                <a:cs typeface="Courier New" pitchFamily="34" charset="-120"/>
              </a:rPr>
              <a:t>or   a1, a1, t1    </a:t>
            </a:r>
            <a:pPr indent="0" marL="0">
              <a:buNone/>
            </a:pPr>
            <a:r>
              <a:rPr lang="en-US" sz="1600" dirty="0">
                <a:solidFill>
                  <a:srgbClr val="8FB3A0"/>
                </a:solidFill>
                <a:latin typeface="Courier New" pitchFamily="34" charset="0"/>
                <a:ea typeface="Courier New" pitchFamily="34" charset="-122"/>
                <a:cs typeface="Courier New" pitchFamily="34" charset="-120"/>
              </a:rPr>
              <a:t># insert bit</a:t>
            </a:r>
            <a:endParaRPr lang="en-US" sz="1600" dirty="0"/>
          </a:p>
        </p:txBody>
      </p:sp>
      <p:sp>
        <p:nvSpPr>
          <p:cNvPr id="15" name="Shape 13"/>
          <p:cNvSpPr/>
          <p:nvPr/>
        </p:nvSpPr>
        <p:spPr>
          <a:xfrm>
            <a:off x="8681669" y="91440"/>
            <a:ext cx="2961386" cy="274320"/>
          </a:xfrm>
          <a:prstGeom prst="rect">
            <a:avLst/>
          </a:prstGeom>
          <a:solidFill>
            <a:srgbClr val="E0F2FE"/>
          </a:solidFill>
          <a:ln w="12700">
            <a:solidFill>
              <a:srgbClr val="0369A1"/>
            </a:solidFill>
            <a:prstDash val="solid"/>
          </a:ln>
        </p:spPr>
      </p:sp>
      <p:sp>
        <p:nvSpPr>
          <p:cNvPr id="16" name="Shape 14"/>
          <p:cNvSpPr/>
          <p:nvPr/>
        </p:nvSpPr>
        <p:spPr>
          <a:xfrm>
            <a:off x="8681669" y="91440"/>
            <a:ext cx="73152" cy="274320"/>
          </a:xfrm>
          <a:prstGeom prst="rect">
            <a:avLst/>
          </a:prstGeom>
          <a:solidFill>
            <a:srgbClr val="0369A1"/>
          </a:solidFill>
          <a:ln w="12700">
            <a:solidFill>
              <a:srgbClr val="0369A1"/>
            </a:solidFill>
            <a:prstDash val="solid"/>
          </a:ln>
        </p:spPr>
      </p:sp>
      <p:pic>
        <p:nvPicPr>
          <p:cNvPr id="17" name="Image 0" descr="preencoded.png">    </p:cNvPr>
          <p:cNvPicPr>
            <a:picLocks noChangeAspect="1"/>
          </p:cNvPicPr>
          <p:nvPr/>
        </p:nvPicPr>
        <p:blipFill>
          <a:blip r:embed="rId1"/>
          <a:stretch>
            <a:fillRect/>
          </a:stretch>
        </p:blipFill>
        <p:spPr>
          <a:xfrm>
            <a:off x="8809685" y="128016"/>
            <a:ext cx="201168" cy="201168"/>
          </a:xfrm>
          <a:prstGeom prst="rect">
            <a:avLst/>
          </a:prstGeom>
        </p:spPr>
      </p:pic>
      <p:sp>
        <p:nvSpPr>
          <p:cNvPr id="18" name="Text 15"/>
          <p:cNvSpPr txBox="1"/>
          <p:nvPr/>
        </p:nvSpPr>
        <p:spPr>
          <a:xfrm>
            <a:off x="9065717" y="91440"/>
            <a:ext cx="2540762" cy="274320"/>
          </a:xfrm>
          <a:prstGeom prst="rect">
            <a:avLst/>
          </a:prstGeom>
          <a:noFill/>
          <a:ln/>
        </p:spPr>
        <p:txBody>
          <a:bodyPr wrap="square" lIns="0" tIns="0" rIns="0" bIns="0" rtlCol="0" anchor="ctr"/>
          <a:lstStyle/>
          <a:p>
            <a:pPr indent="0" marL="0">
              <a:buNone/>
            </a:pPr>
            <a:r>
              <a:rPr lang="en-US" sz="1100" b="1" dirty="0">
                <a:solidFill>
                  <a:srgbClr val="075985"/>
                </a:solidFill>
                <a:latin typeface="Calibri" pitchFamily="34" charset="0"/>
                <a:ea typeface="Calibri" pitchFamily="34" charset="-122"/>
                <a:cs typeface="Calibri" pitchFamily="34" charset="-120"/>
              </a:rPr>
              <a:t>UNDERSTAND NOW</a:t>
            </a:r>
            <a:pPr indent="0" marL="0">
              <a:buNone/>
            </a:pPr>
            <a:r>
              <a:rPr lang="en-US" sz="1100" dirty="0">
                <a:solidFill>
                  <a:srgbClr val="075985"/>
                </a:solidFill>
                <a:latin typeface="Calibri" pitchFamily="34" charset="0"/>
                <a:ea typeface="Calibri" pitchFamily="34" charset="-122"/>
                <a:cs typeface="Calibri" pitchFamily="34" charset="-120"/>
              </a:rPr>
              <a:t> · shift registers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(1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350" dirty="0">
                <a:solidFill>
                  <a:srgbClr val="8FB3A0"/>
                </a:solidFill>
                <a:latin typeface="Courier New" pitchFamily="34" charset="0"/>
                <a:ea typeface="Courier New" pitchFamily="34" charset="-122"/>
                <a:cs typeface="Courier New" pitchFamily="34" charset="-120"/>
              </a:rPr>
              <a:t># ARC12 Computer Architecture - Lecture 14: Elementary Machines: Registers and Buses</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l14.S: a byte sent one bit at a time, and rebuilt at the other end</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On the screen: top row: the eight bits of 0xA5 in the order in which they leave,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most significant first (lit, dark, lit, dark, dark, lit, dark, lit). Bottom row: the</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byte rebuilt by the receiver. A green square says that it is equal to the byte sent.</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Build: python3 -m prg32 cartridge build l14.S --portable \</a:t>
            </a:r>
            <a:endParaRPr lang="en-US" sz="1350" dirty="0"/>
          </a:p>
          <a:p>
            <a:pPr indent="0" marL="0">
              <a:buNone/>
            </a:pPr>
            <a:r>
              <a:rPr lang="en-US" sz="1350" dirty="0">
                <a:solidFill>
                  <a:srgbClr val="8FB3A0"/>
                </a:solidFill>
                <a:latin typeface="Courier New" pitchFamily="34" charset="0"/>
                <a:ea typeface="Courier New" pitchFamily="34" charset="-122"/>
                <a:cs typeface="Courier New" pitchFamily="34" charset="-120"/>
              </a:rPr>
              <a:t>#            --entry-prefix l14 --name l14 --out l14.prg32</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.option norelax</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BLACK,  0x0000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GREY,   0x4208</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YELLOW, 0xffe0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GREEN,  0x07e0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RED,    0xf800</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.equ BYTE,   0xA5            </a:t>
            </a:r>
            <a:pPr indent="0" marL="0">
              <a:buNone/>
            </a:pPr>
            <a:r>
              <a:rPr lang="en-US" sz="1350" dirty="0">
                <a:solidFill>
                  <a:srgbClr val="8FB3A0"/>
                </a:solidFill>
                <a:latin typeface="Courier New" pitchFamily="34" charset="0"/>
                <a:ea typeface="Courier New" pitchFamily="34" charset="-122"/>
                <a:cs typeface="Courier New" pitchFamily="34" charset="-120"/>
              </a:rPr>
              <a:t># the byte to send: 1010 0101</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 </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.section .text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l14_init</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l14_update</a:t>
            </a:r>
            <a:endParaRPr lang="en-US" sz="1350" dirty="0"/>
          </a:p>
          <a:p>
            <a:pPr indent="0" marL="0">
              <a:buNone/>
            </a:pPr>
            <a:r>
              <a:rPr lang="en-US" sz="1350" dirty="0">
                <a:solidFill>
                  <a:srgbClr val="E6EDF2"/>
                </a:solidFill>
                <a:latin typeface="Courier New" pitchFamily="34" charset="0"/>
                <a:ea typeface="Courier New" pitchFamily="34" charset="-122"/>
                <a:cs typeface="Courier New" pitchFamily="34" charset="-120"/>
              </a:rPr>
              <a:t>.global l14_draw</a:t>
            </a:r>
            <a:endParaRPr lang="en-US" sz="135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(2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l14_init: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l14_update: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t>
            </a:r>
            <a:endParaRPr lang="en-US" sz="1800" dirty="0"/>
          </a:p>
          <a:p>
            <a:pPr indent="0" marL="0">
              <a:buNone/>
            </a:pPr>
            <a:r>
              <a:rPr lang="en-US" sz="1800" dirty="0">
                <a:solidFill>
                  <a:srgbClr val="8FB3A0"/>
                </a:solidFill>
                <a:latin typeface="Courier New" pitchFamily="34" charset="0"/>
                <a:ea typeface="Courier New" pitchFamily="34" charset="-122"/>
                <a:cs typeface="Courier New" pitchFamily="34" charset="-120"/>
              </a:rPr>
              <a:t># lamp: a0 = position 0 to 7, a1 = y, a2 =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GREY</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beqz a2, 1f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YELLOW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slli a0, a0, 5</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a0, a0, 36          </a:t>
            </a:r>
            <a:pPr indent="0" marL="0">
              <a:buNone/>
            </a:pPr>
            <a:r>
              <a:rPr lang="en-US" sz="1800" dirty="0">
                <a:solidFill>
                  <a:srgbClr val="8FB3A0"/>
                </a:solidFill>
                <a:latin typeface="Courier New" pitchFamily="34" charset="0"/>
                <a:ea typeface="Courier New" pitchFamily="34" charset="-122"/>
                <a:cs typeface="Courier New" pitchFamily="34" charset="-120"/>
              </a:rPr>
              <a:t># x = 36 + 32 * position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24</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tail prg32_gfx_rect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(3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l14_draw:</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a0, BLACK</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prg32_gfx_clear</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(4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s0, BYTE            </a:t>
            </a:r>
            <a:pPr indent="0" marL="0">
              <a:buNone/>
            </a:pPr>
            <a:r>
              <a:rPr lang="en-US" sz="1800" dirty="0">
                <a:solidFill>
                  <a:srgbClr val="8FB3A0"/>
                </a:solidFill>
                <a:latin typeface="Courier New" pitchFamily="34" charset="0"/>
                <a:ea typeface="Courier New" pitchFamily="34" charset="-122"/>
                <a:cs typeface="Courier New" pitchFamily="34" charset="-120"/>
              </a:rPr>
              <a:t># a0 of the slide: the byte to send</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s1, 0               </a:t>
            </a:r>
            <a:pPr indent="0" marL="0">
              <a:buNone/>
            </a:pPr>
            <a:r>
              <a:rPr lang="en-US" sz="1800" dirty="0">
                <a:solidFill>
                  <a:srgbClr val="8FB3A0"/>
                </a:solidFill>
                <a:latin typeface="Courier New" pitchFamily="34" charset="0"/>
                <a:ea typeface="Courier New" pitchFamily="34" charset="-122"/>
                <a:cs typeface="Courier New" pitchFamily="34" charset="-120"/>
              </a:rPr>
              <a:t># the receiver's shift register</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how many bits have gone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1:  srli t1, s0, 7           </a:t>
            </a:r>
            <a:pPr indent="0" marL="0">
              <a:buNone/>
            </a:pPr>
            <a:r>
              <a:rPr lang="en-US" sz="1800" dirty="0">
                <a:solidFill>
                  <a:srgbClr val="8FB3A0"/>
                </a:solidFill>
                <a:latin typeface="Courier New" pitchFamily="34" charset="0"/>
                <a:ea typeface="Courier New" pitchFamily="34" charset="-122"/>
                <a:cs typeface="Courier New" pitchFamily="34" charset="-120"/>
              </a:rPr>
              <a:t># bring bit 7 down to bit 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s3, t1, 1           </a:t>
            </a:r>
            <a:pPr indent="0" marL="0">
              <a:buNone/>
            </a:pPr>
            <a:r>
              <a:rPr lang="en-US" sz="1800" dirty="0">
                <a:solidFill>
                  <a:srgbClr val="8FB3A0"/>
                </a:solidFill>
                <a:latin typeface="Courier New" pitchFamily="34" charset="0"/>
                <a:ea typeface="Courier New" pitchFamily="34" charset="-122"/>
                <a:cs typeface="Courier New" pitchFamily="34" charset="-120"/>
              </a:rPr>
              <a:t># s3 = the bit to put on the wire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              </a:t>
            </a:r>
            <a:pPr indent="0" marL="0">
              <a:buNone/>
            </a:pPr>
            <a:r>
              <a:rPr lang="en-US" sz="1800" dirty="0">
                <a:solidFill>
                  <a:srgbClr val="8FB3A0"/>
                </a:solidFill>
                <a:latin typeface="Courier New" pitchFamily="34" charset="0"/>
                <a:ea typeface="Courier New" pitchFamily="34" charset="-122"/>
                <a:cs typeface="Courier New" pitchFamily="34" charset="-120"/>
              </a:rPr>
              <a:t># ... here the wire is a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40              </a:t>
            </a:r>
            <a:pPr indent="0" marL="0">
              <a:buNone/>
            </a:pPr>
            <a:r>
              <a:rPr lang="en-US" sz="1800" dirty="0">
                <a:solidFill>
                  <a:srgbClr val="8FB3A0"/>
                </a:solidFill>
                <a:latin typeface="Courier New" pitchFamily="34" charset="0"/>
                <a:ea typeface="Courier New" pitchFamily="34" charset="-122"/>
                <a:cs typeface="Courier New" pitchFamily="34" charset="-120"/>
              </a:rPr>
              <a:t>#     position = the order of sending</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a2, s3</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s1, s1, 1           </a:t>
            </a:r>
            <a:pPr indent="0" marL="0">
              <a:buNone/>
            </a:pPr>
            <a:r>
              <a:rPr lang="en-US" sz="1800" dirty="0">
                <a:solidFill>
                  <a:srgbClr val="8FB3A0"/>
                </a:solidFill>
                <a:latin typeface="Courier New" pitchFamily="34" charset="0"/>
                <a:ea typeface="Courier New" pitchFamily="34" charset="-122"/>
                <a:cs typeface="Courier New" pitchFamily="34" charset="-120"/>
              </a:rPr>
              <a:t># receiver: make room (serial to parallel)</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or   s1, s1, s3          </a:t>
            </a:r>
            <a:pPr indent="0" marL="0">
              <a:buNone/>
            </a:pPr>
            <a:r>
              <a:rPr lang="en-US" sz="1800" dirty="0">
                <a:solidFill>
                  <a:srgbClr val="8FB3A0"/>
                </a:solidFill>
                <a:latin typeface="Courier New" pitchFamily="34" charset="0"/>
                <a:ea typeface="Courier New" pitchFamily="34" charset="-122"/>
                <a:cs typeface="Courier New" pitchFamily="34" charset="-120"/>
              </a:rPr>
              <a:t>#           insert the bit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slli s0, s0, 1           </a:t>
            </a:r>
            <a:pPr indent="0" marL="0">
              <a:buNone/>
            </a:pPr>
            <a:r>
              <a:rPr lang="en-US" sz="1800" dirty="0">
                <a:solidFill>
                  <a:srgbClr val="8FB3A0"/>
                </a:solidFill>
                <a:latin typeface="Courier New" pitchFamily="34" charset="0"/>
                <a:ea typeface="Courier New" pitchFamily="34" charset="-122"/>
                <a:cs typeface="Courier New" pitchFamily="34" charset="-120"/>
              </a:rPr>
              <a:t># sender: shift left, the next bit moves up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s0, s0, 255         </a:t>
            </a:r>
            <a:pPr indent="0" marL="0">
              <a:buNone/>
            </a:pPr>
            <a:r>
              <a:rPr lang="en-US" sz="1800" dirty="0">
                <a:solidFill>
                  <a:srgbClr val="8FB3A0"/>
                </a:solidFill>
                <a:latin typeface="Courier New" pitchFamily="34" charset="0"/>
                <a:ea typeface="Courier New" pitchFamily="34" charset="-122"/>
                <a:cs typeface="Courier New" pitchFamily="34" charset="-120"/>
              </a:rPr>
              <a:t>#         (keep eight bits)</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               </a:t>
            </a:r>
            <a:pPr indent="0" marL="0">
              <a:buNone/>
            </a:pPr>
            <a:r>
              <a:rPr lang="en-US" sz="1800" dirty="0">
                <a:solidFill>
                  <a:srgbClr val="8FB3A0"/>
                </a:solidFill>
                <a:latin typeface="Courier New" pitchFamily="34" charset="0"/>
                <a:ea typeface="Courier New" pitchFamily="34" charset="-122"/>
                <a:cs typeface="Courier New" pitchFamily="34" charset="-120"/>
              </a:rPr>
              <a:t># eight bits to go</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1b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(5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s2, 0               </a:t>
            </a:r>
            <a:pPr indent="0" marL="0">
              <a:buNone/>
            </a:pPr>
            <a:r>
              <a:rPr lang="en-US" sz="1800" dirty="0">
                <a:solidFill>
                  <a:srgbClr val="8FB3A0"/>
                </a:solidFill>
                <a:latin typeface="Courier New" pitchFamily="34" charset="0"/>
                <a:ea typeface="Courier New" pitchFamily="34" charset="-122"/>
                <a:cs typeface="Courier New" pitchFamily="34" charset="-120"/>
              </a:rPr>
              <a:t># show the byte that the receiver rebuilt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2:  li   t0, 7</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sub  t0, t0,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srl  a2, s1, t0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andi a2, a2,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mv   a0, s2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100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lamp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s2, s2, 1</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8</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blt  s2, t0, 2b</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The complete program: l14.S (6 of 6)</a:t>
            </a:r>
            <a:endParaRPr lang="en-US" sz="3200" dirty="0"/>
          </a:p>
        </p:txBody>
      </p:sp>
      <p:sp>
        <p:nvSpPr>
          <p:cNvPr id="3" name="Shape 1"/>
          <p:cNvSpPr/>
          <p:nvPr/>
        </p:nvSpPr>
        <p:spPr>
          <a:xfrm>
            <a:off x="548640" y="1417320"/>
            <a:ext cx="11094415"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10637215" cy="4389120"/>
          </a:xfrm>
          <a:prstGeom prst="rect">
            <a:avLst/>
          </a:prstGeom>
          <a:noFill/>
          <a:ln/>
        </p:spPr>
        <p:txBody>
          <a:bodyPr wrap="square" lIns="0" tIns="0" rIns="0" bIns="0" rtlCol="0" anchor="t"/>
          <a:lstStyle/>
          <a:p>
            <a:pPr indent="0" marL="0">
              <a:buNone/>
            </a:pPr>
            <a:r>
              <a:rPr lang="en-US" sz="1800" dirty="0">
                <a:solidFill>
                  <a:srgbClr val="E6EDF2"/>
                </a:solidFill>
                <a:latin typeface="Courier New" pitchFamily="34" charset="0"/>
                <a:ea typeface="Courier New" pitchFamily="34" charset="-122"/>
                <a:cs typeface="Courier New" pitchFamily="34" charset="-120"/>
              </a:rPr>
              <a:t>    li   a4, RED             </a:t>
            </a:r>
            <a:pPr indent="0" marL="0">
              <a:buNone/>
            </a:pPr>
            <a:r>
              <a:rPr lang="en-US" sz="1800" dirty="0">
                <a:solidFill>
                  <a:srgbClr val="8FB3A0"/>
                </a:solidFill>
                <a:latin typeface="Courier New" pitchFamily="34" charset="0"/>
                <a:ea typeface="Courier New" pitchFamily="34" charset="-122"/>
                <a:cs typeface="Courier New" pitchFamily="34" charset="-120"/>
              </a:rPr>
              <a:t># is it the byte that was sent?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t0, BYTE</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bne  s1, t0, 3f</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a4, GREEN</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3:  li   a0, 152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a1, 150</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a2,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li   a3, 16</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call prg32_gfx_rect</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s3, 12(sp)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s2, 16(sp)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s1, 20(sp)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s0, 24(sp)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lw   ra, 28(sp)</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addi sp, sp, 32</a:t>
            </a:r>
            <a:endParaRPr lang="en-US" sz="1800" dirty="0"/>
          </a:p>
          <a:p>
            <a:pPr indent="0" marL="0">
              <a:buNone/>
            </a:pPr>
            <a:r>
              <a:rPr lang="en-US" sz="1800" dirty="0">
                <a:solidFill>
                  <a:srgbClr val="E6EDF2"/>
                </a:solidFill>
                <a:latin typeface="Courier New" pitchFamily="34" charset="0"/>
                <a:ea typeface="Courier New" pitchFamily="34" charset="-122"/>
                <a:cs typeface="Courier New" pitchFamily="34" charset="-120"/>
              </a:rPr>
              <a:t>    ret</a:t>
            </a:r>
            <a:endParaRPr lang="en-US" sz="1800" dirty="0"/>
          </a:p>
        </p:txBody>
      </p:sp>
      <p:sp>
        <p:nvSpPr>
          <p:cNvPr id="5" name="Shape 3"/>
          <p:cNvSpPr/>
          <p:nvPr/>
        </p:nvSpPr>
        <p:spPr>
          <a:xfrm>
            <a:off x="8959672" y="91440"/>
            <a:ext cx="2683383" cy="274320"/>
          </a:xfrm>
          <a:prstGeom prst="rect">
            <a:avLst/>
          </a:prstGeom>
          <a:solidFill>
            <a:srgbClr val="FEF3C7"/>
          </a:solidFill>
          <a:ln w="12700">
            <a:solidFill>
              <a:srgbClr val="B45309"/>
            </a:solidFill>
            <a:prstDash val="solid"/>
          </a:ln>
        </p:spPr>
      </p:sp>
      <p:sp>
        <p:nvSpPr>
          <p:cNvPr id="6" name="Shape 4"/>
          <p:cNvSpPr/>
          <p:nvPr/>
        </p:nvSpPr>
        <p:spPr>
          <a:xfrm>
            <a:off x="8959672" y="91440"/>
            <a:ext cx="27432" cy="274320"/>
          </a:xfrm>
          <a:prstGeom prst="rect">
            <a:avLst/>
          </a:prstGeom>
          <a:solidFill>
            <a:srgbClr val="B45309"/>
          </a:solidFill>
          <a:ln w="12700">
            <a:solidFill>
              <a:srgbClr val="B45309"/>
            </a:solidFill>
            <a:prstDash val="solid"/>
          </a:ln>
        </p:spPr>
      </p:sp>
      <p:sp>
        <p:nvSpPr>
          <p:cNvPr id="7" name="Shape 5"/>
          <p:cNvSpPr/>
          <p:nvPr/>
        </p:nvSpPr>
        <p:spPr>
          <a:xfrm>
            <a:off x="9014536" y="91440"/>
            <a:ext cx="27432" cy="274320"/>
          </a:xfrm>
          <a:prstGeom prst="rect">
            <a:avLst/>
          </a:prstGeom>
          <a:solidFill>
            <a:srgbClr val="B45309"/>
          </a:solidFill>
          <a:ln w="12700">
            <a:solidFill>
              <a:srgbClr val="B45309"/>
            </a:solidFill>
            <a:prstDash val="solid"/>
          </a:ln>
        </p:spPr>
      </p:sp>
      <p:pic>
        <p:nvPicPr>
          <p:cNvPr id="8" name="Image 0" descr="preencoded.png">    </p:cNvPr>
          <p:cNvPicPr>
            <a:picLocks noChangeAspect="1"/>
          </p:cNvPicPr>
          <p:nvPr/>
        </p:nvPicPr>
        <p:blipFill>
          <a:blip r:embed="rId1"/>
          <a:stretch>
            <a:fillRect/>
          </a:stretch>
        </p:blipFill>
        <p:spPr>
          <a:xfrm>
            <a:off x="9087688" y="128016"/>
            <a:ext cx="201168" cy="201168"/>
          </a:xfrm>
          <a:prstGeom prst="rect">
            <a:avLst/>
          </a:prstGeom>
        </p:spPr>
      </p:pic>
      <p:sp>
        <p:nvSpPr>
          <p:cNvPr id="9" name="Text 6"/>
          <p:cNvSpPr txBox="1"/>
          <p:nvPr/>
        </p:nvSpPr>
        <p:spPr>
          <a:xfrm>
            <a:off x="9343720" y="91440"/>
            <a:ext cx="2262759"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complete program</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Run it: what you should see</a:t>
            </a:r>
            <a:endParaRPr lang="en-US" sz="3200" dirty="0"/>
          </a:p>
        </p:txBody>
      </p:sp>
      <p:sp>
        <p:nvSpPr>
          <p:cNvPr id="3" name="Shape 1"/>
          <p:cNvSpPr/>
          <p:nvPr/>
        </p:nvSpPr>
        <p:spPr>
          <a:xfrm>
            <a:off x="548640" y="1722120"/>
            <a:ext cx="146304" cy="146304"/>
          </a:xfrm>
          <a:prstGeom prst="rect">
            <a:avLst/>
          </a:prstGeom>
          <a:solidFill>
            <a:srgbClr val="0E7C86"/>
          </a:solidFill>
          <a:ln w="12700">
            <a:solidFill>
              <a:srgbClr val="0E7C86"/>
            </a:solidFill>
            <a:prstDash val="solid"/>
          </a:ln>
        </p:spPr>
      </p:sp>
      <p:sp>
        <p:nvSpPr>
          <p:cNvPr id="4" name="Text 2"/>
          <p:cNvSpPr txBox="1"/>
          <p:nvPr/>
        </p:nvSpPr>
        <p:spPr>
          <a:xfrm>
            <a:off x="932688" y="1600200"/>
            <a:ext cx="5468112" cy="2686050"/>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On the screen</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top row: the eight bits of 0xA5 in the order in which they leave, most significant first (lit, dark, lit, dark, dark, lit, dark, lit). Bottom row: the byte rebuilt by the receiver. A green square says that it is equal to the byte sent.</a:t>
            </a:r>
            <a:endParaRPr lang="en-US" sz="2400" dirty="0"/>
          </a:p>
        </p:txBody>
      </p:sp>
      <p:sp>
        <p:nvSpPr>
          <p:cNvPr id="5" name="Shape 3"/>
          <p:cNvSpPr/>
          <p:nvPr/>
        </p:nvSpPr>
        <p:spPr>
          <a:xfrm>
            <a:off x="548640" y="4865370"/>
            <a:ext cx="146304" cy="146304"/>
          </a:xfrm>
          <a:prstGeom prst="rect">
            <a:avLst/>
          </a:prstGeom>
          <a:solidFill>
            <a:srgbClr val="C7791B"/>
          </a:solidFill>
          <a:ln w="12700">
            <a:solidFill>
              <a:srgbClr val="C7791B"/>
            </a:solidFill>
            <a:prstDash val="solid"/>
          </a:ln>
        </p:spPr>
      </p:sp>
      <p:sp>
        <p:nvSpPr>
          <p:cNvPr id="6" name="Text 4"/>
          <p:cNvSpPr txBox="1"/>
          <p:nvPr/>
        </p:nvSpPr>
        <p:spPr>
          <a:xfrm>
            <a:off x="932688" y="4743450"/>
            <a:ext cx="5468112" cy="733806"/>
          </a:xfrm>
          <a:prstGeom prst="rect">
            <a:avLst/>
          </a:prstGeom>
          <a:noFill/>
          <a:ln/>
        </p:spPr>
        <p:txBody>
          <a:bodyPr wrap="square" lIns="0" tIns="0" rIns="0" bIns="0" rtlCol="0" anchor="t"/>
          <a:lstStyle/>
          <a:p>
            <a:pPr indent="0" marL="0">
              <a:spcAft>
                <a:spcPts val="200"/>
              </a:spcAft>
              <a:buNone/>
            </a:pPr>
            <a:r>
              <a:rPr lang="en-US" sz="2400" dirty="0">
                <a:solidFill>
                  <a:srgbClr val="1B2530"/>
                </a:solidFill>
                <a:latin typeface="Calibri" pitchFamily="34" charset="0"/>
                <a:ea typeface="Calibri" pitchFamily="34" charset="-122"/>
                <a:cs typeface="Calibri" pitchFamily="34" charset="-120"/>
              </a:rPr>
              <a:t>What to press</a:t>
            </a:r>
            <a:endParaRPr lang="en-US" sz="2400" dirty="0"/>
          </a:p>
          <a:p>
            <a:pPr indent="0" marL="0">
              <a:spcAft>
                <a:spcPts val="200"/>
              </a:spcAft>
              <a:buNone/>
            </a:pPr>
            <a:r>
              <a:rPr lang="en-US" sz="2100" dirty="0">
                <a:solidFill>
                  <a:srgbClr val="5B6B78"/>
                </a:solidFill>
                <a:latin typeface="Calibri" pitchFamily="34" charset="0"/>
                <a:ea typeface="Calibri" pitchFamily="34" charset="-122"/>
                <a:cs typeface="Calibri" pitchFamily="34" charset="-120"/>
              </a:rPr>
              <a:t>– nothing: the program runs by itself</a:t>
            </a:r>
            <a:endParaRPr lang="en-US" sz="2400" dirty="0"/>
          </a:p>
        </p:txBody>
      </p:sp>
      <p:pic>
        <p:nvPicPr>
          <p:cNvPr id="7" name="Image 0" descr="/Users/raffaelemontella/devel/riscv-prg32/computer-architecture-with-prg32/tools/assets/lab_l14.png">    </p:cNvPr>
          <p:cNvPicPr>
            <a:picLocks noChangeAspect="1"/>
          </p:cNvPicPr>
          <p:nvPr/>
        </p:nvPicPr>
        <p:blipFill>
          <a:blip r:embed="rId1"/>
          <a:stretch>
            <a:fillRect/>
          </a:stretch>
        </p:blipFill>
        <p:spPr>
          <a:xfrm>
            <a:off x="6766560" y="2042255"/>
            <a:ext cx="4876495" cy="3047810"/>
          </a:xfrm>
          <a:prstGeom prst="rect">
            <a:avLst/>
          </a:prstGeom>
        </p:spPr>
      </p:pic>
      <p:sp>
        <p:nvSpPr>
          <p:cNvPr id="8" name="Text 5"/>
          <p:cNvSpPr txBox="1"/>
          <p:nvPr/>
        </p:nvSpPr>
        <p:spPr>
          <a:xfrm>
            <a:off x="6766560" y="5788152"/>
            <a:ext cx="4876495" cy="384048"/>
          </a:xfrm>
          <a:prstGeom prst="rect">
            <a:avLst/>
          </a:prstGeom>
          <a:noFill/>
          <a:ln/>
        </p:spPr>
        <p:txBody>
          <a:bodyPr wrap="square" lIns="0" tIns="0" rIns="0" bIns="0" rtlCol="0" anchor="ctr"/>
          <a:lstStyle/>
          <a:p>
            <a:pPr algn="ctr" indent="0" marL="0">
              <a:buNone/>
            </a:pPr>
            <a:r>
              <a:rPr lang="en-US" sz="1200" i="1" dirty="0">
                <a:solidFill>
                  <a:srgbClr val="5B6B78"/>
                </a:solidFill>
                <a:latin typeface="Calibri" pitchFamily="34" charset="0"/>
                <a:ea typeface="Calibri" pitchFamily="34" charset="-122"/>
                <a:cs typeface="Calibri" pitchFamily="34" charset="-120"/>
              </a:rPr>
              <a:t>The frame written by the automatic test on PRG32-QT</a:t>
            </a:r>
            <a:endParaRPr lang="en-US" sz="12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PRG32-QT</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start PRG32-QT on this computer (it listens on port 8080)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in the PRG32 folder, with ESP-IDF active: build the cartridge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l14 --out l14.prg32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send it to PRG32-QT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http://localhost:8080 --slot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look, press, compare with the previous slide</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PRG32-QT must be running: it answers on port 8080, like a board</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Build once, from the PRG32 folder, with ESP-IDF active in the terminal</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upload-and-run stores the cartridge in slot cart0 and starts it</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Enable debug mode in Settings to stop the program and read registers and memory</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QEMU</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build the firmware for QEMU (several minutes)</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build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build the cartridge for the emulated chip</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qemu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with QEMU closed, stage the cartridge into its flash image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upload l14-qemu.prg32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start the emulator; on Setup choose Run Cartridge, then cart0</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qemu run</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emulator runs the real firmware on an emulated chip: build it once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cartridge is built for the architecture qemu: the same source, another file</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Stage the cartridge with QEMU closed, then start it and choose Run Cartridge</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keys go to the terminal: arrows or WASD, Z or J for A, X or K for B</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Test it on the board</a:t>
            </a:r>
            <a:endParaRPr lang="en-US" sz="3200" dirty="0"/>
          </a:p>
        </p:txBody>
      </p:sp>
      <p:sp>
        <p:nvSpPr>
          <p:cNvPr id="3" name="Shape 1"/>
          <p:cNvSpPr/>
          <p:nvPr/>
        </p:nvSpPr>
        <p:spPr>
          <a:xfrm>
            <a:off x="548640" y="1417320"/>
            <a:ext cx="8138160" cy="4754880"/>
          </a:xfrm>
          <a:prstGeom prst="roundRect">
            <a:avLst>
              <a:gd name="adj" fmla="val 1538"/>
            </a:avLst>
          </a:prstGeom>
          <a:solidFill>
            <a:srgbClr val="12202B"/>
          </a:solidFill>
          <a:ln w="12700">
            <a:solidFill>
              <a:srgbClr val="12202B"/>
            </a:solidFill>
            <a:prstDash val="solid"/>
          </a:ln>
        </p:spPr>
      </p:sp>
      <p:sp>
        <p:nvSpPr>
          <p:cNvPr id="4" name="Text 2"/>
          <p:cNvSpPr txBox="1"/>
          <p:nvPr/>
        </p:nvSpPr>
        <p:spPr>
          <a:xfrm>
            <a:off x="777240" y="1600200"/>
            <a:ext cx="7680960" cy="4389120"/>
          </a:xfrm>
          <a:prstGeom prst="rect">
            <a:avLst/>
          </a:prstGeom>
          <a:noFill/>
          <a:ln/>
        </p:spPr>
        <p:txBody>
          <a:bodyPr wrap="square" lIns="0" tIns="0" rIns="0" bIns="0" rtlCol="0" anchor="t"/>
          <a:lstStyle/>
          <a:p>
            <a:pPr indent="0" marL="0">
              <a:buNone/>
            </a:pPr>
            <a:r>
              <a:rPr lang="en-US" sz="1450" dirty="0">
                <a:solidFill>
                  <a:srgbClr val="8FB3A0"/>
                </a:solidFill>
                <a:latin typeface="Courier New" pitchFamily="34" charset="0"/>
                <a:ea typeface="Courier New" pitchFamily="34" charset="-122"/>
                <a:cs typeface="Courier New" pitchFamily="34" charset="-120"/>
              </a:rPr>
              <a:t># 1. once per board: write the firmware through the USB cable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build-and-flash</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2. join the Wi-Fi network of the board: PRG32, password prg32game</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3. build the cartridge for the board</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cartridge build ~/arc12/code/l14.S --portable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--entry-prefix l14 --name l14 --architecture esp32c6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--out l14-esp32c6.prg32</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a:t>
            </a:r>
            <a:endParaRPr lang="en-US" sz="1450" dirty="0"/>
          </a:p>
          <a:p>
            <a:pPr indent="0" marL="0">
              <a:buNone/>
            </a:pPr>
            <a:r>
              <a:rPr lang="en-US" sz="1450" dirty="0">
                <a:solidFill>
                  <a:srgbClr val="8FB3A0"/>
                </a:solidFill>
                <a:latin typeface="Courier New" pitchFamily="34" charset="0"/>
                <a:ea typeface="Courier New" pitchFamily="34" charset="-122"/>
                <a:cs typeface="Courier New" pitchFamily="34" charset="-120"/>
              </a:rPr>
              <a:t># 4. send it over Wi-Fi and start it</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python3 -m prg32 esp32c6 upload-and-run l14-esp32c6.prg32 \</a:t>
            </a:r>
            <a:endParaRPr lang="en-US" sz="1450" dirty="0"/>
          </a:p>
          <a:p>
            <a:pPr indent="0" marL="0">
              <a:buNone/>
            </a:pPr>
            <a:r>
              <a:rPr lang="en-US" sz="1450" dirty="0">
                <a:solidFill>
                  <a:srgbClr val="E6EDF2"/>
                </a:solidFill>
                <a:latin typeface="Courier New" pitchFamily="34" charset="0"/>
                <a:ea typeface="Courier New" pitchFamily="34" charset="-122"/>
                <a:cs typeface="Courier New" pitchFamily="34" charset="-120"/>
              </a:rPr>
              <a:t>    --url http://192.168.4.1 --slot cart0</a:t>
            </a:r>
            <a:endParaRPr lang="en-US" sz="1450" dirty="0"/>
          </a:p>
        </p:txBody>
      </p:sp>
      <p:sp>
        <p:nvSpPr>
          <p:cNvPr id="5" name="Shape 3"/>
          <p:cNvSpPr/>
          <p:nvPr/>
        </p:nvSpPr>
        <p:spPr>
          <a:xfrm>
            <a:off x="8961120" y="1417320"/>
            <a:ext cx="2681935" cy="1037844"/>
          </a:xfrm>
          <a:prstGeom prst="roundRect">
            <a:avLst>
              <a:gd name="adj" fmla="val 7048"/>
            </a:avLst>
          </a:prstGeom>
          <a:solidFill>
            <a:srgbClr val="EEF2F4"/>
          </a:solidFill>
          <a:ln w="12700">
            <a:solidFill>
              <a:srgbClr val="EEF2F4"/>
            </a:solidFill>
            <a:prstDash val="solid"/>
          </a:ln>
        </p:spPr>
      </p:sp>
      <p:sp>
        <p:nvSpPr>
          <p:cNvPr id="6" name="Text 4"/>
          <p:cNvSpPr txBox="1"/>
          <p:nvPr/>
        </p:nvSpPr>
        <p:spPr>
          <a:xfrm>
            <a:off x="9125712" y="1581912"/>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1</a:t>
            </a:r>
            <a:endParaRPr lang="en-US" sz="1400" dirty="0"/>
          </a:p>
        </p:txBody>
      </p:sp>
      <p:sp>
        <p:nvSpPr>
          <p:cNvPr id="7" name="Text 5"/>
          <p:cNvSpPr txBox="1"/>
          <p:nvPr/>
        </p:nvSpPr>
        <p:spPr>
          <a:xfrm>
            <a:off x="9646920" y="1554480"/>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firmware is written once per board, through the USB cable</a:t>
            </a:r>
            <a:endParaRPr lang="en-US" sz="1200" dirty="0"/>
          </a:p>
        </p:txBody>
      </p:sp>
      <p:sp>
        <p:nvSpPr>
          <p:cNvPr id="8" name="Shape 6"/>
          <p:cNvSpPr/>
          <p:nvPr/>
        </p:nvSpPr>
        <p:spPr>
          <a:xfrm>
            <a:off x="8961120" y="2656332"/>
            <a:ext cx="2681935" cy="1037844"/>
          </a:xfrm>
          <a:prstGeom prst="roundRect">
            <a:avLst>
              <a:gd name="adj" fmla="val 7048"/>
            </a:avLst>
          </a:prstGeom>
          <a:solidFill>
            <a:srgbClr val="EEF2F4"/>
          </a:solidFill>
          <a:ln w="12700">
            <a:solidFill>
              <a:srgbClr val="EEF2F4"/>
            </a:solidFill>
            <a:prstDash val="solid"/>
          </a:ln>
        </p:spPr>
      </p:sp>
      <p:sp>
        <p:nvSpPr>
          <p:cNvPr id="9" name="Text 7"/>
          <p:cNvSpPr txBox="1"/>
          <p:nvPr/>
        </p:nvSpPr>
        <p:spPr>
          <a:xfrm>
            <a:off x="9125712" y="2820924"/>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2</a:t>
            </a:r>
            <a:endParaRPr lang="en-US" sz="1400" dirty="0"/>
          </a:p>
        </p:txBody>
      </p:sp>
      <p:sp>
        <p:nvSpPr>
          <p:cNvPr id="10" name="Text 8"/>
          <p:cNvSpPr txBox="1"/>
          <p:nvPr/>
        </p:nvSpPr>
        <p:spPr>
          <a:xfrm>
            <a:off x="9646920" y="2793492"/>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board creates the Wi-Fi network PRG32: join it with your computer</a:t>
            </a:r>
            <a:endParaRPr lang="en-US" sz="1200" dirty="0"/>
          </a:p>
        </p:txBody>
      </p:sp>
      <p:sp>
        <p:nvSpPr>
          <p:cNvPr id="11" name="Shape 9"/>
          <p:cNvSpPr/>
          <p:nvPr/>
        </p:nvSpPr>
        <p:spPr>
          <a:xfrm>
            <a:off x="8961120" y="3895344"/>
            <a:ext cx="2681935" cy="1037844"/>
          </a:xfrm>
          <a:prstGeom prst="roundRect">
            <a:avLst>
              <a:gd name="adj" fmla="val 7048"/>
            </a:avLst>
          </a:prstGeom>
          <a:solidFill>
            <a:srgbClr val="EEF2F4"/>
          </a:solidFill>
          <a:ln w="12700">
            <a:solidFill>
              <a:srgbClr val="EEF2F4"/>
            </a:solidFill>
            <a:prstDash val="solid"/>
          </a:ln>
        </p:spPr>
      </p:sp>
      <p:sp>
        <p:nvSpPr>
          <p:cNvPr id="12" name="Text 10"/>
          <p:cNvSpPr txBox="1"/>
          <p:nvPr/>
        </p:nvSpPr>
        <p:spPr>
          <a:xfrm>
            <a:off x="9125712" y="4059936"/>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3</a:t>
            </a:r>
            <a:endParaRPr lang="en-US" sz="1400" dirty="0"/>
          </a:p>
        </p:txBody>
      </p:sp>
      <p:sp>
        <p:nvSpPr>
          <p:cNvPr id="13" name="Text 11"/>
          <p:cNvSpPr txBox="1"/>
          <p:nvPr/>
        </p:nvSpPr>
        <p:spPr>
          <a:xfrm>
            <a:off x="9646920" y="4032504"/>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The same upload command as for PRG32-QT, with the address of the board</a:t>
            </a:r>
            <a:endParaRPr lang="en-US" sz="1200" dirty="0"/>
          </a:p>
        </p:txBody>
      </p:sp>
      <p:sp>
        <p:nvSpPr>
          <p:cNvPr id="14" name="Shape 12"/>
          <p:cNvSpPr/>
          <p:nvPr/>
        </p:nvSpPr>
        <p:spPr>
          <a:xfrm>
            <a:off x="8961120" y="5134356"/>
            <a:ext cx="2681935" cy="1037844"/>
          </a:xfrm>
          <a:prstGeom prst="roundRect">
            <a:avLst>
              <a:gd name="adj" fmla="val 7048"/>
            </a:avLst>
          </a:prstGeom>
          <a:solidFill>
            <a:srgbClr val="EEF2F4"/>
          </a:solidFill>
          <a:ln w="12700">
            <a:solidFill>
              <a:srgbClr val="EEF2F4"/>
            </a:solidFill>
            <a:prstDash val="solid"/>
          </a:ln>
        </p:spPr>
      </p:sp>
      <p:sp>
        <p:nvSpPr>
          <p:cNvPr id="15" name="Text 13"/>
          <p:cNvSpPr txBox="1"/>
          <p:nvPr/>
        </p:nvSpPr>
        <p:spPr>
          <a:xfrm>
            <a:off x="9125712" y="5298948"/>
            <a:ext cx="365760" cy="365760"/>
          </a:xfrm>
          <a:prstGeom prst="roundRect">
            <a:avLst>
              <a:gd name="adj" fmla="val 20000"/>
            </a:avLst>
          </a:prstGeom>
          <a:solidFill>
            <a:srgbClr val="C7791B"/>
          </a:solidFill>
          <a:ln>
            <a:solidFill>
              <a:srgbClr val="C7791B"/>
            </a:solidFill>
          </a:ln>
        </p:spPr>
        <p:txBody>
          <a:bodyPr wrap="square" lIns="0" tIns="0" rIns="0" bIns="0" rtlCol="0" anchor="ctr"/>
          <a:lstStyle/>
          <a:p>
            <a:pPr algn="ctr" indent="0" marL="0">
              <a:buNone/>
            </a:pPr>
            <a:r>
              <a:rPr lang="en-US" sz="1400" b="1" dirty="0">
                <a:solidFill>
                  <a:srgbClr val="FFFFFF"/>
                </a:solidFill>
                <a:latin typeface="Calibri" pitchFamily="34" charset="0"/>
                <a:ea typeface="Calibri" pitchFamily="34" charset="-122"/>
                <a:cs typeface="Calibri" pitchFamily="34" charset="-120"/>
              </a:rPr>
              <a:t>4</a:t>
            </a:r>
            <a:endParaRPr lang="en-US" sz="1400" dirty="0"/>
          </a:p>
        </p:txBody>
      </p:sp>
      <p:sp>
        <p:nvSpPr>
          <p:cNvPr id="16" name="Text 14"/>
          <p:cNvSpPr txBox="1"/>
          <p:nvPr/>
        </p:nvSpPr>
        <p:spPr>
          <a:xfrm>
            <a:off x="9646920" y="5271516"/>
            <a:ext cx="1813255" cy="763524"/>
          </a:xfrm>
          <a:prstGeom prst="rect">
            <a:avLst/>
          </a:prstGeom>
          <a:noFill/>
          <a:ln/>
        </p:spPr>
        <p:txBody>
          <a:bodyPr wrap="square" lIns="0" tIns="0" rIns="0" bIns="0" rtlCol="0" anchor="ctr"/>
          <a:lstStyle/>
          <a:p>
            <a:pPr indent="0" marL="0">
              <a:buNone/>
            </a:pPr>
            <a:r>
              <a:rPr lang="en-US" sz="1200" dirty="0">
                <a:solidFill>
                  <a:srgbClr val="1B2530"/>
                </a:solidFill>
                <a:latin typeface="Calibri" pitchFamily="34" charset="0"/>
                <a:ea typeface="Calibri" pitchFamily="34" charset="-122"/>
                <a:cs typeface="Calibri" pitchFamily="34" charset="-120"/>
              </a:rPr>
              <a:t>A black screen: check the wiring of the display against the firmware</a:t>
            </a:r>
            <a:endParaRPr lang="en-US" sz="1200" dirty="0"/>
          </a:p>
        </p:txBody>
      </p:sp>
      <p:sp>
        <p:nvSpPr>
          <p:cNvPr id="17" name="Shape 15"/>
          <p:cNvSpPr/>
          <p:nvPr/>
        </p:nvSpPr>
        <p:spPr>
          <a:xfrm>
            <a:off x="9287967" y="91440"/>
            <a:ext cx="2355088" cy="274320"/>
          </a:xfrm>
          <a:prstGeom prst="rect">
            <a:avLst/>
          </a:prstGeom>
          <a:solidFill>
            <a:srgbClr val="FEF3C7"/>
          </a:solidFill>
          <a:ln w="12700">
            <a:solidFill>
              <a:srgbClr val="B45309"/>
            </a:solidFill>
            <a:prstDash val="solid"/>
          </a:ln>
        </p:spPr>
      </p:sp>
      <p:sp>
        <p:nvSpPr>
          <p:cNvPr id="18" name="Shape 16"/>
          <p:cNvSpPr/>
          <p:nvPr/>
        </p:nvSpPr>
        <p:spPr>
          <a:xfrm>
            <a:off x="9287967" y="91440"/>
            <a:ext cx="27432" cy="274320"/>
          </a:xfrm>
          <a:prstGeom prst="rect">
            <a:avLst/>
          </a:prstGeom>
          <a:solidFill>
            <a:srgbClr val="B45309"/>
          </a:solidFill>
          <a:ln w="12700">
            <a:solidFill>
              <a:srgbClr val="B45309"/>
            </a:solidFill>
            <a:prstDash val="solid"/>
          </a:ln>
        </p:spPr>
      </p:sp>
      <p:sp>
        <p:nvSpPr>
          <p:cNvPr id="19" name="Shape 17"/>
          <p:cNvSpPr/>
          <p:nvPr/>
        </p:nvSpPr>
        <p:spPr>
          <a:xfrm>
            <a:off x="9342831" y="91440"/>
            <a:ext cx="27432" cy="274320"/>
          </a:xfrm>
          <a:prstGeom prst="rect">
            <a:avLst/>
          </a:prstGeom>
          <a:solidFill>
            <a:srgbClr val="B45309"/>
          </a:solidFill>
          <a:ln w="12700">
            <a:solidFill>
              <a:srgbClr val="B45309"/>
            </a:solidFill>
            <a:prstDash val="solid"/>
          </a:ln>
        </p:spPr>
      </p:sp>
      <p:pic>
        <p:nvPicPr>
          <p:cNvPr id="20"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21" name="Text 18"/>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If it does not work</a:t>
            </a:r>
            <a:endParaRPr lang="en-US" sz="32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94415" cy="914400"/>
        </p:xfrm>
        <a:graphic>
          <a:graphicData uri="http://schemas.openxmlformats.org/drawingml/2006/table">
            <a:tbl>
              <a:tblPr/>
              <a:tblGrid>
                <a:gridCol w="3025750"/>
                <a:gridCol w="3866236"/>
                <a:gridCol w="4202430"/>
              </a:tblGrid>
              <a:tr h="0">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You see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It means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c>
                  <a:txBody>
                    <a:bodyPr/>
                    <a:lstStyle/>
                    <a:p>
                      <a:pPr algn="l" indent="0" marL="0">
                        <a:buNone/>
                      </a:pPr>
                      <a:r>
                        <a:rPr lang="en-US" sz="1500" b="1" dirty="0">
                          <a:solidFill>
                            <a:srgbClr val="FFFFFF"/>
                          </a:solidFill>
                          <a:latin typeface="Calibri" pitchFamily="34" charset="0"/>
                          <a:ea typeface="Calibri" pitchFamily="34" charset="-122"/>
                          <a:cs typeface="Calibri" pitchFamily="34" charset="-120"/>
                        </a:rPr>
                        <a:t>Do this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2E4A62"/>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missing entry point</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prefix is not the one in the source</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--entry-prefix l14; check the three .global lines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idf.py: command not found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ESP-IDF is not active in this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run export.sh, or open the ESP-IDF PowerShell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upload: connection refused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host is not listening at that address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start PRG32-QT; use the address on its Setup screen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a black screen, or the menu again</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a function does not return, or ra was not saved</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debug mode: step through init, update, draw</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FFFFFF"/>
                    </a:solidFill>
                  </a:tcPr>
                </a:tc>
              </a:tr>
              <a:tr h="0">
                <a:tc>
                  <a:txBody>
                    <a:bodyPr/>
                    <a:lstStyle/>
                    <a:p>
                      <a:pPr algn="l" indent="0" marL="0">
                        <a:buNone/>
                      </a:pPr>
                      <a:r>
                        <a:rPr lang="en-US" sz="1500" b="1" dirty="0">
                          <a:solidFill>
                            <a:srgbClr val="1B2530"/>
                          </a:solidFill>
                          <a:latin typeface="Calibri" pitchFamily="34" charset="0"/>
                          <a:ea typeface="Calibri" pitchFamily="34" charset="-122"/>
                          <a:cs typeface="Calibri" pitchFamily="34" charset="-120"/>
                        </a:rPr>
                        <a:t>QEMU ignores the keys</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the keyboard goes to the terminal</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c>
                  <a:txBody>
                    <a:bodyPr/>
                    <a:lstStyle/>
                    <a:p>
                      <a:pPr algn="l" indent="0" marL="0">
                        <a:buNone/>
                      </a:pPr>
                      <a:r>
                        <a:rPr lang="en-US" sz="1500" dirty="0">
                          <a:solidFill>
                            <a:srgbClr val="1B2530"/>
                          </a:solidFill>
                          <a:latin typeface="Calibri" pitchFamily="34" charset="0"/>
                          <a:ea typeface="Calibri" pitchFamily="34" charset="-122"/>
                          <a:cs typeface="Calibri" pitchFamily="34" charset="-120"/>
                        </a:rPr>
                        <a:t>click the terminal that launched QEMU</a:t>
                      </a:r>
                      <a:endParaRPr lang="en-US" sz="1500" dirty="0">
                        <a:latin typeface="Calibri" charset="0"/>
                        <a:ea typeface="Calibri" charset="0"/>
                        <a:cs typeface="Calibri" charset="0"/>
                      </a:endParaRPr>
                    </a:p>
                  </a:txBody>
                  <a:tcPr marL="101600" marR="101600" marT="50800" marB="50800" anchor="ctr">
                    <a:lnL w="6350" cap="flat" cmpd="sng" algn="ctr">
                      <a:solidFill>
                        <a:srgbClr val="C9D2D8"/>
                      </a:solidFill>
                      <a:prstDash val="solid"/>
                      <a:round/>
                      <a:headEnd type="none" w="med" len="med"/>
                      <a:tailEnd type="none" w="med" len="med"/>
                    </a:lnL>
                    <a:lnR w="6350" cap="flat" cmpd="sng" algn="ctr">
                      <a:solidFill>
                        <a:srgbClr val="C9D2D8"/>
                      </a:solidFill>
                      <a:prstDash val="solid"/>
                      <a:round/>
                      <a:headEnd type="none" w="med" len="med"/>
                      <a:tailEnd type="none" w="med" len="med"/>
                    </a:lnR>
                    <a:lnT w="6350" cap="flat" cmpd="sng" algn="ctr">
                      <a:solidFill>
                        <a:srgbClr val="C9D2D8"/>
                      </a:solidFill>
                      <a:prstDash val="solid"/>
                      <a:round/>
                      <a:headEnd type="none" w="med" len="med"/>
                      <a:tailEnd type="none" w="med" len="med"/>
                    </a:lnT>
                    <a:lnB w="6350" cap="flat" cmpd="sng" algn="ctr">
                      <a:solidFill>
                        <a:srgbClr val="C9D2D8"/>
                      </a:solidFill>
                      <a:prstDash val="solid"/>
                      <a:round/>
                      <a:headEnd type="none" w="med" len="med"/>
                      <a:tailEnd type="none" w="med" len="med"/>
                    </a:lnB>
                    <a:solidFill>
                      <a:srgbClr val="EEF2F4"/>
                    </a:solidFill>
                  </a:tcPr>
                </a:tc>
              </a:tr>
            </a:tbl>
          </a:graphicData>
        </a:graphic>
      </p:graphicFrame>
      <p:sp>
        <p:nvSpPr>
          <p:cNvPr id="4" name="Shape 1"/>
          <p:cNvSpPr/>
          <p:nvPr/>
        </p:nvSpPr>
        <p:spPr>
          <a:xfrm>
            <a:off x="9287967" y="91440"/>
            <a:ext cx="2355088" cy="274320"/>
          </a:xfrm>
          <a:prstGeom prst="rect">
            <a:avLst/>
          </a:prstGeom>
          <a:solidFill>
            <a:srgbClr val="FEF3C7"/>
          </a:solidFill>
          <a:ln w="12700">
            <a:solidFill>
              <a:srgbClr val="B45309"/>
            </a:solidFill>
            <a:prstDash val="solid"/>
          </a:ln>
        </p:spPr>
      </p:sp>
      <p:sp>
        <p:nvSpPr>
          <p:cNvPr id="5" name="Shape 2"/>
          <p:cNvSpPr/>
          <p:nvPr/>
        </p:nvSpPr>
        <p:spPr>
          <a:xfrm>
            <a:off x="9287967" y="91440"/>
            <a:ext cx="27432" cy="274320"/>
          </a:xfrm>
          <a:prstGeom prst="rect">
            <a:avLst/>
          </a:prstGeom>
          <a:solidFill>
            <a:srgbClr val="B45309"/>
          </a:solidFill>
          <a:ln w="12700">
            <a:solidFill>
              <a:srgbClr val="B45309"/>
            </a:solidFill>
            <a:prstDash val="solid"/>
          </a:ln>
        </p:spPr>
      </p:sp>
      <p:sp>
        <p:nvSpPr>
          <p:cNvPr id="6" name="Shape 3"/>
          <p:cNvSpPr/>
          <p:nvPr/>
        </p:nvSpPr>
        <p:spPr>
          <a:xfrm>
            <a:off x="9342831" y="91440"/>
            <a:ext cx="27432" cy="274320"/>
          </a:xfrm>
          <a:prstGeom prst="rect">
            <a:avLst/>
          </a:prstGeom>
          <a:solidFill>
            <a:srgbClr val="B45309"/>
          </a:solidFill>
          <a:ln w="12700">
            <a:solidFill>
              <a:srgbClr val="B45309"/>
            </a:solidFill>
            <a:prstDash val="solid"/>
          </a:ln>
        </p:spPr>
      </p:sp>
      <p:pic>
        <p:nvPicPr>
          <p:cNvPr id="7" name="Image 0" descr="preencoded.png">    </p:cNvPr>
          <p:cNvPicPr>
            <a:picLocks noChangeAspect="1"/>
          </p:cNvPicPr>
          <p:nvPr/>
        </p:nvPicPr>
        <p:blipFill>
          <a:blip r:embed="rId1"/>
          <a:stretch>
            <a:fillRect/>
          </a:stretch>
        </p:blipFill>
        <p:spPr>
          <a:xfrm>
            <a:off x="9415983" y="128016"/>
            <a:ext cx="201168" cy="201168"/>
          </a:xfrm>
          <a:prstGeom prst="rect">
            <a:avLst/>
          </a:prstGeom>
        </p:spPr>
      </p:pic>
      <p:sp>
        <p:nvSpPr>
          <p:cNvPr id="8" name="Text 4"/>
          <p:cNvSpPr txBox="1"/>
          <p:nvPr/>
        </p:nvSpPr>
        <p:spPr>
          <a:xfrm>
            <a:off x="9672015" y="91440"/>
            <a:ext cx="1934464" cy="274320"/>
          </a:xfrm>
          <a:prstGeom prst="rect">
            <a:avLst/>
          </a:prstGeom>
          <a:noFill/>
          <a:ln/>
        </p:spPr>
        <p:txBody>
          <a:bodyPr wrap="square" lIns="0" tIns="0" rIns="0" bIns="0" rtlCol="0" anchor="ctr"/>
          <a:lstStyle/>
          <a:p>
            <a:pPr indent="0" marL="0">
              <a:buNone/>
            </a:pPr>
            <a:r>
              <a:rPr lang="en-US" sz="1100" b="1" dirty="0">
                <a:solidFill>
                  <a:srgbClr val="92400E"/>
                </a:solidFill>
                <a:latin typeface="Calibri" pitchFamily="34" charset="0"/>
                <a:ea typeface="Calibri" pitchFamily="34" charset="-122"/>
                <a:cs typeface="Calibri" pitchFamily="34" charset="-120"/>
              </a:rPr>
              <a:t>USE NOW</a:t>
            </a:r>
            <a:pPr indent="0" marL="0">
              <a:buNone/>
            </a:pPr>
            <a:r>
              <a:rPr lang="en-US" sz="1100" dirty="0">
                <a:solidFill>
                  <a:srgbClr val="92400E"/>
                </a:solidFill>
                <a:latin typeface="Calibri" pitchFamily="34" charset="0"/>
                <a:ea typeface="Calibri" pitchFamily="34" charset="-122"/>
                <a:cs typeface="Calibri" pitchFamily="34" charset="-120"/>
              </a:rPr>
              <a:t> · the PRG32 tools</a:t>
            </a:r>
            <a:endParaRPr lang="en-US" sz="11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1"/>
          <p:cNvSpPr/>
          <p:nvPr>
            <p:ph idx="101" type="title" hasCustomPrompt="1"/>
          </p:nvPr>
        </p:nvSpPr>
        <p:spPr>
          <a:xfrm>
            <a:off x="548640" y="365760"/>
            <a:ext cx="11094415" cy="868680"/>
          </a:xfrm>
          <a:prstGeom prst="rect">
            <a:avLst/>
          </a:prstGeom>
          <a:noFill/>
          <a:ln/>
        </p:spPr>
        <p:txBody>
          <a:bodyPr wrap="square" lIns="0" tIns="0" rIns="0" bIns="0" rtlCol="0" anchor="ctr"/>
          <a:lstStyle/>
          <a:p>
            <a:pPr algn="l" indent="0" marL="0">
              <a:buNone/>
            </a:pPr>
            <a:r>
              <a:rPr lang="en-US" sz="3200" b="1" dirty="0">
                <a:solidFill>
                  <a:srgbClr val="2E4A62"/>
                </a:solidFill>
                <a:latin typeface="Cambria" pitchFamily="34" charset="0"/>
                <a:ea typeface="Cambria" pitchFamily="34" charset="-122"/>
                <a:cs typeface="Cambria" pitchFamily="34" charset="-120"/>
              </a:rPr>
              <a:t>Exercises: paper first, then PRG32</a:t>
            </a:r>
            <a:endParaRPr lang="en-US" sz="3200" dirty="0"/>
          </a:p>
        </p:txBody>
      </p:sp>
      <p:sp>
        <p:nvSpPr>
          <p:cNvPr id="3" name="Text 1"/>
          <p:cNvSpPr txBox="1"/>
          <p:nvPr/>
        </p:nvSpPr>
        <p:spPr>
          <a:xfrm>
            <a:off x="10088575" y="566928"/>
            <a:ext cx="1554480" cy="457200"/>
          </a:xfrm>
          <a:prstGeom prst="roundRect">
            <a:avLst>
              <a:gd name="adj" fmla="val 16000"/>
            </a:avLst>
          </a:prstGeom>
          <a:solidFill>
            <a:srgbClr val="2F7D4F"/>
          </a:solidFill>
          <a:ln>
            <a:solidFill>
              <a:srgbClr val="2F7D4F"/>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TRY IT</a:t>
            </a:r>
            <a:endParaRPr lang="en-US" sz="1500" dirty="0"/>
          </a:p>
        </p:txBody>
      </p:sp>
      <p:sp>
        <p:nvSpPr>
          <p:cNvPr id="4" name="Text 2"/>
          <p:cNvSpPr txBox="1"/>
          <p:nvPr/>
        </p:nvSpPr>
        <p:spPr>
          <a:xfrm>
            <a:off x="548640" y="1435608"/>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1</a:t>
            </a:r>
            <a:endParaRPr lang="en-US" sz="1500" dirty="0"/>
          </a:p>
        </p:txBody>
      </p:sp>
      <p:sp>
        <p:nvSpPr>
          <p:cNvPr id="5" name="Text 3"/>
          <p:cNvSpPr txBox="1"/>
          <p:nvPr/>
        </p:nvSpPr>
        <p:spPr>
          <a:xfrm>
            <a:off x="1207008" y="1417320"/>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Draw a 4-bit serial-in, parallel-out shift register with D flip-flops, and fill in its contents over four clock pulses for the input 1, 0, 1, 1</a:t>
            </a:r>
            <a:endParaRPr lang="en-US" sz="1900" dirty="0"/>
          </a:p>
        </p:txBody>
      </p:sp>
      <p:sp>
        <p:nvSpPr>
          <p:cNvPr id="6" name="Text 4"/>
          <p:cNvSpPr txBox="1"/>
          <p:nvPr/>
        </p:nvSpPr>
        <p:spPr>
          <a:xfrm>
            <a:off x="548640" y="2157095"/>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2</a:t>
            </a:r>
            <a:endParaRPr lang="en-US" sz="1500" dirty="0"/>
          </a:p>
        </p:txBody>
      </p:sp>
      <p:sp>
        <p:nvSpPr>
          <p:cNvPr id="7" name="Text 5"/>
          <p:cNvSpPr txBox="1"/>
          <p:nvPr/>
        </p:nvSpPr>
        <p:spPr>
          <a:xfrm>
            <a:off x="1207008" y="2138807"/>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Three registers share a common bus: write the enable and load signals needed to copy register B into register A</a:t>
            </a:r>
            <a:endParaRPr lang="en-US" sz="1900" dirty="0"/>
          </a:p>
        </p:txBody>
      </p:sp>
      <p:sp>
        <p:nvSpPr>
          <p:cNvPr id="8" name="Text 6"/>
          <p:cNvSpPr txBox="1"/>
          <p:nvPr/>
        </p:nvSpPr>
        <p:spPr>
          <a:xfrm>
            <a:off x="548640" y="2878582"/>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3</a:t>
            </a:r>
            <a:endParaRPr lang="en-US" sz="1500" dirty="0"/>
          </a:p>
        </p:txBody>
      </p:sp>
      <p:sp>
        <p:nvSpPr>
          <p:cNvPr id="9" name="Text 7"/>
          <p:cNvSpPr txBox="1"/>
          <p:nvPr/>
        </p:nvSpPr>
        <p:spPr>
          <a:xfrm>
            <a:off x="1207008" y="2860294"/>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Complete the warm-up: write the loop that receives eight bits from a line and rebuilds the byte</a:t>
            </a:r>
            <a:endParaRPr lang="en-US" sz="1900" dirty="0"/>
          </a:p>
        </p:txBody>
      </p:sp>
      <p:sp>
        <p:nvSpPr>
          <p:cNvPr id="10" name="Text 8"/>
          <p:cNvSpPr txBox="1"/>
          <p:nvPr/>
        </p:nvSpPr>
        <p:spPr>
          <a:xfrm>
            <a:off x="548640" y="3600069"/>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4</a:t>
            </a:r>
            <a:endParaRPr lang="en-US" sz="1500" dirty="0"/>
          </a:p>
        </p:txBody>
      </p:sp>
      <p:sp>
        <p:nvSpPr>
          <p:cNvPr id="11" name="Text 9"/>
          <p:cNvSpPr txBox="1"/>
          <p:nvPr/>
        </p:nvSpPr>
        <p:spPr>
          <a:xfrm>
            <a:off x="1207008" y="3581781"/>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On PRG32, show a byte as eight lamps and shift it left by one position every half second</a:t>
            </a:r>
            <a:endParaRPr lang="en-US" sz="1900" dirty="0"/>
          </a:p>
        </p:txBody>
      </p:sp>
      <p:sp>
        <p:nvSpPr>
          <p:cNvPr id="12" name="Text 10"/>
          <p:cNvSpPr txBox="1"/>
          <p:nvPr/>
        </p:nvSpPr>
        <p:spPr>
          <a:xfrm>
            <a:off x="548640" y="4321556"/>
            <a:ext cx="402336" cy="402336"/>
          </a:xfrm>
          <a:prstGeom prst="roundRect">
            <a:avLst>
              <a:gd name="adj" fmla="val 18182"/>
            </a:avLst>
          </a:prstGeom>
          <a:solidFill>
            <a:srgbClr val="0E7C86"/>
          </a:solidFill>
          <a:ln>
            <a:solidFill>
              <a:srgbClr val="0E7C86"/>
            </a:solidFill>
          </a:ln>
        </p:spPr>
        <p:txBody>
          <a:bodyPr wrap="square" lIns="0" tIns="0" rIns="0" bIns="0" rtlCol="0" anchor="ctr"/>
          <a:lstStyle/>
          <a:p>
            <a:pPr algn="ctr" indent="0" marL="0">
              <a:buNone/>
            </a:pPr>
            <a:r>
              <a:rPr lang="en-US" sz="1500" b="1" dirty="0">
                <a:solidFill>
                  <a:srgbClr val="FFFFFF"/>
                </a:solidFill>
                <a:latin typeface="Calibri" pitchFamily="34" charset="0"/>
                <a:ea typeface="Calibri" pitchFamily="34" charset="-122"/>
                <a:cs typeface="Calibri" pitchFamily="34" charset="-120"/>
              </a:rPr>
              <a:t>5</a:t>
            </a:r>
            <a:endParaRPr lang="en-US" sz="1500" dirty="0"/>
          </a:p>
        </p:txBody>
      </p:sp>
      <p:sp>
        <p:nvSpPr>
          <p:cNvPr id="13" name="Text 11"/>
          <p:cNvSpPr txBox="1"/>
          <p:nvPr/>
        </p:nvSpPr>
        <p:spPr>
          <a:xfrm>
            <a:off x="1207008" y="4303268"/>
            <a:ext cx="10436047" cy="588772"/>
          </a:xfrm>
          <a:prstGeom prst="rect">
            <a:avLst/>
          </a:prstGeom>
          <a:noFill/>
          <a:ln/>
        </p:spPr>
        <p:txBody>
          <a:bodyPr wrap="square" lIns="0" tIns="0" rIns="0" bIns="0" rtlCol="0" anchor="t"/>
          <a:lstStyle/>
          <a:p>
            <a:pPr indent="0" marL="0">
              <a:spcAft>
                <a:spcPts val="200"/>
              </a:spcAft>
              <a:buNone/>
            </a:pPr>
            <a:r>
              <a:rPr lang="en-US" sz="1900" dirty="0">
                <a:solidFill>
                  <a:srgbClr val="1B2530"/>
                </a:solidFill>
                <a:latin typeface="Calibri" pitchFamily="34" charset="0"/>
                <a:ea typeface="Calibri" pitchFamily="34" charset="-122"/>
                <a:cs typeface="Calibri" pitchFamily="34" charset="-120"/>
              </a:rPr>
              <a:t>Make the bit that leaves on the left come back in on the right (a rotation): a ring counter</a:t>
            </a:r>
            <a:endParaRPr lang="en-US" sz="1900" dirty="0"/>
          </a:p>
        </p:txBody>
      </p:sp>
      <p:sp>
        <p:nvSpPr>
          <p:cNvPr id="14" name="Shape 12"/>
          <p:cNvSpPr/>
          <p:nvPr/>
        </p:nvSpPr>
        <p:spPr>
          <a:xfrm>
            <a:off x="548640" y="5120640"/>
            <a:ext cx="11094415" cy="1051560"/>
          </a:xfrm>
          <a:prstGeom prst="roundRect">
            <a:avLst>
              <a:gd name="adj" fmla="val 6957"/>
            </a:avLst>
          </a:prstGeom>
          <a:solidFill>
            <a:srgbClr val="DCEEE3"/>
          </a:solidFill>
          <a:ln w="12700">
            <a:solidFill>
              <a:srgbClr val="DCEEE3"/>
            </a:solidFill>
            <a:prstDash val="solid"/>
          </a:ln>
        </p:spPr>
      </p:sp>
      <p:sp>
        <p:nvSpPr>
          <p:cNvPr id="15" name="Text 13"/>
          <p:cNvSpPr txBox="1"/>
          <p:nvPr/>
        </p:nvSpPr>
        <p:spPr>
          <a:xfrm>
            <a:off x="822960" y="5212080"/>
            <a:ext cx="2743200" cy="274320"/>
          </a:xfrm>
          <a:prstGeom prst="rect">
            <a:avLst/>
          </a:prstGeom>
          <a:noFill/>
          <a:ln/>
        </p:spPr>
        <p:txBody>
          <a:bodyPr wrap="square" lIns="0" tIns="0" rIns="0" bIns="0" rtlCol="0" anchor="t"/>
          <a:lstStyle/>
          <a:p>
            <a:pPr indent="0" marL="0">
              <a:buNone/>
            </a:pPr>
            <a:r>
              <a:rPr lang="en-US" sz="1300" b="1" dirty="0">
                <a:solidFill>
                  <a:srgbClr val="2F7D4F"/>
                </a:solidFill>
                <a:latin typeface="Calibri" pitchFamily="34" charset="0"/>
                <a:ea typeface="Calibri" pitchFamily="34" charset="-122"/>
                <a:cs typeface="Calibri" pitchFamily="34" charset="-120"/>
              </a:rPr>
              <a:t>Expected result</a:t>
            </a:r>
            <a:endParaRPr lang="en-US" sz="1300" dirty="0"/>
          </a:p>
        </p:txBody>
      </p:sp>
      <p:sp>
        <p:nvSpPr>
          <p:cNvPr id="16" name="Text 14"/>
          <p:cNvSpPr txBox="1"/>
          <p:nvPr/>
        </p:nvSpPr>
        <p:spPr>
          <a:xfrm>
            <a:off x="822960" y="5504688"/>
            <a:ext cx="10545775" cy="594360"/>
          </a:xfrm>
          <a:prstGeom prst="rect">
            <a:avLst/>
          </a:prstGeom>
          <a:noFill/>
          <a:ln/>
        </p:spPr>
        <p:txBody>
          <a:bodyPr wrap="square" lIns="0" tIns="0" rIns="0" bIns="0" rtlCol="0" anchor="ctr"/>
          <a:lstStyle/>
          <a:p>
            <a:pPr indent="0" marL="0">
              <a:buNone/>
            </a:pPr>
            <a:r>
              <a:rPr lang="en-US" sz="1800" dirty="0">
                <a:solidFill>
                  <a:srgbClr val="1B2530"/>
                </a:solidFill>
                <a:latin typeface="Calibri" pitchFamily="34" charset="0"/>
                <a:ea typeface="Calibri" pitchFamily="34" charset="-122"/>
                <a:cs typeface="Calibri" pitchFamily="34" charset="-120"/>
              </a:rPr>
              <a:t>On PRG32: a pattern of lamps that walks to the left and, in the last exercise, goes round for ever.</a:t>
            </a:r>
            <a:endParaRPr lang="en-US" sz="1800" dirty="0"/>
          </a:p>
        </p:txBody>
      </p:sp>
      <p:sp>
        <p:nvSpPr>
          <p:cNvPr id="25" name="Slide Number Placeholder 0"/>
          <p:cNvSpPr>
            <a:spLocks noGrp="1"/>
          </p:cNvSpPr>
          <p:nvPr>
            <p:ph type="sldNum" sz="quarter" idx="4294967295"/>
          </p:nvPr>
        </p:nvSpPr>
        <p:spPr>
          <a:xfrm>
            <a:off x="11002975" y="6419088"/>
            <a:ext cx="64008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5B6B78"/>
                </a:solidFill>
                <a:latin typeface="Calibri"/>
                <a:ea typeface="Calibri"/>
                <a:cs typeface="Calibri"/>
              </a:defRPr>
            </a:lvl1pPr>
          </a:lstStyle>
          <a:p>
            <a:pPr algn="r"/>
            <a:fld id="{F7021451-1387-4CA6-816F-3879F97B5CBC}" type="slidenum">
              <a:rPr b="0" lang="en-US"/>
              <a:t>17</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mbria"/>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University of Naples Parthenope</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ARC12 Computer Architecture - Elementary Machines: Registers and Buses: the code</dc:title>
  <dc:subject>Lecture 14</dc:subject>
  <dc:creator>Raffaele Montella</dc:creator>
  <cp:lastModifiedBy>Raffaele Montella</cp:lastModifiedBy>
  <cp:revision>1</cp:revision>
  <dcterms:created xsi:type="dcterms:W3CDTF">2026-10-16T15:51:38Z</dcterms:created>
  <dcterms:modified xsi:type="dcterms:W3CDTF">2026-10-16T15:51:38Z</dcterms:modified>
</cp:coreProperties>
</file>