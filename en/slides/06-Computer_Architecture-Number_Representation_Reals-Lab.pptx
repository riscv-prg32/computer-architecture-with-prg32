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8c687a8-5d21-3df3-18d3-ba3135971dee}">
          <p14:sldIdLst>
            <p14:sldId id="256"/>
            <p14:sldId id="257"/>
          </p14:sldIdLst>
        </p14:section>
        <p14:section name="Warm-up on the machine" id="{f866c117-c26f-8398-f6b6-db9f095bfd1a}">
          <p14:sldIdLst>
            <p14:sldId id="258"/>
          </p14:sldIdLst>
        </p14:section>
        <p14:section name="Fixed point" id="{172656bf-ffd3-3d0f-db90-c363c32d4a52}">
          <p14:sldIdLst>
            <p14:sldId id="259"/>
          </p14:sldIdLst>
        </p14:section>
        <p14:section name="Floating point" id="{c9abc73c-9f67-8f61-efb9-339f69232956}">
          <p14:sldIdLst>
            <p14:sldId id="260"/>
          </p14:sldIdLst>
        </p14:section>
        <p14:section name="The complete program" id="{d842f7f9-a3b0-de3c-3d0c-abb145f9418c}">
          <p14:sldIdLst>
            <p14:sldId id="261"/>
            <p14:sldId id="262"/>
            <p14:sldId id="263"/>
          </p14:sldIdLst>
        </p14:section>
        <p14:section name="Run it and test it" id="{53f93fd4-a729-663f-854f-a01cd9db3f82}">
          <p14:sldIdLst>
            <p14:sldId id="264"/>
            <p14:sldId id="265"/>
            <p14:sldId id="266"/>
            <p14:sldId id="267"/>
            <p14:sldId id="268"/>
          </p14:sldIdLst>
        </p14:section>
        <p14:section name="Exercises" id="{078bbd2d-3233-c020-ad66-19550da146b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06.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fixed point; one's complement and excess-k; IEEE 754 floating point; the name RV32IMAC.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~/arc12/code/l06.S; tools/tests/cartridges/run.py builds it, runs it on PRG32-QT with scripted input and checks the pixels of the frame.
For the lecturer: Get the code once: git clone https://github.com/riscv-prg32/computer-architecture-with-prg32 ~/arc12. The program of this lecture is ~/arc12/code/l06.S;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poses the problem. One pixel per frame is too fast, and zero is no motion at all: the ball requires 0.375 pixels per frame, on a processor with integer instructions only. The solution is to store the position multiplied by 256. ball_update adds 96 at each frame, and 96/256 = 0.375. ball_draw needs a whole pixel, so it shifts the value right by eight positions, dividing by 256, with srai, the arithmetic shift that preserves the sign. All the arithmetic is performed with integer instructions. The suffix _q8 in the names records that the value carries eight fractional bits, a naming discipline that prevents scaled and unscaled quantities from being confused.
UNDERSTAND NOW: fixed point.
For the lecturer: Written for this lecture in the style of the textbook examples; the same idea is behind prg32_playfield_parallax(layer, x_q8, y_q8) in the PRG32 API. Run it with SPEED_Q8 = 96, then 16, then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ball examined bit by bit. The word 0x00002A60 divides into a 24-bit integer part, 0x2A, that is 42 pixels, and an 8-bit fraction, 0x60, that is 96/256 = 0.375. Read as an integer the word is 10848, and 10848/256 = 42.375, confirming the interpretation. The table states the rules of fixed-point arithmetic: addition and subtraction work exactly as for integers, because the binary points are aligned; whole pixels are obtained by shifting right by f; and after a multiplication a right shift by f is required, because the product carries twice as many fractional bits as its factors.
UNDERSTAND NOW: fixed point.
For the lecturer: 42 x 256 = 10752; 10752 + 96 = 10848 = 0x2A60. After one more frame the value is 0x2AC0 (42.75), then 0x2B20 (43.125): the ball crosses a pixel boundary every two or three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numbers behave almost like the real numbers, and the qualification "almost" is the source of genuine errors. 0.1 has no finite binary expansion and is stored approximately, so that 0.1 + 0.2 is not exactly 0.3, as the code demonstrates. The practical rule follows: two floating-point results are never compared for equality, but their difference is compared with a tolerance. Addition is not even associative, so the order of operations affects the result. For monetary amounts and for positions in a game, scaled integers, that is, fixed point, are frequently the appropriate tool.
UNDERSTAND NOW: IEEE 754 floating point.
For the lecturer: The double-precision sum 0.1 + 0.2 is 0.30000000000000004. Try it in any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On paper: write -6 in the four signed encodings; encode 10.5 and 0.15625 in IEEE 754 single precision; decode 0xBF800000. On PRG32: run the ball at three different speeds and determine after how many frames it advances by one pixel, comparing the observation with the value predicted from the resolution; then give it a vertical velocity and make it bounce at the edges by negating the velocity with neg. The results are given in the green box, which should be consulted only after one's own answers have been worked out.
For the lecturer: -6: 1110, 1001, 1010, 0010. 10.5 = 1010.1 = 1.0101 x 2^3: E = 130. 0.15625 = 0.00101 = 1.01 x 2^-3: E = 124. 0xBF800000: S = 1, E = 127, F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06: Number representation (reals)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Number Representation: Real Numbers: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06-Computer_Architecture-Number_Representation_Reals.pptx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06,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code/l06.S, 47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Three-eighths of a pixel, with integers only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.equ SPEED_Q8, 96            </a:t>
            </a:r>
            <a:pPr indent="0" marL="0">
              <a:buNone/>
            </a:pPr>
            <a:r>
              <a:rPr lang="en-US" sz="1400" dirty="0">
                <a:solidFill>
                  <a:srgbClr val="8FB3A0"/>
                </a:solidFill>
                <a:latin typeface="Courier New" pitchFamily="34" charset="0"/>
                <a:ea typeface="Courier New" pitchFamily="34" charset="-122"/>
                <a:cs typeface="Courier New" pitchFamily="34" charset="-120"/>
              </a:rPr>
              <a:t># 96 / 256 = 0.375 pixel per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ball_x_q8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position, in 1/256 of a pixel</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400" dirty="0">
                <a:solidFill>
                  <a:srgbClr val="8FB3A0"/>
                </a:solidFill>
                <a:latin typeface="Courier New" pitchFamily="34" charset="0"/>
                <a:ea typeface="Courier New" pitchFamily="34" charset="-122"/>
                <a:cs typeface="Courier New" pitchFamily="34" charset="-120"/>
              </a:rPr>
              <a:t># add a fraction of a pixel</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ball_x_q8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srai a0, t1, 8           </a:t>
            </a:r>
            <a:pPr indent="0" marL="0">
              <a:buNone/>
            </a:pPr>
            <a:r>
              <a:rPr lang="en-US" sz="1400" dirty="0">
                <a:solidFill>
                  <a:srgbClr val="8FB3A0"/>
                </a:solidFill>
                <a:latin typeface="Courier New" pitchFamily="34" charset="0"/>
                <a:ea typeface="Courier New" pitchFamily="34" charset="-122"/>
                <a:cs typeface="Courier New" pitchFamily="34" charset="-120"/>
              </a:rPr>
              <a:t># x in whole pixels: drop 8 bits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prg32_gfx_rect</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One pixel per frame is too fast, zero is too slow: the ball needs 0.375</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processor of the kit is RV32IMAC: integer instructions only, no floating point</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Trick: store the position multiplied by 256, and divide by 256 only to draw</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This is fixed point. Where does the trick come from, and when is it not enough?</a:t>
            </a:r>
            <a:endParaRPr lang="en-US" sz="1300" dirty="0"/>
          </a:p>
        </p:txBody>
      </p:sp>
      <p:sp>
        <p:nvSpPr>
          <p:cNvPr id="17" name="Shape 15"/>
          <p:cNvSpPr/>
          <p:nvPr/>
        </p:nvSpPr>
        <p:spPr>
          <a:xfrm>
            <a:off x="8944305" y="91440"/>
            <a:ext cx="2698750" cy="274320"/>
          </a:xfrm>
          <a:prstGeom prst="rect">
            <a:avLst/>
          </a:prstGeom>
          <a:solidFill>
            <a:srgbClr val="E0F2FE"/>
          </a:solidFill>
          <a:ln w="12700">
            <a:solidFill>
              <a:srgbClr val="0369A1"/>
            </a:solidFill>
            <a:prstDash val="solid"/>
          </a:ln>
        </p:spPr>
      </p:sp>
      <p:sp>
        <p:nvSpPr>
          <p:cNvPr id="18" name="Shape 16"/>
          <p:cNvSpPr/>
          <p:nvPr/>
        </p:nvSpPr>
        <p:spPr>
          <a:xfrm>
            <a:off x="894430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20" name="Text 17"/>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ball, bit by bit: Q24.8</a:t>
            </a:r>
            <a:endParaRPr lang="en-US" sz="3200" dirty="0"/>
          </a:p>
        </p:txBody>
      </p:sp>
      <p:sp>
        <p:nvSpPr>
          <p:cNvPr id="3" name="Text 1"/>
          <p:cNvSpPr txBox="1"/>
          <p:nvPr/>
        </p:nvSpPr>
        <p:spPr>
          <a:xfrm>
            <a:off x="548640" y="1371600"/>
            <a:ext cx="11094415" cy="457200"/>
          </a:xfrm>
          <a:prstGeom prst="rect">
            <a:avLst/>
          </a:prstGeom>
          <a:noFill/>
          <a:ln/>
        </p:spPr>
        <p:txBody>
          <a:bodyPr wrap="square" lIns="0" tIns="0" rIns="0" bIns="0" rtlCol="0" anchor="t"/>
          <a:lstStyle/>
          <a:p>
            <a:pPr algn="ctr" indent="0" marL="0">
              <a:buNone/>
            </a:pPr>
            <a:r>
              <a:rPr lang="en-US" sz="2200" b="1" dirty="0">
                <a:solidFill>
                  <a:srgbClr val="2E4A62"/>
                </a:solidFill>
                <a:latin typeface="Courier New" pitchFamily="34" charset="0"/>
                <a:ea typeface="Courier New" pitchFamily="34" charset="-122"/>
                <a:cs typeface="Courier New" pitchFamily="34" charset="-120"/>
              </a:rPr>
              <a:t>ball_x_q8 = 0x00002A60 = 10848</a:t>
            </a:r>
            <a:endParaRPr lang="en-US" sz="2200" dirty="0"/>
          </a:p>
        </p:txBody>
      </p:sp>
      <p:sp>
        <p:nvSpPr>
          <p:cNvPr id="4" name="Text 2"/>
          <p:cNvSpPr txBox="1"/>
          <p:nvPr/>
        </p:nvSpPr>
        <p:spPr>
          <a:xfrm>
            <a:off x="1097280" y="2331720"/>
            <a:ext cx="7319271" cy="73152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0000 0000 0000 0000 0010 1010</a:t>
            </a:r>
            <a:endParaRPr lang="en-US" sz="1800" dirty="0"/>
          </a:p>
        </p:txBody>
      </p:sp>
      <p:sp>
        <p:nvSpPr>
          <p:cNvPr id="5" name="Text 3"/>
          <p:cNvSpPr txBox="1"/>
          <p:nvPr/>
        </p:nvSpPr>
        <p:spPr>
          <a:xfrm>
            <a:off x="1097280" y="3118104"/>
            <a:ext cx="7319271"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integer part: 24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0x00002A = 42 pixels</a:t>
            </a:r>
            <a:endParaRPr lang="en-US" sz="1500" dirty="0"/>
          </a:p>
        </p:txBody>
      </p:sp>
      <p:sp>
        <p:nvSpPr>
          <p:cNvPr id="6" name="Text 4"/>
          <p:cNvSpPr txBox="1"/>
          <p:nvPr/>
        </p:nvSpPr>
        <p:spPr>
          <a:xfrm>
            <a:off x="1133856" y="2093976"/>
            <a:ext cx="3659636"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7" name="Text 5"/>
          <p:cNvSpPr txBox="1"/>
          <p:nvPr/>
        </p:nvSpPr>
        <p:spPr>
          <a:xfrm>
            <a:off x="4756916" y="2093976"/>
            <a:ext cx="3623060"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8</a:t>
            </a:r>
            <a:endParaRPr lang="en-US" sz="1050" dirty="0"/>
          </a:p>
        </p:txBody>
      </p:sp>
      <p:sp>
        <p:nvSpPr>
          <p:cNvPr id="8" name="Text 6"/>
          <p:cNvSpPr txBox="1"/>
          <p:nvPr/>
        </p:nvSpPr>
        <p:spPr>
          <a:xfrm>
            <a:off x="8416551" y="2331720"/>
            <a:ext cx="2677864" cy="73152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0110 0000</a:t>
            </a:r>
            <a:endParaRPr lang="en-US" sz="1800" dirty="0"/>
          </a:p>
        </p:txBody>
      </p:sp>
      <p:sp>
        <p:nvSpPr>
          <p:cNvPr id="9" name="Text 7"/>
          <p:cNvSpPr txBox="1"/>
          <p:nvPr/>
        </p:nvSpPr>
        <p:spPr>
          <a:xfrm>
            <a:off x="8416551" y="3118104"/>
            <a:ext cx="2677864"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fraction: 8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0x60 = 96/256 = 0.375</a:t>
            </a:r>
            <a:endParaRPr lang="en-US" sz="1500" dirty="0"/>
          </a:p>
        </p:txBody>
      </p:sp>
      <p:sp>
        <p:nvSpPr>
          <p:cNvPr id="10" name="Text 8"/>
          <p:cNvSpPr txBox="1"/>
          <p:nvPr/>
        </p:nvSpPr>
        <p:spPr>
          <a:xfrm>
            <a:off x="8453127" y="2093976"/>
            <a:ext cx="1338932"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11" name="Text 9"/>
          <p:cNvSpPr txBox="1"/>
          <p:nvPr/>
        </p:nvSpPr>
        <p:spPr>
          <a:xfrm>
            <a:off x="9755483" y="2093976"/>
            <a:ext cx="1302356"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2" name="Text 10"/>
          <p:cNvSpPr txBox="1"/>
          <p:nvPr/>
        </p:nvSpPr>
        <p:spPr>
          <a:xfrm>
            <a:off x="548640" y="3931920"/>
            <a:ext cx="11094415" cy="457200"/>
          </a:xfrm>
          <a:prstGeom prst="rect">
            <a:avLst/>
          </a:prstGeom>
          <a:noFill/>
          <a:ln/>
        </p:spPr>
        <p:txBody>
          <a:bodyPr wrap="square" lIns="0" tIns="0" rIns="0" bIns="0" rtlCol="0" anchor="t"/>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10848 / 256 = 42.375</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94415" cy="914400"/>
        </p:xfrm>
        <a:graphic>
          <a:graphicData uri="http://schemas.openxmlformats.org/drawingml/2006/table">
            <a:tbl>
              <a:tblPr/>
              <a:tblGrid>
                <a:gridCol w="2926080"/>
                <a:gridCol w="4023360"/>
                <a:gridCol w="4144975"/>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 fixed point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add, subtract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as integers: the points are aligned</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add, sub, addi</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to whole pixels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shift right by f, keeping the sign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srai a0, t1, 8</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multiply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multiply, then shift right by 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mul, then srai</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4" name="Shape 11"/>
          <p:cNvSpPr/>
          <p:nvPr/>
        </p:nvSpPr>
        <p:spPr>
          <a:xfrm>
            <a:off x="8944305" y="91440"/>
            <a:ext cx="2698750" cy="274320"/>
          </a:xfrm>
          <a:prstGeom prst="rect">
            <a:avLst/>
          </a:prstGeom>
          <a:solidFill>
            <a:srgbClr val="E0F2FE"/>
          </a:solidFill>
          <a:ln w="12700">
            <a:solidFill>
              <a:srgbClr val="0369A1"/>
            </a:solidFill>
            <a:prstDash val="solid"/>
          </a:ln>
        </p:spPr>
      </p:sp>
      <p:sp>
        <p:nvSpPr>
          <p:cNvPr id="15" name="Shape 12"/>
          <p:cNvSpPr/>
          <p:nvPr/>
        </p:nvSpPr>
        <p:spPr>
          <a:xfrm>
            <a:off x="894430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7" name="Text 13"/>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Floating point is not the real numbers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0.1 has no finite binary expansion: it is stored approximately, like 0.8 in Lecture 05</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Never test two floating-point results for equality: compare their difference with a tolerance</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Addition is not associative: (a + b) + c can differ from a + (b + c)</a:t>
            </a:r>
            <a:endParaRPr lang="en-US" sz="2100" dirty="0"/>
          </a:p>
        </p:txBody>
      </p:sp>
      <p:sp>
        <p:nvSpPr>
          <p:cNvPr id="9" name="Shape 7"/>
          <p:cNvSpPr/>
          <p:nvPr/>
        </p:nvSpPr>
        <p:spPr>
          <a:xfrm>
            <a:off x="548640" y="45127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Adding a very small number to a very large one can leave the large one unchanged</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For money and for game positions, scaled integers are often the right tool</a:t>
            </a:r>
            <a:endParaRPr lang="en-US" sz="2100" dirty="0"/>
          </a:p>
        </p:txBody>
      </p:sp>
      <p:sp>
        <p:nvSpPr>
          <p:cNvPr id="13" name="Shape 11"/>
          <p:cNvSpPr/>
          <p:nvPr/>
        </p:nvSpPr>
        <p:spPr>
          <a:xfrm>
            <a:off x="6766560" y="1417320"/>
            <a:ext cx="4876495" cy="3108960"/>
          </a:xfrm>
          <a:prstGeom prst="roundRect">
            <a:avLst>
              <a:gd name="adj" fmla="val 2353"/>
            </a:avLst>
          </a:prstGeom>
          <a:solidFill>
            <a:srgbClr val="12202B"/>
          </a:solidFill>
          <a:ln w="12700">
            <a:solidFill>
              <a:srgbClr val="12202B"/>
            </a:solidFill>
            <a:prstDash val="solid"/>
          </a:ln>
        </p:spPr>
      </p:sp>
      <p:sp>
        <p:nvSpPr>
          <p:cNvPr id="14" name="Text 12"/>
          <p:cNvSpPr txBox="1"/>
          <p:nvPr/>
        </p:nvSpPr>
        <p:spPr>
          <a:xfrm>
            <a:off x="6995160" y="1600200"/>
            <a:ext cx="4419295" cy="274320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double a = 0.1 + 0.2;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a == 0.3 ?   false</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a = 0.30000000000000004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better:</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fabs(a - 0.3) &lt; 1e-9</a:t>
            </a:r>
            <a:endParaRPr lang="en-US" sz="1600" dirty="0"/>
          </a:p>
        </p:txBody>
      </p:sp>
      <p:sp>
        <p:nvSpPr>
          <p:cNvPr id="15" name="Shape 13"/>
          <p:cNvSpPr/>
          <p:nvPr/>
        </p:nvSpPr>
        <p:spPr>
          <a:xfrm>
            <a:off x="8156397" y="91440"/>
            <a:ext cx="3486658" cy="274320"/>
          </a:xfrm>
          <a:prstGeom prst="rect">
            <a:avLst/>
          </a:prstGeom>
          <a:solidFill>
            <a:srgbClr val="E0F2FE"/>
          </a:solidFill>
          <a:ln w="12700">
            <a:solidFill>
              <a:srgbClr val="0369A1"/>
            </a:solidFill>
            <a:prstDash val="solid"/>
          </a:ln>
        </p:spPr>
      </p:sp>
      <p:sp>
        <p:nvSpPr>
          <p:cNvPr id="16" name="Shape 14"/>
          <p:cNvSpPr/>
          <p:nvPr/>
        </p:nvSpPr>
        <p:spPr>
          <a:xfrm>
            <a:off x="8156397"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8" name="Text 15"/>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l06.S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ARC12 Computer Architecture - Lecture 06: Number Representation: Real Numbers</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l06.S: three-eighths of a pixel per frame, with integers only</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On the screen: a white square that crosses the screen slowly from the left: one</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pixel every 2.67 frames.</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Build: python3 -m prg32 cartridge build l06.S --portable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--entry-prefix l06 --name l06 --out l06.prg32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.option norelax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.equ SPEED_Q8, 96            </a:t>
            </a:r>
            <a:pPr indent="0" marL="0">
              <a:buNone/>
            </a:pPr>
            <a:r>
              <a:rPr lang="en-US" sz="1600" dirty="0">
                <a:solidFill>
                  <a:srgbClr val="8FB3A0"/>
                </a:solidFill>
                <a:latin typeface="Courier New" pitchFamily="34" charset="0"/>
                <a:ea typeface="Courier New" pitchFamily="34" charset="-122"/>
                <a:cs typeface="Courier New" pitchFamily="34" charset="-120"/>
              </a:rPr>
              <a:t># 96 / 256 = 0.375 pixel per frame</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.section .text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.global l06_init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.global l06_update</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.global l06_draw</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l06_init: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ret</a:t>
            </a:r>
            <a:endParaRPr lang="en-US" sz="16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l06.S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l06_update: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ball_update: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ball_x_q8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           </a:t>
            </a:r>
            <a:pPr indent="0" marL="0">
              <a:buNone/>
            </a:pPr>
            <a:r>
              <a:rPr lang="en-US" sz="1800" dirty="0">
                <a:solidFill>
                  <a:srgbClr val="8FB3A0"/>
                </a:solidFill>
                <a:latin typeface="Courier New" pitchFamily="34" charset="0"/>
                <a:ea typeface="Courier New" pitchFamily="34" charset="-122"/>
                <a:cs typeface="Courier New" pitchFamily="34" charset="-120"/>
              </a:rPr>
              <a:t># position, in 1/256 of a pixel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800" dirty="0">
                <a:solidFill>
                  <a:srgbClr val="8FB3A0"/>
                </a:solidFill>
                <a:latin typeface="Courier New" pitchFamily="34" charset="0"/>
                <a:ea typeface="Courier New" pitchFamily="34" charset="-122"/>
                <a:cs typeface="Courier New" pitchFamily="34" charset="-120"/>
              </a:rPr>
              <a:t># add a fraction of a pixel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l06.S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l06_draw: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a0, 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prg32_gfx_clear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ball_x_q8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srai a0, t1, 8           </a:t>
            </a:r>
            <a:pPr indent="0" marL="0">
              <a:buNone/>
            </a:pPr>
            <a:r>
              <a:rPr lang="en-US" sz="1400" dirty="0">
                <a:solidFill>
                  <a:srgbClr val="8FB3A0"/>
                </a:solidFill>
                <a:latin typeface="Courier New" pitchFamily="34" charset="0"/>
                <a:ea typeface="Courier New" pitchFamily="34" charset="-122"/>
                <a:cs typeface="Courier New" pitchFamily="34" charset="-120"/>
              </a:rPr>
              <a:t># x in whole pixels: drop 8 bits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100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a2, 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a3, 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prg32_gfx_rect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ball_x_q8: .word 0           </a:t>
            </a:r>
            <a:pPr indent="0" marL="0">
              <a:buNone/>
            </a:pPr>
            <a:r>
              <a:rPr lang="en-US" sz="1400" dirty="0">
                <a:solidFill>
                  <a:srgbClr val="8FB3A0"/>
                </a:solidFill>
                <a:latin typeface="Courier New" pitchFamily="34" charset="0"/>
                <a:ea typeface="Courier New" pitchFamily="34" charset="-122"/>
                <a:cs typeface="Courier New" pitchFamily="34" charset="-120"/>
              </a:rPr>
              <a:t># Q24.8: 24 bits of pixels, 8 bits of fraction</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white square that crosses the screen slowly from the left: one pixel every 2.67 frames.</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6.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l06 --name l06 --out l06.prg32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l06 --name l06 --architecture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l06 --name l06 --architecture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l06-esp32c6.prg32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l06-esp32c6.prg32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l06;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-6 on four bits in sign and magnitude, one's complement, two's complement and excess-8</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Encode 10.5 and 0.15625 in IEEE 754 single precision; give the result in hexadecimal</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Decode 0xBF800000</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Run the ball with SPEED_Q8 = 96, 16 and 1. After how many frames does it move by one pixel in each case?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Give the ball a vertical speed too, and make it bounce: negate the speed with neg when it reaches an edge</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0x41280000, 0x3E200000 and -1.0. On PRG32: the ball advances one pixel every 2.67, 16 and 256 frames; with the bounce it moves diagonally and stays on screen.</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Number Representation: Real Numbers: the code</dc:title>
  <dc:subject>Lecture 06</dc:subject>
  <dc:creator>Raffaele Montella</dc:creator>
  <cp:lastModifiedBy>Raffaele Montella</cp:lastModifiedBy>
  <cp:revision>1</cp:revision>
  <dcterms:created xsi:type="dcterms:W3CDTF">2026-10-16T23:36:43Z</dcterms:created>
  <dcterms:modified xsi:type="dcterms:W3CDTF">2026-10-16T23:36:43Z</dcterms:modified>
</cp:coreProperties>
</file>