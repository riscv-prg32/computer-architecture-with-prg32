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5b5aa1b-20e0-d797-6cde-19c8c02cc67a}">
          <p14:sldIdLst>
            <p14:sldId id="256"/>
            <p14:sldId id="257"/>
          </p14:sldIdLst>
        </p14:section>
        <p14:section name="Warm-up on the machine" id="{4b8d4f1f-83f4-cf4c-e62f-97b627c21df2}">
          <p14:sldIdLst>
            <p14:sldId id="258"/>
            <p14:sldId id="259"/>
          </p14:sldIdLst>
        </p14:section>
        <p14:section name="Back to the machine" id="{8cf6832a-f3e6-57c5-b9f4-813c0ff575e7}">
          <p14:sldIdLst>
            <p14:sldId id="260"/>
            <p14:sldId id="261"/>
            <p14:sldId id="262"/>
            <p14:sldId id="263"/>
          </p14:sldIdLst>
        </p14:section>
        <p14:section name="The complete program" id="{8115a78a-07b9-f2dc-53ba-ced7f1659536}">
          <p14:sldIdLst>
            <p14:sldId id="264"/>
            <p14:sldId id="265"/>
            <p14:sldId id="266"/>
            <p14:sldId id="267"/>
            <p14:sldId id="268"/>
            <p14:sldId id="269"/>
          </p14:sldIdLst>
        </p14:section>
        <p14:section name="Run it and test it" id="{3b846d66-8b4a-8fd0-5014-e73cfef692b4}">
          <p14:sldIdLst>
            <p14:sldId id="270"/>
            <p14:sldId id="271"/>
            <p14:sldId id="272"/>
            <p14:sldId id="273"/>
            <p14:sldId id="274"/>
          </p14:sldIdLst>
        </p14:section>
        <p14:section name="Exercises" id="{b3810d91-f1e1-2dba-91fa-65241472891f}">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08. Where the lecture deck develops the concepts, this deck contains everything that is written and executed: each listing with its commentary, the complete program of the lecture, the output it is expected to produce, and the procedure for testing it on each of the three hosts. The two decks are meant to be read together: the concepts explain the code, and the code gives the concepts an observable consequence.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bit masks; the von Neumann architecture; analysis and synthesis; Boolean algebra; logic gates. USE NOW: the complete program, the PRG32 tools (used, not studied, in this course). UNDERSTAND LATER: minimisation, Karnaugh maps (Lecture 09). A slide without a badge is context: a story, an example, a question, an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contents of the deck, in the order of the slides. The program of the lecture is a complete source file that can be built and executed as it stands. The recommended approach is to run it first, observe its behaviour, and then return to the individual listings to understand how each part contributes to that behaviour. The program of this lecture is ~/arc12/code/l08.S; tools/tests/cartridges/run.py builds it, runs it on PRG32-QT with scripted input and checks the pixels of the frame.
For the lecturer: Get the code once: git clone https://github.com/riscv-prg32/computer-architecture-with-prg32 ~/arc12. The program of this lecture is ~/arc12/code/l08.S;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warm-up. prg32_input_read returns the state of every button at once in a0, one bit per button. andi t3, t0, 0x01 retains bit 0 and forces every other bit to zero; the result is non-zero exactly when LEFT is pressed, and beqz skips the movement otherwise. The same pattern with 0x02 tests RIGHT. The constant used with andi is called a mask. The final callout poses the question of the lecture: andi is thirty-two AND gates operating side by side, so what, precisely, is an AND?
UNDERSTAND NOW: bit masks.
For the lecturer: From textbook chapter 6 (State and Input) and lab 06-asm-state-and-input. The constant used with andi is called a mask.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value returned for the buttons is a word in which each bit has an assigned meaning: bit 0 is LEFT, bit 1 RIGHT, bit 2 UP, bit 3 DOWN, bits 4 and 5 are A and B, bit 6 is START. Holding RIGHT and A together yields 0x12, that is, 0001 0010. In the picture each lamp displays one bit of this word. Every question that can be asked about the controls, such as "is LEFT pressed but not RIGHT?", is a Boolean expression over these seven variables; this is the decoded representation that Lecture 11 names.
UNDERSTAND NOW: bit masks.
For the lecturer: Button constants from prg32.h (PRG32_BTN_*). Player two uses the same layout in higher 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or, xor and not apply a single gate to every pair of corresponding bits of two registers, in all positions simultaneously. The third column works an eight-bit example: with a equal to 1100 1010 and b equal to 0000 1111, AND gives 0000 1010, OR gives 1100 1111, XOR gives 1100 0101. The last column shows the corresponding C operators. not is a pseudo-instruction: it is xori with -1, since -1 in two's complement consists entirely of ones, and XOR with 1 inverts a bit.
UNDERSTAND NOW: bit masks.
For the lecturer: Each instruction applies the same gate to all thirty-two pairs of bits at once (eight shown). The immediate forms andi, ori and xori take a 12-bit constant; not is the pseudo-instruction xori t0, a, -1, because -1 is all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canonical uses of a mask, each grounded in a law of the algebra. To test a bit, AND with a mask holding 1 in that position, since x AND 1 is x and x AND 0 is 0. To set it, OR with the same mask. To clear it, AND with the complemented mask. To toggle it, XOR with the mask. In the last three cases the remaining bits are unaffected, which is the essential property: a mask acts on the chosen bits and leaves all others untouched.
UNDERSTAND NOW: bit masks.
For the lecturer: The identity and null-element laws are exactly what makes a mask work: a 1 in the mask lets the bit through (AND) or forces it (OR); a 0 does the opposite. ~0x10 is 0xFFFFFFEF, which the assembler encodes as the immediate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Morgan's laws applied in a program. The player is idle when neither LEFT nor RIGHT is pressed. The short version uses a two-bit mask, 0x03: the result is zero only if both bits are zero, that is, NOT (LEFT OR RIGHT). The long version tests each button separately: (NOT LEFT) AND (NOT RIGHT). The second of De Morgan's laws guarantees that the two conditions are identical. Two instructions replace five: simplification is as valuable in software as in hardware, and the algebra is what certifies that the shorter program is correct.
UNDERSTAND NOW: bit masks.
For the lecturer: (x + y)' = x' . y'. Two instructions instead of five: minimisation is not only for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read bit number n of a word when n is held in a register, the word is shifted right by n positions, so that the desired bit reaches position 0, and then masked with 1. Here s0 holds the index of the lamp, srl shifts the button word, andi isolates the bit, and the colour is selected accordingly: grey for off, yellow for on. Shift-and-mask is among the most common idioms of low-level programming. srl is the logical shift of Lecture 05, which inserts zeros on the left.
UNDERSTAND NOW: bit masks.
For the lecturer: Source: textbook lab 06-asm-state-and-input, step1_lamps.S (inside lamp_loop). srl is a logical shift right (Lecture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code/l08.S,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code/l08.S,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code/l08.S,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code/l08.S,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code/l08.S,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code/l08.S,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behaviour of the program, and the input it requires. The outcome should be predicted before the program is run: any discrepancy between prediction and screen is information about one's model of the machine, and is worth explaining before it is corrected. The image was produced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direct route: PRG32-QT on one's own computer, in four steps, each with its command. PRG32-QT presents itself to the tools as a board listening on port 8080, which is why the upload command names the esp32c6. With debug mode enabled, execution can be halted at any instruction and the registers and memory inspected.
USE NOW: the PRG32 tools (used, not studied, in this course).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executes the actual firmware on an emulated chip, so the cartridge must be built for the qemu architecture and staged while QEMU is not running. The firmware starts on its Setup menu, from which Run Cartridge and the slot are selected. Keyboard input is read by the terminal from which QEMU was launched, not by the window that displays the image.
USE NOW: the PRG32 tools (used, not studied, in this course).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physical kit. The firmware is written once, over USB; thereafter cartridges are transferred over Wi-Fi with the same upload command used for PRG32-QT, addressed to the board. This is the only host not exercised by the automatic tests, so observations made on the board are particularly valuable and should be reported.
USE NOW: the PRG32 tools (used, not studied, in this course).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frequent symptoms, their meaning, and the corrective action. The error message should be read in full before anything is changed: in nearly every case it names the cause. When asking for help, the command and the complete message should be reported verbatim.
USE NOW: the PRG32 tools (used, not studied, in this course).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exercises. Prove the second of De Morgan's laws by perfect induction. Simplify an expression, naming the law that justifies each step. Write the mask and the test for "A and B pressed together", noting that testing merely for a non-zero result would express "A or B", a common logical error. Modify the lamps so that they display the complement of the buttons. And convert a letter between upper and lower case with a single instruction, recalling from Lecture 04 that the two codes differ in exactly one bit.
For the lecturer: Exercise 2: x y + x y' z + x' y = y (x + x') + x y' z = y + x y' z = y + x z. Exercise 3: andi t1, t0, 0x30 then compare with 0x30 (li t2, 0x30; beq t1, t2, both): testing for non-zero would mean A OR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08: Boolean algebra (1)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08</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Elements of Boolean Algebra: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08-Computer_Architecture-Boolean_Algebra_1.pptx</a:t>
            </a:r>
            <a:endParaRPr lang="en-US" sz="13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lab2_step1_lamps.png">    </p:cNvPr>
          <p:cNvPicPr>
            <a:picLocks noChangeAspect="1"/>
          </p:cNvPicPr>
          <p:nvPr/>
        </p:nvPicPr>
        <p:blipFill>
          <a:blip r:embed="rId1"/>
          <a:stretch>
            <a:fillRect/>
          </a:stretch>
        </p:blipFill>
        <p:spPr>
          <a:xfrm>
            <a:off x="8716975" y="4280535"/>
            <a:ext cx="2834640" cy="1771650"/>
          </a:xfrm>
          <a:prstGeom prst="rect">
            <a:avLst/>
          </a:prstGeom>
        </p:spPr>
      </p:pic>
      <p:sp>
        <p:nvSpPr>
          <p:cNvPr id="14" name="Shape 11"/>
          <p:cNvSpPr/>
          <p:nvPr/>
        </p:nvSpPr>
        <p:spPr>
          <a:xfrm>
            <a:off x="9690303" y="91440"/>
            <a:ext cx="1952752" cy="274320"/>
          </a:xfrm>
          <a:prstGeom prst="rect">
            <a:avLst/>
          </a:prstGeom>
          <a:solidFill>
            <a:srgbClr val="F3E8FF"/>
          </a:solidFill>
          <a:ln w="12700">
            <a:solidFill>
              <a:srgbClr val="7E22CE"/>
            </a:solidFill>
            <a:prstDash val="dash"/>
          </a:ln>
        </p:spPr>
      </p:sp>
      <p:sp>
        <p:nvSpPr>
          <p:cNvPr id="15" name="Shape 12"/>
          <p:cNvSpPr/>
          <p:nvPr/>
        </p:nvSpPr>
        <p:spPr>
          <a:xfrm>
            <a:off x="9717735" y="128016"/>
            <a:ext cx="45720" cy="45720"/>
          </a:xfrm>
          <a:prstGeom prst="rect">
            <a:avLst/>
          </a:prstGeom>
          <a:solidFill>
            <a:srgbClr val="7E22CE"/>
          </a:solidFill>
          <a:ln w="12700">
            <a:solidFill>
              <a:srgbClr val="7E22CE"/>
            </a:solidFill>
            <a:prstDash val="solid"/>
          </a:ln>
        </p:spPr>
      </p:sp>
      <p:sp>
        <p:nvSpPr>
          <p:cNvPr id="16" name="Shape 13"/>
          <p:cNvSpPr/>
          <p:nvPr/>
        </p:nvSpPr>
        <p:spPr>
          <a:xfrm>
            <a:off x="9717735" y="205740"/>
            <a:ext cx="45720" cy="45720"/>
          </a:xfrm>
          <a:prstGeom prst="rect">
            <a:avLst/>
          </a:prstGeom>
          <a:solidFill>
            <a:srgbClr val="7E22CE"/>
          </a:solidFill>
          <a:ln w="12700">
            <a:solidFill>
              <a:srgbClr val="7E22CE"/>
            </a:solidFill>
            <a:prstDash val="solid"/>
          </a:ln>
        </p:spPr>
      </p:sp>
      <p:sp>
        <p:nvSpPr>
          <p:cNvPr id="17" name="Shape 14"/>
          <p:cNvSpPr/>
          <p:nvPr/>
        </p:nvSpPr>
        <p:spPr>
          <a:xfrm>
            <a:off x="9717735" y="283464"/>
            <a:ext cx="45720" cy="45720"/>
          </a:xfrm>
          <a:prstGeom prst="rect">
            <a:avLst/>
          </a:prstGeom>
          <a:solidFill>
            <a:srgbClr val="7E22CE"/>
          </a:solidFill>
          <a:ln w="12700">
            <a:solidFill>
              <a:srgbClr val="7E22CE"/>
            </a:solidFill>
            <a:prstDash val="solid"/>
          </a:ln>
        </p:spPr>
      </p:sp>
      <p:pic>
        <p:nvPicPr>
          <p:cNvPr id="18"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19" name="Text 15"/>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0" name="Shape 16"/>
          <p:cNvSpPr/>
          <p:nvPr/>
        </p:nvSpPr>
        <p:spPr>
          <a:xfrm>
            <a:off x="8407349" y="91440"/>
            <a:ext cx="1173226" cy="274320"/>
          </a:xfrm>
          <a:prstGeom prst="rect">
            <a:avLst/>
          </a:prstGeom>
          <a:solidFill>
            <a:srgbClr val="FEF3C7"/>
          </a:solidFill>
          <a:ln w="12700">
            <a:solidFill>
              <a:srgbClr val="B45309"/>
            </a:solidFill>
            <a:prstDash val="solid"/>
          </a:ln>
        </p:spPr>
      </p:sp>
      <p:sp>
        <p:nvSpPr>
          <p:cNvPr id="21" name="Shape 17"/>
          <p:cNvSpPr/>
          <p:nvPr/>
        </p:nvSpPr>
        <p:spPr>
          <a:xfrm>
            <a:off x="8407349" y="91440"/>
            <a:ext cx="27432" cy="274320"/>
          </a:xfrm>
          <a:prstGeom prst="rect">
            <a:avLst/>
          </a:prstGeom>
          <a:solidFill>
            <a:srgbClr val="B45309"/>
          </a:solidFill>
          <a:ln w="12700">
            <a:solidFill>
              <a:srgbClr val="B45309"/>
            </a:solidFill>
            <a:prstDash val="solid"/>
          </a:ln>
        </p:spPr>
      </p:sp>
      <p:sp>
        <p:nvSpPr>
          <p:cNvPr id="22" name="Shape 18"/>
          <p:cNvSpPr/>
          <p:nvPr/>
        </p:nvSpPr>
        <p:spPr>
          <a:xfrm>
            <a:off x="8462213" y="91440"/>
            <a:ext cx="27432" cy="274320"/>
          </a:xfrm>
          <a:prstGeom prst="rect">
            <a:avLst/>
          </a:prstGeom>
          <a:solidFill>
            <a:srgbClr val="B45309"/>
          </a:solidFill>
          <a:ln w="12700">
            <a:solidFill>
              <a:srgbClr val="B45309"/>
            </a:solidFill>
            <a:prstDash val="solid"/>
          </a:ln>
        </p:spPr>
      </p:sp>
      <p:pic>
        <p:nvPicPr>
          <p:cNvPr id="23"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4" name="Text 19"/>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5" name="Shape 20"/>
          <p:cNvSpPr/>
          <p:nvPr/>
        </p:nvSpPr>
        <p:spPr>
          <a:xfrm>
            <a:off x="6518097" y="91440"/>
            <a:ext cx="1779524" cy="274320"/>
          </a:xfrm>
          <a:prstGeom prst="rect">
            <a:avLst/>
          </a:prstGeom>
          <a:solidFill>
            <a:srgbClr val="E0F2FE"/>
          </a:solidFill>
          <a:ln w="12700">
            <a:solidFill>
              <a:srgbClr val="0369A1"/>
            </a:solidFill>
            <a:prstDash val="solid"/>
          </a:ln>
        </p:spPr>
      </p:sp>
      <p:sp>
        <p:nvSpPr>
          <p:cNvPr id="26" name="Shape 21"/>
          <p:cNvSpPr/>
          <p:nvPr/>
        </p:nvSpPr>
        <p:spPr>
          <a:xfrm>
            <a:off x="6518097" y="91440"/>
            <a:ext cx="73152" cy="274320"/>
          </a:xfrm>
          <a:prstGeom prst="rect">
            <a:avLst/>
          </a:prstGeom>
          <a:solidFill>
            <a:srgbClr val="0369A1"/>
          </a:solidFill>
          <a:ln w="12700">
            <a:solidFill>
              <a:srgbClr val="0369A1"/>
            </a:solidFill>
            <a:prstDash val="solid"/>
          </a:ln>
        </p:spPr>
      </p:sp>
      <p:pic>
        <p:nvPicPr>
          <p:cNvPr id="27"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8" name="Text 22"/>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3 listings of Lecture 08, one per slide: read the code, then the numbered remarks beside it</a:t>
            </a:r>
            <a:endParaRPr lang="en-US" sz="2200" dirty="0"/>
          </a:p>
        </p:txBody>
      </p:sp>
      <p:sp>
        <p:nvSpPr>
          <p:cNvPr id="5" name="Text 3"/>
          <p:cNvSpPr txBox="1"/>
          <p:nvPr/>
        </p:nvSpPr>
        <p:spPr>
          <a:xfrm>
            <a:off x="548640" y="27574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7391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code/l08.S, 107 lines, printed in full</a:t>
            </a:r>
            <a:endParaRPr lang="en-US" sz="2200" dirty="0"/>
          </a:p>
        </p:txBody>
      </p:sp>
      <p:sp>
        <p:nvSpPr>
          <p:cNvPr id="7" name="Text 5"/>
          <p:cNvSpPr txBox="1"/>
          <p:nvPr/>
        </p:nvSpPr>
        <p:spPr>
          <a:xfrm>
            <a:off x="548640" y="36535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352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5496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3136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445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2747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Is LEFT pressed?</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    call prg32_input_read    </a:t>
            </a:r>
            <a:pPr indent="0" marL="0">
              <a:buNone/>
            </a:pPr>
            <a:r>
              <a:rPr lang="en-US" sz="1350" dirty="0">
                <a:solidFill>
                  <a:srgbClr val="8FB3A0"/>
                </a:solidFill>
                <a:latin typeface="Courier New" pitchFamily="34" charset="0"/>
                <a:ea typeface="Courier New" pitchFamily="34" charset="-122"/>
                <a:cs typeface="Courier New" pitchFamily="34" charset="-120"/>
              </a:rPr>
              <a:t># a0 = all the buttons, one bit each</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mv   t0, a0              </a:t>
            </a:r>
            <a:pPr indent="0" marL="0">
              <a:buNone/>
            </a:pPr>
            <a:r>
              <a:rPr lang="en-US" sz="1350" dirty="0">
                <a:solidFill>
                  <a:srgbClr val="8FB3A0"/>
                </a:solidFill>
                <a:latin typeface="Courier New" pitchFamily="34" charset="0"/>
                <a:ea typeface="Courier New" pitchFamily="34" charset="-122"/>
                <a:cs typeface="Courier New" pitchFamily="34" charset="-120"/>
              </a:rPr>
              <a:t># keep our own copy</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andi t3, t0, 0x01        </a:t>
            </a:r>
            <a:pPr indent="0" marL="0">
              <a:buNone/>
            </a:pPr>
            <a:r>
              <a:rPr lang="en-US" sz="1350" dirty="0">
                <a:solidFill>
                  <a:srgbClr val="8FB3A0"/>
                </a:solidFill>
                <a:latin typeface="Courier New" pitchFamily="34" charset="0"/>
                <a:ea typeface="Courier New" pitchFamily="34" charset="-122"/>
                <a:cs typeface="Courier New" pitchFamily="34" charset="-120"/>
              </a:rPr>
              <a:t># keep only bit 0: LEFT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beqz t3, 1f              </a:t>
            </a:r>
            <a:pPr indent="0" marL="0">
              <a:buNone/>
            </a:pPr>
            <a:r>
              <a:rPr lang="en-US" sz="1350" dirty="0">
                <a:solidFill>
                  <a:srgbClr val="8FB3A0"/>
                </a:solidFill>
                <a:latin typeface="Courier New" pitchFamily="34" charset="0"/>
                <a:ea typeface="Courier New" pitchFamily="34" charset="-122"/>
                <a:cs typeface="Courier New" pitchFamily="34" charset="-120"/>
              </a:rPr>
              <a:t># zero: LEFT is not pressed</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t2, t2, -2          </a:t>
            </a:r>
            <a:pPr indent="0" marL="0">
              <a:buNone/>
            </a:pPr>
            <a:r>
              <a:rPr lang="en-US" sz="1350" dirty="0">
                <a:solidFill>
                  <a:srgbClr val="8FB3A0"/>
                </a:solidFill>
                <a:latin typeface="Courier New" pitchFamily="34" charset="0"/>
                <a:ea typeface="Courier New" pitchFamily="34" charset="-122"/>
                <a:cs typeface="Courier New" pitchFamily="34" charset="-120"/>
              </a:rPr>
              <a:t># move left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andi t3, t0, 0x02        </a:t>
            </a:r>
            <a:pPr indent="0" marL="0">
              <a:buNone/>
            </a:pPr>
            <a:r>
              <a:rPr lang="en-US" sz="1350" dirty="0">
                <a:solidFill>
                  <a:srgbClr val="8FB3A0"/>
                </a:solidFill>
                <a:latin typeface="Courier New" pitchFamily="34" charset="0"/>
                <a:ea typeface="Courier New" pitchFamily="34" charset="-122"/>
                <a:cs typeface="Courier New" pitchFamily="34" charset="-120"/>
              </a:rPr>
              <a:t># keep only bit 1: RIGHT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beqz t3, 2f</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t2, t2, 2           </a:t>
            </a:r>
            <a:pPr indent="0" marL="0">
              <a:buNone/>
            </a:pPr>
            <a:r>
              <a:rPr lang="en-US" sz="1350" dirty="0">
                <a:solidFill>
                  <a:srgbClr val="8FB3A0"/>
                </a:solidFill>
                <a:latin typeface="Courier New" pitchFamily="34" charset="0"/>
                <a:ea typeface="Courier New" pitchFamily="34" charset="-122"/>
                <a:cs typeface="Courier New" pitchFamily="34" charset="-120"/>
              </a:rPr>
              <a:t># move right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2:</a:t>
            </a:r>
            <a:endParaRPr lang="en-US" sz="135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prg32_input_read returns all the buttons at once: one bit per button</a:t>
            </a:r>
            <a:endParaRPr lang="en-US" sz="14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andi with 0x01 keeps bit 0 and forces every other bit to zero</a:t>
            </a:r>
            <a:endParaRPr lang="en-US" sz="14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The result is non-zero exactly when LEFT is pressed</a:t>
            </a:r>
            <a:endParaRPr lang="en-US" sz="14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andi is thirty-two AND gates working side by side: what is an AND, exactly?</a:t>
            </a:r>
            <a:endParaRPr lang="en-US" sz="1400" dirty="0"/>
          </a:p>
        </p:txBody>
      </p:sp>
      <p:sp>
        <p:nvSpPr>
          <p:cNvPr id="17" name="Shape 15"/>
          <p:cNvSpPr/>
          <p:nvPr/>
        </p:nvSpPr>
        <p:spPr>
          <a:xfrm>
            <a:off x="9075623" y="91440"/>
            <a:ext cx="2567432" cy="274320"/>
          </a:xfrm>
          <a:prstGeom prst="rect">
            <a:avLst/>
          </a:prstGeom>
          <a:solidFill>
            <a:srgbClr val="E0F2FE"/>
          </a:solidFill>
          <a:ln w="12700">
            <a:solidFill>
              <a:srgbClr val="0369A1"/>
            </a:solidFill>
            <a:prstDash val="solid"/>
          </a:ln>
        </p:spPr>
      </p:sp>
      <p:sp>
        <p:nvSpPr>
          <p:cNvPr id="18" name="Shape 16"/>
          <p:cNvSpPr/>
          <p:nvPr/>
        </p:nvSpPr>
        <p:spPr>
          <a:xfrm>
            <a:off x="9075623"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9203639" y="128016"/>
            <a:ext cx="201168" cy="201168"/>
          </a:xfrm>
          <a:prstGeom prst="rect">
            <a:avLst/>
          </a:prstGeom>
        </p:spPr>
      </p:pic>
      <p:sp>
        <p:nvSpPr>
          <p:cNvPr id="20" name="Text 17"/>
          <p:cNvSpPr txBox="1"/>
          <p:nvPr/>
        </p:nvSpPr>
        <p:spPr>
          <a:xfrm>
            <a:off x="9459671" y="91440"/>
            <a:ext cx="214680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bit masks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One bit per button</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LEFT 0x01, RIGHT 0x02, UP 0x04, DOWN 0x08: bits 0 to 3</a:t>
            </a:r>
            <a:endParaRPr lang="en-US" sz="2200" dirty="0"/>
          </a:p>
        </p:txBody>
      </p:sp>
      <p:sp>
        <p:nvSpPr>
          <p:cNvPr id="5" name="Shape 3"/>
          <p:cNvSpPr/>
          <p:nvPr/>
        </p:nvSpPr>
        <p:spPr>
          <a:xfrm>
            <a:off x="548640" y="254203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435606"/>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0x10, B 0x20, START / SELECT 0x40: bits 4 to 6</a:t>
            </a:r>
            <a:endParaRPr lang="en-US" sz="2200" dirty="0"/>
          </a:p>
        </p:txBody>
      </p:sp>
      <p:sp>
        <p:nvSpPr>
          <p:cNvPr id="7" name="Shape 5"/>
          <p:cNvSpPr/>
          <p:nvPr/>
        </p:nvSpPr>
        <p:spPr>
          <a:xfrm>
            <a:off x="548640" y="356031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453892"/>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Holding RIGHT and A together gives 0x12 = 0001 0010</a:t>
            </a:r>
            <a:endParaRPr lang="en-US" sz="2200" dirty="0"/>
          </a:p>
        </p:txBody>
      </p:sp>
      <p:sp>
        <p:nvSpPr>
          <p:cNvPr id="9" name="Shape 7"/>
          <p:cNvSpPr/>
          <p:nvPr/>
        </p:nvSpPr>
        <p:spPr>
          <a:xfrm>
            <a:off x="548640" y="457860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472178"/>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Each lamp of the lab is one bit of the mask: lit when the bit is 1</a:t>
            </a:r>
            <a:endParaRPr lang="en-US" sz="2200" dirty="0"/>
          </a:p>
        </p:txBody>
      </p:sp>
      <p:sp>
        <p:nvSpPr>
          <p:cNvPr id="11" name="Shape 9"/>
          <p:cNvSpPr/>
          <p:nvPr/>
        </p:nvSpPr>
        <p:spPr>
          <a:xfrm>
            <a:off x="548640" y="55968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49046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Every question about the joystick is a Boolean expression over these variables</a:t>
            </a:r>
            <a:endParaRPr lang="en-US" sz="2200" dirty="0"/>
          </a:p>
        </p:txBody>
      </p:sp>
      <p:pic>
        <p:nvPicPr>
          <p:cNvPr id="13" name="Image 0" descr="/Users/raffaelemontella/devel/riscv-prg32/computer-architecture-with-prg32/tools/assets/lab2_step1_lamps.png">    </p:cNvPr>
          <p:cNvPicPr>
            <a:picLocks noChangeAspect="1"/>
          </p:cNvPicPr>
          <p:nvPr/>
        </p:nvPicPr>
        <p:blipFill>
          <a:blip r:embed="rId1"/>
          <a:stretch>
            <a:fillRect/>
          </a:stretch>
        </p:blipFill>
        <p:spPr>
          <a:xfrm>
            <a:off x="7863840" y="2385155"/>
            <a:ext cx="3779215" cy="2362010"/>
          </a:xfrm>
          <a:prstGeom prst="rect">
            <a:avLst/>
          </a:prstGeom>
        </p:spPr>
      </p:pic>
      <p:sp>
        <p:nvSpPr>
          <p:cNvPr id="14" name="Text 11"/>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Lab 06, step 1: seven lamps, one per button bit</a:t>
            </a:r>
            <a:endParaRPr lang="en-US" sz="1200" dirty="0"/>
          </a:p>
        </p:txBody>
      </p:sp>
      <p:sp>
        <p:nvSpPr>
          <p:cNvPr id="15" name="Shape 12"/>
          <p:cNvSpPr/>
          <p:nvPr/>
        </p:nvSpPr>
        <p:spPr>
          <a:xfrm>
            <a:off x="9075623" y="91440"/>
            <a:ext cx="2567432" cy="274320"/>
          </a:xfrm>
          <a:prstGeom prst="rect">
            <a:avLst/>
          </a:prstGeom>
          <a:solidFill>
            <a:srgbClr val="E0F2FE"/>
          </a:solidFill>
          <a:ln w="12700">
            <a:solidFill>
              <a:srgbClr val="0369A1"/>
            </a:solidFill>
            <a:prstDash val="solid"/>
          </a:ln>
        </p:spPr>
      </p:sp>
      <p:sp>
        <p:nvSpPr>
          <p:cNvPr id="16" name="Shape 13"/>
          <p:cNvSpPr/>
          <p:nvPr/>
        </p:nvSpPr>
        <p:spPr>
          <a:xfrm>
            <a:off x="9075623" y="91440"/>
            <a:ext cx="73152" cy="274320"/>
          </a:xfrm>
          <a:prstGeom prst="rect">
            <a:avLst/>
          </a:prstGeom>
          <a:solidFill>
            <a:srgbClr val="0369A1"/>
          </a:solidFill>
          <a:ln w="12700">
            <a:solidFill>
              <a:srgbClr val="0369A1"/>
            </a:solidFill>
            <a:prstDash val="solid"/>
          </a:ln>
        </p:spPr>
      </p:sp>
      <p:pic>
        <p:nvPicPr>
          <p:cNvPr id="17" name="Image 1" descr="preencoded.png">    </p:cNvPr>
          <p:cNvPicPr>
            <a:picLocks noChangeAspect="1"/>
          </p:cNvPicPr>
          <p:nvPr/>
        </p:nvPicPr>
        <p:blipFill>
          <a:blip r:embed="rId2"/>
          <a:stretch>
            <a:fillRect/>
          </a:stretch>
        </p:blipFill>
        <p:spPr>
          <a:xfrm>
            <a:off x="9203639" y="128016"/>
            <a:ext cx="201168" cy="201168"/>
          </a:xfrm>
          <a:prstGeom prst="rect">
            <a:avLst/>
          </a:prstGeom>
        </p:spPr>
      </p:pic>
      <p:sp>
        <p:nvSpPr>
          <p:cNvPr id="18" name="Text 14"/>
          <p:cNvSpPr txBox="1"/>
          <p:nvPr/>
        </p:nvSpPr>
        <p:spPr>
          <a:xfrm>
            <a:off x="9459671" y="91440"/>
            <a:ext cx="214680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bit masks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Bitwise instructions: the algebra on a whole register</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728135"/>
                <a:gridCol w="2728135"/>
                <a:gridCol w="3819389"/>
                <a:gridCol w="1818757"/>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Instruction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Operation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a = 1100 1010, b = 0000 1111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In C</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and  t0, a, b</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bit by bit AND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0000 1010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 &amp; b</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or   t0, a, b</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bit by bit OR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1100 1111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 | b</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xor  t0, a, b</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bit by bit XOR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1100 0101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 ^ b</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not  t0, a</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complement every bit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0011 0101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300" i="1" dirty="0">
                <a:solidFill>
                  <a:srgbClr val="5B6B78"/>
                </a:solidFill>
                <a:latin typeface="Calibri" pitchFamily="34" charset="0"/>
                <a:ea typeface="Calibri" pitchFamily="34" charset="-122"/>
                <a:cs typeface="Calibri" pitchFamily="34" charset="-120"/>
              </a:rPr>
              <a:t>Each instruction applies one gate to every bit position at once. not is a pseudo-instruction: xori with -1, that is, with all ones.</a:t>
            </a:r>
            <a:endParaRPr lang="en-US" sz="1300" dirty="0"/>
          </a:p>
        </p:txBody>
      </p:sp>
      <p:sp>
        <p:nvSpPr>
          <p:cNvPr id="5" name="Shape 2"/>
          <p:cNvSpPr/>
          <p:nvPr/>
        </p:nvSpPr>
        <p:spPr>
          <a:xfrm>
            <a:off x="9075623" y="91440"/>
            <a:ext cx="2567432" cy="274320"/>
          </a:xfrm>
          <a:prstGeom prst="rect">
            <a:avLst/>
          </a:prstGeom>
          <a:solidFill>
            <a:srgbClr val="E0F2FE"/>
          </a:solidFill>
          <a:ln w="12700">
            <a:solidFill>
              <a:srgbClr val="0369A1"/>
            </a:solidFill>
            <a:prstDash val="solid"/>
          </a:ln>
        </p:spPr>
      </p:sp>
      <p:sp>
        <p:nvSpPr>
          <p:cNvPr id="6" name="Shape 3"/>
          <p:cNvSpPr/>
          <p:nvPr/>
        </p:nvSpPr>
        <p:spPr>
          <a:xfrm>
            <a:off x="9075623" y="91440"/>
            <a:ext cx="73152" cy="274320"/>
          </a:xfrm>
          <a:prstGeom prst="rect">
            <a:avLst/>
          </a:prstGeom>
          <a:solidFill>
            <a:srgbClr val="0369A1"/>
          </a:solidFill>
          <a:ln w="12700">
            <a:solidFill>
              <a:srgbClr val="0369A1"/>
            </a:solidFill>
            <a:prstDash val="solid"/>
          </a:ln>
        </p:spPr>
      </p:sp>
      <p:pic>
        <p:nvPicPr>
          <p:cNvPr id="7" name="Image 0" descr="preencoded.png">    </p:cNvPr>
          <p:cNvPicPr>
            <a:picLocks noChangeAspect="1"/>
          </p:cNvPicPr>
          <p:nvPr/>
        </p:nvPicPr>
        <p:blipFill>
          <a:blip r:embed="rId1"/>
          <a:stretch>
            <a:fillRect/>
          </a:stretch>
        </p:blipFill>
        <p:spPr>
          <a:xfrm>
            <a:off x="9203639" y="128016"/>
            <a:ext cx="201168" cy="201168"/>
          </a:xfrm>
          <a:prstGeom prst="rect">
            <a:avLst/>
          </a:prstGeom>
        </p:spPr>
      </p:pic>
      <p:sp>
        <p:nvSpPr>
          <p:cNvPr id="8" name="Text 4"/>
          <p:cNvSpPr txBox="1"/>
          <p:nvPr/>
        </p:nvSpPr>
        <p:spPr>
          <a:xfrm>
            <a:off x="9459671" y="91440"/>
            <a:ext cx="214680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bit masks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Four things to do with a mask</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080203"/>
                <a:gridCol w="3120304"/>
                <a:gridCol w="3293655"/>
                <a:gridCol w="2600254"/>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Goal</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Law used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Instruction (bit 4 = button 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Effect on the other bits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Test a bit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x . 1 = x,  x . 0 = 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andi t1, t0, 0x10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forced to 0 in the result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Set a bit to 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x + 1 = 1,  x + 0 = x</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ori  t0, t0, 0x10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unchanged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Clear a bit to 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x . 0 = 0,  x . 1 = x</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andi t0, t0, ~0x10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unchanged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Toggle a bit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x xor 1 = x',  x xor 0 = x</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xori t0, t0, 0x10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unchanged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Shape 1"/>
          <p:cNvSpPr/>
          <p:nvPr/>
        </p:nvSpPr>
        <p:spPr>
          <a:xfrm>
            <a:off x="9075623" y="91440"/>
            <a:ext cx="2567432" cy="274320"/>
          </a:xfrm>
          <a:prstGeom prst="rect">
            <a:avLst/>
          </a:prstGeom>
          <a:solidFill>
            <a:srgbClr val="E0F2FE"/>
          </a:solidFill>
          <a:ln w="12700">
            <a:solidFill>
              <a:srgbClr val="0369A1"/>
            </a:solidFill>
            <a:prstDash val="solid"/>
          </a:ln>
        </p:spPr>
      </p:sp>
      <p:sp>
        <p:nvSpPr>
          <p:cNvPr id="5" name="Shape 2"/>
          <p:cNvSpPr/>
          <p:nvPr/>
        </p:nvSpPr>
        <p:spPr>
          <a:xfrm>
            <a:off x="9075623"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9203639" y="128016"/>
            <a:ext cx="201168" cy="201168"/>
          </a:xfrm>
          <a:prstGeom prst="rect">
            <a:avLst/>
          </a:prstGeom>
        </p:spPr>
      </p:pic>
      <p:sp>
        <p:nvSpPr>
          <p:cNvPr id="7" name="Text 3"/>
          <p:cNvSpPr txBox="1"/>
          <p:nvPr/>
        </p:nvSpPr>
        <p:spPr>
          <a:xfrm>
            <a:off x="9459671" y="91440"/>
            <a:ext cx="214680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bit masks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De Morgan at the joystick</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350" dirty="0">
                <a:solidFill>
                  <a:srgbClr val="8FB3A0"/>
                </a:solidFill>
                <a:latin typeface="Courier New" pitchFamily="34" charset="0"/>
                <a:ea typeface="Courier New" pitchFamily="34" charset="-122"/>
                <a:cs typeface="Courier New" pitchFamily="34" charset="-120"/>
              </a:rPr>
              <a:t># "idle" when NEITHER LEFT NOR RIGHT is pressed</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andi t3, t0, 0x03        </a:t>
            </a:r>
            <a:pPr indent="0" marL="0">
              <a:buNone/>
            </a:pPr>
            <a:r>
              <a:rPr lang="en-US" sz="1350" dirty="0">
                <a:solidFill>
                  <a:srgbClr val="8FB3A0"/>
                </a:solidFill>
                <a:latin typeface="Courier New" pitchFamily="34" charset="0"/>
                <a:ea typeface="Courier New" pitchFamily="34" charset="-122"/>
                <a:cs typeface="Courier New" pitchFamily="34" charset="-120"/>
              </a:rPr>
              <a:t># 0x03 = LEFT | RIGHT: keep both bits</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beqz t3, idle            </a:t>
            </a:r>
            <a:pPr indent="0" marL="0">
              <a:buNone/>
            </a:pPr>
            <a:r>
              <a:rPr lang="en-US" sz="1350" dirty="0">
                <a:solidFill>
                  <a:srgbClr val="8FB3A0"/>
                </a:solidFill>
                <a:latin typeface="Courier New" pitchFamily="34" charset="0"/>
                <a:ea typeface="Courier New" pitchFamily="34" charset="-122"/>
                <a:cs typeface="Courier New" pitchFamily="34" charset="-120"/>
              </a:rPr>
              <a:t># all zero: (LEFT + RIGHT)' is true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the long way: test each button, the result is the same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andi t3, t0, 0x01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bnez t3, moving          </a:t>
            </a:r>
            <a:pPr indent="0" marL="0">
              <a:buNone/>
            </a:pPr>
            <a:r>
              <a:rPr lang="en-US" sz="1350" dirty="0">
                <a:solidFill>
                  <a:srgbClr val="8FB3A0"/>
                </a:solidFill>
                <a:latin typeface="Courier New" pitchFamily="34" charset="0"/>
                <a:ea typeface="Courier New" pitchFamily="34" charset="-122"/>
                <a:cs typeface="Courier New" pitchFamily="34" charset="-120"/>
              </a:rPr>
              <a:t># LEFT pressed: not idle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andi t3, t0, 0x02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bnez t3, moving          </a:t>
            </a:r>
            <a:pPr indent="0" marL="0">
              <a:buNone/>
            </a:pPr>
            <a:r>
              <a:rPr lang="en-US" sz="1350" dirty="0">
                <a:solidFill>
                  <a:srgbClr val="8FB3A0"/>
                </a:solidFill>
                <a:latin typeface="Courier New" pitchFamily="34" charset="0"/>
                <a:ea typeface="Courier New" pitchFamily="34" charset="-122"/>
                <a:cs typeface="Courier New" pitchFamily="34" charset="-120"/>
              </a:rPr>
              <a:t># RIGHT pressed: not idle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j    idle                </a:t>
            </a:r>
            <a:pPr indent="0" marL="0">
              <a:buNone/>
            </a:pPr>
            <a:r>
              <a:rPr lang="en-US" sz="1350" dirty="0">
                <a:solidFill>
                  <a:srgbClr val="8FB3A0"/>
                </a:solidFill>
                <a:latin typeface="Courier New" pitchFamily="34" charset="0"/>
                <a:ea typeface="Courier New" pitchFamily="34" charset="-122"/>
                <a:cs typeface="Courier New" pitchFamily="34" charset="-120"/>
              </a:rPr>
              <a:t># LEFT' . RIGHT'</a:t>
            </a:r>
            <a:endParaRPr lang="en-US" sz="135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A mask with two bits tests two buttons in one instruction</a:t>
            </a:r>
            <a:endParaRPr lang="en-US" sz="13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The result is zero only if both bits are zero: NOT (LEFT OR RIGHT)</a:t>
            </a:r>
            <a:endParaRPr lang="en-US" sz="13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By De Morgan this equals (NOT LEFT) AND (NOT RIGHT): the long way below</a:t>
            </a:r>
            <a:endParaRPr lang="en-US" sz="13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The algebra tells you that the two programs are equivalent, and which is cheaper</a:t>
            </a:r>
            <a:endParaRPr lang="en-US" sz="1300" dirty="0"/>
          </a:p>
        </p:txBody>
      </p:sp>
      <p:sp>
        <p:nvSpPr>
          <p:cNvPr id="17" name="Shape 15"/>
          <p:cNvSpPr/>
          <p:nvPr/>
        </p:nvSpPr>
        <p:spPr>
          <a:xfrm>
            <a:off x="9075623" y="91440"/>
            <a:ext cx="2567432" cy="274320"/>
          </a:xfrm>
          <a:prstGeom prst="rect">
            <a:avLst/>
          </a:prstGeom>
          <a:solidFill>
            <a:srgbClr val="E0F2FE"/>
          </a:solidFill>
          <a:ln w="12700">
            <a:solidFill>
              <a:srgbClr val="0369A1"/>
            </a:solidFill>
            <a:prstDash val="solid"/>
          </a:ln>
        </p:spPr>
      </p:sp>
      <p:sp>
        <p:nvSpPr>
          <p:cNvPr id="18" name="Shape 16"/>
          <p:cNvSpPr/>
          <p:nvPr/>
        </p:nvSpPr>
        <p:spPr>
          <a:xfrm>
            <a:off x="9075623"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9203639" y="128016"/>
            <a:ext cx="201168" cy="201168"/>
          </a:xfrm>
          <a:prstGeom prst="rect">
            <a:avLst/>
          </a:prstGeom>
        </p:spPr>
      </p:pic>
      <p:sp>
        <p:nvSpPr>
          <p:cNvPr id="20" name="Text 17"/>
          <p:cNvSpPr txBox="1"/>
          <p:nvPr/>
        </p:nvSpPr>
        <p:spPr>
          <a:xfrm>
            <a:off x="9459671" y="91440"/>
            <a:ext cx="214680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bit masks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One lamp per bit: shifting and masking</a:t>
            </a:r>
            <a:endParaRPr lang="en-US" sz="3200" dirty="0"/>
          </a:p>
        </p:txBody>
      </p:sp>
      <p:sp>
        <p:nvSpPr>
          <p:cNvPr id="3" name="Shape 1"/>
          <p:cNvSpPr/>
          <p:nvPr/>
        </p:nvSpPr>
        <p:spPr>
          <a:xfrm>
            <a:off x="548640" y="1417320"/>
            <a:ext cx="667512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217920" cy="4389120"/>
          </a:xfrm>
          <a:prstGeom prst="rect">
            <a:avLst/>
          </a:prstGeom>
          <a:noFill/>
          <a:ln/>
        </p:spPr>
        <p:txBody>
          <a:bodyPr wrap="square" lIns="0" tIns="0" rIns="0" bIns="0" rtlCol="0" anchor="t"/>
          <a:lstStyle/>
          <a:p>
            <a:pPr indent="0" marL="0">
              <a:buNone/>
            </a:pPr>
            <a:r>
              <a:rPr lang="en-US" sz="1250" dirty="0">
                <a:solidFill>
                  <a:srgbClr val="E6EDF2"/>
                </a:solidFill>
                <a:latin typeface="Courier New" pitchFamily="34" charset="0"/>
                <a:ea typeface="Courier New" pitchFamily="34" charset="-122"/>
                <a:cs typeface="Courier New" pitchFamily="34" charset="-120"/>
              </a:rPr>
              <a:t>    </a:t>
            </a:r>
            <a:pPr indent="0" marL="0">
              <a:buNone/>
            </a:pPr>
            <a:r>
              <a:rPr lang="en-US" sz="1250" dirty="0">
                <a:solidFill>
                  <a:srgbClr val="8FB3A0"/>
                </a:solidFill>
                <a:latin typeface="Courier New" pitchFamily="34" charset="0"/>
                <a:ea typeface="Courier New" pitchFamily="34" charset="-122"/>
                <a:cs typeface="Courier New" pitchFamily="34" charset="-120"/>
              </a:rPr>
              <a:t># s0 = bit number, 0 to 6</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la   t0, buttons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lw   t1, 0(t0)           </a:t>
            </a:r>
            <a:pPr indent="0" marL="0">
              <a:buNone/>
            </a:pPr>
            <a:r>
              <a:rPr lang="en-US" sz="1250" dirty="0">
                <a:solidFill>
                  <a:srgbClr val="8FB3A0"/>
                </a:solidFill>
                <a:latin typeface="Courier New" pitchFamily="34" charset="0"/>
                <a:ea typeface="Courier New" pitchFamily="34" charset="-122"/>
                <a:cs typeface="Courier New" pitchFamily="34" charset="-120"/>
              </a:rPr>
              <a:t># t1 = the button mask</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srl  t1, t1, s0          </a:t>
            </a:r>
            <a:pPr indent="0" marL="0">
              <a:buNone/>
            </a:pPr>
            <a:r>
              <a:rPr lang="en-US" sz="1250" dirty="0">
                <a:solidFill>
                  <a:srgbClr val="8FB3A0"/>
                </a:solidFill>
                <a:latin typeface="Courier New" pitchFamily="34" charset="0"/>
                <a:ea typeface="Courier New" pitchFamily="34" charset="-122"/>
                <a:cs typeface="Courier New" pitchFamily="34" charset="-120"/>
              </a:rPr>
              <a:t># bring bit number s0 down to bit 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andi t1, t1, 1           </a:t>
            </a:r>
            <a:pPr indent="0" marL="0">
              <a:buNone/>
            </a:pPr>
            <a:r>
              <a:rPr lang="en-US" sz="1250" dirty="0">
                <a:solidFill>
                  <a:srgbClr val="8FB3A0"/>
                </a:solidFill>
                <a:latin typeface="Courier New" pitchFamily="34" charset="0"/>
                <a:ea typeface="Courier New" pitchFamily="34" charset="-122"/>
                <a:cs typeface="Courier New" pitchFamily="34" charset="-120"/>
              </a:rPr>
              <a:t># keep it, clear all the others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li   a4, GREY            </a:t>
            </a:r>
            <a:pPr indent="0" marL="0">
              <a:buNone/>
            </a:pPr>
            <a:r>
              <a:rPr lang="en-US" sz="1250" dirty="0">
                <a:solidFill>
                  <a:srgbClr val="8FB3A0"/>
                </a:solidFill>
                <a:latin typeface="Courier New" pitchFamily="34" charset="0"/>
                <a:ea typeface="Courier New" pitchFamily="34" charset="-122"/>
                <a:cs typeface="Courier New" pitchFamily="34" charset="-120"/>
              </a:rPr>
              <a:t># lamp off</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beqz t1, 1f</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li   a4, YELLOW          </a:t>
            </a:r>
            <a:pPr indent="0" marL="0">
              <a:buNone/>
            </a:pPr>
            <a:r>
              <a:rPr lang="en-US" sz="1250" dirty="0">
                <a:solidFill>
                  <a:srgbClr val="8FB3A0"/>
                </a:solidFill>
                <a:latin typeface="Courier New" pitchFamily="34" charset="0"/>
                <a:ea typeface="Courier New" pitchFamily="34" charset="-122"/>
                <a:cs typeface="Courier New" pitchFamily="34" charset="-120"/>
              </a:rPr>
              <a:t># lamp on</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1:  call prg32_gfx_rect</a:t>
            </a:r>
            <a:endParaRPr lang="en-US" sz="1250" dirty="0"/>
          </a:p>
        </p:txBody>
      </p:sp>
      <p:sp>
        <p:nvSpPr>
          <p:cNvPr id="5" name="Shape 3"/>
          <p:cNvSpPr/>
          <p:nvPr/>
        </p:nvSpPr>
        <p:spPr>
          <a:xfrm>
            <a:off x="7470648" y="1399032"/>
            <a:ext cx="4245559" cy="2708339"/>
          </a:xfrm>
          <a:prstGeom prst="roundRect">
            <a:avLst>
              <a:gd name="adj" fmla="val 2701"/>
            </a:avLst>
          </a:prstGeom>
          <a:solidFill>
            <a:srgbClr val="1B2530"/>
          </a:solidFill>
          <a:ln w="12700">
            <a:solidFill>
              <a:srgbClr val="1B2530"/>
            </a:solidFill>
            <a:prstDash val="solid"/>
          </a:ln>
        </p:spPr>
      </p:sp>
      <p:pic>
        <p:nvPicPr>
          <p:cNvPr id="6" name="Image 0" descr="/Users/raffaelemontella/devel/riscv-prg32/computer-architecture-with-prg32/tools/assets/lab2_step1_lamps.png">    </p:cNvPr>
          <p:cNvPicPr>
            <a:picLocks noChangeAspect="1"/>
          </p:cNvPicPr>
          <p:nvPr/>
        </p:nvPicPr>
        <p:blipFill>
          <a:blip r:embed="rId1"/>
          <a:stretch>
            <a:fillRect/>
          </a:stretch>
        </p:blipFill>
        <p:spPr>
          <a:xfrm>
            <a:off x="7543800" y="1472184"/>
            <a:ext cx="4099255" cy="2562035"/>
          </a:xfrm>
          <a:prstGeom prst="rect">
            <a:avLst/>
          </a:prstGeom>
        </p:spPr>
      </p:pic>
      <p:sp>
        <p:nvSpPr>
          <p:cNvPr id="7" name="Text 4"/>
          <p:cNvSpPr txBox="1"/>
          <p:nvPr/>
        </p:nvSpPr>
        <p:spPr>
          <a:xfrm>
            <a:off x="7543800" y="4180523"/>
            <a:ext cx="4099255" cy="256032"/>
          </a:xfrm>
          <a:prstGeom prst="rect">
            <a:avLst/>
          </a:prstGeom>
          <a:noFill/>
          <a:ln/>
        </p:spPr>
        <p:txBody>
          <a:bodyPr wrap="square" lIns="0" tIns="0" rIns="0" bIns="0" rtlCol="0" anchor="t"/>
          <a:lstStyle/>
          <a:p>
            <a:pPr indent="0" marL="0">
              <a:buNone/>
            </a:pPr>
            <a:r>
              <a:rPr lang="en-US" sz="1150" i="1" dirty="0">
                <a:solidFill>
                  <a:srgbClr val="5B6B78"/>
                </a:solidFill>
                <a:latin typeface="Calibri" pitchFamily="34" charset="0"/>
                <a:ea typeface="Calibri" pitchFamily="34" charset="-122"/>
                <a:cs typeface="Calibri" pitchFamily="34" charset="-120"/>
              </a:rPr>
              <a:t>Screenshot: this step, built and run on PRG32</a:t>
            </a:r>
            <a:endParaRPr lang="en-US" sz="1150" dirty="0"/>
          </a:p>
        </p:txBody>
      </p:sp>
      <p:sp>
        <p:nvSpPr>
          <p:cNvPr id="8" name="Shape 5"/>
          <p:cNvSpPr/>
          <p:nvPr/>
        </p:nvSpPr>
        <p:spPr>
          <a:xfrm>
            <a:off x="7470648" y="4527995"/>
            <a:ext cx="4245559" cy="1644205"/>
          </a:xfrm>
          <a:prstGeom prst="roundRect">
            <a:avLst>
              <a:gd name="adj" fmla="val 4449"/>
            </a:avLst>
          </a:prstGeom>
          <a:solidFill>
            <a:srgbClr val="EEF2F4"/>
          </a:solidFill>
          <a:ln w="12700">
            <a:solidFill>
              <a:srgbClr val="EEF2F4"/>
            </a:solidFill>
            <a:prstDash val="solid"/>
          </a:ln>
        </p:spPr>
      </p:sp>
      <p:sp>
        <p:nvSpPr>
          <p:cNvPr id="9" name="Text 6"/>
          <p:cNvSpPr txBox="1"/>
          <p:nvPr/>
        </p:nvSpPr>
        <p:spPr>
          <a:xfrm>
            <a:off x="7680960" y="4637723"/>
            <a:ext cx="3824935" cy="1424749"/>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Shift, then mask with 1: the standard way to read bit number n of a word.</a:t>
            </a:r>
            <a:endParaRPr lang="en-US" sz="1700" dirty="0"/>
          </a:p>
        </p:txBody>
      </p:sp>
      <p:sp>
        <p:nvSpPr>
          <p:cNvPr id="10" name="Shape 7"/>
          <p:cNvSpPr/>
          <p:nvPr/>
        </p:nvSpPr>
        <p:spPr>
          <a:xfrm>
            <a:off x="9075623" y="91440"/>
            <a:ext cx="2567432" cy="274320"/>
          </a:xfrm>
          <a:prstGeom prst="rect">
            <a:avLst/>
          </a:prstGeom>
          <a:solidFill>
            <a:srgbClr val="E0F2FE"/>
          </a:solidFill>
          <a:ln w="12700">
            <a:solidFill>
              <a:srgbClr val="0369A1"/>
            </a:solidFill>
            <a:prstDash val="solid"/>
          </a:ln>
        </p:spPr>
      </p:sp>
      <p:sp>
        <p:nvSpPr>
          <p:cNvPr id="11" name="Shape 8"/>
          <p:cNvSpPr/>
          <p:nvPr/>
        </p:nvSpPr>
        <p:spPr>
          <a:xfrm>
            <a:off x="9075623" y="91440"/>
            <a:ext cx="73152" cy="274320"/>
          </a:xfrm>
          <a:prstGeom prst="rect">
            <a:avLst/>
          </a:prstGeom>
          <a:solidFill>
            <a:srgbClr val="0369A1"/>
          </a:solidFill>
          <a:ln w="12700">
            <a:solidFill>
              <a:srgbClr val="0369A1"/>
            </a:solidFill>
            <a:prstDash val="solid"/>
          </a:ln>
        </p:spPr>
      </p:sp>
      <p:pic>
        <p:nvPicPr>
          <p:cNvPr id="12" name="Image 1" descr="preencoded.png">    </p:cNvPr>
          <p:cNvPicPr>
            <a:picLocks noChangeAspect="1"/>
          </p:cNvPicPr>
          <p:nvPr/>
        </p:nvPicPr>
        <p:blipFill>
          <a:blip r:embed="rId2"/>
          <a:stretch>
            <a:fillRect/>
          </a:stretch>
        </p:blipFill>
        <p:spPr>
          <a:xfrm>
            <a:off x="9203639" y="128016"/>
            <a:ext cx="201168" cy="201168"/>
          </a:xfrm>
          <a:prstGeom prst="rect">
            <a:avLst/>
          </a:prstGeom>
        </p:spPr>
      </p:pic>
      <p:sp>
        <p:nvSpPr>
          <p:cNvPr id="13" name="Text 9"/>
          <p:cNvSpPr txBox="1"/>
          <p:nvPr/>
        </p:nvSpPr>
        <p:spPr>
          <a:xfrm>
            <a:off x="9459671" y="91440"/>
            <a:ext cx="214680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bit masks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l08.S (1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350" dirty="0">
                <a:solidFill>
                  <a:srgbClr val="8FB3A0"/>
                </a:solidFill>
                <a:latin typeface="Courier New" pitchFamily="34" charset="0"/>
                <a:ea typeface="Courier New" pitchFamily="34" charset="-122"/>
                <a:cs typeface="Courier New" pitchFamily="34" charset="-120"/>
              </a:rPr>
              <a:t># ARC12 Computer Architecture - Lecture 08: Elements of Boolean Algebra</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l08.S: one lamp per button, a marker that moves, and De Morgan at the joystick</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On the screen: seven lamps, one per button (LEFT on the left), lit while the button</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is held; a white marker that LEFT and RIGHT move; a square that is green when</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neither LEFT nor RIGHT is pressed and red otherwise.</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Build: python3 -m prg32 cartridge build l08.S --portable \</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--entry-prefix l08 --name l08 --out l08.prg32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.option norelax</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BLACK,  0x0000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WHITE,  0xffff</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GREY,   0x4208</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YELLOW, 0xffe0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GREEN,  0x07e0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RED,    0xf800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.section .text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.global l08_init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.global l08_update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.global l08_draw</a:t>
            </a:r>
            <a:endParaRPr lang="en-US" sz="135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l08.S (2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l08_init: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l08_update: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prg32_input_read    </a:t>
            </a:r>
            <a:pPr indent="0" marL="0">
              <a:buNone/>
            </a:pPr>
            <a:r>
              <a:rPr lang="en-US" sz="1300" dirty="0">
                <a:solidFill>
                  <a:srgbClr val="8FB3A0"/>
                </a:solidFill>
                <a:latin typeface="Courier New" pitchFamily="34" charset="0"/>
                <a:ea typeface="Courier New" pitchFamily="34" charset="-122"/>
                <a:cs typeface="Courier New" pitchFamily="34" charset="-120"/>
              </a:rPr>
              <a:t># a0 = all the buttons, one bit each</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mv   t0, a0              </a:t>
            </a:r>
            <a:pPr indent="0" marL="0">
              <a:buNone/>
            </a:pPr>
            <a:r>
              <a:rPr lang="en-US" sz="1300" dirty="0">
                <a:solidFill>
                  <a:srgbClr val="8FB3A0"/>
                </a:solidFill>
                <a:latin typeface="Courier New" pitchFamily="34" charset="0"/>
                <a:ea typeface="Courier New" pitchFamily="34" charset="-122"/>
                <a:cs typeface="Courier New" pitchFamily="34" charset="-120"/>
              </a:rPr>
              <a:t># keep our own copy</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t1, buttons</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t0, 0(t1)           </a:t>
            </a:r>
            <a:pPr indent="0" marL="0">
              <a:buNone/>
            </a:pPr>
            <a:r>
              <a:rPr lang="en-US" sz="1300" dirty="0">
                <a:solidFill>
                  <a:srgbClr val="8FB3A0"/>
                </a:solidFill>
                <a:latin typeface="Courier New" pitchFamily="34" charset="0"/>
                <a:ea typeface="Courier New" pitchFamily="34" charset="-122"/>
                <a:cs typeface="Courier New" pitchFamily="34" charset="-120"/>
              </a:rPr>
              <a:t># remember them for draw</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t1, marker_x</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t2, 0(t1)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andi t3, t0, 0x01        </a:t>
            </a:r>
            <a:pPr indent="0" marL="0">
              <a:buNone/>
            </a:pPr>
            <a:r>
              <a:rPr lang="en-US" sz="1300" dirty="0">
                <a:solidFill>
                  <a:srgbClr val="8FB3A0"/>
                </a:solidFill>
                <a:latin typeface="Courier New" pitchFamily="34" charset="0"/>
                <a:ea typeface="Courier New" pitchFamily="34" charset="-122"/>
                <a:cs typeface="Courier New" pitchFamily="34" charset="-120"/>
              </a:rPr>
              <a:t># keep only bit 0: LEFT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beqz t3, 1f              </a:t>
            </a:r>
            <a:pPr indent="0" marL="0">
              <a:buNone/>
            </a:pPr>
            <a:r>
              <a:rPr lang="en-US" sz="1300" dirty="0">
                <a:solidFill>
                  <a:srgbClr val="8FB3A0"/>
                </a:solidFill>
                <a:latin typeface="Courier New" pitchFamily="34" charset="0"/>
                <a:ea typeface="Courier New" pitchFamily="34" charset="-122"/>
                <a:cs typeface="Courier New" pitchFamily="34" charset="-120"/>
              </a:rPr>
              <a:t># zero: LEFT is not pressed</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t2, t2, -2          </a:t>
            </a:r>
            <a:pPr indent="0" marL="0">
              <a:buNone/>
            </a:pPr>
            <a:r>
              <a:rPr lang="en-US" sz="1300" dirty="0">
                <a:solidFill>
                  <a:srgbClr val="8FB3A0"/>
                </a:solidFill>
                <a:latin typeface="Courier New" pitchFamily="34" charset="0"/>
                <a:ea typeface="Courier New" pitchFamily="34" charset="-122"/>
                <a:cs typeface="Courier New" pitchFamily="34" charset="-120"/>
              </a:rPr>
              <a:t># move left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andi t3, t0, 0x02        </a:t>
            </a:r>
            <a:pPr indent="0" marL="0">
              <a:buNone/>
            </a:pPr>
            <a:r>
              <a:rPr lang="en-US" sz="1300" dirty="0">
                <a:solidFill>
                  <a:srgbClr val="8FB3A0"/>
                </a:solidFill>
                <a:latin typeface="Courier New" pitchFamily="34" charset="0"/>
                <a:ea typeface="Courier New" pitchFamily="34" charset="-122"/>
                <a:cs typeface="Courier New" pitchFamily="34" charset="-120"/>
              </a:rPr>
              <a:t># keep only bit 1: RIGHT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beqz t3, 2f</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t2, t2, 2           </a:t>
            </a:r>
            <a:pPr indent="0" marL="0">
              <a:buNone/>
            </a:pPr>
            <a:r>
              <a:rPr lang="en-US" sz="1300" dirty="0">
                <a:solidFill>
                  <a:srgbClr val="8FB3A0"/>
                </a:solidFill>
                <a:latin typeface="Courier New" pitchFamily="34" charset="0"/>
                <a:ea typeface="Courier New" pitchFamily="34" charset="-122"/>
                <a:cs typeface="Courier New" pitchFamily="34" charset="-120"/>
              </a:rPr>
              <a:t># move right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2:</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t2, 0(t1)</a:t>
            </a:r>
            <a:endParaRPr lang="en-US" sz="13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l08.S (3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8FB3A0"/>
                </a:solidFill>
                <a:latin typeface="Courier New" pitchFamily="34" charset="0"/>
                <a:ea typeface="Courier New" pitchFamily="34" charset="-122"/>
                <a:cs typeface="Courier New" pitchFamily="34" charset="-120"/>
              </a:rPr>
              <a:t># "idle" when NEITHER LEFT NOR RIGHT is pressed</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t4, 1               </a:t>
            </a:r>
            <a:pPr indent="0" marL="0">
              <a:buNone/>
            </a:pPr>
            <a:r>
              <a:rPr lang="en-US" sz="1800" dirty="0">
                <a:solidFill>
                  <a:srgbClr val="8FB3A0"/>
                </a:solidFill>
                <a:latin typeface="Courier New" pitchFamily="34" charset="0"/>
                <a:ea typeface="Courier New" pitchFamily="34" charset="-122"/>
                <a:cs typeface="Courier New" pitchFamily="34" charset="-120"/>
              </a:rPr>
              <a:t># idle = 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andi t3, t0, 0x03        </a:t>
            </a:r>
            <a:pPr indent="0" marL="0">
              <a:buNone/>
            </a:pPr>
            <a:r>
              <a:rPr lang="en-US" sz="1800" dirty="0">
                <a:solidFill>
                  <a:srgbClr val="8FB3A0"/>
                </a:solidFill>
                <a:latin typeface="Courier New" pitchFamily="34" charset="0"/>
                <a:ea typeface="Courier New" pitchFamily="34" charset="-122"/>
                <a:cs typeface="Courier New" pitchFamily="34" charset="-120"/>
              </a:rPr>
              <a:t># 0x03 = LEFT | RIGHT: keep both bits</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beqz t3, 3f              </a:t>
            </a:r>
            <a:pPr indent="0" marL="0">
              <a:buNone/>
            </a:pPr>
            <a:r>
              <a:rPr lang="en-US" sz="1800" dirty="0">
                <a:solidFill>
                  <a:srgbClr val="8FB3A0"/>
                </a:solidFill>
                <a:latin typeface="Courier New" pitchFamily="34" charset="0"/>
                <a:ea typeface="Courier New" pitchFamily="34" charset="-122"/>
                <a:cs typeface="Courier New" pitchFamily="34" charset="-120"/>
              </a:rPr>
              <a:t># all zero: (LEFT + RIGHT)' is true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t4, 0               </a:t>
            </a:r>
            <a:pPr indent="0" marL="0">
              <a:buNone/>
            </a:pPr>
            <a:r>
              <a:rPr lang="en-US" sz="1800" dirty="0">
                <a:solidFill>
                  <a:srgbClr val="8FB3A0"/>
                </a:solidFill>
                <a:latin typeface="Courier New" pitchFamily="34" charset="0"/>
                <a:ea typeface="Courier New" pitchFamily="34" charset="-122"/>
                <a:cs typeface="Courier New" pitchFamily="34" charset="-120"/>
              </a:rPr>
              <a:t># idle = 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3:  la   t1, idle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t4, 0(t1)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l08.S (4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50" dirty="0">
                <a:solidFill>
                  <a:srgbClr val="E6EDF2"/>
                </a:solidFill>
                <a:latin typeface="Courier New" pitchFamily="34" charset="0"/>
                <a:ea typeface="Courier New" pitchFamily="34" charset="-122"/>
                <a:cs typeface="Courier New" pitchFamily="34" charset="-120"/>
              </a:rPr>
              <a:t>l08_draw:</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addi sp, sp, -16</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sw   ra, 12(sp)</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sw   s0, 8(sp)</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li   a0, BLACK</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call prg32_gfx_clear</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li   s0, 0               </a:t>
            </a:r>
            <a:pPr indent="0" marL="0">
              <a:buNone/>
            </a:pPr>
            <a:r>
              <a:rPr lang="en-US" sz="1250" dirty="0">
                <a:solidFill>
                  <a:srgbClr val="8FB3A0"/>
                </a:solidFill>
                <a:latin typeface="Courier New" pitchFamily="34" charset="0"/>
                <a:ea typeface="Courier New" pitchFamily="34" charset="-122"/>
                <a:cs typeface="Courier New" pitchFamily="34" charset="-120"/>
              </a:rPr>
              <a:t># s0 = bit number, 0 to 6</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1:  la   t0, buttons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lw   t1, 0(t0)           </a:t>
            </a:r>
            <a:pPr indent="0" marL="0">
              <a:buNone/>
            </a:pPr>
            <a:r>
              <a:rPr lang="en-US" sz="1250" dirty="0">
                <a:solidFill>
                  <a:srgbClr val="8FB3A0"/>
                </a:solidFill>
                <a:latin typeface="Courier New" pitchFamily="34" charset="0"/>
                <a:ea typeface="Courier New" pitchFamily="34" charset="-122"/>
                <a:cs typeface="Courier New" pitchFamily="34" charset="-120"/>
              </a:rPr>
              <a:t># t1 = the button mask</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srl  t1, t1, s0          </a:t>
            </a:r>
            <a:pPr indent="0" marL="0">
              <a:buNone/>
            </a:pPr>
            <a:r>
              <a:rPr lang="en-US" sz="1250" dirty="0">
                <a:solidFill>
                  <a:srgbClr val="8FB3A0"/>
                </a:solidFill>
                <a:latin typeface="Courier New" pitchFamily="34" charset="0"/>
                <a:ea typeface="Courier New" pitchFamily="34" charset="-122"/>
                <a:cs typeface="Courier New" pitchFamily="34" charset="-120"/>
              </a:rPr>
              <a:t># bring bit number s0 down to bit 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andi t1, t1, 1           </a:t>
            </a:r>
            <a:pPr indent="0" marL="0">
              <a:buNone/>
            </a:pPr>
            <a:r>
              <a:rPr lang="en-US" sz="1250" dirty="0">
                <a:solidFill>
                  <a:srgbClr val="8FB3A0"/>
                </a:solidFill>
                <a:latin typeface="Courier New" pitchFamily="34" charset="0"/>
                <a:ea typeface="Courier New" pitchFamily="34" charset="-122"/>
                <a:cs typeface="Courier New" pitchFamily="34" charset="-120"/>
              </a:rPr>
              <a:t># keep it, clear all the others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li   a4, GREY            </a:t>
            </a:r>
            <a:pPr indent="0" marL="0">
              <a:buNone/>
            </a:pPr>
            <a:r>
              <a:rPr lang="en-US" sz="1250" dirty="0">
                <a:solidFill>
                  <a:srgbClr val="8FB3A0"/>
                </a:solidFill>
                <a:latin typeface="Courier New" pitchFamily="34" charset="0"/>
                <a:ea typeface="Courier New" pitchFamily="34" charset="-122"/>
                <a:cs typeface="Courier New" pitchFamily="34" charset="-120"/>
              </a:rPr>
              <a:t># lamp off</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beqz t1, 2f</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li   a4, YELLOW          </a:t>
            </a:r>
            <a:pPr indent="0" marL="0">
              <a:buNone/>
            </a:pPr>
            <a:r>
              <a:rPr lang="en-US" sz="1250" dirty="0">
                <a:solidFill>
                  <a:srgbClr val="8FB3A0"/>
                </a:solidFill>
                <a:latin typeface="Courier New" pitchFamily="34" charset="0"/>
                <a:ea typeface="Courier New" pitchFamily="34" charset="-122"/>
                <a:cs typeface="Courier New" pitchFamily="34" charset="-120"/>
              </a:rPr>
              <a:t># lamp on</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2:  slli a0, s0, 5</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addi a0, a0, 48          </a:t>
            </a:r>
            <a:pPr indent="0" marL="0">
              <a:buNone/>
            </a:pPr>
            <a:r>
              <a:rPr lang="en-US" sz="1250" dirty="0">
                <a:solidFill>
                  <a:srgbClr val="8FB3A0"/>
                </a:solidFill>
                <a:latin typeface="Courier New" pitchFamily="34" charset="0"/>
                <a:ea typeface="Courier New" pitchFamily="34" charset="-122"/>
                <a:cs typeface="Courier New" pitchFamily="34" charset="-120"/>
              </a:rPr>
              <a:t># x = 48 + 32 * bit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li   a1, 40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li   a2, 24</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li   a3, 24</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call prg32_gfx_rect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addi s0, s0, 1</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li   t0, 7</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blt  s0, t0, 1b</a:t>
            </a:r>
            <a:endParaRPr lang="en-US" sz="125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l08.S (5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    la   t0, marker_x        </a:t>
            </a:r>
            <a:pPr indent="0" marL="0">
              <a:buNone/>
            </a:pPr>
            <a:r>
              <a:rPr lang="en-US" sz="1300" dirty="0">
                <a:solidFill>
                  <a:srgbClr val="8FB3A0"/>
                </a:solidFill>
                <a:latin typeface="Courier New" pitchFamily="34" charset="0"/>
                <a:ea typeface="Courier New" pitchFamily="34" charset="-122"/>
                <a:cs typeface="Courier New" pitchFamily="34" charset="-120"/>
              </a:rPr>
              <a:t># the marker</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a0, 0(t0)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a1, 100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a2,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a3,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a4, WHITE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prg32_gfx_rect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idle            </a:t>
            </a:r>
            <a:pPr indent="0" marL="0">
              <a:buNone/>
            </a:pPr>
            <a:r>
              <a:rPr lang="en-US" sz="1300" dirty="0">
                <a:solidFill>
                  <a:srgbClr val="8FB3A0"/>
                </a:solidFill>
                <a:latin typeface="Courier New" pitchFamily="34" charset="0"/>
                <a:ea typeface="Courier New" pitchFamily="34" charset="-122"/>
                <a:cs typeface="Courier New" pitchFamily="34" charset="-120"/>
              </a:rPr>
              <a:t># the result of De Morgan's test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t1, 0(t0)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a4, RED</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beqz t1, 3f</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a4, GREEN</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3:  li   a0, 152</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a1, 150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a2,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a3,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prg32_gfx_rect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s0, 8(sp)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l08.S (6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.section .data</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buttons:  .word 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marker_x: .word 152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idle:     .word 1</a:t>
            </a:r>
            <a:endParaRPr lang="en-US" sz="18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236067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seven lamps, one per button (LEFT on the left), lit while the button is held; a white marker that LEFT and RIGHT move; a square that is green when neither LEFT nor RIGHT is pressed and red otherwise.</a:t>
            </a:r>
            <a:endParaRPr lang="en-US" sz="2400" dirty="0"/>
          </a:p>
        </p:txBody>
      </p:sp>
      <p:sp>
        <p:nvSpPr>
          <p:cNvPr id="5" name="Shape 3"/>
          <p:cNvSpPr/>
          <p:nvPr/>
        </p:nvSpPr>
        <p:spPr>
          <a:xfrm>
            <a:off x="548640" y="4539996"/>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4418076"/>
            <a:ext cx="5468112" cy="1059180"/>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LEFT and RIGHT move the marker; try A and B too</a:t>
            </a:r>
            <a:endParaRPr lang="en-US" sz="2400" dirty="0"/>
          </a:p>
        </p:txBody>
      </p:sp>
      <p:pic>
        <p:nvPicPr>
          <p:cNvPr id="7" name="Image 0" descr="/Users/raffaelemontella/devel/riscv-prg32/computer-architecture-with-prg32/tools/assets/lab_l08.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~/arc12/code/l08.S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l08 --name l08 --out l08.prg32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l08.prg32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~/arc12/code/l08.S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l08 --name l08 --architecture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l08-qemu.prg32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l08-qemu.prg32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~/arc12/code/l08.S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l08 --name l08 --architecture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l08-esp32c6.prg32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l08-esp32c6.prg32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l08;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9287967" y="91440"/>
            <a:ext cx="2355088" cy="274320"/>
          </a:xfrm>
          <a:prstGeom prst="rect">
            <a:avLst/>
          </a:prstGeom>
          <a:solidFill>
            <a:srgbClr val="FEF3C7"/>
          </a:solidFill>
          <a:ln w="12700">
            <a:solidFill>
              <a:srgbClr val="B45309"/>
            </a:solidFill>
            <a:prstDash val="solid"/>
          </a:ln>
        </p:spPr>
      </p:sp>
      <p:sp>
        <p:nvSpPr>
          <p:cNvPr id="5" name="Shape 2"/>
          <p:cNvSpPr/>
          <p:nvPr/>
        </p:nvSpPr>
        <p:spPr>
          <a:xfrm>
            <a:off x="9287967" y="91440"/>
            <a:ext cx="27432" cy="274320"/>
          </a:xfrm>
          <a:prstGeom prst="rect">
            <a:avLst/>
          </a:prstGeom>
          <a:solidFill>
            <a:srgbClr val="B45309"/>
          </a:solidFill>
          <a:ln w="12700">
            <a:solidFill>
              <a:srgbClr val="B45309"/>
            </a:solidFill>
            <a:prstDash val="solid"/>
          </a:ln>
        </p:spPr>
      </p:sp>
      <p:sp>
        <p:nvSpPr>
          <p:cNvPr id="6" name="Shape 3"/>
          <p:cNvSpPr/>
          <p:nvPr/>
        </p:nvSpPr>
        <p:spPr>
          <a:xfrm>
            <a:off x="9342831"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8" name="Text 4"/>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 paper first, then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Prove the second De Morgan law, (x + y)' = x' . y', with a truth table</a:t>
            </a:r>
            <a:endParaRPr lang="en-US" sz="2000" dirty="0"/>
          </a:p>
        </p:txBody>
      </p:sp>
      <p:sp>
        <p:nvSpPr>
          <p:cNvPr id="6" name="Text 4"/>
          <p:cNvSpPr txBox="1"/>
          <p:nvPr/>
        </p:nvSpPr>
        <p:spPr>
          <a:xfrm>
            <a:off x="548640" y="20589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040636"/>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Simplify with the algebra: x . y + x . y' . z + x' . y, naming the law used at each step</a:t>
            </a:r>
            <a:endParaRPr lang="en-US" sz="2000" dirty="0"/>
          </a:p>
        </p:txBody>
      </p:sp>
      <p:sp>
        <p:nvSpPr>
          <p:cNvPr id="8" name="Text 6"/>
          <p:cNvSpPr txBox="1"/>
          <p:nvPr/>
        </p:nvSpPr>
        <p:spPr>
          <a:xfrm>
            <a:off x="548640" y="28630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844800"/>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Write the mask and the instruction that test whether A and B are pressed together</a:t>
            </a:r>
            <a:endParaRPr lang="en-US" sz="2000" dirty="0"/>
          </a:p>
        </p:txBody>
      </p:sp>
      <p:sp>
        <p:nvSpPr>
          <p:cNvPr id="10" name="Text 8"/>
          <p:cNvSpPr txBox="1"/>
          <p:nvPr/>
        </p:nvSpPr>
        <p:spPr>
          <a:xfrm>
            <a:off x="548640" y="348640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468116"/>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Change the lamp program so that the lamps show the complement of the buttons (lit when released)</a:t>
            </a:r>
            <a:endParaRPr lang="en-US" sz="2000" dirty="0"/>
          </a:p>
        </p:txBody>
      </p:sp>
      <p:sp>
        <p:nvSpPr>
          <p:cNvPr id="12" name="Text 10"/>
          <p:cNvSpPr txBox="1"/>
          <p:nvPr/>
        </p:nvSpPr>
        <p:spPr>
          <a:xfrm>
            <a:off x="548640" y="42905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27228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Convert a letter from upper to lower case and back using one bitwise instruction (hint: ASCII, Lecture 04)</a:t>
            </a:r>
            <a:endParaRPr lang="en-US" sz="20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On PRG32: all seven lamps lit at rest, each one going dark while its button is held. For the letter: xori with 0x20 toggles bit 5.</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Elements of Boolean Algebra: the code</dc:title>
  <dc:subject>Lecture 08</dc:subject>
  <dc:creator>Raffaele Montella</dc:creator>
  <cp:lastModifiedBy>Raffaele Montella</cp:lastModifiedBy>
  <cp:revision>1</cp:revision>
  <dcterms:created xsi:type="dcterms:W3CDTF">2026-10-16T23:36:43Z</dcterms:created>
  <dcterms:modified xsi:type="dcterms:W3CDTF">2026-10-16T23:36:43Z</dcterms:modified>
</cp:coreProperties>
</file>