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pertura" id="{f88ddfae-53ad-0146-e74d-b0c9ffce3f5b}">
          <p14:sldIdLst>
            <p14:sldId id="256"/>
            <p14:sldId id="257"/>
          </p14:sldIdLst>
        </p14:section>
        <p14:section name="I display" id="{e2f355d4-3c7e-db00-e9b6-cdcf2f86cd89}">
          <p14:sldIdLst>
            <p14:sldId id="258"/>
            <p14:sldId id="259"/>
            <p14:sldId id="260"/>
            <p14:sldId id="261"/>
            <p14:sldId id="262"/>
            <p14:sldId id="263"/>
          </p14:sldIdLst>
        </p14:section>
        <p14:section name="Tastiera e mouse" id="{0a1792b4-5047-3902-4125-f28f5fda4b5a}">
          <p14:sldIdLst>
            <p14:sldId id="264"/>
            <p14:sldId id="265"/>
            <p14:sldId id="266"/>
            <p14:sldId id="267"/>
          </p14:sldIdLst>
        </p14:section>
        <p14:section name="Le stampanti" id="{de5e3cdc-b33c-0441-fc40-7b0c8a43b011}">
          <p14:sldIdLst>
            <p14:sldId id="268"/>
            <p14:sldId id="269"/>
          </p14:sldIdLst>
        </p14:section>
        <p14:section name="Ritorno alla macchina" id="{469807d8-afe9-5f7d-ec4e-e8d45eefee90}">
          <p14:sldIdLst>
            <p14:sldId id="270"/>
            <p14:sldId id="271"/>
            <p14:sldId id="272"/>
            <p14:sldId id="273"/>
            <p14:sldId id="274"/>
            <p14:sldId id="27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Questa lezione riguarda il confine tra la macchina e il mondo: i dispositivi attraverso cui l'informazione entra ed esce. Vedrete come si forma un'immagine su uno schermo, che cosa succede tra un tasto e il processore, che cosa dice un mouse, come funziona una stampante laser. Il filo che li lega è che ciascuno di questi dispositivi, dentro, è fatto di macchine che avete già progettato. E la lezione comincia e finisce sul kit, con il dispositivo che usate dal primo laboratorio: un pulsante.
Per il docente: Spirale: gli studenti leggono il joystick fin dai primi laboratori; la lezione si apre chiedendo che cosa c'è dietro prg32_input_read, poi tratta i dispositivi classici e i tre modi in cui un processore può gestirli.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Cinque obiettivi. Descrivere come si forma un'immagine su un tubo a raggi catodici e su un display a cristalli liquidi, e che cosa aggiunge una matrice attiva. Spiegare il percorso della pressione di un tasto: matrice, codificatore, registro a scorrimento, interfaccia seriale. Dire che cosa invia un mouse al calcolatore e con quale frequenza. Descrivere le fasi della stampa laser. Spiegare come il kit legge il joystick, e confrontare tre tecniche: polling, interruzioni e accesso diretto alla memoria.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 display grafico è una matrice di punti, i pixel, ciascuno acceso con la propria intensità; un'immagine si compone accendendo e spegnendo i pixel. I primi display mostravano solo caratteri, in bianco e nero. La densità dei pixel dà la risoluzione, i bit per pixel danno il numero di colori, da 256 a sedici milioni e oltre. La dimensione è la lunghezza della diagonale, in pollici. Il display del kit misura 2,8 pollici, con 320 per 240 pixel.
Per il docente: Il display del kit PRG32: 2,8 pollici, 320 per 240 pixel, 65.536 colori.
Immagini: Macintosh 128k transparency.png, Grm wnr, CC BY-SA 3.0, Wikimedia Commons.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tubo a raggi catodici ha una storia di oltre un secolo. Nasce come strumento di laboratorio con Crookes, negli anni Settanta dell'Ottocento; Braun ne fa un oscilloscopio nel 1897, il suo primo uso pratico; Rosing nel 1907 lo usa per mostrare forme da un segnale ricevuto, la radice della televisione; nel 1934 arriva sul mercato il primo televisore con CRT. Dagli anni Settanta ai Novanta del Novecento è stato il display di ogni terminale e personal computer.
Per il docente: L'ultima riga riassume l'epoca che la presentazione originale illustrava con le immagini di un oscilloscopio e del cabinato di Asteroids (un display vettoriale pilotato da un 6502).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Come funziona un CRT. Un catodo, riscaldato fino all'incandescenza, emette elettroni. Un'alta tensione tra catodo e anodo li accelera in un fascio, che altri campi mettono a fuoco. Campi magnetici o elettrici deflettono il fascio, che colpisce un punto dello schermo: la superficie interna è rivestita di fosforo, e il punto si illumina. Facendo scorrere il fascio riga per riga, molte volte al secondo, si dipinge l'intera immagine prima che l'occhio si accorga che i primi punti si sono spenti.
Per il docente: Lo schema originale aveva le etichette in italiano: griglia, anodo, bobina di deflessione, riscaldatore, catodo, fascio, bobina di focalizzazione, schermo fluorescente.
Immagini: Tennis For Two on a DuMont Lab Oscilloscope Type 304-A.jpg, Brookhaven National Laboratory, Public domain, Wikimedia Commons.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 display a cristalli liquidi hanno sostituito il tubo quasi ovunque: immagine migliore, meno ingombro, peso e consumo, meno affaticamento per gli occhi. I cristalli liquidi sono molecole organiche che scorrono come un liquido ma conservano una struttura ordinata. Un campo elettrico ne cambia l'orientamento, e con esso il modo in cui ruotano la polarizzazione della luce che li attraversa. L'immagine utile è l'ultima riga della slide: un cristallo è una valvola per la luce, aperta e chiusa da una tensione.
Per il docente: LCD: liquid crystal display, display a cristalli liquidi.
Immagini: TN-LCD-schematic-MS-208kB.png, see the file page, CC BY-SA 3.0, Wikimedia Commons.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Dentro un pannello ci sono molte celle, ciascuna con i suoi contatti, poste tra due filtri polarizzatori con assi perpendicolari, e una luce dietro. Quando i cristalli di una cella non sono pilotati ruotano la luce, che quindi supera il filtro anteriore; quando sono pilotati la luce viene bloccata. In uno schermo a colori ogni cella è divisa in tre, con un filtro rosso, uno verde e uno blu: sono i sub-pixel della fotografia, e i tre campi di un colore RGB finiscono lì come tre tensioni.
Per il docente: Tre sub-pixel per pixel: i campi R, G e B del colore RGB565 della Lezione 04 finiscono qui, come tre tensioni.
Immagini: Subpixel rendering LCD photo 3e composite.jpg, ALexL33, CC BY-SA 3.0, Wikimedia Commons.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Come si pilotano milioni di celle? Una calcolatrice ha un contatto per segmento, cosa impossibile per uno schermo. Una matrice passiva ha contatti per riga e per colonna: si pilota un solo pixel alla volta, e gli altri devono ricordare da soli il proprio stato, cosa che fanno male; da qui scie e diafonia. Una matrice attiva mette un transistor in ogni cella, in un film sottile sul vetro: il transistor conserva lo stato del suo pixel mentre gli altri vengono aggiornati. È il TFT, la tecnologia del display del kit.
Per il docente: TFT: thin-film transistor, transistor a film sottile. Il display del kit è un pannello TFT con un controller ILI9341. Novità rispetto alla presentazione originale: i display OLED, in cui ogni pixel emette luce propria e non serve retroilluminazione.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tastiera deriva da quella della macchina per scrivere ed è il principale dispositivo per immettere caratteri. I suoi tasti sono raggruppati: alfanumerici, speciali, frecce e funzioni. Ricordate un fatto, già incontrato nella lezione precedente: la tastiera e il video non sono collegati tra loro. Quando una lettera che battete compare sullo schermo, è perché un programma ha letto un codice dalla tastiera e ha disegnato un carattere. Oggi le tastiere si collegano via USB o via radio.
Per il docente: PS/2 era il connettore standard prima di USB. L'eco di un tasto sullo schermo è un programma: leggi un codice, disegna un carattere.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percorso della pressione di un tasto, da sinistra a destra. I tasti sono interruttori disposti in righe e colonne: premere D chiude un incrocio. Un codificatore trasforma la combinazione di riga e colonna in un codice di n bit. Un registro a scorrimento trasforma quegli n bit in parallelo in n bit in serie. Un'interfaccia seriale, per esempio un controller USB, consegna il codice al bus di sistema e alza un'interruzione. Il codificatore è quello della Lezione 11, il registro a scorrimento quello della Lezione 14: avete progettato ogni blocco di questa slide.
Per il docente: Ogni blocco di questa slide è una macchina che gli studenti hanno già progettato: è il frutto delle Lezioni dalla 11 alla 14.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mouse è stato inventato negli anni Sessanta da Douglas Engelbart: una scatola di legno con due ruote sotto e un filo che esce da dietro, come una coda. Le due ruote misuravano il movimento lungo i due assi. Nel mouse meccanico una pallina fa girare due rulli, ciascuno collegato a un contatore. Nel mouse ottico una luce e una minuscola telecamera osservano la superficie sottostante e misurano come si muove. In tutti e tre, il movimento diventa due numeri.
Per il docente: La presentazione originale data il mouse al 1967, l'anno di deposito del brevetto; il primo prototipo è del 1964 e la celebre dimostrazione pubblica del 1968. Contatori: le macchine sequenziali della Lezione 13.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Che cosa invia un mouse. Ogni volta che si sposta di una distanza minima, circa un centesimo di pollice, invia tre byte: lo spostamento lungo x dall'ultimo rapporto, lo spostamento lungo y, e lo stato dei pulsanti. Notate che invia spostamenti, non posizioni: è il programma a tenere la posizione del puntatore, sommando. Dentro, come a destra: due contatori, un registro a scorrimento, un'interfaccia seriale. Il software che parla con il dispositivo è il suo driver di periferica.
Per il docente: La presentazione originale dice che il primo byte riporta lo spostamento «negli ultimi 100 millisecondi»; i mouse moderni riferiscono fino a mille volte al secondo. I byte di spostamento con segno sono numeri in complemento a due (Lezione 05).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Una stampante si descrive con la sua velocità, in righe o pagine al minuto, e con la sua risoluzione, in punti per pollice. Le tecnologie, in ordine storico: le stampanti a margherita e a catena, che battevano caratteri interi e sono in disuso; ad aghi, in cui degli aghi colpiscono un nastro inchiostrato; a getto d'inchiostro, con minuscole gocce; laser. Una stampante è anche un piccolo calcolatore, con processore, memoria e firmware propri.
Per il docente: In inglese: daisy wheel, chain, dot matrix, ink jet, laser.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stampante laser deriva dalla fotocopiatrice. Un tamburo viene caricato a circa mille volt. Un raggio laser, riflesso da uno specchio rotante, scandisce il tamburo per la sua lunghezza, acceso e spento per disegnare una riga di punti; i punti che colpisce perdono la carica. Il toner è attratto dai punti ancora carichi. Il tamburo viene premuto contro la carta e vi trasferisce il toner, che dei rulli riscaldati fissano. Seguite nella figura il percorso della carta. La pagina esiste prima come bitmap nella memoria della stampante.
Per il docente: Tre slide dell'originale sono fuse in una. La pagina viene prima costruita come bitmap nella memoria della stampante: un frame buffer per la carta.
Immagini: Laser printer-Writing.svg, DMahalko, traced by Stannered, CC BY 3.0, Wikimedia Commons.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 dispositivi del kit in una tabella: per ciascuno, la direzione, il collegamento e le funzioni con cui una cartuccia lo usa. Il joystick e i pulsanti sono ingressi, un interruttore per piedino. Il display è un'uscita su un bus SPI. L'amplificatore con il suo altoparlante è un'uscita su un bus I2S. La radio Wi-Fi e la porta USB lavorano in entrambe le direzioni. Notate che non avete mai toccato direttamente nessuno di questi collegamenti: lo fa il runtime, e vi offre delle funzioni.
Per il docente: Hardware dal README di PRG32 e da docs/hardware. Un interruttore rimbalza per qualche millisecondo quando viene premuto; campionarlo una volta per frame, ogni poche decine di millisecondi, nasconde il rimbalzo.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Tre modi di gestire un dispositivo. Polling: il programma chiede al dispositivo, ancora e ancora, se ha qualcosa; semplice, e uno spreco quando non succede nulla. Interruzioni: il dispositivo chiede attenzione quando gli serve, come nella Lezione 19. Accesso diretto alla memoria, DMA: il dispositivo scambia da solo interi blocchi di dati con la memoria, e il processore viene soltanto avvisato quando ha finito. Sul kit sono all'opera tutti e tre: voi interrogate il joystick, il timer interrompe, il display e l'audio sono alimentati in DMA.
Per il docente: I/O programmato, I/O a interruzioni e DMA. Sul kit sono all'opera tutti e tre: il vostro gioco interroga il joystick, il timer che cadenza i frame interrompe, il display e l'audio sono alimentati in DMA.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Pensate allo schema della pressione di un tasto: che cosa entra nel codificatore, e che cosa ne esce?
Ricordate la fotografia dei pixel sotto la lente: quanti elementi colorati compongono un pixel?
Per il docente: 1. Risposta: B. Da una posizione decodificata nella matrice dei tasti a un codice compatto di n bit, come il codificatore della Lezione 11.
2. Risposta: B. Tre sub-pixel, ciascuno una cella di cristalli liquidi dietro un filtro colorato; un TFT in ognuno ne conserva lo stato.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risposta sta in ciò che manca a una matrice passiva: qualcosa, in ogni cella, che ne conservi lo stato mentre si pilotano le altre.
Chi prende l'iniziativa, il programma o il dispositivo? Nel riscaldamento è il programma, una volta per frame.
Per il docente: 1. Risposta: B. Persistenza: senza un transistor per pixel, le celle rispondono lentamente e conservano male il proprio stato mentre si scandiscono le altre.
2. Risposta: C. Il programma interroga periodicamente il dispositivo. Con le interruzioni sarebbe il dispositivo a chiamare il programma.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Dieci termini. Cathode-ray tube è il tubo a raggi catodici; backlight è la retroilluminazione. Un pointing device, periferica di puntamento, è qualunque dispositivo che, come il mouse, indica una posizione. Le stampanti dot-matrix e ink-jet sono quelle ad aghi e a getto d'inchiostro. Polling è l'interrogazione ciclica, anche se la parola in uso è quella inglese.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Cinque conclusioni. I dispositivi di ingresso/uscita sono una parte fondamentale dei calcolatori. La tecnologia dei display è passata da un fascio di elettroni a un transistor dietro ogni pixel. Tastiera, mouse e stampante sono cambiati poco fuori, e dentro sono fatti di codificatori, contatori e registri a scorrimento. Un dispositivo raggiunge il processore tramite un controller e un bus, ed è gestito con il polling, le interruzioni o il DMA. E sul kit l'intera catena, da un interruttore a un pixel, si può seguire istruzione per istruzione. Ora viene l'ultima parte di Verm1.
Per il docente: Poi: Verm1, parte 4: il gioco finito. Quindi la sua pubblicazione sul Cartridge Store.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19088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ARC12 Architettura dei Calcolatori  |  Lezione 21: Ingresso e uscita  |  A.A. 2026/27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B25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40080"/>
            <a:ext cx="201900" cy="20190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68096" y="640080"/>
            <a:ext cx="201900" cy="201900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68096" y="859536"/>
            <a:ext cx="201900" cy="20190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7552" y="859536"/>
            <a:ext cx="201900" cy="201900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078992"/>
            <a:ext cx="201900" cy="20190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160020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rgbClr val="C779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ARC12 ARCHITETTURA DEI CALCOLATORI  ·  LEZIONE 21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011680"/>
            <a:ext cx="9722815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Ingresso e uscita</a:t>
            </a:r>
            <a:endParaRPr lang="en-US" sz="48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3611880"/>
            <a:ext cx="97228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Display, tastiere, mouse e stampanti: come la macchina incontra il mondo, e come un programma legge un pulsante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4343400"/>
            <a:ext cx="8046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“Need input!”</a:t>
            </a:r>
            <a:endParaRPr lang="en-US" sz="1900" dirty="0"/>
          </a:p>
          <a:p>
            <a:pPr indent="0" marL="0">
              <a:buNone/>
            </a:pPr>
            <a:r>
              <a:rPr lang="en-US" sz="1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Numero 5, nel film Corto circuito (Short Circuit), John Badham, 1986</a:t>
            </a:r>
            <a:endParaRPr lang="en-US" sz="19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48640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Prof. Raffaele Montella, PhD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Università degli Studi di Napoli “Parthenope”  ·  A.A. 2026/27</a:t>
            </a:r>
            <a:endParaRPr lang="en-US" sz="1700" dirty="0"/>
          </a:p>
          <a:p>
            <a:pPr indent="0" marL="0">
              <a:buNone/>
            </a:pPr>
            <a:r>
              <a:rPr lang="en-US" sz="13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raffaelemontella.it  ·  raffaele.montella@uniparthenope.it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4693615" y="566928"/>
            <a:ext cx="6949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3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Presentazione della lezione. I listati, il programma completo e come provarlo sono nella presentazione del codice:</a:t>
            </a:r>
            <a:endParaRPr lang="en-US" sz="1300" dirty="0"/>
          </a:p>
          <a:p>
            <a:pPr algn="r" indent="0" marL="0">
              <a:buNone/>
            </a:pPr>
            <a:r>
              <a:rPr lang="en-US" sz="13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21-Architettura_dei_Calcolatori-Ingresso_Uscita-Codice.pptx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8625535" y="4160520"/>
            <a:ext cx="3017520" cy="2011680"/>
          </a:xfrm>
          <a:prstGeom prst="roundRect">
            <a:avLst>
              <a:gd name="adj" fmla="val 3636"/>
            </a:avLst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pic>
        <p:nvPicPr>
          <p:cNvPr id="14" name="Image 0" descr="/Users/raffaelemontella/devel/riscv-prg32/computer-architecture-with-prg32/tools/assets/lab2_step1_lamp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16975" y="4280535"/>
            <a:ext cx="2834640" cy="177165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 cosa saprete fare alla fine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37132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1418844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Descrivere come si forma un'immagine su un CRT e su un LCD, e che cosa aggiunge una matrice attiva TFT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576068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207008" y="2557780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Spiegare il percorso della pressione di un tasto: matrice, codificatore, registro a scorrimento, interfaccia seriale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715004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207008" y="3696716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 che cosa invia un mouse al calcolatore e con quale frequenza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611116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1207008" y="4592828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Descrivere le fasi della stampa laser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507228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207008" y="5488940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Spiegare come il kit PRG32 legge il joystick, e confrontare polling, interruzioni e DMA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video: un'introduzione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515999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2688" y="1417320"/>
            <a:ext cx="6565392" cy="6507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All'inizio soprattutto display a caratteri in bianco e nero; oggi grafici e a colori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548640" y="2379345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2280666"/>
            <a:ext cx="6565392" cy="6507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display grafico è una matrice di punti, i pixel, ciascuno acceso con un'intensità diversa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548640" y="3242691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32688" y="3144012"/>
            <a:ext cx="6565392" cy="6507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Un'immagine si compone accendendo e spegnendo i pixel</a:t>
            </a:r>
            <a:endParaRPr lang="en-US" sz="2100" dirty="0"/>
          </a:p>
        </p:txBody>
      </p:sp>
      <p:sp>
        <p:nvSpPr>
          <p:cNvPr id="9" name="Shape 7"/>
          <p:cNvSpPr/>
          <p:nvPr/>
        </p:nvSpPr>
        <p:spPr>
          <a:xfrm>
            <a:off x="548640" y="4106037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32688" y="4007358"/>
            <a:ext cx="6565392" cy="9761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diversa densità di pixel dà una diversa risoluzione; i colori vanno da 256 (8 bit) a 16 milioni (24 bit) e oltre</a:t>
            </a:r>
            <a:endParaRPr lang="en-US" sz="2100" dirty="0"/>
          </a:p>
        </p:txBody>
      </p:sp>
      <p:sp>
        <p:nvSpPr>
          <p:cNvPr id="11" name="Shape 9"/>
          <p:cNvSpPr/>
          <p:nvPr/>
        </p:nvSpPr>
        <p:spPr>
          <a:xfrm>
            <a:off x="548640" y="5294757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32688" y="5196078"/>
            <a:ext cx="6565392" cy="9761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dimensione si misura in pollici lungo la diagonale: un display da 14 pollici ha una diagonale di 14 pollici</a:t>
            </a:r>
            <a:endParaRPr lang="en-US" sz="2100" dirty="0"/>
          </a:p>
        </p:txBody>
      </p:sp>
      <p:pic>
        <p:nvPicPr>
          <p:cNvPr id="13" name="Image 0" descr="/Users/raffaelemontella/devel/riscv-prg32/computer-architecture-with-prg32/tools/assets/mac_classic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20917" y="1417320"/>
            <a:ext cx="3665062" cy="42976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7863840" y="5788152"/>
            <a:ext cx="37792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Macintosh compatto: un CRT in bianco e nero da 9 pollici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tubo a raggi catodici: una breve storia</a:t>
            </a:r>
            <a:endParaRPr lang="en-US" sz="32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4415" cy="914400"/>
        </p:xfrm>
        <a:graphic>
          <a:graphicData uri="http://schemas.openxmlformats.org/drawingml/2006/table">
            <a:tbl>
              <a:tblPr/>
              <a:tblGrid>
                <a:gridCol w="1636881"/>
                <a:gridCol w="2728135"/>
                <a:gridCol w="6729399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Anno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Chi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Che cosa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primi anni 1870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William Crookes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il tubo di Crookes: il primo tubo a raggi catodici, uno strumento di laboratorio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1897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Karl Ferdinand Braun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il tubo di Braun e il primo oscilloscopio a raggi catodici: la prima applicazione pratica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1907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Boris Rosing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 CRT mostra semplici forme geometriche da un segnale video ricevuto: la radice della televisione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1934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Telefunken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il primo televisore con CRT sul mercato, in Germania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anni 1970-1990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l'industria informatica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il monitor CRT: il display di ogni terminale e personal computer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Come funziona un CRT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500505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2688" y="1417320"/>
            <a:ext cx="6565392" cy="8831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catodo è un piccolo elemento metallico riscaldato fino all'incandescenza, che emette elettroni per effetto termoionico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548640" y="2521636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2438451"/>
            <a:ext cx="6565392" cy="8831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Dentro il tubo gli elettroni sono convogliati in un fascio da un'alta differenza di potenziale tra catodo e anodo</a:t>
            </a:r>
            <a:endParaRPr lang="en-US" sz="1900" dirty="0"/>
          </a:p>
        </p:txBody>
      </p:sp>
      <p:sp>
        <p:nvSpPr>
          <p:cNvPr id="7" name="Shape 5"/>
          <p:cNvSpPr/>
          <p:nvPr/>
        </p:nvSpPr>
        <p:spPr>
          <a:xfrm>
            <a:off x="548640" y="3542767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32688" y="3459582"/>
            <a:ext cx="6565392" cy="2943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Altri campi elettromagnetici mettono a fuoco il fascio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548640" y="3975125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32688" y="3891940"/>
            <a:ext cx="6565392" cy="826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fascio, il pennello elettronico, viene deflesso</a:t>
            </a:r>
            <a:endParaRPr lang="en-US" sz="1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6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da campi magnetici (la forza di Lorentz), o da campi elettrici</a:t>
            </a:r>
            <a:endParaRPr lang="en-US" sz="1900" dirty="0"/>
          </a:p>
        </p:txBody>
      </p:sp>
      <p:sp>
        <p:nvSpPr>
          <p:cNvPr id="11" name="Shape 9"/>
          <p:cNvSpPr/>
          <p:nvPr/>
        </p:nvSpPr>
        <p:spPr>
          <a:xfrm>
            <a:off x="548640" y="4939868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32688" y="4856683"/>
            <a:ext cx="6565392" cy="5887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Colpisce un punto della superficie interna dello schermo, rivestita di fosforo, che si illumina</a:t>
            </a:r>
            <a:endParaRPr lang="en-US" sz="1900" dirty="0"/>
          </a:p>
        </p:txBody>
      </p:sp>
      <p:sp>
        <p:nvSpPr>
          <p:cNvPr id="13" name="Shape 11"/>
          <p:cNvSpPr/>
          <p:nvPr/>
        </p:nvSpPr>
        <p:spPr>
          <a:xfrm>
            <a:off x="548640" y="5666613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32688" y="5583428"/>
            <a:ext cx="6565392" cy="5887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Facendo scorrere il fascio riga per riga, molte volte al secondo, si dipinge l'immagine</a:t>
            </a:r>
            <a:endParaRPr lang="en-US" sz="1900" dirty="0"/>
          </a:p>
        </p:txBody>
      </p:sp>
      <p:pic>
        <p:nvPicPr>
          <p:cNvPr id="15" name="Image 0" descr="/Users/raffaelemontella/devel/riscv-prg32/computer-architecture-with-prg32/tools/assets/crt_scop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3840" y="1888296"/>
            <a:ext cx="3779215" cy="3355729"/>
          </a:xfrm>
          <a:prstGeom prst="rect">
            <a:avLst/>
          </a:prstGeom>
        </p:spPr>
      </p:pic>
      <p:sp>
        <p:nvSpPr>
          <p:cNvPr id="16" name="Text 13"/>
          <p:cNvSpPr txBox="1"/>
          <p:nvPr/>
        </p:nvSpPr>
        <p:spPr>
          <a:xfrm>
            <a:off x="7863840" y="5788152"/>
            <a:ext cx="37792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oscilloscopio a raggi catodici usato come display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 display a cristalli liquidi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515999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2688" y="1417320"/>
            <a:ext cx="6565392" cy="6507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monitor LCD hanno sostituito quasi del tutto il tubo a raggi catodici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548640" y="2298002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2199323"/>
            <a:ext cx="6565392" cy="6507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Vantaggi: immagine migliore; meno ingombro, peso e consumo; minore affaticamento della vista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548640" y="3080004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32688" y="2981325"/>
            <a:ext cx="6565392" cy="9761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cristalli liquidi sono molecole organiche viscose che scorrono come un liquido ma hanno una struttura spaziale</a:t>
            </a:r>
            <a:endParaRPr lang="en-US" sz="2100" dirty="0"/>
          </a:p>
        </p:txBody>
      </p:sp>
      <p:sp>
        <p:nvSpPr>
          <p:cNvPr id="9" name="Shape 7"/>
          <p:cNvSpPr/>
          <p:nvPr/>
        </p:nvSpPr>
        <p:spPr>
          <a:xfrm>
            <a:off x="548640" y="4187381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32688" y="4088702"/>
            <a:ext cx="6565392" cy="13014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campo elettrico cambia l'orientamento delle molecole, e con esso le proprietà ottiche del cristallo: l'angolo di polarizzazione della luce che lo attraversa</a:t>
            </a:r>
            <a:endParaRPr lang="en-US" sz="2100" dirty="0"/>
          </a:p>
        </p:txBody>
      </p:sp>
      <p:sp>
        <p:nvSpPr>
          <p:cNvPr id="11" name="Shape 9"/>
          <p:cNvSpPr/>
          <p:nvPr/>
        </p:nvSpPr>
        <p:spPr>
          <a:xfrm>
            <a:off x="548640" y="5620131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32688" y="5521452"/>
            <a:ext cx="6565392" cy="6507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cristallo è una valvola per la luce, aperta e chiusa da una tensione</a:t>
            </a:r>
            <a:endParaRPr lang="en-US" sz="2100" dirty="0"/>
          </a:p>
        </p:txBody>
      </p:sp>
      <p:pic>
        <p:nvPicPr>
          <p:cNvPr id="13" name="Image 0" descr="/Users/raffaelemontella/devel/riscv-prg32/computer-architecture-with-prg32/tools/assets/lcd_layer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3840" y="2501447"/>
            <a:ext cx="3779215" cy="2129427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7863840" y="5788152"/>
            <a:ext cx="37792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Gli strati di un display a cristalli liquidi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Dentro un pannello LCD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508252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2688" y="1417320"/>
            <a:ext cx="6565392" cy="619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schermo è fatto di molte celle, spesso una per pixel, in cui sono intrappolati i cristalli liquidi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48640" y="2326196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2235264"/>
            <a:ext cx="6565392" cy="619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Ogni cella ha contatti elettrici, così che si possa applicare un campo al liquido che contiene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48640" y="3144139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32688" y="3053207"/>
            <a:ext cx="6565392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celle stanno tra due filtri polarizzatori con gli assi perpendicolari tra loro, con una luce dietro quello posteriore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548640" y="4271963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32688" y="4181031"/>
            <a:ext cx="6565392" cy="11732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polarizzazione decide se la luce passa</a:t>
            </a:r>
            <a:endParaRPr lang="en-US" sz="20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7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cristalli non pilotati: la luce viene ruotata e attraversa il polarizzatore anteriore</a:t>
            </a:r>
            <a:endParaRPr lang="en-US" sz="20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7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cristalli pilotati: la luce è bloccata del tutto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548640" y="5643372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32688" y="5552440"/>
            <a:ext cx="6565392" cy="619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uno schermo a colori ogni cella è divisa in tre sezioni con un filtro rosso, uno verde e uno blu</a:t>
            </a:r>
            <a:endParaRPr lang="en-US" sz="2000" dirty="0"/>
          </a:p>
        </p:txBody>
      </p:sp>
      <p:pic>
        <p:nvPicPr>
          <p:cNvPr id="13" name="Image 0" descr="/Users/raffaelemontella/devel/riscv-prg32/computer-architecture-with-prg32/tools/assets/lcd_pixel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98749" y="1417320"/>
            <a:ext cx="1909398" cy="42976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7863840" y="5788152"/>
            <a:ext cx="37792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Sub-pixel rossi, verdi e blu sotto la lente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Pilotare le celle: dai segmenti alla matrice attiva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5364328" cy="4754880"/>
          </a:xfrm>
          <a:prstGeom prst="roundRect">
            <a:avLst>
              <a:gd name="adj" fmla="val 153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645920"/>
            <a:ext cx="4815688" cy="548640"/>
          </a:xfrm>
          <a:prstGeom prst="roundRect">
            <a:avLst>
              <a:gd name="adj" fmla="val 13333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Segmenti e matrice passiva</a:t>
            </a:r>
            <a:endParaRPr lang="en-US" sz="1900" dirty="0"/>
          </a:p>
        </p:txBody>
      </p:sp>
      <p:sp>
        <p:nvSpPr>
          <p:cNvPr id="5" name="Text 3"/>
          <p:cNvSpPr txBox="1"/>
          <p:nvPr/>
        </p:nvSpPr>
        <p:spPr>
          <a:xfrm>
            <a:off x="868680" y="2423160"/>
            <a:ext cx="472424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Calcolatrici e orologi digitali: un contatto elettrico per segmento</a:t>
            </a:r>
            <a:endParaRPr lang="en-US" sz="17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Impossibile quando il numero di elementi cresce</a:t>
            </a:r>
            <a:endParaRPr lang="en-US" sz="17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Matrice passiva: un gruppo di contatti per riga e per colonna, non per pixel</a:t>
            </a:r>
            <a:endParaRPr lang="en-US" sz="17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pilota un solo pixel alla volta: gli altri devono ricordare il proprio stato</a:t>
            </a:r>
            <a:endParaRPr lang="en-US" sz="17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Problemi: persistenza (scie dietro gli oggetti in movimento) e diafonia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6278728" y="1417320"/>
            <a:ext cx="5364328" cy="4754880"/>
          </a:xfrm>
          <a:prstGeom prst="roundRect">
            <a:avLst>
              <a:gd name="adj" fmla="val 153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553048" y="1645920"/>
            <a:ext cx="4815688" cy="548640"/>
          </a:xfrm>
          <a:prstGeom prst="roundRect">
            <a:avLst>
              <a:gd name="adj" fmla="val 13333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Matrice attiva: TFT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6598768" y="2423160"/>
            <a:ext cx="472424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Usata per gli schermi ad alta risoluzione</a:t>
            </a:r>
            <a:endParaRPr lang="en-US" sz="17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pannello contiene un film sottile di transistor, su uno strato semiconduttore trasparente</a:t>
            </a:r>
            <a:endParaRPr lang="en-US" sz="17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campo è applicato esattamente dove serve da un transistor in ogni cella</a:t>
            </a:r>
            <a:endParaRPr lang="en-US" sz="17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transistor conserva lo stato elettrico del suo pixel mentre gli altri vengono aggiornati</a:t>
            </a:r>
            <a:endParaRPr lang="en-US" sz="17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Ogni pixel è, di fatto, una cella di memoria analogica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tastiera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523746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2688" y="1417320"/>
            <a:ext cx="1071036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Derivata da quella delle macchine per scrivere; il principale dispositivo di ingresso per i caratteri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48640" y="2549462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2443036"/>
            <a:ext cx="10710367" cy="13337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suoi tasti sono raggruppati</a:t>
            </a:r>
            <a:endParaRPr lang="en-US" sz="2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tasti alfanumerici</a:t>
            </a:r>
            <a:endParaRPr lang="en-US" sz="2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tasti speciali: invio, backspace, ...</a:t>
            </a:r>
            <a:endParaRPr lang="en-US" sz="2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tasti freccia e tasti funzione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548640" y="4227195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32688" y="4120769"/>
            <a:ext cx="10710367" cy="3408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Tastiera e video non sono collegati direttamente tra loro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548640" y="4912043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32688" y="4805617"/>
            <a:ext cx="1071036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È il processore a riprodurre sul video le informazioni battute sulla tastiera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548640" y="5937758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32688" y="5831332"/>
            <a:ext cx="10710367" cy="3408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tastiere di oggi si collegano via USB, o senza fili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percorso della pressione di un tasto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600200"/>
            <a:ext cx="493776" cy="493776"/>
          </a:xfrm>
          <a:prstGeom prst="roundRect">
            <a:avLst>
              <a:gd name="adj" fmla="val 9259"/>
            </a:avLst>
          </a:prstGeom>
          <a:solidFill>
            <a:srgbClr val="2E4A62"/>
          </a:solidFill>
          <a:ln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15568" y="1600200"/>
            <a:ext cx="493776" cy="493776"/>
          </a:xfrm>
          <a:prstGeom prst="roundRect">
            <a:avLst>
              <a:gd name="adj" fmla="val 9259"/>
            </a:avLst>
          </a:prstGeom>
          <a:solidFill>
            <a:srgbClr val="2E4A62"/>
          </a:solidFill>
          <a:ln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682496" y="1600200"/>
            <a:ext cx="493776" cy="493776"/>
          </a:xfrm>
          <a:prstGeom prst="roundRect">
            <a:avLst>
              <a:gd name="adj" fmla="val 9259"/>
            </a:avLst>
          </a:prstGeom>
          <a:solidFill>
            <a:srgbClr val="2E4A62"/>
          </a:solidFill>
          <a:ln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2249424" y="1600200"/>
            <a:ext cx="493776" cy="493776"/>
          </a:xfrm>
          <a:prstGeom prst="roundRect">
            <a:avLst>
              <a:gd name="adj" fmla="val 9259"/>
            </a:avLst>
          </a:prstGeom>
          <a:solidFill>
            <a:srgbClr val="2E4A62"/>
          </a:solidFill>
          <a:ln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2816352" y="1600200"/>
            <a:ext cx="493776" cy="493776"/>
          </a:xfrm>
          <a:prstGeom prst="roundRect">
            <a:avLst>
              <a:gd name="adj" fmla="val 9259"/>
            </a:avLst>
          </a:prstGeom>
          <a:solidFill>
            <a:srgbClr val="2E4A62"/>
          </a:solidFill>
          <a:ln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3383280" y="1600200"/>
            <a:ext cx="493776" cy="493776"/>
          </a:xfrm>
          <a:prstGeom prst="roundRect">
            <a:avLst>
              <a:gd name="adj" fmla="val 9259"/>
            </a:avLst>
          </a:prstGeom>
          <a:solidFill>
            <a:srgbClr val="2E4A62"/>
          </a:solidFill>
          <a:ln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Y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731520" y="2167128"/>
            <a:ext cx="493776" cy="493776"/>
          </a:xfrm>
          <a:prstGeom prst="roundRect">
            <a:avLst>
              <a:gd name="adj" fmla="val 9259"/>
            </a:avLst>
          </a:prstGeom>
          <a:solidFill>
            <a:srgbClr val="2E4A62"/>
          </a:solidFill>
          <a:ln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1298448" y="2167128"/>
            <a:ext cx="493776" cy="493776"/>
          </a:xfrm>
          <a:prstGeom prst="roundRect">
            <a:avLst>
              <a:gd name="adj" fmla="val 9259"/>
            </a:avLst>
          </a:prstGeom>
          <a:solidFill>
            <a:srgbClr val="2E4A62"/>
          </a:solidFill>
          <a:ln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1865376" y="2167128"/>
            <a:ext cx="493776" cy="493776"/>
          </a:xfrm>
          <a:prstGeom prst="roundRect">
            <a:avLst>
              <a:gd name="adj" fmla="val 9259"/>
            </a:avLst>
          </a:prstGeom>
          <a:solidFill>
            <a:srgbClr val="C7791B"/>
          </a:solidFill>
          <a:ln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2432304" y="2167128"/>
            <a:ext cx="493776" cy="493776"/>
          </a:xfrm>
          <a:prstGeom prst="roundRect">
            <a:avLst>
              <a:gd name="adj" fmla="val 9259"/>
            </a:avLst>
          </a:prstGeom>
          <a:solidFill>
            <a:srgbClr val="2E4A62"/>
          </a:solidFill>
          <a:ln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2999232" y="2167128"/>
            <a:ext cx="493776" cy="493776"/>
          </a:xfrm>
          <a:prstGeom prst="roundRect">
            <a:avLst>
              <a:gd name="adj" fmla="val 9259"/>
            </a:avLst>
          </a:prstGeom>
          <a:solidFill>
            <a:srgbClr val="2E4A62"/>
          </a:solidFill>
          <a:ln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3566160" y="2167128"/>
            <a:ext cx="493776" cy="493776"/>
          </a:xfrm>
          <a:prstGeom prst="roundRect">
            <a:avLst>
              <a:gd name="adj" fmla="val 9259"/>
            </a:avLst>
          </a:prstGeom>
          <a:solidFill>
            <a:srgbClr val="2E4A62"/>
          </a:solidFill>
          <a:ln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914400" y="2734056"/>
            <a:ext cx="493776" cy="493776"/>
          </a:xfrm>
          <a:prstGeom prst="roundRect">
            <a:avLst>
              <a:gd name="adj" fmla="val 9259"/>
            </a:avLst>
          </a:prstGeom>
          <a:solidFill>
            <a:srgbClr val="2E4A62"/>
          </a:solidFill>
          <a:ln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1481328" y="2734056"/>
            <a:ext cx="493776" cy="493776"/>
          </a:xfrm>
          <a:prstGeom prst="roundRect">
            <a:avLst>
              <a:gd name="adj" fmla="val 9259"/>
            </a:avLst>
          </a:prstGeom>
          <a:solidFill>
            <a:srgbClr val="2E4A62"/>
          </a:solidFill>
          <a:ln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2048256" y="2734056"/>
            <a:ext cx="493776" cy="493776"/>
          </a:xfrm>
          <a:prstGeom prst="roundRect">
            <a:avLst>
              <a:gd name="adj" fmla="val 9259"/>
            </a:avLst>
          </a:prstGeom>
          <a:solidFill>
            <a:srgbClr val="2E4A62"/>
          </a:solidFill>
          <a:ln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2615184" y="2734056"/>
            <a:ext cx="493776" cy="493776"/>
          </a:xfrm>
          <a:prstGeom prst="roundRect">
            <a:avLst>
              <a:gd name="adj" fmla="val 9259"/>
            </a:avLst>
          </a:prstGeom>
          <a:solidFill>
            <a:srgbClr val="2E4A62"/>
          </a:solidFill>
          <a:ln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3182112" y="2734056"/>
            <a:ext cx="493776" cy="493776"/>
          </a:xfrm>
          <a:prstGeom prst="roundRect">
            <a:avLst>
              <a:gd name="adj" fmla="val 9259"/>
            </a:avLst>
          </a:prstGeom>
          <a:solidFill>
            <a:srgbClr val="2E4A62"/>
          </a:solidFill>
          <a:ln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3749040" y="2734056"/>
            <a:ext cx="493776" cy="493776"/>
          </a:xfrm>
          <a:prstGeom prst="roundRect">
            <a:avLst>
              <a:gd name="adj" fmla="val 9259"/>
            </a:avLst>
          </a:prstGeom>
          <a:solidFill>
            <a:srgbClr val="2E4A62"/>
          </a:solidFill>
          <a:ln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548640" y="333756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righe e colonne di interruttori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4572000" y="1783080"/>
            <a:ext cx="2148840" cy="1188720"/>
          </a:xfrm>
          <a:prstGeom prst="roundRect">
            <a:avLst>
              <a:gd name="adj" fmla="val 4615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codificatore</a:t>
            </a:r>
            <a:endParaRPr lang="en-US" sz="15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riga e colonna</a:t>
            </a:r>
            <a:endParaRPr lang="en-US" sz="15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un codice di n bit</a:t>
            </a:r>
            <a:endParaRPr lang="en-US" sz="1500" dirty="0"/>
          </a:p>
        </p:txBody>
      </p:sp>
      <p:sp>
        <p:nvSpPr>
          <p:cNvPr id="23" name="Shape 21"/>
          <p:cNvSpPr/>
          <p:nvPr/>
        </p:nvSpPr>
        <p:spPr>
          <a:xfrm>
            <a:off x="4270248" y="2377440"/>
            <a:ext cx="274320" cy="0"/>
          </a:xfrm>
          <a:prstGeom prst="line">
            <a:avLst/>
          </a:prstGeom>
          <a:noFill/>
          <a:ln w="31750">
            <a:solidFill>
              <a:srgbClr val="5B6B78"/>
            </a:solidFill>
            <a:prstDash val="solid"/>
            <a:tailEnd type="triangle"/>
          </a:ln>
        </p:spPr>
      </p:sp>
      <p:sp>
        <p:nvSpPr>
          <p:cNvPr id="24" name="Text 22"/>
          <p:cNvSpPr txBox="1"/>
          <p:nvPr/>
        </p:nvSpPr>
        <p:spPr>
          <a:xfrm>
            <a:off x="7040880" y="1783080"/>
            <a:ext cx="2148840" cy="1188720"/>
          </a:xfrm>
          <a:prstGeom prst="roundRect">
            <a:avLst>
              <a:gd name="adj" fmla="val 4615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registro a scorrimento</a:t>
            </a:r>
            <a:endParaRPr lang="en-US" sz="15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n bit in parallelo</a:t>
            </a:r>
            <a:endParaRPr lang="en-US" sz="15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 bit in serie</a:t>
            </a:r>
            <a:endParaRPr lang="en-US" sz="1500" dirty="0"/>
          </a:p>
        </p:txBody>
      </p:sp>
      <p:sp>
        <p:nvSpPr>
          <p:cNvPr id="25" name="Shape 23"/>
          <p:cNvSpPr/>
          <p:nvPr/>
        </p:nvSpPr>
        <p:spPr>
          <a:xfrm>
            <a:off x="6739128" y="2377440"/>
            <a:ext cx="274320" cy="0"/>
          </a:xfrm>
          <a:prstGeom prst="line">
            <a:avLst/>
          </a:prstGeom>
          <a:noFill/>
          <a:ln w="31750">
            <a:solidFill>
              <a:srgbClr val="5B6B78"/>
            </a:solidFill>
            <a:prstDash val="solid"/>
            <a:tailEnd type="triangle"/>
          </a:ln>
        </p:spPr>
      </p:sp>
      <p:sp>
        <p:nvSpPr>
          <p:cNvPr id="26" name="Text 24"/>
          <p:cNvSpPr txBox="1"/>
          <p:nvPr/>
        </p:nvSpPr>
        <p:spPr>
          <a:xfrm>
            <a:off x="9509760" y="1783080"/>
            <a:ext cx="2148840" cy="1188720"/>
          </a:xfrm>
          <a:prstGeom prst="roundRect">
            <a:avLst>
              <a:gd name="adj" fmla="val 4615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interfaccia seriale</a:t>
            </a:r>
            <a:endParaRPr lang="en-US" sz="15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esempio</a:t>
            </a:r>
            <a:endParaRPr lang="en-US" sz="15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controller USB</a:t>
            </a:r>
            <a:endParaRPr lang="en-US" sz="1500" dirty="0"/>
          </a:p>
        </p:txBody>
      </p:sp>
      <p:sp>
        <p:nvSpPr>
          <p:cNvPr id="27" name="Shape 25"/>
          <p:cNvSpPr/>
          <p:nvPr/>
        </p:nvSpPr>
        <p:spPr>
          <a:xfrm>
            <a:off x="9208008" y="2377440"/>
            <a:ext cx="274320" cy="0"/>
          </a:xfrm>
          <a:prstGeom prst="line">
            <a:avLst/>
          </a:prstGeom>
          <a:noFill/>
          <a:ln w="31750">
            <a:solidFill>
              <a:srgbClr val="5B6B78"/>
            </a:solidFill>
            <a:prstDash val="solid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10584180" y="2999232"/>
            <a:ext cx="0" cy="658368"/>
          </a:xfrm>
          <a:prstGeom prst="line">
            <a:avLst/>
          </a:prstGeom>
          <a:noFill/>
          <a:ln w="31750">
            <a:solidFill>
              <a:srgbClr val="5B6B78"/>
            </a:solidFill>
            <a:prstDash val="solid"/>
            <a:tailEnd type="triangle"/>
          </a:ln>
        </p:spPr>
      </p:sp>
      <p:sp>
        <p:nvSpPr>
          <p:cNvPr id="29" name="Shape 27"/>
          <p:cNvSpPr/>
          <p:nvPr/>
        </p:nvSpPr>
        <p:spPr>
          <a:xfrm>
            <a:off x="4572000" y="3703320"/>
            <a:ext cx="7071055" cy="0"/>
          </a:xfrm>
          <a:prstGeom prst="line">
            <a:avLst/>
          </a:prstGeom>
          <a:noFill/>
          <a:ln w="76200">
            <a:solidFill>
              <a:srgbClr val="C7791B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4572000" y="379476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C779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 di sistema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548640" y="4357624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932688" y="4297680"/>
            <a:ext cx="10710367" cy="247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6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tastiera è gestita da un controller della tastiera</a:t>
            </a:r>
            <a:endParaRPr lang="en-US" sz="1600" dirty="0"/>
          </a:p>
        </p:txBody>
      </p:sp>
      <p:sp>
        <p:nvSpPr>
          <p:cNvPr id="33" name="Shape 31"/>
          <p:cNvSpPr/>
          <p:nvPr/>
        </p:nvSpPr>
        <p:spPr>
          <a:xfrm>
            <a:off x="548640" y="4734560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932688" y="4674616"/>
            <a:ext cx="10710367" cy="495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6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codificatore trasforma una combinazione di riga e colonna in un codice di n bit: il codificatore della Lezione 11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548640" y="5359400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932688" y="5299456"/>
            <a:ext cx="10710367" cy="495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6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registro a scorrimento trasforma gli n bit in una sequenza, da trattare in serie: il registro a scorrimento della Lezione 14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548640" y="5984240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932688" y="5924296"/>
            <a:ext cx="10710367" cy="247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6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L'interfaccia seriale invia il codice al bus di sistema nel modo dovuto, e alza un'interruzione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mouse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523746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2688" y="1417320"/>
            <a:ext cx="1071036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Inventato negli anni Sessanta da Douglas Engelbart: il primo dispositivo di puntamento della storia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48640" y="2542032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2435606"/>
            <a:ext cx="1071036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scatola di legno con due ruote sotto e un filo che esce da dietro, come la coda di un topo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548640" y="3560318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32688" y="3453892"/>
            <a:ext cx="1071036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due ruote rilevavano i movimenti lungo l'asse orizzontale e quello verticale; l'elettronica li trasformava in segnali elettrici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548640" y="4578604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32688" y="4472178"/>
            <a:ext cx="1071036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Mouse meccanico: una pallina fa girare due rulli, ciascuno collegato a un contatore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548640" y="5596890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32688" y="5490464"/>
            <a:ext cx="1071036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Mouse ottico: una sorgente di luce e una minuscola telecamera misurano il movimento della superficie sottostante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 cosa invia un mouse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523746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2688" y="1417320"/>
            <a:ext cx="6199632" cy="10226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Ogni volta che si sposta di una distanza minima, circa un centesimo di pollice, detta mickey, il mouse invia tre byte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48640" y="2882900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2776474"/>
            <a:ext cx="6199632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Byte 1: di quante unità si è spostato lungo x dall'ultimo rapporto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548640" y="3901186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32688" y="3794760"/>
            <a:ext cx="6199632" cy="3408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Byte 2: lo spostamento lungo y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548640" y="4578604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32688" y="4472178"/>
            <a:ext cx="6199632" cy="3408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Byte 3: lo stato dei pulsanti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548640" y="5256022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32688" y="5149596"/>
            <a:ext cx="6199632" cy="10226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software di controllo, il driver di periferica, sovrintende alla comunicazione con il processore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7680960" y="1874520"/>
            <a:ext cx="3291840" cy="914400"/>
          </a:xfrm>
          <a:prstGeom prst="roundRect">
            <a:avLst>
              <a:gd name="adj" fmla="val 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due contatori</a:t>
            </a:r>
            <a:endParaRPr lang="en-US" sz="15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spostamento in x e in y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9326880" y="2816352"/>
            <a:ext cx="0" cy="310896"/>
          </a:xfrm>
          <a:prstGeom prst="line">
            <a:avLst/>
          </a:prstGeom>
          <a:noFill/>
          <a:ln w="31750">
            <a:solidFill>
              <a:srgbClr val="5B6B78"/>
            </a:solidFill>
            <a:prstDash val="solid"/>
            <a:tailEnd type="triangle"/>
          </a:ln>
        </p:spPr>
      </p:sp>
      <p:sp>
        <p:nvSpPr>
          <p:cNvPr id="15" name="Text 13"/>
          <p:cNvSpPr txBox="1"/>
          <p:nvPr/>
        </p:nvSpPr>
        <p:spPr>
          <a:xfrm>
            <a:off x="7680960" y="3154680"/>
            <a:ext cx="3291840" cy="914400"/>
          </a:xfrm>
          <a:prstGeom prst="roundRect">
            <a:avLst>
              <a:gd name="adj" fmla="val 6000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registro a scorrimento</a:t>
            </a:r>
            <a:endParaRPr lang="en-US" sz="15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 byte, in serie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9326880" y="4096512"/>
            <a:ext cx="0" cy="310896"/>
          </a:xfrm>
          <a:prstGeom prst="line">
            <a:avLst/>
          </a:prstGeom>
          <a:noFill/>
          <a:ln w="31750">
            <a:solidFill>
              <a:srgbClr val="5B6B78"/>
            </a:solidFill>
            <a:prstDash val="solid"/>
            <a:tailEnd type="triangle"/>
          </a:ln>
        </p:spPr>
      </p:sp>
      <p:sp>
        <p:nvSpPr>
          <p:cNvPr id="17" name="Text 15"/>
          <p:cNvSpPr txBox="1"/>
          <p:nvPr/>
        </p:nvSpPr>
        <p:spPr>
          <a:xfrm>
            <a:off x="7680960" y="4434840"/>
            <a:ext cx="3291840" cy="914400"/>
          </a:xfrm>
          <a:prstGeom prst="roundRect">
            <a:avLst>
              <a:gd name="adj" fmla="val 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interfaccia seriale</a:t>
            </a:r>
            <a:endParaRPr lang="en-US" sz="15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controller USB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7680960" y="5806440"/>
            <a:ext cx="1097280" cy="548640"/>
          </a:xfrm>
          <a:prstGeom prst="rect">
            <a:avLst/>
          </a:prstGeom>
          <a:solidFill>
            <a:srgbClr val="0E7C86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dx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8778240" y="5806440"/>
            <a:ext cx="1097280" cy="548640"/>
          </a:xfrm>
          <a:prstGeom prst="rect">
            <a:avLst/>
          </a:prstGeom>
          <a:solidFill>
            <a:srgbClr val="0E7C86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dy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9875520" y="5806440"/>
            <a:ext cx="1097280" cy="548640"/>
          </a:xfrm>
          <a:prstGeom prst="rect">
            <a:avLst/>
          </a:prstGeom>
          <a:solidFill>
            <a:srgbClr val="C7791B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pulsanti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stampante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523746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2688" y="1417320"/>
            <a:ext cx="10710367" cy="3408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dispositivo di uscita che stampa informazioni su carta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48640" y="2211070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2104644"/>
            <a:ext cx="10710367" cy="3408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Velocità di stampa: righe al minuto, caratteri al secondo o pagine al minuto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548640" y="2898394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32688" y="2791968"/>
            <a:ext cx="10710367" cy="3408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Risoluzione, la qualità di stampa: punti per pollice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548640" y="3585718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32688" y="3479292"/>
            <a:ext cx="10710367" cy="16647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Tipi</a:t>
            </a:r>
            <a:endParaRPr lang="en-US" sz="2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a margherita e a catena, ormai in disuso</a:t>
            </a:r>
            <a:endParaRPr lang="en-US" sz="2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ad aghi: gli aghi colpiscono un nastro inchiostrato</a:t>
            </a:r>
            <a:endParaRPr lang="en-US" sz="2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a getto d'inchiostro: minuscole gocce di inchiostro</a:t>
            </a:r>
            <a:endParaRPr lang="en-US" sz="2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laser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548640" y="5596890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32688" y="5490464"/>
            <a:ext cx="1071036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stampante è anche un piccolo calcolatore: ha processore, memoria e firmware propri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stampante laser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92758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2688" y="1417320"/>
            <a:ext cx="6565392" cy="2788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Deriva dalla fotocopiatrice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548640" y="1997507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1922069"/>
            <a:ext cx="6565392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tamburo viene caricato elettricamente, a circa 1.000 volt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548640" y="2781148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32688" y="2705710"/>
            <a:ext cx="6565392" cy="8366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raggio laser, riflesso da uno specchio rotante, scandisce il tamburo per la sua lunghezza; il raggio è modulato per produrre una trama di punti chiari e scuri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548640" y="3843680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32688" y="3768242"/>
            <a:ext cx="6565392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punti colpiti dal raggio perdono la carica; dopo ogni riga il tamburo ruota di una frazione di grado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548640" y="4627321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32688" y="4551883"/>
            <a:ext cx="6565392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toner è attratto dai punti ancora carichi: si forma un'immagine della riga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548640" y="5410962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32688" y="5335524"/>
            <a:ext cx="6565392" cy="8366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tamburo viene premuto contro la carta e vi trasferisce il toner; rulli riscaldati lo fissano in modo permanente; il tamburo viene scaricato e pulito</a:t>
            </a:r>
            <a:endParaRPr lang="en-US" sz="1800" dirty="0"/>
          </a:p>
        </p:txBody>
      </p:sp>
      <p:pic>
        <p:nvPicPr>
          <p:cNvPr id="15" name="Image 0" descr="/Users/raffaelemontella/devel/riscv-prg32/computer-architecture-with-prg32/tools/assets/laser_printe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3840" y="1958517"/>
            <a:ext cx="3779215" cy="3215285"/>
          </a:xfrm>
          <a:prstGeom prst="rect">
            <a:avLst/>
          </a:prstGeom>
        </p:spPr>
      </p:pic>
      <p:sp>
        <p:nvSpPr>
          <p:cNvPr id="16" name="Text 13"/>
          <p:cNvSpPr txBox="1"/>
          <p:nvPr/>
        </p:nvSpPr>
        <p:spPr>
          <a:xfrm>
            <a:off x="7863840" y="5788152"/>
            <a:ext cx="37792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laser scrive la pagina sul tamburo, riga per riga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 dispositivi del kit PRG32</a:t>
            </a:r>
            <a:endParaRPr lang="en-US" sz="32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4415" cy="914400"/>
        </p:xfrm>
        <a:graphic>
          <a:graphicData uri="http://schemas.openxmlformats.org/drawingml/2006/table">
            <a:tbl>
              <a:tblPr/>
              <a:tblGrid>
                <a:gridCol w="2546259"/>
                <a:gridCol w="1636881"/>
                <a:gridCol w="3273762"/>
                <a:gridCol w="3637513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Dispositivo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Direzione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Come è collegato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Come lo usa una cartuccia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joystick e pulsanti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ingresso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 interruttore per piedino di ingresso (GPIO)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prg32_input_read: un bit per pulsante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display, TFT 320 x 240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uscita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bus seriale SPI, con DMA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chiamate prg32_gfx_* disegnano nel frame buffer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amplificatore e altoparlante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uscita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bus seriale I2S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chiamate prg32_audio_*: note, campioni, musica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radio Wi-Fi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ingresso e uscita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dentro il chip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caricamento delle cartucce, lo Store, multigiocatore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porta seriale USB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ingresso e uscita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USB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scrittura del firmware, messaggi di debug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Tre modi di gestire un dispositivo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3515258" cy="4754880"/>
          </a:xfrm>
          <a:prstGeom prst="roundRect">
            <a:avLst>
              <a:gd name="adj" fmla="val 2081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4592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325880" y="1600200"/>
            <a:ext cx="250941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Polling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331720"/>
            <a:ext cx="2966618" cy="3703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programma chiede al dispositivo, ancora e ancora, se ha qualcosa. Semplice, ed è ciò che fa un gioco una volta per frame; uno spreco quando non succede nulla.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4338218" y="1417320"/>
            <a:ext cx="3515258" cy="4754880"/>
          </a:xfrm>
          <a:prstGeom prst="roundRect">
            <a:avLst>
              <a:gd name="adj" fmla="val 2081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566818" y="164592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5115458" y="1600200"/>
            <a:ext cx="250941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Interruzioni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4612538" y="2331720"/>
            <a:ext cx="2966618" cy="3703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dispositivo chiede attenzione quando gli serve; il processore sospende ciò che sta facendo, serve il dispositivo e riprende. L'argomento della Lezione 19.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8127797" y="1417320"/>
            <a:ext cx="3515258" cy="4754880"/>
          </a:xfrm>
          <a:prstGeom prst="roundRect">
            <a:avLst>
              <a:gd name="adj" fmla="val 2081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56397" y="164592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8905037" y="1600200"/>
            <a:ext cx="250941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Accesso diretto alla memoria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8402117" y="2331720"/>
            <a:ext cx="2966618" cy="3703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dispositivo scambia da solo interi blocchi di dati con la memoria; il processore si limita ad avviare il trasferimento e viene avvisato quando finisce.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Verifica la comprensione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5636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1051560" y="1417320"/>
            <a:ext cx="1059149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 cosa fa il codificatore di un controller di tastiera?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48640" y="2148840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85800" y="2346579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170432" y="2203704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Illumina il tasto premuto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6233008" y="2148840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70168" y="2346579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6854800" y="2203704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Trasforma una combinazione di riga e colonna in un codice di tasto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548640" y="3001518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85800" y="3199257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70432" y="3056382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Invia il codice al monitor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6233008" y="3001518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370168" y="3199257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6854800" y="3056382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 per quanto tempo un tasto resta premuto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400964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051560" y="3863340"/>
            <a:ext cx="1059149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 un LCD a colori, un pixel è fatto di:</a:t>
            </a:r>
            <a:endParaRPr lang="en-US" sz="2000" dirty="0"/>
          </a:p>
        </p:txBody>
      </p:sp>
      <p:sp>
        <p:nvSpPr>
          <p:cNvPr id="19" name="Shape 17"/>
          <p:cNvSpPr/>
          <p:nvPr/>
        </p:nvSpPr>
        <p:spPr>
          <a:xfrm>
            <a:off x="548640" y="4594860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85800" y="4792599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1170432" y="4649724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cella che cambia colore</a:t>
            </a:r>
            <a:endParaRPr lang="en-US" sz="1700" dirty="0"/>
          </a:p>
        </p:txBody>
      </p:sp>
      <p:sp>
        <p:nvSpPr>
          <p:cNvPr id="22" name="Shape 20"/>
          <p:cNvSpPr/>
          <p:nvPr/>
        </p:nvSpPr>
        <p:spPr>
          <a:xfrm>
            <a:off x="6233008" y="4594860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370168" y="4792599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6854800" y="4649724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 celle con filtri rosso, verde e blu</a:t>
            </a:r>
            <a:endParaRPr lang="en-US" sz="1700" dirty="0"/>
          </a:p>
        </p:txBody>
      </p:sp>
      <p:sp>
        <p:nvSpPr>
          <p:cNvPr id="25" name="Shape 23"/>
          <p:cNvSpPr/>
          <p:nvPr/>
        </p:nvSpPr>
        <p:spPr>
          <a:xfrm>
            <a:off x="548640" y="5447538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85800" y="5645277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1170432" y="5502402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punto di fosforo colpito da elettroni</a:t>
            </a:r>
            <a:endParaRPr lang="en-US" sz="1700" dirty="0"/>
          </a:p>
        </p:txBody>
      </p:sp>
      <p:sp>
        <p:nvSpPr>
          <p:cNvPr id="28" name="Shape 26"/>
          <p:cNvSpPr/>
          <p:nvPr/>
        </p:nvSpPr>
        <p:spPr>
          <a:xfrm>
            <a:off x="6233008" y="5447538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370168" y="5645277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6854800" y="5502402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transistor che emette luce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Verifica la comprensione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5636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1051560" y="1417320"/>
            <a:ext cx="1059149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Perché un LCD a matrice passiva mostra scie dietro gli oggetti in movimento?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48640" y="2148840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85800" y="2346579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170432" y="2203704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retroilluminazione è troppo debole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6233008" y="2148840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70168" y="2346579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6854800" y="2203704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pixel sono pilotati uno alla volta e nel frattempo devono mantenere il proprio stato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548640" y="3001518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85800" y="3199257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70432" y="3056382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 troppo pochi colori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6233008" y="3001518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370168" y="3199257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6854800" y="3056382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scheda video è lenta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400964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051560" y="3863340"/>
            <a:ext cx="1059149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 gioco PRG32 legge il joystick una volta per frame. Questa tecnica si chiama:</a:t>
            </a:r>
            <a:endParaRPr lang="en-US" sz="2000" dirty="0"/>
          </a:p>
        </p:txBody>
      </p:sp>
      <p:sp>
        <p:nvSpPr>
          <p:cNvPr id="19" name="Shape 17"/>
          <p:cNvSpPr/>
          <p:nvPr/>
        </p:nvSpPr>
        <p:spPr>
          <a:xfrm>
            <a:off x="548640" y="4594860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85800" y="4792599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1170432" y="4649724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accesso diretto alla memoria</a:t>
            </a:r>
            <a:endParaRPr lang="en-US" sz="1700" dirty="0"/>
          </a:p>
        </p:txBody>
      </p:sp>
      <p:sp>
        <p:nvSpPr>
          <p:cNvPr id="22" name="Shape 20"/>
          <p:cNvSpPr/>
          <p:nvPr/>
        </p:nvSpPr>
        <p:spPr>
          <a:xfrm>
            <a:off x="6233008" y="4594860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370168" y="4792599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6854800" y="4649724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ingresso a interruzioni</a:t>
            </a:r>
            <a:endParaRPr lang="en-US" sz="1700" dirty="0"/>
          </a:p>
        </p:txBody>
      </p:sp>
      <p:sp>
        <p:nvSpPr>
          <p:cNvPr id="25" name="Shape 23"/>
          <p:cNvSpPr/>
          <p:nvPr/>
        </p:nvSpPr>
        <p:spPr>
          <a:xfrm>
            <a:off x="548640" y="5447538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85800" y="5645277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1170432" y="5502402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polling</a:t>
            </a:r>
            <a:endParaRPr lang="en-US" sz="1700" dirty="0"/>
          </a:p>
        </p:txBody>
      </p:sp>
      <p:sp>
        <p:nvSpPr>
          <p:cNvPr id="28" name="Shape 26"/>
          <p:cNvSpPr/>
          <p:nvPr/>
        </p:nvSpPr>
        <p:spPr>
          <a:xfrm>
            <a:off x="6233008" y="5447538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370168" y="5645277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6854800" y="5502402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mappatura in memoria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Glossario: inglese e italiano</a:t>
            </a:r>
            <a:endParaRPr lang="en-US" sz="32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4415" cy="914400"/>
        </p:xfrm>
        <a:graphic>
          <a:graphicData uri="http://schemas.openxmlformats.org/drawingml/2006/table">
            <a:tbl>
              <a:tblPr/>
              <a:tblGrid>
                <a:gridCol w="2426903"/>
                <a:gridCol w="2600254"/>
                <a:gridCol w="2773604"/>
                <a:gridCol w="3293655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Inglese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Italiano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Inglese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Italiano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cathode-ray tube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tubo a raggi catodici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pointing device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periferica di puntamento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liquid crystals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cristalli liquidi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dot-matrix / ink-jet printer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stampante ad aghi / a getto d'inchiostro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backlight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retroilluminazione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drum / toner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tamburo / toner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active matrix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matrice attiva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polling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interrogazione ciclica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keyboard / key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tastiera / tasto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device driver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driver di periferica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Conclusioni e letture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500505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2688" y="1417320"/>
            <a:ext cx="10710367" cy="2943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dispositivi di ingresso/uscita sono una componente fondamentale dei calcolatori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548640" y="1936826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1853641"/>
            <a:ext cx="10710367" cy="5887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tecnologia dei display ha fatto progressi enormi, dal fascio di elettroni a un transistor dietro ogni pixel</a:t>
            </a:r>
            <a:endParaRPr lang="en-US" sz="1900" dirty="0"/>
          </a:p>
        </p:txBody>
      </p:sp>
      <p:sp>
        <p:nvSpPr>
          <p:cNvPr id="7" name="Shape 5"/>
          <p:cNvSpPr/>
          <p:nvPr/>
        </p:nvSpPr>
        <p:spPr>
          <a:xfrm>
            <a:off x="548640" y="2667533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32688" y="2584348"/>
            <a:ext cx="10710367" cy="5887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Tastiera, mouse e stampante sono cambiati poco nella forma, e dentro sono fatti di codificatori, contatori e registri a scorrimento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548640" y="3398241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32688" y="3315056"/>
            <a:ext cx="10710367" cy="5887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dispositivo raggiunge il processore tramite un controller e un bus, ed è gestito con il polling, con le interruzioni o con il DMA</a:t>
            </a:r>
            <a:endParaRPr lang="en-US" sz="1900" dirty="0"/>
          </a:p>
        </p:txBody>
      </p:sp>
      <p:sp>
        <p:nvSpPr>
          <p:cNvPr id="11" name="Shape 9"/>
          <p:cNvSpPr/>
          <p:nvPr/>
        </p:nvSpPr>
        <p:spPr>
          <a:xfrm>
            <a:off x="548640" y="4128948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32688" y="4045763"/>
            <a:ext cx="10710367" cy="5887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Sul kit PRG32 l'intera catena, da un interruttore a un pixel, si può seguire istruzione per istruzione</a:t>
            </a:r>
            <a:endParaRPr lang="en-US" sz="1900" dirty="0"/>
          </a:p>
        </p:txBody>
      </p:sp>
      <p:sp>
        <p:nvSpPr>
          <p:cNvPr id="13" name="Shape 11"/>
          <p:cNvSpPr/>
          <p:nvPr/>
        </p:nvSpPr>
        <p:spPr>
          <a:xfrm>
            <a:off x="548640" y="4859655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32688" y="4776470"/>
            <a:ext cx="10710367" cy="139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Letture</a:t>
            </a:r>
            <a:endParaRPr lang="en-US" sz="1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6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Tanenbaum, Austin: Architettura dei calcolatori. Un approccio strutturale, paragrafo 2.4 (ingresso/uscita)</a:t>
            </a:r>
            <a:endParaRPr lang="en-US" sz="1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6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Stallings: Computer Organization and Architecture, il capitolo sull'ingresso/uscita</a:t>
            </a:r>
            <a:endParaRPr lang="en-US" sz="1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6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Playing with RISC-V, capitolo 6: State and Input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Università degli Studi di Napoli Parthenope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ARC12 Architettura dei Calcolatori - Ingresso e uscita</dc:title>
  <dc:subject>Lezione 21</dc:subject>
  <dc:creator>Raffaele Montella</dc:creator>
  <cp:lastModifiedBy>Raffaele Montella</cp:lastModifiedBy>
  <cp:revision>1</cp:revision>
  <dcterms:created xsi:type="dcterms:W3CDTF">2026-10-13T10:41:33Z</dcterms:created>
  <dcterms:modified xsi:type="dcterms:W3CDTF">2026-10-13T10:41:33Z</dcterms:modified>
</cp:coreProperties>
</file>